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7" r:id="rId3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432" r:id="rId28"/>
    <p:sldId id="339" r:id="rId29"/>
    <p:sldId id="340" r:id="rId30"/>
    <p:sldId id="341" r:id="rId31"/>
    <p:sldId id="342" r:id="rId32"/>
    <p:sldId id="343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  <p:sldId id="352" r:id="rId42"/>
    <p:sldId id="353" r:id="rId43"/>
    <p:sldId id="354" r:id="rId44"/>
    <p:sldId id="355" r:id="rId45"/>
    <p:sldId id="356" r:id="rId46"/>
    <p:sldId id="357" r:id="rId47"/>
    <p:sldId id="358" r:id="rId48"/>
    <p:sldId id="429" r:id="rId49"/>
    <p:sldId id="430" r:id="rId50"/>
    <p:sldId id="431" r:id="rId51"/>
    <p:sldId id="360" r:id="rId52"/>
    <p:sldId id="361" r:id="rId53"/>
    <p:sldId id="362" r:id="rId54"/>
    <p:sldId id="363" r:id="rId55"/>
    <p:sldId id="364" r:id="rId56"/>
    <p:sldId id="365" r:id="rId57"/>
    <p:sldId id="366" r:id="rId58"/>
    <p:sldId id="367" r:id="rId59"/>
    <p:sldId id="368" r:id="rId60"/>
    <p:sldId id="369" r:id="rId61"/>
    <p:sldId id="370" r:id="rId62"/>
    <p:sldId id="371" r:id="rId63"/>
    <p:sldId id="372" r:id="rId64"/>
    <p:sldId id="373" r:id="rId65"/>
    <p:sldId id="381" r:id="rId66"/>
    <p:sldId id="382" r:id="rId67"/>
    <p:sldId id="383" r:id="rId68"/>
    <p:sldId id="384" r:id="rId69"/>
    <p:sldId id="385" r:id="rId70"/>
    <p:sldId id="386" r:id="rId71"/>
    <p:sldId id="387" r:id="rId72"/>
    <p:sldId id="452" r:id="rId73"/>
    <p:sldId id="388" r:id="rId74"/>
    <p:sldId id="389" r:id="rId75"/>
    <p:sldId id="390" r:id="rId76"/>
    <p:sldId id="391" r:id="rId77"/>
    <p:sldId id="392" r:id="rId78"/>
    <p:sldId id="450" r:id="rId79"/>
    <p:sldId id="451" r:id="rId80"/>
    <p:sldId id="393" r:id="rId81"/>
    <p:sldId id="448" r:id="rId82"/>
    <p:sldId id="394" r:id="rId83"/>
    <p:sldId id="449" r:id="rId84"/>
    <p:sldId id="395" r:id="rId85"/>
    <p:sldId id="399" r:id="rId86"/>
    <p:sldId id="453" r:id="rId87"/>
    <p:sldId id="454" r:id="rId88"/>
    <p:sldId id="455" r:id="rId89"/>
    <p:sldId id="400" r:id="rId90"/>
    <p:sldId id="401" r:id="rId91"/>
    <p:sldId id="402" r:id="rId92"/>
    <p:sldId id="403" r:id="rId93"/>
    <p:sldId id="416" r:id="rId94"/>
    <p:sldId id="417" r:id="rId95"/>
    <p:sldId id="418" r:id="rId96"/>
    <p:sldId id="419" r:id="rId97"/>
    <p:sldId id="447" r:id="rId98"/>
    <p:sldId id="433" r:id="rId99"/>
    <p:sldId id="434" r:id="rId100"/>
    <p:sldId id="435" r:id="rId101"/>
    <p:sldId id="436" r:id="rId102"/>
    <p:sldId id="437" r:id="rId103"/>
    <p:sldId id="438" r:id="rId104"/>
    <p:sldId id="439" r:id="rId105"/>
    <p:sldId id="440" r:id="rId106"/>
    <p:sldId id="441" r:id="rId107"/>
    <p:sldId id="442" r:id="rId108"/>
    <p:sldId id="443" r:id="rId109"/>
    <p:sldId id="445" r:id="rId110"/>
    <p:sldId id="446" r:id="rId111"/>
    <p:sldId id="424" r:id="rId11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273"/>
    <p:restoredTop sz="92109"/>
  </p:normalViewPr>
  <p:slideViewPr>
    <p:cSldViewPr showGuides="1">
      <p:cViewPr varScale="1">
        <p:scale>
          <a:sx n="82" d="100"/>
          <a:sy n="82" d="100"/>
        </p:scale>
        <p:origin x="-16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5" Type="http://schemas.openxmlformats.org/officeDocument/2006/relationships/tableStyles" Target="tableStyles.xml"/><Relationship Id="rId114" Type="http://schemas.openxmlformats.org/officeDocument/2006/relationships/viewProps" Target="viewProps.xml"/><Relationship Id="rId113" Type="http://schemas.openxmlformats.org/officeDocument/2006/relationships/presProps" Target="presProps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5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109EBC-AFD9-4FCC-A4E4-7F1A56305A5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7763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17764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7765" name="Rectangle 3"/>
          <p:cNvSpPr/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878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878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981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981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2083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083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algn="just" eaLnBrk="1" hangingPunct="1"/>
            <a:r>
              <a:rPr lang="zh-CN" altLang="en-US" dirty="0"/>
              <a:t>关系模式是型；关系是值</a:t>
            </a:r>
            <a:endParaRPr lang="zh-CN" altLang="en-US" dirty="0"/>
          </a:p>
          <a:p>
            <a:pPr lvl="0" algn="just" eaLnBrk="1" hangingPunct="1"/>
            <a:r>
              <a:rPr lang="zh-CN" altLang="en-US" dirty="0"/>
              <a:t>关系模式是对关系的描述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元组集合的结构</a:t>
            </a:r>
            <a:endParaRPr lang="zh-CN" altLang="en-US" dirty="0"/>
          </a:p>
          <a:p>
            <a:pPr lvl="2" algn="just" eaLnBrk="1" hangingPunct="1"/>
            <a:r>
              <a:rPr lang="zh-CN" altLang="en-US" dirty="0"/>
              <a:t>属性构成</a:t>
            </a:r>
            <a:endParaRPr lang="zh-CN" altLang="en-US" dirty="0"/>
          </a:p>
          <a:p>
            <a:pPr lvl="2" algn="just" eaLnBrk="1" hangingPunct="1"/>
            <a:r>
              <a:rPr lang="zh-CN" altLang="en-US" dirty="0"/>
              <a:t>属性来自的域           </a:t>
            </a:r>
            <a:endParaRPr lang="zh-CN" altLang="en-US" dirty="0"/>
          </a:p>
          <a:p>
            <a:pPr lvl="2" algn="just" eaLnBrk="1" hangingPunct="1"/>
            <a:r>
              <a:rPr lang="zh-CN" altLang="en-US" dirty="0"/>
              <a:t>属性与域之间的映象关系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元组语义以及完整性约束条件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属性间的数据依赖关系集合  </a:t>
            </a:r>
            <a:endParaRPr lang="zh-CN" altLang="en-US" dirty="0"/>
          </a:p>
          <a:p>
            <a:pPr lvl="0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3333FF"/>
                </a:solidFill>
              </a:rPr>
              <a:t>例：</a:t>
            </a:r>
            <a:r>
              <a:rPr lang="zh-CN" altLang="en-US" dirty="0"/>
              <a:t>导师和研究生出自同一个域</a:t>
            </a:r>
            <a:r>
              <a:rPr lang="en-US" altLang="zh-CN" dirty="0">
                <a:latin typeface="Verdana" panose="020B0604030504040204" pitchFamily="34" charset="0"/>
              </a:rPr>
              <a:t>——</a:t>
            </a:r>
            <a:r>
              <a:rPr lang="zh-CN" altLang="en-US" dirty="0"/>
              <a:t>人，取不同的属性名，并在模式中定义属性向域的映象，即说明它们分别出自哪个域：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   </a:t>
            </a:r>
            <a:r>
              <a:rPr lang="en-US" altLang="zh-CN" dirty="0"/>
              <a:t>dom</a:t>
            </a:r>
            <a:r>
              <a:rPr lang="zh-CN" altLang="en-US" dirty="0"/>
              <a:t>（</a:t>
            </a:r>
            <a:r>
              <a:rPr lang="en-US" altLang="zh-CN" dirty="0"/>
              <a:t>SUPERVISOR-PERSON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= dom</a:t>
            </a:r>
            <a:r>
              <a:rPr lang="zh-CN" altLang="en-US" dirty="0"/>
              <a:t>（</a:t>
            </a:r>
            <a:r>
              <a:rPr lang="en-US" altLang="zh-CN" dirty="0"/>
              <a:t>POSTGRADUATE-PERSON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=PERSON</a:t>
            </a:r>
            <a:endParaRPr lang="en-US" altLang="zh-CN" dirty="0"/>
          </a:p>
          <a:p>
            <a:pPr lvl="1" algn="just" eaLnBrk="1" hangingPunct="1"/>
            <a:r>
              <a:rPr lang="en-US" altLang="zh-CN" dirty="0"/>
              <a:t>   </a:t>
            </a:r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21859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186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lnSpc>
                <a:spcPct val="160000"/>
              </a:lnSpc>
              <a:spcBef>
                <a:spcPct val="0"/>
              </a:spcBef>
            </a:pPr>
            <a:r>
              <a:rPr lang="zh-CN" altLang="en-US" dirty="0"/>
              <a:t>注：域名及属性向域的映象常常直接说明为属性的类型、长度。</a:t>
            </a:r>
            <a:endParaRPr lang="zh-CN" altLang="en-US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2288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288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39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239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2493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493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algn="just" eaLnBrk="1" hangingPunct="1">
              <a:lnSpc>
                <a:spcPct val="140000"/>
              </a:lnSpc>
            </a:pPr>
            <a:r>
              <a:rPr lang="zh-CN" altLang="en-US" dirty="0"/>
              <a:t>关系操作的特点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集合操作方式，即操作的对象和结果都是集合。</a:t>
            </a:r>
            <a:endParaRPr lang="zh-CN" altLang="en-US" dirty="0"/>
          </a:p>
          <a:p>
            <a:pPr lvl="2" algn="just" eaLnBrk="1" hangingPunct="1">
              <a:lnSpc>
                <a:spcPct val="140000"/>
              </a:lnSpc>
            </a:pPr>
            <a:r>
              <a:rPr lang="zh-CN" altLang="en-US" dirty="0"/>
              <a:t>非关系数据模型的数据操作方式：一次一记录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595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259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26979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698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2800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800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2902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902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3005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3005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3107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3107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7778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30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7778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1500" y="214313"/>
            <a:ext cx="8001000" cy="7350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566738" y="1143000"/>
            <a:ext cx="80010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AutoShape 4"/>
          <p:cNvSpPr/>
          <p:nvPr/>
        </p:nvSpPr>
        <p:spPr>
          <a:xfrm>
            <a:off x="571500" y="1000125"/>
            <a:ext cx="7958138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advClick="0"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3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5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8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oleObject" Target="../embeddings/oleObject9.bin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1" Type="http://schemas.openxmlformats.org/officeDocument/2006/relationships/oleObject" Target="../embeddings/oleObject10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oleObject" Target="../embeddings/oleObject11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oleObject" Target="../embeddings/oleObject12.bin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灯片编号占位符 4"/>
          <p:cNvSpPr txBox="1">
            <a:spLocks noGrp="1"/>
          </p:cNvSpPr>
          <p:nvPr>
            <p:ph type="sldNum" sz="quarter" idx="4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123" name="Text Box 13"/>
          <p:cNvSpPr txBox="1"/>
          <p:nvPr/>
        </p:nvSpPr>
        <p:spPr>
          <a:xfrm>
            <a:off x="714375" y="1428750"/>
            <a:ext cx="7416800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5400" dirty="0">
                <a:latin typeface="Verdana" panose="020B0604030504040204" pitchFamily="34" charset="0"/>
                <a:ea typeface="隶书" panose="02010509060101010101" pitchFamily="49" charset="-122"/>
              </a:rPr>
              <a:t>第二章 关系数据库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type="subTitle" idx="1"/>
          </p:nvPr>
        </p:nvSpPr>
        <p:spPr>
          <a:xfrm>
            <a:off x="1371600" y="2500313"/>
            <a:ext cx="6400800" cy="314483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SzTx/>
            </a:pPr>
            <a:r>
              <a:rPr lang="en-US" altLang="zh-CN" b="1" dirty="0">
                <a:latin typeface="楷体_GB2312" pitchFamily="49" charset="-122"/>
                <a:ea typeface="+mn-ea"/>
                <a:cs typeface="+mn-cs"/>
              </a:rPr>
              <a:t>2.1 </a:t>
            </a:r>
            <a:r>
              <a:rPr lang="zh-CN" altLang="en-US" b="1" dirty="0">
                <a:latin typeface="楷体_GB2312" pitchFamily="49" charset="-122"/>
                <a:ea typeface="+mn-ea"/>
                <a:cs typeface="+mn-cs"/>
              </a:rPr>
              <a:t>关系数据结构及形式化定义</a:t>
            </a:r>
            <a:endParaRPr lang="en-US" altLang="zh-CN" b="1" dirty="0">
              <a:latin typeface="楷体_GB2312" pitchFamily="49" charset="-122"/>
              <a:ea typeface="+mn-ea"/>
              <a:cs typeface="+mn-cs"/>
            </a:endParaRPr>
          </a:p>
          <a:p>
            <a:pPr eaLnBrk="1" hangingPunct="1">
              <a:buSzTx/>
            </a:pPr>
            <a:r>
              <a:rPr lang="en-US" altLang="zh-CN" b="1" dirty="0">
                <a:latin typeface="楷体_GB2312" pitchFamily="49" charset="-122"/>
                <a:ea typeface="+mn-ea"/>
                <a:cs typeface="+mn-cs"/>
              </a:rPr>
              <a:t>2.2 </a:t>
            </a:r>
            <a:r>
              <a:rPr lang="zh-CN" altLang="en-US" b="1" dirty="0">
                <a:latin typeface="楷体_GB2312" pitchFamily="49" charset="-122"/>
                <a:ea typeface="+mn-ea"/>
                <a:cs typeface="+mn-cs"/>
              </a:rPr>
              <a:t>关系操作</a:t>
            </a:r>
            <a:endParaRPr lang="en-US" altLang="zh-CN" b="1" dirty="0">
              <a:latin typeface="楷体_GB2312" pitchFamily="49" charset="-122"/>
              <a:ea typeface="+mn-ea"/>
              <a:cs typeface="+mn-cs"/>
            </a:endParaRPr>
          </a:p>
          <a:p>
            <a:pPr eaLnBrk="1" hangingPunct="1">
              <a:buSzTx/>
            </a:pPr>
            <a:r>
              <a:rPr lang="en-US" altLang="zh-CN" b="1" dirty="0">
                <a:latin typeface="楷体_GB2312" pitchFamily="49" charset="-122"/>
                <a:ea typeface="+mn-ea"/>
                <a:cs typeface="+mn-cs"/>
              </a:rPr>
              <a:t>2.3 </a:t>
            </a:r>
            <a:r>
              <a:rPr lang="zh-CN" altLang="en-US" b="1" dirty="0">
                <a:latin typeface="楷体_GB2312" pitchFamily="49" charset="-122"/>
                <a:ea typeface="+mn-ea"/>
                <a:cs typeface="+mn-cs"/>
              </a:rPr>
              <a:t>关系的完整性</a:t>
            </a:r>
            <a:endParaRPr lang="en-US" altLang="zh-CN" b="1" dirty="0">
              <a:latin typeface="楷体_GB2312" pitchFamily="49" charset="-122"/>
              <a:ea typeface="+mn-ea"/>
              <a:cs typeface="+mn-cs"/>
            </a:endParaRPr>
          </a:p>
          <a:p>
            <a:pPr eaLnBrk="1" hangingPunct="1">
              <a:buSzTx/>
            </a:pPr>
            <a:r>
              <a:rPr lang="en-US" altLang="zh-CN" b="1" dirty="0">
                <a:latin typeface="楷体_GB2312" pitchFamily="49" charset="-122"/>
                <a:ea typeface="+mn-ea"/>
                <a:cs typeface="+mn-cs"/>
              </a:rPr>
              <a:t>2.4 </a:t>
            </a:r>
            <a:r>
              <a:rPr lang="zh-CN" altLang="en-US" b="1" dirty="0">
                <a:latin typeface="楷体_GB2312" pitchFamily="49" charset="-122"/>
                <a:ea typeface="+mn-ea"/>
                <a:cs typeface="+mn-cs"/>
              </a:rPr>
              <a:t>关系代数</a:t>
            </a:r>
            <a:endParaRPr lang="en-US" altLang="zh-CN" b="1" dirty="0">
              <a:latin typeface="楷体_GB2312" pitchFamily="49" charset="-122"/>
              <a:ea typeface="+mn-ea"/>
              <a:cs typeface="+mn-cs"/>
            </a:endParaRPr>
          </a:p>
          <a:p>
            <a:pPr eaLnBrk="1" hangingPunct="1">
              <a:buSzTx/>
            </a:pPr>
            <a:r>
              <a:rPr lang="en-US" altLang="zh-CN" b="1" dirty="0">
                <a:latin typeface="楷体_GB2312" pitchFamily="49" charset="-122"/>
                <a:ea typeface="+mn-ea"/>
                <a:cs typeface="+mn-cs"/>
              </a:rPr>
              <a:t>2.5 *</a:t>
            </a:r>
            <a:r>
              <a:rPr lang="zh-CN" altLang="en-US" b="1" dirty="0">
                <a:latin typeface="楷体_GB2312" pitchFamily="49" charset="-122"/>
                <a:ea typeface="+mn-ea"/>
                <a:cs typeface="+mn-cs"/>
              </a:rPr>
              <a:t>关系演算</a:t>
            </a:r>
            <a:endParaRPr lang="en-US" altLang="zh-CN" b="1" dirty="0">
              <a:latin typeface="楷体_GB2312" pitchFamily="49" charset="-122"/>
              <a:ea typeface="+mn-ea"/>
              <a:cs typeface="+mn-cs"/>
            </a:endParaRPr>
          </a:p>
          <a:p>
            <a:pPr eaLnBrk="1" hangingPunct="1">
              <a:buSzTx/>
            </a:pPr>
            <a:r>
              <a:rPr lang="en-US" altLang="zh-CN" b="1" dirty="0">
                <a:latin typeface="楷体_GB2312" pitchFamily="49" charset="-122"/>
                <a:ea typeface="+mn-ea"/>
                <a:cs typeface="+mn-cs"/>
              </a:rPr>
              <a:t>2.6 </a:t>
            </a:r>
            <a:r>
              <a:rPr lang="zh-CN" altLang="en-US" b="1" dirty="0">
                <a:latin typeface="楷体_GB2312" pitchFamily="49" charset="-122"/>
                <a:ea typeface="+mn-ea"/>
                <a:cs typeface="+mn-cs"/>
              </a:rPr>
              <a:t>小结</a:t>
            </a:r>
            <a:endParaRPr lang="en-US" altLang="zh-CN" b="1" dirty="0">
              <a:latin typeface="楷体_GB2312" pitchFamily="49" charset="-122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第二章  关系数据库</a:t>
            </a:r>
            <a:endParaRPr lang="zh-CN" altLang="en-US" dirty="0"/>
          </a:p>
        </p:txBody>
      </p:sp>
      <p:sp>
        <p:nvSpPr>
          <p:cNvPr id="6148" name="Rectangle 3"/>
          <p:cNvSpPr>
            <a:spLocks noGrp="1"/>
          </p:cNvSpPr>
          <p:nvPr>
            <p:ph idx="1"/>
          </p:nvPr>
        </p:nvSpPr>
        <p:spPr>
          <a:xfrm>
            <a:off x="611188" y="1279525"/>
            <a:ext cx="8229600" cy="4525963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buNone/>
            </a:pPr>
            <a:r>
              <a:rPr lang="en-US" altLang="zh-CN" sz="3600" dirty="0">
                <a:solidFill>
                  <a:srgbClr val="0000CC"/>
                </a:solidFill>
              </a:rPr>
              <a:t>2.1  </a:t>
            </a:r>
            <a:r>
              <a:rPr lang="zh-CN" altLang="en-US" sz="3600" dirty="0">
                <a:solidFill>
                  <a:srgbClr val="0000CC"/>
                </a:solidFill>
              </a:rPr>
              <a:t>关系数据结构及其形式化定义</a:t>
            </a:r>
            <a:endParaRPr lang="zh-CN" altLang="en-US" sz="3600" dirty="0">
              <a:solidFill>
                <a:srgbClr val="0000CC"/>
              </a:solidFill>
            </a:endParaRPr>
          </a:p>
          <a:p>
            <a:pPr lvl="1" eaLnBrk="1" hangingPunct="1">
              <a:buNone/>
            </a:pPr>
            <a:r>
              <a:rPr lang="en-US" altLang="zh-CN" sz="3600" dirty="0">
                <a:solidFill>
                  <a:srgbClr val="0000CC"/>
                </a:solidFill>
              </a:rPr>
              <a:t>2.3  </a:t>
            </a:r>
            <a:r>
              <a:rPr lang="zh-CN" altLang="en-US" sz="3600" dirty="0">
                <a:solidFill>
                  <a:srgbClr val="0000CC"/>
                </a:solidFill>
              </a:rPr>
              <a:t>关系的完整性</a:t>
            </a:r>
            <a:endParaRPr lang="en-US" altLang="zh-CN" sz="3600" dirty="0">
              <a:solidFill>
                <a:srgbClr val="0000CC"/>
              </a:solidFill>
            </a:endParaRPr>
          </a:p>
          <a:p>
            <a:pPr lvl="1" eaLnBrk="1" hangingPunct="1">
              <a:buNone/>
            </a:pPr>
            <a:r>
              <a:rPr lang="en-US" altLang="zh-CN" sz="3600" dirty="0">
                <a:solidFill>
                  <a:srgbClr val="FF0000"/>
                </a:solidFill>
              </a:rPr>
              <a:t>2.2  </a:t>
            </a:r>
            <a:r>
              <a:rPr lang="zh-CN" altLang="en-US" sz="3600" dirty="0">
                <a:solidFill>
                  <a:srgbClr val="FF0000"/>
                </a:solidFill>
              </a:rPr>
              <a:t>关系操作</a:t>
            </a:r>
            <a:endParaRPr lang="zh-CN" altLang="en-US" sz="3600" dirty="0">
              <a:solidFill>
                <a:srgbClr val="FF0000"/>
              </a:solidFill>
            </a:endParaRPr>
          </a:p>
          <a:p>
            <a:pPr lvl="1" eaLnBrk="1" hangingPunct="1">
              <a:buNone/>
            </a:pPr>
            <a:r>
              <a:rPr lang="en-US" altLang="zh-CN" sz="3600" dirty="0">
                <a:solidFill>
                  <a:srgbClr val="FF0000"/>
                </a:solidFill>
              </a:rPr>
              <a:t>2.4  </a:t>
            </a:r>
            <a:r>
              <a:rPr lang="zh-CN" altLang="en-US" sz="3600" dirty="0">
                <a:solidFill>
                  <a:srgbClr val="FF0000"/>
                </a:solidFill>
              </a:rPr>
              <a:t>关系代数</a:t>
            </a:r>
            <a:endParaRPr lang="zh-CN" altLang="en-US" sz="3600" dirty="0">
              <a:solidFill>
                <a:srgbClr val="FF0000"/>
              </a:solidFill>
            </a:endParaRPr>
          </a:p>
          <a:p>
            <a:pPr lvl="1" eaLnBrk="1" hangingPunct="1">
              <a:buNone/>
            </a:pPr>
            <a:r>
              <a:rPr lang="en-US" altLang="zh-CN" sz="3600" dirty="0"/>
              <a:t>2.5  </a:t>
            </a:r>
            <a:r>
              <a:rPr lang="zh-CN" altLang="en-US" sz="3600" dirty="0"/>
              <a:t>关系演算（不讲）</a:t>
            </a:r>
            <a:endParaRPr lang="zh-CN" altLang="en-US" sz="3600" dirty="0"/>
          </a:p>
          <a:p>
            <a:pPr lvl="1" eaLnBrk="1" hangingPunct="1">
              <a:buNone/>
            </a:pPr>
            <a:r>
              <a:rPr lang="en-US" altLang="zh-CN" sz="3600" dirty="0"/>
              <a:t>2.6  </a:t>
            </a:r>
            <a:r>
              <a:rPr lang="zh-CN" altLang="en-US" sz="3600" dirty="0"/>
              <a:t>小结</a:t>
            </a:r>
            <a:endParaRPr lang="zh-CN" altLang="en-US" sz="3600" dirty="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2.1  </a:t>
            </a:r>
            <a:r>
              <a:rPr lang="zh-CN" altLang="en-US" sz="4000" dirty="0"/>
              <a:t>关系数据结构及其形式化定义</a:t>
            </a:r>
            <a:endParaRPr lang="zh-CN" altLang="en-US" sz="4000" dirty="0"/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539750" y="1412875"/>
            <a:ext cx="6562725" cy="452596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60000"/>
              </a:lnSpc>
            </a:pPr>
            <a:r>
              <a:rPr lang="en-US" altLang="zh-CN" sz="3200" dirty="0">
                <a:hlinkClick r:id="" action="ppaction://noaction"/>
              </a:rPr>
              <a:t>2.1.1  </a:t>
            </a:r>
            <a:r>
              <a:rPr lang="zh-CN" altLang="en-US" sz="3200" dirty="0">
                <a:hlinkClick r:id="" action="ppaction://noaction"/>
              </a:rPr>
              <a:t>关系</a:t>
            </a:r>
            <a:endParaRPr lang="zh-CN" altLang="en-US" sz="3200" dirty="0"/>
          </a:p>
          <a:p>
            <a:pPr eaLnBrk="1" hangingPunct="1">
              <a:lnSpc>
                <a:spcPct val="160000"/>
              </a:lnSpc>
            </a:pPr>
            <a:r>
              <a:rPr lang="en-US" altLang="zh-CN" sz="3200" dirty="0">
                <a:hlinkClick r:id="" action="ppaction://noaction"/>
              </a:rPr>
              <a:t>2.1.2  </a:t>
            </a:r>
            <a:r>
              <a:rPr lang="zh-CN" altLang="en-US" sz="3200" dirty="0">
                <a:hlinkClick r:id="" action="ppaction://noaction"/>
              </a:rPr>
              <a:t>关系模式</a:t>
            </a:r>
            <a:endParaRPr lang="zh-CN" altLang="en-US" sz="3200" dirty="0"/>
          </a:p>
          <a:p>
            <a:pPr eaLnBrk="1" hangingPunct="1">
              <a:lnSpc>
                <a:spcPct val="160000"/>
              </a:lnSpc>
            </a:pPr>
            <a:r>
              <a:rPr lang="en-US" altLang="zh-CN" sz="3200" dirty="0">
                <a:hlinkClick r:id="" action="ppaction://noaction"/>
              </a:rPr>
              <a:t>2.1.3  </a:t>
            </a:r>
            <a:r>
              <a:rPr lang="zh-CN" altLang="en-US" sz="3200" dirty="0">
                <a:hlinkClick r:id="" action="ppaction://noaction"/>
              </a:rPr>
              <a:t>关系数据库</a:t>
            </a:r>
            <a:endParaRPr lang="en-US" altLang="zh-CN" sz="3200" dirty="0"/>
          </a:p>
          <a:p>
            <a:pPr eaLnBrk="1" hangingPunct="1">
              <a:lnSpc>
                <a:spcPct val="160000"/>
              </a:lnSpc>
            </a:pPr>
            <a:r>
              <a:rPr lang="en-US" altLang="zh-CN" sz="3200" dirty="0"/>
              <a:t>2.1.4 </a:t>
            </a:r>
            <a:r>
              <a:rPr lang="zh-CN" altLang="en-US" sz="3200" dirty="0"/>
              <a:t>关系模型的存储结构</a:t>
            </a:r>
            <a:endParaRPr lang="zh-CN" altLang="en-US" sz="3200" dirty="0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2.1.1  </a:t>
            </a:r>
            <a:r>
              <a:rPr lang="zh-CN" altLang="en-US" dirty="0">
                <a:latin typeface="宋体" panose="02010600030101010101" pitchFamily="2" charset="-122"/>
              </a:rPr>
              <a:t>关系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>
          <a:xfrm>
            <a:off x="468313" y="1341438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40000"/>
              </a:lnSpc>
            </a:pPr>
            <a:r>
              <a:rPr lang="en-US" altLang="zh-CN" sz="3200" dirty="0"/>
              <a:t> </a:t>
            </a:r>
            <a:r>
              <a:rPr lang="en-US" altLang="zh-CN" sz="3200" dirty="0">
                <a:hlinkClick r:id="" action="ppaction://noaction"/>
              </a:rPr>
              <a:t>1. </a:t>
            </a:r>
            <a:r>
              <a:rPr lang="zh-CN" altLang="en-US" sz="3200" dirty="0">
                <a:hlinkClick r:id="" action="ppaction://noaction"/>
              </a:rPr>
              <a:t>域（</a:t>
            </a:r>
            <a:r>
              <a:rPr lang="en-US" altLang="zh-CN" sz="3200" dirty="0">
                <a:hlinkClick r:id="" action="ppaction://noaction"/>
              </a:rPr>
              <a:t>Domain</a:t>
            </a:r>
            <a:r>
              <a:rPr lang="zh-CN" altLang="en-US" sz="3200" dirty="0">
                <a:hlinkClick r:id="" action="ppaction://noaction"/>
              </a:rPr>
              <a:t>）</a:t>
            </a:r>
            <a:endParaRPr lang="zh-CN" altLang="en-US" sz="3200" dirty="0"/>
          </a:p>
          <a:p>
            <a:pPr algn="just" eaLnBrk="1" hangingPunct="1">
              <a:lnSpc>
                <a:spcPct val="140000"/>
              </a:lnSpc>
            </a:pPr>
            <a:r>
              <a:rPr lang="zh-CN" altLang="en-US" sz="3200" dirty="0"/>
              <a:t> </a:t>
            </a:r>
            <a:r>
              <a:rPr lang="en-US" altLang="zh-CN" sz="3200" dirty="0">
                <a:hlinkClick r:id="" action="ppaction://noaction"/>
              </a:rPr>
              <a:t>2. </a:t>
            </a:r>
            <a:r>
              <a:rPr lang="zh-CN" altLang="en-US" sz="3200" dirty="0">
                <a:hlinkClick r:id="" action="ppaction://noaction"/>
              </a:rPr>
              <a:t>笛卡尔积（</a:t>
            </a:r>
            <a:r>
              <a:rPr lang="en-US" altLang="zh-CN" sz="3200" dirty="0">
                <a:hlinkClick r:id="" action="ppaction://noaction"/>
              </a:rPr>
              <a:t>Cartesian Product</a:t>
            </a:r>
            <a:r>
              <a:rPr lang="zh-CN" altLang="en-US" sz="3200" dirty="0">
                <a:hlinkClick r:id="" action="ppaction://noaction"/>
              </a:rPr>
              <a:t>）</a:t>
            </a:r>
            <a:endParaRPr lang="zh-CN" altLang="en-US" sz="3200" dirty="0"/>
          </a:p>
          <a:p>
            <a:pPr algn="just" eaLnBrk="1" hangingPunct="1">
              <a:lnSpc>
                <a:spcPct val="140000"/>
              </a:lnSpc>
            </a:pPr>
            <a:r>
              <a:rPr lang="zh-CN" altLang="en-US" sz="3200" dirty="0"/>
              <a:t> </a:t>
            </a:r>
            <a:r>
              <a:rPr lang="en-US" altLang="zh-CN" sz="3200" dirty="0">
                <a:hlinkClick r:id="" action="ppaction://noaction"/>
              </a:rPr>
              <a:t>3. </a:t>
            </a:r>
            <a:r>
              <a:rPr lang="zh-CN" altLang="en-US" sz="3200" dirty="0">
                <a:hlinkClick r:id="" action="ppaction://noaction"/>
              </a:rPr>
              <a:t>关系（</a:t>
            </a:r>
            <a:r>
              <a:rPr lang="en-US" altLang="zh-CN" sz="3200" dirty="0">
                <a:hlinkClick r:id="" action="ppaction://noaction"/>
              </a:rPr>
              <a:t>Relation</a:t>
            </a:r>
            <a:r>
              <a:rPr lang="zh-CN" altLang="en-US" sz="3200" dirty="0">
                <a:hlinkClick r:id="" action="ppaction://noaction"/>
              </a:rPr>
              <a:t>）</a:t>
            </a:r>
            <a:endParaRPr lang="zh-CN" altLang="en-US" sz="3200" dirty="0"/>
          </a:p>
          <a:p>
            <a:pPr eaLnBrk="1" hangingPunct="1"/>
            <a:endParaRPr lang="en-US" altLang="zh-CN" sz="3200" dirty="0"/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⒈ </a:t>
            </a:r>
            <a:r>
              <a:rPr lang="zh-CN" altLang="en-US" dirty="0"/>
              <a:t>域（</a:t>
            </a:r>
            <a:r>
              <a:rPr lang="en-US" altLang="zh-CN" dirty="0">
                <a:latin typeface="Times New Roman" panose="02020603050405020304" pitchFamily="18" charset="0"/>
              </a:rPr>
              <a:t>Domain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534400" cy="792163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3333FF"/>
                </a:solidFill>
              </a:rPr>
              <a:t>定义</a:t>
            </a:r>
            <a:r>
              <a:rPr lang="en-US" altLang="zh-CN" dirty="0">
                <a:solidFill>
                  <a:srgbClr val="3333FF"/>
                </a:solidFill>
              </a:rPr>
              <a:t>2.1</a:t>
            </a:r>
            <a:r>
              <a:rPr lang="en-US" altLang="zh-CN" dirty="0"/>
              <a:t>  </a:t>
            </a:r>
            <a:r>
              <a:rPr lang="zh-CN" altLang="en-US" dirty="0"/>
              <a:t>域是一组具有相同数据类型的值的</a:t>
            </a:r>
            <a:r>
              <a:rPr lang="zh-CN" altLang="en-US" dirty="0">
                <a:solidFill>
                  <a:srgbClr val="FF0000"/>
                </a:solidFill>
              </a:rPr>
              <a:t>集合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237573" name="Rectangle 5"/>
          <p:cNvSpPr/>
          <p:nvPr/>
        </p:nvSpPr>
        <p:spPr>
          <a:xfrm>
            <a:off x="323850" y="2052638"/>
            <a:ext cx="8229600" cy="3733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669900"/>
              </a:buClr>
              <a:buSzPct val="75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FF33CC"/>
                </a:solidFill>
                <a:latin typeface="Verdana" panose="020B0604030504040204" pitchFamily="34" charset="0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33CC"/>
                </a:solidFill>
                <a:latin typeface="Verdana" panose="020B0604030504040204" pitchFamily="34" charset="0"/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FF33CC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marL="1143000" lvl="2" indent="-228600"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R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整数、实数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1143000" lvl="2" indent="-228600" eaLnBrk="1" hangingPunct="1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R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介于某个取值范围的整数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1143000" lvl="2" indent="-228600"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R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长度指定长度的字符串集合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1143000" lvl="2" indent="-228600"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R"/>
            </a:pP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{‘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男’，‘女’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} {0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，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1}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1143000" lvl="2" indent="-228600"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R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介于某个取值范围的日期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457200" y="188913"/>
            <a:ext cx="8148638" cy="777875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2. </a:t>
            </a:r>
            <a:r>
              <a:rPr lang="zh-CN" altLang="en-US" sz="4000" dirty="0"/>
              <a:t>笛卡尔积（</a:t>
            </a:r>
            <a:r>
              <a:rPr lang="en-US" altLang="zh-CN" sz="4000" dirty="0">
                <a:latin typeface="Times New Roman" panose="02020603050405020304" pitchFamily="18" charset="0"/>
              </a:rPr>
              <a:t>Cartesian Product</a:t>
            </a:r>
            <a:r>
              <a:rPr lang="zh-CN" altLang="en-US" sz="4000" dirty="0"/>
              <a:t>）</a:t>
            </a:r>
            <a:endParaRPr lang="zh-CN" altLang="en-US" dirty="0"/>
          </a:p>
        </p:txBody>
      </p:sp>
      <p:sp>
        <p:nvSpPr>
          <p:cNvPr id="358403" name="Rectangle 3"/>
          <p:cNvSpPr>
            <a:spLocks noGrp="1"/>
          </p:cNvSpPr>
          <p:nvPr>
            <p:ph idx="1"/>
          </p:nvPr>
        </p:nvSpPr>
        <p:spPr>
          <a:xfrm>
            <a:off x="323850" y="1268413"/>
            <a:ext cx="8496300" cy="54006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5000"/>
              </a:lnSpc>
              <a:buNone/>
            </a:pPr>
            <a:r>
              <a:rPr lang="zh-CN" altLang="en-US" sz="2400" dirty="0">
                <a:solidFill>
                  <a:srgbClr val="3333FF"/>
                </a:solidFill>
              </a:rPr>
              <a:t>定义</a:t>
            </a:r>
            <a:r>
              <a:rPr lang="en-US" altLang="zh-CN" sz="2400" dirty="0">
                <a:solidFill>
                  <a:srgbClr val="3333FF"/>
                </a:solidFill>
              </a:rPr>
              <a:t>2.2</a:t>
            </a:r>
            <a:r>
              <a:rPr lang="en-US" altLang="zh-CN" sz="2400" dirty="0"/>
              <a:t> </a:t>
            </a:r>
            <a:r>
              <a:rPr lang="zh-CN" altLang="en-US" sz="2400" dirty="0"/>
              <a:t>给定一组域</a:t>
            </a:r>
            <a:r>
              <a:rPr lang="en-US" altLang="zh-CN" sz="2400" i="1" dirty="0"/>
              <a:t>D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D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…</a:t>
            </a:r>
            <a:r>
              <a:rPr lang="zh-CN" altLang="en-US" sz="2400" dirty="0"/>
              <a:t>，</a:t>
            </a:r>
            <a:r>
              <a:rPr lang="en-US" altLang="zh-CN" sz="2400" i="1" dirty="0"/>
              <a:t>D</a:t>
            </a:r>
            <a:r>
              <a:rPr lang="en-US" altLang="zh-CN" sz="2400" i="1" baseline="-25000" dirty="0"/>
              <a:t>n</a:t>
            </a:r>
            <a:r>
              <a:rPr lang="zh-CN" altLang="en-US" sz="2400" dirty="0"/>
              <a:t>，这些域中可以有相同的。</a:t>
            </a:r>
            <a:r>
              <a:rPr lang="en-US" altLang="zh-CN" sz="2400" i="1" dirty="0"/>
              <a:t>D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i="1" dirty="0"/>
              <a:t>D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i="1" dirty="0"/>
              <a:t>…</a:t>
            </a:r>
            <a:r>
              <a:rPr lang="zh-CN" altLang="en-US" sz="2400" dirty="0"/>
              <a:t>，</a:t>
            </a:r>
            <a:r>
              <a:rPr lang="en-US" altLang="zh-CN" sz="2400" i="1" dirty="0"/>
              <a:t>D</a:t>
            </a:r>
            <a:r>
              <a:rPr lang="en-US" altLang="zh-CN" sz="2400" i="1" baseline="-25000" dirty="0"/>
              <a:t>n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3333FF"/>
                </a:solidFill>
                <a:ea typeface="黑体" panose="02010609060101010101" pitchFamily="49" charset="-122"/>
              </a:rPr>
              <a:t>笛卡尔积</a:t>
            </a:r>
            <a:r>
              <a:rPr lang="zh-CN" altLang="en-US" sz="2400" dirty="0"/>
              <a:t>为：</a:t>
            </a:r>
            <a:endParaRPr lang="zh-CN" altLang="en-US" sz="2400" dirty="0"/>
          </a:p>
          <a:p>
            <a:pPr lvl="1" eaLnBrk="1" hangingPunct="1">
              <a:lnSpc>
                <a:spcPct val="125000"/>
              </a:lnSpc>
              <a:buNone/>
            </a:pPr>
            <a:r>
              <a:rPr lang="en-US" altLang="zh-CN" sz="2400" i="1" dirty="0"/>
              <a:t>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×</a:t>
            </a:r>
            <a:r>
              <a:rPr lang="en-US" altLang="zh-CN" sz="2400" i="1" dirty="0"/>
              <a:t>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×…×</a:t>
            </a:r>
            <a:r>
              <a:rPr lang="en-US" altLang="zh-CN" sz="2400" i="1" dirty="0"/>
              <a:t>D</a:t>
            </a:r>
            <a:r>
              <a:rPr lang="en-US" altLang="zh-CN" sz="2400" i="1" baseline="-25000" dirty="0"/>
              <a:t>n</a:t>
            </a:r>
            <a:r>
              <a:rPr lang="zh-CN" altLang="en-US" sz="2400" dirty="0"/>
              <a:t>＝｛</a:t>
            </a:r>
            <a:r>
              <a:rPr lang="zh-CN" altLang="en-US" sz="2400" dirty="0">
                <a:solidFill>
                  <a:srgbClr val="3333FF"/>
                </a:solidFill>
              </a:rPr>
              <a:t>（</a:t>
            </a:r>
            <a:r>
              <a:rPr lang="en-US" altLang="zh-CN" sz="2400" i="1" dirty="0">
                <a:solidFill>
                  <a:srgbClr val="3333FF"/>
                </a:solidFill>
              </a:rPr>
              <a:t>d</a:t>
            </a:r>
            <a:r>
              <a:rPr lang="en-US" altLang="zh-CN" sz="2400" baseline="-25000" dirty="0">
                <a:solidFill>
                  <a:srgbClr val="3333FF"/>
                </a:solidFill>
              </a:rPr>
              <a:t>1</a:t>
            </a:r>
            <a:r>
              <a:rPr lang="zh-CN" altLang="en-US" sz="2400" dirty="0">
                <a:solidFill>
                  <a:srgbClr val="3333FF"/>
                </a:solidFill>
              </a:rPr>
              <a:t>，</a:t>
            </a:r>
            <a:r>
              <a:rPr lang="en-US" altLang="zh-CN" sz="2400" i="1" dirty="0">
                <a:solidFill>
                  <a:srgbClr val="3333FF"/>
                </a:solidFill>
              </a:rPr>
              <a:t>d</a:t>
            </a:r>
            <a:r>
              <a:rPr lang="en-US" altLang="zh-CN" sz="2400" baseline="-25000" dirty="0">
                <a:solidFill>
                  <a:srgbClr val="3333FF"/>
                </a:solidFill>
              </a:rPr>
              <a:t>2</a:t>
            </a:r>
            <a:r>
              <a:rPr lang="zh-CN" altLang="en-US" sz="2400" dirty="0">
                <a:solidFill>
                  <a:srgbClr val="3333FF"/>
                </a:solidFill>
              </a:rPr>
              <a:t>，</a:t>
            </a:r>
            <a:r>
              <a:rPr lang="en-US" altLang="zh-CN" sz="2400" dirty="0">
                <a:solidFill>
                  <a:srgbClr val="3333FF"/>
                </a:solidFill>
              </a:rPr>
              <a:t>…</a:t>
            </a:r>
            <a:r>
              <a:rPr lang="zh-CN" altLang="en-US" sz="2400" dirty="0">
                <a:solidFill>
                  <a:srgbClr val="3333FF"/>
                </a:solidFill>
              </a:rPr>
              <a:t>，</a:t>
            </a:r>
            <a:r>
              <a:rPr lang="en-US" altLang="zh-CN" sz="2400" i="1" dirty="0">
                <a:solidFill>
                  <a:srgbClr val="3333FF"/>
                </a:solidFill>
              </a:rPr>
              <a:t>d</a:t>
            </a:r>
            <a:r>
              <a:rPr lang="en-US" altLang="zh-CN" sz="2400" i="1" baseline="-25000" dirty="0">
                <a:solidFill>
                  <a:srgbClr val="3333FF"/>
                </a:solidFill>
              </a:rPr>
              <a:t>n</a:t>
            </a:r>
            <a:r>
              <a:rPr lang="zh-CN" altLang="en-US" sz="2400" dirty="0">
                <a:solidFill>
                  <a:srgbClr val="3333FF"/>
                </a:solidFill>
              </a:rPr>
              <a:t>）</a:t>
            </a:r>
            <a:r>
              <a:rPr lang="zh-CN" altLang="en-US" sz="2400" dirty="0"/>
              <a:t>｜</a:t>
            </a:r>
            <a:r>
              <a:rPr lang="en-US" altLang="zh-CN" sz="2400" i="1" dirty="0"/>
              <a:t>d</a:t>
            </a:r>
            <a:r>
              <a:rPr lang="en-US" altLang="zh-CN" sz="2400" i="1" baseline="-25000" dirty="0"/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D</a:t>
            </a:r>
            <a:r>
              <a:rPr lang="en-US" altLang="zh-CN" sz="2400" i="1" baseline="-25000" dirty="0"/>
              <a:t>i</a:t>
            </a:r>
            <a:r>
              <a:rPr lang="zh-CN" altLang="en-US" sz="2400" dirty="0"/>
              <a:t>，</a:t>
            </a:r>
            <a:r>
              <a:rPr lang="en-US" altLang="zh-CN" sz="2400" i="1" dirty="0"/>
              <a:t>i</a:t>
            </a:r>
            <a:r>
              <a:rPr lang="zh-CN" altLang="en-US" sz="2400" dirty="0"/>
              <a:t>＝</a:t>
            </a:r>
            <a:r>
              <a:rPr lang="en-US" altLang="zh-CN" sz="24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…</a:t>
            </a:r>
            <a:r>
              <a:rPr lang="zh-CN" altLang="en-US" sz="2400" dirty="0"/>
              <a:t>，</a:t>
            </a:r>
            <a:r>
              <a:rPr lang="en-US" altLang="zh-CN" sz="2400" i="1" dirty="0"/>
              <a:t>n</a:t>
            </a:r>
            <a:r>
              <a:rPr lang="zh-CN" altLang="en-US" sz="2400" dirty="0"/>
              <a:t>｝</a:t>
            </a:r>
            <a:endParaRPr lang="zh-CN" altLang="en-US" sz="2400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所有域的所有取值的组合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lvl="1" algn="just" eaLnBrk="1" hangingPunct="1">
              <a:lnSpc>
                <a:spcPct val="125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元组</a:t>
            </a:r>
            <a:r>
              <a:rPr lang="zh-CN" altLang="en-US" sz="2400" dirty="0"/>
              <a:t>（</a:t>
            </a:r>
            <a:r>
              <a:rPr lang="en-US" altLang="zh-CN" sz="2400" dirty="0">
                <a:latin typeface="Times New Roman" panose="02020603050405020304" pitchFamily="18" charset="0"/>
              </a:rPr>
              <a:t>Tuple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2" algn="just" eaLnBrk="1" hangingPunct="1">
              <a:lnSpc>
                <a:spcPct val="125000"/>
              </a:lnSpc>
            </a:pPr>
            <a:r>
              <a:rPr lang="zh-CN" altLang="en-US" sz="2000" dirty="0"/>
              <a:t>笛卡尔积中每一个元素（</a:t>
            </a:r>
            <a:r>
              <a:rPr lang="en-US" altLang="zh-CN" sz="2000" i="1" dirty="0"/>
              <a:t>d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，</a:t>
            </a:r>
            <a:r>
              <a:rPr lang="en-US" altLang="zh-CN" sz="2000" i="1" dirty="0"/>
              <a:t>d</a:t>
            </a:r>
            <a:r>
              <a:rPr lang="en-US" altLang="zh-CN" sz="2000" baseline="-25000" dirty="0"/>
              <a:t>2</a:t>
            </a:r>
            <a:r>
              <a:rPr lang="zh-CN" altLang="en-US" sz="2000" dirty="0"/>
              <a:t>，</a:t>
            </a:r>
            <a:r>
              <a:rPr lang="en-US" altLang="zh-CN" sz="2000" dirty="0"/>
              <a:t>…</a:t>
            </a:r>
            <a:r>
              <a:rPr lang="zh-CN" altLang="en-US" sz="2000" dirty="0"/>
              <a:t>，</a:t>
            </a:r>
            <a:r>
              <a:rPr lang="en-US" altLang="zh-CN" sz="2000" i="1" dirty="0"/>
              <a:t>d</a:t>
            </a:r>
            <a:r>
              <a:rPr lang="en-US" altLang="zh-CN" sz="2000" i="1" baseline="-25000" dirty="0"/>
              <a:t>n</a:t>
            </a:r>
            <a:r>
              <a:rPr lang="zh-CN" altLang="en-US" sz="2000" dirty="0"/>
              <a:t>）叫作一个</a:t>
            </a:r>
            <a:r>
              <a:rPr lang="en-US" altLang="zh-CN" sz="2000" i="1" dirty="0"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ea typeface="黑体" panose="02010609060101010101" pitchFamily="49" charset="-122"/>
              </a:rPr>
              <a:t>元组</a:t>
            </a:r>
            <a:r>
              <a:rPr lang="zh-CN" altLang="en-US" sz="2000" dirty="0"/>
              <a:t>（</a:t>
            </a:r>
            <a:r>
              <a:rPr lang="en-US" altLang="zh-CN" sz="2000" dirty="0"/>
              <a:t>n-tuple</a:t>
            </a:r>
            <a:r>
              <a:rPr lang="zh-CN" altLang="en-US" sz="2000" dirty="0"/>
              <a:t>）或简称</a:t>
            </a:r>
            <a:r>
              <a:rPr lang="zh-CN" altLang="en-US" sz="2000" dirty="0">
                <a:ea typeface="黑体" panose="02010609060101010101" pitchFamily="49" charset="-122"/>
              </a:rPr>
              <a:t>元组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分量</a:t>
            </a:r>
            <a:r>
              <a:rPr lang="zh-CN" altLang="en-US" sz="2400" dirty="0"/>
              <a:t>（</a:t>
            </a:r>
            <a:r>
              <a:rPr lang="en-US" altLang="zh-CN" sz="2400" dirty="0">
                <a:latin typeface="Times New Roman" panose="02020603050405020304" pitchFamily="18" charset="0"/>
              </a:rPr>
              <a:t>Component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 dirty="0"/>
              <a:t>笛卡尔积元素（</a:t>
            </a:r>
            <a:r>
              <a:rPr lang="en-US" altLang="zh-CN" sz="2000" i="1" dirty="0"/>
              <a:t>d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，</a:t>
            </a:r>
            <a:r>
              <a:rPr lang="en-US" altLang="zh-CN" sz="2000" i="1" dirty="0"/>
              <a:t>d</a:t>
            </a:r>
            <a:r>
              <a:rPr lang="en-US" altLang="zh-CN" sz="2000" baseline="-25000" dirty="0"/>
              <a:t>2</a:t>
            </a:r>
            <a:r>
              <a:rPr lang="zh-CN" altLang="en-US" sz="2000" dirty="0"/>
              <a:t>，</a:t>
            </a:r>
            <a:r>
              <a:rPr lang="en-US" altLang="zh-CN" sz="2000" dirty="0"/>
              <a:t>…</a:t>
            </a:r>
            <a:r>
              <a:rPr lang="zh-CN" altLang="en-US" sz="2000" dirty="0"/>
              <a:t>，</a:t>
            </a:r>
            <a:r>
              <a:rPr lang="en-US" altLang="zh-CN" sz="2000" i="1" dirty="0"/>
              <a:t>d</a:t>
            </a:r>
            <a:r>
              <a:rPr lang="en-US" altLang="zh-CN" sz="2000" i="1" baseline="-25000" dirty="0"/>
              <a:t>n</a:t>
            </a:r>
            <a:r>
              <a:rPr lang="zh-CN" altLang="en-US" sz="2000" dirty="0"/>
              <a:t>）中的每一个值</a:t>
            </a:r>
            <a:r>
              <a:rPr lang="en-US" altLang="zh-CN" sz="2000" i="1" dirty="0"/>
              <a:t>d</a:t>
            </a:r>
            <a:r>
              <a:rPr lang="en-US" altLang="zh-CN" sz="2000" i="1" baseline="-25000" dirty="0"/>
              <a:t>i</a:t>
            </a:r>
            <a:r>
              <a:rPr lang="zh-CN" altLang="en-US" sz="2000" dirty="0"/>
              <a:t>叫作一个</a:t>
            </a:r>
            <a:r>
              <a:rPr lang="zh-CN" altLang="en-US" sz="2000" dirty="0">
                <a:ea typeface="黑体" panose="02010609060101010101" pitchFamily="49" charset="-122"/>
              </a:rPr>
              <a:t>分量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charRg st="93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03">
                                            <p:txEl>
                                              <p:charRg st="93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charRg st="105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8403">
                                            <p:txEl>
                                              <p:charRg st="105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charRg st="115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8403">
                                            <p:txEl>
                                              <p:charRg st="115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charRg st="160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58403">
                                            <p:txEl>
                                              <p:charRg st="160" end="1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charRg st="174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58403">
                                            <p:txEl>
                                              <p:charRg st="174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2. </a:t>
            </a:r>
            <a:r>
              <a:rPr lang="zh-CN" altLang="en-US" sz="4000" dirty="0"/>
              <a:t>笛卡尔积（</a:t>
            </a:r>
            <a:r>
              <a:rPr lang="en-US" altLang="zh-CN" sz="4000" dirty="0">
                <a:latin typeface="Times New Roman" panose="02020603050405020304" pitchFamily="18" charset="0"/>
              </a:rPr>
              <a:t>Cartesian Product</a:t>
            </a:r>
            <a:r>
              <a:rPr lang="zh-CN" altLang="en-US" sz="4000" dirty="0"/>
              <a:t>）</a:t>
            </a:r>
            <a:endParaRPr lang="zh-CN" altLang="en-US" dirty="0"/>
          </a:p>
        </p:txBody>
      </p:sp>
      <p:sp>
        <p:nvSpPr>
          <p:cNvPr id="11268" name="Rectangle 3"/>
          <p:cNvSpPr>
            <a:spLocks noGrp="1"/>
          </p:cNvSpPr>
          <p:nvPr>
            <p:ph type="body" sz="half" idx="1"/>
          </p:nvPr>
        </p:nvSpPr>
        <p:spPr>
          <a:xfrm>
            <a:off x="323850" y="1700213"/>
            <a:ext cx="4319588" cy="32400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3333FF"/>
                </a:solidFill>
              </a:rPr>
              <a:t>例如：</a:t>
            </a:r>
            <a:endParaRPr lang="zh-CN" altLang="en-US" dirty="0">
              <a:solidFill>
                <a:srgbClr val="3333FF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1 = </a:t>
            </a:r>
            <a:r>
              <a:rPr lang="zh-CN" altLang="en-US" dirty="0"/>
              <a:t>｛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 </a:t>
            </a:r>
            <a:r>
              <a:rPr lang="zh-CN" altLang="en-US" dirty="0"/>
              <a:t>｝</a:t>
            </a:r>
            <a:endParaRPr lang="zh-CN" altLang="en-US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2 = </a:t>
            </a:r>
            <a:r>
              <a:rPr lang="zh-CN" altLang="en-US" dirty="0"/>
              <a:t>｛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 </a:t>
            </a:r>
            <a:r>
              <a:rPr lang="zh-CN" altLang="en-US" dirty="0"/>
              <a:t>｝</a:t>
            </a:r>
            <a:endParaRPr lang="zh-CN" altLang="en-US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3 = </a:t>
            </a:r>
            <a:r>
              <a:rPr lang="zh-CN" altLang="en-US" dirty="0"/>
              <a:t>｛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｝</a:t>
            </a:r>
            <a:endParaRPr lang="zh-CN" altLang="en-US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3  </a:t>
            </a:r>
            <a:r>
              <a:rPr lang="en-US" altLang="zh-CN" baseline="-25000" dirty="0"/>
              <a:t>= 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FF33CC"/>
                </a:solidFill>
              </a:rPr>
              <a:t>？</a:t>
            </a:r>
            <a:endParaRPr lang="zh-CN" altLang="en-US" dirty="0">
              <a:solidFill>
                <a:srgbClr val="FF33CC"/>
              </a:solidFill>
            </a:endParaRPr>
          </a:p>
        </p:txBody>
      </p:sp>
      <p:graphicFrame>
        <p:nvGraphicFramePr>
          <p:cNvPr id="360494" name="Group 46"/>
          <p:cNvGraphicFramePr>
            <a:graphicFrameLocks noGrp="1"/>
          </p:cNvGraphicFramePr>
          <p:nvPr>
            <p:ph sz="half" idx="1"/>
          </p:nvPr>
        </p:nvGraphicFramePr>
        <p:xfrm>
          <a:off x="5003800" y="1341438"/>
          <a:ext cx="3744913" cy="4144963"/>
        </p:xfrm>
        <a:graphic>
          <a:graphicData uri="http://schemas.openxmlformats.org/drawingml/2006/table">
            <a:tbl>
              <a:tblPr/>
              <a:tblGrid>
                <a:gridCol w="1249363"/>
                <a:gridCol w="1246187"/>
                <a:gridCol w="1249363"/>
              </a:tblGrid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5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6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4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5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1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4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6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5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3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6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4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5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2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4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6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51"/>
          <p:cNvGrpSpPr/>
          <p:nvPr/>
        </p:nvGrpSpPr>
        <p:grpSpPr>
          <a:xfrm>
            <a:off x="5076825" y="836613"/>
            <a:ext cx="3527425" cy="504825"/>
            <a:chOff x="3198" y="527"/>
            <a:chExt cx="2222" cy="318"/>
          </a:xfrm>
        </p:grpSpPr>
        <p:sp>
          <p:nvSpPr>
            <p:cNvPr id="11309" name="Rectangle 48"/>
            <p:cNvSpPr/>
            <p:nvPr/>
          </p:nvSpPr>
          <p:spPr>
            <a:xfrm>
              <a:off x="3198" y="527"/>
              <a:ext cx="680" cy="318"/>
            </a:xfrm>
            <a:prstGeom prst="rect">
              <a:avLst/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i="1" dirty="0">
                  <a:latin typeface="Verdana" panose="020B0604030504040204" pitchFamily="34" charset="0"/>
                </a:rPr>
                <a:t>D</a:t>
              </a:r>
              <a:r>
                <a:rPr lang="en-US" altLang="zh-CN" b="1" dirty="0">
                  <a:latin typeface="Verdana" panose="020B0604030504040204" pitchFamily="34" charset="0"/>
                </a:rPr>
                <a:t>1</a:t>
              </a:r>
              <a:endParaRPr lang="en-US" altLang="zh-CN" b="1" dirty="0">
                <a:latin typeface="Verdana" panose="020B0604030504040204" pitchFamily="34" charset="0"/>
              </a:endParaRPr>
            </a:p>
          </p:txBody>
        </p:sp>
        <p:sp>
          <p:nvSpPr>
            <p:cNvPr id="11310" name="Rectangle 49"/>
            <p:cNvSpPr/>
            <p:nvPr/>
          </p:nvSpPr>
          <p:spPr>
            <a:xfrm>
              <a:off x="3969" y="527"/>
              <a:ext cx="725" cy="318"/>
            </a:xfrm>
            <a:prstGeom prst="rect">
              <a:avLst/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i="1" dirty="0">
                  <a:latin typeface="Verdana" panose="020B0604030504040204" pitchFamily="34" charset="0"/>
                </a:rPr>
                <a:t>D</a:t>
              </a:r>
              <a:r>
                <a:rPr lang="en-US" altLang="zh-CN" b="1" dirty="0">
                  <a:latin typeface="Verdana" panose="020B0604030504040204" pitchFamily="34" charset="0"/>
                </a:rPr>
                <a:t>2</a:t>
              </a:r>
              <a:endParaRPr lang="en-US" altLang="zh-CN" b="1" dirty="0">
                <a:latin typeface="Verdana" panose="020B0604030504040204" pitchFamily="34" charset="0"/>
              </a:endParaRPr>
            </a:p>
          </p:txBody>
        </p:sp>
        <p:sp>
          <p:nvSpPr>
            <p:cNvPr id="11311" name="Rectangle 50"/>
            <p:cNvSpPr/>
            <p:nvPr/>
          </p:nvSpPr>
          <p:spPr>
            <a:xfrm>
              <a:off x="4785" y="527"/>
              <a:ext cx="635" cy="318"/>
            </a:xfrm>
            <a:prstGeom prst="rect">
              <a:avLst/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i="1" dirty="0">
                  <a:latin typeface="Verdana" panose="020B0604030504040204" pitchFamily="34" charset="0"/>
                </a:rPr>
                <a:t>D</a:t>
              </a:r>
              <a:r>
                <a:rPr lang="en-US" altLang="zh-CN" b="1" dirty="0">
                  <a:latin typeface="Verdana" panose="020B0604030504040204" pitchFamily="34" charset="0"/>
                </a:rPr>
                <a:t>3</a:t>
              </a:r>
              <a:endParaRPr lang="en-US" altLang="zh-CN" b="1" dirty="0">
                <a:latin typeface="Verdana" panose="020B0604030504040204" pitchFamily="34" charset="0"/>
              </a:endParaRPr>
            </a:p>
          </p:txBody>
        </p:sp>
      </p:grpSp>
      <p:sp>
        <p:nvSpPr>
          <p:cNvPr id="11308" name="矩形 2"/>
          <p:cNvSpPr/>
          <p:nvPr/>
        </p:nvSpPr>
        <p:spPr>
          <a:xfrm>
            <a:off x="395288" y="1196975"/>
            <a:ext cx="4032250" cy="498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lvl="1"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所有域的所有取值的组合</a:t>
            </a:r>
            <a:endParaRPr lang="zh-CN" altLang="en-US" sz="2400" dirty="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0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0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0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0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type="body" sz="half" idx="1"/>
          </p:nvPr>
        </p:nvSpPr>
        <p:spPr>
          <a:xfrm>
            <a:off x="0" y="1700213"/>
            <a:ext cx="5651500" cy="32400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3333FF"/>
                </a:solidFill>
              </a:rPr>
              <a:t>例如：</a:t>
            </a:r>
            <a:endParaRPr lang="zh-CN" altLang="en-US" dirty="0">
              <a:solidFill>
                <a:srgbClr val="3333FF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1 =</a:t>
            </a:r>
            <a:r>
              <a:rPr lang="zh-CN" altLang="en-US" dirty="0"/>
              <a:t>导师集合</a:t>
            </a:r>
            <a:r>
              <a:rPr lang="en-US" altLang="zh-CN" dirty="0"/>
              <a:t>supervisor={</a:t>
            </a:r>
            <a:r>
              <a:rPr lang="zh-CN" altLang="en-US" dirty="0"/>
              <a:t>张，刘</a:t>
            </a:r>
            <a:r>
              <a:rPr lang="en-US" altLang="zh-CN" dirty="0"/>
              <a:t>}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2 = </a:t>
            </a:r>
            <a:r>
              <a:rPr lang="zh-CN" altLang="en-US" dirty="0"/>
              <a:t>专业集合</a:t>
            </a:r>
            <a:r>
              <a:rPr lang="en-US" altLang="zh-CN" dirty="0"/>
              <a:t>speciality={</a:t>
            </a:r>
            <a:r>
              <a:rPr lang="zh-CN" altLang="en-US" dirty="0"/>
              <a:t>计算机，信息｝</a:t>
            </a:r>
            <a:endParaRPr lang="zh-CN" altLang="en-US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3 = </a:t>
            </a:r>
            <a:r>
              <a:rPr lang="zh-CN" altLang="en-US" dirty="0"/>
              <a:t>研究生集合</a:t>
            </a:r>
            <a:r>
              <a:rPr lang="en-US" altLang="zh-CN" dirty="0"/>
              <a:t>postgraduate={</a:t>
            </a:r>
            <a:r>
              <a:rPr lang="zh-CN" altLang="en-US" dirty="0"/>
              <a:t>李勇，刘晨，王敏｝</a:t>
            </a:r>
            <a:endParaRPr lang="zh-CN" altLang="en-US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3  </a:t>
            </a:r>
            <a:r>
              <a:rPr lang="en-US" altLang="zh-CN" baseline="-25000" dirty="0"/>
              <a:t>= 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FF33CC"/>
                </a:solidFill>
              </a:rPr>
              <a:t>？</a:t>
            </a:r>
            <a:endParaRPr lang="zh-CN" altLang="en-US" dirty="0">
              <a:solidFill>
                <a:srgbClr val="FF33CC"/>
              </a:solidFill>
            </a:endParaRPr>
          </a:p>
        </p:txBody>
      </p:sp>
      <p:graphicFrame>
        <p:nvGraphicFramePr>
          <p:cNvPr id="362623" name="Group 127"/>
          <p:cNvGraphicFramePr>
            <a:graphicFrameLocks noGrp="1"/>
          </p:cNvGraphicFramePr>
          <p:nvPr>
            <p:ph sz="half" idx="1"/>
          </p:nvPr>
        </p:nvGraphicFramePr>
        <p:xfrm>
          <a:off x="5724525" y="260350"/>
          <a:ext cx="3563938" cy="6340475"/>
        </p:xfrm>
        <a:graphic>
          <a:graphicData uri="http://schemas.openxmlformats.org/drawingml/2006/table">
            <a:tbl>
              <a:tblPr/>
              <a:tblGrid>
                <a:gridCol w="1187450"/>
                <a:gridCol w="1189038"/>
                <a:gridCol w="1187450"/>
              </a:tblGrid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导师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专业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研究生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计算机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李勇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计算机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刘晨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计算机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王敏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信息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李勇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信息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刘晨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信息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王敏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计算机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李勇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计算机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刘晨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计算机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王敏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信息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李勇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信息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刘晨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信息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王敏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/>
              <a:t>笛卡尔积（续</a:t>
            </a:r>
            <a:r>
              <a:rPr lang="en-US" altLang="zh-CN" sz="4000" dirty="0"/>
              <a:t>)</a:t>
            </a:r>
            <a:endParaRPr lang="en-US" altLang="zh-CN" sz="4000" dirty="0"/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>
          <a:xfrm>
            <a:off x="395288" y="1341438"/>
            <a:ext cx="8229600" cy="2663825"/>
          </a:xfrm>
          <a:ln/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dirty="0"/>
              <a:t>基数（</a:t>
            </a:r>
            <a:r>
              <a:rPr lang="en-US" altLang="zh-CN" dirty="0">
                <a:latin typeface="Times New Roman" panose="02020603050405020304" pitchFamily="18" charset="0"/>
              </a:rPr>
              <a:t>Cardinal number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若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i</a:t>
            </a:r>
            <a:r>
              <a:rPr lang="zh-CN" altLang="en-US" dirty="0"/>
              <a:t>（</a:t>
            </a:r>
            <a:r>
              <a:rPr lang="en-US" altLang="zh-CN" i="1" dirty="0"/>
              <a:t>i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n</a:t>
            </a:r>
            <a:r>
              <a:rPr lang="zh-CN" altLang="en-US" dirty="0"/>
              <a:t>）为有限集，其基数为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i</a:t>
            </a:r>
            <a:r>
              <a:rPr lang="zh-CN" altLang="en-US" dirty="0"/>
              <a:t>（</a:t>
            </a:r>
            <a:r>
              <a:rPr lang="en-US" altLang="zh-CN" i="1" dirty="0"/>
              <a:t>i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n</a:t>
            </a:r>
            <a:r>
              <a:rPr lang="zh-CN" altLang="en-US" dirty="0"/>
              <a:t>），则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×…×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的基数</a:t>
            </a:r>
            <a:r>
              <a:rPr lang="en-US" altLang="zh-CN" i="1" dirty="0"/>
              <a:t>M</a:t>
            </a:r>
            <a:r>
              <a:rPr lang="zh-CN" altLang="en-US" dirty="0"/>
              <a:t>为：</a:t>
            </a:r>
            <a:endParaRPr lang="zh-CN" altLang="en-US" dirty="0"/>
          </a:p>
          <a:p>
            <a:pPr lvl="1" algn="just" eaLnBrk="1" hangingPunct="1"/>
            <a:endParaRPr lang="zh-CN" altLang="en-US" dirty="0"/>
          </a:p>
          <a:p>
            <a:pPr lvl="1" algn="just" eaLnBrk="1" hangingPunct="1"/>
            <a:endParaRPr lang="en-US" altLang="zh-CN" dirty="0"/>
          </a:p>
        </p:txBody>
      </p:sp>
      <p:graphicFrame>
        <p:nvGraphicFramePr>
          <p:cNvPr id="13317" name="Object 4"/>
          <p:cNvGraphicFramePr>
            <a:graphicFrameLocks noChangeAspect="1"/>
          </p:cNvGraphicFramePr>
          <p:nvPr/>
        </p:nvGraphicFramePr>
        <p:xfrm>
          <a:off x="3276600" y="2924175"/>
          <a:ext cx="1981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73100" imgH="342900" progId="Equation.3">
                  <p:embed/>
                </p:oleObj>
              </mc:Choice>
              <mc:Fallback>
                <p:oleObj name="" r:id="rId1" imgW="673100" imgH="342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600" y="2924175"/>
                        <a:ext cx="19812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69" name="Rectangle 5"/>
          <p:cNvSpPr/>
          <p:nvPr/>
        </p:nvSpPr>
        <p:spPr>
          <a:xfrm>
            <a:off x="323850" y="4221163"/>
            <a:ext cx="8569325" cy="13668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742950" lvl="1" indent="-285750" eaLnBrk="1" hangingPunct="1">
              <a:lnSpc>
                <a:spcPct val="125000"/>
              </a:lnSpc>
              <a:spcBef>
                <a:spcPct val="20000"/>
              </a:spcBef>
              <a:buClr>
                <a:srgbClr val="CC0099"/>
              </a:buClr>
              <a:buSzPct val="75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在上例中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，笛卡尔积的基数为：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2×2×3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＝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12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，即</a:t>
            </a:r>
            <a:r>
              <a:rPr lang="en-US" altLang="zh-CN" sz="2800" b="1" i="1" dirty="0">
                <a:latin typeface="Verdana" panose="020B0604030504040204" pitchFamily="34" charset="0"/>
                <a:ea typeface="楷体_GB2312" pitchFamily="49" charset="-122"/>
              </a:rPr>
              <a:t>D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1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×</a:t>
            </a:r>
            <a:r>
              <a:rPr lang="en-US" altLang="zh-CN" sz="2800" b="1" i="1" dirty="0">
                <a:latin typeface="Verdana" panose="020B0604030504040204" pitchFamily="34" charset="0"/>
                <a:ea typeface="楷体_GB2312" pitchFamily="49" charset="-122"/>
              </a:rPr>
              <a:t>D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×</a:t>
            </a:r>
            <a:r>
              <a:rPr lang="en-US" altLang="zh-CN" sz="2800" b="1" i="1" dirty="0">
                <a:latin typeface="Verdana" panose="020B0604030504040204" pitchFamily="34" charset="0"/>
                <a:ea typeface="楷体_GB2312" pitchFamily="49" charset="-122"/>
              </a:rPr>
              <a:t>D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3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共有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2×2×3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＝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12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个元组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/>
              <a:t>笛卡尔积（续</a:t>
            </a:r>
            <a:r>
              <a:rPr lang="en-US" altLang="zh-CN" sz="4000" dirty="0"/>
              <a:t>)</a:t>
            </a:r>
            <a:endParaRPr lang="en-US" altLang="zh-CN" sz="4000" dirty="0"/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323850" y="1341438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笛卡尔积的表示方法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笛卡尔积可表示为一个</a:t>
            </a:r>
            <a:r>
              <a:rPr lang="zh-CN" altLang="en-US" dirty="0">
                <a:solidFill>
                  <a:srgbClr val="FF0000"/>
                </a:solidFill>
              </a:rPr>
              <a:t>二维表</a:t>
            </a:r>
            <a:r>
              <a:rPr lang="zh-CN" altLang="en-US" dirty="0"/>
              <a:t>。表中的每行对应一个元组，表中的每列对应一个域。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None/>
            </a:pPr>
            <a:endParaRPr lang="zh-CN" altLang="en-US" sz="900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在上例中，</a:t>
            </a:r>
            <a:r>
              <a:rPr lang="en-US" altLang="zh-CN" dirty="0"/>
              <a:t>12</a:t>
            </a:r>
            <a:r>
              <a:rPr lang="zh-CN" altLang="en-US" dirty="0"/>
              <a:t>个元组可列成一张二维表（</a:t>
            </a:r>
            <a:r>
              <a:rPr lang="en-US" altLang="zh-CN" dirty="0"/>
              <a:t>P43  </a:t>
            </a:r>
            <a:r>
              <a:rPr lang="zh-CN" altLang="en-US" dirty="0"/>
              <a:t>表</a:t>
            </a:r>
            <a:r>
              <a:rPr lang="en-US" altLang="zh-CN" dirty="0"/>
              <a:t>2.1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3. </a:t>
            </a:r>
            <a:r>
              <a:rPr lang="zh-CN" altLang="en-US" dirty="0"/>
              <a:t>关系（</a:t>
            </a:r>
            <a:r>
              <a:rPr lang="en-US" altLang="zh-CN" dirty="0"/>
              <a:t>Relation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5364" name="Rectangle 3"/>
          <p:cNvSpPr>
            <a:spLocks noGrp="1"/>
          </p:cNvSpPr>
          <p:nvPr>
            <p:ph idx="1"/>
          </p:nvPr>
        </p:nvSpPr>
        <p:spPr>
          <a:xfrm>
            <a:off x="179388" y="1052513"/>
            <a:ext cx="8374062" cy="5472112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dirty="0">
                <a:ea typeface="黑体" panose="02010609060101010101" pitchFamily="49" charset="-122"/>
              </a:rPr>
              <a:t>1) </a:t>
            </a:r>
            <a:r>
              <a:rPr lang="zh-CN" altLang="en-US" dirty="0">
                <a:ea typeface="黑体" panose="02010609060101010101" pitchFamily="49" charset="-122"/>
              </a:rPr>
              <a:t>关系</a:t>
            </a:r>
            <a:endParaRPr lang="zh-CN" altLang="en-US" dirty="0">
              <a:ea typeface="黑体" panose="02010609060101010101" pitchFamily="49" charset="-122"/>
            </a:endParaRPr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×…×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子集</a:t>
            </a:r>
            <a:r>
              <a:rPr lang="zh-CN" altLang="en-US" dirty="0"/>
              <a:t>叫作在域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zh-CN" altLang="en-US" dirty="0"/>
              <a:t>上的</a:t>
            </a:r>
            <a:r>
              <a:rPr lang="zh-CN" altLang="en-US" dirty="0">
                <a:ea typeface="黑体" panose="02010609060101010101" pitchFamily="49" charset="-122"/>
              </a:rPr>
              <a:t>关系</a:t>
            </a:r>
            <a:r>
              <a:rPr lang="zh-CN" altLang="en-US" dirty="0"/>
              <a:t>，表示为：</a:t>
            </a:r>
            <a:endParaRPr lang="zh-CN" altLang="en-US" dirty="0"/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zh-CN" altLang="en-US" dirty="0"/>
              <a:t>                 </a:t>
            </a:r>
            <a:r>
              <a:rPr lang="en-US" altLang="zh-CN" i="1" dirty="0">
                <a:solidFill>
                  <a:srgbClr val="3333FF"/>
                </a:solidFill>
              </a:rPr>
              <a:t>R</a:t>
            </a:r>
            <a:r>
              <a:rPr lang="zh-CN" altLang="en-US" dirty="0">
                <a:solidFill>
                  <a:srgbClr val="3333FF"/>
                </a:solidFill>
              </a:rPr>
              <a:t>（</a:t>
            </a:r>
            <a:r>
              <a:rPr lang="en-US" altLang="zh-CN" i="1" dirty="0">
                <a:solidFill>
                  <a:srgbClr val="3333FF"/>
                </a:solidFill>
              </a:rPr>
              <a:t>D</a:t>
            </a:r>
            <a:r>
              <a:rPr lang="en-US" altLang="zh-CN" baseline="-25000" dirty="0">
                <a:solidFill>
                  <a:srgbClr val="3333FF"/>
                </a:solidFill>
              </a:rPr>
              <a:t>1</a:t>
            </a:r>
            <a:r>
              <a:rPr lang="zh-CN" altLang="en-US" dirty="0">
                <a:solidFill>
                  <a:srgbClr val="3333FF"/>
                </a:solidFill>
              </a:rPr>
              <a:t>，</a:t>
            </a:r>
            <a:r>
              <a:rPr lang="en-US" altLang="zh-CN" i="1" dirty="0">
                <a:solidFill>
                  <a:srgbClr val="3333FF"/>
                </a:solidFill>
              </a:rPr>
              <a:t>D</a:t>
            </a:r>
            <a:r>
              <a:rPr lang="en-US" altLang="zh-CN" baseline="-25000" dirty="0">
                <a:solidFill>
                  <a:srgbClr val="3333FF"/>
                </a:solidFill>
              </a:rPr>
              <a:t>2</a:t>
            </a:r>
            <a:r>
              <a:rPr lang="zh-CN" altLang="en-US" dirty="0">
                <a:solidFill>
                  <a:srgbClr val="3333FF"/>
                </a:solidFill>
              </a:rPr>
              <a:t>，</a:t>
            </a:r>
            <a:r>
              <a:rPr lang="en-US" altLang="zh-CN" dirty="0">
                <a:solidFill>
                  <a:srgbClr val="3333FF"/>
                </a:solidFill>
              </a:rPr>
              <a:t>…</a:t>
            </a:r>
            <a:r>
              <a:rPr lang="zh-CN" altLang="en-US" dirty="0">
                <a:solidFill>
                  <a:srgbClr val="3333FF"/>
                </a:solidFill>
              </a:rPr>
              <a:t>，</a:t>
            </a:r>
            <a:r>
              <a:rPr lang="en-US" altLang="zh-CN" i="1" dirty="0">
                <a:solidFill>
                  <a:srgbClr val="3333FF"/>
                </a:solidFill>
              </a:rPr>
              <a:t>D</a:t>
            </a:r>
            <a:r>
              <a:rPr lang="en-US" altLang="zh-CN" i="1" baseline="-25000" dirty="0">
                <a:solidFill>
                  <a:srgbClr val="3333FF"/>
                </a:solidFill>
              </a:rPr>
              <a:t>n</a:t>
            </a:r>
            <a:r>
              <a:rPr lang="zh-CN" altLang="en-US" dirty="0">
                <a:solidFill>
                  <a:srgbClr val="3333FF"/>
                </a:solidFill>
              </a:rPr>
              <a:t>）</a:t>
            </a:r>
            <a:endParaRPr lang="zh-CN" altLang="en-US" dirty="0">
              <a:solidFill>
                <a:srgbClr val="3333FF"/>
              </a:solidFill>
            </a:endParaRPr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en-US" altLang="zh-CN" sz="2600" i="1" dirty="0"/>
              <a:t>R</a:t>
            </a:r>
            <a:r>
              <a:rPr lang="zh-CN" altLang="en-US" sz="2600" i="1" dirty="0"/>
              <a:t>表示</a:t>
            </a:r>
            <a:r>
              <a:rPr lang="zh-CN" altLang="en-US" sz="2600" dirty="0"/>
              <a:t>关系名，</a:t>
            </a:r>
            <a:r>
              <a:rPr lang="zh-CN" altLang="en-US" sz="2600" i="1" dirty="0"/>
              <a:t>  </a:t>
            </a:r>
            <a:r>
              <a:rPr lang="en-US" altLang="zh-CN" sz="2600" i="1" dirty="0"/>
              <a:t>n</a:t>
            </a:r>
            <a:r>
              <a:rPr lang="zh-CN" altLang="en-US" sz="2600" i="1" dirty="0"/>
              <a:t>表示</a:t>
            </a:r>
            <a:r>
              <a:rPr lang="zh-CN" altLang="en-US" sz="2600" dirty="0"/>
              <a:t>关系的</a:t>
            </a:r>
            <a:r>
              <a:rPr lang="zh-CN" altLang="en-US" sz="2600" dirty="0">
                <a:solidFill>
                  <a:srgbClr val="FF0000"/>
                </a:solidFill>
                <a:ea typeface="黑体" panose="02010609060101010101" pitchFamily="49" charset="-122"/>
              </a:rPr>
              <a:t>目</a:t>
            </a:r>
            <a:r>
              <a:rPr lang="zh-CN" altLang="en-US" sz="2600" dirty="0">
                <a:solidFill>
                  <a:srgbClr val="FF0000"/>
                </a:solidFill>
              </a:rPr>
              <a:t>或</a:t>
            </a:r>
            <a:r>
              <a:rPr lang="zh-CN" altLang="en-US" sz="2600" dirty="0">
                <a:solidFill>
                  <a:srgbClr val="FF0000"/>
                </a:solidFill>
                <a:ea typeface="黑体" panose="02010609060101010101" pitchFamily="49" charset="-122"/>
              </a:rPr>
              <a:t>度</a:t>
            </a:r>
            <a:r>
              <a:rPr lang="zh-CN" altLang="en-US" sz="2600" dirty="0"/>
              <a:t>（</a:t>
            </a:r>
            <a:r>
              <a:rPr lang="en-US" altLang="zh-CN" sz="2600" dirty="0"/>
              <a:t>Degree</a:t>
            </a:r>
            <a:r>
              <a:rPr lang="zh-CN" altLang="en-US" sz="2600" dirty="0"/>
              <a:t>）</a:t>
            </a:r>
            <a:endParaRPr lang="zh-CN" altLang="en-US" sz="2600" dirty="0"/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sz="2400" dirty="0"/>
              <a:t>当</a:t>
            </a:r>
            <a:r>
              <a:rPr lang="en-US" altLang="zh-CN" sz="2400" dirty="0"/>
              <a:t>n=1</a:t>
            </a:r>
            <a:r>
              <a:rPr lang="zh-CN" altLang="en-US" sz="2400" dirty="0"/>
              <a:t>时，称该关系为单元关系。</a:t>
            </a:r>
            <a:endParaRPr lang="zh-CN" altLang="en-US" sz="2400" dirty="0"/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sz="2400" dirty="0"/>
              <a:t>当</a:t>
            </a:r>
            <a:r>
              <a:rPr lang="en-US" altLang="zh-CN" sz="2400" dirty="0"/>
              <a:t>n=2</a:t>
            </a:r>
            <a:r>
              <a:rPr lang="zh-CN" altLang="en-US" sz="2400" dirty="0"/>
              <a:t>时，称该关系为二元关系。</a:t>
            </a:r>
            <a:endParaRPr lang="zh-CN" altLang="en-US" sz="2400" dirty="0"/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关系是笛卡尔积的有限子集。</a:t>
            </a:r>
            <a:r>
              <a:rPr lang="zh-CN" altLang="en-US" sz="2400" dirty="0"/>
              <a:t>无限关系在数据库系统中是无意义的。</a:t>
            </a:r>
            <a:endParaRPr lang="zh-CN" altLang="en-US" sz="2400" dirty="0"/>
          </a:p>
        </p:txBody>
      </p:sp>
      <p:sp>
        <p:nvSpPr>
          <p:cNvPr id="252932" name="Rectangle 4"/>
          <p:cNvSpPr/>
          <p:nvPr/>
        </p:nvSpPr>
        <p:spPr>
          <a:xfrm>
            <a:off x="323850" y="4724400"/>
            <a:ext cx="8208963" cy="5762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742950" lvl="1" indent="-285750" algn="just" eaLnBrk="1" hangingPunct="1">
              <a:lnSpc>
                <a:spcPct val="90000"/>
              </a:lnSpc>
              <a:spcBef>
                <a:spcPct val="20000"/>
              </a:spcBef>
              <a:buClr>
                <a:srgbClr val="CC0099"/>
              </a:buClr>
              <a:buSzPct val="75000"/>
              <a:buFont typeface="Wingdings" panose="05000000000000000000" pitchFamily="2" charset="2"/>
              <a:buChar char="Ø"/>
            </a:pPr>
            <a:endParaRPr lang="zh-CN" altLang="zh-CN" sz="32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graphicFrame>
        <p:nvGraphicFramePr>
          <p:cNvPr id="400387" name="Group 3"/>
          <p:cNvGraphicFramePr>
            <a:graphicFrameLocks noGrp="1"/>
          </p:cNvGraphicFramePr>
          <p:nvPr>
            <p:ph sz="half" idx="1"/>
          </p:nvPr>
        </p:nvGraphicFramePr>
        <p:xfrm>
          <a:off x="5508625" y="260350"/>
          <a:ext cx="3635375" cy="6340475"/>
        </p:xfrm>
        <a:graphic>
          <a:graphicData uri="http://schemas.openxmlformats.org/drawingml/2006/table">
            <a:tbl>
              <a:tblPr/>
              <a:tblGrid>
                <a:gridCol w="1211263"/>
                <a:gridCol w="1212850"/>
                <a:gridCol w="1211262"/>
              </a:tblGrid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导师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专业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研究生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计算机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李勇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计算机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刘晨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计算机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王敏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信息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李勇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信息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刘晨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信息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王敏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计算机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李勇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计算机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刘晨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计算机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王敏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信息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李勇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信息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刘晨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刘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信息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699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王敏</a:t>
                      </a:r>
                      <a:endParaRPr kumimoji="0" lang="zh-CN" altLang="en-US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445" name="Rectangle 61"/>
          <p:cNvSpPr/>
          <p:nvPr/>
        </p:nvSpPr>
        <p:spPr>
          <a:xfrm>
            <a:off x="423863" y="1484313"/>
            <a:ext cx="5011737" cy="3873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/>
            <a:r>
              <a:rPr lang="en-US" altLang="zh-CN" sz="2400" b="1" i="1" dirty="0">
                <a:latin typeface="Verdana" panose="020B0604030504040204" pitchFamily="34" charset="0"/>
                <a:ea typeface="楷体_GB2312" pitchFamily="49" charset="-122"/>
              </a:rPr>
              <a:t>D</a:t>
            </a:r>
            <a:r>
              <a:rPr lang="en-US" altLang="zh-CN" sz="2400" b="1" baseline="-25000" dirty="0">
                <a:latin typeface="Verdana" panose="020B0604030504040204" pitchFamily="34" charset="0"/>
                <a:ea typeface="楷体_GB2312" pitchFamily="49" charset="-122"/>
              </a:rPr>
              <a:t>1 =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supervisor={</a:t>
            </a: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张，刘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}</a:t>
            </a:r>
            <a:endParaRPr lang="en-US" altLang="zh-CN" sz="24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342900" indent="-342900" eaLnBrk="1" hangingPunct="1"/>
            <a:r>
              <a:rPr lang="en-US" altLang="zh-CN" sz="2400" b="1" i="1" dirty="0">
                <a:latin typeface="Verdana" panose="020B0604030504040204" pitchFamily="34" charset="0"/>
                <a:ea typeface="楷体_GB2312" pitchFamily="49" charset="-122"/>
              </a:rPr>
              <a:t>D</a:t>
            </a:r>
            <a:r>
              <a:rPr lang="en-US" altLang="zh-CN" sz="2400" b="1" baseline="-25000" dirty="0">
                <a:latin typeface="Verdana" panose="020B0604030504040204" pitchFamily="34" charset="0"/>
                <a:ea typeface="楷体_GB2312" pitchFamily="49" charset="-122"/>
              </a:rPr>
              <a:t>2 = 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speciality={</a:t>
            </a: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计算机，信息｝</a:t>
            </a:r>
            <a:endParaRPr lang="zh-CN" altLang="en-US" sz="24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342900" indent="-342900" eaLnBrk="1" hangingPunct="1"/>
            <a:r>
              <a:rPr lang="en-US" altLang="zh-CN" sz="2400" b="1" i="1" dirty="0">
                <a:latin typeface="Verdana" panose="020B0604030504040204" pitchFamily="34" charset="0"/>
                <a:ea typeface="楷体_GB2312" pitchFamily="49" charset="-122"/>
              </a:rPr>
              <a:t>D</a:t>
            </a:r>
            <a:r>
              <a:rPr lang="en-US" altLang="zh-CN" sz="2400" b="1" baseline="-25000" dirty="0">
                <a:latin typeface="Verdana" panose="020B0604030504040204" pitchFamily="34" charset="0"/>
                <a:ea typeface="楷体_GB2312" pitchFamily="49" charset="-122"/>
              </a:rPr>
              <a:t>3 = 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postgraduate={</a:t>
            </a: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李勇，刘晨，王敏｝</a:t>
            </a:r>
            <a:endParaRPr lang="en-US" altLang="zh-CN" sz="24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342900" indent="-342900" eaLnBrk="1" hangingPunct="1"/>
            <a:endParaRPr lang="en-US" altLang="zh-CN" sz="24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342900" indent="-342900" eaLnBrk="1" hangingPunct="1"/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笛卡尔积没有实际意义，</a:t>
            </a:r>
            <a:endParaRPr lang="en-US" altLang="zh-CN" sz="24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342900" indent="-342900" eaLnBrk="1" hangingPunct="1"/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关系是有实际意义的，</a:t>
            </a:r>
            <a:endParaRPr lang="en-US" altLang="zh-CN" sz="24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342900" indent="-342900" eaLnBrk="1" hangingPunct="1"/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是笛卡尔积的一个子集。</a:t>
            </a:r>
            <a:endParaRPr lang="zh-CN" altLang="en-US" sz="24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342900" indent="-342900" eaLnBrk="1" hangingPunct="1"/>
            <a:endParaRPr lang="en-US" altLang="zh-CN" sz="2400" b="1" dirty="0">
              <a:solidFill>
                <a:srgbClr val="FF33CC"/>
              </a:solidFill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16446" name="Rectangle 2"/>
          <p:cNvSpPr>
            <a:spLocks noGrp="1"/>
          </p:cNvSpPr>
          <p:nvPr>
            <p:ph type="title"/>
          </p:nvPr>
        </p:nvSpPr>
        <p:spPr>
          <a:xfrm>
            <a:off x="571500" y="214313"/>
            <a:ext cx="8001000" cy="73501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关系（续）</a:t>
            </a:r>
            <a:endParaRPr lang="zh-CN" alt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关系（续）</a:t>
            </a:r>
            <a:endParaRPr lang="zh-CN" altLang="en-US" dirty="0"/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323850" y="1125538"/>
            <a:ext cx="8424863" cy="122396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/>
              <a:t>假如：李勇和刘晨是计算机专业张老师的研究生，</a:t>
            </a:r>
            <a:endParaRPr lang="en-US" altLang="zh-CN" dirty="0"/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王敏是信息专业刘老师的研究生。</a:t>
            </a:r>
            <a:endParaRPr lang="zh-CN" altLang="en-US" dirty="0"/>
          </a:p>
        </p:txBody>
      </p:sp>
      <p:sp>
        <p:nvSpPr>
          <p:cNvPr id="401413" name="Rectangle 5"/>
          <p:cNvSpPr/>
          <p:nvPr/>
        </p:nvSpPr>
        <p:spPr>
          <a:xfrm>
            <a:off x="142875" y="2708275"/>
            <a:ext cx="8820150" cy="7921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just" eaLnBrk="1" hangingPunct="1">
              <a:lnSpc>
                <a:spcPct val="110000"/>
              </a:lnSpc>
              <a:spcBef>
                <a:spcPct val="20000"/>
              </a:spcBef>
              <a:buClr>
                <a:srgbClr val="669900"/>
              </a:buClr>
              <a:buSzPct val="75000"/>
              <a:buFont typeface="Wingdings" panose="05000000000000000000" pitchFamily="2" charset="2"/>
            </a:pPr>
            <a:r>
              <a:rPr lang="zh-CN" altLang="en-US" sz="2800" b="1" dirty="0">
                <a:latin typeface="宋体" panose="02010600030101010101" pitchFamily="2" charset="-122"/>
              </a:rPr>
              <a:t>关系：</a:t>
            </a:r>
            <a:r>
              <a:rPr lang="en-US" altLang="zh-CN" sz="2800" b="1" dirty="0">
                <a:latin typeface="宋体" panose="02010600030101010101" pitchFamily="2" charset="-122"/>
              </a:rPr>
              <a:t>SAP(SUPERVISOR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</a:rPr>
              <a:t>SPECIALITY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</a:rPr>
              <a:t>POSTGRADUATE)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143000" y="3571875"/>
          <a:ext cx="6096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SUPERVISOR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SPECIALITY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POSTGRADUATE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 smtClean="0"/>
                        <a:t>张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 smtClean="0"/>
                        <a:t>计算机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 smtClean="0"/>
                        <a:t>李勇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 smtClean="0"/>
                        <a:t>张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 smtClean="0"/>
                        <a:t>计算机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 smtClean="0"/>
                        <a:t>刘晨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 smtClean="0"/>
                        <a:t>刘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 smtClean="0"/>
                        <a:t>信息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 smtClean="0"/>
                        <a:t>王敏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关系（续）</a:t>
            </a:r>
            <a:endParaRPr lang="zh-CN" altLang="en-US" dirty="0"/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250825" y="1196975"/>
            <a:ext cx="8675688" cy="4824413"/>
          </a:xfrm>
          <a:ln/>
        </p:spPr>
        <p:txBody>
          <a:bodyPr vert="horz" wrap="square" lIns="91440" tIns="45720" rIns="91440" bIns="45720" anchor="t" anchorCtr="0"/>
          <a:p>
            <a:pPr lvl="1" algn="just" eaLnBrk="1" hangingPunct="1">
              <a:lnSpc>
                <a:spcPct val="120000"/>
              </a:lnSpc>
            </a:pPr>
            <a:r>
              <a:rPr lang="zh-CN" altLang="en-US" sz="2600" b="1" u="sng" dirty="0"/>
              <a:t>候选码（</a:t>
            </a:r>
            <a:r>
              <a:rPr lang="en-US" altLang="zh-CN" sz="2600" b="1" u="sng" dirty="0"/>
              <a:t>Candidate key</a:t>
            </a:r>
            <a:r>
              <a:rPr lang="zh-CN" altLang="en-US" sz="2600" b="1" u="sng" dirty="0"/>
              <a:t>）</a:t>
            </a:r>
            <a:endParaRPr lang="zh-CN" altLang="en-US" sz="2600" b="1" dirty="0">
              <a:ea typeface="黑体" panose="02010609060101010101" pitchFamily="49" charset="-122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/>
              <a:t>若关系中的某一属性组的值</a:t>
            </a:r>
            <a:r>
              <a:rPr lang="zh-CN" altLang="en-US" sz="2400" b="1" dirty="0">
                <a:solidFill>
                  <a:srgbClr val="FF0000"/>
                </a:solidFill>
              </a:rPr>
              <a:t>能唯一地标识一个元组</a:t>
            </a:r>
            <a:r>
              <a:rPr lang="zh-CN" altLang="en-US" sz="2400" b="1" dirty="0"/>
              <a:t>，</a:t>
            </a:r>
            <a:r>
              <a:rPr lang="zh-CN" altLang="en-US" sz="2400" b="1" dirty="0">
                <a:solidFill>
                  <a:srgbClr val="FF0000"/>
                </a:solidFill>
              </a:rPr>
              <a:t>而其子集不能</a:t>
            </a:r>
            <a:r>
              <a:rPr lang="zh-CN" altLang="en-US" sz="2400" b="1" dirty="0"/>
              <a:t>，则称该属性组为</a:t>
            </a:r>
            <a:r>
              <a:rPr lang="zh-CN" altLang="en-US" sz="2400" b="1" dirty="0">
                <a:solidFill>
                  <a:schemeClr val="accent2"/>
                </a:solidFill>
              </a:rPr>
              <a:t>候选码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/>
              <a:t>在最简单的情况下，候选码只包含一个属性。</a:t>
            </a:r>
            <a:endParaRPr lang="zh-CN" altLang="en-US" sz="2400" b="1" dirty="0"/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/>
              <a:t>在最极端的情况下，关系模式的所有属性组是这个关系模式的候选码，称为</a:t>
            </a:r>
            <a:r>
              <a:rPr lang="zh-CN" altLang="en-US" sz="2400" b="1" dirty="0">
                <a:solidFill>
                  <a:schemeClr val="accent2"/>
                </a:solidFill>
              </a:rPr>
              <a:t>全码（</a:t>
            </a:r>
            <a:r>
              <a:rPr lang="en-US" altLang="zh-CN" sz="2400" b="1" dirty="0">
                <a:solidFill>
                  <a:schemeClr val="accent2"/>
                </a:solidFill>
              </a:rPr>
              <a:t>All-key</a:t>
            </a:r>
            <a:r>
              <a:rPr lang="zh-CN" altLang="en-US" sz="2400" b="1" dirty="0">
                <a:solidFill>
                  <a:schemeClr val="accent2"/>
                </a:solidFill>
              </a:rPr>
              <a:t>）。</a:t>
            </a:r>
            <a:endParaRPr lang="en-US" altLang="zh-CN" sz="2400" b="1" dirty="0">
              <a:solidFill>
                <a:schemeClr val="accent2"/>
              </a:solidFill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/>
              <a:t>学生（学号，姓名，身份证号，性别，院系）</a:t>
            </a:r>
            <a:endParaRPr lang="en-US" altLang="zh-CN" sz="2400" b="1" dirty="0"/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/>
              <a:t>成绩（学号，课号，分数）</a:t>
            </a:r>
            <a:endParaRPr lang="en-US" altLang="zh-CN" sz="2400" b="1" dirty="0"/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/>
              <a:t>选课（学号，课号）</a:t>
            </a:r>
            <a:endParaRPr lang="zh-CN" altLang="en-US" sz="2400" b="1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charRg st="19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0">
                                            <p:txEl>
                                              <p:charRg st="19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0">
                                            <p:txEl>
                                              <p:charRg st="19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charRg st="61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60">
                                            <p:txEl>
                                              <p:charRg st="61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60">
                                            <p:txEl>
                                              <p:charRg st="61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charRg st="82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60">
                                            <p:txEl>
                                              <p:charRg st="82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60">
                                            <p:txEl>
                                              <p:charRg st="82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charRg st="128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60">
                                            <p:txEl>
                                              <p:charRg st="128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60">
                                            <p:txEl>
                                              <p:charRg st="128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charRg st="149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60">
                                            <p:txEl>
                                              <p:charRg st="149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60">
                                            <p:txEl>
                                              <p:charRg st="149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charRg st="162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460">
                                            <p:txEl>
                                              <p:charRg st="162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460">
                                            <p:txEl>
                                              <p:charRg st="162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关系（续）</a:t>
            </a:r>
            <a:endParaRPr lang="zh-CN" altLang="en-US" dirty="0"/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xfrm>
            <a:off x="323850" y="1196975"/>
            <a:ext cx="8351838" cy="5040313"/>
          </a:xfrm>
          <a:ln/>
        </p:spPr>
        <p:txBody>
          <a:bodyPr vert="horz" wrap="square" lIns="91440" tIns="45720" rIns="91440" bIns="45720" anchor="t" anchorCtr="0"/>
          <a:p>
            <a:pPr lvl="1" algn="just" eaLnBrk="1" hangingPunct="1">
              <a:lnSpc>
                <a:spcPct val="120000"/>
              </a:lnSpc>
            </a:pPr>
            <a:r>
              <a:rPr lang="zh-CN" altLang="en-US" sz="2600" b="1" u="sng" dirty="0"/>
              <a:t>主码</a:t>
            </a:r>
            <a:endParaRPr lang="zh-CN" altLang="en-US" sz="2600" b="1" dirty="0"/>
          </a:p>
          <a:p>
            <a:pPr lvl="2" algn="just" eaLnBrk="1" hangingPunct="1">
              <a:lnSpc>
                <a:spcPct val="120000"/>
              </a:lnSpc>
            </a:pPr>
            <a:r>
              <a:rPr lang="zh-CN" altLang="en-US" sz="2400" b="1" dirty="0"/>
              <a:t>若一个关系有多个候选码，则选定其中一个为</a:t>
            </a:r>
            <a:r>
              <a:rPr lang="zh-CN" altLang="en-US" sz="2400" b="1" dirty="0">
                <a:solidFill>
                  <a:schemeClr val="accent2"/>
                </a:solidFill>
              </a:rPr>
              <a:t>主码（</a:t>
            </a:r>
            <a:r>
              <a:rPr lang="en-US" altLang="zh-CN" sz="2400" b="1" dirty="0">
                <a:solidFill>
                  <a:schemeClr val="accent2"/>
                </a:solidFill>
              </a:rPr>
              <a:t>Primary key</a:t>
            </a:r>
            <a:r>
              <a:rPr lang="zh-CN" altLang="en-US" sz="2400" b="1" dirty="0">
                <a:solidFill>
                  <a:schemeClr val="accent2"/>
                </a:solidFill>
              </a:rPr>
              <a:t>）。</a:t>
            </a:r>
            <a:endParaRPr lang="zh-CN" altLang="en-US" sz="2400" b="1" dirty="0">
              <a:solidFill>
                <a:schemeClr val="accent2"/>
              </a:solidFill>
            </a:endParaRPr>
          </a:p>
          <a:p>
            <a:pPr lvl="2" algn="just" eaLnBrk="1" hangingPunct="1">
              <a:lnSpc>
                <a:spcPct val="120000"/>
              </a:lnSpc>
            </a:pPr>
            <a:r>
              <a:rPr lang="zh-CN" altLang="en-US" sz="2400" b="1" dirty="0"/>
              <a:t>侯选码的诸属性称为</a:t>
            </a:r>
            <a:r>
              <a:rPr lang="zh-CN" altLang="en-US" sz="2400" b="1" u="sng" dirty="0">
                <a:solidFill>
                  <a:srgbClr val="FF0000"/>
                </a:solidFill>
              </a:rPr>
              <a:t>主属性</a:t>
            </a:r>
            <a:r>
              <a:rPr lang="zh-CN" altLang="en-US" sz="2400" b="1" dirty="0">
                <a:solidFill>
                  <a:schemeClr val="accent2"/>
                </a:solidFill>
              </a:rPr>
              <a:t>（</a:t>
            </a:r>
            <a:r>
              <a:rPr lang="en-US" altLang="zh-CN" sz="2400" b="1" dirty="0">
                <a:solidFill>
                  <a:schemeClr val="accent2"/>
                </a:solidFill>
              </a:rPr>
              <a:t>Prime attribute</a:t>
            </a:r>
            <a:r>
              <a:rPr lang="zh-CN" altLang="en-US" sz="2400" b="1" dirty="0">
                <a:solidFill>
                  <a:schemeClr val="accent2"/>
                </a:solidFill>
              </a:rPr>
              <a:t>）。</a:t>
            </a:r>
            <a:endParaRPr lang="zh-CN" altLang="en-US" sz="2400" b="1" dirty="0">
              <a:solidFill>
                <a:schemeClr val="accent2"/>
              </a:solidFill>
            </a:endParaRPr>
          </a:p>
          <a:p>
            <a:pPr lvl="2" algn="just" eaLnBrk="1" hangingPunct="1">
              <a:lnSpc>
                <a:spcPct val="120000"/>
              </a:lnSpc>
            </a:pPr>
            <a:r>
              <a:rPr lang="zh-CN" altLang="en-US" sz="2400" b="1" dirty="0"/>
              <a:t>不包含在任何侯选码中的属性称为</a:t>
            </a:r>
            <a:r>
              <a:rPr lang="zh-CN" altLang="en-US" sz="2400" b="1" u="sng" dirty="0">
                <a:solidFill>
                  <a:srgbClr val="FF0000"/>
                </a:solidFill>
              </a:rPr>
              <a:t>非码属性</a:t>
            </a:r>
            <a:r>
              <a:rPr lang="zh-CN" altLang="en-US" sz="2400" b="1" dirty="0">
                <a:solidFill>
                  <a:schemeClr val="accent2"/>
                </a:solidFill>
              </a:rPr>
              <a:t>（</a:t>
            </a:r>
            <a:r>
              <a:rPr lang="en-US" altLang="zh-CN" sz="2400" b="1" dirty="0">
                <a:solidFill>
                  <a:schemeClr val="accent2"/>
                </a:solidFill>
              </a:rPr>
              <a:t>Non-key attribute</a:t>
            </a:r>
            <a:r>
              <a:rPr lang="zh-CN" altLang="en-US" sz="2400" b="1" dirty="0">
                <a:solidFill>
                  <a:schemeClr val="accent2"/>
                </a:solidFill>
              </a:rPr>
              <a:t>）。</a:t>
            </a:r>
            <a:endParaRPr lang="en-US" altLang="zh-CN" sz="2400" b="1" dirty="0">
              <a:solidFill>
                <a:schemeClr val="accent2"/>
              </a:solidFill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/>
              <a:t>学生（学号，姓名，身份证号，性别，院系）</a:t>
            </a:r>
            <a:endParaRPr lang="en-US" altLang="zh-CN" sz="2400" b="1" dirty="0"/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/>
              <a:t>成绩（学号，课号，分数）</a:t>
            </a:r>
            <a:endParaRPr lang="zh-CN" altLang="en-US" sz="2400" b="1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charRg st="3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4">
                                            <p:txEl>
                                              <p:charRg st="3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4">
                                            <p:txEl>
                                              <p:charRg st="3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charRg st="40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4">
                                            <p:txEl>
                                              <p:charRg st="40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4">
                                            <p:txEl>
                                              <p:charRg st="40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charRg st="7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4">
                                            <p:txEl>
                                              <p:charRg st="7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4">
                                            <p:txEl>
                                              <p:charRg st="7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charRg st="111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4">
                                            <p:txEl>
                                              <p:charRg st="111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4">
                                            <p:txEl>
                                              <p:charRg st="111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charRg st="132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84">
                                            <p:txEl>
                                              <p:charRg st="132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84">
                                            <p:txEl>
                                              <p:charRg st="132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关系的基本性质</a:t>
            </a:r>
            <a:endParaRPr lang="zh-CN" altLang="en-US" dirty="0"/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xfrm>
            <a:off x="323850" y="1125538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3200" b="1" dirty="0"/>
              <a:t>关系的性质（</a:t>
            </a:r>
            <a:r>
              <a:rPr lang="en-US" altLang="zh-CN" sz="3200" b="1" dirty="0"/>
              <a:t>1--6</a:t>
            </a:r>
            <a:r>
              <a:rPr lang="zh-CN" altLang="en-US" sz="3200" b="1" dirty="0"/>
              <a:t>）</a:t>
            </a:r>
            <a:endParaRPr lang="zh-CN" altLang="en-US" sz="32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/>
              <a:t>① 列是同质的（</a:t>
            </a:r>
            <a:r>
              <a:rPr lang="en-US" altLang="zh-CN" b="1" dirty="0"/>
              <a:t>Homogeneous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b="1" dirty="0"/>
              <a:t>每一列中的分量是同一类型的数据，来自同一个域。</a:t>
            </a:r>
            <a:endParaRPr lang="zh-CN" altLang="en-US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/>
              <a:t>② 不同的列可出自同一个域</a:t>
            </a:r>
            <a:endParaRPr lang="zh-CN" altLang="en-US" b="1" dirty="0"/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b="1" dirty="0"/>
              <a:t>其中的每一列称为一个属性。</a:t>
            </a:r>
            <a:endParaRPr lang="zh-CN" altLang="en-US" b="1" dirty="0"/>
          </a:p>
          <a:p>
            <a:pPr lvl="1" algn="just" eaLnBrk="1" hangingPunct="1">
              <a:lnSpc>
                <a:spcPct val="130000"/>
              </a:lnSpc>
            </a:pPr>
            <a:r>
              <a:rPr lang="zh-CN" altLang="en-US" b="1" dirty="0"/>
              <a:t>不同的属性要给予不同的属性名。</a:t>
            </a:r>
            <a:endParaRPr lang="zh-CN" altLang="en-US" b="1" dirty="0"/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type="body" sz="half" idx="1"/>
          </p:nvPr>
        </p:nvSpPr>
        <p:spPr>
          <a:xfrm>
            <a:off x="250825" y="3298825"/>
            <a:ext cx="8785225" cy="2089150"/>
          </a:xfrm>
          <a:ln/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zh-CN" altLang="en-US" dirty="0"/>
              <a:t>两个域：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人（</a:t>
            </a:r>
            <a:r>
              <a:rPr lang="en-US" altLang="zh-CN" dirty="0"/>
              <a:t>person</a:t>
            </a:r>
            <a:r>
              <a:rPr lang="zh-CN" altLang="en-US" dirty="0"/>
              <a:t>）</a:t>
            </a:r>
            <a:r>
              <a:rPr lang="en-US" altLang="zh-CN" dirty="0"/>
              <a:t>={</a:t>
            </a:r>
            <a:r>
              <a:rPr lang="zh-CN" altLang="en-US" dirty="0"/>
              <a:t>张，刘，李勇，刘晨，王敏</a:t>
            </a:r>
            <a:r>
              <a:rPr lang="en-US" altLang="zh-CN" dirty="0"/>
              <a:t>}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专业（</a:t>
            </a:r>
            <a:r>
              <a:rPr lang="en-US" altLang="zh-CN" dirty="0"/>
              <a:t>speciality</a:t>
            </a:r>
            <a:r>
              <a:rPr lang="zh-CN" altLang="en-US" dirty="0"/>
              <a:t>）</a:t>
            </a:r>
            <a:r>
              <a:rPr lang="en-US" altLang="zh-CN" dirty="0"/>
              <a:t>={</a:t>
            </a:r>
            <a:r>
              <a:rPr lang="zh-CN" altLang="en-US" dirty="0"/>
              <a:t>计算机专业，信息专业</a:t>
            </a:r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21508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388" y="1300163"/>
            <a:ext cx="6100762" cy="198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9" name="Rectangle 2"/>
          <p:cNvSpPr>
            <a:spLocks noGrp="1"/>
          </p:cNvSpPr>
          <p:nvPr>
            <p:ph type="title"/>
          </p:nvPr>
        </p:nvSpPr>
        <p:spPr>
          <a:xfrm>
            <a:off x="571500" y="214313"/>
            <a:ext cx="8001000" cy="73501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基本关系的性质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</p:spTree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基本关系的性质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250825" y="1268413"/>
            <a:ext cx="8229600" cy="474186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/>
              <a:t>③ </a:t>
            </a:r>
            <a:r>
              <a:rPr lang="zh-CN" altLang="en-US" b="1" dirty="0"/>
              <a:t>列的顺序无所谓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b="1" dirty="0"/>
              <a:t>④ 行的顺序无所谓，行的次序可以任意交换</a:t>
            </a:r>
            <a:endParaRPr lang="zh-CN" altLang="en-US" b="1" dirty="0"/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b="1" dirty="0"/>
              <a:t>⑤ 任意两个元组的</a:t>
            </a:r>
            <a:r>
              <a:rPr lang="zh-CN" altLang="en-US" b="1" dirty="0">
                <a:solidFill>
                  <a:srgbClr val="FF0000"/>
                </a:solidFill>
              </a:rPr>
              <a:t>候选码</a:t>
            </a:r>
            <a:r>
              <a:rPr lang="zh-CN" altLang="en-US" b="1" dirty="0"/>
              <a:t>不能完全相同</a:t>
            </a:r>
            <a:endParaRPr lang="en-US" altLang="zh-CN" b="1" dirty="0"/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/>
              <a:t>学生（学号，姓名，身份证号，性别，院系）</a:t>
            </a:r>
            <a:endParaRPr lang="en-US" altLang="zh-CN" b="1" dirty="0"/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/>
              <a:t>在学生表中，不能有两个学生的学号相同，不能有两个学生的身份证号相同</a:t>
            </a:r>
            <a:endParaRPr lang="zh-CN" altLang="en-US" b="1" dirty="0"/>
          </a:p>
        </p:txBody>
      </p:sp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基本关系的性质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468313" y="1063625"/>
            <a:ext cx="8229600" cy="452596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b="1" dirty="0"/>
              <a:t>⑥ </a:t>
            </a:r>
            <a:r>
              <a:rPr lang="zh-CN" altLang="en-US" b="1" dirty="0"/>
              <a:t>分量必须取原子值</a:t>
            </a:r>
            <a:endParaRPr lang="zh-CN" altLang="en-US" b="1" dirty="0"/>
          </a:p>
          <a:p>
            <a:pPr lvl="1" eaLnBrk="1" hangingPunct="1"/>
            <a:r>
              <a:rPr lang="zh-CN" altLang="en-US" b="1" dirty="0"/>
              <a:t>每一个分量都必须是不可分的数据项。这是规范条件中</a:t>
            </a:r>
            <a:r>
              <a:rPr lang="zh-CN" altLang="en-US" b="1" dirty="0">
                <a:solidFill>
                  <a:srgbClr val="FF0000"/>
                </a:solidFill>
              </a:rPr>
              <a:t>最基本的一条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lvl="1" eaLnBrk="1" hangingPunct="1"/>
            <a:r>
              <a:rPr lang="zh-CN" altLang="en-US" b="1" dirty="0"/>
              <a:t>规范化的关系简称</a:t>
            </a:r>
            <a:r>
              <a:rPr lang="zh-CN" altLang="en-US" b="1" dirty="0">
                <a:solidFill>
                  <a:srgbClr val="FF0000"/>
                </a:solidFill>
              </a:rPr>
              <a:t>范式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lvl="2" algn="just" eaLnBrk="1" hangingPunct="1"/>
            <a:endParaRPr lang="zh-CN" altLang="en-US" b="1" dirty="0"/>
          </a:p>
          <a:p>
            <a:pPr lvl="1" eaLnBrk="1" hangingPunct="1"/>
            <a:endParaRPr lang="en-US" altLang="zh-CN" b="1" dirty="0"/>
          </a:p>
        </p:txBody>
      </p:sp>
      <p:graphicFrame>
        <p:nvGraphicFramePr>
          <p:cNvPr id="23557" name="Object 4"/>
          <p:cNvGraphicFramePr>
            <a:graphicFrameLocks noChangeAspect="1"/>
          </p:cNvGraphicFramePr>
          <p:nvPr/>
        </p:nvGraphicFramePr>
        <p:xfrm>
          <a:off x="776288" y="2924175"/>
          <a:ext cx="7040562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543300" imgH="971550" progId="Word.Document.8">
                  <p:embed/>
                </p:oleObj>
              </mc:Choice>
              <mc:Fallback>
                <p:oleObj name="" r:id="rId1" imgW="3543300" imgH="971550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76288" y="2924175"/>
                        <a:ext cx="7040562" cy="227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558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150" y="4868863"/>
            <a:ext cx="5210175" cy="1695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2.1.2  </a:t>
            </a:r>
            <a:r>
              <a:rPr lang="zh-CN" altLang="en-US" dirty="0"/>
              <a:t>关系模式</a:t>
            </a:r>
            <a:endParaRPr lang="zh-CN" altLang="en-US" dirty="0"/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468313" y="1196975"/>
            <a:ext cx="8461375" cy="5232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b="1" dirty="0"/>
              <a:t>定义：关系的描述称为关系模式，关系模式可以形式化地表示为：</a:t>
            </a:r>
            <a:endParaRPr lang="zh-CN" altLang="en-US" b="1" dirty="0"/>
          </a:p>
          <a:p>
            <a:pPr lvl="1" algn="just" eaLnBrk="1" hangingPunct="1">
              <a:buNone/>
            </a:pPr>
            <a:r>
              <a:rPr lang="zh-CN" altLang="en-US" sz="3200" b="1" dirty="0">
                <a:solidFill>
                  <a:srgbClr val="3333FF"/>
                </a:solidFill>
              </a:rPr>
              <a:t>    	</a:t>
            </a:r>
            <a:r>
              <a:rPr lang="en-US" altLang="zh-CN" sz="3200" b="1" i="1" dirty="0">
                <a:solidFill>
                  <a:srgbClr val="3333FF"/>
                </a:solidFill>
              </a:rPr>
              <a:t>R</a:t>
            </a:r>
            <a:r>
              <a:rPr lang="zh-CN" altLang="en-US" sz="3200" b="1" dirty="0">
                <a:solidFill>
                  <a:srgbClr val="3333FF"/>
                </a:solidFill>
              </a:rPr>
              <a:t>（</a:t>
            </a:r>
            <a:r>
              <a:rPr lang="en-US" altLang="zh-CN" sz="3200" b="1" i="1" dirty="0">
                <a:solidFill>
                  <a:srgbClr val="3333FF"/>
                </a:solidFill>
              </a:rPr>
              <a:t>U</a:t>
            </a:r>
            <a:r>
              <a:rPr lang="zh-CN" altLang="en-US" sz="3200" b="1" dirty="0">
                <a:solidFill>
                  <a:srgbClr val="3333FF"/>
                </a:solidFill>
              </a:rPr>
              <a:t>，</a:t>
            </a:r>
            <a:r>
              <a:rPr lang="en-US" altLang="zh-CN" sz="3200" b="1" i="1" dirty="0">
                <a:solidFill>
                  <a:srgbClr val="3333FF"/>
                </a:solidFill>
              </a:rPr>
              <a:t>D</a:t>
            </a:r>
            <a:r>
              <a:rPr lang="zh-CN" altLang="en-US" sz="3200" b="1" dirty="0">
                <a:solidFill>
                  <a:srgbClr val="3333FF"/>
                </a:solidFill>
              </a:rPr>
              <a:t>，</a:t>
            </a:r>
            <a:r>
              <a:rPr lang="en-US" altLang="zh-CN" sz="3200" b="1" dirty="0">
                <a:solidFill>
                  <a:srgbClr val="3333FF"/>
                </a:solidFill>
              </a:rPr>
              <a:t>dom</a:t>
            </a:r>
            <a:r>
              <a:rPr lang="zh-CN" altLang="en-US" sz="3200" b="1" dirty="0">
                <a:solidFill>
                  <a:srgbClr val="3333FF"/>
                </a:solidFill>
              </a:rPr>
              <a:t>，</a:t>
            </a:r>
            <a:r>
              <a:rPr lang="en-US" altLang="zh-CN" sz="3200" b="1" i="1" dirty="0">
                <a:solidFill>
                  <a:srgbClr val="3333FF"/>
                </a:solidFill>
              </a:rPr>
              <a:t>F</a:t>
            </a:r>
            <a:r>
              <a:rPr lang="zh-CN" altLang="en-US" sz="3200" b="1" dirty="0">
                <a:solidFill>
                  <a:srgbClr val="3333FF"/>
                </a:solidFill>
              </a:rPr>
              <a:t>）</a:t>
            </a:r>
            <a:endParaRPr lang="zh-CN" altLang="en-US" b="1" dirty="0">
              <a:solidFill>
                <a:srgbClr val="3333FF"/>
              </a:solidFill>
            </a:endParaRPr>
          </a:p>
          <a:p>
            <a:pPr lvl="1" algn="just" eaLnBrk="1" hangingPunct="1">
              <a:buNone/>
            </a:pPr>
            <a:r>
              <a:rPr lang="zh-CN" altLang="en-US" b="1" i="1" dirty="0"/>
              <a:t>		 </a:t>
            </a:r>
            <a:r>
              <a:rPr lang="en-US" altLang="zh-CN" b="1" i="1" dirty="0"/>
              <a:t>R      </a:t>
            </a:r>
            <a:r>
              <a:rPr lang="zh-CN" altLang="en-US" b="1" dirty="0"/>
              <a:t>关系名</a:t>
            </a:r>
            <a:endParaRPr lang="zh-CN" altLang="en-US" b="1" dirty="0"/>
          </a:p>
          <a:p>
            <a:pPr lvl="1" algn="just" eaLnBrk="1" hangingPunct="1">
              <a:buNone/>
            </a:pPr>
            <a:r>
              <a:rPr lang="zh-CN" altLang="en-US" b="1" i="1" dirty="0"/>
              <a:t>		</a:t>
            </a:r>
            <a:r>
              <a:rPr lang="en-US" altLang="zh-CN" b="1" i="1" dirty="0"/>
              <a:t>U</a:t>
            </a:r>
            <a:r>
              <a:rPr lang="en-US" altLang="zh-CN" b="1" dirty="0"/>
              <a:t>       </a:t>
            </a:r>
            <a:r>
              <a:rPr lang="zh-CN" altLang="en-US" b="1" dirty="0"/>
              <a:t>组成该关系的属性名集合</a:t>
            </a:r>
            <a:endParaRPr lang="zh-CN" altLang="en-US" b="1" dirty="0"/>
          </a:p>
          <a:p>
            <a:pPr lvl="1" algn="just" eaLnBrk="1" hangingPunct="1">
              <a:buNone/>
            </a:pPr>
            <a:r>
              <a:rPr lang="zh-CN" altLang="en-US" b="1" i="1" dirty="0"/>
              <a:t>		</a:t>
            </a:r>
            <a:r>
              <a:rPr lang="en-US" altLang="zh-CN" b="1" i="1" dirty="0"/>
              <a:t>D</a:t>
            </a:r>
            <a:r>
              <a:rPr lang="en-US" altLang="zh-CN" b="1" dirty="0"/>
              <a:t>       </a:t>
            </a:r>
            <a:r>
              <a:rPr lang="zh-CN" altLang="en-US" b="1" dirty="0"/>
              <a:t>属性组</a:t>
            </a:r>
            <a:r>
              <a:rPr lang="en-US" altLang="zh-CN" b="1" i="1" dirty="0"/>
              <a:t>U</a:t>
            </a:r>
            <a:r>
              <a:rPr lang="zh-CN" altLang="en-US" b="1" dirty="0"/>
              <a:t>中属性所来自的域</a:t>
            </a:r>
            <a:endParaRPr lang="zh-CN" altLang="en-US" b="1" dirty="0"/>
          </a:p>
          <a:p>
            <a:pPr lvl="1" algn="just" eaLnBrk="1" hangingPunct="1">
              <a:buNone/>
            </a:pPr>
            <a:r>
              <a:rPr lang="zh-CN" altLang="en-US" b="1" dirty="0"/>
              <a:t>		</a:t>
            </a:r>
            <a:r>
              <a:rPr lang="en-US" altLang="zh-CN" b="1" dirty="0"/>
              <a:t>dom   </a:t>
            </a:r>
            <a:r>
              <a:rPr lang="zh-CN" altLang="en-US" b="1" dirty="0"/>
              <a:t>属性向域的</a:t>
            </a:r>
            <a:r>
              <a:rPr lang="zh-CN" altLang="en-US" b="1" dirty="0">
                <a:solidFill>
                  <a:srgbClr val="FF0000"/>
                </a:solidFill>
              </a:rPr>
              <a:t>映象</a:t>
            </a:r>
            <a:r>
              <a:rPr lang="zh-CN" altLang="en-US" b="1" dirty="0"/>
              <a:t>集合</a:t>
            </a:r>
            <a:endParaRPr lang="zh-CN" altLang="en-US" b="1" dirty="0"/>
          </a:p>
          <a:p>
            <a:pPr lvl="1" algn="just" eaLnBrk="1" hangingPunct="1">
              <a:buNone/>
            </a:pPr>
            <a:r>
              <a:rPr lang="zh-CN" altLang="en-US" b="1" i="1" dirty="0"/>
              <a:t>		</a:t>
            </a:r>
            <a:r>
              <a:rPr lang="en-US" altLang="zh-CN" b="1" i="1" dirty="0"/>
              <a:t>F</a:t>
            </a:r>
            <a:r>
              <a:rPr lang="en-US" altLang="zh-CN" b="1" dirty="0"/>
              <a:t>        </a:t>
            </a:r>
            <a:r>
              <a:rPr lang="zh-CN" altLang="en-US" b="1" dirty="0"/>
              <a:t>属性间的数据依赖关系集合</a:t>
            </a:r>
            <a:endParaRPr lang="en-US" altLang="zh-CN" b="1" dirty="0"/>
          </a:p>
          <a:p>
            <a:pPr eaLnBrk="1" hangingPunct="1">
              <a:buNone/>
            </a:pPr>
            <a:endParaRPr lang="en-US" altLang="zh-CN" b="1" dirty="0"/>
          </a:p>
        </p:txBody>
      </p:sp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2.1.2  </a:t>
            </a:r>
            <a:r>
              <a:rPr lang="zh-CN" altLang="en-US" dirty="0"/>
              <a:t>关系模式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214313" y="4714875"/>
            <a:ext cx="8715375" cy="1428750"/>
          </a:xfrm>
          <a:solidFill>
            <a:srgbClr val="99CCFF">
              <a:alpha val="100000"/>
            </a:srgbClr>
          </a:solidFill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关系模式通常可以简记为</a:t>
            </a:r>
            <a:endParaRPr lang="zh-CN" altLang="en-US" sz="2400" dirty="0"/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sz="2400" dirty="0"/>
              <a:t> 	</a:t>
            </a:r>
            <a:r>
              <a:rPr lang="en-US" altLang="zh-CN" sz="2400" dirty="0"/>
              <a:t>R (U)    </a:t>
            </a:r>
            <a:r>
              <a:rPr lang="zh-CN" altLang="en-US" sz="2400" dirty="0"/>
              <a:t>或    </a:t>
            </a:r>
            <a:r>
              <a:rPr lang="en-US" altLang="zh-CN" sz="2400" dirty="0"/>
              <a:t>R (A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…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eaLnBrk="1" hangingPunct="1">
              <a:spcBef>
                <a:spcPct val="0"/>
              </a:spcBef>
            </a:pPr>
            <a:r>
              <a:rPr lang="en-US" altLang="zh-CN" sz="2400" dirty="0"/>
              <a:t>R</a:t>
            </a:r>
            <a:r>
              <a:rPr lang="zh-CN" altLang="en-US" sz="2400" dirty="0"/>
              <a:t>是关系名；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…</a:t>
            </a:r>
            <a:r>
              <a:rPr lang="zh-CN" altLang="en-US" sz="2400" dirty="0"/>
              <a:t>，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n</a:t>
            </a:r>
            <a:r>
              <a:rPr lang="zh-CN" altLang="en-US" sz="2400" dirty="0"/>
              <a:t>是属性名</a:t>
            </a:r>
            <a:endParaRPr lang="zh-CN" altLang="en-US" sz="2400" dirty="0"/>
          </a:p>
        </p:txBody>
      </p:sp>
      <p:sp>
        <p:nvSpPr>
          <p:cNvPr id="25605" name="TextBox 8"/>
          <p:cNvSpPr txBox="1"/>
          <p:nvPr/>
        </p:nvSpPr>
        <p:spPr>
          <a:xfrm>
            <a:off x="214313" y="3189288"/>
            <a:ext cx="8643937" cy="1384300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>
            <a:spAutoFit/>
          </a:bodyPr>
          <a:p>
            <a:pPr lvl="1" algn="just" eaLnBrk="1" hangingPunct="1"/>
            <a:r>
              <a:rPr lang="en-US" altLang="zh-CN" sz="2800" dirty="0">
                <a:latin typeface="Verdana" panose="020B0604030504040204" pitchFamily="34" charset="0"/>
              </a:rPr>
              <a:t>dom(</a:t>
            </a:r>
            <a:r>
              <a:rPr lang="en-US" altLang="zh-CN" sz="2800" dirty="0">
                <a:latin typeface="Verdana" panose="020B0604030504040204" pitchFamily="34" charset="0"/>
                <a:ea typeface="楷体_GB2312" pitchFamily="49" charset="-122"/>
              </a:rPr>
              <a:t>supervisor</a:t>
            </a:r>
            <a:r>
              <a:rPr lang="en-US" altLang="zh-CN" sz="2800" dirty="0">
                <a:latin typeface="Verdana" panose="020B0604030504040204" pitchFamily="34" charset="0"/>
              </a:rPr>
              <a:t>)= person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lvl="1" algn="just" eaLnBrk="1" hangingPunct="1"/>
            <a:r>
              <a:rPr lang="en-US" altLang="zh-CN" sz="2800" dirty="0">
                <a:latin typeface="Verdana" panose="020B0604030504040204" pitchFamily="34" charset="0"/>
              </a:rPr>
              <a:t>dom(</a:t>
            </a:r>
            <a:r>
              <a:rPr lang="en-US" altLang="zh-CN" sz="2800" dirty="0">
                <a:latin typeface="Verdana" panose="020B0604030504040204" pitchFamily="34" charset="0"/>
                <a:ea typeface="楷体_GB2312" pitchFamily="49" charset="-122"/>
              </a:rPr>
              <a:t>postgraduate</a:t>
            </a:r>
            <a:r>
              <a:rPr lang="en-US" altLang="zh-CN" sz="2800" dirty="0">
                <a:latin typeface="Verdana" panose="020B0604030504040204" pitchFamily="34" charset="0"/>
              </a:rPr>
              <a:t>)= person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lvl="1" algn="just" eaLnBrk="1" hangingPunct="1"/>
            <a:r>
              <a:rPr lang="en-US" altLang="zh-CN" sz="2800" dirty="0">
                <a:latin typeface="Verdana" panose="020B0604030504040204" pitchFamily="34" charset="0"/>
              </a:rPr>
              <a:t>dom(</a:t>
            </a:r>
            <a:r>
              <a:rPr lang="en-US" altLang="zh-CN" sz="2800" dirty="0">
                <a:latin typeface="Verdana" panose="020B0604030504040204" pitchFamily="34" charset="0"/>
                <a:ea typeface="楷体_GB2312" pitchFamily="49" charset="-122"/>
              </a:rPr>
              <a:t>speciality</a:t>
            </a:r>
            <a:r>
              <a:rPr lang="en-US" altLang="zh-CN" sz="2800" dirty="0">
                <a:latin typeface="Verdana" panose="020B0604030504040204" pitchFamily="34" charset="0"/>
              </a:rPr>
              <a:t>)=speciality</a:t>
            </a:r>
            <a:endParaRPr lang="en-US" altLang="zh-CN" sz="2800" dirty="0">
              <a:latin typeface="Verdana" panose="020B0604030504040204" pitchFamily="34" charset="0"/>
            </a:endParaRPr>
          </a:p>
        </p:txBody>
      </p:sp>
      <p:grpSp>
        <p:nvGrpSpPr>
          <p:cNvPr id="25606" name="组合 11"/>
          <p:cNvGrpSpPr/>
          <p:nvPr/>
        </p:nvGrpSpPr>
        <p:grpSpPr>
          <a:xfrm>
            <a:off x="571500" y="1143000"/>
            <a:ext cx="7215188" cy="1928813"/>
            <a:chOff x="571472" y="1142984"/>
            <a:chExt cx="7215238" cy="1928826"/>
          </a:xfrm>
        </p:grpSpPr>
        <p:sp>
          <p:nvSpPr>
            <p:cNvPr id="25607" name="椭圆 5"/>
            <p:cNvSpPr/>
            <p:nvPr/>
          </p:nvSpPr>
          <p:spPr>
            <a:xfrm>
              <a:off x="571472" y="1142984"/>
              <a:ext cx="3000396" cy="1928826"/>
            </a:xfrm>
            <a:prstGeom prst="ellipse">
              <a:avLst/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/>
            <a:p>
              <a:pPr eaLnBrk="1" hangingPunct="1"/>
              <a:r>
                <a:rPr lang="zh-CN" altLang="en-US" sz="2400" dirty="0">
                  <a:latin typeface="Verdana" panose="020B0604030504040204" pitchFamily="34" charset="0"/>
                  <a:ea typeface="楷体_GB2312" pitchFamily="49" charset="-122"/>
                </a:rPr>
                <a:t>属性的集合</a:t>
              </a:r>
              <a:endParaRPr lang="en-US" altLang="zh-CN" sz="2400" dirty="0">
                <a:latin typeface="Verdana" panose="020B0604030504040204" pitchFamily="34" charset="0"/>
                <a:ea typeface="楷体_GB2312" pitchFamily="49" charset="-122"/>
              </a:endParaRPr>
            </a:p>
            <a:p>
              <a:pPr eaLnBrk="1" hangingPunct="1"/>
              <a:r>
                <a:rPr lang="en-US" altLang="zh-CN" sz="2400" dirty="0">
                  <a:latin typeface="Verdana" panose="020B0604030504040204" pitchFamily="34" charset="0"/>
                  <a:ea typeface="楷体_GB2312" pitchFamily="49" charset="-122"/>
                </a:rPr>
                <a:t>Supervisor</a:t>
              </a:r>
              <a:endParaRPr lang="en-US" altLang="zh-CN" sz="2400" dirty="0">
                <a:latin typeface="Verdana" panose="020B0604030504040204" pitchFamily="34" charset="0"/>
                <a:ea typeface="楷体_GB2312" pitchFamily="49" charset="-122"/>
              </a:endParaRPr>
            </a:p>
            <a:p>
              <a:pPr eaLnBrk="1" hangingPunct="1"/>
              <a:r>
                <a:rPr lang="en-US" altLang="zh-CN" sz="2400" dirty="0">
                  <a:latin typeface="Verdana" panose="020B0604030504040204" pitchFamily="34" charset="0"/>
                  <a:ea typeface="楷体_GB2312" pitchFamily="49" charset="-122"/>
                </a:rPr>
                <a:t>Postgraduate</a:t>
              </a:r>
              <a:endParaRPr lang="en-US" altLang="zh-CN" sz="2400" dirty="0">
                <a:latin typeface="Verdana" panose="020B0604030504040204" pitchFamily="34" charset="0"/>
                <a:ea typeface="楷体_GB2312" pitchFamily="49" charset="-122"/>
              </a:endParaRPr>
            </a:p>
            <a:p>
              <a:pPr eaLnBrk="1" hangingPunct="1"/>
              <a:r>
                <a:rPr lang="en-US" altLang="zh-CN" sz="2400" dirty="0">
                  <a:latin typeface="Verdana" panose="020B0604030504040204" pitchFamily="34" charset="0"/>
                  <a:ea typeface="楷体_GB2312" pitchFamily="49" charset="-122"/>
                </a:rPr>
                <a:t>speciality</a:t>
              </a:r>
              <a:endParaRPr lang="en-US" altLang="zh-CN" sz="2400" dirty="0">
                <a:latin typeface="Verdana" panose="020B0604030504040204" pitchFamily="34" charset="0"/>
                <a:ea typeface="楷体_GB2312" pitchFamily="49" charset="-122"/>
              </a:endParaRPr>
            </a:p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25608" name="椭圆 6"/>
            <p:cNvSpPr/>
            <p:nvPr/>
          </p:nvSpPr>
          <p:spPr>
            <a:xfrm>
              <a:off x="4786314" y="1214423"/>
              <a:ext cx="3000396" cy="1714508"/>
            </a:xfrm>
            <a:prstGeom prst="ellipse">
              <a:avLst/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/>
            <a:p>
              <a:pPr eaLnBrk="1" hangingPunct="1"/>
              <a:r>
                <a:rPr lang="zh-CN" altLang="en-US" sz="2400" dirty="0">
                  <a:latin typeface="Verdana" panose="020B0604030504040204" pitchFamily="34" charset="0"/>
                </a:rPr>
                <a:t>域的集合</a:t>
              </a:r>
              <a:endParaRPr lang="en-US" altLang="zh-CN" sz="2400" dirty="0">
                <a:latin typeface="Verdana" panose="020B0604030504040204" pitchFamily="34" charset="0"/>
              </a:endParaRPr>
            </a:p>
            <a:p>
              <a:pPr eaLnBrk="1" hangingPunct="1"/>
              <a:r>
                <a:rPr lang="en-US" altLang="zh-CN" sz="2400" dirty="0">
                  <a:latin typeface="Verdana" panose="020B0604030504040204" pitchFamily="34" charset="0"/>
                </a:rPr>
                <a:t>Person</a:t>
              </a:r>
              <a:endParaRPr lang="en-US" altLang="zh-CN" sz="2400" dirty="0">
                <a:latin typeface="Verdana" panose="020B0604030504040204" pitchFamily="34" charset="0"/>
              </a:endParaRPr>
            </a:p>
            <a:p>
              <a:pPr eaLnBrk="1" hangingPunct="1"/>
              <a:r>
                <a:rPr lang="en-US" altLang="zh-CN" sz="2400" dirty="0">
                  <a:latin typeface="Verdana" panose="020B0604030504040204" pitchFamily="34" charset="0"/>
                </a:rPr>
                <a:t>speciality</a:t>
              </a:r>
              <a:endParaRPr lang="zh-CN" altLang="en-US" sz="2400" dirty="0">
                <a:latin typeface="Verdana" panose="020B0604030504040204" pitchFamily="34" charset="0"/>
              </a:endParaRPr>
            </a:p>
          </p:txBody>
        </p:sp>
        <p:cxnSp>
          <p:nvCxnSpPr>
            <p:cNvPr id="25609" name="直接箭头连接符 10"/>
            <p:cNvCxnSpPr>
              <a:stCxn id="25607" idx="6"/>
              <a:endCxn id="25608" idx="2"/>
            </p:cNvCxnSpPr>
            <p:nvPr/>
          </p:nvCxnSpPr>
          <p:spPr>
            <a:xfrm flipV="1">
              <a:off x="3571868" y="2071677"/>
              <a:ext cx="1214446" cy="35720"/>
            </a:xfrm>
            <a:prstGeom prst="straightConnector1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arrow" w="med" len="med"/>
            </a:ln>
          </p:spPr>
        </p:cxnSp>
      </p:grpSp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2.1.2  </a:t>
            </a:r>
            <a:r>
              <a:rPr lang="zh-CN" altLang="en-US" dirty="0"/>
              <a:t>关系模式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468313" y="1268413"/>
            <a:ext cx="8280400" cy="4824412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</a:pPr>
            <a:r>
              <a:rPr lang="zh-CN" altLang="en-US" b="1" dirty="0"/>
              <a:t>关系模式和关系：关系模式是型，关系是值</a:t>
            </a:r>
            <a:endParaRPr lang="zh-CN" altLang="en-US" b="1" dirty="0"/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 dirty="0"/>
              <a:t>关系模式</a:t>
            </a:r>
            <a:endParaRPr lang="zh-CN" altLang="en-US" b="1" dirty="0"/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b="1" dirty="0"/>
              <a:t>对</a:t>
            </a:r>
            <a:r>
              <a:rPr lang="zh-CN" altLang="en-US" b="1" dirty="0">
                <a:solidFill>
                  <a:srgbClr val="FF0000"/>
                </a:solidFill>
              </a:rPr>
              <a:t>关系的描述</a:t>
            </a:r>
            <a:endParaRPr lang="zh-CN" altLang="en-US" b="1" dirty="0">
              <a:solidFill>
                <a:srgbClr val="FF0000"/>
              </a:solidFill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b="1" dirty="0"/>
              <a:t>静态的、稳定的</a:t>
            </a:r>
            <a:endParaRPr lang="zh-CN" altLang="en-US" b="1" dirty="0"/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 dirty="0"/>
              <a:t>关系：</a:t>
            </a:r>
            <a:r>
              <a:rPr lang="zh-CN" altLang="en-US" b="1" dirty="0">
                <a:solidFill>
                  <a:srgbClr val="FF0000"/>
                </a:solidFill>
              </a:rPr>
              <a:t>元组的集合</a:t>
            </a:r>
            <a:endParaRPr lang="zh-CN" altLang="en-US" b="1" dirty="0">
              <a:solidFill>
                <a:srgbClr val="FF0000"/>
              </a:solidFill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b="1" dirty="0"/>
              <a:t>关系模式在某一时刻的状态或内容</a:t>
            </a:r>
            <a:endParaRPr lang="zh-CN" altLang="en-US" b="1" dirty="0"/>
          </a:p>
          <a:p>
            <a:pPr lvl="2" algn="just" eaLnBrk="1" hangingPunct="1">
              <a:lnSpc>
                <a:spcPct val="90000"/>
              </a:lnSpc>
            </a:pPr>
            <a:r>
              <a:rPr lang="zh-CN" altLang="en-US" b="1" dirty="0"/>
              <a:t>动态的、随时间不断变化的</a:t>
            </a:r>
            <a:endParaRPr lang="zh-CN" altLang="en-US" b="1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关系模式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关系</a:t>
            </a:r>
            <a:r>
              <a:rPr lang="zh-CN" altLang="en-US" b="1" dirty="0"/>
              <a:t>往往</a:t>
            </a:r>
            <a:r>
              <a:rPr lang="zh-CN" altLang="en-US" b="1" dirty="0">
                <a:solidFill>
                  <a:srgbClr val="FF0000"/>
                </a:solidFill>
              </a:rPr>
              <a:t>统称为关系</a:t>
            </a:r>
            <a:r>
              <a:rPr lang="zh-CN" altLang="en-US" b="1" dirty="0"/>
              <a:t>，通过上下文加以区别。</a:t>
            </a:r>
            <a:endParaRPr lang="zh-CN" altLang="en-US" b="1" dirty="0"/>
          </a:p>
        </p:txBody>
      </p:sp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2.1.3  </a:t>
            </a:r>
            <a:r>
              <a:rPr lang="zh-CN" altLang="en-US" dirty="0"/>
              <a:t>关系数据库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395288" y="1196975"/>
            <a:ext cx="8348662" cy="5256213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</a:pPr>
            <a:r>
              <a:rPr lang="zh-CN" altLang="en-US" dirty="0"/>
              <a:t>在一个给定的应用领域中，所有实体的关系，实体与实体之间联系的关系，所有关系的集合构成一个</a:t>
            </a:r>
            <a:r>
              <a:rPr lang="zh-CN" altLang="en-US" b="1" dirty="0">
                <a:solidFill>
                  <a:srgbClr val="FF0000"/>
                </a:solidFill>
              </a:rPr>
              <a:t>关系数据库</a:t>
            </a:r>
            <a:r>
              <a:rPr lang="zh-CN" altLang="en-US" dirty="0"/>
              <a:t>。</a:t>
            </a:r>
            <a:endParaRPr lang="zh-CN" altLang="en-US" dirty="0"/>
          </a:p>
          <a:p>
            <a:pPr algn="just" eaLnBrk="1" hangingPunct="1"/>
            <a:r>
              <a:rPr lang="zh-CN" altLang="en-US" dirty="0"/>
              <a:t>关系数据库也有</a:t>
            </a:r>
            <a:r>
              <a:rPr lang="zh-CN" altLang="en-US" dirty="0">
                <a:solidFill>
                  <a:schemeClr val="accent2"/>
                </a:solidFill>
              </a:rPr>
              <a:t>型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accent2"/>
                </a:solidFill>
              </a:rPr>
              <a:t>值</a:t>
            </a:r>
            <a:r>
              <a:rPr lang="zh-CN" altLang="en-US" dirty="0"/>
              <a:t>之分。</a:t>
            </a:r>
            <a:endParaRPr lang="zh-CN" altLang="en-US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/>
              <a:t>关系数据库的型称为</a:t>
            </a:r>
            <a:r>
              <a:rPr lang="zh-CN" altLang="en-US" dirty="0">
                <a:solidFill>
                  <a:srgbClr val="FF0000"/>
                </a:solidFill>
              </a:rPr>
              <a:t>关系数据库模式</a:t>
            </a:r>
            <a:r>
              <a:rPr lang="zh-CN" altLang="en-US" dirty="0"/>
              <a:t>，是对关系数据库的描述。</a:t>
            </a:r>
            <a:endParaRPr lang="zh-CN" altLang="en-US" dirty="0"/>
          </a:p>
          <a:p>
            <a:pPr lvl="2" algn="just" eaLnBrk="1" hangingPunct="1">
              <a:lnSpc>
                <a:spcPct val="110000"/>
              </a:lnSpc>
            </a:pPr>
            <a:r>
              <a:rPr lang="zh-CN" altLang="en-US" dirty="0"/>
              <a:t>若干域的定义</a:t>
            </a:r>
            <a:endParaRPr lang="zh-CN" altLang="en-US" dirty="0"/>
          </a:p>
          <a:p>
            <a:pPr lvl="2" algn="just" eaLnBrk="1" hangingPunct="1">
              <a:lnSpc>
                <a:spcPct val="110000"/>
              </a:lnSpc>
            </a:pPr>
            <a:r>
              <a:rPr lang="zh-CN" altLang="en-US" dirty="0"/>
              <a:t>在这些域上定义的若干关系模式</a:t>
            </a:r>
            <a:endParaRPr lang="zh-CN" altLang="en-US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关系数据库</a:t>
            </a:r>
            <a:r>
              <a:rPr lang="zh-CN" altLang="en-US" dirty="0"/>
              <a:t>的值是这些关系模式在某一时刻对应的关系的集合，通常简称为关系数据库。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关系模型的存储结构</a:t>
            </a:r>
            <a:endParaRPr lang="zh-CN" altLang="en-US" dirty="0"/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b="1" dirty="0">
                <a:solidFill>
                  <a:srgbClr val="FF0000"/>
                </a:solidFill>
              </a:rPr>
              <a:t>表</a:t>
            </a:r>
            <a:r>
              <a:rPr lang="zh-CN" altLang="en-US" dirty="0"/>
              <a:t>：逻辑模型</a:t>
            </a:r>
            <a:endParaRPr lang="en-US" altLang="zh-CN" dirty="0"/>
          </a:p>
          <a:p>
            <a:r>
              <a:rPr lang="zh-CN" altLang="en-US" dirty="0"/>
              <a:t>物理结构（</a:t>
            </a:r>
            <a:r>
              <a:rPr lang="en-US" altLang="zh-CN" dirty="0"/>
              <a:t>DBMS</a:t>
            </a:r>
            <a:r>
              <a:rPr lang="zh-CN" altLang="en-US" dirty="0"/>
              <a:t>负责）</a:t>
            </a:r>
            <a:endParaRPr lang="en-US" altLang="zh-CN" dirty="0"/>
          </a:p>
          <a:p>
            <a:pPr lvl="1"/>
            <a:r>
              <a:rPr lang="zh-CN" altLang="en-US" dirty="0"/>
              <a:t>一个表对应一个文件，如何组织交给操作系统</a:t>
            </a:r>
            <a:endParaRPr lang="en-US" altLang="zh-CN" dirty="0"/>
          </a:p>
          <a:p>
            <a:pPr lvl="1"/>
            <a:r>
              <a:rPr lang="zh-CN" altLang="en-US" dirty="0"/>
              <a:t>从操作系统申请空间，自己组织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1026"/>
          <p:cNvSpPr>
            <a:spLocks noGrp="1"/>
          </p:cNvSpPr>
          <p:nvPr>
            <p:ph type="title"/>
          </p:nvPr>
        </p:nvSpPr>
        <p:spPr>
          <a:xfrm>
            <a:off x="571500" y="476250"/>
            <a:ext cx="7391400" cy="5635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1" dirty="0"/>
              <a:t>学生</a:t>
            </a:r>
            <a:r>
              <a:rPr lang="en-US" altLang="zh-CN" b="1" dirty="0"/>
              <a:t>-</a:t>
            </a:r>
            <a:r>
              <a:rPr lang="zh-CN" altLang="en-US" b="1" dirty="0"/>
              <a:t>课程 数据库</a:t>
            </a:r>
            <a:endParaRPr lang="zh-CN" altLang="en-US" b="1" dirty="0"/>
          </a:p>
        </p:txBody>
      </p:sp>
      <p:sp>
        <p:nvSpPr>
          <p:cNvPr id="29699" name="Rectangle 1027"/>
          <p:cNvSpPr>
            <a:spLocks noGrp="1"/>
          </p:cNvSpPr>
          <p:nvPr>
            <p:ph idx="1"/>
          </p:nvPr>
        </p:nvSpPr>
        <p:spPr>
          <a:xfrm>
            <a:off x="214313" y="1071563"/>
            <a:ext cx="8572500" cy="51435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学生</a:t>
            </a:r>
            <a:r>
              <a:rPr lang="en-US" altLang="zh-CN" sz="2800" b="1" dirty="0"/>
              <a:t>-</a:t>
            </a:r>
            <a:r>
              <a:rPr lang="zh-CN" altLang="en-US" sz="2800" b="1" dirty="0"/>
              <a:t>课程模式 </a:t>
            </a:r>
            <a:r>
              <a:rPr lang="en-US" altLang="zh-CN" sz="2800" b="1" dirty="0"/>
              <a:t>S-T :    </a:t>
            </a:r>
            <a:endParaRPr lang="en-US" altLang="zh-CN" sz="2800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学生表：</a:t>
            </a:r>
            <a:r>
              <a:rPr lang="en-US" altLang="zh-CN" sz="2800" b="1" dirty="0"/>
              <a:t>Student(</a:t>
            </a:r>
            <a:r>
              <a:rPr lang="en-US" altLang="zh-CN" sz="2800" b="1" u="sng" dirty="0"/>
              <a:t>Sno</a:t>
            </a:r>
            <a:r>
              <a:rPr lang="en-US" altLang="zh-CN" sz="2800" b="1" dirty="0"/>
              <a:t>,Sname,Ssex,Sage,Sdept)</a:t>
            </a:r>
            <a:endParaRPr lang="en-US" altLang="zh-CN" sz="2800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课程表：</a:t>
            </a:r>
            <a:r>
              <a:rPr lang="en-US" altLang="zh-CN" sz="2800" b="1" dirty="0"/>
              <a:t>Course(</a:t>
            </a:r>
            <a:r>
              <a:rPr lang="en-US" altLang="zh-CN" sz="2800" b="1" u="sng" dirty="0"/>
              <a:t>Cno</a:t>
            </a:r>
            <a:r>
              <a:rPr lang="en-US" altLang="zh-CN" sz="2800" b="1" dirty="0"/>
              <a:t>,Cname,Cpno,Ccredit)</a:t>
            </a:r>
            <a:endParaRPr lang="en-US" altLang="zh-CN" sz="2800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学生选课表：</a:t>
            </a:r>
            <a:endParaRPr lang="en-US" altLang="zh-CN" sz="2800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b="1" dirty="0"/>
              <a:t>     SC(</a:t>
            </a:r>
            <a:r>
              <a:rPr lang="en-US" altLang="zh-CN" sz="2800" b="1" u="sng" dirty="0"/>
              <a:t>Sno,Cno</a:t>
            </a:r>
            <a:r>
              <a:rPr lang="en-US" altLang="zh-CN" sz="2800" b="1" dirty="0"/>
              <a:t>,Grade)</a:t>
            </a:r>
            <a:endParaRPr lang="en-US" altLang="zh-CN" sz="2800" b="1" dirty="0"/>
          </a:p>
          <a:p>
            <a:pPr eaLnBrk="1" hangingPunct="1">
              <a:buNone/>
            </a:pPr>
            <a:r>
              <a:rPr lang="en-US" altLang="zh-CN" sz="2800" b="1" dirty="0"/>
              <a:t>    </a:t>
            </a:r>
            <a:endParaRPr lang="en-US" altLang="zh-CN" sz="2800" b="1" dirty="0"/>
          </a:p>
          <a:p>
            <a:pPr eaLnBrk="1" hangingPunct="1">
              <a:buNone/>
            </a:pPr>
            <a:endParaRPr lang="en-US" altLang="zh-CN" sz="2800" b="1" dirty="0"/>
          </a:p>
        </p:txBody>
      </p:sp>
    </p:spTree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2.3  </a:t>
            </a:r>
            <a:r>
              <a:rPr lang="zh-CN" altLang="en-US" sz="4000" dirty="0"/>
              <a:t>关系的完整性</a:t>
            </a:r>
            <a:endParaRPr lang="zh-CN" altLang="en-US" sz="4000" dirty="0"/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xfrm>
            <a:off x="250825" y="1196975"/>
            <a:ext cx="8642350" cy="266065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关系模型中三类完整性约束：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3333FF"/>
                </a:solidFill>
              </a:rPr>
              <a:t>实体完整性</a:t>
            </a:r>
            <a:endParaRPr lang="zh-CN" altLang="en-US" b="1" dirty="0">
              <a:solidFill>
                <a:srgbClr val="3333FF"/>
              </a:solidFill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3333FF"/>
                </a:solidFill>
              </a:rPr>
              <a:t>参照完整性</a:t>
            </a:r>
            <a:endParaRPr lang="zh-CN" altLang="en-US" b="1" dirty="0">
              <a:solidFill>
                <a:srgbClr val="3333FF"/>
              </a:solidFill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3333FF"/>
                </a:solidFill>
              </a:rPr>
              <a:t>用户定义的完整性</a:t>
            </a:r>
            <a:endParaRPr lang="zh-CN" altLang="en-US" b="1" dirty="0">
              <a:solidFill>
                <a:srgbClr val="3333FF"/>
              </a:solidFill>
            </a:endParaRPr>
          </a:p>
        </p:txBody>
      </p:sp>
      <p:sp>
        <p:nvSpPr>
          <p:cNvPr id="281604" name="Rectangle 4"/>
          <p:cNvSpPr/>
          <p:nvPr/>
        </p:nvSpPr>
        <p:spPr>
          <a:xfrm>
            <a:off x="179388" y="3714750"/>
            <a:ext cx="8642350" cy="18716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669900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实体完整性和参照完整性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是关系模型必须满足的完整性约束条件，被称作是关系的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两个不变性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，应该由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关系系统自动支持</a:t>
            </a: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。</a:t>
            </a:r>
            <a:endParaRPr lang="zh-CN" altLang="en-US" sz="24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2.3.1 </a:t>
            </a:r>
            <a:r>
              <a:rPr lang="zh-CN" altLang="en-US" dirty="0"/>
              <a:t>实体完整性</a:t>
            </a:r>
            <a:endParaRPr lang="zh-CN" altLang="en-US" dirty="0"/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>
          <a:xfrm>
            <a:off x="250825" y="1268413"/>
            <a:ext cx="8229600" cy="1944687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实体完整性规则（</a:t>
            </a:r>
            <a:r>
              <a:rPr lang="en-US" altLang="zh-CN" dirty="0"/>
              <a:t>Entity Integrity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b="1" dirty="0"/>
              <a:t>若属性</a:t>
            </a:r>
            <a:r>
              <a:rPr lang="en-US" altLang="zh-CN" b="1" i="1" dirty="0"/>
              <a:t>A</a:t>
            </a:r>
            <a:r>
              <a:rPr lang="zh-CN" altLang="en-US" b="1" dirty="0"/>
              <a:t>是基本关系</a:t>
            </a:r>
            <a:r>
              <a:rPr lang="en-US" altLang="zh-CN" b="1" i="1" dirty="0"/>
              <a:t>R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主属性</a:t>
            </a:r>
            <a:r>
              <a:rPr lang="zh-CN" altLang="en-US" b="1" dirty="0"/>
              <a:t>，则属性</a:t>
            </a:r>
            <a:r>
              <a:rPr lang="en-US" altLang="zh-CN" b="1" i="1" dirty="0"/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不能取空值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  <p:sp>
        <p:nvSpPr>
          <p:cNvPr id="283652" name="Rectangle 4"/>
          <p:cNvSpPr/>
          <p:nvPr/>
        </p:nvSpPr>
        <p:spPr>
          <a:xfrm>
            <a:off x="323850" y="2928938"/>
            <a:ext cx="8462963" cy="3143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742950" lvl="1" indent="-285750" algn="just" eaLnBrk="1" hangingPunct="1">
              <a:lnSpc>
                <a:spcPct val="150000"/>
              </a:lnSpc>
              <a:spcBef>
                <a:spcPct val="20000"/>
              </a:spcBef>
              <a:buClr>
                <a:srgbClr val="CC0099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Student(Sno,Sname,Ssex,Sage,Sdept)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1143000" lvl="2" indent="-228600" algn="just" eaLnBrk="1" hangingPunct="1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R"/>
            </a:pP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Sno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属性为主码，则其不能取空值。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742950" lvl="1" indent="-285750" algn="just" eaLnBrk="1" hangingPunct="1">
              <a:spcBef>
                <a:spcPct val="20000"/>
              </a:spcBef>
              <a:buClr>
                <a:srgbClr val="CC0099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选修（学号，课程号，成绩）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1143000" lvl="2" indent="-228600" algn="just" eaLnBrk="1" hangingPunct="1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R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“学号、课程号”为主码，则两个属性都不能取空值。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2.3.2 </a:t>
            </a:r>
            <a:r>
              <a:rPr lang="zh-CN" altLang="en-US" dirty="0"/>
              <a:t>参照完整性</a:t>
            </a:r>
            <a:endParaRPr lang="zh-CN" altLang="en-US" dirty="0"/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>
          <a:xfrm>
            <a:off x="142875" y="977900"/>
            <a:ext cx="8858250" cy="2209165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在关系模型中</a:t>
            </a:r>
            <a:r>
              <a:rPr lang="zh-CN" altLang="en-US" dirty="0">
                <a:solidFill>
                  <a:srgbClr val="FF0000"/>
                </a:solidFill>
              </a:rPr>
              <a:t>实体</a:t>
            </a:r>
            <a:r>
              <a:rPr lang="zh-CN" altLang="en-US" dirty="0"/>
              <a:t>及</a:t>
            </a:r>
            <a:r>
              <a:rPr lang="zh-CN" altLang="en-US" dirty="0">
                <a:solidFill>
                  <a:srgbClr val="FF0000"/>
                </a:solidFill>
              </a:rPr>
              <a:t>实体</a:t>
            </a:r>
            <a:r>
              <a:rPr lang="zh-CN" altLang="en-US" dirty="0"/>
              <a:t>间的</a:t>
            </a:r>
            <a:r>
              <a:rPr lang="zh-CN" altLang="en-US" dirty="0">
                <a:solidFill>
                  <a:srgbClr val="FF0000"/>
                </a:solidFill>
              </a:rPr>
              <a:t>联系</a:t>
            </a:r>
            <a:r>
              <a:rPr lang="zh-CN" altLang="en-US" dirty="0"/>
              <a:t>都是用</a:t>
            </a:r>
            <a:r>
              <a:rPr lang="zh-CN" altLang="en-US" dirty="0">
                <a:solidFill>
                  <a:srgbClr val="FF0000"/>
                </a:solidFill>
              </a:rPr>
              <a:t>关系（表）</a:t>
            </a:r>
            <a:r>
              <a:rPr lang="zh-CN" altLang="en-US" dirty="0"/>
              <a:t>来描述的，因此可能存在着</a:t>
            </a:r>
            <a:r>
              <a:rPr lang="zh-CN" altLang="en-US" b="1" dirty="0">
                <a:solidFill>
                  <a:srgbClr val="0000CC"/>
                </a:solidFill>
              </a:rPr>
              <a:t>关系（表）</a:t>
            </a:r>
            <a:r>
              <a:rPr lang="zh-CN" altLang="en-US" dirty="0"/>
              <a:t>与</a:t>
            </a:r>
            <a:r>
              <a:rPr lang="zh-CN" altLang="en-US" b="1" dirty="0">
                <a:solidFill>
                  <a:srgbClr val="0000CC"/>
                </a:solidFill>
              </a:rPr>
              <a:t>关系（表）</a:t>
            </a:r>
            <a:r>
              <a:rPr lang="zh-CN" altLang="en-US" dirty="0"/>
              <a:t>间的引用。</a:t>
            </a:r>
            <a:endParaRPr lang="zh-CN" altLang="en-US" dirty="0"/>
          </a:p>
        </p:txBody>
      </p:sp>
      <p:sp>
        <p:nvSpPr>
          <p:cNvPr id="289796" name="Rectangle 4"/>
          <p:cNvSpPr/>
          <p:nvPr/>
        </p:nvSpPr>
        <p:spPr>
          <a:xfrm>
            <a:off x="323850" y="3425825"/>
            <a:ext cx="8316913" cy="28908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just" eaLnBrk="1" hangingPunct="1">
              <a:lnSpc>
                <a:spcPct val="150000"/>
              </a:lnSpc>
              <a:buClr>
                <a:srgbClr val="669900"/>
              </a:buClr>
              <a:buSzPct val="75000"/>
              <a:buFont typeface="Wingdings" panose="05000000000000000000" pitchFamily="2" charset="2"/>
            </a:pPr>
            <a:r>
              <a:rPr lang="zh-CN" altLang="en-US" sz="2800" b="1" dirty="0">
                <a:latin typeface="Verdana" panose="020B060403050404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：学生实体、专业实体以及专业与学生间的</a:t>
            </a:r>
            <a:r>
              <a:rPr lang="zh-CN" altLang="en-US" sz="2800" b="1" dirty="0">
                <a:solidFill>
                  <a:srgbClr val="0000CC"/>
                </a:solidFill>
                <a:latin typeface="Verdana" panose="020B0604030504040204" pitchFamily="34" charset="0"/>
                <a:ea typeface="楷体_GB2312" pitchFamily="49" charset="-122"/>
              </a:rPr>
              <a:t>一对多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联系。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342900" indent="-342900" algn="just" eaLnBrk="1" hangingPunct="1">
              <a:lnSpc>
                <a:spcPct val="150000"/>
              </a:lnSpc>
              <a:buClr>
                <a:srgbClr val="669900"/>
              </a:buClr>
              <a:buSzPct val="75000"/>
              <a:buFont typeface="Wingdings" panose="05000000000000000000" pitchFamily="2" charset="2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  　学生（</a:t>
            </a:r>
            <a:r>
              <a:rPr lang="zh-CN" altLang="en-US" sz="2800" b="1" u="sng" dirty="0">
                <a:latin typeface="Verdana" panose="020B0604030504040204" pitchFamily="34" charset="0"/>
                <a:ea typeface="楷体_GB2312" pitchFamily="49" charset="-122"/>
              </a:rPr>
              <a:t>学号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，姓名，性别，</a:t>
            </a:r>
            <a:r>
              <a:rPr lang="zh-CN" altLang="en-US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专业号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，年龄）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342900" indent="-342900" algn="just" eaLnBrk="1" hangingPunct="1">
              <a:lnSpc>
                <a:spcPct val="150000"/>
              </a:lnSpc>
              <a:buClr>
                <a:srgbClr val="669900"/>
              </a:buClr>
              <a:buSzPct val="75000"/>
              <a:buFont typeface="Wingdings" panose="05000000000000000000" pitchFamily="2" charset="2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　  专业（</a:t>
            </a:r>
            <a:r>
              <a:rPr lang="zh-CN" altLang="en-US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专业号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，专业名）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graphicFrame>
        <p:nvGraphicFramePr>
          <p:cNvPr id="33795" name="Object 2"/>
          <p:cNvGraphicFramePr>
            <a:graphicFrameLocks noChangeAspect="1"/>
          </p:cNvGraphicFramePr>
          <p:nvPr>
            <p:ph type="tbl" idx="1"/>
          </p:nvPr>
        </p:nvGraphicFramePr>
        <p:xfrm>
          <a:off x="1476375" y="1125538"/>
          <a:ext cx="6408738" cy="316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760335" imgH="5452745" progId="Word.Document.8">
                  <p:embed/>
                </p:oleObj>
              </mc:Choice>
              <mc:Fallback>
                <p:oleObj name="" r:id="rId1" imgW="7760335" imgH="5452745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476375" y="1125538"/>
                        <a:ext cx="6408738" cy="31670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3"/>
          <p:cNvGraphicFramePr>
            <a:graphicFrameLocks noChangeAspect="1"/>
          </p:cNvGraphicFramePr>
          <p:nvPr/>
        </p:nvGraphicFramePr>
        <p:xfrm>
          <a:off x="1476375" y="4508500"/>
          <a:ext cx="5988050" cy="213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7760335" imgH="4443730" progId="Word.Document.8">
                  <p:embed/>
                </p:oleObj>
              </mc:Choice>
              <mc:Fallback>
                <p:oleObj name="" r:id="rId3" imgW="7760335" imgH="4443730" progId="Word.Document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4508500"/>
                        <a:ext cx="5988050" cy="2135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5"/>
          <p:cNvSpPr txBox="1"/>
          <p:nvPr/>
        </p:nvSpPr>
        <p:spPr>
          <a:xfrm>
            <a:off x="755650" y="476250"/>
            <a:ext cx="73453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学生（</a:t>
            </a:r>
            <a:r>
              <a:rPr lang="zh-CN" altLang="en-US" sz="2800" b="1" u="sng" dirty="0">
                <a:latin typeface="Verdana" panose="020B0604030504040204" pitchFamily="34" charset="0"/>
                <a:ea typeface="楷体_GB2312" pitchFamily="49" charset="-122"/>
              </a:rPr>
              <a:t>学号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，姓名，性别，</a:t>
            </a:r>
            <a:r>
              <a:rPr lang="zh-CN" altLang="en-US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专业号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，年龄）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33798" name="Text Box 6"/>
          <p:cNvSpPr txBox="1"/>
          <p:nvPr/>
        </p:nvSpPr>
        <p:spPr>
          <a:xfrm>
            <a:off x="684213" y="3933825"/>
            <a:ext cx="43926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专业（</a:t>
            </a:r>
            <a:r>
              <a:rPr lang="zh-CN" altLang="en-US" sz="2800" b="1" u="sng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专业号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，专业名）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关系间的引用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179388" y="1412875"/>
            <a:ext cx="8675687" cy="4525963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/>
              <a:t>2</a:t>
            </a:r>
            <a:r>
              <a:rPr lang="zh-CN" altLang="en-US" dirty="0"/>
              <a:t>：学生、课程、学生与课程之间的</a:t>
            </a:r>
            <a:r>
              <a:rPr lang="zh-CN" altLang="en-US" b="1" dirty="0">
                <a:solidFill>
                  <a:srgbClr val="0000CC"/>
                </a:solidFill>
              </a:rPr>
              <a:t>多对多</a:t>
            </a:r>
            <a:r>
              <a:rPr lang="zh-CN" altLang="en-US" dirty="0"/>
              <a:t>联系。</a:t>
            </a:r>
            <a:endParaRPr lang="zh-CN" altLang="en-US" sz="2400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     学生（</a:t>
            </a:r>
            <a:r>
              <a:rPr lang="zh-CN" altLang="en-US" u="sng" dirty="0">
                <a:solidFill>
                  <a:schemeClr val="hlink"/>
                </a:solidFill>
              </a:rPr>
              <a:t>学号</a:t>
            </a:r>
            <a:r>
              <a:rPr lang="zh-CN" altLang="en-US" dirty="0"/>
              <a:t>，姓名，性别，专业号，年龄）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     课程（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，课程名，学分）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     选修（</a:t>
            </a:r>
            <a:r>
              <a:rPr lang="zh-CN" altLang="en-US" u="sng" dirty="0">
                <a:solidFill>
                  <a:schemeClr val="hlink"/>
                </a:solidFill>
              </a:rPr>
              <a:t>学号</a:t>
            </a:r>
            <a:r>
              <a:rPr lang="zh-CN" altLang="en-US" dirty="0"/>
              <a:t>，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，成绩）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  <a:buNone/>
            </a:pPr>
            <a:endParaRPr lang="zh-CN" altLang="en-US" dirty="0"/>
          </a:p>
          <a:p>
            <a:pPr algn="just" eaLnBrk="1" hangingPunct="1">
              <a:buNone/>
            </a:pPr>
            <a:endParaRPr lang="en-US" altLang="zh-CN" sz="2400" dirty="0"/>
          </a:p>
        </p:txBody>
      </p:sp>
    </p:spTree>
  </p:cSld>
  <p:clrMapOvr>
    <a:masterClrMapping/>
  </p:clrMapOvr>
  <p:transition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4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 </a:t>
            </a:r>
            <a:endParaRPr lang="en-US" altLang="zh-CN" dirty="0"/>
          </a:p>
        </p:txBody>
      </p:sp>
      <p:graphicFrame>
        <p:nvGraphicFramePr>
          <p:cNvPr id="35844" name="Object 3"/>
          <p:cNvGraphicFramePr>
            <a:graphicFrameLocks noChangeAspect="1"/>
          </p:cNvGraphicFramePr>
          <p:nvPr>
            <p:ph type="tbl" idx="1"/>
          </p:nvPr>
        </p:nvGraphicFramePr>
        <p:xfrm>
          <a:off x="900113" y="4127500"/>
          <a:ext cx="3824287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7760335" imgH="4395470" progId="Word.Document.8">
                  <p:embed/>
                </p:oleObj>
              </mc:Choice>
              <mc:Fallback>
                <p:oleObj name="" r:id="rId1" imgW="7760335" imgH="4395470" progId="Word.Document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900113" y="4127500"/>
                        <a:ext cx="3824287" cy="2197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4"/>
          <p:cNvGraphicFramePr>
            <a:graphicFrameLocks noChangeAspect="1"/>
          </p:cNvGraphicFramePr>
          <p:nvPr/>
        </p:nvGraphicFramePr>
        <p:xfrm>
          <a:off x="900113" y="1196975"/>
          <a:ext cx="61722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7760335" imgH="5452745" progId="Word.Document.8">
                  <p:embed/>
                </p:oleObj>
              </mc:Choice>
              <mc:Fallback>
                <p:oleObj name="" r:id="rId3" imgW="7760335" imgH="5452745" progId="Word.Document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113" y="1196975"/>
                        <a:ext cx="6172200" cy="274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5"/>
          <p:cNvGraphicFramePr>
            <a:graphicFrameLocks noChangeAspect="1"/>
          </p:cNvGraphicFramePr>
          <p:nvPr/>
        </p:nvGraphicFramePr>
        <p:xfrm>
          <a:off x="5105400" y="4149725"/>
          <a:ext cx="3563938" cy="259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7760335" imgH="4580890" progId="Word.Document.8">
                  <p:embed/>
                </p:oleObj>
              </mc:Choice>
              <mc:Fallback>
                <p:oleObj name="" r:id="rId5" imgW="7760335" imgH="4580890" progId="Word.Documen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05400" y="4149725"/>
                        <a:ext cx="3563938" cy="2598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Text Box 6"/>
          <p:cNvSpPr txBox="1"/>
          <p:nvPr/>
        </p:nvSpPr>
        <p:spPr>
          <a:xfrm>
            <a:off x="755650" y="47625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学生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848" name="Text Box 7"/>
          <p:cNvSpPr txBox="1"/>
          <p:nvPr/>
        </p:nvSpPr>
        <p:spPr>
          <a:xfrm>
            <a:off x="5105400" y="3716338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学生选课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849" name="Text Box 8"/>
          <p:cNvSpPr txBox="1"/>
          <p:nvPr/>
        </p:nvSpPr>
        <p:spPr>
          <a:xfrm>
            <a:off x="827088" y="36449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课程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850" name="Oval 10"/>
          <p:cNvSpPr/>
          <p:nvPr/>
        </p:nvSpPr>
        <p:spPr>
          <a:xfrm>
            <a:off x="827088" y="4005263"/>
            <a:ext cx="1008062" cy="431800"/>
          </a:xfrm>
          <a:prstGeom prst="ellipse">
            <a:avLst/>
          </a:prstGeom>
          <a:noFill/>
          <a:ln w="28575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5851" name="Oval 11"/>
          <p:cNvSpPr/>
          <p:nvPr/>
        </p:nvSpPr>
        <p:spPr>
          <a:xfrm>
            <a:off x="755650" y="1052513"/>
            <a:ext cx="1008063" cy="431800"/>
          </a:xfrm>
          <a:prstGeom prst="ellipse">
            <a:avLst/>
          </a:prstGeom>
          <a:noFill/>
          <a:ln w="28575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5852" name="Oval 12"/>
          <p:cNvSpPr/>
          <p:nvPr/>
        </p:nvSpPr>
        <p:spPr>
          <a:xfrm>
            <a:off x="4932363" y="4005263"/>
            <a:ext cx="2232025" cy="503237"/>
          </a:xfrm>
          <a:prstGeom prst="ellipse">
            <a:avLst/>
          </a:prstGeom>
          <a:noFill/>
          <a:ln w="28575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关系间的引用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/>
              <a:t>3  </a:t>
            </a:r>
            <a:r>
              <a:rPr lang="zh-CN" altLang="en-US" dirty="0"/>
              <a:t>学生实体及其内部的领导联系</a:t>
            </a:r>
            <a:r>
              <a:rPr lang="en-US" altLang="zh-CN" dirty="0"/>
              <a:t>(</a:t>
            </a:r>
            <a:r>
              <a:rPr lang="zh-CN" altLang="en-US" dirty="0"/>
              <a:t>一对多</a:t>
            </a:r>
            <a:r>
              <a:rPr lang="en-US" altLang="zh-CN" dirty="0"/>
              <a:t>)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algn="just" eaLnBrk="1" hangingPunct="1">
              <a:lnSpc>
                <a:spcPct val="150000"/>
              </a:lnSpc>
              <a:spcBef>
                <a:spcPct val="40000"/>
              </a:spcBef>
              <a:buNone/>
            </a:pPr>
            <a:r>
              <a:rPr lang="zh-CN" altLang="en-US" dirty="0"/>
              <a:t>学生（</a:t>
            </a:r>
            <a:r>
              <a:rPr lang="zh-CN" altLang="en-US" u="sng" dirty="0">
                <a:solidFill>
                  <a:srgbClr val="3333FF"/>
                </a:solidFill>
              </a:rPr>
              <a:t>学号</a:t>
            </a:r>
            <a:r>
              <a:rPr lang="zh-CN" altLang="en-US" dirty="0"/>
              <a:t>，姓名，性别，专业号，年龄，</a:t>
            </a:r>
            <a:r>
              <a:rPr lang="zh-CN" altLang="en-US" dirty="0">
                <a:solidFill>
                  <a:srgbClr val="3333FF"/>
                </a:solidFill>
              </a:rPr>
              <a:t>班长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graphicFrame>
        <p:nvGraphicFramePr>
          <p:cNvPr id="36869" name="Object 4"/>
          <p:cNvGraphicFramePr>
            <a:graphicFrameLocks noChangeAspect="1"/>
          </p:cNvGraphicFramePr>
          <p:nvPr/>
        </p:nvGraphicFramePr>
        <p:xfrm>
          <a:off x="1593850" y="3209925"/>
          <a:ext cx="6275388" cy="319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9314815" imgH="5452745" progId="Word.Document.8">
                  <p:embed/>
                </p:oleObj>
              </mc:Choice>
              <mc:Fallback>
                <p:oleObj name="" r:id="rId1" imgW="9314815" imgH="5452745" progId="Word.Document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93850" y="3209925"/>
                        <a:ext cx="6275388" cy="319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2.3.2 </a:t>
            </a:r>
            <a:r>
              <a:rPr lang="zh-CN" altLang="en-US" dirty="0"/>
              <a:t>参照完整性</a:t>
            </a:r>
            <a:endParaRPr lang="zh-CN" altLang="en-US" dirty="0"/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468313" y="1125538"/>
            <a:ext cx="8351837" cy="2016125"/>
          </a:xfrm>
          <a:ln/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dirty="0">
                <a:solidFill>
                  <a:srgbClr val="FF0000"/>
                </a:solidFill>
              </a:rPr>
              <a:t>外码</a:t>
            </a:r>
            <a:r>
              <a:rPr lang="zh-CN" altLang="en-US" dirty="0"/>
              <a:t>（</a:t>
            </a:r>
            <a:r>
              <a:rPr lang="en-US" altLang="zh-CN" dirty="0"/>
              <a:t>Foreign Key</a:t>
            </a:r>
            <a:r>
              <a:rPr lang="zh-CN" altLang="en-US" dirty="0"/>
              <a:t>）：设</a:t>
            </a:r>
            <a:r>
              <a:rPr lang="en-US" altLang="zh-CN" dirty="0"/>
              <a:t>F</a:t>
            </a:r>
            <a:r>
              <a:rPr lang="zh-CN" altLang="en-US" dirty="0"/>
              <a:t>是基本关系</a:t>
            </a:r>
            <a:r>
              <a:rPr lang="en-US" altLang="zh-CN" dirty="0"/>
              <a:t>R</a:t>
            </a:r>
            <a:r>
              <a:rPr lang="zh-CN" altLang="en-US" dirty="0"/>
              <a:t>的一个或一组属性，但不是关系</a:t>
            </a:r>
            <a:r>
              <a:rPr lang="en-US" altLang="zh-CN" dirty="0"/>
              <a:t>R</a:t>
            </a:r>
            <a:r>
              <a:rPr lang="zh-CN" altLang="en-US" dirty="0"/>
              <a:t>的码。如果</a:t>
            </a:r>
            <a:r>
              <a:rPr lang="en-US" altLang="zh-CN" dirty="0"/>
              <a:t>F</a:t>
            </a:r>
            <a:r>
              <a:rPr lang="zh-CN" altLang="en-US" dirty="0"/>
              <a:t>与基本关系</a:t>
            </a:r>
            <a:r>
              <a:rPr lang="en-US" altLang="zh-CN" dirty="0"/>
              <a:t>S</a:t>
            </a:r>
            <a:r>
              <a:rPr lang="zh-CN" altLang="en-US" dirty="0"/>
              <a:t>的主码</a:t>
            </a:r>
            <a:r>
              <a:rPr lang="en-US" altLang="zh-CN" dirty="0"/>
              <a:t>K</a:t>
            </a:r>
            <a:r>
              <a:rPr lang="en-US" altLang="zh-CN" baseline="-25000" dirty="0"/>
              <a:t>s</a:t>
            </a:r>
            <a:r>
              <a:rPr lang="zh-CN" altLang="en-US" dirty="0"/>
              <a:t>相对应，则称</a:t>
            </a:r>
            <a:r>
              <a:rPr lang="en-US" altLang="zh-CN" dirty="0"/>
              <a:t>F</a:t>
            </a:r>
            <a:r>
              <a:rPr lang="zh-CN" altLang="en-US" dirty="0"/>
              <a:t>是基本关系</a:t>
            </a:r>
            <a:r>
              <a:rPr lang="en-US" altLang="zh-CN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3333FF"/>
                </a:solidFill>
              </a:rPr>
              <a:t>外码。</a:t>
            </a:r>
            <a:endParaRPr lang="zh-CN" altLang="en-US" dirty="0">
              <a:solidFill>
                <a:srgbClr val="3333FF"/>
              </a:solidFill>
            </a:endParaRPr>
          </a:p>
        </p:txBody>
      </p:sp>
      <p:sp>
        <p:nvSpPr>
          <p:cNvPr id="291844" name="Rectangle 4"/>
          <p:cNvSpPr/>
          <p:nvPr/>
        </p:nvSpPr>
        <p:spPr>
          <a:xfrm>
            <a:off x="396875" y="4868863"/>
            <a:ext cx="8351838" cy="1223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742950" lvl="1" indent="-285750" algn="just" eaLnBrk="1" hangingPunct="1">
              <a:lnSpc>
                <a:spcPct val="140000"/>
              </a:lnSpc>
              <a:spcBef>
                <a:spcPct val="20000"/>
              </a:spcBef>
              <a:buClr>
                <a:srgbClr val="CC0099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基本关系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R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称为</a:t>
            </a:r>
            <a:r>
              <a:rPr lang="zh-CN" altLang="en-US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参照关系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。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742950" lvl="1" indent="-285750" algn="just" eaLnBrk="1" hangingPunct="1">
              <a:lnSpc>
                <a:spcPct val="140000"/>
              </a:lnSpc>
              <a:spcBef>
                <a:spcPct val="20000"/>
              </a:spcBef>
              <a:buClr>
                <a:srgbClr val="CC0099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基本关系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S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称为</a:t>
            </a:r>
            <a:r>
              <a:rPr lang="zh-CN" altLang="en-US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被参照关系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或</a:t>
            </a:r>
            <a:r>
              <a:rPr lang="zh-CN" altLang="en-US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目标关系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。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97000" y="3213100"/>
            <a:ext cx="6696075" cy="1123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Verdana" panose="020B0604030504040204" pitchFamily="34" charset="0"/>
              </a:rPr>
              <a:t>学生（</a:t>
            </a:r>
            <a:r>
              <a:rPr lang="zh-CN" altLang="en-US" sz="2400" u="sng" dirty="0">
                <a:latin typeface="Verdana" panose="020B0604030504040204" pitchFamily="34" charset="0"/>
              </a:rPr>
              <a:t>学号</a:t>
            </a:r>
            <a:r>
              <a:rPr lang="zh-CN" altLang="en-US" sz="2400" dirty="0">
                <a:latin typeface="Verdana" panose="020B0604030504040204" pitchFamily="34" charset="0"/>
              </a:rPr>
              <a:t>，姓名，性别，</a:t>
            </a:r>
            <a:r>
              <a:rPr lang="zh-CN" altLang="en-US" sz="2400" dirty="0">
                <a:solidFill>
                  <a:srgbClr val="3333FF"/>
                </a:solidFill>
                <a:latin typeface="Verdana" panose="020B0604030504040204" pitchFamily="34" charset="0"/>
              </a:rPr>
              <a:t>专业号</a:t>
            </a:r>
            <a:r>
              <a:rPr lang="zh-CN" altLang="en-US" sz="2400" dirty="0">
                <a:latin typeface="Verdana" panose="020B0604030504040204" pitchFamily="34" charset="0"/>
              </a:rPr>
              <a:t>，年龄）</a:t>
            </a:r>
            <a:endParaRPr lang="zh-CN" altLang="en-US" sz="2400" dirty="0">
              <a:latin typeface="Verdana" panose="020B0604030504040204" pitchFamily="34" charset="0"/>
            </a:endParaRPr>
          </a:p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Verdana" panose="020B0604030504040204" pitchFamily="34" charset="0"/>
              </a:rPr>
              <a:t>专业（</a:t>
            </a:r>
            <a:r>
              <a:rPr lang="zh-CN" altLang="en-US" sz="2400" dirty="0">
                <a:solidFill>
                  <a:srgbClr val="3333FF"/>
                </a:solidFill>
                <a:latin typeface="Verdana" panose="020B0604030504040204" pitchFamily="34" charset="0"/>
              </a:rPr>
              <a:t>专业号</a:t>
            </a:r>
            <a:r>
              <a:rPr lang="zh-CN" altLang="en-US" sz="2400" dirty="0">
                <a:latin typeface="Verdana" panose="020B0604030504040204" pitchFamily="34" charset="0"/>
              </a:rPr>
              <a:t>，专业名）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3" name="椭圆形标注 2"/>
          <p:cNvSpPr/>
          <p:nvPr/>
        </p:nvSpPr>
        <p:spPr>
          <a:xfrm>
            <a:off x="6157913" y="3775075"/>
            <a:ext cx="719138" cy="806450"/>
          </a:xfrm>
          <a:prstGeom prst="wedgeEllipseCallout">
            <a:avLst>
              <a:gd name="adj1" fmla="val -66842"/>
              <a:gd name="adj2" fmla="val -57476"/>
            </a:avLst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椭圆形标注 7"/>
          <p:cNvSpPr/>
          <p:nvPr/>
        </p:nvSpPr>
        <p:spPr>
          <a:xfrm>
            <a:off x="541338" y="4125913"/>
            <a:ext cx="936625" cy="609600"/>
          </a:xfrm>
          <a:prstGeom prst="wedgeEllipseCallout">
            <a:avLst>
              <a:gd name="adj1" fmla="val 98792"/>
              <a:gd name="adj2" fmla="val -46616"/>
            </a:avLst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椭圆形标注 8"/>
          <p:cNvSpPr/>
          <p:nvPr/>
        </p:nvSpPr>
        <p:spPr>
          <a:xfrm>
            <a:off x="520700" y="3213100"/>
            <a:ext cx="720725" cy="806450"/>
          </a:xfrm>
          <a:prstGeom prst="wedgeEllipseCallout">
            <a:avLst>
              <a:gd name="adj1" fmla="val 124557"/>
              <a:gd name="adj2" fmla="val -6527"/>
            </a:avLst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椭圆形标注 9"/>
          <p:cNvSpPr/>
          <p:nvPr/>
        </p:nvSpPr>
        <p:spPr>
          <a:xfrm>
            <a:off x="3781425" y="4259263"/>
            <a:ext cx="963613" cy="609600"/>
          </a:xfrm>
          <a:prstGeom prst="wedgeEllipseCallout">
            <a:avLst>
              <a:gd name="adj1" fmla="val -66842"/>
              <a:gd name="adj2" fmla="val -57476"/>
            </a:avLst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4" grpId="0"/>
      <p:bldP spid="2" grpId="0"/>
      <p:bldP spid="3" grpId="0" animBg="1"/>
      <p:bldP spid="8" grpId="0" animBg="1"/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外码</a:t>
            </a:r>
            <a:r>
              <a:rPr lang="en-US" altLang="zh-CN" sz="3200" dirty="0"/>
              <a:t>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  <a:endParaRPr lang="en-US" altLang="zh-CN" sz="3200" dirty="0"/>
          </a:p>
        </p:txBody>
      </p:sp>
      <p:sp>
        <p:nvSpPr>
          <p:cNvPr id="38915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108075"/>
            <a:ext cx="8401050" cy="3678555"/>
          </a:xfrm>
          <a:ln/>
        </p:spPr>
        <p:txBody>
          <a:bodyPr vert="horz" wrap="square" lIns="91440" tIns="45720" rIns="91440" bIns="45720" anchor="t" anchorCtr="0"/>
          <a:p>
            <a:pPr algn="just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/>
              <a:t>［例</a:t>
            </a:r>
            <a:r>
              <a:rPr lang="en-US" altLang="zh-CN" dirty="0"/>
              <a:t>1</a:t>
            </a:r>
            <a:r>
              <a:rPr lang="zh-CN" altLang="en-US" dirty="0"/>
              <a:t>］：学生实体、专业实体以及专业与学生间的一对多联系。</a:t>
            </a:r>
            <a:endParaRPr lang="en-US" altLang="zh-CN" dirty="0"/>
          </a:p>
          <a:p>
            <a:pPr algn="just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/>
              <a:t>学生（</a:t>
            </a:r>
            <a:r>
              <a:rPr lang="zh-CN" altLang="en-US" u="sng" dirty="0"/>
              <a:t>学号</a:t>
            </a:r>
            <a:r>
              <a:rPr lang="zh-CN" altLang="en-US" dirty="0"/>
              <a:t>，姓名，性别，</a:t>
            </a:r>
            <a:r>
              <a:rPr lang="zh-CN" altLang="en-US" dirty="0">
                <a:solidFill>
                  <a:srgbClr val="3333FF"/>
                </a:solidFill>
              </a:rPr>
              <a:t>专业号</a:t>
            </a:r>
            <a:r>
              <a:rPr lang="zh-CN" altLang="en-US" dirty="0"/>
              <a:t>，年龄）</a:t>
            </a:r>
            <a:endParaRPr lang="zh-CN" altLang="en-US" dirty="0"/>
          </a:p>
          <a:p>
            <a:pPr algn="just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/>
              <a:t>专业（</a:t>
            </a:r>
            <a:r>
              <a:rPr lang="zh-CN" altLang="en-US" dirty="0">
                <a:solidFill>
                  <a:srgbClr val="3333FF"/>
                </a:solidFill>
              </a:rPr>
              <a:t>专业号</a:t>
            </a:r>
            <a:r>
              <a:rPr lang="zh-CN" altLang="en-US" dirty="0"/>
              <a:t>，专业名）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buClr>
                <a:schemeClr val="accent2"/>
              </a:buClr>
              <a:buFont typeface="Wingdings" panose="05000000000000000000" charset="0"/>
              <a:buChar char="p"/>
            </a:pPr>
            <a:r>
              <a:rPr lang="zh-CN" altLang="en-US" dirty="0"/>
              <a:t>外码？参照关系？被参照关系？</a:t>
            </a:r>
            <a:endParaRPr lang="zh-CN" altLang="en-US" dirty="0"/>
          </a:p>
        </p:txBody>
      </p:sp>
      <p:graphicFrame>
        <p:nvGraphicFramePr>
          <p:cNvPr id="392196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2339023" y="4868863"/>
          <a:ext cx="4038600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1188700" imgH="3416300" progId="Photoshop.Image.7">
                  <p:embed/>
                </p:oleObj>
              </mc:Choice>
              <mc:Fallback>
                <p:oleObj name="" r:id="rId1" imgW="11188700" imgH="3416300" progId="Photoshop.Image.7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339023" y="4868863"/>
                        <a:ext cx="4038600" cy="12334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外码</a:t>
            </a:r>
            <a:r>
              <a:rPr lang="en-US" altLang="zh-CN" sz="3200" dirty="0"/>
              <a:t>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  <a:endParaRPr lang="en-US" altLang="zh-CN" sz="3200" dirty="0"/>
          </a:p>
        </p:txBody>
      </p:sp>
      <p:graphicFrame>
        <p:nvGraphicFramePr>
          <p:cNvPr id="391172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914400" y="5153025"/>
          <a:ext cx="6408738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8046700" imgH="2590800" progId="Photoshop.Image.7">
                  <p:embed/>
                </p:oleObj>
              </mc:Choice>
              <mc:Fallback>
                <p:oleObj name="" r:id="rId1" imgW="18046700" imgH="2590800" progId="Photoshop.Image.7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914400" y="5153025"/>
                        <a:ext cx="6408738" cy="9191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Rectangle 3"/>
          <p:cNvSpPr>
            <a:spLocks noGrp="1"/>
          </p:cNvSpPr>
          <p:nvPr>
            <p:ph type="body" sz="half" idx="1"/>
          </p:nvPr>
        </p:nvSpPr>
        <p:spPr>
          <a:xfrm>
            <a:off x="179388" y="1412875"/>
            <a:ext cx="8675687" cy="3373438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dirty="0"/>
              <a:t>［例</a:t>
            </a:r>
            <a:r>
              <a:rPr lang="en-US" altLang="zh-CN" dirty="0"/>
              <a:t>2</a:t>
            </a:r>
            <a:r>
              <a:rPr lang="zh-CN" altLang="en-US" dirty="0"/>
              <a:t>］</a:t>
            </a:r>
            <a:r>
              <a:rPr lang="en-US" altLang="zh-CN" dirty="0"/>
              <a:t> </a:t>
            </a:r>
            <a:r>
              <a:rPr lang="zh-CN" altLang="en-US" dirty="0"/>
              <a:t>：学生、课程、学生与课程之间的多对多联系。</a:t>
            </a:r>
            <a:endParaRPr lang="zh-CN" altLang="en-US" sz="2400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     学生（</a:t>
            </a:r>
            <a:r>
              <a:rPr lang="zh-CN" altLang="en-US" u="sng" dirty="0">
                <a:solidFill>
                  <a:schemeClr val="hlink"/>
                </a:solidFill>
              </a:rPr>
              <a:t>学号</a:t>
            </a:r>
            <a:r>
              <a:rPr lang="zh-CN" altLang="en-US" dirty="0"/>
              <a:t>，姓名，性别，专业号，年龄）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     课程（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，课程名，学分）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     选修（</a:t>
            </a:r>
            <a:r>
              <a:rPr lang="zh-CN" altLang="en-US" u="sng" dirty="0">
                <a:solidFill>
                  <a:schemeClr val="hlink"/>
                </a:solidFill>
              </a:rPr>
              <a:t>学号</a:t>
            </a:r>
            <a:r>
              <a:rPr lang="zh-CN" altLang="en-US" dirty="0"/>
              <a:t>，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，成绩）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外码，参照关系，被参照关系？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  <a:buNone/>
            </a:pPr>
            <a:endParaRPr lang="zh-CN" altLang="en-US" dirty="0"/>
          </a:p>
          <a:p>
            <a:pPr algn="just" eaLnBrk="1" hangingPunct="1">
              <a:buNone/>
            </a:pPr>
            <a:endParaRPr lang="en-US" altLang="zh-CN" sz="24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外码</a:t>
            </a:r>
            <a:r>
              <a:rPr lang="en-US" altLang="zh-CN" sz="3200" dirty="0"/>
              <a:t>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  <a:endParaRPr lang="en-US" altLang="zh-CN" sz="3200" dirty="0"/>
          </a:p>
        </p:txBody>
      </p:sp>
      <p:sp>
        <p:nvSpPr>
          <p:cNvPr id="40963" name="Rectangle 3"/>
          <p:cNvSpPr>
            <a:spLocks noGrp="1"/>
          </p:cNvSpPr>
          <p:nvPr>
            <p:ph type="body" sz="half" idx="1"/>
          </p:nvPr>
        </p:nvSpPr>
        <p:spPr>
          <a:xfrm>
            <a:off x="500063" y="1214438"/>
            <a:ext cx="8291512" cy="2428875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/>
              <a:t>［例</a:t>
            </a:r>
            <a:r>
              <a:rPr lang="en-US" altLang="zh-CN" dirty="0"/>
              <a:t>3</a:t>
            </a:r>
            <a:r>
              <a:rPr lang="zh-CN" altLang="en-US" dirty="0"/>
              <a:t>］</a:t>
            </a:r>
            <a:r>
              <a:rPr lang="en-US" altLang="zh-CN" dirty="0"/>
              <a:t>  </a:t>
            </a:r>
            <a:r>
              <a:rPr lang="zh-CN" altLang="en-US" dirty="0"/>
              <a:t>学生实体及其内部的领导联系</a:t>
            </a:r>
            <a:r>
              <a:rPr lang="en-US" altLang="zh-CN" dirty="0"/>
              <a:t>(</a:t>
            </a:r>
            <a:r>
              <a:rPr lang="zh-CN" altLang="en-US" dirty="0"/>
              <a:t>一对多</a:t>
            </a:r>
            <a:r>
              <a:rPr lang="en-US" altLang="zh-CN" dirty="0"/>
              <a:t>)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algn="just" eaLnBrk="1" hangingPunct="1">
              <a:lnSpc>
                <a:spcPct val="150000"/>
              </a:lnSpc>
              <a:spcBef>
                <a:spcPct val="4000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/>
              <a:t>学生（</a:t>
            </a:r>
            <a:r>
              <a:rPr lang="zh-CN" altLang="en-US" u="sng" dirty="0">
                <a:solidFill>
                  <a:srgbClr val="3333FF"/>
                </a:solidFill>
              </a:rPr>
              <a:t>学号</a:t>
            </a:r>
            <a:r>
              <a:rPr lang="zh-CN" altLang="en-US" dirty="0"/>
              <a:t>，姓名，性别，专业号，年龄，</a:t>
            </a:r>
            <a:r>
              <a:rPr lang="zh-CN" altLang="en-US" dirty="0">
                <a:solidFill>
                  <a:srgbClr val="3333FF"/>
                </a:solidFill>
              </a:rPr>
              <a:t>班长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/>
              <a:t>外码，参照关系，被参照关系？</a:t>
            </a:r>
            <a:endParaRPr lang="zh-CN" altLang="en-US" dirty="0"/>
          </a:p>
        </p:txBody>
      </p:sp>
      <p:graphicFrame>
        <p:nvGraphicFramePr>
          <p:cNvPr id="393220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2484438" y="3644900"/>
          <a:ext cx="3527425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10058400" imgH="5905500" progId="Photoshop.Image.7">
                  <p:embed/>
                </p:oleObj>
              </mc:Choice>
              <mc:Fallback>
                <p:oleObj name="" r:id="rId1" imgW="10058400" imgH="5905500" progId="Photoshop.Image.7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484438" y="3644900"/>
                        <a:ext cx="3527425" cy="20716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外码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xfrm>
            <a:off x="395288" y="1268413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3333FF"/>
                </a:solidFill>
              </a:rPr>
              <a:t>说明：</a:t>
            </a:r>
            <a:endParaRPr lang="zh-CN" altLang="en-US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/>
              <a:t>关系</a:t>
            </a:r>
            <a:r>
              <a:rPr lang="en-US" altLang="zh-CN" b="1" i="1" dirty="0"/>
              <a:t>R</a:t>
            </a:r>
            <a:r>
              <a:rPr lang="zh-CN" altLang="en-US" b="1" dirty="0"/>
              <a:t>和</a:t>
            </a:r>
            <a:r>
              <a:rPr lang="en-US" altLang="zh-CN" b="1" i="1" dirty="0"/>
              <a:t>S</a:t>
            </a:r>
            <a:r>
              <a:rPr lang="zh-CN" altLang="en-US" b="1" dirty="0"/>
              <a:t>不一定是不同的关系。</a:t>
            </a:r>
            <a:endParaRPr lang="zh-CN" altLang="en-US" b="1" dirty="0"/>
          </a:p>
          <a:p>
            <a:pPr eaLnBrk="1" hangingPunct="1">
              <a:lnSpc>
                <a:spcPct val="130000"/>
              </a:lnSpc>
            </a:pPr>
            <a:r>
              <a:rPr lang="zh-CN" altLang="en-US" b="1" dirty="0"/>
              <a:t>目标关系</a:t>
            </a:r>
            <a:r>
              <a:rPr lang="en-US" altLang="zh-CN" b="1" i="1" dirty="0"/>
              <a:t>S</a:t>
            </a:r>
            <a:r>
              <a:rPr lang="zh-CN" altLang="en-US" b="1" dirty="0"/>
              <a:t>的主码</a:t>
            </a:r>
            <a:r>
              <a:rPr lang="en-US" altLang="zh-CN" b="1" dirty="0"/>
              <a:t>K</a:t>
            </a:r>
            <a:r>
              <a:rPr lang="en-US" altLang="zh-CN" b="1" baseline="-25000" dirty="0"/>
              <a:t>s </a:t>
            </a:r>
            <a:r>
              <a:rPr lang="zh-CN" altLang="en-US" b="1" dirty="0"/>
              <a:t>和参照关系的外码</a:t>
            </a:r>
            <a:r>
              <a:rPr lang="en-US" altLang="zh-CN" b="1" dirty="0"/>
              <a:t>F</a:t>
            </a:r>
            <a:r>
              <a:rPr lang="zh-CN" altLang="en-US" b="1" dirty="0"/>
              <a:t>必须定义在</a:t>
            </a:r>
            <a:r>
              <a:rPr lang="zh-CN" altLang="en-US" b="1" dirty="0">
                <a:solidFill>
                  <a:srgbClr val="FF0000"/>
                </a:solidFill>
              </a:rPr>
              <a:t>同一个（或一组）域</a:t>
            </a:r>
            <a:r>
              <a:rPr lang="zh-CN" altLang="en-US" b="1" dirty="0"/>
              <a:t>上。</a:t>
            </a:r>
            <a:endParaRPr lang="zh-CN" altLang="en-US" b="1" dirty="0"/>
          </a:p>
          <a:p>
            <a:pPr eaLnBrk="1" hangingPunct="1">
              <a:lnSpc>
                <a:spcPct val="130000"/>
              </a:lnSpc>
            </a:pPr>
            <a:r>
              <a:rPr lang="zh-CN" altLang="en-US" b="1" dirty="0"/>
              <a:t>外码并</a:t>
            </a:r>
            <a:r>
              <a:rPr lang="zh-CN" altLang="en-US" b="1" dirty="0">
                <a:solidFill>
                  <a:srgbClr val="FF0000"/>
                </a:solidFill>
              </a:rPr>
              <a:t>不一定</a:t>
            </a:r>
            <a:r>
              <a:rPr lang="zh-CN" altLang="en-US" b="1" dirty="0"/>
              <a:t>要与相应的主码</a:t>
            </a:r>
            <a:r>
              <a:rPr lang="zh-CN" altLang="en-US" b="1" dirty="0">
                <a:solidFill>
                  <a:srgbClr val="FF0000"/>
                </a:solidFill>
              </a:rPr>
              <a:t>同名</a:t>
            </a:r>
            <a:r>
              <a:rPr lang="zh-CN" altLang="en-US" b="1" dirty="0"/>
              <a:t>，当外码与相应的主码属于不同关系时，往往取相同的名字，以便于识别。</a:t>
            </a:r>
            <a:endParaRPr lang="zh-CN" altLang="en-US" b="1" dirty="0"/>
          </a:p>
        </p:txBody>
      </p:sp>
    </p:spTree>
  </p:cSld>
  <p:clrMapOvr>
    <a:masterClrMapping/>
  </p:clrMapOvr>
  <p:transition advClick="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3. </a:t>
            </a:r>
            <a:r>
              <a:rPr lang="zh-CN" altLang="en-US" dirty="0"/>
              <a:t>参照完整性规则</a:t>
            </a:r>
            <a:endParaRPr lang="zh-CN" altLang="en-US" dirty="0"/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40000"/>
              </a:lnSpc>
            </a:pPr>
            <a:r>
              <a:rPr lang="zh-CN" altLang="en-US" b="1" dirty="0"/>
              <a:t>参照完整性规则：若属性（或属性组）</a:t>
            </a:r>
            <a:r>
              <a:rPr lang="en-US" altLang="zh-CN" b="1" i="1" dirty="0"/>
              <a:t>F</a:t>
            </a:r>
            <a:r>
              <a:rPr lang="zh-CN" altLang="en-US" b="1" dirty="0"/>
              <a:t>是基本关系</a:t>
            </a:r>
            <a:r>
              <a:rPr lang="en-US" altLang="zh-CN" b="1" i="1" dirty="0"/>
              <a:t>R</a:t>
            </a:r>
            <a:r>
              <a:rPr lang="zh-CN" altLang="en-US" b="1" dirty="0"/>
              <a:t>的外码，它与基本关系</a:t>
            </a:r>
            <a:r>
              <a:rPr lang="en-US" altLang="zh-CN" b="1" i="1" dirty="0"/>
              <a:t>S</a:t>
            </a:r>
            <a:r>
              <a:rPr lang="zh-CN" altLang="en-US" b="1" dirty="0"/>
              <a:t>的主码</a:t>
            </a:r>
            <a:r>
              <a:rPr lang="en-US" altLang="zh-CN" b="1" dirty="0"/>
              <a:t>K</a:t>
            </a:r>
            <a:r>
              <a:rPr lang="en-US" altLang="zh-CN" b="1" baseline="-25000" dirty="0"/>
              <a:t>s</a:t>
            </a:r>
            <a:r>
              <a:rPr lang="zh-CN" altLang="en-US" b="1" dirty="0"/>
              <a:t>相对应（基本关系</a:t>
            </a:r>
            <a:r>
              <a:rPr lang="en-US" altLang="zh-CN" b="1" i="1" dirty="0"/>
              <a:t>R</a:t>
            </a:r>
            <a:r>
              <a:rPr lang="zh-CN" altLang="en-US" b="1" dirty="0"/>
              <a:t>和</a:t>
            </a:r>
            <a:r>
              <a:rPr lang="en-US" altLang="zh-CN" b="1" i="1" dirty="0"/>
              <a:t>S</a:t>
            </a:r>
            <a:r>
              <a:rPr lang="zh-CN" altLang="en-US" b="1" dirty="0"/>
              <a:t>不一定是不同的关系），则对于</a:t>
            </a:r>
            <a:r>
              <a:rPr lang="en-US" altLang="zh-CN" b="1" i="1" dirty="0"/>
              <a:t>R</a:t>
            </a:r>
            <a:r>
              <a:rPr lang="zh-CN" altLang="en-US" b="1" dirty="0"/>
              <a:t>中每个元组在</a:t>
            </a:r>
            <a:r>
              <a:rPr lang="en-US" altLang="zh-CN" b="1" i="1" dirty="0"/>
              <a:t>F</a:t>
            </a:r>
            <a:r>
              <a:rPr lang="zh-CN" altLang="en-US" b="1" dirty="0"/>
              <a:t>上的值必须为：</a:t>
            </a:r>
            <a:endParaRPr lang="zh-CN" altLang="en-US" b="1" dirty="0"/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rgbClr val="3333FF"/>
                </a:solidFill>
                <a:sym typeface="Symbol" panose="05050102010706020507" pitchFamily="18" charset="2"/>
              </a:rPr>
              <a:t></a:t>
            </a:r>
            <a:r>
              <a:rPr lang="zh-CN" altLang="en-US" b="1" dirty="0">
                <a:solidFill>
                  <a:srgbClr val="3333FF"/>
                </a:solidFill>
              </a:rPr>
              <a:t> 或者取空值（</a:t>
            </a:r>
            <a:r>
              <a:rPr lang="en-US" altLang="zh-CN" b="1" i="1" dirty="0">
                <a:solidFill>
                  <a:srgbClr val="3333FF"/>
                </a:solidFill>
              </a:rPr>
              <a:t>F</a:t>
            </a:r>
            <a:r>
              <a:rPr lang="zh-CN" altLang="en-US" b="1" dirty="0">
                <a:solidFill>
                  <a:srgbClr val="3333FF"/>
                </a:solidFill>
              </a:rPr>
              <a:t>的每个属性值均为空值）</a:t>
            </a:r>
            <a:endParaRPr lang="zh-CN" altLang="en-US" b="1" dirty="0">
              <a:solidFill>
                <a:srgbClr val="3333FF"/>
              </a:solidFill>
            </a:endParaRPr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rgbClr val="3333FF"/>
                </a:solidFill>
                <a:sym typeface="Symbol" panose="05050102010706020507" pitchFamily="18" charset="2"/>
              </a:rPr>
              <a:t></a:t>
            </a:r>
            <a:r>
              <a:rPr lang="zh-CN" altLang="en-US" b="1" dirty="0">
                <a:solidFill>
                  <a:srgbClr val="3333FF"/>
                </a:solidFill>
              </a:rPr>
              <a:t> 或者等于</a:t>
            </a:r>
            <a:r>
              <a:rPr lang="en-US" altLang="zh-CN" b="1" i="1" dirty="0">
                <a:solidFill>
                  <a:srgbClr val="3333FF"/>
                </a:solidFill>
              </a:rPr>
              <a:t>S</a:t>
            </a:r>
            <a:r>
              <a:rPr lang="zh-CN" altLang="en-US" b="1" dirty="0">
                <a:solidFill>
                  <a:srgbClr val="3333FF"/>
                </a:solidFill>
              </a:rPr>
              <a:t>中某个元组的主码值。</a:t>
            </a:r>
            <a:endParaRPr lang="zh-CN" altLang="en-US" b="1" dirty="0">
              <a:solidFill>
                <a:srgbClr val="3333FF"/>
              </a:solidFill>
            </a:endParaRPr>
          </a:p>
        </p:txBody>
      </p:sp>
    </p:spTree>
  </p:cSld>
  <p:clrMapOvr>
    <a:masterClrMapping/>
  </p:clrMapOvr>
  <p:transition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参照完整性规则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xfrm>
            <a:off x="395288" y="1196975"/>
            <a:ext cx="8208962" cy="511175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：学生关系中每个元组的</a:t>
            </a:r>
            <a:r>
              <a:rPr lang="zh-CN" altLang="en-US" dirty="0">
                <a:solidFill>
                  <a:srgbClr val="3333FF"/>
                </a:solidFill>
              </a:rPr>
              <a:t>“专业号”</a:t>
            </a:r>
            <a:r>
              <a:rPr lang="zh-CN" altLang="en-US" dirty="0"/>
              <a:t>属性只取下面两类值：</a:t>
            </a:r>
            <a:endParaRPr lang="en-US" altLang="zh-CN" dirty="0"/>
          </a:p>
          <a:p>
            <a:pPr algn="just">
              <a:lnSpc>
                <a:spcPct val="150000"/>
              </a:lnSpc>
              <a:buNone/>
            </a:pPr>
            <a:r>
              <a:rPr lang="en-US" altLang="zh-CN" dirty="0"/>
              <a:t>	</a:t>
            </a:r>
            <a:r>
              <a:rPr lang="zh-CN" altLang="en-US" dirty="0"/>
              <a:t>学生（</a:t>
            </a:r>
            <a:r>
              <a:rPr lang="zh-CN" altLang="en-US" u="sng" dirty="0"/>
              <a:t>学号</a:t>
            </a:r>
            <a:r>
              <a:rPr lang="zh-CN" altLang="en-US" dirty="0"/>
              <a:t>，姓名，性别，</a:t>
            </a:r>
            <a:r>
              <a:rPr lang="zh-CN" altLang="en-US" dirty="0">
                <a:solidFill>
                  <a:srgbClr val="3333FF"/>
                </a:solidFill>
              </a:rPr>
              <a:t>专业号</a:t>
            </a:r>
            <a:r>
              <a:rPr lang="zh-CN" altLang="en-US" dirty="0"/>
              <a:t>，年龄）</a:t>
            </a:r>
            <a:endParaRPr lang="zh-CN" altLang="en-US" dirty="0"/>
          </a:p>
          <a:p>
            <a:pPr algn="just">
              <a:lnSpc>
                <a:spcPct val="150000"/>
              </a:lnSpc>
              <a:buNone/>
            </a:pPr>
            <a:r>
              <a:rPr lang="en-US" altLang="zh-CN" dirty="0"/>
              <a:t>	</a:t>
            </a:r>
            <a:r>
              <a:rPr lang="zh-CN" altLang="en-US" dirty="0"/>
              <a:t>专业（</a:t>
            </a:r>
            <a:r>
              <a:rPr lang="zh-CN" altLang="en-US" dirty="0">
                <a:solidFill>
                  <a:srgbClr val="3333FF"/>
                </a:solidFill>
              </a:rPr>
              <a:t>专业号</a:t>
            </a:r>
            <a:r>
              <a:rPr lang="zh-CN" altLang="en-US" dirty="0"/>
              <a:t>，专业名）</a:t>
            </a:r>
            <a:endParaRPr lang="zh-CN" altLang="en-US" dirty="0"/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b="1" dirty="0">
                <a:solidFill>
                  <a:srgbClr val="3333FF"/>
                </a:solidFill>
              </a:rPr>
              <a:t>空值</a:t>
            </a:r>
            <a:r>
              <a:rPr lang="zh-CN" altLang="en-US" dirty="0"/>
              <a:t>，表示尚未给该学生分配专业。</a:t>
            </a:r>
            <a:endParaRPr lang="zh-CN" altLang="en-US" dirty="0"/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）非空值，这时该值必须</a:t>
            </a:r>
            <a:r>
              <a:rPr lang="zh-CN" altLang="en-US" b="1" dirty="0">
                <a:solidFill>
                  <a:srgbClr val="3333FF"/>
                </a:solidFill>
              </a:rPr>
              <a:t>是专业关系中某个元组的“专业号”值</a:t>
            </a:r>
            <a:r>
              <a:rPr lang="zh-CN" altLang="en-US" b="1" dirty="0"/>
              <a:t>，</a:t>
            </a:r>
            <a:r>
              <a:rPr lang="zh-CN" altLang="en-US" dirty="0"/>
              <a:t>表示该学生不可能分配到一个不存在的专业中。</a:t>
            </a:r>
            <a:endParaRPr lang="zh-CN" alt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0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0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charRg st="29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0">
                                            <p:txEl>
                                              <p:charRg st="29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0">
                                            <p:txEl>
                                              <p:charRg st="29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charRg st="50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60">
                                            <p:txEl>
                                              <p:charRg st="50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60">
                                            <p:txEl>
                                              <p:charRg st="50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charRg st="63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60">
                                            <p:txEl>
                                              <p:charRg st="63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060">
                                            <p:txEl>
                                              <p:charRg st="63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charRg st="83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60">
                                            <p:txEl>
                                              <p:charRg st="83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060">
                                            <p:txEl>
                                              <p:charRg st="83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参照完整性规则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/>
              <a:t> </a:t>
            </a:r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：选修（</a:t>
            </a:r>
            <a:r>
              <a:rPr lang="zh-CN" altLang="en-US" u="sng" dirty="0">
                <a:solidFill>
                  <a:schemeClr val="hlink"/>
                </a:solidFill>
              </a:rPr>
              <a:t>学号</a:t>
            </a:r>
            <a:r>
              <a:rPr lang="zh-CN" altLang="en-US" dirty="0"/>
              <a:t>，</a:t>
            </a:r>
            <a:r>
              <a:rPr lang="zh-CN" altLang="en-US" u="sng" dirty="0">
                <a:solidFill>
                  <a:srgbClr val="3333FF"/>
                </a:solidFill>
              </a:rPr>
              <a:t>课程号</a:t>
            </a:r>
            <a:r>
              <a:rPr lang="zh-CN" altLang="en-US" dirty="0"/>
              <a:t>，成绩）</a:t>
            </a:r>
            <a:endParaRPr lang="zh-CN" altLang="en-US" dirty="0"/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dirty="0"/>
              <a:t>    “学号”和“课程号”是选修关系中的主属性，按照实体完整性和参照完整性规则，它们只能取相应被参照关系中已经存在的主码值。不能为空。</a:t>
            </a:r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lvl="1" algn="just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4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4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18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4">
                                            <p:txEl>
                                              <p:charRg st="18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4">
                                            <p:txEl>
                                              <p:charRg st="18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参照完整性规则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250825" y="1412875"/>
            <a:ext cx="8713788" cy="452596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：学生（</a:t>
            </a:r>
            <a:r>
              <a:rPr lang="zh-CN" altLang="en-US" u="sng" dirty="0">
                <a:solidFill>
                  <a:srgbClr val="3333FF"/>
                </a:solidFill>
              </a:rPr>
              <a:t>学号</a:t>
            </a:r>
            <a:r>
              <a:rPr lang="zh-CN" altLang="en-US" dirty="0"/>
              <a:t>，姓名，性别，专业号，年龄，</a:t>
            </a:r>
            <a:r>
              <a:rPr lang="zh-CN" altLang="en-US" dirty="0">
                <a:solidFill>
                  <a:srgbClr val="3333FF"/>
                </a:solidFill>
              </a:rPr>
              <a:t>班长</a:t>
            </a:r>
            <a:r>
              <a:rPr lang="zh-CN" altLang="en-US" dirty="0"/>
              <a:t>）</a:t>
            </a:r>
            <a:endParaRPr lang="zh-CN" altLang="en-US" sz="3600" dirty="0"/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dirty="0"/>
              <a:t>“班长”属性值可以取两类值：</a:t>
            </a:r>
            <a:endParaRPr lang="zh-CN" altLang="en-US" dirty="0"/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）空值，表示该学生所在班级尚未选出班长，或该学生本人即是班长；</a:t>
            </a:r>
            <a:endParaRPr lang="zh-CN" altLang="en-US" dirty="0"/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）非空值，这时该值必须是本关系中某个元组的学号值。</a:t>
            </a:r>
            <a:endParaRPr lang="zh-CN" altLang="en-US" sz="32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8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8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26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8">
                                            <p:txEl>
                                              <p:charRg st="26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8">
                                            <p:txEl>
                                              <p:charRg st="26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41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8">
                                            <p:txEl>
                                              <p:charRg st="41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8">
                                            <p:txEl>
                                              <p:charRg st="41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75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8">
                                            <p:txEl>
                                              <p:charRg st="75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8">
                                            <p:txEl>
                                              <p:charRg st="75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2.3.3 </a:t>
            </a:r>
            <a:r>
              <a:rPr lang="zh-CN" altLang="en-US" dirty="0"/>
              <a:t>用户定义的完整性</a:t>
            </a:r>
            <a:endParaRPr lang="zh-CN" altLang="en-US" dirty="0"/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250825" y="1268413"/>
            <a:ext cx="8569325" cy="4752975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用户定义的完整性</a:t>
            </a:r>
            <a:r>
              <a:rPr lang="zh-CN" altLang="en-US" dirty="0"/>
              <a:t>是针对某一具体关系数据库的约束条件，反映某一</a:t>
            </a:r>
            <a:r>
              <a:rPr lang="zh-CN" altLang="en-US" dirty="0">
                <a:solidFill>
                  <a:srgbClr val="FF0000"/>
                </a:solidFill>
              </a:rPr>
              <a:t>具体应用</a:t>
            </a:r>
            <a:r>
              <a:rPr lang="zh-CN" altLang="en-US" dirty="0"/>
              <a:t>所涉及的数据必须满足的</a:t>
            </a:r>
            <a:r>
              <a:rPr lang="zh-CN" altLang="en-US" dirty="0">
                <a:solidFill>
                  <a:srgbClr val="FF0000"/>
                </a:solidFill>
              </a:rPr>
              <a:t>语义要求</a:t>
            </a:r>
            <a:r>
              <a:rPr lang="zh-CN" altLang="en-US" dirty="0"/>
              <a:t>。</a:t>
            </a:r>
            <a:endParaRPr lang="zh-CN" altLang="en-US" dirty="0"/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/>
              <a:t>关系模型应提供定义和检验这类完整性的机制，以便用统一的系统的方法处理它们，而</a:t>
            </a:r>
            <a:r>
              <a:rPr lang="zh-CN" altLang="en-US" dirty="0">
                <a:solidFill>
                  <a:srgbClr val="FF0000"/>
                </a:solidFill>
              </a:rPr>
              <a:t>不要由应用程序承担</a:t>
            </a:r>
            <a:r>
              <a:rPr lang="zh-CN" altLang="en-US" dirty="0"/>
              <a:t>这一功能。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用户定义的完整性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48132" name="Rectangle 3"/>
          <p:cNvSpPr>
            <a:spLocks noGrp="1"/>
          </p:cNvSpPr>
          <p:nvPr>
            <p:ph idx="1"/>
          </p:nvPr>
        </p:nvSpPr>
        <p:spPr>
          <a:xfrm>
            <a:off x="395288" y="1412875"/>
            <a:ext cx="8229600" cy="4525963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dirty="0"/>
              <a:t>例</a:t>
            </a:r>
            <a:r>
              <a:rPr lang="en-US" altLang="zh-CN" dirty="0"/>
              <a:t>:</a:t>
            </a:r>
            <a:endParaRPr lang="en-US" altLang="zh-CN" dirty="0"/>
          </a:p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学生</a:t>
            </a:r>
            <a:r>
              <a:rPr lang="en-US" altLang="zh-CN" dirty="0"/>
              <a:t>(</a:t>
            </a:r>
            <a:r>
              <a:rPr lang="zh-CN" altLang="en-US" u="sng" dirty="0"/>
              <a:t>学号</a:t>
            </a:r>
            <a:r>
              <a:rPr lang="zh-CN" altLang="en-US" dirty="0"/>
              <a:t>，姓名，性别，身份证号，年龄</a:t>
            </a:r>
            <a:r>
              <a:rPr lang="en-US" altLang="zh-CN" dirty="0"/>
              <a:t>)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“身份证号” 属性必须取唯一值，</a:t>
            </a:r>
            <a:r>
              <a:rPr lang="en-US" altLang="zh-CN" dirty="0"/>
              <a:t>UNIQUE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非主属性“姓名”也不能取空值，</a:t>
            </a:r>
            <a:r>
              <a:rPr lang="en-US" altLang="zh-CN" dirty="0"/>
              <a:t>NOT NULL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年龄</a:t>
            </a:r>
            <a:r>
              <a:rPr lang="en-US" altLang="zh-CN" dirty="0"/>
              <a:t>18—60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性别只能取值</a:t>
            </a:r>
            <a:r>
              <a:rPr lang="en-US" altLang="zh-CN" dirty="0"/>
              <a:t>{</a:t>
            </a:r>
            <a:r>
              <a:rPr lang="zh-CN" altLang="en-US" dirty="0"/>
              <a:t>男，女</a:t>
            </a:r>
            <a:r>
              <a:rPr lang="en-US" altLang="zh-CN" dirty="0"/>
              <a:t>}</a:t>
            </a:r>
            <a:endParaRPr lang="en-US" altLang="zh-CN" dirty="0"/>
          </a:p>
        </p:txBody>
      </p:sp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2.3 </a:t>
            </a:r>
            <a:r>
              <a:rPr lang="zh-CN" altLang="en-US" dirty="0"/>
              <a:t>关系完整性</a:t>
            </a:r>
            <a:endParaRPr lang="zh-CN" altLang="en-US" dirty="0"/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323850" y="1389063"/>
            <a:ext cx="8515350" cy="1582737"/>
          </a:xfrm>
          <a:ln/>
        </p:spPr>
        <p:txBody>
          <a:bodyPr vert="horz" wrap="square" lIns="91440" tIns="45720" rIns="91440" bIns="45720" anchor="t" anchorCtr="0"/>
          <a:p>
            <a:pPr marL="457200" indent="-457200"/>
            <a:r>
              <a:rPr lang="zh-CN" altLang="en-US" sz="3200" dirty="0"/>
              <a:t>完整性规则检查</a:t>
            </a:r>
            <a:endParaRPr lang="zh-CN" altLang="en-US" sz="3200" dirty="0"/>
          </a:p>
          <a:p>
            <a:pPr marL="838200" lvl="1" indent="-381000"/>
            <a:r>
              <a:rPr lang="zh-CN" altLang="en-US" sz="2400" dirty="0"/>
              <a:t>为了维护数据库中数据的完整性，在对关系数据库执行</a:t>
            </a:r>
            <a:r>
              <a:rPr lang="zh-CN" altLang="en-US" sz="2400" dirty="0">
                <a:solidFill>
                  <a:srgbClr val="FF0000"/>
                </a:solidFill>
              </a:rPr>
              <a:t>插入、删除和修改</a:t>
            </a:r>
            <a:r>
              <a:rPr lang="zh-CN" altLang="en-US" sz="2400" dirty="0"/>
              <a:t>操作时，要检查是否满足完整性规则。  </a:t>
            </a:r>
            <a:endParaRPr lang="zh-CN" altLang="en-US" sz="2400" dirty="0"/>
          </a:p>
          <a:p>
            <a:pPr marL="838200" lvl="1" indent="-381000">
              <a:buNone/>
            </a:pPr>
            <a:endParaRPr lang="en-US" altLang="zh-CN" sz="2000" dirty="0"/>
          </a:p>
        </p:txBody>
      </p:sp>
      <p:sp>
        <p:nvSpPr>
          <p:cNvPr id="49156" name="AutoShape 5"/>
          <p:cNvSpPr/>
          <p:nvPr/>
        </p:nvSpPr>
        <p:spPr>
          <a:xfrm>
            <a:off x="1071563" y="2857500"/>
            <a:ext cx="7929562" cy="1125538"/>
          </a:xfrm>
          <a:prstGeom prst="roundRect">
            <a:avLst>
              <a:gd name="adj" fmla="val 9106"/>
            </a:avLst>
          </a:prstGeom>
          <a:solidFill>
            <a:srgbClr val="FFFF00"/>
          </a:solidFill>
          <a:ln w="254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lvl="1" eaLnBrk="1" hangingPunct="1"/>
            <a:endParaRPr lang="zh-CN" altLang="de-DE" sz="1700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 lvl="1" eaLnBrk="1" hangingPunct="1"/>
            <a:r>
              <a:rPr lang="zh-CN" altLang="de-DE" sz="2400" dirty="0">
                <a:solidFill>
                  <a:srgbClr val="333333"/>
                </a:solidFill>
                <a:latin typeface="Verdana" panose="020B0604030504040204" pitchFamily="34" charset="0"/>
                <a:ea typeface="经典平黑简"/>
              </a:rPr>
              <a:t>实体完整性规则：检查主码属性上的值是否已经存在。</a:t>
            </a:r>
            <a:endParaRPr lang="zh-CN" altLang="de-DE" sz="2400" dirty="0">
              <a:solidFill>
                <a:srgbClr val="333333"/>
              </a:solidFill>
              <a:latin typeface="Verdana" panose="020B0604030504040204" pitchFamily="34" charset="0"/>
              <a:ea typeface="经典平黑简"/>
            </a:endParaRPr>
          </a:p>
          <a:p>
            <a:pPr lvl="1" eaLnBrk="1" hangingPunct="1"/>
            <a:r>
              <a:rPr lang="zh-CN" altLang="de-DE" sz="2400" dirty="0">
                <a:solidFill>
                  <a:srgbClr val="333333"/>
                </a:solidFill>
                <a:latin typeface="Verdana" panose="020B0604030504040204" pitchFamily="34" charset="0"/>
                <a:ea typeface="经典平黑简"/>
              </a:rPr>
              <a:t>若不存在，可以执行插入操作，否则不能执行插入操</a:t>
            </a:r>
            <a:endParaRPr lang="zh-CN" altLang="de-DE" sz="2400" dirty="0">
              <a:solidFill>
                <a:srgbClr val="333333"/>
              </a:solidFill>
              <a:latin typeface="Verdana" panose="020B0604030504040204" pitchFamily="34" charset="0"/>
              <a:ea typeface="经典平黑简"/>
            </a:endParaRPr>
          </a:p>
          <a:p>
            <a:pPr lvl="1" eaLnBrk="1" hangingPunct="1"/>
            <a:r>
              <a:rPr lang="zh-CN" altLang="de-DE" sz="2400" dirty="0">
                <a:solidFill>
                  <a:srgbClr val="333333"/>
                </a:solidFill>
                <a:latin typeface="Verdana" panose="020B0604030504040204" pitchFamily="34" charset="0"/>
                <a:ea typeface="经典平黑简"/>
              </a:rPr>
              <a:t>作。</a:t>
            </a:r>
            <a:endParaRPr lang="zh-CN" altLang="de-DE" sz="2400" dirty="0">
              <a:solidFill>
                <a:srgbClr val="333333"/>
              </a:solidFill>
              <a:latin typeface="Verdana" panose="020B0604030504040204" pitchFamily="34" charset="0"/>
              <a:ea typeface="经典平黑简"/>
            </a:endParaRPr>
          </a:p>
          <a:p>
            <a:endParaRPr lang="en-US" altLang="zh-CN" sz="1700" dirty="0">
              <a:solidFill>
                <a:schemeClr val="bg1"/>
              </a:solidFill>
              <a:latin typeface="Verdana" panose="020B0604030504040204" pitchFamily="34" charset="0"/>
              <a:ea typeface="经典平黑简"/>
            </a:endParaRPr>
          </a:p>
        </p:txBody>
      </p:sp>
      <p:sp>
        <p:nvSpPr>
          <p:cNvPr id="49157" name="AutoShape 6"/>
          <p:cNvSpPr/>
          <p:nvPr/>
        </p:nvSpPr>
        <p:spPr>
          <a:xfrm>
            <a:off x="1071563" y="4071938"/>
            <a:ext cx="7929562" cy="1214437"/>
          </a:xfrm>
          <a:prstGeom prst="roundRect">
            <a:avLst>
              <a:gd name="adj" fmla="val 9106"/>
            </a:avLst>
          </a:prstGeom>
          <a:solidFill>
            <a:srgbClr val="00FFFF"/>
          </a:solidFill>
          <a:ln w="254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0"/>
          <a:p>
            <a:pPr lvl="1" eaLnBrk="1" hangingPunct="1"/>
            <a:endParaRPr lang="zh-CN" altLang="de-DE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 lvl="1" eaLnBrk="1" hangingPunct="1"/>
            <a:r>
              <a:rPr lang="zh-CN" altLang="de-DE" sz="2400" dirty="0">
                <a:solidFill>
                  <a:srgbClr val="333333"/>
                </a:solidFill>
                <a:latin typeface="Verdana" panose="020B0604030504040204" pitchFamily="34" charset="0"/>
                <a:ea typeface="经典平黑简"/>
              </a:rPr>
              <a:t>参照完整性规则：向参照关系插入，检查外码属性</a:t>
            </a:r>
            <a:endParaRPr lang="zh-CN" altLang="de-DE" sz="2400" dirty="0">
              <a:solidFill>
                <a:srgbClr val="333333"/>
              </a:solidFill>
              <a:latin typeface="Verdana" panose="020B0604030504040204" pitchFamily="34" charset="0"/>
              <a:ea typeface="经典平黑简"/>
            </a:endParaRPr>
          </a:p>
          <a:p>
            <a:pPr lvl="1" eaLnBrk="1" hangingPunct="1"/>
            <a:r>
              <a:rPr lang="zh-CN" altLang="de-DE" sz="2400" dirty="0">
                <a:solidFill>
                  <a:srgbClr val="333333"/>
                </a:solidFill>
                <a:latin typeface="Verdana" panose="020B0604030504040204" pitchFamily="34" charset="0"/>
                <a:ea typeface="经典平黑简"/>
              </a:rPr>
              <a:t>上的值是否在被参照关系的主码属性值中存在。若</a:t>
            </a:r>
            <a:endParaRPr lang="zh-CN" altLang="de-DE" sz="2400" dirty="0">
              <a:solidFill>
                <a:srgbClr val="333333"/>
              </a:solidFill>
              <a:latin typeface="Verdana" panose="020B0604030504040204" pitchFamily="34" charset="0"/>
              <a:ea typeface="经典平黑简"/>
            </a:endParaRPr>
          </a:p>
          <a:p>
            <a:pPr lvl="1" eaLnBrk="1" hangingPunct="1"/>
            <a:r>
              <a:rPr lang="zh-CN" altLang="de-DE" sz="2400" dirty="0">
                <a:solidFill>
                  <a:srgbClr val="333333"/>
                </a:solidFill>
                <a:latin typeface="Verdana" panose="020B0604030504040204" pitchFamily="34" charset="0"/>
                <a:ea typeface="经典平黑简"/>
              </a:rPr>
              <a:t>存在，可以执行插入操作，否则不能执行插入操作。</a:t>
            </a:r>
            <a:endParaRPr lang="zh-CN" altLang="de-DE" sz="2400" dirty="0">
              <a:solidFill>
                <a:srgbClr val="333333"/>
              </a:solidFill>
              <a:latin typeface="Verdana" panose="020B0604030504040204" pitchFamily="34" charset="0"/>
              <a:ea typeface="经典平黑简"/>
            </a:endParaRPr>
          </a:p>
          <a:p>
            <a:pPr lvl="1" eaLnBrk="1" hangingPunct="1"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</a:pPr>
            <a:endParaRPr lang="en-US" altLang="zh-CN" dirty="0">
              <a:solidFill>
                <a:schemeClr val="bg1"/>
              </a:solidFill>
              <a:latin typeface="Verdana" panose="020B0604030504040204" pitchFamily="34" charset="0"/>
              <a:ea typeface="经典平黑简"/>
            </a:endParaRPr>
          </a:p>
        </p:txBody>
      </p:sp>
      <p:sp>
        <p:nvSpPr>
          <p:cNvPr id="49158" name="AutoShape 7"/>
          <p:cNvSpPr/>
          <p:nvPr/>
        </p:nvSpPr>
        <p:spPr>
          <a:xfrm>
            <a:off x="1071563" y="5373688"/>
            <a:ext cx="7929562" cy="1198562"/>
          </a:xfrm>
          <a:prstGeom prst="roundRect">
            <a:avLst>
              <a:gd name="adj" fmla="val 9106"/>
            </a:avLst>
          </a:prstGeom>
          <a:solidFill>
            <a:srgbClr val="FFCCCC"/>
          </a:solidFill>
          <a:ln w="254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lvl="1" eaLnBrk="1" hangingPunct="1"/>
            <a:endParaRPr lang="zh-CN" altLang="de-DE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 lvl="1" eaLnBrk="1" hangingPunct="1"/>
            <a:r>
              <a:rPr lang="zh-CN" altLang="de-DE" sz="2400" dirty="0">
                <a:solidFill>
                  <a:srgbClr val="333333"/>
                </a:solidFill>
                <a:latin typeface="经典平黑简"/>
                <a:ea typeface="经典平黑简"/>
              </a:rPr>
              <a:t>户定义完整性规则：检查输入数据是否符合用户定</a:t>
            </a:r>
            <a:endParaRPr lang="zh-CN" altLang="de-DE" sz="2400" dirty="0">
              <a:solidFill>
                <a:srgbClr val="333333"/>
              </a:solidFill>
              <a:latin typeface="经典平黑简"/>
              <a:ea typeface="经典平黑简"/>
            </a:endParaRPr>
          </a:p>
          <a:p>
            <a:pPr lvl="1" eaLnBrk="1" hangingPunct="1"/>
            <a:r>
              <a:rPr lang="zh-CN" altLang="de-DE" sz="2400" dirty="0">
                <a:solidFill>
                  <a:srgbClr val="333333"/>
                </a:solidFill>
                <a:latin typeface="经典平黑简"/>
                <a:ea typeface="经典平黑简"/>
              </a:rPr>
              <a:t>义的完整性规则。若符合，可以执行插入操作，否</a:t>
            </a:r>
            <a:endParaRPr lang="zh-CN" altLang="de-DE" sz="2400" dirty="0">
              <a:solidFill>
                <a:srgbClr val="333333"/>
              </a:solidFill>
              <a:latin typeface="经典平黑简"/>
              <a:ea typeface="经典平黑简"/>
            </a:endParaRPr>
          </a:p>
          <a:p>
            <a:pPr lvl="1" eaLnBrk="1" hangingPunct="1"/>
            <a:r>
              <a:rPr lang="zh-CN" altLang="de-DE" sz="2400" dirty="0">
                <a:solidFill>
                  <a:srgbClr val="333333"/>
                </a:solidFill>
                <a:latin typeface="经典平黑简"/>
                <a:ea typeface="经典平黑简"/>
              </a:rPr>
              <a:t>则不能执行插入操作。</a:t>
            </a:r>
            <a:r>
              <a:rPr lang="zh-CN" altLang="en-US" sz="2400" dirty="0">
                <a:solidFill>
                  <a:schemeClr val="accent2"/>
                </a:solidFill>
                <a:latin typeface="经典平黑简"/>
                <a:ea typeface="经典平黑简"/>
              </a:rPr>
              <a:t> </a:t>
            </a:r>
            <a:r>
              <a:rPr lang="zh-CN" altLang="en-US" sz="2400" dirty="0">
                <a:solidFill>
                  <a:srgbClr val="333333"/>
                </a:solidFill>
                <a:latin typeface="经典平黑简"/>
                <a:ea typeface="经典平黑简"/>
              </a:rPr>
              <a:t>  </a:t>
            </a:r>
            <a:endParaRPr lang="zh-CN" altLang="en-US" sz="2400" dirty="0">
              <a:solidFill>
                <a:srgbClr val="333333"/>
              </a:solidFill>
              <a:latin typeface="经典平黑简"/>
              <a:ea typeface="经典平黑简"/>
            </a:endParaRPr>
          </a:p>
          <a:p>
            <a:pPr lvl="1" eaLnBrk="1" hangingPunct="1">
              <a:lnSpc>
                <a:spcPct val="13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</a:pPr>
            <a:endParaRPr lang="en-US" altLang="zh-CN" dirty="0">
              <a:solidFill>
                <a:schemeClr val="bg1"/>
              </a:solidFill>
              <a:latin typeface="经典平黑简"/>
              <a:ea typeface="经典平黑简"/>
            </a:endParaRPr>
          </a:p>
        </p:txBody>
      </p:sp>
      <p:sp>
        <p:nvSpPr>
          <p:cNvPr id="38920" name="AutoShape 8"/>
          <p:cNvSpPr>
            <a:spLocks noChangeArrowheads="1"/>
          </p:cNvSpPr>
          <p:nvPr/>
        </p:nvSpPr>
        <p:spPr bwMode="auto">
          <a:xfrm>
            <a:off x="71438" y="4000500"/>
            <a:ext cx="785813" cy="1295400"/>
          </a:xfrm>
          <a:prstGeom prst="roundRect">
            <a:avLst>
              <a:gd name="adj" fmla="val 9106"/>
            </a:avLst>
          </a:prstGeom>
          <a:noFill/>
          <a:ln w="25400">
            <a:noFill/>
            <a:round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插入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60" name="左大括号 8"/>
          <p:cNvSpPr/>
          <p:nvPr/>
        </p:nvSpPr>
        <p:spPr>
          <a:xfrm>
            <a:off x="500063" y="3000375"/>
            <a:ext cx="357187" cy="3429000"/>
          </a:xfrm>
          <a:prstGeom prst="leftBrace">
            <a:avLst>
              <a:gd name="adj1" fmla="val 8311"/>
              <a:gd name="adj2" fmla="val 50000"/>
            </a:avLst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2.3 </a:t>
            </a:r>
            <a:r>
              <a:rPr lang="zh-CN" altLang="en-US" dirty="0"/>
              <a:t>关系完整性</a:t>
            </a:r>
            <a:endParaRPr lang="zh-CN" altLang="en-US" dirty="0"/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428625" y="1214438"/>
            <a:ext cx="8229600" cy="4857750"/>
          </a:xfrm>
          <a:ln/>
        </p:spPr>
        <p:txBody>
          <a:bodyPr vert="horz" wrap="square" lIns="91440" tIns="45720" rIns="91440" bIns="45720" anchor="t" anchorCtr="0"/>
          <a:p>
            <a:pPr marL="438150" indent="-381000"/>
            <a:r>
              <a:rPr lang="en-US" altLang="zh-CN" dirty="0"/>
              <a:t>2.</a:t>
            </a:r>
            <a:r>
              <a:rPr lang="zh-CN" altLang="de-DE" dirty="0"/>
              <a:t>删除</a:t>
            </a:r>
            <a:endParaRPr lang="zh-CN" altLang="de-DE" dirty="0"/>
          </a:p>
          <a:p>
            <a:pPr marL="838200" lvl="1" indent="-381000">
              <a:buNone/>
            </a:pPr>
            <a:r>
              <a:rPr lang="zh-CN" altLang="de-DE" dirty="0"/>
              <a:t>参照完整性规则：删除</a:t>
            </a:r>
            <a:r>
              <a:rPr lang="zh-CN" altLang="de-DE" dirty="0">
                <a:solidFill>
                  <a:srgbClr val="FF0000"/>
                </a:solidFill>
              </a:rPr>
              <a:t>被参照</a:t>
            </a:r>
            <a:r>
              <a:rPr lang="zh-CN" altLang="de-DE" dirty="0"/>
              <a:t>关系中的行，检查其</a:t>
            </a:r>
            <a:r>
              <a:rPr lang="zh-CN" altLang="de-DE" dirty="0">
                <a:solidFill>
                  <a:srgbClr val="FF0000"/>
                </a:solidFill>
              </a:rPr>
              <a:t>主码</a:t>
            </a:r>
            <a:r>
              <a:rPr lang="zh-CN" altLang="de-DE" dirty="0"/>
              <a:t>是否被参照关系的外码引用，若没被引用：删除</a:t>
            </a:r>
            <a:endParaRPr lang="zh-CN" altLang="de-DE" dirty="0"/>
          </a:p>
          <a:p>
            <a:pPr marL="838200" lvl="1" indent="-381000">
              <a:buNone/>
            </a:pPr>
            <a:r>
              <a:rPr lang="zh-CN" altLang="de-DE" dirty="0"/>
              <a:t>若被引用：</a:t>
            </a:r>
            <a:r>
              <a:rPr lang="de-DE" altLang="zh-CN" dirty="0"/>
              <a:t>①</a:t>
            </a:r>
            <a:r>
              <a:rPr lang="zh-CN" altLang="de-DE" dirty="0"/>
              <a:t>拒绝删除</a:t>
            </a:r>
            <a:endParaRPr lang="zh-CN" altLang="de-DE" dirty="0"/>
          </a:p>
          <a:p>
            <a:pPr marL="838200" lvl="1" indent="-381000">
              <a:buNone/>
            </a:pPr>
            <a:r>
              <a:rPr lang="de-DE" altLang="zh-CN" dirty="0"/>
              <a:t>              ②</a:t>
            </a:r>
            <a:r>
              <a:rPr lang="zh-CN" altLang="de-DE" dirty="0"/>
              <a:t>空值删除（外码改为空值）</a:t>
            </a:r>
            <a:endParaRPr lang="zh-CN" altLang="de-DE" dirty="0"/>
          </a:p>
          <a:p>
            <a:pPr marL="838200" lvl="1" indent="-381000">
              <a:buNone/>
            </a:pPr>
            <a:r>
              <a:rPr lang="de-DE" altLang="zh-CN" dirty="0"/>
              <a:t>   ③</a:t>
            </a:r>
            <a:r>
              <a:rPr lang="zh-CN" altLang="de-DE" dirty="0"/>
              <a:t>级联删除（参照关系中的相应行一起删除）</a:t>
            </a:r>
            <a:endParaRPr lang="zh-CN" altLang="de-DE" dirty="0"/>
          </a:p>
          <a:p>
            <a:pPr marL="438150" indent="-381000"/>
            <a:r>
              <a:rPr lang="en-US" altLang="zh-CN" dirty="0"/>
              <a:t>3.</a:t>
            </a:r>
            <a:r>
              <a:rPr lang="zh-CN" altLang="de-DE" dirty="0"/>
              <a:t>修改</a:t>
            </a:r>
            <a:endParaRPr lang="zh-CN" altLang="en-US" dirty="0"/>
          </a:p>
          <a:p>
            <a:pPr marL="838200" lvl="1" indent="-381000">
              <a:buNone/>
            </a:pPr>
            <a:r>
              <a:rPr lang="zh-CN" altLang="de-DE" dirty="0"/>
              <a:t>等价：先删除，后插入（以上两种情况的综合）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2.2 </a:t>
            </a:r>
            <a:r>
              <a:rPr lang="zh-CN" altLang="en-US" dirty="0"/>
              <a:t>关系操作</a:t>
            </a:r>
            <a:endParaRPr lang="zh-CN" altLang="en-US" dirty="0"/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>
          <a:xfrm>
            <a:off x="684213" y="1268413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40000"/>
              </a:lnSpc>
            </a:pPr>
            <a:r>
              <a:rPr lang="en-US" altLang="zh-CN" sz="3200" dirty="0">
                <a:hlinkClick r:id="" action="ppaction://noaction"/>
              </a:rPr>
              <a:t>2.2.1 </a:t>
            </a:r>
            <a:r>
              <a:rPr lang="zh-CN" altLang="en-US" sz="3200" dirty="0">
                <a:hlinkClick r:id="" action="ppaction://noaction"/>
              </a:rPr>
              <a:t>基本的关系操作</a:t>
            </a:r>
            <a:endParaRPr lang="zh-CN" altLang="en-US" sz="3200" dirty="0"/>
          </a:p>
          <a:p>
            <a:pPr eaLnBrk="1" hangingPunct="1">
              <a:lnSpc>
                <a:spcPct val="140000"/>
              </a:lnSpc>
            </a:pPr>
            <a:r>
              <a:rPr lang="en-US" altLang="zh-CN" sz="3200" dirty="0">
                <a:hlinkClick r:id="" action="ppaction://noaction"/>
              </a:rPr>
              <a:t>2.2.2 </a:t>
            </a:r>
            <a:r>
              <a:rPr lang="zh-CN" altLang="en-US" sz="3200" dirty="0">
                <a:hlinkClick r:id="" action="ppaction://noaction"/>
              </a:rPr>
              <a:t>关系数据语言的分类</a:t>
            </a:r>
            <a:endParaRPr lang="zh-CN" altLang="en-US" sz="3200" dirty="0"/>
          </a:p>
          <a:p>
            <a:pPr eaLnBrk="1" hangingPunct="1">
              <a:buNone/>
            </a:pPr>
            <a:endParaRPr lang="zh-CN" altLang="en-US" sz="3200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 advClick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2.2.1 </a:t>
            </a:r>
            <a:r>
              <a:rPr lang="zh-CN" altLang="en-US" dirty="0"/>
              <a:t>基本的关系操作</a:t>
            </a:r>
            <a:endParaRPr lang="zh-CN" altLang="en-US" dirty="0"/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>
          <a:xfrm>
            <a:off x="107950" y="1268413"/>
            <a:ext cx="9036050" cy="2808287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</a:pPr>
            <a:r>
              <a:rPr lang="zh-CN" altLang="en-US" dirty="0"/>
              <a:t>查询</a:t>
            </a:r>
            <a:endParaRPr lang="zh-CN" altLang="en-US" dirty="0"/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选择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投影</a:t>
            </a:r>
            <a:r>
              <a:rPr lang="zh-CN" altLang="en-US" dirty="0"/>
              <a:t>、连接、除、</a:t>
            </a:r>
            <a:r>
              <a:rPr lang="zh-CN" altLang="en-US" dirty="0">
                <a:solidFill>
                  <a:srgbClr val="FF0000"/>
                </a:solidFill>
              </a:rPr>
              <a:t>并</a:t>
            </a:r>
            <a:r>
              <a:rPr lang="zh-CN" altLang="en-US" dirty="0"/>
              <a:t>、交、</a:t>
            </a:r>
            <a:r>
              <a:rPr lang="zh-CN" altLang="en-US" dirty="0">
                <a:solidFill>
                  <a:srgbClr val="FF0000"/>
                </a:solidFill>
              </a:rPr>
              <a:t>差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笛卡尔积</a:t>
            </a:r>
            <a:endParaRPr lang="zh-CN" altLang="en-US" dirty="0">
              <a:solidFill>
                <a:srgbClr val="FF0000"/>
              </a:solidFill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dirty="0"/>
              <a:t>其中</a:t>
            </a:r>
            <a:r>
              <a:rPr lang="zh-CN" altLang="en-US" dirty="0">
                <a:solidFill>
                  <a:srgbClr val="3333FF"/>
                </a:solidFill>
              </a:rPr>
              <a:t>选择、投影、并、差、笛卡尔积</a:t>
            </a:r>
            <a:r>
              <a:rPr lang="zh-CN" altLang="en-US" dirty="0"/>
              <a:t>是五种基本操作。其他操作可以用基本操作来定义和导出。</a:t>
            </a:r>
            <a:endParaRPr lang="zh-CN" altLang="en-US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90000"/>
              </a:lnSpc>
            </a:pPr>
            <a:r>
              <a:rPr lang="zh-CN" altLang="en-US" dirty="0"/>
              <a:t>数据更新</a:t>
            </a:r>
            <a:endParaRPr lang="zh-CN" altLang="en-US" dirty="0"/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dirty="0"/>
              <a:t>插入、删除、修改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342020" name="Rectangle 4"/>
          <p:cNvSpPr/>
          <p:nvPr/>
        </p:nvSpPr>
        <p:spPr>
          <a:xfrm>
            <a:off x="0" y="3573463"/>
            <a:ext cx="8785225" cy="17287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742950" lvl="1" indent="-285750"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CC0099"/>
              </a:buClr>
              <a:buSzPct val="75000"/>
              <a:buFont typeface="Wingdings" panose="05000000000000000000" pitchFamily="2" charset="2"/>
              <a:buChar char="Ø"/>
            </a:pP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rgbClr val="669900"/>
              </a:buClr>
              <a:buSzPct val="75000"/>
              <a:buFont typeface="Wingdings" panose="05000000000000000000" pitchFamily="2" charset="2"/>
              <a:buChar char="n"/>
            </a:pP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2.2.2 </a:t>
            </a:r>
            <a:r>
              <a:rPr lang="zh-CN" altLang="en-US" dirty="0"/>
              <a:t>关系数据语言的分类</a:t>
            </a:r>
            <a:endParaRPr lang="zh-CN" altLang="en-US" dirty="0"/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>
          <a:xfrm>
            <a:off x="395288" y="1268413"/>
            <a:ext cx="8064500" cy="5256212"/>
          </a:xfrm>
          <a:ln/>
        </p:spPr>
        <p:txBody>
          <a:bodyPr vert="horz" wrap="square" lIns="91440" tIns="45720" rIns="91440" bIns="45720" anchor="t" anchorCtr="0"/>
          <a:p>
            <a:pPr lvl="1" algn="just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关系代数</a:t>
            </a:r>
            <a:r>
              <a:rPr lang="zh-CN" altLang="en-US" dirty="0"/>
              <a:t>语言</a:t>
            </a:r>
            <a:r>
              <a:rPr lang="zh-CN" altLang="en-US" sz="2400" dirty="0"/>
              <a:t>：</a:t>
            </a:r>
            <a:r>
              <a:rPr lang="zh-CN" altLang="en-US" dirty="0"/>
              <a:t>用</a:t>
            </a:r>
            <a:r>
              <a:rPr lang="zh-CN" altLang="en-US" dirty="0">
                <a:solidFill>
                  <a:srgbClr val="FF0000"/>
                </a:solidFill>
              </a:rPr>
              <a:t>对关系的运算</a:t>
            </a:r>
            <a:r>
              <a:rPr lang="zh-CN" altLang="en-US" dirty="0"/>
              <a:t>来表达查询要求</a:t>
            </a:r>
            <a:endParaRPr lang="en-US" altLang="zh-CN" dirty="0"/>
          </a:p>
          <a:p>
            <a:pPr lvl="2" algn="just" eaLnBrk="1" hangingPunct="1">
              <a:lnSpc>
                <a:spcPct val="90000"/>
              </a:lnSpc>
            </a:pPr>
            <a:endParaRPr lang="zh-CN" altLang="en-US" sz="2400" dirty="0"/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dirty="0"/>
              <a:t>关系演算语言：用</a:t>
            </a:r>
            <a:r>
              <a:rPr lang="zh-CN" altLang="en-US" dirty="0">
                <a:solidFill>
                  <a:srgbClr val="FF0000"/>
                </a:solidFill>
              </a:rPr>
              <a:t>谓词</a:t>
            </a:r>
            <a:r>
              <a:rPr lang="zh-CN" altLang="en-US" dirty="0"/>
              <a:t>来表达查询要求</a:t>
            </a:r>
            <a:endParaRPr lang="en-US" altLang="zh-CN" dirty="0"/>
          </a:p>
          <a:p>
            <a:pPr lvl="1" algn="just" eaLnBrk="1" hangingPunct="1">
              <a:lnSpc>
                <a:spcPct val="90000"/>
              </a:lnSpc>
            </a:pPr>
            <a:endParaRPr lang="zh-CN" altLang="en-US" dirty="0"/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dirty="0"/>
              <a:t>具有关系代数和关系演算</a:t>
            </a:r>
            <a:r>
              <a:rPr lang="zh-CN" altLang="en-US" dirty="0">
                <a:solidFill>
                  <a:srgbClr val="FF0000"/>
                </a:solidFill>
              </a:rPr>
              <a:t>双重特点</a:t>
            </a:r>
            <a:r>
              <a:rPr lang="zh-CN" altLang="en-US" dirty="0"/>
              <a:t>的语言</a:t>
            </a:r>
            <a:endParaRPr lang="zh-CN" altLang="en-US" dirty="0"/>
          </a:p>
          <a:p>
            <a:pPr lvl="2" algn="just" eaLnBrk="1" hangingPunct="1">
              <a:lnSpc>
                <a:spcPct val="90000"/>
              </a:lnSpc>
              <a:spcBef>
                <a:spcPts val="3000"/>
              </a:spcBef>
            </a:pPr>
            <a:r>
              <a:rPr lang="zh-CN" altLang="en-US" sz="2400" dirty="0"/>
              <a:t>典型代表：</a:t>
            </a:r>
            <a:r>
              <a:rPr lang="en-US" altLang="zh-CN" sz="2400" dirty="0">
                <a:solidFill>
                  <a:srgbClr val="FF0000"/>
                </a:solidFill>
              </a:rPr>
              <a:t>SQL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Click="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2.4</a:t>
            </a:r>
            <a:r>
              <a:rPr lang="en-US" altLang="zh-CN" dirty="0">
                <a:latin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</a:rPr>
              <a:t>关系代数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xfrm>
            <a:off x="1619250" y="1268413"/>
            <a:ext cx="5843588" cy="4525962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</a:pPr>
            <a:r>
              <a:rPr lang="en-US" altLang="zh-CN" sz="3200" dirty="0">
                <a:cs typeface="Times New Roman" panose="02020603050405020304" pitchFamily="18" charset="0"/>
                <a:hlinkClick r:id="" action="ppaction://noaction"/>
              </a:rPr>
              <a:t>2.4.1 </a:t>
            </a:r>
            <a:r>
              <a:rPr lang="zh-CN" altLang="en-US" sz="3200" dirty="0">
                <a:cs typeface="Times New Roman" panose="02020603050405020304" pitchFamily="18" charset="0"/>
                <a:hlinkClick r:id="" action="ppaction://noaction"/>
              </a:rPr>
              <a:t>传统的集合运算</a:t>
            </a:r>
            <a:endParaRPr lang="zh-CN" altLang="en-US" sz="32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cs typeface="Times New Roman" panose="02020603050405020304" pitchFamily="18" charset="0"/>
                <a:hlinkClick r:id="" action="ppaction://noaction"/>
              </a:rPr>
              <a:t>2.4.2 </a:t>
            </a:r>
            <a:r>
              <a:rPr lang="zh-CN" altLang="en-US" sz="3200" dirty="0">
                <a:cs typeface="Times New Roman" panose="02020603050405020304" pitchFamily="18" charset="0"/>
                <a:hlinkClick r:id="" action="ppaction://noaction"/>
              </a:rPr>
              <a:t>专门的关系运算</a:t>
            </a:r>
            <a:endParaRPr lang="zh-CN" altLang="en-US" sz="32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cs typeface="Times New Roman" panose="02020603050405020304" pitchFamily="18" charset="0"/>
                <a:hlinkClick r:id="" action="ppaction://noaction"/>
              </a:rPr>
              <a:t>综合举例</a:t>
            </a:r>
            <a:endParaRPr lang="zh-CN" altLang="en-US" sz="32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cs typeface="Times New Roman" panose="02020603050405020304" pitchFamily="18" charset="0"/>
                <a:hlinkClick r:id="" action="ppaction://noaction"/>
              </a:rPr>
              <a:t>本节小结</a:t>
            </a:r>
            <a:endParaRPr lang="zh-CN" altLang="en-US" sz="3200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 advClick="0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55300" name="Rectangle 3"/>
          <p:cNvSpPr>
            <a:spLocks noGrp="1"/>
          </p:cNvSpPr>
          <p:nvPr>
            <p:ph idx="1"/>
          </p:nvPr>
        </p:nvSpPr>
        <p:spPr>
          <a:xfrm>
            <a:off x="611188" y="1268413"/>
            <a:ext cx="8229600" cy="5184775"/>
          </a:xfrm>
          <a:ln/>
        </p:spPr>
        <p:txBody>
          <a:bodyPr vert="horz" wrap="square" lIns="91440" tIns="45720" rIns="91440" bIns="45720" anchor="t" anchorCtr="0"/>
          <a:p>
            <a:pPr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</a:rPr>
              <a:t>1.</a:t>
            </a:r>
            <a:r>
              <a:rPr lang="zh-CN" altLang="en-US" dirty="0">
                <a:solidFill>
                  <a:schemeClr val="accent2"/>
                </a:solidFill>
              </a:rPr>
              <a:t>关系代数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sz="2400" dirty="0"/>
              <a:t>一种</a:t>
            </a:r>
            <a:r>
              <a:rPr lang="zh-CN" altLang="en-US" sz="2400" dirty="0">
                <a:solidFill>
                  <a:srgbClr val="FF0000"/>
                </a:solidFill>
              </a:rPr>
              <a:t>抽象的查询语言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sz="2400" dirty="0"/>
              <a:t>用对关系的运算来表达查询</a:t>
            </a:r>
            <a:endParaRPr lang="zh-CN" altLang="en-US" sz="2400" dirty="0"/>
          </a:p>
          <a:p>
            <a:pPr algn="just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</a:rPr>
              <a:t>2.</a:t>
            </a:r>
            <a:r>
              <a:rPr lang="zh-CN" altLang="en-US" dirty="0">
                <a:solidFill>
                  <a:schemeClr val="accent2"/>
                </a:solidFill>
              </a:rPr>
              <a:t>关系代数运算的三个要素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sz="2400" dirty="0"/>
              <a:t>运算对象：关系</a:t>
            </a:r>
            <a:endParaRPr lang="zh-CN" altLang="en-US" sz="2400" dirty="0"/>
          </a:p>
          <a:p>
            <a:pPr lvl="1" algn="just">
              <a:lnSpc>
                <a:spcPct val="150000"/>
              </a:lnSpc>
            </a:pPr>
            <a:r>
              <a:rPr lang="zh-CN" altLang="en-US" sz="2400" dirty="0"/>
              <a:t>运算结果：关系</a:t>
            </a:r>
            <a:endParaRPr lang="zh-CN" altLang="en-US" sz="2400" dirty="0"/>
          </a:p>
          <a:p>
            <a:pPr lvl="1" algn="just">
              <a:lnSpc>
                <a:spcPct val="150000"/>
              </a:lnSpc>
            </a:pPr>
            <a:r>
              <a:rPr lang="zh-CN" altLang="en-US" sz="2400" dirty="0"/>
              <a:t>运算符：四类</a:t>
            </a:r>
            <a:endParaRPr lang="zh-CN" altLang="en-US" sz="2400" dirty="0"/>
          </a:p>
          <a:p>
            <a:pPr>
              <a:buNone/>
            </a:pPr>
            <a:endParaRPr lang="en-US" altLang="zh-CN" sz="2400" dirty="0"/>
          </a:p>
        </p:txBody>
      </p:sp>
    </p:spTree>
  </p:cSld>
  <p:clrMapOvr>
    <a:masterClrMapping/>
  </p:clrMapOvr>
  <p:transition advClick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98338" name="Group 2"/>
          <p:cNvGraphicFramePr>
            <a:graphicFrameLocks noGrp="1"/>
          </p:cNvGraphicFramePr>
          <p:nvPr/>
        </p:nvGraphicFramePr>
        <p:xfrm>
          <a:off x="1295400" y="2749550"/>
          <a:ext cx="7010400" cy="3048000"/>
        </p:xfrm>
        <a:graphic>
          <a:graphicData uri="http://schemas.openxmlformats.org/drawingml/2006/table">
            <a:tbl>
              <a:tblPr/>
              <a:tblGrid>
                <a:gridCol w="685800"/>
                <a:gridCol w="1143000"/>
                <a:gridCol w="1600200"/>
                <a:gridCol w="685800"/>
                <a:gridCol w="1066800"/>
                <a:gridCol w="1828800"/>
              </a:tblGrid>
              <a:tr h="304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集合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符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∪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∩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×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并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差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交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笛卡尔积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比较运算符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＞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≥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＜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≤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＝    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&lt;&gt;  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大于</a:t>
                      </a:r>
                      <a:endParaRPr kumimoji="0" lang="zh-CN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大于等于</a:t>
                      </a:r>
                      <a:endParaRPr kumimoji="0" lang="zh-CN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小于</a:t>
                      </a:r>
                      <a:endParaRPr kumimoji="0" lang="zh-CN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小于等于</a:t>
                      </a:r>
                      <a:endParaRPr kumimoji="0" lang="zh-CN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等于</a:t>
                      </a:r>
                      <a:endParaRPr kumimoji="0" lang="zh-CN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不等于</a:t>
                      </a:r>
                      <a:endParaRPr kumimoji="0" lang="zh-CN" alt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8354" name="Group 18"/>
          <p:cNvGraphicFramePr>
            <a:graphicFrameLocks noGrp="1"/>
          </p:cNvGraphicFramePr>
          <p:nvPr/>
        </p:nvGraphicFramePr>
        <p:xfrm>
          <a:off x="1295400" y="2139950"/>
          <a:ext cx="7010400" cy="609600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752600"/>
                <a:gridCol w="18288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352" name="Rectangle 32"/>
          <p:cNvSpPr/>
          <p:nvPr/>
        </p:nvSpPr>
        <p:spPr>
          <a:xfrm>
            <a:off x="1285875" y="1196975"/>
            <a:ext cx="632460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关系代数运算符 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6353" name="Rectangle 3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/>
              <a:t>概述</a:t>
            </a:r>
            <a:r>
              <a:rPr lang="en-US" altLang="zh-CN" sz="4000" dirty="0"/>
              <a:t>(</a:t>
            </a:r>
            <a:r>
              <a:rPr lang="zh-CN" altLang="en-US" sz="4000" dirty="0"/>
              <a:t>续</a:t>
            </a:r>
            <a:r>
              <a:rPr lang="en-US" altLang="zh-CN" sz="4000" dirty="0"/>
              <a:t>)</a:t>
            </a:r>
            <a:endParaRPr lang="zh-CN" altLang="en-US" sz="4000" dirty="0"/>
          </a:p>
        </p:txBody>
      </p:sp>
    </p:spTree>
  </p:cSld>
  <p:clrMapOvr>
    <a:masterClrMapping/>
  </p:clrMapOvr>
  <p:transition advClick="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99362" name="Group 2"/>
          <p:cNvGraphicFramePr>
            <a:graphicFrameLocks noGrp="1"/>
          </p:cNvGraphicFramePr>
          <p:nvPr/>
        </p:nvGraphicFramePr>
        <p:xfrm>
          <a:off x="1295400" y="3048000"/>
          <a:ext cx="7010400" cy="2438400"/>
        </p:xfrm>
        <a:graphic>
          <a:graphicData uri="http://schemas.openxmlformats.org/drawingml/2006/table">
            <a:tbl>
              <a:tblPr/>
              <a:tblGrid>
                <a:gridCol w="1447800"/>
                <a:gridCol w="1066800"/>
                <a:gridCol w="904876"/>
                <a:gridCol w="1457324"/>
                <a:gridCol w="1143000"/>
                <a:gridCol w="990600"/>
              </a:tblGrid>
              <a:tr h="2438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专门的关系运算符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σ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π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÷ 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选择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投影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连接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除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逻辑运算符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∧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∨  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非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与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或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9378" name="Group 18"/>
          <p:cNvGraphicFramePr>
            <a:graphicFrameLocks noGrp="1"/>
          </p:cNvGraphicFramePr>
          <p:nvPr/>
        </p:nvGraphicFramePr>
        <p:xfrm>
          <a:off x="1295400" y="2438400"/>
          <a:ext cx="7010400" cy="609600"/>
        </p:xfrm>
        <a:graphic>
          <a:graphicData uri="http://schemas.openxmlformats.org/drawingml/2006/table">
            <a:tbl>
              <a:tblPr/>
              <a:tblGrid>
                <a:gridCol w="1447800"/>
                <a:gridCol w="1981200"/>
                <a:gridCol w="1447800"/>
                <a:gridCol w="2133600"/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含义</a:t>
                      </a:r>
                      <a:endParaRPr kumimoji="0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376" name="AutoShape 32"/>
          <p:cNvSpPr>
            <a:spLocks noChangeAspect="1"/>
          </p:cNvSpPr>
          <p:nvPr/>
        </p:nvSpPr>
        <p:spPr>
          <a:xfrm rot="5400000" flipV="1">
            <a:off x="3216275" y="4003675"/>
            <a:ext cx="192088" cy="360363"/>
          </a:xfrm>
          <a:prstGeom prst="flowChartCollate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57377" name="Rectangle 33"/>
          <p:cNvSpPr/>
          <p:nvPr/>
        </p:nvSpPr>
        <p:spPr>
          <a:xfrm>
            <a:off x="1214438" y="1268413"/>
            <a:ext cx="59436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关系代数运算符（续） 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7378" name="Rectangle 3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/>
              <a:t>概述</a:t>
            </a:r>
            <a:r>
              <a:rPr lang="en-US" altLang="zh-CN" sz="4000" dirty="0"/>
              <a:t>(</a:t>
            </a:r>
            <a:r>
              <a:rPr lang="zh-CN" altLang="en-US" sz="4000" dirty="0"/>
              <a:t>续</a:t>
            </a:r>
            <a:r>
              <a:rPr lang="en-US" altLang="zh-CN" sz="4000" dirty="0"/>
              <a:t>)</a:t>
            </a:r>
            <a:endParaRPr lang="en-US" altLang="zh-CN" sz="4000" dirty="0"/>
          </a:p>
        </p:txBody>
      </p:sp>
    </p:spTree>
  </p:cSld>
  <p:clrMapOvr>
    <a:masterClrMapping/>
  </p:clrMapOvr>
  <p:transition advClick="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2.4.1  </a:t>
            </a:r>
            <a:r>
              <a:rPr lang="zh-CN" altLang="en-US" dirty="0"/>
              <a:t>传统的集合运算</a:t>
            </a:r>
            <a:endParaRPr lang="zh-CN" altLang="en-US" dirty="0"/>
          </a:p>
        </p:txBody>
      </p:sp>
      <p:sp>
        <p:nvSpPr>
          <p:cNvPr id="58372" name="Rectangle 3"/>
          <p:cNvSpPr>
            <a:spLocks noGrp="1"/>
          </p:cNvSpPr>
          <p:nvPr>
            <p:ph idx="1"/>
          </p:nvPr>
        </p:nvSpPr>
        <p:spPr>
          <a:xfrm>
            <a:off x="1042988" y="1341438"/>
            <a:ext cx="6923087" cy="3341687"/>
          </a:xfrm>
          <a:ln/>
        </p:spPr>
        <p:txBody>
          <a:bodyPr vert="horz" wrap="square" lIns="91440" tIns="45720" rIns="91440" bIns="45720" anchor="t" anchorCtr="0"/>
          <a:p>
            <a:pPr marL="579755" indent="-476250">
              <a:lnSpc>
                <a:spcPct val="110000"/>
              </a:lnSpc>
            </a:pPr>
            <a:r>
              <a:rPr lang="zh-CN" altLang="en-US" sz="3200" dirty="0">
                <a:hlinkClick r:id="" action="ppaction://noaction"/>
              </a:rPr>
              <a:t>并</a:t>
            </a:r>
            <a:endParaRPr lang="zh-CN" altLang="en-US" sz="3200" dirty="0"/>
          </a:p>
          <a:p>
            <a:pPr marL="579755" indent="-476250">
              <a:lnSpc>
                <a:spcPct val="110000"/>
              </a:lnSpc>
            </a:pPr>
            <a:r>
              <a:rPr lang="zh-CN" altLang="en-US" sz="3200" dirty="0">
                <a:hlinkClick r:id="" action="ppaction://noaction"/>
              </a:rPr>
              <a:t>差</a:t>
            </a:r>
            <a:endParaRPr lang="zh-CN" altLang="en-US" sz="3200" dirty="0"/>
          </a:p>
          <a:p>
            <a:pPr marL="579755" indent="-476250">
              <a:lnSpc>
                <a:spcPct val="110000"/>
              </a:lnSpc>
            </a:pPr>
            <a:r>
              <a:rPr lang="zh-CN" altLang="en-US" sz="3200" dirty="0">
                <a:hlinkClick r:id="" action="ppaction://noaction"/>
              </a:rPr>
              <a:t>交</a:t>
            </a:r>
            <a:endParaRPr lang="zh-CN" altLang="en-US" sz="3200" dirty="0"/>
          </a:p>
          <a:p>
            <a:pPr marL="579755" indent="-476250">
              <a:lnSpc>
                <a:spcPct val="110000"/>
              </a:lnSpc>
            </a:pPr>
            <a:r>
              <a:rPr lang="zh-CN" altLang="en-US" sz="3200" dirty="0">
                <a:hlinkClick r:id="" action="ppaction://noaction"/>
              </a:rPr>
              <a:t>广义笛卡尔积</a:t>
            </a:r>
            <a:endParaRPr lang="zh-CN" altLang="en-US" sz="3200" dirty="0"/>
          </a:p>
        </p:txBody>
      </p:sp>
    </p:spTree>
  </p:cSld>
  <p:clrMapOvr>
    <a:masterClrMapping/>
  </p:clrMapOvr>
  <p:transition advClick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1. </a:t>
            </a:r>
            <a:r>
              <a:rPr lang="zh-CN" altLang="en-US" dirty="0"/>
              <a:t>并（</a:t>
            </a:r>
            <a:r>
              <a:rPr lang="en-US" altLang="zh-CN" dirty="0"/>
              <a:t>Union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59396" name="Rectangle 3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/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endParaRPr lang="en-US" altLang="zh-CN" i="1" dirty="0"/>
          </a:p>
          <a:p>
            <a:pPr lvl="1" algn="just"/>
            <a:r>
              <a:rPr lang="zh-CN" altLang="en-US" dirty="0"/>
              <a:t>具有相同的目</a:t>
            </a:r>
            <a:r>
              <a:rPr lang="en-US" altLang="zh-CN" i="1" dirty="0"/>
              <a:t>n</a:t>
            </a:r>
            <a:r>
              <a:rPr lang="zh-CN" altLang="en-US" dirty="0"/>
              <a:t>（即两个关系都有</a:t>
            </a:r>
            <a:r>
              <a:rPr lang="en-US" altLang="zh-CN" i="1" dirty="0"/>
              <a:t>n</a:t>
            </a:r>
            <a:r>
              <a:rPr lang="zh-CN" altLang="en-US" dirty="0"/>
              <a:t>个属性）</a:t>
            </a:r>
            <a:endParaRPr lang="zh-CN" altLang="en-US" dirty="0"/>
          </a:p>
          <a:p>
            <a:pPr lvl="1" algn="just"/>
            <a:r>
              <a:rPr lang="zh-CN" altLang="en-US" dirty="0"/>
              <a:t>相应的属性取自同一个域</a:t>
            </a:r>
            <a:endParaRPr lang="zh-CN" altLang="en-US" dirty="0"/>
          </a:p>
          <a:p>
            <a:pPr algn="just">
              <a:buNone/>
            </a:pPr>
            <a:endParaRPr lang="zh-CN" altLang="en-US" dirty="0"/>
          </a:p>
          <a:p>
            <a:pPr algn="just"/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S</a:t>
            </a:r>
            <a:r>
              <a:rPr lang="en-US" altLang="zh-CN" dirty="0"/>
              <a:t> </a:t>
            </a:r>
            <a:endParaRPr lang="en-US" altLang="zh-CN" dirty="0"/>
          </a:p>
          <a:p>
            <a:pPr lvl="1" algn="just"/>
            <a:r>
              <a:rPr lang="zh-CN" altLang="en-US" dirty="0"/>
              <a:t>仍为</a:t>
            </a:r>
            <a:r>
              <a:rPr lang="en-US" altLang="zh-CN" i="1" dirty="0"/>
              <a:t>n</a:t>
            </a:r>
            <a:r>
              <a:rPr lang="zh-CN" altLang="en-US" dirty="0"/>
              <a:t>目关系，由</a:t>
            </a:r>
            <a:r>
              <a:rPr lang="zh-CN" altLang="en-US" dirty="0">
                <a:solidFill>
                  <a:srgbClr val="FF0000"/>
                </a:solidFill>
              </a:rPr>
              <a:t>属于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或属于</a:t>
            </a:r>
            <a:r>
              <a:rPr lang="en-US" altLang="zh-CN" i="1" dirty="0">
                <a:solidFill>
                  <a:srgbClr val="FF0000"/>
                </a:solidFill>
              </a:rPr>
              <a:t>S</a:t>
            </a:r>
            <a:r>
              <a:rPr lang="zh-CN" altLang="en-US" dirty="0"/>
              <a:t>的元组组成</a:t>
            </a:r>
            <a:endParaRPr lang="zh-CN" altLang="en-US" dirty="0"/>
          </a:p>
          <a:p>
            <a:pPr lvl="1" algn="just">
              <a:buNone/>
            </a:pPr>
            <a:r>
              <a:rPr lang="zh-CN" altLang="en-US" i="1" dirty="0"/>
              <a:t>             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S</a:t>
            </a:r>
            <a:r>
              <a:rPr lang="en-US" altLang="zh-CN" dirty="0"/>
              <a:t> = { </a:t>
            </a:r>
            <a:r>
              <a:rPr lang="en-US" altLang="zh-CN" i="1" dirty="0"/>
              <a:t>t</a:t>
            </a:r>
            <a:r>
              <a:rPr lang="en-US" altLang="zh-CN" dirty="0"/>
              <a:t>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>
                <a:solidFill>
                  <a:srgbClr val="0033CC"/>
                </a:solidFill>
              </a:rPr>
              <a:t>∨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S </a:t>
            </a:r>
            <a:r>
              <a:rPr lang="en-US" altLang="zh-CN" dirty="0"/>
              <a:t>}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并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graphicFrame>
        <p:nvGraphicFramePr>
          <p:cNvPr id="328988" name="Group 284"/>
          <p:cNvGraphicFramePr>
            <a:graphicFrameLocks noGrp="1"/>
          </p:cNvGraphicFramePr>
          <p:nvPr/>
        </p:nvGraphicFramePr>
        <p:xfrm>
          <a:off x="1676400" y="1268413"/>
          <a:ext cx="2743200" cy="207327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28987" name="Group 283"/>
          <p:cNvGraphicFramePr>
            <a:graphicFrameLocks noGrp="1"/>
          </p:cNvGraphicFramePr>
          <p:nvPr/>
        </p:nvGraphicFramePr>
        <p:xfrm>
          <a:off x="5867400" y="2259013"/>
          <a:ext cx="2743200" cy="260667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335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b3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28986" name="Group 282"/>
          <p:cNvGraphicFramePr>
            <a:graphicFrameLocks noGrp="1"/>
          </p:cNvGraphicFramePr>
          <p:nvPr/>
        </p:nvGraphicFramePr>
        <p:xfrm>
          <a:off x="1752600" y="3859213"/>
          <a:ext cx="2667000" cy="2073275"/>
        </p:xfrm>
        <a:graphic>
          <a:graphicData uri="http://schemas.openxmlformats.org/drawingml/2006/table">
            <a:tbl>
              <a:tblPr/>
              <a:tblGrid>
                <a:gridCol w="889000"/>
                <a:gridCol w="889000"/>
                <a:gridCol w="8890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b3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496" name="Rectangle 251"/>
          <p:cNvSpPr/>
          <p:nvPr/>
        </p:nvSpPr>
        <p:spPr>
          <a:xfrm>
            <a:off x="1143000" y="1725613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i="1" dirty="0">
                <a:latin typeface="Verdana" panose="020B0604030504040204" pitchFamily="34" charset="0"/>
              </a:rPr>
              <a:t>R</a:t>
            </a:r>
            <a:endParaRPr lang="en-US" altLang="zh-CN" sz="2800" b="1" i="1" dirty="0">
              <a:latin typeface="Verdana" panose="020B0604030504040204" pitchFamily="34" charset="0"/>
            </a:endParaRPr>
          </a:p>
        </p:txBody>
      </p:sp>
      <p:sp>
        <p:nvSpPr>
          <p:cNvPr id="60497" name="Rectangle 252"/>
          <p:cNvSpPr/>
          <p:nvPr/>
        </p:nvSpPr>
        <p:spPr>
          <a:xfrm>
            <a:off x="1219200" y="4240213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i="1" dirty="0">
                <a:latin typeface="Verdana" panose="020B0604030504040204" pitchFamily="34" charset="0"/>
              </a:rPr>
              <a:t>S</a:t>
            </a:r>
            <a:endParaRPr lang="en-US" altLang="zh-CN" sz="2800" b="1" i="1" dirty="0">
              <a:latin typeface="Verdana" panose="020B0604030504040204" pitchFamily="34" charset="0"/>
            </a:endParaRPr>
          </a:p>
        </p:txBody>
      </p:sp>
      <p:sp>
        <p:nvSpPr>
          <p:cNvPr id="60498" name="Rectangle 253"/>
          <p:cNvSpPr/>
          <p:nvPr/>
        </p:nvSpPr>
        <p:spPr>
          <a:xfrm>
            <a:off x="4886325" y="2944813"/>
            <a:ext cx="8382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i="1" dirty="0">
                <a:latin typeface="Verdana" panose="020B0604030504040204" pitchFamily="34" charset="0"/>
              </a:rPr>
              <a:t>R</a:t>
            </a:r>
            <a:r>
              <a:rPr lang="en-US" altLang="zh-CN" sz="2800" b="1" dirty="0">
                <a:latin typeface="Verdana" panose="020B0604030504040204" pitchFamily="34" charset="0"/>
              </a:rPr>
              <a:t>∪</a:t>
            </a:r>
            <a:r>
              <a:rPr lang="en-US" altLang="zh-CN" sz="2800" b="1" i="1" dirty="0">
                <a:latin typeface="Verdana" panose="020B0604030504040204" pitchFamily="34" charset="0"/>
              </a:rPr>
              <a:t>S</a:t>
            </a:r>
            <a:r>
              <a:rPr lang="en-US" altLang="zh-CN" sz="2800" dirty="0">
                <a:latin typeface="Verdana" panose="020B0604030504040204" pitchFamily="34" charset="0"/>
              </a:rPr>
              <a:t> </a:t>
            </a:r>
            <a:endParaRPr lang="en-US" altLang="zh-CN" sz="2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2. </a:t>
            </a:r>
            <a:r>
              <a:rPr lang="zh-CN" altLang="en-US" dirty="0"/>
              <a:t>差（</a:t>
            </a:r>
            <a:r>
              <a:rPr lang="en-US" altLang="zh-CN" dirty="0"/>
              <a:t>Difference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1444" name="Rectangle 3"/>
          <p:cNvSpPr>
            <a:spLocks noGrp="1"/>
          </p:cNvSpPr>
          <p:nvPr>
            <p:ph idx="1"/>
          </p:nvPr>
        </p:nvSpPr>
        <p:spPr>
          <a:xfrm>
            <a:off x="323850" y="1268413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/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endParaRPr lang="en-US" altLang="zh-CN" i="1" dirty="0"/>
          </a:p>
          <a:p>
            <a:pPr lvl="1" algn="just"/>
            <a:r>
              <a:rPr lang="zh-CN" altLang="en-US" dirty="0"/>
              <a:t>具有相同的目</a:t>
            </a:r>
            <a:r>
              <a:rPr lang="en-US" altLang="zh-CN" i="1" dirty="0"/>
              <a:t>n</a:t>
            </a:r>
            <a:endParaRPr lang="en-US" altLang="zh-CN" i="1" dirty="0"/>
          </a:p>
          <a:p>
            <a:pPr lvl="1" algn="just"/>
            <a:r>
              <a:rPr lang="zh-CN" altLang="en-US" dirty="0"/>
              <a:t>相应的属性取自同一个域</a:t>
            </a:r>
            <a:endParaRPr lang="zh-CN" altLang="en-US" dirty="0"/>
          </a:p>
          <a:p>
            <a:pPr algn="just">
              <a:buNone/>
            </a:pPr>
            <a:endParaRPr lang="zh-CN" altLang="en-US" sz="2000" dirty="0"/>
          </a:p>
          <a:p>
            <a:pPr algn="just"/>
            <a:r>
              <a:rPr lang="en-US" altLang="zh-CN" i="1" dirty="0"/>
              <a:t>R - S</a:t>
            </a:r>
            <a:r>
              <a:rPr lang="en-US" altLang="zh-CN" dirty="0"/>
              <a:t> </a:t>
            </a:r>
            <a:endParaRPr lang="en-US" altLang="zh-CN" dirty="0"/>
          </a:p>
          <a:p>
            <a:pPr lvl="1" algn="just"/>
            <a:r>
              <a:rPr lang="zh-CN" altLang="en-US" dirty="0"/>
              <a:t>仍为</a:t>
            </a:r>
            <a:r>
              <a:rPr lang="en-US" altLang="zh-CN" i="1" dirty="0"/>
              <a:t>n</a:t>
            </a:r>
            <a:r>
              <a:rPr lang="zh-CN" altLang="en-US" dirty="0"/>
              <a:t>目关系，由</a:t>
            </a:r>
            <a:r>
              <a:rPr lang="zh-CN" altLang="en-US" dirty="0">
                <a:solidFill>
                  <a:srgbClr val="FF0000"/>
                </a:solidFill>
              </a:rPr>
              <a:t>属于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而不属于</a:t>
            </a:r>
            <a:r>
              <a:rPr lang="en-US" altLang="zh-CN" i="1" dirty="0">
                <a:solidFill>
                  <a:srgbClr val="FF0000"/>
                </a:solidFill>
              </a:rPr>
              <a:t>S</a:t>
            </a:r>
            <a:r>
              <a:rPr lang="zh-CN" altLang="en-US" dirty="0"/>
              <a:t>的所有元组组成</a:t>
            </a:r>
            <a:endParaRPr lang="zh-CN" altLang="en-US" dirty="0"/>
          </a:p>
          <a:p>
            <a:pPr algn="just">
              <a:buNone/>
            </a:pPr>
            <a:r>
              <a:rPr lang="zh-CN" altLang="en-US" dirty="0"/>
              <a:t>                </a:t>
            </a:r>
            <a:r>
              <a:rPr lang="en-US" altLang="zh-CN" i="1" dirty="0"/>
              <a:t>R </a:t>
            </a:r>
            <a:r>
              <a:rPr lang="en-US" altLang="zh-CN" dirty="0"/>
              <a:t>-</a:t>
            </a:r>
            <a:r>
              <a:rPr lang="en-US" altLang="zh-CN" i="1" dirty="0"/>
              <a:t>S</a:t>
            </a:r>
            <a:r>
              <a:rPr lang="en-US" altLang="zh-CN" dirty="0"/>
              <a:t> = { </a:t>
            </a:r>
            <a:r>
              <a:rPr lang="en-US" altLang="zh-CN" i="1" dirty="0"/>
              <a:t>t</a:t>
            </a:r>
            <a:r>
              <a:rPr lang="en-US" altLang="zh-CN" dirty="0"/>
              <a:t>|</a:t>
            </a:r>
            <a:r>
              <a:rPr lang="en-US" altLang="zh-CN" i="1" dirty="0"/>
              <a:t>t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>
                <a:solidFill>
                  <a:srgbClr val="0033CC"/>
                </a:solidFill>
              </a:rPr>
              <a:t>∧</a:t>
            </a:r>
            <a:r>
              <a:rPr lang="en-US" altLang="zh-CN" i="1" dirty="0"/>
              <a:t>t</a:t>
            </a:r>
            <a:r>
              <a:rPr lang="en-US" altLang="zh-CN" dirty="0">
                <a:sym typeface="Symbol" panose="05050102010706020507" pitchFamily="18" charset="2"/>
              </a:rPr>
              <a:t></a:t>
            </a:r>
            <a:r>
              <a:rPr lang="en-US" altLang="zh-CN" i="1" dirty="0"/>
              <a:t>S</a:t>
            </a:r>
            <a:r>
              <a:rPr lang="en-US" altLang="zh-CN" dirty="0"/>
              <a:t> }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ransition advClick="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差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graphicFrame>
        <p:nvGraphicFramePr>
          <p:cNvPr id="332885" name="Group 85"/>
          <p:cNvGraphicFramePr>
            <a:graphicFrameLocks noGrp="1"/>
          </p:cNvGraphicFramePr>
          <p:nvPr/>
        </p:nvGraphicFramePr>
        <p:xfrm>
          <a:off x="1676400" y="1484313"/>
          <a:ext cx="2743200" cy="207327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2884" name="Group 84"/>
          <p:cNvGraphicFramePr>
            <a:graphicFrameLocks noGrp="1"/>
          </p:cNvGraphicFramePr>
          <p:nvPr/>
        </p:nvGraphicFramePr>
        <p:xfrm>
          <a:off x="5867400" y="3084513"/>
          <a:ext cx="2743200" cy="1036638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2883" name="Group 83"/>
          <p:cNvGraphicFramePr>
            <a:graphicFrameLocks noGrp="1"/>
          </p:cNvGraphicFramePr>
          <p:nvPr/>
        </p:nvGraphicFramePr>
        <p:xfrm>
          <a:off x="1752600" y="4075113"/>
          <a:ext cx="2667000" cy="2073275"/>
        </p:xfrm>
        <a:graphic>
          <a:graphicData uri="http://schemas.openxmlformats.org/drawingml/2006/table">
            <a:tbl>
              <a:tblPr/>
              <a:tblGrid>
                <a:gridCol w="889000"/>
                <a:gridCol w="889000"/>
                <a:gridCol w="8890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b3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532" name="Rectangle 75"/>
          <p:cNvSpPr/>
          <p:nvPr/>
        </p:nvSpPr>
        <p:spPr>
          <a:xfrm>
            <a:off x="1143000" y="1941513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i="1" dirty="0">
                <a:latin typeface="Verdana" panose="020B0604030504040204" pitchFamily="34" charset="0"/>
              </a:rPr>
              <a:t>R</a:t>
            </a:r>
            <a:endParaRPr lang="en-US" altLang="zh-CN" sz="2800" b="1" i="1" dirty="0">
              <a:latin typeface="Verdana" panose="020B0604030504040204" pitchFamily="34" charset="0"/>
            </a:endParaRPr>
          </a:p>
        </p:txBody>
      </p:sp>
      <p:sp>
        <p:nvSpPr>
          <p:cNvPr id="62533" name="Rectangle 76"/>
          <p:cNvSpPr/>
          <p:nvPr/>
        </p:nvSpPr>
        <p:spPr>
          <a:xfrm>
            <a:off x="1219200" y="4456113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i="1" dirty="0">
                <a:latin typeface="Verdana" panose="020B0604030504040204" pitchFamily="34" charset="0"/>
              </a:rPr>
              <a:t>S</a:t>
            </a:r>
            <a:endParaRPr lang="en-US" altLang="zh-CN" sz="2800" b="1" i="1" dirty="0">
              <a:latin typeface="Verdana" panose="020B0604030504040204" pitchFamily="34" charset="0"/>
            </a:endParaRPr>
          </a:p>
        </p:txBody>
      </p:sp>
      <p:sp>
        <p:nvSpPr>
          <p:cNvPr id="62534" name="Rectangle 77"/>
          <p:cNvSpPr/>
          <p:nvPr/>
        </p:nvSpPr>
        <p:spPr>
          <a:xfrm>
            <a:off x="4886325" y="3160713"/>
            <a:ext cx="8382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i="1" dirty="0">
                <a:latin typeface="Verdana" panose="020B0604030504040204" pitchFamily="34" charset="0"/>
              </a:rPr>
              <a:t>R</a:t>
            </a:r>
            <a:r>
              <a:rPr lang="en-US" altLang="zh-CN" sz="2800" b="1" dirty="0">
                <a:latin typeface="Verdana" panose="020B0604030504040204" pitchFamily="34" charset="0"/>
              </a:rPr>
              <a:t>-</a:t>
            </a:r>
            <a:r>
              <a:rPr lang="en-US" altLang="zh-CN" sz="2800" b="1" i="1" dirty="0">
                <a:latin typeface="Verdana" panose="020B0604030504040204" pitchFamily="34" charset="0"/>
              </a:rPr>
              <a:t>S</a:t>
            </a:r>
            <a:r>
              <a:rPr lang="en-US" altLang="zh-CN" sz="2800" b="1" dirty="0">
                <a:latin typeface="Verdana" panose="020B0604030504040204" pitchFamily="34" charset="0"/>
              </a:rPr>
              <a:t> </a:t>
            </a:r>
            <a:endParaRPr lang="en-US" altLang="zh-CN" sz="2800" b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2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2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3. </a:t>
            </a:r>
            <a:r>
              <a:rPr lang="zh-CN" altLang="en-US" dirty="0"/>
              <a:t>交（</a:t>
            </a:r>
            <a:r>
              <a:rPr lang="en-US" altLang="zh-CN" dirty="0"/>
              <a:t>Intersection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395288" y="1412875"/>
            <a:ext cx="8532812" cy="475297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endParaRPr lang="en-US" altLang="zh-CN" i="1" dirty="0"/>
          </a:p>
          <a:p>
            <a:pPr lvl="1"/>
            <a:r>
              <a:rPr lang="zh-CN" altLang="en-US" dirty="0"/>
              <a:t>具有相同的目</a:t>
            </a:r>
            <a:r>
              <a:rPr lang="en-US" altLang="zh-CN" i="1" dirty="0"/>
              <a:t>n</a:t>
            </a:r>
            <a:endParaRPr lang="en-US" altLang="zh-CN" i="1" dirty="0"/>
          </a:p>
          <a:p>
            <a:pPr lvl="1"/>
            <a:r>
              <a:rPr lang="zh-CN" altLang="en-US" dirty="0"/>
              <a:t>相应的属性取自同一个域</a:t>
            </a:r>
            <a:endParaRPr lang="zh-CN" altLang="en-US" dirty="0"/>
          </a:p>
          <a:p>
            <a:pPr algn="just">
              <a:buNone/>
            </a:pPr>
            <a:endParaRPr lang="zh-CN" altLang="en-US" dirty="0"/>
          </a:p>
          <a:p>
            <a:pPr algn="just"/>
            <a:r>
              <a:rPr lang="en-US" altLang="zh-CN" i="1" dirty="0"/>
              <a:t>R</a:t>
            </a:r>
            <a:r>
              <a:rPr lang="en-US" altLang="zh-CN" dirty="0"/>
              <a:t>∩</a:t>
            </a:r>
            <a:r>
              <a:rPr lang="en-US" altLang="zh-CN" i="1" dirty="0"/>
              <a:t>S</a:t>
            </a:r>
            <a:endParaRPr lang="en-US" altLang="zh-CN" i="1" dirty="0"/>
          </a:p>
          <a:p>
            <a:pPr lvl="1" algn="just"/>
            <a:r>
              <a:rPr lang="zh-CN" altLang="en-US" dirty="0"/>
              <a:t>仍为</a:t>
            </a:r>
            <a:r>
              <a:rPr lang="en-US" altLang="zh-CN" i="1" dirty="0"/>
              <a:t>n</a:t>
            </a:r>
            <a:r>
              <a:rPr lang="zh-CN" altLang="en-US" dirty="0"/>
              <a:t>目关系，由</a:t>
            </a:r>
            <a:r>
              <a:rPr lang="zh-CN" altLang="en-US" dirty="0">
                <a:solidFill>
                  <a:srgbClr val="FF0000"/>
                </a:solidFill>
              </a:rPr>
              <a:t>既属于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又属于</a:t>
            </a:r>
            <a:r>
              <a:rPr lang="en-US" altLang="zh-CN" i="1" dirty="0">
                <a:solidFill>
                  <a:srgbClr val="FF0000"/>
                </a:solidFill>
              </a:rPr>
              <a:t>S</a:t>
            </a:r>
            <a:r>
              <a:rPr lang="zh-CN" altLang="en-US" dirty="0"/>
              <a:t>的元组组成</a:t>
            </a:r>
            <a:endParaRPr lang="zh-CN" altLang="en-US" dirty="0"/>
          </a:p>
          <a:p>
            <a:pPr lvl="1" algn="just">
              <a:buNone/>
            </a:pPr>
            <a:r>
              <a:rPr lang="zh-CN" altLang="en-US" i="1" dirty="0"/>
              <a:t>		            </a:t>
            </a:r>
            <a:r>
              <a:rPr lang="en-US" altLang="zh-CN" i="1" dirty="0"/>
              <a:t>R</a:t>
            </a:r>
            <a:r>
              <a:rPr lang="en-US" altLang="zh-CN" dirty="0"/>
              <a:t>∩</a:t>
            </a:r>
            <a:r>
              <a:rPr lang="en-US" altLang="zh-CN" i="1" dirty="0"/>
              <a:t>S</a:t>
            </a:r>
            <a:r>
              <a:rPr lang="en-US" altLang="zh-CN" dirty="0"/>
              <a:t> = { </a:t>
            </a:r>
            <a:r>
              <a:rPr lang="en-US" altLang="zh-CN" i="1" dirty="0"/>
              <a:t>t</a:t>
            </a:r>
            <a:r>
              <a:rPr lang="en-US" altLang="zh-CN" dirty="0"/>
              <a:t>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>
                <a:solidFill>
                  <a:srgbClr val="0033CC"/>
                </a:solidFill>
              </a:rPr>
              <a:t>∧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S </a:t>
            </a:r>
            <a:r>
              <a:rPr lang="en-US" altLang="zh-CN" dirty="0"/>
              <a:t>}</a:t>
            </a:r>
            <a:endParaRPr lang="en-US" altLang="zh-CN" dirty="0"/>
          </a:p>
          <a:p>
            <a:pPr lvl="1" algn="just">
              <a:buNone/>
            </a:pPr>
            <a:r>
              <a:rPr lang="en-US" altLang="zh-CN" i="1" dirty="0"/>
              <a:t>        	  </a:t>
            </a:r>
            <a:r>
              <a:rPr lang="en-US" altLang="zh-CN" i="1" dirty="0">
                <a:solidFill>
                  <a:srgbClr val="0033CC"/>
                </a:solidFill>
              </a:rPr>
              <a:t>R</a:t>
            </a:r>
            <a:r>
              <a:rPr lang="en-US" altLang="zh-CN" dirty="0">
                <a:solidFill>
                  <a:srgbClr val="0033CC"/>
                </a:solidFill>
              </a:rPr>
              <a:t>∩</a:t>
            </a:r>
            <a:r>
              <a:rPr lang="en-US" altLang="zh-CN" i="1" dirty="0">
                <a:solidFill>
                  <a:srgbClr val="0033CC"/>
                </a:solidFill>
              </a:rPr>
              <a:t>S</a:t>
            </a:r>
            <a:r>
              <a:rPr lang="en-US" altLang="zh-CN" dirty="0">
                <a:solidFill>
                  <a:srgbClr val="0033CC"/>
                </a:solidFill>
              </a:rPr>
              <a:t> = </a:t>
            </a:r>
            <a:r>
              <a:rPr lang="en-US" altLang="zh-CN" i="1" dirty="0">
                <a:solidFill>
                  <a:srgbClr val="0033CC"/>
                </a:solidFill>
              </a:rPr>
              <a:t>R</a:t>
            </a:r>
            <a:r>
              <a:rPr lang="en-US" altLang="zh-CN" dirty="0">
                <a:solidFill>
                  <a:srgbClr val="0033CC"/>
                </a:solidFill>
              </a:rPr>
              <a:t> –(</a:t>
            </a:r>
            <a:r>
              <a:rPr lang="en-US" altLang="zh-CN" i="1" dirty="0">
                <a:solidFill>
                  <a:srgbClr val="0033CC"/>
                </a:solidFill>
              </a:rPr>
              <a:t>R</a:t>
            </a:r>
            <a:r>
              <a:rPr lang="en-US" altLang="zh-CN" dirty="0">
                <a:solidFill>
                  <a:srgbClr val="0033CC"/>
                </a:solidFill>
              </a:rPr>
              <a:t>-</a:t>
            </a:r>
            <a:r>
              <a:rPr lang="en-US" altLang="zh-CN" i="1" dirty="0">
                <a:solidFill>
                  <a:srgbClr val="0033CC"/>
                </a:solidFill>
              </a:rPr>
              <a:t>S</a:t>
            </a:r>
            <a:r>
              <a:rPr lang="zh-CN" altLang="en-US" dirty="0">
                <a:solidFill>
                  <a:srgbClr val="0033CC"/>
                </a:solidFill>
              </a:rPr>
              <a:t>）</a:t>
            </a:r>
            <a:endParaRPr lang="zh-CN" altLang="en-US" dirty="0">
              <a:solidFill>
                <a:srgbClr val="0033CC"/>
              </a:solidFill>
            </a:endParaRPr>
          </a:p>
        </p:txBody>
      </p:sp>
    </p:spTree>
  </p:cSld>
  <p:clrMapOvr>
    <a:masterClrMapping/>
  </p:clrMapOvr>
  <p:transition advClick="0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451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交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graphicFrame>
        <p:nvGraphicFramePr>
          <p:cNvPr id="333909" name="Group 85"/>
          <p:cNvGraphicFramePr>
            <a:graphicFrameLocks noGrp="1"/>
          </p:cNvGraphicFramePr>
          <p:nvPr/>
        </p:nvGraphicFramePr>
        <p:xfrm>
          <a:off x="1676400" y="1412875"/>
          <a:ext cx="2743200" cy="207327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3910" name="Group 86"/>
          <p:cNvGraphicFramePr>
            <a:graphicFrameLocks noGrp="1"/>
          </p:cNvGraphicFramePr>
          <p:nvPr/>
        </p:nvGraphicFramePr>
        <p:xfrm>
          <a:off x="6005513" y="2668588"/>
          <a:ext cx="2743200" cy="1554163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3907" name="Group 83"/>
          <p:cNvGraphicFramePr>
            <a:graphicFrameLocks noGrp="1"/>
          </p:cNvGraphicFramePr>
          <p:nvPr/>
        </p:nvGraphicFramePr>
        <p:xfrm>
          <a:off x="1752600" y="4003675"/>
          <a:ext cx="2667000" cy="2073275"/>
        </p:xfrm>
        <a:graphic>
          <a:graphicData uri="http://schemas.openxmlformats.org/drawingml/2006/table">
            <a:tbl>
              <a:tblPr/>
              <a:tblGrid>
                <a:gridCol w="889000"/>
                <a:gridCol w="889000"/>
                <a:gridCol w="889000"/>
              </a:tblGrid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b3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a2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b2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/>
                          <a:cs typeface="楷体_GB2312"/>
                        </a:rPr>
                        <a:t>c1</a:t>
                      </a:r>
                      <a:endParaRPr kumimoji="0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/>
                        <a:cs typeface="楷体_GB231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584" name="Rectangle 75"/>
          <p:cNvSpPr/>
          <p:nvPr/>
        </p:nvSpPr>
        <p:spPr>
          <a:xfrm>
            <a:off x="1143000" y="1870075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i="1" dirty="0">
                <a:latin typeface="Verdana" panose="020B0604030504040204" pitchFamily="34" charset="0"/>
              </a:rPr>
              <a:t>R</a:t>
            </a:r>
            <a:endParaRPr lang="en-US" altLang="zh-CN" sz="2800" b="1" i="1" dirty="0">
              <a:latin typeface="Verdana" panose="020B0604030504040204" pitchFamily="34" charset="0"/>
            </a:endParaRPr>
          </a:p>
        </p:txBody>
      </p:sp>
      <p:sp>
        <p:nvSpPr>
          <p:cNvPr id="64585" name="Rectangle 76"/>
          <p:cNvSpPr/>
          <p:nvPr/>
        </p:nvSpPr>
        <p:spPr>
          <a:xfrm>
            <a:off x="1219200" y="4384675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i="1" dirty="0">
                <a:latin typeface="Verdana" panose="020B0604030504040204" pitchFamily="34" charset="0"/>
              </a:rPr>
              <a:t>S</a:t>
            </a:r>
            <a:endParaRPr lang="en-US" altLang="zh-CN" sz="2800" b="1" i="1" dirty="0">
              <a:latin typeface="Verdana" panose="020B0604030504040204" pitchFamily="34" charset="0"/>
            </a:endParaRPr>
          </a:p>
        </p:txBody>
      </p:sp>
      <p:sp>
        <p:nvSpPr>
          <p:cNvPr id="64586" name="Rectangle 77"/>
          <p:cNvSpPr/>
          <p:nvPr/>
        </p:nvSpPr>
        <p:spPr>
          <a:xfrm>
            <a:off x="4957763" y="3089275"/>
            <a:ext cx="8382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i="1" dirty="0">
                <a:latin typeface="Verdana" panose="020B0604030504040204" pitchFamily="34" charset="0"/>
              </a:rPr>
              <a:t>R </a:t>
            </a:r>
            <a:r>
              <a:rPr lang="en-US" altLang="zh-CN" sz="2800" b="1" dirty="0">
                <a:latin typeface="Verdana" panose="020B0604030504040204" pitchFamily="34" charset="0"/>
              </a:rPr>
              <a:t>∩</a:t>
            </a:r>
            <a:r>
              <a:rPr lang="en-US" altLang="zh-CN" sz="2800" b="1" i="1" dirty="0">
                <a:latin typeface="Verdana" panose="020B0604030504040204" pitchFamily="34" charset="0"/>
              </a:rPr>
              <a:t> S</a:t>
            </a:r>
            <a:r>
              <a:rPr lang="en-US" altLang="zh-CN" sz="2800" dirty="0">
                <a:latin typeface="Verdana" panose="020B0604030504040204" pitchFamily="34" charset="0"/>
              </a:rPr>
              <a:t> </a:t>
            </a:r>
            <a:endParaRPr lang="en-US" altLang="zh-CN" sz="2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/>
          </p:cNvSpPr>
          <p:nvPr>
            <p:ph type="title"/>
          </p:nvPr>
        </p:nvSpPr>
        <p:spPr>
          <a:xfrm>
            <a:off x="171450" y="188913"/>
            <a:ext cx="8686800" cy="777875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zh-CN" sz="3200" dirty="0"/>
              <a:t>4. </a:t>
            </a:r>
            <a:r>
              <a:rPr lang="zh-CN" altLang="en-US" sz="3200" dirty="0"/>
              <a:t>广义笛卡尔积</a:t>
            </a:r>
            <a:endParaRPr lang="zh-CN" altLang="en-US" sz="4800" dirty="0"/>
          </a:p>
        </p:txBody>
      </p:sp>
      <p:sp>
        <p:nvSpPr>
          <p:cNvPr id="65540" name="Rectangle 3"/>
          <p:cNvSpPr>
            <a:spLocks noGrp="1"/>
          </p:cNvSpPr>
          <p:nvPr>
            <p:ph idx="1"/>
          </p:nvPr>
        </p:nvSpPr>
        <p:spPr>
          <a:xfrm>
            <a:off x="539750" y="1341438"/>
            <a:ext cx="8280400" cy="1223962"/>
          </a:xfrm>
          <a:ln/>
        </p:spPr>
        <p:txBody>
          <a:bodyPr vert="horz" wrap="square" lIns="91440" tIns="45720" rIns="91440" bIns="45720" anchor="t" anchorCtr="0"/>
          <a:p>
            <a:pPr algn="just">
              <a:lnSpc>
                <a:spcPct val="95000"/>
              </a:lnSpc>
            </a:pPr>
            <a:r>
              <a:rPr lang="en-US" altLang="zh-CN" dirty="0"/>
              <a:t>R </a:t>
            </a:r>
            <a:r>
              <a:rPr lang="zh-CN" altLang="en-US" dirty="0"/>
              <a:t>：</a:t>
            </a:r>
            <a:r>
              <a:rPr lang="en-US" altLang="zh-CN" i="1" dirty="0"/>
              <a:t>n</a:t>
            </a:r>
            <a:r>
              <a:rPr lang="zh-CN" altLang="en-US" dirty="0"/>
              <a:t>目关系，</a:t>
            </a:r>
            <a:r>
              <a:rPr lang="en-US" altLang="zh-CN" i="1" dirty="0"/>
              <a:t>k</a:t>
            </a:r>
            <a:r>
              <a:rPr lang="en-US" altLang="zh-CN" baseline="-30000" dirty="0"/>
              <a:t>1</a:t>
            </a:r>
            <a:r>
              <a:rPr lang="zh-CN" altLang="en-US" dirty="0"/>
              <a:t>个元组</a:t>
            </a:r>
            <a:endParaRPr lang="zh-CN" altLang="en-US" dirty="0"/>
          </a:p>
          <a:p>
            <a:pPr algn="just">
              <a:lnSpc>
                <a:spcPct val="95000"/>
              </a:lnSpc>
            </a:pPr>
            <a:r>
              <a:rPr lang="en-US" altLang="zh-CN" dirty="0"/>
              <a:t>S </a:t>
            </a:r>
            <a:r>
              <a:rPr lang="zh-CN" altLang="en-US" dirty="0"/>
              <a:t>：</a:t>
            </a:r>
            <a:r>
              <a:rPr lang="en-US" altLang="zh-CN" i="1" dirty="0"/>
              <a:t>m</a:t>
            </a:r>
            <a:r>
              <a:rPr lang="zh-CN" altLang="en-US" dirty="0"/>
              <a:t>目关系，</a:t>
            </a:r>
            <a:r>
              <a:rPr lang="en-US" altLang="zh-CN" i="1" dirty="0"/>
              <a:t>k</a:t>
            </a:r>
            <a:r>
              <a:rPr lang="en-US" altLang="zh-CN" baseline="-30000" dirty="0"/>
              <a:t>2</a:t>
            </a:r>
            <a:r>
              <a:rPr lang="zh-CN" altLang="en-US" dirty="0"/>
              <a:t>个元组</a:t>
            </a:r>
            <a:endParaRPr lang="zh-CN" altLang="en-US" dirty="0"/>
          </a:p>
        </p:txBody>
      </p:sp>
      <p:grpSp>
        <p:nvGrpSpPr>
          <p:cNvPr id="2" name="Group 8"/>
          <p:cNvGrpSpPr/>
          <p:nvPr/>
        </p:nvGrpSpPr>
        <p:grpSpPr>
          <a:xfrm>
            <a:off x="468313" y="2492375"/>
            <a:ext cx="8280400" cy="3384550"/>
            <a:chOff x="295" y="1570"/>
            <a:chExt cx="5216" cy="2132"/>
          </a:xfrm>
        </p:grpSpPr>
        <p:sp>
          <p:nvSpPr>
            <p:cNvPr id="65542" name="Rectangle 6"/>
            <p:cNvSpPr/>
            <p:nvPr/>
          </p:nvSpPr>
          <p:spPr>
            <a:xfrm>
              <a:off x="295" y="1570"/>
              <a:ext cx="5216" cy="21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marL="342900" indent="-342900" algn="just" eaLnBrk="1" hangingPunct="1">
                <a:lnSpc>
                  <a:spcPct val="95000"/>
                </a:lnSpc>
                <a:spcBef>
                  <a:spcPct val="20000"/>
                </a:spcBef>
                <a:buClr>
                  <a:srgbClr val="0033CC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R</a:t>
              </a:r>
              <a:r>
                <a:rPr lang="en-US" altLang="zh-CN" sz="2800" b="1" dirty="0">
                  <a:latin typeface="Verdana" panose="020B0604030504040204" pitchFamily="34" charset="0"/>
                  <a:ea typeface="楷体_GB2312" pitchFamily="49" charset="-122"/>
                </a:rPr>
                <a:t>×</a:t>
              </a: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S</a:t>
              </a:r>
              <a:r>
                <a:rPr lang="en-US" altLang="zh-CN" sz="2800" b="1" dirty="0">
                  <a:latin typeface="Verdana" panose="020B0604030504040204" pitchFamily="34" charset="0"/>
                  <a:ea typeface="楷体_GB2312" pitchFamily="49" charset="-122"/>
                </a:rPr>
                <a:t> </a:t>
              </a:r>
              <a:endParaRPr lang="en-US" altLang="zh-CN" sz="2800" b="1" dirty="0">
                <a:latin typeface="Verdana" panose="020B0604030504040204" pitchFamily="34" charset="0"/>
                <a:ea typeface="楷体_GB2312" pitchFamily="49" charset="-122"/>
              </a:endParaRPr>
            </a:p>
            <a:p>
              <a:pPr marL="742950" lvl="1" indent="-285750" algn="just" eaLnBrk="1" hangingPunct="1">
                <a:lnSpc>
                  <a:spcPct val="95000"/>
                </a:lnSpc>
                <a:spcBef>
                  <a:spcPct val="20000"/>
                </a:spcBef>
                <a:buClr>
                  <a:srgbClr val="E02920"/>
                </a:buClr>
                <a:buSzPct val="75000"/>
                <a:buFont typeface="Wingdings" panose="05000000000000000000" pitchFamily="2" charset="2"/>
                <a:buChar char="Ø"/>
              </a:pPr>
              <a:r>
                <a:rPr lang="zh-CN" altLang="en-US" sz="2800" b="1" dirty="0">
                  <a:latin typeface="Verdana" panose="020B0604030504040204" pitchFamily="34" charset="0"/>
                  <a:ea typeface="楷体_GB2312" pitchFamily="49" charset="-122"/>
                </a:rPr>
                <a:t>列：</a:t>
              </a:r>
              <a:r>
                <a:rPr lang="zh-CN" altLang="en-US" sz="2800" b="1" dirty="0">
                  <a:solidFill>
                    <a:srgbClr val="0033CC"/>
                  </a:solidFill>
                  <a:latin typeface="Verdana" panose="020B0604030504040204" pitchFamily="34" charset="0"/>
                  <a:ea typeface="楷体_GB2312" pitchFamily="49" charset="-122"/>
                </a:rPr>
                <a:t>（</a:t>
              </a:r>
              <a:r>
                <a:rPr lang="en-US" altLang="zh-CN" sz="2800" b="1" i="1" dirty="0">
                  <a:solidFill>
                    <a:srgbClr val="0033CC"/>
                  </a:solidFill>
                  <a:latin typeface="Verdana" panose="020B0604030504040204" pitchFamily="34" charset="0"/>
                  <a:ea typeface="楷体_GB2312" pitchFamily="49" charset="-122"/>
                </a:rPr>
                <a:t>n</a:t>
              </a:r>
              <a:r>
                <a:rPr lang="en-US" altLang="zh-CN" sz="2800" b="1" dirty="0">
                  <a:solidFill>
                    <a:srgbClr val="0033CC"/>
                  </a:solidFill>
                  <a:latin typeface="Verdana" panose="020B0604030504040204" pitchFamily="34" charset="0"/>
                  <a:ea typeface="楷体_GB2312" pitchFamily="49" charset="-122"/>
                </a:rPr>
                <a:t>+</a:t>
              </a:r>
              <a:r>
                <a:rPr lang="en-US" altLang="zh-CN" sz="2800" b="1" i="1" dirty="0">
                  <a:solidFill>
                    <a:srgbClr val="0033CC"/>
                  </a:solidFill>
                  <a:latin typeface="Verdana" panose="020B0604030504040204" pitchFamily="34" charset="0"/>
                  <a:ea typeface="楷体_GB2312" pitchFamily="49" charset="-122"/>
                </a:rPr>
                <a:t>m</a:t>
              </a:r>
              <a:r>
                <a:rPr lang="zh-CN" altLang="en-US" sz="2800" b="1" dirty="0">
                  <a:solidFill>
                    <a:srgbClr val="0033CC"/>
                  </a:solidFill>
                  <a:latin typeface="Verdana" panose="020B0604030504040204" pitchFamily="34" charset="0"/>
                  <a:ea typeface="楷体_GB2312" pitchFamily="49" charset="-122"/>
                </a:rPr>
                <a:t>）列</a:t>
              </a:r>
              <a:r>
                <a:rPr lang="zh-CN" altLang="en-US" sz="2800" b="1" dirty="0">
                  <a:latin typeface="Verdana" panose="020B0604030504040204" pitchFamily="34" charset="0"/>
                  <a:ea typeface="楷体_GB2312" pitchFamily="49" charset="-122"/>
                </a:rPr>
                <a:t>的元组的集合</a:t>
              </a:r>
              <a:endParaRPr lang="zh-CN" altLang="en-US" sz="2800" b="1" dirty="0">
                <a:latin typeface="Verdana" panose="020B0604030504040204" pitchFamily="34" charset="0"/>
                <a:ea typeface="楷体_GB2312" pitchFamily="49" charset="-122"/>
              </a:endParaRPr>
            </a:p>
            <a:p>
              <a:pPr marL="1143000" lvl="2" indent="-228600" algn="just" eaLnBrk="1" hangingPunct="1">
                <a:lnSpc>
                  <a:spcPct val="95000"/>
                </a:lnSpc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R"/>
              </a:pPr>
              <a:r>
                <a:rPr lang="zh-CN" altLang="en-US" sz="2800" b="1" dirty="0">
                  <a:latin typeface="Verdana" panose="020B0604030504040204" pitchFamily="34" charset="0"/>
                  <a:ea typeface="楷体_GB2312" pitchFamily="49" charset="-122"/>
                </a:rPr>
                <a:t>元组的前</a:t>
              </a: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n</a:t>
              </a:r>
              <a:r>
                <a:rPr lang="zh-CN" altLang="en-US" sz="2800" b="1" dirty="0">
                  <a:latin typeface="Verdana" panose="020B0604030504040204" pitchFamily="34" charset="0"/>
                  <a:ea typeface="楷体_GB2312" pitchFamily="49" charset="-122"/>
                </a:rPr>
                <a:t>列是关系</a:t>
              </a: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R</a:t>
              </a:r>
              <a:r>
                <a:rPr lang="zh-CN" altLang="en-US" sz="2800" b="1" dirty="0">
                  <a:latin typeface="Verdana" panose="020B0604030504040204" pitchFamily="34" charset="0"/>
                  <a:ea typeface="楷体_GB2312" pitchFamily="49" charset="-122"/>
                </a:rPr>
                <a:t>的一个元组</a:t>
              </a:r>
              <a:endParaRPr lang="zh-CN" altLang="en-US" sz="2800" b="1" dirty="0">
                <a:latin typeface="Verdana" panose="020B0604030504040204" pitchFamily="34" charset="0"/>
                <a:ea typeface="楷体_GB2312" pitchFamily="49" charset="-122"/>
              </a:endParaRPr>
            </a:p>
            <a:p>
              <a:pPr marL="1143000" lvl="2" indent="-228600" algn="just" eaLnBrk="1" hangingPunct="1">
                <a:lnSpc>
                  <a:spcPct val="95000"/>
                </a:lnSpc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R"/>
              </a:pPr>
              <a:r>
                <a:rPr lang="zh-CN" altLang="en-US" sz="2800" b="1" dirty="0">
                  <a:latin typeface="Verdana" panose="020B0604030504040204" pitchFamily="34" charset="0"/>
                  <a:ea typeface="楷体_GB2312" pitchFamily="49" charset="-122"/>
                </a:rPr>
                <a:t>后</a:t>
              </a: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m</a:t>
              </a:r>
              <a:r>
                <a:rPr lang="zh-CN" altLang="en-US" sz="2800" b="1" dirty="0">
                  <a:latin typeface="Verdana" panose="020B0604030504040204" pitchFamily="34" charset="0"/>
                  <a:ea typeface="楷体_GB2312" pitchFamily="49" charset="-122"/>
                </a:rPr>
                <a:t>列是关系</a:t>
              </a: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S</a:t>
              </a:r>
              <a:r>
                <a:rPr lang="zh-CN" altLang="en-US" sz="2800" b="1" dirty="0">
                  <a:latin typeface="Verdana" panose="020B0604030504040204" pitchFamily="34" charset="0"/>
                  <a:ea typeface="楷体_GB2312" pitchFamily="49" charset="-122"/>
                </a:rPr>
                <a:t>的一个元组</a:t>
              </a:r>
              <a:endParaRPr lang="zh-CN" altLang="en-US" sz="2800" b="1" dirty="0">
                <a:latin typeface="Verdana" panose="020B0604030504040204" pitchFamily="34" charset="0"/>
                <a:ea typeface="楷体_GB2312" pitchFamily="49" charset="-122"/>
              </a:endParaRPr>
            </a:p>
            <a:p>
              <a:pPr marL="742950" lvl="1" indent="-285750" algn="just" eaLnBrk="1" hangingPunct="1">
                <a:lnSpc>
                  <a:spcPct val="95000"/>
                </a:lnSpc>
                <a:spcBef>
                  <a:spcPct val="20000"/>
                </a:spcBef>
                <a:buClr>
                  <a:srgbClr val="E02920"/>
                </a:buClr>
                <a:buSzPct val="75000"/>
                <a:buFont typeface="Wingdings" panose="05000000000000000000" pitchFamily="2" charset="2"/>
                <a:buChar char="Ø"/>
              </a:pPr>
              <a:r>
                <a:rPr lang="zh-CN" altLang="en-US" sz="2800" b="1" dirty="0">
                  <a:latin typeface="Verdana" panose="020B0604030504040204" pitchFamily="34" charset="0"/>
                  <a:ea typeface="楷体_GB2312" pitchFamily="49" charset="-122"/>
                </a:rPr>
                <a:t>行：</a:t>
              </a:r>
              <a:r>
                <a:rPr lang="en-US" altLang="zh-CN" sz="2800" b="1" i="1" dirty="0">
                  <a:solidFill>
                    <a:srgbClr val="0033CC"/>
                  </a:solidFill>
                  <a:latin typeface="Verdana" panose="020B0604030504040204" pitchFamily="34" charset="0"/>
                  <a:ea typeface="楷体_GB2312" pitchFamily="49" charset="-122"/>
                </a:rPr>
                <a:t>k</a:t>
              </a:r>
              <a:r>
                <a:rPr lang="en-US" altLang="zh-CN" sz="2800" b="1" baseline="-30000" dirty="0">
                  <a:solidFill>
                    <a:srgbClr val="0033CC"/>
                  </a:solidFill>
                  <a:latin typeface="Verdana" panose="020B0604030504040204" pitchFamily="34" charset="0"/>
                  <a:ea typeface="楷体_GB2312" pitchFamily="49" charset="-122"/>
                </a:rPr>
                <a:t>1</a:t>
              </a:r>
              <a:r>
                <a:rPr lang="en-US" altLang="zh-CN" sz="2800" b="1" dirty="0">
                  <a:solidFill>
                    <a:srgbClr val="0033CC"/>
                  </a:solidFill>
                  <a:latin typeface="Verdana" panose="020B0604030504040204" pitchFamily="34" charset="0"/>
                  <a:ea typeface="楷体_GB2312" pitchFamily="49" charset="-122"/>
                </a:rPr>
                <a:t>×</a:t>
              </a:r>
              <a:r>
                <a:rPr lang="en-US" altLang="zh-CN" sz="2800" b="1" i="1" dirty="0">
                  <a:solidFill>
                    <a:srgbClr val="0033CC"/>
                  </a:solidFill>
                  <a:latin typeface="Verdana" panose="020B0604030504040204" pitchFamily="34" charset="0"/>
                  <a:ea typeface="楷体_GB2312" pitchFamily="49" charset="-122"/>
                </a:rPr>
                <a:t>k</a:t>
              </a:r>
              <a:r>
                <a:rPr lang="en-US" altLang="zh-CN" sz="2800" b="1" baseline="-30000" dirty="0">
                  <a:solidFill>
                    <a:srgbClr val="0033CC"/>
                  </a:solidFill>
                  <a:latin typeface="Verdana" panose="020B0604030504040204" pitchFamily="34" charset="0"/>
                  <a:ea typeface="楷体_GB2312" pitchFamily="49" charset="-122"/>
                </a:rPr>
                <a:t>2</a:t>
              </a:r>
              <a:r>
                <a:rPr lang="zh-CN" altLang="en-US" sz="2800" b="1" dirty="0">
                  <a:solidFill>
                    <a:srgbClr val="0033CC"/>
                  </a:solidFill>
                  <a:latin typeface="Verdana" panose="020B0604030504040204" pitchFamily="34" charset="0"/>
                  <a:ea typeface="楷体_GB2312" pitchFamily="49" charset="-122"/>
                </a:rPr>
                <a:t>个元组</a:t>
              </a:r>
              <a:endParaRPr lang="zh-CN" altLang="en-US" sz="2800" b="1" dirty="0">
                <a:solidFill>
                  <a:srgbClr val="0033CC"/>
                </a:solidFill>
                <a:latin typeface="Verdana" panose="020B0604030504040204" pitchFamily="34" charset="0"/>
                <a:ea typeface="楷体_GB2312" pitchFamily="49" charset="-122"/>
              </a:endParaRPr>
            </a:p>
            <a:p>
              <a:pPr marL="1143000" lvl="2" indent="-228600" algn="just" eaLnBrk="1" hangingPunct="1">
                <a:lnSpc>
                  <a:spcPct val="95000"/>
                </a:lnSpc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R"/>
              </a:pP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R</a:t>
              </a:r>
              <a:r>
                <a:rPr lang="en-US" altLang="zh-CN" sz="2800" b="1" dirty="0">
                  <a:latin typeface="Verdana" panose="020B0604030504040204" pitchFamily="34" charset="0"/>
                  <a:ea typeface="楷体_GB2312" pitchFamily="49" charset="-122"/>
                </a:rPr>
                <a:t>×</a:t>
              </a: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S</a:t>
              </a:r>
              <a:r>
                <a:rPr lang="en-US" altLang="zh-CN" sz="2800" b="1" dirty="0">
                  <a:latin typeface="Verdana" panose="020B0604030504040204" pitchFamily="34" charset="0"/>
                  <a:ea typeface="楷体_GB2312" pitchFamily="49" charset="-122"/>
                </a:rPr>
                <a:t> = {</a:t>
              </a: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t</a:t>
              </a:r>
              <a:r>
                <a:rPr lang="en-US" altLang="zh-CN" sz="2800" b="1" baseline="-30000" dirty="0">
                  <a:latin typeface="Verdana" panose="020B0604030504040204" pitchFamily="34" charset="0"/>
                  <a:ea typeface="楷体_GB2312" pitchFamily="49" charset="-122"/>
                </a:rPr>
                <a:t>r</a:t>
              </a:r>
              <a:r>
                <a:rPr lang="en-US" altLang="zh-CN" sz="2800" b="1" dirty="0">
                  <a:latin typeface="Verdana" panose="020B0604030504040204" pitchFamily="34" charset="0"/>
                  <a:ea typeface="楷体_GB2312" pitchFamily="49" charset="-122"/>
                </a:rPr>
                <a:t> </a:t>
              </a: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t</a:t>
              </a:r>
              <a:r>
                <a:rPr lang="en-US" altLang="zh-CN" sz="2800" b="1" baseline="-30000" dirty="0">
                  <a:latin typeface="Verdana" panose="020B0604030504040204" pitchFamily="34" charset="0"/>
                  <a:ea typeface="楷体_GB2312" pitchFamily="49" charset="-122"/>
                </a:rPr>
                <a:t>s</a:t>
              </a:r>
              <a:r>
                <a:rPr lang="en-US" altLang="zh-CN" sz="2800" b="1" dirty="0">
                  <a:latin typeface="Verdana" panose="020B0604030504040204" pitchFamily="34" charset="0"/>
                  <a:ea typeface="楷体_GB2312" pitchFamily="49" charset="-122"/>
                </a:rPr>
                <a:t> |</a:t>
              </a: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t</a:t>
              </a:r>
              <a:r>
                <a:rPr lang="en-US" altLang="zh-CN" sz="2800" b="1" baseline="-30000" dirty="0">
                  <a:latin typeface="Verdana" panose="020B0604030504040204" pitchFamily="34" charset="0"/>
                  <a:ea typeface="楷体_GB2312" pitchFamily="49" charset="-122"/>
                </a:rPr>
                <a:t>r</a:t>
              </a:r>
              <a:r>
                <a:rPr lang="en-US" altLang="zh-CN" sz="2800" b="1" dirty="0">
                  <a:latin typeface="Verdana" panose="020B0604030504040204" pitchFamily="34" charset="0"/>
                  <a:ea typeface="楷体_GB2312" pitchFamily="49" charset="-122"/>
                </a:rPr>
                <a:t> </a:t>
              </a:r>
              <a:r>
                <a:rPr lang="en-US" altLang="zh-CN" sz="2800" b="1" dirty="0">
                  <a:latin typeface="Verdana" panose="020B0604030504040204" pitchFamily="34" charset="0"/>
                  <a:ea typeface="楷体_GB2312" pitchFamily="49" charset="-122"/>
                  <a:sym typeface="Symbol" panose="05050102010706020507" pitchFamily="18" charset="2"/>
                </a:rPr>
                <a:t></a:t>
              </a: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R</a:t>
              </a:r>
              <a:r>
                <a:rPr lang="en-US" altLang="zh-CN" sz="2800" b="1" dirty="0">
                  <a:latin typeface="Verdana" panose="020B0604030504040204" pitchFamily="34" charset="0"/>
                  <a:ea typeface="楷体_GB2312" pitchFamily="49" charset="-122"/>
                </a:rPr>
                <a:t> ∧ </a:t>
              </a: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t</a:t>
              </a:r>
              <a:r>
                <a:rPr lang="en-US" altLang="zh-CN" sz="2800" b="1" baseline="-30000" dirty="0">
                  <a:latin typeface="Verdana" panose="020B0604030504040204" pitchFamily="34" charset="0"/>
                  <a:ea typeface="楷体_GB2312" pitchFamily="49" charset="-122"/>
                </a:rPr>
                <a:t>s</a:t>
              </a:r>
              <a:r>
                <a:rPr lang="en-US" altLang="zh-CN" sz="2800" b="1" dirty="0">
                  <a:latin typeface="Verdana" panose="020B0604030504040204" pitchFamily="34" charset="0"/>
                  <a:ea typeface="楷体_GB2312" pitchFamily="49" charset="-122"/>
                  <a:sym typeface="Symbol" panose="05050102010706020507" pitchFamily="18" charset="2"/>
                </a:rPr>
                <a:t></a:t>
              </a:r>
              <a:r>
                <a:rPr lang="en-US" altLang="zh-CN" sz="2800" b="1" i="1" dirty="0">
                  <a:latin typeface="Verdana" panose="020B0604030504040204" pitchFamily="34" charset="0"/>
                  <a:ea typeface="楷体_GB2312" pitchFamily="49" charset="-122"/>
                </a:rPr>
                <a:t>S</a:t>
              </a:r>
              <a:r>
                <a:rPr lang="en-US" altLang="zh-CN" sz="2800" b="1" dirty="0">
                  <a:latin typeface="Verdana" panose="020B0604030504040204" pitchFamily="34" charset="0"/>
                  <a:ea typeface="楷体_GB2312" pitchFamily="49" charset="-122"/>
                </a:rPr>
                <a:t> }</a:t>
              </a:r>
              <a:endParaRPr lang="en-US" altLang="zh-CN" sz="2800" b="1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65543" name="Freeform 7"/>
            <p:cNvSpPr/>
            <p:nvPr/>
          </p:nvSpPr>
          <p:spPr>
            <a:xfrm>
              <a:off x="2230" y="3113"/>
              <a:ext cx="196" cy="82"/>
            </a:xfrm>
            <a:custGeom>
              <a:avLst/>
              <a:gdLst>
                <a:gd name="txL" fmla="*/ 0 w 196"/>
                <a:gd name="txT" fmla="*/ 0 h 82"/>
                <a:gd name="txR" fmla="*/ 196 w 196"/>
                <a:gd name="txB" fmla="*/ 82 h 82"/>
              </a:gdLst>
              <a:ahLst/>
              <a:cxnLst>
                <a:cxn ang="0">
                  <a:pos x="0" y="43"/>
                </a:cxn>
                <a:cxn ang="0">
                  <a:pos x="156" y="17"/>
                </a:cxn>
                <a:cxn ang="0">
                  <a:pos x="183" y="43"/>
                </a:cxn>
                <a:cxn ang="0">
                  <a:pos x="196" y="82"/>
                </a:cxn>
              </a:cxnLst>
              <a:rect l="txL" t="txT" r="txR" b="txB"/>
              <a:pathLst>
                <a:path w="196" h="82">
                  <a:moveTo>
                    <a:pt x="0" y="43"/>
                  </a:moveTo>
                  <a:cubicBezTo>
                    <a:pt x="64" y="0"/>
                    <a:pt x="75" y="4"/>
                    <a:pt x="156" y="17"/>
                  </a:cubicBezTo>
                  <a:cubicBezTo>
                    <a:pt x="165" y="26"/>
                    <a:pt x="176" y="32"/>
                    <a:pt x="183" y="43"/>
                  </a:cubicBezTo>
                  <a:cubicBezTo>
                    <a:pt x="190" y="55"/>
                    <a:pt x="196" y="82"/>
                    <a:pt x="196" y="82"/>
                  </a:cubicBez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095625" y="6237288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sz="3200" dirty="0"/>
              <a:t>广义笛卡尔积</a:t>
            </a:r>
            <a:endParaRPr lang="zh-CN" altLang="en-US" sz="3200" dirty="0"/>
          </a:p>
        </p:txBody>
      </p:sp>
      <p:graphicFrame>
        <p:nvGraphicFramePr>
          <p:cNvPr id="551942" name="Object 2"/>
          <p:cNvGraphicFramePr>
            <a:graphicFrameLocks noChangeAspect="1"/>
          </p:cNvGraphicFramePr>
          <p:nvPr/>
        </p:nvGraphicFramePr>
        <p:xfrm>
          <a:off x="4067175" y="1365250"/>
          <a:ext cx="4537075" cy="425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5080000" imgH="4762500" progId="Photoshop.Image.7">
                  <p:embed/>
                </p:oleObj>
              </mc:Choice>
              <mc:Fallback>
                <p:oleObj name="" r:id="rId1" imgW="5080000" imgH="4762500" progId="Photoshop.Image.7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67175" y="1365250"/>
                        <a:ext cx="4537075" cy="4256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5" name="Rectangle 8"/>
          <p:cNvSpPr/>
          <p:nvPr/>
        </p:nvSpPr>
        <p:spPr>
          <a:xfrm>
            <a:off x="4427538" y="2157413"/>
            <a:ext cx="1871662" cy="287337"/>
          </a:xfrm>
          <a:prstGeom prst="rect">
            <a:avLst/>
          </a:prstGeom>
          <a:solidFill>
            <a:srgbClr val="CCFFCC">
              <a:alpha val="27843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66" name="Rectangle 9"/>
          <p:cNvSpPr/>
          <p:nvPr/>
        </p:nvSpPr>
        <p:spPr>
          <a:xfrm>
            <a:off x="4427538" y="2517775"/>
            <a:ext cx="1871662" cy="287338"/>
          </a:xfrm>
          <a:prstGeom prst="rect">
            <a:avLst/>
          </a:prstGeom>
          <a:solidFill>
            <a:srgbClr val="CCFFCC">
              <a:alpha val="27843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67" name="Rectangle 10"/>
          <p:cNvSpPr/>
          <p:nvPr/>
        </p:nvSpPr>
        <p:spPr>
          <a:xfrm>
            <a:off x="4427538" y="2949575"/>
            <a:ext cx="1871662" cy="287338"/>
          </a:xfrm>
          <a:prstGeom prst="rect">
            <a:avLst/>
          </a:prstGeom>
          <a:solidFill>
            <a:srgbClr val="CCFFCC">
              <a:alpha val="27843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71" name="Rectangle 16"/>
          <p:cNvSpPr/>
          <p:nvPr/>
        </p:nvSpPr>
        <p:spPr>
          <a:xfrm>
            <a:off x="4427538" y="3333750"/>
            <a:ext cx="1871662" cy="288925"/>
          </a:xfrm>
          <a:prstGeom prst="rect">
            <a:avLst/>
          </a:prstGeom>
          <a:solidFill>
            <a:srgbClr val="CCFFFF">
              <a:alpha val="27843"/>
            </a:srgbClr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72" name="Rectangle 17"/>
          <p:cNvSpPr/>
          <p:nvPr/>
        </p:nvSpPr>
        <p:spPr>
          <a:xfrm>
            <a:off x="4435475" y="3740150"/>
            <a:ext cx="1871663" cy="288925"/>
          </a:xfrm>
          <a:prstGeom prst="rect">
            <a:avLst/>
          </a:prstGeom>
          <a:solidFill>
            <a:srgbClr val="CCFFFF">
              <a:alpha val="27843"/>
            </a:srgbClr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73" name="Rectangle 18"/>
          <p:cNvSpPr/>
          <p:nvPr/>
        </p:nvSpPr>
        <p:spPr>
          <a:xfrm>
            <a:off x="4427538" y="4100513"/>
            <a:ext cx="1871662" cy="288925"/>
          </a:xfrm>
          <a:prstGeom prst="rect">
            <a:avLst/>
          </a:prstGeom>
          <a:solidFill>
            <a:srgbClr val="CCFFFF">
              <a:alpha val="27843"/>
            </a:srgbClr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74" name="Rectangle 19"/>
          <p:cNvSpPr/>
          <p:nvPr/>
        </p:nvSpPr>
        <p:spPr>
          <a:xfrm>
            <a:off x="4427538" y="4533900"/>
            <a:ext cx="1871662" cy="287338"/>
          </a:xfrm>
          <a:prstGeom prst="rect">
            <a:avLst/>
          </a:prstGeom>
          <a:solidFill>
            <a:srgbClr val="99CCFF">
              <a:alpha val="27843"/>
            </a:srgbClr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75" name="Rectangle 20"/>
          <p:cNvSpPr/>
          <p:nvPr/>
        </p:nvSpPr>
        <p:spPr>
          <a:xfrm>
            <a:off x="4427538" y="4894263"/>
            <a:ext cx="1871662" cy="287337"/>
          </a:xfrm>
          <a:prstGeom prst="rect">
            <a:avLst/>
          </a:prstGeom>
          <a:solidFill>
            <a:srgbClr val="99CCFF">
              <a:alpha val="27843"/>
            </a:srgbClr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76" name="Rectangle 21"/>
          <p:cNvSpPr/>
          <p:nvPr/>
        </p:nvSpPr>
        <p:spPr>
          <a:xfrm>
            <a:off x="4427538" y="5254625"/>
            <a:ext cx="1871662" cy="287338"/>
          </a:xfrm>
          <a:prstGeom prst="rect">
            <a:avLst/>
          </a:prstGeom>
          <a:solidFill>
            <a:srgbClr val="99CCFF">
              <a:alpha val="27843"/>
            </a:srgbClr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77" name="Rectangle 22"/>
          <p:cNvSpPr/>
          <p:nvPr/>
        </p:nvSpPr>
        <p:spPr>
          <a:xfrm>
            <a:off x="6407150" y="2157413"/>
            <a:ext cx="1763713" cy="287337"/>
          </a:xfrm>
          <a:prstGeom prst="rect">
            <a:avLst/>
          </a:prstGeom>
          <a:solidFill>
            <a:srgbClr val="FFFF99">
              <a:alpha val="27843"/>
            </a:srgbClr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78" name="Rectangle 23"/>
          <p:cNvSpPr/>
          <p:nvPr/>
        </p:nvSpPr>
        <p:spPr>
          <a:xfrm>
            <a:off x="6407150" y="2517775"/>
            <a:ext cx="1763713" cy="287338"/>
          </a:xfrm>
          <a:prstGeom prst="rect">
            <a:avLst/>
          </a:prstGeom>
          <a:solidFill>
            <a:srgbClr val="FF99CC">
              <a:alpha val="27843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79" name="Rectangle 24"/>
          <p:cNvSpPr/>
          <p:nvPr/>
        </p:nvSpPr>
        <p:spPr>
          <a:xfrm>
            <a:off x="6407150" y="2949575"/>
            <a:ext cx="1763713" cy="287338"/>
          </a:xfrm>
          <a:prstGeom prst="rect">
            <a:avLst/>
          </a:prstGeom>
          <a:solidFill>
            <a:srgbClr val="CC99FF">
              <a:alpha val="27843"/>
            </a:srgbClr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80" name="Rectangle 25"/>
          <p:cNvSpPr/>
          <p:nvPr/>
        </p:nvSpPr>
        <p:spPr>
          <a:xfrm>
            <a:off x="6386513" y="3357563"/>
            <a:ext cx="1763712" cy="287337"/>
          </a:xfrm>
          <a:prstGeom prst="rect">
            <a:avLst/>
          </a:prstGeom>
          <a:solidFill>
            <a:srgbClr val="FFFF99">
              <a:alpha val="27843"/>
            </a:srgbClr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81" name="Rectangle 26"/>
          <p:cNvSpPr/>
          <p:nvPr/>
        </p:nvSpPr>
        <p:spPr>
          <a:xfrm>
            <a:off x="6386513" y="3717925"/>
            <a:ext cx="1763712" cy="287338"/>
          </a:xfrm>
          <a:prstGeom prst="rect">
            <a:avLst/>
          </a:prstGeom>
          <a:solidFill>
            <a:srgbClr val="FF99CC">
              <a:alpha val="27843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82" name="Rectangle 27"/>
          <p:cNvSpPr/>
          <p:nvPr/>
        </p:nvSpPr>
        <p:spPr>
          <a:xfrm>
            <a:off x="6386513" y="4149725"/>
            <a:ext cx="1763712" cy="287338"/>
          </a:xfrm>
          <a:prstGeom prst="rect">
            <a:avLst/>
          </a:prstGeom>
          <a:solidFill>
            <a:srgbClr val="CC99FF">
              <a:alpha val="27843"/>
            </a:srgbClr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83" name="Rectangle 28"/>
          <p:cNvSpPr/>
          <p:nvPr/>
        </p:nvSpPr>
        <p:spPr>
          <a:xfrm>
            <a:off x="6396038" y="4525963"/>
            <a:ext cx="1763712" cy="287337"/>
          </a:xfrm>
          <a:prstGeom prst="rect">
            <a:avLst/>
          </a:prstGeom>
          <a:solidFill>
            <a:srgbClr val="FFFF99">
              <a:alpha val="27843"/>
            </a:srgbClr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84" name="Rectangle 29"/>
          <p:cNvSpPr/>
          <p:nvPr/>
        </p:nvSpPr>
        <p:spPr>
          <a:xfrm>
            <a:off x="6396038" y="4886325"/>
            <a:ext cx="1763712" cy="287338"/>
          </a:xfrm>
          <a:prstGeom prst="rect">
            <a:avLst/>
          </a:prstGeom>
          <a:solidFill>
            <a:srgbClr val="FF99CC">
              <a:alpha val="27843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85" name="Rectangle 30"/>
          <p:cNvSpPr/>
          <p:nvPr/>
        </p:nvSpPr>
        <p:spPr>
          <a:xfrm>
            <a:off x="6396038" y="5318125"/>
            <a:ext cx="1763712" cy="287338"/>
          </a:xfrm>
          <a:prstGeom prst="rect">
            <a:avLst/>
          </a:prstGeom>
          <a:solidFill>
            <a:srgbClr val="CC99FF">
              <a:alpha val="27843"/>
            </a:srgbClr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pic>
        <p:nvPicPr>
          <p:cNvPr id="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1198563"/>
            <a:ext cx="2921000" cy="2590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3857625"/>
            <a:ext cx="2951162" cy="2360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22"/>
          <p:cNvSpPr/>
          <p:nvPr/>
        </p:nvSpPr>
        <p:spPr>
          <a:xfrm>
            <a:off x="900113" y="4797425"/>
            <a:ext cx="1871662" cy="287338"/>
          </a:xfrm>
          <a:prstGeom prst="rect">
            <a:avLst/>
          </a:prstGeom>
          <a:solidFill>
            <a:srgbClr val="FFFF99">
              <a:alpha val="27843"/>
            </a:srgbClr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86" name="Rectangle 23"/>
          <p:cNvSpPr/>
          <p:nvPr/>
        </p:nvSpPr>
        <p:spPr>
          <a:xfrm>
            <a:off x="900113" y="5230813"/>
            <a:ext cx="1871662" cy="287337"/>
          </a:xfrm>
          <a:prstGeom prst="rect">
            <a:avLst/>
          </a:prstGeom>
          <a:solidFill>
            <a:srgbClr val="FF99CC">
              <a:alpha val="27843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66587" name="Rectangle 24"/>
          <p:cNvSpPr/>
          <p:nvPr/>
        </p:nvSpPr>
        <p:spPr>
          <a:xfrm>
            <a:off x="900113" y="5662613"/>
            <a:ext cx="1871662" cy="287337"/>
          </a:xfrm>
          <a:prstGeom prst="rect">
            <a:avLst/>
          </a:prstGeom>
          <a:solidFill>
            <a:srgbClr val="CC99FF">
              <a:alpha val="27843"/>
            </a:srgbClr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1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1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6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6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6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6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6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6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6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6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6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6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6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6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6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6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6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6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6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6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6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6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6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6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6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6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5" grpId="0" animBg="1"/>
      <p:bldP spid="66566" grpId="0" animBg="1"/>
      <p:bldP spid="66567" grpId="0" animBg="1"/>
      <p:bldP spid="66571" grpId="0" animBg="1"/>
      <p:bldP spid="66572" grpId="0" animBg="1"/>
      <p:bldP spid="66573" grpId="0" animBg="1"/>
      <p:bldP spid="66574" grpId="0" animBg="1"/>
      <p:bldP spid="66575" grpId="0" animBg="1"/>
      <p:bldP spid="66576" grpId="0" animBg="1"/>
      <p:bldP spid="66577" grpId="0" animBg="1"/>
      <p:bldP spid="66578" grpId="0" animBg="1"/>
      <p:bldP spid="66579" grpId="0" animBg="1"/>
      <p:bldP spid="66580" grpId="0" animBg="1"/>
      <p:bldP spid="66581" grpId="0" animBg="1"/>
      <p:bldP spid="66582" grpId="0" animBg="1"/>
      <p:bldP spid="66583" grpId="0" animBg="1"/>
      <p:bldP spid="66584" grpId="0" animBg="1"/>
      <p:bldP spid="6658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2.4.2 </a:t>
            </a:r>
            <a:r>
              <a:rPr lang="zh-CN" altLang="en-US" dirty="0"/>
              <a:t>专门的关系运算</a:t>
            </a:r>
            <a:endParaRPr lang="zh-CN" altLang="en-US" dirty="0"/>
          </a:p>
        </p:txBody>
      </p:sp>
      <p:sp>
        <p:nvSpPr>
          <p:cNvPr id="67588" name="Rectangle 3"/>
          <p:cNvSpPr>
            <a:spLocks noGrp="1"/>
          </p:cNvSpPr>
          <p:nvPr>
            <p:ph idx="1"/>
          </p:nvPr>
        </p:nvSpPr>
        <p:spPr>
          <a:xfrm>
            <a:off x="1042988" y="1600200"/>
            <a:ext cx="5410200" cy="3484563"/>
          </a:xfrm>
          <a:ln/>
        </p:spPr>
        <p:txBody>
          <a:bodyPr vert="horz" wrap="square" lIns="91440" tIns="45720" rIns="91440" bIns="45720" anchor="t" anchorCtr="0"/>
          <a:p>
            <a:pPr marL="849630" indent="-476250">
              <a:lnSpc>
                <a:spcPct val="110000"/>
              </a:lnSpc>
            </a:pPr>
            <a:r>
              <a:rPr lang="zh-CN" altLang="en-US" sz="3200" dirty="0">
                <a:hlinkClick r:id="" action="ppaction://noaction"/>
              </a:rPr>
              <a:t>选择</a:t>
            </a:r>
            <a:endParaRPr lang="zh-CN" altLang="en-US" sz="3200" dirty="0"/>
          </a:p>
          <a:p>
            <a:pPr marL="849630" indent="-476250">
              <a:lnSpc>
                <a:spcPct val="110000"/>
              </a:lnSpc>
            </a:pPr>
            <a:r>
              <a:rPr lang="zh-CN" altLang="en-US" sz="3200" dirty="0">
                <a:hlinkClick r:id="" action="ppaction://noaction"/>
              </a:rPr>
              <a:t>投影</a:t>
            </a:r>
            <a:endParaRPr lang="zh-CN" altLang="en-US" sz="3200" dirty="0"/>
          </a:p>
          <a:p>
            <a:pPr marL="849630" indent="-476250">
              <a:lnSpc>
                <a:spcPct val="110000"/>
              </a:lnSpc>
            </a:pPr>
            <a:r>
              <a:rPr lang="zh-CN" altLang="en-US" sz="3200" dirty="0">
                <a:hlinkClick r:id="" action="ppaction://noaction"/>
              </a:rPr>
              <a:t>连接</a:t>
            </a:r>
            <a:endParaRPr lang="zh-CN" altLang="en-US" sz="3200" dirty="0"/>
          </a:p>
          <a:p>
            <a:pPr marL="849630" indent="-476250">
              <a:lnSpc>
                <a:spcPct val="110000"/>
              </a:lnSpc>
            </a:pPr>
            <a:r>
              <a:rPr lang="zh-CN" altLang="en-US" sz="3200" dirty="0">
                <a:hlinkClick r:id="" action="ppaction://noaction"/>
              </a:rPr>
              <a:t>除</a:t>
            </a:r>
            <a:endParaRPr lang="zh-CN" altLang="en-US" sz="3200" dirty="0"/>
          </a:p>
        </p:txBody>
      </p:sp>
    </p:spTree>
  </p:cSld>
  <p:clrMapOvr>
    <a:masterClrMapping/>
  </p:clrMapOvr>
  <p:transition advClick="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1. </a:t>
            </a:r>
            <a:r>
              <a:rPr lang="zh-CN" altLang="en-US" dirty="0"/>
              <a:t>选择（</a:t>
            </a:r>
            <a:r>
              <a:rPr lang="en-US" altLang="zh-CN" dirty="0"/>
              <a:t>Selection</a:t>
            </a:r>
            <a:r>
              <a:rPr lang="zh-CN" altLang="en-US" dirty="0"/>
              <a:t>） </a:t>
            </a:r>
            <a:endParaRPr lang="zh-CN" altLang="en-US" dirty="0"/>
          </a:p>
        </p:txBody>
      </p:sp>
      <p:sp>
        <p:nvSpPr>
          <p:cNvPr id="68612" name="Rectangle 3"/>
          <p:cNvSpPr>
            <a:spLocks noGrp="1"/>
          </p:cNvSpPr>
          <p:nvPr>
            <p:ph idx="1"/>
          </p:nvPr>
        </p:nvSpPr>
        <p:spPr>
          <a:xfrm>
            <a:off x="179388" y="1093788"/>
            <a:ext cx="8964612" cy="2159000"/>
          </a:xfrm>
          <a:ln/>
        </p:spPr>
        <p:txBody>
          <a:bodyPr vert="horz" wrap="square" lIns="91440" tIns="45720" rIns="91440" bIns="45720" anchor="t" anchorCtr="0"/>
          <a:p>
            <a:pPr algn="just"/>
            <a:r>
              <a:rPr lang="en-US" altLang="zh-CN" dirty="0"/>
              <a:t> </a:t>
            </a:r>
            <a:r>
              <a:rPr lang="zh-CN" altLang="en-US" dirty="0"/>
              <a:t>选择运算符的含义</a:t>
            </a:r>
            <a:endParaRPr lang="zh-CN" altLang="en-US" dirty="0"/>
          </a:p>
          <a:p>
            <a:pPr lvl="1" algn="just"/>
            <a:r>
              <a:rPr lang="zh-CN" altLang="en-US" dirty="0"/>
              <a:t>在关系</a:t>
            </a:r>
            <a:r>
              <a:rPr lang="en-US" altLang="zh-CN" i="1" dirty="0"/>
              <a:t>R</a:t>
            </a:r>
            <a:r>
              <a:rPr lang="zh-CN" altLang="en-US" dirty="0"/>
              <a:t>中</a:t>
            </a:r>
            <a:r>
              <a:rPr lang="zh-CN" altLang="en-US" b="1" dirty="0">
                <a:solidFill>
                  <a:srgbClr val="FF0000"/>
                </a:solidFill>
              </a:rPr>
              <a:t>选择满足给定条件的诸元组</a:t>
            </a:r>
            <a:endParaRPr lang="zh-CN" altLang="en-US" b="1" dirty="0">
              <a:solidFill>
                <a:srgbClr val="FF0000"/>
              </a:solidFill>
            </a:endParaRPr>
          </a:p>
          <a:p>
            <a:pPr lvl="1" algn="just">
              <a:buNone/>
            </a:pPr>
            <a:r>
              <a:rPr lang="zh-CN" altLang="en-US" dirty="0"/>
              <a:t>               </a:t>
            </a:r>
            <a:r>
              <a:rPr lang="en-US" altLang="zh-CN" dirty="0">
                <a:solidFill>
                  <a:srgbClr val="0033CC"/>
                </a:solidFill>
              </a:rPr>
              <a:t>σ</a:t>
            </a:r>
            <a:r>
              <a:rPr lang="en-US" altLang="zh-CN" baseline="-30000" dirty="0">
                <a:solidFill>
                  <a:srgbClr val="0033CC"/>
                </a:solidFill>
              </a:rPr>
              <a:t>F</a:t>
            </a:r>
            <a:r>
              <a:rPr lang="en-US" altLang="zh-CN" dirty="0">
                <a:solidFill>
                  <a:srgbClr val="0033CC"/>
                </a:solidFill>
              </a:rPr>
              <a:t>(</a:t>
            </a:r>
            <a:r>
              <a:rPr lang="en-US" altLang="zh-CN" i="1" dirty="0">
                <a:solidFill>
                  <a:srgbClr val="0033CC"/>
                </a:solidFill>
              </a:rPr>
              <a:t>R</a:t>
            </a:r>
            <a:r>
              <a:rPr lang="en-US" altLang="zh-CN" dirty="0">
                <a:solidFill>
                  <a:srgbClr val="0033CC"/>
                </a:solidFill>
              </a:rPr>
              <a:t>) = {</a:t>
            </a:r>
            <a:r>
              <a:rPr lang="en-US" altLang="zh-CN" i="1" dirty="0">
                <a:solidFill>
                  <a:srgbClr val="0033CC"/>
                </a:solidFill>
              </a:rPr>
              <a:t>t</a:t>
            </a:r>
            <a:r>
              <a:rPr lang="en-US" altLang="zh-CN" dirty="0">
                <a:solidFill>
                  <a:srgbClr val="0033CC"/>
                </a:solidFill>
              </a:rPr>
              <a:t>|</a:t>
            </a:r>
            <a:r>
              <a:rPr lang="en-US" altLang="zh-CN" i="1" dirty="0">
                <a:solidFill>
                  <a:srgbClr val="0033CC"/>
                </a:solidFill>
              </a:rPr>
              <a:t>t</a:t>
            </a:r>
            <a:r>
              <a:rPr lang="en-US" altLang="zh-CN" dirty="0">
                <a:solidFill>
                  <a:srgbClr val="0033CC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0033CC"/>
                </a:solidFill>
              </a:rPr>
              <a:t>R</a:t>
            </a:r>
            <a:r>
              <a:rPr lang="en-US" altLang="zh-CN" dirty="0">
                <a:solidFill>
                  <a:srgbClr val="0033CC"/>
                </a:solidFill>
              </a:rPr>
              <a:t>∧</a:t>
            </a:r>
            <a:r>
              <a:rPr lang="en-US" altLang="zh-CN" i="1" dirty="0">
                <a:solidFill>
                  <a:srgbClr val="0033CC"/>
                </a:solidFill>
              </a:rPr>
              <a:t>F</a:t>
            </a:r>
            <a:r>
              <a:rPr lang="en-US" altLang="zh-CN" dirty="0">
                <a:solidFill>
                  <a:srgbClr val="0033CC"/>
                </a:solidFill>
              </a:rPr>
              <a:t>(</a:t>
            </a:r>
            <a:r>
              <a:rPr lang="en-US" altLang="zh-CN" i="1" dirty="0">
                <a:solidFill>
                  <a:srgbClr val="0033CC"/>
                </a:solidFill>
              </a:rPr>
              <a:t>t</a:t>
            </a:r>
            <a:r>
              <a:rPr lang="en-US" altLang="zh-CN" dirty="0">
                <a:solidFill>
                  <a:srgbClr val="0033CC"/>
                </a:solidFill>
              </a:rPr>
              <a:t>)= '</a:t>
            </a:r>
            <a:r>
              <a:rPr lang="zh-CN" altLang="en-US" dirty="0">
                <a:solidFill>
                  <a:srgbClr val="0033CC"/>
                </a:solidFill>
              </a:rPr>
              <a:t>真</a:t>
            </a:r>
            <a:r>
              <a:rPr lang="en-US" altLang="zh-CN" dirty="0">
                <a:solidFill>
                  <a:srgbClr val="0033CC"/>
                </a:solidFill>
              </a:rPr>
              <a:t>'}</a:t>
            </a:r>
            <a:endParaRPr lang="en-US" altLang="zh-CN" dirty="0">
              <a:solidFill>
                <a:srgbClr val="0033CC"/>
              </a:solidFill>
            </a:endParaRPr>
          </a:p>
        </p:txBody>
      </p:sp>
      <p:sp>
        <p:nvSpPr>
          <p:cNvPr id="339972" name="Rectangle 4"/>
          <p:cNvSpPr>
            <a:spLocks noChangeArrowheads="1"/>
          </p:cNvSpPr>
          <p:nvPr/>
        </p:nvSpPr>
        <p:spPr bwMode="auto">
          <a:xfrm>
            <a:off x="107950" y="2852738"/>
            <a:ext cx="8964613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E02920"/>
              </a:buClr>
              <a:buSzPct val="75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F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：选择条件，是一个逻辑表达式。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楷体_GB2312"/>
              <a:cs typeface="楷体_GB2312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E02920"/>
              </a:buClr>
              <a:buSzPct val="75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F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中可以包含：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楷体_GB2312"/>
              <a:cs typeface="楷体_GB2312"/>
            </a:endParaRPr>
          </a:p>
          <a:p>
            <a:pPr marL="971550" marR="0" lvl="1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E02920"/>
              </a:buClr>
              <a:buSzPct val="75000"/>
              <a:buFont typeface="+mj-lt"/>
              <a:buAutoNum type="arabicPeriod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比较运算符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（＞，≥，＜，≤，＝或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&lt;&gt;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）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楷体_GB2312"/>
              <a:cs typeface="楷体_GB2312"/>
            </a:endParaRPr>
          </a:p>
          <a:p>
            <a:pPr marL="990600" marR="0" lvl="1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+mj-lt"/>
              <a:buAutoNum type="arabicPeriod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属性名、常量、简单函数；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属性名也可以用它的序号来代替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；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楷体_GB2312"/>
              <a:cs typeface="楷体_GB2312"/>
            </a:endParaRPr>
          </a:p>
          <a:p>
            <a:pPr marL="990600" marR="0" lvl="1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+mj-lt"/>
              <a:buAutoNum type="arabicPeriod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逻辑运算符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  ,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楷体_GB2312"/>
                <a:cs typeface="楷体_GB2312"/>
              </a:rPr>
              <a:t>∧ ，∨）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选择（续）</a:t>
            </a:r>
            <a:endParaRPr lang="zh-CN" altLang="en-US" dirty="0"/>
          </a:p>
        </p:txBody>
      </p:sp>
      <p:sp>
        <p:nvSpPr>
          <p:cNvPr id="69636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229600" cy="4525963"/>
          </a:xfrm>
          <a:ln/>
        </p:spPr>
        <p:txBody>
          <a:bodyPr vert="horz" wrap="square" lIns="91440" tIns="45720" rIns="91440" bIns="45720" anchor="t" anchorCtr="0"/>
          <a:p>
            <a:pPr algn="just"/>
            <a:r>
              <a:rPr lang="zh-CN" altLang="en-US" dirty="0"/>
              <a:t>选择运算是从行的角度进行的运算 </a:t>
            </a:r>
            <a:endParaRPr lang="zh-CN" altLang="en-US" dirty="0"/>
          </a:p>
          <a:p>
            <a:pPr algn="just"/>
            <a:endParaRPr lang="zh-CN" altLang="en-US" dirty="0"/>
          </a:p>
          <a:p>
            <a:pPr algn="just"/>
            <a:endParaRPr lang="zh-CN" altLang="en-US" dirty="0"/>
          </a:p>
          <a:p>
            <a:pPr algn="just"/>
            <a:endParaRPr lang="zh-CN" altLang="en-US" dirty="0"/>
          </a:p>
          <a:p>
            <a:pPr algn="just"/>
            <a:r>
              <a:rPr lang="zh-CN" altLang="en-US" dirty="0"/>
              <a:t>举例</a:t>
            </a:r>
            <a:endParaRPr lang="zh-CN" altLang="en-US" dirty="0"/>
          </a:p>
          <a:p>
            <a:pPr marL="819150" lvl="1" indent="-436245" algn="just">
              <a:buNone/>
            </a:pPr>
            <a:r>
              <a:rPr lang="zh-CN" altLang="en-US" dirty="0"/>
              <a:t>	设有一个学生</a:t>
            </a:r>
            <a:r>
              <a:rPr lang="en-US" altLang="zh-CN" dirty="0"/>
              <a:t>-</a:t>
            </a:r>
            <a:r>
              <a:rPr lang="zh-CN" altLang="en-US" dirty="0"/>
              <a:t>课程数据库，包括学生关系</a:t>
            </a:r>
            <a:r>
              <a:rPr lang="en-US" altLang="zh-CN" dirty="0"/>
              <a:t>Student</a:t>
            </a:r>
            <a:r>
              <a:rPr lang="zh-CN" altLang="en-US" dirty="0"/>
              <a:t>、课程关系</a:t>
            </a:r>
            <a:r>
              <a:rPr lang="en-US" altLang="zh-CN" dirty="0"/>
              <a:t>Course</a:t>
            </a:r>
            <a:r>
              <a:rPr lang="zh-CN" altLang="en-US" dirty="0"/>
              <a:t>和选修关系</a:t>
            </a:r>
            <a:r>
              <a:rPr lang="en-US" altLang="zh-CN" dirty="0"/>
              <a:t>SC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grpSp>
        <p:nvGrpSpPr>
          <p:cNvPr id="69637" name="Group 4"/>
          <p:cNvGrpSpPr/>
          <p:nvPr/>
        </p:nvGrpSpPr>
        <p:grpSpPr>
          <a:xfrm>
            <a:off x="2305050" y="2403475"/>
            <a:ext cx="4191000" cy="1219200"/>
            <a:chOff x="2448" y="1728"/>
            <a:chExt cx="2640" cy="768"/>
          </a:xfrm>
        </p:grpSpPr>
        <p:sp>
          <p:nvSpPr>
            <p:cNvPr id="69638" name="Rectangle 5"/>
            <p:cNvSpPr/>
            <p:nvPr/>
          </p:nvSpPr>
          <p:spPr>
            <a:xfrm>
              <a:off x="2448" y="1728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9639" name="Rectangle 6" descr="浅色下对角线"/>
            <p:cNvSpPr/>
            <p:nvPr/>
          </p:nvSpPr>
          <p:spPr>
            <a:xfrm>
              <a:off x="2448" y="1824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9640" name="Rectangle 7"/>
            <p:cNvSpPr/>
            <p:nvPr/>
          </p:nvSpPr>
          <p:spPr>
            <a:xfrm>
              <a:off x="2448" y="1920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9641" name="Rectangle 8"/>
            <p:cNvSpPr/>
            <p:nvPr/>
          </p:nvSpPr>
          <p:spPr>
            <a:xfrm>
              <a:off x="2448" y="2400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9642" name="Rectangle 9"/>
            <p:cNvSpPr/>
            <p:nvPr/>
          </p:nvSpPr>
          <p:spPr>
            <a:xfrm>
              <a:off x="2448" y="2016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9643" name="Rectangle 10" descr="浅色下对角线"/>
            <p:cNvSpPr/>
            <p:nvPr/>
          </p:nvSpPr>
          <p:spPr>
            <a:xfrm>
              <a:off x="2448" y="2112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9644" name="Rectangle 11"/>
            <p:cNvSpPr/>
            <p:nvPr/>
          </p:nvSpPr>
          <p:spPr>
            <a:xfrm>
              <a:off x="2448" y="2208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9645" name="Rectangle 12" descr="浅色下对角线"/>
            <p:cNvSpPr/>
            <p:nvPr/>
          </p:nvSpPr>
          <p:spPr>
            <a:xfrm>
              <a:off x="2448" y="2304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9646" name="Rectangle 13" descr="浅色下对角线"/>
            <p:cNvSpPr/>
            <p:nvPr/>
          </p:nvSpPr>
          <p:spPr>
            <a:xfrm>
              <a:off x="4176" y="2112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9647" name="Rectangle 14" descr="浅色下对角线"/>
            <p:cNvSpPr/>
            <p:nvPr/>
          </p:nvSpPr>
          <p:spPr>
            <a:xfrm>
              <a:off x="4176" y="2016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9648" name="Rectangle 15" descr="浅色下对角线"/>
            <p:cNvSpPr/>
            <p:nvPr/>
          </p:nvSpPr>
          <p:spPr>
            <a:xfrm>
              <a:off x="4176" y="1920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9649" name="AutoShape 16"/>
            <p:cNvSpPr/>
            <p:nvPr/>
          </p:nvSpPr>
          <p:spPr>
            <a:xfrm>
              <a:off x="3552" y="2016"/>
              <a:ext cx="528" cy="144"/>
            </a:xfrm>
            <a:prstGeom prst="rightArrow">
              <a:avLst>
                <a:gd name="adj1" fmla="val 50000"/>
                <a:gd name="adj2" fmla="val 9166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9650" name="Text Box 17"/>
            <p:cNvSpPr txBox="1"/>
            <p:nvPr/>
          </p:nvSpPr>
          <p:spPr>
            <a:xfrm>
              <a:off x="3552" y="1728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σ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选择（续）</a:t>
            </a:r>
            <a:endParaRPr lang="zh-CN" altLang="en-US" dirty="0"/>
          </a:p>
        </p:txBody>
      </p:sp>
      <p:sp>
        <p:nvSpPr>
          <p:cNvPr id="70660" name="Rectangle 82"/>
          <p:cNvSpPr/>
          <p:nvPr/>
        </p:nvSpPr>
        <p:spPr>
          <a:xfrm>
            <a:off x="1066800" y="5013325"/>
            <a:ext cx="6931025" cy="974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2400" b="1" dirty="0">
                <a:latin typeface="Verdana" panose="020B0604030504040204" pitchFamily="34" charset="0"/>
              </a:rPr>
              <a:t>(a)</a:t>
            </a:r>
            <a:endParaRPr lang="en-US" altLang="zh-CN" sz="2400" dirty="0">
              <a:latin typeface="Verdana" panose="020B0604030504040204" pitchFamily="34" charset="0"/>
            </a:endParaRPr>
          </a:p>
          <a:p>
            <a:pPr algn="just"/>
            <a:r>
              <a:rPr lang="en-US" altLang="zh-CN" sz="1000" dirty="0">
                <a:latin typeface="Times New Roman" panose="02020603050405020304" pitchFamily="18" charset="0"/>
              </a:rPr>
              <a:t> </a:t>
            </a:r>
            <a:endParaRPr lang="en-US" altLang="zh-CN" sz="1000" dirty="0">
              <a:latin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70661" name="Rectangle 83"/>
          <p:cNvSpPr/>
          <p:nvPr/>
        </p:nvSpPr>
        <p:spPr>
          <a:xfrm>
            <a:off x="5715000" y="928688"/>
            <a:ext cx="1150938" cy="6905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400" dirty="0">
                <a:latin typeface="Verdana" panose="020B0604030504040204" pitchFamily="34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Student</a:t>
            </a:r>
            <a:endParaRPr lang="en-US" altLang="zh-CN" sz="24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grpSp>
        <p:nvGrpSpPr>
          <p:cNvPr id="70662" name="Group 92"/>
          <p:cNvGrpSpPr/>
          <p:nvPr/>
        </p:nvGrpSpPr>
        <p:grpSpPr>
          <a:xfrm>
            <a:off x="468313" y="1628775"/>
            <a:ext cx="7961312" cy="3240088"/>
            <a:chOff x="204" y="799"/>
            <a:chExt cx="4354" cy="2041"/>
          </a:xfrm>
        </p:grpSpPr>
        <p:grpSp>
          <p:nvGrpSpPr>
            <p:cNvPr id="70663" name="Group 30"/>
            <p:cNvGrpSpPr/>
            <p:nvPr/>
          </p:nvGrpSpPr>
          <p:grpSpPr>
            <a:xfrm>
              <a:off x="209" y="803"/>
              <a:ext cx="898" cy="596"/>
              <a:chOff x="0" y="0"/>
              <a:chExt cx="513" cy="422"/>
            </a:xfrm>
          </p:grpSpPr>
          <p:sp>
            <p:nvSpPr>
              <p:cNvPr id="70735" name="Rectangle 4"/>
              <p:cNvSpPr/>
              <p:nvPr/>
            </p:nvSpPr>
            <p:spPr>
              <a:xfrm>
                <a:off x="43" y="0"/>
                <a:ext cx="427" cy="422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学  号</a:t>
                </a:r>
                <a:endParaRPr lang="zh-CN" altLang="en-US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Sno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36" name="Rectangle 29"/>
              <p:cNvSpPr/>
              <p:nvPr/>
            </p:nvSpPr>
            <p:spPr>
              <a:xfrm>
                <a:off x="0" y="0"/>
                <a:ext cx="513" cy="42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64" name="Group 32"/>
            <p:cNvGrpSpPr/>
            <p:nvPr/>
          </p:nvGrpSpPr>
          <p:grpSpPr>
            <a:xfrm>
              <a:off x="1107" y="803"/>
              <a:ext cx="897" cy="596"/>
              <a:chOff x="513" y="0"/>
              <a:chExt cx="512" cy="422"/>
            </a:xfrm>
          </p:grpSpPr>
          <p:sp>
            <p:nvSpPr>
              <p:cNvPr id="70733" name="Rectangle 5"/>
              <p:cNvSpPr/>
              <p:nvPr/>
            </p:nvSpPr>
            <p:spPr>
              <a:xfrm>
                <a:off x="556" y="0"/>
                <a:ext cx="426" cy="422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姓  名</a:t>
                </a:r>
                <a:endParaRPr lang="zh-CN" altLang="en-US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Sname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34" name="Rectangle 31"/>
              <p:cNvSpPr/>
              <p:nvPr/>
            </p:nvSpPr>
            <p:spPr>
              <a:xfrm>
                <a:off x="513" y="0"/>
                <a:ext cx="512" cy="42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65" name="Group 34"/>
            <p:cNvGrpSpPr/>
            <p:nvPr/>
          </p:nvGrpSpPr>
          <p:grpSpPr>
            <a:xfrm>
              <a:off x="2004" y="803"/>
              <a:ext cx="845" cy="596"/>
              <a:chOff x="1025" y="0"/>
              <a:chExt cx="483" cy="422"/>
            </a:xfrm>
          </p:grpSpPr>
          <p:sp>
            <p:nvSpPr>
              <p:cNvPr id="70731" name="Rectangle 6"/>
              <p:cNvSpPr/>
              <p:nvPr/>
            </p:nvSpPr>
            <p:spPr>
              <a:xfrm>
                <a:off x="1068" y="0"/>
                <a:ext cx="397" cy="422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性  别</a:t>
                </a:r>
                <a:endParaRPr lang="zh-CN" altLang="en-US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Ssex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32" name="Rectangle 33"/>
              <p:cNvSpPr/>
              <p:nvPr/>
            </p:nvSpPr>
            <p:spPr>
              <a:xfrm>
                <a:off x="1025" y="0"/>
                <a:ext cx="483" cy="42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66" name="Group 36"/>
            <p:cNvGrpSpPr/>
            <p:nvPr/>
          </p:nvGrpSpPr>
          <p:grpSpPr>
            <a:xfrm>
              <a:off x="2849" y="803"/>
              <a:ext cx="862" cy="596"/>
              <a:chOff x="1508" y="0"/>
              <a:chExt cx="492" cy="422"/>
            </a:xfrm>
          </p:grpSpPr>
          <p:sp>
            <p:nvSpPr>
              <p:cNvPr id="70729" name="Rectangle 7"/>
              <p:cNvSpPr/>
              <p:nvPr/>
            </p:nvSpPr>
            <p:spPr>
              <a:xfrm>
                <a:off x="1551" y="0"/>
                <a:ext cx="406" cy="422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年  龄</a:t>
                </a:r>
                <a:endParaRPr lang="zh-CN" altLang="en-US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Sage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30" name="Rectangle 35"/>
              <p:cNvSpPr/>
              <p:nvPr/>
            </p:nvSpPr>
            <p:spPr>
              <a:xfrm>
                <a:off x="1508" y="0"/>
                <a:ext cx="492" cy="42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67" name="Group 40"/>
            <p:cNvGrpSpPr/>
            <p:nvPr/>
          </p:nvGrpSpPr>
          <p:grpSpPr>
            <a:xfrm>
              <a:off x="209" y="1399"/>
              <a:ext cx="898" cy="353"/>
              <a:chOff x="0" y="422"/>
              <a:chExt cx="513" cy="355"/>
            </a:xfrm>
          </p:grpSpPr>
          <p:sp>
            <p:nvSpPr>
              <p:cNvPr id="70727" name="Rectangle 9"/>
              <p:cNvSpPr/>
              <p:nvPr/>
            </p:nvSpPr>
            <p:spPr>
              <a:xfrm>
                <a:off x="43" y="422"/>
                <a:ext cx="427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95001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28" name="Rectangle 39"/>
              <p:cNvSpPr/>
              <p:nvPr/>
            </p:nvSpPr>
            <p:spPr>
              <a:xfrm>
                <a:off x="0" y="422"/>
                <a:ext cx="513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68" name="Group 42"/>
            <p:cNvGrpSpPr/>
            <p:nvPr/>
          </p:nvGrpSpPr>
          <p:grpSpPr>
            <a:xfrm>
              <a:off x="1107" y="1399"/>
              <a:ext cx="897" cy="353"/>
              <a:chOff x="513" y="422"/>
              <a:chExt cx="512" cy="355"/>
            </a:xfrm>
          </p:grpSpPr>
          <p:sp>
            <p:nvSpPr>
              <p:cNvPr id="70725" name="Rectangle 10"/>
              <p:cNvSpPr/>
              <p:nvPr/>
            </p:nvSpPr>
            <p:spPr>
              <a:xfrm>
                <a:off x="556" y="422"/>
                <a:ext cx="426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李勇</a:t>
                </a:r>
                <a:endParaRPr lang="zh-CN" altLang="en-US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26" name="Rectangle 41"/>
              <p:cNvSpPr/>
              <p:nvPr/>
            </p:nvSpPr>
            <p:spPr>
              <a:xfrm>
                <a:off x="513" y="422"/>
                <a:ext cx="512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69" name="Group 44"/>
            <p:cNvGrpSpPr/>
            <p:nvPr/>
          </p:nvGrpSpPr>
          <p:grpSpPr>
            <a:xfrm>
              <a:off x="2004" y="1399"/>
              <a:ext cx="845" cy="353"/>
              <a:chOff x="1025" y="422"/>
              <a:chExt cx="483" cy="355"/>
            </a:xfrm>
          </p:grpSpPr>
          <p:sp>
            <p:nvSpPr>
              <p:cNvPr id="70723" name="Rectangle 11"/>
              <p:cNvSpPr/>
              <p:nvPr/>
            </p:nvSpPr>
            <p:spPr>
              <a:xfrm>
                <a:off x="1068" y="422"/>
                <a:ext cx="397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男</a:t>
                </a:r>
                <a:endParaRPr lang="zh-CN" altLang="en-US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24" name="Rectangle 43"/>
              <p:cNvSpPr/>
              <p:nvPr/>
            </p:nvSpPr>
            <p:spPr>
              <a:xfrm>
                <a:off x="1025" y="422"/>
                <a:ext cx="483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70" name="Group 46"/>
            <p:cNvGrpSpPr/>
            <p:nvPr/>
          </p:nvGrpSpPr>
          <p:grpSpPr>
            <a:xfrm>
              <a:off x="2849" y="1399"/>
              <a:ext cx="862" cy="353"/>
              <a:chOff x="1508" y="422"/>
              <a:chExt cx="492" cy="355"/>
            </a:xfrm>
          </p:grpSpPr>
          <p:sp>
            <p:nvSpPr>
              <p:cNvPr id="70721" name="Rectangle 12"/>
              <p:cNvSpPr/>
              <p:nvPr/>
            </p:nvSpPr>
            <p:spPr>
              <a:xfrm>
                <a:off x="1551" y="422"/>
                <a:ext cx="406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20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22" name="Rectangle 45"/>
              <p:cNvSpPr/>
              <p:nvPr/>
            </p:nvSpPr>
            <p:spPr>
              <a:xfrm>
                <a:off x="1508" y="422"/>
                <a:ext cx="492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71" name="Group 48"/>
            <p:cNvGrpSpPr/>
            <p:nvPr/>
          </p:nvGrpSpPr>
          <p:grpSpPr>
            <a:xfrm>
              <a:off x="3711" y="1399"/>
              <a:ext cx="842" cy="353"/>
              <a:chOff x="2000" y="422"/>
              <a:chExt cx="481" cy="355"/>
            </a:xfrm>
          </p:grpSpPr>
          <p:sp>
            <p:nvSpPr>
              <p:cNvPr id="70719" name="Rectangle 13"/>
              <p:cNvSpPr/>
              <p:nvPr/>
            </p:nvSpPr>
            <p:spPr>
              <a:xfrm>
                <a:off x="2043" y="422"/>
                <a:ext cx="395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CS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20" name="Rectangle 47"/>
              <p:cNvSpPr/>
              <p:nvPr/>
            </p:nvSpPr>
            <p:spPr>
              <a:xfrm>
                <a:off x="2000" y="422"/>
                <a:ext cx="481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72" name="Group 50"/>
            <p:cNvGrpSpPr/>
            <p:nvPr/>
          </p:nvGrpSpPr>
          <p:grpSpPr>
            <a:xfrm>
              <a:off x="209" y="1752"/>
              <a:ext cx="898" cy="363"/>
              <a:chOff x="0" y="777"/>
              <a:chExt cx="513" cy="355"/>
            </a:xfrm>
          </p:grpSpPr>
          <p:sp>
            <p:nvSpPr>
              <p:cNvPr id="70717" name="Rectangle 14"/>
              <p:cNvSpPr/>
              <p:nvPr/>
            </p:nvSpPr>
            <p:spPr>
              <a:xfrm>
                <a:off x="43" y="777"/>
                <a:ext cx="427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95002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18" name="Rectangle 49"/>
              <p:cNvSpPr/>
              <p:nvPr/>
            </p:nvSpPr>
            <p:spPr>
              <a:xfrm>
                <a:off x="0" y="777"/>
                <a:ext cx="513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73" name="Group 52"/>
            <p:cNvGrpSpPr/>
            <p:nvPr/>
          </p:nvGrpSpPr>
          <p:grpSpPr>
            <a:xfrm>
              <a:off x="1107" y="1752"/>
              <a:ext cx="897" cy="363"/>
              <a:chOff x="513" y="777"/>
              <a:chExt cx="512" cy="355"/>
            </a:xfrm>
          </p:grpSpPr>
          <p:sp>
            <p:nvSpPr>
              <p:cNvPr id="70715" name="Rectangle 15"/>
              <p:cNvSpPr/>
              <p:nvPr/>
            </p:nvSpPr>
            <p:spPr>
              <a:xfrm>
                <a:off x="556" y="777"/>
                <a:ext cx="426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刘晨</a:t>
                </a:r>
                <a:endParaRPr lang="zh-CN" altLang="en-US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16" name="Rectangle 51"/>
              <p:cNvSpPr/>
              <p:nvPr/>
            </p:nvSpPr>
            <p:spPr>
              <a:xfrm>
                <a:off x="513" y="777"/>
                <a:ext cx="512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74" name="Group 54"/>
            <p:cNvGrpSpPr/>
            <p:nvPr/>
          </p:nvGrpSpPr>
          <p:grpSpPr>
            <a:xfrm>
              <a:off x="2004" y="1752"/>
              <a:ext cx="845" cy="363"/>
              <a:chOff x="1025" y="777"/>
              <a:chExt cx="483" cy="355"/>
            </a:xfrm>
          </p:grpSpPr>
          <p:sp>
            <p:nvSpPr>
              <p:cNvPr id="70713" name="Rectangle 16"/>
              <p:cNvSpPr/>
              <p:nvPr/>
            </p:nvSpPr>
            <p:spPr>
              <a:xfrm>
                <a:off x="1068" y="777"/>
                <a:ext cx="397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女</a:t>
                </a:r>
                <a:endParaRPr lang="zh-CN" altLang="en-US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14" name="Rectangle 53"/>
              <p:cNvSpPr/>
              <p:nvPr/>
            </p:nvSpPr>
            <p:spPr>
              <a:xfrm>
                <a:off x="1025" y="777"/>
                <a:ext cx="483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75" name="Group 56"/>
            <p:cNvGrpSpPr/>
            <p:nvPr/>
          </p:nvGrpSpPr>
          <p:grpSpPr>
            <a:xfrm>
              <a:off x="2849" y="1752"/>
              <a:ext cx="862" cy="363"/>
              <a:chOff x="1508" y="777"/>
              <a:chExt cx="492" cy="355"/>
            </a:xfrm>
          </p:grpSpPr>
          <p:sp>
            <p:nvSpPr>
              <p:cNvPr id="70711" name="Rectangle 17"/>
              <p:cNvSpPr/>
              <p:nvPr/>
            </p:nvSpPr>
            <p:spPr>
              <a:xfrm>
                <a:off x="1551" y="777"/>
                <a:ext cx="406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19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12" name="Rectangle 55"/>
              <p:cNvSpPr/>
              <p:nvPr/>
            </p:nvSpPr>
            <p:spPr>
              <a:xfrm>
                <a:off x="1508" y="777"/>
                <a:ext cx="492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76" name="Group 58"/>
            <p:cNvGrpSpPr/>
            <p:nvPr/>
          </p:nvGrpSpPr>
          <p:grpSpPr>
            <a:xfrm>
              <a:off x="3711" y="1752"/>
              <a:ext cx="842" cy="363"/>
              <a:chOff x="2000" y="777"/>
              <a:chExt cx="481" cy="355"/>
            </a:xfrm>
          </p:grpSpPr>
          <p:sp>
            <p:nvSpPr>
              <p:cNvPr id="70709" name="Rectangle 18"/>
              <p:cNvSpPr/>
              <p:nvPr/>
            </p:nvSpPr>
            <p:spPr>
              <a:xfrm>
                <a:off x="2043" y="777"/>
                <a:ext cx="395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IS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10" name="Rectangle 57"/>
              <p:cNvSpPr/>
              <p:nvPr/>
            </p:nvSpPr>
            <p:spPr>
              <a:xfrm>
                <a:off x="2000" y="777"/>
                <a:ext cx="481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77" name="Group 60"/>
            <p:cNvGrpSpPr/>
            <p:nvPr/>
          </p:nvGrpSpPr>
          <p:grpSpPr>
            <a:xfrm>
              <a:off x="209" y="2115"/>
              <a:ext cx="898" cy="363"/>
              <a:chOff x="0" y="1132"/>
              <a:chExt cx="513" cy="355"/>
            </a:xfrm>
          </p:grpSpPr>
          <p:sp>
            <p:nvSpPr>
              <p:cNvPr id="70707" name="Rectangle 19"/>
              <p:cNvSpPr/>
              <p:nvPr/>
            </p:nvSpPr>
            <p:spPr>
              <a:xfrm>
                <a:off x="43" y="1132"/>
                <a:ext cx="427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95003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08" name="Rectangle 59"/>
              <p:cNvSpPr/>
              <p:nvPr/>
            </p:nvSpPr>
            <p:spPr>
              <a:xfrm>
                <a:off x="0" y="1132"/>
                <a:ext cx="513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78" name="Group 62"/>
            <p:cNvGrpSpPr/>
            <p:nvPr/>
          </p:nvGrpSpPr>
          <p:grpSpPr>
            <a:xfrm>
              <a:off x="1107" y="2115"/>
              <a:ext cx="897" cy="363"/>
              <a:chOff x="513" y="1132"/>
              <a:chExt cx="512" cy="355"/>
            </a:xfrm>
          </p:grpSpPr>
          <p:sp>
            <p:nvSpPr>
              <p:cNvPr id="70705" name="Rectangle 20"/>
              <p:cNvSpPr/>
              <p:nvPr/>
            </p:nvSpPr>
            <p:spPr>
              <a:xfrm>
                <a:off x="556" y="1132"/>
                <a:ext cx="426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王敏</a:t>
                </a:r>
                <a:endParaRPr lang="zh-CN" altLang="en-US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06" name="Rectangle 61"/>
              <p:cNvSpPr/>
              <p:nvPr/>
            </p:nvSpPr>
            <p:spPr>
              <a:xfrm>
                <a:off x="513" y="1132"/>
                <a:ext cx="512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79" name="Group 64"/>
            <p:cNvGrpSpPr/>
            <p:nvPr/>
          </p:nvGrpSpPr>
          <p:grpSpPr>
            <a:xfrm>
              <a:off x="2004" y="2115"/>
              <a:ext cx="845" cy="363"/>
              <a:chOff x="1025" y="1132"/>
              <a:chExt cx="483" cy="355"/>
            </a:xfrm>
          </p:grpSpPr>
          <p:sp>
            <p:nvSpPr>
              <p:cNvPr id="70703" name="Rectangle 21"/>
              <p:cNvSpPr/>
              <p:nvPr/>
            </p:nvSpPr>
            <p:spPr>
              <a:xfrm>
                <a:off x="1068" y="1132"/>
                <a:ext cx="397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女</a:t>
                </a:r>
                <a:endParaRPr lang="zh-CN" altLang="en-US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04" name="Rectangle 63"/>
              <p:cNvSpPr/>
              <p:nvPr/>
            </p:nvSpPr>
            <p:spPr>
              <a:xfrm>
                <a:off x="1025" y="1132"/>
                <a:ext cx="483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80" name="Group 66"/>
            <p:cNvGrpSpPr/>
            <p:nvPr/>
          </p:nvGrpSpPr>
          <p:grpSpPr>
            <a:xfrm>
              <a:off x="2849" y="2115"/>
              <a:ext cx="862" cy="363"/>
              <a:chOff x="1508" y="1132"/>
              <a:chExt cx="492" cy="355"/>
            </a:xfrm>
          </p:grpSpPr>
          <p:sp>
            <p:nvSpPr>
              <p:cNvPr id="70701" name="Rectangle 22"/>
              <p:cNvSpPr/>
              <p:nvPr/>
            </p:nvSpPr>
            <p:spPr>
              <a:xfrm>
                <a:off x="1551" y="1132"/>
                <a:ext cx="406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18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02" name="Rectangle 65"/>
              <p:cNvSpPr/>
              <p:nvPr/>
            </p:nvSpPr>
            <p:spPr>
              <a:xfrm>
                <a:off x="1508" y="1132"/>
                <a:ext cx="492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81" name="Group 68"/>
            <p:cNvGrpSpPr/>
            <p:nvPr/>
          </p:nvGrpSpPr>
          <p:grpSpPr>
            <a:xfrm>
              <a:off x="3711" y="2115"/>
              <a:ext cx="842" cy="363"/>
              <a:chOff x="2000" y="1132"/>
              <a:chExt cx="481" cy="355"/>
            </a:xfrm>
          </p:grpSpPr>
          <p:sp>
            <p:nvSpPr>
              <p:cNvPr id="70699" name="Rectangle 23"/>
              <p:cNvSpPr/>
              <p:nvPr/>
            </p:nvSpPr>
            <p:spPr>
              <a:xfrm>
                <a:off x="2043" y="1132"/>
                <a:ext cx="395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MA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700" name="Rectangle 67"/>
              <p:cNvSpPr/>
              <p:nvPr/>
            </p:nvSpPr>
            <p:spPr>
              <a:xfrm>
                <a:off x="2000" y="1132"/>
                <a:ext cx="481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82" name="Group 70"/>
            <p:cNvGrpSpPr/>
            <p:nvPr/>
          </p:nvGrpSpPr>
          <p:grpSpPr>
            <a:xfrm>
              <a:off x="209" y="2478"/>
              <a:ext cx="898" cy="362"/>
              <a:chOff x="0" y="1487"/>
              <a:chExt cx="513" cy="355"/>
            </a:xfrm>
          </p:grpSpPr>
          <p:sp>
            <p:nvSpPr>
              <p:cNvPr id="70697" name="Rectangle 24"/>
              <p:cNvSpPr/>
              <p:nvPr/>
            </p:nvSpPr>
            <p:spPr>
              <a:xfrm>
                <a:off x="43" y="1487"/>
                <a:ext cx="427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95004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698" name="Rectangle 69"/>
              <p:cNvSpPr/>
              <p:nvPr/>
            </p:nvSpPr>
            <p:spPr>
              <a:xfrm>
                <a:off x="0" y="1487"/>
                <a:ext cx="513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83" name="Group 72"/>
            <p:cNvGrpSpPr/>
            <p:nvPr/>
          </p:nvGrpSpPr>
          <p:grpSpPr>
            <a:xfrm>
              <a:off x="1107" y="2478"/>
              <a:ext cx="897" cy="362"/>
              <a:chOff x="513" y="1487"/>
              <a:chExt cx="512" cy="355"/>
            </a:xfrm>
          </p:grpSpPr>
          <p:sp>
            <p:nvSpPr>
              <p:cNvPr id="70695" name="Rectangle 25"/>
              <p:cNvSpPr/>
              <p:nvPr/>
            </p:nvSpPr>
            <p:spPr>
              <a:xfrm>
                <a:off x="556" y="1487"/>
                <a:ext cx="426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张立</a:t>
                </a:r>
                <a:endParaRPr lang="zh-CN" altLang="en-US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696" name="Rectangle 71"/>
              <p:cNvSpPr/>
              <p:nvPr/>
            </p:nvSpPr>
            <p:spPr>
              <a:xfrm>
                <a:off x="513" y="1487"/>
                <a:ext cx="512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84" name="Group 74"/>
            <p:cNvGrpSpPr/>
            <p:nvPr/>
          </p:nvGrpSpPr>
          <p:grpSpPr>
            <a:xfrm>
              <a:off x="2004" y="2478"/>
              <a:ext cx="845" cy="362"/>
              <a:chOff x="1025" y="1487"/>
              <a:chExt cx="483" cy="355"/>
            </a:xfrm>
          </p:grpSpPr>
          <p:sp>
            <p:nvSpPr>
              <p:cNvPr id="70693" name="Rectangle 26"/>
              <p:cNvSpPr/>
              <p:nvPr/>
            </p:nvSpPr>
            <p:spPr>
              <a:xfrm>
                <a:off x="1068" y="1487"/>
                <a:ext cx="397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男</a:t>
                </a:r>
                <a:endParaRPr lang="zh-CN" altLang="en-US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694" name="Rectangle 73"/>
              <p:cNvSpPr/>
              <p:nvPr/>
            </p:nvSpPr>
            <p:spPr>
              <a:xfrm>
                <a:off x="1025" y="1487"/>
                <a:ext cx="483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85" name="Group 76"/>
            <p:cNvGrpSpPr/>
            <p:nvPr/>
          </p:nvGrpSpPr>
          <p:grpSpPr>
            <a:xfrm>
              <a:off x="2849" y="2478"/>
              <a:ext cx="862" cy="362"/>
              <a:chOff x="1508" y="1487"/>
              <a:chExt cx="492" cy="355"/>
            </a:xfrm>
          </p:grpSpPr>
          <p:sp>
            <p:nvSpPr>
              <p:cNvPr id="70691" name="Rectangle 27"/>
              <p:cNvSpPr/>
              <p:nvPr/>
            </p:nvSpPr>
            <p:spPr>
              <a:xfrm>
                <a:off x="1551" y="1487"/>
                <a:ext cx="406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19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692" name="Rectangle 75"/>
              <p:cNvSpPr/>
              <p:nvPr/>
            </p:nvSpPr>
            <p:spPr>
              <a:xfrm>
                <a:off x="1508" y="1487"/>
                <a:ext cx="492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0686" name="Group 78"/>
            <p:cNvGrpSpPr/>
            <p:nvPr/>
          </p:nvGrpSpPr>
          <p:grpSpPr>
            <a:xfrm>
              <a:off x="3711" y="2478"/>
              <a:ext cx="842" cy="362"/>
              <a:chOff x="2000" y="1487"/>
              <a:chExt cx="481" cy="355"/>
            </a:xfrm>
          </p:grpSpPr>
          <p:sp>
            <p:nvSpPr>
              <p:cNvPr id="70689" name="Rectangle 28"/>
              <p:cNvSpPr/>
              <p:nvPr/>
            </p:nvSpPr>
            <p:spPr>
              <a:xfrm>
                <a:off x="2043" y="1487"/>
                <a:ext cx="395" cy="3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IS</a:t>
                </a:r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algn="ctr"/>
                <a:endParaRPr lang="en-US" altLang="zh-CN" sz="2400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0690" name="Rectangle 77"/>
              <p:cNvSpPr/>
              <p:nvPr/>
            </p:nvSpPr>
            <p:spPr>
              <a:xfrm>
                <a:off x="2000" y="1487"/>
                <a:ext cx="481" cy="355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70687" name="Rectangle 80"/>
            <p:cNvSpPr/>
            <p:nvPr/>
          </p:nvSpPr>
          <p:spPr>
            <a:xfrm>
              <a:off x="204" y="799"/>
              <a:ext cx="4354" cy="2041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70688" name="Text Box 91"/>
            <p:cNvSpPr txBox="1"/>
            <p:nvPr/>
          </p:nvSpPr>
          <p:spPr>
            <a:xfrm>
              <a:off x="3741" y="799"/>
              <a:ext cx="817" cy="518"/>
            </a:xfrm>
            <a:prstGeom prst="rect">
              <a:avLst/>
            </a:prstGeom>
            <a:solidFill>
              <a:schemeClr val="accent1"/>
            </a:solidFill>
            <a:ln w="127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400" b="1" dirty="0">
                  <a:latin typeface="Verdana" panose="020B0604030504040204" pitchFamily="34" charset="0"/>
                  <a:ea typeface="楷体_GB2312" pitchFamily="49" charset="-122"/>
                </a:rPr>
                <a:t>所 在 系</a:t>
              </a:r>
              <a:endParaRPr lang="zh-CN" altLang="en-US" sz="2400" dirty="0">
                <a:latin typeface="Verdana" panose="020B0604030504040204" pitchFamily="34" charset="0"/>
                <a:ea typeface="楷体_GB2312" pitchFamily="49" charset="-122"/>
              </a:endParaRPr>
            </a:p>
            <a:p>
              <a:pPr eaLnBrk="1" hangingPunct="1"/>
              <a:r>
                <a:rPr lang="en-US" altLang="zh-CN" sz="2400" b="1" dirty="0">
                  <a:latin typeface="Verdana" panose="020B0604030504040204" pitchFamily="34" charset="0"/>
                  <a:ea typeface="楷体_GB2312" pitchFamily="49" charset="-122"/>
                </a:rPr>
                <a:t>Sdept</a:t>
              </a:r>
              <a:endParaRPr lang="en-US" altLang="zh-CN" sz="2400" b="1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选择（续）</a:t>
            </a:r>
            <a:endParaRPr lang="zh-CN" altLang="en-US" dirty="0"/>
          </a:p>
        </p:txBody>
      </p:sp>
      <p:sp>
        <p:nvSpPr>
          <p:cNvPr id="71684" name="Rectangle 226"/>
          <p:cNvSpPr/>
          <p:nvPr/>
        </p:nvSpPr>
        <p:spPr>
          <a:xfrm>
            <a:off x="1042988" y="5380038"/>
            <a:ext cx="6931025" cy="731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400" b="1" dirty="0">
                <a:latin typeface="Verdana" panose="020B0604030504040204" pitchFamily="34" charset="0"/>
              </a:rPr>
              <a:t>(b)</a:t>
            </a:r>
            <a:endParaRPr lang="en-US" altLang="zh-CN" sz="2400" b="1" dirty="0">
              <a:latin typeface="Verdana" panose="020B0604030504040204" pitchFamily="34" charset="0"/>
            </a:endParaRPr>
          </a:p>
        </p:txBody>
      </p:sp>
      <p:sp>
        <p:nvSpPr>
          <p:cNvPr id="71685" name="Rectangle 227"/>
          <p:cNvSpPr/>
          <p:nvPr/>
        </p:nvSpPr>
        <p:spPr>
          <a:xfrm>
            <a:off x="6858000" y="857250"/>
            <a:ext cx="914400" cy="763588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p>
            <a:pPr algn="ctr" eaLnBrk="1" hangingPunct="1"/>
            <a:r>
              <a:rPr lang="en-US" altLang="zh-CN" sz="2400" b="1" dirty="0">
                <a:latin typeface="Verdana" panose="020B0604030504040204" pitchFamily="34" charset="0"/>
              </a:rPr>
              <a:t>Course</a:t>
            </a:r>
            <a:endParaRPr lang="en-US" altLang="zh-CN" sz="2400" b="1" dirty="0">
              <a:latin typeface="Verdana" panose="020B0604030504040204" pitchFamily="34" charset="0"/>
            </a:endParaRPr>
          </a:p>
        </p:txBody>
      </p:sp>
      <p:grpSp>
        <p:nvGrpSpPr>
          <p:cNvPr id="71686" name="Group 338"/>
          <p:cNvGrpSpPr/>
          <p:nvPr/>
        </p:nvGrpSpPr>
        <p:grpSpPr>
          <a:xfrm>
            <a:off x="684213" y="1412875"/>
            <a:ext cx="7745412" cy="4191000"/>
            <a:chOff x="-3" y="-3"/>
            <a:chExt cx="3821" cy="4497"/>
          </a:xfrm>
        </p:grpSpPr>
        <p:grpSp>
          <p:nvGrpSpPr>
            <p:cNvPr id="71687" name="Group 336"/>
            <p:cNvGrpSpPr/>
            <p:nvPr/>
          </p:nvGrpSpPr>
          <p:grpSpPr>
            <a:xfrm>
              <a:off x="0" y="0"/>
              <a:ext cx="3815" cy="4491"/>
              <a:chOff x="0" y="0"/>
              <a:chExt cx="3815" cy="4491"/>
            </a:xfrm>
          </p:grpSpPr>
          <p:grpSp>
            <p:nvGrpSpPr>
              <p:cNvPr id="71689" name="Group 265"/>
              <p:cNvGrpSpPr/>
              <p:nvPr/>
            </p:nvGrpSpPr>
            <p:grpSpPr>
              <a:xfrm>
                <a:off x="0" y="0"/>
                <a:ext cx="758" cy="499"/>
                <a:chOff x="0" y="0"/>
                <a:chExt cx="758" cy="499"/>
              </a:xfrm>
            </p:grpSpPr>
            <p:sp>
              <p:nvSpPr>
                <p:cNvPr id="71796" name="Rectangle 228"/>
                <p:cNvSpPr/>
                <p:nvPr/>
              </p:nvSpPr>
              <p:spPr>
                <a:xfrm>
                  <a:off x="43" y="0"/>
                  <a:ext cx="672" cy="499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课程号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97" name="Rectangle 264"/>
                <p:cNvSpPr/>
                <p:nvPr/>
              </p:nvSpPr>
              <p:spPr>
                <a:xfrm>
                  <a:off x="0" y="0"/>
                  <a:ext cx="758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690" name="Group 267"/>
              <p:cNvGrpSpPr/>
              <p:nvPr/>
            </p:nvGrpSpPr>
            <p:grpSpPr>
              <a:xfrm>
                <a:off x="758" y="0"/>
                <a:ext cx="1352" cy="499"/>
                <a:chOff x="758" y="0"/>
                <a:chExt cx="1352" cy="499"/>
              </a:xfrm>
            </p:grpSpPr>
            <p:sp>
              <p:nvSpPr>
                <p:cNvPr id="71794" name="Rectangle 229"/>
                <p:cNvSpPr/>
                <p:nvPr/>
              </p:nvSpPr>
              <p:spPr>
                <a:xfrm>
                  <a:off x="801" y="0"/>
                  <a:ext cx="1266" cy="499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课程名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95" name="Rectangle 266"/>
                <p:cNvSpPr/>
                <p:nvPr/>
              </p:nvSpPr>
              <p:spPr>
                <a:xfrm>
                  <a:off x="758" y="0"/>
                  <a:ext cx="135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691" name="Group 269"/>
              <p:cNvGrpSpPr/>
              <p:nvPr/>
            </p:nvGrpSpPr>
            <p:grpSpPr>
              <a:xfrm>
                <a:off x="2110" y="0"/>
                <a:ext cx="910" cy="499"/>
                <a:chOff x="2110" y="0"/>
                <a:chExt cx="910" cy="499"/>
              </a:xfrm>
            </p:grpSpPr>
            <p:sp>
              <p:nvSpPr>
                <p:cNvPr id="71792" name="Rectangle 230"/>
                <p:cNvSpPr/>
                <p:nvPr/>
              </p:nvSpPr>
              <p:spPr>
                <a:xfrm>
                  <a:off x="2153" y="0"/>
                  <a:ext cx="824" cy="499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先行课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93" name="Rectangle 268"/>
                <p:cNvSpPr/>
                <p:nvPr/>
              </p:nvSpPr>
              <p:spPr>
                <a:xfrm>
                  <a:off x="2110" y="0"/>
                  <a:ext cx="91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692" name="Group 271"/>
              <p:cNvGrpSpPr/>
              <p:nvPr/>
            </p:nvGrpSpPr>
            <p:grpSpPr>
              <a:xfrm>
                <a:off x="3020" y="0"/>
                <a:ext cx="795" cy="499"/>
                <a:chOff x="3020" y="0"/>
                <a:chExt cx="795" cy="499"/>
              </a:xfrm>
            </p:grpSpPr>
            <p:sp>
              <p:nvSpPr>
                <p:cNvPr id="71790" name="Rectangle 231"/>
                <p:cNvSpPr/>
                <p:nvPr/>
              </p:nvSpPr>
              <p:spPr>
                <a:xfrm>
                  <a:off x="3063" y="0"/>
                  <a:ext cx="709" cy="499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学分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91" name="Rectangle 270"/>
                <p:cNvSpPr/>
                <p:nvPr/>
              </p:nvSpPr>
              <p:spPr>
                <a:xfrm>
                  <a:off x="3020" y="0"/>
                  <a:ext cx="795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693" name="Group 273"/>
              <p:cNvGrpSpPr/>
              <p:nvPr/>
            </p:nvGrpSpPr>
            <p:grpSpPr>
              <a:xfrm>
                <a:off x="0" y="499"/>
                <a:ext cx="758" cy="499"/>
                <a:chOff x="0" y="499"/>
                <a:chExt cx="758" cy="499"/>
              </a:xfrm>
            </p:grpSpPr>
            <p:sp>
              <p:nvSpPr>
                <p:cNvPr id="71788" name="Rectangle 232"/>
                <p:cNvSpPr/>
                <p:nvPr/>
              </p:nvSpPr>
              <p:spPr>
                <a:xfrm>
                  <a:off x="43" y="499"/>
                  <a:ext cx="672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Cno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89" name="Rectangle 272"/>
                <p:cNvSpPr/>
                <p:nvPr/>
              </p:nvSpPr>
              <p:spPr>
                <a:xfrm>
                  <a:off x="0" y="499"/>
                  <a:ext cx="758" cy="499"/>
                </a:xfrm>
                <a:prstGeom prst="rect">
                  <a:avLst/>
                </a:prstGeom>
                <a:solidFill>
                  <a:schemeClr val="accent1"/>
                </a:solidFill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694" name="Group 275"/>
              <p:cNvGrpSpPr/>
              <p:nvPr/>
            </p:nvGrpSpPr>
            <p:grpSpPr>
              <a:xfrm>
                <a:off x="40" y="498"/>
                <a:ext cx="2070" cy="500"/>
                <a:chOff x="40" y="498"/>
                <a:chExt cx="2070" cy="500"/>
              </a:xfrm>
            </p:grpSpPr>
            <p:sp>
              <p:nvSpPr>
                <p:cNvPr id="71785" name="Rectangle 233"/>
                <p:cNvSpPr/>
                <p:nvPr/>
              </p:nvSpPr>
              <p:spPr>
                <a:xfrm>
                  <a:off x="801" y="499"/>
                  <a:ext cx="1266" cy="499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Cname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86" name="Rectangle 274"/>
                <p:cNvSpPr/>
                <p:nvPr/>
              </p:nvSpPr>
              <p:spPr>
                <a:xfrm>
                  <a:off x="758" y="499"/>
                  <a:ext cx="135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71787" name="Rectangle 233"/>
                <p:cNvSpPr/>
                <p:nvPr/>
              </p:nvSpPr>
              <p:spPr>
                <a:xfrm>
                  <a:off x="40" y="498"/>
                  <a:ext cx="672" cy="499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Cno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71695" name="Group 277"/>
              <p:cNvGrpSpPr/>
              <p:nvPr/>
            </p:nvGrpSpPr>
            <p:grpSpPr>
              <a:xfrm>
                <a:off x="2110" y="499"/>
                <a:ext cx="910" cy="499"/>
                <a:chOff x="2110" y="499"/>
                <a:chExt cx="910" cy="499"/>
              </a:xfrm>
            </p:grpSpPr>
            <p:sp>
              <p:nvSpPr>
                <p:cNvPr id="71783" name="Rectangle 234"/>
                <p:cNvSpPr/>
                <p:nvPr/>
              </p:nvSpPr>
              <p:spPr>
                <a:xfrm>
                  <a:off x="2153" y="499"/>
                  <a:ext cx="824" cy="499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Cpno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84" name="Rectangle 276"/>
                <p:cNvSpPr/>
                <p:nvPr/>
              </p:nvSpPr>
              <p:spPr>
                <a:xfrm>
                  <a:off x="2110" y="499"/>
                  <a:ext cx="91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696" name="Group 279"/>
              <p:cNvGrpSpPr/>
              <p:nvPr/>
            </p:nvGrpSpPr>
            <p:grpSpPr>
              <a:xfrm>
                <a:off x="3020" y="499"/>
                <a:ext cx="795" cy="499"/>
                <a:chOff x="3020" y="499"/>
                <a:chExt cx="795" cy="499"/>
              </a:xfrm>
            </p:grpSpPr>
            <p:sp>
              <p:nvSpPr>
                <p:cNvPr id="71781" name="Rectangle 235"/>
                <p:cNvSpPr/>
                <p:nvPr/>
              </p:nvSpPr>
              <p:spPr>
                <a:xfrm>
                  <a:off x="3063" y="499"/>
                  <a:ext cx="709" cy="499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Ccredit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82" name="Rectangle 278"/>
                <p:cNvSpPr/>
                <p:nvPr/>
              </p:nvSpPr>
              <p:spPr>
                <a:xfrm>
                  <a:off x="3020" y="499"/>
                  <a:ext cx="795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697" name="Group 281"/>
              <p:cNvGrpSpPr/>
              <p:nvPr/>
            </p:nvGrpSpPr>
            <p:grpSpPr>
              <a:xfrm>
                <a:off x="0" y="998"/>
                <a:ext cx="758" cy="499"/>
                <a:chOff x="0" y="998"/>
                <a:chExt cx="758" cy="499"/>
              </a:xfrm>
            </p:grpSpPr>
            <p:sp>
              <p:nvSpPr>
                <p:cNvPr id="71779" name="Rectangle 236"/>
                <p:cNvSpPr/>
                <p:nvPr/>
              </p:nvSpPr>
              <p:spPr>
                <a:xfrm>
                  <a:off x="43" y="998"/>
                  <a:ext cx="672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80" name="Rectangle 280"/>
                <p:cNvSpPr/>
                <p:nvPr/>
              </p:nvSpPr>
              <p:spPr>
                <a:xfrm>
                  <a:off x="0" y="998"/>
                  <a:ext cx="758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698" name="Group 283"/>
              <p:cNvGrpSpPr/>
              <p:nvPr/>
            </p:nvGrpSpPr>
            <p:grpSpPr>
              <a:xfrm>
                <a:off x="758" y="998"/>
                <a:ext cx="1352" cy="499"/>
                <a:chOff x="758" y="998"/>
                <a:chExt cx="1352" cy="499"/>
              </a:xfrm>
            </p:grpSpPr>
            <p:sp>
              <p:nvSpPr>
                <p:cNvPr id="71777" name="Rectangle 237"/>
                <p:cNvSpPr/>
                <p:nvPr/>
              </p:nvSpPr>
              <p:spPr>
                <a:xfrm>
                  <a:off x="801" y="998"/>
                  <a:ext cx="1266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数据库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78" name="Rectangle 282"/>
                <p:cNvSpPr/>
                <p:nvPr/>
              </p:nvSpPr>
              <p:spPr>
                <a:xfrm>
                  <a:off x="758" y="998"/>
                  <a:ext cx="135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699" name="Group 285"/>
              <p:cNvGrpSpPr/>
              <p:nvPr/>
            </p:nvGrpSpPr>
            <p:grpSpPr>
              <a:xfrm>
                <a:off x="2110" y="998"/>
                <a:ext cx="910" cy="499"/>
                <a:chOff x="2110" y="998"/>
                <a:chExt cx="910" cy="499"/>
              </a:xfrm>
            </p:grpSpPr>
            <p:sp>
              <p:nvSpPr>
                <p:cNvPr id="71775" name="Rectangle 238"/>
                <p:cNvSpPr/>
                <p:nvPr/>
              </p:nvSpPr>
              <p:spPr>
                <a:xfrm>
                  <a:off x="2153" y="998"/>
                  <a:ext cx="824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5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76" name="Rectangle 284"/>
                <p:cNvSpPr/>
                <p:nvPr/>
              </p:nvSpPr>
              <p:spPr>
                <a:xfrm>
                  <a:off x="2110" y="998"/>
                  <a:ext cx="91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00" name="Group 287"/>
              <p:cNvGrpSpPr/>
              <p:nvPr/>
            </p:nvGrpSpPr>
            <p:grpSpPr>
              <a:xfrm>
                <a:off x="3020" y="998"/>
                <a:ext cx="795" cy="499"/>
                <a:chOff x="3020" y="998"/>
                <a:chExt cx="795" cy="499"/>
              </a:xfrm>
            </p:grpSpPr>
            <p:sp>
              <p:nvSpPr>
                <p:cNvPr id="71773" name="Rectangle 239"/>
                <p:cNvSpPr/>
                <p:nvPr/>
              </p:nvSpPr>
              <p:spPr>
                <a:xfrm>
                  <a:off x="3063" y="998"/>
                  <a:ext cx="709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4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74" name="Rectangle 286"/>
                <p:cNvSpPr/>
                <p:nvPr/>
              </p:nvSpPr>
              <p:spPr>
                <a:xfrm>
                  <a:off x="3020" y="998"/>
                  <a:ext cx="795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01" name="Group 289"/>
              <p:cNvGrpSpPr/>
              <p:nvPr/>
            </p:nvGrpSpPr>
            <p:grpSpPr>
              <a:xfrm>
                <a:off x="0" y="1497"/>
                <a:ext cx="758" cy="499"/>
                <a:chOff x="0" y="1497"/>
                <a:chExt cx="758" cy="499"/>
              </a:xfrm>
            </p:grpSpPr>
            <p:sp>
              <p:nvSpPr>
                <p:cNvPr id="71771" name="Rectangle 240"/>
                <p:cNvSpPr/>
                <p:nvPr/>
              </p:nvSpPr>
              <p:spPr>
                <a:xfrm>
                  <a:off x="43" y="1497"/>
                  <a:ext cx="672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72" name="Rectangle 288"/>
                <p:cNvSpPr/>
                <p:nvPr/>
              </p:nvSpPr>
              <p:spPr>
                <a:xfrm>
                  <a:off x="0" y="1497"/>
                  <a:ext cx="758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02" name="Group 291"/>
              <p:cNvGrpSpPr/>
              <p:nvPr/>
            </p:nvGrpSpPr>
            <p:grpSpPr>
              <a:xfrm>
                <a:off x="758" y="1497"/>
                <a:ext cx="1352" cy="499"/>
                <a:chOff x="758" y="1497"/>
                <a:chExt cx="1352" cy="499"/>
              </a:xfrm>
            </p:grpSpPr>
            <p:sp>
              <p:nvSpPr>
                <p:cNvPr id="71769" name="Rectangle 241"/>
                <p:cNvSpPr/>
                <p:nvPr/>
              </p:nvSpPr>
              <p:spPr>
                <a:xfrm>
                  <a:off x="801" y="1497"/>
                  <a:ext cx="1266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数学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70" name="Rectangle 290"/>
                <p:cNvSpPr/>
                <p:nvPr/>
              </p:nvSpPr>
              <p:spPr>
                <a:xfrm>
                  <a:off x="758" y="1497"/>
                  <a:ext cx="135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03" name="Group 293"/>
              <p:cNvGrpSpPr/>
              <p:nvPr/>
            </p:nvGrpSpPr>
            <p:grpSpPr>
              <a:xfrm>
                <a:off x="2110" y="1497"/>
                <a:ext cx="910" cy="499"/>
                <a:chOff x="2110" y="1497"/>
                <a:chExt cx="910" cy="499"/>
              </a:xfrm>
            </p:grpSpPr>
            <p:sp>
              <p:nvSpPr>
                <p:cNvPr id="71767" name="Rectangle 242"/>
                <p:cNvSpPr/>
                <p:nvPr/>
              </p:nvSpPr>
              <p:spPr>
                <a:xfrm>
                  <a:off x="2153" y="1497"/>
                  <a:ext cx="824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 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68" name="Rectangle 292"/>
                <p:cNvSpPr/>
                <p:nvPr/>
              </p:nvSpPr>
              <p:spPr>
                <a:xfrm>
                  <a:off x="2110" y="1497"/>
                  <a:ext cx="91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04" name="Group 295"/>
              <p:cNvGrpSpPr/>
              <p:nvPr/>
            </p:nvGrpSpPr>
            <p:grpSpPr>
              <a:xfrm>
                <a:off x="3020" y="1497"/>
                <a:ext cx="795" cy="499"/>
                <a:chOff x="3020" y="1497"/>
                <a:chExt cx="795" cy="499"/>
              </a:xfrm>
            </p:grpSpPr>
            <p:sp>
              <p:nvSpPr>
                <p:cNvPr id="71765" name="Rectangle 243"/>
                <p:cNvSpPr/>
                <p:nvPr/>
              </p:nvSpPr>
              <p:spPr>
                <a:xfrm>
                  <a:off x="3063" y="1497"/>
                  <a:ext cx="709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66" name="Rectangle 294"/>
                <p:cNvSpPr/>
                <p:nvPr/>
              </p:nvSpPr>
              <p:spPr>
                <a:xfrm>
                  <a:off x="3020" y="1497"/>
                  <a:ext cx="795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05" name="Group 297"/>
              <p:cNvGrpSpPr/>
              <p:nvPr/>
            </p:nvGrpSpPr>
            <p:grpSpPr>
              <a:xfrm>
                <a:off x="0" y="1996"/>
                <a:ext cx="758" cy="499"/>
                <a:chOff x="0" y="1996"/>
                <a:chExt cx="758" cy="499"/>
              </a:xfrm>
            </p:grpSpPr>
            <p:sp>
              <p:nvSpPr>
                <p:cNvPr id="71763" name="Rectangle 244"/>
                <p:cNvSpPr/>
                <p:nvPr/>
              </p:nvSpPr>
              <p:spPr>
                <a:xfrm>
                  <a:off x="43" y="1996"/>
                  <a:ext cx="672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3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64" name="Rectangle 296"/>
                <p:cNvSpPr/>
                <p:nvPr/>
              </p:nvSpPr>
              <p:spPr>
                <a:xfrm>
                  <a:off x="0" y="1996"/>
                  <a:ext cx="758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06" name="Group 299"/>
              <p:cNvGrpSpPr/>
              <p:nvPr/>
            </p:nvGrpSpPr>
            <p:grpSpPr>
              <a:xfrm>
                <a:off x="758" y="1996"/>
                <a:ext cx="1352" cy="499"/>
                <a:chOff x="758" y="1996"/>
                <a:chExt cx="1352" cy="499"/>
              </a:xfrm>
            </p:grpSpPr>
            <p:sp>
              <p:nvSpPr>
                <p:cNvPr id="71761" name="Rectangle 245"/>
                <p:cNvSpPr/>
                <p:nvPr/>
              </p:nvSpPr>
              <p:spPr>
                <a:xfrm>
                  <a:off x="801" y="1996"/>
                  <a:ext cx="1266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信息系统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62" name="Rectangle 298"/>
                <p:cNvSpPr/>
                <p:nvPr/>
              </p:nvSpPr>
              <p:spPr>
                <a:xfrm>
                  <a:off x="758" y="1996"/>
                  <a:ext cx="135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07" name="Group 301"/>
              <p:cNvGrpSpPr/>
              <p:nvPr/>
            </p:nvGrpSpPr>
            <p:grpSpPr>
              <a:xfrm>
                <a:off x="2110" y="1996"/>
                <a:ext cx="910" cy="499"/>
                <a:chOff x="2110" y="1996"/>
                <a:chExt cx="910" cy="499"/>
              </a:xfrm>
            </p:grpSpPr>
            <p:sp>
              <p:nvSpPr>
                <p:cNvPr id="71759" name="Rectangle 246"/>
                <p:cNvSpPr/>
                <p:nvPr/>
              </p:nvSpPr>
              <p:spPr>
                <a:xfrm>
                  <a:off x="2153" y="1996"/>
                  <a:ext cx="824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60" name="Rectangle 300"/>
                <p:cNvSpPr/>
                <p:nvPr/>
              </p:nvSpPr>
              <p:spPr>
                <a:xfrm>
                  <a:off x="2110" y="1996"/>
                  <a:ext cx="91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08" name="Group 303"/>
              <p:cNvGrpSpPr/>
              <p:nvPr/>
            </p:nvGrpSpPr>
            <p:grpSpPr>
              <a:xfrm>
                <a:off x="3020" y="1996"/>
                <a:ext cx="795" cy="499"/>
                <a:chOff x="3020" y="1996"/>
                <a:chExt cx="795" cy="499"/>
              </a:xfrm>
            </p:grpSpPr>
            <p:sp>
              <p:nvSpPr>
                <p:cNvPr id="71757" name="Rectangle 247"/>
                <p:cNvSpPr/>
                <p:nvPr/>
              </p:nvSpPr>
              <p:spPr>
                <a:xfrm>
                  <a:off x="3063" y="1996"/>
                  <a:ext cx="709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4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58" name="Rectangle 302"/>
                <p:cNvSpPr/>
                <p:nvPr/>
              </p:nvSpPr>
              <p:spPr>
                <a:xfrm>
                  <a:off x="3020" y="1996"/>
                  <a:ext cx="795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09" name="Group 305"/>
              <p:cNvGrpSpPr/>
              <p:nvPr/>
            </p:nvGrpSpPr>
            <p:grpSpPr>
              <a:xfrm>
                <a:off x="0" y="2495"/>
                <a:ext cx="758" cy="499"/>
                <a:chOff x="0" y="2495"/>
                <a:chExt cx="758" cy="499"/>
              </a:xfrm>
            </p:grpSpPr>
            <p:sp>
              <p:nvSpPr>
                <p:cNvPr id="71755" name="Rectangle 248"/>
                <p:cNvSpPr/>
                <p:nvPr/>
              </p:nvSpPr>
              <p:spPr>
                <a:xfrm>
                  <a:off x="43" y="2495"/>
                  <a:ext cx="672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4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56" name="Rectangle 304"/>
                <p:cNvSpPr/>
                <p:nvPr/>
              </p:nvSpPr>
              <p:spPr>
                <a:xfrm>
                  <a:off x="0" y="2495"/>
                  <a:ext cx="758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10" name="Group 307"/>
              <p:cNvGrpSpPr/>
              <p:nvPr/>
            </p:nvGrpSpPr>
            <p:grpSpPr>
              <a:xfrm>
                <a:off x="758" y="2495"/>
                <a:ext cx="1352" cy="499"/>
                <a:chOff x="758" y="2495"/>
                <a:chExt cx="1352" cy="499"/>
              </a:xfrm>
            </p:grpSpPr>
            <p:sp>
              <p:nvSpPr>
                <p:cNvPr id="71753" name="Rectangle 249"/>
                <p:cNvSpPr/>
                <p:nvPr/>
              </p:nvSpPr>
              <p:spPr>
                <a:xfrm>
                  <a:off x="801" y="2495"/>
                  <a:ext cx="1266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操作系统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54" name="Rectangle 306"/>
                <p:cNvSpPr/>
                <p:nvPr/>
              </p:nvSpPr>
              <p:spPr>
                <a:xfrm>
                  <a:off x="758" y="2495"/>
                  <a:ext cx="135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11" name="Group 309"/>
              <p:cNvGrpSpPr/>
              <p:nvPr/>
            </p:nvGrpSpPr>
            <p:grpSpPr>
              <a:xfrm>
                <a:off x="2110" y="2495"/>
                <a:ext cx="910" cy="499"/>
                <a:chOff x="2110" y="2495"/>
                <a:chExt cx="910" cy="499"/>
              </a:xfrm>
            </p:grpSpPr>
            <p:sp>
              <p:nvSpPr>
                <p:cNvPr id="71751" name="Rectangle 250"/>
                <p:cNvSpPr/>
                <p:nvPr/>
              </p:nvSpPr>
              <p:spPr>
                <a:xfrm>
                  <a:off x="2153" y="2495"/>
                  <a:ext cx="824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6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52" name="Rectangle 308"/>
                <p:cNvSpPr/>
                <p:nvPr/>
              </p:nvSpPr>
              <p:spPr>
                <a:xfrm>
                  <a:off x="2110" y="2495"/>
                  <a:ext cx="91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12" name="Group 311"/>
              <p:cNvGrpSpPr/>
              <p:nvPr/>
            </p:nvGrpSpPr>
            <p:grpSpPr>
              <a:xfrm>
                <a:off x="3020" y="2495"/>
                <a:ext cx="795" cy="499"/>
                <a:chOff x="3020" y="2495"/>
                <a:chExt cx="795" cy="499"/>
              </a:xfrm>
            </p:grpSpPr>
            <p:sp>
              <p:nvSpPr>
                <p:cNvPr id="71749" name="Rectangle 251"/>
                <p:cNvSpPr/>
                <p:nvPr/>
              </p:nvSpPr>
              <p:spPr>
                <a:xfrm>
                  <a:off x="3063" y="2495"/>
                  <a:ext cx="709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3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50" name="Rectangle 310"/>
                <p:cNvSpPr/>
                <p:nvPr/>
              </p:nvSpPr>
              <p:spPr>
                <a:xfrm>
                  <a:off x="3020" y="2495"/>
                  <a:ext cx="795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13" name="Group 313"/>
              <p:cNvGrpSpPr/>
              <p:nvPr/>
            </p:nvGrpSpPr>
            <p:grpSpPr>
              <a:xfrm>
                <a:off x="0" y="2994"/>
                <a:ext cx="758" cy="499"/>
                <a:chOff x="0" y="2994"/>
                <a:chExt cx="758" cy="499"/>
              </a:xfrm>
            </p:grpSpPr>
            <p:sp>
              <p:nvSpPr>
                <p:cNvPr id="71747" name="Rectangle 252"/>
                <p:cNvSpPr/>
                <p:nvPr/>
              </p:nvSpPr>
              <p:spPr>
                <a:xfrm>
                  <a:off x="43" y="2994"/>
                  <a:ext cx="672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5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48" name="Rectangle 312"/>
                <p:cNvSpPr/>
                <p:nvPr/>
              </p:nvSpPr>
              <p:spPr>
                <a:xfrm>
                  <a:off x="0" y="2994"/>
                  <a:ext cx="758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14" name="Group 315"/>
              <p:cNvGrpSpPr/>
              <p:nvPr/>
            </p:nvGrpSpPr>
            <p:grpSpPr>
              <a:xfrm>
                <a:off x="758" y="2994"/>
                <a:ext cx="1352" cy="499"/>
                <a:chOff x="758" y="2994"/>
                <a:chExt cx="1352" cy="499"/>
              </a:xfrm>
            </p:grpSpPr>
            <p:sp>
              <p:nvSpPr>
                <p:cNvPr id="71745" name="Rectangle 253"/>
                <p:cNvSpPr/>
                <p:nvPr/>
              </p:nvSpPr>
              <p:spPr>
                <a:xfrm>
                  <a:off x="801" y="2994"/>
                  <a:ext cx="1266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数据结构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46" name="Rectangle 314"/>
                <p:cNvSpPr/>
                <p:nvPr/>
              </p:nvSpPr>
              <p:spPr>
                <a:xfrm>
                  <a:off x="758" y="2994"/>
                  <a:ext cx="135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15" name="Group 317"/>
              <p:cNvGrpSpPr/>
              <p:nvPr/>
            </p:nvGrpSpPr>
            <p:grpSpPr>
              <a:xfrm>
                <a:off x="2110" y="2994"/>
                <a:ext cx="910" cy="499"/>
                <a:chOff x="2110" y="2994"/>
                <a:chExt cx="910" cy="499"/>
              </a:xfrm>
            </p:grpSpPr>
            <p:sp>
              <p:nvSpPr>
                <p:cNvPr id="71743" name="Rectangle 254"/>
                <p:cNvSpPr/>
                <p:nvPr/>
              </p:nvSpPr>
              <p:spPr>
                <a:xfrm>
                  <a:off x="2153" y="2994"/>
                  <a:ext cx="824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7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44" name="Rectangle 316"/>
                <p:cNvSpPr/>
                <p:nvPr/>
              </p:nvSpPr>
              <p:spPr>
                <a:xfrm>
                  <a:off x="2110" y="2994"/>
                  <a:ext cx="91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16" name="Group 319"/>
              <p:cNvGrpSpPr/>
              <p:nvPr/>
            </p:nvGrpSpPr>
            <p:grpSpPr>
              <a:xfrm>
                <a:off x="3020" y="2994"/>
                <a:ext cx="795" cy="499"/>
                <a:chOff x="3020" y="2994"/>
                <a:chExt cx="795" cy="499"/>
              </a:xfrm>
            </p:grpSpPr>
            <p:sp>
              <p:nvSpPr>
                <p:cNvPr id="71741" name="Rectangle 255"/>
                <p:cNvSpPr/>
                <p:nvPr/>
              </p:nvSpPr>
              <p:spPr>
                <a:xfrm>
                  <a:off x="3063" y="2994"/>
                  <a:ext cx="709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4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42" name="Rectangle 318"/>
                <p:cNvSpPr/>
                <p:nvPr/>
              </p:nvSpPr>
              <p:spPr>
                <a:xfrm>
                  <a:off x="3020" y="2994"/>
                  <a:ext cx="795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17" name="Group 321"/>
              <p:cNvGrpSpPr/>
              <p:nvPr/>
            </p:nvGrpSpPr>
            <p:grpSpPr>
              <a:xfrm>
                <a:off x="0" y="3493"/>
                <a:ext cx="758" cy="499"/>
                <a:chOff x="0" y="3493"/>
                <a:chExt cx="758" cy="499"/>
              </a:xfrm>
            </p:grpSpPr>
            <p:sp>
              <p:nvSpPr>
                <p:cNvPr id="71739" name="Rectangle 256"/>
                <p:cNvSpPr/>
                <p:nvPr/>
              </p:nvSpPr>
              <p:spPr>
                <a:xfrm>
                  <a:off x="43" y="3493"/>
                  <a:ext cx="672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6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40" name="Rectangle 320"/>
                <p:cNvSpPr/>
                <p:nvPr/>
              </p:nvSpPr>
              <p:spPr>
                <a:xfrm>
                  <a:off x="0" y="3493"/>
                  <a:ext cx="758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18" name="Group 323"/>
              <p:cNvGrpSpPr/>
              <p:nvPr/>
            </p:nvGrpSpPr>
            <p:grpSpPr>
              <a:xfrm>
                <a:off x="758" y="3493"/>
                <a:ext cx="1352" cy="499"/>
                <a:chOff x="758" y="3493"/>
                <a:chExt cx="1352" cy="499"/>
              </a:xfrm>
            </p:grpSpPr>
            <p:sp>
              <p:nvSpPr>
                <p:cNvPr id="71737" name="Rectangle 257"/>
                <p:cNvSpPr/>
                <p:nvPr/>
              </p:nvSpPr>
              <p:spPr>
                <a:xfrm>
                  <a:off x="801" y="3493"/>
                  <a:ext cx="1266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数据处理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38" name="Rectangle 322"/>
                <p:cNvSpPr/>
                <p:nvPr/>
              </p:nvSpPr>
              <p:spPr>
                <a:xfrm>
                  <a:off x="758" y="3493"/>
                  <a:ext cx="135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19" name="Group 325"/>
              <p:cNvGrpSpPr/>
              <p:nvPr/>
            </p:nvGrpSpPr>
            <p:grpSpPr>
              <a:xfrm>
                <a:off x="2110" y="3493"/>
                <a:ext cx="910" cy="499"/>
                <a:chOff x="2110" y="3493"/>
                <a:chExt cx="910" cy="499"/>
              </a:xfrm>
            </p:grpSpPr>
            <p:sp>
              <p:nvSpPr>
                <p:cNvPr id="71735" name="Rectangle 258"/>
                <p:cNvSpPr/>
                <p:nvPr/>
              </p:nvSpPr>
              <p:spPr>
                <a:xfrm>
                  <a:off x="2153" y="3493"/>
                  <a:ext cx="824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 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36" name="Rectangle 324"/>
                <p:cNvSpPr/>
                <p:nvPr/>
              </p:nvSpPr>
              <p:spPr>
                <a:xfrm>
                  <a:off x="2110" y="3493"/>
                  <a:ext cx="91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20" name="Group 327"/>
              <p:cNvGrpSpPr/>
              <p:nvPr/>
            </p:nvGrpSpPr>
            <p:grpSpPr>
              <a:xfrm>
                <a:off x="3020" y="3493"/>
                <a:ext cx="795" cy="499"/>
                <a:chOff x="3020" y="3493"/>
                <a:chExt cx="795" cy="499"/>
              </a:xfrm>
            </p:grpSpPr>
            <p:sp>
              <p:nvSpPr>
                <p:cNvPr id="71733" name="Rectangle 259"/>
                <p:cNvSpPr/>
                <p:nvPr/>
              </p:nvSpPr>
              <p:spPr>
                <a:xfrm>
                  <a:off x="3063" y="3493"/>
                  <a:ext cx="709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34" name="Rectangle 326"/>
                <p:cNvSpPr/>
                <p:nvPr/>
              </p:nvSpPr>
              <p:spPr>
                <a:xfrm>
                  <a:off x="3020" y="3493"/>
                  <a:ext cx="795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21" name="Group 329"/>
              <p:cNvGrpSpPr/>
              <p:nvPr/>
            </p:nvGrpSpPr>
            <p:grpSpPr>
              <a:xfrm>
                <a:off x="0" y="3992"/>
                <a:ext cx="758" cy="499"/>
                <a:chOff x="0" y="3992"/>
                <a:chExt cx="758" cy="499"/>
              </a:xfrm>
            </p:grpSpPr>
            <p:sp>
              <p:nvSpPr>
                <p:cNvPr id="71731" name="Rectangle 260"/>
                <p:cNvSpPr/>
                <p:nvPr/>
              </p:nvSpPr>
              <p:spPr>
                <a:xfrm>
                  <a:off x="43" y="3992"/>
                  <a:ext cx="672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7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32" name="Rectangle 328"/>
                <p:cNvSpPr/>
                <p:nvPr/>
              </p:nvSpPr>
              <p:spPr>
                <a:xfrm>
                  <a:off x="0" y="3992"/>
                  <a:ext cx="758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22" name="Group 331"/>
              <p:cNvGrpSpPr/>
              <p:nvPr/>
            </p:nvGrpSpPr>
            <p:grpSpPr>
              <a:xfrm>
                <a:off x="758" y="3992"/>
                <a:ext cx="1352" cy="499"/>
                <a:chOff x="758" y="3992"/>
                <a:chExt cx="1352" cy="499"/>
              </a:xfrm>
            </p:grpSpPr>
            <p:sp>
              <p:nvSpPr>
                <p:cNvPr id="71729" name="Rectangle 261"/>
                <p:cNvSpPr/>
                <p:nvPr/>
              </p:nvSpPr>
              <p:spPr>
                <a:xfrm>
                  <a:off x="801" y="3992"/>
                  <a:ext cx="1266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PASCAL</a:t>
                  </a:r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语言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30" name="Rectangle 330"/>
                <p:cNvSpPr/>
                <p:nvPr/>
              </p:nvSpPr>
              <p:spPr>
                <a:xfrm>
                  <a:off x="758" y="3992"/>
                  <a:ext cx="135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23" name="Group 333"/>
              <p:cNvGrpSpPr/>
              <p:nvPr/>
            </p:nvGrpSpPr>
            <p:grpSpPr>
              <a:xfrm>
                <a:off x="2110" y="3992"/>
                <a:ext cx="910" cy="499"/>
                <a:chOff x="2110" y="3992"/>
                <a:chExt cx="910" cy="499"/>
              </a:xfrm>
            </p:grpSpPr>
            <p:sp>
              <p:nvSpPr>
                <p:cNvPr id="71727" name="Rectangle 262"/>
                <p:cNvSpPr/>
                <p:nvPr/>
              </p:nvSpPr>
              <p:spPr>
                <a:xfrm>
                  <a:off x="2153" y="3992"/>
                  <a:ext cx="824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6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28" name="Rectangle 332"/>
                <p:cNvSpPr/>
                <p:nvPr/>
              </p:nvSpPr>
              <p:spPr>
                <a:xfrm>
                  <a:off x="2110" y="3992"/>
                  <a:ext cx="91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1724" name="Group 335"/>
              <p:cNvGrpSpPr/>
              <p:nvPr/>
            </p:nvGrpSpPr>
            <p:grpSpPr>
              <a:xfrm>
                <a:off x="3020" y="3992"/>
                <a:ext cx="795" cy="499"/>
                <a:chOff x="3020" y="3992"/>
                <a:chExt cx="795" cy="499"/>
              </a:xfrm>
            </p:grpSpPr>
            <p:sp>
              <p:nvSpPr>
                <p:cNvPr id="71725" name="Rectangle 263"/>
                <p:cNvSpPr/>
                <p:nvPr/>
              </p:nvSpPr>
              <p:spPr>
                <a:xfrm>
                  <a:off x="3063" y="3992"/>
                  <a:ext cx="709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4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1726" name="Rectangle 334"/>
                <p:cNvSpPr/>
                <p:nvPr/>
              </p:nvSpPr>
              <p:spPr>
                <a:xfrm>
                  <a:off x="3020" y="3992"/>
                  <a:ext cx="795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71688" name="Rectangle 337"/>
            <p:cNvSpPr/>
            <p:nvPr/>
          </p:nvSpPr>
          <p:spPr>
            <a:xfrm>
              <a:off x="-3" y="-3"/>
              <a:ext cx="3821" cy="4497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选择（续）</a:t>
            </a:r>
            <a:endParaRPr lang="zh-CN" altLang="en-US" dirty="0"/>
          </a:p>
        </p:txBody>
      </p:sp>
      <p:sp>
        <p:nvSpPr>
          <p:cNvPr id="72708" name="Rectangle 115"/>
          <p:cNvSpPr/>
          <p:nvPr/>
        </p:nvSpPr>
        <p:spPr>
          <a:xfrm>
            <a:off x="3175" y="339725"/>
            <a:ext cx="9144000" cy="593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/>
            <a:r>
              <a:rPr lang="en-US" altLang="zh-CN" sz="900" b="1" dirty="0">
                <a:latin typeface="Times New Roman" panose="02020603050405020304" pitchFamily="18" charset="0"/>
              </a:rPr>
              <a:t> </a:t>
            </a:r>
            <a:endParaRPr lang="en-US" altLang="zh-CN" sz="1000" dirty="0">
              <a:latin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72709" name="Rectangle 182"/>
          <p:cNvSpPr/>
          <p:nvPr/>
        </p:nvSpPr>
        <p:spPr>
          <a:xfrm>
            <a:off x="3851275" y="5229225"/>
            <a:ext cx="838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2400" b="1" dirty="0">
                <a:latin typeface="Verdana" panose="020B0604030504040204" pitchFamily="34" charset="0"/>
              </a:rPr>
              <a:t>(c)</a:t>
            </a:r>
            <a:endParaRPr lang="en-US" altLang="zh-CN" sz="2400" dirty="0">
              <a:latin typeface="Verdana" panose="020B0604030504040204" pitchFamily="34" charset="0"/>
            </a:endParaRPr>
          </a:p>
          <a:p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72710" name="Rectangle 184"/>
          <p:cNvSpPr/>
          <p:nvPr/>
        </p:nvSpPr>
        <p:spPr>
          <a:xfrm>
            <a:off x="6705600" y="3200400"/>
            <a:ext cx="1143000" cy="7620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2711" name="Rectangle 185"/>
          <p:cNvSpPr/>
          <p:nvPr/>
        </p:nvSpPr>
        <p:spPr>
          <a:xfrm>
            <a:off x="7286625" y="785813"/>
            <a:ext cx="9144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p>
            <a:pPr algn="ctr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SC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72712" name="Rectangle 186"/>
          <p:cNvSpPr/>
          <p:nvPr/>
        </p:nvSpPr>
        <p:spPr>
          <a:xfrm>
            <a:off x="6477000" y="3810000"/>
            <a:ext cx="990600" cy="9906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p>
            <a:pPr algn="ctr" eaLnBrk="1" hangingPunct="1"/>
            <a:endParaRPr lang="zh-CN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72713" name="Group 252"/>
          <p:cNvGrpSpPr/>
          <p:nvPr/>
        </p:nvGrpSpPr>
        <p:grpSpPr>
          <a:xfrm>
            <a:off x="2124075" y="1557338"/>
            <a:ext cx="5734050" cy="3654425"/>
            <a:chOff x="-3" y="-3"/>
            <a:chExt cx="2146" cy="3499"/>
          </a:xfrm>
        </p:grpSpPr>
        <p:grpSp>
          <p:nvGrpSpPr>
            <p:cNvPr id="72714" name="Group 250"/>
            <p:cNvGrpSpPr/>
            <p:nvPr/>
          </p:nvGrpSpPr>
          <p:grpSpPr>
            <a:xfrm>
              <a:off x="0" y="0"/>
              <a:ext cx="2140" cy="3493"/>
              <a:chOff x="0" y="0"/>
              <a:chExt cx="2140" cy="3493"/>
            </a:xfrm>
          </p:grpSpPr>
          <p:grpSp>
            <p:nvGrpSpPr>
              <p:cNvPr id="72716" name="Group 209"/>
              <p:cNvGrpSpPr/>
              <p:nvPr/>
            </p:nvGrpSpPr>
            <p:grpSpPr>
              <a:xfrm>
                <a:off x="0" y="0"/>
                <a:ext cx="642" cy="499"/>
                <a:chOff x="0" y="0"/>
                <a:chExt cx="642" cy="499"/>
              </a:xfrm>
            </p:grpSpPr>
            <p:sp>
              <p:nvSpPr>
                <p:cNvPr id="72777" name="Rectangle 187"/>
                <p:cNvSpPr/>
                <p:nvPr/>
              </p:nvSpPr>
              <p:spPr>
                <a:xfrm>
                  <a:off x="43" y="0"/>
                  <a:ext cx="556" cy="499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学  号</a:t>
                  </a:r>
                  <a:endParaRPr lang="zh-CN" altLang="en-US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78" name="Rectangle 208"/>
                <p:cNvSpPr/>
                <p:nvPr/>
              </p:nvSpPr>
              <p:spPr>
                <a:xfrm>
                  <a:off x="0" y="0"/>
                  <a:ext cx="64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17" name="Group 211"/>
              <p:cNvGrpSpPr/>
              <p:nvPr/>
            </p:nvGrpSpPr>
            <p:grpSpPr>
              <a:xfrm>
                <a:off x="642" y="0"/>
                <a:ext cx="819" cy="499"/>
                <a:chOff x="642" y="0"/>
                <a:chExt cx="819" cy="499"/>
              </a:xfrm>
            </p:grpSpPr>
            <p:sp>
              <p:nvSpPr>
                <p:cNvPr id="72775" name="Rectangle 188"/>
                <p:cNvSpPr/>
                <p:nvPr/>
              </p:nvSpPr>
              <p:spPr>
                <a:xfrm>
                  <a:off x="685" y="0"/>
                  <a:ext cx="733" cy="499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课 程 号</a:t>
                  </a:r>
                  <a:endParaRPr lang="zh-CN" altLang="en-US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76" name="Rectangle 210"/>
                <p:cNvSpPr/>
                <p:nvPr/>
              </p:nvSpPr>
              <p:spPr>
                <a:xfrm>
                  <a:off x="642" y="0"/>
                  <a:ext cx="81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18" name="Group 213"/>
              <p:cNvGrpSpPr/>
              <p:nvPr/>
            </p:nvGrpSpPr>
            <p:grpSpPr>
              <a:xfrm>
                <a:off x="1461" y="0"/>
                <a:ext cx="679" cy="499"/>
                <a:chOff x="1461" y="0"/>
                <a:chExt cx="679" cy="499"/>
              </a:xfrm>
            </p:grpSpPr>
            <p:sp>
              <p:nvSpPr>
                <p:cNvPr id="72773" name="Rectangle 189"/>
                <p:cNvSpPr/>
                <p:nvPr/>
              </p:nvSpPr>
              <p:spPr>
                <a:xfrm>
                  <a:off x="1504" y="0"/>
                  <a:ext cx="593" cy="499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成  绩</a:t>
                  </a:r>
                  <a:endParaRPr lang="zh-CN" altLang="en-US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74" name="Rectangle 212"/>
                <p:cNvSpPr/>
                <p:nvPr/>
              </p:nvSpPr>
              <p:spPr>
                <a:xfrm>
                  <a:off x="1461" y="0"/>
                  <a:ext cx="67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19" name="Group 215"/>
              <p:cNvGrpSpPr/>
              <p:nvPr/>
            </p:nvGrpSpPr>
            <p:grpSpPr>
              <a:xfrm>
                <a:off x="0" y="499"/>
                <a:ext cx="642" cy="499"/>
                <a:chOff x="0" y="499"/>
                <a:chExt cx="642" cy="499"/>
              </a:xfrm>
            </p:grpSpPr>
            <p:sp>
              <p:nvSpPr>
                <p:cNvPr id="72771" name="Rectangle 190"/>
                <p:cNvSpPr/>
                <p:nvPr/>
              </p:nvSpPr>
              <p:spPr>
                <a:xfrm>
                  <a:off x="43" y="499"/>
                  <a:ext cx="556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Sno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72" name="Rectangle 214"/>
                <p:cNvSpPr/>
                <p:nvPr/>
              </p:nvSpPr>
              <p:spPr>
                <a:xfrm>
                  <a:off x="0" y="499"/>
                  <a:ext cx="64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20" name="Group 217"/>
              <p:cNvGrpSpPr/>
              <p:nvPr/>
            </p:nvGrpSpPr>
            <p:grpSpPr>
              <a:xfrm>
                <a:off x="642" y="499"/>
                <a:ext cx="819" cy="499"/>
                <a:chOff x="642" y="499"/>
                <a:chExt cx="819" cy="499"/>
              </a:xfrm>
            </p:grpSpPr>
            <p:sp>
              <p:nvSpPr>
                <p:cNvPr id="72769" name="Rectangle 191"/>
                <p:cNvSpPr/>
                <p:nvPr/>
              </p:nvSpPr>
              <p:spPr>
                <a:xfrm>
                  <a:off x="685" y="499"/>
                  <a:ext cx="733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Cno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70" name="Rectangle 216"/>
                <p:cNvSpPr/>
                <p:nvPr/>
              </p:nvSpPr>
              <p:spPr>
                <a:xfrm>
                  <a:off x="642" y="499"/>
                  <a:ext cx="81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21" name="Group 219"/>
              <p:cNvGrpSpPr/>
              <p:nvPr/>
            </p:nvGrpSpPr>
            <p:grpSpPr>
              <a:xfrm>
                <a:off x="1461" y="499"/>
                <a:ext cx="679" cy="499"/>
                <a:chOff x="1461" y="499"/>
                <a:chExt cx="679" cy="499"/>
              </a:xfrm>
            </p:grpSpPr>
            <p:sp>
              <p:nvSpPr>
                <p:cNvPr id="72767" name="Rectangle 192"/>
                <p:cNvSpPr/>
                <p:nvPr/>
              </p:nvSpPr>
              <p:spPr>
                <a:xfrm>
                  <a:off x="1504" y="499"/>
                  <a:ext cx="593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Grade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68" name="Rectangle 218"/>
                <p:cNvSpPr/>
                <p:nvPr/>
              </p:nvSpPr>
              <p:spPr>
                <a:xfrm>
                  <a:off x="1461" y="499"/>
                  <a:ext cx="67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22" name="Group 221"/>
              <p:cNvGrpSpPr/>
              <p:nvPr/>
            </p:nvGrpSpPr>
            <p:grpSpPr>
              <a:xfrm>
                <a:off x="0" y="998"/>
                <a:ext cx="642" cy="499"/>
                <a:chOff x="0" y="998"/>
                <a:chExt cx="642" cy="499"/>
              </a:xfrm>
            </p:grpSpPr>
            <p:sp>
              <p:nvSpPr>
                <p:cNvPr id="72765" name="Rectangle 193"/>
                <p:cNvSpPr/>
                <p:nvPr/>
              </p:nvSpPr>
              <p:spPr>
                <a:xfrm>
                  <a:off x="43" y="998"/>
                  <a:ext cx="556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95001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66" name="Rectangle 220"/>
                <p:cNvSpPr/>
                <p:nvPr/>
              </p:nvSpPr>
              <p:spPr>
                <a:xfrm>
                  <a:off x="0" y="998"/>
                  <a:ext cx="64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23" name="Group 223"/>
              <p:cNvGrpSpPr/>
              <p:nvPr/>
            </p:nvGrpSpPr>
            <p:grpSpPr>
              <a:xfrm>
                <a:off x="642" y="998"/>
                <a:ext cx="819" cy="499"/>
                <a:chOff x="642" y="998"/>
                <a:chExt cx="819" cy="499"/>
              </a:xfrm>
            </p:grpSpPr>
            <p:sp>
              <p:nvSpPr>
                <p:cNvPr id="72763" name="Rectangle 194"/>
                <p:cNvSpPr/>
                <p:nvPr/>
              </p:nvSpPr>
              <p:spPr>
                <a:xfrm>
                  <a:off x="685" y="998"/>
                  <a:ext cx="733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1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64" name="Rectangle 222"/>
                <p:cNvSpPr/>
                <p:nvPr/>
              </p:nvSpPr>
              <p:spPr>
                <a:xfrm>
                  <a:off x="642" y="998"/>
                  <a:ext cx="81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24" name="Group 225"/>
              <p:cNvGrpSpPr/>
              <p:nvPr/>
            </p:nvGrpSpPr>
            <p:grpSpPr>
              <a:xfrm>
                <a:off x="1461" y="998"/>
                <a:ext cx="679" cy="499"/>
                <a:chOff x="1461" y="998"/>
                <a:chExt cx="679" cy="499"/>
              </a:xfrm>
            </p:grpSpPr>
            <p:sp>
              <p:nvSpPr>
                <p:cNvPr id="72761" name="Rectangle 195"/>
                <p:cNvSpPr/>
                <p:nvPr/>
              </p:nvSpPr>
              <p:spPr>
                <a:xfrm>
                  <a:off x="1504" y="998"/>
                  <a:ext cx="593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92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62" name="Rectangle 224"/>
                <p:cNvSpPr/>
                <p:nvPr/>
              </p:nvSpPr>
              <p:spPr>
                <a:xfrm>
                  <a:off x="1461" y="998"/>
                  <a:ext cx="67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25" name="Group 227"/>
              <p:cNvGrpSpPr/>
              <p:nvPr/>
            </p:nvGrpSpPr>
            <p:grpSpPr>
              <a:xfrm>
                <a:off x="0" y="1497"/>
                <a:ext cx="642" cy="499"/>
                <a:chOff x="0" y="1497"/>
                <a:chExt cx="642" cy="499"/>
              </a:xfrm>
            </p:grpSpPr>
            <p:sp>
              <p:nvSpPr>
                <p:cNvPr id="72759" name="Rectangle 196"/>
                <p:cNvSpPr/>
                <p:nvPr/>
              </p:nvSpPr>
              <p:spPr>
                <a:xfrm>
                  <a:off x="43" y="1497"/>
                  <a:ext cx="556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95001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60" name="Rectangle 226"/>
                <p:cNvSpPr/>
                <p:nvPr/>
              </p:nvSpPr>
              <p:spPr>
                <a:xfrm>
                  <a:off x="0" y="1497"/>
                  <a:ext cx="64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26" name="Group 229"/>
              <p:cNvGrpSpPr/>
              <p:nvPr/>
            </p:nvGrpSpPr>
            <p:grpSpPr>
              <a:xfrm>
                <a:off x="642" y="1497"/>
                <a:ext cx="819" cy="499"/>
                <a:chOff x="642" y="1497"/>
                <a:chExt cx="819" cy="499"/>
              </a:xfrm>
            </p:grpSpPr>
            <p:sp>
              <p:nvSpPr>
                <p:cNvPr id="72757" name="Rectangle 197"/>
                <p:cNvSpPr/>
                <p:nvPr/>
              </p:nvSpPr>
              <p:spPr>
                <a:xfrm>
                  <a:off x="685" y="1497"/>
                  <a:ext cx="733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2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58" name="Rectangle 228"/>
                <p:cNvSpPr/>
                <p:nvPr/>
              </p:nvSpPr>
              <p:spPr>
                <a:xfrm>
                  <a:off x="642" y="1497"/>
                  <a:ext cx="81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27" name="Group 231"/>
              <p:cNvGrpSpPr/>
              <p:nvPr/>
            </p:nvGrpSpPr>
            <p:grpSpPr>
              <a:xfrm>
                <a:off x="1461" y="1497"/>
                <a:ext cx="679" cy="499"/>
                <a:chOff x="1461" y="1497"/>
                <a:chExt cx="679" cy="499"/>
              </a:xfrm>
            </p:grpSpPr>
            <p:sp>
              <p:nvSpPr>
                <p:cNvPr id="72755" name="Rectangle 198"/>
                <p:cNvSpPr/>
                <p:nvPr/>
              </p:nvSpPr>
              <p:spPr>
                <a:xfrm>
                  <a:off x="1504" y="1497"/>
                  <a:ext cx="593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85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56" name="Rectangle 230"/>
                <p:cNvSpPr/>
                <p:nvPr/>
              </p:nvSpPr>
              <p:spPr>
                <a:xfrm>
                  <a:off x="1461" y="1497"/>
                  <a:ext cx="67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28" name="Group 233"/>
              <p:cNvGrpSpPr/>
              <p:nvPr/>
            </p:nvGrpSpPr>
            <p:grpSpPr>
              <a:xfrm>
                <a:off x="0" y="1996"/>
                <a:ext cx="642" cy="499"/>
                <a:chOff x="0" y="1996"/>
                <a:chExt cx="642" cy="499"/>
              </a:xfrm>
            </p:grpSpPr>
            <p:sp>
              <p:nvSpPr>
                <p:cNvPr id="72753" name="Rectangle 199"/>
                <p:cNvSpPr/>
                <p:nvPr/>
              </p:nvSpPr>
              <p:spPr>
                <a:xfrm>
                  <a:off x="43" y="1996"/>
                  <a:ext cx="556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95001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54" name="Rectangle 232"/>
                <p:cNvSpPr/>
                <p:nvPr/>
              </p:nvSpPr>
              <p:spPr>
                <a:xfrm>
                  <a:off x="0" y="1996"/>
                  <a:ext cx="64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29" name="Group 235"/>
              <p:cNvGrpSpPr/>
              <p:nvPr/>
            </p:nvGrpSpPr>
            <p:grpSpPr>
              <a:xfrm>
                <a:off x="642" y="1996"/>
                <a:ext cx="819" cy="499"/>
                <a:chOff x="642" y="1996"/>
                <a:chExt cx="819" cy="499"/>
              </a:xfrm>
            </p:grpSpPr>
            <p:sp>
              <p:nvSpPr>
                <p:cNvPr id="72751" name="Rectangle 200"/>
                <p:cNvSpPr/>
                <p:nvPr/>
              </p:nvSpPr>
              <p:spPr>
                <a:xfrm>
                  <a:off x="685" y="1996"/>
                  <a:ext cx="733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3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52" name="Rectangle 234"/>
                <p:cNvSpPr/>
                <p:nvPr/>
              </p:nvSpPr>
              <p:spPr>
                <a:xfrm>
                  <a:off x="642" y="1996"/>
                  <a:ext cx="81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30" name="Group 237"/>
              <p:cNvGrpSpPr/>
              <p:nvPr/>
            </p:nvGrpSpPr>
            <p:grpSpPr>
              <a:xfrm>
                <a:off x="1461" y="1996"/>
                <a:ext cx="679" cy="499"/>
                <a:chOff x="1461" y="1996"/>
                <a:chExt cx="679" cy="499"/>
              </a:xfrm>
            </p:grpSpPr>
            <p:sp>
              <p:nvSpPr>
                <p:cNvPr id="72749" name="Rectangle 201"/>
                <p:cNvSpPr/>
                <p:nvPr/>
              </p:nvSpPr>
              <p:spPr>
                <a:xfrm>
                  <a:off x="1504" y="1996"/>
                  <a:ext cx="593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88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50" name="Rectangle 236"/>
                <p:cNvSpPr/>
                <p:nvPr/>
              </p:nvSpPr>
              <p:spPr>
                <a:xfrm>
                  <a:off x="1461" y="1996"/>
                  <a:ext cx="67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31" name="Group 239"/>
              <p:cNvGrpSpPr/>
              <p:nvPr/>
            </p:nvGrpSpPr>
            <p:grpSpPr>
              <a:xfrm>
                <a:off x="0" y="2495"/>
                <a:ext cx="642" cy="499"/>
                <a:chOff x="0" y="2495"/>
                <a:chExt cx="642" cy="499"/>
              </a:xfrm>
            </p:grpSpPr>
            <p:sp>
              <p:nvSpPr>
                <p:cNvPr id="72747" name="Rectangle 202"/>
                <p:cNvSpPr/>
                <p:nvPr/>
              </p:nvSpPr>
              <p:spPr>
                <a:xfrm>
                  <a:off x="43" y="2495"/>
                  <a:ext cx="556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95002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48" name="Rectangle 238"/>
                <p:cNvSpPr/>
                <p:nvPr/>
              </p:nvSpPr>
              <p:spPr>
                <a:xfrm>
                  <a:off x="0" y="2495"/>
                  <a:ext cx="64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32" name="Group 241"/>
              <p:cNvGrpSpPr/>
              <p:nvPr/>
            </p:nvGrpSpPr>
            <p:grpSpPr>
              <a:xfrm>
                <a:off x="642" y="2495"/>
                <a:ext cx="819" cy="499"/>
                <a:chOff x="642" y="2495"/>
                <a:chExt cx="819" cy="499"/>
              </a:xfrm>
            </p:grpSpPr>
            <p:sp>
              <p:nvSpPr>
                <p:cNvPr id="72745" name="Rectangle 203"/>
                <p:cNvSpPr/>
                <p:nvPr/>
              </p:nvSpPr>
              <p:spPr>
                <a:xfrm>
                  <a:off x="685" y="2495"/>
                  <a:ext cx="733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2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46" name="Rectangle 240"/>
                <p:cNvSpPr/>
                <p:nvPr/>
              </p:nvSpPr>
              <p:spPr>
                <a:xfrm>
                  <a:off x="642" y="2495"/>
                  <a:ext cx="81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33" name="Group 243"/>
              <p:cNvGrpSpPr/>
              <p:nvPr/>
            </p:nvGrpSpPr>
            <p:grpSpPr>
              <a:xfrm>
                <a:off x="1461" y="2495"/>
                <a:ext cx="679" cy="499"/>
                <a:chOff x="1461" y="2495"/>
                <a:chExt cx="679" cy="499"/>
              </a:xfrm>
            </p:grpSpPr>
            <p:sp>
              <p:nvSpPr>
                <p:cNvPr id="72743" name="Rectangle 204"/>
                <p:cNvSpPr/>
                <p:nvPr/>
              </p:nvSpPr>
              <p:spPr>
                <a:xfrm>
                  <a:off x="1504" y="2495"/>
                  <a:ext cx="593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90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44" name="Rectangle 242"/>
                <p:cNvSpPr/>
                <p:nvPr/>
              </p:nvSpPr>
              <p:spPr>
                <a:xfrm>
                  <a:off x="1461" y="2495"/>
                  <a:ext cx="67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34" name="Group 245"/>
              <p:cNvGrpSpPr/>
              <p:nvPr/>
            </p:nvGrpSpPr>
            <p:grpSpPr>
              <a:xfrm>
                <a:off x="0" y="2994"/>
                <a:ext cx="642" cy="499"/>
                <a:chOff x="0" y="2994"/>
                <a:chExt cx="642" cy="499"/>
              </a:xfrm>
            </p:grpSpPr>
            <p:sp>
              <p:nvSpPr>
                <p:cNvPr id="72741" name="Rectangle 205"/>
                <p:cNvSpPr/>
                <p:nvPr/>
              </p:nvSpPr>
              <p:spPr>
                <a:xfrm>
                  <a:off x="43" y="2994"/>
                  <a:ext cx="556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95002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42" name="Rectangle 244"/>
                <p:cNvSpPr/>
                <p:nvPr/>
              </p:nvSpPr>
              <p:spPr>
                <a:xfrm>
                  <a:off x="0" y="2994"/>
                  <a:ext cx="64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35" name="Group 247"/>
              <p:cNvGrpSpPr/>
              <p:nvPr/>
            </p:nvGrpSpPr>
            <p:grpSpPr>
              <a:xfrm>
                <a:off x="642" y="2994"/>
                <a:ext cx="819" cy="499"/>
                <a:chOff x="642" y="2994"/>
                <a:chExt cx="819" cy="499"/>
              </a:xfrm>
            </p:grpSpPr>
            <p:sp>
              <p:nvSpPr>
                <p:cNvPr id="72739" name="Rectangle 206"/>
                <p:cNvSpPr/>
                <p:nvPr/>
              </p:nvSpPr>
              <p:spPr>
                <a:xfrm>
                  <a:off x="685" y="2994"/>
                  <a:ext cx="733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3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40" name="Rectangle 246"/>
                <p:cNvSpPr/>
                <p:nvPr/>
              </p:nvSpPr>
              <p:spPr>
                <a:xfrm>
                  <a:off x="642" y="2994"/>
                  <a:ext cx="81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2736" name="Group 249"/>
              <p:cNvGrpSpPr/>
              <p:nvPr/>
            </p:nvGrpSpPr>
            <p:grpSpPr>
              <a:xfrm>
                <a:off x="1461" y="2994"/>
                <a:ext cx="679" cy="499"/>
                <a:chOff x="1461" y="2994"/>
                <a:chExt cx="679" cy="499"/>
              </a:xfrm>
            </p:grpSpPr>
            <p:sp>
              <p:nvSpPr>
                <p:cNvPr id="72737" name="Rectangle 207"/>
                <p:cNvSpPr/>
                <p:nvPr/>
              </p:nvSpPr>
              <p:spPr>
                <a:xfrm>
                  <a:off x="1504" y="2994"/>
                  <a:ext cx="593" cy="49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80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2738" name="Rectangle 248"/>
                <p:cNvSpPr/>
                <p:nvPr/>
              </p:nvSpPr>
              <p:spPr>
                <a:xfrm>
                  <a:off x="1461" y="2994"/>
                  <a:ext cx="679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72715" name="Rectangle 251"/>
            <p:cNvSpPr/>
            <p:nvPr/>
          </p:nvSpPr>
          <p:spPr>
            <a:xfrm>
              <a:off x="-3" y="-3"/>
              <a:ext cx="2146" cy="3499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选择（续）</a:t>
            </a:r>
            <a:endParaRPr lang="zh-CN" altLang="en-US" dirty="0"/>
          </a:p>
        </p:txBody>
      </p:sp>
      <p:sp>
        <p:nvSpPr>
          <p:cNvPr id="74756" name="Rectangle 3"/>
          <p:cNvSpPr>
            <a:spLocks noGrp="1"/>
          </p:cNvSpPr>
          <p:nvPr>
            <p:ph idx="1"/>
          </p:nvPr>
        </p:nvSpPr>
        <p:spPr>
          <a:xfrm>
            <a:off x="457200" y="1370013"/>
            <a:ext cx="8229600" cy="2346325"/>
          </a:xfrm>
          <a:ln/>
        </p:spPr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1</a:t>
            </a:r>
            <a:r>
              <a:rPr lang="en-US" altLang="zh-CN" dirty="0"/>
              <a:t>]  </a:t>
            </a:r>
            <a:r>
              <a:rPr lang="zh-CN" altLang="en-US" dirty="0"/>
              <a:t>查询信息系（</a:t>
            </a:r>
            <a:r>
              <a:rPr lang="en-US" altLang="zh-CN" dirty="0"/>
              <a:t>IS</a:t>
            </a:r>
            <a:r>
              <a:rPr lang="zh-CN" altLang="en-US" dirty="0"/>
              <a:t>系）全体学生</a:t>
            </a:r>
            <a:endParaRPr lang="zh-CN" altLang="en-US" dirty="0"/>
          </a:p>
          <a:p>
            <a:pPr algn="just">
              <a:lnSpc>
                <a:spcPct val="120000"/>
              </a:lnSpc>
              <a:buNone/>
            </a:pPr>
            <a:r>
              <a:rPr lang="zh-CN" altLang="en-US" dirty="0"/>
              <a:t>   		         </a:t>
            </a:r>
            <a:r>
              <a:rPr lang="en-US" altLang="zh-CN" dirty="0"/>
              <a:t>σ</a:t>
            </a:r>
            <a:r>
              <a:rPr lang="en-US" altLang="zh-CN" baseline="-30000" dirty="0"/>
              <a:t>Sdept</a:t>
            </a:r>
            <a:r>
              <a:rPr lang="en-US" altLang="zh-CN" dirty="0"/>
              <a:t> </a:t>
            </a:r>
            <a:r>
              <a:rPr lang="en-US" altLang="zh-CN" baseline="-30000" dirty="0"/>
              <a:t>= 'IS' </a:t>
            </a:r>
            <a:r>
              <a:rPr lang="en-US" altLang="zh-CN" dirty="0"/>
              <a:t>(Student)</a:t>
            </a:r>
            <a:endParaRPr lang="en-US" altLang="zh-CN" dirty="0"/>
          </a:p>
          <a:p>
            <a:pPr algn="just">
              <a:lnSpc>
                <a:spcPct val="120000"/>
              </a:lnSpc>
              <a:buNone/>
            </a:pPr>
            <a:r>
              <a:rPr lang="en-US" altLang="zh-CN" dirty="0"/>
              <a:t>		     </a:t>
            </a:r>
            <a:r>
              <a:rPr lang="zh-CN" altLang="en-US" dirty="0"/>
              <a:t>或</a:t>
            </a:r>
            <a:r>
              <a:rPr lang="en-US" altLang="zh-CN" dirty="0"/>
              <a:t>σ</a:t>
            </a:r>
            <a:r>
              <a:rPr lang="en-US" altLang="zh-CN" baseline="-30000" dirty="0">
                <a:solidFill>
                  <a:srgbClr val="0033CC"/>
                </a:solidFill>
              </a:rPr>
              <a:t>5</a:t>
            </a:r>
            <a:r>
              <a:rPr lang="en-US" altLang="zh-CN" baseline="-30000" dirty="0"/>
              <a:t> ='IS' </a:t>
            </a:r>
            <a:r>
              <a:rPr lang="en-US" altLang="zh-CN" dirty="0"/>
              <a:t>(Student)</a:t>
            </a:r>
            <a:endParaRPr lang="en-US" altLang="zh-CN" dirty="0"/>
          </a:p>
          <a:p>
            <a:pPr algn="just">
              <a:buNone/>
            </a:pPr>
            <a:r>
              <a:rPr lang="zh-CN" altLang="en-US" dirty="0"/>
              <a:t>结果：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  <p:grpSp>
        <p:nvGrpSpPr>
          <p:cNvPr id="74757" name="Group 299"/>
          <p:cNvGrpSpPr/>
          <p:nvPr/>
        </p:nvGrpSpPr>
        <p:grpSpPr>
          <a:xfrm>
            <a:off x="827088" y="3979863"/>
            <a:ext cx="7489825" cy="1752600"/>
            <a:chOff x="-3" y="-3"/>
            <a:chExt cx="3320" cy="1714"/>
          </a:xfrm>
        </p:grpSpPr>
        <p:grpSp>
          <p:nvGrpSpPr>
            <p:cNvPr id="73734" name="Group 297"/>
            <p:cNvGrpSpPr/>
            <p:nvPr/>
          </p:nvGrpSpPr>
          <p:grpSpPr>
            <a:xfrm>
              <a:off x="0" y="0"/>
              <a:ext cx="3314" cy="1708"/>
              <a:chOff x="0" y="0"/>
              <a:chExt cx="3314" cy="1708"/>
            </a:xfrm>
          </p:grpSpPr>
          <p:grpSp>
            <p:nvGrpSpPr>
              <p:cNvPr id="73736" name="Group 268"/>
              <p:cNvGrpSpPr/>
              <p:nvPr/>
            </p:nvGrpSpPr>
            <p:grpSpPr>
              <a:xfrm>
                <a:off x="0" y="0"/>
                <a:ext cx="706" cy="710"/>
                <a:chOff x="0" y="0"/>
                <a:chExt cx="706" cy="710"/>
              </a:xfrm>
            </p:grpSpPr>
            <p:sp>
              <p:nvSpPr>
                <p:cNvPr id="73779" name="Rectangle 252"/>
                <p:cNvSpPr/>
                <p:nvPr/>
              </p:nvSpPr>
              <p:spPr>
                <a:xfrm>
                  <a:off x="43" y="0"/>
                  <a:ext cx="620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Sno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80" name="Rectangle 267"/>
                <p:cNvSpPr/>
                <p:nvPr/>
              </p:nvSpPr>
              <p:spPr>
                <a:xfrm>
                  <a:off x="0" y="0"/>
                  <a:ext cx="706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37" name="Group 270"/>
              <p:cNvGrpSpPr/>
              <p:nvPr/>
            </p:nvGrpSpPr>
            <p:grpSpPr>
              <a:xfrm>
                <a:off x="706" y="0"/>
                <a:ext cx="806" cy="710"/>
                <a:chOff x="706" y="0"/>
                <a:chExt cx="806" cy="710"/>
              </a:xfrm>
            </p:grpSpPr>
            <p:sp>
              <p:nvSpPr>
                <p:cNvPr id="73777" name="Rectangle 253"/>
                <p:cNvSpPr/>
                <p:nvPr/>
              </p:nvSpPr>
              <p:spPr>
                <a:xfrm>
                  <a:off x="749" y="0"/>
                  <a:ext cx="720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Sname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78" name="Rectangle 269"/>
                <p:cNvSpPr/>
                <p:nvPr/>
              </p:nvSpPr>
              <p:spPr>
                <a:xfrm>
                  <a:off x="706" y="0"/>
                  <a:ext cx="806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38" name="Group 272"/>
              <p:cNvGrpSpPr/>
              <p:nvPr/>
            </p:nvGrpSpPr>
            <p:grpSpPr>
              <a:xfrm>
                <a:off x="1512" y="0"/>
                <a:ext cx="640" cy="710"/>
                <a:chOff x="1512" y="0"/>
                <a:chExt cx="640" cy="710"/>
              </a:xfrm>
            </p:grpSpPr>
            <p:sp>
              <p:nvSpPr>
                <p:cNvPr id="73775" name="Rectangle 254"/>
                <p:cNvSpPr/>
                <p:nvPr/>
              </p:nvSpPr>
              <p:spPr>
                <a:xfrm>
                  <a:off x="1555" y="0"/>
                  <a:ext cx="554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Ssex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76" name="Rectangle 271"/>
                <p:cNvSpPr/>
                <p:nvPr/>
              </p:nvSpPr>
              <p:spPr>
                <a:xfrm>
                  <a:off x="1512" y="0"/>
                  <a:ext cx="64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39" name="Group 274"/>
              <p:cNvGrpSpPr/>
              <p:nvPr/>
            </p:nvGrpSpPr>
            <p:grpSpPr>
              <a:xfrm>
                <a:off x="2152" y="0"/>
                <a:ext cx="540" cy="710"/>
                <a:chOff x="2152" y="0"/>
                <a:chExt cx="540" cy="710"/>
              </a:xfrm>
            </p:grpSpPr>
            <p:sp>
              <p:nvSpPr>
                <p:cNvPr id="73773" name="Rectangle 255"/>
                <p:cNvSpPr/>
                <p:nvPr/>
              </p:nvSpPr>
              <p:spPr>
                <a:xfrm>
                  <a:off x="2195" y="0"/>
                  <a:ext cx="454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Sage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74" name="Rectangle 273"/>
                <p:cNvSpPr/>
                <p:nvPr/>
              </p:nvSpPr>
              <p:spPr>
                <a:xfrm>
                  <a:off x="2152" y="0"/>
                  <a:ext cx="54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40" name="Group 276"/>
              <p:cNvGrpSpPr/>
              <p:nvPr/>
            </p:nvGrpSpPr>
            <p:grpSpPr>
              <a:xfrm>
                <a:off x="2692" y="0"/>
                <a:ext cx="622" cy="710"/>
                <a:chOff x="2692" y="0"/>
                <a:chExt cx="622" cy="710"/>
              </a:xfrm>
            </p:grpSpPr>
            <p:sp>
              <p:nvSpPr>
                <p:cNvPr id="73771" name="Rectangle 256"/>
                <p:cNvSpPr/>
                <p:nvPr/>
              </p:nvSpPr>
              <p:spPr>
                <a:xfrm>
                  <a:off x="2735" y="0"/>
                  <a:ext cx="536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Sdept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72" name="Rectangle 275"/>
                <p:cNvSpPr/>
                <p:nvPr/>
              </p:nvSpPr>
              <p:spPr>
                <a:xfrm>
                  <a:off x="2692" y="0"/>
                  <a:ext cx="622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41" name="Group 278"/>
              <p:cNvGrpSpPr/>
              <p:nvPr/>
            </p:nvGrpSpPr>
            <p:grpSpPr>
              <a:xfrm>
                <a:off x="0" y="710"/>
                <a:ext cx="706" cy="499"/>
                <a:chOff x="0" y="710"/>
                <a:chExt cx="706" cy="499"/>
              </a:xfrm>
            </p:grpSpPr>
            <p:sp>
              <p:nvSpPr>
                <p:cNvPr id="73769" name="Rectangle 257"/>
                <p:cNvSpPr/>
                <p:nvPr/>
              </p:nvSpPr>
              <p:spPr>
                <a:xfrm>
                  <a:off x="43" y="710"/>
                  <a:ext cx="620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95002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70" name="Rectangle 277"/>
                <p:cNvSpPr/>
                <p:nvPr/>
              </p:nvSpPr>
              <p:spPr>
                <a:xfrm>
                  <a:off x="0" y="710"/>
                  <a:ext cx="706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42" name="Group 280"/>
              <p:cNvGrpSpPr/>
              <p:nvPr/>
            </p:nvGrpSpPr>
            <p:grpSpPr>
              <a:xfrm>
                <a:off x="706" y="710"/>
                <a:ext cx="806" cy="499"/>
                <a:chOff x="706" y="710"/>
                <a:chExt cx="806" cy="499"/>
              </a:xfrm>
            </p:grpSpPr>
            <p:sp>
              <p:nvSpPr>
                <p:cNvPr id="73767" name="Rectangle 258"/>
                <p:cNvSpPr/>
                <p:nvPr/>
              </p:nvSpPr>
              <p:spPr>
                <a:xfrm>
                  <a:off x="749" y="710"/>
                  <a:ext cx="720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刘晨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68" name="Rectangle 279"/>
                <p:cNvSpPr/>
                <p:nvPr/>
              </p:nvSpPr>
              <p:spPr>
                <a:xfrm>
                  <a:off x="706" y="710"/>
                  <a:ext cx="806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43" name="Group 282"/>
              <p:cNvGrpSpPr/>
              <p:nvPr/>
            </p:nvGrpSpPr>
            <p:grpSpPr>
              <a:xfrm>
                <a:off x="1512" y="710"/>
                <a:ext cx="640" cy="499"/>
                <a:chOff x="1512" y="710"/>
                <a:chExt cx="640" cy="499"/>
              </a:xfrm>
            </p:grpSpPr>
            <p:sp>
              <p:nvSpPr>
                <p:cNvPr id="73765" name="Rectangle 259"/>
                <p:cNvSpPr/>
                <p:nvPr/>
              </p:nvSpPr>
              <p:spPr>
                <a:xfrm>
                  <a:off x="1555" y="710"/>
                  <a:ext cx="55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女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66" name="Rectangle 281"/>
                <p:cNvSpPr/>
                <p:nvPr/>
              </p:nvSpPr>
              <p:spPr>
                <a:xfrm>
                  <a:off x="1512" y="710"/>
                  <a:ext cx="64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44" name="Group 284"/>
              <p:cNvGrpSpPr/>
              <p:nvPr/>
            </p:nvGrpSpPr>
            <p:grpSpPr>
              <a:xfrm>
                <a:off x="2152" y="710"/>
                <a:ext cx="540" cy="499"/>
                <a:chOff x="2152" y="710"/>
                <a:chExt cx="540" cy="499"/>
              </a:xfrm>
            </p:grpSpPr>
            <p:sp>
              <p:nvSpPr>
                <p:cNvPr id="73763" name="Rectangle 260"/>
                <p:cNvSpPr/>
                <p:nvPr/>
              </p:nvSpPr>
              <p:spPr>
                <a:xfrm>
                  <a:off x="2195" y="710"/>
                  <a:ext cx="45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19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64" name="Rectangle 283"/>
                <p:cNvSpPr/>
                <p:nvPr/>
              </p:nvSpPr>
              <p:spPr>
                <a:xfrm>
                  <a:off x="2152" y="710"/>
                  <a:ext cx="54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45" name="Group 286"/>
              <p:cNvGrpSpPr/>
              <p:nvPr/>
            </p:nvGrpSpPr>
            <p:grpSpPr>
              <a:xfrm>
                <a:off x="2692" y="710"/>
                <a:ext cx="622" cy="499"/>
                <a:chOff x="2692" y="710"/>
                <a:chExt cx="622" cy="499"/>
              </a:xfrm>
            </p:grpSpPr>
            <p:sp>
              <p:nvSpPr>
                <p:cNvPr id="73761" name="Rectangle 261"/>
                <p:cNvSpPr/>
                <p:nvPr/>
              </p:nvSpPr>
              <p:spPr>
                <a:xfrm>
                  <a:off x="2735" y="710"/>
                  <a:ext cx="536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IS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62" name="Rectangle 285"/>
                <p:cNvSpPr/>
                <p:nvPr/>
              </p:nvSpPr>
              <p:spPr>
                <a:xfrm>
                  <a:off x="2692" y="710"/>
                  <a:ext cx="62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46" name="Group 288"/>
              <p:cNvGrpSpPr/>
              <p:nvPr/>
            </p:nvGrpSpPr>
            <p:grpSpPr>
              <a:xfrm>
                <a:off x="0" y="1209"/>
                <a:ext cx="706" cy="499"/>
                <a:chOff x="0" y="1209"/>
                <a:chExt cx="706" cy="499"/>
              </a:xfrm>
            </p:grpSpPr>
            <p:sp>
              <p:nvSpPr>
                <p:cNvPr id="73759" name="Rectangle 262"/>
                <p:cNvSpPr/>
                <p:nvPr/>
              </p:nvSpPr>
              <p:spPr>
                <a:xfrm>
                  <a:off x="43" y="1209"/>
                  <a:ext cx="620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95004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60" name="Rectangle 287"/>
                <p:cNvSpPr/>
                <p:nvPr/>
              </p:nvSpPr>
              <p:spPr>
                <a:xfrm>
                  <a:off x="0" y="1209"/>
                  <a:ext cx="706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47" name="Group 290"/>
              <p:cNvGrpSpPr/>
              <p:nvPr/>
            </p:nvGrpSpPr>
            <p:grpSpPr>
              <a:xfrm>
                <a:off x="706" y="1209"/>
                <a:ext cx="806" cy="499"/>
                <a:chOff x="706" y="1209"/>
                <a:chExt cx="806" cy="499"/>
              </a:xfrm>
            </p:grpSpPr>
            <p:sp>
              <p:nvSpPr>
                <p:cNvPr id="73757" name="Rectangle 263"/>
                <p:cNvSpPr/>
                <p:nvPr/>
              </p:nvSpPr>
              <p:spPr>
                <a:xfrm>
                  <a:off x="749" y="1209"/>
                  <a:ext cx="720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张立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58" name="Rectangle 289"/>
                <p:cNvSpPr/>
                <p:nvPr/>
              </p:nvSpPr>
              <p:spPr>
                <a:xfrm>
                  <a:off x="706" y="1209"/>
                  <a:ext cx="806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48" name="Group 292"/>
              <p:cNvGrpSpPr/>
              <p:nvPr/>
            </p:nvGrpSpPr>
            <p:grpSpPr>
              <a:xfrm>
                <a:off x="1512" y="1209"/>
                <a:ext cx="640" cy="499"/>
                <a:chOff x="1512" y="1209"/>
                <a:chExt cx="640" cy="499"/>
              </a:xfrm>
            </p:grpSpPr>
            <p:sp>
              <p:nvSpPr>
                <p:cNvPr id="73755" name="Rectangle 264"/>
                <p:cNvSpPr/>
                <p:nvPr/>
              </p:nvSpPr>
              <p:spPr>
                <a:xfrm>
                  <a:off x="1555" y="1209"/>
                  <a:ext cx="55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男</a:t>
                  </a:r>
                  <a:endParaRPr lang="zh-CN" altLang="en-US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56" name="Rectangle 291"/>
                <p:cNvSpPr/>
                <p:nvPr/>
              </p:nvSpPr>
              <p:spPr>
                <a:xfrm>
                  <a:off x="1512" y="1209"/>
                  <a:ext cx="64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49" name="Group 294"/>
              <p:cNvGrpSpPr/>
              <p:nvPr/>
            </p:nvGrpSpPr>
            <p:grpSpPr>
              <a:xfrm>
                <a:off x="2152" y="1209"/>
                <a:ext cx="540" cy="499"/>
                <a:chOff x="2152" y="1209"/>
                <a:chExt cx="540" cy="499"/>
              </a:xfrm>
            </p:grpSpPr>
            <p:sp>
              <p:nvSpPr>
                <p:cNvPr id="73753" name="Rectangle 265"/>
                <p:cNvSpPr/>
                <p:nvPr/>
              </p:nvSpPr>
              <p:spPr>
                <a:xfrm>
                  <a:off x="2195" y="1209"/>
                  <a:ext cx="45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19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54" name="Rectangle 293"/>
                <p:cNvSpPr/>
                <p:nvPr/>
              </p:nvSpPr>
              <p:spPr>
                <a:xfrm>
                  <a:off x="2152" y="1209"/>
                  <a:ext cx="54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3750" name="Group 296"/>
              <p:cNvGrpSpPr/>
              <p:nvPr/>
            </p:nvGrpSpPr>
            <p:grpSpPr>
              <a:xfrm>
                <a:off x="2692" y="1209"/>
                <a:ext cx="622" cy="499"/>
                <a:chOff x="2692" y="1209"/>
                <a:chExt cx="622" cy="499"/>
              </a:xfrm>
            </p:grpSpPr>
            <p:sp>
              <p:nvSpPr>
                <p:cNvPr id="73751" name="Rectangle 266"/>
                <p:cNvSpPr/>
                <p:nvPr/>
              </p:nvSpPr>
              <p:spPr>
                <a:xfrm>
                  <a:off x="2735" y="1209"/>
                  <a:ext cx="536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IS</a:t>
                  </a:r>
                  <a:endParaRPr lang="en-US" altLang="zh-CN" sz="2400" b="1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3752" name="Rectangle 295"/>
                <p:cNvSpPr/>
                <p:nvPr/>
              </p:nvSpPr>
              <p:spPr>
                <a:xfrm>
                  <a:off x="2692" y="1209"/>
                  <a:ext cx="62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73735" name="Rectangle 298"/>
            <p:cNvSpPr/>
            <p:nvPr/>
          </p:nvSpPr>
          <p:spPr>
            <a:xfrm>
              <a:off x="-3" y="-3"/>
              <a:ext cx="3320" cy="1714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6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6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charRg st="2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6">
                                            <p:txEl>
                                              <p:charRg st="2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6">
                                            <p:txEl>
                                              <p:charRg st="2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charRg st="59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56">
                                            <p:txEl>
                                              <p:charRg st="59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56">
                                            <p:txEl>
                                              <p:charRg st="59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charRg st="86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56">
                                            <p:txEl>
                                              <p:charRg st="86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56">
                                            <p:txEl>
                                              <p:charRg st="86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选择（续）</a:t>
            </a:r>
            <a:endParaRPr lang="zh-CN" altLang="en-US" dirty="0"/>
          </a:p>
        </p:txBody>
      </p:sp>
      <p:sp>
        <p:nvSpPr>
          <p:cNvPr id="75780" name="Rectangle 3"/>
          <p:cNvSpPr>
            <a:spLocks noGrp="1"/>
          </p:cNvSpPr>
          <p:nvPr>
            <p:ph idx="1"/>
          </p:nvPr>
        </p:nvSpPr>
        <p:spPr>
          <a:xfrm>
            <a:off x="323850" y="1268413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en-US" altLang="zh-CN" dirty="0">
                <a:ea typeface="黑体" panose="02010609060101010101" pitchFamily="49" charset="-122"/>
              </a:rPr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2</a:t>
            </a:r>
            <a:r>
              <a:rPr lang="en-US" altLang="zh-CN" dirty="0"/>
              <a:t>]  </a:t>
            </a:r>
            <a:r>
              <a:rPr lang="zh-CN" altLang="en-US" dirty="0"/>
              <a:t>查询年龄小于</a:t>
            </a:r>
            <a:r>
              <a:rPr lang="en-US" altLang="zh-CN" dirty="0"/>
              <a:t>20</a:t>
            </a:r>
            <a:r>
              <a:rPr lang="zh-CN" altLang="en-US" dirty="0"/>
              <a:t>岁的学生</a:t>
            </a:r>
            <a:endParaRPr lang="zh-CN" altLang="en-US" dirty="0"/>
          </a:p>
          <a:p>
            <a:pPr algn="just">
              <a:buNone/>
            </a:pPr>
            <a:r>
              <a:rPr lang="zh-CN" altLang="en-US" dirty="0"/>
              <a:t>    	   </a:t>
            </a:r>
            <a:r>
              <a:rPr lang="en-US" altLang="zh-CN" dirty="0"/>
              <a:t>σ</a:t>
            </a:r>
            <a:r>
              <a:rPr lang="en-US" altLang="zh-CN" baseline="-30000" dirty="0"/>
              <a:t>Sage &lt; 20</a:t>
            </a:r>
            <a:r>
              <a:rPr lang="en-US" altLang="zh-CN" dirty="0"/>
              <a:t>(Student) </a:t>
            </a:r>
            <a:endParaRPr lang="en-US" altLang="zh-CN" dirty="0"/>
          </a:p>
          <a:p>
            <a:pPr algn="just">
              <a:buNone/>
            </a:pPr>
            <a:r>
              <a:rPr lang="en-US" altLang="zh-CN" dirty="0"/>
              <a:t>	     </a:t>
            </a:r>
            <a:r>
              <a:rPr lang="zh-CN" altLang="en-US" dirty="0"/>
              <a:t>或</a:t>
            </a:r>
            <a:r>
              <a:rPr lang="en-US" altLang="zh-CN" dirty="0"/>
              <a:t>σ</a:t>
            </a:r>
            <a:r>
              <a:rPr lang="en-US" altLang="zh-CN" baseline="-30000" dirty="0">
                <a:solidFill>
                  <a:srgbClr val="0033CC"/>
                </a:solidFill>
              </a:rPr>
              <a:t>4</a:t>
            </a:r>
            <a:r>
              <a:rPr lang="en-US" altLang="zh-CN" baseline="-30000" dirty="0"/>
              <a:t> &lt; 20</a:t>
            </a:r>
            <a:r>
              <a:rPr lang="en-US" altLang="zh-CN" dirty="0"/>
              <a:t>(Student)</a:t>
            </a:r>
            <a:endParaRPr lang="en-US" altLang="zh-CN" dirty="0"/>
          </a:p>
          <a:p>
            <a:pPr algn="just">
              <a:buNone/>
            </a:pPr>
            <a:r>
              <a:rPr lang="en-US" altLang="zh-CN" dirty="0"/>
              <a:t>	</a:t>
            </a:r>
            <a:r>
              <a:rPr lang="zh-CN" altLang="en-US" dirty="0"/>
              <a:t>结果： </a:t>
            </a:r>
            <a:endParaRPr lang="zh-CN" altLang="en-US" dirty="0"/>
          </a:p>
        </p:txBody>
      </p:sp>
      <p:grpSp>
        <p:nvGrpSpPr>
          <p:cNvPr id="75781" name="Group 130"/>
          <p:cNvGrpSpPr/>
          <p:nvPr/>
        </p:nvGrpSpPr>
        <p:grpSpPr>
          <a:xfrm>
            <a:off x="1258888" y="3644900"/>
            <a:ext cx="7199312" cy="2014538"/>
            <a:chOff x="-3" y="-3"/>
            <a:chExt cx="2421" cy="3057"/>
          </a:xfrm>
        </p:grpSpPr>
        <p:grpSp>
          <p:nvGrpSpPr>
            <p:cNvPr id="74759" name="Group 128"/>
            <p:cNvGrpSpPr/>
            <p:nvPr/>
          </p:nvGrpSpPr>
          <p:grpSpPr>
            <a:xfrm>
              <a:off x="0" y="0"/>
              <a:ext cx="2415" cy="3051"/>
              <a:chOff x="0" y="0"/>
              <a:chExt cx="2415" cy="3051"/>
            </a:xfrm>
          </p:grpSpPr>
          <p:grpSp>
            <p:nvGrpSpPr>
              <p:cNvPr id="74761" name="Group 89"/>
              <p:cNvGrpSpPr/>
              <p:nvPr/>
            </p:nvGrpSpPr>
            <p:grpSpPr>
              <a:xfrm>
                <a:off x="0" y="0"/>
                <a:ext cx="483" cy="921"/>
                <a:chOff x="0" y="0"/>
                <a:chExt cx="483" cy="921"/>
              </a:xfrm>
            </p:grpSpPr>
            <p:sp>
              <p:nvSpPr>
                <p:cNvPr id="74819" name="Rectangle 68"/>
                <p:cNvSpPr/>
                <p:nvPr/>
              </p:nvSpPr>
              <p:spPr>
                <a:xfrm>
                  <a:off x="43" y="0"/>
                  <a:ext cx="397" cy="921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Sno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820" name="Rectangle 88"/>
                <p:cNvSpPr/>
                <p:nvPr/>
              </p:nvSpPr>
              <p:spPr>
                <a:xfrm>
                  <a:off x="0" y="0"/>
                  <a:ext cx="483" cy="921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62" name="Group 91"/>
              <p:cNvGrpSpPr/>
              <p:nvPr/>
            </p:nvGrpSpPr>
            <p:grpSpPr>
              <a:xfrm>
                <a:off x="483" y="0"/>
                <a:ext cx="580" cy="921"/>
                <a:chOff x="483" y="0"/>
                <a:chExt cx="580" cy="921"/>
              </a:xfrm>
            </p:grpSpPr>
            <p:sp>
              <p:nvSpPr>
                <p:cNvPr id="74817" name="Rectangle 69"/>
                <p:cNvSpPr/>
                <p:nvPr/>
              </p:nvSpPr>
              <p:spPr>
                <a:xfrm>
                  <a:off x="526" y="0"/>
                  <a:ext cx="537" cy="921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defTabSz="914400" eaLnBrk="1" hangingPunct="1"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Sname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 defTabSz="914400">
                    <a:tabLst>
                      <a:tab pos="266700" algn="r"/>
                      <a:tab pos="5292725" algn="r"/>
                    </a:tabLst>
                  </a:pP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818" name="Rectangle 90"/>
                <p:cNvSpPr/>
                <p:nvPr/>
              </p:nvSpPr>
              <p:spPr>
                <a:xfrm>
                  <a:off x="483" y="0"/>
                  <a:ext cx="483" cy="921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63" name="Group 93"/>
              <p:cNvGrpSpPr/>
              <p:nvPr/>
            </p:nvGrpSpPr>
            <p:grpSpPr>
              <a:xfrm>
                <a:off x="966" y="0"/>
                <a:ext cx="496" cy="921"/>
                <a:chOff x="966" y="0"/>
                <a:chExt cx="496" cy="921"/>
              </a:xfrm>
            </p:grpSpPr>
            <p:sp>
              <p:nvSpPr>
                <p:cNvPr id="74815" name="Rectangle 70"/>
                <p:cNvSpPr/>
                <p:nvPr/>
              </p:nvSpPr>
              <p:spPr>
                <a:xfrm>
                  <a:off x="1009" y="0"/>
                  <a:ext cx="410" cy="921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defTabSz="914400" eaLnBrk="1" hangingPunct="1"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Ssex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 defTabSz="914400">
                    <a:tabLst>
                      <a:tab pos="266700" algn="r"/>
                      <a:tab pos="5292725" algn="r"/>
                    </a:tabLst>
                  </a:pP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816" name="Rectangle 92"/>
                <p:cNvSpPr/>
                <p:nvPr/>
              </p:nvSpPr>
              <p:spPr>
                <a:xfrm>
                  <a:off x="966" y="0"/>
                  <a:ext cx="496" cy="921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64" name="Group 95"/>
              <p:cNvGrpSpPr/>
              <p:nvPr/>
            </p:nvGrpSpPr>
            <p:grpSpPr>
              <a:xfrm>
                <a:off x="1462" y="0"/>
                <a:ext cx="470" cy="921"/>
                <a:chOff x="1462" y="0"/>
                <a:chExt cx="470" cy="921"/>
              </a:xfrm>
            </p:grpSpPr>
            <p:sp>
              <p:nvSpPr>
                <p:cNvPr id="74813" name="Rectangle 71"/>
                <p:cNvSpPr/>
                <p:nvPr/>
              </p:nvSpPr>
              <p:spPr>
                <a:xfrm>
                  <a:off x="1505" y="0"/>
                  <a:ext cx="384" cy="921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defTabSz="914400" eaLnBrk="1" hangingPunct="1"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Sage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 defTabSz="914400">
                    <a:tabLst>
                      <a:tab pos="266700" algn="r"/>
                      <a:tab pos="5292725" algn="r"/>
                    </a:tabLst>
                  </a:pP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814" name="Rectangle 94"/>
                <p:cNvSpPr/>
                <p:nvPr/>
              </p:nvSpPr>
              <p:spPr>
                <a:xfrm>
                  <a:off x="1462" y="0"/>
                  <a:ext cx="470" cy="921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65" name="Group 97"/>
              <p:cNvGrpSpPr/>
              <p:nvPr/>
            </p:nvGrpSpPr>
            <p:grpSpPr>
              <a:xfrm>
                <a:off x="1932" y="0"/>
                <a:ext cx="483" cy="921"/>
                <a:chOff x="1932" y="0"/>
                <a:chExt cx="483" cy="921"/>
              </a:xfrm>
            </p:grpSpPr>
            <p:sp>
              <p:nvSpPr>
                <p:cNvPr id="74811" name="Rectangle 72"/>
                <p:cNvSpPr/>
                <p:nvPr/>
              </p:nvSpPr>
              <p:spPr>
                <a:xfrm>
                  <a:off x="1975" y="0"/>
                  <a:ext cx="397" cy="921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defTabSz="914400" eaLnBrk="1" hangingPunct="1"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Sdept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 defTabSz="914400">
                    <a:tabLst>
                      <a:tab pos="266700" algn="r"/>
                      <a:tab pos="5292725" algn="r"/>
                    </a:tabLst>
                  </a:pP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812" name="Rectangle 96"/>
                <p:cNvSpPr/>
                <p:nvPr/>
              </p:nvSpPr>
              <p:spPr>
                <a:xfrm>
                  <a:off x="1932" y="0"/>
                  <a:ext cx="483" cy="921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66" name="Group 99"/>
              <p:cNvGrpSpPr/>
              <p:nvPr/>
            </p:nvGrpSpPr>
            <p:grpSpPr>
              <a:xfrm>
                <a:off x="0" y="921"/>
                <a:ext cx="511" cy="710"/>
                <a:chOff x="0" y="921"/>
                <a:chExt cx="511" cy="710"/>
              </a:xfrm>
            </p:grpSpPr>
            <p:sp>
              <p:nvSpPr>
                <p:cNvPr id="74809" name="Rectangle 73"/>
                <p:cNvSpPr/>
                <p:nvPr/>
              </p:nvSpPr>
              <p:spPr>
                <a:xfrm>
                  <a:off x="43" y="921"/>
                  <a:ext cx="468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95002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810" name="Rectangle 98"/>
                <p:cNvSpPr/>
                <p:nvPr/>
              </p:nvSpPr>
              <p:spPr>
                <a:xfrm>
                  <a:off x="0" y="921"/>
                  <a:ext cx="483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67" name="Group 101"/>
              <p:cNvGrpSpPr/>
              <p:nvPr/>
            </p:nvGrpSpPr>
            <p:grpSpPr>
              <a:xfrm>
                <a:off x="483" y="921"/>
                <a:ext cx="483" cy="710"/>
                <a:chOff x="483" y="921"/>
                <a:chExt cx="483" cy="710"/>
              </a:xfrm>
            </p:grpSpPr>
            <p:sp>
              <p:nvSpPr>
                <p:cNvPr id="74807" name="Rectangle 74"/>
                <p:cNvSpPr/>
                <p:nvPr/>
              </p:nvSpPr>
              <p:spPr>
                <a:xfrm>
                  <a:off x="526" y="921"/>
                  <a:ext cx="397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刘晨</a:t>
                  </a:r>
                  <a:endParaRPr lang="zh-CN" altLang="en-US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808" name="Rectangle 100"/>
                <p:cNvSpPr/>
                <p:nvPr/>
              </p:nvSpPr>
              <p:spPr>
                <a:xfrm>
                  <a:off x="483" y="921"/>
                  <a:ext cx="483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68" name="Group 103"/>
              <p:cNvGrpSpPr/>
              <p:nvPr/>
            </p:nvGrpSpPr>
            <p:grpSpPr>
              <a:xfrm>
                <a:off x="966" y="921"/>
                <a:ext cx="496" cy="710"/>
                <a:chOff x="966" y="921"/>
                <a:chExt cx="496" cy="710"/>
              </a:xfrm>
            </p:grpSpPr>
            <p:sp>
              <p:nvSpPr>
                <p:cNvPr id="74805" name="Rectangle 75"/>
                <p:cNvSpPr/>
                <p:nvPr/>
              </p:nvSpPr>
              <p:spPr>
                <a:xfrm>
                  <a:off x="1009" y="921"/>
                  <a:ext cx="410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女</a:t>
                  </a:r>
                  <a:endParaRPr lang="zh-CN" altLang="en-US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806" name="Rectangle 102"/>
                <p:cNvSpPr/>
                <p:nvPr/>
              </p:nvSpPr>
              <p:spPr>
                <a:xfrm>
                  <a:off x="966" y="921"/>
                  <a:ext cx="496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69" name="Group 105"/>
              <p:cNvGrpSpPr/>
              <p:nvPr/>
            </p:nvGrpSpPr>
            <p:grpSpPr>
              <a:xfrm>
                <a:off x="1462" y="921"/>
                <a:ext cx="470" cy="710"/>
                <a:chOff x="1462" y="921"/>
                <a:chExt cx="470" cy="710"/>
              </a:xfrm>
            </p:grpSpPr>
            <p:sp>
              <p:nvSpPr>
                <p:cNvPr id="74803" name="Rectangle 76"/>
                <p:cNvSpPr/>
                <p:nvPr/>
              </p:nvSpPr>
              <p:spPr>
                <a:xfrm>
                  <a:off x="1505" y="921"/>
                  <a:ext cx="384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19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804" name="Rectangle 104"/>
                <p:cNvSpPr/>
                <p:nvPr/>
              </p:nvSpPr>
              <p:spPr>
                <a:xfrm>
                  <a:off x="1462" y="921"/>
                  <a:ext cx="47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70" name="Group 107"/>
              <p:cNvGrpSpPr/>
              <p:nvPr/>
            </p:nvGrpSpPr>
            <p:grpSpPr>
              <a:xfrm>
                <a:off x="1932" y="921"/>
                <a:ext cx="483" cy="710"/>
                <a:chOff x="1932" y="921"/>
                <a:chExt cx="483" cy="710"/>
              </a:xfrm>
            </p:grpSpPr>
            <p:sp>
              <p:nvSpPr>
                <p:cNvPr id="74801" name="Rectangle 77"/>
                <p:cNvSpPr/>
                <p:nvPr/>
              </p:nvSpPr>
              <p:spPr>
                <a:xfrm>
                  <a:off x="1975" y="921"/>
                  <a:ext cx="397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IS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802" name="Rectangle 106"/>
                <p:cNvSpPr/>
                <p:nvPr/>
              </p:nvSpPr>
              <p:spPr>
                <a:xfrm>
                  <a:off x="1932" y="921"/>
                  <a:ext cx="483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71" name="Group 109"/>
              <p:cNvGrpSpPr/>
              <p:nvPr/>
            </p:nvGrpSpPr>
            <p:grpSpPr>
              <a:xfrm>
                <a:off x="0" y="1631"/>
                <a:ext cx="607" cy="710"/>
                <a:chOff x="0" y="1631"/>
                <a:chExt cx="607" cy="710"/>
              </a:xfrm>
            </p:grpSpPr>
            <p:sp>
              <p:nvSpPr>
                <p:cNvPr id="74799" name="Rectangle 78"/>
                <p:cNvSpPr/>
                <p:nvPr/>
              </p:nvSpPr>
              <p:spPr>
                <a:xfrm>
                  <a:off x="43" y="1631"/>
                  <a:ext cx="564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95003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800" name="Rectangle 108"/>
                <p:cNvSpPr/>
                <p:nvPr/>
              </p:nvSpPr>
              <p:spPr>
                <a:xfrm>
                  <a:off x="0" y="1631"/>
                  <a:ext cx="483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72" name="Group 111"/>
              <p:cNvGrpSpPr/>
              <p:nvPr/>
            </p:nvGrpSpPr>
            <p:grpSpPr>
              <a:xfrm>
                <a:off x="483" y="1631"/>
                <a:ext cx="483" cy="710"/>
                <a:chOff x="483" y="1631"/>
                <a:chExt cx="483" cy="710"/>
              </a:xfrm>
            </p:grpSpPr>
            <p:sp>
              <p:nvSpPr>
                <p:cNvPr id="74797" name="Rectangle 79"/>
                <p:cNvSpPr/>
                <p:nvPr/>
              </p:nvSpPr>
              <p:spPr>
                <a:xfrm>
                  <a:off x="526" y="1631"/>
                  <a:ext cx="397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王敏</a:t>
                  </a:r>
                  <a:endParaRPr lang="zh-CN" altLang="en-US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798" name="Rectangle 110"/>
                <p:cNvSpPr/>
                <p:nvPr/>
              </p:nvSpPr>
              <p:spPr>
                <a:xfrm>
                  <a:off x="483" y="1631"/>
                  <a:ext cx="483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73" name="Group 113"/>
              <p:cNvGrpSpPr/>
              <p:nvPr/>
            </p:nvGrpSpPr>
            <p:grpSpPr>
              <a:xfrm>
                <a:off x="966" y="1631"/>
                <a:ext cx="496" cy="710"/>
                <a:chOff x="966" y="1631"/>
                <a:chExt cx="496" cy="710"/>
              </a:xfrm>
            </p:grpSpPr>
            <p:sp>
              <p:nvSpPr>
                <p:cNvPr id="74795" name="Rectangle 80"/>
                <p:cNvSpPr/>
                <p:nvPr/>
              </p:nvSpPr>
              <p:spPr>
                <a:xfrm>
                  <a:off x="1009" y="1631"/>
                  <a:ext cx="410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女</a:t>
                  </a:r>
                  <a:endParaRPr lang="zh-CN" altLang="en-US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796" name="Rectangle 112"/>
                <p:cNvSpPr/>
                <p:nvPr/>
              </p:nvSpPr>
              <p:spPr>
                <a:xfrm>
                  <a:off x="966" y="1631"/>
                  <a:ext cx="496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74" name="Group 115"/>
              <p:cNvGrpSpPr/>
              <p:nvPr/>
            </p:nvGrpSpPr>
            <p:grpSpPr>
              <a:xfrm>
                <a:off x="1462" y="1631"/>
                <a:ext cx="470" cy="710"/>
                <a:chOff x="1462" y="1631"/>
                <a:chExt cx="470" cy="710"/>
              </a:xfrm>
            </p:grpSpPr>
            <p:sp>
              <p:nvSpPr>
                <p:cNvPr id="74793" name="Rectangle 81"/>
                <p:cNvSpPr/>
                <p:nvPr/>
              </p:nvSpPr>
              <p:spPr>
                <a:xfrm>
                  <a:off x="1505" y="1631"/>
                  <a:ext cx="384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18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794" name="Rectangle 114"/>
                <p:cNvSpPr/>
                <p:nvPr/>
              </p:nvSpPr>
              <p:spPr>
                <a:xfrm>
                  <a:off x="1462" y="1631"/>
                  <a:ext cx="47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75" name="Group 117"/>
              <p:cNvGrpSpPr/>
              <p:nvPr/>
            </p:nvGrpSpPr>
            <p:grpSpPr>
              <a:xfrm>
                <a:off x="1932" y="1631"/>
                <a:ext cx="483" cy="710"/>
                <a:chOff x="1932" y="1631"/>
                <a:chExt cx="483" cy="710"/>
              </a:xfrm>
            </p:grpSpPr>
            <p:sp>
              <p:nvSpPr>
                <p:cNvPr id="74791" name="Rectangle 82"/>
                <p:cNvSpPr/>
                <p:nvPr/>
              </p:nvSpPr>
              <p:spPr>
                <a:xfrm>
                  <a:off x="1975" y="1631"/>
                  <a:ext cx="397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MA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792" name="Rectangle 116"/>
                <p:cNvSpPr/>
                <p:nvPr/>
              </p:nvSpPr>
              <p:spPr>
                <a:xfrm>
                  <a:off x="1932" y="1631"/>
                  <a:ext cx="483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76" name="Group 119"/>
              <p:cNvGrpSpPr/>
              <p:nvPr/>
            </p:nvGrpSpPr>
            <p:grpSpPr>
              <a:xfrm>
                <a:off x="0" y="2341"/>
                <a:ext cx="535" cy="710"/>
                <a:chOff x="0" y="2341"/>
                <a:chExt cx="535" cy="710"/>
              </a:xfrm>
            </p:grpSpPr>
            <p:sp>
              <p:nvSpPr>
                <p:cNvPr id="74789" name="Rectangle 83"/>
                <p:cNvSpPr/>
                <p:nvPr/>
              </p:nvSpPr>
              <p:spPr>
                <a:xfrm>
                  <a:off x="43" y="2341"/>
                  <a:ext cx="492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95004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790" name="Rectangle 118"/>
                <p:cNvSpPr/>
                <p:nvPr/>
              </p:nvSpPr>
              <p:spPr>
                <a:xfrm>
                  <a:off x="0" y="2341"/>
                  <a:ext cx="483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77" name="Group 121"/>
              <p:cNvGrpSpPr/>
              <p:nvPr/>
            </p:nvGrpSpPr>
            <p:grpSpPr>
              <a:xfrm>
                <a:off x="483" y="2341"/>
                <a:ext cx="483" cy="710"/>
                <a:chOff x="483" y="2341"/>
                <a:chExt cx="483" cy="710"/>
              </a:xfrm>
            </p:grpSpPr>
            <p:sp>
              <p:nvSpPr>
                <p:cNvPr id="74787" name="Rectangle 84"/>
                <p:cNvSpPr/>
                <p:nvPr/>
              </p:nvSpPr>
              <p:spPr>
                <a:xfrm>
                  <a:off x="526" y="2341"/>
                  <a:ext cx="397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张立</a:t>
                  </a:r>
                  <a:endParaRPr lang="zh-CN" altLang="en-US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788" name="Rectangle 120"/>
                <p:cNvSpPr/>
                <p:nvPr/>
              </p:nvSpPr>
              <p:spPr>
                <a:xfrm>
                  <a:off x="483" y="2341"/>
                  <a:ext cx="483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78" name="Group 123"/>
              <p:cNvGrpSpPr/>
              <p:nvPr/>
            </p:nvGrpSpPr>
            <p:grpSpPr>
              <a:xfrm>
                <a:off x="966" y="2341"/>
                <a:ext cx="496" cy="710"/>
                <a:chOff x="966" y="2341"/>
                <a:chExt cx="496" cy="710"/>
              </a:xfrm>
            </p:grpSpPr>
            <p:sp>
              <p:nvSpPr>
                <p:cNvPr id="74785" name="Rectangle 85"/>
                <p:cNvSpPr/>
                <p:nvPr/>
              </p:nvSpPr>
              <p:spPr>
                <a:xfrm>
                  <a:off x="1009" y="2341"/>
                  <a:ext cx="410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zh-CN" altLang="en-US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男</a:t>
                  </a:r>
                  <a:endParaRPr lang="zh-CN" altLang="en-US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786" name="Rectangle 122"/>
                <p:cNvSpPr/>
                <p:nvPr/>
              </p:nvSpPr>
              <p:spPr>
                <a:xfrm>
                  <a:off x="966" y="2341"/>
                  <a:ext cx="496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79" name="Group 125"/>
              <p:cNvGrpSpPr/>
              <p:nvPr/>
            </p:nvGrpSpPr>
            <p:grpSpPr>
              <a:xfrm>
                <a:off x="1462" y="2341"/>
                <a:ext cx="470" cy="710"/>
                <a:chOff x="1462" y="2341"/>
                <a:chExt cx="470" cy="710"/>
              </a:xfrm>
            </p:grpSpPr>
            <p:sp>
              <p:nvSpPr>
                <p:cNvPr id="74783" name="Rectangle 86"/>
                <p:cNvSpPr/>
                <p:nvPr/>
              </p:nvSpPr>
              <p:spPr>
                <a:xfrm>
                  <a:off x="1505" y="2341"/>
                  <a:ext cx="384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19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784" name="Rectangle 124"/>
                <p:cNvSpPr/>
                <p:nvPr/>
              </p:nvSpPr>
              <p:spPr>
                <a:xfrm>
                  <a:off x="1462" y="2341"/>
                  <a:ext cx="47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4780" name="Group 127"/>
              <p:cNvGrpSpPr/>
              <p:nvPr/>
            </p:nvGrpSpPr>
            <p:grpSpPr>
              <a:xfrm>
                <a:off x="1932" y="2341"/>
                <a:ext cx="483" cy="710"/>
                <a:chOff x="1932" y="2341"/>
                <a:chExt cx="483" cy="710"/>
              </a:xfrm>
            </p:grpSpPr>
            <p:sp>
              <p:nvSpPr>
                <p:cNvPr id="74781" name="Rectangle 87"/>
                <p:cNvSpPr/>
                <p:nvPr/>
              </p:nvSpPr>
              <p:spPr>
                <a:xfrm>
                  <a:off x="1975" y="2341"/>
                  <a:ext cx="397" cy="71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  <a:ea typeface="楷体_GB2312" pitchFamily="49" charset="-122"/>
                    </a:rPr>
                    <a:t>IS</a:t>
                  </a:r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400" dirty="0">
                    <a:latin typeface="Verdana" panose="020B0604030504040204" pitchFamily="34" charset="0"/>
                    <a:ea typeface="楷体_GB2312" pitchFamily="49" charset="-122"/>
                  </a:endParaRPr>
                </a:p>
              </p:txBody>
            </p:sp>
            <p:sp>
              <p:nvSpPr>
                <p:cNvPr id="74782" name="Rectangle 126"/>
                <p:cNvSpPr/>
                <p:nvPr/>
              </p:nvSpPr>
              <p:spPr>
                <a:xfrm>
                  <a:off x="1932" y="2341"/>
                  <a:ext cx="483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74760" name="Rectangle 129"/>
            <p:cNvSpPr/>
            <p:nvPr/>
          </p:nvSpPr>
          <p:spPr>
            <a:xfrm>
              <a:off x="-3" y="-3"/>
              <a:ext cx="2421" cy="3057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sp>
        <p:nvSpPr>
          <p:cNvPr id="74758" name="Rectangle 131"/>
          <p:cNvSpPr/>
          <p:nvPr/>
        </p:nvSpPr>
        <p:spPr>
          <a:xfrm>
            <a:off x="0" y="5459413"/>
            <a:ext cx="9144000" cy="792162"/>
          </a:xfrm>
          <a:prstGeom prst="rect">
            <a:avLst/>
          </a:prstGeom>
          <a:noFill/>
          <a:ln w="28575">
            <a:noFill/>
          </a:ln>
        </p:spPr>
        <p:txBody>
          <a:bodyPr lIns="90000" tIns="46800" rIns="90000" bIns="46800">
            <a:spAutoFit/>
          </a:bodyPr>
          <a:p>
            <a:pPr algn="just" eaLnBrk="1" hangingPunct="1"/>
            <a:r>
              <a:rPr lang="en-US" altLang="zh-CN" sz="2200" dirty="0">
                <a:latin typeface="Times New Roman" panose="02020603050405020304" pitchFamily="18" charset="0"/>
              </a:rPr>
              <a:t> </a:t>
            </a:r>
            <a:endParaRPr lang="en-US" altLang="zh-CN" sz="1000" dirty="0">
              <a:latin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8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80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charRg st="19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80">
                                            <p:txEl>
                                              <p:charRg st="19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80">
                                            <p:txEl>
                                              <p:charRg st="19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charRg st="48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80">
                                            <p:txEl>
                                              <p:charRg st="48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80">
                                            <p:txEl>
                                              <p:charRg st="48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charRg st="72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780">
                                            <p:txEl>
                                              <p:charRg st="72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780">
                                            <p:txEl>
                                              <p:charRg st="72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选择（续）</a:t>
            </a:r>
            <a:endParaRPr lang="zh-CN" altLang="en-US" dirty="0"/>
          </a:p>
        </p:txBody>
      </p:sp>
      <p:sp>
        <p:nvSpPr>
          <p:cNvPr id="75780" name="Rectangle 3"/>
          <p:cNvSpPr>
            <a:spLocks noGrp="1"/>
          </p:cNvSpPr>
          <p:nvPr>
            <p:ph idx="1"/>
          </p:nvPr>
        </p:nvSpPr>
        <p:spPr>
          <a:xfrm>
            <a:off x="323850" y="1268413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en-US" altLang="zh-CN" dirty="0">
                <a:ea typeface="黑体" panose="02010609060101010101" pitchFamily="49" charset="-122"/>
              </a:rPr>
              <a:t>[</a:t>
            </a:r>
            <a:r>
              <a:rPr lang="zh-CN" altLang="en-US" dirty="0">
                <a:ea typeface="黑体" panose="02010609060101010101" pitchFamily="49" charset="-122"/>
              </a:rPr>
              <a:t>扩展例题</a:t>
            </a:r>
            <a:r>
              <a:rPr lang="en-US" altLang="zh-CN" dirty="0">
                <a:ea typeface="黑体" panose="02010609060101010101" pitchFamily="49" charset="-122"/>
              </a:rPr>
              <a:t>1</a:t>
            </a:r>
            <a:r>
              <a:rPr lang="en-US" altLang="zh-CN" dirty="0"/>
              <a:t>]  </a:t>
            </a:r>
            <a:r>
              <a:rPr lang="zh-CN" altLang="en-US" dirty="0"/>
              <a:t>查询年龄小于</a:t>
            </a:r>
            <a:r>
              <a:rPr lang="en-US" altLang="zh-CN" dirty="0"/>
              <a:t>20</a:t>
            </a:r>
            <a:r>
              <a:rPr lang="zh-CN" altLang="en-US" dirty="0"/>
              <a:t>岁的男学生</a:t>
            </a:r>
            <a:endParaRPr lang="zh-CN" altLang="en-US" dirty="0"/>
          </a:p>
          <a:p>
            <a:pPr algn="just">
              <a:buNone/>
            </a:pPr>
            <a:r>
              <a:rPr lang="zh-CN" altLang="en-US" dirty="0"/>
              <a:t>    	   </a:t>
            </a:r>
            <a:r>
              <a:rPr lang="en-US" altLang="zh-CN" dirty="0"/>
              <a:t>σ</a:t>
            </a:r>
            <a:r>
              <a:rPr lang="en-US" altLang="zh-CN" baseline="-30000" dirty="0"/>
              <a:t>Sage &lt; 20 ^Ssex=‘</a:t>
            </a:r>
            <a:r>
              <a:rPr lang="zh-CN" altLang="en-US" baseline="-30000" dirty="0"/>
              <a:t>男</a:t>
            </a:r>
            <a:r>
              <a:rPr lang="en-US" altLang="zh-CN" baseline="-30000" dirty="0"/>
              <a:t>’</a:t>
            </a:r>
            <a:r>
              <a:rPr lang="en-US" altLang="zh-CN" dirty="0"/>
              <a:t>(Student) </a:t>
            </a:r>
            <a:endParaRPr lang="en-US" altLang="zh-CN" dirty="0"/>
          </a:p>
          <a:p>
            <a:pPr algn="just">
              <a:buNone/>
            </a:pPr>
            <a:endParaRPr lang="en-US" altLang="zh-CN" dirty="0">
              <a:ea typeface="黑体" panose="02010609060101010101" pitchFamily="49" charset="-122"/>
            </a:endParaRPr>
          </a:p>
          <a:p>
            <a:pPr algn="just">
              <a:buNone/>
            </a:pPr>
            <a:r>
              <a:rPr lang="en-US" altLang="zh-CN" dirty="0">
                <a:ea typeface="黑体" panose="02010609060101010101" pitchFamily="49" charset="-122"/>
              </a:rPr>
              <a:t>[</a:t>
            </a:r>
            <a:r>
              <a:rPr lang="zh-CN" altLang="en-US" dirty="0">
                <a:ea typeface="黑体" panose="02010609060101010101" pitchFamily="49" charset="-122"/>
              </a:rPr>
              <a:t>扩展例题</a:t>
            </a:r>
            <a:r>
              <a:rPr lang="en-US" altLang="zh-CN" dirty="0">
                <a:ea typeface="黑体" panose="02010609060101010101" pitchFamily="49" charset="-122"/>
              </a:rPr>
              <a:t>2</a:t>
            </a:r>
            <a:r>
              <a:rPr lang="en-US" altLang="zh-CN" dirty="0"/>
              <a:t>]  </a:t>
            </a:r>
            <a:r>
              <a:rPr lang="zh-CN" altLang="en-US" dirty="0"/>
              <a:t>查询</a:t>
            </a:r>
            <a:r>
              <a:rPr lang="en-US" altLang="zh-CN" dirty="0"/>
              <a:t>IS</a:t>
            </a:r>
            <a:r>
              <a:rPr lang="zh-CN" altLang="en-US" dirty="0"/>
              <a:t>系和</a:t>
            </a:r>
            <a:r>
              <a:rPr lang="en-US" altLang="zh-CN" dirty="0"/>
              <a:t>CS</a:t>
            </a:r>
            <a:r>
              <a:rPr lang="zh-CN" altLang="en-US" dirty="0"/>
              <a:t>系的学生    	</a:t>
            </a:r>
            <a:endParaRPr lang="en-US" altLang="zh-CN" dirty="0"/>
          </a:p>
          <a:p>
            <a:pPr algn="just">
              <a:buNone/>
            </a:pPr>
            <a:r>
              <a:rPr lang="en-US" altLang="zh-CN" dirty="0"/>
              <a:t>σ</a:t>
            </a:r>
            <a:r>
              <a:rPr lang="en-US" altLang="zh-CN" baseline="-30000" dirty="0"/>
              <a:t>Sdept =</a:t>
            </a:r>
            <a:r>
              <a:rPr lang="zh-CN" altLang="en-US" baseline="-30000" dirty="0"/>
              <a:t>‘</a:t>
            </a:r>
            <a:r>
              <a:rPr lang="en-US" altLang="zh-CN" baseline="-30000" dirty="0"/>
              <a:t>IS</a:t>
            </a:r>
            <a:r>
              <a:rPr lang="zh-CN" altLang="en-US" baseline="-30000" dirty="0"/>
              <a:t>’</a:t>
            </a:r>
            <a:r>
              <a:rPr lang="en-US" altLang="zh-CN" baseline="-30000" dirty="0"/>
              <a:t>V  Sdept=‘CS’</a:t>
            </a:r>
            <a:r>
              <a:rPr lang="en-US" altLang="zh-CN" dirty="0"/>
              <a:t>(Student) </a:t>
            </a:r>
            <a:endParaRPr lang="en-US" altLang="zh-CN" dirty="0"/>
          </a:p>
        </p:txBody>
      </p:sp>
      <p:sp>
        <p:nvSpPr>
          <p:cNvPr id="75781" name="Rectangle 131"/>
          <p:cNvSpPr/>
          <p:nvPr/>
        </p:nvSpPr>
        <p:spPr>
          <a:xfrm>
            <a:off x="0" y="5459413"/>
            <a:ext cx="9144000" cy="792162"/>
          </a:xfrm>
          <a:prstGeom prst="rect">
            <a:avLst/>
          </a:prstGeom>
          <a:noFill/>
          <a:ln w="28575">
            <a:noFill/>
          </a:ln>
        </p:spPr>
        <p:txBody>
          <a:bodyPr lIns="90000" tIns="46800" rIns="90000" bIns="46800">
            <a:spAutoFit/>
          </a:bodyPr>
          <a:p>
            <a:pPr algn="just" eaLnBrk="1" hangingPunct="1"/>
            <a:r>
              <a:rPr lang="en-US" altLang="zh-CN" sz="2200" dirty="0">
                <a:latin typeface="Times New Roman" panose="02020603050405020304" pitchFamily="18" charset="0"/>
              </a:rPr>
              <a:t> </a:t>
            </a:r>
            <a:endParaRPr lang="en-US" altLang="zh-CN" sz="1000" dirty="0">
              <a:latin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8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8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charRg st="2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80">
                                            <p:txEl>
                                              <p:charRg st="2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80">
                                            <p:txEl>
                                              <p:charRg st="2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charRg st="63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80">
                                            <p:txEl>
                                              <p:charRg st="63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80">
                                            <p:txEl>
                                              <p:charRg st="63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charRg st="90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780">
                                            <p:txEl>
                                              <p:charRg st="90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780">
                                            <p:txEl>
                                              <p:charRg st="90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2. </a:t>
            </a:r>
            <a:r>
              <a:rPr lang="zh-CN" altLang="en-US" dirty="0"/>
              <a:t>投影（</a:t>
            </a:r>
            <a:r>
              <a:rPr lang="en-US" altLang="zh-CN" dirty="0"/>
              <a:t>Projection</a:t>
            </a:r>
            <a:r>
              <a:rPr lang="zh-CN" altLang="en-US" dirty="0"/>
              <a:t>） </a:t>
            </a:r>
            <a:endParaRPr lang="zh-CN" altLang="en-US" dirty="0"/>
          </a:p>
        </p:txBody>
      </p:sp>
      <p:sp>
        <p:nvSpPr>
          <p:cNvPr id="76804" name="Rectangle 3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>
              <a:lnSpc>
                <a:spcPct val="130000"/>
              </a:lnSpc>
            </a:pPr>
            <a:r>
              <a:rPr lang="zh-CN" altLang="en-US" sz="3200" dirty="0"/>
              <a:t>投影运算符的含义</a:t>
            </a:r>
            <a:endParaRPr lang="zh-CN" altLang="en-US" sz="3200" dirty="0"/>
          </a:p>
          <a:p>
            <a:pPr lvl="1" algn="just">
              <a:lnSpc>
                <a:spcPct val="130000"/>
              </a:lnSpc>
            </a:pPr>
            <a:r>
              <a:rPr lang="zh-CN" altLang="en-US" sz="3200" dirty="0"/>
              <a:t>从</a:t>
            </a:r>
            <a:r>
              <a:rPr lang="en-US" altLang="zh-CN" sz="3200" i="1" dirty="0"/>
              <a:t>R</a:t>
            </a:r>
            <a:r>
              <a:rPr lang="zh-CN" altLang="en-US" sz="3200" dirty="0"/>
              <a:t>中</a:t>
            </a:r>
            <a:r>
              <a:rPr lang="zh-CN" altLang="en-US" sz="3200" b="1" dirty="0">
                <a:solidFill>
                  <a:srgbClr val="FF0000"/>
                </a:solidFill>
              </a:rPr>
              <a:t>选择出若干属性列</a:t>
            </a:r>
            <a:r>
              <a:rPr lang="zh-CN" altLang="en-US" sz="3200" dirty="0"/>
              <a:t>组成新的关系</a:t>
            </a:r>
            <a:endParaRPr lang="zh-CN" altLang="en-US" sz="3200" dirty="0"/>
          </a:p>
          <a:p>
            <a:pPr lvl="1" algn="just">
              <a:lnSpc>
                <a:spcPct val="130000"/>
              </a:lnSpc>
              <a:buNone/>
            </a:pPr>
            <a:r>
              <a:rPr lang="zh-CN" altLang="en-US" sz="3200" dirty="0"/>
              <a:t>              </a:t>
            </a:r>
            <a:r>
              <a:rPr lang="en-US" altLang="zh-CN" sz="3200" dirty="0"/>
              <a:t>π</a:t>
            </a:r>
            <a:r>
              <a:rPr lang="en-US" altLang="zh-CN" sz="3200" i="1" baseline="-30000" dirty="0"/>
              <a:t>A</a:t>
            </a:r>
            <a:r>
              <a:rPr lang="en-US" altLang="zh-CN" sz="3200" dirty="0"/>
              <a:t>(</a:t>
            </a:r>
            <a:r>
              <a:rPr lang="en-US" altLang="zh-CN" sz="3200" i="1" dirty="0"/>
              <a:t>R</a:t>
            </a:r>
            <a:r>
              <a:rPr lang="en-US" altLang="zh-CN" sz="3200" dirty="0"/>
              <a:t>) = { </a:t>
            </a:r>
            <a:r>
              <a:rPr lang="en-US" altLang="zh-CN" sz="3200" i="1" dirty="0"/>
              <a:t>t</a:t>
            </a:r>
            <a:r>
              <a:rPr lang="en-US" altLang="zh-CN" sz="3200" dirty="0"/>
              <a:t>[</a:t>
            </a:r>
            <a:r>
              <a:rPr lang="en-US" altLang="zh-CN" sz="3200" i="1" dirty="0"/>
              <a:t>A</a:t>
            </a:r>
            <a:r>
              <a:rPr lang="en-US" altLang="zh-CN" sz="3200" dirty="0"/>
              <a:t>] | </a:t>
            </a:r>
            <a:r>
              <a:rPr lang="en-US" altLang="zh-CN" sz="3200" i="1" dirty="0"/>
              <a:t>t </a:t>
            </a:r>
            <a:r>
              <a:rPr lang="en-US" altLang="zh-CN" sz="3200" dirty="0">
                <a:sym typeface="Symbol" panose="05050102010706020507" pitchFamily="18" charset="2"/>
              </a:rPr>
              <a:t></a:t>
            </a:r>
            <a:r>
              <a:rPr lang="en-US" altLang="zh-CN" sz="3200" i="1" dirty="0"/>
              <a:t>R</a:t>
            </a:r>
            <a:r>
              <a:rPr lang="en-US" altLang="zh-CN" sz="3200" dirty="0"/>
              <a:t> }</a:t>
            </a:r>
            <a:endParaRPr lang="en-US" altLang="zh-CN" sz="3200" dirty="0"/>
          </a:p>
          <a:p>
            <a:pPr marL="1162050" lvl="2" indent="-394970" algn="just">
              <a:lnSpc>
                <a:spcPct val="130000"/>
              </a:lnSpc>
              <a:buNone/>
            </a:pPr>
            <a:r>
              <a:rPr lang="en-US" altLang="zh-CN" sz="3200" i="1" dirty="0"/>
              <a:t>		A</a:t>
            </a:r>
            <a:r>
              <a:rPr lang="zh-CN" altLang="en-US" sz="3200" i="1" dirty="0"/>
              <a:t>：</a:t>
            </a:r>
            <a:r>
              <a:rPr lang="en-US" altLang="zh-CN" sz="3200" i="1" dirty="0"/>
              <a:t>R</a:t>
            </a:r>
            <a:r>
              <a:rPr lang="zh-CN" altLang="en-US" sz="3200" dirty="0"/>
              <a:t>中的属性列</a:t>
            </a:r>
            <a:endParaRPr lang="zh-CN" altLang="en-US" sz="3200" dirty="0"/>
          </a:p>
          <a:p>
            <a:pPr algn="just">
              <a:lnSpc>
                <a:spcPct val="110000"/>
              </a:lnSpc>
              <a:buNone/>
            </a:pPr>
            <a:r>
              <a:rPr lang="zh-CN" altLang="en-US" dirty="0"/>
              <a:t> </a:t>
            </a:r>
            <a:endParaRPr lang="zh-CN" altLang="en-US" dirty="0"/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  <p:transition advClick="0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782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2. </a:t>
            </a:r>
            <a:r>
              <a:rPr lang="zh-CN" altLang="en-US" dirty="0"/>
              <a:t>投影（</a:t>
            </a:r>
            <a:r>
              <a:rPr lang="en-US" altLang="zh-CN" dirty="0"/>
              <a:t>Projection</a:t>
            </a:r>
            <a:r>
              <a:rPr lang="zh-CN" altLang="en-US" dirty="0"/>
              <a:t>） </a:t>
            </a:r>
            <a:endParaRPr lang="zh-CN" altLang="en-US" dirty="0"/>
          </a:p>
        </p:txBody>
      </p:sp>
      <p:sp>
        <p:nvSpPr>
          <p:cNvPr id="77828" name="Rectangle 3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>
              <a:lnSpc>
                <a:spcPct val="90000"/>
              </a:lnSpc>
            </a:pPr>
            <a:r>
              <a:rPr lang="zh-CN" altLang="en-US" dirty="0"/>
              <a:t>投影操作主要是从列的角度进行运算</a:t>
            </a:r>
            <a:endParaRPr lang="zh-CN" altLang="en-US" dirty="0"/>
          </a:p>
          <a:p>
            <a:pPr lvl="1" algn="just">
              <a:lnSpc>
                <a:spcPct val="90000"/>
              </a:lnSpc>
            </a:pPr>
            <a:endParaRPr lang="zh-CN" altLang="en-US" dirty="0"/>
          </a:p>
          <a:p>
            <a:pPr lvl="1" algn="just">
              <a:lnSpc>
                <a:spcPct val="90000"/>
              </a:lnSpc>
            </a:pPr>
            <a:endParaRPr lang="zh-CN" altLang="en-US" dirty="0"/>
          </a:p>
          <a:p>
            <a:pPr lvl="1" algn="just">
              <a:lnSpc>
                <a:spcPct val="90000"/>
              </a:lnSpc>
            </a:pPr>
            <a:endParaRPr lang="zh-CN" altLang="en-US" dirty="0"/>
          </a:p>
          <a:p>
            <a:pPr lvl="1" algn="just">
              <a:lnSpc>
                <a:spcPct val="90000"/>
              </a:lnSpc>
            </a:pPr>
            <a:endParaRPr lang="zh-CN" altLang="en-US" dirty="0"/>
          </a:p>
          <a:p>
            <a:pPr lvl="1" algn="just">
              <a:lnSpc>
                <a:spcPct val="90000"/>
              </a:lnSpc>
            </a:pPr>
            <a:endParaRPr lang="zh-CN" altLang="en-US" dirty="0"/>
          </a:p>
          <a:p>
            <a:pPr lvl="1" algn="just">
              <a:lnSpc>
                <a:spcPct val="90000"/>
              </a:lnSpc>
            </a:pPr>
            <a:r>
              <a:rPr lang="zh-CN" altLang="en-US" dirty="0"/>
              <a:t>但投影之后不仅取消了原关系中的某些列，而且还可能取消某些元组（避免重复行）。即，投影之后的</a:t>
            </a:r>
            <a:r>
              <a:rPr lang="zh-CN" altLang="en-US" b="1" dirty="0">
                <a:solidFill>
                  <a:srgbClr val="FF0000"/>
                </a:solidFill>
              </a:rPr>
              <a:t>结果</a:t>
            </a:r>
            <a:r>
              <a:rPr lang="zh-CN" altLang="en-US" dirty="0"/>
              <a:t>中</a:t>
            </a:r>
            <a:r>
              <a:rPr lang="zh-CN" altLang="en-US" b="1" dirty="0">
                <a:solidFill>
                  <a:srgbClr val="FF0000"/>
                </a:solidFill>
              </a:rPr>
              <a:t>不能有重复行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  <p:grpSp>
        <p:nvGrpSpPr>
          <p:cNvPr id="77829" name="Group 27"/>
          <p:cNvGrpSpPr/>
          <p:nvPr/>
        </p:nvGrpSpPr>
        <p:grpSpPr>
          <a:xfrm>
            <a:off x="2667000" y="2205038"/>
            <a:ext cx="2743200" cy="1600200"/>
            <a:chOff x="1536" y="1584"/>
            <a:chExt cx="1728" cy="1008"/>
          </a:xfrm>
        </p:grpSpPr>
        <p:sp>
          <p:nvSpPr>
            <p:cNvPr id="77830" name="AutoShape 16"/>
            <p:cNvSpPr/>
            <p:nvPr/>
          </p:nvSpPr>
          <p:spPr>
            <a:xfrm>
              <a:off x="2352" y="2016"/>
              <a:ext cx="528" cy="144"/>
            </a:xfrm>
            <a:prstGeom prst="rightArrow">
              <a:avLst>
                <a:gd name="adj1" fmla="val 50000"/>
                <a:gd name="adj2" fmla="val 9166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77831" name="Text Box 17"/>
            <p:cNvSpPr txBox="1"/>
            <p:nvPr/>
          </p:nvSpPr>
          <p:spPr>
            <a:xfrm>
              <a:off x="2352" y="1728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π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7832" name="Rectangle 19"/>
            <p:cNvSpPr/>
            <p:nvPr/>
          </p:nvSpPr>
          <p:spPr>
            <a:xfrm>
              <a:off x="153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77833" name="Rectangle 20" descr="浅色下对角线"/>
            <p:cNvSpPr/>
            <p:nvPr/>
          </p:nvSpPr>
          <p:spPr>
            <a:xfrm>
              <a:off x="1632" y="1584"/>
              <a:ext cx="96" cy="1008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77834" name="Rectangle 21"/>
            <p:cNvSpPr/>
            <p:nvPr/>
          </p:nvSpPr>
          <p:spPr>
            <a:xfrm>
              <a:off x="1728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77835" name="Rectangle 22"/>
            <p:cNvSpPr/>
            <p:nvPr/>
          </p:nvSpPr>
          <p:spPr>
            <a:xfrm>
              <a:off x="1824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77836" name="Rectangle 23" descr="浅色下对角线"/>
            <p:cNvSpPr/>
            <p:nvPr/>
          </p:nvSpPr>
          <p:spPr>
            <a:xfrm>
              <a:off x="1920" y="1584"/>
              <a:ext cx="96" cy="1008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77837" name="Rectangle 24"/>
            <p:cNvSpPr/>
            <p:nvPr/>
          </p:nvSpPr>
          <p:spPr>
            <a:xfrm>
              <a:off x="201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77838" name="Rectangle 25" descr="浅色下对角线"/>
            <p:cNvSpPr/>
            <p:nvPr/>
          </p:nvSpPr>
          <p:spPr>
            <a:xfrm>
              <a:off x="3072" y="1584"/>
              <a:ext cx="96" cy="1008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77839" name="Rectangle 26" descr="浅色下对角线"/>
            <p:cNvSpPr/>
            <p:nvPr/>
          </p:nvSpPr>
          <p:spPr>
            <a:xfrm>
              <a:off x="3168" y="1584"/>
              <a:ext cx="96" cy="1008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885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投影（续）</a:t>
            </a:r>
            <a:endParaRPr lang="zh-CN" altLang="en-US" dirty="0"/>
          </a:p>
        </p:txBody>
      </p:sp>
      <p:sp>
        <p:nvSpPr>
          <p:cNvPr id="78852" name="Rectangle 3"/>
          <p:cNvSpPr>
            <a:spLocks noGrp="1"/>
          </p:cNvSpPr>
          <p:nvPr>
            <p:ph idx="1"/>
          </p:nvPr>
        </p:nvSpPr>
        <p:spPr>
          <a:xfrm>
            <a:off x="179388" y="1052513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>
              <a:lnSpc>
                <a:spcPct val="110000"/>
              </a:lnSpc>
              <a:buNone/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3]  </a:t>
            </a:r>
            <a:r>
              <a:rPr lang="zh-CN" altLang="en-US" dirty="0"/>
              <a:t>查询学生的姓名和所在系</a:t>
            </a:r>
            <a:endParaRPr lang="zh-CN" altLang="en-US" dirty="0"/>
          </a:p>
          <a:p>
            <a:pPr lvl="1" algn="just">
              <a:lnSpc>
                <a:spcPct val="110000"/>
              </a:lnSpc>
              <a:buNone/>
            </a:pPr>
            <a:r>
              <a:rPr lang="zh-CN" altLang="en-US" dirty="0"/>
              <a:t>	即求</a:t>
            </a:r>
            <a:r>
              <a:rPr lang="en-US" altLang="zh-CN" dirty="0"/>
              <a:t>Student</a:t>
            </a:r>
            <a:r>
              <a:rPr lang="zh-CN" altLang="en-US" dirty="0"/>
              <a:t>关系上学生姓名和所在系两个属性上的投影</a:t>
            </a:r>
            <a:endParaRPr lang="zh-CN" altLang="en-US" dirty="0"/>
          </a:p>
          <a:p>
            <a:pPr lvl="1" algn="just">
              <a:lnSpc>
                <a:spcPct val="110000"/>
              </a:lnSpc>
              <a:buNone/>
            </a:pPr>
            <a:r>
              <a:rPr lang="zh-CN" altLang="en-US" dirty="0"/>
              <a:t>    </a:t>
            </a:r>
            <a:r>
              <a:rPr lang="en-US" altLang="zh-CN" dirty="0"/>
              <a:t>π</a:t>
            </a:r>
            <a:r>
              <a:rPr lang="en-US" altLang="zh-CN" baseline="-30000" dirty="0"/>
              <a:t>Sname</a:t>
            </a:r>
            <a:r>
              <a:rPr lang="zh-CN" altLang="en-US" baseline="-30000" dirty="0"/>
              <a:t>，</a:t>
            </a:r>
            <a:r>
              <a:rPr lang="en-US" altLang="zh-CN" baseline="-30000" dirty="0"/>
              <a:t>Sdept</a:t>
            </a:r>
            <a:r>
              <a:rPr lang="en-US" altLang="zh-CN" dirty="0"/>
              <a:t>(Student)</a:t>
            </a:r>
            <a:endParaRPr lang="en-US" altLang="zh-CN" dirty="0"/>
          </a:p>
          <a:p>
            <a:pPr lvl="1" algn="just">
              <a:lnSpc>
                <a:spcPct val="110000"/>
              </a:lnSpc>
              <a:buNone/>
            </a:pPr>
            <a:r>
              <a:rPr lang="en-US" altLang="zh-CN" dirty="0"/>
              <a:t>	</a:t>
            </a:r>
            <a:r>
              <a:rPr lang="zh-CN" altLang="en-US" dirty="0"/>
              <a:t>或</a:t>
            </a:r>
            <a:r>
              <a:rPr lang="en-US" altLang="zh-CN" dirty="0"/>
              <a:t>π</a:t>
            </a:r>
            <a:r>
              <a:rPr lang="en-US" altLang="zh-CN" baseline="-30000" dirty="0">
                <a:solidFill>
                  <a:srgbClr val="0033CC"/>
                </a:solidFill>
              </a:rPr>
              <a:t>2</a:t>
            </a:r>
            <a:r>
              <a:rPr lang="zh-CN" altLang="en-US" baseline="-30000" dirty="0">
                <a:solidFill>
                  <a:srgbClr val="0033CC"/>
                </a:solidFill>
              </a:rPr>
              <a:t>，</a:t>
            </a:r>
            <a:r>
              <a:rPr lang="en-US" altLang="zh-CN" baseline="-30000" dirty="0">
                <a:solidFill>
                  <a:srgbClr val="0033CC"/>
                </a:solidFill>
              </a:rPr>
              <a:t>5</a:t>
            </a:r>
            <a:r>
              <a:rPr lang="en-US" altLang="zh-CN" dirty="0"/>
              <a:t>(Student)</a:t>
            </a:r>
            <a:endParaRPr lang="en-US" altLang="zh-CN" dirty="0"/>
          </a:p>
          <a:p>
            <a:pPr lvl="1" algn="just">
              <a:lnSpc>
                <a:spcPct val="110000"/>
              </a:lnSpc>
              <a:buNone/>
            </a:pPr>
            <a:endParaRPr lang="en-US" altLang="zh-CN" dirty="0"/>
          </a:p>
          <a:p>
            <a:pPr lvl="1" algn="just">
              <a:lnSpc>
                <a:spcPct val="110000"/>
              </a:lnSpc>
              <a:buNone/>
            </a:pPr>
            <a:r>
              <a:rPr lang="en-US" altLang="zh-CN" dirty="0"/>
              <a:t>                        </a:t>
            </a:r>
            <a:r>
              <a:rPr lang="zh-CN" altLang="en-US" dirty="0"/>
              <a:t>结果：</a:t>
            </a:r>
            <a:endParaRPr lang="zh-CN" altLang="en-US" dirty="0"/>
          </a:p>
        </p:txBody>
      </p:sp>
      <p:grpSp>
        <p:nvGrpSpPr>
          <p:cNvPr id="78853" name="Group 5"/>
          <p:cNvGrpSpPr/>
          <p:nvPr/>
        </p:nvGrpSpPr>
        <p:grpSpPr>
          <a:xfrm>
            <a:off x="4770438" y="3500438"/>
            <a:ext cx="3516312" cy="2514600"/>
            <a:chOff x="2015" y="1392"/>
            <a:chExt cx="1825" cy="1584"/>
          </a:xfrm>
        </p:grpSpPr>
        <p:grpSp>
          <p:nvGrpSpPr>
            <p:cNvPr id="78854" name="Group 6"/>
            <p:cNvGrpSpPr/>
            <p:nvPr/>
          </p:nvGrpSpPr>
          <p:grpSpPr>
            <a:xfrm>
              <a:off x="2015" y="1395"/>
              <a:ext cx="871" cy="311"/>
              <a:chOff x="0" y="0"/>
              <a:chExt cx="734" cy="442"/>
            </a:xfrm>
          </p:grpSpPr>
          <p:sp>
            <p:nvSpPr>
              <p:cNvPr id="78883" name="Rectangle 7"/>
              <p:cNvSpPr/>
              <p:nvPr/>
            </p:nvSpPr>
            <p:spPr>
              <a:xfrm>
                <a:off x="43" y="0"/>
                <a:ext cx="648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Sname</a:t>
                </a:r>
                <a:endParaRPr lang="en-US" altLang="zh-CN" sz="2400" b="1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8884" name="Rectangle 8"/>
              <p:cNvSpPr/>
              <p:nvPr/>
            </p:nvSpPr>
            <p:spPr>
              <a:xfrm>
                <a:off x="0" y="0"/>
                <a:ext cx="734" cy="44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8855" name="Group 9"/>
            <p:cNvGrpSpPr/>
            <p:nvPr/>
          </p:nvGrpSpPr>
          <p:grpSpPr>
            <a:xfrm>
              <a:off x="2880" y="1395"/>
              <a:ext cx="956" cy="311"/>
              <a:chOff x="734" y="0"/>
              <a:chExt cx="806" cy="442"/>
            </a:xfrm>
          </p:grpSpPr>
          <p:sp>
            <p:nvSpPr>
              <p:cNvPr id="78881" name="Rectangle 10"/>
              <p:cNvSpPr/>
              <p:nvPr/>
            </p:nvSpPr>
            <p:spPr>
              <a:xfrm>
                <a:off x="777" y="0"/>
                <a:ext cx="720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Sdept</a:t>
                </a:r>
                <a:endParaRPr lang="en-US" altLang="zh-CN" sz="2400" b="1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8882" name="Rectangle 11"/>
              <p:cNvSpPr/>
              <p:nvPr/>
            </p:nvSpPr>
            <p:spPr>
              <a:xfrm>
                <a:off x="734" y="0"/>
                <a:ext cx="806" cy="44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8856" name="Group 12"/>
            <p:cNvGrpSpPr/>
            <p:nvPr/>
          </p:nvGrpSpPr>
          <p:grpSpPr>
            <a:xfrm>
              <a:off x="2020" y="1706"/>
              <a:ext cx="866" cy="318"/>
              <a:chOff x="0" y="442"/>
              <a:chExt cx="734" cy="509"/>
            </a:xfrm>
          </p:grpSpPr>
          <p:sp>
            <p:nvSpPr>
              <p:cNvPr id="78879" name="Rectangle 13"/>
              <p:cNvSpPr/>
              <p:nvPr/>
            </p:nvSpPr>
            <p:spPr>
              <a:xfrm>
                <a:off x="43" y="442"/>
                <a:ext cx="648" cy="5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李勇</a:t>
                </a:r>
                <a:endParaRPr lang="zh-CN" altLang="en-US" sz="2400" b="1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8880" name="Rectangle 14"/>
              <p:cNvSpPr/>
              <p:nvPr/>
            </p:nvSpPr>
            <p:spPr>
              <a:xfrm>
                <a:off x="0" y="442"/>
                <a:ext cx="734" cy="50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8857" name="Group 15"/>
            <p:cNvGrpSpPr/>
            <p:nvPr/>
          </p:nvGrpSpPr>
          <p:grpSpPr>
            <a:xfrm>
              <a:off x="2886" y="1706"/>
              <a:ext cx="950" cy="318"/>
              <a:chOff x="734" y="442"/>
              <a:chExt cx="806" cy="509"/>
            </a:xfrm>
          </p:grpSpPr>
          <p:sp>
            <p:nvSpPr>
              <p:cNvPr id="78877" name="Rectangle 16"/>
              <p:cNvSpPr/>
              <p:nvPr/>
            </p:nvSpPr>
            <p:spPr>
              <a:xfrm>
                <a:off x="777" y="442"/>
                <a:ext cx="720" cy="5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0"/>
              <a:p>
                <a:pPr algn="ctr" eaLnBrk="1" hangingPunct="1">
                  <a:buNone/>
                </a:pPr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CS</a:t>
                </a:r>
                <a:endParaRPr lang="en-US" altLang="zh-CN" sz="2400" b="1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8878" name="Rectangle 17"/>
              <p:cNvSpPr/>
              <p:nvPr/>
            </p:nvSpPr>
            <p:spPr>
              <a:xfrm>
                <a:off x="734" y="442"/>
                <a:ext cx="806" cy="50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8858" name="Group 18"/>
            <p:cNvGrpSpPr/>
            <p:nvPr/>
          </p:nvGrpSpPr>
          <p:grpSpPr>
            <a:xfrm>
              <a:off x="2020" y="2024"/>
              <a:ext cx="866" cy="317"/>
              <a:chOff x="0" y="951"/>
              <a:chExt cx="734" cy="442"/>
            </a:xfrm>
          </p:grpSpPr>
          <p:sp>
            <p:nvSpPr>
              <p:cNvPr id="78875" name="Rectangle 19"/>
              <p:cNvSpPr/>
              <p:nvPr/>
            </p:nvSpPr>
            <p:spPr>
              <a:xfrm>
                <a:off x="43" y="951"/>
                <a:ext cx="648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刘晨</a:t>
                </a:r>
                <a:endParaRPr lang="zh-CN" altLang="en-US" sz="2400" b="1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8876" name="Rectangle 20"/>
              <p:cNvSpPr/>
              <p:nvPr/>
            </p:nvSpPr>
            <p:spPr>
              <a:xfrm>
                <a:off x="0" y="951"/>
                <a:ext cx="734" cy="44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8859" name="Group 21"/>
            <p:cNvGrpSpPr/>
            <p:nvPr/>
          </p:nvGrpSpPr>
          <p:grpSpPr>
            <a:xfrm>
              <a:off x="2886" y="2024"/>
              <a:ext cx="950" cy="317"/>
              <a:chOff x="734" y="951"/>
              <a:chExt cx="806" cy="442"/>
            </a:xfrm>
          </p:grpSpPr>
          <p:sp>
            <p:nvSpPr>
              <p:cNvPr id="78873" name="Rectangle 22"/>
              <p:cNvSpPr/>
              <p:nvPr/>
            </p:nvSpPr>
            <p:spPr>
              <a:xfrm>
                <a:off x="777" y="951"/>
                <a:ext cx="720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IS</a:t>
                </a:r>
                <a:endParaRPr lang="en-US" altLang="zh-CN" sz="2400" b="1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8874" name="Rectangle 23"/>
              <p:cNvSpPr/>
              <p:nvPr/>
            </p:nvSpPr>
            <p:spPr>
              <a:xfrm>
                <a:off x="734" y="951"/>
                <a:ext cx="806" cy="44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8860" name="Group 24"/>
            <p:cNvGrpSpPr/>
            <p:nvPr/>
          </p:nvGrpSpPr>
          <p:grpSpPr>
            <a:xfrm>
              <a:off x="2020" y="2341"/>
              <a:ext cx="866" cy="318"/>
              <a:chOff x="0" y="1393"/>
              <a:chExt cx="734" cy="442"/>
            </a:xfrm>
          </p:grpSpPr>
          <p:sp>
            <p:nvSpPr>
              <p:cNvPr id="78871" name="Rectangle 25"/>
              <p:cNvSpPr/>
              <p:nvPr/>
            </p:nvSpPr>
            <p:spPr>
              <a:xfrm>
                <a:off x="43" y="1393"/>
                <a:ext cx="648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王敏</a:t>
                </a:r>
                <a:endParaRPr lang="zh-CN" altLang="en-US" sz="2400" b="1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8872" name="Rectangle 26"/>
              <p:cNvSpPr/>
              <p:nvPr/>
            </p:nvSpPr>
            <p:spPr>
              <a:xfrm>
                <a:off x="0" y="1393"/>
                <a:ext cx="734" cy="44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8861" name="Group 27"/>
            <p:cNvGrpSpPr/>
            <p:nvPr/>
          </p:nvGrpSpPr>
          <p:grpSpPr>
            <a:xfrm>
              <a:off x="2886" y="2341"/>
              <a:ext cx="950" cy="318"/>
              <a:chOff x="734" y="1393"/>
              <a:chExt cx="806" cy="442"/>
            </a:xfrm>
          </p:grpSpPr>
          <p:sp>
            <p:nvSpPr>
              <p:cNvPr id="78869" name="Rectangle 28"/>
              <p:cNvSpPr/>
              <p:nvPr/>
            </p:nvSpPr>
            <p:spPr>
              <a:xfrm>
                <a:off x="777" y="1393"/>
                <a:ext cx="720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MA</a:t>
                </a:r>
                <a:endParaRPr lang="en-US" altLang="zh-CN" sz="2400" b="1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8870" name="Rectangle 29"/>
              <p:cNvSpPr/>
              <p:nvPr/>
            </p:nvSpPr>
            <p:spPr>
              <a:xfrm>
                <a:off x="734" y="1393"/>
                <a:ext cx="806" cy="44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8862" name="Group 30"/>
            <p:cNvGrpSpPr/>
            <p:nvPr/>
          </p:nvGrpSpPr>
          <p:grpSpPr>
            <a:xfrm>
              <a:off x="2020" y="2659"/>
              <a:ext cx="866" cy="317"/>
              <a:chOff x="0" y="1835"/>
              <a:chExt cx="734" cy="442"/>
            </a:xfrm>
          </p:grpSpPr>
          <p:sp>
            <p:nvSpPr>
              <p:cNvPr id="78867" name="Rectangle 31"/>
              <p:cNvSpPr/>
              <p:nvPr/>
            </p:nvSpPr>
            <p:spPr>
              <a:xfrm>
                <a:off x="43" y="1835"/>
                <a:ext cx="648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zh-CN" altLang="en-US" sz="2400" b="1" dirty="0">
                    <a:latin typeface="Verdana" panose="020B0604030504040204" pitchFamily="34" charset="0"/>
                    <a:ea typeface="楷体_GB2312" pitchFamily="49" charset="-122"/>
                  </a:rPr>
                  <a:t>张立</a:t>
                </a:r>
                <a:endParaRPr lang="zh-CN" altLang="en-US" sz="2400" b="1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8868" name="Rectangle 32"/>
              <p:cNvSpPr/>
              <p:nvPr/>
            </p:nvSpPr>
            <p:spPr>
              <a:xfrm>
                <a:off x="0" y="1835"/>
                <a:ext cx="734" cy="44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78863" name="Group 33"/>
            <p:cNvGrpSpPr/>
            <p:nvPr/>
          </p:nvGrpSpPr>
          <p:grpSpPr>
            <a:xfrm>
              <a:off x="2886" y="2659"/>
              <a:ext cx="950" cy="317"/>
              <a:chOff x="734" y="1835"/>
              <a:chExt cx="806" cy="442"/>
            </a:xfrm>
          </p:grpSpPr>
          <p:sp>
            <p:nvSpPr>
              <p:cNvPr id="78865" name="Rectangle 34"/>
              <p:cNvSpPr/>
              <p:nvPr/>
            </p:nvSpPr>
            <p:spPr>
              <a:xfrm>
                <a:off x="777" y="1835"/>
                <a:ext cx="720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ea typeface="楷体_GB2312" pitchFamily="49" charset="-122"/>
                  </a:rPr>
                  <a:t>IS</a:t>
                </a:r>
                <a:endParaRPr lang="en-US" altLang="zh-CN" sz="2400" b="1" dirty="0">
                  <a:latin typeface="Verdana" panose="020B060403050404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8866" name="Rectangle 35"/>
              <p:cNvSpPr/>
              <p:nvPr/>
            </p:nvSpPr>
            <p:spPr>
              <a:xfrm>
                <a:off x="734" y="1835"/>
                <a:ext cx="806" cy="442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78864" name="Rectangle 36"/>
            <p:cNvSpPr/>
            <p:nvPr/>
          </p:nvSpPr>
          <p:spPr>
            <a:xfrm>
              <a:off x="2016" y="1392"/>
              <a:ext cx="1824" cy="1584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2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2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charRg st="1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852">
                                            <p:txEl>
                                              <p:charRg st="1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852">
                                            <p:txEl>
                                              <p:charRg st="1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charRg st="48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852">
                                            <p:txEl>
                                              <p:charRg st="48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852">
                                            <p:txEl>
                                              <p:charRg st="48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charRg st="74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852">
                                            <p:txEl>
                                              <p:charRg st="74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852">
                                            <p:txEl>
                                              <p:charRg st="74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charRg st="91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8852">
                                            <p:txEl>
                                              <p:charRg st="91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8852">
                                            <p:txEl>
                                              <p:charRg st="91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2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7987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投影（续）</a:t>
            </a:r>
            <a:endParaRPr lang="zh-CN" altLang="en-US" dirty="0"/>
          </a:p>
        </p:txBody>
      </p:sp>
      <p:sp>
        <p:nvSpPr>
          <p:cNvPr id="79876" name="Rectangle 3"/>
          <p:cNvSpPr>
            <a:spLocks noGrp="1"/>
          </p:cNvSpPr>
          <p:nvPr>
            <p:ph idx="1"/>
          </p:nvPr>
        </p:nvSpPr>
        <p:spPr>
          <a:xfrm>
            <a:off x="395288" y="1350963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4</a:t>
            </a:r>
            <a:r>
              <a:rPr lang="en-US" altLang="zh-CN" dirty="0"/>
              <a:t>]  </a:t>
            </a:r>
            <a:r>
              <a:rPr lang="zh-CN" altLang="en-US" dirty="0"/>
              <a:t>查询学生关系</a:t>
            </a:r>
            <a:r>
              <a:rPr lang="en-US" altLang="zh-CN" dirty="0"/>
              <a:t>Student</a:t>
            </a:r>
            <a:r>
              <a:rPr lang="zh-CN" altLang="en-US" dirty="0"/>
              <a:t>中都有哪些系           </a:t>
            </a:r>
            <a:endParaRPr lang="zh-CN" altLang="en-US" dirty="0"/>
          </a:p>
          <a:p>
            <a:pPr algn="just">
              <a:buNone/>
            </a:pPr>
            <a:r>
              <a:rPr lang="zh-CN" altLang="en-US" dirty="0"/>
              <a:t>             </a:t>
            </a:r>
            <a:r>
              <a:rPr lang="en-US" altLang="zh-CN" dirty="0"/>
              <a:t>π</a:t>
            </a:r>
            <a:r>
              <a:rPr lang="en-US" altLang="zh-CN" baseline="-30000" dirty="0"/>
              <a:t>Sdept</a:t>
            </a:r>
            <a:r>
              <a:rPr lang="en-US" altLang="zh-CN" dirty="0"/>
              <a:t>(Student)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结果：</a:t>
            </a:r>
            <a:endParaRPr lang="zh-CN" altLang="en-US" dirty="0"/>
          </a:p>
        </p:txBody>
      </p:sp>
      <p:grpSp>
        <p:nvGrpSpPr>
          <p:cNvPr id="79877" name="Group 36"/>
          <p:cNvGrpSpPr/>
          <p:nvPr/>
        </p:nvGrpSpPr>
        <p:grpSpPr>
          <a:xfrm>
            <a:off x="2268538" y="2997200"/>
            <a:ext cx="1600200" cy="2435225"/>
            <a:chOff x="-3" y="-3"/>
            <a:chExt cx="596" cy="1774"/>
          </a:xfrm>
        </p:grpSpPr>
        <p:grpSp>
          <p:nvGrpSpPr>
            <p:cNvPr id="79878" name="Group 34"/>
            <p:cNvGrpSpPr/>
            <p:nvPr/>
          </p:nvGrpSpPr>
          <p:grpSpPr>
            <a:xfrm>
              <a:off x="0" y="0"/>
              <a:ext cx="590" cy="1768"/>
              <a:chOff x="0" y="0"/>
              <a:chExt cx="590" cy="1768"/>
            </a:xfrm>
          </p:grpSpPr>
          <p:grpSp>
            <p:nvGrpSpPr>
              <p:cNvPr id="79880" name="Group 27"/>
              <p:cNvGrpSpPr/>
              <p:nvPr/>
            </p:nvGrpSpPr>
            <p:grpSpPr>
              <a:xfrm>
                <a:off x="0" y="0"/>
                <a:ext cx="590" cy="442"/>
                <a:chOff x="0" y="0"/>
                <a:chExt cx="590" cy="442"/>
              </a:xfrm>
            </p:grpSpPr>
            <p:sp>
              <p:nvSpPr>
                <p:cNvPr id="79890" name="Rectangle 22"/>
                <p:cNvSpPr/>
                <p:nvPr/>
              </p:nvSpPr>
              <p:spPr>
                <a:xfrm>
                  <a:off x="43" y="0"/>
                  <a:ext cx="504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Sdept</a:t>
                  </a:r>
                  <a:endParaRPr lang="en-US" altLang="zh-CN" sz="24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79891" name="Rectangle 26"/>
                <p:cNvSpPr/>
                <p:nvPr/>
              </p:nvSpPr>
              <p:spPr>
                <a:xfrm>
                  <a:off x="0" y="0"/>
                  <a:ext cx="590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9881" name="Group 29"/>
              <p:cNvGrpSpPr/>
              <p:nvPr/>
            </p:nvGrpSpPr>
            <p:grpSpPr>
              <a:xfrm>
                <a:off x="0" y="442"/>
                <a:ext cx="590" cy="442"/>
                <a:chOff x="0" y="442"/>
                <a:chExt cx="590" cy="442"/>
              </a:xfrm>
            </p:grpSpPr>
            <p:sp>
              <p:nvSpPr>
                <p:cNvPr id="79888" name="Rectangle 23"/>
                <p:cNvSpPr/>
                <p:nvPr/>
              </p:nvSpPr>
              <p:spPr>
                <a:xfrm>
                  <a:off x="43" y="442"/>
                  <a:ext cx="504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CS</a:t>
                  </a:r>
                  <a:endParaRPr lang="en-US" altLang="zh-CN" sz="24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79889" name="Rectangle 28"/>
                <p:cNvSpPr/>
                <p:nvPr/>
              </p:nvSpPr>
              <p:spPr>
                <a:xfrm>
                  <a:off x="0" y="442"/>
                  <a:ext cx="590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9882" name="Group 31"/>
              <p:cNvGrpSpPr/>
              <p:nvPr/>
            </p:nvGrpSpPr>
            <p:grpSpPr>
              <a:xfrm>
                <a:off x="0" y="884"/>
                <a:ext cx="590" cy="442"/>
                <a:chOff x="0" y="884"/>
                <a:chExt cx="590" cy="442"/>
              </a:xfrm>
            </p:grpSpPr>
            <p:sp>
              <p:nvSpPr>
                <p:cNvPr id="79886" name="Rectangle 24"/>
                <p:cNvSpPr/>
                <p:nvPr/>
              </p:nvSpPr>
              <p:spPr>
                <a:xfrm>
                  <a:off x="43" y="884"/>
                  <a:ext cx="504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IS</a:t>
                  </a:r>
                  <a:endParaRPr lang="en-US" altLang="zh-CN" sz="24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79887" name="Rectangle 30"/>
                <p:cNvSpPr/>
                <p:nvPr/>
              </p:nvSpPr>
              <p:spPr>
                <a:xfrm>
                  <a:off x="0" y="884"/>
                  <a:ext cx="590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79883" name="Group 33"/>
              <p:cNvGrpSpPr/>
              <p:nvPr/>
            </p:nvGrpSpPr>
            <p:grpSpPr>
              <a:xfrm>
                <a:off x="0" y="1326"/>
                <a:ext cx="590" cy="442"/>
                <a:chOff x="0" y="1326"/>
                <a:chExt cx="590" cy="442"/>
              </a:xfrm>
            </p:grpSpPr>
            <p:sp>
              <p:nvSpPr>
                <p:cNvPr id="79884" name="Rectangle 25"/>
                <p:cNvSpPr/>
                <p:nvPr/>
              </p:nvSpPr>
              <p:spPr>
                <a:xfrm>
                  <a:off x="43" y="1326"/>
                  <a:ext cx="504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MA</a:t>
                  </a:r>
                  <a:endParaRPr lang="en-US" altLang="zh-CN" sz="24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79885" name="Rectangle 32"/>
                <p:cNvSpPr/>
                <p:nvPr/>
              </p:nvSpPr>
              <p:spPr>
                <a:xfrm>
                  <a:off x="0" y="1326"/>
                  <a:ext cx="590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79879" name="Rectangle 35"/>
            <p:cNvSpPr/>
            <p:nvPr/>
          </p:nvSpPr>
          <p:spPr>
            <a:xfrm>
              <a:off x="-3" y="-3"/>
              <a:ext cx="596" cy="1774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3. </a:t>
            </a:r>
            <a:r>
              <a:rPr lang="zh-CN" altLang="en-US" dirty="0"/>
              <a:t>连接（</a:t>
            </a:r>
            <a:r>
              <a:rPr lang="en-US" altLang="zh-CN" dirty="0"/>
              <a:t>Join</a:t>
            </a:r>
            <a:r>
              <a:rPr lang="zh-CN" altLang="en-US" dirty="0"/>
              <a:t>） </a:t>
            </a:r>
            <a:endParaRPr lang="zh-CN" altLang="en-US" dirty="0"/>
          </a:p>
        </p:txBody>
      </p:sp>
      <p:sp>
        <p:nvSpPr>
          <p:cNvPr id="80900" name="Rectangle 3"/>
          <p:cNvSpPr>
            <a:spLocks noGrp="1"/>
          </p:cNvSpPr>
          <p:nvPr>
            <p:ph idx="1"/>
          </p:nvPr>
        </p:nvSpPr>
        <p:spPr>
          <a:xfrm>
            <a:off x="250825" y="1196975"/>
            <a:ext cx="8137525" cy="647700"/>
          </a:xfrm>
          <a:ln/>
        </p:spPr>
        <p:txBody>
          <a:bodyPr vert="horz" wrap="square" lIns="91440" tIns="45720" rIns="91440" bIns="45720" anchor="t" anchorCtr="0"/>
          <a:p>
            <a:pPr algn="just">
              <a:lnSpc>
                <a:spcPct val="110000"/>
              </a:lnSpc>
              <a:buNone/>
            </a:pPr>
            <a:r>
              <a:rPr lang="zh-CN" altLang="en-US" dirty="0"/>
              <a:t>连接也称为</a:t>
            </a:r>
            <a:r>
              <a:rPr lang="en-US" altLang="zh-CN" dirty="0"/>
              <a:t>θ</a:t>
            </a:r>
            <a:r>
              <a:rPr lang="zh-CN" altLang="en-US" dirty="0"/>
              <a:t>连接</a:t>
            </a:r>
            <a:endParaRPr lang="zh-CN" altLang="en-US" dirty="0"/>
          </a:p>
        </p:txBody>
      </p:sp>
      <p:sp>
        <p:nvSpPr>
          <p:cNvPr id="80901" name="Rectangle 13"/>
          <p:cNvSpPr/>
          <p:nvPr/>
        </p:nvSpPr>
        <p:spPr>
          <a:xfrm>
            <a:off x="142875" y="1916113"/>
            <a:ext cx="8461375" cy="32416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533400" lvl="1" indent="0" algn="just" eaLnBrk="1" hangingPunct="1">
              <a:lnSpc>
                <a:spcPct val="110000"/>
              </a:lnSpc>
              <a:spcBef>
                <a:spcPct val="20000"/>
              </a:spcBef>
              <a:buClr>
                <a:srgbClr val="E02920"/>
              </a:buClr>
              <a:buSzPct val="75000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连接运算从</a:t>
            </a:r>
            <a:r>
              <a:rPr lang="en-US" altLang="zh-CN" sz="2800" b="1" i="1" dirty="0">
                <a:latin typeface="Verdana" panose="020B0604030504040204" pitchFamily="34" charset="0"/>
                <a:ea typeface="楷体_GB2312" pitchFamily="49" charset="-122"/>
              </a:rPr>
              <a:t>R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和</a:t>
            </a:r>
            <a:r>
              <a:rPr lang="en-US" altLang="zh-CN" sz="2800" b="1" i="1" dirty="0">
                <a:latin typeface="Verdana" panose="020B0604030504040204" pitchFamily="34" charset="0"/>
                <a:ea typeface="楷体_GB2312" pitchFamily="49" charset="-122"/>
              </a:rPr>
              <a:t>S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的广义笛卡尔积</a:t>
            </a:r>
            <a:r>
              <a:rPr lang="en-US" altLang="zh-CN" sz="2800" b="1" i="1" dirty="0">
                <a:latin typeface="Verdana" panose="020B0604030504040204" pitchFamily="34" charset="0"/>
                <a:ea typeface="楷体_GB2312" pitchFamily="49" charset="-122"/>
              </a:rPr>
              <a:t>R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×</a:t>
            </a:r>
            <a:r>
              <a:rPr lang="en-US" altLang="zh-CN" sz="2800" b="1" i="1" dirty="0">
                <a:latin typeface="Verdana" panose="020B0604030504040204" pitchFamily="34" charset="0"/>
                <a:ea typeface="楷体_GB2312" pitchFamily="49" charset="-122"/>
              </a:rPr>
              <a:t>S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中选取（</a:t>
            </a:r>
            <a:r>
              <a:rPr lang="en-US" altLang="zh-CN" sz="2800" b="1" i="1" dirty="0">
                <a:latin typeface="Verdana" panose="020B0604030504040204" pitchFamily="34" charset="0"/>
                <a:ea typeface="楷体_GB2312" pitchFamily="49" charset="-122"/>
              </a:rPr>
              <a:t>R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关系）在</a:t>
            </a:r>
            <a:r>
              <a:rPr lang="en-US" altLang="zh-CN" sz="2800" b="1" i="1" dirty="0">
                <a:latin typeface="Verdana" panose="020B0604030504040204" pitchFamily="34" charset="0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属性组上的值与（</a:t>
            </a:r>
            <a:r>
              <a:rPr lang="en-US" altLang="zh-CN" sz="2800" b="1" i="1" dirty="0">
                <a:latin typeface="Verdana" panose="020B0604030504040204" pitchFamily="34" charset="0"/>
                <a:ea typeface="楷体_GB2312" pitchFamily="49" charset="-122"/>
              </a:rPr>
              <a:t>S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关系）在</a:t>
            </a:r>
            <a:r>
              <a:rPr lang="en-US" altLang="zh-CN" sz="2800" b="1" i="1" dirty="0">
                <a:latin typeface="Verdana" panose="020B0604030504040204" pitchFamily="34" charset="0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属性组上值</a:t>
            </a:r>
            <a:r>
              <a:rPr lang="zh-CN" altLang="en-US" sz="2800" b="1" dirty="0">
                <a:solidFill>
                  <a:schemeClr val="accent2"/>
                </a:solidFill>
                <a:latin typeface="Verdana" panose="020B0604030504040204" pitchFamily="34" charset="0"/>
                <a:ea typeface="楷体_GB2312" pitchFamily="49" charset="-122"/>
              </a:rPr>
              <a:t>满足比较关系（条件）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的元组。</a:t>
            </a:r>
            <a:r>
              <a:rPr lang="zh-CN" altLang="en-US" sz="3200" b="1" dirty="0">
                <a:latin typeface="Verdana" panose="020B0604030504040204" pitchFamily="34" charset="0"/>
                <a:ea typeface="楷体_GB2312" pitchFamily="49" charset="-122"/>
              </a:rPr>
              <a:t> </a:t>
            </a:r>
            <a:endParaRPr lang="zh-CN" altLang="en-US" sz="32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192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连接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81924" name="Rectangle 3"/>
          <p:cNvSpPr>
            <a:spLocks noGrp="1"/>
          </p:cNvSpPr>
          <p:nvPr>
            <p:ph idx="1"/>
          </p:nvPr>
        </p:nvSpPr>
        <p:spPr>
          <a:xfrm>
            <a:off x="323850" y="1196975"/>
            <a:ext cx="8229600" cy="1508125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举例 </a:t>
            </a: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5</a:t>
            </a:r>
            <a:r>
              <a:rPr lang="en-US" altLang="zh-CN" dirty="0"/>
              <a:t>] </a:t>
            </a:r>
            <a:endParaRPr lang="en-US" altLang="zh-CN" dirty="0"/>
          </a:p>
        </p:txBody>
      </p:sp>
      <p:grpSp>
        <p:nvGrpSpPr>
          <p:cNvPr id="81925" name="Group 156"/>
          <p:cNvGrpSpPr/>
          <p:nvPr/>
        </p:nvGrpSpPr>
        <p:grpSpPr>
          <a:xfrm>
            <a:off x="793750" y="2771775"/>
            <a:ext cx="2603500" cy="2089150"/>
            <a:chOff x="-3" y="-3"/>
            <a:chExt cx="1171" cy="2832"/>
          </a:xfrm>
        </p:grpSpPr>
        <p:grpSp>
          <p:nvGrpSpPr>
            <p:cNvPr id="81969" name="Group 154"/>
            <p:cNvGrpSpPr/>
            <p:nvPr/>
          </p:nvGrpSpPr>
          <p:grpSpPr>
            <a:xfrm>
              <a:off x="0" y="0"/>
              <a:ext cx="1165" cy="2826"/>
              <a:chOff x="0" y="0"/>
              <a:chExt cx="1165" cy="2826"/>
            </a:xfrm>
          </p:grpSpPr>
          <p:grpSp>
            <p:nvGrpSpPr>
              <p:cNvPr id="81971" name="Group 125"/>
              <p:cNvGrpSpPr/>
              <p:nvPr/>
            </p:nvGrpSpPr>
            <p:grpSpPr>
              <a:xfrm>
                <a:off x="0" y="0"/>
                <a:ext cx="417" cy="442"/>
                <a:chOff x="0" y="0"/>
                <a:chExt cx="417" cy="442"/>
              </a:xfrm>
            </p:grpSpPr>
            <p:sp>
              <p:nvSpPr>
                <p:cNvPr id="82014" name="Rectangle 109"/>
                <p:cNvSpPr/>
                <p:nvPr/>
              </p:nvSpPr>
              <p:spPr>
                <a:xfrm>
                  <a:off x="43" y="0"/>
                  <a:ext cx="331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solidFill>
                        <a:srgbClr val="FF0000"/>
                      </a:solidFill>
                      <a:latin typeface="Verdana" panose="020B0604030504040204" pitchFamily="34" charset="0"/>
                    </a:rPr>
                    <a:t>A</a:t>
                  </a:r>
                  <a:endParaRPr lang="en-US" altLang="zh-CN" sz="2400" b="1" dirty="0">
                    <a:solidFill>
                      <a:srgbClr val="FF0000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2015" name="Rectangle 124"/>
                <p:cNvSpPr/>
                <p:nvPr/>
              </p:nvSpPr>
              <p:spPr>
                <a:xfrm>
                  <a:off x="0" y="0"/>
                  <a:ext cx="417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72" name="Group 127"/>
              <p:cNvGrpSpPr/>
              <p:nvPr/>
            </p:nvGrpSpPr>
            <p:grpSpPr>
              <a:xfrm>
                <a:off x="417" y="0"/>
                <a:ext cx="302" cy="442"/>
                <a:chOff x="417" y="0"/>
                <a:chExt cx="302" cy="442"/>
              </a:xfrm>
            </p:grpSpPr>
            <p:sp>
              <p:nvSpPr>
                <p:cNvPr id="82012" name="Rectangle 110"/>
                <p:cNvSpPr/>
                <p:nvPr/>
              </p:nvSpPr>
              <p:spPr>
                <a:xfrm>
                  <a:off x="460" y="0"/>
                  <a:ext cx="216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solidFill>
                        <a:srgbClr val="FF0000"/>
                      </a:solidFill>
                      <a:latin typeface="Verdana" panose="020B0604030504040204" pitchFamily="34" charset="0"/>
                    </a:rPr>
                    <a:t>B</a:t>
                  </a:r>
                  <a:endParaRPr lang="en-US" altLang="zh-CN" sz="2400" b="1" dirty="0">
                    <a:solidFill>
                      <a:srgbClr val="FF0000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2013" name="Rectangle 126"/>
                <p:cNvSpPr/>
                <p:nvPr/>
              </p:nvSpPr>
              <p:spPr>
                <a:xfrm>
                  <a:off x="417" y="0"/>
                  <a:ext cx="302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73" name="Group 129"/>
              <p:cNvGrpSpPr/>
              <p:nvPr/>
            </p:nvGrpSpPr>
            <p:grpSpPr>
              <a:xfrm>
                <a:off x="719" y="0"/>
                <a:ext cx="446" cy="442"/>
                <a:chOff x="719" y="0"/>
                <a:chExt cx="446" cy="442"/>
              </a:xfrm>
            </p:grpSpPr>
            <p:sp>
              <p:nvSpPr>
                <p:cNvPr id="82010" name="Rectangle 111"/>
                <p:cNvSpPr/>
                <p:nvPr/>
              </p:nvSpPr>
              <p:spPr>
                <a:xfrm>
                  <a:off x="762" y="0"/>
                  <a:ext cx="360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solidFill>
                        <a:srgbClr val="FF0000"/>
                      </a:solidFill>
                      <a:latin typeface="Verdana" panose="020B0604030504040204" pitchFamily="34" charset="0"/>
                    </a:rPr>
                    <a:t>C</a:t>
                  </a:r>
                  <a:endParaRPr lang="en-US" altLang="zh-CN" sz="2400" b="1" dirty="0">
                    <a:solidFill>
                      <a:srgbClr val="FF0000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2011" name="Rectangle 128"/>
                <p:cNvSpPr/>
                <p:nvPr/>
              </p:nvSpPr>
              <p:spPr>
                <a:xfrm>
                  <a:off x="719" y="0"/>
                  <a:ext cx="446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74" name="Group 131"/>
              <p:cNvGrpSpPr/>
              <p:nvPr/>
            </p:nvGrpSpPr>
            <p:grpSpPr>
              <a:xfrm>
                <a:off x="0" y="442"/>
                <a:ext cx="417" cy="596"/>
                <a:chOff x="0" y="442"/>
                <a:chExt cx="417" cy="596"/>
              </a:xfrm>
            </p:grpSpPr>
            <p:sp>
              <p:nvSpPr>
                <p:cNvPr id="82008" name="Rectangle 112"/>
                <p:cNvSpPr/>
                <p:nvPr/>
              </p:nvSpPr>
              <p:spPr>
                <a:xfrm>
                  <a:off x="43" y="442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2009" name="Rectangle 130"/>
                <p:cNvSpPr/>
                <p:nvPr/>
              </p:nvSpPr>
              <p:spPr>
                <a:xfrm>
                  <a:off x="0" y="442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75" name="Group 133"/>
              <p:cNvGrpSpPr/>
              <p:nvPr/>
            </p:nvGrpSpPr>
            <p:grpSpPr>
              <a:xfrm>
                <a:off x="417" y="442"/>
                <a:ext cx="334" cy="596"/>
                <a:chOff x="417" y="442"/>
                <a:chExt cx="334" cy="596"/>
              </a:xfrm>
            </p:grpSpPr>
            <p:sp>
              <p:nvSpPr>
                <p:cNvPr id="82006" name="Rectangle 113"/>
                <p:cNvSpPr/>
                <p:nvPr/>
              </p:nvSpPr>
              <p:spPr>
                <a:xfrm>
                  <a:off x="460" y="442"/>
                  <a:ext cx="29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2007" name="Rectangle 132"/>
                <p:cNvSpPr/>
                <p:nvPr/>
              </p:nvSpPr>
              <p:spPr>
                <a:xfrm>
                  <a:off x="417" y="442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76" name="Group 135"/>
              <p:cNvGrpSpPr/>
              <p:nvPr/>
            </p:nvGrpSpPr>
            <p:grpSpPr>
              <a:xfrm>
                <a:off x="719" y="442"/>
                <a:ext cx="446" cy="596"/>
                <a:chOff x="719" y="442"/>
                <a:chExt cx="446" cy="596"/>
              </a:xfrm>
            </p:grpSpPr>
            <p:sp>
              <p:nvSpPr>
                <p:cNvPr id="82004" name="Rectangle 114"/>
                <p:cNvSpPr/>
                <p:nvPr/>
              </p:nvSpPr>
              <p:spPr>
                <a:xfrm>
                  <a:off x="762" y="442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5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2005" name="Rectangle 134"/>
                <p:cNvSpPr/>
                <p:nvPr/>
              </p:nvSpPr>
              <p:spPr>
                <a:xfrm>
                  <a:off x="719" y="442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77" name="Group 137"/>
              <p:cNvGrpSpPr/>
              <p:nvPr/>
            </p:nvGrpSpPr>
            <p:grpSpPr>
              <a:xfrm>
                <a:off x="0" y="1038"/>
                <a:ext cx="417" cy="596"/>
                <a:chOff x="0" y="1038"/>
                <a:chExt cx="417" cy="596"/>
              </a:xfrm>
            </p:grpSpPr>
            <p:sp>
              <p:nvSpPr>
                <p:cNvPr id="82002" name="Rectangle 115"/>
                <p:cNvSpPr/>
                <p:nvPr/>
              </p:nvSpPr>
              <p:spPr>
                <a:xfrm>
                  <a:off x="43" y="1038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2003" name="Rectangle 136"/>
                <p:cNvSpPr/>
                <p:nvPr/>
              </p:nvSpPr>
              <p:spPr>
                <a:xfrm>
                  <a:off x="0" y="1038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78" name="Group 139"/>
              <p:cNvGrpSpPr/>
              <p:nvPr/>
            </p:nvGrpSpPr>
            <p:grpSpPr>
              <a:xfrm>
                <a:off x="417" y="1038"/>
                <a:ext cx="398" cy="596"/>
                <a:chOff x="417" y="1038"/>
                <a:chExt cx="398" cy="596"/>
              </a:xfrm>
            </p:grpSpPr>
            <p:sp>
              <p:nvSpPr>
                <p:cNvPr id="82000" name="Rectangle 116"/>
                <p:cNvSpPr/>
                <p:nvPr/>
              </p:nvSpPr>
              <p:spPr>
                <a:xfrm>
                  <a:off x="460" y="1038"/>
                  <a:ext cx="355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2001" name="Rectangle 138"/>
                <p:cNvSpPr/>
                <p:nvPr/>
              </p:nvSpPr>
              <p:spPr>
                <a:xfrm>
                  <a:off x="417" y="1038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79" name="Group 141"/>
              <p:cNvGrpSpPr/>
              <p:nvPr/>
            </p:nvGrpSpPr>
            <p:grpSpPr>
              <a:xfrm>
                <a:off x="719" y="1038"/>
                <a:ext cx="446" cy="596"/>
                <a:chOff x="719" y="1038"/>
                <a:chExt cx="446" cy="596"/>
              </a:xfrm>
            </p:grpSpPr>
            <p:sp>
              <p:nvSpPr>
                <p:cNvPr id="81998" name="Rectangle 117"/>
                <p:cNvSpPr/>
                <p:nvPr/>
              </p:nvSpPr>
              <p:spPr>
                <a:xfrm>
                  <a:off x="762" y="1038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6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1999" name="Rectangle 140"/>
                <p:cNvSpPr/>
                <p:nvPr/>
              </p:nvSpPr>
              <p:spPr>
                <a:xfrm>
                  <a:off x="719" y="1038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80" name="Group 143"/>
              <p:cNvGrpSpPr/>
              <p:nvPr/>
            </p:nvGrpSpPr>
            <p:grpSpPr>
              <a:xfrm>
                <a:off x="0" y="1634"/>
                <a:ext cx="417" cy="596"/>
                <a:chOff x="0" y="1634"/>
                <a:chExt cx="417" cy="596"/>
              </a:xfrm>
            </p:grpSpPr>
            <p:sp>
              <p:nvSpPr>
                <p:cNvPr id="81996" name="Rectangle 118"/>
                <p:cNvSpPr/>
                <p:nvPr/>
              </p:nvSpPr>
              <p:spPr>
                <a:xfrm>
                  <a:off x="43" y="1634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1997" name="Rectangle 142"/>
                <p:cNvSpPr/>
                <p:nvPr/>
              </p:nvSpPr>
              <p:spPr>
                <a:xfrm>
                  <a:off x="0" y="1634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81" name="Group 145"/>
              <p:cNvGrpSpPr/>
              <p:nvPr/>
            </p:nvGrpSpPr>
            <p:grpSpPr>
              <a:xfrm>
                <a:off x="417" y="1634"/>
                <a:ext cx="334" cy="596"/>
                <a:chOff x="417" y="1634"/>
                <a:chExt cx="334" cy="596"/>
              </a:xfrm>
            </p:grpSpPr>
            <p:sp>
              <p:nvSpPr>
                <p:cNvPr id="81994" name="Rectangle 119"/>
                <p:cNvSpPr/>
                <p:nvPr/>
              </p:nvSpPr>
              <p:spPr>
                <a:xfrm>
                  <a:off x="460" y="1634"/>
                  <a:ext cx="29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3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1995" name="Rectangle 144"/>
                <p:cNvSpPr/>
                <p:nvPr/>
              </p:nvSpPr>
              <p:spPr>
                <a:xfrm>
                  <a:off x="417" y="1634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82" name="Group 147"/>
              <p:cNvGrpSpPr/>
              <p:nvPr/>
            </p:nvGrpSpPr>
            <p:grpSpPr>
              <a:xfrm>
                <a:off x="719" y="1634"/>
                <a:ext cx="446" cy="596"/>
                <a:chOff x="719" y="1634"/>
                <a:chExt cx="446" cy="596"/>
              </a:xfrm>
            </p:grpSpPr>
            <p:sp>
              <p:nvSpPr>
                <p:cNvPr id="81992" name="Rectangle 120"/>
                <p:cNvSpPr/>
                <p:nvPr/>
              </p:nvSpPr>
              <p:spPr>
                <a:xfrm>
                  <a:off x="762" y="1634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8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1993" name="Rectangle 146"/>
                <p:cNvSpPr/>
                <p:nvPr/>
              </p:nvSpPr>
              <p:spPr>
                <a:xfrm>
                  <a:off x="719" y="1634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83" name="Group 149"/>
              <p:cNvGrpSpPr/>
              <p:nvPr/>
            </p:nvGrpSpPr>
            <p:grpSpPr>
              <a:xfrm>
                <a:off x="0" y="2230"/>
                <a:ext cx="417" cy="596"/>
                <a:chOff x="0" y="2230"/>
                <a:chExt cx="417" cy="596"/>
              </a:xfrm>
            </p:grpSpPr>
            <p:sp>
              <p:nvSpPr>
                <p:cNvPr id="81990" name="Rectangle 121"/>
                <p:cNvSpPr/>
                <p:nvPr/>
              </p:nvSpPr>
              <p:spPr>
                <a:xfrm>
                  <a:off x="43" y="2230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1991" name="Rectangle 148"/>
                <p:cNvSpPr/>
                <p:nvPr/>
              </p:nvSpPr>
              <p:spPr>
                <a:xfrm>
                  <a:off x="0" y="2230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84" name="Group 151"/>
              <p:cNvGrpSpPr/>
              <p:nvPr/>
            </p:nvGrpSpPr>
            <p:grpSpPr>
              <a:xfrm>
                <a:off x="417" y="2230"/>
                <a:ext cx="302" cy="596"/>
                <a:chOff x="417" y="2230"/>
                <a:chExt cx="302" cy="596"/>
              </a:xfrm>
            </p:grpSpPr>
            <p:sp>
              <p:nvSpPr>
                <p:cNvPr id="81988" name="Rectangle 122"/>
                <p:cNvSpPr/>
                <p:nvPr/>
              </p:nvSpPr>
              <p:spPr>
                <a:xfrm>
                  <a:off x="460" y="2230"/>
                  <a:ext cx="259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4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1989" name="Rectangle 150"/>
                <p:cNvSpPr/>
                <p:nvPr/>
              </p:nvSpPr>
              <p:spPr>
                <a:xfrm>
                  <a:off x="417" y="2230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1985" name="Group 153"/>
              <p:cNvGrpSpPr/>
              <p:nvPr/>
            </p:nvGrpSpPr>
            <p:grpSpPr>
              <a:xfrm>
                <a:off x="719" y="2230"/>
                <a:ext cx="446" cy="596"/>
                <a:chOff x="719" y="2230"/>
                <a:chExt cx="446" cy="596"/>
              </a:xfrm>
            </p:grpSpPr>
            <p:sp>
              <p:nvSpPr>
                <p:cNvPr id="81986" name="Rectangle 123"/>
                <p:cNvSpPr/>
                <p:nvPr/>
              </p:nvSpPr>
              <p:spPr>
                <a:xfrm>
                  <a:off x="762" y="2230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12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1987" name="Rectangle 152"/>
                <p:cNvSpPr/>
                <p:nvPr/>
              </p:nvSpPr>
              <p:spPr>
                <a:xfrm>
                  <a:off x="719" y="2230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81970" name="Rectangle 155"/>
            <p:cNvSpPr/>
            <p:nvPr/>
          </p:nvSpPr>
          <p:spPr>
            <a:xfrm>
              <a:off x="-3" y="-3"/>
              <a:ext cx="1171" cy="2832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81926" name="Group 198"/>
          <p:cNvGrpSpPr/>
          <p:nvPr/>
        </p:nvGrpSpPr>
        <p:grpSpPr>
          <a:xfrm>
            <a:off x="5476875" y="2708275"/>
            <a:ext cx="1595438" cy="2443163"/>
            <a:chOff x="3744" y="1392"/>
            <a:chExt cx="1164" cy="2038"/>
          </a:xfrm>
        </p:grpSpPr>
        <p:grpSp>
          <p:nvGrpSpPr>
            <p:cNvPr id="81932" name="Group 170"/>
            <p:cNvGrpSpPr/>
            <p:nvPr/>
          </p:nvGrpSpPr>
          <p:grpSpPr>
            <a:xfrm>
              <a:off x="3748" y="1394"/>
              <a:ext cx="538" cy="336"/>
              <a:chOff x="0" y="0"/>
              <a:chExt cx="360" cy="499"/>
            </a:xfrm>
          </p:grpSpPr>
          <p:sp>
            <p:nvSpPr>
              <p:cNvPr id="81967" name="Rectangle 157"/>
              <p:cNvSpPr/>
              <p:nvPr/>
            </p:nvSpPr>
            <p:spPr>
              <a:xfrm>
                <a:off x="43" y="0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0"/>
              <a:p>
                <a:pPr algn="ctr" eaLnBrk="1" hangingPunct="1"/>
                <a:r>
                  <a:rPr lang="en-US" altLang="zh-CN" sz="2400" b="1" dirty="0">
                    <a:solidFill>
                      <a:srgbClr val="FF0000"/>
                    </a:solidFill>
                    <a:latin typeface="Verdana" panose="020B0604030504040204" pitchFamily="34" charset="0"/>
                    <a:cs typeface="Times New Roman" panose="02020603050405020304" pitchFamily="18" charset="0"/>
                  </a:rPr>
                  <a:t>B</a:t>
                </a:r>
                <a:endParaRPr lang="en-US" altLang="zh-CN" sz="2400" b="1" i="1" dirty="0">
                  <a:solidFill>
                    <a:srgbClr val="FF0000"/>
                  </a:solidFill>
                  <a:latin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1968" name="Rectangle 169"/>
              <p:cNvSpPr/>
              <p:nvPr/>
            </p:nvSpPr>
            <p:spPr>
              <a:xfrm>
                <a:off x="0" y="0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1933" name="Group 172"/>
            <p:cNvGrpSpPr/>
            <p:nvPr/>
          </p:nvGrpSpPr>
          <p:grpSpPr>
            <a:xfrm>
              <a:off x="4286" y="1394"/>
              <a:ext cx="558" cy="336"/>
              <a:chOff x="360" y="0"/>
              <a:chExt cx="374" cy="499"/>
            </a:xfrm>
          </p:grpSpPr>
          <p:sp>
            <p:nvSpPr>
              <p:cNvPr id="81965" name="Rectangle 158"/>
              <p:cNvSpPr/>
              <p:nvPr/>
            </p:nvSpPr>
            <p:spPr>
              <a:xfrm>
                <a:off x="403" y="0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solidFill>
                      <a:srgbClr val="FF0000"/>
                    </a:solidFill>
                    <a:latin typeface="Verdana" panose="020B0604030504040204" pitchFamily="34" charset="0"/>
                  </a:rPr>
                  <a:t>E</a:t>
                </a:r>
                <a:endParaRPr lang="en-US" altLang="zh-CN" sz="2400" b="1" dirty="0">
                  <a:solidFill>
                    <a:srgbClr val="FF0000"/>
                  </a:solidFill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1966" name="Rectangle 171"/>
              <p:cNvSpPr/>
              <p:nvPr/>
            </p:nvSpPr>
            <p:spPr>
              <a:xfrm>
                <a:off x="360" y="0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1934" name="Group 174"/>
            <p:cNvGrpSpPr/>
            <p:nvPr/>
          </p:nvGrpSpPr>
          <p:grpSpPr>
            <a:xfrm>
              <a:off x="3748" y="1730"/>
              <a:ext cx="538" cy="335"/>
              <a:chOff x="0" y="499"/>
              <a:chExt cx="360" cy="499"/>
            </a:xfrm>
          </p:grpSpPr>
          <p:sp>
            <p:nvSpPr>
              <p:cNvPr id="81963" name="Rectangle 159"/>
              <p:cNvSpPr/>
              <p:nvPr/>
            </p:nvSpPr>
            <p:spPr>
              <a:xfrm>
                <a:off x="43" y="499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1964" name="Rectangle 173"/>
              <p:cNvSpPr/>
              <p:nvPr/>
            </p:nvSpPr>
            <p:spPr>
              <a:xfrm>
                <a:off x="0" y="499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1935" name="Group 176"/>
            <p:cNvGrpSpPr/>
            <p:nvPr/>
          </p:nvGrpSpPr>
          <p:grpSpPr>
            <a:xfrm>
              <a:off x="4286" y="1730"/>
              <a:ext cx="558" cy="335"/>
              <a:chOff x="360" y="499"/>
              <a:chExt cx="374" cy="499"/>
            </a:xfrm>
          </p:grpSpPr>
          <p:sp>
            <p:nvSpPr>
              <p:cNvPr id="81961" name="Rectangle 160"/>
              <p:cNvSpPr/>
              <p:nvPr/>
            </p:nvSpPr>
            <p:spPr>
              <a:xfrm>
                <a:off x="403" y="499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3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1962" name="Rectangle 175"/>
              <p:cNvSpPr/>
              <p:nvPr/>
            </p:nvSpPr>
            <p:spPr>
              <a:xfrm>
                <a:off x="360" y="499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1936" name="Group 178"/>
            <p:cNvGrpSpPr/>
            <p:nvPr/>
          </p:nvGrpSpPr>
          <p:grpSpPr>
            <a:xfrm>
              <a:off x="3748" y="2065"/>
              <a:ext cx="538" cy="336"/>
              <a:chOff x="0" y="998"/>
              <a:chExt cx="360" cy="499"/>
            </a:xfrm>
          </p:grpSpPr>
          <p:sp>
            <p:nvSpPr>
              <p:cNvPr id="81959" name="Rectangle 161"/>
              <p:cNvSpPr/>
              <p:nvPr/>
            </p:nvSpPr>
            <p:spPr>
              <a:xfrm>
                <a:off x="43" y="998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1960" name="Rectangle 177"/>
              <p:cNvSpPr/>
              <p:nvPr/>
            </p:nvSpPr>
            <p:spPr>
              <a:xfrm>
                <a:off x="0" y="998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1937" name="Group 180"/>
            <p:cNvGrpSpPr/>
            <p:nvPr/>
          </p:nvGrpSpPr>
          <p:grpSpPr>
            <a:xfrm>
              <a:off x="4286" y="2065"/>
              <a:ext cx="558" cy="336"/>
              <a:chOff x="360" y="998"/>
              <a:chExt cx="374" cy="499"/>
            </a:xfrm>
          </p:grpSpPr>
          <p:sp>
            <p:nvSpPr>
              <p:cNvPr id="81957" name="Rectangle 162"/>
              <p:cNvSpPr/>
              <p:nvPr/>
            </p:nvSpPr>
            <p:spPr>
              <a:xfrm>
                <a:off x="403" y="998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7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1958" name="Rectangle 179"/>
              <p:cNvSpPr/>
              <p:nvPr/>
            </p:nvSpPr>
            <p:spPr>
              <a:xfrm>
                <a:off x="360" y="998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1938" name="Group 182"/>
            <p:cNvGrpSpPr/>
            <p:nvPr/>
          </p:nvGrpSpPr>
          <p:grpSpPr>
            <a:xfrm>
              <a:off x="3748" y="2401"/>
              <a:ext cx="538" cy="349"/>
              <a:chOff x="0" y="1497"/>
              <a:chExt cx="360" cy="710"/>
            </a:xfrm>
          </p:grpSpPr>
          <p:sp>
            <p:nvSpPr>
              <p:cNvPr id="81955" name="Rectangle 163"/>
              <p:cNvSpPr/>
              <p:nvPr/>
            </p:nvSpPr>
            <p:spPr>
              <a:xfrm>
                <a:off x="43" y="1497"/>
                <a:ext cx="274" cy="7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1956" name="Rectangle 181"/>
              <p:cNvSpPr/>
              <p:nvPr/>
            </p:nvSpPr>
            <p:spPr>
              <a:xfrm>
                <a:off x="0" y="1497"/>
                <a:ext cx="360" cy="71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1939" name="Group 184"/>
            <p:cNvGrpSpPr/>
            <p:nvPr/>
          </p:nvGrpSpPr>
          <p:grpSpPr>
            <a:xfrm>
              <a:off x="4286" y="2401"/>
              <a:ext cx="622" cy="349"/>
              <a:chOff x="360" y="1497"/>
              <a:chExt cx="417" cy="710"/>
            </a:xfrm>
          </p:grpSpPr>
          <p:sp>
            <p:nvSpPr>
              <p:cNvPr id="81953" name="Rectangle 164"/>
              <p:cNvSpPr/>
              <p:nvPr/>
            </p:nvSpPr>
            <p:spPr>
              <a:xfrm>
                <a:off x="403" y="1497"/>
                <a:ext cx="374" cy="7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10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1954" name="Rectangle 183"/>
              <p:cNvSpPr/>
              <p:nvPr/>
            </p:nvSpPr>
            <p:spPr>
              <a:xfrm>
                <a:off x="360" y="1497"/>
                <a:ext cx="374" cy="71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1940" name="Group 186"/>
            <p:cNvGrpSpPr/>
            <p:nvPr/>
          </p:nvGrpSpPr>
          <p:grpSpPr>
            <a:xfrm>
              <a:off x="3748" y="2750"/>
              <a:ext cx="538" cy="335"/>
              <a:chOff x="0" y="2207"/>
              <a:chExt cx="360" cy="499"/>
            </a:xfrm>
          </p:grpSpPr>
          <p:sp>
            <p:nvSpPr>
              <p:cNvPr id="81951" name="Rectangle 165"/>
              <p:cNvSpPr/>
              <p:nvPr/>
            </p:nvSpPr>
            <p:spPr>
              <a:xfrm>
                <a:off x="43" y="2207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1952" name="Rectangle 185"/>
              <p:cNvSpPr/>
              <p:nvPr/>
            </p:nvSpPr>
            <p:spPr>
              <a:xfrm>
                <a:off x="0" y="2207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1941" name="Group 188"/>
            <p:cNvGrpSpPr/>
            <p:nvPr/>
          </p:nvGrpSpPr>
          <p:grpSpPr>
            <a:xfrm>
              <a:off x="4286" y="2750"/>
              <a:ext cx="558" cy="335"/>
              <a:chOff x="360" y="2207"/>
              <a:chExt cx="374" cy="499"/>
            </a:xfrm>
          </p:grpSpPr>
          <p:sp>
            <p:nvSpPr>
              <p:cNvPr id="81949" name="Rectangle 166"/>
              <p:cNvSpPr/>
              <p:nvPr/>
            </p:nvSpPr>
            <p:spPr>
              <a:xfrm>
                <a:off x="403" y="2207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2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1950" name="Rectangle 187"/>
              <p:cNvSpPr/>
              <p:nvPr/>
            </p:nvSpPr>
            <p:spPr>
              <a:xfrm>
                <a:off x="360" y="2207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1942" name="Group 190"/>
            <p:cNvGrpSpPr/>
            <p:nvPr/>
          </p:nvGrpSpPr>
          <p:grpSpPr>
            <a:xfrm>
              <a:off x="3748" y="3085"/>
              <a:ext cx="538" cy="336"/>
              <a:chOff x="0" y="2706"/>
              <a:chExt cx="360" cy="499"/>
            </a:xfrm>
          </p:grpSpPr>
          <p:sp>
            <p:nvSpPr>
              <p:cNvPr id="81947" name="Rectangle 167"/>
              <p:cNvSpPr/>
              <p:nvPr/>
            </p:nvSpPr>
            <p:spPr>
              <a:xfrm>
                <a:off x="43" y="2706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5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1948" name="Rectangle 189"/>
              <p:cNvSpPr/>
              <p:nvPr/>
            </p:nvSpPr>
            <p:spPr>
              <a:xfrm>
                <a:off x="0" y="2706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1943" name="Group 192"/>
            <p:cNvGrpSpPr/>
            <p:nvPr/>
          </p:nvGrpSpPr>
          <p:grpSpPr>
            <a:xfrm>
              <a:off x="4286" y="3085"/>
              <a:ext cx="558" cy="336"/>
              <a:chOff x="360" y="2706"/>
              <a:chExt cx="374" cy="499"/>
            </a:xfrm>
          </p:grpSpPr>
          <p:sp>
            <p:nvSpPr>
              <p:cNvPr id="81945" name="Rectangle 168"/>
              <p:cNvSpPr/>
              <p:nvPr/>
            </p:nvSpPr>
            <p:spPr>
              <a:xfrm>
                <a:off x="403" y="2706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2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1946" name="Rectangle 191"/>
              <p:cNvSpPr/>
              <p:nvPr/>
            </p:nvSpPr>
            <p:spPr>
              <a:xfrm>
                <a:off x="360" y="2706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81944" name="Rectangle 194"/>
            <p:cNvSpPr/>
            <p:nvPr/>
          </p:nvSpPr>
          <p:spPr>
            <a:xfrm>
              <a:off x="3744" y="1392"/>
              <a:ext cx="1104" cy="2038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sp>
        <p:nvSpPr>
          <p:cNvPr id="81927" name="Rectangle 196"/>
          <p:cNvSpPr/>
          <p:nvPr/>
        </p:nvSpPr>
        <p:spPr>
          <a:xfrm>
            <a:off x="431800" y="2243138"/>
            <a:ext cx="1295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p>
            <a:pPr algn="ctr" eaLnBrk="1" hangingPunct="1"/>
            <a:r>
              <a:rPr lang="en-US" altLang="zh-CN" sz="2400" b="1" i="1" dirty="0">
                <a:latin typeface="Verdana" panose="020B0604030504040204" pitchFamily="34" charset="0"/>
              </a:rPr>
              <a:t>R</a:t>
            </a:r>
            <a:endParaRPr lang="en-US" altLang="zh-CN" sz="2400" b="1" i="1" dirty="0">
              <a:latin typeface="Verdana" panose="020B0604030504040204" pitchFamily="34" charset="0"/>
            </a:endParaRPr>
          </a:p>
        </p:txBody>
      </p:sp>
      <p:sp>
        <p:nvSpPr>
          <p:cNvPr id="81928" name="Rectangle 197"/>
          <p:cNvSpPr/>
          <p:nvPr/>
        </p:nvSpPr>
        <p:spPr>
          <a:xfrm>
            <a:off x="4721225" y="2247900"/>
            <a:ext cx="1524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p>
            <a:pPr algn="ctr" eaLnBrk="1" hangingPunct="1"/>
            <a:r>
              <a:rPr lang="en-US" altLang="zh-CN" sz="2400" b="1" i="1" dirty="0">
                <a:latin typeface="Verdana" panose="020B0604030504040204" pitchFamily="34" charset="0"/>
              </a:rPr>
              <a:t>S</a:t>
            </a:r>
            <a:endParaRPr lang="en-US" altLang="zh-CN" sz="2400" b="1" i="1" dirty="0">
              <a:latin typeface="Verdana" panose="020B060403050404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59113" y="1127125"/>
            <a:ext cx="5508625" cy="1077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dirty="0">
                <a:latin typeface="Verdana" panose="020B0604030504040204" pitchFamily="34" charset="0"/>
              </a:rPr>
              <a:t>R</a:t>
            </a:r>
            <a:r>
              <a:rPr lang="zh-CN" altLang="en-US" sz="3200" dirty="0">
                <a:latin typeface="Verdana" panose="020B0604030504040204" pitchFamily="34" charset="0"/>
              </a:rPr>
              <a:t>和</a:t>
            </a:r>
            <a:r>
              <a:rPr lang="en-US" altLang="zh-CN" sz="3200" dirty="0">
                <a:latin typeface="Verdana" panose="020B0604030504040204" pitchFamily="34" charset="0"/>
              </a:rPr>
              <a:t>S</a:t>
            </a:r>
            <a:r>
              <a:rPr lang="zh-CN" altLang="en-US" sz="3200" dirty="0">
                <a:latin typeface="Verdana" panose="020B0604030504040204" pitchFamily="34" charset="0"/>
              </a:rPr>
              <a:t>的广义笛卡尔积是几行几列的表格？</a:t>
            </a:r>
            <a:endParaRPr lang="en-US" altLang="zh-CN" sz="3200" dirty="0">
              <a:latin typeface="Verdana" panose="020B060403050404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27688" y="1692275"/>
            <a:ext cx="203993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dirty="0">
                <a:latin typeface="Verdana" panose="020B0604030504040204" pitchFamily="34" charset="0"/>
              </a:rPr>
              <a:t>20</a:t>
            </a:r>
            <a:r>
              <a:rPr lang="zh-CN" altLang="en-US" sz="3200" dirty="0">
                <a:latin typeface="Verdana" panose="020B0604030504040204" pitchFamily="34" charset="0"/>
              </a:rPr>
              <a:t>行</a:t>
            </a:r>
            <a:r>
              <a:rPr lang="en-US" altLang="zh-CN" sz="3200" dirty="0">
                <a:latin typeface="Verdana" panose="020B0604030504040204" pitchFamily="34" charset="0"/>
              </a:rPr>
              <a:t>5</a:t>
            </a:r>
            <a:r>
              <a:rPr lang="zh-CN" altLang="en-US" sz="3200" dirty="0">
                <a:latin typeface="Verdana" panose="020B0604030504040204" pitchFamily="34" charset="0"/>
              </a:rPr>
              <a:t>列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  <p:sp>
        <p:nvSpPr>
          <p:cNvPr id="189" name="矩形 188"/>
          <p:cNvSpPr/>
          <p:nvPr/>
        </p:nvSpPr>
        <p:spPr>
          <a:xfrm>
            <a:off x="1377950" y="5373688"/>
            <a:ext cx="5694363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dirty="0">
                <a:latin typeface="Verdana" panose="020B0604030504040204" pitchFamily="34" charset="0"/>
              </a:rPr>
              <a:t>20</a:t>
            </a:r>
            <a:r>
              <a:rPr lang="zh-CN" altLang="en-US" sz="3200" dirty="0">
                <a:latin typeface="Verdana" panose="020B0604030504040204" pitchFamily="34" charset="0"/>
              </a:rPr>
              <a:t>行里符合</a:t>
            </a:r>
            <a:r>
              <a:rPr lang="en-US" altLang="zh-CN" sz="3200" dirty="0">
                <a:latin typeface="Verdana" panose="020B0604030504040204" pitchFamily="34" charset="0"/>
              </a:rPr>
              <a:t>C&lt;E</a:t>
            </a:r>
            <a:r>
              <a:rPr lang="zh-CN" altLang="en-US" sz="3200" dirty="0">
                <a:latin typeface="Verdana" panose="020B0604030504040204" pitchFamily="34" charset="0"/>
              </a:rPr>
              <a:t>的有多少行？</a:t>
            </a:r>
            <a:endParaRPr lang="en-US" altLang="zh-CN" sz="32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8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294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连接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82948" name="Rectangle 3"/>
          <p:cNvSpPr>
            <a:spLocks noGrp="1"/>
          </p:cNvSpPr>
          <p:nvPr>
            <p:ph idx="1"/>
          </p:nvPr>
        </p:nvSpPr>
        <p:spPr>
          <a:xfrm>
            <a:off x="323850" y="1196975"/>
            <a:ext cx="8229600" cy="1508125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举例 </a:t>
            </a:r>
            <a:r>
              <a:rPr lang="en-US" altLang="zh-CN" dirty="0"/>
              <a:t>[</a:t>
            </a:r>
            <a:r>
              <a:rPr lang="zh-CN" altLang="en-US" dirty="0">
                <a:ea typeface="黑体" panose="02010609060101010101" pitchFamily="49" charset="-122"/>
              </a:rPr>
              <a:t>例</a:t>
            </a:r>
            <a:r>
              <a:rPr lang="en-US" altLang="zh-CN" dirty="0">
                <a:ea typeface="黑体" panose="02010609060101010101" pitchFamily="49" charset="-122"/>
              </a:rPr>
              <a:t>5</a:t>
            </a:r>
            <a:r>
              <a:rPr lang="en-US" altLang="zh-CN" dirty="0"/>
              <a:t>] </a:t>
            </a:r>
            <a:endParaRPr lang="en-US" altLang="zh-CN" dirty="0"/>
          </a:p>
        </p:txBody>
      </p:sp>
      <p:grpSp>
        <p:nvGrpSpPr>
          <p:cNvPr id="82949" name="Group 156"/>
          <p:cNvGrpSpPr/>
          <p:nvPr/>
        </p:nvGrpSpPr>
        <p:grpSpPr>
          <a:xfrm>
            <a:off x="323850" y="1844675"/>
            <a:ext cx="2603500" cy="2089150"/>
            <a:chOff x="-3" y="-3"/>
            <a:chExt cx="1171" cy="2832"/>
          </a:xfrm>
        </p:grpSpPr>
        <p:grpSp>
          <p:nvGrpSpPr>
            <p:cNvPr id="83086" name="Group 154"/>
            <p:cNvGrpSpPr/>
            <p:nvPr/>
          </p:nvGrpSpPr>
          <p:grpSpPr>
            <a:xfrm>
              <a:off x="0" y="0"/>
              <a:ext cx="1165" cy="2826"/>
              <a:chOff x="0" y="0"/>
              <a:chExt cx="1165" cy="2826"/>
            </a:xfrm>
          </p:grpSpPr>
          <p:grpSp>
            <p:nvGrpSpPr>
              <p:cNvPr id="83088" name="Group 125"/>
              <p:cNvGrpSpPr/>
              <p:nvPr/>
            </p:nvGrpSpPr>
            <p:grpSpPr>
              <a:xfrm>
                <a:off x="0" y="0"/>
                <a:ext cx="417" cy="442"/>
                <a:chOff x="0" y="0"/>
                <a:chExt cx="417" cy="442"/>
              </a:xfrm>
            </p:grpSpPr>
            <p:sp>
              <p:nvSpPr>
                <p:cNvPr id="83131" name="Rectangle 109"/>
                <p:cNvSpPr/>
                <p:nvPr/>
              </p:nvSpPr>
              <p:spPr>
                <a:xfrm>
                  <a:off x="43" y="0"/>
                  <a:ext cx="331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32" name="Rectangle 124"/>
                <p:cNvSpPr/>
                <p:nvPr/>
              </p:nvSpPr>
              <p:spPr>
                <a:xfrm>
                  <a:off x="0" y="0"/>
                  <a:ext cx="417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089" name="Group 127"/>
              <p:cNvGrpSpPr/>
              <p:nvPr/>
            </p:nvGrpSpPr>
            <p:grpSpPr>
              <a:xfrm>
                <a:off x="417" y="0"/>
                <a:ext cx="302" cy="442"/>
                <a:chOff x="417" y="0"/>
                <a:chExt cx="302" cy="442"/>
              </a:xfrm>
            </p:grpSpPr>
            <p:sp>
              <p:nvSpPr>
                <p:cNvPr id="83129" name="Rectangle 110"/>
                <p:cNvSpPr/>
                <p:nvPr/>
              </p:nvSpPr>
              <p:spPr>
                <a:xfrm>
                  <a:off x="460" y="0"/>
                  <a:ext cx="216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30" name="Rectangle 126"/>
                <p:cNvSpPr/>
                <p:nvPr/>
              </p:nvSpPr>
              <p:spPr>
                <a:xfrm>
                  <a:off x="417" y="0"/>
                  <a:ext cx="302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090" name="Group 129"/>
              <p:cNvGrpSpPr/>
              <p:nvPr/>
            </p:nvGrpSpPr>
            <p:grpSpPr>
              <a:xfrm>
                <a:off x="719" y="0"/>
                <a:ext cx="446" cy="442"/>
                <a:chOff x="719" y="0"/>
                <a:chExt cx="446" cy="442"/>
              </a:xfrm>
            </p:grpSpPr>
            <p:sp>
              <p:nvSpPr>
                <p:cNvPr id="83127" name="Rectangle 111"/>
                <p:cNvSpPr/>
                <p:nvPr/>
              </p:nvSpPr>
              <p:spPr>
                <a:xfrm>
                  <a:off x="762" y="0"/>
                  <a:ext cx="360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C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28" name="Rectangle 128"/>
                <p:cNvSpPr/>
                <p:nvPr/>
              </p:nvSpPr>
              <p:spPr>
                <a:xfrm>
                  <a:off x="719" y="0"/>
                  <a:ext cx="446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091" name="Group 131"/>
              <p:cNvGrpSpPr/>
              <p:nvPr/>
            </p:nvGrpSpPr>
            <p:grpSpPr>
              <a:xfrm>
                <a:off x="0" y="442"/>
                <a:ext cx="417" cy="596"/>
                <a:chOff x="0" y="442"/>
                <a:chExt cx="417" cy="596"/>
              </a:xfrm>
            </p:grpSpPr>
            <p:sp>
              <p:nvSpPr>
                <p:cNvPr id="83125" name="Rectangle 112"/>
                <p:cNvSpPr/>
                <p:nvPr/>
              </p:nvSpPr>
              <p:spPr>
                <a:xfrm>
                  <a:off x="43" y="442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26" name="Rectangle 130"/>
                <p:cNvSpPr/>
                <p:nvPr/>
              </p:nvSpPr>
              <p:spPr>
                <a:xfrm>
                  <a:off x="0" y="442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092" name="Group 133"/>
              <p:cNvGrpSpPr/>
              <p:nvPr/>
            </p:nvGrpSpPr>
            <p:grpSpPr>
              <a:xfrm>
                <a:off x="417" y="442"/>
                <a:ext cx="334" cy="596"/>
                <a:chOff x="417" y="442"/>
                <a:chExt cx="334" cy="596"/>
              </a:xfrm>
            </p:grpSpPr>
            <p:sp>
              <p:nvSpPr>
                <p:cNvPr id="83123" name="Rectangle 113"/>
                <p:cNvSpPr/>
                <p:nvPr/>
              </p:nvSpPr>
              <p:spPr>
                <a:xfrm>
                  <a:off x="460" y="442"/>
                  <a:ext cx="29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24" name="Rectangle 132"/>
                <p:cNvSpPr/>
                <p:nvPr/>
              </p:nvSpPr>
              <p:spPr>
                <a:xfrm>
                  <a:off x="417" y="442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093" name="Group 135"/>
              <p:cNvGrpSpPr/>
              <p:nvPr/>
            </p:nvGrpSpPr>
            <p:grpSpPr>
              <a:xfrm>
                <a:off x="719" y="442"/>
                <a:ext cx="446" cy="596"/>
                <a:chOff x="719" y="442"/>
                <a:chExt cx="446" cy="596"/>
              </a:xfrm>
            </p:grpSpPr>
            <p:sp>
              <p:nvSpPr>
                <p:cNvPr id="83121" name="Rectangle 114"/>
                <p:cNvSpPr/>
                <p:nvPr/>
              </p:nvSpPr>
              <p:spPr>
                <a:xfrm>
                  <a:off x="762" y="442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5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22" name="Rectangle 134"/>
                <p:cNvSpPr/>
                <p:nvPr/>
              </p:nvSpPr>
              <p:spPr>
                <a:xfrm>
                  <a:off x="719" y="442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094" name="Group 137"/>
              <p:cNvGrpSpPr/>
              <p:nvPr/>
            </p:nvGrpSpPr>
            <p:grpSpPr>
              <a:xfrm>
                <a:off x="0" y="1038"/>
                <a:ext cx="417" cy="596"/>
                <a:chOff x="0" y="1038"/>
                <a:chExt cx="417" cy="596"/>
              </a:xfrm>
            </p:grpSpPr>
            <p:sp>
              <p:nvSpPr>
                <p:cNvPr id="83119" name="Rectangle 115"/>
                <p:cNvSpPr/>
                <p:nvPr/>
              </p:nvSpPr>
              <p:spPr>
                <a:xfrm>
                  <a:off x="43" y="1038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20" name="Rectangle 136"/>
                <p:cNvSpPr/>
                <p:nvPr/>
              </p:nvSpPr>
              <p:spPr>
                <a:xfrm>
                  <a:off x="0" y="1038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095" name="Group 139"/>
              <p:cNvGrpSpPr/>
              <p:nvPr/>
            </p:nvGrpSpPr>
            <p:grpSpPr>
              <a:xfrm>
                <a:off x="417" y="1038"/>
                <a:ext cx="398" cy="596"/>
                <a:chOff x="417" y="1038"/>
                <a:chExt cx="398" cy="596"/>
              </a:xfrm>
            </p:grpSpPr>
            <p:sp>
              <p:nvSpPr>
                <p:cNvPr id="83117" name="Rectangle 116"/>
                <p:cNvSpPr/>
                <p:nvPr/>
              </p:nvSpPr>
              <p:spPr>
                <a:xfrm>
                  <a:off x="460" y="1038"/>
                  <a:ext cx="355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18" name="Rectangle 138"/>
                <p:cNvSpPr/>
                <p:nvPr/>
              </p:nvSpPr>
              <p:spPr>
                <a:xfrm>
                  <a:off x="417" y="1038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096" name="Group 141"/>
              <p:cNvGrpSpPr/>
              <p:nvPr/>
            </p:nvGrpSpPr>
            <p:grpSpPr>
              <a:xfrm>
                <a:off x="719" y="1038"/>
                <a:ext cx="446" cy="596"/>
                <a:chOff x="719" y="1038"/>
                <a:chExt cx="446" cy="596"/>
              </a:xfrm>
            </p:grpSpPr>
            <p:sp>
              <p:nvSpPr>
                <p:cNvPr id="83115" name="Rectangle 117"/>
                <p:cNvSpPr/>
                <p:nvPr/>
              </p:nvSpPr>
              <p:spPr>
                <a:xfrm>
                  <a:off x="762" y="1038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6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16" name="Rectangle 140"/>
                <p:cNvSpPr/>
                <p:nvPr/>
              </p:nvSpPr>
              <p:spPr>
                <a:xfrm>
                  <a:off x="719" y="1038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097" name="Group 143"/>
              <p:cNvGrpSpPr/>
              <p:nvPr/>
            </p:nvGrpSpPr>
            <p:grpSpPr>
              <a:xfrm>
                <a:off x="0" y="1634"/>
                <a:ext cx="417" cy="596"/>
                <a:chOff x="0" y="1634"/>
                <a:chExt cx="417" cy="596"/>
              </a:xfrm>
            </p:grpSpPr>
            <p:sp>
              <p:nvSpPr>
                <p:cNvPr id="83113" name="Rectangle 118"/>
                <p:cNvSpPr/>
                <p:nvPr/>
              </p:nvSpPr>
              <p:spPr>
                <a:xfrm>
                  <a:off x="43" y="1634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14" name="Rectangle 142"/>
                <p:cNvSpPr/>
                <p:nvPr/>
              </p:nvSpPr>
              <p:spPr>
                <a:xfrm>
                  <a:off x="0" y="1634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098" name="Group 145"/>
              <p:cNvGrpSpPr/>
              <p:nvPr/>
            </p:nvGrpSpPr>
            <p:grpSpPr>
              <a:xfrm>
                <a:off x="417" y="1634"/>
                <a:ext cx="334" cy="596"/>
                <a:chOff x="417" y="1634"/>
                <a:chExt cx="334" cy="596"/>
              </a:xfrm>
            </p:grpSpPr>
            <p:sp>
              <p:nvSpPr>
                <p:cNvPr id="83111" name="Rectangle 119"/>
                <p:cNvSpPr/>
                <p:nvPr/>
              </p:nvSpPr>
              <p:spPr>
                <a:xfrm>
                  <a:off x="460" y="1634"/>
                  <a:ext cx="29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3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12" name="Rectangle 144"/>
                <p:cNvSpPr/>
                <p:nvPr/>
              </p:nvSpPr>
              <p:spPr>
                <a:xfrm>
                  <a:off x="417" y="1634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099" name="Group 147"/>
              <p:cNvGrpSpPr/>
              <p:nvPr/>
            </p:nvGrpSpPr>
            <p:grpSpPr>
              <a:xfrm>
                <a:off x="719" y="1634"/>
                <a:ext cx="446" cy="596"/>
                <a:chOff x="719" y="1634"/>
                <a:chExt cx="446" cy="596"/>
              </a:xfrm>
            </p:grpSpPr>
            <p:sp>
              <p:nvSpPr>
                <p:cNvPr id="83109" name="Rectangle 120"/>
                <p:cNvSpPr/>
                <p:nvPr/>
              </p:nvSpPr>
              <p:spPr>
                <a:xfrm>
                  <a:off x="762" y="1634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8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10" name="Rectangle 146"/>
                <p:cNvSpPr/>
                <p:nvPr/>
              </p:nvSpPr>
              <p:spPr>
                <a:xfrm>
                  <a:off x="719" y="1634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100" name="Group 149"/>
              <p:cNvGrpSpPr/>
              <p:nvPr/>
            </p:nvGrpSpPr>
            <p:grpSpPr>
              <a:xfrm>
                <a:off x="0" y="2230"/>
                <a:ext cx="417" cy="596"/>
                <a:chOff x="0" y="2230"/>
                <a:chExt cx="417" cy="596"/>
              </a:xfrm>
            </p:grpSpPr>
            <p:sp>
              <p:nvSpPr>
                <p:cNvPr id="83107" name="Rectangle 121"/>
                <p:cNvSpPr/>
                <p:nvPr/>
              </p:nvSpPr>
              <p:spPr>
                <a:xfrm>
                  <a:off x="43" y="2230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08" name="Rectangle 148"/>
                <p:cNvSpPr/>
                <p:nvPr/>
              </p:nvSpPr>
              <p:spPr>
                <a:xfrm>
                  <a:off x="0" y="2230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101" name="Group 151"/>
              <p:cNvGrpSpPr/>
              <p:nvPr/>
            </p:nvGrpSpPr>
            <p:grpSpPr>
              <a:xfrm>
                <a:off x="417" y="2230"/>
                <a:ext cx="302" cy="596"/>
                <a:chOff x="417" y="2230"/>
                <a:chExt cx="302" cy="596"/>
              </a:xfrm>
            </p:grpSpPr>
            <p:sp>
              <p:nvSpPr>
                <p:cNvPr id="83105" name="Rectangle 122"/>
                <p:cNvSpPr/>
                <p:nvPr/>
              </p:nvSpPr>
              <p:spPr>
                <a:xfrm>
                  <a:off x="460" y="2230"/>
                  <a:ext cx="259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4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06" name="Rectangle 150"/>
                <p:cNvSpPr/>
                <p:nvPr/>
              </p:nvSpPr>
              <p:spPr>
                <a:xfrm>
                  <a:off x="417" y="2230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3102" name="Group 153"/>
              <p:cNvGrpSpPr/>
              <p:nvPr/>
            </p:nvGrpSpPr>
            <p:grpSpPr>
              <a:xfrm>
                <a:off x="719" y="2230"/>
                <a:ext cx="446" cy="596"/>
                <a:chOff x="719" y="2230"/>
                <a:chExt cx="446" cy="596"/>
              </a:xfrm>
            </p:grpSpPr>
            <p:sp>
              <p:nvSpPr>
                <p:cNvPr id="83103" name="Rectangle 123"/>
                <p:cNvSpPr/>
                <p:nvPr/>
              </p:nvSpPr>
              <p:spPr>
                <a:xfrm>
                  <a:off x="762" y="2230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12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3104" name="Rectangle 152"/>
                <p:cNvSpPr/>
                <p:nvPr/>
              </p:nvSpPr>
              <p:spPr>
                <a:xfrm>
                  <a:off x="719" y="2230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83087" name="Rectangle 155"/>
            <p:cNvSpPr/>
            <p:nvPr/>
          </p:nvSpPr>
          <p:spPr>
            <a:xfrm>
              <a:off x="-3" y="-3"/>
              <a:ext cx="1171" cy="2832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82950" name="Group 198"/>
          <p:cNvGrpSpPr/>
          <p:nvPr/>
        </p:nvGrpSpPr>
        <p:grpSpPr>
          <a:xfrm>
            <a:off x="1403350" y="4076700"/>
            <a:ext cx="1595438" cy="2443163"/>
            <a:chOff x="3744" y="1392"/>
            <a:chExt cx="1164" cy="2038"/>
          </a:xfrm>
        </p:grpSpPr>
        <p:grpSp>
          <p:nvGrpSpPr>
            <p:cNvPr id="83049" name="Group 170"/>
            <p:cNvGrpSpPr/>
            <p:nvPr/>
          </p:nvGrpSpPr>
          <p:grpSpPr>
            <a:xfrm>
              <a:off x="3748" y="1394"/>
              <a:ext cx="538" cy="336"/>
              <a:chOff x="0" y="0"/>
              <a:chExt cx="360" cy="499"/>
            </a:xfrm>
          </p:grpSpPr>
          <p:sp>
            <p:nvSpPr>
              <p:cNvPr id="83084" name="Rectangle 157"/>
              <p:cNvSpPr/>
              <p:nvPr/>
            </p:nvSpPr>
            <p:spPr>
              <a:xfrm>
                <a:off x="43" y="0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cs typeface="Times New Roman" panose="02020603050405020304" pitchFamily="18" charset="0"/>
                  </a:rPr>
                  <a:t>B</a:t>
                </a:r>
                <a:endParaRPr lang="en-US" altLang="zh-CN" sz="2400" b="1" i="1" dirty="0">
                  <a:latin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85" name="Rectangle 169"/>
              <p:cNvSpPr/>
              <p:nvPr/>
            </p:nvSpPr>
            <p:spPr>
              <a:xfrm>
                <a:off x="0" y="0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3050" name="Group 172"/>
            <p:cNvGrpSpPr/>
            <p:nvPr/>
          </p:nvGrpSpPr>
          <p:grpSpPr>
            <a:xfrm>
              <a:off x="4286" y="1394"/>
              <a:ext cx="558" cy="336"/>
              <a:chOff x="360" y="0"/>
              <a:chExt cx="374" cy="499"/>
            </a:xfrm>
          </p:grpSpPr>
          <p:sp>
            <p:nvSpPr>
              <p:cNvPr id="83082" name="Rectangle 158"/>
              <p:cNvSpPr/>
              <p:nvPr/>
            </p:nvSpPr>
            <p:spPr>
              <a:xfrm>
                <a:off x="403" y="0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E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83" name="Rectangle 171"/>
              <p:cNvSpPr/>
              <p:nvPr/>
            </p:nvSpPr>
            <p:spPr>
              <a:xfrm>
                <a:off x="360" y="0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3051" name="Group 174"/>
            <p:cNvGrpSpPr/>
            <p:nvPr/>
          </p:nvGrpSpPr>
          <p:grpSpPr>
            <a:xfrm>
              <a:off x="3748" y="1730"/>
              <a:ext cx="538" cy="335"/>
              <a:chOff x="0" y="499"/>
              <a:chExt cx="360" cy="499"/>
            </a:xfrm>
          </p:grpSpPr>
          <p:sp>
            <p:nvSpPr>
              <p:cNvPr id="83080" name="Rectangle 159"/>
              <p:cNvSpPr/>
              <p:nvPr/>
            </p:nvSpPr>
            <p:spPr>
              <a:xfrm>
                <a:off x="43" y="499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81" name="Rectangle 173"/>
              <p:cNvSpPr/>
              <p:nvPr/>
            </p:nvSpPr>
            <p:spPr>
              <a:xfrm>
                <a:off x="0" y="499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3052" name="Group 176"/>
            <p:cNvGrpSpPr/>
            <p:nvPr/>
          </p:nvGrpSpPr>
          <p:grpSpPr>
            <a:xfrm>
              <a:off x="4286" y="1730"/>
              <a:ext cx="558" cy="335"/>
              <a:chOff x="360" y="499"/>
              <a:chExt cx="374" cy="499"/>
            </a:xfrm>
          </p:grpSpPr>
          <p:sp>
            <p:nvSpPr>
              <p:cNvPr id="83078" name="Rectangle 160"/>
              <p:cNvSpPr/>
              <p:nvPr/>
            </p:nvSpPr>
            <p:spPr>
              <a:xfrm>
                <a:off x="403" y="499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3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79" name="Rectangle 175"/>
              <p:cNvSpPr/>
              <p:nvPr/>
            </p:nvSpPr>
            <p:spPr>
              <a:xfrm>
                <a:off x="360" y="499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3053" name="Group 178"/>
            <p:cNvGrpSpPr/>
            <p:nvPr/>
          </p:nvGrpSpPr>
          <p:grpSpPr>
            <a:xfrm>
              <a:off x="3748" y="2065"/>
              <a:ext cx="538" cy="336"/>
              <a:chOff x="0" y="998"/>
              <a:chExt cx="360" cy="499"/>
            </a:xfrm>
          </p:grpSpPr>
          <p:sp>
            <p:nvSpPr>
              <p:cNvPr id="83076" name="Rectangle 161"/>
              <p:cNvSpPr/>
              <p:nvPr/>
            </p:nvSpPr>
            <p:spPr>
              <a:xfrm>
                <a:off x="43" y="998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77" name="Rectangle 177"/>
              <p:cNvSpPr/>
              <p:nvPr/>
            </p:nvSpPr>
            <p:spPr>
              <a:xfrm>
                <a:off x="0" y="998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3054" name="Group 180"/>
            <p:cNvGrpSpPr/>
            <p:nvPr/>
          </p:nvGrpSpPr>
          <p:grpSpPr>
            <a:xfrm>
              <a:off x="4286" y="2065"/>
              <a:ext cx="558" cy="336"/>
              <a:chOff x="360" y="998"/>
              <a:chExt cx="374" cy="499"/>
            </a:xfrm>
          </p:grpSpPr>
          <p:sp>
            <p:nvSpPr>
              <p:cNvPr id="83074" name="Rectangle 162"/>
              <p:cNvSpPr/>
              <p:nvPr/>
            </p:nvSpPr>
            <p:spPr>
              <a:xfrm>
                <a:off x="403" y="998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7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75" name="Rectangle 179"/>
              <p:cNvSpPr/>
              <p:nvPr/>
            </p:nvSpPr>
            <p:spPr>
              <a:xfrm>
                <a:off x="360" y="998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3055" name="Group 182"/>
            <p:cNvGrpSpPr/>
            <p:nvPr/>
          </p:nvGrpSpPr>
          <p:grpSpPr>
            <a:xfrm>
              <a:off x="3748" y="2401"/>
              <a:ext cx="538" cy="349"/>
              <a:chOff x="0" y="1497"/>
              <a:chExt cx="360" cy="710"/>
            </a:xfrm>
          </p:grpSpPr>
          <p:sp>
            <p:nvSpPr>
              <p:cNvPr id="83072" name="Rectangle 163"/>
              <p:cNvSpPr/>
              <p:nvPr/>
            </p:nvSpPr>
            <p:spPr>
              <a:xfrm>
                <a:off x="43" y="1497"/>
                <a:ext cx="274" cy="7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73" name="Rectangle 181"/>
              <p:cNvSpPr/>
              <p:nvPr/>
            </p:nvSpPr>
            <p:spPr>
              <a:xfrm>
                <a:off x="0" y="1497"/>
                <a:ext cx="360" cy="71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3056" name="Group 184"/>
            <p:cNvGrpSpPr/>
            <p:nvPr/>
          </p:nvGrpSpPr>
          <p:grpSpPr>
            <a:xfrm>
              <a:off x="4286" y="2401"/>
              <a:ext cx="622" cy="349"/>
              <a:chOff x="360" y="1497"/>
              <a:chExt cx="417" cy="710"/>
            </a:xfrm>
          </p:grpSpPr>
          <p:sp>
            <p:nvSpPr>
              <p:cNvPr id="83070" name="Rectangle 164"/>
              <p:cNvSpPr/>
              <p:nvPr/>
            </p:nvSpPr>
            <p:spPr>
              <a:xfrm>
                <a:off x="403" y="1497"/>
                <a:ext cx="374" cy="7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10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71" name="Rectangle 183"/>
              <p:cNvSpPr/>
              <p:nvPr/>
            </p:nvSpPr>
            <p:spPr>
              <a:xfrm>
                <a:off x="360" y="1497"/>
                <a:ext cx="374" cy="71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3057" name="Group 186"/>
            <p:cNvGrpSpPr/>
            <p:nvPr/>
          </p:nvGrpSpPr>
          <p:grpSpPr>
            <a:xfrm>
              <a:off x="3748" y="2750"/>
              <a:ext cx="538" cy="335"/>
              <a:chOff x="0" y="2207"/>
              <a:chExt cx="360" cy="499"/>
            </a:xfrm>
          </p:grpSpPr>
          <p:sp>
            <p:nvSpPr>
              <p:cNvPr id="83068" name="Rectangle 165"/>
              <p:cNvSpPr/>
              <p:nvPr/>
            </p:nvSpPr>
            <p:spPr>
              <a:xfrm>
                <a:off x="43" y="2207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69" name="Rectangle 185"/>
              <p:cNvSpPr/>
              <p:nvPr/>
            </p:nvSpPr>
            <p:spPr>
              <a:xfrm>
                <a:off x="0" y="2207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3058" name="Group 188"/>
            <p:cNvGrpSpPr/>
            <p:nvPr/>
          </p:nvGrpSpPr>
          <p:grpSpPr>
            <a:xfrm>
              <a:off x="4286" y="2750"/>
              <a:ext cx="558" cy="335"/>
              <a:chOff x="360" y="2207"/>
              <a:chExt cx="374" cy="499"/>
            </a:xfrm>
          </p:grpSpPr>
          <p:sp>
            <p:nvSpPr>
              <p:cNvPr id="83066" name="Rectangle 166"/>
              <p:cNvSpPr/>
              <p:nvPr/>
            </p:nvSpPr>
            <p:spPr>
              <a:xfrm>
                <a:off x="403" y="2207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2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67" name="Rectangle 187"/>
              <p:cNvSpPr/>
              <p:nvPr/>
            </p:nvSpPr>
            <p:spPr>
              <a:xfrm>
                <a:off x="360" y="2207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3059" name="Group 190"/>
            <p:cNvGrpSpPr/>
            <p:nvPr/>
          </p:nvGrpSpPr>
          <p:grpSpPr>
            <a:xfrm>
              <a:off x="3748" y="3085"/>
              <a:ext cx="538" cy="336"/>
              <a:chOff x="0" y="2706"/>
              <a:chExt cx="360" cy="499"/>
            </a:xfrm>
          </p:grpSpPr>
          <p:sp>
            <p:nvSpPr>
              <p:cNvPr id="83064" name="Rectangle 167"/>
              <p:cNvSpPr/>
              <p:nvPr/>
            </p:nvSpPr>
            <p:spPr>
              <a:xfrm>
                <a:off x="43" y="2706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5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65" name="Rectangle 189"/>
              <p:cNvSpPr/>
              <p:nvPr/>
            </p:nvSpPr>
            <p:spPr>
              <a:xfrm>
                <a:off x="0" y="2706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3060" name="Group 192"/>
            <p:cNvGrpSpPr/>
            <p:nvPr/>
          </p:nvGrpSpPr>
          <p:grpSpPr>
            <a:xfrm>
              <a:off x="4286" y="3085"/>
              <a:ext cx="558" cy="336"/>
              <a:chOff x="360" y="2706"/>
              <a:chExt cx="374" cy="499"/>
            </a:xfrm>
          </p:grpSpPr>
          <p:sp>
            <p:nvSpPr>
              <p:cNvPr id="83062" name="Rectangle 168"/>
              <p:cNvSpPr/>
              <p:nvPr/>
            </p:nvSpPr>
            <p:spPr>
              <a:xfrm>
                <a:off x="403" y="2706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2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63" name="Rectangle 191"/>
              <p:cNvSpPr/>
              <p:nvPr/>
            </p:nvSpPr>
            <p:spPr>
              <a:xfrm>
                <a:off x="360" y="2706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83061" name="Rectangle 194"/>
            <p:cNvSpPr/>
            <p:nvPr/>
          </p:nvSpPr>
          <p:spPr>
            <a:xfrm>
              <a:off x="3744" y="1392"/>
              <a:ext cx="1104" cy="2038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sp>
        <p:nvSpPr>
          <p:cNvPr id="82951" name="Rectangle 196"/>
          <p:cNvSpPr/>
          <p:nvPr/>
        </p:nvSpPr>
        <p:spPr>
          <a:xfrm>
            <a:off x="-396875" y="1484313"/>
            <a:ext cx="1295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p>
            <a:pPr algn="ctr" eaLnBrk="1" hangingPunct="1"/>
            <a:r>
              <a:rPr lang="en-US" altLang="zh-CN" sz="2400" b="1" i="1" dirty="0">
                <a:latin typeface="Verdana" panose="020B0604030504040204" pitchFamily="34" charset="0"/>
              </a:rPr>
              <a:t>R</a:t>
            </a:r>
            <a:endParaRPr lang="en-US" altLang="zh-CN" sz="2400" b="1" i="1" dirty="0">
              <a:latin typeface="Verdana" panose="020B0604030504040204" pitchFamily="34" charset="0"/>
            </a:endParaRPr>
          </a:p>
        </p:txBody>
      </p:sp>
      <p:sp>
        <p:nvSpPr>
          <p:cNvPr id="82952" name="Rectangle 197"/>
          <p:cNvSpPr/>
          <p:nvPr/>
        </p:nvSpPr>
        <p:spPr>
          <a:xfrm>
            <a:off x="-252412" y="4292600"/>
            <a:ext cx="1524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p>
            <a:pPr algn="ctr" eaLnBrk="1" hangingPunct="1"/>
            <a:r>
              <a:rPr lang="en-US" altLang="zh-CN" sz="2400" b="1" i="1" dirty="0">
                <a:latin typeface="Verdana" panose="020B0604030504040204" pitchFamily="34" charset="0"/>
              </a:rPr>
              <a:t>S</a:t>
            </a:r>
            <a:endParaRPr lang="en-US" altLang="zh-CN" sz="2400" b="1" i="1" dirty="0">
              <a:latin typeface="Verdana" panose="020B0604030504040204" pitchFamily="34" charset="0"/>
            </a:endParaRPr>
          </a:p>
        </p:txBody>
      </p:sp>
      <p:grpSp>
        <p:nvGrpSpPr>
          <p:cNvPr id="97469" name="Group 291"/>
          <p:cNvGrpSpPr/>
          <p:nvPr/>
        </p:nvGrpSpPr>
        <p:grpSpPr>
          <a:xfrm>
            <a:off x="3348038" y="2420938"/>
            <a:ext cx="5394325" cy="3335337"/>
            <a:chOff x="1296" y="1525"/>
            <a:chExt cx="3024" cy="2101"/>
          </a:xfrm>
        </p:grpSpPr>
        <p:grpSp>
          <p:nvGrpSpPr>
            <p:cNvPr id="82958" name="Group 292"/>
            <p:cNvGrpSpPr/>
            <p:nvPr/>
          </p:nvGrpSpPr>
          <p:grpSpPr>
            <a:xfrm>
              <a:off x="1302" y="1526"/>
              <a:ext cx="598" cy="316"/>
              <a:chOff x="0" y="0"/>
              <a:chExt cx="322" cy="1038"/>
            </a:xfrm>
          </p:grpSpPr>
          <p:sp>
            <p:nvSpPr>
              <p:cNvPr id="83047" name="Rectangle 293"/>
              <p:cNvSpPr/>
              <p:nvPr/>
            </p:nvSpPr>
            <p:spPr>
              <a:xfrm>
                <a:off x="43" y="0"/>
                <a:ext cx="236" cy="10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48" name="Rectangle 294"/>
              <p:cNvSpPr/>
              <p:nvPr/>
            </p:nvSpPr>
            <p:spPr>
              <a:xfrm>
                <a:off x="0" y="0"/>
                <a:ext cx="322" cy="103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59" name="Group 295"/>
            <p:cNvGrpSpPr/>
            <p:nvPr/>
          </p:nvGrpSpPr>
          <p:grpSpPr>
            <a:xfrm>
              <a:off x="1900" y="1526"/>
              <a:ext cx="644" cy="316"/>
              <a:chOff x="322" y="0"/>
              <a:chExt cx="347" cy="1038"/>
            </a:xfrm>
          </p:grpSpPr>
          <p:sp>
            <p:nvSpPr>
              <p:cNvPr id="83045" name="Rectangle 296"/>
              <p:cNvSpPr/>
              <p:nvPr/>
            </p:nvSpPr>
            <p:spPr>
              <a:xfrm>
                <a:off x="365" y="0"/>
                <a:ext cx="261" cy="10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solidFill>
                      <a:srgbClr val="0033CC"/>
                    </a:solidFill>
                    <a:latin typeface="Verdana" panose="020B0604030504040204" pitchFamily="34" charset="0"/>
                  </a:rPr>
                  <a:t>R.B</a:t>
                </a:r>
                <a:endParaRPr lang="en-US" altLang="zh-CN" sz="2800" b="1" dirty="0">
                  <a:solidFill>
                    <a:srgbClr val="0033CC"/>
                  </a:solidFill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46" name="Rectangle 297"/>
              <p:cNvSpPr/>
              <p:nvPr/>
            </p:nvSpPr>
            <p:spPr>
              <a:xfrm>
                <a:off x="322" y="0"/>
                <a:ext cx="347" cy="103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60" name="Group 298"/>
            <p:cNvGrpSpPr/>
            <p:nvPr/>
          </p:nvGrpSpPr>
          <p:grpSpPr>
            <a:xfrm>
              <a:off x="2544" y="1526"/>
              <a:ext cx="559" cy="316"/>
              <a:chOff x="669" y="0"/>
              <a:chExt cx="301" cy="1038"/>
            </a:xfrm>
          </p:grpSpPr>
          <p:sp>
            <p:nvSpPr>
              <p:cNvPr id="83043" name="Rectangle 299"/>
              <p:cNvSpPr/>
              <p:nvPr/>
            </p:nvSpPr>
            <p:spPr>
              <a:xfrm>
                <a:off x="712" y="0"/>
                <a:ext cx="215" cy="10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C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44" name="Rectangle 300"/>
              <p:cNvSpPr/>
              <p:nvPr/>
            </p:nvSpPr>
            <p:spPr>
              <a:xfrm>
                <a:off x="669" y="0"/>
                <a:ext cx="301" cy="103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61" name="Group 301"/>
            <p:cNvGrpSpPr/>
            <p:nvPr/>
          </p:nvGrpSpPr>
          <p:grpSpPr>
            <a:xfrm>
              <a:off x="3102" y="1526"/>
              <a:ext cx="681" cy="316"/>
              <a:chOff x="970" y="0"/>
              <a:chExt cx="367" cy="1038"/>
            </a:xfrm>
          </p:grpSpPr>
          <p:sp>
            <p:nvSpPr>
              <p:cNvPr id="83041" name="Rectangle 302"/>
              <p:cNvSpPr/>
              <p:nvPr/>
            </p:nvSpPr>
            <p:spPr>
              <a:xfrm>
                <a:off x="1013" y="0"/>
                <a:ext cx="324" cy="10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solidFill>
                      <a:srgbClr val="0033CC"/>
                    </a:solidFill>
                    <a:latin typeface="Verdana" panose="020B0604030504040204" pitchFamily="34" charset="0"/>
                  </a:rPr>
                  <a:t>S.B</a:t>
                </a:r>
                <a:endParaRPr lang="en-US" altLang="zh-CN" sz="2800" b="1" dirty="0">
                  <a:solidFill>
                    <a:srgbClr val="0033CC"/>
                  </a:solidFill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42" name="Rectangle 303"/>
              <p:cNvSpPr/>
              <p:nvPr/>
            </p:nvSpPr>
            <p:spPr>
              <a:xfrm>
                <a:off x="970" y="0"/>
                <a:ext cx="321" cy="103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62" name="Group 304"/>
            <p:cNvGrpSpPr/>
            <p:nvPr/>
          </p:nvGrpSpPr>
          <p:grpSpPr>
            <a:xfrm>
              <a:off x="3699" y="1526"/>
              <a:ext cx="615" cy="316"/>
              <a:chOff x="1291" y="0"/>
              <a:chExt cx="331" cy="1038"/>
            </a:xfrm>
          </p:grpSpPr>
          <p:sp>
            <p:nvSpPr>
              <p:cNvPr id="83039" name="Rectangle 305"/>
              <p:cNvSpPr/>
              <p:nvPr/>
            </p:nvSpPr>
            <p:spPr>
              <a:xfrm>
                <a:off x="1334" y="0"/>
                <a:ext cx="245" cy="10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E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40" name="Rectangle 306"/>
              <p:cNvSpPr/>
              <p:nvPr/>
            </p:nvSpPr>
            <p:spPr>
              <a:xfrm>
                <a:off x="1291" y="0"/>
                <a:ext cx="331" cy="103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63" name="Group 307"/>
            <p:cNvGrpSpPr/>
            <p:nvPr/>
          </p:nvGrpSpPr>
          <p:grpSpPr>
            <a:xfrm>
              <a:off x="1302" y="1842"/>
              <a:ext cx="598" cy="357"/>
              <a:chOff x="0" y="1038"/>
              <a:chExt cx="322" cy="788"/>
            </a:xfrm>
          </p:grpSpPr>
          <p:sp>
            <p:nvSpPr>
              <p:cNvPr id="83037" name="Rectangle 308"/>
              <p:cNvSpPr/>
              <p:nvPr/>
            </p:nvSpPr>
            <p:spPr>
              <a:xfrm>
                <a:off x="43" y="1038"/>
                <a:ext cx="236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38" name="Rectangle 309"/>
              <p:cNvSpPr/>
              <p:nvPr/>
            </p:nvSpPr>
            <p:spPr>
              <a:xfrm>
                <a:off x="0" y="1038"/>
                <a:ext cx="322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64" name="Group 310"/>
            <p:cNvGrpSpPr/>
            <p:nvPr/>
          </p:nvGrpSpPr>
          <p:grpSpPr>
            <a:xfrm>
              <a:off x="1900" y="1842"/>
              <a:ext cx="644" cy="357"/>
              <a:chOff x="322" y="1038"/>
              <a:chExt cx="347" cy="788"/>
            </a:xfrm>
          </p:grpSpPr>
          <p:sp>
            <p:nvSpPr>
              <p:cNvPr id="83035" name="Rectangle 311"/>
              <p:cNvSpPr/>
              <p:nvPr/>
            </p:nvSpPr>
            <p:spPr>
              <a:xfrm>
                <a:off x="365" y="1038"/>
                <a:ext cx="261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36" name="Rectangle 312"/>
              <p:cNvSpPr/>
              <p:nvPr/>
            </p:nvSpPr>
            <p:spPr>
              <a:xfrm>
                <a:off x="322" y="1038"/>
                <a:ext cx="347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65" name="Group 313"/>
            <p:cNvGrpSpPr/>
            <p:nvPr/>
          </p:nvGrpSpPr>
          <p:grpSpPr>
            <a:xfrm>
              <a:off x="2544" y="1842"/>
              <a:ext cx="559" cy="357"/>
              <a:chOff x="669" y="1038"/>
              <a:chExt cx="301" cy="788"/>
            </a:xfrm>
          </p:grpSpPr>
          <p:sp>
            <p:nvSpPr>
              <p:cNvPr id="83033" name="Rectangle 314"/>
              <p:cNvSpPr/>
              <p:nvPr/>
            </p:nvSpPr>
            <p:spPr>
              <a:xfrm>
                <a:off x="712" y="1038"/>
                <a:ext cx="21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5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34" name="Rectangle 315"/>
              <p:cNvSpPr/>
              <p:nvPr/>
            </p:nvSpPr>
            <p:spPr>
              <a:xfrm>
                <a:off x="669" y="1038"/>
                <a:ext cx="30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66" name="Group 316"/>
            <p:cNvGrpSpPr/>
            <p:nvPr/>
          </p:nvGrpSpPr>
          <p:grpSpPr>
            <a:xfrm>
              <a:off x="3103" y="1842"/>
              <a:ext cx="596" cy="357"/>
              <a:chOff x="970" y="1038"/>
              <a:chExt cx="321" cy="788"/>
            </a:xfrm>
          </p:grpSpPr>
          <p:sp>
            <p:nvSpPr>
              <p:cNvPr id="83031" name="Rectangle 317"/>
              <p:cNvSpPr/>
              <p:nvPr/>
            </p:nvSpPr>
            <p:spPr>
              <a:xfrm>
                <a:off x="1013" y="1038"/>
                <a:ext cx="23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32" name="Rectangle 318"/>
              <p:cNvSpPr/>
              <p:nvPr/>
            </p:nvSpPr>
            <p:spPr>
              <a:xfrm>
                <a:off x="970" y="1038"/>
                <a:ext cx="32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67" name="Group 319"/>
            <p:cNvGrpSpPr/>
            <p:nvPr/>
          </p:nvGrpSpPr>
          <p:grpSpPr>
            <a:xfrm>
              <a:off x="3699" y="1842"/>
              <a:ext cx="615" cy="357"/>
              <a:chOff x="1291" y="1038"/>
              <a:chExt cx="331" cy="788"/>
            </a:xfrm>
          </p:grpSpPr>
          <p:sp>
            <p:nvSpPr>
              <p:cNvPr id="83029" name="Rectangle 320"/>
              <p:cNvSpPr/>
              <p:nvPr/>
            </p:nvSpPr>
            <p:spPr>
              <a:xfrm>
                <a:off x="1334" y="1038"/>
                <a:ext cx="24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7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30" name="Rectangle 321"/>
              <p:cNvSpPr/>
              <p:nvPr/>
            </p:nvSpPr>
            <p:spPr>
              <a:xfrm>
                <a:off x="1291" y="1038"/>
                <a:ext cx="33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68" name="Group 322"/>
            <p:cNvGrpSpPr/>
            <p:nvPr/>
          </p:nvGrpSpPr>
          <p:grpSpPr>
            <a:xfrm>
              <a:off x="1302" y="2199"/>
              <a:ext cx="598" cy="357"/>
              <a:chOff x="0" y="1826"/>
              <a:chExt cx="322" cy="788"/>
            </a:xfrm>
          </p:grpSpPr>
          <p:sp>
            <p:nvSpPr>
              <p:cNvPr id="83027" name="Rectangle 323"/>
              <p:cNvSpPr/>
              <p:nvPr/>
            </p:nvSpPr>
            <p:spPr>
              <a:xfrm>
                <a:off x="43" y="1826"/>
                <a:ext cx="236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28" name="Rectangle 324"/>
              <p:cNvSpPr/>
              <p:nvPr/>
            </p:nvSpPr>
            <p:spPr>
              <a:xfrm>
                <a:off x="0" y="1826"/>
                <a:ext cx="322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69" name="Group 325"/>
            <p:cNvGrpSpPr/>
            <p:nvPr/>
          </p:nvGrpSpPr>
          <p:grpSpPr>
            <a:xfrm>
              <a:off x="1900" y="2199"/>
              <a:ext cx="644" cy="357"/>
              <a:chOff x="322" y="1826"/>
              <a:chExt cx="347" cy="788"/>
            </a:xfrm>
          </p:grpSpPr>
          <p:sp>
            <p:nvSpPr>
              <p:cNvPr id="83025" name="Rectangle 326"/>
              <p:cNvSpPr/>
              <p:nvPr/>
            </p:nvSpPr>
            <p:spPr>
              <a:xfrm>
                <a:off x="365" y="1826"/>
                <a:ext cx="261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26" name="Rectangle 327"/>
              <p:cNvSpPr/>
              <p:nvPr/>
            </p:nvSpPr>
            <p:spPr>
              <a:xfrm>
                <a:off x="322" y="1826"/>
                <a:ext cx="347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70" name="Group 328"/>
            <p:cNvGrpSpPr/>
            <p:nvPr/>
          </p:nvGrpSpPr>
          <p:grpSpPr>
            <a:xfrm>
              <a:off x="2544" y="2199"/>
              <a:ext cx="559" cy="357"/>
              <a:chOff x="669" y="1826"/>
              <a:chExt cx="301" cy="788"/>
            </a:xfrm>
          </p:grpSpPr>
          <p:sp>
            <p:nvSpPr>
              <p:cNvPr id="83023" name="Rectangle 329"/>
              <p:cNvSpPr/>
              <p:nvPr/>
            </p:nvSpPr>
            <p:spPr>
              <a:xfrm>
                <a:off x="712" y="1826"/>
                <a:ext cx="21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5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24" name="Rectangle 330"/>
              <p:cNvSpPr/>
              <p:nvPr/>
            </p:nvSpPr>
            <p:spPr>
              <a:xfrm>
                <a:off x="669" y="1826"/>
                <a:ext cx="30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71" name="Group 331"/>
            <p:cNvGrpSpPr/>
            <p:nvPr/>
          </p:nvGrpSpPr>
          <p:grpSpPr>
            <a:xfrm>
              <a:off x="3103" y="2199"/>
              <a:ext cx="596" cy="357"/>
              <a:chOff x="970" y="1826"/>
              <a:chExt cx="321" cy="788"/>
            </a:xfrm>
          </p:grpSpPr>
          <p:sp>
            <p:nvSpPr>
              <p:cNvPr id="83021" name="Rectangle 332"/>
              <p:cNvSpPr/>
              <p:nvPr/>
            </p:nvSpPr>
            <p:spPr>
              <a:xfrm>
                <a:off x="1013" y="1826"/>
                <a:ext cx="23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22" name="Rectangle 333"/>
              <p:cNvSpPr/>
              <p:nvPr/>
            </p:nvSpPr>
            <p:spPr>
              <a:xfrm>
                <a:off x="970" y="1826"/>
                <a:ext cx="32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72" name="Group 334"/>
            <p:cNvGrpSpPr/>
            <p:nvPr/>
          </p:nvGrpSpPr>
          <p:grpSpPr>
            <a:xfrm>
              <a:off x="3699" y="2199"/>
              <a:ext cx="615" cy="357"/>
              <a:chOff x="1291" y="1826"/>
              <a:chExt cx="331" cy="788"/>
            </a:xfrm>
          </p:grpSpPr>
          <p:sp>
            <p:nvSpPr>
              <p:cNvPr id="83019" name="Rectangle 335"/>
              <p:cNvSpPr/>
              <p:nvPr/>
            </p:nvSpPr>
            <p:spPr>
              <a:xfrm>
                <a:off x="1334" y="1826"/>
                <a:ext cx="24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10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20" name="Rectangle 336"/>
              <p:cNvSpPr/>
              <p:nvPr/>
            </p:nvSpPr>
            <p:spPr>
              <a:xfrm>
                <a:off x="1291" y="1826"/>
                <a:ext cx="33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73" name="Group 337"/>
            <p:cNvGrpSpPr/>
            <p:nvPr/>
          </p:nvGrpSpPr>
          <p:grpSpPr>
            <a:xfrm>
              <a:off x="1302" y="2556"/>
              <a:ext cx="598" cy="356"/>
              <a:chOff x="0" y="2614"/>
              <a:chExt cx="322" cy="788"/>
            </a:xfrm>
          </p:grpSpPr>
          <p:sp>
            <p:nvSpPr>
              <p:cNvPr id="83017" name="Rectangle 338"/>
              <p:cNvSpPr/>
              <p:nvPr/>
            </p:nvSpPr>
            <p:spPr>
              <a:xfrm>
                <a:off x="43" y="2614"/>
                <a:ext cx="236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18" name="Rectangle 339"/>
              <p:cNvSpPr/>
              <p:nvPr/>
            </p:nvSpPr>
            <p:spPr>
              <a:xfrm>
                <a:off x="0" y="2614"/>
                <a:ext cx="322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74" name="Group 340"/>
            <p:cNvGrpSpPr/>
            <p:nvPr/>
          </p:nvGrpSpPr>
          <p:grpSpPr>
            <a:xfrm>
              <a:off x="1900" y="2556"/>
              <a:ext cx="644" cy="356"/>
              <a:chOff x="322" y="2614"/>
              <a:chExt cx="347" cy="788"/>
            </a:xfrm>
          </p:grpSpPr>
          <p:sp>
            <p:nvSpPr>
              <p:cNvPr id="83015" name="Rectangle 341"/>
              <p:cNvSpPr/>
              <p:nvPr/>
            </p:nvSpPr>
            <p:spPr>
              <a:xfrm>
                <a:off x="365" y="2614"/>
                <a:ext cx="261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16" name="Rectangle 342"/>
              <p:cNvSpPr/>
              <p:nvPr/>
            </p:nvSpPr>
            <p:spPr>
              <a:xfrm>
                <a:off x="322" y="2614"/>
                <a:ext cx="347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75" name="Group 343"/>
            <p:cNvGrpSpPr/>
            <p:nvPr/>
          </p:nvGrpSpPr>
          <p:grpSpPr>
            <a:xfrm>
              <a:off x="2544" y="2556"/>
              <a:ext cx="559" cy="356"/>
              <a:chOff x="669" y="2614"/>
              <a:chExt cx="301" cy="788"/>
            </a:xfrm>
          </p:grpSpPr>
          <p:sp>
            <p:nvSpPr>
              <p:cNvPr id="83013" name="Rectangle 344"/>
              <p:cNvSpPr/>
              <p:nvPr/>
            </p:nvSpPr>
            <p:spPr>
              <a:xfrm>
                <a:off x="712" y="2614"/>
                <a:ext cx="21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6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14" name="Rectangle 345"/>
              <p:cNvSpPr/>
              <p:nvPr/>
            </p:nvSpPr>
            <p:spPr>
              <a:xfrm>
                <a:off x="669" y="2614"/>
                <a:ext cx="30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76" name="Group 346"/>
            <p:cNvGrpSpPr/>
            <p:nvPr/>
          </p:nvGrpSpPr>
          <p:grpSpPr>
            <a:xfrm>
              <a:off x="3103" y="2556"/>
              <a:ext cx="596" cy="356"/>
              <a:chOff x="970" y="2614"/>
              <a:chExt cx="321" cy="788"/>
            </a:xfrm>
          </p:grpSpPr>
          <p:sp>
            <p:nvSpPr>
              <p:cNvPr id="83011" name="Rectangle 347"/>
              <p:cNvSpPr/>
              <p:nvPr/>
            </p:nvSpPr>
            <p:spPr>
              <a:xfrm>
                <a:off x="1013" y="2614"/>
                <a:ext cx="23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12" name="Rectangle 348"/>
              <p:cNvSpPr/>
              <p:nvPr/>
            </p:nvSpPr>
            <p:spPr>
              <a:xfrm>
                <a:off x="970" y="2614"/>
                <a:ext cx="32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77" name="Group 349"/>
            <p:cNvGrpSpPr/>
            <p:nvPr/>
          </p:nvGrpSpPr>
          <p:grpSpPr>
            <a:xfrm>
              <a:off x="3699" y="2556"/>
              <a:ext cx="615" cy="356"/>
              <a:chOff x="1291" y="2614"/>
              <a:chExt cx="331" cy="788"/>
            </a:xfrm>
          </p:grpSpPr>
          <p:sp>
            <p:nvSpPr>
              <p:cNvPr id="83009" name="Rectangle 350"/>
              <p:cNvSpPr/>
              <p:nvPr/>
            </p:nvSpPr>
            <p:spPr>
              <a:xfrm>
                <a:off x="1334" y="2614"/>
                <a:ext cx="24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7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10" name="Rectangle 351"/>
              <p:cNvSpPr/>
              <p:nvPr/>
            </p:nvSpPr>
            <p:spPr>
              <a:xfrm>
                <a:off x="1291" y="2614"/>
                <a:ext cx="33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78" name="Group 352"/>
            <p:cNvGrpSpPr/>
            <p:nvPr/>
          </p:nvGrpSpPr>
          <p:grpSpPr>
            <a:xfrm>
              <a:off x="1302" y="2912"/>
              <a:ext cx="598" cy="357"/>
              <a:chOff x="0" y="3402"/>
              <a:chExt cx="322" cy="788"/>
            </a:xfrm>
          </p:grpSpPr>
          <p:sp>
            <p:nvSpPr>
              <p:cNvPr id="83007" name="Rectangle 353"/>
              <p:cNvSpPr/>
              <p:nvPr/>
            </p:nvSpPr>
            <p:spPr>
              <a:xfrm>
                <a:off x="43" y="3402"/>
                <a:ext cx="236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08" name="Rectangle 354"/>
              <p:cNvSpPr/>
              <p:nvPr/>
            </p:nvSpPr>
            <p:spPr>
              <a:xfrm>
                <a:off x="0" y="3402"/>
                <a:ext cx="322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79" name="Group 355"/>
            <p:cNvGrpSpPr/>
            <p:nvPr/>
          </p:nvGrpSpPr>
          <p:grpSpPr>
            <a:xfrm>
              <a:off x="1900" y="2912"/>
              <a:ext cx="644" cy="357"/>
              <a:chOff x="322" y="3402"/>
              <a:chExt cx="347" cy="788"/>
            </a:xfrm>
          </p:grpSpPr>
          <p:sp>
            <p:nvSpPr>
              <p:cNvPr id="83005" name="Rectangle 356"/>
              <p:cNvSpPr/>
              <p:nvPr/>
            </p:nvSpPr>
            <p:spPr>
              <a:xfrm>
                <a:off x="365" y="3402"/>
                <a:ext cx="261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06" name="Rectangle 357"/>
              <p:cNvSpPr/>
              <p:nvPr/>
            </p:nvSpPr>
            <p:spPr>
              <a:xfrm>
                <a:off x="322" y="3402"/>
                <a:ext cx="347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80" name="Group 358"/>
            <p:cNvGrpSpPr/>
            <p:nvPr/>
          </p:nvGrpSpPr>
          <p:grpSpPr>
            <a:xfrm>
              <a:off x="2544" y="2912"/>
              <a:ext cx="559" cy="357"/>
              <a:chOff x="669" y="3402"/>
              <a:chExt cx="301" cy="788"/>
            </a:xfrm>
          </p:grpSpPr>
          <p:sp>
            <p:nvSpPr>
              <p:cNvPr id="83003" name="Rectangle 359"/>
              <p:cNvSpPr/>
              <p:nvPr/>
            </p:nvSpPr>
            <p:spPr>
              <a:xfrm>
                <a:off x="712" y="3402"/>
                <a:ext cx="21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6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04" name="Rectangle 360"/>
              <p:cNvSpPr/>
              <p:nvPr/>
            </p:nvSpPr>
            <p:spPr>
              <a:xfrm>
                <a:off x="669" y="3402"/>
                <a:ext cx="30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81" name="Group 361"/>
            <p:cNvGrpSpPr/>
            <p:nvPr/>
          </p:nvGrpSpPr>
          <p:grpSpPr>
            <a:xfrm>
              <a:off x="3103" y="2912"/>
              <a:ext cx="596" cy="357"/>
              <a:chOff x="970" y="3402"/>
              <a:chExt cx="321" cy="788"/>
            </a:xfrm>
          </p:grpSpPr>
          <p:sp>
            <p:nvSpPr>
              <p:cNvPr id="83001" name="Rectangle 362"/>
              <p:cNvSpPr/>
              <p:nvPr/>
            </p:nvSpPr>
            <p:spPr>
              <a:xfrm>
                <a:off x="1013" y="3402"/>
                <a:ext cx="23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02" name="Rectangle 363"/>
              <p:cNvSpPr/>
              <p:nvPr/>
            </p:nvSpPr>
            <p:spPr>
              <a:xfrm>
                <a:off x="970" y="3402"/>
                <a:ext cx="32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82" name="Group 364"/>
            <p:cNvGrpSpPr/>
            <p:nvPr/>
          </p:nvGrpSpPr>
          <p:grpSpPr>
            <a:xfrm>
              <a:off x="3699" y="2912"/>
              <a:ext cx="615" cy="357"/>
              <a:chOff x="1291" y="3402"/>
              <a:chExt cx="331" cy="788"/>
            </a:xfrm>
          </p:grpSpPr>
          <p:sp>
            <p:nvSpPr>
              <p:cNvPr id="82999" name="Rectangle 365"/>
              <p:cNvSpPr/>
              <p:nvPr/>
            </p:nvSpPr>
            <p:spPr>
              <a:xfrm>
                <a:off x="1334" y="3402"/>
                <a:ext cx="24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10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3000" name="Rectangle 366"/>
              <p:cNvSpPr/>
              <p:nvPr/>
            </p:nvSpPr>
            <p:spPr>
              <a:xfrm>
                <a:off x="1291" y="3402"/>
                <a:ext cx="33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83" name="Group 367"/>
            <p:cNvGrpSpPr/>
            <p:nvPr/>
          </p:nvGrpSpPr>
          <p:grpSpPr>
            <a:xfrm>
              <a:off x="1302" y="3269"/>
              <a:ext cx="598" cy="357"/>
              <a:chOff x="0" y="4190"/>
              <a:chExt cx="322" cy="788"/>
            </a:xfrm>
          </p:grpSpPr>
          <p:sp>
            <p:nvSpPr>
              <p:cNvPr id="82997" name="Rectangle 368"/>
              <p:cNvSpPr/>
              <p:nvPr/>
            </p:nvSpPr>
            <p:spPr>
              <a:xfrm>
                <a:off x="43" y="4190"/>
                <a:ext cx="236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2998" name="Rectangle 369"/>
              <p:cNvSpPr/>
              <p:nvPr/>
            </p:nvSpPr>
            <p:spPr>
              <a:xfrm>
                <a:off x="0" y="4190"/>
                <a:ext cx="322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84" name="Group 370"/>
            <p:cNvGrpSpPr/>
            <p:nvPr/>
          </p:nvGrpSpPr>
          <p:grpSpPr>
            <a:xfrm>
              <a:off x="1900" y="3269"/>
              <a:ext cx="644" cy="357"/>
              <a:chOff x="322" y="4190"/>
              <a:chExt cx="347" cy="788"/>
            </a:xfrm>
          </p:grpSpPr>
          <p:sp>
            <p:nvSpPr>
              <p:cNvPr id="82995" name="Rectangle 371"/>
              <p:cNvSpPr/>
              <p:nvPr/>
            </p:nvSpPr>
            <p:spPr>
              <a:xfrm>
                <a:off x="365" y="4190"/>
                <a:ext cx="261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2996" name="Rectangle 372"/>
              <p:cNvSpPr/>
              <p:nvPr/>
            </p:nvSpPr>
            <p:spPr>
              <a:xfrm>
                <a:off x="322" y="4190"/>
                <a:ext cx="347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85" name="Group 373"/>
            <p:cNvGrpSpPr/>
            <p:nvPr/>
          </p:nvGrpSpPr>
          <p:grpSpPr>
            <a:xfrm>
              <a:off x="2544" y="3269"/>
              <a:ext cx="559" cy="357"/>
              <a:chOff x="669" y="4190"/>
              <a:chExt cx="301" cy="788"/>
            </a:xfrm>
          </p:grpSpPr>
          <p:sp>
            <p:nvSpPr>
              <p:cNvPr id="82993" name="Rectangle 374"/>
              <p:cNvSpPr/>
              <p:nvPr/>
            </p:nvSpPr>
            <p:spPr>
              <a:xfrm>
                <a:off x="712" y="4190"/>
                <a:ext cx="21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8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2994" name="Rectangle 375"/>
              <p:cNvSpPr/>
              <p:nvPr/>
            </p:nvSpPr>
            <p:spPr>
              <a:xfrm>
                <a:off x="669" y="4190"/>
                <a:ext cx="30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86" name="Group 376"/>
            <p:cNvGrpSpPr/>
            <p:nvPr/>
          </p:nvGrpSpPr>
          <p:grpSpPr>
            <a:xfrm>
              <a:off x="3103" y="3269"/>
              <a:ext cx="596" cy="357"/>
              <a:chOff x="970" y="4190"/>
              <a:chExt cx="321" cy="788"/>
            </a:xfrm>
          </p:grpSpPr>
          <p:sp>
            <p:nvSpPr>
              <p:cNvPr id="82991" name="Rectangle 377"/>
              <p:cNvSpPr/>
              <p:nvPr/>
            </p:nvSpPr>
            <p:spPr>
              <a:xfrm>
                <a:off x="1013" y="4190"/>
                <a:ext cx="23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2992" name="Rectangle 378"/>
              <p:cNvSpPr/>
              <p:nvPr/>
            </p:nvSpPr>
            <p:spPr>
              <a:xfrm>
                <a:off x="970" y="4190"/>
                <a:ext cx="32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2987" name="Group 379"/>
            <p:cNvGrpSpPr/>
            <p:nvPr/>
          </p:nvGrpSpPr>
          <p:grpSpPr>
            <a:xfrm>
              <a:off x="3699" y="3269"/>
              <a:ext cx="615" cy="357"/>
              <a:chOff x="1291" y="4190"/>
              <a:chExt cx="331" cy="788"/>
            </a:xfrm>
          </p:grpSpPr>
          <p:sp>
            <p:nvSpPr>
              <p:cNvPr id="82989" name="Rectangle 380"/>
              <p:cNvSpPr/>
              <p:nvPr/>
            </p:nvSpPr>
            <p:spPr>
              <a:xfrm>
                <a:off x="1334" y="4190"/>
                <a:ext cx="245" cy="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10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2990" name="Rectangle 381"/>
              <p:cNvSpPr/>
              <p:nvPr/>
            </p:nvSpPr>
            <p:spPr>
              <a:xfrm>
                <a:off x="1291" y="4190"/>
                <a:ext cx="331" cy="788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82988" name="Rectangle 382"/>
            <p:cNvSpPr/>
            <p:nvPr/>
          </p:nvSpPr>
          <p:spPr>
            <a:xfrm>
              <a:off x="1296" y="1525"/>
              <a:ext cx="3024" cy="2087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82954" name="Group 383"/>
          <p:cNvGrpSpPr/>
          <p:nvPr/>
        </p:nvGrpSpPr>
        <p:grpSpPr>
          <a:xfrm>
            <a:off x="4356100" y="1125538"/>
            <a:ext cx="1066800" cy="1371600"/>
            <a:chOff x="2112" y="816"/>
            <a:chExt cx="672" cy="864"/>
          </a:xfrm>
        </p:grpSpPr>
        <p:sp>
          <p:nvSpPr>
            <p:cNvPr id="82956" name="Text Box 386"/>
            <p:cNvSpPr txBox="1"/>
            <p:nvPr/>
          </p:nvSpPr>
          <p:spPr>
            <a:xfrm rot="-10800000" flipV="1">
              <a:off x="2160" y="816"/>
              <a:ext cx="624" cy="5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>
                <a:lnSpc>
                  <a:spcPct val="80000"/>
                </a:lnSpc>
              </a:pPr>
              <a:r>
                <a:rPr lang="en-US" altLang="zh-CN" sz="600" i="1" dirty="0">
                  <a:latin typeface="Times New Roman" panose="02020603050405020304" pitchFamily="18" charset="0"/>
                </a:rPr>
                <a:t> 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57" name="Rectangle 387"/>
            <p:cNvSpPr/>
            <p:nvPr/>
          </p:nvSpPr>
          <p:spPr>
            <a:xfrm>
              <a:off x="2112" y="1296"/>
              <a:ext cx="62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/>
            <a:p>
              <a:pPr algn="ctr">
                <a:lnSpc>
                  <a:spcPct val="80000"/>
                </a:lnSpc>
              </a:pPr>
              <a:r>
                <a:rPr lang="en-US" altLang="zh-CN" sz="1600" i="1" dirty="0">
                  <a:latin typeface="Times New Roman" panose="02020603050405020304" pitchFamily="18" charset="0"/>
                </a:rPr>
                <a:t>C</a:t>
              </a:r>
              <a:r>
                <a:rPr lang="zh-CN" altLang="en-US" sz="1600" dirty="0">
                  <a:latin typeface="Times New Roman" panose="02020603050405020304" pitchFamily="18" charset="0"/>
                </a:rPr>
                <a:t>＜</a:t>
              </a:r>
              <a:r>
                <a:rPr lang="en-US" altLang="zh-CN" sz="1600" i="1" dirty="0">
                  <a:latin typeface="Times New Roman" panose="02020603050405020304" pitchFamily="18" charset="0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2955" name="Rectangle 388"/>
          <p:cNvSpPr/>
          <p:nvPr/>
        </p:nvSpPr>
        <p:spPr>
          <a:xfrm>
            <a:off x="4071938" y="1571625"/>
            <a:ext cx="3816350" cy="6699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i="1" dirty="0">
                <a:latin typeface="Verdana" panose="020B0604030504040204" pitchFamily="34" charset="0"/>
                <a:ea typeface="楷体_GB2312" pitchFamily="49" charset="-122"/>
              </a:rPr>
              <a:t> R 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⋈   </a:t>
            </a:r>
            <a:r>
              <a:rPr lang="en-US" altLang="zh-CN" sz="2800" b="1" i="1" dirty="0">
                <a:latin typeface="Verdana" panose="020B0604030504040204" pitchFamily="34" charset="0"/>
                <a:ea typeface="楷体_GB2312" pitchFamily="49" charset="-122"/>
              </a:rPr>
              <a:t>S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 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7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7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7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397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 </a:t>
            </a:r>
            <a:r>
              <a:rPr lang="zh-CN" altLang="en-US" dirty="0"/>
              <a:t>连接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 </a:t>
            </a:r>
            <a:endParaRPr lang="en-US" altLang="zh-CN" dirty="0"/>
          </a:p>
        </p:txBody>
      </p:sp>
      <p:sp>
        <p:nvSpPr>
          <p:cNvPr id="83972" name="Rectangle 8"/>
          <p:cNvSpPr>
            <a:spLocks noGrp="1"/>
          </p:cNvSpPr>
          <p:nvPr>
            <p:ph idx="1"/>
          </p:nvPr>
        </p:nvSpPr>
        <p:spPr>
          <a:xfrm>
            <a:off x="250825" y="1196975"/>
            <a:ext cx="8713788" cy="5111750"/>
          </a:xfrm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dirty="0"/>
              <a:t>两类常用连接运算</a:t>
            </a:r>
            <a:endParaRPr lang="zh-CN" altLang="en-US" dirty="0"/>
          </a:p>
          <a:p>
            <a:pPr lvl="1"/>
            <a:r>
              <a:rPr lang="zh-CN" altLang="en-US" dirty="0"/>
              <a:t>等值连接（</a:t>
            </a:r>
            <a:r>
              <a:rPr lang="en-US" altLang="zh-CN" dirty="0"/>
              <a:t>equijoin</a:t>
            </a:r>
            <a:r>
              <a:rPr lang="zh-CN" altLang="en-US" dirty="0"/>
              <a:t>） </a:t>
            </a:r>
            <a:endParaRPr lang="zh-CN" altLang="en-US" dirty="0"/>
          </a:p>
          <a:p>
            <a:pPr marL="1162050" lvl="2" indent="-394970" algn="just"/>
            <a:r>
              <a:rPr lang="zh-CN" altLang="en-US" dirty="0"/>
              <a:t>什么是等值连接</a:t>
            </a:r>
            <a:endParaRPr lang="zh-CN" altLang="en-US" dirty="0"/>
          </a:p>
          <a:p>
            <a:pPr lvl="3">
              <a:buClr>
                <a:schemeClr val="folHlink"/>
              </a:buClr>
            </a:pPr>
            <a:r>
              <a:rPr lang="en-US" altLang="zh-CN" sz="2800" b="1" dirty="0">
                <a:ea typeface="楷体_GB2312" pitchFamily="49" charset="-122"/>
              </a:rPr>
              <a:t>θ</a:t>
            </a:r>
            <a:r>
              <a:rPr lang="zh-CN" altLang="en-US" sz="2800" b="1" dirty="0">
                <a:ea typeface="楷体_GB2312" pitchFamily="49" charset="-122"/>
              </a:rPr>
              <a:t>为“＝”的连接运算称为等值连接 </a:t>
            </a:r>
            <a:endParaRPr lang="zh-CN" altLang="en-US" sz="2800" b="1" dirty="0">
              <a:ea typeface="楷体_GB2312" pitchFamily="49" charset="-122"/>
            </a:endParaRPr>
          </a:p>
          <a:p>
            <a:pPr marL="1162050" lvl="2" indent="-394970" algn="just"/>
            <a:r>
              <a:rPr lang="zh-CN" altLang="en-US" dirty="0"/>
              <a:t>等值连接的含义</a:t>
            </a:r>
            <a:endParaRPr lang="zh-CN" altLang="en-US" dirty="0"/>
          </a:p>
          <a:p>
            <a:pPr lvl="3" algn="just">
              <a:buClr>
                <a:schemeClr val="folHlink"/>
              </a:buClr>
            </a:pPr>
            <a:r>
              <a:rPr lang="zh-CN" altLang="en-US" sz="2800" b="1" dirty="0">
                <a:ea typeface="楷体_GB2312" pitchFamily="49" charset="-122"/>
              </a:rPr>
              <a:t>从关系</a:t>
            </a:r>
            <a:r>
              <a:rPr lang="en-US" altLang="zh-CN" sz="2800" b="1" i="1" dirty="0">
                <a:ea typeface="楷体_GB2312" pitchFamily="49" charset="-122"/>
              </a:rPr>
              <a:t>R</a:t>
            </a:r>
            <a:r>
              <a:rPr lang="zh-CN" altLang="en-US" sz="2800" b="1" dirty="0">
                <a:ea typeface="楷体_GB2312" pitchFamily="49" charset="-122"/>
              </a:rPr>
              <a:t>与</a:t>
            </a:r>
            <a:r>
              <a:rPr lang="en-US" altLang="zh-CN" sz="2800" b="1" i="1" dirty="0">
                <a:ea typeface="楷体_GB2312" pitchFamily="49" charset="-122"/>
              </a:rPr>
              <a:t>S</a:t>
            </a:r>
            <a:r>
              <a:rPr lang="zh-CN" altLang="en-US" sz="2800" b="1" dirty="0">
                <a:ea typeface="楷体_GB2312" pitchFamily="49" charset="-122"/>
              </a:rPr>
              <a:t>的广义笛卡尔积中选取</a:t>
            </a:r>
            <a:r>
              <a:rPr lang="en-US" altLang="zh-CN" sz="2800" b="1" i="1" dirty="0">
                <a:ea typeface="楷体_GB2312" pitchFamily="49" charset="-122"/>
              </a:rPr>
              <a:t>A</a:t>
            </a:r>
            <a:r>
              <a:rPr lang="zh-CN" altLang="en-US" sz="2800" b="1" dirty="0">
                <a:ea typeface="楷体_GB2312" pitchFamily="49" charset="-122"/>
              </a:rPr>
              <a:t>、</a:t>
            </a:r>
            <a:r>
              <a:rPr lang="en-US" altLang="zh-CN" sz="2800" b="1" i="1" dirty="0">
                <a:ea typeface="楷体_GB2312" pitchFamily="49" charset="-122"/>
              </a:rPr>
              <a:t>B</a:t>
            </a:r>
            <a:r>
              <a:rPr lang="zh-CN" altLang="en-US" sz="2800" b="1" dirty="0">
                <a:ea typeface="楷体_GB2312" pitchFamily="49" charset="-122"/>
              </a:rPr>
              <a:t>属性值相等的那些元组，即等值连接为：</a:t>
            </a:r>
            <a:endParaRPr lang="zh-CN" altLang="en-US" sz="2800" b="1" dirty="0">
              <a:ea typeface="楷体_GB2312" pitchFamily="49" charset="-122"/>
            </a:endParaRPr>
          </a:p>
          <a:p>
            <a:pPr marL="1162050" lvl="2" indent="-394970">
              <a:buNone/>
            </a:pPr>
            <a:r>
              <a:rPr lang="zh-CN" altLang="en-US" dirty="0"/>
              <a:t>  </a:t>
            </a:r>
            <a:r>
              <a:rPr lang="en-US" altLang="zh-CN" i="1" dirty="0"/>
              <a:t>R</a:t>
            </a:r>
            <a:r>
              <a:rPr lang="en-US" altLang="zh-CN" sz="2400" b="1" dirty="0">
                <a:ea typeface="楷体_GB2312" pitchFamily="49" charset="-122"/>
              </a:rPr>
              <a:t> ⋈</a:t>
            </a:r>
            <a:r>
              <a:rPr lang="en-US" altLang="zh-CN" i="1" dirty="0"/>
              <a:t> S</a:t>
            </a:r>
            <a:r>
              <a:rPr lang="en-US" altLang="zh-CN" dirty="0"/>
              <a:t> = {        | </a:t>
            </a:r>
            <a:r>
              <a:rPr lang="en-US" altLang="zh-CN" i="1" dirty="0"/>
              <a:t>t</a:t>
            </a:r>
            <a:r>
              <a:rPr lang="en-US" altLang="zh-CN" baseline="-30000" dirty="0"/>
              <a:t>r</a:t>
            </a:r>
            <a:r>
              <a:rPr lang="en-US" altLang="zh-CN" i="1" baseline="-30000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∧</a:t>
            </a:r>
            <a:r>
              <a:rPr lang="en-US" altLang="zh-CN" i="1" dirty="0"/>
              <a:t>t</a:t>
            </a:r>
            <a:r>
              <a:rPr lang="en-US" altLang="zh-CN" baseline="-30000" dirty="0"/>
              <a:t>s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S</a:t>
            </a:r>
            <a:r>
              <a:rPr lang="en-US" altLang="zh-CN" dirty="0"/>
              <a:t>∧</a:t>
            </a:r>
            <a:r>
              <a:rPr lang="en-US" altLang="zh-CN" i="1" dirty="0"/>
              <a:t>t</a:t>
            </a:r>
            <a:r>
              <a:rPr lang="en-US" altLang="zh-CN" baseline="-30000" dirty="0"/>
              <a:t>r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 </a:t>
            </a:r>
            <a:r>
              <a:rPr lang="en-US" altLang="zh-CN" dirty="0">
                <a:solidFill>
                  <a:srgbClr val="0033CC"/>
                </a:solidFill>
              </a:rPr>
              <a:t>=</a:t>
            </a:r>
            <a:r>
              <a:rPr lang="en-US" altLang="zh-CN" dirty="0"/>
              <a:t> </a:t>
            </a:r>
            <a:r>
              <a:rPr lang="en-US" altLang="zh-CN" i="1" dirty="0"/>
              <a:t>t</a:t>
            </a:r>
            <a:r>
              <a:rPr lang="en-US" altLang="zh-CN" baseline="-30000" dirty="0"/>
              <a:t>s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 }  </a:t>
            </a:r>
            <a:endParaRPr lang="en-US" altLang="zh-CN" dirty="0"/>
          </a:p>
        </p:txBody>
      </p:sp>
      <p:sp>
        <p:nvSpPr>
          <p:cNvPr id="83973" name="Text Box 11"/>
          <p:cNvSpPr txBox="1"/>
          <p:nvPr/>
        </p:nvSpPr>
        <p:spPr>
          <a:xfrm flipV="1">
            <a:off x="1143000" y="4652963"/>
            <a:ext cx="1295400" cy="677862"/>
          </a:xfrm>
          <a:prstGeom prst="rect">
            <a:avLst/>
          </a:prstGeom>
          <a:noFill/>
          <a:ln w="9525">
            <a:noFill/>
          </a:ln>
        </p:spPr>
        <p:txBody>
          <a:bodyPr rot="10800000" vert="eaVert"/>
          <a:p>
            <a:pPr algn="just">
              <a:lnSpc>
                <a:spcPct val="80000"/>
              </a:lnSpc>
            </a:pPr>
            <a:endParaRPr lang="zh-CN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83974" name="Rectangle 12"/>
          <p:cNvSpPr/>
          <p:nvPr/>
        </p:nvSpPr>
        <p:spPr>
          <a:xfrm>
            <a:off x="1196975" y="4687888"/>
            <a:ext cx="114300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16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A=B</a:t>
            </a:r>
            <a:endParaRPr lang="en-US" altLang="zh-CN" sz="1600" b="1" i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3975" name="Group 16"/>
          <p:cNvGrpSpPr/>
          <p:nvPr/>
        </p:nvGrpSpPr>
        <p:grpSpPr>
          <a:xfrm>
            <a:off x="2916238" y="4765675"/>
            <a:ext cx="609600" cy="392113"/>
            <a:chOff x="2400" y="3199"/>
            <a:chExt cx="384" cy="247"/>
          </a:xfrm>
        </p:grpSpPr>
        <p:sp>
          <p:nvSpPr>
            <p:cNvPr id="83976" name="Text Box 14"/>
            <p:cNvSpPr txBox="1"/>
            <p:nvPr/>
          </p:nvSpPr>
          <p:spPr>
            <a:xfrm>
              <a:off x="2400" y="3216"/>
              <a:ext cx="38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30000" dirty="0">
                  <a:latin typeface="Times New Roman" panose="02020603050405020304" pitchFamily="18" charset="0"/>
                </a:rPr>
                <a:t>r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30000" dirty="0">
                  <a:latin typeface="Times New Roman" panose="02020603050405020304" pitchFamily="18" charset="0"/>
                </a:rPr>
                <a:t>s</a:t>
              </a:r>
              <a:endParaRPr lang="en-US" altLang="zh-CN" sz="2400" b="1" baseline="-30000" dirty="0">
                <a:latin typeface="Times New Roman" panose="02020603050405020304" pitchFamily="18" charset="0"/>
              </a:endParaRPr>
            </a:p>
          </p:txBody>
        </p:sp>
        <p:sp>
          <p:nvSpPr>
            <p:cNvPr id="83977" name="Freeform 15"/>
            <p:cNvSpPr/>
            <p:nvPr/>
          </p:nvSpPr>
          <p:spPr>
            <a:xfrm>
              <a:off x="2504" y="3199"/>
              <a:ext cx="156" cy="62"/>
            </a:xfrm>
            <a:custGeom>
              <a:avLst/>
              <a:gdLst>
                <a:gd name="txL" fmla="*/ 0 w 156"/>
                <a:gd name="txT" fmla="*/ 0 h 62"/>
                <a:gd name="txR" fmla="*/ 156 w 156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117" y="23"/>
                </a:cxn>
                <a:cxn ang="0">
                  <a:pos x="156" y="62"/>
                </a:cxn>
              </a:cxnLst>
              <a:rect l="txL" t="txT" r="txR" b="txB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 advClick="0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499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连接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84996" name="Rectangle 3"/>
          <p:cNvSpPr>
            <a:spLocks noGrp="1"/>
          </p:cNvSpPr>
          <p:nvPr>
            <p:ph idx="1"/>
          </p:nvPr>
        </p:nvSpPr>
        <p:spPr>
          <a:xfrm>
            <a:off x="3779838" y="1484313"/>
            <a:ext cx="4608512" cy="760412"/>
          </a:xfrm>
          <a:ln/>
        </p:spPr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en-US" altLang="zh-CN" dirty="0"/>
              <a:t>   </a:t>
            </a:r>
            <a:r>
              <a:rPr lang="zh-CN" altLang="en-US" dirty="0"/>
              <a:t>等值连接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sz="3200" b="1" dirty="0">
                <a:ea typeface="楷体_GB2312" pitchFamily="49" charset="-122"/>
              </a:rPr>
              <a:t>⋈</a:t>
            </a:r>
            <a:r>
              <a:rPr lang="en-US" altLang="zh-CN" i="1" dirty="0"/>
              <a:t>  S </a:t>
            </a:r>
            <a:endParaRPr lang="en-US" altLang="zh-CN" dirty="0"/>
          </a:p>
        </p:txBody>
      </p:sp>
      <p:grpSp>
        <p:nvGrpSpPr>
          <p:cNvPr id="84997" name="Group 87"/>
          <p:cNvGrpSpPr/>
          <p:nvPr/>
        </p:nvGrpSpPr>
        <p:grpSpPr>
          <a:xfrm>
            <a:off x="6572250" y="928688"/>
            <a:ext cx="1066800" cy="1447800"/>
            <a:chOff x="3360" y="816"/>
            <a:chExt cx="672" cy="912"/>
          </a:xfrm>
        </p:grpSpPr>
        <p:sp>
          <p:nvSpPr>
            <p:cNvPr id="85163" name="Rectangle 4"/>
            <p:cNvSpPr/>
            <p:nvPr/>
          </p:nvSpPr>
          <p:spPr>
            <a:xfrm>
              <a:off x="3408" y="1344"/>
              <a:ext cx="62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/>
            <a:p>
              <a:pPr algn="ctr">
                <a:lnSpc>
                  <a:spcPct val="80000"/>
                </a:lnSpc>
              </a:pPr>
              <a:r>
                <a:rPr lang="en-US" altLang="zh-CN" b="1" i="1" dirty="0">
                  <a:latin typeface="Verdana" panose="020B0604030504040204" pitchFamily="34" charset="0"/>
                </a:rPr>
                <a:t>R.B=S.B</a:t>
              </a:r>
              <a:endParaRPr lang="en-US" altLang="zh-CN" b="1" dirty="0">
                <a:latin typeface="Verdana" panose="020B0604030504040204" pitchFamily="34" charset="0"/>
              </a:endParaRPr>
            </a:p>
          </p:txBody>
        </p:sp>
        <p:sp>
          <p:nvSpPr>
            <p:cNvPr id="85164" name="Text Box 8"/>
            <p:cNvSpPr txBox="1"/>
            <p:nvPr/>
          </p:nvSpPr>
          <p:spPr>
            <a:xfrm rot="-10800000" flipV="1">
              <a:off x="3360" y="816"/>
              <a:ext cx="624" cy="5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b="1" i="1" dirty="0">
                  <a:latin typeface="Verdana" panose="020B0604030504040204" pitchFamily="34" charset="0"/>
                </a:rPr>
                <a:t> </a:t>
              </a:r>
              <a:endParaRPr lang="en-US" altLang="zh-CN" b="1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3" name="Group 88"/>
          <p:cNvGrpSpPr/>
          <p:nvPr/>
        </p:nvGrpSpPr>
        <p:grpSpPr>
          <a:xfrm>
            <a:off x="4103688" y="2349500"/>
            <a:ext cx="4141787" cy="3097213"/>
            <a:chOff x="1728" y="1819"/>
            <a:chExt cx="2615" cy="1656"/>
          </a:xfrm>
        </p:grpSpPr>
        <p:grpSp>
          <p:nvGrpSpPr>
            <p:cNvPr id="85087" name="Group 35"/>
            <p:cNvGrpSpPr/>
            <p:nvPr/>
          </p:nvGrpSpPr>
          <p:grpSpPr>
            <a:xfrm>
              <a:off x="1732" y="1822"/>
              <a:ext cx="458" cy="338"/>
              <a:chOff x="0" y="0"/>
              <a:chExt cx="390" cy="499"/>
            </a:xfrm>
          </p:grpSpPr>
          <p:sp>
            <p:nvSpPr>
              <p:cNvPr id="85161" name="Rectangle 9"/>
              <p:cNvSpPr/>
              <p:nvPr/>
            </p:nvSpPr>
            <p:spPr>
              <a:xfrm>
                <a:off x="43" y="0"/>
                <a:ext cx="30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62" name="Rectangle 34"/>
              <p:cNvSpPr/>
              <p:nvPr/>
            </p:nvSpPr>
            <p:spPr>
              <a:xfrm>
                <a:off x="0" y="0"/>
                <a:ext cx="39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88" name="Group 37"/>
            <p:cNvGrpSpPr/>
            <p:nvPr/>
          </p:nvGrpSpPr>
          <p:grpSpPr>
            <a:xfrm>
              <a:off x="2190" y="1822"/>
              <a:ext cx="664" cy="338"/>
              <a:chOff x="390" y="0"/>
              <a:chExt cx="565" cy="499"/>
            </a:xfrm>
          </p:grpSpPr>
          <p:sp>
            <p:nvSpPr>
              <p:cNvPr id="85159" name="Rectangle 10"/>
              <p:cNvSpPr/>
              <p:nvPr/>
            </p:nvSpPr>
            <p:spPr>
              <a:xfrm>
                <a:off x="433" y="0"/>
                <a:ext cx="522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R.B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60" name="Rectangle 36"/>
              <p:cNvSpPr/>
              <p:nvPr/>
            </p:nvSpPr>
            <p:spPr>
              <a:xfrm>
                <a:off x="390" y="0"/>
                <a:ext cx="523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89" name="Group 39"/>
            <p:cNvGrpSpPr/>
            <p:nvPr/>
          </p:nvGrpSpPr>
          <p:grpSpPr>
            <a:xfrm>
              <a:off x="2805" y="1822"/>
              <a:ext cx="425" cy="338"/>
              <a:chOff x="913" y="0"/>
              <a:chExt cx="362" cy="499"/>
            </a:xfrm>
          </p:grpSpPr>
          <p:sp>
            <p:nvSpPr>
              <p:cNvPr id="85157" name="Rectangle 11"/>
              <p:cNvSpPr/>
              <p:nvPr/>
            </p:nvSpPr>
            <p:spPr>
              <a:xfrm>
                <a:off x="956" y="0"/>
                <a:ext cx="276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C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58" name="Rectangle 38"/>
              <p:cNvSpPr/>
              <p:nvPr/>
            </p:nvSpPr>
            <p:spPr>
              <a:xfrm>
                <a:off x="913" y="0"/>
                <a:ext cx="362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90" name="Group 41"/>
            <p:cNvGrpSpPr/>
            <p:nvPr/>
          </p:nvGrpSpPr>
          <p:grpSpPr>
            <a:xfrm>
              <a:off x="3230" y="1822"/>
              <a:ext cx="707" cy="338"/>
              <a:chOff x="1275" y="0"/>
              <a:chExt cx="602" cy="499"/>
            </a:xfrm>
          </p:grpSpPr>
          <p:sp>
            <p:nvSpPr>
              <p:cNvPr id="85155" name="Rectangle 12"/>
              <p:cNvSpPr/>
              <p:nvPr/>
            </p:nvSpPr>
            <p:spPr>
              <a:xfrm>
                <a:off x="1318" y="0"/>
                <a:ext cx="559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S.B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56" name="Rectangle 40"/>
              <p:cNvSpPr/>
              <p:nvPr/>
            </p:nvSpPr>
            <p:spPr>
              <a:xfrm>
                <a:off x="1275" y="0"/>
                <a:ext cx="50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91" name="Group 43"/>
            <p:cNvGrpSpPr/>
            <p:nvPr/>
          </p:nvGrpSpPr>
          <p:grpSpPr>
            <a:xfrm>
              <a:off x="3822" y="1822"/>
              <a:ext cx="494" cy="338"/>
              <a:chOff x="1779" y="0"/>
              <a:chExt cx="420" cy="499"/>
            </a:xfrm>
          </p:grpSpPr>
          <p:sp>
            <p:nvSpPr>
              <p:cNvPr id="85153" name="Rectangle 13"/>
              <p:cNvSpPr/>
              <p:nvPr/>
            </p:nvSpPr>
            <p:spPr>
              <a:xfrm>
                <a:off x="1822" y="0"/>
                <a:ext cx="33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E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54" name="Rectangle 42"/>
              <p:cNvSpPr/>
              <p:nvPr/>
            </p:nvSpPr>
            <p:spPr>
              <a:xfrm>
                <a:off x="1779" y="0"/>
                <a:ext cx="42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92" name="Group 45"/>
            <p:cNvGrpSpPr/>
            <p:nvPr/>
          </p:nvGrpSpPr>
          <p:grpSpPr>
            <a:xfrm>
              <a:off x="1732" y="2159"/>
              <a:ext cx="537" cy="314"/>
              <a:chOff x="0" y="499"/>
              <a:chExt cx="457" cy="499"/>
            </a:xfrm>
          </p:grpSpPr>
          <p:sp>
            <p:nvSpPr>
              <p:cNvPr id="85151" name="Rectangle 14"/>
              <p:cNvSpPr/>
              <p:nvPr/>
            </p:nvSpPr>
            <p:spPr>
              <a:xfrm>
                <a:off x="43" y="499"/>
                <a:ext cx="41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52" name="Rectangle 44"/>
              <p:cNvSpPr/>
              <p:nvPr/>
            </p:nvSpPr>
            <p:spPr>
              <a:xfrm>
                <a:off x="0" y="499"/>
                <a:ext cx="39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93" name="Group 47"/>
            <p:cNvGrpSpPr/>
            <p:nvPr/>
          </p:nvGrpSpPr>
          <p:grpSpPr>
            <a:xfrm>
              <a:off x="2190" y="2159"/>
              <a:ext cx="615" cy="314"/>
              <a:chOff x="390" y="499"/>
              <a:chExt cx="523" cy="499"/>
            </a:xfrm>
          </p:grpSpPr>
          <p:sp>
            <p:nvSpPr>
              <p:cNvPr id="85149" name="Rectangle 15"/>
              <p:cNvSpPr/>
              <p:nvPr/>
            </p:nvSpPr>
            <p:spPr>
              <a:xfrm>
                <a:off x="433" y="499"/>
                <a:ext cx="437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50" name="Rectangle 46"/>
              <p:cNvSpPr/>
              <p:nvPr/>
            </p:nvSpPr>
            <p:spPr>
              <a:xfrm>
                <a:off x="390" y="499"/>
                <a:ext cx="523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94" name="Group 49"/>
            <p:cNvGrpSpPr/>
            <p:nvPr/>
          </p:nvGrpSpPr>
          <p:grpSpPr>
            <a:xfrm>
              <a:off x="2805" y="2159"/>
              <a:ext cx="425" cy="314"/>
              <a:chOff x="913" y="499"/>
              <a:chExt cx="362" cy="499"/>
            </a:xfrm>
          </p:grpSpPr>
          <p:sp>
            <p:nvSpPr>
              <p:cNvPr id="85147" name="Rectangle 16"/>
              <p:cNvSpPr/>
              <p:nvPr/>
            </p:nvSpPr>
            <p:spPr>
              <a:xfrm>
                <a:off x="956" y="499"/>
                <a:ext cx="276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5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48" name="Rectangle 48"/>
              <p:cNvSpPr/>
              <p:nvPr/>
            </p:nvSpPr>
            <p:spPr>
              <a:xfrm>
                <a:off x="913" y="499"/>
                <a:ext cx="362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95" name="Group 51"/>
            <p:cNvGrpSpPr/>
            <p:nvPr/>
          </p:nvGrpSpPr>
          <p:grpSpPr>
            <a:xfrm>
              <a:off x="3230" y="2159"/>
              <a:ext cx="592" cy="314"/>
              <a:chOff x="1275" y="499"/>
              <a:chExt cx="504" cy="499"/>
            </a:xfrm>
          </p:grpSpPr>
          <p:sp>
            <p:nvSpPr>
              <p:cNvPr id="85145" name="Rectangle 17"/>
              <p:cNvSpPr/>
              <p:nvPr/>
            </p:nvSpPr>
            <p:spPr>
              <a:xfrm>
                <a:off x="1318" y="499"/>
                <a:ext cx="41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46" name="Rectangle 50"/>
              <p:cNvSpPr/>
              <p:nvPr/>
            </p:nvSpPr>
            <p:spPr>
              <a:xfrm>
                <a:off x="1275" y="499"/>
                <a:ext cx="50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96" name="Group 53"/>
            <p:cNvGrpSpPr/>
            <p:nvPr/>
          </p:nvGrpSpPr>
          <p:grpSpPr>
            <a:xfrm>
              <a:off x="3822" y="2159"/>
              <a:ext cx="494" cy="314"/>
              <a:chOff x="1779" y="499"/>
              <a:chExt cx="420" cy="499"/>
            </a:xfrm>
          </p:grpSpPr>
          <p:sp>
            <p:nvSpPr>
              <p:cNvPr id="85143" name="Rectangle 18"/>
              <p:cNvSpPr/>
              <p:nvPr/>
            </p:nvSpPr>
            <p:spPr>
              <a:xfrm>
                <a:off x="1822" y="499"/>
                <a:ext cx="33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44" name="Rectangle 52"/>
              <p:cNvSpPr/>
              <p:nvPr/>
            </p:nvSpPr>
            <p:spPr>
              <a:xfrm>
                <a:off x="1779" y="499"/>
                <a:ext cx="42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97" name="Group 55"/>
            <p:cNvGrpSpPr/>
            <p:nvPr/>
          </p:nvGrpSpPr>
          <p:grpSpPr>
            <a:xfrm>
              <a:off x="1732" y="2477"/>
              <a:ext cx="581" cy="363"/>
              <a:chOff x="0" y="998"/>
              <a:chExt cx="495" cy="499"/>
            </a:xfrm>
          </p:grpSpPr>
          <p:sp>
            <p:nvSpPr>
              <p:cNvPr id="85141" name="Rectangle 19"/>
              <p:cNvSpPr/>
              <p:nvPr/>
            </p:nvSpPr>
            <p:spPr>
              <a:xfrm>
                <a:off x="43" y="998"/>
                <a:ext cx="452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42" name="Rectangle 54"/>
              <p:cNvSpPr/>
              <p:nvPr/>
            </p:nvSpPr>
            <p:spPr>
              <a:xfrm>
                <a:off x="0" y="998"/>
                <a:ext cx="39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98" name="Group 57"/>
            <p:cNvGrpSpPr/>
            <p:nvPr/>
          </p:nvGrpSpPr>
          <p:grpSpPr>
            <a:xfrm>
              <a:off x="2190" y="2477"/>
              <a:ext cx="615" cy="363"/>
              <a:chOff x="390" y="998"/>
              <a:chExt cx="523" cy="499"/>
            </a:xfrm>
          </p:grpSpPr>
          <p:sp>
            <p:nvSpPr>
              <p:cNvPr id="85139" name="Rectangle 20"/>
              <p:cNvSpPr/>
              <p:nvPr/>
            </p:nvSpPr>
            <p:spPr>
              <a:xfrm>
                <a:off x="433" y="998"/>
                <a:ext cx="437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40" name="Rectangle 56"/>
              <p:cNvSpPr/>
              <p:nvPr/>
            </p:nvSpPr>
            <p:spPr>
              <a:xfrm>
                <a:off x="390" y="998"/>
                <a:ext cx="523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99" name="Group 59"/>
            <p:cNvGrpSpPr/>
            <p:nvPr/>
          </p:nvGrpSpPr>
          <p:grpSpPr>
            <a:xfrm>
              <a:off x="2805" y="2477"/>
              <a:ext cx="425" cy="363"/>
              <a:chOff x="913" y="998"/>
              <a:chExt cx="362" cy="499"/>
            </a:xfrm>
          </p:grpSpPr>
          <p:sp>
            <p:nvSpPr>
              <p:cNvPr id="85137" name="Rectangle 21"/>
              <p:cNvSpPr/>
              <p:nvPr/>
            </p:nvSpPr>
            <p:spPr>
              <a:xfrm>
                <a:off x="956" y="998"/>
                <a:ext cx="276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6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38" name="Rectangle 58"/>
              <p:cNvSpPr/>
              <p:nvPr/>
            </p:nvSpPr>
            <p:spPr>
              <a:xfrm>
                <a:off x="913" y="998"/>
                <a:ext cx="362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100" name="Group 61"/>
            <p:cNvGrpSpPr/>
            <p:nvPr/>
          </p:nvGrpSpPr>
          <p:grpSpPr>
            <a:xfrm>
              <a:off x="3230" y="2477"/>
              <a:ext cx="592" cy="363"/>
              <a:chOff x="1275" y="998"/>
              <a:chExt cx="504" cy="499"/>
            </a:xfrm>
          </p:grpSpPr>
          <p:sp>
            <p:nvSpPr>
              <p:cNvPr id="85135" name="Rectangle 22"/>
              <p:cNvSpPr/>
              <p:nvPr/>
            </p:nvSpPr>
            <p:spPr>
              <a:xfrm>
                <a:off x="1318" y="998"/>
                <a:ext cx="41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36" name="Rectangle 60"/>
              <p:cNvSpPr/>
              <p:nvPr/>
            </p:nvSpPr>
            <p:spPr>
              <a:xfrm>
                <a:off x="1275" y="998"/>
                <a:ext cx="50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101" name="Group 63"/>
            <p:cNvGrpSpPr/>
            <p:nvPr/>
          </p:nvGrpSpPr>
          <p:grpSpPr>
            <a:xfrm>
              <a:off x="3822" y="2477"/>
              <a:ext cx="494" cy="363"/>
              <a:chOff x="1779" y="998"/>
              <a:chExt cx="420" cy="499"/>
            </a:xfrm>
          </p:grpSpPr>
          <p:sp>
            <p:nvSpPr>
              <p:cNvPr id="85133" name="Rectangle 23"/>
              <p:cNvSpPr/>
              <p:nvPr/>
            </p:nvSpPr>
            <p:spPr>
              <a:xfrm>
                <a:off x="1822" y="998"/>
                <a:ext cx="33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7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34" name="Rectangle 62"/>
              <p:cNvSpPr/>
              <p:nvPr/>
            </p:nvSpPr>
            <p:spPr>
              <a:xfrm>
                <a:off x="1779" y="998"/>
                <a:ext cx="42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102" name="Group 65"/>
            <p:cNvGrpSpPr/>
            <p:nvPr/>
          </p:nvGrpSpPr>
          <p:grpSpPr>
            <a:xfrm>
              <a:off x="1732" y="2840"/>
              <a:ext cx="537" cy="317"/>
              <a:chOff x="0" y="1497"/>
              <a:chExt cx="457" cy="499"/>
            </a:xfrm>
          </p:grpSpPr>
          <p:sp>
            <p:nvSpPr>
              <p:cNvPr id="85131" name="Rectangle 24"/>
              <p:cNvSpPr/>
              <p:nvPr/>
            </p:nvSpPr>
            <p:spPr>
              <a:xfrm>
                <a:off x="43" y="1497"/>
                <a:ext cx="41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32" name="Rectangle 64"/>
              <p:cNvSpPr/>
              <p:nvPr/>
            </p:nvSpPr>
            <p:spPr>
              <a:xfrm>
                <a:off x="0" y="1497"/>
                <a:ext cx="39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103" name="Group 67"/>
            <p:cNvGrpSpPr/>
            <p:nvPr/>
          </p:nvGrpSpPr>
          <p:grpSpPr>
            <a:xfrm>
              <a:off x="2190" y="2840"/>
              <a:ext cx="615" cy="317"/>
              <a:chOff x="390" y="1497"/>
              <a:chExt cx="523" cy="499"/>
            </a:xfrm>
          </p:grpSpPr>
          <p:sp>
            <p:nvSpPr>
              <p:cNvPr id="85129" name="Rectangle 25"/>
              <p:cNvSpPr/>
              <p:nvPr/>
            </p:nvSpPr>
            <p:spPr>
              <a:xfrm>
                <a:off x="433" y="1497"/>
                <a:ext cx="437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30" name="Rectangle 66"/>
              <p:cNvSpPr/>
              <p:nvPr/>
            </p:nvSpPr>
            <p:spPr>
              <a:xfrm>
                <a:off x="390" y="1497"/>
                <a:ext cx="523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104" name="Group 69"/>
            <p:cNvGrpSpPr/>
            <p:nvPr/>
          </p:nvGrpSpPr>
          <p:grpSpPr>
            <a:xfrm>
              <a:off x="2805" y="2840"/>
              <a:ext cx="425" cy="317"/>
              <a:chOff x="913" y="1497"/>
              <a:chExt cx="362" cy="499"/>
            </a:xfrm>
          </p:grpSpPr>
          <p:sp>
            <p:nvSpPr>
              <p:cNvPr id="85127" name="Rectangle 26"/>
              <p:cNvSpPr/>
              <p:nvPr/>
            </p:nvSpPr>
            <p:spPr>
              <a:xfrm>
                <a:off x="956" y="1497"/>
                <a:ext cx="276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8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28" name="Rectangle 68"/>
              <p:cNvSpPr/>
              <p:nvPr/>
            </p:nvSpPr>
            <p:spPr>
              <a:xfrm>
                <a:off x="913" y="1497"/>
                <a:ext cx="362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105" name="Group 71"/>
            <p:cNvGrpSpPr/>
            <p:nvPr/>
          </p:nvGrpSpPr>
          <p:grpSpPr>
            <a:xfrm>
              <a:off x="3230" y="2840"/>
              <a:ext cx="592" cy="317"/>
              <a:chOff x="1275" y="1497"/>
              <a:chExt cx="504" cy="499"/>
            </a:xfrm>
          </p:grpSpPr>
          <p:sp>
            <p:nvSpPr>
              <p:cNvPr id="85125" name="Rectangle 27"/>
              <p:cNvSpPr/>
              <p:nvPr/>
            </p:nvSpPr>
            <p:spPr>
              <a:xfrm>
                <a:off x="1318" y="1497"/>
                <a:ext cx="41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26" name="Rectangle 70"/>
              <p:cNvSpPr/>
              <p:nvPr/>
            </p:nvSpPr>
            <p:spPr>
              <a:xfrm>
                <a:off x="1275" y="1497"/>
                <a:ext cx="50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106" name="Group 73"/>
            <p:cNvGrpSpPr/>
            <p:nvPr/>
          </p:nvGrpSpPr>
          <p:grpSpPr>
            <a:xfrm>
              <a:off x="3822" y="2840"/>
              <a:ext cx="521" cy="317"/>
              <a:chOff x="1779" y="1497"/>
              <a:chExt cx="443" cy="499"/>
            </a:xfrm>
          </p:grpSpPr>
          <p:sp>
            <p:nvSpPr>
              <p:cNvPr id="85123" name="Rectangle 28"/>
              <p:cNvSpPr/>
              <p:nvPr/>
            </p:nvSpPr>
            <p:spPr>
              <a:xfrm>
                <a:off x="1822" y="1497"/>
                <a:ext cx="400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10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24" name="Rectangle 72"/>
              <p:cNvSpPr/>
              <p:nvPr/>
            </p:nvSpPr>
            <p:spPr>
              <a:xfrm>
                <a:off x="1779" y="1497"/>
                <a:ext cx="42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107" name="Group 75"/>
            <p:cNvGrpSpPr/>
            <p:nvPr/>
          </p:nvGrpSpPr>
          <p:grpSpPr>
            <a:xfrm>
              <a:off x="1732" y="3157"/>
              <a:ext cx="537" cy="318"/>
              <a:chOff x="0" y="1996"/>
              <a:chExt cx="457" cy="499"/>
            </a:xfrm>
          </p:grpSpPr>
          <p:sp>
            <p:nvSpPr>
              <p:cNvPr id="85121" name="Rectangle 29"/>
              <p:cNvSpPr/>
              <p:nvPr/>
            </p:nvSpPr>
            <p:spPr>
              <a:xfrm>
                <a:off x="43" y="1996"/>
                <a:ext cx="41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22" name="Rectangle 74"/>
              <p:cNvSpPr/>
              <p:nvPr/>
            </p:nvSpPr>
            <p:spPr>
              <a:xfrm>
                <a:off x="0" y="1996"/>
                <a:ext cx="39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108" name="Group 77"/>
            <p:cNvGrpSpPr/>
            <p:nvPr/>
          </p:nvGrpSpPr>
          <p:grpSpPr>
            <a:xfrm>
              <a:off x="2190" y="3157"/>
              <a:ext cx="615" cy="318"/>
              <a:chOff x="390" y="1996"/>
              <a:chExt cx="523" cy="499"/>
            </a:xfrm>
          </p:grpSpPr>
          <p:sp>
            <p:nvSpPr>
              <p:cNvPr id="85119" name="Rectangle 30"/>
              <p:cNvSpPr/>
              <p:nvPr/>
            </p:nvSpPr>
            <p:spPr>
              <a:xfrm>
                <a:off x="433" y="1996"/>
                <a:ext cx="437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20" name="Rectangle 76"/>
              <p:cNvSpPr/>
              <p:nvPr/>
            </p:nvSpPr>
            <p:spPr>
              <a:xfrm>
                <a:off x="390" y="1996"/>
                <a:ext cx="523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109" name="Group 79"/>
            <p:cNvGrpSpPr/>
            <p:nvPr/>
          </p:nvGrpSpPr>
          <p:grpSpPr>
            <a:xfrm>
              <a:off x="2805" y="3157"/>
              <a:ext cx="425" cy="318"/>
              <a:chOff x="913" y="1996"/>
              <a:chExt cx="362" cy="499"/>
            </a:xfrm>
          </p:grpSpPr>
          <p:sp>
            <p:nvSpPr>
              <p:cNvPr id="85117" name="Rectangle 31"/>
              <p:cNvSpPr/>
              <p:nvPr/>
            </p:nvSpPr>
            <p:spPr>
              <a:xfrm>
                <a:off x="956" y="1996"/>
                <a:ext cx="276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8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18" name="Rectangle 78"/>
              <p:cNvSpPr/>
              <p:nvPr/>
            </p:nvSpPr>
            <p:spPr>
              <a:xfrm>
                <a:off x="913" y="1996"/>
                <a:ext cx="362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110" name="Group 81"/>
            <p:cNvGrpSpPr/>
            <p:nvPr/>
          </p:nvGrpSpPr>
          <p:grpSpPr>
            <a:xfrm>
              <a:off x="3230" y="3157"/>
              <a:ext cx="592" cy="318"/>
              <a:chOff x="1275" y="1996"/>
              <a:chExt cx="504" cy="499"/>
            </a:xfrm>
          </p:grpSpPr>
          <p:sp>
            <p:nvSpPr>
              <p:cNvPr id="85115" name="Rectangle 32"/>
              <p:cNvSpPr/>
              <p:nvPr/>
            </p:nvSpPr>
            <p:spPr>
              <a:xfrm>
                <a:off x="1318" y="1996"/>
                <a:ext cx="41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16" name="Rectangle 80"/>
              <p:cNvSpPr/>
              <p:nvPr/>
            </p:nvSpPr>
            <p:spPr>
              <a:xfrm>
                <a:off x="1275" y="1996"/>
                <a:ext cx="50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111" name="Group 83"/>
            <p:cNvGrpSpPr/>
            <p:nvPr/>
          </p:nvGrpSpPr>
          <p:grpSpPr>
            <a:xfrm>
              <a:off x="3822" y="3157"/>
              <a:ext cx="494" cy="318"/>
              <a:chOff x="1779" y="1996"/>
              <a:chExt cx="420" cy="499"/>
            </a:xfrm>
          </p:grpSpPr>
          <p:sp>
            <p:nvSpPr>
              <p:cNvPr id="85113" name="Rectangle 33"/>
              <p:cNvSpPr/>
              <p:nvPr/>
            </p:nvSpPr>
            <p:spPr>
              <a:xfrm>
                <a:off x="1822" y="1996"/>
                <a:ext cx="33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114" name="Rectangle 82"/>
              <p:cNvSpPr/>
              <p:nvPr/>
            </p:nvSpPr>
            <p:spPr>
              <a:xfrm>
                <a:off x="1779" y="1996"/>
                <a:ext cx="42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85112" name="Rectangle 85"/>
            <p:cNvSpPr/>
            <p:nvPr/>
          </p:nvSpPr>
          <p:spPr>
            <a:xfrm>
              <a:off x="1728" y="1819"/>
              <a:ext cx="2592" cy="1656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84999" name="Group 89"/>
          <p:cNvGrpSpPr/>
          <p:nvPr/>
        </p:nvGrpSpPr>
        <p:grpSpPr>
          <a:xfrm>
            <a:off x="684213" y="1412875"/>
            <a:ext cx="2603500" cy="2233613"/>
            <a:chOff x="-3" y="-3"/>
            <a:chExt cx="1171" cy="2832"/>
          </a:xfrm>
        </p:grpSpPr>
        <p:grpSp>
          <p:nvGrpSpPr>
            <p:cNvPr id="85040" name="Group 90"/>
            <p:cNvGrpSpPr/>
            <p:nvPr/>
          </p:nvGrpSpPr>
          <p:grpSpPr>
            <a:xfrm>
              <a:off x="0" y="0"/>
              <a:ext cx="1165" cy="2826"/>
              <a:chOff x="0" y="0"/>
              <a:chExt cx="1165" cy="2826"/>
            </a:xfrm>
          </p:grpSpPr>
          <p:grpSp>
            <p:nvGrpSpPr>
              <p:cNvPr id="85042" name="Group 91"/>
              <p:cNvGrpSpPr/>
              <p:nvPr/>
            </p:nvGrpSpPr>
            <p:grpSpPr>
              <a:xfrm>
                <a:off x="0" y="0"/>
                <a:ext cx="417" cy="442"/>
                <a:chOff x="0" y="0"/>
                <a:chExt cx="417" cy="442"/>
              </a:xfrm>
            </p:grpSpPr>
            <p:sp>
              <p:nvSpPr>
                <p:cNvPr id="85085" name="Rectangle 92"/>
                <p:cNvSpPr/>
                <p:nvPr/>
              </p:nvSpPr>
              <p:spPr>
                <a:xfrm>
                  <a:off x="43" y="0"/>
                  <a:ext cx="331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86" name="Rectangle 93"/>
                <p:cNvSpPr/>
                <p:nvPr/>
              </p:nvSpPr>
              <p:spPr>
                <a:xfrm>
                  <a:off x="0" y="0"/>
                  <a:ext cx="417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43" name="Group 94"/>
              <p:cNvGrpSpPr/>
              <p:nvPr/>
            </p:nvGrpSpPr>
            <p:grpSpPr>
              <a:xfrm>
                <a:off x="417" y="0"/>
                <a:ext cx="302" cy="442"/>
                <a:chOff x="417" y="0"/>
                <a:chExt cx="302" cy="442"/>
              </a:xfrm>
            </p:grpSpPr>
            <p:sp>
              <p:nvSpPr>
                <p:cNvPr id="85083" name="Rectangle 95"/>
                <p:cNvSpPr/>
                <p:nvPr/>
              </p:nvSpPr>
              <p:spPr>
                <a:xfrm>
                  <a:off x="460" y="0"/>
                  <a:ext cx="216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84" name="Rectangle 96"/>
                <p:cNvSpPr/>
                <p:nvPr/>
              </p:nvSpPr>
              <p:spPr>
                <a:xfrm>
                  <a:off x="417" y="0"/>
                  <a:ext cx="302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44" name="Group 97"/>
              <p:cNvGrpSpPr/>
              <p:nvPr/>
            </p:nvGrpSpPr>
            <p:grpSpPr>
              <a:xfrm>
                <a:off x="719" y="0"/>
                <a:ext cx="446" cy="442"/>
                <a:chOff x="719" y="0"/>
                <a:chExt cx="446" cy="442"/>
              </a:xfrm>
            </p:grpSpPr>
            <p:sp>
              <p:nvSpPr>
                <p:cNvPr id="85081" name="Rectangle 98"/>
                <p:cNvSpPr/>
                <p:nvPr/>
              </p:nvSpPr>
              <p:spPr>
                <a:xfrm>
                  <a:off x="762" y="0"/>
                  <a:ext cx="360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C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82" name="Rectangle 99"/>
                <p:cNvSpPr/>
                <p:nvPr/>
              </p:nvSpPr>
              <p:spPr>
                <a:xfrm>
                  <a:off x="719" y="0"/>
                  <a:ext cx="446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45" name="Group 100"/>
              <p:cNvGrpSpPr/>
              <p:nvPr/>
            </p:nvGrpSpPr>
            <p:grpSpPr>
              <a:xfrm>
                <a:off x="0" y="442"/>
                <a:ext cx="417" cy="596"/>
                <a:chOff x="0" y="442"/>
                <a:chExt cx="417" cy="596"/>
              </a:xfrm>
            </p:grpSpPr>
            <p:sp>
              <p:nvSpPr>
                <p:cNvPr id="85079" name="Rectangle 101"/>
                <p:cNvSpPr/>
                <p:nvPr/>
              </p:nvSpPr>
              <p:spPr>
                <a:xfrm>
                  <a:off x="43" y="442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80" name="Rectangle 102"/>
                <p:cNvSpPr/>
                <p:nvPr/>
              </p:nvSpPr>
              <p:spPr>
                <a:xfrm>
                  <a:off x="0" y="442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46" name="Group 103"/>
              <p:cNvGrpSpPr/>
              <p:nvPr/>
            </p:nvGrpSpPr>
            <p:grpSpPr>
              <a:xfrm>
                <a:off x="417" y="442"/>
                <a:ext cx="333" cy="596"/>
                <a:chOff x="417" y="442"/>
                <a:chExt cx="333" cy="596"/>
              </a:xfrm>
            </p:grpSpPr>
            <p:sp>
              <p:nvSpPr>
                <p:cNvPr id="85077" name="Rectangle 104"/>
                <p:cNvSpPr/>
                <p:nvPr/>
              </p:nvSpPr>
              <p:spPr>
                <a:xfrm>
                  <a:off x="460" y="442"/>
                  <a:ext cx="29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78" name="Rectangle 105"/>
                <p:cNvSpPr/>
                <p:nvPr/>
              </p:nvSpPr>
              <p:spPr>
                <a:xfrm>
                  <a:off x="417" y="442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47" name="Group 106"/>
              <p:cNvGrpSpPr/>
              <p:nvPr/>
            </p:nvGrpSpPr>
            <p:grpSpPr>
              <a:xfrm>
                <a:off x="719" y="442"/>
                <a:ext cx="446" cy="596"/>
                <a:chOff x="719" y="442"/>
                <a:chExt cx="446" cy="596"/>
              </a:xfrm>
            </p:grpSpPr>
            <p:sp>
              <p:nvSpPr>
                <p:cNvPr id="85075" name="Rectangle 107"/>
                <p:cNvSpPr/>
                <p:nvPr/>
              </p:nvSpPr>
              <p:spPr>
                <a:xfrm>
                  <a:off x="762" y="442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5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76" name="Rectangle 108"/>
                <p:cNvSpPr/>
                <p:nvPr/>
              </p:nvSpPr>
              <p:spPr>
                <a:xfrm>
                  <a:off x="719" y="442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48" name="Group 109"/>
              <p:cNvGrpSpPr/>
              <p:nvPr/>
            </p:nvGrpSpPr>
            <p:grpSpPr>
              <a:xfrm>
                <a:off x="0" y="1038"/>
                <a:ext cx="417" cy="596"/>
                <a:chOff x="0" y="1038"/>
                <a:chExt cx="417" cy="596"/>
              </a:xfrm>
            </p:grpSpPr>
            <p:sp>
              <p:nvSpPr>
                <p:cNvPr id="85073" name="Rectangle 110"/>
                <p:cNvSpPr/>
                <p:nvPr/>
              </p:nvSpPr>
              <p:spPr>
                <a:xfrm>
                  <a:off x="43" y="1038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74" name="Rectangle 111"/>
                <p:cNvSpPr/>
                <p:nvPr/>
              </p:nvSpPr>
              <p:spPr>
                <a:xfrm>
                  <a:off x="0" y="1038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49" name="Group 112"/>
              <p:cNvGrpSpPr/>
              <p:nvPr/>
            </p:nvGrpSpPr>
            <p:grpSpPr>
              <a:xfrm>
                <a:off x="417" y="1038"/>
                <a:ext cx="333" cy="596"/>
                <a:chOff x="417" y="1038"/>
                <a:chExt cx="333" cy="596"/>
              </a:xfrm>
            </p:grpSpPr>
            <p:sp>
              <p:nvSpPr>
                <p:cNvPr id="85071" name="Rectangle 113"/>
                <p:cNvSpPr/>
                <p:nvPr/>
              </p:nvSpPr>
              <p:spPr>
                <a:xfrm>
                  <a:off x="460" y="1038"/>
                  <a:ext cx="29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72" name="Rectangle 114"/>
                <p:cNvSpPr/>
                <p:nvPr/>
              </p:nvSpPr>
              <p:spPr>
                <a:xfrm>
                  <a:off x="417" y="1038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50" name="Group 115"/>
              <p:cNvGrpSpPr/>
              <p:nvPr/>
            </p:nvGrpSpPr>
            <p:grpSpPr>
              <a:xfrm>
                <a:off x="719" y="1038"/>
                <a:ext cx="446" cy="596"/>
                <a:chOff x="719" y="1038"/>
                <a:chExt cx="446" cy="596"/>
              </a:xfrm>
            </p:grpSpPr>
            <p:sp>
              <p:nvSpPr>
                <p:cNvPr id="85069" name="Rectangle 116"/>
                <p:cNvSpPr/>
                <p:nvPr/>
              </p:nvSpPr>
              <p:spPr>
                <a:xfrm>
                  <a:off x="762" y="1038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6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70" name="Rectangle 117"/>
                <p:cNvSpPr/>
                <p:nvPr/>
              </p:nvSpPr>
              <p:spPr>
                <a:xfrm>
                  <a:off x="719" y="1038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51" name="Group 118"/>
              <p:cNvGrpSpPr/>
              <p:nvPr/>
            </p:nvGrpSpPr>
            <p:grpSpPr>
              <a:xfrm>
                <a:off x="0" y="1634"/>
                <a:ext cx="417" cy="596"/>
                <a:chOff x="0" y="1634"/>
                <a:chExt cx="417" cy="596"/>
              </a:xfrm>
            </p:grpSpPr>
            <p:sp>
              <p:nvSpPr>
                <p:cNvPr id="85067" name="Rectangle 119"/>
                <p:cNvSpPr/>
                <p:nvPr/>
              </p:nvSpPr>
              <p:spPr>
                <a:xfrm>
                  <a:off x="43" y="1634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68" name="Rectangle 120"/>
                <p:cNvSpPr/>
                <p:nvPr/>
              </p:nvSpPr>
              <p:spPr>
                <a:xfrm>
                  <a:off x="0" y="1634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52" name="Group 121"/>
              <p:cNvGrpSpPr/>
              <p:nvPr/>
            </p:nvGrpSpPr>
            <p:grpSpPr>
              <a:xfrm>
                <a:off x="417" y="1634"/>
                <a:ext cx="333" cy="596"/>
                <a:chOff x="417" y="1634"/>
                <a:chExt cx="333" cy="596"/>
              </a:xfrm>
            </p:grpSpPr>
            <p:sp>
              <p:nvSpPr>
                <p:cNvPr id="85065" name="Rectangle 122"/>
                <p:cNvSpPr/>
                <p:nvPr/>
              </p:nvSpPr>
              <p:spPr>
                <a:xfrm>
                  <a:off x="460" y="1634"/>
                  <a:ext cx="29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3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66" name="Rectangle 123"/>
                <p:cNvSpPr/>
                <p:nvPr/>
              </p:nvSpPr>
              <p:spPr>
                <a:xfrm>
                  <a:off x="417" y="1634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53" name="Group 124"/>
              <p:cNvGrpSpPr/>
              <p:nvPr/>
            </p:nvGrpSpPr>
            <p:grpSpPr>
              <a:xfrm>
                <a:off x="719" y="1634"/>
                <a:ext cx="446" cy="596"/>
                <a:chOff x="719" y="1634"/>
                <a:chExt cx="446" cy="596"/>
              </a:xfrm>
            </p:grpSpPr>
            <p:sp>
              <p:nvSpPr>
                <p:cNvPr id="85063" name="Rectangle 125"/>
                <p:cNvSpPr/>
                <p:nvPr/>
              </p:nvSpPr>
              <p:spPr>
                <a:xfrm>
                  <a:off x="762" y="1634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8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64" name="Rectangle 126"/>
                <p:cNvSpPr/>
                <p:nvPr/>
              </p:nvSpPr>
              <p:spPr>
                <a:xfrm>
                  <a:off x="719" y="1634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54" name="Group 127"/>
              <p:cNvGrpSpPr/>
              <p:nvPr/>
            </p:nvGrpSpPr>
            <p:grpSpPr>
              <a:xfrm>
                <a:off x="0" y="2230"/>
                <a:ext cx="417" cy="596"/>
                <a:chOff x="0" y="2230"/>
                <a:chExt cx="417" cy="596"/>
              </a:xfrm>
            </p:grpSpPr>
            <p:sp>
              <p:nvSpPr>
                <p:cNvPr id="85061" name="Rectangle 128"/>
                <p:cNvSpPr/>
                <p:nvPr/>
              </p:nvSpPr>
              <p:spPr>
                <a:xfrm>
                  <a:off x="43" y="2230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62" name="Rectangle 129"/>
                <p:cNvSpPr/>
                <p:nvPr/>
              </p:nvSpPr>
              <p:spPr>
                <a:xfrm>
                  <a:off x="0" y="2230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55" name="Group 130"/>
              <p:cNvGrpSpPr/>
              <p:nvPr/>
            </p:nvGrpSpPr>
            <p:grpSpPr>
              <a:xfrm>
                <a:off x="417" y="2230"/>
                <a:ext cx="365" cy="596"/>
                <a:chOff x="417" y="2230"/>
                <a:chExt cx="365" cy="596"/>
              </a:xfrm>
            </p:grpSpPr>
            <p:sp>
              <p:nvSpPr>
                <p:cNvPr id="85059" name="Rectangle 131"/>
                <p:cNvSpPr/>
                <p:nvPr/>
              </p:nvSpPr>
              <p:spPr>
                <a:xfrm>
                  <a:off x="460" y="2230"/>
                  <a:ext cx="322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4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60" name="Rectangle 132"/>
                <p:cNvSpPr/>
                <p:nvPr/>
              </p:nvSpPr>
              <p:spPr>
                <a:xfrm>
                  <a:off x="417" y="2230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5056" name="Group 133"/>
              <p:cNvGrpSpPr/>
              <p:nvPr/>
            </p:nvGrpSpPr>
            <p:grpSpPr>
              <a:xfrm>
                <a:off x="719" y="2230"/>
                <a:ext cx="446" cy="596"/>
                <a:chOff x="719" y="2230"/>
                <a:chExt cx="446" cy="596"/>
              </a:xfrm>
            </p:grpSpPr>
            <p:sp>
              <p:nvSpPr>
                <p:cNvPr id="85057" name="Rectangle 134"/>
                <p:cNvSpPr/>
                <p:nvPr/>
              </p:nvSpPr>
              <p:spPr>
                <a:xfrm>
                  <a:off x="762" y="2230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12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5058" name="Rectangle 135"/>
                <p:cNvSpPr/>
                <p:nvPr/>
              </p:nvSpPr>
              <p:spPr>
                <a:xfrm>
                  <a:off x="719" y="2230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85041" name="Rectangle 136"/>
            <p:cNvSpPr/>
            <p:nvPr/>
          </p:nvSpPr>
          <p:spPr>
            <a:xfrm>
              <a:off x="-3" y="-3"/>
              <a:ext cx="1171" cy="2832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85000" name="Group 137"/>
          <p:cNvGrpSpPr/>
          <p:nvPr/>
        </p:nvGrpSpPr>
        <p:grpSpPr>
          <a:xfrm>
            <a:off x="1258888" y="3789363"/>
            <a:ext cx="2016125" cy="2735262"/>
            <a:chOff x="3744" y="1392"/>
            <a:chExt cx="1104" cy="2038"/>
          </a:xfrm>
        </p:grpSpPr>
        <p:grpSp>
          <p:nvGrpSpPr>
            <p:cNvPr id="85003" name="Group 138"/>
            <p:cNvGrpSpPr/>
            <p:nvPr/>
          </p:nvGrpSpPr>
          <p:grpSpPr>
            <a:xfrm>
              <a:off x="3748" y="1394"/>
              <a:ext cx="538" cy="336"/>
              <a:chOff x="0" y="0"/>
              <a:chExt cx="360" cy="499"/>
            </a:xfrm>
          </p:grpSpPr>
          <p:sp>
            <p:nvSpPr>
              <p:cNvPr id="85038" name="Rectangle 139"/>
              <p:cNvSpPr/>
              <p:nvPr/>
            </p:nvSpPr>
            <p:spPr>
              <a:xfrm>
                <a:off x="43" y="0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cs typeface="Times New Roman" panose="02020603050405020304" pitchFamily="18" charset="0"/>
                  </a:rPr>
                  <a:t>B</a:t>
                </a:r>
                <a:endParaRPr lang="en-US" altLang="zh-CN" sz="2400" b="1" i="1" dirty="0">
                  <a:latin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039" name="Rectangle 140"/>
              <p:cNvSpPr/>
              <p:nvPr/>
            </p:nvSpPr>
            <p:spPr>
              <a:xfrm>
                <a:off x="0" y="0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04" name="Group 141"/>
            <p:cNvGrpSpPr/>
            <p:nvPr/>
          </p:nvGrpSpPr>
          <p:grpSpPr>
            <a:xfrm>
              <a:off x="4286" y="1394"/>
              <a:ext cx="558" cy="336"/>
              <a:chOff x="360" y="0"/>
              <a:chExt cx="374" cy="499"/>
            </a:xfrm>
          </p:grpSpPr>
          <p:sp>
            <p:nvSpPr>
              <p:cNvPr id="85036" name="Rectangle 142"/>
              <p:cNvSpPr/>
              <p:nvPr/>
            </p:nvSpPr>
            <p:spPr>
              <a:xfrm>
                <a:off x="403" y="0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E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037" name="Rectangle 143"/>
              <p:cNvSpPr/>
              <p:nvPr/>
            </p:nvSpPr>
            <p:spPr>
              <a:xfrm>
                <a:off x="360" y="0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05" name="Group 144"/>
            <p:cNvGrpSpPr/>
            <p:nvPr/>
          </p:nvGrpSpPr>
          <p:grpSpPr>
            <a:xfrm>
              <a:off x="3748" y="1730"/>
              <a:ext cx="538" cy="335"/>
              <a:chOff x="0" y="499"/>
              <a:chExt cx="360" cy="499"/>
            </a:xfrm>
          </p:grpSpPr>
          <p:sp>
            <p:nvSpPr>
              <p:cNvPr id="85034" name="Rectangle 145"/>
              <p:cNvSpPr/>
              <p:nvPr/>
            </p:nvSpPr>
            <p:spPr>
              <a:xfrm>
                <a:off x="43" y="499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035" name="Rectangle 146"/>
              <p:cNvSpPr/>
              <p:nvPr/>
            </p:nvSpPr>
            <p:spPr>
              <a:xfrm>
                <a:off x="0" y="499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06" name="Group 147"/>
            <p:cNvGrpSpPr/>
            <p:nvPr/>
          </p:nvGrpSpPr>
          <p:grpSpPr>
            <a:xfrm>
              <a:off x="4286" y="1730"/>
              <a:ext cx="558" cy="335"/>
              <a:chOff x="360" y="499"/>
              <a:chExt cx="374" cy="499"/>
            </a:xfrm>
          </p:grpSpPr>
          <p:sp>
            <p:nvSpPr>
              <p:cNvPr id="85032" name="Rectangle 148"/>
              <p:cNvSpPr/>
              <p:nvPr/>
            </p:nvSpPr>
            <p:spPr>
              <a:xfrm>
                <a:off x="403" y="499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3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033" name="Rectangle 149"/>
              <p:cNvSpPr/>
              <p:nvPr/>
            </p:nvSpPr>
            <p:spPr>
              <a:xfrm>
                <a:off x="360" y="499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07" name="Group 150"/>
            <p:cNvGrpSpPr/>
            <p:nvPr/>
          </p:nvGrpSpPr>
          <p:grpSpPr>
            <a:xfrm>
              <a:off x="3748" y="2065"/>
              <a:ext cx="538" cy="336"/>
              <a:chOff x="0" y="998"/>
              <a:chExt cx="360" cy="499"/>
            </a:xfrm>
          </p:grpSpPr>
          <p:sp>
            <p:nvSpPr>
              <p:cNvPr id="85030" name="Rectangle 151"/>
              <p:cNvSpPr/>
              <p:nvPr/>
            </p:nvSpPr>
            <p:spPr>
              <a:xfrm>
                <a:off x="43" y="998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031" name="Rectangle 152"/>
              <p:cNvSpPr/>
              <p:nvPr/>
            </p:nvSpPr>
            <p:spPr>
              <a:xfrm>
                <a:off x="0" y="998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08" name="Group 153"/>
            <p:cNvGrpSpPr/>
            <p:nvPr/>
          </p:nvGrpSpPr>
          <p:grpSpPr>
            <a:xfrm>
              <a:off x="4286" y="2065"/>
              <a:ext cx="558" cy="336"/>
              <a:chOff x="360" y="998"/>
              <a:chExt cx="374" cy="499"/>
            </a:xfrm>
          </p:grpSpPr>
          <p:sp>
            <p:nvSpPr>
              <p:cNvPr id="85028" name="Rectangle 154"/>
              <p:cNvSpPr/>
              <p:nvPr/>
            </p:nvSpPr>
            <p:spPr>
              <a:xfrm>
                <a:off x="403" y="998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7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029" name="Rectangle 155"/>
              <p:cNvSpPr/>
              <p:nvPr/>
            </p:nvSpPr>
            <p:spPr>
              <a:xfrm>
                <a:off x="360" y="998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09" name="Group 156"/>
            <p:cNvGrpSpPr/>
            <p:nvPr/>
          </p:nvGrpSpPr>
          <p:grpSpPr>
            <a:xfrm>
              <a:off x="3748" y="2401"/>
              <a:ext cx="538" cy="349"/>
              <a:chOff x="0" y="1497"/>
              <a:chExt cx="360" cy="710"/>
            </a:xfrm>
          </p:grpSpPr>
          <p:sp>
            <p:nvSpPr>
              <p:cNvPr id="85026" name="Rectangle 157"/>
              <p:cNvSpPr/>
              <p:nvPr/>
            </p:nvSpPr>
            <p:spPr>
              <a:xfrm>
                <a:off x="43" y="1497"/>
                <a:ext cx="274" cy="7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027" name="Rectangle 158"/>
              <p:cNvSpPr/>
              <p:nvPr/>
            </p:nvSpPr>
            <p:spPr>
              <a:xfrm>
                <a:off x="0" y="1497"/>
                <a:ext cx="360" cy="71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10" name="Group 159"/>
            <p:cNvGrpSpPr/>
            <p:nvPr/>
          </p:nvGrpSpPr>
          <p:grpSpPr>
            <a:xfrm>
              <a:off x="4286" y="2401"/>
              <a:ext cx="558" cy="349"/>
              <a:chOff x="360" y="1497"/>
              <a:chExt cx="374" cy="710"/>
            </a:xfrm>
          </p:grpSpPr>
          <p:sp>
            <p:nvSpPr>
              <p:cNvPr id="85024" name="Rectangle 160"/>
              <p:cNvSpPr/>
              <p:nvPr/>
            </p:nvSpPr>
            <p:spPr>
              <a:xfrm>
                <a:off x="403" y="1497"/>
                <a:ext cx="288" cy="7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10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025" name="Rectangle 161"/>
              <p:cNvSpPr/>
              <p:nvPr/>
            </p:nvSpPr>
            <p:spPr>
              <a:xfrm>
                <a:off x="360" y="1497"/>
                <a:ext cx="374" cy="71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11" name="Group 162"/>
            <p:cNvGrpSpPr/>
            <p:nvPr/>
          </p:nvGrpSpPr>
          <p:grpSpPr>
            <a:xfrm>
              <a:off x="3748" y="2750"/>
              <a:ext cx="538" cy="335"/>
              <a:chOff x="0" y="2207"/>
              <a:chExt cx="360" cy="499"/>
            </a:xfrm>
          </p:grpSpPr>
          <p:sp>
            <p:nvSpPr>
              <p:cNvPr id="85022" name="Rectangle 163"/>
              <p:cNvSpPr/>
              <p:nvPr/>
            </p:nvSpPr>
            <p:spPr>
              <a:xfrm>
                <a:off x="43" y="2207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023" name="Rectangle 164"/>
              <p:cNvSpPr/>
              <p:nvPr/>
            </p:nvSpPr>
            <p:spPr>
              <a:xfrm>
                <a:off x="0" y="2207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12" name="Group 165"/>
            <p:cNvGrpSpPr/>
            <p:nvPr/>
          </p:nvGrpSpPr>
          <p:grpSpPr>
            <a:xfrm>
              <a:off x="4286" y="2750"/>
              <a:ext cx="558" cy="335"/>
              <a:chOff x="360" y="2207"/>
              <a:chExt cx="374" cy="499"/>
            </a:xfrm>
          </p:grpSpPr>
          <p:sp>
            <p:nvSpPr>
              <p:cNvPr id="85020" name="Rectangle 166"/>
              <p:cNvSpPr/>
              <p:nvPr/>
            </p:nvSpPr>
            <p:spPr>
              <a:xfrm>
                <a:off x="403" y="2207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2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021" name="Rectangle 167"/>
              <p:cNvSpPr/>
              <p:nvPr/>
            </p:nvSpPr>
            <p:spPr>
              <a:xfrm>
                <a:off x="360" y="2207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13" name="Group 168"/>
            <p:cNvGrpSpPr/>
            <p:nvPr/>
          </p:nvGrpSpPr>
          <p:grpSpPr>
            <a:xfrm>
              <a:off x="3748" y="3085"/>
              <a:ext cx="538" cy="336"/>
              <a:chOff x="0" y="2706"/>
              <a:chExt cx="360" cy="499"/>
            </a:xfrm>
          </p:grpSpPr>
          <p:sp>
            <p:nvSpPr>
              <p:cNvPr id="85018" name="Rectangle 169"/>
              <p:cNvSpPr/>
              <p:nvPr/>
            </p:nvSpPr>
            <p:spPr>
              <a:xfrm>
                <a:off x="43" y="2706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5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019" name="Rectangle 170"/>
              <p:cNvSpPr/>
              <p:nvPr/>
            </p:nvSpPr>
            <p:spPr>
              <a:xfrm>
                <a:off x="0" y="2706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5014" name="Group 171"/>
            <p:cNvGrpSpPr/>
            <p:nvPr/>
          </p:nvGrpSpPr>
          <p:grpSpPr>
            <a:xfrm>
              <a:off x="4286" y="3085"/>
              <a:ext cx="558" cy="336"/>
              <a:chOff x="360" y="2706"/>
              <a:chExt cx="374" cy="499"/>
            </a:xfrm>
          </p:grpSpPr>
          <p:sp>
            <p:nvSpPr>
              <p:cNvPr id="85016" name="Rectangle 172"/>
              <p:cNvSpPr/>
              <p:nvPr/>
            </p:nvSpPr>
            <p:spPr>
              <a:xfrm>
                <a:off x="403" y="2706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2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5017" name="Rectangle 173"/>
              <p:cNvSpPr/>
              <p:nvPr/>
            </p:nvSpPr>
            <p:spPr>
              <a:xfrm>
                <a:off x="360" y="2706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85015" name="Rectangle 174"/>
            <p:cNvSpPr/>
            <p:nvPr/>
          </p:nvSpPr>
          <p:spPr>
            <a:xfrm>
              <a:off x="3744" y="1392"/>
              <a:ext cx="1104" cy="2038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sp>
        <p:nvSpPr>
          <p:cNvPr id="85001" name="Rectangle 175"/>
          <p:cNvSpPr/>
          <p:nvPr/>
        </p:nvSpPr>
        <p:spPr>
          <a:xfrm>
            <a:off x="-180975" y="1484313"/>
            <a:ext cx="12954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p>
            <a:pPr algn="ctr" eaLnBrk="1" hangingPunct="1"/>
            <a:r>
              <a:rPr lang="en-US" altLang="zh-CN" sz="2400" b="1" i="1" dirty="0">
                <a:latin typeface="Verdana" panose="020B0604030504040204" pitchFamily="34" charset="0"/>
              </a:rPr>
              <a:t>R</a:t>
            </a:r>
            <a:endParaRPr lang="en-US" altLang="zh-CN" sz="2400" b="1" i="1" dirty="0">
              <a:latin typeface="Verdana" panose="020B0604030504040204" pitchFamily="34" charset="0"/>
            </a:endParaRPr>
          </a:p>
        </p:txBody>
      </p:sp>
      <p:sp>
        <p:nvSpPr>
          <p:cNvPr id="85002" name="Rectangle 176"/>
          <p:cNvSpPr/>
          <p:nvPr/>
        </p:nvSpPr>
        <p:spPr>
          <a:xfrm>
            <a:off x="179388" y="4149725"/>
            <a:ext cx="1524000" cy="5334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p>
            <a:pPr algn="ctr" eaLnBrk="1" hangingPunct="1"/>
            <a:r>
              <a:rPr lang="en-US" altLang="zh-CN" sz="2400" b="1" i="1" dirty="0">
                <a:latin typeface="Verdana" panose="020B0604030504040204" pitchFamily="34" charset="0"/>
              </a:rPr>
              <a:t>S</a:t>
            </a:r>
            <a:endParaRPr lang="en-US" altLang="zh-CN" sz="2400" b="1" i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601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 </a:t>
            </a:r>
            <a:r>
              <a:rPr lang="zh-CN" altLang="en-US" dirty="0"/>
              <a:t>连接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 </a:t>
            </a:r>
            <a:endParaRPr lang="en-US" altLang="zh-CN" dirty="0"/>
          </a:p>
        </p:txBody>
      </p:sp>
      <p:sp>
        <p:nvSpPr>
          <p:cNvPr id="86020" name="Rectangle 3"/>
          <p:cNvSpPr>
            <a:spLocks noGrp="1"/>
          </p:cNvSpPr>
          <p:nvPr>
            <p:ph idx="1"/>
          </p:nvPr>
        </p:nvSpPr>
        <p:spPr>
          <a:xfrm>
            <a:off x="-396875" y="1196975"/>
            <a:ext cx="9467850" cy="5040313"/>
          </a:xfrm>
          <a:ln/>
        </p:spPr>
        <p:txBody>
          <a:bodyPr vert="horz" wrap="square" lIns="91440" tIns="45720" rIns="91440" bIns="45720" anchor="t" anchorCtr="0"/>
          <a:p>
            <a:pPr lvl="1" algn="just">
              <a:lnSpc>
                <a:spcPct val="110000"/>
              </a:lnSpc>
            </a:pPr>
            <a:r>
              <a:rPr lang="zh-CN" altLang="en-US" dirty="0"/>
              <a:t>自然连接（</a:t>
            </a:r>
            <a:r>
              <a:rPr lang="en-US" altLang="zh-CN" dirty="0"/>
              <a:t>Natural join</a:t>
            </a:r>
            <a:r>
              <a:rPr lang="zh-CN" altLang="en-US" dirty="0"/>
              <a:t>）</a:t>
            </a:r>
            <a:r>
              <a:rPr lang="zh-CN" altLang="en-US" dirty="0">
                <a:cs typeface="Times New Roman" panose="02020603050405020304" pitchFamily="18" charset="0"/>
              </a:rPr>
              <a:t> </a:t>
            </a:r>
            <a:endParaRPr lang="zh-CN" altLang="en-US" dirty="0">
              <a:cs typeface="Times New Roman" panose="02020603050405020304" pitchFamily="18" charset="0"/>
            </a:endParaRPr>
          </a:p>
          <a:p>
            <a:pPr lvl="2" algn="just">
              <a:lnSpc>
                <a:spcPct val="110000"/>
              </a:lnSpc>
            </a:pPr>
            <a:r>
              <a:rPr lang="zh-CN" altLang="en-US" dirty="0"/>
              <a:t>什么是自然连接</a:t>
            </a:r>
            <a:endParaRPr lang="zh-CN" altLang="en-US" dirty="0"/>
          </a:p>
          <a:p>
            <a:pPr marL="1719580" lvl="3" indent="-347980">
              <a:lnSpc>
                <a:spcPct val="110000"/>
              </a:lnSpc>
              <a:buClr>
                <a:schemeClr val="folHlink"/>
              </a:buClr>
            </a:pPr>
            <a:r>
              <a:rPr lang="zh-CN" altLang="en-US" sz="2800" b="1" dirty="0">
                <a:ea typeface="楷体_GB2312" pitchFamily="49" charset="-122"/>
              </a:rPr>
              <a:t>自然连接是一种</a:t>
            </a:r>
            <a:r>
              <a:rPr lang="zh-CN" altLang="en-US" sz="2800" b="1" dirty="0">
                <a:solidFill>
                  <a:srgbClr val="0033CC"/>
                </a:solidFill>
                <a:ea typeface="楷体_GB2312" pitchFamily="49" charset="-122"/>
              </a:rPr>
              <a:t>特殊的等值连接</a:t>
            </a:r>
            <a:endParaRPr lang="zh-CN" altLang="en-US" sz="2800" b="1" dirty="0">
              <a:solidFill>
                <a:srgbClr val="0033CC"/>
              </a:solidFill>
              <a:ea typeface="楷体_GB2312" pitchFamily="49" charset="-122"/>
            </a:endParaRPr>
          </a:p>
          <a:p>
            <a:pPr marL="1719580" lvl="3" indent="-347980">
              <a:lnSpc>
                <a:spcPct val="110000"/>
              </a:lnSpc>
              <a:buClr>
                <a:schemeClr val="folHlink"/>
              </a:buClr>
            </a:pPr>
            <a:r>
              <a:rPr lang="zh-CN" altLang="en-US" sz="2800" b="1" dirty="0">
                <a:ea typeface="楷体_GB2312" pitchFamily="49" charset="-122"/>
              </a:rPr>
              <a:t>两个关系中进行比较的分量必须是相同的属性组</a:t>
            </a:r>
            <a:endParaRPr lang="zh-CN" altLang="en-US" sz="2800" b="1" dirty="0">
              <a:ea typeface="楷体_GB2312" pitchFamily="49" charset="-122"/>
            </a:endParaRPr>
          </a:p>
          <a:p>
            <a:pPr marL="1719580" lvl="3" indent="-347980">
              <a:lnSpc>
                <a:spcPct val="110000"/>
              </a:lnSpc>
              <a:buClr>
                <a:schemeClr val="folHlink"/>
              </a:buClr>
            </a:pPr>
            <a:r>
              <a:rPr lang="zh-CN" altLang="en-US" sz="2800" b="1" dirty="0">
                <a:solidFill>
                  <a:srgbClr val="0033CC"/>
                </a:solidFill>
                <a:ea typeface="楷体_GB2312" pitchFamily="49" charset="-122"/>
              </a:rPr>
              <a:t>在结果中把重复的属性列去掉</a:t>
            </a:r>
            <a:endParaRPr lang="zh-CN" altLang="en-US" sz="2800" b="1" dirty="0">
              <a:solidFill>
                <a:srgbClr val="0033CC"/>
              </a:solidFill>
              <a:ea typeface="楷体_GB2312" pitchFamily="49" charset="-122"/>
            </a:endParaRPr>
          </a:p>
          <a:p>
            <a:pPr lvl="2" algn="just">
              <a:lnSpc>
                <a:spcPct val="110000"/>
              </a:lnSpc>
            </a:pPr>
            <a:r>
              <a:rPr lang="zh-CN" altLang="en-US" dirty="0"/>
              <a:t>自然连接的含义</a:t>
            </a:r>
            <a:endParaRPr lang="zh-CN" altLang="en-US" dirty="0"/>
          </a:p>
          <a:p>
            <a:pPr marL="1719580" lvl="3" indent="-347980" algn="just">
              <a:lnSpc>
                <a:spcPct val="110000"/>
              </a:lnSpc>
              <a:buClr>
                <a:schemeClr val="folHlink"/>
              </a:buClr>
            </a:pPr>
            <a:r>
              <a:rPr lang="en-US" altLang="zh-CN" sz="2800" b="1" i="1" dirty="0">
                <a:ea typeface="楷体_GB2312" pitchFamily="49" charset="-122"/>
              </a:rPr>
              <a:t>R</a:t>
            </a:r>
            <a:r>
              <a:rPr lang="zh-CN" altLang="en-US" sz="2800" b="1" dirty="0">
                <a:ea typeface="楷体_GB2312" pitchFamily="49" charset="-122"/>
              </a:rPr>
              <a:t>和</a:t>
            </a:r>
            <a:r>
              <a:rPr lang="en-US" altLang="zh-CN" sz="2800" b="1" i="1" dirty="0">
                <a:ea typeface="楷体_GB2312" pitchFamily="49" charset="-122"/>
              </a:rPr>
              <a:t>S</a:t>
            </a:r>
            <a:r>
              <a:rPr lang="zh-CN" altLang="en-US" sz="2800" b="1" dirty="0">
                <a:ea typeface="楷体_GB2312" pitchFamily="49" charset="-122"/>
              </a:rPr>
              <a:t>具有相同的属性组</a:t>
            </a:r>
            <a:r>
              <a:rPr lang="en-US" altLang="zh-CN" sz="2800" b="1" i="1" dirty="0">
                <a:ea typeface="楷体_GB2312" pitchFamily="49" charset="-122"/>
              </a:rPr>
              <a:t>B</a:t>
            </a:r>
            <a:endParaRPr lang="en-US" altLang="zh-CN" sz="2800" b="1" dirty="0">
              <a:ea typeface="楷体_GB2312" pitchFamily="49" charset="-122"/>
            </a:endParaRPr>
          </a:p>
          <a:p>
            <a:pPr lvl="1">
              <a:lnSpc>
                <a:spcPct val="110000"/>
              </a:lnSpc>
              <a:buNone/>
            </a:pPr>
            <a:r>
              <a:rPr lang="en-US" altLang="zh-CN" dirty="0"/>
              <a:t>       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b="1" dirty="0">
                <a:ea typeface="楷体_GB2312" pitchFamily="49" charset="-122"/>
              </a:rPr>
              <a:t>⋈</a:t>
            </a:r>
            <a:r>
              <a:rPr lang="en-US" altLang="zh-CN" i="1" dirty="0"/>
              <a:t>S</a:t>
            </a:r>
            <a:r>
              <a:rPr lang="en-US" altLang="zh-CN" dirty="0"/>
              <a:t> = {       | t</a:t>
            </a:r>
            <a:r>
              <a:rPr lang="en-US" altLang="zh-CN" baseline="-30000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∧</a:t>
            </a:r>
            <a:r>
              <a:rPr lang="en-US" altLang="zh-CN" i="1" dirty="0"/>
              <a:t>t</a:t>
            </a:r>
            <a:r>
              <a:rPr lang="en-US" altLang="zh-CN" baseline="-30000" dirty="0"/>
              <a:t>s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S</a:t>
            </a:r>
            <a:r>
              <a:rPr lang="en-US" altLang="zh-CN" dirty="0"/>
              <a:t>∧</a:t>
            </a:r>
            <a:r>
              <a:rPr lang="en-US" altLang="zh-CN" i="1" dirty="0"/>
              <a:t>t</a:t>
            </a:r>
            <a:r>
              <a:rPr lang="en-US" altLang="zh-CN" baseline="-30000" dirty="0"/>
              <a:t>r</a:t>
            </a:r>
            <a:r>
              <a:rPr lang="en-US" altLang="zh-CN" dirty="0"/>
              <a:t>[</a:t>
            </a:r>
            <a:r>
              <a:rPr lang="en-US" altLang="zh-CN" i="1" dirty="0">
                <a:solidFill>
                  <a:srgbClr val="0033CC"/>
                </a:solidFill>
              </a:rPr>
              <a:t>B</a:t>
            </a:r>
            <a:r>
              <a:rPr lang="en-US" altLang="zh-CN" dirty="0"/>
              <a:t>] = </a:t>
            </a:r>
            <a:r>
              <a:rPr lang="en-US" altLang="zh-CN" i="1" dirty="0"/>
              <a:t>t</a:t>
            </a:r>
            <a:r>
              <a:rPr lang="en-US" altLang="zh-CN" baseline="-30000" dirty="0"/>
              <a:t>s</a:t>
            </a:r>
            <a:r>
              <a:rPr lang="en-US" altLang="zh-CN" dirty="0"/>
              <a:t>[</a:t>
            </a:r>
            <a:r>
              <a:rPr lang="en-US" altLang="zh-CN" i="1" dirty="0">
                <a:solidFill>
                  <a:srgbClr val="0033CC"/>
                </a:solidFill>
              </a:rPr>
              <a:t>B</a:t>
            </a:r>
            <a:r>
              <a:rPr lang="en-US" altLang="zh-CN" dirty="0"/>
              <a:t>] }  </a:t>
            </a:r>
            <a:endParaRPr lang="en-US" altLang="zh-CN" dirty="0"/>
          </a:p>
        </p:txBody>
      </p:sp>
      <p:grpSp>
        <p:nvGrpSpPr>
          <p:cNvPr id="86021" name="Group 6"/>
          <p:cNvGrpSpPr/>
          <p:nvPr/>
        </p:nvGrpSpPr>
        <p:grpSpPr>
          <a:xfrm>
            <a:off x="2857500" y="5000625"/>
            <a:ext cx="609600" cy="392113"/>
            <a:chOff x="2400" y="3199"/>
            <a:chExt cx="384" cy="247"/>
          </a:xfrm>
        </p:grpSpPr>
        <p:sp>
          <p:nvSpPr>
            <p:cNvPr id="86022" name="Text Box 7"/>
            <p:cNvSpPr txBox="1"/>
            <p:nvPr/>
          </p:nvSpPr>
          <p:spPr>
            <a:xfrm>
              <a:off x="2400" y="3216"/>
              <a:ext cx="38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30000" dirty="0">
                  <a:latin typeface="Times New Roman" panose="02020603050405020304" pitchFamily="18" charset="0"/>
                </a:rPr>
                <a:t>r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30000" dirty="0">
                  <a:latin typeface="Times New Roman" panose="02020603050405020304" pitchFamily="18" charset="0"/>
                </a:rPr>
                <a:t>s</a:t>
              </a:r>
              <a:endParaRPr lang="en-US" altLang="zh-CN" sz="2400" b="1" baseline="-30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23" name="Freeform 8"/>
            <p:cNvSpPr/>
            <p:nvPr/>
          </p:nvSpPr>
          <p:spPr>
            <a:xfrm>
              <a:off x="2504" y="3199"/>
              <a:ext cx="156" cy="62"/>
            </a:xfrm>
            <a:custGeom>
              <a:avLst/>
              <a:gdLst>
                <a:gd name="txL" fmla="*/ 0 w 156"/>
                <a:gd name="txT" fmla="*/ 0 h 62"/>
                <a:gd name="txR" fmla="*/ 156 w 156"/>
                <a:gd name="txB" fmla="*/ 62 h 62"/>
              </a:gdLst>
              <a:ahLst/>
              <a:cxnLst>
                <a:cxn ang="0">
                  <a:pos x="0" y="62"/>
                </a:cxn>
                <a:cxn ang="0">
                  <a:pos x="117" y="23"/>
                </a:cxn>
                <a:cxn ang="0">
                  <a:pos x="156" y="62"/>
                </a:cxn>
              </a:cxnLst>
              <a:rect l="txL" t="txT" r="txR" b="txB"/>
              <a:pathLst>
                <a:path w="156" h="62">
                  <a:moveTo>
                    <a:pt x="0" y="62"/>
                  </a:moveTo>
                  <a:cubicBezTo>
                    <a:pt x="89" y="2"/>
                    <a:pt x="48" y="0"/>
                    <a:pt x="117" y="23"/>
                  </a:cubicBezTo>
                  <a:cubicBezTo>
                    <a:pt x="130" y="36"/>
                    <a:pt x="156" y="62"/>
                    <a:pt x="156" y="62"/>
                  </a:cubicBez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 advClick="0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70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连接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87044" name="Rectangle 3"/>
          <p:cNvSpPr>
            <a:spLocks noGrp="1"/>
          </p:cNvSpPr>
          <p:nvPr>
            <p:ph idx="1"/>
          </p:nvPr>
        </p:nvSpPr>
        <p:spPr>
          <a:xfrm>
            <a:off x="5111750" y="1341438"/>
            <a:ext cx="4032250" cy="762000"/>
          </a:xfrm>
          <a:ln/>
        </p:spPr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en-US" altLang="zh-CN" dirty="0"/>
              <a:t>   </a:t>
            </a:r>
            <a:r>
              <a:rPr lang="zh-CN" altLang="en-US" dirty="0"/>
              <a:t>自然连接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sz="3200" b="1" dirty="0">
                <a:ea typeface="楷体_GB2312" pitchFamily="49" charset="-122"/>
              </a:rPr>
              <a:t>⋈</a:t>
            </a:r>
            <a:r>
              <a:rPr lang="en-US" altLang="zh-CN" i="1" dirty="0"/>
              <a:t> S </a:t>
            </a:r>
            <a:endParaRPr lang="en-US" altLang="zh-CN" dirty="0"/>
          </a:p>
        </p:txBody>
      </p:sp>
      <p:grpSp>
        <p:nvGrpSpPr>
          <p:cNvPr id="2" name="Group 71"/>
          <p:cNvGrpSpPr/>
          <p:nvPr/>
        </p:nvGrpSpPr>
        <p:grpSpPr>
          <a:xfrm>
            <a:off x="5219700" y="2205038"/>
            <a:ext cx="3636963" cy="2947987"/>
            <a:chOff x="1541" y="1346"/>
            <a:chExt cx="2198" cy="1585"/>
          </a:xfrm>
        </p:grpSpPr>
        <p:grpSp>
          <p:nvGrpSpPr>
            <p:cNvPr id="87212" name="Group 29"/>
            <p:cNvGrpSpPr/>
            <p:nvPr/>
          </p:nvGrpSpPr>
          <p:grpSpPr>
            <a:xfrm>
              <a:off x="1541" y="1346"/>
              <a:ext cx="550" cy="315"/>
              <a:chOff x="0" y="0"/>
              <a:chExt cx="360" cy="499"/>
            </a:xfrm>
          </p:grpSpPr>
          <p:sp>
            <p:nvSpPr>
              <p:cNvPr id="87270" name="Rectangle 8"/>
              <p:cNvSpPr/>
              <p:nvPr/>
            </p:nvSpPr>
            <p:spPr>
              <a:xfrm>
                <a:off x="43" y="0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71" name="Rectangle 28"/>
              <p:cNvSpPr/>
              <p:nvPr/>
            </p:nvSpPr>
            <p:spPr>
              <a:xfrm>
                <a:off x="0" y="0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13" name="Group 31"/>
            <p:cNvGrpSpPr/>
            <p:nvPr/>
          </p:nvGrpSpPr>
          <p:grpSpPr>
            <a:xfrm>
              <a:off x="2091" y="1346"/>
              <a:ext cx="549" cy="315"/>
              <a:chOff x="360" y="0"/>
              <a:chExt cx="360" cy="499"/>
            </a:xfrm>
          </p:grpSpPr>
          <p:sp>
            <p:nvSpPr>
              <p:cNvPr id="87268" name="Rectangle 9"/>
              <p:cNvSpPr/>
              <p:nvPr/>
            </p:nvSpPr>
            <p:spPr>
              <a:xfrm>
                <a:off x="403" y="0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69" name="Rectangle 30"/>
              <p:cNvSpPr/>
              <p:nvPr/>
            </p:nvSpPr>
            <p:spPr>
              <a:xfrm>
                <a:off x="360" y="0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14" name="Group 33"/>
            <p:cNvGrpSpPr/>
            <p:nvPr/>
          </p:nvGrpSpPr>
          <p:grpSpPr>
            <a:xfrm>
              <a:off x="2640" y="1346"/>
              <a:ext cx="550" cy="315"/>
              <a:chOff x="720" y="0"/>
              <a:chExt cx="360" cy="499"/>
            </a:xfrm>
          </p:grpSpPr>
          <p:sp>
            <p:nvSpPr>
              <p:cNvPr id="87266" name="Rectangle 10"/>
              <p:cNvSpPr/>
              <p:nvPr/>
            </p:nvSpPr>
            <p:spPr>
              <a:xfrm>
                <a:off x="763" y="0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C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67" name="Rectangle 32"/>
              <p:cNvSpPr/>
              <p:nvPr/>
            </p:nvSpPr>
            <p:spPr>
              <a:xfrm>
                <a:off x="720" y="0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15" name="Group 35"/>
            <p:cNvGrpSpPr/>
            <p:nvPr/>
          </p:nvGrpSpPr>
          <p:grpSpPr>
            <a:xfrm>
              <a:off x="3190" y="1346"/>
              <a:ext cx="549" cy="315"/>
              <a:chOff x="1080" y="0"/>
              <a:chExt cx="360" cy="499"/>
            </a:xfrm>
          </p:grpSpPr>
          <p:sp>
            <p:nvSpPr>
              <p:cNvPr id="87264" name="Rectangle 11"/>
              <p:cNvSpPr/>
              <p:nvPr/>
            </p:nvSpPr>
            <p:spPr>
              <a:xfrm>
                <a:off x="1123" y="0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E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65" name="Rectangle 34"/>
              <p:cNvSpPr/>
              <p:nvPr/>
            </p:nvSpPr>
            <p:spPr>
              <a:xfrm>
                <a:off x="1080" y="0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16" name="Group 37"/>
            <p:cNvGrpSpPr/>
            <p:nvPr/>
          </p:nvGrpSpPr>
          <p:grpSpPr>
            <a:xfrm>
              <a:off x="1541" y="1661"/>
              <a:ext cx="550" cy="318"/>
              <a:chOff x="0" y="499"/>
              <a:chExt cx="360" cy="499"/>
            </a:xfrm>
          </p:grpSpPr>
          <p:sp>
            <p:nvSpPr>
              <p:cNvPr id="87262" name="Rectangle 12"/>
              <p:cNvSpPr/>
              <p:nvPr/>
            </p:nvSpPr>
            <p:spPr>
              <a:xfrm>
                <a:off x="43" y="499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63" name="Rectangle 36"/>
              <p:cNvSpPr/>
              <p:nvPr/>
            </p:nvSpPr>
            <p:spPr>
              <a:xfrm>
                <a:off x="0" y="499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17" name="Group 39"/>
            <p:cNvGrpSpPr/>
            <p:nvPr/>
          </p:nvGrpSpPr>
          <p:grpSpPr>
            <a:xfrm>
              <a:off x="2091" y="1661"/>
              <a:ext cx="549" cy="318"/>
              <a:chOff x="360" y="499"/>
              <a:chExt cx="360" cy="499"/>
            </a:xfrm>
          </p:grpSpPr>
          <p:sp>
            <p:nvSpPr>
              <p:cNvPr id="87260" name="Rectangle 13"/>
              <p:cNvSpPr/>
              <p:nvPr/>
            </p:nvSpPr>
            <p:spPr>
              <a:xfrm>
                <a:off x="403" y="499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61" name="Rectangle 38"/>
              <p:cNvSpPr/>
              <p:nvPr/>
            </p:nvSpPr>
            <p:spPr>
              <a:xfrm>
                <a:off x="360" y="499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18" name="Group 41"/>
            <p:cNvGrpSpPr/>
            <p:nvPr/>
          </p:nvGrpSpPr>
          <p:grpSpPr>
            <a:xfrm>
              <a:off x="2640" y="1661"/>
              <a:ext cx="550" cy="318"/>
              <a:chOff x="720" y="499"/>
              <a:chExt cx="360" cy="499"/>
            </a:xfrm>
          </p:grpSpPr>
          <p:sp>
            <p:nvSpPr>
              <p:cNvPr id="87258" name="Rectangle 14"/>
              <p:cNvSpPr/>
              <p:nvPr/>
            </p:nvSpPr>
            <p:spPr>
              <a:xfrm>
                <a:off x="763" y="499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5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59" name="Rectangle 40"/>
              <p:cNvSpPr/>
              <p:nvPr/>
            </p:nvSpPr>
            <p:spPr>
              <a:xfrm>
                <a:off x="720" y="499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19" name="Group 43"/>
            <p:cNvGrpSpPr/>
            <p:nvPr/>
          </p:nvGrpSpPr>
          <p:grpSpPr>
            <a:xfrm>
              <a:off x="3190" y="1661"/>
              <a:ext cx="549" cy="318"/>
              <a:chOff x="1080" y="499"/>
              <a:chExt cx="360" cy="499"/>
            </a:xfrm>
          </p:grpSpPr>
          <p:sp>
            <p:nvSpPr>
              <p:cNvPr id="87256" name="Rectangle 15"/>
              <p:cNvSpPr/>
              <p:nvPr/>
            </p:nvSpPr>
            <p:spPr>
              <a:xfrm>
                <a:off x="1123" y="499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57" name="Rectangle 42"/>
              <p:cNvSpPr/>
              <p:nvPr/>
            </p:nvSpPr>
            <p:spPr>
              <a:xfrm>
                <a:off x="1080" y="499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20" name="Group 45"/>
            <p:cNvGrpSpPr/>
            <p:nvPr/>
          </p:nvGrpSpPr>
          <p:grpSpPr>
            <a:xfrm>
              <a:off x="1541" y="1979"/>
              <a:ext cx="550" cy="317"/>
              <a:chOff x="0" y="998"/>
              <a:chExt cx="360" cy="499"/>
            </a:xfrm>
          </p:grpSpPr>
          <p:sp>
            <p:nvSpPr>
              <p:cNvPr id="87254" name="Rectangle 16"/>
              <p:cNvSpPr/>
              <p:nvPr/>
            </p:nvSpPr>
            <p:spPr>
              <a:xfrm>
                <a:off x="43" y="998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55" name="Rectangle 44"/>
              <p:cNvSpPr/>
              <p:nvPr/>
            </p:nvSpPr>
            <p:spPr>
              <a:xfrm>
                <a:off x="0" y="998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21" name="Group 47"/>
            <p:cNvGrpSpPr/>
            <p:nvPr/>
          </p:nvGrpSpPr>
          <p:grpSpPr>
            <a:xfrm>
              <a:off x="2091" y="1979"/>
              <a:ext cx="549" cy="317"/>
              <a:chOff x="360" y="998"/>
              <a:chExt cx="360" cy="499"/>
            </a:xfrm>
          </p:grpSpPr>
          <p:sp>
            <p:nvSpPr>
              <p:cNvPr id="87252" name="Rectangle 17"/>
              <p:cNvSpPr/>
              <p:nvPr/>
            </p:nvSpPr>
            <p:spPr>
              <a:xfrm>
                <a:off x="403" y="998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53" name="Rectangle 46"/>
              <p:cNvSpPr/>
              <p:nvPr/>
            </p:nvSpPr>
            <p:spPr>
              <a:xfrm>
                <a:off x="360" y="998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22" name="Group 49"/>
            <p:cNvGrpSpPr/>
            <p:nvPr/>
          </p:nvGrpSpPr>
          <p:grpSpPr>
            <a:xfrm>
              <a:off x="2640" y="1979"/>
              <a:ext cx="550" cy="317"/>
              <a:chOff x="720" y="998"/>
              <a:chExt cx="360" cy="499"/>
            </a:xfrm>
          </p:grpSpPr>
          <p:sp>
            <p:nvSpPr>
              <p:cNvPr id="87250" name="Rectangle 18"/>
              <p:cNvSpPr/>
              <p:nvPr/>
            </p:nvSpPr>
            <p:spPr>
              <a:xfrm>
                <a:off x="763" y="998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6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51" name="Rectangle 48"/>
              <p:cNvSpPr/>
              <p:nvPr/>
            </p:nvSpPr>
            <p:spPr>
              <a:xfrm>
                <a:off x="720" y="998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23" name="Group 51"/>
            <p:cNvGrpSpPr/>
            <p:nvPr/>
          </p:nvGrpSpPr>
          <p:grpSpPr>
            <a:xfrm>
              <a:off x="3190" y="1979"/>
              <a:ext cx="549" cy="317"/>
              <a:chOff x="1080" y="998"/>
              <a:chExt cx="360" cy="499"/>
            </a:xfrm>
          </p:grpSpPr>
          <p:sp>
            <p:nvSpPr>
              <p:cNvPr id="87248" name="Rectangle 19"/>
              <p:cNvSpPr/>
              <p:nvPr/>
            </p:nvSpPr>
            <p:spPr>
              <a:xfrm>
                <a:off x="1123" y="998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7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49" name="Rectangle 50"/>
              <p:cNvSpPr/>
              <p:nvPr/>
            </p:nvSpPr>
            <p:spPr>
              <a:xfrm>
                <a:off x="1080" y="998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24" name="Group 53"/>
            <p:cNvGrpSpPr/>
            <p:nvPr/>
          </p:nvGrpSpPr>
          <p:grpSpPr>
            <a:xfrm>
              <a:off x="1541" y="2296"/>
              <a:ext cx="550" cy="318"/>
              <a:chOff x="0" y="1497"/>
              <a:chExt cx="360" cy="710"/>
            </a:xfrm>
          </p:grpSpPr>
          <p:sp>
            <p:nvSpPr>
              <p:cNvPr id="87246" name="Rectangle 20"/>
              <p:cNvSpPr/>
              <p:nvPr/>
            </p:nvSpPr>
            <p:spPr>
              <a:xfrm>
                <a:off x="43" y="1497"/>
                <a:ext cx="274" cy="7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47" name="Rectangle 52"/>
              <p:cNvSpPr/>
              <p:nvPr/>
            </p:nvSpPr>
            <p:spPr>
              <a:xfrm>
                <a:off x="0" y="1497"/>
                <a:ext cx="360" cy="71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25" name="Group 55"/>
            <p:cNvGrpSpPr/>
            <p:nvPr/>
          </p:nvGrpSpPr>
          <p:grpSpPr>
            <a:xfrm>
              <a:off x="2091" y="2296"/>
              <a:ext cx="549" cy="318"/>
              <a:chOff x="360" y="1497"/>
              <a:chExt cx="360" cy="710"/>
            </a:xfrm>
          </p:grpSpPr>
          <p:sp>
            <p:nvSpPr>
              <p:cNvPr id="87244" name="Rectangle 21"/>
              <p:cNvSpPr/>
              <p:nvPr/>
            </p:nvSpPr>
            <p:spPr>
              <a:xfrm>
                <a:off x="403" y="1497"/>
                <a:ext cx="274" cy="7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45" name="Rectangle 54"/>
              <p:cNvSpPr/>
              <p:nvPr/>
            </p:nvSpPr>
            <p:spPr>
              <a:xfrm>
                <a:off x="360" y="1497"/>
                <a:ext cx="360" cy="71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26" name="Group 57"/>
            <p:cNvGrpSpPr/>
            <p:nvPr/>
          </p:nvGrpSpPr>
          <p:grpSpPr>
            <a:xfrm>
              <a:off x="2640" y="2296"/>
              <a:ext cx="550" cy="318"/>
              <a:chOff x="720" y="1497"/>
              <a:chExt cx="360" cy="710"/>
            </a:xfrm>
          </p:grpSpPr>
          <p:sp>
            <p:nvSpPr>
              <p:cNvPr id="87242" name="Rectangle 22"/>
              <p:cNvSpPr/>
              <p:nvPr/>
            </p:nvSpPr>
            <p:spPr>
              <a:xfrm>
                <a:off x="763" y="1497"/>
                <a:ext cx="274" cy="7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8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43" name="Rectangle 56"/>
              <p:cNvSpPr/>
              <p:nvPr/>
            </p:nvSpPr>
            <p:spPr>
              <a:xfrm>
                <a:off x="720" y="1497"/>
                <a:ext cx="360" cy="71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27" name="Group 59"/>
            <p:cNvGrpSpPr/>
            <p:nvPr/>
          </p:nvGrpSpPr>
          <p:grpSpPr>
            <a:xfrm>
              <a:off x="3190" y="2296"/>
              <a:ext cx="549" cy="318"/>
              <a:chOff x="1080" y="1497"/>
              <a:chExt cx="360" cy="710"/>
            </a:xfrm>
          </p:grpSpPr>
          <p:sp>
            <p:nvSpPr>
              <p:cNvPr id="87240" name="Rectangle 23"/>
              <p:cNvSpPr/>
              <p:nvPr/>
            </p:nvSpPr>
            <p:spPr>
              <a:xfrm>
                <a:off x="1123" y="1497"/>
                <a:ext cx="274" cy="7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10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41" name="Rectangle 58"/>
              <p:cNvSpPr/>
              <p:nvPr/>
            </p:nvSpPr>
            <p:spPr>
              <a:xfrm>
                <a:off x="1080" y="1497"/>
                <a:ext cx="360" cy="71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28" name="Group 61"/>
            <p:cNvGrpSpPr/>
            <p:nvPr/>
          </p:nvGrpSpPr>
          <p:grpSpPr>
            <a:xfrm>
              <a:off x="1541" y="2614"/>
              <a:ext cx="550" cy="317"/>
              <a:chOff x="0" y="2207"/>
              <a:chExt cx="360" cy="499"/>
            </a:xfrm>
          </p:grpSpPr>
          <p:sp>
            <p:nvSpPr>
              <p:cNvPr id="87238" name="Rectangle 24"/>
              <p:cNvSpPr/>
              <p:nvPr/>
            </p:nvSpPr>
            <p:spPr>
              <a:xfrm>
                <a:off x="43" y="2207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39" name="Rectangle 60"/>
              <p:cNvSpPr/>
              <p:nvPr/>
            </p:nvSpPr>
            <p:spPr>
              <a:xfrm>
                <a:off x="0" y="2207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29" name="Group 63"/>
            <p:cNvGrpSpPr/>
            <p:nvPr/>
          </p:nvGrpSpPr>
          <p:grpSpPr>
            <a:xfrm>
              <a:off x="2091" y="2614"/>
              <a:ext cx="549" cy="317"/>
              <a:chOff x="360" y="2207"/>
              <a:chExt cx="360" cy="499"/>
            </a:xfrm>
          </p:grpSpPr>
          <p:sp>
            <p:nvSpPr>
              <p:cNvPr id="87236" name="Rectangle 25"/>
              <p:cNvSpPr/>
              <p:nvPr/>
            </p:nvSpPr>
            <p:spPr>
              <a:xfrm>
                <a:off x="403" y="2207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37" name="Rectangle 62"/>
              <p:cNvSpPr/>
              <p:nvPr/>
            </p:nvSpPr>
            <p:spPr>
              <a:xfrm>
                <a:off x="360" y="2207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30" name="Group 65"/>
            <p:cNvGrpSpPr/>
            <p:nvPr/>
          </p:nvGrpSpPr>
          <p:grpSpPr>
            <a:xfrm>
              <a:off x="2640" y="2614"/>
              <a:ext cx="550" cy="317"/>
              <a:chOff x="720" y="2207"/>
              <a:chExt cx="360" cy="499"/>
            </a:xfrm>
          </p:grpSpPr>
          <p:sp>
            <p:nvSpPr>
              <p:cNvPr id="87234" name="Rectangle 26"/>
              <p:cNvSpPr/>
              <p:nvPr/>
            </p:nvSpPr>
            <p:spPr>
              <a:xfrm>
                <a:off x="763" y="2207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8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35" name="Rectangle 64"/>
              <p:cNvSpPr/>
              <p:nvPr/>
            </p:nvSpPr>
            <p:spPr>
              <a:xfrm>
                <a:off x="720" y="2207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231" name="Group 67"/>
            <p:cNvGrpSpPr/>
            <p:nvPr/>
          </p:nvGrpSpPr>
          <p:grpSpPr>
            <a:xfrm>
              <a:off x="3190" y="2614"/>
              <a:ext cx="549" cy="317"/>
              <a:chOff x="1080" y="2207"/>
              <a:chExt cx="360" cy="499"/>
            </a:xfrm>
          </p:grpSpPr>
          <p:sp>
            <p:nvSpPr>
              <p:cNvPr id="87232" name="Rectangle 27"/>
              <p:cNvSpPr/>
              <p:nvPr/>
            </p:nvSpPr>
            <p:spPr>
              <a:xfrm>
                <a:off x="1123" y="2207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233" name="Rectangle 66"/>
              <p:cNvSpPr/>
              <p:nvPr/>
            </p:nvSpPr>
            <p:spPr>
              <a:xfrm>
                <a:off x="1080" y="2207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</p:grpSp>
      <p:grpSp>
        <p:nvGrpSpPr>
          <p:cNvPr id="23" name="Group 72"/>
          <p:cNvGrpSpPr/>
          <p:nvPr/>
        </p:nvGrpSpPr>
        <p:grpSpPr>
          <a:xfrm>
            <a:off x="684213" y="1412875"/>
            <a:ext cx="3101975" cy="2233613"/>
            <a:chOff x="-3" y="-3"/>
            <a:chExt cx="1171" cy="2832"/>
          </a:xfrm>
        </p:grpSpPr>
        <p:grpSp>
          <p:nvGrpSpPr>
            <p:cNvPr id="87165" name="Group 73"/>
            <p:cNvGrpSpPr/>
            <p:nvPr/>
          </p:nvGrpSpPr>
          <p:grpSpPr>
            <a:xfrm>
              <a:off x="0" y="0"/>
              <a:ext cx="1165" cy="2826"/>
              <a:chOff x="0" y="0"/>
              <a:chExt cx="1165" cy="2826"/>
            </a:xfrm>
          </p:grpSpPr>
          <p:grpSp>
            <p:nvGrpSpPr>
              <p:cNvPr id="87167" name="Group 74"/>
              <p:cNvGrpSpPr/>
              <p:nvPr/>
            </p:nvGrpSpPr>
            <p:grpSpPr>
              <a:xfrm>
                <a:off x="0" y="0"/>
                <a:ext cx="417" cy="442"/>
                <a:chOff x="0" y="0"/>
                <a:chExt cx="417" cy="442"/>
              </a:xfrm>
            </p:grpSpPr>
            <p:sp>
              <p:nvSpPr>
                <p:cNvPr id="87210" name="Rectangle 75"/>
                <p:cNvSpPr/>
                <p:nvPr/>
              </p:nvSpPr>
              <p:spPr>
                <a:xfrm>
                  <a:off x="43" y="0"/>
                  <a:ext cx="331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211" name="Rectangle 76"/>
                <p:cNvSpPr/>
                <p:nvPr/>
              </p:nvSpPr>
              <p:spPr>
                <a:xfrm>
                  <a:off x="0" y="0"/>
                  <a:ext cx="417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68" name="Group 77"/>
              <p:cNvGrpSpPr/>
              <p:nvPr/>
            </p:nvGrpSpPr>
            <p:grpSpPr>
              <a:xfrm>
                <a:off x="417" y="0"/>
                <a:ext cx="302" cy="442"/>
                <a:chOff x="417" y="0"/>
                <a:chExt cx="302" cy="442"/>
              </a:xfrm>
            </p:grpSpPr>
            <p:sp>
              <p:nvSpPr>
                <p:cNvPr id="87208" name="Rectangle 78"/>
                <p:cNvSpPr/>
                <p:nvPr/>
              </p:nvSpPr>
              <p:spPr>
                <a:xfrm>
                  <a:off x="460" y="0"/>
                  <a:ext cx="216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209" name="Rectangle 79"/>
                <p:cNvSpPr/>
                <p:nvPr/>
              </p:nvSpPr>
              <p:spPr>
                <a:xfrm>
                  <a:off x="417" y="0"/>
                  <a:ext cx="302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69" name="Group 80"/>
              <p:cNvGrpSpPr/>
              <p:nvPr/>
            </p:nvGrpSpPr>
            <p:grpSpPr>
              <a:xfrm>
                <a:off x="719" y="0"/>
                <a:ext cx="446" cy="442"/>
                <a:chOff x="719" y="0"/>
                <a:chExt cx="446" cy="442"/>
              </a:xfrm>
            </p:grpSpPr>
            <p:sp>
              <p:nvSpPr>
                <p:cNvPr id="87206" name="Rectangle 81"/>
                <p:cNvSpPr/>
                <p:nvPr/>
              </p:nvSpPr>
              <p:spPr>
                <a:xfrm>
                  <a:off x="762" y="0"/>
                  <a:ext cx="360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C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207" name="Rectangle 82"/>
                <p:cNvSpPr/>
                <p:nvPr/>
              </p:nvSpPr>
              <p:spPr>
                <a:xfrm>
                  <a:off x="719" y="0"/>
                  <a:ext cx="446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70" name="Group 83"/>
              <p:cNvGrpSpPr/>
              <p:nvPr/>
            </p:nvGrpSpPr>
            <p:grpSpPr>
              <a:xfrm>
                <a:off x="0" y="442"/>
                <a:ext cx="417" cy="596"/>
                <a:chOff x="0" y="442"/>
                <a:chExt cx="417" cy="596"/>
              </a:xfrm>
            </p:grpSpPr>
            <p:sp>
              <p:nvSpPr>
                <p:cNvPr id="87204" name="Rectangle 84"/>
                <p:cNvSpPr/>
                <p:nvPr/>
              </p:nvSpPr>
              <p:spPr>
                <a:xfrm>
                  <a:off x="43" y="442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205" name="Rectangle 85"/>
                <p:cNvSpPr/>
                <p:nvPr/>
              </p:nvSpPr>
              <p:spPr>
                <a:xfrm>
                  <a:off x="0" y="442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71" name="Group 86"/>
              <p:cNvGrpSpPr/>
              <p:nvPr/>
            </p:nvGrpSpPr>
            <p:grpSpPr>
              <a:xfrm>
                <a:off x="417" y="442"/>
                <a:ext cx="302" cy="596"/>
                <a:chOff x="417" y="442"/>
                <a:chExt cx="302" cy="596"/>
              </a:xfrm>
            </p:grpSpPr>
            <p:sp>
              <p:nvSpPr>
                <p:cNvPr id="87202" name="Rectangle 87"/>
                <p:cNvSpPr/>
                <p:nvPr/>
              </p:nvSpPr>
              <p:spPr>
                <a:xfrm>
                  <a:off x="460" y="442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203" name="Rectangle 88"/>
                <p:cNvSpPr/>
                <p:nvPr/>
              </p:nvSpPr>
              <p:spPr>
                <a:xfrm>
                  <a:off x="417" y="442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72" name="Group 89"/>
              <p:cNvGrpSpPr/>
              <p:nvPr/>
            </p:nvGrpSpPr>
            <p:grpSpPr>
              <a:xfrm>
                <a:off x="719" y="442"/>
                <a:ext cx="446" cy="596"/>
                <a:chOff x="719" y="442"/>
                <a:chExt cx="446" cy="596"/>
              </a:xfrm>
            </p:grpSpPr>
            <p:sp>
              <p:nvSpPr>
                <p:cNvPr id="87200" name="Rectangle 90"/>
                <p:cNvSpPr/>
                <p:nvPr/>
              </p:nvSpPr>
              <p:spPr>
                <a:xfrm>
                  <a:off x="762" y="442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5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201" name="Rectangle 91"/>
                <p:cNvSpPr/>
                <p:nvPr/>
              </p:nvSpPr>
              <p:spPr>
                <a:xfrm>
                  <a:off x="719" y="442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73" name="Group 92"/>
              <p:cNvGrpSpPr/>
              <p:nvPr/>
            </p:nvGrpSpPr>
            <p:grpSpPr>
              <a:xfrm>
                <a:off x="0" y="1038"/>
                <a:ext cx="417" cy="596"/>
                <a:chOff x="0" y="1038"/>
                <a:chExt cx="417" cy="596"/>
              </a:xfrm>
            </p:grpSpPr>
            <p:sp>
              <p:nvSpPr>
                <p:cNvPr id="87198" name="Rectangle 93"/>
                <p:cNvSpPr/>
                <p:nvPr/>
              </p:nvSpPr>
              <p:spPr>
                <a:xfrm>
                  <a:off x="43" y="1038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199" name="Rectangle 94"/>
                <p:cNvSpPr/>
                <p:nvPr/>
              </p:nvSpPr>
              <p:spPr>
                <a:xfrm>
                  <a:off x="0" y="1038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74" name="Group 95"/>
              <p:cNvGrpSpPr/>
              <p:nvPr/>
            </p:nvGrpSpPr>
            <p:grpSpPr>
              <a:xfrm>
                <a:off x="417" y="1038"/>
                <a:ext cx="302" cy="596"/>
                <a:chOff x="417" y="1038"/>
                <a:chExt cx="302" cy="596"/>
              </a:xfrm>
            </p:grpSpPr>
            <p:sp>
              <p:nvSpPr>
                <p:cNvPr id="87196" name="Rectangle 96"/>
                <p:cNvSpPr/>
                <p:nvPr/>
              </p:nvSpPr>
              <p:spPr>
                <a:xfrm>
                  <a:off x="460" y="1038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197" name="Rectangle 97"/>
                <p:cNvSpPr/>
                <p:nvPr/>
              </p:nvSpPr>
              <p:spPr>
                <a:xfrm>
                  <a:off x="417" y="1038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75" name="Group 98"/>
              <p:cNvGrpSpPr/>
              <p:nvPr/>
            </p:nvGrpSpPr>
            <p:grpSpPr>
              <a:xfrm>
                <a:off x="719" y="1038"/>
                <a:ext cx="446" cy="596"/>
                <a:chOff x="719" y="1038"/>
                <a:chExt cx="446" cy="596"/>
              </a:xfrm>
            </p:grpSpPr>
            <p:sp>
              <p:nvSpPr>
                <p:cNvPr id="87194" name="Rectangle 99"/>
                <p:cNvSpPr/>
                <p:nvPr/>
              </p:nvSpPr>
              <p:spPr>
                <a:xfrm>
                  <a:off x="762" y="1038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6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195" name="Rectangle 100"/>
                <p:cNvSpPr/>
                <p:nvPr/>
              </p:nvSpPr>
              <p:spPr>
                <a:xfrm>
                  <a:off x="719" y="1038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76" name="Group 101"/>
              <p:cNvGrpSpPr/>
              <p:nvPr/>
            </p:nvGrpSpPr>
            <p:grpSpPr>
              <a:xfrm>
                <a:off x="0" y="1634"/>
                <a:ext cx="417" cy="596"/>
                <a:chOff x="0" y="1634"/>
                <a:chExt cx="417" cy="596"/>
              </a:xfrm>
            </p:grpSpPr>
            <p:sp>
              <p:nvSpPr>
                <p:cNvPr id="87192" name="Rectangle 102"/>
                <p:cNvSpPr/>
                <p:nvPr/>
              </p:nvSpPr>
              <p:spPr>
                <a:xfrm>
                  <a:off x="43" y="1634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193" name="Rectangle 103"/>
                <p:cNvSpPr/>
                <p:nvPr/>
              </p:nvSpPr>
              <p:spPr>
                <a:xfrm>
                  <a:off x="0" y="1634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77" name="Group 104"/>
              <p:cNvGrpSpPr/>
              <p:nvPr/>
            </p:nvGrpSpPr>
            <p:grpSpPr>
              <a:xfrm>
                <a:off x="417" y="1634"/>
                <a:ext cx="302" cy="596"/>
                <a:chOff x="417" y="1634"/>
                <a:chExt cx="302" cy="596"/>
              </a:xfrm>
            </p:grpSpPr>
            <p:sp>
              <p:nvSpPr>
                <p:cNvPr id="87190" name="Rectangle 105"/>
                <p:cNvSpPr/>
                <p:nvPr/>
              </p:nvSpPr>
              <p:spPr>
                <a:xfrm>
                  <a:off x="460" y="1634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3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191" name="Rectangle 106"/>
                <p:cNvSpPr/>
                <p:nvPr/>
              </p:nvSpPr>
              <p:spPr>
                <a:xfrm>
                  <a:off x="417" y="1634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78" name="Group 107"/>
              <p:cNvGrpSpPr/>
              <p:nvPr/>
            </p:nvGrpSpPr>
            <p:grpSpPr>
              <a:xfrm>
                <a:off x="719" y="1634"/>
                <a:ext cx="446" cy="596"/>
                <a:chOff x="719" y="1634"/>
                <a:chExt cx="446" cy="596"/>
              </a:xfrm>
            </p:grpSpPr>
            <p:sp>
              <p:nvSpPr>
                <p:cNvPr id="87188" name="Rectangle 108"/>
                <p:cNvSpPr/>
                <p:nvPr/>
              </p:nvSpPr>
              <p:spPr>
                <a:xfrm>
                  <a:off x="762" y="1634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8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189" name="Rectangle 109"/>
                <p:cNvSpPr/>
                <p:nvPr/>
              </p:nvSpPr>
              <p:spPr>
                <a:xfrm>
                  <a:off x="719" y="1634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79" name="Group 110"/>
              <p:cNvGrpSpPr/>
              <p:nvPr/>
            </p:nvGrpSpPr>
            <p:grpSpPr>
              <a:xfrm>
                <a:off x="0" y="2230"/>
                <a:ext cx="417" cy="596"/>
                <a:chOff x="0" y="2230"/>
                <a:chExt cx="417" cy="596"/>
              </a:xfrm>
            </p:grpSpPr>
            <p:sp>
              <p:nvSpPr>
                <p:cNvPr id="87186" name="Rectangle 111"/>
                <p:cNvSpPr/>
                <p:nvPr/>
              </p:nvSpPr>
              <p:spPr>
                <a:xfrm>
                  <a:off x="43" y="2230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187" name="Rectangle 112"/>
                <p:cNvSpPr/>
                <p:nvPr/>
              </p:nvSpPr>
              <p:spPr>
                <a:xfrm>
                  <a:off x="0" y="2230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80" name="Group 113"/>
              <p:cNvGrpSpPr/>
              <p:nvPr/>
            </p:nvGrpSpPr>
            <p:grpSpPr>
              <a:xfrm>
                <a:off x="417" y="2230"/>
                <a:ext cx="302" cy="596"/>
                <a:chOff x="417" y="2230"/>
                <a:chExt cx="302" cy="596"/>
              </a:xfrm>
            </p:grpSpPr>
            <p:sp>
              <p:nvSpPr>
                <p:cNvPr id="87184" name="Rectangle 114"/>
                <p:cNvSpPr/>
                <p:nvPr/>
              </p:nvSpPr>
              <p:spPr>
                <a:xfrm>
                  <a:off x="460" y="2230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i="1" dirty="0"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400" b="1" baseline="-30000" dirty="0">
                      <a:latin typeface="Verdana" panose="020B0604030504040204" pitchFamily="34" charset="0"/>
                    </a:rPr>
                    <a:t>4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185" name="Rectangle 115"/>
                <p:cNvSpPr/>
                <p:nvPr/>
              </p:nvSpPr>
              <p:spPr>
                <a:xfrm>
                  <a:off x="417" y="2230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87181" name="Group 116"/>
              <p:cNvGrpSpPr/>
              <p:nvPr/>
            </p:nvGrpSpPr>
            <p:grpSpPr>
              <a:xfrm>
                <a:off x="719" y="2230"/>
                <a:ext cx="446" cy="596"/>
                <a:chOff x="719" y="2230"/>
                <a:chExt cx="446" cy="596"/>
              </a:xfrm>
            </p:grpSpPr>
            <p:sp>
              <p:nvSpPr>
                <p:cNvPr id="87182" name="Rectangle 117"/>
                <p:cNvSpPr/>
                <p:nvPr/>
              </p:nvSpPr>
              <p:spPr>
                <a:xfrm>
                  <a:off x="762" y="2230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400" b="1" dirty="0">
                      <a:latin typeface="Verdana" panose="020B0604030504040204" pitchFamily="34" charset="0"/>
                    </a:rPr>
                    <a:t>12</a:t>
                  </a:r>
                  <a:endParaRPr lang="en-US" altLang="zh-CN" sz="24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7183" name="Rectangle 118"/>
                <p:cNvSpPr/>
                <p:nvPr/>
              </p:nvSpPr>
              <p:spPr>
                <a:xfrm>
                  <a:off x="719" y="2230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87166" name="Rectangle 119"/>
            <p:cNvSpPr/>
            <p:nvPr/>
          </p:nvSpPr>
          <p:spPr>
            <a:xfrm>
              <a:off x="-3" y="-3"/>
              <a:ext cx="1171" cy="2832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99464" name="Group 120"/>
          <p:cNvGrpSpPr/>
          <p:nvPr/>
        </p:nvGrpSpPr>
        <p:grpSpPr>
          <a:xfrm>
            <a:off x="1619250" y="3789363"/>
            <a:ext cx="2044700" cy="2735262"/>
            <a:chOff x="3744" y="1392"/>
            <a:chExt cx="1104" cy="2038"/>
          </a:xfrm>
        </p:grpSpPr>
        <p:grpSp>
          <p:nvGrpSpPr>
            <p:cNvPr id="87128" name="Group 121"/>
            <p:cNvGrpSpPr/>
            <p:nvPr/>
          </p:nvGrpSpPr>
          <p:grpSpPr>
            <a:xfrm>
              <a:off x="3748" y="1394"/>
              <a:ext cx="538" cy="336"/>
              <a:chOff x="0" y="0"/>
              <a:chExt cx="360" cy="499"/>
            </a:xfrm>
          </p:grpSpPr>
          <p:sp>
            <p:nvSpPr>
              <p:cNvPr id="87163" name="Rectangle 122"/>
              <p:cNvSpPr/>
              <p:nvPr/>
            </p:nvSpPr>
            <p:spPr>
              <a:xfrm>
                <a:off x="43" y="0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  <a:cs typeface="Times New Roman" panose="02020603050405020304" pitchFamily="18" charset="0"/>
                  </a:rPr>
                  <a:t>B</a:t>
                </a:r>
                <a:endParaRPr lang="en-US" altLang="zh-CN" sz="2400" b="1" i="1" dirty="0">
                  <a:latin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64" name="Rectangle 123"/>
              <p:cNvSpPr/>
              <p:nvPr/>
            </p:nvSpPr>
            <p:spPr>
              <a:xfrm>
                <a:off x="0" y="0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129" name="Group 124"/>
            <p:cNvGrpSpPr/>
            <p:nvPr/>
          </p:nvGrpSpPr>
          <p:grpSpPr>
            <a:xfrm>
              <a:off x="4286" y="1394"/>
              <a:ext cx="558" cy="336"/>
              <a:chOff x="360" y="0"/>
              <a:chExt cx="374" cy="499"/>
            </a:xfrm>
          </p:grpSpPr>
          <p:sp>
            <p:nvSpPr>
              <p:cNvPr id="87161" name="Rectangle 125"/>
              <p:cNvSpPr/>
              <p:nvPr/>
            </p:nvSpPr>
            <p:spPr>
              <a:xfrm>
                <a:off x="403" y="0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E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62" name="Rectangle 126"/>
              <p:cNvSpPr/>
              <p:nvPr/>
            </p:nvSpPr>
            <p:spPr>
              <a:xfrm>
                <a:off x="360" y="0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130" name="Group 127"/>
            <p:cNvGrpSpPr/>
            <p:nvPr/>
          </p:nvGrpSpPr>
          <p:grpSpPr>
            <a:xfrm>
              <a:off x="3748" y="1730"/>
              <a:ext cx="538" cy="335"/>
              <a:chOff x="0" y="499"/>
              <a:chExt cx="360" cy="499"/>
            </a:xfrm>
          </p:grpSpPr>
          <p:sp>
            <p:nvSpPr>
              <p:cNvPr id="87159" name="Rectangle 128"/>
              <p:cNvSpPr/>
              <p:nvPr/>
            </p:nvSpPr>
            <p:spPr>
              <a:xfrm>
                <a:off x="43" y="499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60" name="Rectangle 129"/>
              <p:cNvSpPr/>
              <p:nvPr/>
            </p:nvSpPr>
            <p:spPr>
              <a:xfrm>
                <a:off x="0" y="499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131" name="Group 130"/>
            <p:cNvGrpSpPr/>
            <p:nvPr/>
          </p:nvGrpSpPr>
          <p:grpSpPr>
            <a:xfrm>
              <a:off x="4286" y="1730"/>
              <a:ext cx="558" cy="335"/>
              <a:chOff x="360" y="499"/>
              <a:chExt cx="374" cy="499"/>
            </a:xfrm>
          </p:grpSpPr>
          <p:sp>
            <p:nvSpPr>
              <p:cNvPr id="87157" name="Rectangle 131"/>
              <p:cNvSpPr/>
              <p:nvPr/>
            </p:nvSpPr>
            <p:spPr>
              <a:xfrm>
                <a:off x="403" y="499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3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58" name="Rectangle 132"/>
              <p:cNvSpPr/>
              <p:nvPr/>
            </p:nvSpPr>
            <p:spPr>
              <a:xfrm>
                <a:off x="360" y="499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132" name="Group 133"/>
            <p:cNvGrpSpPr/>
            <p:nvPr/>
          </p:nvGrpSpPr>
          <p:grpSpPr>
            <a:xfrm>
              <a:off x="3748" y="2065"/>
              <a:ext cx="538" cy="336"/>
              <a:chOff x="0" y="998"/>
              <a:chExt cx="360" cy="499"/>
            </a:xfrm>
          </p:grpSpPr>
          <p:sp>
            <p:nvSpPr>
              <p:cNvPr id="87155" name="Rectangle 134"/>
              <p:cNvSpPr/>
              <p:nvPr/>
            </p:nvSpPr>
            <p:spPr>
              <a:xfrm>
                <a:off x="43" y="998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56" name="Rectangle 135"/>
              <p:cNvSpPr/>
              <p:nvPr/>
            </p:nvSpPr>
            <p:spPr>
              <a:xfrm>
                <a:off x="0" y="998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133" name="Group 136"/>
            <p:cNvGrpSpPr/>
            <p:nvPr/>
          </p:nvGrpSpPr>
          <p:grpSpPr>
            <a:xfrm>
              <a:off x="4286" y="2065"/>
              <a:ext cx="558" cy="336"/>
              <a:chOff x="360" y="998"/>
              <a:chExt cx="374" cy="499"/>
            </a:xfrm>
          </p:grpSpPr>
          <p:sp>
            <p:nvSpPr>
              <p:cNvPr id="87153" name="Rectangle 137"/>
              <p:cNvSpPr/>
              <p:nvPr/>
            </p:nvSpPr>
            <p:spPr>
              <a:xfrm>
                <a:off x="403" y="998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7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54" name="Rectangle 138"/>
              <p:cNvSpPr/>
              <p:nvPr/>
            </p:nvSpPr>
            <p:spPr>
              <a:xfrm>
                <a:off x="360" y="998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134" name="Group 139"/>
            <p:cNvGrpSpPr/>
            <p:nvPr/>
          </p:nvGrpSpPr>
          <p:grpSpPr>
            <a:xfrm>
              <a:off x="3748" y="2401"/>
              <a:ext cx="538" cy="349"/>
              <a:chOff x="0" y="1497"/>
              <a:chExt cx="360" cy="710"/>
            </a:xfrm>
          </p:grpSpPr>
          <p:sp>
            <p:nvSpPr>
              <p:cNvPr id="87151" name="Rectangle 140"/>
              <p:cNvSpPr/>
              <p:nvPr/>
            </p:nvSpPr>
            <p:spPr>
              <a:xfrm>
                <a:off x="43" y="1497"/>
                <a:ext cx="274" cy="7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52" name="Rectangle 141"/>
              <p:cNvSpPr/>
              <p:nvPr/>
            </p:nvSpPr>
            <p:spPr>
              <a:xfrm>
                <a:off x="0" y="1497"/>
                <a:ext cx="360" cy="71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135" name="Group 142"/>
            <p:cNvGrpSpPr/>
            <p:nvPr/>
          </p:nvGrpSpPr>
          <p:grpSpPr>
            <a:xfrm>
              <a:off x="4286" y="2401"/>
              <a:ext cx="558" cy="349"/>
              <a:chOff x="360" y="1497"/>
              <a:chExt cx="374" cy="710"/>
            </a:xfrm>
          </p:grpSpPr>
          <p:sp>
            <p:nvSpPr>
              <p:cNvPr id="87149" name="Rectangle 143"/>
              <p:cNvSpPr/>
              <p:nvPr/>
            </p:nvSpPr>
            <p:spPr>
              <a:xfrm>
                <a:off x="403" y="1497"/>
                <a:ext cx="288" cy="7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10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50" name="Rectangle 144"/>
              <p:cNvSpPr/>
              <p:nvPr/>
            </p:nvSpPr>
            <p:spPr>
              <a:xfrm>
                <a:off x="360" y="1497"/>
                <a:ext cx="374" cy="71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136" name="Group 145"/>
            <p:cNvGrpSpPr/>
            <p:nvPr/>
          </p:nvGrpSpPr>
          <p:grpSpPr>
            <a:xfrm>
              <a:off x="3748" y="2750"/>
              <a:ext cx="538" cy="335"/>
              <a:chOff x="0" y="2207"/>
              <a:chExt cx="360" cy="499"/>
            </a:xfrm>
          </p:grpSpPr>
          <p:sp>
            <p:nvSpPr>
              <p:cNvPr id="87147" name="Rectangle 146"/>
              <p:cNvSpPr/>
              <p:nvPr/>
            </p:nvSpPr>
            <p:spPr>
              <a:xfrm>
                <a:off x="43" y="2207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48" name="Rectangle 147"/>
              <p:cNvSpPr/>
              <p:nvPr/>
            </p:nvSpPr>
            <p:spPr>
              <a:xfrm>
                <a:off x="0" y="2207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137" name="Group 148"/>
            <p:cNvGrpSpPr/>
            <p:nvPr/>
          </p:nvGrpSpPr>
          <p:grpSpPr>
            <a:xfrm>
              <a:off x="4286" y="2750"/>
              <a:ext cx="558" cy="335"/>
              <a:chOff x="360" y="2207"/>
              <a:chExt cx="374" cy="499"/>
            </a:xfrm>
          </p:grpSpPr>
          <p:sp>
            <p:nvSpPr>
              <p:cNvPr id="87145" name="Rectangle 149"/>
              <p:cNvSpPr/>
              <p:nvPr/>
            </p:nvSpPr>
            <p:spPr>
              <a:xfrm>
                <a:off x="403" y="2207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2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46" name="Rectangle 150"/>
              <p:cNvSpPr/>
              <p:nvPr/>
            </p:nvSpPr>
            <p:spPr>
              <a:xfrm>
                <a:off x="360" y="2207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138" name="Group 151"/>
            <p:cNvGrpSpPr/>
            <p:nvPr/>
          </p:nvGrpSpPr>
          <p:grpSpPr>
            <a:xfrm>
              <a:off x="3748" y="3085"/>
              <a:ext cx="538" cy="336"/>
              <a:chOff x="0" y="2706"/>
              <a:chExt cx="360" cy="499"/>
            </a:xfrm>
          </p:grpSpPr>
          <p:sp>
            <p:nvSpPr>
              <p:cNvPr id="87143" name="Rectangle 152"/>
              <p:cNvSpPr/>
              <p:nvPr/>
            </p:nvSpPr>
            <p:spPr>
              <a:xfrm>
                <a:off x="43" y="2706"/>
                <a:ext cx="27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400" b="1" baseline="-30000" dirty="0">
                    <a:latin typeface="Verdana" panose="020B0604030504040204" pitchFamily="34" charset="0"/>
                  </a:rPr>
                  <a:t>5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44" name="Rectangle 153"/>
              <p:cNvSpPr/>
              <p:nvPr/>
            </p:nvSpPr>
            <p:spPr>
              <a:xfrm>
                <a:off x="0" y="2706"/>
                <a:ext cx="36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139" name="Group 154"/>
            <p:cNvGrpSpPr/>
            <p:nvPr/>
          </p:nvGrpSpPr>
          <p:grpSpPr>
            <a:xfrm>
              <a:off x="4286" y="3085"/>
              <a:ext cx="558" cy="336"/>
              <a:chOff x="360" y="2706"/>
              <a:chExt cx="374" cy="499"/>
            </a:xfrm>
          </p:grpSpPr>
          <p:sp>
            <p:nvSpPr>
              <p:cNvPr id="87141" name="Rectangle 155"/>
              <p:cNvSpPr/>
              <p:nvPr/>
            </p:nvSpPr>
            <p:spPr>
              <a:xfrm>
                <a:off x="403" y="2706"/>
                <a:ext cx="28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Verdana" panose="020B0604030504040204" pitchFamily="34" charset="0"/>
                  </a:rPr>
                  <a:t>2</a:t>
                </a:r>
                <a:endParaRPr lang="en-US" altLang="zh-CN" sz="24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4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42" name="Rectangle 156"/>
              <p:cNvSpPr/>
              <p:nvPr/>
            </p:nvSpPr>
            <p:spPr>
              <a:xfrm>
                <a:off x="360" y="2706"/>
                <a:ext cx="37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87140" name="Rectangle 157"/>
            <p:cNvSpPr/>
            <p:nvPr/>
          </p:nvSpPr>
          <p:spPr>
            <a:xfrm>
              <a:off x="3744" y="1392"/>
              <a:ext cx="1104" cy="2038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99507" name="Group 160"/>
          <p:cNvGrpSpPr/>
          <p:nvPr/>
        </p:nvGrpSpPr>
        <p:grpSpPr>
          <a:xfrm>
            <a:off x="-180975" y="1484313"/>
            <a:ext cx="2028825" cy="3125787"/>
            <a:chOff x="-114" y="935"/>
            <a:chExt cx="1278" cy="1969"/>
          </a:xfrm>
        </p:grpSpPr>
        <p:sp>
          <p:nvSpPr>
            <p:cNvPr id="87126" name="Rectangle 158"/>
            <p:cNvSpPr/>
            <p:nvPr/>
          </p:nvSpPr>
          <p:spPr>
            <a:xfrm>
              <a:off x="-114" y="935"/>
              <a:ext cx="81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/>
            <a:p>
              <a:pPr algn="ctr" eaLnBrk="1" hangingPunct="1"/>
              <a:r>
                <a:rPr lang="en-US" altLang="zh-CN" sz="2400" b="1" i="1" dirty="0">
                  <a:latin typeface="Verdana" panose="020B0604030504040204" pitchFamily="34" charset="0"/>
                </a:rPr>
                <a:t>R</a:t>
              </a:r>
              <a:endParaRPr lang="en-US" altLang="zh-CN" sz="2400" b="1" i="1" dirty="0">
                <a:latin typeface="Verdana" panose="020B0604030504040204" pitchFamily="34" charset="0"/>
              </a:endParaRPr>
            </a:p>
          </p:txBody>
        </p:sp>
        <p:sp>
          <p:nvSpPr>
            <p:cNvPr id="87127" name="Rectangle 159"/>
            <p:cNvSpPr/>
            <p:nvPr/>
          </p:nvSpPr>
          <p:spPr>
            <a:xfrm>
              <a:off x="204" y="2568"/>
              <a:ext cx="96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/>
            <a:p>
              <a:pPr algn="ctr" eaLnBrk="1" hangingPunct="1"/>
              <a:r>
                <a:rPr lang="en-US" altLang="zh-CN" sz="2400" b="1" i="1" dirty="0">
                  <a:latin typeface="Verdana" panose="020B0604030504040204" pitchFamily="34" charset="0"/>
                </a:rPr>
                <a:t>S</a:t>
              </a:r>
              <a:endParaRPr lang="en-US" altLang="zh-CN" sz="2400" b="1" i="1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99508" name="Group 161"/>
          <p:cNvGrpSpPr/>
          <p:nvPr/>
        </p:nvGrpSpPr>
        <p:grpSpPr>
          <a:xfrm>
            <a:off x="395288" y="2205038"/>
            <a:ext cx="4679950" cy="3101975"/>
            <a:chOff x="1728" y="1819"/>
            <a:chExt cx="2592" cy="1656"/>
          </a:xfrm>
        </p:grpSpPr>
        <p:grpSp>
          <p:nvGrpSpPr>
            <p:cNvPr id="87050" name="Group 162"/>
            <p:cNvGrpSpPr/>
            <p:nvPr/>
          </p:nvGrpSpPr>
          <p:grpSpPr>
            <a:xfrm>
              <a:off x="1732" y="1822"/>
              <a:ext cx="458" cy="338"/>
              <a:chOff x="0" y="0"/>
              <a:chExt cx="390" cy="499"/>
            </a:xfrm>
          </p:grpSpPr>
          <p:sp>
            <p:nvSpPr>
              <p:cNvPr id="87124" name="Rectangle 163"/>
              <p:cNvSpPr/>
              <p:nvPr/>
            </p:nvSpPr>
            <p:spPr>
              <a:xfrm>
                <a:off x="43" y="0"/>
                <a:ext cx="30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25" name="Rectangle 164"/>
              <p:cNvSpPr/>
              <p:nvPr/>
            </p:nvSpPr>
            <p:spPr>
              <a:xfrm>
                <a:off x="0" y="0"/>
                <a:ext cx="39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51" name="Group 165"/>
            <p:cNvGrpSpPr/>
            <p:nvPr/>
          </p:nvGrpSpPr>
          <p:grpSpPr>
            <a:xfrm>
              <a:off x="2190" y="1822"/>
              <a:ext cx="615" cy="338"/>
              <a:chOff x="390" y="0"/>
              <a:chExt cx="523" cy="499"/>
            </a:xfrm>
          </p:grpSpPr>
          <p:sp>
            <p:nvSpPr>
              <p:cNvPr id="87122" name="Rectangle 166"/>
              <p:cNvSpPr/>
              <p:nvPr/>
            </p:nvSpPr>
            <p:spPr>
              <a:xfrm>
                <a:off x="433" y="0"/>
                <a:ext cx="437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R.B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23" name="Rectangle 167"/>
              <p:cNvSpPr/>
              <p:nvPr/>
            </p:nvSpPr>
            <p:spPr>
              <a:xfrm>
                <a:off x="390" y="0"/>
                <a:ext cx="523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52" name="Group 168"/>
            <p:cNvGrpSpPr/>
            <p:nvPr/>
          </p:nvGrpSpPr>
          <p:grpSpPr>
            <a:xfrm>
              <a:off x="2805" y="1822"/>
              <a:ext cx="425" cy="338"/>
              <a:chOff x="913" y="0"/>
              <a:chExt cx="362" cy="499"/>
            </a:xfrm>
          </p:grpSpPr>
          <p:sp>
            <p:nvSpPr>
              <p:cNvPr id="87120" name="Rectangle 169"/>
              <p:cNvSpPr/>
              <p:nvPr/>
            </p:nvSpPr>
            <p:spPr>
              <a:xfrm>
                <a:off x="956" y="0"/>
                <a:ext cx="276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C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21" name="Rectangle 170"/>
              <p:cNvSpPr/>
              <p:nvPr/>
            </p:nvSpPr>
            <p:spPr>
              <a:xfrm>
                <a:off x="913" y="0"/>
                <a:ext cx="362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53" name="Group 171"/>
            <p:cNvGrpSpPr/>
            <p:nvPr/>
          </p:nvGrpSpPr>
          <p:grpSpPr>
            <a:xfrm>
              <a:off x="3230" y="1822"/>
              <a:ext cx="592" cy="338"/>
              <a:chOff x="1275" y="0"/>
              <a:chExt cx="504" cy="499"/>
            </a:xfrm>
          </p:grpSpPr>
          <p:sp>
            <p:nvSpPr>
              <p:cNvPr id="87118" name="Rectangle 172"/>
              <p:cNvSpPr/>
              <p:nvPr/>
            </p:nvSpPr>
            <p:spPr>
              <a:xfrm>
                <a:off x="1318" y="0"/>
                <a:ext cx="41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S.B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19" name="Rectangle 173"/>
              <p:cNvSpPr/>
              <p:nvPr/>
            </p:nvSpPr>
            <p:spPr>
              <a:xfrm>
                <a:off x="1275" y="0"/>
                <a:ext cx="50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54" name="Group 174"/>
            <p:cNvGrpSpPr/>
            <p:nvPr/>
          </p:nvGrpSpPr>
          <p:grpSpPr>
            <a:xfrm>
              <a:off x="3822" y="1822"/>
              <a:ext cx="494" cy="338"/>
              <a:chOff x="1779" y="0"/>
              <a:chExt cx="420" cy="499"/>
            </a:xfrm>
          </p:grpSpPr>
          <p:sp>
            <p:nvSpPr>
              <p:cNvPr id="87116" name="Rectangle 175"/>
              <p:cNvSpPr/>
              <p:nvPr/>
            </p:nvSpPr>
            <p:spPr>
              <a:xfrm>
                <a:off x="1822" y="0"/>
                <a:ext cx="33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E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17" name="Rectangle 176"/>
              <p:cNvSpPr/>
              <p:nvPr/>
            </p:nvSpPr>
            <p:spPr>
              <a:xfrm>
                <a:off x="1779" y="0"/>
                <a:ext cx="42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55" name="Group 177"/>
            <p:cNvGrpSpPr/>
            <p:nvPr/>
          </p:nvGrpSpPr>
          <p:grpSpPr>
            <a:xfrm>
              <a:off x="1732" y="2159"/>
              <a:ext cx="458" cy="314"/>
              <a:chOff x="0" y="499"/>
              <a:chExt cx="390" cy="499"/>
            </a:xfrm>
          </p:grpSpPr>
          <p:sp>
            <p:nvSpPr>
              <p:cNvPr id="87114" name="Rectangle 178"/>
              <p:cNvSpPr/>
              <p:nvPr/>
            </p:nvSpPr>
            <p:spPr>
              <a:xfrm>
                <a:off x="43" y="499"/>
                <a:ext cx="30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15" name="Rectangle 179"/>
              <p:cNvSpPr/>
              <p:nvPr/>
            </p:nvSpPr>
            <p:spPr>
              <a:xfrm>
                <a:off x="0" y="499"/>
                <a:ext cx="39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56" name="Group 180"/>
            <p:cNvGrpSpPr/>
            <p:nvPr/>
          </p:nvGrpSpPr>
          <p:grpSpPr>
            <a:xfrm>
              <a:off x="2190" y="2159"/>
              <a:ext cx="615" cy="314"/>
              <a:chOff x="390" y="499"/>
              <a:chExt cx="523" cy="499"/>
            </a:xfrm>
          </p:grpSpPr>
          <p:sp>
            <p:nvSpPr>
              <p:cNvPr id="87112" name="Rectangle 181"/>
              <p:cNvSpPr/>
              <p:nvPr/>
            </p:nvSpPr>
            <p:spPr>
              <a:xfrm>
                <a:off x="433" y="499"/>
                <a:ext cx="437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13" name="Rectangle 182"/>
              <p:cNvSpPr/>
              <p:nvPr/>
            </p:nvSpPr>
            <p:spPr>
              <a:xfrm>
                <a:off x="390" y="499"/>
                <a:ext cx="523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57" name="Group 183"/>
            <p:cNvGrpSpPr/>
            <p:nvPr/>
          </p:nvGrpSpPr>
          <p:grpSpPr>
            <a:xfrm>
              <a:off x="2805" y="2159"/>
              <a:ext cx="425" cy="314"/>
              <a:chOff x="913" y="499"/>
              <a:chExt cx="362" cy="499"/>
            </a:xfrm>
          </p:grpSpPr>
          <p:sp>
            <p:nvSpPr>
              <p:cNvPr id="87110" name="Rectangle 184"/>
              <p:cNvSpPr/>
              <p:nvPr/>
            </p:nvSpPr>
            <p:spPr>
              <a:xfrm>
                <a:off x="956" y="499"/>
                <a:ext cx="276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5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11" name="Rectangle 185"/>
              <p:cNvSpPr/>
              <p:nvPr/>
            </p:nvSpPr>
            <p:spPr>
              <a:xfrm>
                <a:off x="913" y="499"/>
                <a:ext cx="362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58" name="Group 186"/>
            <p:cNvGrpSpPr/>
            <p:nvPr/>
          </p:nvGrpSpPr>
          <p:grpSpPr>
            <a:xfrm>
              <a:off x="3230" y="2159"/>
              <a:ext cx="592" cy="314"/>
              <a:chOff x="1275" y="499"/>
              <a:chExt cx="504" cy="499"/>
            </a:xfrm>
          </p:grpSpPr>
          <p:sp>
            <p:nvSpPr>
              <p:cNvPr id="87108" name="Rectangle 187"/>
              <p:cNvSpPr/>
              <p:nvPr/>
            </p:nvSpPr>
            <p:spPr>
              <a:xfrm>
                <a:off x="1318" y="499"/>
                <a:ext cx="41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09" name="Rectangle 188"/>
              <p:cNvSpPr/>
              <p:nvPr/>
            </p:nvSpPr>
            <p:spPr>
              <a:xfrm>
                <a:off x="1275" y="499"/>
                <a:ext cx="50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59" name="Group 189"/>
            <p:cNvGrpSpPr/>
            <p:nvPr/>
          </p:nvGrpSpPr>
          <p:grpSpPr>
            <a:xfrm>
              <a:off x="3822" y="2159"/>
              <a:ext cx="494" cy="314"/>
              <a:chOff x="1779" y="499"/>
              <a:chExt cx="420" cy="499"/>
            </a:xfrm>
          </p:grpSpPr>
          <p:sp>
            <p:nvSpPr>
              <p:cNvPr id="87106" name="Rectangle 190"/>
              <p:cNvSpPr/>
              <p:nvPr/>
            </p:nvSpPr>
            <p:spPr>
              <a:xfrm>
                <a:off x="1822" y="499"/>
                <a:ext cx="33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07" name="Rectangle 191"/>
              <p:cNvSpPr/>
              <p:nvPr/>
            </p:nvSpPr>
            <p:spPr>
              <a:xfrm>
                <a:off x="1779" y="499"/>
                <a:ext cx="42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60" name="Group 192"/>
            <p:cNvGrpSpPr/>
            <p:nvPr/>
          </p:nvGrpSpPr>
          <p:grpSpPr>
            <a:xfrm>
              <a:off x="1732" y="2477"/>
              <a:ext cx="458" cy="363"/>
              <a:chOff x="0" y="998"/>
              <a:chExt cx="390" cy="499"/>
            </a:xfrm>
          </p:grpSpPr>
          <p:sp>
            <p:nvSpPr>
              <p:cNvPr id="87104" name="Rectangle 193"/>
              <p:cNvSpPr/>
              <p:nvPr/>
            </p:nvSpPr>
            <p:spPr>
              <a:xfrm>
                <a:off x="43" y="998"/>
                <a:ext cx="30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1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05" name="Rectangle 194"/>
              <p:cNvSpPr/>
              <p:nvPr/>
            </p:nvSpPr>
            <p:spPr>
              <a:xfrm>
                <a:off x="0" y="998"/>
                <a:ext cx="39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61" name="Group 195"/>
            <p:cNvGrpSpPr/>
            <p:nvPr/>
          </p:nvGrpSpPr>
          <p:grpSpPr>
            <a:xfrm>
              <a:off x="2190" y="2477"/>
              <a:ext cx="615" cy="363"/>
              <a:chOff x="390" y="998"/>
              <a:chExt cx="523" cy="499"/>
            </a:xfrm>
          </p:grpSpPr>
          <p:sp>
            <p:nvSpPr>
              <p:cNvPr id="87102" name="Rectangle 196"/>
              <p:cNvSpPr/>
              <p:nvPr/>
            </p:nvSpPr>
            <p:spPr>
              <a:xfrm>
                <a:off x="433" y="998"/>
                <a:ext cx="437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03" name="Rectangle 197"/>
              <p:cNvSpPr/>
              <p:nvPr/>
            </p:nvSpPr>
            <p:spPr>
              <a:xfrm>
                <a:off x="390" y="998"/>
                <a:ext cx="523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62" name="Group 198"/>
            <p:cNvGrpSpPr/>
            <p:nvPr/>
          </p:nvGrpSpPr>
          <p:grpSpPr>
            <a:xfrm>
              <a:off x="2805" y="2477"/>
              <a:ext cx="425" cy="363"/>
              <a:chOff x="913" y="998"/>
              <a:chExt cx="362" cy="499"/>
            </a:xfrm>
          </p:grpSpPr>
          <p:sp>
            <p:nvSpPr>
              <p:cNvPr id="87100" name="Rectangle 199"/>
              <p:cNvSpPr/>
              <p:nvPr/>
            </p:nvSpPr>
            <p:spPr>
              <a:xfrm>
                <a:off x="956" y="998"/>
                <a:ext cx="276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6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101" name="Rectangle 200"/>
              <p:cNvSpPr/>
              <p:nvPr/>
            </p:nvSpPr>
            <p:spPr>
              <a:xfrm>
                <a:off x="913" y="998"/>
                <a:ext cx="362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63" name="Group 201"/>
            <p:cNvGrpSpPr/>
            <p:nvPr/>
          </p:nvGrpSpPr>
          <p:grpSpPr>
            <a:xfrm>
              <a:off x="3230" y="2477"/>
              <a:ext cx="592" cy="363"/>
              <a:chOff x="1275" y="998"/>
              <a:chExt cx="504" cy="499"/>
            </a:xfrm>
          </p:grpSpPr>
          <p:sp>
            <p:nvSpPr>
              <p:cNvPr id="87098" name="Rectangle 202"/>
              <p:cNvSpPr/>
              <p:nvPr/>
            </p:nvSpPr>
            <p:spPr>
              <a:xfrm>
                <a:off x="1318" y="998"/>
                <a:ext cx="41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099" name="Rectangle 203"/>
              <p:cNvSpPr/>
              <p:nvPr/>
            </p:nvSpPr>
            <p:spPr>
              <a:xfrm>
                <a:off x="1275" y="998"/>
                <a:ext cx="50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64" name="Group 204"/>
            <p:cNvGrpSpPr/>
            <p:nvPr/>
          </p:nvGrpSpPr>
          <p:grpSpPr>
            <a:xfrm>
              <a:off x="3822" y="2477"/>
              <a:ext cx="494" cy="363"/>
              <a:chOff x="1779" y="998"/>
              <a:chExt cx="420" cy="499"/>
            </a:xfrm>
          </p:grpSpPr>
          <p:sp>
            <p:nvSpPr>
              <p:cNvPr id="87096" name="Rectangle 205"/>
              <p:cNvSpPr/>
              <p:nvPr/>
            </p:nvSpPr>
            <p:spPr>
              <a:xfrm>
                <a:off x="1822" y="998"/>
                <a:ext cx="33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7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097" name="Rectangle 206"/>
              <p:cNvSpPr/>
              <p:nvPr/>
            </p:nvSpPr>
            <p:spPr>
              <a:xfrm>
                <a:off x="1779" y="998"/>
                <a:ext cx="42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65" name="Group 207"/>
            <p:cNvGrpSpPr/>
            <p:nvPr/>
          </p:nvGrpSpPr>
          <p:grpSpPr>
            <a:xfrm>
              <a:off x="1732" y="2840"/>
              <a:ext cx="458" cy="317"/>
              <a:chOff x="0" y="1497"/>
              <a:chExt cx="390" cy="499"/>
            </a:xfrm>
          </p:grpSpPr>
          <p:sp>
            <p:nvSpPr>
              <p:cNvPr id="87094" name="Rectangle 208"/>
              <p:cNvSpPr/>
              <p:nvPr/>
            </p:nvSpPr>
            <p:spPr>
              <a:xfrm>
                <a:off x="43" y="1497"/>
                <a:ext cx="30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095" name="Rectangle 209"/>
              <p:cNvSpPr/>
              <p:nvPr/>
            </p:nvSpPr>
            <p:spPr>
              <a:xfrm>
                <a:off x="0" y="1497"/>
                <a:ext cx="39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66" name="Group 210"/>
            <p:cNvGrpSpPr/>
            <p:nvPr/>
          </p:nvGrpSpPr>
          <p:grpSpPr>
            <a:xfrm>
              <a:off x="2190" y="2840"/>
              <a:ext cx="615" cy="317"/>
              <a:chOff x="390" y="1497"/>
              <a:chExt cx="523" cy="499"/>
            </a:xfrm>
          </p:grpSpPr>
          <p:sp>
            <p:nvSpPr>
              <p:cNvPr id="87092" name="Rectangle 211"/>
              <p:cNvSpPr/>
              <p:nvPr/>
            </p:nvSpPr>
            <p:spPr>
              <a:xfrm>
                <a:off x="433" y="1497"/>
                <a:ext cx="437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093" name="Rectangle 212"/>
              <p:cNvSpPr/>
              <p:nvPr/>
            </p:nvSpPr>
            <p:spPr>
              <a:xfrm>
                <a:off x="390" y="1497"/>
                <a:ext cx="523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67" name="Group 213"/>
            <p:cNvGrpSpPr/>
            <p:nvPr/>
          </p:nvGrpSpPr>
          <p:grpSpPr>
            <a:xfrm>
              <a:off x="2805" y="2840"/>
              <a:ext cx="425" cy="317"/>
              <a:chOff x="913" y="1497"/>
              <a:chExt cx="362" cy="499"/>
            </a:xfrm>
          </p:grpSpPr>
          <p:sp>
            <p:nvSpPr>
              <p:cNvPr id="87090" name="Rectangle 214"/>
              <p:cNvSpPr/>
              <p:nvPr/>
            </p:nvSpPr>
            <p:spPr>
              <a:xfrm>
                <a:off x="956" y="1497"/>
                <a:ext cx="276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8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091" name="Rectangle 215"/>
              <p:cNvSpPr/>
              <p:nvPr/>
            </p:nvSpPr>
            <p:spPr>
              <a:xfrm>
                <a:off x="913" y="1497"/>
                <a:ext cx="362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68" name="Group 216"/>
            <p:cNvGrpSpPr/>
            <p:nvPr/>
          </p:nvGrpSpPr>
          <p:grpSpPr>
            <a:xfrm>
              <a:off x="3230" y="2840"/>
              <a:ext cx="592" cy="317"/>
              <a:chOff x="1275" y="1497"/>
              <a:chExt cx="504" cy="499"/>
            </a:xfrm>
          </p:grpSpPr>
          <p:sp>
            <p:nvSpPr>
              <p:cNvPr id="87088" name="Rectangle 217"/>
              <p:cNvSpPr/>
              <p:nvPr/>
            </p:nvSpPr>
            <p:spPr>
              <a:xfrm>
                <a:off x="1318" y="1497"/>
                <a:ext cx="41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089" name="Rectangle 218"/>
              <p:cNvSpPr/>
              <p:nvPr/>
            </p:nvSpPr>
            <p:spPr>
              <a:xfrm>
                <a:off x="1275" y="1497"/>
                <a:ext cx="50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69" name="Group 219"/>
            <p:cNvGrpSpPr/>
            <p:nvPr/>
          </p:nvGrpSpPr>
          <p:grpSpPr>
            <a:xfrm>
              <a:off x="3822" y="2840"/>
              <a:ext cx="494" cy="317"/>
              <a:chOff x="1779" y="1497"/>
              <a:chExt cx="420" cy="499"/>
            </a:xfrm>
          </p:grpSpPr>
          <p:sp>
            <p:nvSpPr>
              <p:cNvPr id="87086" name="Rectangle 220"/>
              <p:cNvSpPr/>
              <p:nvPr/>
            </p:nvSpPr>
            <p:spPr>
              <a:xfrm>
                <a:off x="1822" y="1497"/>
                <a:ext cx="33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10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087" name="Rectangle 221"/>
              <p:cNvSpPr/>
              <p:nvPr/>
            </p:nvSpPr>
            <p:spPr>
              <a:xfrm>
                <a:off x="1779" y="1497"/>
                <a:ext cx="42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70" name="Group 222"/>
            <p:cNvGrpSpPr/>
            <p:nvPr/>
          </p:nvGrpSpPr>
          <p:grpSpPr>
            <a:xfrm>
              <a:off x="1732" y="3157"/>
              <a:ext cx="458" cy="318"/>
              <a:chOff x="0" y="1996"/>
              <a:chExt cx="390" cy="499"/>
            </a:xfrm>
          </p:grpSpPr>
          <p:sp>
            <p:nvSpPr>
              <p:cNvPr id="87084" name="Rectangle 223"/>
              <p:cNvSpPr/>
              <p:nvPr/>
            </p:nvSpPr>
            <p:spPr>
              <a:xfrm>
                <a:off x="43" y="1996"/>
                <a:ext cx="30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a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085" name="Rectangle 224"/>
              <p:cNvSpPr/>
              <p:nvPr/>
            </p:nvSpPr>
            <p:spPr>
              <a:xfrm>
                <a:off x="0" y="1996"/>
                <a:ext cx="39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71" name="Group 225"/>
            <p:cNvGrpSpPr/>
            <p:nvPr/>
          </p:nvGrpSpPr>
          <p:grpSpPr>
            <a:xfrm>
              <a:off x="2190" y="3157"/>
              <a:ext cx="615" cy="318"/>
              <a:chOff x="390" y="1996"/>
              <a:chExt cx="523" cy="499"/>
            </a:xfrm>
          </p:grpSpPr>
          <p:sp>
            <p:nvSpPr>
              <p:cNvPr id="87082" name="Rectangle 226"/>
              <p:cNvSpPr/>
              <p:nvPr/>
            </p:nvSpPr>
            <p:spPr>
              <a:xfrm>
                <a:off x="433" y="1996"/>
                <a:ext cx="437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083" name="Rectangle 227"/>
              <p:cNvSpPr/>
              <p:nvPr/>
            </p:nvSpPr>
            <p:spPr>
              <a:xfrm>
                <a:off x="390" y="1996"/>
                <a:ext cx="523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72" name="Group 228"/>
            <p:cNvGrpSpPr/>
            <p:nvPr/>
          </p:nvGrpSpPr>
          <p:grpSpPr>
            <a:xfrm>
              <a:off x="2805" y="3157"/>
              <a:ext cx="425" cy="318"/>
              <a:chOff x="913" y="1996"/>
              <a:chExt cx="362" cy="499"/>
            </a:xfrm>
          </p:grpSpPr>
          <p:sp>
            <p:nvSpPr>
              <p:cNvPr id="87080" name="Rectangle 229"/>
              <p:cNvSpPr/>
              <p:nvPr/>
            </p:nvSpPr>
            <p:spPr>
              <a:xfrm>
                <a:off x="956" y="1996"/>
                <a:ext cx="276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8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081" name="Rectangle 230"/>
              <p:cNvSpPr/>
              <p:nvPr/>
            </p:nvSpPr>
            <p:spPr>
              <a:xfrm>
                <a:off x="913" y="1996"/>
                <a:ext cx="362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73" name="Group 231"/>
            <p:cNvGrpSpPr/>
            <p:nvPr/>
          </p:nvGrpSpPr>
          <p:grpSpPr>
            <a:xfrm>
              <a:off x="3230" y="3157"/>
              <a:ext cx="592" cy="318"/>
              <a:chOff x="1275" y="1996"/>
              <a:chExt cx="504" cy="499"/>
            </a:xfrm>
          </p:grpSpPr>
          <p:sp>
            <p:nvSpPr>
              <p:cNvPr id="87078" name="Rectangle 232"/>
              <p:cNvSpPr/>
              <p:nvPr/>
            </p:nvSpPr>
            <p:spPr>
              <a:xfrm>
                <a:off x="1318" y="1996"/>
                <a:ext cx="418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i="1" dirty="0">
                    <a:latin typeface="Verdana" panose="020B0604030504040204" pitchFamily="34" charset="0"/>
                  </a:rPr>
                  <a:t>b</a:t>
                </a:r>
                <a:r>
                  <a:rPr lang="en-US" altLang="zh-CN" sz="2800" b="1" baseline="-30000" dirty="0">
                    <a:latin typeface="Verdana" panose="020B0604030504040204" pitchFamily="34" charset="0"/>
                  </a:rPr>
                  <a:t>3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079" name="Rectangle 233"/>
              <p:cNvSpPr/>
              <p:nvPr/>
            </p:nvSpPr>
            <p:spPr>
              <a:xfrm>
                <a:off x="1275" y="1996"/>
                <a:ext cx="504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7074" name="Group 234"/>
            <p:cNvGrpSpPr/>
            <p:nvPr/>
          </p:nvGrpSpPr>
          <p:grpSpPr>
            <a:xfrm>
              <a:off x="3822" y="3157"/>
              <a:ext cx="494" cy="318"/>
              <a:chOff x="1779" y="1996"/>
              <a:chExt cx="420" cy="499"/>
            </a:xfrm>
          </p:grpSpPr>
          <p:sp>
            <p:nvSpPr>
              <p:cNvPr id="87076" name="Rectangle 235"/>
              <p:cNvSpPr/>
              <p:nvPr/>
            </p:nvSpPr>
            <p:spPr>
              <a:xfrm>
                <a:off x="1822" y="1996"/>
                <a:ext cx="334" cy="4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Verdana" panose="020B0604030504040204" pitchFamily="34" charset="0"/>
                  </a:rPr>
                  <a:t>2</a:t>
                </a:r>
                <a:endParaRPr lang="en-US" altLang="zh-CN" sz="2800" b="1" dirty="0">
                  <a:latin typeface="Verdana" panose="020B0604030504040204" pitchFamily="34" charset="0"/>
                </a:endParaRPr>
              </a:p>
              <a:p>
                <a:pPr algn="ctr"/>
                <a:endParaRPr lang="en-US" altLang="zh-CN" sz="2800" b="1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7077" name="Rectangle 236"/>
              <p:cNvSpPr/>
              <p:nvPr/>
            </p:nvSpPr>
            <p:spPr>
              <a:xfrm>
                <a:off x="1779" y="1996"/>
                <a:ext cx="420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87075" name="Rectangle 237"/>
            <p:cNvSpPr/>
            <p:nvPr/>
          </p:nvSpPr>
          <p:spPr>
            <a:xfrm>
              <a:off x="1728" y="1819"/>
              <a:ext cx="2592" cy="1656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9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7" dur="2000"/>
                                        <p:tgtEl>
                                          <p:spTgt spid="99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9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9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9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9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8806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连接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88068" name="Rectangle 3"/>
          <p:cNvSpPr>
            <a:spLocks noGrp="1"/>
          </p:cNvSpPr>
          <p:nvPr>
            <p:ph idx="1"/>
          </p:nvPr>
        </p:nvSpPr>
        <p:spPr>
          <a:xfrm>
            <a:off x="323850" y="1341438"/>
            <a:ext cx="8496300" cy="4525962"/>
          </a:xfrm>
          <a:ln/>
        </p:spPr>
        <p:txBody>
          <a:bodyPr vert="horz" wrap="square" lIns="91440" tIns="45720" rIns="91440" bIns="45720" anchor="t" anchorCtr="0"/>
          <a:p>
            <a:pPr algn="just">
              <a:lnSpc>
                <a:spcPct val="90000"/>
              </a:lnSpc>
            </a:pPr>
            <a:r>
              <a:rPr lang="zh-CN" altLang="en-US" dirty="0"/>
              <a:t>一般的连接操作是从行的角度进行运算。</a:t>
            </a:r>
            <a:endParaRPr lang="zh-CN" altLang="en-US" dirty="0"/>
          </a:p>
          <a:p>
            <a:pPr algn="just">
              <a:lnSpc>
                <a:spcPct val="90000"/>
              </a:lnSpc>
            </a:pPr>
            <a:endParaRPr lang="zh-CN" altLang="en-US" dirty="0"/>
          </a:p>
          <a:p>
            <a:pPr algn="just">
              <a:lnSpc>
                <a:spcPct val="90000"/>
              </a:lnSpc>
            </a:pPr>
            <a:endParaRPr lang="zh-CN" altLang="en-US" dirty="0"/>
          </a:p>
          <a:p>
            <a:pPr algn="just">
              <a:lnSpc>
                <a:spcPct val="90000"/>
              </a:lnSpc>
            </a:pPr>
            <a:endParaRPr lang="zh-CN" altLang="en-US" dirty="0"/>
          </a:p>
          <a:p>
            <a:pPr algn="just">
              <a:lnSpc>
                <a:spcPct val="90000"/>
              </a:lnSpc>
            </a:pPr>
            <a:endParaRPr lang="zh-CN" altLang="en-US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   		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endParaRPr lang="zh-CN" altLang="en-US" sz="1000" dirty="0"/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自然连接</a:t>
            </a:r>
            <a:r>
              <a:rPr lang="zh-CN" altLang="en-US" dirty="0"/>
              <a:t>还需要</a:t>
            </a:r>
            <a:r>
              <a:rPr lang="zh-CN" altLang="en-US" dirty="0">
                <a:solidFill>
                  <a:srgbClr val="FF0000"/>
                </a:solidFill>
              </a:rPr>
              <a:t>取消重复列</a:t>
            </a:r>
            <a:r>
              <a:rPr lang="zh-CN" altLang="en-US" dirty="0"/>
              <a:t>，所以是同时从行和列的角度进行运算。 </a:t>
            </a:r>
            <a:endParaRPr lang="zh-CN" altLang="en-US" dirty="0"/>
          </a:p>
        </p:txBody>
      </p:sp>
      <p:grpSp>
        <p:nvGrpSpPr>
          <p:cNvPr id="88069" name="Group 44"/>
          <p:cNvGrpSpPr/>
          <p:nvPr/>
        </p:nvGrpSpPr>
        <p:grpSpPr>
          <a:xfrm>
            <a:off x="1979613" y="1916113"/>
            <a:ext cx="5486400" cy="2286000"/>
            <a:chOff x="1728" y="1632"/>
            <a:chExt cx="3456" cy="1440"/>
          </a:xfrm>
        </p:grpSpPr>
        <p:grpSp>
          <p:nvGrpSpPr>
            <p:cNvPr id="88070" name="Group 18"/>
            <p:cNvGrpSpPr/>
            <p:nvPr/>
          </p:nvGrpSpPr>
          <p:grpSpPr>
            <a:xfrm>
              <a:off x="2064" y="1680"/>
              <a:ext cx="912" cy="768"/>
              <a:chOff x="1536" y="1632"/>
              <a:chExt cx="912" cy="768"/>
            </a:xfrm>
          </p:grpSpPr>
          <p:sp>
            <p:nvSpPr>
              <p:cNvPr id="88092" name="Rectangle 5"/>
              <p:cNvSpPr/>
              <p:nvPr/>
            </p:nvSpPr>
            <p:spPr>
              <a:xfrm>
                <a:off x="1536" y="16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93" name="Rectangle 6" descr="浅色下对角线"/>
              <p:cNvSpPr/>
              <p:nvPr/>
            </p:nvSpPr>
            <p:spPr>
              <a:xfrm>
                <a:off x="1536" y="1728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94" name="Rectangle 7"/>
              <p:cNvSpPr/>
              <p:nvPr/>
            </p:nvSpPr>
            <p:spPr>
              <a:xfrm>
                <a:off x="1536" y="182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95" name="Rectangle 8"/>
              <p:cNvSpPr/>
              <p:nvPr/>
            </p:nvSpPr>
            <p:spPr>
              <a:xfrm>
                <a:off x="1536" y="230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96" name="Rectangle 9"/>
              <p:cNvSpPr/>
              <p:nvPr/>
            </p:nvSpPr>
            <p:spPr>
              <a:xfrm>
                <a:off x="1536" y="192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97" name="Rectangle 10" descr="浅色下对角线"/>
              <p:cNvSpPr/>
              <p:nvPr/>
            </p:nvSpPr>
            <p:spPr>
              <a:xfrm>
                <a:off x="1536" y="2016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98" name="Rectangle 11"/>
              <p:cNvSpPr/>
              <p:nvPr/>
            </p:nvSpPr>
            <p:spPr>
              <a:xfrm>
                <a:off x="1536" y="211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99" name="Rectangle 12" descr="浅色下对角线"/>
              <p:cNvSpPr/>
              <p:nvPr/>
            </p:nvSpPr>
            <p:spPr>
              <a:xfrm>
                <a:off x="1536" y="2208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88071" name="AutoShape 16"/>
            <p:cNvSpPr/>
            <p:nvPr/>
          </p:nvSpPr>
          <p:spPr>
            <a:xfrm rot="2235391">
              <a:off x="3072" y="2352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grpSp>
          <p:nvGrpSpPr>
            <p:cNvPr id="88072" name="Group 27"/>
            <p:cNvGrpSpPr/>
            <p:nvPr/>
          </p:nvGrpSpPr>
          <p:grpSpPr>
            <a:xfrm>
              <a:off x="2304" y="2688"/>
              <a:ext cx="528" cy="384"/>
              <a:chOff x="1536" y="2544"/>
              <a:chExt cx="912" cy="384"/>
            </a:xfrm>
          </p:grpSpPr>
          <p:sp>
            <p:nvSpPr>
              <p:cNvPr id="88088" name="Rectangle 19"/>
              <p:cNvSpPr/>
              <p:nvPr/>
            </p:nvSpPr>
            <p:spPr>
              <a:xfrm>
                <a:off x="1536" y="254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89" name="Rectangle 20" descr="浅色下对角线"/>
              <p:cNvSpPr/>
              <p:nvPr/>
            </p:nvSpPr>
            <p:spPr>
              <a:xfrm>
                <a:off x="1536" y="2640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90" name="Rectangle 21"/>
              <p:cNvSpPr/>
              <p:nvPr/>
            </p:nvSpPr>
            <p:spPr>
              <a:xfrm>
                <a:off x="1536" y="2736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91" name="Rectangle 23"/>
              <p:cNvSpPr/>
              <p:nvPr/>
            </p:nvSpPr>
            <p:spPr>
              <a:xfrm>
                <a:off x="1536" y="28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88073" name="Group 43"/>
            <p:cNvGrpSpPr/>
            <p:nvPr/>
          </p:nvGrpSpPr>
          <p:grpSpPr>
            <a:xfrm>
              <a:off x="2688" y="2448"/>
              <a:ext cx="1008" cy="432"/>
              <a:chOff x="2688" y="2448"/>
              <a:chExt cx="1008" cy="432"/>
            </a:xfrm>
          </p:grpSpPr>
          <p:grpSp>
            <p:nvGrpSpPr>
              <p:cNvPr id="88084" name="Group 29"/>
              <p:cNvGrpSpPr/>
              <p:nvPr/>
            </p:nvGrpSpPr>
            <p:grpSpPr>
              <a:xfrm>
                <a:off x="2688" y="2496"/>
                <a:ext cx="1008" cy="384"/>
                <a:chOff x="2325" y="6446"/>
                <a:chExt cx="705" cy="367"/>
              </a:xfrm>
            </p:grpSpPr>
            <p:sp>
              <p:nvSpPr>
                <p:cNvPr id="88086" name="AutoShape 30"/>
                <p:cNvSpPr/>
                <p:nvPr/>
              </p:nvSpPr>
              <p:spPr>
                <a:xfrm rot="5400000" flipV="1">
                  <a:off x="2612" y="6414"/>
                  <a:ext cx="78" cy="142"/>
                </a:xfrm>
                <a:prstGeom prst="flowChartCollate">
                  <a:avLst/>
                </a:prstGeom>
                <a:solidFill>
                  <a:srgbClr val="FFFFFF"/>
                </a:solidFill>
                <a:ln w="635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8087" name="Text Box 31"/>
                <p:cNvSpPr txBox="1"/>
                <p:nvPr/>
              </p:nvSpPr>
              <p:spPr>
                <a:xfrm flipV="1">
                  <a:off x="2325" y="6450"/>
                  <a:ext cx="705" cy="36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rot="10800000"/>
                <a:p>
                  <a:pPr algn="just">
                    <a:lnSpc>
                      <a:spcPct val="80000"/>
                    </a:lnSpc>
                  </a:pPr>
                  <a:endParaRPr lang="zh-CN" altLang="zh-CN" sz="6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8085" name="Rectangle 32"/>
              <p:cNvSpPr/>
              <p:nvPr/>
            </p:nvSpPr>
            <p:spPr>
              <a:xfrm>
                <a:off x="2832" y="2448"/>
                <a:ext cx="576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 eaLnBrk="1" hangingPunct="1"/>
                <a:r>
                  <a:rPr lang="en-US" altLang="zh-CN" sz="2800" b="1" i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600" b="1" i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θ</a:t>
                </a:r>
                <a:r>
                  <a:rPr lang="en-US" altLang="zh-CN" sz="1600" b="1" i="1" dirty="0">
                    <a:latin typeface="Times New Roman" panose="02020603050405020304" pitchFamily="18" charset="0"/>
                  </a:rPr>
                  <a:t>B</a:t>
                </a:r>
                <a:endParaRPr lang="en-US" altLang="zh-CN" sz="1600" b="1" i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8074" name="AutoShape 33"/>
            <p:cNvSpPr/>
            <p:nvPr/>
          </p:nvSpPr>
          <p:spPr>
            <a:xfrm rot="-1832436">
              <a:off x="3120" y="2736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grpSp>
          <p:nvGrpSpPr>
            <p:cNvPr id="88075" name="Group 39"/>
            <p:cNvGrpSpPr/>
            <p:nvPr/>
          </p:nvGrpSpPr>
          <p:grpSpPr>
            <a:xfrm>
              <a:off x="3744" y="2400"/>
              <a:ext cx="1440" cy="288"/>
              <a:chOff x="3216" y="2352"/>
              <a:chExt cx="1440" cy="288"/>
            </a:xfrm>
          </p:grpSpPr>
          <p:sp>
            <p:nvSpPr>
              <p:cNvPr id="88078" name="Rectangle 13" descr="浅色下对角线"/>
              <p:cNvSpPr/>
              <p:nvPr/>
            </p:nvSpPr>
            <p:spPr>
              <a:xfrm>
                <a:off x="3216" y="2544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79" name="Rectangle 14" descr="浅色下对角线"/>
              <p:cNvSpPr/>
              <p:nvPr/>
            </p:nvSpPr>
            <p:spPr>
              <a:xfrm>
                <a:off x="3216" y="2448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80" name="Rectangle 15" descr="浅色下对角线"/>
              <p:cNvSpPr/>
              <p:nvPr/>
            </p:nvSpPr>
            <p:spPr>
              <a:xfrm>
                <a:off x="3216" y="2352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81" name="Rectangle 35" descr="浅色下对角线"/>
              <p:cNvSpPr/>
              <p:nvPr/>
            </p:nvSpPr>
            <p:spPr>
              <a:xfrm>
                <a:off x="4128" y="2352"/>
                <a:ext cx="528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82" name="Rectangle 36" descr="浅色下对角线"/>
              <p:cNvSpPr/>
              <p:nvPr/>
            </p:nvSpPr>
            <p:spPr>
              <a:xfrm>
                <a:off x="4128" y="2448"/>
                <a:ext cx="528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8083" name="Rectangle 37" descr="浅色下对角线"/>
              <p:cNvSpPr/>
              <p:nvPr/>
            </p:nvSpPr>
            <p:spPr>
              <a:xfrm>
                <a:off x="4128" y="2544"/>
                <a:ext cx="528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88076" name="Text Box 40"/>
            <p:cNvSpPr txBox="1"/>
            <p:nvPr/>
          </p:nvSpPr>
          <p:spPr>
            <a:xfrm>
              <a:off x="1728" y="1632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8077" name="Text Box 41"/>
            <p:cNvSpPr txBox="1"/>
            <p:nvPr/>
          </p:nvSpPr>
          <p:spPr>
            <a:xfrm>
              <a:off x="1920" y="2688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S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三张表</a:t>
            </a:r>
            <a:endParaRPr lang="zh-CN" altLang="en-US" sz="3200" dirty="0"/>
          </a:p>
        </p:txBody>
      </p:sp>
      <p:graphicFrame>
        <p:nvGraphicFramePr>
          <p:cNvPr id="450744" name="Group 184"/>
          <p:cNvGraphicFramePr>
            <a:graphicFrameLocks noGrp="1"/>
          </p:cNvGraphicFramePr>
          <p:nvPr>
            <p:ph sz="half" idx="1"/>
          </p:nvPr>
        </p:nvGraphicFramePr>
        <p:xfrm>
          <a:off x="457200" y="3644900"/>
          <a:ext cx="4038600" cy="2454275"/>
        </p:xfrm>
        <a:graphic>
          <a:graphicData uri="http://schemas.openxmlformats.org/drawingml/2006/table">
            <a:tbl>
              <a:tblPr/>
              <a:tblGrid>
                <a:gridCol w="884238"/>
                <a:gridCol w="1274762"/>
                <a:gridCol w="904875"/>
                <a:gridCol w="974725"/>
              </a:tblGrid>
              <a:tr h="6129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课程名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Cname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先行课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学分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Ccredit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13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数学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信息系统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数据结构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数据处理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PASCAL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语言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50697" name="Group 137"/>
          <p:cNvGraphicFramePr>
            <a:graphicFrameLocks noGrp="1"/>
          </p:cNvGraphicFramePr>
          <p:nvPr/>
        </p:nvGraphicFramePr>
        <p:xfrm>
          <a:off x="142875" y="1700213"/>
          <a:ext cx="5113338" cy="1538288"/>
        </p:xfrm>
        <a:graphic>
          <a:graphicData uri="http://schemas.openxmlformats.org/drawingml/2006/table">
            <a:tbl>
              <a:tblPr/>
              <a:tblGrid>
                <a:gridCol w="1223962"/>
                <a:gridCol w="1008063"/>
                <a:gridCol w="936625"/>
                <a:gridCol w="936625"/>
                <a:gridCol w="1008062"/>
              </a:tblGrid>
              <a:tr h="518110"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  号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Sno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姓  名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Sname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性  别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Ssex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年  龄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Sage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33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所 在 系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Sdept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20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200215121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200215122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200215123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200515125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李勇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刘晨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王敏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张立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50743" name="Group 183"/>
          <p:cNvGraphicFramePr>
            <a:graphicFrameLocks noGrp="1"/>
          </p:cNvGraphicFramePr>
          <p:nvPr>
            <p:ph sz="half" idx="1"/>
          </p:nvPr>
        </p:nvGraphicFramePr>
        <p:xfrm>
          <a:off x="4859338" y="3705225"/>
          <a:ext cx="4038600" cy="1889125"/>
        </p:xfrm>
        <a:graphic>
          <a:graphicData uri="http://schemas.openxmlformats.org/drawingml/2006/table">
            <a:tbl>
              <a:tblPr/>
              <a:tblGrid>
                <a:gridCol w="1639887"/>
                <a:gridCol w="1114425"/>
                <a:gridCol w="1284288"/>
              </a:tblGrid>
              <a:tr h="5605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 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Grade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285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92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88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90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9136" name="Rectangle 185"/>
          <p:cNvSpPr/>
          <p:nvPr/>
        </p:nvSpPr>
        <p:spPr>
          <a:xfrm>
            <a:off x="2195513" y="1341438"/>
            <a:ext cx="8826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en-US" altLang="zh-CN" dirty="0">
                <a:latin typeface="Verdana" panose="020B0604030504040204" pitchFamily="34" charset="0"/>
              </a:rPr>
              <a:t>Student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89137" name="Rectangle 186"/>
          <p:cNvSpPr/>
          <p:nvPr/>
        </p:nvSpPr>
        <p:spPr>
          <a:xfrm>
            <a:off x="2124075" y="3284538"/>
            <a:ext cx="8318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en-US" altLang="zh-CN" dirty="0">
                <a:latin typeface="Verdana" panose="020B0604030504040204" pitchFamily="34" charset="0"/>
              </a:rPr>
              <a:t>Course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89138" name="Rectangle 187"/>
          <p:cNvSpPr/>
          <p:nvPr/>
        </p:nvSpPr>
        <p:spPr>
          <a:xfrm>
            <a:off x="6732588" y="3284538"/>
            <a:ext cx="4635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en-US" altLang="zh-CN" dirty="0">
                <a:latin typeface="Verdana" panose="020B0604030504040204" pitchFamily="34" charset="0"/>
              </a:rPr>
              <a:t>SC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89139" name="TextBox 8"/>
          <p:cNvSpPr txBox="1"/>
          <p:nvPr/>
        </p:nvSpPr>
        <p:spPr>
          <a:xfrm>
            <a:off x="5003800" y="1504950"/>
            <a:ext cx="4000500" cy="1477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Student 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⋈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 SC=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？</a:t>
            </a:r>
            <a:endParaRPr lang="en-US" altLang="zh-CN" sz="2400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Course 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⋈ 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SC=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？</a:t>
            </a:r>
            <a:endParaRPr lang="en-US" altLang="zh-CN" sz="2400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Student 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⋈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 SC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 ⋈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C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ourse=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？</a:t>
            </a:r>
            <a:endParaRPr lang="en-US" altLang="zh-CN" sz="2400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三张表</a:t>
            </a:r>
            <a:endParaRPr lang="zh-CN" altLang="en-US" sz="3200" dirty="0"/>
          </a:p>
        </p:txBody>
      </p:sp>
      <p:graphicFrame>
        <p:nvGraphicFramePr>
          <p:cNvPr id="450697" name="Group 137"/>
          <p:cNvGraphicFramePr>
            <a:graphicFrameLocks noGrp="1"/>
          </p:cNvGraphicFramePr>
          <p:nvPr/>
        </p:nvGraphicFramePr>
        <p:xfrm>
          <a:off x="142875" y="1962150"/>
          <a:ext cx="5113338" cy="1538288"/>
        </p:xfrm>
        <a:graphic>
          <a:graphicData uri="http://schemas.openxmlformats.org/drawingml/2006/table">
            <a:tbl>
              <a:tblPr/>
              <a:tblGrid>
                <a:gridCol w="1223962"/>
                <a:gridCol w="1008063"/>
                <a:gridCol w="936625"/>
                <a:gridCol w="936625"/>
                <a:gridCol w="1008062"/>
              </a:tblGrid>
              <a:tr h="518110"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  号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Sno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姓  名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Sname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性  别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Ssex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年  龄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Sage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33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所 在 系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Sdept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20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200215121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200215122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200215123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200515125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李勇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刘晨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王敏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张立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50743" name="Group 183"/>
          <p:cNvGraphicFramePr>
            <a:graphicFrameLocks noGrp="1"/>
          </p:cNvGraphicFramePr>
          <p:nvPr>
            <p:ph sz="half" idx="1"/>
          </p:nvPr>
        </p:nvGraphicFramePr>
        <p:xfrm>
          <a:off x="4859338" y="3705225"/>
          <a:ext cx="4038600" cy="1889125"/>
        </p:xfrm>
        <a:graphic>
          <a:graphicData uri="http://schemas.openxmlformats.org/drawingml/2006/table">
            <a:tbl>
              <a:tblPr/>
              <a:tblGrid>
                <a:gridCol w="1639887"/>
                <a:gridCol w="1114425"/>
                <a:gridCol w="1284288"/>
              </a:tblGrid>
              <a:tr h="5605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 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Grade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285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92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88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90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0145" name="Rectangle 185"/>
          <p:cNvSpPr/>
          <p:nvPr/>
        </p:nvSpPr>
        <p:spPr>
          <a:xfrm>
            <a:off x="2195513" y="1549400"/>
            <a:ext cx="882650" cy="366713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en-US" altLang="zh-CN" dirty="0">
                <a:latin typeface="Verdana" panose="020B0604030504040204" pitchFamily="34" charset="0"/>
              </a:rPr>
              <a:t>Student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90146" name="Rectangle 187"/>
          <p:cNvSpPr/>
          <p:nvPr/>
        </p:nvSpPr>
        <p:spPr>
          <a:xfrm>
            <a:off x="6732588" y="3284538"/>
            <a:ext cx="4635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en-US" altLang="zh-CN" dirty="0">
                <a:latin typeface="Verdana" panose="020B0604030504040204" pitchFamily="34" charset="0"/>
              </a:rPr>
              <a:t>SC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90147" name="TextBox 8"/>
          <p:cNvSpPr txBox="1"/>
          <p:nvPr/>
        </p:nvSpPr>
        <p:spPr>
          <a:xfrm>
            <a:off x="5143500" y="1504950"/>
            <a:ext cx="3857625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Student 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⋈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 SC=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？</a:t>
            </a:r>
            <a:endParaRPr lang="en-US" altLang="zh-CN" sz="2400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1688" y="3860800"/>
            <a:ext cx="1970087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Verdana" panose="020B0604030504040204" pitchFamily="34" charset="0"/>
              </a:rPr>
              <a:t>7</a:t>
            </a:r>
            <a:r>
              <a:rPr lang="zh-CN" altLang="en-US" sz="2800" dirty="0">
                <a:solidFill>
                  <a:srgbClr val="FF0000"/>
                </a:solidFill>
                <a:latin typeface="Verdana" panose="020B0604030504040204" pitchFamily="34" charset="0"/>
              </a:rPr>
              <a:t>列</a:t>
            </a:r>
            <a:endParaRPr lang="en-US" altLang="zh-CN" sz="2800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Verdana" panose="020B0604030504040204" pitchFamily="34" charset="0"/>
              </a:rPr>
              <a:t>5</a:t>
            </a:r>
            <a:r>
              <a:rPr lang="zh-CN" altLang="en-US" sz="2800" dirty="0">
                <a:solidFill>
                  <a:srgbClr val="FF0000"/>
                </a:solidFill>
                <a:latin typeface="Verdana" panose="020B0604030504040204" pitchFamily="34" charset="0"/>
              </a:rPr>
              <a:t>行</a:t>
            </a:r>
            <a:endParaRPr lang="zh-CN" altLang="en-US" sz="2800" dirty="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三张表</a:t>
            </a:r>
            <a:endParaRPr lang="zh-CN" altLang="en-US" sz="3200" dirty="0"/>
          </a:p>
        </p:txBody>
      </p:sp>
      <p:graphicFrame>
        <p:nvGraphicFramePr>
          <p:cNvPr id="450744" name="Group 184"/>
          <p:cNvGraphicFramePr>
            <a:graphicFrameLocks noGrp="1"/>
          </p:cNvGraphicFramePr>
          <p:nvPr>
            <p:ph sz="half" idx="1"/>
          </p:nvPr>
        </p:nvGraphicFramePr>
        <p:xfrm>
          <a:off x="457200" y="3644900"/>
          <a:ext cx="4038600" cy="2454275"/>
        </p:xfrm>
        <a:graphic>
          <a:graphicData uri="http://schemas.openxmlformats.org/drawingml/2006/table">
            <a:tbl>
              <a:tblPr/>
              <a:tblGrid>
                <a:gridCol w="884238"/>
                <a:gridCol w="1274762"/>
                <a:gridCol w="904875"/>
                <a:gridCol w="974725"/>
              </a:tblGrid>
              <a:tr h="6129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课程名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Cname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先行课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学分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Ccredit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13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数学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信息系统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数据结构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数据处理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PASCAL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语言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50743" name="Group 183"/>
          <p:cNvGraphicFramePr>
            <a:graphicFrameLocks noGrp="1"/>
          </p:cNvGraphicFramePr>
          <p:nvPr>
            <p:ph sz="half" idx="1"/>
          </p:nvPr>
        </p:nvGraphicFramePr>
        <p:xfrm>
          <a:off x="4859338" y="3705225"/>
          <a:ext cx="4038600" cy="1889125"/>
        </p:xfrm>
        <a:graphic>
          <a:graphicData uri="http://schemas.openxmlformats.org/drawingml/2006/table">
            <a:tbl>
              <a:tblPr/>
              <a:tblGrid>
                <a:gridCol w="1639887"/>
                <a:gridCol w="1114425"/>
                <a:gridCol w="1284288"/>
              </a:tblGrid>
              <a:tr h="5605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 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Grade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285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92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88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90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1166" name="Rectangle 186"/>
          <p:cNvSpPr/>
          <p:nvPr/>
        </p:nvSpPr>
        <p:spPr>
          <a:xfrm>
            <a:off x="2124075" y="3284538"/>
            <a:ext cx="8318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en-US" altLang="zh-CN" dirty="0">
                <a:latin typeface="Verdana" panose="020B0604030504040204" pitchFamily="34" charset="0"/>
              </a:rPr>
              <a:t>Course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91167" name="Rectangle 187"/>
          <p:cNvSpPr/>
          <p:nvPr/>
        </p:nvSpPr>
        <p:spPr>
          <a:xfrm>
            <a:off x="6732588" y="3284538"/>
            <a:ext cx="4635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en-US" altLang="zh-CN" dirty="0">
                <a:latin typeface="Verdana" panose="020B0604030504040204" pitchFamily="34" charset="0"/>
              </a:rPr>
              <a:t>SC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91168" name="TextBox 8"/>
          <p:cNvSpPr txBox="1"/>
          <p:nvPr/>
        </p:nvSpPr>
        <p:spPr>
          <a:xfrm>
            <a:off x="5143500" y="1504950"/>
            <a:ext cx="3857625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Course 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⋈ 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SC=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？</a:t>
            </a:r>
            <a:endParaRPr lang="en-US" altLang="zh-CN" sz="2400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1688" y="1268413"/>
            <a:ext cx="1970087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Verdana" panose="020B0604030504040204" pitchFamily="34" charset="0"/>
              </a:rPr>
              <a:t>6</a:t>
            </a:r>
            <a:r>
              <a:rPr lang="zh-CN" altLang="en-US" sz="2800" dirty="0">
                <a:solidFill>
                  <a:srgbClr val="FF0000"/>
                </a:solidFill>
                <a:latin typeface="Verdana" panose="020B0604030504040204" pitchFamily="34" charset="0"/>
              </a:rPr>
              <a:t>列</a:t>
            </a:r>
            <a:endParaRPr lang="en-US" altLang="zh-CN" sz="2800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Verdana" panose="020B0604030504040204" pitchFamily="34" charset="0"/>
              </a:rPr>
              <a:t>5</a:t>
            </a:r>
            <a:r>
              <a:rPr lang="zh-CN" altLang="en-US" sz="2800" dirty="0">
                <a:solidFill>
                  <a:srgbClr val="FF0000"/>
                </a:solidFill>
                <a:latin typeface="Verdana" panose="020B0604030504040204" pitchFamily="34" charset="0"/>
              </a:rPr>
              <a:t>行</a:t>
            </a:r>
            <a:endParaRPr lang="zh-CN" altLang="en-US" sz="2800" dirty="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三张表</a:t>
            </a:r>
            <a:endParaRPr lang="zh-CN" altLang="en-US" sz="3200" dirty="0"/>
          </a:p>
        </p:txBody>
      </p:sp>
      <p:graphicFrame>
        <p:nvGraphicFramePr>
          <p:cNvPr id="450744" name="Group 184"/>
          <p:cNvGraphicFramePr>
            <a:graphicFrameLocks noGrp="1"/>
          </p:cNvGraphicFramePr>
          <p:nvPr>
            <p:ph sz="half" idx="1"/>
          </p:nvPr>
        </p:nvGraphicFramePr>
        <p:xfrm>
          <a:off x="457200" y="3644900"/>
          <a:ext cx="4038600" cy="2454275"/>
        </p:xfrm>
        <a:graphic>
          <a:graphicData uri="http://schemas.openxmlformats.org/drawingml/2006/table">
            <a:tbl>
              <a:tblPr/>
              <a:tblGrid>
                <a:gridCol w="884238"/>
                <a:gridCol w="1274762"/>
                <a:gridCol w="904875"/>
                <a:gridCol w="974725"/>
              </a:tblGrid>
              <a:tr h="6129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课程名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Cname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先行课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学分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Ccredit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13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数学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信息系统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数据结构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数据处理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PASCAL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语言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50697" name="Group 137"/>
          <p:cNvGraphicFramePr>
            <a:graphicFrameLocks noGrp="1"/>
          </p:cNvGraphicFramePr>
          <p:nvPr/>
        </p:nvGraphicFramePr>
        <p:xfrm>
          <a:off x="142875" y="1700213"/>
          <a:ext cx="5113338" cy="1538288"/>
        </p:xfrm>
        <a:graphic>
          <a:graphicData uri="http://schemas.openxmlformats.org/drawingml/2006/table">
            <a:tbl>
              <a:tblPr/>
              <a:tblGrid>
                <a:gridCol w="1223962"/>
                <a:gridCol w="1008063"/>
                <a:gridCol w="936625"/>
                <a:gridCol w="936625"/>
                <a:gridCol w="1008062"/>
              </a:tblGrid>
              <a:tr h="518110"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  号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Sno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姓  名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Sname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性  别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Ssex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年  龄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Sage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33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所 在 系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Sdept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20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200215121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200215122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200215123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200515125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李勇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刘晨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王敏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张立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50743" name="Group 183"/>
          <p:cNvGraphicFramePr>
            <a:graphicFrameLocks noGrp="1"/>
          </p:cNvGraphicFramePr>
          <p:nvPr>
            <p:ph sz="half" idx="1"/>
          </p:nvPr>
        </p:nvGraphicFramePr>
        <p:xfrm>
          <a:off x="4859338" y="3705225"/>
          <a:ext cx="4038600" cy="1889125"/>
        </p:xfrm>
        <a:graphic>
          <a:graphicData uri="http://schemas.openxmlformats.org/drawingml/2006/table">
            <a:tbl>
              <a:tblPr/>
              <a:tblGrid>
                <a:gridCol w="1639887"/>
                <a:gridCol w="1114425"/>
                <a:gridCol w="1284288"/>
              </a:tblGrid>
              <a:tr h="5605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 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Grade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285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92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88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90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208" name="Rectangle 185"/>
          <p:cNvSpPr/>
          <p:nvPr/>
        </p:nvSpPr>
        <p:spPr>
          <a:xfrm>
            <a:off x="2195513" y="1341438"/>
            <a:ext cx="8826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en-US" altLang="zh-CN" dirty="0">
                <a:latin typeface="Verdana" panose="020B0604030504040204" pitchFamily="34" charset="0"/>
              </a:rPr>
              <a:t>Student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92209" name="Rectangle 186"/>
          <p:cNvSpPr/>
          <p:nvPr/>
        </p:nvSpPr>
        <p:spPr>
          <a:xfrm>
            <a:off x="2124075" y="3284538"/>
            <a:ext cx="8318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en-US" altLang="zh-CN" dirty="0">
                <a:latin typeface="Verdana" panose="020B0604030504040204" pitchFamily="34" charset="0"/>
              </a:rPr>
              <a:t>Course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92210" name="Rectangle 187"/>
          <p:cNvSpPr/>
          <p:nvPr/>
        </p:nvSpPr>
        <p:spPr>
          <a:xfrm>
            <a:off x="6732588" y="3284538"/>
            <a:ext cx="4635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en-US" altLang="zh-CN" dirty="0">
                <a:latin typeface="Verdana" panose="020B0604030504040204" pitchFamily="34" charset="0"/>
              </a:rPr>
              <a:t>SC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92211" name="TextBox 8"/>
          <p:cNvSpPr txBox="1"/>
          <p:nvPr/>
        </p:nvSpPr>
        <p:spPr>
          <a:xfrm>
            <a:off x="5003800" y="1504950"/>
            <a:ext cx="3997325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Student 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⋈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 SC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 ⋈</a:t>
            </a:r>
            <a:r>
              <a:rPr lang="en-US" altLang="zh-CN" sz="2400" dirty="0">
                <a:solidFill>
                  <a:srgbClr val="FF0000"/>
                </a:solidFill>
                <a:latin typeface="Verdana" panose="020B0604030504040204" pitchFamily="34" charset="0"/>
              </a:rPr>
              <a:t>Course=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？</a:t>
            </a:r>
            <a:endParaRPr lang="en-US" altLang="zh-CN" sz="2400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88063" y="2243138"/>
            <a:ext cx="1968500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Verdana" panose="020B0604030504040204" pitchFamily="34" charset="0"/>
              </a:rPr>
              <a:t>10</a:t>
            </a:r>
            <a:r>
              <a:rPr lang="zh-CN" altLang="en-US" sz="2800" dirty="0">
                <a:solidFill>
                  <a:srgbClr val="FF0000"/>
                </a:solidFill>
                <a:latin typeface="Verdana" panose="020B0604030504040204" pitchFamily="34" charset="0"/>
              </a:rPr>
              <a:t>列</a:t>
            </a:r>
            <a:endParaRPr lang="en-US" altLang="zh-CN" sz="2800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Verdana" panose="020B0604030504040204" pitchFamily="34" charset="0"/>
              </a:rPr>
              <a:t>5</a:t>
            </a:r>
            <a:r>
              <a:rPr lang="zh-CN" altLang="en-US" sz="2800" dirty="0">
                <a:solidFill>
                  <a:srgbClr val="FF0000"/>
                </a:solidFill>
                <a:latin typeface="Verdana" panose="020B0604030504040204" pitchFamily="34" charset="0"/>
              </a:rPr>
              <a:t>行</a:t>
            </a:r>
            <a:endParaRPr lang="zh-CN" altLang="en-US" sz="2800" dirty="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318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连接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93188" name="Rectangle 3"/>
          <p:cNvSpPr>
            <a:spLocks noGrp="1"/>
          </p:cNvSpPr>
          <p:nvPr>
            <p:ph idx="1"/>
          </p:nvPr>
        </p:nvSpPr>
        <p:spPr>
          <a:xfrm>
            <a:off x="323850" y="1268413"/>
            <a:ext cx="8820150" cy="194627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25000"/>
              </a:lnSpc>
            </a:pPr>
            <a:r>
              <a:rPr lang="zh-CN" altLang="en-US" dirty="0"/>
              <a:t>关系</a:t>
            </a:r>
            <a:r>
              <a:rPr lang="en-US" altLang="zh-CN" dirty="0"/>
              <a:t>R</a:t>
            </a:r>
            <a:r>
              <a:rPr lang="zh-CN" altLang="en-US" dirty="0"/>
              <a:t>和</a:t>
            </a:r>
            <a:r>
              <a:rPr lang="en-US" altLang="zh-CN" dirty="0"/>
              <a:t>S</a:t>
            </a:r>
            <a:r>
              <a:rPr lang="zh-CN" altLang="en-US" dirty="0"/>
              <a:t>在做自然连接时，选择两个关系在公共属性上值相等的元素构成新关系。此时，关系</a:t>
            </a:r>
            <a:r>
              <a:rPr lang="en-US" altLang="zh-CN" dirty="0"/>
              <a:t>R</a:t>
            </a:r>
            <a:r>
              <a:rPr lang="zh-CN" altLang="en-US" dirty="0"/>
              <a:t>和</a:t>
            </a:r>
            <a:r>
              <a:rPr lang="en-US" altLang="zh-CN" dirty="0"/>
              <a:t>S</a:t>
            </a:r>
            <a:r>
              <a:rPr lang="zh-CN" altLang="en-US" dirty="0"/>
              <a:t>中都可能有某些元组（悬浮元组）被</a:t>
            </a:r>
            <a:r>
              <a:rPr lang="zh-CN" altLang="en-US" b="1" dirty="0">
                <a:solidFill>
                  <a:srgbClr val="FF0000"/>
                </a:solidFill>
              </a:rPr>
              <a:t>舍弃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514052" name="Rectangle 4"/>
          <p:cNvSpPr/>
          <p:nvPr/>
        </p:nvSpPr>
        <p:spPr>
          <a:xfrm>
            <a:off x="323850" y="3213100"/>
            <a:ext cx="8820150" cy="2159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600" b="1" dirty="0">
                <a:latin typeface="Verdana" panose="020B0604030504040204" pitchFamily="34" charset="0"/>
                <a:ea typeface="楷体_GB2312" pitchFamily="49" charset="-122"/>
              </a:rPr>
              <a:t>若把舍弃的元组也保存在结果关系中，而在其他属性上填空值，则称为</a:t>
            </a:r>
            <a:r>
              <a:rPr lang="zh-CN" altLang="en-US" sz="2600" b="1" dirty="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</a:rPr>
              <a:t>外连接</a:t>
            </a:r>
            <a:r>
              <a:rPr lang="zh-CN" altLang="en-US" sz="2600" b="1" dirty="0">
                <a:latin typeface="Verdana" panose="020B0604030504040204" pitchFamily="34" charset="0"/>
                <a:ea typeface="楷体_GB2312" pitchFamily="49" charset="-122"/>
              </a:rPr>
              <a:t>。</a:t>
            </a:r>
            <a:endParaRPr lang="en-US" altLang="zh-CN" sz="26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600" b="1" dirty="0">
                <a:latin typeface="Verdana" panose="020B0604030504040204" pitchFamily="34" charset="0"/>
                <a:ea typeface="楷体_GB2312" pitchFamily="49" charset="-122"/>
              </a:rPr>
              <a:t>若只把左边关系</a:t>
            </a:r>
            <a:r>
              <a:rPr lang="en-US" altLang="zh-CN" sz="2600" b="1" dirty="0">
                <a:latin typeface="Verdana" panose="020B0604030504040204" pitchFamily="34" charset="0"/>
                <a:ea typeface="楷体_GB2312" pitchFamily="49" charset="-122"/>
              </a:rPr>
              <a:t>R</a:t>
            </a:r>
            <a:r>
              <a:rPr lang="zh-CN" altLang="en-US" sz="2600" b="1" dirty="0">
                <a:latin typeface="Verdana" panose="020B0604030504040204" pitchFamily="34" charset="0"/>
                <a:ea typeface="楷体_GB2312" pitchFamily="49" charset="-122"/>
              </a:rPr>
              <a:t>中要舍弃的元组保留就叫</a:t>
            </a:r>
            <a:r>
              <a:rPr lang="zh-CN" altLang="en-US" sz="2600" b="1" dirty="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</a:rPr>
              <a:t>左外连接</a:t>
            </a:r>
            <a:r>
              <a:rPr lang="zh-CN" altLang="en-US" sz="2600" b="1" dirty="0">
                <a:latin typeface="Verdana" panose="020B0604030504040204" pitchFamily="34" charset="0"/>
                <a:ea typeface="楷体_GB2312" pitchFamily="49" charset="-122"/>
              </a:rPr>
              <a:t>；</a:t>
            </a:r>
            <a:endParaRPr lang="en-US" altLang="zh-CN" sz="26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600" b="1" dirty="0">
                <a:latin typeface="Verdana" panose="020B0604030504040204" pitchFamily="34" charset="0"/>
                <a:ea typeface="楷体_GB2312" pitchFamily="49" charset="-122"/>
              </a:rPr>
              <a:t>若只把右边关系</a:t>
            </a:r>
            <a:r>
              <a:rPr lang="en-US" altLang="zh-CN" sz="2600" b="1" dirty="0">
                <a:latin typeface="Verdana" panose="020B0604030504040204" pitchFamily="34" charset="0"/>
                <a:ea typeface="楷体_GB2312" pitchFamily="49" charset="-122"/>
              </a:rPr>
              <a:t>S</a:t>
            </a:r>
            <a:r>
              <a:rPr lang="zh-CN" altLang="en-US" sz="2600" b="1" dirty="0">
                <a:latin typeface="Verdana" panose="020B0604030504040204" pitchFamily="34" charset="0"/>
                <a:ea typeface="楷体_GB2312" pitchFamily="49" charset="-122"/>
              </a:rPr>
              <a:t>中要舍弃的元组保留就叫</a:t>
            </a:r>
            <a:r>
              <a:rPr lang="zh-CN" altLang="en-US" sz="2600" b="1" dirty="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</a:rPr>
              <a:t>右外连接</a:t>
            </a:r>
            <a:r>
              <a:rPr lang="zh-CN" altLang="en-US" sz="2600" b="1" dirty="0">
                <a:latin typeface="Verdana" panose="020B0604030504040204" pitchFamily="34" charset="0"/>
                <a:ea typeface="楷体_GB2312" pitchFamily="49" charset="-122"/>
              </a:rPr>
              <a:t>。</a:t>
            </a:r>
            <a:endParaRPr lang="zh-CN" altLang="en-US" sz="26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2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4052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4052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14052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14052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4052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2">
                                            <p:txEl>
                                              <p:charRg st="3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4052">
                                            <p:txEl>
                                              <p:charRg st="3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4052">
                                            <p:txEl>
                                              <p:charRg st="3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4052">
                                            <p:txEl>
                                              <p:charRg st="3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4052">
                                            <p:txEl>
                                              <p:charRg st="3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4052">
                                            <p:txEl>
                                              <p:charRg st="36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2">
                                            <p:txEl>
                                              <p:charRg st="61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4052">
                                            <p:txEl>
                                              <p:charRg st="61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14052">
                                            <p:txEl>
                                              <p:charRg st="61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4052">
                                            <p:txEl>
                                              <p:charRg st="61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4052">
                                            <p:txEl>
                                              <p:charRg st="61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4052">
                                            <p:txEl>
                                              <p:charRg st="61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52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灯片编号占位符 2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4211" name="Text Box 2"/>
          <p:cNvSpPr txBox="1"/>
          <p:nvPr/>
        </p:nvSpPr>
        <p:spPr>
          <a:xfrm>
            <a:off x="250825" y="1196975"/>
            <a:ext cx="1081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表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1</a:t>
            </a:r>
            <a:endParaRPr lang="en-US" altLang="zh-CN" sz="24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94212" name="Text Box 3"/>
          <p:cNvSpPr txBox="1"/>
          <p:nvPr/>
        </p:nvSpPr>
        <p:spPr>
          <a:xfrm>
            <a:off x="3492500" y="1196975"/>
            <a:ext cx="1079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表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2</a:t>
            </a:r>
            <a:endParaRPr lang="en-US" altLang="zh-CN" sz="24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graphicFrame>
        <p:nvGraphicFramePr>
          <p:cNvPr id="515076" name="Group 4"/>
          <p:cNvGraphicFramePr>
            <a:graphicFrameLocks noGrp="1"/>
          </p:cNvGraphicFramePr>
          <p:nvPr/>
        </p:nvGraphicFramePr>
        <p:xfrm>
          <a:off x="1331913" y="1196975"/>
          <a:ext cx="2160588" cy="2581275"/>
        </p:xfrm>
        <a:graphic>
          <a:graphicData uri="http://schemas.openxmlformats.org/drawingml/2006/table">
            <a:tbl>
              <a:tblPr/>
              <a:tblGrid>
                <a:gridCol w="1008317"/>
                <a:gridCol w="1152270"/>
              </a:tblGrid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王五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中山路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5096" name="Group 24"/>
          <p:cNvGraphicFramePr>
            <a:graphicFrameLocks noGrp="1"/>
          </p:cNvGraphicFramePr>
          <p:nvPr/>
        </p:nvGraphicFramePr>
        <p:xfrm>
          <a:off x="4497388" y="1196975"/>
          <a:ext cx="4248150" cy="2592388"/>
        </p:xfrm>
        <a:graphic>
          <a:graphicData uri="http://schemas.openxmlformats.org/drawingml/2006/table">
            <a:tbl>
              <a:tblPr/>
              <a:tblGrid>
                <a:gridCol w="1223720"/>
                <a:gridCol w="1991917"/>
                <a:gridCol w="1032513"/>
              </a:tblGrid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海尔集团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2300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4259" name="Text Box 50"/>
          <p:cNvSpPr txBox="1"/>
          <p:nvPr/>
        </p:nvSpPr>
        <p:spPr>
          <a:xfrm>
            <a:off x="0" y="3789363"/>
            <a:ext cx="1657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自然连接</a:t>
            </a:r>
            <a:endParaRPr lang="zh-CN" altLang="en-US" sz="24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graphicFrame>
        <p:nvGraphicFramePr>
          <p:cNvPr id="515165" name="Group 93"/>
          <p:cNvGraphicFramePr>
            <a:graphicFrameLocks noGrp="1"/>
          </p:cNvGraphicFramePr>
          <p:nvPr/>
        </p:nvGraphicFramePr>
        <p:xfrm>
          <a:off x="0" y="4292600"/>
          <a:ext cx="4681538" cy="1828800"/>
        </p:xfrm>
        <a:graphic>
          <a:graphicData uri="http://schemas.openxmlformats.org/drawingml/2006/table">
            <a:tbl>
              <a:tblPr/>
              <a:tblGrid>
                <a:gridCol w="1008063"/>
                <a:gridCol w="1225550"/>
                <a:gridCol w="1511300"/>
                <a:gridCol w="936625"/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5166" name="Group 94"/>
          <p:cNvGraphicFramePr>
            <a:graphicFrameLocks noGrp="1"/>
          </p:cNvGraphicFramePr>
          <p:nvPr/>
        </p:nvGraphicFramePr>
        <p:xfrm>
          <a:off x="4787900" y="4437063"/>
          <a:ext cx="4176713" cy="2133600"/>
        </p:xfrm>
        <a:graphic>
          <a:graphicData uri="http://schemas.openxmlformats.org/drawingml/2006/table">
            <a:tbl>
              <a:tblPr/>
              <a:tblGrid>
                <a:gridCol w="822325"/>
                <a:gridCol w="1050925"/>
                <a:gridCol w="1368425"/>
                <a:gridCol w="935038"/>
              </a:tblGrid>
              <a:tr h="415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王五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中山路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NULL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NULL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5198" name="Text Box 126"/>
          <p:cNvSpPr txBox="1"/>
          <p:nvPr/>
        </p:nvSpPr>
        <p:spPr>
          <a:xfrm>
            <a:off x="4932363" y="3933825"/>
            <a:ext cx="20161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左外连接</a:t>
            </a:r>
            <a:endParaRPr lang="zh-CN" altLang="en-US" sz="24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94320" name="Rectangle 2"/>
          <p:cNvSpPr txBox="1"/>
          <p:nvPr/>
        </p:nvSpPr>
        <p:spPr>
          <a:xfrm>
            <a:off x="571500" y="214313"/>
            <a:ext cx="8001000" cy="7350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sz="3800" dirty="0">
                <a:solidFill>
                  <a:schemeClr val="tx2"/>
                </a:solidFill>
                <a:latin typeface="Verdana" panose="020B0604030504040204" pitchFamily="34" charset="0"/>
              </a:rPr>
              <a:t>连接</a:t>
            </a:r>
            <a:r>
              <a:rPr lang="en-US" altLang="zh-CN" sz="3800" dirty="0">
                <a:solidFill>
                  <a:schemeClr val="tx2"/>
                </a:solidFill>
                <a:latin typeface="Verdana" panose="020B0604030504040204" pitchFamily="34" charset="0"/>
              </a:rPr>
              <a:t>(</a:t>
            </a:r>
            <a:r>
              <a:rPr lang="zh-CN" altLang="en-US" sz="3800" dirty="0">
                <a:solidFill>
                  <a:schemeClr val="tx2"/>
                </a:solidFill>
                <a:latin typeface="Verdana" panose="020B0604030504040204" pitchFamily="34" charset="0"/>
              </a:rPr>
              <a:t>续</a:t>
            </a:r>
            <a:r>
              <a:rPr lang="en-US" altLang="zh-CN" sz="3800" dirty="0">
                <a:solidFill>
                  <a:schemeClr val="tx2"/>
                </a:solidFill>
                <a:latin typeface="Verdana" panose="020B0604030504040204" pitchFamily="34" charset="0"/>
              </a:rPr>
              <a:t>)</a:t>
            </a:r>
            <a:endParaRPr lang="en-US" altLang="zh-CN" sz="3800" dirty="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5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1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15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15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15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515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198" grpId="0"/>
      <p:bldP spid="515198" grpId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灯片编号占位符 2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5235" name="Text Box 50"/>
          <p:cNvSpPr txBox="1"/>
          <p:nvPr/>
        </p:nvSpPr>
        <p:spPr>
          <a:xfrm>
            <a:off x="0" y="3789363"/>
            <a:ext cx="1657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自然连接</a:t>
            </a:r>
            <a:endParaRPr lang="zh-CN" altLang="en-US" sz="24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graphicFrame>
        <p:nvGraphicFramePr>
          <p:cNvPr id="549939" name="Group 51"/>
          <p:cNvGraphicFramePr>
            <a:graphicFrameLocks noGrp="1"/>
          </p:cNvGraphicFramePr>
          <p:nvPr/>
        </p:nvGraphicFramePr>
        <p:xfrm>
          <a:off x="0" y="4292600"/>
          <a:ext cx="4681538" cy="1828800"/>
        </p:xfrm>
        <a:graphic>
          <a:graphicData uri="http://schemas.openxmlformats.org/drawingml/2006/table">
            <a:tbl>
              <a:tblPr/>
              <a:tblGrid>
                <a:gridCol w="1008063"/>
                <a:gridCol w="1225550"/>
                <a:gridCol w="1511300"/>
                <a:gridCol w="936625"/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9998" name="Text Box 110"/>
          <p:cNvSpPr txBox="1"/>
          <p:nvPr/>
        </p:nvSpPr>
        <p:spPr>
          <a:xfrm>
            <a:off x="4932363" y="3933825"/>
            <a:ext cx="20161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右外连接</a:t>
            </a:r>
            <a:endParaRPr lang="zh-CN" altLang="en-US" sz="24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</p:txBody>
      </p:sp>
      <p:graphicFrame>
        <p:nvGraphicFramePr>
          <p:cNvPr id="549999" name="Group 111"/>
          <p:cNvGraphicFramePr>
            <a:graphicFrameLocks noGrp="1"/>
          </p:cNvGraphicFramePr>
          <p:nvPr/>
        </p:nvGraphicFramePr>
        <p:xfrm>
          <a:off x="4787900" y="4437063"/>
          <a:ext cx="4103688" cy="2141538"/>
        </p:xfrm>
        <a:graphic>
          <a:graphicData uri="http://schemas.openxmlformats.org/drawingml/2006/table">
            <a:tbl>
              <a:tblPr/>
              <a:tblGrid>
                <a:gridCol w="792163"/>
                <a:gridCol w="1079500"/>
                <a:gridCol w="1368425"/>
                <a:gridCol w="863600"/>
              </a:tblGrid>
              <a:tr h="4348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李红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NULL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海尔集团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2300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5296" name="Text Box 2"/>
          <p:cNvSpPr txBox="1"/>
          <p:nvPr/>
        </p:nvSpPr>
        <p:spPr>
          <a:xfrm>
            <a:off x="250825" y="1196975"/>
            <a:ext cx="1081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表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1</a:t>
            </a:r>
            <a:endParaRPr lang="en-US" altLang="zh-CN" sz="24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95297" name="Text Box 3"/>
          <p:cNvSpPr txBox="1"/>
          <p:nvPr/>
        </p:nvSpPr>
        <p:spPr>
          <a:xfrm>
            <a:off x="3492500" y="1196975"/>
            <a:ext cx="1079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表</a:t>
            </a:r>
            <a:r>
              <a:rPr lang="en-US" altLang="zh-CN" sz="2400" b="1" dirty="0">
                <a:latin typeface="Verdana" panose="020B0604030504040204" pitchFamily="34" charset="0"/>
                <a:ea typeface="楷体_GB2312" pitchFamily="49" charset="-122"/>
              </a:rPr>
              <a:t>2</a:t>
            </a:r>
            <a:endParaRPr lang="en-US" altLang="zh-CN" sz="24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graphicFrame>
        <p:nvGraphicFramePr>
          <p:cNvPr id="13" name="Group 4"/>
          <p:cNvGraphicFramePr>
            <a:graphicFrameLocks noGrp="1"/>
          </p:cNvGraphicFramePr>
          <p:nvPr/>
        </p:nvGraphicFramePr>
        <p:xfrm>
          <a:off x="1331913" y="1196975"/>
          <a:ext cx="2160588" cy="2581275"/>
        </p:xfrm>
        <a:graphic>
          <a:graphicData uri="http://schemas.openxmlformats.org/drawingml/2006/table">
            <a:tbl>
              <a:tblPr/>
              <a:tblGrid>
                <a:gridCol w="1008317"/>
                <a:gridCol w="1152270"/>
              </a:tblGrid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王五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中山路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63" marR="914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Group 24"/>
          <p:cNvGraphicFramePr>
            <a:graphicFrameLocks noGrp="1"/>
          </p:cNvGraphicFramePr>
          <p:nvPr/>
        </p:nvGraphicFramePr>
        <p:xfrm>
          <a:off x="4497388" y="1196975"/>
          <a:ext cx="4248150" cy="2592388"/>
        </p:xfrm>
        <a:graphic>
          <a:graphicData uri="http://schemas.openxmlformats.org/drawingml/2006/table">
            <a:tbl>
              <a:tblPr/>
              <a:tblGrid>
                <a:gridCol w="1223720"/>
                <a:gridCol w="1991917"/>
                <a:gridCol w="1032513"/>
              </a:tblGrid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海尔集团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2300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22" marR="914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5344" name="Rectangle 2"/>
          <p:cNvSpPr txBox="1"/>
          <p:nvPr/>
        </p:nvSpPr>
        <p:spPr>
          <a:xfrm>
            <a:off x="571500" y="214313"/>
            <a:ext cx="8001000" cy="7350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sz="3800" dirty="0">
                <a:solidFill>
                  <a:schemeClr val="tx2"/>
                </a:solidFill>
                <a:latin typeface="Verdana" panose="020B0604030504040204" pitchFamily="34" charset="0"/>
              </a:rPr>
              <a:t>连接</a:t>
            </a:r>
            <a:r>
              <a:rPr lang="en-US" altLang="zh-CN" sz="3800" dirty="0">
                <a:solidFill>
                  <a:schemeClr val="tx2"/>
                </a:solidFill>
                <a:latin typeface="Verdana" panose="020B0604030504040204" pitchFamily="34" charset="0"/>
              </a:rPr>
              <a:t>(</a:t>
            </a:r>
            <a:r>
              <a:rPr lang="zh-CN" altLang="en-US" sz="3800" dirty="0">
                <a:solidFill>
                  <a:schemeClr val="tx2"/>
                </a:solidFill>
                <a:latin typeface="Verdana" panose="020B0604030504040204" pitchFamily="34" charset="0"/>
              </a:rPr>
              <a:t>续</a:t>
            </a:r>
            <a:r>
              <a:rPr lang="en-US" altLang="zh-CN" sz="3800" dirty="0">
                <a:solidFill>
                  <a:schemeClr val="tx2"/>
                </a:solidFill>
                <a:latin typeface="Verdana" panose="020B0604030504040204" pitchFamily="34" charset="0"/>
              </a:rPr>
              <a:t>)</a:t>
            </a:r>
            <a:endParaRPr lang="en-US" altLang="zh-CN" sz="3800" dirty="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49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49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49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2" dur="2000"/>
                                        <p:tgtEl>
                                          <p:spTgt spid="5499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998" grpId="0"/>
      <p:bldP spid="549998" grpId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灯片编号占位符 2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6259" name="Text Box 2"/>
          <p:cNvSpPr txBox="1"/>
          <p:nvPr/>
        </p:nvSpPr>
        <p:spPr>
          <a:xfrm>
            <a:off x="323850" y="1100138"/>
            <a:ext cx="20161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左外连接</a:t>
            </a:r>
            <a:endParaRPr lang="zh-CN" altLang="en-US" sz="24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96260" name="Text Box 3"/>
          <p:cNvSpPr txBox="1"/>
          <p:nvPr/>
        </p:nvSpPr>
        <p:spPr>
          <a:xfrm>
            <a:off x="4787900" y="1100138"/>
            <a:ext cx="20161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右外连接</a:t>
            </a:r>
            <a:endParaRPr lang="zh-CN" altLang="en-US" sz="24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96261" name="Text Box 4"/>
          <p:cNvSpPr txBox="1"/>
          <p:nvPr/>
        </p:nvSpPr>
        <p:spPr>
          <a:xfrm>
            <a:off x="468313" y="5084763"/>
            <a:ext cx="20161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全外连接</a:t>
            </a:r>
            <a:endParaRPr lang="zh-CN" altLang="en-US" sz="24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graphicFrame>
        <p:nvGraphicFramePr>
          <p:cNvPr id="516231" name="Group 135"/>
          <p:cNvGraphicFramePr>
            <a:graphicFrameLocks noGrp="1"/>
          </p:cNvGraphicFramePr>
          <p:nvPr/>
        </p:nvGraphicFramePr>
        <p:xfrm>
          <a:off x="250825" y="1557338"/>
          <a:ext cx="4176713" cy="2133600"/>
        </p:xfrm>
        <a:graphic>
          <a:graphicData uri="http://schemas.openxmlformats.org/drawingml/2006/table">
            <a:tbl>
              <a:tblPr/>
              <a:tblGrid>
                <a:gridCol w="822325"/>
                <a:gridCol w="1050925"/>
                <a:gridCol w="1368425"/>
                <a:gridCol w="935038"/>
              </a:tblGrid>
              <a:tr h="415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王五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中山路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NULL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NULL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6237" name="Group 141"/>
          <p:cNvGraphicFramePr>
            <a:graphicFrameLocks noGrp="1"/>
          </p:cNvGraphicFramePr>
          <p:nvPr/>
        </p:nvGraphicFramePr>
        <p:xfrm>
          <a:off x="4787900" y="1557338"/>
          <a:ext cx="4103688" cy="2141538"/>
        </p:xfrm>
        <a:graphic>
          <a:graphicData uri="http://schemas.openxmlformats.org/drawingml/2006/table">
            <a:tbl>
              <a:tblPr/>
              <a:tblGrid>
                <a:gridCol w="792163"/>
                <a:gridCol w="1079500"/>
                <a:gridCol w="1368425"/>
                <a:gridCol w="863600"/>
              </a:tblGrid>
              <a:tr h="4348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李红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NULL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海尔集团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2300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6165" name="Group 69"/>
          <p:cNvGraphicFramePr>
            <a:graphicFrameLocks noGrp="1"/>
          </p:cNvGraphicFramePr>
          <p:nvPr/>
        </p:nvGraphicFramePr>
        <p:xfrm>
          <a:off x="2051050" y="3916363"/>
          <a:ext cx="6070600" cy="2752725"/>
        </p:xfrm>
        <a:graphic>
          <a:graphicData uri="http://schemas.openxmlformats.org/drawingml/2006/table">
            <a:tbl>
              <a:tblPr/>
              <a:tblGrid>
                <a:gridCol w="1517650"/>
                <a:gridCol w="1517650"/>
                <a:gridCol w="1517650"/>
                <a:gridCol w="1517650"/>
              </a:tblGrid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住址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工作单位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工资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张三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河大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清华同方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苹果园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北大方正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王五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中山路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NULL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NULL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赵六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南关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四川长虹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李红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NULL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海尔集团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2300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6363" name="Rectangle 2"/>
          <p:cNvSpPr txBox="1"/>
          <p:nvPr/>
        </p:nvSpPr>
        <p:spPr>
          <a:xfrm>
            <a:off x="571500" y="214313"/>
            <a:ext cx="8001000" cy="7350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sz="3800" dirty="0">
                <a:solidFill>
                  <a:schemeClr val="tx2"/>
                </a:solidFill>
                <a:latin typeface="Verdana" panose="020B0604030504040204" pitchFamily="34" charset="0"/>
              </a:rPr>
              <a:t>连接</a:t>
            </a:r>
            <a:r>
              <a:rPr lang="en-US" altLang="zh-CN" sz="3800" dirty="0">
                <a:solidFill>
                  <a:schemeClr val="tx2"/>
                </a:solidFill>
                <a:latin typeface="Verdana" panose="020B0604030504040204" pitchFamily="34" charset="0"/>
              </a:rPr>
              <a:t>(</a:t>
            </a:r>
            <a:r>
              <a:rPr lang="zh-CN" altLang="en-US" sz="3800" dirty="0">
                <a:solidFill>
                  <a:schemeClr val="tx2"/>
                </a:solidFill>
                <a:latin typeface="Verdana" panose="020B0604030504040204" pitchFamily="34" charset="0"/>
              </a:rPr>
              <a:t>续</a:t>
            </a:r>
            <a:r>
              <a:rPr lang="en-US" altLang="zh-CN" sz="3800" dirty="0">
                <a:solidFill>
                  <a:schemeClr val="tx2"/>
                </a:solidFill>
                <a:latin typeface="Verdana" panose="020B0604030504040204" pitchFamily="34" charset="0"/>
              </a:rPr>
              <a:t>)</a:t>
            </a:r>
            <a:endParaRPr lang="en-US" altLang="zh-CN" sz="3800" dirty="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97283" name="Rectangle 2"/>
          <p:cNvSpPr>
            <a:spLocks noGrp="1"/>
          </p:cNvSpPr>
          <p:nvPr>
            <p:ph type="title"/>
          </p:nvPr>
        </p:nvSpPr>
        <p:spPr>
          <a:xfrm>
            <a:off x="457200" y="44450"/>
            <a:ext cx="8291513" cy="863600"/>
          </a:xfrm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综合举例</a:t>
            </a:r>
            <a:endParaRPr lang="en-US" altLang="zh-CN" b="1" dirty="0"/>
          </a:p>
        </p:txBody>
      </p:sp>
      <p:sp>
        <p:nvSpPr>
          <p:cNvPr id="518147" name="Rectangle 3"/>
          <p:cNvSpPr>
            <a:spLocks noGrp="1"/>
          </p:cNvSpPr>
          <p:nvPr>
            <p:ph idx="1"/>
          </p:nvPr>
        </p:nvSpPr>
        <p:spPr>
          <a:xfrm>
            <a:off x="323850" y="1196975"/>
            <a:ext cx="8820150" cy="5040313"/>
          </a:xfrm>
          <a:ln/>
        </p:spPr>
        <p:txBody>
          <a:bodyPr vert="horz" wrap="square" lIns="91440" tIns="45720" rIns="91440" bIns="45720" anchor="t" anchorCtr="0"/>
          <a:p>
            <a:pPr marL="457200" indent="-457200">
              <a:lnSpc>
                <a:spcPct val="120000"/>
              </a:lnSpc>
              <a:buNone/>
            </a:pPr>
            <a:r>
              <a:rPr lang="zh-CN" altLang="en-US" b="1" dirty="0"/>
              <a:t>设教学数据库中有三个关系：</a:t>
            </a:r>
            <a:endParaRPr lang="zh-CN" altLang="en-US" b="1" dirty="0"/>
          </a:p>
          <a:p>
            <a:pPr marL="457200" indent="-457200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E02920"/>
                </a:solidFill>
              </a:rPr>
              <a:t>学生关系    </a:t>
            </a:r>
            <a:r>
              <a:rPr lang="en-US" altLang="zh-CN" b="1" dirty="0">
                <a:solidFill>
                  <a:srgbClr val="E02920"/>
                </a:solidFill>
              </a:rPr>
              <a:t>S(S#, SNAME, AGE, SEX)</a:t>
            </a:r>
            <a:endParaRPr lang="en-US" altLang="zh-CN" b="1" dirty="0">
              <a:solidFill>
                <a:srgbClr val="E02920"/>
              </a:solidFill>
            </a:endParaRPr>
          </a:p>
          <a:p>
            <a:pPr marL="457200" indent="-457200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E02920"/>
                </a:solidFill>
              </a:rPr>
              <a:t>选课关系    </a:t>
            </a:r>
            <a:r>
              <a:rPr lang="en-US" altLang="zh-CN" b="1" dirty="0">
                <a:solidFill>
                  <a:srgbClr val="E02920"/>
                </a:solidFill>
              </a:rPr>
              <a:t>SC(S#, C#, GRADE)</a:t>
            </a:r>
            <a:endParaRPr lang="en-US" altLang="zh-CN" b="1" dirty="0">
              <a:solidFill>
                <a:srgbClr val="E02920"/>
              </a:solidFill>
            </a:endParaRPr>
          </a:p>
          <a:p>
            <a:pPr marL="457200" indent="-457200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E02920"/>
                </a:solidFill>
              </a:rPr>
              <a:t>课程关系    </a:t>
            </a:r>
            <a:r>
              <a:rPr lang="en-US" altLang="zh-CN" b="1" dirty="0">
                <a:solidFill>
                  <a:srgbClr val="E02920"/>
                </a:solidFill>
              </a:rPr>
              <a:t>C(C#, CNAME, TEACHER)</a:t>
            </a:r>
            <a:endParaRPr lang="en-US" altLang="zh-CN" b="1" dirty="0">
              <a:solidFill>
                <a:srgbClr val="E02920"/>
              </a:solidFill>
            </a:endParaRPr>
          </a:p>
          <a:p>
            <a:pPr marL="457200" indent="-457200">
              <a:lnSpc>
                <a:spcPct val="120000"/>
              </a:lnSpc>
              <a:buNone/>
            </a:pPr>
            <a:r>
              <a:rPr lang="zh-CN" altLang="en-US" b="1" dirty="0"/>
              <a:t>用关系代数表达式表达下面每个查询语句。</a:t>
            </a:r>
            <a:endParaRPr lang="zh-CN" altLang="en-US" b="1" dirty="0"/>
          </a:p>
          <a:p>
            <a:pPr marL="457200" indent="-457200">
              <a:lnSpc>
                <a:spcPct val="120000"/>
              </a:lnSpc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）检索学习课程号为</a:t>
            </a:r>
            <a:r>
              <a:rPr lang="en-US" altLang="zh-CN" b="1" dirty="0"/>
              <a:t>2</a:t>
            </a:r>
            <a:r>
              <a:rPr lang="zh-CN" altLang="en-US" b="1" dirty="0"/>
              <a:t>的学生学号与成绩。</a:t>
            </a:r>
            <a:endParaRPr lang="zh-CN" altLang="en-US" b="1" dirty="0"/>
          </a:p>
          <a:p>
            <a:pPr marL="457200" indent="-457200">
              <a:lnSpc>
                <a:spcPct val="120000"/>
              </a:lnSpc>
              <a:buNone/>
            </a:pPr>
            <a:r>
              <a:rPr lang="zh-CN" altLang="en-US" b="1" dirty="0"/>
              <a:t>       </a:t>
            </a:r>
            <a:r>
              <a:rPr lang="el-GR" altLang="zh-CN" b="1" dirty="0"/>
              <a:t>π</a:t>
            </a:r>
            <a:r>
              <a:rPr lang="en-US" altLang="zh-CN" b="1" baseline="-25000" dirty="0"/>
              <a:t>S#,GRADE</a:t>
            </a:r>
            <a:r>
              <a:rPr lang="en-US" altLang="zh-CN" b="1" dirty="0"/>
              <a:t>(</a:t>
            </a:r>
            <a:r>
              <a:rPr lang="el-GR" altLang="zh-CN" b="1" dirty="0"/>
              <a:t>σ</a:t>
            </a:r>
            <a:r>
              <a:rPr lang="en-US" altLang="zh-CN" b="1" baseline="-25000" dirty="0"/>
              <a:t>C#=‘2’</a:t>
            </a:r>
            <a:r>
              <a:rPr lang="en-US" altLang="zh-CN" b="1" dirty="0"/>
              <a:t>(SC))</a:t>
            </a:r>
            <a:endParaRPr lang="en-US" altLang="zh-CN" b="1" dirty="0"/>
          </a:p>
          <a:p>
            <a:pPr marL="457200" indent="-457200">
              <a:lnSpc>
                <a:spcPct val="120000"/>
              </a:lnSpc>
              <a:buNone/>
            </a:pPr>
            <a:r>
              <a:rPr lang="zh-CN" altLang="en-US" b="1" dirty="0"/>
              <a:t>提问</a:t>
            </a:r>
            <a:r>
              <a:rPr lang="en-US" altLang="zh-CN" b="1" dirty="0"/>
              <a:t>1</a:t>
            </a:r>
            <a:r>
              <a:rPr lang="zh-CN" altLang="en-US" b="1" dirty="0"/>
              <a:t>：检索</a:t>
            </a:r>
            <a:r>
              <a:rPr lang="zh-CN" altLang="en-US" b="1" dirty="0">
                <a:solidFill>
                  <a:srgbClr val="FF0000"/>
                </a:solidFill>
              </a:rPr>
              <a:t>年龄大于</a:t>
            </a:r>
            <a:r>
              <a:rPr lang="en-US" altLang="zh-CN" b="1" dirty="0">
                <a:solidFill>
                  <a:srgbClr val="FF0000"/>
                </a:solidFill>
              </a:rPr>
              <a:t>20</a:t>
            </a:r>
            <a:r>
              <a:rPr lang="zh-CN" altLang="en-US" b="1" dirty="0">
                <a:solidFill>
                  <a:srgbClr val="FF0000"/>
                </a:solidFill>
              </a:rPr>
              <a:t>岁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0000CC"/>
                </a:solidFill>
              </a:rPr>
              <a:t>男生</a:t>
            </a:r>
            <a:r>
              <a:rPr lang="zh-CN" altLang="en-US" b="1" dirty="0"/>
              <a:t>的学号和姓名</a:t>
            </a:r>
            <a:endParaRPr lang="el-GR" altLang="zh-CN" b="1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charRg st="143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8147">
                                            <p:txEl>
                                              <p:charRg st="143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8147">
                                            <p:txEl>
                                              <p:charRg st="143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charRg st="173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8147">
                                            <p:txEl>
                                              <p:charRg st="173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8147">
                                            <p:txEl>
                                              <p:charRg st="173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19170" name="Rectangle 2"/>
          <p:cNvSpPr>
            <a:spLocks noGrp="1"/>
          </p:cNvSpPr>
          <p:nvPr>
            <p:ph idx="1"/>
          </p:nvPr>
        </p:nvSpPr>
        <p:spPr>
          <a:xfrm>
            <a:off x="250825" y="1905000"/>
            <a:ext cx="8547100" cy="418782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60000"/>
              </a:lnSpc>
              <a:buNone/>
            </a:pPr>
            <a:r>
              <a:rPr lang="en-US" altLang="zh-CN" b="1" dirty="0"/>
              <a:t>(2)</a:t>
            </a:r>
            <a:r>
              <a:rPr lang="zh-CN" altLang="en-US" b="1" dirty="0"/>
              <a:t>检索选修课程号为</a:t>
            </a:r>
            <a:r>
              <a:rPr lang="en-US" altLang="zh-CN" b="1" dirty="0"/>
              <a:t>1</a:t>
            </a:r>
            <a:r>
              <a:rPr lang="zh-CN" altLang="en-US" b="1" dirty="0"/>
              <a:t>的学生学号与姓名</a:t>
            </a:r>
            <a:endParaRPr lang="zh-CN" altLang="en-US" b="1" dirty="0"/>
          </a:p>
          <a:p>
            <a:pPr>
              <a:lnSpc>
                <a:spcPct val="160000"/>
              </a:lnSpc>
              <a:buNone/>
            </a:pPr>
            <a:r>
              <a:rPr lang="zh-CN" altLang="en-US" b="1" dirty="0"/>
              <a:t> </a:t>
            </a:r>
            <a:r>
              <a:rPr lang="el-GR" altLang="zh-CN" sz="3200" b="1" dirty="0">
                <a:ea typeface="楷体_GB2312" pitchFamily="49" charset="-122"/>
              </a:rPr>
              <a:t>π </a:t>
            </a:r>
            <a:r>
              <a:rPr lang="en-US" altLang="zh-CN" b="1" baseline="-25000" dirty="0">
                <a:cs typeface="Arial" panose="020B0604020202020204" pitchFamily="34" charset="0"/>
              </a:rPr>
              <a:t>S#,SNAME</a:t>
            </a:r>
            <a:r>
              <a:rPr lang="en-US" altLang="zh-CN" b="1" dirty="0">
                <a:cs typeface="Arial" panose="020B0604020202020204" pitchFamily="34" charset="0"/>
              </a:rPr>
              <a:t>(</a:t>
            </a:r>
            <a:r>
              <a:rPr lang="el-GR" altLang="zh-CN" b="1" dirty="0">
                <a:cs typeface="Arial" panose="020B0604020202020204" pitchFamily="34" charset="0"/>
              </a:rPr>
              <a:t>σ</a:t>
            </a:r>
            <a:r>
              <a:rPr lang="en-US" altLang="zh-CN" b="1" baseline="-25000" dirty="0">
                <a:cs typeface="Arial" panose="020B0604020202020204" pitchFamily="34" charset="0"/>
              </a:rPr>
              <a:t>C#=‘1’</a:t>
            </a:r>
            <a:r>
              <a:rPr lang="en-US" altLang="zh-CN" b="1" dirty="0">
                <a:cs typeface="Arial" panose="020B0604020202020204" pitchFamily="34" charset="0"/>
              </a:rPr>
              <a:t>(S </a:t>
            </a:r>
            <a:r>
              <a:rPr lang="en-US" altLang="zh-CN" b="1" dirty="0">
                <a:latin typeface="MS Gothic" panose="020B0609070205080204" pitchFamily="49" charset="-128"/>
                <a:ea typeface="MS Gothic" panose="020B0609070205080204" pitchFamily="49" charset="-128"/>
              </a:rPr>
              <a:t>⋈ </a:t>
            </a:r>
            <a:r>
              <a:rPr lang="en-US" altLang="zh-CN" b="1" dirty="0">
                <a:cs typeface="Arial" panose="020B0604020202020204" pitchFamily="34" charset="0"/>
              </a:rPr>
              <a:t>SC))</a:t>
            </a:r>
            <a:endParaRPr lang="en-US" altLang="zh-CN" b="1" dirty="0"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  <a:buNone/>
            </a:pPr>
            <a:r>
              <a:rPr lang="el-GR" altLang="zh-CN" sz="2800" b="1" dirty="0">
                <a:ea typeface="楷体_GB2312" pitchFamily="49" charset="-122"/>
              </a:rPr>
              <a:t>π </a:t>
            </a:r>
            <a:r>
              <a:rPr lang="en-US" altLang="zh-CN" b="1" baseline="-25000" dirty="0">
                <a:cs typeface="Arial" panose="020B0604020202020204" pitchFamily="34" charset="0"/>
              </a:rPr>
              <a:t>S#</a:t>
            </a:r>
            <a:r>
              <a:rPr lang="en-US" altLang="zh-CN" b="1" dirty="0">
                <a:cs typeface="Arial" panose="020B0604020202020204" pitchFamily="34" charset="0"/>
              </a:rPr>
              <a:t>(</a:t>
            </a:r>
            <a:r>
              <a:rPr lang="el-GR" altLang="zh-CN" b="1" dirty="0">
                <a:cs typeface="Arial" panose="020B0604020202020204" pitchFamily="34" charset="0"/>
              </a:rPr>
              <a:t>σ</a:t>
            </a:r>
            <a:r>
              <a:rPr lang="en-US" altLang="zh-CN" b="1" baseline="-25000" dirty="0">
                <a:cs typeface="Arial" panose="020B0604020202020204" pitchFamily="34" charset="0"/>
              </a:rPr>
              <a:t>C#=‘1’</a:t>
            </a:r>
            <a:r>
              <a:rPr lang="en-US" altLang="zh-CN" b="1" dirty="0">
                <a:cs typeface="Arial" panose="020B0604020202020204" pitchFamily="34" charset="0"/>
              </a:rPr>
              <a:t>(SC))</a:t>
            </a:r>
            <a:r>
              <a:rPr lang="en-US" altLang="zh-CN" b="1" dirty="0">
                <a:latin typeface="MS Gothic" panose="020B0609070205080204" pitchFamily="49" charset="-128"/>
                <a:ea typeface="MS Gothic" panose="020B0609070205080204" pitchFamily="49" charset="-128"/>
              </a:rPr>
              <a:t> ⋈</a:t>
            </a:r>
            <a:r>
              <a:rPr lang="el-GR" altLang="zh-CN" sz="3200" b="1" dirty="0">
                <a:ea typeface="楷体_GB2312" pitchFamily="49" charset="-122"/>
              </a:rPr>
              <a:t>π </a:t>
            </a:r>
            <a:r>
              <a:rPr lang="en-US" altLang="zh-CN" b="1" baseline="-25000" dirty="0">
                <a:cs typeface="Arial" panose="020B0604020202020204" pitchFamily="34" charset="0"/>
              </a:rPr>
              <a:t>S#,SNAME</a:t>
            </a:r>
            <a:r>
              <a:rPr lang="en-US" altLang="zh-CN" b="1" dirty="0">
                <a:cs typeface="Arial" panose="020B0604020202020204" pitchFamily="34" charset="0"/>
              </a:rPr>
              <a:t>(S)</a:t>
            </a:r>
            <a:endParaRPr lang="en-US" altLang="zh-CN" b="1" dirty="0"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  <a:buNone/>
            </a:pPr>
            <a:r>
              <a:rPr lang="zh-CN" altLang="en-US" sz="3200" b="1" dirty="0">
                <a:ea typeface="楷体_GB2312" pitchFamily="49" charset="-122"/>
              </a:rPr>
              <a:t>提问</a:t>
            </a:r>
            <a:r>
              <a:rPr lang="en-US" altLang="zh-CN" sz="3200" b="1" dirty="0">
                <a:ea typeface="楷体_GB2312" pitchFamily="49" charset="-122"/>
              </a:rPr>
              <a:t>2</a:t>
            </a:r>
            <a:r>
              <a:rPr lang="zh-CN" altLang="en-US" sz="3200" b="1" dirty="0">
                <a:ea typeface="楷体_GB2312" pitchFamily="49" charset="-122"/>
              </a:rPr>
              <a:t>：</a:t>
            </a:r>
            <a:r>
              <a:rPr lang="zh-CN" altLang="en-US" sz="3200" b="1" dirty="0"/>
              <a:t>检索选修课程名为“</a:t>
            </a:r>
            <a:r>
              <a:rPr lang="en-US" altLang="zh-CN" sz="3200" b="1" dirty="0"/>
              <a:t>C</a:t>
            </a:r>
            <a:r>
              <a:rPr lang="zh-CN" altLang="en-US" sz="3200" b="1" dirty="0"/>
              <a:t>语言”的学生学号和姓名</a:t>
            </a:r>
            <a:endParaRPr lang="en-US" altLang="zh-CN" b="1" dirty="0">
              <a:ea typeface="Arial" panose="020B0604020202020204" pitchFamily="34" charset="0"/>
            </a:endParaRPr>
          </a:p>
        </p:txBody>
      </p:sp>
      <p:sp>
        <p:nvSpPr>
          <p:cNvPr id="98308" name="Rectangle 4"/>
          <p:cNvSpPr/>
          <p:nvPr/>
        </p:nvSpPr>
        <p:spPr>
          <a:xfrm>
            <a:off x="250825" y="44450"/>
            <a:ext cx="5183188" cy="172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S(S#, SNAME, AGE, SEX)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SC(S#, C#, GRADE)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C(C#, CNAME, TEACHER)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0">
                                            <p:txEl>
                                              <p:charRg st="21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9170">
                                            <p:txEl>
                                              <p:charRg st="21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0">
                                            <p:txEl>
                                              <p:charRg st="5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9170">
                                            <p:txEl>
                                              <p:charRg st="50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0">
                                            <p:txEl>
                                              <p:charRg st="83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9170">
                                            <p:txEl>
                                              <p:charRg st="83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灯片编号占位符 2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20194" name="Rectangle 2"/>
          <p:cNvSpPr/>
          <p:nvPr/>
        </p:nvSpPr>
        <p:spPr>
          <a:xfrm>
            <a:off x="495300" y="1774825"/>
            <a:ext cx="8135938" cy="4294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Verdana" panose="020B0604030504040204" pitchFamily="34" charset="0"/>
                <a:cs typeface="Arial" panose="020B0604020202020204" pitchFamily="34" charset="0"/>
              </a:rPr>
              <a:t>(3)</a:t>
            </a:r>
            <a:r>
              <a:rPr lang="zh-CN" altLang="en-US" sz="2800" b="1" dirty="0">
                <a:latin typeface="Verdana" panose="020B0604030504040204" pitchFamily="34" charset="0"/>
                <a:cs typeface="Arial" panose="020B0604020202020204" pitchFamily="34" charset="0"/>
              </a:rPr>
              <a:t>检索选修课程名为</a:t>
            </a:r>
            <a:r>
              <a:rPr lang="en-US" altLang="zh-CN" sz="2800" b="1" dirty="0">
                <a:latin typeface="Verdana" panose="020B0604030504040204" pitchFamily="34" charset="0"/>
                <a:cs typeface="Arial" panose="020B0604020202020204" pitchFamily="34" charset="0"/>
              </a:rPr>
              <a:t>MATHS</a:t>
            </a:r>
            <a:r>
              <a:rPr lang="zh-CN" altLang="en-US" sz="2800" b="1" dirty="0">
                <a:latin typeface="Verdana" panose="020B0604030504040204" pitchFamily="34" charset="0"/>
                <a:cs typeface="Arial" panose="020B0604020202020204" pitchFamily="34" charset="0"/>
              </a:rPr>
              <a:t>的学生学号与姓名</a:t>
            </a:r>
            <a:endParaRPr lang="zh-CN" altLang="en-US" sz="2800" b="1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8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 </a:t>
            </a:r>
            <a:r>
              <a:rPr lang="en-US" altLang="zh-CN" sz="2800" b="1" baseline="-25000" dirty="0">
                <a:latin typeface="Verdana" panose="020B0604030504040204" pitchFamily="34" charset="0"/>
                <a:cs typeface="Arial" panose="020B0604020202020204" pitchFamily="34" charset="0"/>
              </a:rPr>
              <a:t>S#,SNAME</a:t>
            </a:r>
            <a:r>
              <a:rPr lang="en-US" altLang="zh-CN" sz="2800" b="1" dirty="0">
                <a:latin typeface="Verdana" panose="020B0604030504040204" pitchFamily="34" charset="0"/>
                <a:cs typeface="Arial" panose="020B0604020202020204" pitchFamily="34" charset="0"/>
              </a:rPr>
              <a:t>(</a:t>
            </a:r>
            <a:r>
              <a:rPr lang="el-GR" altLang="zh-CN" sz="2800" b="1" dirty="0">
                <a:latin typeface="Verdana" panose="020B0604030504040204" pitchFamily="34" charset="0"/>
                <a:cs typeface="Arial" panose="020B0604020202020204" pitchFamily="34" charset="0"/>
              </a:rPr>
              <a:t>σ</a:t>
            </a:r>
            <a:r>
              <a:rPr lang="en-US" altLang="zh-CN" sz="2800" b="1" baseline="-25000" dirty="0">
                <a:latin typeface="Verdana" panose="020B0604030504040204" pitchFamily="34" charset="0"/>
                <a:cs typeface="Arial" panose="020B0604020202020204" pitchFamily="34" charset="0"/>
              </a:rPr>
              <a:t>CNAME=‘MATHS’</a:t>
            </a:r>
            <a:r>
              <a:rPr lang="en-US" altLang="zh-CN" sz="2800" b="1" dirty="0">
                <a:latin typeface="Verdana" panose="020B0604030504040204" pitchFamily="34" charset="0"/>
                <a:cs typeface="Arial" panose="020B0604020202020204" pitchFamily="34" charset="0"/>
              </a:rPr>
              <a:t>(S </a:t>
            </a:r>
            <a:r>
              <a:rPr lang="en-US" altLang="zh-CN" sz="28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⋈ </a:t>
            </a:r>
            <a:r>
              <a:rPr lang="en-US" altLang="zh-CN" sz="2800" b="1" dirty="0">
                <a:latin typeface="Verdana" panose="020B0604030504040204" pitchFamily="34" charset="0"/>
                <a:cs typeface="Arial" panose="020B0604020202020204" pitchFamily="34" charset="0"/>
              </a:rPr>
              <a:t>SC </a:t>
            </a:r>
            <a:r>
              <a:rPr lang="en-US" altLang="zh-CN" sz="28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⋈</a:t>
            </a:r>
            <a:r>
              <a:rPr lang="en-US" altLang="zh-CN" sz="2800" b="1" dirty="0">
                <a:latin typeface="Verdana" panose="020B0604030504040204" pitchFamily="34" charset="0"/>
                <a:cs typeface="Arial" panose="020B0604020202020204" pitchFamily="34" charset="0"/>
              </a:rPr>
              <a:t> C ))</a:t>
            </a:r>
            <a:endParaRPr lang="en-US" altLang="zh-CN" sz="2800" b="1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(4)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检索选修课了程号为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或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4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的学生学号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S#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σ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C#=‘2’ ∨C#=‘4’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(SC))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扩展：检索选修课了程号为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和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4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的学生学号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S#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σ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C#=‘2’ ^C#=‘4’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(SC))   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对吗？</a:t>
            </a:r>
            <a:endParaRPr lang="en-US" altLang="zh-CN" sz="2800" b="1" dirty="0">
              <a:solidFill>
                <a:srgbClr val="FF0000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S#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σ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C#=‘2’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(SC)) </a:t>
            </a:r>
            <a:r>
              <a:rPr lang="en-US" altLang="zh-CN" sz="2800" dirty="0">
                <a:latin typeface="Verdana" panose="020B0604030504040204" pitchFamily="34" charset="0"/>
              </a:rPr>
              <a:t>∩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  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S#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C#=‘4’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(SC)) 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endParaRPr lang="en-US" altLang="zh-CN" sz="16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99332" name="Rectangle 4"/>
          <p:cNvSpPr/>
          <p:nvPr/>
        </p:nvSpPr>
        <p:spPr>
          <a:xfrm>
            <a:off x="250825" y="44450"/>
            <a:ext cx="5183188" cy="172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S(S#, SNAME, AGE, SEX)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SC(S#, C#, GRADE)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C(C#, CNAME, TEACHER)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019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4">
                                            <p:txEl>
                                              <p:charRg st="2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0194">
                                            <p:txEl>
                                              <p:charRg st="25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4">
                                            <p:txEl>
                                              <p:charRg st="66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0194">
                                            <p:txEl>
                                              <p:charRg st="66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4">
                                            <p:txEl>
                                              <p:charRg st="87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0194">
                                            <p:txEl>
                                              <p:charRg st="87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4">
                                            <p:txEl>
                                              <p:charRg st="112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0194">
                                            <p:txEl>
                                              <p:charRg st="112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4">
                                            <p:txEl>
                                              <p:charRg st="133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0194">
                                            <p:txEl>
                                              <p:charRg st="133" end="1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4">
                                            <p:txEl>
                                              <p:charRg st="164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0194">
                                            <p:txEl>
                                              <p:charRg st="164" end="2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灯片编号占位符 2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21218" name="Text Box 2"/>
          <p:cNvSpPr txBox="1"/>
          <p:nvPr/>
        </p:nvSpPr>
        <p:spPr>
          <a:xfrm>
            <a:off x="250825" y="1484313"/>
            <a:ext cx="8642350" cy="4910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lnSpc>
                <a:spcPct val="90000"/>
              </a:lnSpc>
              <a:buFont typeface="Wingdings" panose="05000000000000000000" pitchFamily="2" charset="2"/>
            </a:pPr>
            <a:r>
              <a:rPr lang="en-US" altLang="zh-CN" sz="2800" b="1" dirty="0">
                <a:latin typeface="Verdana" panose="020B0604030504040204" pitchFamily="34" charset="0"/>
              </a:rPr>
              <a:t>(5)</a:t>
            </a:r>
            <a:r>
              <a:rPr lang="zh-CN" altLang="en-US" sz="2800" b="1" dirty="0">
                <a:latin typeface="Verdana" panose="020B0604030504040204" pitchFamily="34" charset="0"/>
              </a:rPr>
              <a:t>查询学生“</a:t>
            </a:r>
            <a:r>
              <a:rPr lang="en-US" altLang="zh-CN" sz="2800" b="1" dirty="0">
                <a:latin typeface="Verdana" panose="020B0604030504040204" pitchFamily="34" charset="0"/>
              </a:rPr>
              <a:t>200215121</a:t>
            </a:r>
            <a:r>
              <a:rPr lang="zh-CN" altLang="en-US" sz="2800" b="1" dirty="0">
                <a:latin typeface="Verdana" panose="020B0604030504040204" pitchFamily="34" charset="0"/>
              </a:rPr>
              <a:t>” 选修的课程的课号。</a:t>
            </a:r>
            <a:endParaRPr lang="zh-CN" altLang="en-US" sz="2800" b="1" dirty="0">
              <a:latin typeface="Verdana" panose="020B0604030504040204" pitchFamily="34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</a:pPr>
            <a:r>
              <a:rPr lang="zh-CN" altLang="en-US" sz="2800" dirty="0">
                <a:latin typeface="Verdana" panose="020B0604030504040204" pitchFamily="34" charset="0"/>
              </a:rPr>
              <a:t>    </a:t>
            </a:r>
            <a:r>
              <a:rPr lang="en-US" altLang="zh-CN" sz="2800" dirty="0">
                <a:latin typeface="Verdana" panose="020B0604030504040204" pitchFamily="34" charset="0"/>
              </a:rPr>
              <a:t>πC</a:t>
            </a:r>
            <a:r>
              <a:rPr lang="en-US" altLang="zh-CN" sz="2800" baseline="-30000" dirty="0">
                <a:latin typeface="Verdana" panose="020B0604030504040204" pitchFamily="34" charset="0"/>
              </a:rPr>
              <a:t>#</a:t>
            </a:r>
            <a:r>
              <a:rPr lang="zh-CN" altLang="en-US" sz="2800" dirty="0">
                <a:latin typeface="Verdana" panose="020B0604030504040204" pitchFamily="34" charset="0"/>
              </a:rPr>
              <a:t>（</a:t>
            </a:r>
            <a:r>
              <a:rPr lang="en-US" altLang="zh-CN" sz="2800" dirty="0">
                <a:latin typeface="Verdana" panose="020B0604030504040204" pitchFamily="34" charset="0"/>
              </a:rPr>
              <a:t>σ</a:t>
            </a:r>
            <a:r>
              <a:rPr lang="en-US" altLang="zh-CN" sz="2800" baseline="-30000" dirty="0">
                <a:latin typeface="Verdana" panose="020B0604030504040204" pitchFamily="34" charset="0"/>
              </a:rPr>
              <a:t>S#='200215121'</a:t>
            </a:r>
            <a:r>
              <a:rPr lang="zh-CN" altLang="en-US" sz="2800" dirty="0">
                <a:latin typeface="Verdana" panose="020B0604030504040204" pitchFamily="34" charset="0"/>
              </a:rPr>
              <a:t>（</a:t>
            </a:r>
            <a:r>
              <a:rPr lang="en-US" altLang="zh-CN" sz="2800" dirty="0">
                <a:latin typeface="Verdana" panose="020B0604030504040204" pitchFamily="34" charset="0"/>
              </a:rPr>
              <a:t>SC</a:t>
            </a:r>
            <a:r>
              <a:rPr lang="zh-CN" altLang="en-US" sz="2800" dirty="0">
                <a:latin typeface="Verdana" panose="020B0604030504040204" pitchFamily="34" charset="0"/>
              </a:rPr>
              <a:t>））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algn="just">
              <a:lnSpc>
                <a:spcPct val="90000"/>
              </a:lnSpc>
              <a:spcBef>
                <a:spcPts val="1200"/>
              </a:spcBef>
              <a:buFont typeface="Wingdings" panose="05000000000000000000" pitchFamily="2" charset="2"/>
            </a:pPr>
            <a:r>
              <a:rPr lang="zh-CN" altLang="en-US" sz="2800" b="1" dirty="0">
                <a:latin typeface="Verdana" panose="020B0604030504040204" pitchFamily="34" charset="0"/>
              </a:rPr>
              <a:t>提问</a:t>
            </a:r>
            <a:r>
              <a:rPr lang="en-US" altLang="zh-CN" sz="2800" b="1" dirty="0">
                <a:latin typeface="Verdana" panose="020B0604030504040204" pitchFamily="34" charset="0"/>
              </a:rPr>
              <a:t>3</a:t>
            </a:r>
            <a:r>
              <a:rPr lang="zh-CN" altLang="en-US" sz="2800" b="1" dirty="0">
                <a:latin typeface="Verdana" panose="020B0604030504040204" pitchFamily="34" charset="0"/>
              </a:rPr>
              <a:t>：学生“</a:t>
            </a:r>
            <a:r>
              <a:rPr lang="en-US" altLang="zh-CN" sz="2800" b="1" dirty="0">
                <a:latin typeface="Verdana" panose="020B0604030504040204" pitchFamily="34" charset="0"/>
              </a:rPr>
              <a:t>200215121</a:t>
            </a:r>
            <a:r>
              <a:rPr lang="zh-CN" altLang="en-US" sz="2800" b="1" dirty="0">
                <a:latin typeface="Verdana" panose="020B0604030504040204" pitchFamily="34" charset="0"/>
              </a:rPr>
              <a:t>” 选修的课程的课号、课程名。</a:t>
            </a:r>
            <a:endParaRPr lang="zh-CN" altLang="en-US" sz="2800" b="1" dirty="0">
              <a:latin typeface="Verdana" panose="020B0604030504040204" pitchFamily="34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</a:pPr>
            <a:r>
              <a:rPr lang="zh-CN" altLang="en-US" sz="2800" dirty="0">
                <a:latin typeface="Verdana" panose="020B0604030504040204" pitchFamily="34" charset="0"/>
              </a:rPr>
              <a:t>  </a:t>
            </a:r>
            <a:r>
              <a:rPr lang="en-US" altLang="zh-CN" sz="2800" dirty="0">
                <a:latin typeface="Verdana" panose="020B0604030504040204" pitchFamily="34" charset="0"/>
              </a:rPr>
              <a:t>π</a:t>
            </a:r>
            <a:r>
              <a:rPr lang="en-US" altLang="zh-CN" sz="2800" baseline="-30000" dirty="0">
                <a:latin typeface="Verdana" panose="020B0604030504040204" pitchFamily="34" charset="0"/>
              </a:rPr>
              <a:t>C#</a:t>
            </a:r>
            <a:r>
              <a:rPr lang="zh-CN" altLang="en-US" sz="2800" baseline="-30000" dirty="0">
                <a:latin typeface="Verdana" panose="020B0604030504040204" pitchFamily="34" charset="0"/>
              </a:rPr>
              <a:t>，</a:t>
            </a:r>
            <a:r>
              <a:rPr lang="en-US" altLang="zh-CN" sz="2800" baseline="-30000" dirty="0">
                <a:latin typeface="Verdana" panose="020B0604030504040204" pitchFamily="34" charset="0"/>
              </a:rPr>
              <a:t>Cname</a:t>
            </a:r>
            <a:r>
              <a:rPr lang="zh-CN" altLang="en-US" sz="2800" dirty="0">
                <a:latin typeface="Verdana" panose="020B0604030504040204" pitchFamily="34" charset="0"/>
              </a:rPr>
              <a:t>（</a:t>
            </a:r>
            <a:r>
              <a:rPr lang="en-US" altLang="zh-CN" sz="2800" dirty="0">
                <a:latin typeface="Verdana" panose="020B0604030504040204" pitchFamily="34" charset="0"/>
              </a:rPr>
              <a:t> σ</a:t>
            </a:r>
            <a:r>
              <a:rPr lang="en-US" altLang="zh-CN" sz="2800" baseline="-30000" dirty="0">
                <a:latin typeface="Verdana" panose="020B0604030504040204" pitchFamily="34" charset="0"/>
              </a:rPr>
              <a:t>S#='200215121' </a:t>
            </a:r>
            <a:r>
              <a:rPr lang="zh-CN" altLang="en-US" sz="2800" dirty="0">
                <a:latin typeface="Verdana" panose="020B0604030504040204" pitchFamily="34" charset="0"/>
              </a:rPr>
              <a:t>（</a:t>
            </a:r>
            <a:r>
              <a:rPr lang="en-US" altLang="zh-CN" sz="2800" dirty="0">
                <a:latin typeface="Verdana" panose="020B0604030504040204" pitchFamily="34" charset="0"/>
              </a:rPr>
              <a:t>Student 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⋈</a:t>
            </a:r>
            <a:r>
              <a:rPr lang="en-US" altLang="zh-CN" sz="2800" dirty="0">
                <a:latin typeface="Verdana" panose="020B0604030504040204" pitchFamily="34" charset="0"/>
              </a:rPr>
              <a:t>  SC</a:t>
            </a:r>
            <a:r>
              <a:rPr lang="zh-CN" altLang="en-US" sz="2800" dirty="0">
                <a:latin typeface="Verdana" panose="020B0604030504040204" pitchFamily="34" charset="0"/>
              </a:rPr>
              <a:t>））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(6)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检索没有选修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号课的学生学号和姓名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s# </a:t>
            </a:r>
            <a:r>
              <a:rPr lang="zh-CN" altLang="en-US" sz="2800" b="1" baseline="-25000" dirty="0">
                <a:latin typeface="Verdana" panose="020B0604030504040204" pitchFamily="34" charset="0"/>
                <a:ea typeface="楷体_GB2312" pitchFamily="49" charset="-122"/>
              </a:rPr>
              <a:t>，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SNAME 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σ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C#&lt;&gt;‘C2’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 (S ⋈ SC))  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对吗？</a:t>
            </a:r>
            <a:endParaRPr lang="en-US" altLang="zh-CN" sz="2800" b="1" dirty="0">
              <a:solidFill>
                <a:srgbClr val="FF0000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S#,SNAME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(S)-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S#,SNAME 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σ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C#=‘2’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 (S ⋈ SC))</a:t>
            </a:r>
            <a:endParaRPr lang="en-US" altLang="zh-CN" sz="2800" b="1" dirty="0">
              <a:solidFill>
                <a:srgbClr val="FF0000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Verdana" panose="020B0604030504040204" pitchFamily="34" charset="0"/>
              </a:rPr>
              <a:t>提问</a:t>
            </a:r>
            <a:r>
              <a:rPr lang="en-US" altLang="zh-CN" sz="2800" b="1" dirty="0">
                <a:solidFill>
                  <a:schemeClr val="tx2"/>
                </a:solidFill>
                <a:latin typeface="Verdana" panose="020B0604030504040204" pitchFamily="34" charset="0"/>
              </a:rPr>
              <a:t>4</a:t>
            </a:r>
            <a:r>
              <a:rPr lang="zh-CN" altLang="en-US" sz="2800" b="1" dirty="0">
                <a:solidFill>
                  <a:schemeClr val="tx2"/>
                </a:solidFill>
                <a:latin typeface="Verdana" panose="020B0604030504040204" pitchFamily="34" charset="0"/>
              </a:rPr>
              <a:t>：检索“李强”同学没有选修的课程的课程号。</a:t>
            </a:r>
            <a:endParaRPr lang="en-US" altLang="zh-CN" sz="2800" b="1" dirty="0">
              <a:solidFill>
                <a:schemeClr val="tx2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/>
            <a:endParaRPr lang="en-US" altLang="zh-CN" sz="9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100356" name="Rectangle 4"/>
          <p:cNvSpPr/>
          <p:nvPr/>
        </p:nvSpPr>
        <p:spPr>
          <a:xfrm>
            <a:off x="428625" y="115888"/>
            <a:ext cx="5183188" cy="172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S(S#, SNAME, AGE, SEX)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SC(S#, C#, GRADE)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C(C#, CNAME, TEACHER)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121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121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>
                                            <p:txEl>
                                              <p:charRg st="29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1218">
                                            <p:txEl>
                                              <p:charRg st="29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1218">
                                            <p:txEl>
                                              <p:charRg st="29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>
                                            <p:txEl>
                                              <p:charRg st="58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1218">
                                            <p:txEl>
                                              <p:charRg st="58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1218">
                                            <p:txEl>
                                              <p:charRg st="58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>
                                            <p:txEl>
                                              <p:charRg st="90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1218">
                                            <p:txEl>
                                              <p:charRg st="90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1218">
                                            <p:txEl>
                                              <p:charRg st="90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>
                                            <p:txEl>
                                              <p:charRg st="136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1218">
                                            <p:txEl>
                                              <p:charRg st="136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1218">
                                            <p:txEl>
                                              <p:charRg st="136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>
                                            <p:txEl>
                                              <p:charRg st="157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1218">
                                            <p:txEl>
                                              <p:charRg st="157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1218">
                                            <p:txEl>
                                              <p:charRg st="157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>
                                            <p:txEl>
                                              <p:charRg st="194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21218">
                                            <p:txEl>
                                              <p:charRg st="194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1218">
                                            <p:txEl>
                                              <p:charRg st="194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>
                                            <p:txEl>
                                              <p:charRg st="236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21218">
                                            <p:txEl>
                                              <p:charRg st="236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21218">
                                            <p:txEl>
                                              <p:charRg st="236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18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13668" name="Rectangle 3"/>
          <p:cNvSpPr>
            <a:spLocks noGrp="1"/>
          </p:cNvSpPr>
          <p:nvPr>
            <p:ph idx="1"/>
          </p:nvPr>
        </p:nvSpPr>
        <p:spPr>
          <a:xfrm>
            <a:off x="250825" y="1773238"/>
            <a:ext cx="8642350" cy="4103687"/>
          </a:xfrm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sz="2800" b="1" dirty="0"/>
              <a:t>(7)</a:t>
            </a:r>
            <a:r>
              <a:rPr lang="zh-CN" altLang="en-US" sz="2800" b="1" dirty="0"/>
              <a:t>查询至少选修了一门其直接先行课为</a:t>
            </a:r>
            <a:r>
              <a:rPr lang="en-US" altLang="zh-CN" sz="2800" b="1" dirty="0"/>
              <a:t>6</a:t>
            </a:r>
            <a:r>
              <a:rPr lang="zh-CN" altLang="en-US" sz="2800" b="1" dirty="0"/>
              <a:t>号课程的课程的学生姓名。</a:t>
            </a:r>
            <a:endParaRPr lang="en-US" altLang="zh-CN" sz="2800" b="1" dirty="0"/>
          </a:p>
          <a:p>
            <a:pPr>
              <a:buNone/>
            </a:pPr>
            <a:endParaRPr lang="en-US" altLang="zh-CN" sz="2800" b="1" dirty="0"/>
          </a:p>
          <a:p>
            <a:pPr>
              <a:buNone/>
            </a:pPr>
            <a:r>
              <a:rPr lang="en-US" altLang="zh-CN" sz="2800" b="1" dirty="0">
                <a:ea typeface="楷体_GB2312" pitchFamily="49" charset="-122"/>
              </a:rPr>
              <a:t>π</a:t>
            </a:r>
            <a:r>
              <a:rPr lang="en-US" altLang="zh-CN" sz="2800" b="1" baseline="-30000" dirty="0">
                <a:ea typeface="楷体_GB2312" pitchFamily="49" charset="-122"/>
              </a:rPr>
              <a:t>Sname</a:t>
            </a:r>
            <a:r>
              <a:rPr lang="en-US" altLang="zh-CN" sz="2800" b="1" dirty="0">
                <a:ea typeface="楷体_GB2312" pitchFamily="49" charset="-122"/>
              </a:rPr>
              <a:t>(σ</a:t>
            </a:r>
            <a:r>
              <a:rPr lang="en-US" altLang="zh-CN" sz="2800" b="1" baseline="-30000" dirty="0">
                <a:ea typeface="楷体_GB2312" pitchFamily="49" charset="-122"/>
              </a:rPr>
              <a:t>Cpno=‘5’</a:t>
            </a:r>
            <a:r>
              <a:rPr lang="en-US" altLang="zh-CN" sz="2800" b="1" dirty="0">
                <a:solidFill>
                  <a:srgbClr val="E02920"/>
                </a:solidFill>
                <a:ea typeface="楷体_GB2312" pitchFamily="49" charset="-122"/>
              </a:rPr>
              <a:t>(Course</a:t>
            </a:r>
            <a:r>
              <a:rPr lang="en-US" altLang="zh-CN" sz="2800" b="1" dirty="0">
                <a:ea typeface="楷体_GB2312" pitchFamily="49" charset="-122"/>
              </a:rPr>
              <a:t>⋈</a:t>
            </a:r>
            <a:r>
              <a:rPr lang="en-US" altLang="zh-CN" sz="2800" b="1" dirty="0">
                <a:solidFill>
                  <a:srgbClr val="E02920"/>
                </a:solidFill>
                <a:ea typeface="楷体_GB2312" pitchFamily="49" charset="-122"/>
              </a:rPr>
              <a:t>SC</a:t>
            </a:r>
            <a:r>
              <a:rPr lang="en-US" altLang="zh-CN" sz="2800" b="1" dirty="0"/>
              <a:t>⋈</a:t>
            </a: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E02920"/>
                </a:solidFill>
                <a:ea typeface="楷体_GB2312" pitchFamily="49" charset="-122"/>
              </a:rPr>
              <a:t>Student)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  <a:endParaRPr lang="en-US" altLang="zh-CN" sz="2800" b="1" dirty="0">
              <a:ea typeface="楷体_GB2312" pitchFamily="49" charset="-122"/>
            </a:endParaRPr>
          </a:p>
          <a:p>
            <a:pPr>
              <a:buNone/>
            </a:pPr>
            <a:endParaRPr lang="en-US" altLang="zh-CN" sz="2800" b="1" dirty="0">
              <a:ea typeface="楷体_GB2312" pitchFamily="49" charset="-122"/>
            </a:endParaRPr>
          </a:p>
          <a:p>
            <a:pPr>
              <a:buNone/>
            </a:pPr>
            <a:r>
              <a:rPr lang="zh-CN" altLang="en-US" sz="2800" b="1" dirty="0">
                <a:ea typeface="楷体_GB2312" pitchFamily="49" charset="-122"/>
              </a:rPr>
              <a:t>提问：查询选修了学分为</a:t>
            </a:r>
            <a:r>
              <a:rPr lang="en-US" altLang="zh-CN" sz="2800" b="1" dirty="0">
                <a:ea typeface="楷体_GB2312" pitchFamily="49" charset="-122"/>
              </a:rPr>
              <a:t>4</a:t>
            </a:r>
            <a:r>
              <a:rPr lang="zh-CN" altLang="en-US" sz="2800" b="1" dirty="0">
                <a:ea typeface="楷体_GB2312" pitchFamily="49" charset="-122"/>
              </a:rPr>
              <a:t>分的课程的学生的姓名。</a:t>
            </a:r>
            <a:endParaRPr lang="en-US" altLang="zh-CN" sz="2800" b="1" dirty="0">
              <a:ea typeface="楷体_GB2312" pitchFamily="49" charset="-122"/>
            </a:endParaRPr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101380" name="Rectangle 4"/>
          <p:cNvSpPr/>
          <p:nvPr/>
        </p:nvSpPr>
        <p:spPr>
          <a:xfrm>
            <a:off x="428625" y="115888"/>
            <a:ext cx="5183188" cy="172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S(S#, SNAME, AGE, SEX)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SC(S#, C#, GRADE)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C(C#, CNAME, TEACHER)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8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8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>
                                            <p:txEl>
                                              <p:charRg st="34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668">
                                            <p:txEl>
                                              <p:charRg st="34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3668">
                                            <p:txEl>
                                              <p:charRg st="34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>
                                            <p:txEl>
                                              <p:charRg st="73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668">
                                            <p:txEl>
                                              <p:charRg st="73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668">
                                            <p:txEl>
                                              <p:charRg st="73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8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240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4. </a:t>
            </a:r>
            <a:r>
              <a:rPr lang="zh-CN" altLang="en-US" dirty="0"/>
              <a:t>除（</a:t>
            </a:r>
            <a:r>
              <a:rPr lang="en-US" altLang="zh-CN" dirty="0"/>
              <a:t>Division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02404" name="Rectangle 3"/>
          <p:cNvSpPr>
            <a:spLocks noGrp="1"/>
          </p:cNvSpPr>
          <p:nvPr>
            <p:ph idx="1"/>
          </p:nvPr>
        </p:nvSpPr>
        <p:spPr>
          <a:xfrm>
            <a:off x="34925" y="1052513"/>
            <a:ext cx="8785225" cy="4537075"/>
          </a:xfrm>
          <a:ln/>
        </p:spPr>
        <p:txBody>
          <a:bodyPr vert="horz" wrap="square" lIns="91440" tIns="45720" rIns="91440" bIns="45720" anchor="t" anchorCtr="0"/>
          <a:p>
            <a:pPr algn="just">
              <a:lnSpc>
                <a:spcPct val="160000"/>
              </a:lnSpc>
            </a:pPr>
            <a:r>
              <a:rPr lang="en-US" altLang="zh-CN" dirty="0"/>
              <a:t> </a:t>
            </a:r>
            <a:r>
              <a:rPr lang="zh-CN" altLang="en-US" dirty="0"/>
              <a:t>象集</a:t>
            </a:r>
            <a:endParaRPr lang="zh-CN" altLang="en-US" dirty="0"/>
          </a:p>
          <a:p>
            <a:pPr lvl="1" algn="just">
              <a:lnSpc>
                <a:spcPct val="160000"/>
              </a:lnSpc>
            </a:pPr>
            <a:r>
              <a:rPr lang="zh-CN" altLang="en-US" dirty="0"/>
              <a:t>给定一个关系</a:t>
            </a:r>
            <a:r>
              <a:rPr lang="en-US" altLang="zh-CN" i="1" dirty="0"/>
              <a:t>R</a:t>
            </a:r>
            <a:r>
              <a:rPr lang="zh-CN" altLang="en-US" dirty="0"/>
              <a:t>（</a:t>
            </a:r>
            <a:r>
              <a:rPr lang="en-US" altLang="zh-CN" i="1" dirty="0"/>
              <a:t>X</a:t>
            </a:r>
            <a:r>
              <a:rPr lang="zh-CN" altLang="en-US" dirty="0"/>
              <a:t>，</a:t>
            </a:r>
            <a:r>
              <a:rPr lang="en-US" altLang="zh-CN" i="1" dirty="0"/>
              <a:t>Z</a:t>
            </a:r>
            <a:r>
              <a:rPr lang="zh-CN" altLang="en-US" dirty="0"/>
              <a:t>），</a:t>
            </a:r>
            <a:r>
              <a:rPr lang="en-US" altLang="zh-CN" i="1" dirty="0"/>
              <a:t>X</a:t>
            </a:r>
            <a:r>
              <a:rPr lang="zh-CN" altLang="en-US" dirty="0"/>
              <a:t>和</a:t>
            </a:r>
            <a:r>
              <a:rPr lang="en-US" altLang="zh-CN" i="1" dirty="0"/>
              <a:t>Z</a:t>
            </a:r>
            <a:r>
              <a:rPr lang="zh-CN" altLang="en-US" dirty="0"/>
              <a:t>为属性组。当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]=</a:t>
            </a:r>
            <a:r>
              <a:rPr lang="en-US" altLang="zh-CN" i="1" dirty="0"/>
              <a:t>x</a:t>
            </a:r>
            <a:r>
              <a:rPr lang="zh-CN" altLang="en-US" dirty="0"/>
              <a:t>时，</a:t>
            </a:r>
            <a:r>
              <a:rPr lang="en-US" altLang="zh-CN" i="1" dirty="0"/>
              <a:t>x</a:t>
            </a:r>
            <a:r>
              <a:rPr lang="zh-CN" altLang="en-US" dirty="0"/>
              <a:t>在</a:t>
            </a:r>
            <a:r>
              <a:rPr lang="en-US" altLang="zh-CN" i="1" dirty="0"/>
              <a:t>R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rgbClr val="0033CC"/>
                </a:solidFill>
              </a:rPr>
              <a:t>象集</a:t>
            </a:r>
            <a:r>
              <a:rPr lang="zh-CN" altLang="en-US" dirty="0"/>
              <a:t>（</a:t>
            </a:r>
            <a:r>
              <a:rPr lang="en-US" altLang="zh-CN" dirty="0"/>
              <a:t>Images Set</a:t>
            </a:r>
            <a:r>
              <a:rPr lang="zh-CN" altLang="en-US" dirty="0"/>
              <a:t>）为：</a:t>
            </a:r>
            <a:endParaRPr lang="zh-CN" altLang="en-US" dirty="0"/>
          </a:p>
          <a:p>
            <a:pPr lvl="1" algn="just">
              <a:lnSpc>
                <a:spcPct val="160000"/>
              </a:lnSpc>
              <a:buNone/>
            </a:pPr>
            <a:r>
              <a:rPr lang="zh-CN" altLang="en-US" dirty="0"/>
              <a:t>	           </a:t>
            </a:r>
            <a:r>
              <a:rPr lang="en-US" altLang="zh-CN" i="1" dirty="0">
                <a:solidFill>
                  <a:srgbClr val="E02920"/>
                </a:solidFill>
              </a:rPr>
              <a:t>Z</a:t>
            </a:r>
            <a:r>
              <a:rPr lang="en-US" altLang="zh-CN" baseline="-30000" dirty="0">
                <a:solidFill>
                  <a:srgbClr val="E02920"/>
                </a:solidFill>
              </a:rPr>
              <a:t>x</a:t>
            </a:r>
            <a:r>
              <a:rPr lang="en-US" altLang="zh-CN" dirty="0"/>
              <a:t>={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Z</a:t>
            </a:r>
            <a:r>
              <a:rPr lang="en-US" altLang="zh-CN" dirty="0"/>
              <a:t>]|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]=</a:t>
            </a:r>
            <a:r>
              <a:rPr lang="en-US" altLang="zh-CN" i="1" dirty="0"/>
              <a:t>x</a:t>
            </a:r>
            <a:r>
              <a:rPr lang="en-US" altLang="zh-CN" dirty="0"/>
              <a:t>}</a:t>
            </a:r>
            <a:endParaRPr lang="en-US" altLang="zh-CN" dirty="0"/>
          </a:p>
          <a:p>
            <a:pPr lvl="1">
              <a:lnSpc>
                <a:spcPct val="160000"/>
              </a:lnSpc>
            </a:pPr>
            <a:r>
              <a:rPr lang="en-US" altLang="zh-CN" dirty="0"/>
              <a:t> </a:t>
            </a:r>
            <a:r>
              <a:rPr lang="zh-CN" altLang="en-US" dirty="0"/>
              <a:t>它表示</a:t>
            </a:r>
            <a:r>
              <a:rPr lang="en-US" altLang="zh-CN" i="1" dirty="0"/>
              <a:t>R</a:t>
            </a:r>
            <a:r>
              <a:rPr lang="zh-CN" altLang="en-US" dirty="0"/>
              <a:t>中属性组</a:t>
            </a:r>
            <a:r>
              <a:rPr lang="en-US" altLang="zh-CN" i="1" dirty="0"/>
              <a:t>X</a:t>
            </a:r>
            <a:r>
              <a:rPr lang="zh-CN" altLang="en-US" dirty="0"/>
              <a:t>上值为</a:t>
            </a:r>
            <a:r>
              <a:rPr lang="en-US" altLang="zh-CN" i="1" dirty="0"/>
              <a:t>x</a:t>
            </a:r>
            <a:r>
              <a:rPr lang="zh-CN" altLang="en-US" dirty="0"/>
              <a:t>的诸元组在</a:t>
            </a:r>
            <a:r>
              <a:rPr lang="en-US" altLang="zh-CN" i="1" dirty="0"/>
              <a:t>Z</a:t>
            </a:r>
            <a:r>
              <a:rPr lang="zh-CN" altLang="en-US" dirty="0"/>
              <a:t>上分量的集合。 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342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象集</a:t>
            </a:r>
            <a:r>
              <a:rPr lang="en-US" altLang="zh-CN" i="1" dirty="0"/>
              <a:t>Z</a:t>
            </a:r>
            <a:endParaRPr lang="en-US" altLang="zh-CN" i="1" dirty="0"/>
          </a:p>
        </p:txBody>
      </p:sp>
      <p:sp>
        <p:nvSpPr>
          <p:cNvPr id="103428" name="Rectangle 131"/>
          <p:cNvSpPr>
            <a:spLocks noGrp="1"/>
          </p:cNvSpPr>
          <p:nvPr>
            <p:ph idx="1"/>
          </p:nvPr>
        </p:nvSpPr>
        <p:spPr>
          <a:xfrm>
            <a:off x="457200" y="1341438"/>
            <a:ext cx="4038600" cy="4530725"/>
          </a:xfrm>
          <a:ln/>
        </p:spPr>
        <p:txBody>
          <a:bodyPr vert="horz" wrap="square" lIns="91440" tIns="45720" rIns="91440" bIns="45720" anchor="t" anchorCtr="0"/>
          <a:p>
            <a:pPr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/>
              <a:t>例：</a:t>
            </a:r>
            <a:endParaRPr lang="zh-CN" altLang="en-US" sz="2400" dirty="0"/>
          </a:p>
        </p:txBody>
      </p:sp>
      <p:graphicFrame>
        <p:nvGraphicFramePr>
          <p:cNvPr id="488580" name="Group 132"/>
          <p:cNvGraphicFramePr>
            <a:graphicFrameLocks noGrp="1"/>
          </p:cNvGraphicFramePr>
          <p:nvPr/>
        </p:nvGraphicFramePr>
        <p:xfrm>
          <a:off x="1330325" y="1920875"/>
          <a:ext cx="1873250" cy="3349625"/>
        </p:xfrm>
        <a:graphic>
          <a:graphicData uri="http://schemas.openxmlformats.org/drawingml/2006/table">
            <a:tbl>
              <a:tblPr/>
              <a:tblGrid>
                <a:gridCol w="936625"/>
                <a:gridCol w="936625"/>
              </a:tblGrid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Z1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Z2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Z3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Z2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Z3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Z1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x3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Z3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3453" name="Text Box 170"/>
          <p:cNvSpPr txBox="1"/>
          <p:nvPr/>
        </p:nvSpPr>
        <p:spPr>
          <a:xfrm>
            <a:off x="1260475" y="1412875"/>
            <a:ext cx="9350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Verdana" panose="020B0604030504040204" pitchFamily="34" charset="0"/>
              </a:rPr>
              <a:t>R</a:t>
            </a:r>
            <a:endParaRPr lang="en-US" altLang="zh-CN" sz="2400" dirty="0">
              <a:latin typeface="Verdana" panose="020B0604030504040204" pitchFamily="34" charset="0"/>
            </a:endParaRPr>
          </a:p>
        </p:txBody>
      </p:sp>
      <p:sp>
        <p:nvSpPr>
          <p:cNvPr id="103454" name="Text Box 171"/>
          <p:cNvSpPr txBox="1"/>
          <p:nvPr/>
        </p:nvSpPr>
        <p:spPr>
          <a:xfrm>
            <a:off x="3563938" y="2565400"/>
            <a:ext cx="5329237" cy="2443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左图中，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x1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在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R 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中的象集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Zx1={Z1,Z2,Z3}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x2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在 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R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中的象集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Zx2={Z2,Z3}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x3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在 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R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中的象集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Zx3={Z1,Z3 }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445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en-US" altLang="zh-CN" dirty="0"/>
              <a:t>4. </a:t>
            </a:r>
            <a:r>
              <a:rPr lang="zh-CN" altLang="en-US" dirty="0"/>
              <a:t>除（</a:t>
            </a:r>
            <a:r>
              <a:rPr lang="en-US" altLang="zh-CN" dirty="0"/>
              <a:t>Division</a:t>
            </a:r>
            <a:r>
              <a:rPr lang="zh-CN" altLang="en-US" dirty="0"/>
              <a:t>）（</a:t>
            </a:r>
            <a:r>
              <a:rPr lang="zh-CN" altLang="en-US" dirty="0">
                <a:solidFill>
                  <a:srgbClr val="FF0000"/>
                </a:solidFill>
              </a:rPr>
              <a:t>今年不讲</a:t>
            </a:r>
            <a:r>
              <a:rPr lang="zh-CN" altLang="en-US" dirty="0"/>
              <a:t>） </a:t>
            </a:r>
            <a:endParaRPr lang="zh-CN" altLang="en-US" dirty="0"/>
          </a:p>
        </p:txBody>
      </p:sp>
      <p:sp>
        <p:nvSpPr>
          <p:cNvPr id="104452" name="Rectangle 3"/>
          <p:cNvSpPr>
            <a:spLocks noGrp="1"/>
          </p:cNvSpPr>
          <p:nvPr>
            <p:ph idx="1"/>
          </p:nvPr>
        </p:nvSpPr>
        <p:spPr>
          <a:xfrm>
            <a:off x="179388" y="1125538"/>
            <a:ext cx="8640762" cy="1871662"/>
          </a:xfrm>
          <a:ln/>
        </p:spPr>
        <p:txBody>
          <a:bodyPr vert="horz" wrap="square" lIns="91440" tIns="45720" rIns="91440" bIns="45720" anchor="t" anchorCtr="0"/>
          <a:p>
            <a:pPr algn="just">
              <a:lnSpc>
                <a:spcPct val="120000"/>
              </a:lnSpc>
            </a:pPr>
            <a:r>
              <a:rPr lang="zh-CN" altLang="en-US" dirty="0"/>
              <a:t>给定关系</a:t>
            </a:r>
            <a:r>
              <a:rPr lang="en-US" altLang="zh-CN" dirty="0"/>
              <a:t>R (</a:t>
            </a:r>
            <a:r>
              <a:rPr lang="en-US" altLang="zh-CN" dirty="0">
                <a:solidFill>
                  <a:srgbClr val="FF3300"/>
                </a:solidFill>
              </a:rPr>
              <a:t>X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0033CC"/>
                </a:solidFill>
              </a:rPr>
              <a:t>Y</a:t>
            </a:r>
            <a:r>
              <a:rPr lang="en-US" altLang="zh-CN" dirty="0"/>
              <a:t>) </a:t>
            </a:r>
            <a:r>
              <a:rPr lang="zh-CN" altLang="en-US" dirty="0"/>
              <a:t>和</a:t>
            </a:r>
            <a:r>
              <a:rPr lang="en-US" altLang="zh-CN" dirty="0"/>
              <a:t>S (</a:t>
            </a:r>
            <a:r>
              <a:rPr lang="en-US" altLang="zh-CN" dirty="0">
                <a:solidFill>
                  <a:srgbClr val="0033CC"/>
                </a:solidFill>
              </a:rPr>
              <a:t>Y</a:t>
            </a:r>
            <a:r>
              <a:rPr lang="zh-CN" altLang="en-US" dirty="0"/>
              <a:t>，</a:t>
            </a:r>
            <a:r>
              <a:rPr lang="en-US" altLang="zh-CN" dirty="0"/>
              <a:t>Z)</a:t>
            </a:r>
            <a:r>
              <a:rPr lang="zh-CN" altLang="en-US" dirty="0"/>
              <a:t>，其中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，</a:t>
            </a:r>
            <a:r>
              <a:rPr lang="en-US" altLang="zh-CN" dirty="0"/>
              <a:t>Z</a:t>
            </a:r>
            <a:r>
              <a:rPr lang="zh-CN" altLang="en-US" dirty="0"/>
              <a:t>为属性组。</a:t>
            </a:r>
            <a:r>
              <a:rPr lang="en-US" altLang="zh-CN" dirty="0"/>
              <a:t>R</a:t>
            </a:r>
            <a:r>
              <a:rPr lang="zh-CN" altLang="en-US" dirty="0"/>
              <a:t>中的</a:t>
            </a:r>
            <a:r>
              <a:rPr lang="en-US" altLang="zh-CN" dirty="0"/>
              <a:t>Y</a:t>
            </a:r>
            <a:r>
              <a:rPr lang="zh-CN" altLang="en-US" dirty="0"/>
              <a:t>与</a:t>
            </a:r>
            <a:r>
              <a:rPr lang="en-US" altLang="zh-CN" dirty="0"/>
              <a:t>S</a:t>
            </a:r>
            <a:r>
              <a:rPr lang="zh-CN" altLang="en-US" dirty="0"/>
              <a:t>中的</a:t>
            </a:r>
            <a:r>
              <a:rPr lang="en-US" altLang="zh-CN" dirty="0"/>
              <a:t>Y</a:t>
            </a:r>
            <a:r>
              <a:rPr lang="zh-CN" altLang="en-US" dirty="0"/>
              <a:t>可以有不同的属性名，但必须出自相同的域集。</a:t>
            </a:r>
            <a:endParaRPr lang="zh-CN" altLang="en-US" dirty="0"/>
          </a:p>
        </p:txBody>
      </p:sp>
      <p:sp>
        <p:nvSpPr>
          <p:cNvPr id="356356" name="Rectangle 4"/>
          <p:cNvSpPr/>
          <p:nvPr/>
        </p:nvSpPr>
        <p:spPr>
          <a:xfrm>
            <a:off x="250825" y="2708275"/>
            <a:ext cx="8640763" cy="172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R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与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S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的除运算得到一个新的关系</a:t>
            </a:r>
            <a:r>
              <a: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  <a:ea typeface="楷体_GB2312" pitchFamily="49" charset="-122"/>
              </a:rPr>
              <a:t>P(X)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，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P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是</a:t>
            </a:r>
            <a:r>
              <a: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  <a:ea typeface="楷体_GB2312" pitchFamily="49" charset="-122"/>
              </a:rPr>
              <a:t>R</a:t>
            </a:r>
            <a:r>
              <a:rPr lang="zh-CN" altLang="en-US" sz="2800" b="1" dirty="0">
                <a:solidFill>
                  <a:srgbClr val="FF3300"/>
                </a:solidFill>
                <a:latin typeface="Verdana" panose="020B0604030504040204" pitchFamily="34" charset="0"/>
                <a:ea typeface="楷体_GB2312" pitchFamily="49" charset="-122"/>
              </a:rPr>
              <a:t>中满足条件的元组在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X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属性列上的投影。条件：元组在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X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上分量值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x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的象集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Y</a:t>
            </a:r>
            <a:r>
              <a:rPr lang="en-US" altLang="zh-CN" sz="2800" b="1" baseline="-30000" dirty="0">
                <a:latin typeface="Verdana" panose="020B0604030504040204" pitchFamily="34" charset="0"/>
                <a:ea typeface="楷体_GB2312" pitchFamily="49" charset="-122"/>
              </a:rPr>
              <a:t>x</a:t>
            </a:r>
            <a:r>
              <a:rPr lang="zh-CN" altLang="en-US" sz="2800" b="1" dirty="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</a:rPr>
              <a:t>包含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S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在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Y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上投影的集合。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356357" name="Rectangle 5"/>
          <p:cNvSpPr/>
          <p:nvPr/>
        </p:nvSpPr>
        <p:spPr>
          <a:xfrm>
            <a:off x="179388" y="4292600"/>
            <a:ext cx="8640762" cy="16557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just" eaLnBrk="1" hangingPunct="1">
              <a:lnSpc>
                <a:spcPct val="140000"/>
              </a:lnSpc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           R÷S = {t</a:t>
            </a:r>
            <a:r>
              <a:rPr lang="en-US" altLang="zh-CN" sz="2800" b="1" baseline="-30000" dirty="0">
                <a:latin typeface="Verdana" panose="020B0604030504040204" pitchFamily="34" charset="0"/>
                <a:ea typeface="楷体_GB2312" pitchFamily="49" charset="-122"/>
              </a:rPr>
              <a:t>r 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[X] | t</a:t>
            </a:r>
            <a:r>
              <a:rPr lang="en-US" altLang="zh-CN" sz="2800" b="1" baseline="-30000" dirty="0">
                <a:latin typeface="Verdana" panose="020B0604030504040204" pitchFamily="34" charset="0"/>
                <a:ea typeface="楷体_GB2312" pitchFamily="49" charset="-122"/>
              </a:rPr>
              <a:t>r 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 R∧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30000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Y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 (S) 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 Y</a:t>
            </a:r>
            <a:r>
              <a:rPr lang="en-US" altLang="zh-CN" sz="2800" b="1" baseline="-30000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x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}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marL="742950" lvl="1" indent="-285750" algn="just" eaLnBrk="1" hangingPunct="1">
              <a:lnSpc>
                <a:spcPct val="140000"/>
              </a:lnSpc>
              <a:spcBef>
                <a:spcPct val="20000"/>
              </a:spcBef>
              <a:buClr>
                <a:srgbClr val="E02920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	          Y</a:t>
            </a:r>
            <a:r>
              <a:rPr lang="en-US" altLang="zh-CN" sz="2800" b="1" baseline="-30000" dirty="0">
                <a:latin typeface="Verdana" panose="020B0604030504040204" pitchFamily="34" charset="0"/>
                <a:ea typeface="楷体_GB2312" pitchFamily="49" charset="-122"/>
              </a:rPr>
              <a:t>x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：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x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在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R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中的象集，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x = t</a:t>
            </a:r>
            <a:r>
              <a:rPr lang="en-US" altLang="zh-CN" sz="2800" b="1" baseline="-30000" dirty="0">
                <a:latin typeface="Verdana" panose="020B0604030504040204" pitchFamily="34" charset="0"/>
                <a:ea typeface="楷体_GB2312" pitchFamily="49" charset="-122"/>
              </a:rPr>
              <a:t>r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[X]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6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6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6" grpId="0"/>
      <p:bldP spid="356357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547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除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105476" name="Rectangle 3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 algn="just"/>
            <a:r>
              <a:rPr lang="en-US" altLang="zh-CN" dirty="0"/>
              <a:t>2</a:t>
            </a:r>
            <a:r>
              <a:rPr lang="zh-CN" altLang="en-US" dirty="0"/>
              <a:t>）除操作是同时从行和列角度进行运算</a:t>
            </a:r>
            <a:endParaRPr lang="zh-CN" altLang="en-US" dirty="0"/>
          </a:p>
          <a:p>
            <a:pPr algn="just">
              <a:buNone/>
            </a:pPr>
            <a:r>
              <a:rPr lang="zh-CN" altLang="en-US" dirty="0"/>
              <a:t> </a:t>
            </a:r>
            <a:endParaRPr lang="zh-CN" altLang="en-US" dirty="0"/>
          </a:p>
          <a:p>
            <a:pPr algn="just"/>
            <a:endParaRPr lang="zh-CN" altLang="en-US" dirty="0"/>
          </a:p>
          <a:p>
            <a:pPr algn="just"/>
            <a:endParaRPr lang="zh-CN" altLang="en-US" dirty="0"/>
          </a:p>
          <a:p>
            <a:pPr algn="just"/>
            <a:endParaRPr lang="zh-CN" altLang="en-US" dirty="0"/>
          </a:p>
          <a:p>
            <a:pPr lvl="2" algn="just"/>
            <a:endParaRPr lang="zh-CN" altLang="en-US" dirty="0"/>
          </a:p>
          <a:p>
            <a:pPr algn="just"/>
            <a:r>
              <a:rPr lang="en-US" altLang="zh-CN" dirty="0"/>
              <a:t>3</a:t>
            </a:r>
            <a:r>
              <a:rPr lang="zh-CN" altLang="en-US" dirty="0"/>
              <a:t>）举例</a:t>
            </a:r>
            <a:endParaRPr lang="zh-CN" altLang="en-US" dirty="0"/>
          </a:p>
          <a:p>
            <a:pPr algn="just">
              <a:buNone/>
            </a:pPr>
            <a:r>
              <a:rPr lang="zh-CN" altLang="en-US" dirty="0"/>
              <a:t> 		</a:t>
            </a: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6]</a:t>
            </a:r>
            <a:r>
              <a:rPr lang="en-US" altLang="zh-CN" dirty="0"/>
              <a:t>  (p59)</a:t>
            </a:r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105477" name="Group 43"/>
          <p:cNvGrpSpPr/>
          <p:nvPr/>
        </p:nvGrpSpPr>
        <p:grpSpPr>
          <a:xfrm>
            <a:off x="2700338" y="2593975"/>
            <a:ext cx="3810000" cy="2209800"/>
            <a:chOff x="1728" y="1536"/>
            <a:chExt cx="2400" cy="1392"/>
          </a:xfrm>
        </p:grpSpPr>
        <p:grpSp>
          <p:nvGrpSpPr>
            <p:cNvPr id="105478" name="Group 20"/>
            <p:cNvGrpSpPr/>
            <p:nvPr/>
          </p:nvGrpSpPr>
          <p:grpSpPr>
            <a:xfrm>
              <a:off x="2064" y="1632"/>
              <a:ext cx="912" cy="768"/>
              <a:chOff x="1536" y="1632"/>
              <a:chExt cx="912" cy="768"/>
            </a:xfrm>
          </p:grpSpPr>
          <p:sp>
            <p:nvSpPr>
              <p:cNvPr id="105493" name="Rectangle 21"/>
              <p:cNvSpPr/>
              <p:nvPr/>
            </p:nvSpPr>
            <p:spPr>
              <a:xfrm>
                <a:off x="1536" y="16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105494" name="Rectangle 22" descr="浅色下对角线"/>
              <p:cNvSpPr/>
              <p:nvPr/>
            </p:nvSpPr>
            <p:spPr>
              <a:xfrm>
                <a:off x="1536" y="1728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105495" name="Rectangle 23"/>
              <p:cNvSpPr/>
              <p:nvPr/>
            </p:nvSpPr>
            <p:spPr>
              <a:xfrm>
                <a:off x="1536" y="182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105496" name="Rectangle 24"/>
              <p:cNvSpPr/>
              <p:nvPr/>
            </p:nvSpPr>
            <p:spPr>
              <a:xfrm>
                <a:off x="1536" y="230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105497" name="Rectangle 25"/>
              <p:cNvSpPr/>
              <p:nvPr/>
            </p:nvSpPr>
            <p:spPr>
              <a:xfrm>
                <a:off x="1536" y="192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105498" name="Rectangle 26" descr="浅色下对角线"/>
              <p:cNvSpPr/>
              <p:nvPr/>
            </p:nvSpPr>
            <p:spPr>
              <a:xfrm>
                <a:off x="1536" y="2016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105499" name="Rectangle 27"/>
              <p:cNvSpPr/>
              <p:nvPr/>
            </p:nvSpPr>
            <p:spPr>
              <a:xfrm>
                <a:off x="1536" y="211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105500" name="Rectangle 28" descr="浅色下对角线"/>
              <p:cNvSpPr/>
              <p:nvPr/>
            </p:nvSpPr>
            <p:spPr>
              <a:xfrm>
                <a:off x="1536" y="2208"/>
                <a:ext cx="912" cy="96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105479" name="AutoShape 29"/>
            <p:cNvSpPr/>
            <p:nvPr/>
          </p:nvSpPr>
          <p:spPr>
            <a:xfrm rot="2235391">
              <a:off x="3072" y="2304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05480" name="Rectangle 30"/>
            <p:cNvSpPr/>
            <p:nvPr/>
          </p:nvSpPr>
          <p:spPr>
            <a:xfrm>
              <a:off x="2448" y="2640"/>
              <a:ext cx="528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05481" name="Rectangle 31"/>
            <p:cNvSpPr/>
            <p:nvPr/>
          </p:nvSpPr>
          <p:spPr>
            <a:xfrm>
              <a:off x="2448" y="2832"/>
              <a:ext cx="528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05482" name="Rectangle 32"/>
            <p:cNvSpPr/>
            <p:nvPr/>
          </p:nvSpPr>
          <p:spPr>
            <a:xfrm>
              <a:off x="2448" y="2736"/>
              <a:ext cx="528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05483" name="Rectangle 33"/>
            <p:cNvSpPr/>
            <p:nvPr/>
          </p:nvSpPr>
          <p:spPr>
            <a:xfrm>
              <a:off x="2928" y="2304"/>
              <a:ext cx="57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÷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05484" name="AutoShape 34"/>
            <p:cNvSpPr/>
            <p:nvPr/>
          </p:nvSpPr>
          <p:spPr>
            <a:xfrm rot="-1832436">
              <a:off x="3132" y="2684"/>
              <a:ext cx="384" cy="144"/>
            </a:xfrm>
            <a:prstGeom prst="rightArrow">
              <a:avLst>
                <a:gd name="adj1" fmla="val 50000"/>
                <a:gd name="adj2" fmla="val 6666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05485" name="Rectangle 35" descr="浅色下对角线"/>
            <p:cNvSpPr/>
            <p:nvPr/>
          </p:nvSpPr>
          <p:spPr>
            <a:xfrm>
              <a:off x="3744" y="2544"/>
              <a:ext cx="384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05486" name="Rectangle 36" descr="浅色下对角线"/>
            <p:cNvSpPr/>
            <p:nvPr/>
          </p:nvSpPr>
          <p:spPr>
            <a:xfrm>
              <a:off x="3744" y="2448"/>
              <a:ext cx="384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05487" name="Rectangle 37" descr="浅色下对角线"/>
            <p:cNvSpPr/>
            <p:nvPr/>
          </p:nvSpPr>
          <p:spPr>
            <a:xfrm>
              <a:off x="2064" y="1536"/>
              <a:ext cx="912" cy="9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05488" name="Text Box 38"/>
            <p:cNvSpPr txBox="1"/>
            <p:nvPr/>
          </p:nvSpPr>
          <p:spPr>
            <a:xfrm>
              <a:off x="1728" y="1584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5489" name="Text Box 39"/>
            <p:cNvSpPr txBox="1"/>
            <p:nvPr/>
          </p:nvSpPr>
          <p:spPr>
            <a:xfrm>
              <a:off x="2064" y="2640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S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5490" name="Line 40"/>
            <p:cNvSpPr/>
            <p:nvPr/>
          </p:nvSpPr>
          <p:spPr>
            <a:xfrm>
              <a:off x="2448" y="1536"/>
              <a:ext cx="0" cy="8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491" name="Line 41"/>
            <p:cNvSpPr/>
            <p:nvPr/>
          </p:nvSpPr>
          <p:spPr>
            <a:xfrm>
              <a:off x="2784" y="2640"/>
              <a:ext cx="0" cy="28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492" name="Line 42"/>
            <p:cNvSpPr/>
            <p:nvPr/>
          </p:nvSpPr>
          <p:spPr>
            <a:xfrm>
              <a:off x="2784" y="1536"/>
              <a:ext cx="0" cy="86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advClick="0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23850" y="6237288"/>
            <a:ext cx="962025" cy="6207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6499" name="Rectangle 2"/>
          <p:cNvSpPr>
            <a:spLocks noGrp="1"/>
          </p:cNvSpPr>
          <p:nvPr>
            <p:ph type="title"/>
          </p:nvPr>
        </p:nvSpPr>
        <p:spPr>
          <a:xfrm>
            <a:off x="365125" y="188913"/>
            <a:ext cx="8321675" cy="735012"/>
          </a:xfrm>
          <a:ln/>
        </p:spPr>
        <p:txBody>
          <a:bodyPr vert="horz" wrap="square" lIns="91440" tIns="45720" rIns="91440" bIns="45720" anchor="b" anchorCtr="0"/>
          <a:p>
            <a:r>
              <a:rPr lang="zh-CN" altLang="en-US" sz="2400" dirty="0"/>
              <a:t>方法：先找共同属性列，再找象集，再找投影，如果象集包含投影，对应的那些元素就是除的结果。</a:t>
            </a:r>
            <a:endParaRPr lang="en-US" altLang="zh-CN" sz="2400" dirty="0"/>
          </a:p>
        </p:txBody>
      </p:sp>
      <p:grpSp>
        <p:nvGrpSpPr>
          <p:cNvPr id="106500" name="Group 132"/>
          <p:cNvGrpSpPr/>
          <p:nvPr/>
        </p:nvGrpSpPr>
        <p:grpSpPr>
          <a:xfrm>
            <a:off x="549275" y="1271588"/>
            <a:ext cx="912813" cy="403225"/>
            <a:chOff x="0" y="0"/>
            <a:chExt cx="300" cy="499"/>
          </a:xfrm>
        </p:grpSpPr>
        <p:sp>
          <p:nvSpPr>
            <p:cNvPr id="106625" name="Rectangle 133"/>
            <p:cNvSpPr/>
            <p:nvPr/>
          </p:nvSpPr>
          <p:spPr>
            <a:xfrm>
              <a:off x="43" y="0"/>
              <a:ext cx="214" cy="49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latin typeface="Verdana" panose="020B0604030504040204" pitchFamily="34" charset="0"/>
                </a:rPr>
                <a:t>A</a:t>
              </a:r>
              <a:endParaRPr lang="en-US" altLang="zh-CN" sz="2800" b="1" dirty="0"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latin typeface="Verdana" panose="020B0604030504040204" pitchFamily="34" charset="0"/>
              </a:endParaRPr>
            </a:p>
          </p:txBody>
        </p:sp>
        <p:sp>
          <p:nvSpPr>
            <p:cNvPr id="106626" name="Rectangle 134"/>
            <p:cNvSpPr/>
            <p:nvPr/>
          </p:nvSpPr>
          <p:spPr>
            <a:xfrm>
              <a:off x="0" y="0"/>
              <a:ext cx="300" cy="499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01" name="Group 135"/>
          <p:cNvGrpSpPr/>
          <p:nvPr/>
        </p:nvGrpSpPr>
        <p:grpSpPr>
          <a:xfrm>
            <a:off x="1462088" y="1271588"/>
            <a:ext cx="1096962" cy="403225"/>
            <a:chOff x="300" y="0"/>
            <a:chExt cx="360" cy="499"/>
          </a:xfrm>
        </p:grpSpPr>
        <p:sp>
          <p:nvSpPr>
            <p:cNvPr id="106623" name="Rectangle 136"/>
            <p:cNvSpPr/>
            <p:nvPr/>
          </p:nvSpPr>
          <p:spPr>
            <a:xfrm>
              <a:off x="343" y="0"/>
              <a:ext cx="274" cy="49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latin typeface="Verdana" panose="020B0604030504040204" pitchFamily="34" charset="0"/>
                </a:rPr>
                <a:t>B</a:t>
              </a:r>
              <a:endParaRPr lang="en-US" altLang="zh-CN" sz="2800" b="1" dirty="0"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latin typeface="Verdana" panose="020B0604030504040204" pitchFamily="34" charset="0"/>
              </a:endParaRPr>
            </a:p>
          </p:txBody>
        </p:sp>
        <p:sp>
          <p:nvSpPr>
            <p:cNvPr id="106624" name="Rectangle 137"/>
            <p:cNvSpPr/>
            <p:nvPr/>
          </p:nvSpPr>
          <p:spPr>
            <a:xfrm>
              <a:off x="300" y="0"/>
              <a:ext cx="360" cy="499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02" name="Group 138"/>
          <p:cNvGrpSpPr/>
          <p:nvPr/>
        </p:nvGrpSpPr>
        <p:grpSpPr>
          <a:xfrm>
            <a:off x="2559050" y="1271588"/>
            <a:ext cx="1095375" cy="403225"/>
            <a:chOff x="660" y="0"/>
            <a:chExt cx="360" cy="499"/>
          </a:xfrm>
        </p:grpSpPr>
        <p:sp>
          <p:nvSpPr>
            <p:cNvPr id="106621" name="Rectangle 139"/>
            <p:cNvSpPr/>
            <p:nvPr/>
          </p:nvSpPr>
          <p:spPr>
            <a:xfrm>
              <a:off x="703" y="0"/>
              <a:ext cx="274" cy="49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latin typeface="Verdana" panose="020B0604030504040204" pitchFamily="34" charset="0"/>
                </a:rPr>
                <a:t>C</a:t>
              </a:r>
              <a:endParaRPr lang="en-US" altLang="zh-CN" sz="2800" b="1" dirty="0"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latin typeface="Verdana" panose="020B0604030504040204" pitchFamily="34" charset="0"/>
              </a:endParaRPr>
            </a:p>
          </p:txBody>
        </p:sp>
        <p:sp>
          <p:nvSpPr>
            <p:cNvPr id="106622" name="Rectangle 140"/>
            <p:cNvSpPr/>
            <p:nvPr/>
          </p:nvSpPr>
          <p:spPr>
            <a:xfrm>
              <a:off x="660" y="0"/>
              <a:ext cx="360" cy="499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03" name="Group 141"/>
          <p:cNvGrpSpPr/>
          <p:nvPr/>
        </p:nvGrpSpPr>
        <p:grpSpPr>
          <a:xfrm>
            <a:off x="549275" y="1674813"/>
            <a:ext cx="912813" cy="573087"/>
            <a:chOff x="0" y="499"/>
            <a:chExt cx="300" cy="710"/>
          </a:xfrm>
        </p:grpSpPr>
        <p:sp>
          <p:nvSpPr>
            <p:cNvPr id="106619" name="Rectangle 142"/>
            <p:cNvSpPr/>
            <p:nvPr/>
          </p:nvSpPr>
          <p:spPr>
            <a:xfrm>
              <a:off x="43" y="499"/>
              <a:ext cx="21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rgbClr val="FF3300"/>
                  </a:solidFill>
                  <a:latin typeface="Verdana" panose="020B0604030504040204" pitchFamily="34" charset="0"/>
                </a:rPr>
                <a:t>a</a:t>
              </a:r>
              <a:r>
                <a:rPr lang="en-US" altLang="zh-CN" sz="2800" b="1" baseline="-30000" dirty="0">
                  <a:solidFill>
                    <a:srgbClr val="FF3300"/>
                  </a:solidFill>
                  <a:latin typeface="Verdana" panose="020B0604030504040204" pitchFamily="34" charset="0"/>
                </a:rPr>
                <a:t>1</a:t>
              </a:r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latin typeface="Verdana" panose="020B0604030504040204" pitchFamily="34" charset="0"/>
              </a:endParaRPr>
            </a:p>
          </p:txBody>
        </p:sp>
        <p:sp>
          <p:nvSpPr>
            <p:cNvPr id="106620" name="Rectangle 143"/>
            <p:cNvSpPr/>
            <p:nvPr/>
          </p:nvSpPr>
          <p:spPr>
            <a:xfrm>
              <a:off x="0" y="499"/>
              <a:ext cx="30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04" name="Group 144"/>
          <p:cNvGrpSpPr/>
          <p:nvPr/>
        </p:nvGrpSpPr>
        <p:grpSpPr>
          <a:xfrm>
            <a:off x="1462088" y="1674813"/>
            <a:ext cx="1096962" cy="573087"/>
            <a:chOff x="300" y="499"/>
            <a:chExt cx="360" cy="710"/>
          </a:xfrm>
        </p:grpSpPr>
        <p:sp>
          <p:nvSpPr>
            <p:cNvPr id="106617" name="Rectangle 145"/>
            <p:cNvSpPr/>
            <p:nvPr/>
          </p:nvSpPr>
          <p:spPr>
            <a:xfrm>
              <a:off x="343" y="49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rgbClr val="FF3300"/>
                  </a:solidFill>
                  <a:latin typeface="Verdana" panose="020B0604030504040204" pitchFamily="34" charset="0"/>
                </a:rPr>
                <a:t>b</a:t>
              </a:r>
              <a:r>
                <a:rPr lang="en-US" altLang="zh-CN" sz="2800" b="1" baseline="-30000" dirty="0">
                  <a:solidFill>
                    <a:srgbClr val="FF3300"/>
                  </a:solidFill>
                  <a:latin typeface="Verdana" panose="020B0604030504040204" pitchFamily="34" charset="0"/>
                </a:rPr>
                <a:t>1</a:t>
              </a:r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latin typeface="Verdana" panose="020B0604030504040204" pitchFamily="34" charset="0"/>
              </a:endParaRPr>
            </a:p>
          </p:txBody>
        </p:sp>
        <p:sp>
          <p:nvSpPr>
            <p:cNvPr id="106618" name="Rectangle 146"/>
            <p:cNvSpPr/>
            <p:nvPr/>
          </p:nvSpPr>
          <p:spPr>
            <a:xfrm>
              <a:off x="300" y="49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05" name="Group 147"/>
          <p:cNvGrpSpPr/>
          <p:nvPr/>
        </p:nvGrpSpPr>
        <p:grpSpPr>
          <a:xfrm>
            <a:off x="2559050" y="1674813"/>
            <a:ext cx="1095375" cy="573087"/>
            <a:chOff x="660" y="499"/>
            <a:chExt cx="360" cy="710"/>
          </a:xfrm>
        </p:grpSpPr>
        <p:sp>
          <p:nvSpPr>
            <p:cNvPr id="106615" name="Rectangle 148"/>
            <p:cNvSpPr/>
            <p:nvPr/>
          </p:nvSpPr>
          <p:spPr>
            <a:xfrm>
              <a:off x="703" y="49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rgbClr val="FF3300"/>
                  </a:solidFill>
                  <a:latin typeface="Verdana" panose="020B0604030504040204" pitchFamily="34" charset="0"/>
                </a:rPr>
                <a:t>c</a:t>
              </a:r>
              <a:r>
                <a:rPr lang="en-US" altLang="zh-CN" sz="2800" b="1" baseline="-30000" dirty="0">
                  <a:solidFill>
                    <a:srgbClr val="FF3300"/>
                  </a:solidFill>
                  <a:latin typeface="Verdana" panose="020B0604030504040204" pitchFamily="34" charset="0"/>
                </a:rPr>
                <a:t>2</a:t>
              </a:r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latin typeface="Verdana" panose="020B0604030504040204" pitchFamily="34" charset="0"/>
              </a:endParaRPr>
            </a:p>
          </p:txBody>
        </p:sp>
        <p:sp>
          <p:nvSpPr>
            <p:cNvPr id="106616" name="Rectangle 149"/>
            <p:cNvSpPr/>
            <p:nvPr/>
          </p:nvSpPr>
          <p:spPr>
            <a:xfrm>
              <a:off x="660" y="49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06" name="Group 150"/>
          <p:cNvGrpSpPr/>
          <p:nvPr/>
        </p:nvGrpSpPr>
        <p:grpSpPr>
          <a:xfrm>
            <a:off x="549275" y="2247900"/>
            <a:ext cx="912813" cy="571500"/>
            <a:chOff x="0" y="1209"/>
            <a:chExt cx="300" cy="710"/>
          </a:xfrm>
        </p:grpSpPr>
        <p:sp>
          <p:nvSpPr>
            <p:cNvPr id="106613" name="Rectangle 151"/>
            <p:cNvSpPr/>
            <p:nvPr/>
          </p:nvSpPr>
          <p:spPr>
            <a:xfrm>
              <a:off x="43" y="1209"/>
              <a:ext cx="21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chemeClr val="hlink"/>
                  </a:solidFill>
                  <a:latin typeface="Verdana" panose="020B0604030504040204" pitchFamily="34" charset="0"/>
                </a:rPr>
                <a:t>a</a:t>
              </a:r>
              <a:r>
                <a:rPr lang="en-US" altLang="zh-CN" sz="2800" b="1" baseline="-30000" dirty="0">
                  <a:solidFill>
                    <a:schemeClr val="hlink"/>
                  </a:solidFill>
                  <a:latin typeface="Verdana" panose="020B0604030504040204" pitchFamily="34" charset="0"/>
                </a:rPr>
                <a:t>2</a:t>
              </a:r>
              <a:endParaRPr lang="en-US" altLang="zh-CN" sz="2800" b="1" dirty="0">
                <a:solidFill>
                  <a:schemeClr val="hlink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latin typeface="Verdana" panose="020B0604030504040204" pitchFamily="34" charset="0"/>
              </a:endParaRPr>
            </a:p>
          </p:txBody>
        </p:sp>
        <p:sp>
          <p:nvSpPr>
            <p:cNvPr id="106614" name="Rectangle 152"/>
            <p:cNvSpPr/>
            <p:nvPr/>
          </p:nvSpPr>
          <p:spPr>
            <a:xfrm>
              <a:off x="0" y="1209"/>
              <a:ext cx="30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07" name="Group 153"/>
          <p:cNvGrpSpPr/>
          <p:nvPr/>
        </p:nvGrpSpPr>
        <p:grpSpPr>
          <a:xfrm>
            <a:off x="1462088" y="2247900"/>
            <a:ext cx="1096962" cy="571500"/>
            <a:chOff x="300" y="1209"/>
            <a:chExt cx="360" cy="710"/>
          </a:xfrm>
        </p:grpSpPr>
        <p:sp>
          <p:nvSpPr>
            <p:cNvPr id="106611" name="Rectangle 154"/>
            <p:cNvSpPr/>
            <p:nvPr/>
          </p:nvSpPr>
          <p:spPr>
            <a:xfrm>
              <a:off x="343" y="120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chemeClr val="hlink"/>
                  </a:solidFill>
                  <a:latin typeface="Verdana" panose="020B0604030504040204" pitchFamily="34" charset="0"/>
                </a:rPr>
                <a:t>b</a:t>
              </a:r>
              <a:r>
                <a:rPr lang="en-US" altLang="zh-CN" sz="2800" b="1" baseline="-30000" dirty="0">
                  <a:solidFill>
                    <a:schemeClr val="hlink"/>
                  </a:solidFill>
                  <a:latin typeface="Verdana" panose="020B0604030504040204" pitchFamily="34" charset="0"/>
                </a:rPr>
                <a:t>3</a:t>
              </a:r>
              <a:endParaRPr lang="en-US" altLang="zh-CN" sz="2800" b="1" dirty="0">
                <a:solidFill>
                  <a:schemeClr val="hlink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solidFill>
                  <a:schemeClr val="hlink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06612" name="Rectangle 155"/>
            <p:cNvSpPr/>
            <p:nvPr/>
          </p:nvSpPr>
          <p:spPr>
            <a:xfrm>
              <a:off x="300" y="120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08" name="Group 156"/>
          <p:cNvGrpSpPr/>
          <p:nvPr/>
        </p:nvGrpSpPr>
        <p:grpSpPr>
          <a:xfrm>
            <a:off x="2559050" y="2247900"/>
            <a:ext cx="1095375" cy="571500"/>
            <a:chOff x="660" y="1209"/>
            <a:chExt cx="360" cy="710"/>
          </a:xfrm>
        </p:grpSpPr>
        <p:sp>
          <p:nvSpPr>
            <p:cNvPr id="106609" name="Rectangle 157"/>
            <p:cNvSpPr/>
            <p:nvPr/>
          </p:nvSpPr>
          <p:spPr>
            <a:xfrm>
              <a:off x="703" y="120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chemeClr val="hlink"/>
                  </a:solidFill>
                  <a:latin typeface="Verdana" panose="020B0604030504040204" pitchFamily="34" charset="0"/>
                </a:rPr>
                <a:t>c</a:t>
              </a:r>
              <a:r>
                <a:rPr lang="en-US" altLang="zh-CN" sz="2800" b="1" baseline="-30000" dirty="0">
                  <a:solidFill>
                    <a:schemeClr val="hlink"/>
                  </a:solidFill>
                  <a:latin typeface="Verdana" panose="020B0604030504040204" pitchFamily="34" charset="0"/>
                </a:rPr>
                <a:t>7</a:t>
              </a:r>
              <a:endParaRPr lang="en-US" altLang="zh-CN" sz="2800" b="1" dirty="0">
                <a:solidFill>
                  <a:schemeClr val="hlink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solidFill>
                  <a:schemeClr val="hlink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06610" name="Rectangle 158"/>
            <p:cNvSpPr/>
            <p:nvPr/>
          </p:nvSpPr>
          <p:spPr>
            <a:xfrm>
              <a:off x="660" y="120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09" name="Group 159"/>
          <p:cNvGrpSpPr/>
          <p:nvPr/>
        </p:nvGrpSpPr>
        <p:grpSpPr>
          <a:xfrm>
            <a:off x="549275" y="2819400"/>
            <a:ext cx="912813" cy="573088"/>
            <a:chOff x="0" y="1919"/>
            <a:chExt cx="300" cy="710"/>
          </a:xfrm>
        </p:grpSpPr>
        <p:sp>
          <p:nvSpPr>
            <p:cNvPr id="106607" name="Rectangle 160"/>
            <p:cNvSpPr/>
            <p:nvPr/>
          </p:nvSpPr>
          <p:spPr>
            <a:xfrm>
              <a:off x="43" y="1919"/>
              <a:ext cx="21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rgbClr val="0000FF"/>
                  </a:solidFill>
                  <a:latin typeface="Verdana" panose="020B0604030504040204" pitchFamily="34" charset="0"/>
                </a:rPr>
                <a:t>a</a:t>
              </a:r>
              <a:r>
                <a:rPr lang="en-US" altLang="zh-CN" sz="2800" b="1" baseline="-30000" dirty="0">
                  <a:solidFill>
                    <a:srgbClr val="0000FF"/>
                  </a:solidFill>
                  <a:latin typeface="Verdana" panose="020B0604030504040204" pitchFamily="34" charset="0"/>
                </a:rPr>
                <a:t>3</a:t>
              </a:r>
              <a:endPara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06608" name="Rectangle 161"/>
            <p:cNvSpPr/>
            <p:nvPr/>
          </p:nvSpPr>
          <p:spPr>
            <a:xfrm>
              <a:off x="0" y="1919"/>
              <a:ext cx="30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10" name="Group 162"/>
          <p:cNvGrpSpPr/>
          <p:nvPr/>
        </p:nvGrpSpPr>
        <p:grpSpPr>
          <a:xfrm>
            <a:off x="1462088" y="2819400"/>
            <a:ext cx="1096962" cy="573088"/>
            <a:chOff x="300" y="1919"/>
            <a:chExt cx="360" cy="710"/>
          </a:xfrm>
        </p:grpSpPr>
        <p:sp>
          <p:nvSpPr>
            <p:cNvPr id="106605" name="Rectangle 163"/>
            <p:cNvSpPr/>
            <p:nvPr/>
          </p:nvSpPr>
          <p:spPr>
            <a:xfrm>
              <a:off x="343" y="191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rgbClr val="0000FF"/>
                  </a:solidFill>
                  <a:latin typeface="Verdana" panose="020B0604030504040204" pitchFamily="34" charset="0"/>
                </a:rPr>
                <a:t>b</a:t>
              </a:r>
              <a:r>
                <a:rPr lang="en-US" altLang="zh-CN" sz="2800" b="1" baseline="-30000" dirty="0">
                  <a:solidFill>
                    <a:srgbClr val="0000FF"/>
                  </a:solidFill>
                  <a:latin typeface="Verdana" panose="020B0604030504040204" pitchFamily="34" charset="0"/>
                </a:rPr>
                <a:t>4</a:t>
              </a:r>
              <a:endPara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06606" name="Rectangle 164"/>
            <p:cNvSpPr/>
            <p:nvPr/>
          </p:nvSpPr>
          <p:spPr>
            <a:xfrm>
              <a:off x="300" y="191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11" name="Group 165"/>
          <p:cNvGrpSpPr/>
          <p:nvPr/>
        </p:nvGrpSpPr>
        <p:grpSpPr>
          <a:xfrm>
            <a:off x="2559050" y="2819400"/>
            <a:ext cx="1095375" cy="573088"/>
            <a:chOff x="660" y="1919"/>
            <a:chExt cx="360" cy="710"/>
          </a:xfrm>
        </p:grpSpPr>
        <p:sp>
          <p:nvSpPr>
            <p:cNvPr id="106603" name="Rectangle 166"/>
            <p:cNvSpPr/>
            <p:nvPr/>
          </p:nvSpPr>
          <p:spPr>
            <a:xfrm>
              <a:off x="703" y="191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rgbClr val="0000FF"/>
                  </a:solidFill>
                  <a:latin typeface="Verdana" panose="020B0604030504040204" pitchFamily="34" charset="0"/>
                </a:rPr>
                <a:t>c</a:t>
              </a:r>
              <a:r>
                <a:rPr lang="en-US" altLang="zh-CN" sz="2800" b="1" baseline="-30000" dirty="0">
                  <a:solidFill>
                    <a:srgbClr val="0000FF"/>
                  </a:solidFill>
                  <a:latin typeface="Verdana" panose="020B0604030504040204" pitchFamily="34" charset="0"/>
                </a:rPr>
                <a:t>6</a:t>
              </a:r>
              <a:endPara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06604" name="Rectangle 167"/>
            <p:cNvSpPr/>
            <p:nvPr/>
          </p:nvSpPr>
          <p:spPr>
            <a:xfrm>
              <a:off x="660" y="191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12" name="Group 168"/>
          <p:cNvGrpSpPr/>
          <p:nvPr/>
        </p:nvGrpSpPr>
        <p:grpSpPr>
          <a:xfrm>
            <a:off x="549275" y="3392488"/>
            <a:ext cx="912813" cy="573087"/>
            <a:chOff x="0" y="2629"/>
            <a:chExt cx="300" cy="710"/>
          </a:xfrm>
        </p:grpSpPr>
        <p:sp>
          <p:nvSpPr>
            <p:cNvPr id="106601" name="Rectangle 169"/>
            <p:cNvSpPr/>
            <p:nvPr/>
          </p:nvSpPr>
          <p:spPr>
            <a:xfrm>
              <a:off x="43" y="2629"/>
              <a:ext cx="21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rgbClr val="FF3300"/>
                  </a:solidFill>
                  <a:latin typeface="Verdana" panose="020B0604030504040204" pitchFamily="34" charset="0"/>
                </a:rPr>
                <a:t>a</a:t>
              </a:r>
              <a:r>
                <a:rPr lang="en-US" altLang="zh-CN" sz="2800" b="1" baseline="-30000" dirty="0">
                  <a:solidFill>
                    <a:srgbClr val="FF3300"/>
                  </a:solidFill>
                  <a:latin typeface="Verdana" panose="020B0604030504040204" pitchFamily="34" charset="0"/>
                </a:rPr>
                <a:t>1</a:t>
              </a:r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06602" name="Rectangle 170"/>
            <p:cNvSpPr/>
            <p:nvPr/>
          </p:nvSpPr>
          <p:spPr>
            <a:xfrm>
              <a:off x="0" y="2629"/>
              <a:ext cx="30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13" name="Group 171"/>
          <p:cNvGrpSpPr/>
          <p:nvPr/>
        </p:nvGrpSpPr>
        <p:grpSpPr>
          <a:xfrm>
            <a:off x="1462088" y="3392488"/>
            <a:ext cx="1096962" cy="573087"/>
            <a:chOff x="300" y="2629"/>
            <a:chExt cx="360" cy="710"/>
          </a:xfrm>
        </p:grpSpPr>
        <p:sp>
          <p:nvSpPr>
            <p:cNvPr id="106599" name="Rectangle 172"/>
            <p:cNvSpPr/>
            <p:nvPr/>
          </p:nvSpPr>
          <p:spPr>
            <a:xfrm>
              <a:off x="343" y="262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rgbClr val="FF3300"/>
                  </a:solidFill>
                  <a:latin typeface="Verdana" panose="020B0604030504040204" pitchFamily="34" charset="0"/>
                </a:rPr>
                <a:t>b</a:t>
              </a:r>
              <a:r>
                <a:rPr lang="en-US" altLang="zh-CN" sz="2800" b="1" baseline="-30000" dirty="0">
                  <a:solidFill>
                    <a:srgbClr val="FF3300"/>
                  </a:solidFill>
                  <a:latin typeface="Verdana" panose="020B0604030504040204" pitchFamily="34" charset="0"/>
                </a:rPr>
                <a:t>2</a:t>
              </a:r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06600" name="Rectangle 173"/>
            <p:cNvSpPr/>
            <p:nvPr/>
          </p:nvSpPr>
          <p:spPr>
            <a:xfrm>
              <a:off x="300" y="262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14" name="Group 174"/>
          <p:cNvGrpSpPr/>
          <p:nvPr/>
        </p:nvGrpSpPr>
        <p:grpSpPr>
          <a:xfrm>
            <a:off x="2559050" y="3392488"/>
            <a:ext cx="1095375" cy="573087"/>
            <a:chOff x="660" y="2629"/>
            <a:chExt cx="360" cy="710"/>
          </a:xfrm>
        </p:grpSpPr>
        <p:sp>
          <p:nvSpPr>
            <p:cNvPr id="106597" name="Rectangle 175"/>
            <p:cNvSpPr/>
            <p:nvPr/>
          </p:nvSpPr>
          <p:spPr>
            <a:xfrm>
              <a:off x="703" y="262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rgbClr val="FF3300"/>
                  </a:solidFill>
                  <a:latin typeface="Verdana" panose="020B0604030504040204" pitchFamily="34" charset="0"/>
                </a:rPr>
                <a:t>c</a:t>
              </a:r>
              <a:r>
                <a:rPr lang="en-US" altLang="zh-CN" sz="2800" b="1" baseline="-30000" dirty="0">
                  <a:solidFill>
                    <a:srgbClr val="FF3300"/>
                  </a:solidFill>
                  <a:latin typeface="Verdana" panose="020B0604030504040204" pitchFamily="34" charset="0"/>
                </a:rPr>
                <a:t>3</a:t>
              </a:r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06598" name="Rectangle 176"/>
            <p:cNvSpPr/>
            <p:nvPr/>
          </p:nvSpPr>
          <p:spPr>
            <a:xfrm>
              <a:off x="660" y="262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15" name="Group 177"/>
          <p:cNvGrpSpPr/>
          <p:nvPr/>
        </p:nvGrpSpPr>
        <p:grpSpPr>
          <a:xfrm>
            <a:off x="549275" y="3965575"/>
            <a:ext cx="912813" cy="573088"/>
            <a:chOff x="0" y="3339"/>
            <a:chExt cx="300" cy="710"/>
          </a:xfrm>
        </p:grpSpPr>
        <p:sp>
          <p:nvSpPr>
            <p:cNvPr id="106595" name="Rectangle 178"/>
            <p:cNvSpPr/>
            <p:nvPr/>
          </p:nvSpPr>
          <p:spPr>
            <a:xfrm>
              <a:off x="43" y="3339"/>
              <a:ext cx="21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latin typeface="Verdana" panose="020B0604030504040204" pitchFamily="34" charset="0"/>
                </a:rPr>
                <a:t>a</a:t>
              </a:r>
              <a:r>
                <a:rPr lang="en-US" altLang="zh-CN" sz="2800" b="1" baseline="-30000" dirty="0">
                  <a:latin typeface="Verdana" panose="020B0604030504040204" pitchFamily="34" charset="0"/>
                </a:rPr>
                <a:t>4</a:t>
              </a:r>
              <a:endParaRPr lang="en-US" altLang="zh-CN" sz="2800" b="1" dirty="0"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latin typeface="Verdana" panose="020B0604030504040204" pitchFamily="34" charset="0"/>
              </a:endParaRPr>
            </a:p>
          </p:txBody>
        </p:sp>
        <p:sp>
          <p:nvSpPr>
            <p:cNvPr id="106596" name="Rectangle 179"/>
            <p:cNvSpPr/>
            <p:nvPr/>
          </p:nvSpPr>
          <p:spPr>
            <a:xfrm>
              <a:off x="0" y="3339"/>
              <a:ext cx="30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16" name="Group 180"/>
          <p:cNvGrpSpPr/>
          <p:nvPr/>
        </p:nvGrpSpPr>
        <p:grpSpPr>
          <a:xfrm>
            <a:off x="1462088" y="3965575"/>
            <a:ext cx="1096962" cy="573088"/>
            <a:chOff x="300" y="3339"/>
            <a:chExt cx="360" cy="710"/>
          </a:xfrm>
        </p:grpSpPr>
        <p:sp>
          <p:nvSpPr>
            <p:cNvPr id="106593" name="Rectangle 181"/>
            <p:cNvSpPr/>
            <p:nvPr/>
          </p:nvSpPr>
          <p:spPr>
            <a:xfrm>
              <a:off x="343" y="333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latin typeface="Verdana" panose="020B0604030504040204" pitchFamily="34" charset="0"/>
                </a:rPr>
                <a:t>b</a:t>
              </a:r>
              <a:r>
                <a:rPr lang="en-US" altLang="zh-CN" sz="2800" b="1" baseline="-30000" dirty="0">
                  <a:latin typeface="Verdana" panose="020B0604030504040204" pitchFamily="34" charset="0"/>
                </a:rPr>
                <a:t>6</a:t>
              </a:r>
              <a:endParaRPr lang="en-US" altLang="zh-CN" sz="2800" b="1" dirty="0"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latin typeface="Verdana" panose="020B0604030504040204" pitchFamily="34" charset="0"/>
              </a:endParaRPr>
            </a:p>
          </p:txBody>
        </p:sp>
        <p:sp>
          <p:nvSpPr>
            <p:cNvPr id="106594" name="Rectangle 182"/>
            <p:cNvSpPr/>
            <p:nvPr/>
          </p:nvSpPr>
          <p:spPr>
            <a:xfrm>
              <a:off x="300" y="333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17" name="Group 183"/>
          <p:cNvGrpSpPr/>
          <p:nvPr/>
        </p:nvGrpSpPr>
        <p:grpSpPr>
          <a:xfrm>
            <a:off x="2559050" y="3965575"/>
            <a:ext cx="1095375" cy="573088"/>
            <a:chOff x="660" y="3339"/>
            <a:chExt cx="360" cy="710"/>
          </a:xfrm>
        </p:grpSpPr>
        <p:sp>
          <p:nvSpPr>
            <p:cNvPr id="106591" name="Rectangle 184"/>
            <p:cNvSpPr/>
            <p:nvPr/>
          </p:nvSpPr>
          <p:spPr>
            <a:xfrm>
              <a:off x="703" y="333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latin typeface="Verdana" panose="020B0604030504040204" pitchFamily="34" charset="0"/>
                </a:rPr>
                <a:t>c</a:t>
              </a:r>
              <a:r>
                <a:rPr lang="en-US" altLang="zh-CN" sz="2800" b="1" baseline="-30000" dirty="0">
                  <a:latin typeface="Verdana" panose="020B0604030504040204" pitchFamily="34" charset="0"/>
                </a:rPr>
                <a:t>6</a:t>
              </a:r>
              <a:endParaRPr lang="en-US" altLang="zh-CN" sz="2800" b="1" dirty="0"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latin typeface="Verdana" panose="020B0604030504040204" pitchFamily="34" charset="0"/>
              </a:endParaRPr>
            </a:p>
          </p:txBody>
        </p:sp>
        <p:sp>
          <p:nvSpPr>
            <p:cNvPr id="106592" name="Rectangle 185"/>
            <p:cNvSpPr/>
            <p:nvPr/>
          </p:nvSpPr>
          <p:spPr>
            <a:xfrm>
              <a:off x="660" y="333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18" name="Group 186"/>
          <p:cNvGrpSpPr/>
          <p:nvPr/>
        </p:nvGrpSpPr>
        <p:grpSpPr>
          <a:xfrm>
            <a:off x="549275" y="4538663"/>
            <a:ext cx="912813" cy="573087"/>
            <a:chOff x="0" y="4049"/>
            <a:chExt cx="300" cy="710"/>
          </a:xfrm>
        </p:grpSpPr>
        <p:sp>
          <p:nvSpPr>
            <p:cNvPr id="106589" name="Rectangle 187"/>
            <p:cNvSpPr/>
            <p:nvPr/>
          </p:nvSpPr>
          <p:spPr>
            <a:xfrm>
              <a:off x="43" y="4049"/>
              <a:ext cx="21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chemeClr val="hlink"/>
                  </a:solidFill>
                  <a:latin typeface="Verdana" panose="020B0604030504040204" pitchFamily="34" charset="0"/>
                </a:rPr>
                <a:t>a</a:t>
              </a:r>
              <a:r>
                <a:rPr lang="en-US" altLang="zh-CN" sz="2800" b="1" baseline="-30000" dirty="0">
                  <a:solidFill>
                    <a:schemeClr val="hlink"/>
                  </a:solidFill>
                  <a:latin typeface="Verdana" panose="020B0604030504040204" pitchFamily="34" charset="0"/>
                </a:rPr>
                <a:t>2</a:t>
              </a:r>
              <a:endParaRPr lang="en-US" altLang="zh-CN" sz="2800" b="1" dirty="0">
                <a:solidFill>
                  <a:schemeClr val="hlink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solidFill>
                  <a:schemeClr val="hlink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06590" name="Rectangle 188"/>
            <p:cNvSpPr/>
            <p:nvPr/>
          </p:nvSpPr>
          <p:spPr>
            <a:xfrm>
              <a:off x="0" y="4049"/>
              <a:ext cx="30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19" name="Group 189"/>
          <p:cNvGrpSpPr/>
          <p:nvPr/>
        </p:nvGrpSpPr>
        <p:grpSpPr>
          <a:xfrm>
            <a:off x="1462088" y="4538663"/>
            <a:ext cx="1096962" cy="573087"/>
            <a:chOff x="300" y="4049"/>
            <a:chExt cx="360" cy="710"/>
          </a:xfrm>
        </p:grpSpPr>
        <p:sp>
          <p:nvSpPr>
            <p:cNvPr id="106587" name="Rectangle 190"/>
            <p:cNvSpPr/>
            <p:nvPr/>
          </p:nvSpPr>
          <p:spPr>
            <a:xfrm>
              <a:off x="343" y="404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chemeClr val="hlink"/>
                  </a:solidFill>
                  <a:latin typeface="Verdana" panose="020B0604030504040204" pitchFamily="34" charset="0"/>
                </a:rPr>
                <a:t>b</a:t>
              </a:r>
              <a:r>
                <a:rPr lang="en-US" altLang="zh-CN" sz="2800" b="1" baseline="-30000" dirty="0">
                  <a:solidFill>
                    <a:schemeClr val="hlink"/>
                  </a:solidFill>
                  <a:latin typeface="Verdana" panose="020B0604030504040204" pitchFamily="34" charset="0"/>
                </a:rPr>
                <a:t>2</a:t>
              </a:r>
              <a:endParaRPr lang="en-US" altLang="zh-CN" sz="2800" b="1" dirty="0">
                <a:solidFill>
                  <a:schemeClr val="hlink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solidFill>
                  <a:schemeClr val="hlink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06588" name="Rectangle 191"/>
            <p:cNvSpPr/>
            <p:nvPr/>
          </p:nvSpPr>
          <p:spPr>
            <a:xfrm>
              <a:off x="300" y="404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20" name="Group 192"/>
          <p:cNvGrpSpPr/>
          <p:nvPr/>
        </p:nvGrpSpPr>
        <p:grpSpPr>
          <a:xfrm>
            <a:off x="2559050" y="4538663"/>
            <a:ext cx="1095375" cy="573087"/>
            <a:chOff x="660" y="4049"/>
            <a:chExt cx="360" cy="710"/>
          </a:xfrm>
        </p:grpSpPr>
        <p:sp>
          <p:nvSpPr>
            <p:cNvPr id="106585" name="Rectangle 193"/>
            <p:cNvSpPr/>
            <p:nvPr/>
          </p:nvSpPr>
          <p:spPr>
            <a:xfrm>
              <a:off x="703" y="404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chemeClr val="hlink"/>
                  </a:solidFill>
                  <a:latin typeface="Verdana" panose="020B0604030504040204" pitchFamily="34" charset="0"/>
                </a:rPr>
                <a:t>c</a:t>
              </a:r>
              <a:r>
                <a:rPr lang="en-US" altLang="zh-CN" sz="2800" b="1" baseline="-30000" dirty="0">
                  <a:solidFill>
                    <a:schemeClr val="hlink"/>
                  </a:solidFill>
                  <a:latin typeface="Verdana" panose="020B0604030504040204" pitchFamily="34" charset="0"/>
                </a:rPr>
                <a:t>3</a:t>
              </a:r>
              <a:endParaRPr lang="en-US" altLang="zh-CN" sz="2800" b="1" dirty="0">
                <a:solidFill>
                  <a:schemeClr val="hlink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solidFill>
                  <a:schemeClr val="hlink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06586" name="Rectangle 194"/>
            <p:cNvSpPr/>
            <p:nvPr/>
          </p:nvSpPr>
          <p:spPr>
            <a:xfrm>
              <a:off x="660" y="404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21" name="Group 195"/>
          <p:cNvGrpSpPr/>
          <p:nvPr/>
        </p:nvGrpSpPr>
        <p:grpSpPr>
          <a:xfrm>
            <a:off x="549275" y="5111750"/>
            <a:ext cx="912813" cy="573088"/>
            <a:chOff x="0" y="4759"/>
            <a:chExt cx="300" cy="710"/>
          </a:xfrm>
        </p:grpSpPr>
        <p:sp>
          <p:nvSpPr>
            <p:cNvPr id="106583" name="Rectangle 196"/>
            <p:cNvSpPr/>
            <p:nvPr/>
          </p:nvSpPr>
          <p:spPr>
            <a:xfrm>
              <a:off x="43" y="4759"/>
              <a:ext cx="21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rgbClr val="FF3300"/>
                  </a:solidFill>
                  <a:latin typeface="Verdana" panose="020B0604030504040204" pitchFamily="34" charset="0"/>
                </a:rPr>
                <a:t>a</a:t>
              </a:r>
              <a:r>
                <a:rPr lang="en-US" altLang="zh-CN" sz="2800" b="1" baseline="-30000" dirty="0">
                  <a:solidFill>
                    <a:srgbClr val="FF3300"/>
                  </a:solidFill>
                  <a:latin typeface="Verdana" panose="020B0604030504040204" pitchFamily="34" charset="0"/>
                </a:rPr>
                <a:t>1</a:t>
              </a:r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latin typeface="Verdana" panose="020B0604030504040204" pitchFamily="34" charset="0"/>
              </a:endParaRPr>
            </a:p>
          </p:txBody>
        </p:sp>
        <p:sp>
          <p:nvSpPr>
            <p:cNvPr id="106584" name="Rectangle 197"/>
            <p:cNvSpPr/>
            <p:nvPr/>
          </p:nvSpPr>
          <p:spPr>
            <a:xfrm>
              <a:off x="0" y="4759"/>
              <a:ext cx="30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22" name="Group 198"/>
          <p:cNvGrpSpPr/>
          <p:nvPr/>
        </p:nvGrpSpPr>
        <p:grpSpPr>
          <a:xfrm>
            <a:off x="1462088" y="5111750"/>
            <a:ext cx="1096962" cy="573088"/>
            <a:chOff x="300" y="4759"/>
            <a:chExt cx="360" cy="710"/>
          </a:xfrm>
        </p:grpSpPr>
        <p:sp>
          <p:nvSpPr>
            <p:cNvPr id="106581" name="Rectangle 199"/>
            <p:cNvSpPr/>
            <p:nvPr/>
          </p:nvSpPr>
          <p:spPr>
            <a:xfrm>
              <a:off x="343" y="475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rgbClr val="FF3300"/>
                  </a:solidFill>
                  <a:latin typeface="Verdana" panose="020B0604030504040204" pitchFamily="34" charset="0"/>
                </a:rPr>
                <a:t>b</a:t>
              </a:r>
              <a:r>
                <a:rPr lang="en-US" altLang="zh-CN" sz="2800" b="1" baseline="-30000" dirty="0">
                  <a:solidFill>
                    <a:srgbClr val="FF3300"/>
                  </a:solidFill>
                  <a:latin typeface="Verdana" panose="020B0604030504040204" pitchFamily="34" charset="0"/>
                </a:rPr>
                <a:t>2</a:t>
              </a:r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06582" name="Rectangle 200"/>
            <p:cNvSpPr/>
            <p:nvPr/>
          </p:nvSpPr>
          <p:spPr>
            <a:xfrm>
              <a:off x="300" y="475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grpSp>
        <p:nvGrpSpPr>
          <p:cNvPr id="106523" name="Group 201"/>
          <p:cNvGrpSpPr/>
          <p:nvPr/>
        </p:nvGrpSpPr>
        <p:grpSpPr>
          <a:xfrm>
            <a:off x="2555875" y="5084763"/>
            <a:ext cx="1095375" cy="573087"/>
            <a:chOff x="660" y="4759"/>
            <a:chExt cx="360" cy="710"/>
          </a:xfrm>
        </p:grpSpPr>
        <p:sp>
          <p:nvSpPr>
            <p:cNvPr id="106579" name="Rectangle 202"/>
            <p:cNvSpPr/>
            <p:nvPr/>
          </p:nvSpPr>
          <p:spPr>
            <a:xfrm>
              <a:off x="703" y="4759"/>
              <a:ext cx="274" cy="7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/>
            <a:p>
              <a:pPr algn="ctr" eaLnBrk="1" hangingPunct="1"/>
              <a:r>
                <a:rPr lang="en-US" altLang="zh-CN" sz="2800" b="1" i="1" dirty="0">
                  <a:solidFill>
                    <a:srgbClr val="FF3300"/>
                  </a:solidFill>
                  <a:latin typeface="Verdana" panose="020B0604030504040204" pitchFamily="34" charset="0"/>
                </a:rPr>
                <a:t>c</a:t>
              </a:r>
              <a:r>
                <a:rPr lang="en-US" altLang="zh-CN" sz="2800" b="1" baseline="-30000" dirty="0">
                  <a:solidFill>
                    <a:srgbClr val="FF3300"/>
                  </a:solidFill>
                  <a:latin typeface="Verdana" panose="020B0604030504040204" pitchFamily="34" charset="0"/>
                </a:rPr>
                <a:t>1</a:t>
              </a:r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  <a:p>
              <a:pPr algn="ctr"/>
              <a:endPara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06580" name="Rectangle 203"/>
            <p:cNvSpPr/>
            <p:nvPr/>
          </p:nvSpPr>
          <p:spPr>
            <a:xfrm>
              <a:off x="660" y="4759"/>
              <a:ext cx="360" cy="710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sp>
        <p:nvSpPr>
          <p:cNvPr id="106524" name="Rectangle 204"/>
          <p:cNvSpPr/>
          <p:nvPr/>
        </p:nvSpPr>
        <p:spPr>
          <a:xfrm>
            <a:off x="539750" y="1268413"/>
            <a:ext cx="3124200" cy="4419600"/>
          </a:xfrm>
          <a:prstGeom prst="rect">
            <a:avLst/>
          </a:prstGeom>
          <a:noFill/>
          <a:ln w="11112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grpSp>
        <p:nvGrpSpPr>
          <p:cNvPr id="106525" name="Group 205"/>
          <p:cNvGrpSpPr/>
          <p:nvPr/>
        </p:nvGrpSpPr>
        <p:grpSpPr>
          <a:xfrm>
            <a:off x="4427538" y="836613"/>
            <a:ext cx="2447925" cy="2017712"/>
            <a:chOff x="-3" y="-3"/>
            <a:chExt cx="1144" cy="2635"/>
          </a:xfrm>
        </p:grpSpPr>
        <p:grpSp>
          <p:nvGrpSpPr>
            <p:cNvPr id="106541" name="Group 206"/>
            <p:cNvGrpSpPr/>
            <p:nvPr/>
          </p:nvGrpSpPr>
          <p:grpSpPr>
            <a:xfrm>
              <a:off x="0" y="0"/>
              <a:ext cx="1141" cy="2629"/>
              <a:chOff x="0" y="0"/>
              <a:chExt cx="1141" cy="2629"/>
            </a:xfrm>
          </p:grpSpPr>
          <p:grpSp>
            <p:nvGrpSpPr>
              <p:cNvPr id="106543" name="Group 207"/>
              <p:cNvGrpSpPr/>
              <p:nvPr/>
            </p:nvGrpSpPr>
            <p:grpSpPr>
              <a:xfrm>
                <a:off x="0" y="0"/>
                <a:ext cx="342" cy="499"/>
                <a:chOff x="0" y="0"/>
                <a:chExt cx="342" cy="499"/>
              </a:xfrm>
            </p:grpSpPr>
            <p:sp>
              <p:nvSpPr>
                <p:cNvPr id="106577" name="Rectangle 208"/>
                <p:cNvSpPr/>
                <p:nvPr/>
              </p:nvSpPr>
              <p:spPr>
                <a:xfrm>
                  <a:off x="43" y="0"/>
                  <a:ext cx="256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latin typeface="Verdana" panose="020B0604030504040204" pitchFamily="34" charset="0"/>
                    </a:rPr>
                    <a:t>B</a:t>
                  </a:r>
                  <a:endParaRPr lang="en-US" altLang="zh-CN" sz="2800" b="1" dirty="0"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78" name="Rectangle 209"/>
                <p:cNvSpPr/>
                <p:nvPr/>
              </p:nvSpPr>
              <p:spPr>
                <a:xfrm>
                  <a:off x="0" y="0"/>
                  <a:ext cx="34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106544" name="Group 210"/>
              <p:cNvGrpSpPr/>
              <p:nvPr/>
            </p:nvGrpSpPr>
            <p:grpSpPr>
              <a:xfrm>
                <a:off x="342" y="0"/>
                <a:ext cx="360" cy="499"/>
                <a:chOff x="342" y="0"/>
                <a:chExt cx="360" cy="499"/>
              </a:xfrm>
            </p:grpSpPr>
            <p:sp>
              <p:nvSpPr>
                <p:cNvPr id="106575" name="Rectangle 211"/>
                <p:cNvSpPr/>
                <p:nvPr/>
              </p:nvSpPr>
              <p:spPr>
                <a:xfrm>
                  <a:off x="385" y="0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latin typeface="Verdana" panose="020B0604030504040204" pitchFamily="34" charset="0"/>
                    </a:rPr>
                    <a:t>C</a:t>
                  </a:r>
                  <a:endParaRPr lang="en-US" altLang="zh-CN" sz="2800" b="1" dirty="0"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76" name="Rectangle 212"/>
                <p:cNvSpPr/>
                <p:nvPr/>
              </p:nvSpPr>
              <p:spPr>
                <a:xfrm>
                  <a:off x="342" y="0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106545" name="Group 213"/>
              <p:cNvGrpSpPr/>
              <p:nvPr/>
            </p:nvGrpSpPr>
            <p:grpSpPr>
              <a:xfrm>
                <a:off x="702" y="0"/>
                <a:ext cx="360" cy="499"/>
                <a:chOff x="702" y="0"/>
                <a:chExt cx="360" cy="499"/>
              </a:xfrm>
            </p:grpSpPr>
            <p:sp>
              <p:nvSpPr>
                <p:cNvPr id="106573" name="Rectangle 214"/>
                <p:cNvSpPr/>
                <p:nvPr/>
              </p:nvSpPr>
              <p:spPr>
                <a:xfrm>
                  <a:off x="745" y="0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latin typeface="Verdana" panose="020B0604030504040204" pitchFamily="34" charset="0"/>
                    </a:rPr>
                    <a:t>D</a:t>
                  </a:r>
                  <a:endParaRPr lang="en-US" altLang="zh-CN" sz="2800" b="1" dirty="0"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74" name="Rectangle 215"/>
                <p:cNvSpPr/>
                <p:nvPr/>
              </p:nvSpPr>
              <p:spPr>
                <a:xfrm>
                  <a:off x="702" y="0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106546" name="Group 216"/>
              <p:cNvGrpSpPr/>
              <p:nvPr/>
            </p:nvGrpSpPr>
            <p:grpSpPr>
              <a:xfrm>
                <a:off x="0" y="499"/>
                <a:ext cx="385" cy="710"/>
                <a:chOff x="0" y="499"/>
                <a:chExt cx="385" cy="710"/>
              </a:xfrm>
            </p:grpSpPr>
            <p:sp>
              <p:nvSpPr>
                <p:cNvPr id="106571" name="Rectangle 217"/>
                <p:cNvSpPr/>
                <p:nvPr/>
              </p:nvSpPr>
              <p:spPr>
                <a:xfrm>
                  <a:off x="43" y="499"/>
                  <a:ext cx="342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solidFill>
                        <a:srgbClr val="0033CC"/>
                      </a:solidFill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800" b="1" baseline="-30000" dirty="0">
                      <a:solidFill>
                        <a:srgbClr val="0033CC"/>
                      </a:solidFill>
                      <a:latin typeface="Verdana" panose="020B0604030504040204" pitchFamily="34" charset="0"/>
                    </a:rPr>
                    <a:t>1</a:t>
                  </a:r>
                  <a:endParaRPr lang="en-US" altLang="zh-CN" sz="2800" b="1" dirty="0">
                    <a:solidFill>
                      <a:srgbClr val="0033CC"/>
                    </a:solidFill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solidFill>
                      <a:srgbClr val="0033CC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72" name="Rectangle 218"/>
                <p:cNvSpPr/>
                <p:nvPr/>
              </p:nvSpPr>
              <p:spPr>
                <a:xfrm>
                  <a:off x="0" y="499"/>
                  <a:ext cx="342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106547" name="Group 219"/>
              <p:cNvGrpSpPr/>
              <p:nvPr/>
            </p:nvGrpSpPr>
            <p:grpSpPr>
              <a:xfrm>
                <a:off x="342" y="499"/>
                <a:ext cx="360" cy="710"/>
                <a:chOff x="342" y="499"/>
                <a:chExt cx="360" cy="710"/>
              </a:xfrm>
            </p:grpSpPr>
            <p:sp>
              <p:nvSpPr>
                <p:cNvPr id="106569" name="Rectangle 220"/>
                <p:cNvSpPr/>
                <p:nvPr/>
              </p:nvSpPr>
              <p:spPr>
                <a:xfrm>
                  <a:off x="385" y="499"/>
                  <a:ext cx="274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solidFill>
                        <a:srgbClr val="0033CC"/>
                      </a:solidFill>
                      <a:latin typeface="Verdana" panose="020B0604030504040204" pitchFamily="34" charset="0"/>
                    </a:rPr>
                    <a:t>c</a:t>
                  </a:r>
                  <a:r>
                    <a:rPr lang="en-US" altLang="zh-CN" sz="2800" b="1" baseline="-30000" dirty="0">
                      <a:solidFill>
                        <a:srgbClr val="0033CC"/>
                      </a:solidFill>
                      <a:latin typeface="Verdana" panose="020B0604030504040204" pitchFamily="34" charset="0"/>
                    </a:rPr>
                    <a:t>2</a:t>
                  </a:r>
                  <a:endParaRPr lang="en-US" altLang="zh-CN" sz="2800" b="1" dirty="0">
                    <a:solidFill>
                      <a:srgbClr val="0033CC"/>
                    </a:solidFill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70" name="Rectangle 221"/>
                <p:cNvSpPr/>
                <p:nvPr/>
              </p:nvSpPr>
              <p:spPr>
                <a:xfrm>
                  <a:off x="342" y="499"/>
                  <a:ext cx="36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106548" name="Group 222"/>
              <p:cNvGrpSpPr/>
              <p:nvPr/>
            </p:nvGrpSpPr>
            <p:grpSpPr>
              <a:xfrm>
                <a:off x="702" y="499"/>
                <a:ext cx="439" cy="710"/>
                <a:chOff x="702" y="499"/>
                <a:chExt cx="439" cy="710"/>
              </a:xfrm>
            </p:grpSpPr>
            <p:sp>
              <p:nvSpPr>
                <p:cNvPr id="106567" name="Rectangle 223"/>
                <p:cNvSpPr/>
                <p:nvPr/>
              </p:nvSpPr>
              <p:spPr>
                <a:xfrm>
                  <a:off x="745" y="499"/>
                  <a:ext cx="396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latin typeface="Verdana" panose="020B0604030504040204" pitchFamily="34" charset="0"/>
                    </a:rPr>
                    <a:t>d</a:t>
                  </a:r>
                  <a:r>
                    <a:rPr lang="en-US" altLang="zh-CN" sz="28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800" b="1" dirty="0"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68" name="Rectangle 224"/>
                <p:cNvSpPr/>
                <p:nvPr/>
              </p:nvSpPr>
              <p:spPr>
                <a:xfrm>
                  <a:off x="702" y="499"/>
                  <a:ext cx="36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106549" name="Group 225"/>
              <p:cNvGrpSpPr/>
              <p:nvPr/>
            </p:nvGrpSpPr>
            <p:grpSpPr>
              <a:xfrm>
                <a:off x="0" y="1209"/>
                <a:ext cx="385" cy="710"/>
                <a:chOff x="0" y="1209"/>
                <a:chExt cx="385" cy="710"/>
              </a:xfrm>
            </p:grpSpPr>
            <p:sp>
              <p:nvSpPr>
                <p:cNvPr id="106565" name="Rectangle 226"/>
                <p:cNvSpPr/>
                <p:nvPr/>
              </p:nvSpPr>
              <p:spPr>
                <a:xfrm>
                  <a:off x="43" y="1209"/>
                  <a:ext cx="342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solidFill>
                        <a:srgbClr val="0033CC"/>
                      </a:solidFill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800" b="1" baseline="-30000" dirty="0">
                      <a:solidFill>
                        <a:srgbClr val="0033CC"/>
                      </a:solidFill>
                      <a:latin typeface="Verdana" panose="020B0604030504040204" pitchFamily="34" charset="0"/>
                    </a:rPr>
                    <a:t>2</a:t>
                  </a:r>
                  <a:endParaRPr lang="en-US" altLang="zh-CN" sz="2800" b="1" dirty="0">
                    <a:solidFill>
                      <a:srgbClr val="0033CC"/>
                    </a:solidFill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66" name="Rectangle 227"/>
                <p:cNvSpPr/>
                <p:nvPr/>
              </p:nvSpPr>
              <p:spPr>
                <a:xfrm>
                  <a:off x="0" y="1209"/>
                  <a:ext cx="342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106550" name="Group 228"/>
              <p:cNvGrpSpPr/>
              <p:nvPr/>
            </p:nvGrpSpPr>
            <p:grpSpPr>
              <a:xfrm>
                <a:off x="342" y="1209"/>
                <a:ext cx="360" cy="710"/>
                <a:chOff x="342" y="1209"/>
                <a:chExt cx="360" cy="710"/>
              </a:xfrm>
            </p:grpSpPr>
            <p:sp>
              <p:nvSpPr>
                <p:cNvPr id="106563" name="Rectangle 229"/>
                <p:cNvSpPr/>
                <p:nvPr/>
              </p:nvSpPr>
              <p:spPr>
                <a:xfrm>
                  <a:off x="385" y="1209"/>
                  <a:ext cx="274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solidFill>
                        <a:srgbClr val="0033CC"/>
                      </a:solidFill>
                      <a:latin typeface="Verdana" panose="020B0604030504040204" pitchFamily="34" charset="0"/>
                    </a:rPr>
                    <a:t>c</a:t>
                  </a:r>
                  <a:r>
                    <a:rPr lang="en-US" altLang="zh-CN" sz="2800" b="1" baseline="-30000" dirty="0">
                      <a:solidFill>
                        <a:srgbClr val="0033CC"/>
                      </a:solidFill>
                      <a:latin typeface="Verdana" panose="020B0604030504040204" pitchFamily="34" charset="0"/>
                    </a:rPr>
                    <a:t>1</a:t>
                  </a:r>
                  <a:endParaRPr lang="en-US" altLang="zh-CN" sz="2800" b="1" dirty="0">
                    <a:solidFill>
                      <a:srgbClr val="0033CC"/>
                    </a:solidFill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64" name="Rectangle 230"/>
                <p:cNvSpPr/>
                <p:nvPr/>
              </p:nvSpPr>
              <p:spPr>
                <a:xfrm>
                  <a:off x="342" y="1209"/>
                  <a:ext cx="36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106551" name="Group 231"/>
              <p:cNvGrpSpPr/>
              <p:nvPr/>
            </p:nvGrpSpPr>
            <p:grpSpPr>
              <a:xfrm>
                <a:off x="702" y="1209"/>
                <a:ext cx="439" cy="710"/>
                <a:chOff x="702" y="1209"/>
                <a:chExt cx="439" cy="710"/>
              </a:xfrm>
            </p:grpSpPr>
            <p:sp>
              <p:nvSpPr>
                <p:cNvPr id="106561" name="Rectangle 232"/>
                <p:cNvSpPr/>
                <p:nvPr/>
              </p:nvSpPr>
              <p:spPr>
                <a:xfrm>
                  <a:off x="745" y="1209"/>
                  <a:ext cx="396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latin typeface="Verdana" panose="020B0604030504040204" pitchFamily="34" charset="0"/>
                    </a:rPr>
                    <a:t>d</a:t>
                  </a:r>
                  <a:r>
                    <a:rPr lang="en-US" altLang="zh-CN" sz="28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800" b="1" dirty="0"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62" name="Rectangle 233"/>
                <p:cNvSpPr/>
                <p:nvPr/>
              </p:nvSpPr>
              <p:spPr>
                <a:xfrm>
                  <a:off x="702" y="1209"/>
                  <a:ext cx="36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106552" name="Group 234"/>
              <p:cNvGrpSpPr/>
              <p:nvPr/>
            </p:nvGrpSpPr>
            <p:grpSpPr>
              <a:xfrm>
                <a:off x="0" y="1919"/>
                <a:ext cx="385" cy="710"/>
                <a:chOff x="0" y="1919"/>
                <a:chExt cx="385" cy="710"/>
              </a:xfrm>
            </p:grpSpPr>
            <p:sp>
              <p:nvSpPr>
                <p:cNvPr id="106559" name="Rectangle 235"/>
                <p:cNvSpPr/>
                <p:nvPr/>
              </p:nvSpPr>
              <p:spPr>
                <a:xfrm>
                  <a:off x="43" y="1919"/>
                  <a:ext cx="342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solidFill>
                        <a:srgbClr val="0033CC"/>
                      </a:solidFill>
                      <a:latin typeface="Verdana" panose="020B0604030504040204" pitchFamily="34" charset="0"/>
                    </a:rPr>
                    <a:t>b</a:t>
                  </a:r>
                  <a:r>
                    <a:rPr lang="en-US" altLang="zh-CN" sz="2800" b="1" baseline="-30000" dirty="0">
                      <a:solidFill>
                        <a:srgbClr val="0033CC"/>
                      </a:solidFill>
                      <a:latin typeface="Verdana" panose="020B0604030504040204" pitchFamily="34" charset="0"/>
                    </a:rPr>
                    <a:t>2</a:t>
                  </a:r>
                  <a:endParaRPr lang="en-US" altLang="zh-CN" sz="2800" b="1" i="1" dirty="0">
                    <a:solidFill>
                      <a:srgbClr val="0033CC"/>
                    </a:solidFill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60" name="Rectangle 236"/>
                <p:cNvSpPr/>
                <p:nvPr/>
              </p:nvSpPr>
              <p:spPr>
                <a:xfrm>
                  <a:off x="0" y="1919"/>
                  <a:ext cx="342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106553" name="Group 237"/>
              <p:cNvGrpSpPr/>
              <p:nvPr/>
            </p:nvGrpSpPr>
            <p:grpSpPr>
              <a:xfrm>
                <a:off x="342" y="1919"/>
                <a:ext cx="360" cy="710"/>
                <a:chOff x="342" y="1919"/>
                <a:chExt cx="360" cy="710"/>
              </a:xfrm>
            </p:grpSpPr>
            <p:sp>
              <p:nvSpPr>
                <p:cNvPr id="106557" name="Rectangle 238"/>
                <p:cNvSpPr/>
                <p:nvPr/>
              </p:nvSpPr>
              <p:spPr>
                <a:xfrm>
                  <a:off x="385" y="1919"/>
                  <a:ext cx="274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solidFill>
                        <a:srgbClr val="0033CC"/>
                      </a:solidFill>
                      <a:latin typeface="Verdana" panose="020B0604030504040204" pitchFamily="34" charset="0"/>
                    </a:rPr>
                    <a:t>c</a:t>
                  </a:r>
                  <a:r>
                    <a:rPr lang="en-US" altLang="zh-CN" sz="2800" b="1" baseline="-30000" dirty="0">
                      <a:solidFill>
                        <a:srgbClr val="0033CC"/>
                      </a:solidFill>
                      <a:latin typeface="Verdana" panose="020B0604030504040204" pitchFamily="34" charset="0"/>
                    </a:rPr>
                    <a:t>3</a:t>
                  </a:r>
                  <a:endParaRPr lang="en-US" altLang="zh-CN" sz="2800" b="1" dirty="0">
                    <a:solidFill>
                      <a:srgbClr val="0033CC"/>
                    </a:solidFill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58" name="Rectangle 239"/>
                <p:cNvSpPr/>
                <p:nvPr/>
              </p:nvSpPr>
              <p:spPr>
                <a:xfrm>
                  <a:off x="342" y="1919"/>
                  <a:ext cx="36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106554" name="Group 240"/>
              <p:cNvGrpSpPr/>
              <p:nvPr/>
            </p:nvGrpSpPr>
            <p:grpSpPr>
              <a:xfrm>
                <a:off x="702" y="1919"/>
                <a:ext cx="439" cy="710"/>
                <a:chOff x="702" y="1919"/>
                <a:chExt cx="439" cy="710"/>
              </a:xfrm>
            </p:grpSpPr>
            <p:sp>
              <p:nvSpPr>
                <p:cNvPr id="106555" name="Rectangle 241"/>
                <p:cNvSpPr/>
                <p:nvPr/>
              </p:nvSpPr>
              <p:spPr>
                <a:xfrm>
                  <a:off x="745" y="1919"/>
                  <a:ext cx="396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latin typeface="Verdana" panose="020B0604030504040204" pitchFamily="34" charset="0"/>
                    </a:rPr>
                    <a:t>d</a:t>
                  </a:r>
                  <a:r>
                    <a:rPr lang="en-US" altLang="zh-CN" sz="2800" b="1" baseline="-30000" dirty="0">
                      <a:latin typeface="Verdana" panose="020B0604030504040204" pitchFamily="34" charset="0"/>
                    </a:rPr>
                    <a:t>2</a:t>
                  </a:r>
                  <a:endParaRPr lang="en-US" altLang="zh-CN" sz="2800" b="1" dirty="0"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56" name="Rectangle 242"/>
                <p:cNvSpPr/>
                <p:nvPr/>
              </p:nvSpPr>
              <p:spPr>
                <a:xfrm>
                  <a:off x="702" y="1919"/>
                  <a:ext cx="36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106542" name="Rectangle 243"/>
            <p:cNvSpPr/>
            <p:nvPr/>
          </p:nvSpPr>
          <p:spPr>
            <a:xfrm>
              <a:off x="-3" y="-3"/>
              <a:ext cx="1068" cy="2635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  <p:sp>
        <p:nvSpPr>
          <p:cNvPr id="106526" name="Rectangle 256"/>
          <p:cNvSpPr/>
          <p:nvPr/>
        </p:nvSpPr>
        <p:spPr>
          <a:xfrm>
            <a:off x="-180975" y="1773238"/>
            <a:ext cx="914400" cy="9144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p>
            <a:pPr algn="ctr" eaLnBrk="1" hangingPunct="1"/>
            <a:r>
              <a:rPr lang="en-US" altLang="zh-CN" sz="2800" b="1" i="1" dirty="0">
                <a:latin typeface="Verdana" panose="020B0604030504040204" pitchFamily="34" charset="0"/>
              </a:rPr>
              <a:t>R</a:t>
            </a:r>
            <a:endParaRPr lang="en-US" altLang="zh-CN" sz="2800" b="1" i="1" dirty="0">
              <a:latin typeface="Verdana" panose="020B0604030504040204" pitchFamily="34" charset="0"/>
            </a:endParaRPr>
          </a:p>
        </p:txBody>
      </p:sp>
      <p:sp>
        <p:nvSpPr>
          <p:cNvPr id="106527" name="Rectangle 257"/>
          <p:cNvSpPr/>
          <p:nvPr/>
        </p:nvSpPr>
        <p:spPr>
          <a:xfrm>
            <a:off x="3708400" y="1196975"/>
            <a:ext cx="914400" cy="9144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/>
          <a:p>
            <a:pPr algn="ctr" eaLnBrk="1" hangingPunct="1"/>
            <a:r>
              <a:rPr lang="en-US" altLang="zh-CN" sz="2800" b="1" i="1" dirty="0">
                <a:latin typeface="Verdana" panose="020B0604030504040204" pitchFamily="34" charset="0"/>
              </a:rPr>
              <a:t>S</a:t>
            </a:r>
            <a:endParaRPr lang="en-US" altLang="zh-CN" sz="2800" b="1" i="1" dirty="0">
              <a:latin typeface="Verdana" panose="020B0604030504040204" pitchFamily="34" charset="0"/>
            </a:endParaRPr>
          </a:p>
        </p:txBody>
      </p:sp>
      <p:sp>
        <p:nvSpPr>
          <p:cNvPr id="443651" name="Rectangle 259"/>
          <p:cNvSpPr>
            <a:spLocks noGrp="1"/>
          </p:cNvSpPr>
          <p:nvPr>
            <p:ph idx="1"/>
          </p:nvPr>
        </p:nvSpPr>
        <p:spPr>
          <a:xfrm>
            <a:off x="3779838" y="2924175"/>
            <a:ext cx="5329237" cy="2763838"/>
          </a:xfrm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sz="2000" dirty="0"/>
              <a:t>关系</a:t>
            </a:r>
            <a:r>
              <a:rPr lang="en-US" altLang="zh-CN" sz="2000" dirty="0"/>
              <a:t>R</a:t>
            </a:r>
            <a:r>
              <a:rPr lang="zh-CN" altLang="en-US" sz="2000" dirty="0"/>
              <a:t>中，</a:t>
            </a:r>
            <a:r>
              <a:rPr lang="en-US" altLang="zh-CN" sz="2000" dirty="0"/>
              <a:t>A</a:t>
            </a:r>
            <a:r>
              <a:rPr lang="zh-CN" altLang="en-US" sz="2000" dirty="0"/>
              <a:t>取值</a:t>
            </a:r>
            <a:r>
              <a:rPr lang="en-US" altLang="zh-CN" sz="2000" dirty="0"/>
              <a:t>{</a:t>
            </a:r>
            <a:r>
              <a:rPr lang="en-US" altLang="zh-CN" sz="2000" i="1" dirty="0"/>
              <a:t>a</a:t>
            </a:r>
            <a:r>
              <a:rPr lang="en-US" altLang="zh-CN" sz="2000" dirty="0"/>
              <a:t>1, </a:t>
            </a:r>
            <a:r>
              <a:rPr lang="en-US" altLang="zh-CN" sz="2000" i="1" dirty="0"/>
              <a:t>a</a:t>
            </a:r>
            <a:r>
              <a:rPr lang="en-US" altLang="zh-CN" sz="2000" dirty="0"/>
              <a:t>2, </a:t>
            </a:r>
            <a:r>
              <a:rPr lang="en-US" altLang="zh-CN" sz="2000" i="1" dirty="0"/>
              <a:t>a</a:t>
            </a:r>
            <a:r>
              <a:rPr lang="en-US" altLang="zh-CN" sz="2000" dirty="0"/>
              <a:t>3, </a:t>
            </a:r>
            <a:r>
              <a:rPr lang="en-US" altLang="zh-CN" sz="2000" i="1" dirty="0"/>
              <a:t>a</a:t>
            </a:r>
            <a:r>
              <a:rPr lang="en-US" altLang="zh-CN" sz="2000" dirty="0"/>
              <a:t>4}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>
              <a:buNone/>
            </a:pPr>
            <a:r>
              <a:rPr lang="en-US" altLang="zh-CN" sz="2000" i="1" dirty="0"/>
              <a:t>a</a:t>
            </a:r>
            <a:r>
              <a:rPr lang="en-US" altLang="zh-CN" sz="2000" dirty="0"/>
              <a:t>1</a:t>
            </a:r>
            <a:r>
              <a:rPr lang="zh-CN" altLang="en-US" sz="2000" dirty="0"/>
              <a:t>象集</a:t>
            </a:r>
            <a:r>
              <a:rPr lang="en-US" altLang="zh-CN" sz="2000" dirty="0"/>
              <a:t>{ (b1,c2),(b2,c3),(b2,c1) }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i="1" dirty="0"/>
              <a:t>a</a:t>
            </a:r>
            <a:r>
              <a:rPr lang="en-US" altLang="zh-CN" sz="2000" dirty="0"/>
              <a:t>2</a:t>
            </a:r>
            <a:r>
              <a:rPr lang="zh-CN" altLang="en-US" sz="2000" dirty="0"/>
              <a:t>象集</a:t>
            </a:r>
            <a:r>
              <a:rPr lang="en-US" altLang="zh-CN" sz="2000" dirty="0"/>
              <a:t>{ (b3,c7),(b2,c3) }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i="1" dirty="0"/>
              <a:t>a</a:t>
            </a:r>
            <a:r>
              <a:rPr lang="en-US" altLang="zh-CN" sz="2000" dirty="0"/>
              <a:t>3</a:t>
            </a:r>
            <a:r>
              <a:rPr lang="zh-CN" altLang="en-US" sz="2000" dirty="0"/>
              <a:t>象集</a:t>
            </a:r>
            <a:r>
              <a:rPr lang="en-US" altLang="zh-CN" sz="2000" dirty="0"/>
              <a:t>{ (b4,c6) }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i="1" dirty="0"/>
              <a:t>a</a:t>
            </a:r>
            <a:r>
              <a:rPr lang="en-US" altLang="zh-CN" sz="2000" dirty="0"/>
              <a:t>4</a:t>
            </a:r>
            <a:r>
              <a:rPr lang="zh-CN" altLang="en-US" sz="2000" dirty="0"/>
              <a:t>象集</a:t>
            </a:r>
            <a:r>
              <a:rPr lang="en-US" altLang="zh-CN" sz="2000" dirty="0"/>
              <a:t>{ (b6,c6) }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S</a:t>
            </a:r>
            <a:r>
              <a:rPr lang="zh-CN" altLang="en-US" sz="2000" dirty="0"/>
              <a:t>在</a:t>
            </a:r>
            <a:r>
              <a:rPr lang="en-US" altLang="zh-CN" sz="2000" dirty="0"/>
              <a:t>(B,C)</a:t>
            </a:r>
            <a:r>
              <a:rPr lang="zh-CN" altLang="en-US" sz="2000" dirty="0"/>
              <a:t>上投影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        </a:t>
            </a:r>
            <a:r>
              <a:rPr lang="en-US" altLang="zh-CN" sz="2000" dirty="0"/>
              <a:t>{ (b1,c2),(b2,c3),(b2,c1) }</a:t>
            </a:r>
            <a:endParaRPr lang="en-US" altLang="zh-CN" sz="2000" dirty="0"/>
          </a:p>
        </p:txBody>
      </p:sp>
      <p:grpSp>
        <p:nvGrpSpPr>
          <p:cNvPr id="2" name="Group 260"/>
          <p:cNvGrpSpPr/>
          <p:nvPr/>
        </p:nvGrpSpPr>
        <p:grpSpPr>
          <a:xfrm>
            <a:off x="7308850" y="1268413"/>
            <a:ext cx="1439863" cy="1524000"/>
            <a:chOff x="-3" y="-3"/>
            <a:chExt cx="907" cy="1503"/>
          </a:xfrm>
        </p:grpSpPr>
        <p:grpSp>
          <p:nvGrpSpPr>
            <p:cNvPr id="106530" name="Group 261"/>
            <p:cNvGrpSpPr/>
            <p:nvPr/>
          </p:nvGrpSpPr>
          <p:grpSpPr>
            <a:xfrm>
              <a:off x="0" y="0"/>
              <a:ext cx="904" cy="1497"/>
              <a:chOff x="0" y="0"/>
              <a:chExt cx="904" cy="1497"/>
            </a:xfrm>
          </p:grpSpPr>
          <p:grpSp>
            <p:nvGrpSpPr>
              <p:cNvPr id="106532" name="Group 262"/>
              <p:cNvGrpSpPr/>
              <p:nvPr/>
            </p:nvGrpSpPr>
            <p:grpSpPr>
              <a:xfrm>
                <a:off x="0" y="0"/>
                <a:ext cx="904" cy="499"/>
                <a:chOff x="0" y="0"/>
                <a:chExt cx="904" cy="499"/>
              </a:xfrm>
            </p:grpSpPr>
            <p:sp>
              <p:nvSpPr>
                <p:cNvPr id="106539" name="Rectangle 263"/>
                <p:cNvSpPr/>
                <p:nvPr/>
              </p:nvSpPr>
              <p:spPr>
                <a:xfrm>
                  <a:off x="43" y="0"/>
                  <a:ext cx="861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latin typeface="Verdana" panose="020B0604030504040204" pitchFamily="34" charset="0"/>
                    </a:rPr>
                    <a:t>R</a:t>
                  </a:r>
                  <a:r>
                    <a:rPr lang="en-US" altLang="zh-CN" sz="2800" b="1" dirty="0">
                      <a:latin typeface="Verdana" panose="020B0604030504040204" pitchFamily="34" charset="0"/>
                    </a:rPr>
                    <a:t>÷</a:t>
                  </a:r>
                  <a:r>
                    <a:rPr lang="en-US" altLang="zh-CN" sz="2800" b="1" i="1" dirty="0">
                      <a:latin typeface="Verdana" panose="020B0604030504040204" pitchFamily="34" charset="0"/>
                    </a:rPr>
                    <a:t>S</a:t>
                  </a:r>
                  <a:endParaRPr lang="en-US" altLang="zh-CN" sz="2800" b="1" dirty="0"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40" name="Rectangle 264"/>
                <p:cNvSpPr/>
                <p:nvPr/>
              </p:nvSpPr>
              <p:spPr>
                <a:xfrm>
                  <a:off x="0" y="0"/>
                  <a:ext cx="738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106533" name="Group 265"/>
              <p:cNvGrpSpPr/>
              <p:nvPr/>
            </p:nvGrpSpPr>
            <p:grpSpPr>
              <a:xfrm>
                <a:off x="0" y="499"/>
                <a:ext cx="738" cy="499"/>
                <a:chOff x="0" y="499"/>
                <a:chExt cx="738" cy="499"/>
              </a:xfrm>
            </p:grpSpPr>
            <p:sp>
              <p:nvSpPr>
                <p:cNvPr id="106537" name="Rectangle 266"/>
                <p:cNvSpPr/>
                <p:nvPr/>
              </p:nvSpPr>
              <p:spPr>
                <a:xfrm>
                  <a:off x="43" y="499"/>
                  <a:ext cx="652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latin typeface="Verdana" panose="020B0604030504040204" pitchFamily="34" charset="0"/>
                    </a:rPr>
                    <a:t>A</a:t>
                  </a:r>
                  <a:endParaRPr lang="en-US" altLang="zh-CN" sz="2800" b="1" dirty="0"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38" name="Rectangle 267"/>
                <p:cNvSpPr/>
                <p:nvPr/>
              </p:nvSpPr>
              <p:spPr>
                <a:xfrm>
                  <a:off x="0" y="499"/>
                  <a:ext cx="738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106534" name="Group 268"/>
              <p:cNvGrpSpPr/>
              <p:nvPr/>
            </p:nvGrpSpPr>
            <p:grpSpPr>
              <a:xfrm>
                <a:off x="0" y="998"/>
                <a:ext cx="738" cy="499"/>
                <a:chOff x="0" y="998"/>
                <a:chExt cx="738" cy="499"/>
              </a:xfrm>
            </p:grpSpPr>
            <p:sp>
              <p:nvSpPr>
                <p:cNvPr id="106535" name="Rectangle 269"/>
                <p:cNvSpPr/>
                <p:nvPr/>
              </p:nvSpPr>
              <p:spPr>
                <a:xfrm>
                  <a:off x="43" y="998"/>
                  <a:ext cx="652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p>
                  <a:pPr algn="ctr" eaLnBrk="1" hangingPunct="1"/>
                  <a:r>
                    <a:rPr lang="en-US" altLang="zh-CN" sz="2800" b="1" i="1" dirty="0">
                      <a:latin typeface="Verdana" panose="020B0604030504040204" pitchFamily="34" charset="0"/>
                    </a:rPr>
                    <a:t>a</a:t>
                  </a:r>
                  <a:r>
                    <a:rPr lang="en-US" altLang="zh-CN" sz="2800" b="1" baseline="-30000" dirty="0">
                      <a:latin typeface="Verdana" panose="020B0604030504040204" pitchFamily="34" charset="0"/>
                    </a:rPr>
                    <a:t>1</a:t>
                  </a:r>
                  <a:endParaRPr lang="en-US" altLang="zh-CN" sz="2800" b="1" dirty="0">
                    <a:latin typeface="Verdana" panose="020B0604030504040204" pitchFamily="34" charset="0"/>
                  </a:endParaRPr>
                </a:p>
                <a:p>
                  <a:pPr algn="ctr"/>
                  <a:endParaRPr lang="en-US" altLang="zh-CN" sz="2800" b="1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6536" name="Rectangle 270"/>
                <p:cNvSpPr/>
                <p:nvPr/>
              </p:nvSpPr>
              <p:spPr>
                <a:xfrm>
                  <a:off x="0" y="998"/>
                  <a:ext cx="738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p>
                  <a:pPr eaLnBrk="1" hangingPunct="1"/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106531" name="Rectangle 271"/>
            <p:cNvSpPr/>
            <p:nvPr/>
          </p:nvSpPr>
          <p:spPr>
            <a:xfrm>
              <a:off x="-3" y="-3"/>
              <a:ext cx="744" cy="1503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5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365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365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51">
                                            <p:txEl>
                                              <p:charRg st="26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3651">
                                            <p:txEl>
                                              <p:charRg st="26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3651">
                                            <p:txEl>
                                              <p:charRg st="26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51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3651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3651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51">
                                            <p:txEl>
                                              <p:charRg st="82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3651">
                                            <p:txEl>
                                              <p:charRg st="82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3651">
                                            <p:txEl>
                                              <p:charRg st="82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51">
                                            <p:txEl>
                                              <p:charRg st="98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3651">
                                            <p:txEl>
                                              <p:charRg st="98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3651">
                                            <p:txEl>
                                              <p:charRg st="98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51">
                                            <p:txEl>
                                              <p:charRg st="114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3651">
                                            <p:txEl>
                                              <p:charRg st="114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3651">
                                            <p:txEl>
                                              <p:charRg st="114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651">
                                            <p:txEl>
                                              <p:charRg st="125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3651">
                                            <p:txEl>
                                              <p:charRg st="125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3651">
                                            <p:txEl>
                                              <p:charRg st="125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651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灯片编号占位符 1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000125" y="1143000"/>
          <a:ext cx="3286125" cy="4937125"/>
        </p:xfrm>
        <a:graphic>
          <a:graphicData uri="http://schemas.openxmlformats.org/drawingml/2006/table">
            <a:tbl>
              <a:tblPr/>
              <a:tblGrid>
                <a:gridCol w="821531"/>
                <a:gridCol w="821531"/>
                <a:gridCol w="821531"/>
                <a:gridCol w="821531"/>
              </a:tblGrid>
              <a:tr h="548569"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           R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485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A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5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a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5485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a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e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85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a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k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85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e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85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l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85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k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85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k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e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148263" y="1052513"/>
          <a:ext cx="2071688" cy="2195513"/>
        </p:xfrm>
        <a:graphic>
          <a:graphicData uri="http://schemas.openxmlformats.org/drawingml/2006/table">
            <a:tbl>
              <a:tblPr/>
              <a:tblGrid>
                <a:gridCol w="1035844"/>
                <a:gridCol w="1035844"/>
              </a:tblGrid>
              <a:tr h="548878"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    S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54887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87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54887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e</a:t>
                      </a:r>
                      <a:endParaRPr lang="zh-CN" sz="24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7579" name="Rectangle 1"/>
          <p:cNvSpPr/>
          <p:nvPr/>
        </p:nvSpPr>
        <p:spPr>
          <a:xfrm>
            <a:off x="142875" y="428625"/>
            <a:ext cx="6538913" cy="8001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indent="69850"/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关系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如下图所示，试计算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R÷S=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？。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indent="69850"/>
            <a:endParaRPr lang="zh-CN" altLang="en-US" dirty="0">
              <a:latin typeface="Verdana" panose="020B0604030504040204" pitchFamily="34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011863" y="4076700"/>
          <a:ext cx="2071688" cy="2195513"/>
        </p:xfrm>
        <a:graphic>
          <a:graphicData uri="http://schemas.openxmlformats.org/drawingml/2006/table">
            <a:tbl>
              <a:tblPr/>
              <a:tblGrid>
                <a:gridCol w="1035844"/>
                <a:gridCol w="1035844"/>
              </a:tblGrid>
              <a:tr h="548878"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    </a:t>
                      </a:r>
                      <a:r>
                        <a:rPr lang="zh-CN" altLang="en-US" sz="2400" kern="10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结果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54887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A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87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10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a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54887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k</a:t>
                      </a:r>
                      <a:endParaRPr lang="zh-CN" sz="24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700338" y="1700213"/>
            <a:ext cx="1584325" cy="4524375"/>
          </a:xfrm>
          <a:prstGeom prst="rect">
            <a:avLst/>
          </a:prstGeom>
          <a:noFill/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03800" y="1557338"/>
            <a:ext cx="2376488" cy="1754187"/>
          </a:xfrm>
          <a:prstGeom prst="rect">
            <a:avLst/>
          </a:prstGeom>
          <a:noFill/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  <a:p>
            <a:pPr eaLnBrk="1" hangingPunct="1"/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灯片编号占位符 2"/>
          <p:cNvSpPr txBox="1">
            <a:spLocks noGrp="1"/>
          </p:cNvSpPr>
          <p:nvPr>
            <p:ph type="sldNum" sz="quarter" idx="12"/>
          </p:nvPr>
        </p:nvSpPr>
        <p:spPr>
          <a:xfrm>
            <a:off x="323850" y="6237288"/>
            <a:ext cx="1033463" cy="6207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08547" name="Text Box 2"/>
          <p:cNvSpPr txBox="1"/>
          <p:nvPr/>
        </p:nvSpPr>
        <p:spPr>
          <a:xfrm>
            <a:off x="179388" y="188913"/>
            <a:ext cx="13684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练习：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graphicFrame>
        <p:nvGraphicFramePr>
          <p:cNvPr id="517290" name="Group 170"/>
          <p:cNvGraphicFramePr>
            <a:graphicFrameLocks noGrp="1"/>
          </p:cNvGraphicFramePr>
          <p:nvPr/>
        </p:nvGraphicFramePr>
        <p:xfrm>
          <a:off x="1739900" y="254000"/>
          <a:ext cx="4200525" cy="4267200"/>
        </p:xfrm>
        <a:graphic>
          <a:graphicData uri="http://schemas.openxmlformats.org/drawingml/2006/table">
            <a:tbl>
              <a:tblPr/>
              <a:tblGrid>
                <a:gridCol w="814388"/>
                <a:gridCol w="1258887"/>
                <a:gridCol w="903288"/>
                <a:gridCol w="1223962"/>
              </a:tblGrid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SNO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SNAME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CNO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CNAME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S1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BAO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DB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S1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BAO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OS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S1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BAO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C3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DS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S1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BAO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C4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MIS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S2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GU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DB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S2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GU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OS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S3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AN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OS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S4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LI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OS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S4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LI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C4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MIS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7269" name="Group 149"/>
          <p:cNvGraphicFramePr>
            <a:graphicFrameLocks noGrp="1"/>
          </p:cNvGraphicFramePr>
          <p:nvPr/>
        </p:nvGraphicFramePr>
        <p:xfrm>
          <a:off x="6516688" y="260350"/>
          <a:ext cx="2376488" cy="854075"/>
        </p:xfrm>
        <a:graphic>
          <a:graphicData uri="http://schemas.openxmlformats.org/drawingml/2006/table">
            <a:tbl>
              <a:tblPr/>
              <a:tblGrid>
                <a:gridCol w="1055687"/>
                <a:gridCol w="1320800"/>
              </a:tblGrid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CNO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54" marB="4575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CNAME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54" marB="4575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54" marB="4575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OS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54" marB="4575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7270" name="Group 150"/>
          <p:cNvGraphicFramePr>
            <a:graphicFrameLocks noGrp="1"/>
          </p:cNvGraphicFramePr>
          <p:nvPr/>
        </p:nvGraphicFramePr>
        <p:xfrm>
          <a:off x="6515100" y="1196975"/>
          <a:ext cx="2089150" cy="1279525"/>
        </p:xfrm>
        <a:graphic>
          <a:graphicData uri="http://schemas.openxmlformats.org/drawingml/2006/table">
            <a:tbl>
              <a:tblPr/>
              <a:tblGrid>
                <a:gridCol w="865188"/>
                <a:gridCol w="1223962"/>
              </a:tblGrid>
              <a:tr h="4265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CNO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16" marB="456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CNAME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16" marB="45616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5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16" marB="456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OS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16" marB="45616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5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C4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16" marB="456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MIS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16" marB="45616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8625" name="Text Box 96"/>
          <p:cNvSpPr txBox="1"/>
          <p:nvPr/>
        </p:nvSpPr>
        <p:spPr>
          <a:xfrm>
            <a:off x="1258888" y="260350"/>
            <a:ext cx="5762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E02920"/>
                </a:solidFill>
                <a:latin typeface="Verdana" panose="020B0604030504040204" pitchFamily="34" charset="0"/>
              </a:rPr>
              <a:t>R</a:t>
            </a:r>
            <a:endParaRPr lang="en-US" altLang="zh-CN" sz="2400" b="1" dirty="0">
              <a:solidFill>
                <a:srgbClr val="E02920"/>
              </a:solidFill>
              <a:latin typeface="Verdana" panose="020B0604030504040204" pitchFamily="34" charset="0"/>
            </a:endParaRPr>
          </a:p>
        </p:txBody>
      </p:sp>
      <p:sp>
        <p:nvSpPr>
          <p:cNvPr id="108626" name="Text Box 97"/>
          <p:cNvSpPr txBox="1"/>
          <p:nvPr/>
        </p:nvSpPr>
        <p:spPr>
          <a:xfrm>
            <a:off x="5940425" y="260350"/>
            <a:ext cx="5762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E02920"/>
                </a:solidFill>
                <a:latin typeface="Verdana" panose="020B0604030504040204" pitchFamily="34" charset="0"/>
              </a:rPr>
              <a:t>S1</a:t>
            </a:r>
            <a:endParaRPr lang="en-US" altLang="zh-CN" sz="2400" b="1" dirty="0">
              <a:solidFill>
                <a:srgbClr val="E02920"/>
              </a:solidFill>
              <a:latin typeface="Verdana" panose="020B0604030504040204" pitchFamily="34" charset="0"/>
            </a:endParaRPr>
          </a:p>
        </p:txBody>
      </p:sp>
      <p:sp>
        <p:nvSpPr>
          <p:cNvPr id="108627" name="Text Box 98"/>
          <p:cNvSpPr txBox="1"/>
          <p:nvPr/>
        </p:nvSpPr>
        <p:spPr>
          <a:xfrm>
            <a:off x="5940425" y="1125538"/>
            <a:ext cx="5762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E02920"/>
                </a:solidFill>
                <a:latin typeface="Verdana" panose="020B0604030504040204" pitchFamily="34" charset="0"/>
              </a:rPr>
              <a:t>S2</a:t>
            </a:r>
            <a:endParaRPr lang="en-US" altLang="zh-CN" sz="2400" b="1" dirty="0">
              <a:solidFill>
                <a:srgbClr val="E02920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517288" name="Group 168"/>
          <p:cNvGraphicFramePr>
            <a:graphicFrameLocks noGrp="1"/>
          </p:cNvGraphicFramePr>
          <p:nvPr/>
        </p:nvGraphicFramePr>
        <p:xfrm>
          <a:off x="179388" y="2276475"/>
          <a:ext cx="1512888" cy="1706563"/>
        </p:xfrm>
        <a:graphic>
          <a:graphicData uri="http://schemas.openxmlformats.org/drawingml/2006/table">
            <a:tbl>
              <a:tblPr/>
              <a:tblGrid>
                <a:gridCol w="677862"/>
                <a:gridCol w="835025"/>
              </a:tblGrid>
              <a:tr h="4266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S1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BAO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S2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GU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S3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AN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S4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LI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7278" name="Group 158"/>
          <p:cNvGraphicFramePr>
            <a:graphicFrameLocks noGrp="1"/>
          </p:cNvGraphicFramePr>
          <p:nvPr/>
        </p:nvGraphicFramePr>
        <p:xfrm>
          <a:off x="6492875" y="5229225"/>
          <a:ext cx="2255838" cy="854075"/>
        </p:xfrm>
        <a:graphic>
          <a:graphicData uri="http://schemas.openxmlformats.org/drawingml/2006/table">
            <a:tbl>
              <a:tblPr/>
              <a:tblGrid>
                <a:gridCol w="981075"/>
                <a:gridCol w="1274763"/>
              </a:tblGrid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SNO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54" marB="4575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SNAME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54" marB="4575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S1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54" marB="4575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BAO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54" marB="45754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8654" name="Text Box 143"/>
          <p:cNvSpPr txBox="1"/>
          <p:nvPr/>
        </p:nvSpPr>
        <p:spPr>
          <a:xfrm>
            <a:off x="468313" y="4149725"/>
            <a:ext cx="1800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E02920"/>
                </a:solidFill>
                <a:latin typeface="Verdana" panose="020B0604030504040204" pitchFamily="34" charset="0"/>
              </a:rPr>
              <a:t>R÷S1</a:t>
            </a:r>
            <a:endParaRPr lang="en-US" altLang="zh-CN" sz="2400" b="1" dirty="0">
              <a:solidFill>
                <a:srgbClr val="E02920"/>
              </a:solidFill>
              <a:latin typeface="Verdana" panose="020B0604030504040204" pitchFamily="34" charset="0"/>
            </a:endParaRPr>
          </a:p>
        </p:txBody>
      </p:sp>
      <p:sp>
        <p:nvSpPr>
          <p:cNvPr id="108655" name="Text Box 144"/>
          <p:cNvSpPr txBox="1"/>
          <p:nvPr/>
        </p:nvSpPr>
        <p:spPr>
          <a:xfrm>
            <a:off x="6443663" y="4797425"/>
            <a:ext cx="1800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E02920"/>
                </a:solidFill>
                <a:latin typeface="Verdana" panose="020B0604030504040204" pitchFamily="34" charset="0"/>
              </a:rPr>
              <a:t>R÷S3</a:t>
            </a:r>
            <a:endParaRPr lang="en-US" altLang="zh-CN" sz="2400" b="1" dirty="0">
              <a:solidFill>
                <a:srgbClr val="E02920"/>
              </a:solidFill>
              <a:latin typeface="Verdana" panose="020B0604030504040204" pitchFamily="34" charset="0"/>
            </a:endParaRPr>
          </a:p>
        </p:txBody>
      </p:sp>
      <p:sp>
        <p:nvSpPr>
          <p:cNvPr id="517283" name="Rectangle 163"/>
          <p:cNvSpPr/>
          <p:nvPr/>
        </p:nvSpPr>
        <p:spPr>
          <a:xfrm>
            <a:off x="3779838" y="692150"/>
            <a:ext cx="1944687" cy="1657350"/>
          </a:xfrm>
          <a:prstGeom prst="rect">
            <a:avLst/>
          </a:prstGeom>
          <a:noFill/>
          <a:ln w="254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517284" name="Rectangle 164"/>
          <p:cNvSpPr/>
          <p:nvPr/>
        </p:nvSpPr>
        <p:spPr>
          <a:xfrm>
            <a:off x="3779838" y="2420938"/>
            <a:ext cx="1944687" cy="792162"/>
          </a:xfrm>
          <a:prstGeom prst="rect">
            <a:avLst/>
          </a:prstGeom>
          <a:noFill/>
          <a:ln w="25400" cap="sq" cmpd="sng">
            <a:solidFill>
              <a:srgbClr val="FF00FF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517285" name="Rectangle 165"/>
          <p:cNvSpPr/>
          <p:nvPr/>
        </p:nvSpPr>
        <p:spPr>
          <a:xfrm>
            <a:off x="3708400" y="3284538"/>
            <a:ext cx="2016125" cy="360362"/>
          </a:xfrm>
          <a:prstGeom prst="rect">
            <a:avLst/>
          </a:prstGeom>
          <a:noFill/>
          <a:ln w="25400" cap="sq" cmpd="sng">
            <a:solidFill>
              <a:schemeClr val="hlink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517286" name="Rectangle 166"/>
          <p:cNvSpPr/>
          <p:nvPr/>
        </p:nvSpPr>
        <p:spPr>
          <a:xfrm>
            <a:off x="3708400" y="3716338"/>
            <a:ext cx="2016125" cy="720725"/>
          </a:xfrm>
          <a:prstGeom prst="rect">
            <a:avLst/>
          </a:prstGeom>
          <a:noFill/>
          <a:ln w="25400" cap="sq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517291" name="Rectangle 171"/>
          <p:cNvSpPr/>
          <p:nvPr/>
        </p:nvSpPr>
        <p:spPr>
          <a:xfrm>
            <a:off x="6588125" y="692150"/>
            <a:ext cx="2087563" cy="433388"/>
          </a:xfrm>
          <a:prstGeom prst="rect">
            <a:avLst/>
          </a:prstGeom>
          <a:noFill/>
          <a:ln w="38100" cap="sq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8661" name="Text Box 172"/>
          <p:cNvSpPr txBox="1"/>
          <p:nvPr/>
        </p:nvSpPr>
        <p:spPr>
          <a:xfrm>
            <a:off x="6011863" y="2565400"/>
            <a:ext cx="5762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E02920"/>
                </a:solidFill>
                <a:latin typeface="Verdana" panose="020B0604030504040204" pitchFamily="34" charset="0"/>
              </a:rPr>
              <a:t>S3</a:t>
            </a:r>
            <a:endParaRPr lang="en-US" altLang="zh-CN" sz="2400" b="1" dirty="0">
              <a:solidFill>
                <a:srgbClr val="E02920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517309" name="Group 189"/>
          <p:cNvGraphicFramePr>
            <a:graphicFrameLocks noGrp="1"/>
          </p:cNvGraphicFramePr>
          <p:nvPr/>
        </p:nvGraphicFramePr>
        <p:xfrm>
          <a:off x="6588125" y="2708275"/>
          <a:ext cx="2305050" cy="1706563"/>
        </p:xfrm>
        <a:graphic>
          <a:graphicData uri="http://schemas.openxmlformats.org/drawingml/2006/table">
            <a:tbl>
              <a:tblPr/>
              <a:tblGrid>
                <a:gridCol w="1031875"/>
                <a:gridCol w="1273175"/>
              </a:tblGrid>
              <a:tr h="4266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CNO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CNAME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C1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DB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C2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OS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C4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MIS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82" marB="4568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7344" name="Group 224"/>
          <p:cNvGraphicFramePr>
            <a:graphicFrameLocks noGrp="1"/>
          </p:cNvGraphicFramePr>
          <p:nvPr/>
        </p:nvGraphicFramePr>
        <p:xfrm>
          <a:off x="539750" y="4581525"/>
          <a:ext cx="2232025" cy="2144713"/>
        </p:xfrm>
        <a:graphic>
          <a:graphicData uri="http://schemas.openxmlformats.org/drawingml/2006/table">
            <a:tbl>
              <a:tblPr/>
              <a:tblGrid>
                <a:gridCol w="1001713"/>
                <a:gridCol w="1230312"/>
              </a:tblGrid>
              <a:tr h="4266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SNO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SNAME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79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S1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BAO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S2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GU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S3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AN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S4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LI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8697" name="Text Box 209"/>
          <p:cNvSpPr txBox="1"/>
          <p:nvPr/>
        </p:nvSpPr>
        <p:spPr>
          <a:xfrm>
            <a:off x="3419475" y="4652963"/>
            <a:ext cx="1800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E02920"/>
                </a:solidFill>
                <a:latin typeface="Verdana" panose="020B0604030504040204" pitchFamily="34" charset="0"/>
              </a:rPr>
              <a:t>R÷S2</a:t>
            </a:r>
            <a:endParaRPr lang="en-US" altLang="zh-CN" sz="2400" b="1" dirty="0">
              <a:solidFill>
                <a:srgbClr val="E02920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517330" name="Group 210"/>
          <p:cNvGraphicFramePr>
            <a:graphicFrameLocks noGrp="1"/>
          </p:cNvGraphicFramePr>
          <p:nvPr/>
        </p:nvGraphicFramePr>
        <p:xfrm>
          <a:off x="3492500" y="5084763"/>
          <a:ext cx="2159000" cy="1301750"/>
        </p:xfrm>
        <a:graphic>
          <a:graphicData uri="http://schemas.openxmlformats.org/drawingml/2006/table">
            <a:tbl>
              <a:tblPr/>
              <a:tblGrid>
                <a:gridCol w="879475"/>
                <a:gridCol w="1279525"/>
              </a:tblGrid>
              <a:tr h="4268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SNO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SNAME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31" marB="4573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6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S1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BAO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31" marB="4573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2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S4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LI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31" marB="4573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7343" name="Rectangle 223"/>
          <p:cNvSpPr/>
          <p:nvPr/>
        </p:nvSpPr>
        <p:spPr>
          <a:xfrm>
            <a:off x="0" y="1196975"/>
            <a:ext cx="1547813" cy="8636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400" b="1" dirty="0">
                <a:latin typeface="Verdana" panose="020B0604030504040204" pitchFamily="34" charset="0"/>
              </a:rPr>
              <a:t>R</a:t>
            </a:r>
            <a:r>
              <a:rPr lang="zh-CN" altLang="en-US" sz="2400" b="1" dirty="0">
                <a:latin typeface="Verdana" panose="020B0604030504040204" pitchFamily="34" charset="0"/>
              </a:rPr>
              <a:t>中属性</a:t>
            </a:r>
            <a:endParaRPr lang="zh-CN" altLang="en-US" sz="2400" b="1" dirty="0">
              <a:latin typeface="Verdana" panose="020B0604030504040204" pitchFamily="34" charset="0"/>
            </a:endParaRPr>
          </a:p>
          <a:p>
            <a:pPr algn="ctr" eaLnBrk="1" hangingPunct="1"/>
            <a:r>
              <a:rPr lang="en-US" altLang="zh-CN" sz="2400" b="1" dirty="0">
                <a:latin typeface="Verdana" panose="020B0604030504040204" pitchFamily="34" charset="0"/>
              </a:rPr>
              <a:t>(</a:t>
            </a:r>
            <a:r>
              <a:rPr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SNO SNAME</a:t>
            </a:r>
            <a:r>
              <a:rPr lang="en-US" altLang="zh-CN" sz="2400" b="1" dirty="0">
                <a:latin typeface="Verdana" panose="020B0604030504040204" pitchFamily="34" charset="0"/>
              </a:rPr>
              <a:t>)</a:t>
            </a:r>
            <a:endParaRPr lang="en-US" altLang="zh-CN" sz="2400" b="1" dirty="0">
              <a:latin typeface="Verdana" panose="020B0604030504040204" pitchFamily="34" charset="0"/>
            </a:endParaRPr>
          </a:p>
          <a:p>
            <a:pPr algn="ctr" eaLnBrk="1" hangingPunct="1"/>
            <a:r>
              <a:rPr lang="zh-CN" altLang="en-US" sz="2400" b="1" dirty="0">
                <a:latin typeface="Verdana" panose="020B0604030504040204" pitchFamily="34" charset="0"/>
              </a:rPr>
              <a:t>的分量值</a:t>
            </a:r>
            <a:endParaRPr lang="zh-CN" altLang="en-US" sz="2400" b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7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7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7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7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7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7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7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7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7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1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17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7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1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51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7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17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7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17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51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5" dur="2000"/>
                                        <p:tgtEl>
                                          <p:spTgt spid="517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283" grpId="0" animBg="1"/>
      <p:bldP spid="517284" grpId="0" animBg="1"/>
      <p:bldP spid="517285" grpId="0" animBg="1"/>
      <p:bldP spid="517286" grpId="0" animBg="1"/>
      <p:bldP spid="517291" grpId="0" animBg="1"/>
      <p:bldP spid="517343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除的实际意义</a:t>
            </a:r>
            <a:endParaRPr lang="zh-CN" altLang="en-US" dirty="0"/>
          </a:p>
        </p:txBody>
      </p:sp>
      <p:sp>
        <p:nvSpPr>
          <p:cNvPr id="109571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US" altLang="zh-CN" dirty="0">
                <a:solidFill>
                  <a:srgbClr val="E02920"/>
                </a:solidFill>
              </a:rPr>
              <a:t>R÷S1 </a:t>
            </a:r>
            <a:r>
              <a:rPr lang="zh-CN" altLang="en-US" dirty="0">
                <a:solidFill>
                  <a:srgbClr val="E02920"/>
                </a:solidFill>
              </a:rPr>
              <a:t>选修了</a:t>
            </a:r>
            <a:r>
              <a:rPr lang="en-US" altLang="zh-CN" dirty="0">
                <a:solidFill>
                  <a:srgbClr val="E02920"/>
                </a:solidFill>
              </a:rPr>
              <a:t>C2</a:t>
            </a:r>
            <a:r>
              <a:rPr lang="zh-CN" altLang="en-US" dirty="0">
                <a:solidFill>
                  <a:srgbClr val="E02920"/>
                </a:solidFill>
              </a:rPr>
              <a:t>这门课的学生</a:t>
            </a:r>
            <a:endParaRPr lang="en-US" altLang="zh-CN" dirty="0">
              <a:solidFill>
                <a:srgbClr val="E02920"/>
              </a:solidFill>
            </a:endParaRPr>
          </a:p>
          <a:p>
            <a:r>
              <a:rPr lang="en-US" altLang="zh-CN" dirty="0">
                <a:solidFill>
                  <a:srgbClr val="E02920"/>
                </a:solidFill>
              </a:rPr>
              <a:t>R÷S2</a:t>
            </a:r>
            <a:r>
              <a:rPr lang="zh-CN" altLang="en-US" dirty="0">
                <a:solidFill>
                  <a:srgbClr val="E02920"/>
                </a:solidFill>
              </a:rPr>
              <a:t>选修了</a:t>
            </a:r>
            <a:r>
              <a:rPr lang="en-US" altLang="zh-CN" dirty="0">
                <a:solidFill>
                  <a:srgbClr val="E02920"/>
                </a:solidFill>
              </a:rPr>
              <a:t>C2</a:t>
            </a:r>
            <a:r>
              <a:rPr lang="zh-CN" altLang="en-US" dirty="0">
                <a:solidFill>
                  <a:srgbClr val="E02920"/>
                </a:solidFill>
              </a:rPr>
              <a:t>和</a:t>
            </a:r>
            <a:r>
              <a:rPr lang="en-US" altLang="zh-CN" dirty="0">
                <a:solidFill>
                  <a:srgbClr val="E02920"/>
                </a:solidFill>
              </a:rPr>
              <a:t>C4</a:t>
            </a:r>
            <a:r>
              <a:rPr lang="zh-CN" altLang="en-US" dirty="0">
                <a:solidFill>
                  <a:srgbClr val="E02920"/>
                </a:solidFill>
              </a:rPr>
              <a:t>这</a:t>
            </a:r>
            <a:r>
              <a:rPr lang="en-US" altLang="zh-CN" dirty="0">
                <a:solidFill>
                  <a:srgbClr val="E02920"/>
                </a:solidFill>
              </a:rPr>
              <a:t>2</a:t>
            </a:r>
            <a:r>
              <a:rPr lang="zh-CN" altLang="en-US" dirty="0">
                <a:solidFill>
                  <a:srgbClr val="E02920"/>
                </a:solidFill>
              </a:rPr>
              <a:t>门课的学生</a:t>
            </a:r>
            <a:endParaRPr lang="en-US" altLang="zh-CN" dirty="0">
              <a:solidFill>
                <a:srgbClr val="E02920"/>
              </a:solidFill>
            </a:endParaRPr>
          </a:p>
          <a:p>
            <a:r>
              <a:rPr lang="en-US" altLang="zh-CN" dirty="0">
                <a:solidFill>
                  <a:srgbClr val="E02920"/>
                </a:solidFill>
              </a:rPr>
              <a:t>R÷S3</a:t>
            </a:r>
            <a:r>
              <a:rPr lang="zh-CN" altLang="en-US" dirty="0">
                <a:solidFill>
                  <a:srgbClr val="E02920"/>
                </a:solidFill>
              </a:rPr>
              <a:t>选修了</a:t>
            </a:r>
            <a:r>
              <a:rPr lang="en-US" altLang="zh-CN" dirty="0">
                <a:solidFill>
                  <a:srgbClr val="E02920"/>
                </a:solidFill>
              </a:rPr>
              <a:t>C1</a:t>
            </a:r>
            <a:r>
              <a:rPr lang="zh-CN" altLang="en-US" dirty="0">
                <a:solidFill>
                  <a:srgbClr val="E02920"/>
                </a:solidFill>
              </a:rPr>
              <a:t>、</a:t>
            </a:r>
            <a:r>
              <a:rPr lang="en-US" altLang="zh-CN" dirty="0">
                <a:solidFill>
                  <a:srgbClr val="E02920"/>
                </a:solidFill>
              </a:rPr>
              <a:t>C2</a:t>
            </a:r>
            <a:r>
              <a:rPr lang="zh-CN" altLang="en-US" dirty="0">
                <a:solidFill>
                  <a:srgbClr val="E02920"/>
                </a:solidFill>
              </a:rPr>
              <a:t>和</a:t>
            </a:r>
            <a:r>
              <a:rPr lang="en-US" altLang="zh-CN" dirty="0">
                <a:solidFill>
                  <a:srgbClr val="E02920"/>
                </a:solidFill>
              </a:rPr>
              <a:t>C4</a:t>
            </a:r>
            <a:r>
              <a:rPr lang="zh-CN" altLang="en-US" dirty="0">
                <a:solidFill>
                  <a:srgbClr val="E02920"/>
                </a:solidFill>
              </a:rPr>
              <a:t>这</a:t>
            </a:r>
            <a:r>
              <a:rPr lang="en-US" altLang="zh-CN" dirty="0">
                <a:solidFill>
                  <a:srgbClr val="E02920"/>
                </a:solidFill>
              </a:rPr>
              <a:t>3</a:t>
            </a:r>
            <a:r>
              <a:rPr lang="zh-CN" altLang="en-US" dirty="0">
                <a:solidFill>
                  <a:srgbClr val="E02920"/>
                </a:solidFill>
              </a:rPr>
              <a:t>门课的学生</a:t>
            </a:r>
            <a:endParaRPr lang="en-US" altLang="zh-CN" dirty="0">
              <a:solidFill>
                <a:srgbClr val="E02920"/>
              </a:solidFill>
            </a:endParaRPr>
          </a:p>
          <a:p>
            <a:endParaRPr lang="en-US" altLang="zh-CN" dirty="0">
              <a:solidFill>
                <a:srgbClr val="E02920"/>
              </a:solidFill>
            </a:endParaRPr>
          </a:p>
          <a:p>
            <a:endParaRPr lang="zh-CN" altLang="en-US" dirty="0"/>
          </a:p>
        </p:txBody>
      </p:sp>
      <p:sp>
        <p:nvSpPr>
          <p:cNvPr id="109572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323850" y="6237288"/>
            <a:ext cx="1104900" cy="6207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advClick="0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三张表</a:t>
            </a:r>
            <a:endParaRPr lang="zh-CN" altLang="en-US" sz="3200" dirty="0"/>
          </a:p>
        </p:txBody>
      </p:sp>
      <p:graphicFrame>
        <p:nvGraphicFramePr>
          <p:cNvPr id="450744" name="Group 184"/>
          <p:cNvGraphicFramePr>
            <a:graphicFrameLocks noGrp="1"/>
          </p:cNvGraphicFramePr>
          <p:nvPr>
            <p:ph sz="half" idx="1"/>
          </p:nvPr>
        </p:nvGraphicFramePr>
        <p:xfrm>
          <a:off x="457200" y="3644900"/>
          <a:ext cx="4038600" cy="2454275"/>
        </p:xfrm>
        <a:graphic>
          <a:graphicData uri="http://schemas.openxmlformats.org/drawingml/2006/table">
            <a:tbl>
              <a:tblPr/>
              <a:tblGrid>
                <a:gridCol w="884238"/>
                <a:gridCol w="1274762"/>
                <a:gridCol w="904875"/>
                <a:gridCol w="974725"/>
              </a:tblGrid>
              <a:tr h="6129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课程名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Cname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先行课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学分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Ccredit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13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数学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信息系统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数据结构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数据处理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PASCAL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语言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50697" name="Group 137"/>
          <p:cNvGraphicFramePr>
            <a:graphicFrameLocks noGrp="1"/>
          </p:cNvGraphicFramePr>
          <p:nvPr/>
        </p:nvGraphicFramePr>
        <p:xfrm>
          <a:off x="468313" y="1700213"/>
          <a:ext cx="5113338" cy="1538288"/>
        </p:xfrm>
        <a:graphic>
          <a:graphicData uri="http://schemas.openxmlformats.org/drawingml/2006/table">
            <a:tbl>
              <a:tblPr/>
              <a:tblGrid>
                <a:gridCol w="1223962"/>
                <a:gridCol w="1008063"/>
                <a:gridCol w="936625"/>
                <a:gridCol w="936625"/>
                <a:gridCol w="1008062"/>
              </a:tblGrid>
              <a:tr h="518110"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  号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Sno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姓  名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Sname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性  别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Ssex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67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年  龄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2667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Sage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133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所 在 系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1333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Sdept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20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200215121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200215122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200215123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200515125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李勇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刘晨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王敏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张立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女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男</a:t>
                      </a:r>
                      <a:endParaRPr kumimoji="1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CS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</a:t>
                      </a:r>
                      <a:endParaRPr kumimoji="1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95" marB="4569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50743" name="Group 183"/>
          <p:cNvGraphicFramePr>
            <a:graphicFrameLocks noGrp="1"/>
          </p:cNvGraphicFramePr>
          <p:nvPr>
            <p:ph sz="half" idx="1"/>
          </p:nvPr>
        </p:nvGraphicFramePr>
        <p:xfrm>
          <a:off x="4859338" y="3705225"/>
          <a:ext cx="4038600" cy="1889125"/>
        </p:xfrm>
        <a:graphic>
          <a:graphicData uri="http://schemas.openxmlformats.org/drawingml/2006/table">
            <a:tbl>
              <a:tblPr/>
              <a:tblGrid>
                <a:gridCol w="1639887"/>
                <a:gridCol w="1114425"/>
                <a:gridCol w="1284288"/>
              </a:tblGrid>
              <a:tr h="5605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 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成绩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Grade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285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200215122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3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92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85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88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90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80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75" marB="455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0640" name="Rectangle 185"/>
          <p:cNvSpPr/>
          <p:nvPr/>
        </p:nvSpPr>
        <p:spPr>
          <a:xfrm>
            <a:off x="2195513" y="1341438"/>
            <a:ext cx="8826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en-US" altLang="zh-CN" dirty="0">
                <a:latin typeface="Verdana" panose="020B0604030504040204" pitchFamily="34" charset="0"/>
              </a:rPr>
              <a:t>Student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110641" name="Rectangle 186"/>
          <p:cNvSpPr/>
          <p:nvPr/>
        </p:nvSpPr>
        <p:spPr>
          <a:xfrm>
            <a:off x="2124075" y="3284538"/>
            <a:ext cx="8318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en-US" altLang="zh-CN" dirty="0">
                <a:latin typeface="Verdana" panose="020B0604030504040204" pitchFamily="34" charset="0"/>
              </a:rPr>
              <a:t>Course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110642" name="Rectangle 187"/>
          <p:cNvSpPr/>
          <p:nvPr/>
        </p:nvSpPr>
        <p:spPr>
          <a:xfrm>
            <a:off x="6732588" y="3284538"/>
            <a:ext cx="4635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en-US" altLang="zh-CN" dirty="0">
                <a:latin typeface="Verdana" panose="020B0604030504040204" pitchFamily="34" charset="0"/>
              </a:rPr>
              <a:t>SC</a:t>
            </a:r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23850" y="6237288"/>
            <a:ext cx="1176338" cy="6207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1161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综合举例 </a:t>
            </a:r>
            <a:endParaRPr lang="zh-CN" altLang="en-US" dirty="0"/>
          </a:p>
        </p:txBody>
      </p:sp>
      <p:sp>
        <p:nvSpPr>
          <p:cNvPr id="110596" name="Rectangle 3"/>
          <p:cNvSpPr>
            <a:spLocks noGrp="1"/>
          </p:cNvSpPr>
          <p:nvPr>
            <p:ph idx="1"/>
          </p:nvPr>
        </p:nvSpPr>
        <p:spPr>
          <a:xfrm>
            <a:off x="250825" y="1412875"/>
            <a:ext cx="8229600" cy="2808288"/>
          </a:xfrm>
          <a:ln/>
        </p:spPr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zh-CN" altLang="en-US" dirty="0"/>
              <a:t>以学生</a:t>
            </a:r>
            <a:r>
              <a:rPr lang="en-US" altLang="zh-CN" dirty="0"/>
              <a:t>-</a:t>
            </a:r>
            <a:r>
              <a:rPr lang="zh-CN" altLang="en-US" dirty="0"/>
              <a:t>课程数据库为例 </a:t>
            </a:r>
            <a:r>
              <a:rPr lang="en-US" altLang="zh-CN" dirty="0"/>
              <a:t>p52</a:t>
            </a:r>
            <a:endParaRPr lang="en-US" altLang="zh-CN" dirty="0"/>
          </a:p>
          <a:p>
            <a:pPr algn="just">
              <a:buNone/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7]  </a:t>
            </a:r>
            <a:r>
              <a:rPr lang="zh-CN" altLang="en-US" dirty="0"/>
              <a:t>查询至少选修</a:t>
            </a:r>
            <a:r>
              <a:rPr lang="en-US" altLang="zh-CN" dirty="0"/>
              <a:t>1</a:t>
            </a:r>
            <a:r>
              <a:rPr lang="zh-CN" altLang="en-US" dirty="0"/>
              <a:t>号课程和</a:t>
            </a:r>
            <a:r>
              <a:rPr lang="en-US" altLang="zh-CN" dirty="0"/>
              <a:t>3</a:t>
            </a:r>
            <a:r>
              <a:rPr lang="zh-CN" altLang="en-US" dirty="0"/>
              <a:t>号课程的学生学号</a:t>
            </a:r>
            <a:endParaRPr lang="en-US" altLang="zh-CN" dirty="0"/>
          </a:p>
          <a:p>
            <a:pPr marL="819150" lvl="1" indent="-436245">
              <a:buNone/>
            </a:pPr>
            <a:r>
              <a:rPr lang="zh-CN" altLang="en-US" dirty="0"/>
              <a:t>首先建立一个临时关系</a:t>
            </a:r>
            <a:r>
              <a:rPr lang="en-US" altLang="zh-CN" i="1" dirty="0"/>
              <a:t>K</a:t>
            </a:r>
            <a:r>
              <a:rPr lang="zh-CN" altLang="en-US" dirty="0"/>
              <a:t>： </a:t>
            </a:r>
            <a:endParaRPr lang="zh-CN" altLang="en-US" dirty="0"/>
          </a:p>
          <a:p>
            <a:pPr marL="819150" lvl="1" indent="-436245" algn="just">
              <a:buNone/>
            </a:pPr>
            <a:r>
              <a:rPr lang="zh-CN" altLang="en-US" dirty="0"/>
              <a:t>然后求：</a:t>
            </a:r>
            <a:r>
              <a:rPr lang="en-US" altLang="zh-CN" dirty="0"/>
              <a:t>π</a:t>
            </a:r>
            <a:r>
              <a:rPr lang="en-US" altLang="zh-CN" baseline="-30000" dirty="0"/>
              <a:t>Sno</a:t>
            </a:r>
            <a:r>
              <a:rPr lang="zh-CN" altLang="en-US" baseline="-30000" dirty="0"/>
              <a:t>，</a:t>
            </a:r>
            <a:r>
              <a:rPr lang="en-US" altLang="zh-CN" baseline="-30000" dirty="0"/>
              <a:t>Cno</a:t>
            </a:r>
            <a:r>
              <a:rPr lang="en-US" altLang="zh-CN" dirty="0"/>
              <a:t>(SC)÷</a:t>
            </a:r>
            <a:r>
              <a:rPr lang="en-US" altLang="zh-CN" i="1" dirty="0"/>
              <a:t>K</a:t>
            </a:r>
            <a:endParaRPr lang="en-US" altLang="zh-CN" i="1" dirty="0"/>
          </a:p>
          <a:p>
            <a:pPr marL="819150" lvl="1" indent="-436245" algn="just">
              <a:buNone/>
            </a:pPr>
            <a:endParaRPr lang="en-US" altLang="zh-CN" i="1" dirty="0"/>
          </a:p>
          <a:p>
            <a:pPr marL="819150" lvl="1" indent="-436245" algn="just">
              <a:buNone/>
            </a:pPr>
            <a:r>
              <a:rPr lang="en-US" altLang="zh-CN" sz="2400" dirty="0"/>
              <a:t>	</a:t>
            </a:r>
            <a:endParaRPr lang="en-US" altLang="zh-CN" sz="2400" dirty="0"/>
          </a:p>
        </p:txBody>
      </p:sp>
      <p:graphicFrame>
        <p:nvGraphicFramePr>
          <p:cNvPr id="359445" name="Group 21"/>
          <p:cNvGraphicFramePr>
            <a:graphicFrameLocks noGrp="1"/>
          </p:cNvGraphicFramePr>
          <p:nvPr/>
        </p:nvGraphicFramePr>
        <p:xfrm>
          <a:off x="5867400" y="2781300"/>
          <a:ext cx="1066800" cy="1554163"/>
        </p:xfrm>
        <a:graphic>
          <a:graphicData uri="http://schemas.openxmlformats.org/drawingml/2006/table">
            <a:tbl>
              <a:tblPr/>
              <a:tblGrid>
                <a:gridCol w="1066800"/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Cno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1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3CC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3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79388" y="4921250"/>
            <a:ext cx="78486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9150" lvl="1" indent="0" algn="just" eaLnBrk="1" hangingPunct="1"/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Sno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σ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Cno=‘1’ ^Cno=‘3’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(SC)) 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对吗？</a:t>
            </a:r>
            <a:endParaRPr lang="zh-CN" altLang="en-US" sz="2800" dirty="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charRg st="16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596">
                                            <p:txEl>
                                              <p:charRg st="16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596">
                                            <p:txEl>
                                              <p:charRg st="16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charRg st="43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596">
                                            <p:txEl>
                                              <p:charRg st="43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596">
                                            <p:txEl>
                                              <p:charRg st="43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9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9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charRg st="57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0596">
                                            <p:txEl>
                                              <p:charRg st="57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0596">
                                            <p:txEl>
                                              <p:charRg st="57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charRg st="77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0596">
                                            <p:txEl>
                                              <p:charRg st="77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0596">
                                            <p:txEl>
                                              <p:charRg st="77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 build="p"/>
      <p:bldP spid="2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综合举例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111620" name="Rectangle 3"/>
          <p:cNvSpPr>
            <a:spLocks noGrp="1"/>
          </p:cNvSpPr>
          <p:nvPr>
            <p:ph idx="1"/>
          </p:nvPr>
        </p:nvSpPr>
        <p:spPr>
          <a:xfrm>
            <a:off x="71438" y="1341438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10000"/>
              </a:lnSpc>
            </a:pP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7]</a:t>
            </a:r>
            <a:r>
              <a:rPr lang="zh-CN" altLang="en-US" dirty="0"/>
              <a:t>续   </a:t>
            </a:r>
            <a:r>
              <a:rPr lang="en-US" altLang="zh-CN" dirty="0"/>
              <a:t>π</a:t>
            </a:r>
            <a:r>
              <a:rPr lang="en-US" altLang="zh-CN" baseline="-30000" dirty="0"/>
              <a:t>Sno</a:t>
            </a:r>
            <a:r>
              <a:rPr lang="zh-CN" altLang="en-US" baseline="-30000" dirty="0"/>
              <a:t>，</a:t>
            </a:r>
            <a:r>
              <a:rPr lang="en-US" altLang="zh-CN" baseline="-30000" dirty="0"/>
              <a:t>Cno</a:t>
            </a:r>
            <a:r>
              <a:rPr lang="en-US" altLang="zh-CN" dirty="0"/>
              <a:t>(SC)</a:t>
            </a:r>
            <a:endParaRPr lang="en-US" altLang="zh-CN" dirty="0"/>
          </a:p>
          <a:p>
            <a:pPr>
              <a:lnSpc>
                <a:spcPct val="110000"/>
              </a:lnSpc>
              <a:buNone/>
            </a:pPr>
            <a:endParaRPr lang="en-US" altLang="zh-CN" dirty="0"/>
          </a:p>
          <a:p>
            <a:pPr>
              <a:lnSpc>
                <a:spcPct val="110000"/>
              </a:lnSpc>
              <a:buNone/>
            </a:pPr>
            <a:endParaRPr lang="en-US" altLang="zh-CN" dirty="0"/>
          </a:p>
          <a:p>
            <a:pPr>
              <a:lnSpc>
                <a:spcPct val="110000"/>
              </a:lnSpc>
              <a:buNone/>
            </a:pPr>
            <a:r>
              <a:rPr lang="en-US" altLang="zh-CN" dirty="0"/>
              <a:t>201215121</a:t>
            </a:r>
            <a:r>
              <a:rPr lang="zh-CN" altLang="en-US" dirty="0"/>
              <a:t>象集</a:t>
            </a:r>
            <a:r>
              <a:rPr lang="en-US" altLang="zh-CN" dirty="0"/>
              <a:t>{1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3}</a:t>
            </a:r>
            <a:endParaRPr lang="en-US" altLang="zh-CN" dirty="0"/>
          </a:p>
          <a:p>
            <a:pPr>
              <a:lnSpc>
                <a:spcPct val="110000"/>
              </a:lnSpc>
              <a:buNone/>
            </a:pPr>
            <a:r>
              <a:rPr lang="en-US" altLang="zh-CN" dirty="0"/>
              <a:t>201215122</a:t>
            </a:r>
            <a:r>
              <a:rPr lang="zh-CN" altLang="en-US" dirty="0"/>
              <a:t>象集</a:t>
            </a:r>
            <a:r>
              <a:rPr lang="en-US" altLang="zh-CN" dirty="0"/>
              <a:t>{2</a:t>
            </a:r>
            <a:r>
              <a:rPr lang="zh-CN" altLang="en-US" dirty="0"/>
              <a:t>，</a:t>
            </a:r>
            <a:r>
              <a:rPr lang="en-US" altLang="zh-CN" dirty="0"/>
              <a:t>3}</a:t>
            </a:r>
            <a:endParaRPr lang="en-US" altLang="zh-CN" dirty="0"/>
          </a:p>
          <a:p>
            <a:pPr>
              <a:lnSpc>
                <a:spcPct val="110000"/>
              </a:lnSpc>
              <a:buNone/>
            </a:pPr>
            <a:r>
              <a:rPr lang="en-US" altLang="zh-CN" dirty="0"/>
              <a:t>   π</a:t>
            </a:r>
            <a:r>
              <a:rPr lang="en-US" altLang="zh-CN" baseline="-30000" dirty="0"/>
              <a:t>Cno</a:t>
            </a:r>
            <a:r>
              <a:rPr lang="en-US" altLang="zh-CN" dirty="0"/>
              <a:t>(K)={1</a:t>
            </a:r>
            <a:r>
              <a:rPr lang="zh-CN" altLang="en-US" dirty="0"/>
              <a:t>，</a:t>
            </a:r>
            <a:r>
              <a:rPr lang="en-US" altLang="zh-CN" dirty="0"/>
              <a:t>3}</a:t>
            </a:r>
            <a:endParaRPr lang="en-US" altLang="zh-CN" dirty="0"/>
          </a:p>
          <a:p>
            <a:pPr>
              <a:lnSpc>
                <a:spcPct val="110000"/>
              </a:lnSpc>
              <a:buNone/>
            </a:pPr>
            <a:r>
              <a:rPr lang="en-US" altLang="zh-CN" dirty="0"/>
              <a:t>   </a:t>
            </a:r>
            <a:r>
              <a:rPr lang="zh-CN" altLang="en-US" dirty="0"/>
              <a:t>于是：</a:t>
            </a:r>
            <a:r>
              <a:rPr lang="en-US" altLang="zh-CN" dirty="0"/>
              <a:t>π</a:t>
            </a:r>
            <a:r>
              <a:rPr lang="en-US" altLang="zh-CN" baseline="-30000" dirty="0"/>
              <a:t>Sno</a:t>
            </a:r>
            <a:r>
              <a:rPr lang="zh-CN" altLang="en-US" baseline="-30000" dirty="0"/>
              <a:t>，</a:t>
            </a:r>
            <a:r>
              <a:rPr lang="en-US" altLang="zh-CN" baseline="-30000" dirty="0"/>
              <a:t>Cno</a:t>
            </a:r>
            <a:r>
              <a:rPr lang="en-US" altLang="zh-CN" dirty="0"/>
              <a:t>(SC)÷</a:t>
            </a:r>
            <a:r>
              <a:rPr lang="en-US" altLang="zh-CN" i="1" dirty="0"/>
              <a:t>K=</a:t>
            </a:r>
            <a:r>
              <a:rPr lang="en-US" altLang="zh-CN" dirty="0"/>
              <a:t>{201215121}</a:t>
            </a:r>
            <a:endParaRPr lang="en-US" altLang="zh-CN" dirty="0"/>
          </a:p>
        </p:txBody>
      </p:sp>
      <p:grpSp>
        <p:nvGrpSpPr>
          <p:cNvPr id="112645" name="Group 71"/>
          <p:cNvGrpSpPr/>
          <p:nvPr/>
        </p:nvGrpSpPr>
        <p:grpSpPr>
          <a:xfrm>
            <a:off x="5184775" y="1412875"/>
            <a:ext cx="3316288" cy="3128963"/>
            <a:chOff x="3560" y="981"/>
            <a:chExt cx="1543" cy="1971"/>
          </a:xfrm>
        </p:grpSpPr>
        <p:grpSp>
          <p:nvGrpSpPr>
            <p:cNvPr id="112650" name="Group 15"/>
            <p:cNvGrpSpPr/>
            <p:nvPr/>
          </p:nvGrpSpPr>
          <p:grpSpPr>
            <a:xfrm>
              <a:off x="3560" y="981"/>
              <a:ext cx="877" cy="328"/>
              <a:chOff x="0" y="499"/>
              <a:chExt cx="642" cy="499"/>
            </a:xfrm>
          </p:grpSpPr>
          <p:sp>
            <p:nvSpPr>
              <p:cNvPr id="112676" name="Rectangle 16"/>
              <p:cNvSpPr/>
              <p:nvPr/>
            </p:nvSpPr>
            <p:spPr>
              <a:xfrm>
                <a:off x="43" y="499"/>
                <a:ext cx="556" cy="49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Sno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  <a:p>
                <a:pPr algn="ctr"/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677" name="Rectangle 17"/>
              <p:cNvSpPr/>
              <p:nvPr/>
            </p:nvSpPr>
            <p:spPr>
              <a:xfrm>
                <a:off x="0" y="499"/>
                <a:ext cx="642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112651" name="Group 18"/>
            <p:cNvGrpSpPr/>
            <p:nvPr/>
          </p:nvGrpSpPr>
          <p:grpSpPr>
            <a:xfrm>
              <a:off x="4437" y="981"/>
              <a:ext cx="666" cy="328"/>
              <a:chOff x="642" y="499"/>
              <a:chExt cx="819" cy="499"/>
            </a:xfrm>
          </p:grpSpPr>
          <p:sp>
            <p:nvSpPr>
              <p:cNvPr id="112674" name="Rectangle 19"/>
              <p:cNvSpPr/>
              <p:nvPr/>
            </p:nvSpPr>
            <p:spPr>
              <a:xfrm>
                <a:off x="685" y="499"/>
                <a:ext cx="733" cy="49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Cno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  <a:p>
                <a:pPr algn="ctr"/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675" name="Rectangle 20"/>
              <p:cNvSpPr/>
              <p:nvPr/>
            </p:nvSpPr>
            <p:spPr>
              <a:xfrm>
                <a:off x="642" y="499"/>
                <a:ext cx="819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112652" name="Group 24"/>
            <p:cNvGrpSpPr/>
            <p:nvPr/>
          </p:nvGrpSpPr>
          <p:grpSpPr>
            <a:xfrm>
              <a:off x="3560" y="1309"/>
              <a:ext cx="877" cy="329"/>
              <a:chOff x="0" y="998"/>
              <a:chExt cx="642" cy="499"/>
            </a:xfrm>
          </p:grpSpPr>
          <p:sp>
            <p:nvSpPr>
              <p:cNvPr id="112672" name="Rectangle 25"/>
              <p:cNvSpPr/>
              <p:nvPr/>
            </p:nvSpPr>
            <p:spPr>
              <a:xfrm>
                <a:off x="0" y="998"/>
                <a:ext cx="632" cy="49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400" b="1" dirty="0">
                    <a:latin typeface="Times New Roman" panose="02020603050405020304" pitchFamily="18" charset="0"/>
                  </a:rPr>
                  <a:t>201215121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pPr algn="ctr"/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673" name="Rectangle 26"/>
              <p:cNvSpPr/>
              <p:nvPr/>
            </p:nvSpPr>
            <p:spPr>
              <a:xfrm>
                <a:off x="0" y="998"/>
                <a:ext cx="642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112653" name="Group 27"/>
            <p:cNvGrpSpPr/>
            <p:nvPr/>
          </p:nvGrpSpPr>
          <p:grpSpPr>
            <a:xfrm>
              <a:off x="4437" y="1309"/>
              <a:ext cx="666" cy="329"/>
              <a:chOff x="642" y="998"/>
              <a:chExt cx="819" cy="499"/>
            </a:xfrm>
          </p:grpSpPr>
          <p:sp>
            <p:nvSpPr>
              <p:cNvPr id="112670" name="Rectangle 28"/>
              <p:cNvSpPr/>
              <p:nvPr/>
            </p:nvSpPr>
            <p:spPr>
              <a:xfrm>
                <a:off x="685" y="998"/>
                <a:ext cx="733" cy="49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  <a:p>
                <a:pPr algn="ctr"/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671" name="Rectangle 29"/>
              <p:cNvSpPr/>
              <p:nvPr/>
            </p:nvSpPr>
            <p:spPr>
              <a:xfrm>
                <a:off x="642" y="998"/>
                <a:ext cx="819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112654" name="Rectangle 35"/>
            <p:cNvSpPr/>
            <p:nvPr/>
          </p:nvSpPr>
          <p:spPr>
            <a:xfrm>
              <a:off x="3560" y="1638"/>
              <a:ext cx="877" cy="328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grpSp>
          <p:nvGrpSpPr>
            <p:cNvPr id="112655" name="Group 36"/>
            <p:cNvGrpSpPr/>
            <p:nvPr/>
          </p:nvGrpSpPr>
          <p:grpSpPr>
            <a:xfrm>
              <a:off x="4437" y="1638"/>
              <a:ext cx="666" cy="328"/>
              <a:chOff x="642" y="1497"/>
              <a:chExt cx="819" cy="499"/>
            </a:xfrm>
          </p:grpSpPr>
          <p:sp>
            <p:nvSpPr>
              <p:cNvPr id="112668" name="Rectangle 37"/>
              <p:cNvSpPr/>
              <p:nvPr/>
            </p:nvSpPr>
            <p:spPr>
              <a:xfrm>
                <a:off x="685" y="1497"/>
                <a:ext cx="733" cy="49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  <a:p>
                <a:pPr algn="ctr"/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669" name="Rectangle 38"/>
              <p:cNvSpPr/>
              <p:nvPr/>
            </p:nvSpPr>
            <p:spPr>
              <a:xfrm>
                <a:off x="642" y="1497"/>
                <a:ext cx="819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112656" name="Rectangle 44"/>
            <p:cNvSpPr/>
            <p:nvPr/>
          </p:nvSpPr>
          <p:spPr>
            <a:xfrm>
              <a:off x="3560" y="1966"/>
              <a:ext cx="877" cy="329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grpSp>
          <p:nvGrpSpPr>
            <p:cNvPr id="112657" name="Group 45"/>
            <p:cNvGrpSpPr/>
            <p:nvPr/>
          </p:nvGrpSpPr>
          <p:grpSpPr>
            <a:xfrm>
              <a:off x="4437" y="1966"/>
              <a:ext cx="666" cy="329"/>
              <a:chOff x="642" y="1996"/>
              <a:chExt cx="819" cy="499"/>
            </a:xfrm>
          </p:grpSpPr>
          <p:sp>
            <p:nvSpPr>
              <p:cNvPr id="112666" name="Rectangle 46"/>
              <p:cNvSpPr/>
              <p:nvPr/>
            </p:nvSpPr>
            <p:spPr>
              <a:xfrm>
                <a:off x="685" y="1996"/>
                <a:ext cx="733" cy="49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  <a:p>
                <a:pPr algn="ctr"/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667" name="Rectangle 47"/>
              <p:cNvSpPr/>
              <p:nvPr/>
            </p:nvSpPr>
            <p:spPr>
              <a:xfrm>
                <a:off x="642" y="1996"/>
                <a:ext cx="819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112658" name="Rectangle 53"/>
            <p:cNvSpPr/>
            <p:nvPr/>
          </p:nvSpPr>
          <p:spPr>
            <a:xfrm>
              <a:off x="3560" y="2295"/>
              <a:ext cx="877" cy="328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grpSp>
          <p:nvGrpSpPr>
            <p:cNvPr id="112659" name="Group 54"/>
            <p:cNvGrpSpPr/>
            <p:nvPr/>
          </p:nvGrpSpPr>
          <p:grpSpPr>
            <a:xfrm>
              <a:off x="4437" y="2295"/>
              <a:ext cx="666" cy="328"/>
              <a:chOff x="642" y="2495"/>
              <a:chExt cx="819" cy="499"/>
            </a:xfrm>
          </p:grpSpPr>
          <p:sp>
            <p:nvSpPr>
              <p:cNvPr id="112664" name="Rectangle 55"/>
              <p:cNvSpPr/>
              <p:nvPr/>
            </p:nvSpPr>
            <p:spPr>
              <a:xfrm>
                <a:off x="685" y="2495"/>
                <a:ext cx="733" cy="49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  <a:p>
                <a:pPr algn="ctr"/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665" name="Rectangle 56"/>
              <p:cNvSpPr/>
              <p:nvPr/>
            </p:nvSpPr>
            <p:spPr>
              <a:xfrm>
                <a:off x="642" y="2495"/>
                <a:ext cx="819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112660" name="Rectangle 62"/>
            <p:cNvSpPr/>
            <p:nvPr/>
          </p:nvSpPr>
          <p:spPr>
            <a:xfrm>
              <a:off x="3560" y="2623"/>
              <a:ext cx="877" cy="329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p>
              <a:pPr eaLnBrk="1" hangingPunct="1"/>
              <a:endParaRPr lang="zh-CN" altLang="en-US" dirty="0">
                <a:latin typeface="Verdana" panose="020B0604030504040204" pitchFamily="34" charset="0"/>
              </a:endParaRPr>
            </a:p>
          </p:txBody>
        </p:sp>
        <p:grpSp>
          <p:nvGrpSpPr>
            <p:cNvPr id="112661" name="Group 63"/>
            <p:cNvGrpSpPr/>
            <p:nvPr/>
          </p:nvGrpSpPr>
          <p:grpSpPr>
            <a:xfrm>
              <a:off x="4437" y="2623"/>
              <a:ext cx="666" cy="329"/>
              <a:chOff x="642" y="2994"/>
              <a:chExt cx="819" cy="499"/>
            </a:xfrm>
          </p:grpSpPr>
          <p:sp>
            <p:nvSpPr>
              <p:cNvPr id="112662" name="Rectangle 64"/>
              <p:cNvSpPr/>
              <p:nvPr/>
            </p:nvSpPr>
            <p:spPr>
              <a:xfrm>
                <a:off x="685" y="2994"/>
                <a:ext cx="733" cy="49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90000" tIns="46800" rIns="90000" bIns="4680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  <a:p>
                <a:pPr algn="ctr"/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663" name="Rectangle 65"/>
              <p:cNvSpPr/>
              <p:nvPr/>
            </p:nvSpPr>
            <p:spPr>
              <a:xfrm>
                <a:off x="642" y="2994"/>
                <a:ext cx="819" cy="499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p>
                <a:pPr eaLnBrk="1" hangingPunct="1"/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</p:grpSp>
      </p:grpSp>
      <p:sp>
        <p:nvSpPr>
          <p:cNvPr id="112646" name="Rectangle 25"/>
          <p:cNvSpPr/>
          <p:nvPr/>
        </p:nvSpPr>
        <p:spPr>
          <a:xfrm>
            <a:off x="5000625" y="2500313"/>
            <a:ext cx="1857375" cy="522287"/>
          </a:xfrm>
          <a:prstGeom prst="rect">
            <a:avLst/>
          </a:prstGeom>
          <a:noFill/>
          <a:ln w="28575">
            <a:noFill/>
          </a:ln>
        </p:spPr>
        <p:txBody>
          <a:bodyPr lIns="90000" tIns="46800" rIns="90000" bIns="46800"/>
          <a:p>
            <a:pPr algn="ctr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201215121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ctr"/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2647" name="Rectangle 25"/>
          <p:cNvSpPr/>
          <p:nvPr/>
        </p:nvSpPr>
        <p:spPr>
          <a:xfrm>
            <a:off x="5000625" y="3121025"/>
            <a:ext cx="1857375" cy="522288"/>
          </a:xfrm>
          <a:prstGeom prst="rect">
            <a:avLst/>
          </a:prstGeom>
          <a:noFill/>
          <a:ln w="28575">
            <a:noFill/>
          </a:ln>
        </p:spPr>
        <p:txBody>
          <a:bodyPr lIns="90000" tIns="46800" rIns="90000" bIns="46800"/>
          <a:p>
            <a:pPr algn="ctr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201215121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ctr"/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2648" name="Rectangle 25"/>
          <p:cNvSpPr/>
          <p:nvPr/>
        </p:nvSpPr>
        <p:spPr>
          <a:xfrm>
            <a:off x="5000625" y="3621088"/>
            <a:ext cx="1857375" cy="522287"/>
          </a:xfrm>
          <a:prstGeom prst="rect">
            <a:avLst/>
          </a:prstGeom>
          <a:noFill/>
          <a:ln w="28575">
            <a:noFill/>
          </a:ln>
        </p:spPr>
        <p:txBody>
          <a:bodyPr lIns="90000" tIns="46800" rIns="90000" bIns="46800"/>
          <a:p>
            <a:pPr algn="ctr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201215122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ctr"/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2649" name="Rectangle 25"/>
          <p:cNvSpPr/>
          <p:nvPr/>
        </p:nvSpPr>
        <p:spPr>
          <a:xfrm>
            <a:off x="5000625" y="4121150"/>
            <a:ext cx="1857375" cy="522288"/>
          </a:xfrm>
          <a:prstGeom prst="rect">
            <a:avLst/>
          </a:prstGeom>
          <a:noFill/>
          <a:ln w="28575">
            <a:noFill/>
          </a:ln>
        </p:spPr>
        <p:txBody>
          <a:bodyPr lIns="90000" tIns="46800" rIns="90000" bIns="46800"/>
          <a:p>
            <a:pPr algn="ctr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201215122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ctr"/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2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20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charRg st="23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620">
                                            <p:txEl>
                                              <p:charRg st="23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620">
                                            <p:txEl>
                                              <p:charRg st="23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charRg st="42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620">
                                            <p:txEl>
                                              <p:charRg st="42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620">
                                            <p:txEl>
                                              <p:charRg st="42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charRg st="59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620">
                                            <p:txEl>
                                              <p:charRg st="59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1620">
                                            <p:txEl>
                                              <p:charRg st="59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>
                                            <p:txEl>
                                              <p:charRg st="76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1620">
                                            <p:txEl>
                                              <p:charRg st="76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1620">
                                            <p:txEl>
                                              <p:charRg st="76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灯片编号占位符 2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30434" name="Text Box 2"/>
          <p:cNvSpPr txBox="1"/>
          <p:nvPr/>
        </p:nvSpPr>
        <p:spPr>
          <a:xfrm>
            <a:off x="323850" y="2492375"/>
            <a:ext cx="8424863" cy="3540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Clr>
                <a:srgbClr val="EB1403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学生选课情况可用操作：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S#,C#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(SC)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表示；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EB1403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全部课程：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C#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(C)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表示；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EB1403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学了全部课程的学生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学号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可用除法操作表示，操作结果是学号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S#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集： 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S#,C#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(SC) ÷ 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C#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(C)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；</a:t>
            </a:r>
            <a:endParaRPr lang="zh-CN" altLang="en-US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EB1403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Verdana" panose="020B0604030504040204" pitchFamily="34" charset="0"/>
              </a:rPr>
              <a:t>求的是学生学号和姓名，</a:t>
            </a: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投影和自然连接操作：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EB1403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Verdana" panose="020B0604030504040204" pitchFamily="34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S#,C#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(SC) ÷ 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C#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(C)) ⋈</a:t>
            </a:r>
            <a:r>
              <a:rPr lang="el-GR" altLang="zh-CN" sz="2800" b="1" dirty="0">
                <a:latin typeface="Verdana" panose="020B0604030504040204" pitchFamily="34" charset="0"/>
                <a:ea typeface="楷体_GB2312" pitchFamily="49" charset="-122"/>
              </a:rPr>
              <a:t>π</a:t>
            </a:r>
            <a:r>
              <a:rPr lang="en-US" altLang="zh-CN" sz="2800" b="1" baseline="-25000" dirty="0">
                <a:latin typeface="Verdana" panose="020B0604030504040204" pitchFamily="34" charset="0"/>
                <a:ea typeface="楷体_GB2312" pitchFamily="49" charset="-122"/>
              </a:rPr>
              <a:t>S#,SNAME</a:t>
            </a:r>
            <a:r>
              <a:rPr lang="en-US" altLang="zh-CN" sz="2800" b="1" dirty="0">
                <a:latin typeface="Verdana" panose="020B0604030504040204" pitchFamily="34" charset="0"/>
                <a:ea typeface="楷体_GB2312" pitchFamily="49" charset="-122"/>
              </a:rPr>
              <a:t>(S) </a:t>
            </a:r>
            <a:endParaRPr lang="en-US" altLang="zh-CN" sz="2800" b="1" dirty="0"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113668" name="Rectangle 4"/>
          <p:cNvSpPr/>
          <p:nvPr/>
        </p:nvSpPr>
        <p:spPr>
          <a:xfrm>
            <a:off x="684213" y="71438"/>
            <a:ext cx="5183187" cy="172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S(S#, SNAME, AGE, SEX)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SC(S#, C#, GRADE)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rgbClr val="0033CC"/>
              </a:buClr>
              <a:buSzPct val="75000"/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3333FF"/>
                </a:solidFill>
                <a:latin typeface="Verdana" panose="020B0604030504040204" pitchFamily="34" charset="0"/>
                <a:ea typeface="楷体_GB2312" pitchFamily="49" charset="-122"/>
              </a:rPr>
              <a:t>C(C#, CNAME, TEACHER)</a:t>
            </a:r>
            <a:endParaRPr lang="en-US" altLang="zh-CN" sz="2800" b="1" dirty="0">
              <a:solidFill>
                <a:srgbClr val="3333FF"/>
              </a:solidFill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530437" name="Rectangle 5"/>
          <p:cNvSpPr/>
          <p:nvPr/>
        </p:nvSpPr>
        <p:spPr>
          <a:xfrm>
            <a:off x="395288" y="1844675"/>
            <a:ext cx="6962775" cy="523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Verdana" panose="020B0604030504040204" pitchFamily="34" charset="0"/>
              </a:rPr>
              <a:t>(8)</a:t>
            </a:r>
            <a:r>
              <a:rPr lang="zh-CN" altLang="en-US" sz="2800" b="1" dirty="0">
                <a:latin typeface="Verdana" panose="020B0604030504040204" pitchFamily="34" charset="0"/>
              </a:rPr>
              <a:t>检索选修了全部课程的学生学号和姓名</a:t>
            </a:r>
            <a:endParaRPr lang="zh-CN" altLang="en-US" sz="2800" b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043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043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4">
                                            <p:txEl>
                                              <p:charRg st="25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0434">
                                            <p:txEl>
                                              <p:charRg st="25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0434">
                                            <p:txEl>
                                              <p:charRg st="25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4">
                                            <p:txEl>
                                              <p:charRg st="40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0434">
                                            <p:txEl>
                                              <p:charRg st="40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0434">
                                            <p:txEl>
                                              <p:charRg st="40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4">
                                            <p:txEl>
                                              <p:charRg st="93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30434">
                                            <p:txEl>
                                              <p:charRg st="93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0434">
                                            <p:txEl>
                                              <p:charRg st="93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4">
                                            <p:txEl>
                                              <p:charRg st="115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0434">
                                            <p:txEl>
                                              <p:charRg st="115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0434">
                                            <p:txEl>
                                              <p:charRg st="115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综合举例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1143000"/>
            <a:ext cx="8750300" cy="4806950"/>
          </a:xfrm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sz="3200" b="1" dirty="0">
                <a:ea typeface="楷体_GB2312" pitchFamily="49" charset="-122"/>
              </a:rPr>
              <a:t>提问</a:t>
            </a:r>
            <a:r>
              <a:rPr lang="en-US" altLang="zh-CN" sz="3200" b="1" dirty="0">
                <a:ea typeface="楷体_GB2312" pitchFamily="49" charset="-122"/>
              </a:rPr>
              <a:t>4</a:t>
            </a:r>
            <a:r>
              <a:rPr lang="zh-CN" altLang="en-US" sz="3200" b="1" dirty="0">
                <a:ea typeface="楷体_GB2312" pitchFamily="49" charset="-122"/>
              </a:rPr>
              <a:t>：</a:t>
            </a:r>
            <a:r>
              <a:rPr lang="zh-CN" altLang="en-US" sz="3200" b="1" dirty="0"/>
              <a:t>检索所学课程包含学生</a:t>
            </a:r>
            <a:r>
              <a:rPr lang="en-US" altLang="zh-CN" sz="3200" b="1" dirty="0"/>
              <a:t>S3</a:t>
            </a:r>
            <a:r>
              <a:rPr lang="zh-CN" altLang="en-US" sz="3200" b="1" dirty="0"/>
              <a:t>所学课程的学生学号</a:t>
            </a:r>
            <a:endParaRPr lang="zh-CN" altLang="en-US" sz="3200" b="1" dirty="0"/>
          </a:p>
          <a:p>
            <a:pPr>
              <a:buNone/>
            </a:pPr>
            <a:r>
              <a:rPr lang="el-GR" altLang="zh-CN" sz="3200" b="1" dirty="0">
                <a:ea typeface="楷体_GB2312" pitchFamily="49" charset="-122"/>
              </a:rPr>
              <a:t>π</a:t>
            </a:r>
            <a:r>
              <a:rPr lang="en-US" altLang="zh-CN" sz="3200" b="1" baseline="-25000" dirty="0">
                <a:ea typeface="楷体_GB2312" pitchFamily="49" charset="-122"/>
              </a:rPr>
              <a:t>S#,C#</a:t>
            </a:r>
            <a:r>
              <a:rPr lang="en-US" altLang="zh-CN" sz="3200" b="1" dirty="0">
                <a:ea typeface="楷体_GB2312" pitchFamily="49" charset="-122"/>
              </a:rPr>
              <a:t>(SC) </a:t>
            </a:r>
            <a:r>
              <a:rPr lang="el-GR" altLang="zh-CN" sz="3200" b="1" dirty="0">
                <a:ea typeface="楷体_GB2312" pitchFamily="49" charset="-122"/>
              </a:rPr>
              <a:t>÷ π</a:t>
            </a:r>
            <a:r>
              <a:rPr lang="en-US" altLang="zh-CN" sz="3200" b="1" baseline="-25000" dirty="0">
                <a:ea typeface="楷体_GB2312" pitchFamily="49" charset="-122"/>
              </a:rPr>
              <a:t>C#</a:t>
            </a:r>
            <a:r>
              <a:rPr lang="en-US" altLang="zh-CN" sz="3200" b="1" dirty="0">
                <a:ea typeface="楷体_GB2312" pitchFamily="49" charset="-122"/>
              </a:rPr>
              <a:t>(</a:t>
            </a:r>
            <a:r>
              <a:rPr lang="el-GR" altLang="zh-CN" sz="3200" b="1" dirty="0">
                <a:ea typeface="楷体_GB2312" pitchFamily="49" charset="-122"/>
              </a:rPr>
              <a:t>σ</a:t>
            </a:r>
            <a:r>
              <a:rPr lang="en-US" altLang="zh-CN" sz="3200" b="1" baseline="-25000" dirty="0">
                <a:ea typeface="楷体_GB2312" pitchFamily="49" charset="-122"/>
              </a:rPr>
              <a:t>S#=‘S3’</a:t>
            </a:r>
            <a:r>
              <a:rPr lang="en-US" altLang="zh-CN" sz="3200" b="1" dirty="0">
                <a:ea typeface="楷体_GB2312" pitchFamily="49" charset="-122"/>
              </a:rPr>
              <a:t>(SC))</a:t>
            </a:r>
            <a:endParaRPr lang="en-US" altLang="zh-CN" sz="3200" b="1" dirty="0">
              <a:ea typeface="楷体_GB2312" pitchFamily="49" charset="-122"/>
            </a:endParaRPr>
          </a:p>
          <a:p>
            <a:pPr>
              <a:buNone/>
            </a:pPr>
            <a:r>
              <a:rPr lang="zh-CN" altLang="en-US" sz="3200" b="1" dirty="0"/>
              <a:t>（</a:t>
            </a:r>
            <a:r>
              <a:rPr lang="en-US" altLang="zh-CN" sz="3200" b="1" dirty="0"/>
              <a:t>9</a:t>
            </a:r>
            <a:r>
              <a:rPr lang="zh-CN" altLang="en-US" sz="3200" b="1" dirty="0"/>
              <a:t>）</a:t>
            </a:r>
            <a:r>
              <a:rPr lang="zh-CN" altLang="zh-CN" sz="3200" b="1" dirty="0"/>
              <a:t>检索全部学生都选修的课程的课程号和课程名。</a:t>
            </a:r>
            <a:endParaRPr lang="en-US" altLang="zh-CN" sz="3200" b="1" dirty="0"/>
          </a:p>
          <a:p>
            <a:pPr>
              <a:buNone/>
            </a:pPr>
            <a:r>
              <a:rPr lang="en-US" altLang="zh-CN" sz="3200" dirty="0"/>
              <a:t>(</a:t>
            </a:r>
            <a:r>
              <a:rPr lang="el-GR" altLang="zh-CN" sz="3200" b="1" dirty="0">
                <a:ea typeface="楷体_GB2312" pitchFamily="49" charset="-122"/>
              </a:rPr>
              <a:t> π</a:t>
            </a:r>
            <a:r>
              <a:rPr lang="en-US" altLang="zh-CN" sz="3200" b="1" baseline="-25000" dirty="0">
                <a:ea typeface="楷体_GB2312" pitchFamily="49" charset="-122"/>
              </a:rPr>
              <a:t>C#,S#</a:t>
            </a:r>
            <a:r>
              <a:rPr lang="en-US" altLang="zh-CN" sz="3200" b="1" dirty="0">
                <a:ea typeface="楷体_GB2312" pitchFamily="49" charset="-122"/>
              </a:rPr>
              <a:t>(SC) </a:t>
            </a:r>
            <a:r>
              <a:rPr lang="el-GR" altLang="zh-CN" sz="3200" b="1" dirty="0">
                <a:ea typeface="楷体_GB2312" pitchFamily="49" charset="-122"/>
              </a:rPr>
              <a:t>÷ π</a:t>
            </a:r>
            <a:r>
              <a:rPr lang="en-US" altLang="zh-CN" sz="3200" b="1" baseline="-25000" dirty="0">
                <a:ea typeface="楷体_GB2312" pitchFamily="49" charset="-122"/>
              </a:rPr>
              <a:t>S#</a:t>
            </a:r>
            <a:r>
              <a:rPr lang="en-US" altLang="zh-CN" sz="3200" b="1" dirty="0">
                <a:ea typeface="楷体_GB2312" pitchFamily="49" charset="-122"/>
              </a:rPr>
              <a:t>(S)) </a:t>
            </a:r>
            <a:r>
              <a:rPr lang="en-US" altLang="zh-CN" sz="3200" b="1" dirty="0"/>
              <a:t>⋈</a:t>
            </a:r>
            <a:r>
              <a:rPr lang="el-GR" altLang="zh-CN" sz="3200" b="1" dirty="0">
                <a:ea typeface="楷体_GB2312" pitchFamily="49" charset="-122"/>
              </a:rPr>
              <a:t> π</a:t>
            </a:r>
            <a:r>
              <a:rPr lang="en-US" altLang="zh-CN" sz="3200" b="1" baseline="-25000" dirty="0">
                <a:ea typeface="楷体_GB2312" pitchFamily="49" charset="-122"/>
              </a:rPr>
              <a:t>C#,CNAME</a:t>
            </a:r>
            <a:r>
              <a:rPr lang="en-US" altLang="zh-CN" sz="3200" b="1" dirty="0">
                <a:ea typeface="楷体_GB2312" pitchFamily="49" charset="-122"/>
              </a:rPr>
              <a:t>(C) </a:t>
            </a:r>
            <a:endParaRPr lang="en-US" altLang="zh-CN" sz="3200" b="1" dirty="0">
              <a:ea typeface="楷体_GB2312" pitchFamily="49" charset="-122"/>
            </a:endParaRPr>
          </a:p>
          <a:p>
            <a:pPr>
              <a:buNone/>
            </a:pPr>
            <a:r>
              <a:rPr lang="zh-CN" altLang="en-US" sz="3200" b="1" dirty="0">
                <a:ea typeface="楷体_GB2312" pitchFamily="49" charset="-122"/>
              </a:rPr>
              <a:t>提问</a:t>
            </a:r>
            <a:r>
              <a:rPr lang="en-US" altLang="zh-CN" sz="3200" b="1" dirty="0">
                <a:ea typeface="楷体_GB2312" pitchFamily="49" charset="-122"/>
              </a:rPr>
              <a:t>5</a:t>
            </a:r>
            <a:r>
              <a:rPr lang="zh-CN" altLang="en-US" sz="3200" b="1" dirty="0">
                <a:ea typeface="楷体_GB2312" pitchFamily="49" charset="-122"/>
              </a:rPr>
              <a:t>：</a:t>
            </a:r>
            <a:r>
              <a:rPr lang="zh-CN" altLang="zh-CN" sz="3200" b="1" dirty="0"/>
              <a:t>检索</a:t>
            </a:r>
            <a:r>
              <a:rPr lang="en-US" altLang="zh-CN" sz="3200" b="1" dirty="0"/>
              <a:t>CS</a:t>
            </a:r>
            <a:r>
              <a:rPr lang="zh-CN" altLang="en-US" sz="3200" b="1" dirty="0"/>
              <a:t>系的</a:t>
            </a:r>
            <a:r>
              <a:rPr lang="zh-CN" altLang="zh-CN" sz="3200" b="1" dirty="0"/>
              <a:t>学生都选修的课程的课程号和课程名。</a:t>
            </a:r>
            <a:endParaRPr lang="en-US" altLang="zh-CN" sz="3200" b="1" dirty="0">
              <a:ea typeface="楷体_GB2312" pitchFamily="49" charset="-122"/>
            </a:endParaRPr>
          </a:p>
          <a:p>
            <a:pPr>
              <a:buNone/>
            </a:pPr>
            <a:endParaRPr lang="en-US" altLang="zh-CN" sz="3200" b="1" dirty="0">
              <a:ea typeface="楷体_GB2312" pitchFamily="49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charRg st="2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charRg st="2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7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charRg st="57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charRg st="57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2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charRg st="82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charRg st="82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1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charRg st="121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charRg st="121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1571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小结 </a:t>
            </a:r>
            <a:endParaRPr lang="zh-CN" altLang="en-US" dirty="0"/>
          </a:p>
        </p:txBody>
      </p:sp>
      <p:sp>
        <p:nvSpPr>
          <p:cNvPr id="115716" name="Rectangle 3"/>
          <p:cNvSpPr>
            <a:spLocks noGrp="1"/>
          </p:cNvSpPr>
          <p:nvPr>
            <p:ph idx="1"/>
          </p:nvPr>
        </p:nvSpPr>
        <p:spPr>
          <a:xfrm>
            <a:off x="34925" y="1268413"/>
            <a:ext cx="9144000" cy="4967287"/>
          </a:xfrm>
          <a:ln/>
        </p:spPr>
        <p:txBody>
          <a:bodyPr vert="horz" wrap="square" lIns="91440" tIns="45720" rIns="91440" bIns="45720" anchor="t" anchorCtr="0"/>
          <a:p>
            <a:pPr algn="just">
              <a:lnSpc>
                <a:spcPct val="90000"/>
              </a:lnSpc>
            </a:pPr>
            <a:r>
              <a:rPr lang="zh-CN" altLang="en-US" dirty="0"/>
              <a:t>关系代数运算</a:t>
            </a:r>
            <a:endParaRPr lang="zh-CN" altLang="en-US" dirty="0"/>
          </a:p>
          <a:p>
            <a:pPr lvl="1" algn="just">
              <a:lnSpc>
                <a:spcPct val="90000"/>
              </a:lnSpc>
            </a:pPr>
            <a:r>
              <a:rPr lang="zh-CN" altLang="en-US" dirty="0"/>
              <a:t>	关系代数运算</a:t>
            </a:r>
            <a:endParaRPr lang="zh-CN" altLang="en-US" dirty="0"/>
          </a:p>
          <a:p>
            <a:pPr lvl="2" algn="just">
              <a:lnSpc>
                <a:spcPct val="90000"/>
              </a:lnSpc>
            </a:pPr>
            <a:r>
              <a:rPr lang="zh-CN" altLang="en-US" dirty="0"/>
              <a:t>并、差、交、笛卡尔积、投影、选择、连接、除</a:t>
            </a:r>
            <a:endParaRPr lang="zh-CN" altLang="en-US" dirty="0"/>
          </a:p>
          <a:p>
            <a:pPr lvl="1" algn="just">
              <a:lnSpc>
                <a:spcPct val="90000"/>
              </a:lnSpc>
            </a:pPr>
            <a:r>
              <a:rPr lang="zh-CN" altLang="en-US" dirty="0"/>
              <a:t>	基本运算</a:t>
            </a:r>
            <a:endParaRPr lang="zh-CN" altLang="en-US" dirty="0"/>
          </a:p>
          <a:p>
            <a:pPr lvl="2" algn="just">
              <a:lnSpc>
                <a:spcPct val="90000"/>
              </a:lnSpc>
            </a:pPr>
            <a:r>
              <a:rPr lang="zh-CN" altLang="en-US" dirty="0"/>
              <a:t>并、差、笛卡尔积、投影、选择</a:t>
            </a:r>
            <a:endParaRPr lang="zh-CN" altLang="en-US" dirty="0"/>
          </a:p>
          <a:p>
            <a:pPr lvl="1" algn="just">
              <a:lnSpc>
                <a:spcPct val="90000"/>
              </a:lnSpc>
            </a:pPr>
            <a:r>
              <a:rPr lang="zh-CN" altLang="en-US" dirty="0"/>
              <a:t>	交、连接、除</a:t>
            </a:r>
            <a:endParaRPr lang="zh-CN" altLang="en-US" dirty="0"/>
          </a:p>
          <a:p>
            <a:pPr lvl="2" algn="just">
              <a:lnSpc>
                <a:spcPct val="90000"/>
              </a:lnSpc>
            </a:pPr>
            <a:r>
              <a:rPr lang="zh-CN" altLang="en-US" dirty="0"/>
              <a:t>可以用</a:t>
            </a:r>
            <a:r>
              <a:rPr lang="en-US" altLang="zh-CN" dirty="0"/>
              <a:t>5</a:t>
            </a:r>
            <a:r>
              <a:rPr lang="zh-CN" altLang="en-US" dirty="0"/>
              <a:t>种基本运算来表达</a:t>
            </a:r>
            <a:endParaRPr lang="zh-CN" altLang="en-US" dirty="0"/>
          </a:p>
          <a:p>
            <a:pPr lvl="2" algn="just">
              <a:lnSpc>
                <a:spcPct val="90000"/>
              </a:lnSpc>
            </a:pPr>
            <a:r>
              <a:rPr lang="zh-CN" altLang="en-US" dirty="0"/>
              <a:t>引进它们并不增加语言的能力，但可以简化表达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14060</Words>
  <Application>WPS 演示</Application>
  <PresentationFormat>全屏显示(4:3)</PresentationFormat>
  <Paragraphs>4019</Paragraphs>
  <Slides>109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109</vt:i4>
      </vt:variant>
    </vt:vector>
  </HeadingPairs>
  <TitlesOfParts>
    <vt:vector size="142" baseType="lpstr">
      <vt:lpstr>Arial</vt:lpstr>
      <vt:lpstr>宋体</vt:lpstr>
      <vt:lpstr>Wingdings</vt:lpstr>
      <vt:lpstr>Verdana</vt:lpstr>
      <vt:lpstr>Calibri</vt:lpstr>
      <vt:lpstr>隶书</vt:lpstr>
      <vt:lpstr>楷体_GB2312</vt:lpstr>
      <vt:lpstr>新宋体</vt:lpstr>
      <vt:lpstr>Times New Roman</vt:lpstr>
      <vt:lpstr>黑体</vt:lpstr>
      <vt:lpstr>Symbol</vt:lpstr>
      <vt:lpstr>经典平黑简</vt:lpstr>
      <vt:lpstr>楷体</vt:lpstr>
      <vt:lpstr>MS Gothic</vt:lpstr>
      <vt:lpstr>楷体_GB2312</vt:lpstr>
      <vt:lpstr>微软雅黑</vt:lpstr>
      <vt:lpstr>Arial Unicode MS</vt:lpstr>
      <vt:lpstr>Times New Roman</vt:lpstr>
      <vt:lpstr>Calibri</vt:lpstr>
      <vt:lpstr>Wingdings</vt:lpstr>
      <vt:lpstr>Profile</vt:lpstr>
      <vt:lpstr>Equation.3</vt:lpstr>
      <vt:lpstr>Photoshop.Image.7</vt:lpstr>
      <vt:lpstr>Photoshop.Image.7</vt:lpstr>
      <vt:lpstr>Photoshop.Image.7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Photoshop.Image.7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补充知识</dc:title>
  <dc:creator>微软用户</dc:creator>
  <cp:lastModifiedBy>shr</cp:lastModifiedBy>
  <cp:revision>118</cp:revision>
  <dcterms:created xsi:type="dcterms:W3CDTF">2014-03-04T01:24:19Z</dcterms:created>
  <dcterms:modified xsi:type="dcterms:W3CDTF">2026-03-22T11:09:15Z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57DEC0DEFDC547BC82A79AAF672F1101_13</vt:lpwstr>
  </property>
</Properties>
</file>