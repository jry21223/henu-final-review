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gif" ContentType="image/gif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3" r:id="rId4"/>
    <p:sldMasterId id="2147483655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9" r:id="rId12"/>
    <p:sldMasterId id="2147483673" r:id="rId13"/>
    <p:sldMasterId id="2147483675" r:id="rId14"/>
  </p:sldMasterIdLst>
  <p:notesMasterIdLst>
    <p:notesMasterId r:id="rId30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  <p:sldId id="284" r:id="rId44"/>
    <p:sldId id="285" r:id="rId45"/>
    <p:sldId id="286" r:id="rId46"/>
    <p:sldId id="287" r:id="rId47"/>
    <p:sldId id="306" r:id="rId48"/>
    <p:sldId id="288" r:id="rId49"/>
    <p:sldId id="289" r:id="rId50"/>
    <p:sldId id="307" r:id="rId51"/>
    <p:sldId id="308" r:id="rId52"/>
    <p:sldId id="309" r:id="rId53"/>
    <p:sldId id="291" r:id="rId54"/>
    <p:sldId id="293" r:id="rId55"/>
    <p:sldId id="290" r:id="rId56"/>
    <p:sldId id="316" r:id="rId57"/>
    <p:sldId id="294" r:id="rId58"/>
    <p:sldId id="295" r:id="rId59"/>
    <p:sldId id="296" r:id="rId60"/>
    <p:sldId id="297" r:id="rId61"/>
    <p:sldId id="298" r:id="rId62"/>
    <p:sldId id="299" r:id="rId63"/>
    <p:sldId id="300" r:id="rId64"/>
    <p:sldId id="301" r:id="rId65"/>
    <p:sldId id="302" r:id="rId66"/>
    <p:sldId id="310" r:id="rId67"/>
    <p:sldId id="311" r:id="rId68"/>
    <p:sldId id="312" r:id="rId69"/>
    <p:sldId id="313" r:id="rId70"/>
    <p:sldId id="314" r:id="rId71"/>
    <p:sldId id="315" r:id="rId72"/>
    <p:sldId id="305" r:id="rId73"/>
  </p:sldIdLst>
  <p:sldSz cx="9144000" cy="6858000" type="screen4x3"/>
  <p:notesSz cx="6858000" cy="9144000"/>
  <p:custDataLst>
    <p:tags r:id="rId7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55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7" Type="http://schemas.openxmlformats.org/officeDocument/2006/relationships/tags" Target="tags/tag2.xml"/><Relationship Id="rId76" Type="http://schemas.openxmlformats.org/officeDocument/2006/relationships/tableStyles" Target="tableStyles.xml"/><Relationship Id="rId75" Type="http://schemas.openxmlformats.org/officeDocument/2006/relationships/viewProps" Target="viewProps.xml"/><Relationship Id="rId74" Type="http://schemas.openxmlformats.org/officeDocument/2006/relationships/presProps" Target="presProps.xml"/><Relationship Id="rId73" Type="http://schemas.openxmlformats.org/officeDocument/2006/relationships/slide" Target="slides/slide58.xml"/><Relationship Id="rId72" Type="http://schemas.openxmlformats.org/officeDocument/2006/relationships/slide" Target="slides/slide57.xml"/><Relationship Id="rId71" Type="http://schemas.openxmlformats.org/officeDocument/2006/relationships/slide" Target="slides/slide56.xml"/><Relationship Id="rId70" Type="http://schemas.openxmlformats.org/officeDocument/2006/relationships/slide" Target="slides/slide55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54.xml"/><Relationship Id="rId68" Type="http://schemas.openxmlformats.org/officeDocument/2006/relationships/slide" Target="slides/slide53.xml"/><Relationship Id="rId67" Type="http://schemas.openxmlformats.org/officeDocument/2006/relationships/slide" Target="slides/slide52.xml"/><Relationship Id="rId66" Type="http://schemas.openxmlformats.org/officeDocument/2006/relationships/slide" Target="slides/slide51.xml"/><Relationship Id="rId65" Type="http://schemas.openxmlformats.org/officeDocument/2006/relationships/slide" Target="slides/slide50.xml"/><Relationship Id="rId64" Type="http://schemas.openxmlformats.org/officeDocument/2006/relationships/slide" Target="slides/slide49.xml"/><Relationship Id="rId63" Type="http://schemas.openxmlformats.org/officeDocument/2006/relationships/slide" Target="slides/slide48.xml"/><Relationship Id="rId62" Type="http://schemas.openxmlformats.org/officeDocument/2006/relationships/slide" Target="slides/slide47.xml"/><Relationship Id="rId61" Type="http://schemas.openxmlformats.org/officeDocument/2006/relationships/slide" Target="slides/slide46.xml"/><Relationship Id="rId60" Type="http://schemas.openxmlformats.org/officeDocument/2006/relationships/slide" Target="slides/slide45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44.xml"/><Relationship Id="rId58" Type="http://schemas.openxmlformats.org/officeDocument/2006/relationships/slide" Target="slides/slide43.xml"/><Relationship Id="rId57" Type="http://schemas.openxmlformats.org/officeDocument/2006/relationships/slide" Target="slides/slide42.xml"/><Relationship Id="rId56" Type="http://schemas.openxmlformats.org/officeDocument/2006/relationships/slide" Target="slides/slide41.xml"/><Relationship Id="rId55" Type="http://schemas.openxmlformats.org/officeDocument/2006/relationships/slide" Target="slides/slide40.xml"/><Relationship Id="rId54" Type="http://schemas.openxmlformats.org/officeDocument/2006/relationships/slide" Target="slides/slide39.xml"/><Relationship Id="rId53" Type="http://schemas.openxmlformats.org/officeDocument/2006/relationships/slide" Target="slides/slide38.xml"/><Relationship Id="rId52" Type="http://schemas.openxmlformats.org/officeDocument/2006/relationships/slide" Target="slides/slide37.xml"/><Relationship Id="rId51" Type="http://schemas.openxmlformats.org/officeDocument/2006/relationships/slide" Target="slides/slide36.xml"/><Relationship Id="rId50" Type="http://schemas.openxmlformats.org/officeDocument/2006/relationships/slide" Target="slides/slide35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4.xml"/><Relationship Id="rId48" Type="http://schemas.openxmlformats.org/officeDocument/2006/relationships/slide" Target="slides/slide33.xml"/><Relationship Id="rId47" Type="http://schemas.openxmlformats.org/officeDocument/2006/relationships/slide" Target="slides/slide32.xml"/><Relationship Id="rId46" Type="http://schemas.openxmlformats.org/officeDocument/2006/relationships/slide" Target="slides/slide31.xml"/><Relationship Id="rId45" Type="http://schemas.openxmlformats.org/officeDocument/2006/relationships/slide" Target="slides/slide30.xml"/><Relationship Id="rId44" Type="http://schemas.openxmlformats.org/officeDocument/2006/relationships/slide" Target="slides/slide29.xml"/><Relationship Id="rId43" Type="http://schemas.openxmlformats.org/officeDocument/2006/relationships/slide" Target="slides/slide28.xml"/><Relationship Id="rId42" Type="http://schemas.openxmlformats.org/officeDocument/2006/relationships/slide" Target="slides/slide27.xml"/><Relationship Id="rId41" Type="http://schemas.openxmlformats.org/officeDocument/2006/relationships/slide" Target="slides/slide26.xml"/><Relationship Id="rId40" Type="http://schemas.openxmlformats.org/officeDocument/2006/relationships/slide" Target="slides/slide2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4.xml"/><Relationship Id="rId38" Type="http://schemas.openxmlformats.org/officeDocument/2006/relationships/slide" Target="slides/slide23.xml"/><Relationship Id="rId37" Type="http://schemas.openxmlformats.org/officeDocument/2006/relationships/slide" Target="slides/slide22.xml"/><Relationship Id="rId36" Type="http://schemas.openxmlformats.org/officeDocument/2006/relationships/slide" Target="slides/slide21.xml"/><Relationship Id="rId35" Type="http://schemas.openxmlformats.org/officeDocument/2006/relationships/slide" Target="slides/slide20.xml"/><Relationship Id="rId34" Type="http://schemas.openxmlformats.org/officeDocument/2006/relationships/slide" Target="slides/slide19.xml"/><Relationship Id="rId33" Type="http://schemas.openxmlformats.org/officeDocument/2006/relationships/slide" Target="slides/slide18.xml"/><Relationship Id="rId32" Type="http://schemas.openxmlformats.org/officeDocument/2006/relationships/slide" Target="slides/slide17.xml"/><Relationship Id="rId31" Type="http://schemas.openxmlformats.org/officeDocument/2006/relationships/slide" Target="slides/slide16.xml"/><Relationship Id="rId30" Type="http://schemas.openxmlformats.org/officeDocument/2006/relationships/notesMaster" Target="notesMasters/notesMaster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5.xml"/><Relationship Id="rId28" Type="http://schemas.openxmlformats.org/officeDocument/2006/relationships/slide" Target="slides/slide14.xml"/><Relationship Id="rId27" Type="http://schemas.openxmlformats.org/officeDocument/2006/relationships/slide" Target="slides/slide13.xml"/><Relationship Id="rId26" Type="http://schemas.openxmlformats.org/officeDocument/2006/relationships/slide" Target="slides/slide12.xml"/><Relationship Id="rId25" Type="http://schemas.openxmlformats.org/officeDocument/2006/relationships/slide" Target="slides/slide11.xml"/><Relationship Id="rId24" Type="http://schemas.openxmlformats.org/officeDocument/2006/relationships/slide" Target="slides/slide10.xml"/><Relationship Id="rId23" Type="http://schemas.openxmlformats.org/officeDocument/2006/relationships/slide" Target="slides/slide9.xml"/><Relationship Id="rId22" Type="http://schemas.openxmlformats.org/officeDocument/2006/relationships/slide" Target="slides/slide8.xml"/><Relationship Id="rId21" Type="http://schemas.openxmlformats.org/officeDocument/2006/relationships/slide" Target="slides/slide7.xml"/><Relationship Id="rId20" Type="http://schemas.openxmlformats.org/officeDocument/2006/relationships/slide" Target="slides/slide6.xml"/><Relationship Id="rId2" Type="http://schemas.openxmlformats.org/officeDocument/2006/relationships/theme" Target="theme/theme1.xml"/><Relationship Id="rId19" Type="http://schemas.openxmlformats.org/officeDocument/2006/relationships/slide" Target="slides/slide5.xml"/><Relationship Id="rId18" Type="http://schemas.openxmlformats.org/officeDocument/2006/relationships/slide" Target="slides/slide4.xml"/><Relationship Id="rId17" Type="http://schemas.openxmlformats.org/officeDocument/2006/relationships/slide" Target="slides/slide3.xml"/><Relationship Id="rId16" Type="http://schemas.openxmlformats.org/officeDocument/2006/relationships/slide" Target="slides/slide2.xml"/><Relationship Id="rId15" Type="http://schemas.openxmlformats.org/officeDocument/2006/relationships/slide" Target="slides/slide1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2D7DB-B012-4832-B93B-A165D594FF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F3C4E6-EDD3-4882-9447-3371645A442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C44C0D22-7357-44DB-A7B5-F6B2C264969C}" type="slidenum">
              <a:rPr lang="en-US" altLang="zh-CN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altLang="zh-CN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r>
              <a:rPr lang="en-US" altLang="zh-CN" smtClean="0">
                <a:latin typeface="Arial" panose="020B0604020202020204" pitchFamily="34" charset="0"/>
              </a:rPr>
              <a:t>SMALL(p,q)</a:t>
            </a:r>
            <a:r>
              <a:rPr lang="zh-CN" altLang="en-US" smtClean="0">
                <a:latin typeface="Arial" panose="020B0604020202020204" pitchFamily="34" charset="0"/>
              </a:rPr>
              <a:t>：</a:t>
            </a:r>
            <a:r>
              <a:rPr kumimoji="1" lang="zh-CN" altLang="en-US" smtClean="0">
                <a:solidFill>
                  <a:srgbClr val="336600"/>
                </a:solidFill>
                <a:latin typeface="Arial" panose="020B0604020202020204" pitchFamily="34" charset="0"/>
              </a:rPr>
              <a:t>判断输入规模</a:t>
            </a:r>
            <a:r>
              <a:rPr kumimoji="1" lang="en-US" altLang="zh-CN" smtClean="0">
                <a:solidFill>
                  <a:srgbClr val="336600"/>
                </a:solidFill>
                <a:latin typeface="Arial" panose="020B0604020202020204" pitchFamily="34" charset="0"/>
              </a:rPr>
              <a:t>q-p+1</a:t>
            </a:r>
            <a:r>
              <a:rPr kumimoji="1" lang="zh-CN" altLang="en-US" smtClean="0">
                <a:solidFill>
                  <a:srgbClr val="336600"/>
                </a:solidFill>
                <a:latin typeface="Arial" panose="020B0604020202020204" pitchFamily="34" charset="0"/>
              </a:rPr>
              <a:t>是否足够的小</a:t>
            </a:r>
            <a:endParaRPr kumimoji="1" lang="zh-CN" altLang="en-US" smtClean="0">
              <a:solidFill>
                <a:srgbClr val="3366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800" smtClean="0">
                <a:latin typeface="Arial" panose="020B0604020202020204" pitchFamily="34" charset="0"/>
              </a:rPr>
              <a:t>G(p,q)</a:t>
            </a:r>
            <a:r>
              <a:rPr lang="zh-CN" altLang="en-US" sz="800" smtClean="0">
                <a:latin typeface="Arial" panose="020B0604020202020204" pitchFamily="34" charset="0"/>
              </a:rPr>
              <a:t>：</a:t>
            </a:r>
            <a:r>
              <a:rPr kumimoji="1" lang="zh-CN" altLang="en-US" smtClean="0">
                <a:solidFill>
                  <a:srgbClr val="336600"/>
                </a:solidFill>
                <a:latin typeface="Arial" panose="020B0604020202020204" pitchFamily="34" charset="0"/>
              </a:rPr>
              <a:t>求解最小输入规模问题解的函数</a:t>
            </a:r>
            <a:endParaRPr kumimoji="1" lang="zh-CN" altLang="en-US" smtClean="0">
              <a:solidFill>
                <a:srgbClr val="3366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800" smtClean="0">
                <a:latin typeface="Arial" panose="020B0604020202020204" pitchFamily="34" charset="0"/>
                <a:sym typeface="Wingdings" panose="05000000000000000000" pitchFamily="2" charset="2"/>
              </a:rPr>
              <a:t>DIVIDE(p,q)</a:t>
            </a:r>
            <a:r>
              <a:rPr lang="zh-CN" altLang="en-US" sz="800" smtClean="0">
                <a:latin typeface="Arial" panose="020B0604020202020204" pitchFamily="34" charset="0"/>
                <a:sym typeface="Wingdings" panose="05000000000000000000" pitchFamily="2" charset="2"/>
              </a:rPr>
              <a:t>：划分函数，划分输入规模</a:t>
            </a:r>
            <a:endParaRPr lang="zh-CN" altLang="en-US" sz="800" smtClean="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/>
            <a:r>
              <a:rPr lang="en-US" altLang="zh-CN" sz="800" smtClean="0">
                <a:latin typeface="Arial" panose="020B0604020202020204" pitchFamily="34" charset="0"/>
                <a:sym typeface="Wingdings" panose="05000000000000000000" pitchFamily="2" charset="2"/>
              </a:rPr>
              <a:t>COMBINE(</a:t>
            </a:r>
            <a:r>
              <a:rPr lang="en-US" altLang="zh-CN" sz="800" smtClean="0">
                <a:solidFill>
                  <a:srgbClr val="FF33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DANDC(p,m)</a:t>
            </a:r>
            <a:r>
              <a:rPr lang="en-US" altLang="zh-CN" sz="800" smtClean="0">
                <a:latin typeface="Arial" panose="020B0604020202020204" pitchFamily="34" charset="0"/>
                <a:sym typeface="Wingdings" panose="05000000000000000000" pitchFamily="2" charset="2"/>
              </a:rPr>
              <a:t>,</a:t>
            </a:r>
            <a:r>
              <a:rPr lang="en-US" altLang="zh-CN" sz="800" smtClean="0">
                <a:solidFill>
                  <a:srgbClr val="FF33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DANDC(m+1,q)</a:t>
            </a:r>
            <a:r>
              <a:rPr lang="en-US" altLang="zh-CN" sz="800" smtClean="0">
                <a:latin typeface="Arial" panose="020B0604020202020204" pitchFamily="34" charset="0"/>
                <a:sym typeface="Wingdings" panose="05000000000000000000" pitchFamily="2" charset="2"/>
              </a:rPr>
              <a:t>)</a:t>
            </a:r>
            <a:r>
              <a:rPr lang="zh-CN" altLang="en-US" sz="800" smtClean="0">
                <a:latin typeface="Arial" panose="020B0604020202020204" pitchFamily="34" charset="0"/>
                <a:sym typeface="Wingdings" panose="05000000000000000000" pitchFamily="2" charset="2"/>
              </a:rPr>
              <a:t>：合并两个子问题的解。递归调用。</a:t>
            </a:r>
            <a:endParaRPr lang="zh-CN" altLang="en-US" sz="800" smtClean="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/>
            <a:endParaRPr lang="zh-CN" altLang="en-US" sz="800" smtClean="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z="800" smtClean="0">
                <a:latin typeface="Arial" panose="020B0604020202020204" pitchFamily="34" charset="0"/>
                <a:sym typeface="Wingdings" panose="05000000000000000000" pitchFamily="2" charset="2"/>
              </a:rPr>
              <a:t>一般常见的是划分为</a:t>
            </a:r>
            <a:r>
              <a:rPr lang="en-US" altLang="zh-CN" sz="800" smtClean="0">
                <a:latin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zh-CN" altLang="en-US" sz="800" smtClean="0">
                <a:latin typeface="Arial" panose="020B0604020202020204" pitchFamily="34" charset="0"/>
                <a:sym typeface="Wingdings" panose="05000000000000000000" pitchFamily="2" charset="2"/>
              </a:rPr>
              <a:t>个子问题，因此又叫二分法。</a:t>
            </a:r>
            <a:endParaRPr lang="zh-CN" altLang="en-US" sz="800" smtClean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A4654E9-FC8A-400E-928A-6ACAB5D27E54}" type="slidenum">
              <a:rPr lang="en-US" altLang="zh-CN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altLang="zh-CN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r>
              <a:rPr lang="zh-CN" altLang="en-US" b="1" smtClean="0">
                <a:latin typeface="Arial" panose="020B0604020202020204" pitchFamily="34" charset="0"/>
              </a:rPr>
              <a:t>效率分析：</a:t>
            </a:r>
            <a:endParaRPr lang="zh-CN" altLang="en-US" b="1" smtClean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算法的时间主要消耗在求解最小规模问题的解</a:t>
            </a:r>
            <a:r>
              <a:rPr lang="en-US" altLang="zh-CN" smtClean="0">
                <a:latin typeface="Arial" panose="020B0604020202020204" pitchFamily="34" charset="0"/>
              </a:rPr>
              <a:t>G(p,q)</a:t>
            </a:r>
            <a:r>
              <a:rPr lang="zh-CN" altLang="en-US" smtClean="0">
                <a:latin typeface="Arial" panose="020B0604020202020204" pitchFamily="34" charset="0"/>
              </a:rPr>
              <a:t>、划分问题</a:t>
            </a:r>
            <a:r>
              <a:rPr lang="en-US" altLang="zh-CN" sz="800" smtClean="0">
                <a:latin typeface="Arial" panose="020B0604020202020204" pitchFamily="34" charset="0"/>
                <a:sym typeface="Wingdings" panose="05000000000000000000" pitchFamily="2" charset="2"/>
              </a:rPr>
              <a:t>DIVIDE(p,q) </a:t>
            </a:r>
            <a:r>
              <a:rPr lang="zh-CN" altLang="en-US" smtClean="0">
                <a:latin typeface="Arial" panose="020B0604020202020204" pitchFamily="34" charset="0"/>
              </a:rPr>
              <a:t>、合并子问题的解三个部分。</a:t>
            </a:r>
            <a:endParaRPr lang="zh-CN" altLang="en-US" smtClean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计</a:t>
            </a:r>
            <a:r>
              <a:rPr lang="en-US" altLang="zh-CN" smtClean="0">
                <a:latin typeface="Arial" panose="020B0604020202020204" pitchFamily="34" charset="0"/>
              </a:rPr>
              <a:t>DANDC</a:t>
            </a:r>
            <a:r>
              <a:rPr lang="zh-CN" altLang="en-US" smtClean="0">
                <a:latin typeface="Arial" panose="020B0604020202020204" pitchFamily="34" charset="0"/>
              </a:rPr>
              <a:t>的时间为</a:t>
            </a:r>
            <a:r>
              <a:rPr lang="en-US" altLang="zh-CN" smtClean="0">
                <a:latin typeface="Arial" panose="020B0604020202020204" pitchFamily="34" charset="0"/>
              </a:rPr>
              <a:t>T(n)</a:t>
            </a:r>
            <a:r>
              <a:rPr lang="zh-CN" altLang="en-US" smtClean="0">
                <a:latin typeface="Arial" panose="020B0604020202020204" pitchFamily="34" charset="0"/>
              </a:rPr>
              <a:t>，</a:t>
            </a:r>
            <a:r>
              <a:rPr lang="en-US" altLang="zh-CN" smtClean="0">
                <a:latin typeface="Arial" panose="020B0604020202020204" pitchFamily="34" charset="0"/>
              </a:rPr>
              <a:t>G(p,q)</a:t>
            </a:r>
            <a:r>
              <a:rPr lang="zh-CN" altLang="en-US" smtClean="0">
                <a:latin typeface="Arial" panose="020B0604020202020204" pitchFamily="34" charset="0"/>
              </a:rPr>
              <a:t>的时间为</a:t>
            </a:r>
            <a:r>
              <a:rPr lang="en-US" altLang="zh-CN" smtClean="0">
                <a:latin typeface="Arial" panose="020B0604020202020204" pitchFamily="34" charset="0"/>
              </a:rPr>
              <a:t>g(n)</a:t>
            </a:r>
            <a:r>
              <a:rPr lang="zh-CN" altLang="en-US" smtClean="0">
                <a:latin typeface="Arial" panose="020B0604020202020204" pitchFamily="34" charset="0"/>
              </a:rPr>
              <a:t>， </a:t>
            </a:r>
            <a:r>
              <a:rPr lang="en-US" altLang="zh-CN" sz="800" smtClean="0">
                <a:latin typeface="Arial" panose="020B0604020202020204" pitchFamily="34" charset="0"/>
                <a:sym typeface="Wingdings" panose="05000000000000000000" pitchFamily="2" charset="2"/>
              </a:rPr>
              <a:t>DIVIDE(p,q) </a:t>
            </a:r>
            <a:r>
              <a:rPr lang="zh-CN" altLang="en-US" sz="800" smtClean="0">
                <a:latin typeface="Arial" panose="020B0604020202020204" pitchFamily="34" charset="0"/>
                <a:sym typeface="Wingdings" panose="05000000000000000000" pitchFamily="2" charset="2"/>
              </a:rPr>
              <a:t>的时间为</a:t>
            </a:r>
            <a:r>
              <a:rPr lang="en-US" altLang="zh-CN" sz="800" smtClean="0">
                <a:latin typeface="Arial" panose="020B0604020202020204" pitchFamily="34" charset="0"/>
                <a:sym typeface="Wingdings" panose="05000000000000000000" pitchFamily="2" charset="2"/>
              </a:rPr>
              <a:t>f(n)</a:t>
            </a:r>
            <a:r>
              <a:rPr lang="zh-CN" altLang="en-US" sz="800" smtClean="0">
                <a:latin typeface="Arial" panose="020B0604020202020204" pitchFamily="34" charset="0"/>
                <a:sym typeface="Wingdings" panose="05000000000000000000" pitchFamily="2" charset="2"/>
              </a:rPr>
              <a:t>，由于合并子问题的解是递归调用了</a:t>
            </a:r>
            <a:r>
              <a:rPr lang="en-US" altLang="zh-CN" sz="800" smtClean="0">
                <a:latin typeface="Arial" panose="020B0604020202020204" pitchFamily="34" charset="0"/>
                <a:sym typeface="Wingdings" panose="05000000000000000000" pitchFamily="2" charset="2"/>
              </a:rPr>
              <a:t>DANDC</a:t>
            </a:r>
            <a:r>
              <a:rPr lang="zh-CN" altLang="en-US" sz="800" smtClean="0">
                <a:latin typeface="Arial" panose="020B0604020202020204" pitchFamily="34" charset="0"/>
                <a:sym typeface="Wingdings" panose="05000000000000000000" pitchFamily="2" charset="2"/>
              </a:rPr>
              <a:t>，因此这一部分的时间为</a:t>
            </a:r>
            <a:r>
              <a:rPr lang="en-US" altLang="zh-CN" sz="800" smtClean="0">
                <a:latin typeface="Arial" panose="020B0604020202020204" pitchFamily="34" charset="0"/>
                <a:sym typeface="Wingdings" panose="05000000000000000000" pitchFamily="2" charset="2"/>
              </a:rPr>
              <a:t>2T(n/2)</a:t>
            </a:r>
            <a:endParaRPr lang="en-US" altLang="zh-CN" sz="800" smtClean="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z="800" smtClean="0">
                <a:latin typeface="Arial" panose="020B0604020202020204" pitchFamily="34" charset="0"/>
                <a:sym typeface="Wingdings" panose="05000000000000000000" pitchFamily="2" charset="2"/>
              </a:rPr>
              <a:t>因此</a:t>
            </a:r>
            <a:r>
              <a:rPr lang="en-US" altLang="zh-CN" sz="800" smtClean="0">
                <a:latin typeface="Arial" panose="020B0604020202020204" pitchFamily="34" charset="0"/>
                <a:sym typeface="Wingdings" panose="05000000000000000000" pitchFamily="2" charset="2"/>
              </a:rPr>
              <a:t>DANDC</a:t>
            </a:r>
            <a:r>
              <a:rPr lang="zh-CN" altLang="en-US" sz="800" smtClean="0">
                <a:latin typeface="Arial" panose="020B0604020202020204" pitchFamily="34" charset="0"/>
                <a:sym typeface="Wingdings" panose="05000000000000000000" pitchFamily="2" charset="2"/>
              </a:rPr>
              <a:t>的时间</a:t>
            </a:r>
            <a:r>
              <a:rPr lang="en-US" altLang="zh-CN" sz="800" smtClean="0">
                <a:latin typeface="Arial" panose="020B0604020202020204" pitchFamily="34" charset="0"/>
                <a:sym typeface="Wingdings" panose="05000000000000000000" pitchFamily="2" charset="2"/>
              </a:rPr>
              <a:t>T(n)</a:t>
            </a:r>
            <a:r>
              <a:rPr lang="zh-CN" altLang="en-US" sz="800" smtClean="0">
                <a:latin typeface="Arial" panose="020B0604020202020204" pitchFamily="34" charset="0"/>
                <a:sym typeface="Wingdings" panose="05000000000000000000" pitchFamily="2" charset="2"/>
              </a:rPr>
              <a:t>当输入规模足够小的时候为</a:t>
            </a:r>
            <a:r>
              <a:rPr lang="en-US" altLang="zh-CN" sz="800" smtClean="0">
                <a:latin typeface="Arial" panose="020B0604020202020204" pitchFamily="34" charset="0"/>
                <a:sym typeface="Wingdings" panose="05000000000000000000" pitchFamily="2" charset="2"/>
              </a:rPr>
              <a:t>g(n)</a:t>
            </a:r>
            <a:r>
              <a:rPr lang="zh-CN" altLang="en-US" sz="800" smtClean="0">
                <a:latin typeface="Arial" panose="020B0604020202020204" pitchFamily="34" charset="0"/>
                <a:sym typeface="Wingdings" panose="05000000000000000000" pitchFamily="2" charset="2"/>
              </a:rPr>
              <a:t>，其他时候为划分时间与合并子问题解的时间之和，即</a:t>
            </a:r>
            <a:r>
              <a:rPr lang="en-US" altLang="zh-CN" sz="800" smtClean="0">
                <a:latin typeface="Arial" panose="020B0604020202020204" pitchFamily="34" charset="0"/>
                <a:sym typeface="Wingdings" panose="05000000000000000000" pitchFamily="2" charset="2"/>
              </a:rPr>
              <a:t>2T(n/2)+f(n)</a:t>
            </a:r>
            <a:endParaRPr lang="en-US" altLang="zh-CN" sz="800" smtClean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2E7F0527-B81E-48B9-BD36-F9608BD70FF5}" type="slidenum">
              <a:rPr lang="en-US" altLang="zh-CN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altLang="zh-CN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问题：合并如何实现？</a:t>
            </a:r>
            <a:endParaRPr lang="zh-CN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D73974A4-6E35-4693-9B1B-C6440241C474}" type="slidenum">
              <a:rPr lang="en-US" altLang="zh-CN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altLang="zh-CN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问题</a:t>
            </a:r>
            <a:r>
              <a:rPr lang="en-US" altLang="zh-CN" smtClean="0">
                <a:latin typeface="Arial" panose="020B0604020202020204" pitchFamily="34" charset="0"/>
              </a:rPr>
              <a:t>I=(n,A[0...n-1])</a:t>
            </a:r>
            <a:r>
              <a:rPr lang="zh-CN" altLang="en-US" smtClean="0">
                <a:latin typeface="Arial" panose="020B0604020202020204" pitchFamily="34" charset="0"/>
              </a:rPr>
              <a:t>表示有</a:t>
            </a:r>
            <a:r>
              <a:rPr lang="en-US" altLang="zh-CN" smtClean="0">
                <a:latin typeface="Arial" panose="020B0604020202020204" pitchFamily="34" charset="0"/>
              </a:rPr>
              <a:t>n</a:t>
            </a:r>
            <a:r>
              <a:rPr lang="zh-CN" altLang="en-US" smtClean="0">
                <a:latin typeface="Arial" panose="020B0604020202020204" pitchFamily="34" charset="0"/>
              </a:rPr>
              <a:t>个输入，分别在数组</a:t>
            </a:r>
            <a:r>
              <a:rPr lang="en-US" altLang="zh-CN" smtClean="0">
                <a:latin typeface="Arial" panose="020B0604020202020204" pitchFamily="34" charset="0"/>
              </a:rPr>
              <a:t>A</a:t>
            </a:r>
            <a:r>
              <a:rPr lang="zh-CN" altLang="en-US" smtClean="0">
                <a:latin typeface="Arial" panose="020B0604020202020204" pitchFamily="34" charset="0"/>
              </a:rPr>
              <a:t>中。</a:t>
            </a:r>
            <a:endParaRPr lang="zh-CN" altLang="en-US" smtClean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合并排序问题的划分后的最小子问题中只有一个元素，该问题不需要进行任何元素的比较。</a:t>
            </a:r>
            <a:endParaRPr lang="zh-CN" altLang="en-US" smtClean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元素的比较在合并问题时进行。</a:t>
            </a:r>
            <a:endParaRPr lang="zh-CN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110F1BFE-E102-4F2B-969A-0B5205B0927B}" type="slidenum">
              <a:rPr lang="en-US" altLang="zh-CN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altLang="zh-CN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使用辅助数组</a:t>
            </a:r>
            <a:r>
              <a:rPr lang="en-US" altLang="zh-CN" smtClean="0">
                <a:latin typeface="Arial" panose="020B0604020202020204" pitchFamily="34" charset="0"/>
              </a:rPr>
              <a:t>A</a:t>
            </a:r>
            <a:r>
              <a:rPr lang="zh-CN" altLang="en-US" smtClean="0">
                <a:latin typeface="Arial" panose="020B0604020202020204" pitchFamily="34" charset="0"/>
              </a:rPr>
              <a:t>，将已排序的两个数组的元素进行比较后依次将小（大）的拷贝到数组</a:t>
            </a:r>
            <a:r>
              <a:rPr lang="en-US" altLang="zh-CN" smtClean="0">
                <a:latin typeface="Arial" panose="020B0604020202020204" pitchFamily="34" charset="0"/>
              </a:rPr>
              <a:t>A</a:t>
            </a:r>
            <a:r>
              <a:rPr lang="zh-CN" altLang="en-US" smtClean="0">
                <a:latin typeface="Arial" panose="020B0604020202020204" pitchFamily="34" charset="0"/>
              </a:rPr>
              <a:t>中，当已排序的两个数组中的一个扫描完后，将另一数组中剩余的元素直接拷贝到数组</a:t>
            </a:r>
            <a:r>
              <a:rPr lang="en-US" altLang="zh-CN" smtClean="0">
                <a:latin typeface="Arial" panose="020B0604020202020204" pitchFamily="34" charset="0"/>
              </a:rPr>
              <a:t>A</a:t>
            </a:r>
            <a:r>
              <a:rPr lang="zh-CN" altLang="en-US" smtClean="0">
                <a:latin typeface="Arial" panose="020B0604020202020204" pitchFamily="34" charset="0"/>
              </a:rPr>
              <a:t>中即可。</a:t>
            </a:r>
            <a:endParaRPr lang="zh-CN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1DACBE3-8544-4258-9123-3EE7E086788C}" type="slidenum">
              <a:rPr lang="en-US" altLang="zh-CN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altLang="zh-CN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合并排序算法很简单，使用递归调用</a:t>
            </a:r>
            <a:endParaRPr lang="zh-CN" altLang="en-US" smtClean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困难的在于合并子问题解的算法</a:t>
            </a:r>
            <a:endParaRPr lang="zh-CN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D757BCF7-38AB-4690-916D-27ABDC667A55}" type="slidenum">
              <a:rPr lang="en-US" altLang="zh-CN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altLang="zh-CN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利用迭代计算时间复杂度</a:t>
            </a:r>
            <a:endParaRPr lang="zh-CN" altLang="en-US" smtClean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在坐标中与冒泡排序对比</a:t>
            </a:r>
            <a:endParaRPr lang="zh-CN" altLang="en-US" smtClean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在</a:t>
            </a:r>
            <a:r>
              <a:rPr lang="en-US" altLang="zh-CN" smtClean="0">
                <a:latin typeface="Arial" panose="020B0604020202020204" pitchFamily="34" charset="0"/>
              </a:rPr>
              <a:t>Judge Online</a:t>
            </a:r>
            <a:r>
              <a:rPr lang="zh-CN" altLang="en-US" smtClean="0">
                <a:latin typeface="Arial" panose="020B0604020202020204" pitchFamily="34" charset="0"/>
              </a:rPr>
              <a:t>利用</a:t>
            </a:r>
            <a:r>
              <a:rPr lang="en-US" altLang="zh-CN" smtClean="0">
                <a:latin typeface="Arial" panose="020B0604020202020204" pitchFamily="34" charset="0"/>
              </a:rPr>
              <a:t>50000</a:t>
            </a:r>
            <a:r>
              <a:rPr lang="zh-CN" altLang="en-US" smtClean="0">
                <a:latin typeface="Arial" panose="020B0604020202020204" pitchFamily="34" charset="0"/>
              </a:rPr>
              <a:t>规模的数据测试结果比较与分析（坐标图中表格）</a:t>
            </a:r>
            <a:endParaRPr lang="zh-CN" altLang="en-US" smtClean="0">
              <a:latin typeface="Arial" panose="020B0604020202020204" pitchFamily="34" charset="0"/>
            </a:endParaRPr>
          </a:p>
          <a:p>
            <a:pPr eaLnBrk="1" hangingPunct="1"/>
            <a:endParaRPr lang="zh-CN" altLang="en-US" smtClean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mtClean="0">
                <a:latin typeface="Arial" panose="020B0604020202020204" pitchFamily="34" charset="0"/>
              </a:rPr>
              <a:t>http://acm.swust.edu.cn:8080/JudgeOnline/status</a:t>
            </a:r>
            <a:endParaRPr lang="en-US" altLang="zh-CN" smtClean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mtClean="0">
                <a:latin typeface="Arial" panose="020B0604020202020204" pitchFamily="34" charset="0"/>
              </a:rPr>
              <a:t>RUNID</a:t>
            </a:r>
            <a:r>
              <a:rPr lang="zh-CN" altLang="en-US" smtClean="0">
                <a:latin typeface="Arial" panose="020B0604020202020204" pitchFamily="34" charset="0"/>
              </a:rPr>
              <a:t>为</a:t>
            </a:r>
            <a:r>
              <a:rPr lang="en-US" altLang="zh-CN" smtClean="0">
                <a:latin typeface="Arial" panose="020B0604020202020204" pitchFamily="34" charset="0"/>
              </a:rPr>
              <a:t>7653</a:t>
            </a:r>
            <a:r>
              <a:rPr lang="zh-CN" altLang="en-US" smtClean="0">
                <a:latin typeface="Arial" panose="020B0604020202020204" pitchFamily="34" charset="0"/>
              </a:rPr>
              <a:t>和</a:t>
            </a:r>
            <a:r>
              <a:rPr lang="en-US" altLang="zh-CN" smtClean="0">
                <a:latin typeface="Arial" panose="020B0604020202020204" pitchFamily="34" charset="0"/>
              </a:rPr>
              <a:t>7651</a:t>
            </a:r>
            <a:endParaRPr lang="en-US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31DE0AA7-AE28-44B2-9077-D1A8DA02BC3C}" type="slidenum">
              <a:rPr lang="en-US" altLang="zh-CN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altLang="zh-CN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分析缺点</a:t>
            </a:r>
            <a:endParaRPr lang="zh-CN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CA11FA52-19B0-4A8C-9DA3-0A1A549A6B3B}" type="slidenum">
              <a:rPr lang="en-US" altLang="zh-CN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altLang="zh-CN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4B73C87B-3EB8-4886-9B6B-8150E62F3772}" type="slidenum">
              <a:rPr lang="en-US" altLang="zh-CN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altLang="zh-CN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ECAFA415-0D10-4624-94E5-43D2D52DBA28}" type="slidenum">
              <a:rPr lang="en-US" altLang="zh-CN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altLang="zh-CN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D5D76697-48C4-42D7-AE2A-5D6EF6CFD811}" type="slidenum">
              <a:rPr lang="en-US" altLang="zh-CN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altLang="zh-CN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32BFBADE-61B5-40F4-ABF8-E23D92683AE6}" type="slidenum">
              <a:rPr lang="en-US" altLang="zh-CN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altLang="zh-CN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image" Target="../media/image4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image" Target="../media/image4.png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1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image" Target="../media/image4.png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0700492-67D6-4100-B915-7A87085B46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71A294-7E5C-4AA3-9005-0612B2F9BB6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2B76928-B390-4BF3-814D-16563BA96F7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957459B-12FE-45AF-85D1-2EF859B4E8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971507A-F7A9-4A41-BD32-75990EB3F49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101F4B3-77DF-4F7F-A690-F941C38B415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9747E1C0-FE41-434C-83C4-1E5563EEBEDD}" type="slidenum">
              <a:rPr lang="en-US" altLang="zh-CN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9560320-D399-45AD-A8AC-C4B6B11D7F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0D277E76-A9AA-444C-A0A7-CD6EF30585E5}" type="slidenum">
              <a:rPr lang="en-US" altLang="zh-CN"/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5"/>
          <p:cNvSpPr>
            <a:spLocks noChangeArrowheads="1"/>
          </p:cNvSpPr>
          <p:nvPr/>
        </p:nvSpPr>
        <p:spPr bwMode="ltGray">
          <a:xfrm>
            <a:off x="0" y="981075"/>
            <a:ext cx="9144000" cy="1444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mtClean="0"/>
          </a:p>
        </p:txBody>
      </p:sp>
      <p:graphicFrame>
        <p:nvGraphicFramePr>
          <p:cNvPr id="5" name="Object 16"/>
          <p:cNvGraphicFramePr>
            <a:graphicFrameLocks noChangeAspect="1"/>
          </p:cNvGraphicFramePr>
          <p:nvPr/>
        </p:nvGraphicFramePr>
        <p:xfrm>
          <a:off x="0" y="0"/>
          <a:ext cx="914400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Image" r:id="rId2" imgW="10388600" imgH="1206500" progId="">
                  <p:embed/>
                </p:oleObj>
              </mc:Choice>
              <mc:Fallback>
                <p:oleObj name="Image" r:id="rId2" imgW="10388600" imgH="1206500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49CACD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66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C0C0C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 b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C3774BB-C014-4B14-8113-DCF97525178F}" type="datetime1">
              <a:rPr lang="en-US" altLang="zh-CN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6EF232F-126C-44C1-8AF2-C3CCE90B6F91}" type="slidenum">
              <a:rPr lang="en-US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/>
          <p:cNvSpPr>
            <a:spLocks noChangeArrowheads="1"/>
          </p:cNvSpPr>
          <p:nvPr/>
        </p:nvSpPr>
        <p:spPr bwMode="ltGray">
          <a:xfrm>
            <a:off x="0" y="981075"/>
            <a:ext cx="9144000" cy="1444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mtClean="0"/>
          </a:p>
        </p:txBody>
      </p:sp>
      <p:graphicFrame>
        <p:nvGraphicFramePr>
          <p:cNvPr id="3" name="Object 16"/>
          <p:cNvGraphicFramePr>
            <a:graphicFrameLocks noChangeAspect="1"/>
          </p:cNvGraphicFramePr>
          <p:nvPr/>
        </p:nvGraphicFramePr>
        <p:xfrm>
          <a:off x="0" y="0"/>
          <a:ext cx="914400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Image" r:id="rId2" imgW="10388600" imgH="1206500" progId="">
                  <p:embed/>
                </p:oleObj>
              </mc:Choice>
              <mc:Fallback>
                <p:oleObj name="Image" r:id="rId2" imgW="10388600" imgH="1206500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49CACD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66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C0C0C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485B1FE-6E95-4528-898C-890A577020AE}" type="datetime1">
              <a:rPr lang="en-US" altLang="zh-CN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B7C32E57-0BD7-4F2D-8918-6BE4ADD294F0}" type="slidenum">
              <a:rPr lang="en-US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showMasterSp="0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5"/>
          <p:cNvSpPr>
            <a:spLocks noChangeArrowheads="1"/>
          </p:cNvSpPr>
          <p:nvPr/>
        </p:nvSpPr>
        <p:spPr bwMode="ltGray">
          <a:xfrm>
            <a:off x="0" y="981075"/>
            <a:ext cx="9144000" cy="1444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mtClean="0"/>
          </a:p>
        </p:txBody>
      </p:sp>
      <p:graphicFrame>
        <p:nvGraphicFramePr>
          <p:cNvPr id="5" name="Object 16"/>
          <p:cNvGraphicFramePr>
            <a:graphicFrameLocks noChangeAspect="1"/>
          </p:cNvGraphicFramePr>
          <p:nvPr/>
        </p:nvGraphicFramePr>
        <p:xfrm>
          <a:off x="0" y="0"/>
          <a:ext cx="914400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Image" r:id="rId2" imgW="10388600" imgH="1206500" progId="">
                  <p:embed/>
                </p:oleObj>
              </mc:Choice>
              <mc:Fallback>
                <p:oleObj name="Image" r:id="rId2" imgW="10388600" imgH="1206500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49CACD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66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C0C0C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3413" y="319088"/>
            <a:ext cx="7896225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262063"/>
            <a:ext cx="8229600" cy="5248275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zh-CN" altLang="en-US" noProof="0" dirty="0" smtClean="0"/>
              <a:t>单击图标添加表格</a:t>
            </a:r>
            <a:endParaRPr lang="zh-CN" altLang="en-US" noProof="0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7FA9E3C-680F-40D5-B92E-E5855A136A74}" type="datetime1">
              <a:rPr lang="en-US" altLang="zh-CN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BEBCF50-2454-49FD-A90B-4F1A40AB89CB}" type="slidenum">
              <a:rPr lang="en-US" altLang="zh-CN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kumimoji="1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umimoji="1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E88C199-386D-4C39-A0E4-961D32021B5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F482F73A-0FE6-42E3-B362-E7F507AFAB4B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6C79FEE5-48D3-495F-AE29-604ADE5B1A4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/Relationships>
</file>

<file path=ppt/slideMasters/_rels/slideMaster1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1.xml"/><Relationship Id="rId6" Type="http://schemas.openxmlformats.org/officeDocument/2006/relationships/vmlDrawing" Target="../drawings/vmlDrawing4.vml"/><Relationship Id="rId5" Type="http://schemas.openxmlformats.org/officeDocument/2006/relationships/image" Target="../media/image4.png"/><Relationship Id="rId4" Type="http://schemas.openxmlformats.org/officeDocument/2006/relationships/oleObject" Target="../embeddings/oleObject4.bin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5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内页副本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368300"/>
            <a:ext cx="8686800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8" name="Rectangle 12"/>
          <p:cNvSpPr>
            <a:spLocks noGrp="1" noChangeArrowheads="1"/>
          </p:cNvSpPr>
          <p:nvPr>
            <p:ph type="body" idx="1"/>
          </p:nvPr>
        </p:nvSpPr>
        <p:spPr bwMode="gray">
          <a:xfrm>
            <a:off x="179388" y="1160463"/>
            <a:ext cx="8713787" cy="4681537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prstShdw prst="shdw17" dist="17961" dir="2700000">
              <a:srgbClr val="8C8C8C"/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000" tIns="44450" rIns="126000" bIns="4445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</p:txBody>
      </p:sp>
      <p:pic>
        <p:nvPicPr>
          <p:cNvPr id="1029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" y="0"/>
            <a:ext cx="9136063" cy="684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细黑" panose="020106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细黑" panose="020106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细黑" panose="020106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细黑" panose="0201060004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细黑" panose="0201060004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细黑" panose="0201060004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细黑" panose="0201060004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imes New Roman" panose="02020603050405020304" pitchFamily="18" charset="0"/>
          <a:ea typeface="华文细黑" panose="02010600040101010101" pitchFamily="2" charset="-122"/>
        </a:defRPr>
      </a:lvl9pPr>
    </p:titleStyle>
    <p:bodyStyle>
      <a:lvl1pPr marL="262255" indent="-262255" algn="l" rtl="0" eaLnBrk="0" fontAlgn="base" hangingPunct="0">
        <a:spcBef>
          <a:spcPct val="15000"/>
        </a:spcBef>
        <a:spcAft>
          <a:spcPct val="15000"/>
        </a:spcAft>
        <a:buClr>
          <a:srgbClr val="FF0000"/>
        </a:buClr>
        <a:buFont typeface="Wingdings" panose="05000000000000000000" pitchFamily="2" charset="2"/>
        <a:buChar char="p"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828675" indent="-285750" algn="l" rtl="0" eaLnBrk="0" fontAlgn="base" hangingPunct="0">
        <a:spcBef>
          <a:spcPct val="15000"/>
        </a:spcBef>
        <a:spcAft>
          <a:spcPct val="15000"/>
        </a:spcAft>
        <a:buClr>
          <a:srgbClr val="FF0000"/>
        </a:buClr>
        <a:buFont typeface="Wingdings" panose="05000000000000000000" pitchFamily="2" charset="2"/>
        <a:buChar char="ü"/>
        <a:defRPr sz="1600">
          <a:solidFill>
            <a:schemeClr val="tx1"/>
          </a:solidFill>
          <a:latin typeface="+mn-lt"/>
          <a:ea typeface="+mn-ea"/>
          <a:cs typeface="+mn-cs"/>
        </a:defRPr>
      </a:lvl2pPr>
      <a:lvl3pPr marL="1236980" indent="-228600" algn="l" rtl="0" eaLnBrk="0" fontAlgn="base" hangingPunct="0">
        <a:spcBef>
          <a:spcPct val="15000"/>
        </a:spcBef>
        <a:spcAft>
          <a:spcPct val="15000"/>
        </a:spcAft>
        <a:buClr>
          <a:srgbClr val="FF0000"/>
        </a:buClr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644650" indent="-228600" algn="l" rtl="0" eaLnBrk="0" fontAlgn="base" hangingPunct="0">
        <a:spcBef>
          <a:spcPct val="15000"/>
        </a:spcBef>
        <a:spcAft>
          <a:spcPct val="15000"/>
        </a:spcAft>
        <a:buClr>
          <a:srgbClr val="FF0000"/>
        </a:buClr>
        <a:buFont typeface="Wingdings" panose="05000000000000000000" pitchFamily="2" charset="2"/>
        <a:buChar char="p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15000"/>
        </a:spcBef>
        <a:spcAft>
          <a:spcPct val="15000"/>
        </a:spcAft>
        <a:buClr>
          <a:srgbClr val="FF0000"/>
        </a:buClr>
        <a:buFont typeface="Wingdings" panose="05000000000000000000" pitchFamily="2" charset="2"/>
        <a:buChar char="p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fontAlgn="base" hangingPunct="1">
        <a:spcBef>
          <a:spcPct val="15000"/>
        </a:spcBef>
        <a:spcAft>
          <a:spcPct val="15000"/>
        </a:spcAft>
        <a:buClr>
          <a:srgbClr val="FF0000"/>
        </a:buClr>
        <a:buFont typeface="Wingdings" panose="05000000000000000000" pitchFamily="2" charset="2"/>
        <a:buChar char="p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15000"/>
        </a:spcBef>
        <a:spcAft>
          <a:spcPct val="15000"/>
        </a:spcAft>
        <a:buClr>
          <a:srgbClr val="FF0000"/>
        </a:buClr>
        <a:buFont typeface="Wingdings" panose="05000000000000000000" pitchFamily="2" charset="2"/>
        <a:buChar char="p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15000"/>
        </a:spcBef>
        <a:spcAft>
          <a:spcPct val="15000"/>
        </a:spcAft>
        <a:buClr>
          <a:srgbClr val="FF0000"/>
        </a:buClr>
        <a:buFont typeface="Wingdings" panose="05000000000000000000" pitchFamily="2" charset="2"/>
        <a:buChar char="p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15000"/>
        </a:spcBef>
        <a:spcAft>
          <a:spcPct val="15000"/>
        </a:spcAft>
        <a:buClr>
          <a:srgbClr val="FF0000"/>
        </a:buClr>
        <a:buFont typeface="Wingdings" panose="05000000000000000000" pitchFamily="2" charset="2"/>
        <a:buChar char="p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 bwMode="auto">
          <a:xfrm>
            <a:off x="1071563" y="304800"/>
            <a:ext cx="7615237" cy="1106488"/>
            <a:chOff x="675" y="192"/>
            <a:chExt cx="4797" cy="697"/>
          </a:xfrm>
        </p:grpSpPr>
        <p:sp>
          <p:nvSpPr>
            <p:cNvPr id="2056" name="Oval 3"/>
            <p:cNvSpPr>
              <a:spLocks noChangeArrowheads="1"/>
            </p:cNvSpPr>
            <p:nvPr/>
          </p:nvSpPr>
          <p:spPr bwMode="hidden">
            <a:xfrm flipH="1">
              <a:off x="3067" y="192"/>
              <a:ext cx="696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2057" name="Oval 4"/>
            <p:cNvSpPr>
              <a:spLocks noChangeArrowheads="1"/>
            </p:cNvSpPr>
            <p:nvPr/>
          </p:nvSpPr>
          <p:spPr bwMode="hidden">
            <a:xfrm flipH="1">
              <a:off x="4777" y="192"/>
              <a:ext cx="695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2058" name="Oval 5"/>
            <p:cNvSpPr>
              <a:spLocks noChangeArrowheads="1"/>
            </p:cNvSpPr>
            <p:nvPr/>
          </p:nvSpPr>
          <p:spPr bwMode="hidden">
            <a:xfrm flipH="1">
              <a:off x="675" y="193"/>
              <a:ext cx="695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2059" name="Oval 6"/>
            <p:cNvSpPr>
              <a:spLocks noChangeArrowheads="1"/>
            </p:cNvSpPr>
            <p:nvPr/>
          </p:nvSpPr>
          <p:spPr bwMode="hidden">
            <a:xfrm flipH="1">
              <a:off x="3984" y="192"/>
              <a:ext cx="695" cy="69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0E0F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2060" name="Oval 7"/>
            <p:cNvSpPr>
              <a:spLocks noChangeArrowheads="1"/>
            </p:cNvSpPr>
            <p:nvPr/>
          </p:nvSpPr>
          <p:spPr bwMode="hidden">
            <a:xfrm flipH="1">
              <a:off x="1486" y="192"/>
              <a:ext cx="695" cy="69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2051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6505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kumimoji="0" sz="1000" b="0" smtClean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10650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000" b="0" smtClean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106507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000" b="0" smtClean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38657D7-6A30-4347-BAF7-B17DFE92E752}" type="slidenum">
              <a:rPr lang="en-US" altLang="zh-CN"/>
            </a:fld>
            <a:endParaRPr lang="en-US" altLang="zh-CN"/>
          </a:p>
        </p:txBody>
      </p:sp>
      <p:sp>
        <p:nvSpPr>
          <p:cNvPr id="2055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ransition spd="slow">
    <p:randomBar dir="vert"/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¡"/>
        <a:defRPr sz="27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/>
          <p:nvPr/>
        </p:nvGrpSpPr>
        <p:grpSpPr bwMode="auto">
          <a:xfrm>
            <a:off x="1071563" y="304800"/>
            <a:ext cx="7615237" cy="1106488"/>
            <a:chOff x="675" y="192"/>
            <a:chExt cx="4797" cy="697"/>
          </a:xfrm>
        </p:grpSpPr>
        <p:sp>
          <p:nvSpPr>
            <p:cNvPr id="3080" name="Oval 3"/>
            <p:cNvSpPr>
              <a:spLocks noChangeArrowheads="1"/>
            </p:cNvSpPr>
            <p:nvPr/>
          </p:nvSpPr>
          <p:spPr bwMode="hidden">
            <a:xfrm flipH="1">
              <a:off x="3067" y="192"/>
              <a:ext cx="696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3081" name="Oval 4"/>
            <p:cNvSpPr>
              <a:spLocks noChangeArrowheads="1"/>
            </p:cNvSpPr>
            <p:nvPr/>
          </p:nvSpPr>
          <p:spPr bwMode="hidden">
            <a:xfrm flipH="1">
              <a:off x="4777" y="192"/>
              <a:ext cx="695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3082" name="Oval 5"/>
            <p:cNvSpPr>
              <a:spLocks noChangeArrowheads="1"/>
            </p:cNvSpPr>
            <p:nvPr/>
          </p:nvSpPr>
          <p:spPr bwMode="hidden">
            <a:xfrm flipH="1">
              <a:off x="675" y="193"/>
              <a:ext cx="695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3083" name="Oval 6"/>
            <p:cNvSpPr>
              <a:spLocks noChangeArrowheads="1"/>
            </p:cNvSpPr>
            <p:nvPr/>
          </p:nvSpPr>
          <p:spPr bwMode="hidden">
            <a:xfrm flipH="1">
              <a:off x="3984" y="192"/>
              <a:ext cx="695" cy="69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0E0F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3084" name="Oval 7"/>
            <p:cNvSpPr>
              <a:spLocks noChangeArrowheads="1"/>
            </p:cNvSpPr>
            <p:nvPr/>
          </p:nvSpPr>
          <p:spPr bwMode="hidden">
            <a:xfrm flipH="1">
              <a:off x="1486" y="192"/>
              <a:ext cx="695" cy="69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3075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6505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kumimoji="0" sz="1000" b="0" smtClean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10650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000" b="0" smtClean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106507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000" b="0" smtClean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DD9A704-FD0D-4EB8-96CA-F06B4AFD60CD}" type="slidenum">
              <a:rPr lang="en-US" altLang="zh-CN"/>
            </a:fld>
            <a:endParaRPr lang="en-US" altLang="zh-CN"/>
          </a:p>
        </p:txBody>
      </p:sp>
      <p:sp>
        <p:nvSpPr>
          <p:cNvPr id="3079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ransition spd="slow">
    <p:randomBar dir="vert"/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¡"/>
        <a:defRPr sz="27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/>
          <p:nvPr/>
        </p:nvGrpSpPr>
        <p:grpSpPr bwMode="auto">
          <a:xfrm>
            <a:off x="1071563" y="304800"/>
            <a:ext cx="7615237" cy="1106488"/>
            <a:chOff x="675" y="192"/>
            <a:chExt cx="4797" cy="697"/>
          </a:xfrm>
        </p:grpSpPr>
        <p:sp>
          <p:nvSpPr>
            <p:cNvPr id="4104" name="Oval 3"/>
            <p:cNvSpPr>
              <a:spLocks noChangeArrowheads="1"/>
            </p:cNvSpPr>
            <p:nvPr/>
          </p:nvSpPr>
          <p:spPr bwMode="hidden">
            <a:xfrm flipH="1">
              <a:off x="3067" y="192"/>
              <a:ext cx="696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4105" name="Oval 4"/>
            <p:cNvSpPr>
              <a:spLocks noChangeArrowheads="1"/>
            </p:cNvSpPr>
            <p:nvPr/>
          </p:nvSpPr>
          <p:spPr bwMode="hidden">
            <a:xfrm flipH="1">
              <a:off x="4777" y="192"/>
              <a:ext cx="695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4106" name="Oval 5"/>
            <p:cNvSpPr>
              <a:spLocks noChangeArrowheads="1"/>
            </p:cNvSpPr>
            <p:nvPr/>
          </p:nvSpPr>
          <p:spPr bwMode="hidden">
            <a:xfrm flipH="1">
              <a:off x="675" y="193"/>
              <a:ext cx="695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4107" name="Oval 6"/>
            <p:cNvSpPr>
              <a:spLocks noChangeArrowheads="1"/>
            </p:cNvSpPr>
            <p:nvPr/>
          </p:nvSpPr>
          <p:spPr bwMode="hidden">
            <a:xfrm flipH="1">
              <a:off x="3984" y="192"/>
              <a:ext cx="695" cy="69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0E0F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4108" name="Oval 7"/>
            <p:cNvSpPr>
              <a:spLocks noChangeArrowheads="1"/>
            </p:cNvSpPr>
            <p:nvPr/>
          </p:nvSpPr>
          <p:spPr bwMode="hidden">
            <a:xfrm flipH="1">
              <a:off x="1486" y="192"/>
              <a:ext cx="695" cy="69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4099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6505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kumimoji="0" sz="1000" b="0" smtClean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10650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000" b="0" smtClean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106507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000" b="0" smtClean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C6892EF-E504-4101-BB89-66FE864D9974}" type="slidenum">
              <a:rPr lang="en-US" altLang="zh-CN"/>
            </a:fld>
            <a:endParaRPr lang="en-US" altLang="zh-CN"/>
          </a:p>
        </p:txBody>
      </p:sp>
      <p:sp>
        <p:nvSpPr>
          <p:cNvPr id="4103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ransition spd="slow">
    <p:randomBar dir="vert"/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¡"/>
        <a:defRPr sz="27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/>
          <p:nvPr/>
        </p:nvGrpSpPr>
        <p:grpSpPr bwMode="auto">
          <a:xfrm>
            <a:off x="1071563" y="304800"/>
            <a:ext cx="7615237" cy="1106488"/>
            <a:chOff x="675" y="192"/>
            <a:chExt cx="4797" cy="697"/>
          </a:xfrm>
        </p:grpSpPr>
        <p:sp>
          <p:nvSpPr>
            <p:cNvPr id="5128" name="Oval 3"/>
            <p:cNvSpPr>
              <a:spLocks noChangeArrowheads="1"/>
            </p:cNvSpPr>
            <p:nvPr/>
          </p:nvSpPr>
          <p:spPr bwMode="hidden">
            <a:xfrm flipH="1">
              <a:off x="3067" y="192"/>
              <a:ext cx="696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5129" name="Oval 4"/>
            <p:cNvSpPr>
              <a:spLocks noChangeArrowheads="1"/>
            </p:cNvSpPr>
            <p:nvPr/>
          </p:nvSpPr>
          <p:spPr bwMode="hidden">
            <a:xfrm flipH="1">
              <a:off x="4777" y="192"/>
              <a:ext cx="695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5130" name="Oval 5"/>
            <p:cNvSpPr>
              <a:spLocks noChangeArrowheads="1"/>
            </p:cNvSpPr>
            <p:nvPr/>
          </p:nvSpPr>
          <p:spPr bwMode="hidden">
            <a:xfrm flipH="1">
              <a:off x="675" y="193"/>
              <a:ext cx="695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5131" name="Oval 6"/>
            <p:cNvSpPr>
              <a:spLocks noChangeArrowheads="1"/>
            </p:cNvSpPr>
            <p:nvPr/>
          </p:nvSpPr>
          <p:spPr bwMode="hidden">
            <a:xfrm flipH="1">
              <a:off x="3984" y="192"/>
              <a:ext cx="695" cy="69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0E0F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5132" name="Oval 7"/>
            <p:cNvSpPr>
              <a:spLocks noChangeArrowheads="1"/>
            </p:cNvSpPr>
            <p:nvPr/>
          </p:nvSpPr>
          <p:spPr bwMode="hidden">
            <a:xfrm flipH="1">
              <a:off x="1486" y="192"/>
              <a:ext cx="695" cy="69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5123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6505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kumimoji="0" sz="1000" b="0" smtClean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10650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000" b="0" smtClean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106507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000" b="0" smtClean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7D1C086-2479-4B4B-8EE2-7510FB101C76}" type="slidenum">
              <a:rPr lang="en-US" altLang="zh-CN"/>
            </a:fld>
            <a:endParaRPr lang="en-US" altLang="zh-CN"/>
          </a:p>
        </p:txBody>
      </p:sp>
      <p:sp>
        <p:nvSpPr>
          <p:cNvPr id="5127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ransition spd="slow">
    <p:randomBar dir="vert"/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¡"/>
        <a:defRPr sz="27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/>
          <p:nvPr/>
        </p:nvGrpSpPr>
        <p:grpSpPr bwMode="auto">
          <a:xfrm>
            <a:off x="1071563" y="304800"/>
            <a:ext cx="7615237" cy="1106488"/>
            <a:chOff x="675" y="192"/>
            <a:chExt cx="4797" cy="697"/>
          </a:xfrm>
        </p:grpSpPr>
        <p:sp>
          <p:nvSpPr>
            <p:cNvPr id="6152" name="Oval 3"/>
            <p:cNvSpPr>
              <a:spLocks noChangeArrowheads="1"/>
            </p:cNvSpPr>
            <p:nvPr/>
          </p:nvSpPr>
          <p:spPr bwMode="hidden">
            <a:xfrm flipH="1">
              <a:off x="3067" y="192"/>
              <a:ext cx="696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6153" name="Oval 4"/>
            <p:cNvSpPr>
              <a:spLocks noChangeArrowheads="1"/>
            </p:cNvSpPr>
            <p:nvPr/>
          </p:nvSpPr>
          <p:spPr bwMode="hidden">
            <a:xfrm flipH="1">
              <a:off x="4777" y="192"/>
              <a:ext cx="695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6154" name="Oval 5"/>
            <p:cNvSpPr>
              <a:spLocks noChangeArrowheads="1"/>
            </p:cNvSpPr>
            <p:nvPr/>
          </p:nvSpPr>
          <p:spPr bwMode="hidden">
            <a:xfrm flipH="1">
              <a:off x="675" y="193"/>
              <a:ext cx="695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6155" name="Oval 6"/>
            <p:cNvSpPr>
              <a:spLocks noChangeArrowheads="1"/>
            </p:cNvSpPr>
            <p:nvPr/>
          </p:nvSpPr>
          <p:spPr bwMode="hidden">
            <a:xfrm flipH="1">
              <a:off x="3984" y="192"/>
              <a:ext cx="695" cy="69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0E0F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6156" name="Oval 7"/>
            <p:cNvSpPr>
              <a:spLocks noChangeArrowheads="1"/>
            </p:cNvSpPr>
            <p:nvPr/>
          </p:nvSpPr>
          <p:spPr bwMode="hidden">
            <a:xfrm flipH="1">
              <a:off x="1486" y="192"/>
              <a:ext cx="695" cy="69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6147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6505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kumimoji="0" sz="1000" b="0" smtClean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10650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000" b="0" smtClean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106507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000" b="0" smtClean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1FB68C8-26CA-4171-A4B9-6D0D5D2D86CC}" type="slidenum">
              <a:rPr lang="en-US" altLang="zh-CN"/>
            </a:fld>
            <a:endParaRPr lang="en-US" altLang="zh-CN"/>
          </a:p>
        </p:txBody>
      </p:sp>
      <p:sp>
        <p:nvSpPr>
          <p:cNvPr id="6151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ransition spd="slow">
    <p:randomBar dir="vert"/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¡"/>
        <a:defRPr sz="27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/>
          <p:nvPr/>
        </p:nvGrpSpPr>
        <p:grpSpPr bwMode="auto">
          <a:xfrm>
            <a:off x="1071563" y="304800"/>
            <a:ext cx="7615237" cy="1106488"/>
            <a:chOff x="675" y="192"/>
            <a:chExt cx="4797" cy="697"/>
          </a:xfrm>
        </p:grpSpPr>
        <p:sp>
          <p:nvSpPr>
            <p:cNvPr id="7176" name="Oval 3"/>
            <p:cNvSpPr>
              <a:spLocks noChangeArrowheads="1"/>
            </p:cNvSpPr>
            <p:nvPr/>
          </p:nvSpPr>
          <p:spPr bwMode="hidden">
            <a:xfrm flipH="1">
              <a:off x="3067" y="192"/>
              <a:ext cx="696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7177" name="Oval 4"/>
            <p:cNvSpPr>
              <a:spLocks noChangeArrowheads="1"/>
            </p:cNvSpPr>
            <p:nvPr/>
          </p:nvSpPr>
          <p:spPr bwMode="hidden">
            <a:xfrm flipH="1">
              <a:off x="4777" y="192"/>
              <a:ext cx="695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7178" name="Oval 5"/>
            <p:cNvSpPr>
              <a:spLocks noChangeArrowheads="1"/>
            </p:cNvSpPr>
            <p:nvPr/>
          </p:nvSpPr>
          <p:spPr bwMode="hidden">
            <a:xfrm flipH="1">
              <a:off x="675" y="193"/>
              <a:ext cx="695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7179" name="Oval 6"/>
            <p:cNvSpPr>
              <a:spLocks noChangeArrowheads="1"/>
            </p:cNvSpPr>
            <p:nvPr/>
          </p:nvSpPr>
          <p:spPr bwMode="hidden">
            <a:xfrm flipH="1">
              <a:off x="3984" y="192"/>
              <a:ext cx="695" cy="69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0E0F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7180" name="Oval 7"/>
            <p:cNvSpPr>
              <a:spLocks noChangeArrowheads="1"/>
            </p:cNvSpPr>
            <p:nvPr/>
          </p:nvSpPr>
          <p:spPr bwMode="hidden">
            <a:xfrm flipH="1">
              <a:off x="1486" y="192"/>
              <a:ext cx="695" cy="69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7171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6505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kumimoji="0" sz="1000" b="0" smtClean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10650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000" b="0" smtClean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106507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000" b="0" smtClean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65017EC-921F-465C-87B1-E660749CC070}" type="slidenum">
              <a:rPr lang="en-US" altLang="zh-CN"/>
            </a:fld>
            <a:endParaRPr lang="en-US" altLang="zh-CN"/>
          </a:p>
        </p:txBody>
      </p:sp>
      <p:sp>
        <p:nvSpPr>
          <p:cNvPr id="7175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ransition spd="slow">
    <p:randomBar dir="vert"/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¡"/>
        <a:defRPr sz="27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20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>
                <a:solidFill>
                  <a:srgbClr val="000000"/>
                </a:solidFill>
                <a:latin typeface="Arial Black" panose="020B0A040201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7B7D1FB-EB06-41B6-96AA-34C8D27569A0}" type="slidenum">
              <a:rPr lang="en-US" altLang="zh-CN"/>
            </a:fld>
            <a:endParaRPr lang="en-US" altLang="zh-CN"/>
          </a:p>
        </p:txBody>
      </p:sp>
      <p:grpSp>
        <p:nvGrpSpPr>
          <p:cNvPr id="10244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 sz="2400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 sz="2400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 smtClean="0">
                <a:solidFill>
                  <a:srgbClr val="666699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 smtClean="0">
                <a:solidFill>
                  <a:srgbClr val="666699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 smtClean="0">
                <a:solidFill>
                  <a:srgbClr val="9999CC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 smtClean="0">
                <a:solidFill>
                  <a:srgbClr val="666699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 sz="2400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 smtClean="0">
                <a:solidFill>
                  <a:srgbClr val="9999CC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 smtClean="0">
                <a:solidFill>
                  <a:srgbClr val="9999CC"/>
                </a:solidFill>
              </a:endParaRPr>
            </a:p>
          </p:txBody>
        </p:sp>
      </p:grpSp>
      <p:sp>
        <p:nvSpPr>
          <p:cNvPr id="10245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46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7272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20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/>
          <p:nvPr/>
        </p:nvGrpSpPr>
        <p:grpSpPr bwMode="auto">
          <a:xfrm>
            <a:off x="1071563" y="304800"/>
            <a:ext cx="7615237" cy="1106488"/>
            <a:chOff x="675" y="192"/>
            <a:chExt cx="4797" cy="697"/>
          </a:xfrm>
        </p:grpSpPr>
        <p:sp>
          <p:nvSpPr>
            <p:cNvPr id="8200" name="Oval 3"/>
            <p:cNvSpPr>
              <a:spLocks noChangeArrowheads="1"/>
            </p:cNvSpPr>
            <p:nvPr/>
          </p:nvSpPr>
          <p:spPr bwMode="hidden">
            <a:xfrm flipH="1">
              <a:off x="3067" y="192"/>
              <a:ext cx="696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8201" name="Oval 4"/>
            <p:cNvSpPr>
              <a:spLocks noChangeArrowheads="1"/>
            </p:cNvSpPr>
            <p:nvPr/>
          </p:nvSpPr>
          <p:spPr bwMode="hidden">
            <a:xfrm flipH="1">
              <a:off x="4777" y="192"/>
              <a:ext cx="695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8202" name="Oval 5"/>
            <p:cNvSpPr>
              <a:spLocks noChangeArrowheads="1"/>
            </p:cNvSpPr>
            <p:nvPr/>
          </p:nvSpPr>
          <p:spPr bwMode="hidden">
            <a:xfrm flipH="1">
              <a:off x="675" y="193"/>
              <a:ext cx="695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8203" name="Oval 6"/>
            <p:cNvSpPr>
              <a:spLocks noChangeArrowheads="1"/>
            </p:cNvSpPr>
            <p:nvPr/>
          </p:nvSpPr>
          <p:spPr bwMode="hidden">
            <a:xfrm flipH="1">
              <a:off x="3984" y="192"/>
              <a:ext cx="695" cy="69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0E0F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8204" name="Oval 7"/>
            <p:cNvSpPr>
              <a:spLocks noChangeArrowheads="1"/>
            </p:cNvSpPr>
            <p:nvPr/>
          </p:nvSpPr>
          <p:spPr bwMode="hidden">
            <a:xfrm flipH="1">
              <a:off x="1486" y="192"/>
              <a:ext cx="695" cy="69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8195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6505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kumimoji="0" sz="1000" b="0" smtClean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10650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000" b="0" smtClean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106507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000" b="0" smtClean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FCA81DB-2536-4045-AAAC-C67A79BA0244}" type="slidenum">
              <a:rPr lang="en-US" altLang="zh-CN"/>
            </a:fld>
            <a:endParaRPr lang="en-US" altLang="zh-CN"/>
          </a:p>
        </p:txBody>
      </p:sp>
      <p:sp>
        <p:nvSpPr>
          <p:cNvPr id="8199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ransition spd="slow">
    <p:randomBar dir="vert"/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¡"/>
        <a:defRPr sz="27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20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>
                <a:solidFill>
                  <a:srgbClr val="000000"/>
                </a:solidFill>
                <a:latin typeface="Arial Black" panose="020B0A040201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12C4B0B-0DE2-4169-AB4F-52B5EDDFEED3}" type="slidenum">
              <a:rPr lang="en-US" altLang="zh-CN"/>
            </a:fld>
            <a:endParaRPr lang="en-US" altLang="zh-CN"/>
          </a:p>
        </p:txBody>
      </p:sp>
      <p:grpSp>
        <p:nvGrpSpPr>
          <p:cNvPr id="11268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 sz="2400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 sz="2400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 smtClean="0">
                <a:solidFill>
                  <a:srgbClr val="666699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 smtClean="0">
                <a:solidFill>
                  <a:srgbClr val="666699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 smtClean="0">
                <a:solidFill>
                  <a:srgbClr val="9999CC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 smtClean="0">
                <a:solidFill>
                  <a:srgbClr val="666699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 sz="2400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 smtClean="0">
                <a:solidFill>
                  <a:srgbClr val="9999CC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zh-CN" smtClean="0">
                <a:solidFill>
                  <a:srgbClr val="9999CC"/>
                </a:solidFill>
              </a:endParaRPr>
            </a:p>
          </p:txBody>
        </p:sp>
      </p:grpSp>
      <p:sp>
        <p:nvSpPr>
          <p:cNvPr id="1126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127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7272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20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5"/>
          <p:cNvSpPr>
            <a:spLocks noChangeArrowheads="1"/>
          </p:cNvSpPr>
          <p:nvPr/>
        </p:nvSpPr>
        <p:spPr bwMode="ltGray">
          <a:xfrm>
            <a:off x="0" y="981075"/>
            <a:ext cx="9144000" cy="1444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mtClean="0"/>
          </a:p>
        </p:txBody>
      </p:sp>
      <p:graphicFrame>
        <p:nvGraphicFramePr>
          <p:cNvPr id="12291" name="Object 16"/>
          <p:cNvGraphicFramePr>
            <a:graphicFrameLocks noChangeAspect="1"/>
          </p:cNvGraphicFramePr>
          <p:nvPr/>
        </p:nvGraphicFramePr>
        <p:xfrm>
          <a:off x="0" y="0"/>
          <a:ext cx="914400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Image" r:id="rId4" imgW="10388600" imgH="1206500" progId="">
                  <p:embed/>
                </p:oleObj>
              </mc:Choice>
              <mc:Fallback>
                <p:oleObj name="Image" r:id="rId4" imgW="10388600" imgH="1206500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49CACD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66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C0C0C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62063"/>
            <a:ext cx="8229600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46838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 b="1">
                <a:solidFill>
                  <a:srgbClr val="663300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E90DC0A-43CC-422F-B827-4DBF227722CD}" type="datetime1">
              <a:rPr kumimoji="1" lang="en-US" altLang="zh-CN"/>
            </a:fld>
            <a:endParaRPr kumimoji="1" lang="en-US" altLang="zh-CN"/>
          </a:p>
        </p:txBody>
      </p:sp>
      <p:sp>
        <p:nvSpPr>
          <p:cNvPr id="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53100" y="6457950"/>
            <a:ext cx="2895600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1">
                <a:solidFill>
                  <a:srgbClr val="663300"/>
                </a:solidFill>
                <a:latin typeface="+mn-lt"/>
                <a:ea typeface="黑体" panose="02010609060101010101" pitchFamily="49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471863" y="6443663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 b="1">
                <a:solidFill>
                  <a:srgbClr val="663300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D00479E-70BD-4651-BA9E-01DF0A2AA40A}" type="slidenum">
              <a:rPr kumimoji="1" lang="en-US" altLang="zh-CN"/>
            </a:fld>
            <a:endParaRPr kumimoji="1" lang="en-US" altLang="zh-CN"/>
          </a:p>
        </p:txBody>
      </p:sp>
      <p:sp>
        <p:nvSpPr>
          <p:cNvPr id="1229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633413" y="319088"/>
            <a:ext cx="7896225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5pPr>
      <a:lvl6pPr marL="457200"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6pPr>
      <a:lvl7pPr marL="914400"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7pPr>
      <a:lvl8pPr marL="1371600"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8pPr>
      <a:lvl9pPr marL="1828800" algn="r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/>
          <p:nvPr/>
        </p:nvGrpSpPr>
        <p:grpSpPr bwMode="auto">
          <a:xfrm>
            <a:off x="1071563" y="304800"/>
            <a:ext cx="7615237" cy="1106488"/>
            <a:chOff x="675" y="192"/>
            <a:chExt cx="4797" cy="697"/>
          </a:xfrm>
        </p:grpSpPr>
        <p:sp>
          <p:nvSpPr>
            <p:cNvPr id="9224" name="Oval 3"/>
            <p:cNvSpPr>
              <a:spLocks noChangeArrowheads="1"/>
            </p:cNvSpPr>
            <p:nvPr/>
          </p:nvSpPr>
          <p:spPr bwMode="hidden">
            <a:xfrm flipH="1">
              <a:off x="3067" y="192"/>
              <a:ext cx="696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9225" name="Oval 4"/>
            <p:cNvSpPr>
              <a:spLocks noChangeArrowheads="1"/>
            </p:cNvSpPr>
            <p:nvPr/>
          </p:nvSpPr>
          <p:spPr bwMode="hidden">
            <a:xfrm flipH="1">
              <a:off x="4777" y="192"/>
              <a:ext cx="695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9226" name="Oval 5"/>
            <p:cNvSpPr>
              <a:spLocks noChangeArrowheads="1"/>
            </p:cNvSpPr>
            <p:nvPr/>
          </p:nvSpPr>
          <p:spPr bwMode="hidden">
            <a:xfrm flipH="1">
              <a:off x="675" y="193"/>
              <a:ext cx="695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9227" name="Oval 6"/>
            <p:cNvSpPr>
              <a:spLocks noChangeArrowheads="1"/>
            </p:cNvSpPr>
            <p:nvPr/>
          </p:nvSpPr>
          <p:spPr bwMode="hidden">
            <a:xfrm flipH="1">
              <a:off x="3984" y="192"/>
              <a:ext cx="695" cy="69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0E0F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  <p:sp>
          <p:nvSpPr>
            <p:cNvPr id="9228" name="Oval 7"/>
            <p:cNvSpPr>
              <a:spLocks noChangeArrowheads="1"/>
            </p:cNvSpPr>
            <p:nvPr/>
          </p:nvSpPr>
          <p:spPr bwMode="hidden">
            <a:xfrm flipH="1">
              <a:off x="1486" y="192"/>
              <a:ext cx="695" cy="69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zh-CN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9219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6505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kumimoji="0" sz="1000" b="0" smtClean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10650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000" b="0" smtClean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106507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000" b="0" smtClean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BBB039D-5164-4F18-8B3C-018759C0126C}" type="slidenum">
              <a:rPr lang="en-US" altLang="zh-CN"/>
            </a:fld>
            <a:endParaRPr lang="en-US" altLang="zh-CN"/>
          </a:p>
        </p:txBody>
      </p:sp>
      <p:sp>
        <p:nvSpPr>
          <p:cNvPr id="9223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ransition spd="slow">
    <p:randomBar dir="vert"/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¡"/>
        <a:defRPr sz="27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633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052513"/>
            <a:ext cx="8229600" cy="540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1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.wmf"/><Relationship Id="rId1" Type="http://schemas.openxmlformats.org/officeDocument/2006/relationships/oleObject" Target="../embeddings/oleObject7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8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0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2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1.GIF"/><Relationship Id="rId1" Type="http://schemas.openxmlformats.org/officeDocument/2006/relationships/slide" Target="slide6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3.wmf"/><Relationship Id="rId1" Type="http://schemas.openxmlformats.org/officeDocument/2006/relationships/oleObject" Target="../embeddings/oleObject10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4.wmf"/><Relationship Id="rId1" Type="http://schemas.openxmlformats.org/officeDocument/2006/relationships/oleObject" Target="../embeddings/oleObject11.bin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wmf"/><Relationship Id="rId1" Type="http://schemas.openxmlformats.org/officeDocument/2006/relationships/oleObject" Target="../embeddings/oleObject13.bin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39825"/>
          </a:xfrm>
        </p:spPr>
        <p:txBody>
          <a:bodyPr/>
          <a:lstStyle/>
          <a:p>
            <a:r>
              <a:rPr lang="en-US" altLang="zh-CN" b="1" smtClean="0">
                <a:solidFill>
                  <a:schemeClr val="tx1"/>
                </a:solidFill>
              </a:rPr>
              <a:t> </a:t>
            </a:r>
            <a:r>
              <a:rPr lang="zh-CN" altLang="en-US" sz="4000" b="1" smtClean="0">
                <a:solidFill>
                  <a:schemeClr val="tx1"/>
                </a:solidFill>
              </a:rPr>
              <a:t>第三章 分治算法</a:t>
            </a:r>
            <a:endParaRPr lang="zh-CN" altLang="en-US" sz="4000" b="1" smtClean="0">
              <a:solidFill>
                <a:schemeClr val="tx1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046163" y="1989138"/>
            <a:ext cx="6189662" cy="3527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</a:extLst>
        </p:spPr>
        <p:txBody>
          <a:bodyPr/>
          <a:lstStyle/>
          <a:p>
            <a:pPr algn="just">
              <a:buFont typeface="Wingdings" panose="05000000000000000000" pitchFamily="2" charset="2"/>
              <a:buNone/>
              <a:defRPr/>
            </a:pPr>
            <a:r>
              <a:rPr lang="zh-CN" altLang="en-US" sz="3200" b="1" dirty="0" smtClean="0">
                <a:latin typeface="宋体" panose="02010600030101010101" pitchFamily="2" charset="-122"/>
              </a:rPr>
              <a:t>一、</a:t>
            </a:r>
            <a:r>
              <a:rPr lang="en-US" altLang="zh-CN" sz="32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3200" b="1" dirty="0">
                <a:latin typeface="宋体" panose="02010600030101010101" pitchFamily="2" charset="-122"/>
              </a:rPr>
              <a:t>分治算法基本思想</a:t>
            </a:r>
            <a:endParaRPr lang="zh-CN" altLang="en-US" sz="3200" b="1" dirty="0">
              <a:latin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3200" b="1" dirty="0" smtClean="0">
                <a:latin typeface="宋体" panose="02010600030101010101" pitchFamily="2" charset="-122"/>
              </a:rPr>
              <a:t>二、</a:t>
            </a:r>
            <a:r>
              <a:rPr lang="en-US" altLang="zh-CN" sz="32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典型</a:t>
            </a:r>
            <a:r>
              <a:rPr lang="zh-CN" altLang="en-US" sz="3200" b="1" dirty="0">
                <a:latin typeface="宋体" panose="02010600030101010101" pitchFamily="2" charset="-122"/>
              </a:rPr>
              <a:t>实例</a:t>
            </a:r>
            <a:endParaRPr lang="zh-CN" altLang="en-US" sz="3200" b="1" dirty="0">
              <a:latin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3200" b="1" dirty="0" smtClean="0">
                <a:latin typeface="宋体" panose="02010600030101010101" pitchFamily="2" charset="-122"/>
              </a:rPr>
              <a:t>三、</a:t>
            </a:r>
            <a:r>
              <a:rPr lang="en-US" altLang="zh-CN" sz="32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分</a:t>
            </a:r>
            <a:r>
              <a:rPr lang="zh-CN" altLang="en-US" sz="3200" b="1" dirty="0">
                <a:latin typeface="宋体" panose="02010600030101010101" pitchFamily="2" charset="-122"/>
              </a:rPr>
              <a:t>治算法的分析技术</a:t>
            </a:r>
            <a:endParaRPr lang="en-US" altLang="zh-CN" sz="3200" b="1" dirty="0">
              <a:latin typeface="宋体" panose="02010600030101010101" pitchFamily="2" charset="-122"/>
            </a:endParaRPr>
          </a:p>
          <a:p>
            <a:pPr>
              <a:buNone/>
              <a:defRPr/>
            </a:pPr>
            <a:r>
              <a:rPr lang="zh-CN" altLang="en-US" sz="3200" b="1" dirty="0" smtClean="0">
                <a:latin typeface="宋体" panose="02010600030101010101" pitchFamily="2" charset="-122"/>
              </a:rPr>
              <a:t>四、</a:t>
            </a:r>
            <a:r>
              <a:rPr lang="en-US" altLang="zh-CN" sz="32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3200" b="1" dirty="0" smtClean="0">
                <a:latin typeface="宋体" panose="02010600030101010101" pitchFamily="2" charset="-122"/>
              </a:rPr>
              <a:t>难解问题</a:t>
            </a:r>
            <a:endParaRPr lang="en-US" altLang="zh-CN" sz="3200" b="1" dirty="0">
              <a:latin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zh-CN" altLang="en-US" sz="32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问题：</a:t>
            </a:r>
            <a:r>
              <a:rPr lang="zh-CN" altLang="en-US" b="1" smtClean="0"/>
              <a:t>找出伪币</a:t>
            </a:r>
            <a:endParaRPr lang="zh-CN" altLang="en-US" b="1" smtClean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00200"/>
            <a:ext cx="8066088" cy="4424363"/>
          </a:xfrm>
        </p:spPr>
        <p:txBody>
          <a:bodyPr/>
          <a:lstStyle/>
          <a:p>
            <a:pPr eaLnBrk="1" hangingPunct="1"/>
            <a:r>
              <a:rPr lang="zh-CN" altLang="en-US" sz="2800" b="1" smtClean="0"/>
              <a:t>给你一个装有</a:t>
            </a:r>
            <a:r>
              <a:rPr lang="en-US" altLang="zh-CN" sz="2800" b="1" smtClean="0"/>
              <a:t>1 6</a:t>
            </a:r>
            <a:r>
              <a:rPr lang="zh-CN" altLang="en-US" sz="2800" b="1" smtClean="0"/>
              <a:t>枚硬币的袋子。</a:t>
            </a:r>
            <a:r>
              <a:rPr lang="en-US" altLang="zh-CN" sz="2800" b="1" smtClean="0"/>
              <a:t>1 6</a:t>
            </a:r>
            <a:r>
              <a:rPr lang="zh-CN" altLang="en-US" sz="2800" b="1" smtClean="0"/>
              <a:t>枚硬币中有一个是伪造的，并且那个伪造的硬币比真的硬币要轻一些。你的任务是找出这枚伪造的硬币。</a:t>
            </a:r>
            <a:endParaRPr lang="zh-CN" altLang="en-US" sz="2800" b="1" smtClean="0"/>
          </a:p>
          <a:p>
            <a:pPr eaLnBrk="1" hangingPunct="1"/>
            <a:r>
              <a:rPr lang="zh-CN" altLang="en-US" sz="2800" b="1" smtClean="0"/>
              <a:t>为了帮助你完成这一任务，将提供一台可用来比较两组硬币重量的仪器，比如天平。利用这台仪器，可以知道两组硬币的重量是否相同。 </a:t>
            </a:r>
            <a:endParaRPr lang="zh-CN" altLang="en-US" sz="2800" b="1" smtClean="0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方法</a:t>
            </a:r>
            <a:r>
              <a:rPr lang="en-US" altLang="zh-CN" smtClean="0"/>
              <a:t>1</a:t>
            </a:r>
            <a:endParaRPr lang="en-US" altLang="zh-CN" smtClean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557338"/>
            <a:ext cx="7923212" cy="1655762"/>
          </a:xfrm>
        </p:spPr>
        <p:txBody>
          <a:bodyPr/>
          <a:lstStyle/>
          <a:p>
            <a:pPr eaLnBrk="1" hangingPunct="1"/>
            <a:r>
              <a:rPr lang="zh-CN" altLang="en-US" sz="2800" smtClean="0"/>
              <a:t>任意取</a:t>
            </a:r>
            <a:r>
              <a:rPr lang="en-US" altLang="zh-CN" sz="2800" smtClean="0"/>
              <a:t>1</a:t>
            </a:r>
            <a:r>
              <a:rPr lang="zh-CN" altLang="en-US" sz="2800" smtClean="0"/>
              <a:t>枚硬币，与其他硬币进行比较，若发现轻者，这那枚为伪币。最多可能有</a:t>
            </a:r>
            <a:r>
              <a:rPr lang="en-US" altLang="zh-CN" sz="2800" smtClean="0"/>
              <a:t>15</a:t>
            </a:r>
            <a:r>
              <a:rPr lang="zh-CN" altLang="en-US" sz="2800" smtClean="0"/>
              <a:t>次比较。 </a:t>
            </a:r>
            <a:endParaRPr lang="zh-CN" altLang="en-US" sz="2800" smtClean="0"/>
          </a:p>
        </p:txBody>
      </p:sp>
      <p:graphicFrame>
        <p:nvGraphicFramePr>
          <p:cNvPr id="29700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395288" y="2781300"/>
          <a:ext cx="8281987" cy="249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位图图像" r:id="rId1" imgW="5248275" imgH="1514475" progId="PBrush">
                  <p:embed/>
                </p:oleObj>
              </mc:Choice>
              <mc:Fallback>
                <p:oleObj name="位图图像" r:id="rId1" imgW="5248275" imgH="1514475" progId="PBrush">
                  <p:embed/>
                  <p:pic>
                    <p:nvPicPr>
                      <p:cNvPr id="0" name="Picture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781300"/>
                        <a:ext cx="8281987" cy="249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方法</a:t>
            </a:r>
            <a:r>
              <a:rPr lang="en-US" altLang="zh-CN" smtClean="0"/>
              <a:t>2</a:t>
            </a:r>
            <a:endParaRPr lang="en-US" altLang="zh-CN" smtClean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28013" cy="2393950"/>
          </a:xfrm>
        </p:spPr>
        <p:txBody>
          <a:bodyPr/>
          <a:lstStyle/>
          <a:p>
            <a:pPr eaLnBrk="1" hangingPunct="1"/>
            <a:r>
              <a:rPr lang="zh-CN" altLang="en-US" sz="2800" smtClean="0"/>
              <a:t>将硬币分为</a:t>
            </a:r>
            <a:r>
              <a:rPr lang="en-US" altLang="zh-CN" sz="2800" smtClean="0"/>
              <a:t>8</a:t>
            </a:r>
            <a:r>
              <a:rPr lang="zh-CN" altLang="en-US" sz="2800" smtClean="0"/>
              <a:t>组，每组</a:t>
            </a:r>
            <a:r>
              <a:rPr lang="en-US" altLang="zh-CN" sz="2800" smtClean="0"/>
              <a:t>2</a:t>
            </a:r>
            <a:r>
              <a:rPr lang="zh-CN" altLang="en-US" sz="2800" smtClean="0"/>
              <a:t>个，每组比较一次，若发现轻的，则为伪币。最多可能有</a:t>
            </a:r>
            <a:r>
              <a:rPr lang="en-US" altLang="zh-CN" sz="2800" smtClean="0"/>
              <a:t>8</a:t>
            </a:r>
            <a:r>
              <a:rPr lang="zh-CN" altLang="en-US" sz="2800" smtClean="0"/>
              <a:t>次比较。 </a:t>
            </a:r>
            <a:endParaRPr lang="zh-CN" altLang="en-US" sz="2800" smtClean="0"/>
          </a:p>
        </p:txBody>
      </p:sp>
      <p:graphicFrame>
        <p:nvGraphicFramePr>
          <p:cNvPr id="30724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755650" y="2924175"/>
          <a:ext cx="8004175" cy="233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位图图像" r:id="rId1" imgW="4924425" imgH="1457325" progId="PBrush">
                  <p:embed/>
                </p:oleObj>
              </mc:Choice>
              <mc:Fallback>
                <p:oleObj name="位图图像" r:id="rId1" imgW="4924425" imgH="1457325" progId="PBrush">
                  <p:embed/>
                  <p:pic>
                    <p:nvPicPr>
                      <p:cNvPr id="0" name="Picture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924175"/>
                        <a:ext cx="8004175" cy="2338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方法</a:t>
            </a:r>
            <a:r>
              <a:rPr lang="en-US" altLang="zh-CN" smtClean="0"/>
              <a:t>3</a:t>
            </a:r>
            <a:endParaRPr lang="en-US" altLang="zh-CN" smtClean="0"/>
          </a:p>
        </p:txBody>
      </p:sp>
      <p:pic>
        <p:nvPicPr>
          <p:cNvPr id="31747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1913" y="1412875"/>
            <a:ext cx="6769100" cy="5160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分析</a:t>
            </a:r>
            <a:endParaRPr lang="zh-CN" altLang="en-US" smtClean="0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 smtClean="0"/>
              <a:t>上述三种方法</a:t>
            </a:r>
            <a:r>
              <a:rPr lang="en-US" altLang="zh-CN" b="1" smtClean="0"/>
              <a:t>,</a:t>
            </a:r>
            <a:r>
              <a:rPr lang="zh-CN" altLang="en-US" b="1" smtClean="0"/>
              <a:t>分别需要比较</a:t>
            </a:r>
            <a:r>
              <a:rPr lang="en-US" altLang="zh-CN" b="1" smtClean="0"/>
              <a:t>15</a:t>
            </a:r>
            <a:r>
              <a:rPr lang="zh-CN" altLang="en-US" b="1" smtClean="0"/>
              <a:t>次</a:t>
            </a:r>
            <a:r>
              <a:rPr lang="en-US" altLang="zh-CN" b="1" smtClean="0"/>
              <a:t>,8</a:t>
            </a:r>
            <a:r>
              <a:rPr lang="zh-CN" altLang="en-US" b="1" smtClean="0"/>
              <a:t>次</a:t>
            </a:r>
            <a:r>
              <a:rPr lang="en-US" altLang="zh-CN" b="1" smtClean="0"/>
              <a:t>,4</a:t>
            </a:r>
            <a:r>
              <a:rPr lang="zh-CN" altLang="en-US" b="1" smtClean="0"/>
              <a:t>次</a:t>
            </a:r>
            <a:r>
              <a:rPr lang="en-US" altLang="zh-CN" b="1" smtClean="0"/>
              <a:t>,</a:t>
            </a:r>
            <a:r>
              <a:rPr lang="zh-CN" altLang="en-US" b="1" smtClean="0"/>
              <a:t>那么形成比较次数差异的根本原因在哪里</a:t>
            </a:r>
            <a:r>
              <a:rPr lang="en-US" altLang="zh-CN" b="1" smtClean="0"/>
              <a:t>?</a:t>
            </a:r>
            <a:endParaRPr lang="en-US" altLang="zh-CN" b="1" smtClean="0"/>
          </a:p>
          <a:p>
            <a:pPr eaLnBrk="1" hangingPunct="1"/>
            <a:r>
              <a:rPr lang="zh-CN" altLang="en-US" b="1" smtClean="0"/>
              <a:t>方法</a:t>
            </a:r>
            <a:r>
              <a:rPr lang="en-US" altLang="zh-CN" b="1" smtClean="0"/>
              <a:t>1:</a:t>
            </a:r>
            <a:r>
              <a:rPr lang="zh-CN" altLang="en-US" b="1" smtClean="0"/>
              <a:t>每枚硬币都至少进行了一次比较</a:t>
            </a:r>
            <a:r>
              <a:rPr lang="en-US" altLang="zh-CN" b="1" smtClean="0"/>
              <a:t>,</a:t>
            </a:r>
            <a:r>
              <a:rPr lang="zh-CN" altLang="en-US" b="1" smtClean="0"/>
              <a:t>而有一枚硬币进行了</a:t>
            </a:r>
            <a:r>
              <a:rPr lang="en-US" altLang="zh-CN" b="1" smtClean="0"/>
              <a:t>15</a:t>
            </a:r>
            <a:r>
              <a:rPr lang="zh-CN" altLang="en-US" b="1" smtClean="0"/>
              <a:t>次比较</a:t>
            </a:r>
            <a:endParaRPr lang="zh-CN" altLang="en-US" b="1" smtClean="0"/>
          </a:p>
          <a:p>
            <a:pPr eaLnBrk="1" hangingPunct="1"/>
            <a:r>
              <a:rPr lang="zh-CN" altLang="en-US" b="1" smtClean="0"/>
              <a:t>方法</a:t>
            </a:r>
            <a:r>
              <a:rPr lang="en-US" altLang="zh-CN" b="1" smtClean="0"/>
              <a:t>2:</a:t>
            </a:r>
            <a:r>
              <a:rPr lang="zh-CN" altLang="en-US" b="1" smtClean="0"/>
              <a:t>每一枚硬币只进行了一次比较</a:t>
            </a:r>
            <a:endParaRPr lang="zh-CN" altLang="en-US" b="1" smtClean="0"/>
          </a:p>
          <a:p>
            <a:pPr eaLnBrk="1" hangingPunct="1"/>
            <a:r>
              <a:rPr lang="zh-CN" altLang="en-US" b="1" smtClean="0"/>
              <a:t>方法</a:t>
            </a:r>
            <a:r>
              <a:rPr lang="en-US" altLang="zh-CN" b="1" smtClean="0"/>
              <a:t>3:</a:t>
            </a:r>
            <a:r>
              <a:rPr lang="zh-CN" altLang="en-US" b="1" smtClean="0"/>
              <a:t>将硬币分为两组后一次比较可以将硬币的范围缩小到了原来的一半</a:t>
            </a:r>
            <a:r>
              <a:rPr lang="en-US" altLang="zh-CN" b="1" smtClean="0"/>
              <a:t>,</a:t>
            </a:r>
            <a:r>
              <a:rPr lang="zh-CN" altLang="en-US" b="1" smtClean="0"/>
              <a:t>这样充分地利用了只有</a:t>
            </a:r>
            <a:r>
              <a:rPr lang="en-US" altLang="zh-CN" b="1" smtClean="0"/>
              <a:t>1</a:t>
            </a:r>
            <a:r>
              <a:rPr lang="zh-CN" altLang="en-US" b="1" smtClean="0"/>
              <a:t>枚伪币的基本性质。</a:t>
            </a:r>
            <a:endParaRPr lang="zh-CN" altLang="en-US" b="1" smtClean="0"/>
          </a:p>
          <a:p>
            <a:pPr eaLnBrk="1" hangingPunct="1"/>
            <a:endParaRPr lang="en-US" altLang="zh-CN" b="1" smtClean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4"/>
          <p:cNvSpPr txBox="1">
            <a:spLocks noChangeArrowheads="1"/>
          </p:cNvSpPr>
          <p:nvPr/>
        </p:nvSpPr>
        <p:spPr bwMode="auto">
          <a:xfrm>
            <a:off x="1623545" y="443580"/>
            <a:ext cx="597311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Char char="•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4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一、分治策略的基本思想 </a:t>
            </a:r>
            <a:endParaRPr kumimoji="1" lang="zh-CN" altLang="en-US" sz="40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795" name="Text Box 5"/>
          <p:cNvSpPr txBox="1">
            <a:spLocks noChangeArrowheads="1"/>
          </p:cNvSpPr>
          <p:nvPr/>
        </p:nvSpPr>
        <p:spPr bwMode="auto">
          <a:xfrm>
            <a:off x="228600" y="1697038"/>
            <a:ext cx="87630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Char char="•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algn="just" eaLnBrk="1" fontAlgn="base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基本思想</a:t>
            </a:r>
            <a:endParaRPr kumimoji="1" lang="zh-CN" altLang="en-US" sz="24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fontAlgn="base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对于一个规模为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的问题，若该问题可以容易地解决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比如说规模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较小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，则直接解决，否则将其分解为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个规模较小的子问题，这些子问题互相独立且与原问题形式相同，递归地解这些子问题， 然后将各子问题的解合并，得到原问题的解。这种算法设计策略叫做分治法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(divide and conquer)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 </a:t>
            </a:r>
            <a:endParaRPr kumimoji="1" lang="zh-CN" altLang="en-US" sz="24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028"/>
          <p:cNvSpPr txBox="1">
            <a:spLocks noChangeArrowheads="1"/>
          </p:cNvSpPr>
          <p:nvPr/>
        </p:nvSpPr>
        <p:spPr bwMode="auto">
          <a:xfrm>
            <a:off x="304800" y="798513"/>
            <a:ext cx="8610600" cy="397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Char char="•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algn="just" eaLnBrk="1" fontAlgn="base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分治法在每一层递归上由三个步骤组成：  </a:t>
            </a:r>
            <a:endParaRPr kumimoji="1" lang="zh-CN" altLang="en-US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fontAlgn="base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 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划分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(divide)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：将原问题分解为若干规模较小、 相互独立、 与原问题形式相同的子问题。  </a:t>
            </a:r>
            <a:endParaRPr kumimoji="1" lang="zh-CN" altLang="en-US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fontAlgn="base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 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解决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(conquer)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 若子问题规模较小，则直接求解；否则递归求解各子问题。 </a:t>
            </a:r>
            <a:endParaRPr kumimoji="1" lang="zh-CN" altLang="en-US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fontAlgn="base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(3) 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合并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(combine)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 将各子问题的解合并为原问题的解。 </a:t>
            </a:r>
            <a:endParaRPr kumimoji="1" lang="zh-CN" altLang="en-US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5210175" cy="1143000"/>
          </a:xfrm>
        </p:spPr>
        <p:txBody>
          <a:bodyPr/>
          <a:lstStyle/>
          <a:p>
            <a:pPr eaLnBrk="1" hangingPunct="1"/>
            <a:r>
              <a:rPr lang="zh-CN" altLang="en-US" b="1" smtClean="0"/>
              <a:t>分治思想</a:t>
            </a:r>
            <a:endParaRPr lang="zh-CN" altLang="en-US" b="1" smtClean="0"/>
          </a:p>
        </p:txBody>
      </p:sp>
      <p:grpSp>
        <p:nvGrpSpPr>
          <p:cNvPr id="35843" name="Group 4"/>
          <p:cNvGrpSpPr>
            <a:grpSpLocks noChangeAspect="1"/>
          </p:cNvGrpSpPr>
          <p:nvPr/>
        </p:nvGrpSpPr>
        <p:grpSpPr bwMode="auto">
          <a:xfrm>
            <a:off x="611188" y="1773238"/>
            <a:ext cx="8316912" cy="4019550"/>
            <a:chOff x="2061" y="618"/>
            <a:chExt cx="8568" cy="4368"/>
          </a:xfrm>
        </p:grpSpPr>
        <p:sp>
          <p:nvSpPr>
            <p:cNvPr id="35844" name="AutoShape 5"/>
            <p:cNvSpPr>
              <a:spLocks noChangeAspect="1" noChangeArrowheads="1"/>
            </p:cNvSpPr>
            <p:nvPr/>
          </p:nvSpPr>
          <p:spPr bwMode="auto">
            <a:xfrm>
              <a:off x="2061" y="618"/>
              <a:ext cx="8568" cy="4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1800" b="1" smtClean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845" name="AutoShape 6"/>
            <p:cNvSpPr>
              <a:spLocks noChangeArrowheads="1"/>
            </p:cNvSpPr>
            <p:nvPr/>
          </p:nvSpPr>
          <p:spPr bwMode="auto">
            <a:xfrm>
              <a:off x="5949" y="618"/>
              <a:ext cx="902" cy="469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 smtClean="0">
                  <a:solidFill>
                    <a:srgbClr val="000000"/>
                  </a:solidFill>
                </a:rPr>
                <a:t>问题</a:t>
              </a:r>
              <a:r>
                <a:rPr lang="en-US" altLang="zh-CN" sz="1800" b="1" smtClean="0">
                  <a:solidFill>
                    <a:srgbClr val="000000"/>
                  </a:solidFill>
                </a:rPr>
                <a:t>S</a:t>
              </a:r>
              <a:endParaRPr lang="en-US" altLang="zh-CN" sz="1800" b="1" u="sng" smtClean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5846" name="AutoShape 7"/>
            <p:cNvSpPr>
              <a:spLocks noChangeArrowheads="1"/>
            </p:cNvSpPr>
            <p:nvPr/>
          </p:nvSpPr>
          <p:spPr bwMode="auto">
            <a:xfrm>
              <a:off x="6063" y="4518"/>
              <a:ext cx="901" cy="468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 smtClean="0">
                  <a:solidFill>
                    <a:srgbClr val="000000"/>
                  </a:solidFill>
                </a:rPr>
                <a:t>问题</a:t>
              </a:r>
              <a:r>
                <a:rPr lang="en-US" altLang="zh-CN" sz="1800" b="1" smtClean="0">
                  <a:solidFill>
                    <a:srgbClr val="000000"/>
                  </a:solidFill>
                </a:rPr>
                <a:t>S</a:t>
              </a:r>
              <a:endParaRPr lang="en-US" altLang="zh-CN" sz="1800" b="1" u="sng" smtClean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5847" name="AutoShape 8"/>
            <p:cNvSpPr>
              <a:spLocks noChangeArrowheads="1"/>
            </p:cNvSpPr>
            <p:nvPr/>
          </p:nvSpPr>
          <p:spPr bwMode="auto">
            <a:xfrm>
              <a:off x="6063" y="4518"/>
              <a:ext cx="901" cy="468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 smtClean="0">
                  <a:solidFill>
                    <a:srgbClr val="000000"/>
                  </a:solidFill>
                </a:rPr>
                <a:t>问题</a:t>
              </a:r>
              <a:r>
                <a:rPr lang="en-US" altLang="zh-CN" sz="1800" b="1" smtClean="0">
                  <a:solidFill>
                    <a:srgbClr val="000000"/>
                  </a:solidFill>
                </a:rPr>
                <a:t>S</a:t>
              </a:r>
              <a:endParaRPr lang="en-US" altLang="zh-CN" sz="1800" b="1" u="sng" smtClean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5848" name="AutoShape 9"/>
            <p:cNvSpPr>
              <a:spLocks noChangeArrowheads="1"/>
            </p:cNvSpPr>
            <p:nvPr/>
          </p:nvSpPr>
          <p:spPr bwMode="auto">
            <a:xfrm>
              <a:off x="6063" y="4518"/>
              <a:ext cx="901" cy="468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36000" rIns="360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smtClean="0">
                  <a:solidFill>
                    <a:srgbClr val="000000"/>
                  </a:solidFill>
                </a:rPr>
                <a:t>S</a:t>
              </a:r>
              <a:r>
                <a:rPr lang="zh-CN" altLang="en-US" sz="1800" b="1" smtClean="0">
                  <a:solidFill>
                    <a:srgbClr val="000000"/>
                  </a:solidFill>
                </a:rPr>
                <a:t>的解</a:t>
              </a:r>
              <a:endParaRPr lang="zh-CN" altLang="en-US" sz="1800" b="1" u="sng" smtClean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5849" name="AutoShape 10"/>
            <p:cNvSpPr>
              <a:spLocks noChangeArrowheads="1"/>
            </p:cNvSpPr>
            <p:nvPr/>
          </p:nvSpPr>
          <p:spPr bwMode="auto">
            <a:xfrm>
              <a:off x="2889" y="1710"/>
              <a:ext cx="903" cy="469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36000" rIns="360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 smtClean="0">
                  <a:solidFill>
                    <a:srgbClr val="000000"/>
                  </a:solidFill>
                </a:rPr>
                <a:t>问题</a:t>
              </a:r>
              <a:r>
                <a:rPr lang="en-US" altLang="zh-CN" sz="1800" b="1" smtClean="0">
                  <a:solidFill>
                    <a:srgbClr val="000000"/>
                  </a:solidFill>
                </a:rPr>
                <a:t>S1</a:t>
              </a:r>
              <a:endParaRPr lang="en-US" altLang="zh-CN" sz="1800" b="1" u="sng" smtClean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5850" name="AutoShape 11"/>
            <p:cNvSpPr>
              <a:spLocks noChangeArrowheads="1"/>
            </p:cNvSpPr>
            <p:nvPr/>
          </p:nvSpPr>
          <p:spPr bwMode="auto">
            <a:xfrm>
              <a:off x="5409" y="1710"/>
              <a:ext cx="900" cy="470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smtClean="0">
                  <a:solidFill>
                    <a:srgbClr val="000000"/>
                  </a:solidFill>
                </a:rPr>
                <a:t>……</a:t>
              </a:r>
              <a:endParaRPr lang="en-US" altLang="zh-CN" sz="1800" b="1" u="sng" smtClean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5851" name="AutoShape 12"/>
            <p:cNvSpPr>
              <a:spLocks noChangeArrowheads="1"/>
            </p:cNvSpPr>
            <p:nvPr/>
          </p:nvSpPr>
          <p:spPr bwMode="auto">
            <a:xfrm>
              <a:off x="4149" y="1710"/>
              <a:ext cx="903" cy="469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36000" rIns="360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 smtClean="0">
                  <a:solidFill>
                    <a:srgbClr val="000000"/>
                  </a:solidFill>
                </a:rPr>
                <a:t>问题</a:t>
              </a:r>
              <a:r>
                <a:rPr lang="en-US" altLang="zh-CN" sz="1800" b="1" smtClean="0">
                  <a:solidFill>
                    <a:srgbClr val="000000"/>
                  </a:solidFill>
                </a:rPr>
                <a:t>S</a:t>
              </a:r>
              <a:r>
                <a:rPr lang="en-US" altLang="zh-CN" sz="1800" b="1" baseline="-25000" smtClean="0">
                  <a:solidFill>
                    <a:srgbClr val="000000"/>
                  </a:solidFill>
                </a:rPr>
                <a:t>2</a:t>
              </a:r>
              <a:endParaRPr lang="en-US" altLang="zh-CN" sz="1800" b="1" u="sng" smtClean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5852" name="AutoShape 13"/>
            <p:cNvSpPr>
              <a:spLocks noChangeArrowheads="1"/>
            </p:cNvSpPr>
            <p:nvPr/>
          </p:nvSpPr>
          <p:spPr bwMode="auto">
            <a:xfrm>
              <a:off x="6669" y="1710"/>
              <a:ext cx="903" cy="469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36000" rIns="360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 smtClean="0">
                  <a:solidFill>
                    <a:srgbClr val="000000"/>
                  </a:solidFill>
                </a:rPr>
                <a:t>问题</a:t>
              </a:r>
              <a:r>
                <a:rPr lang="en-US" altLang="zh-CN" sz="1800" b="1" smtClean="0">
                  <a:solidFill>
                    <a:srgbClr val="000000"/>
                  </a:solidFill>
                </a:rPr>
                <a:t>S</a:t>
              </a:r>
              <a:r>
                <a:rPr lang="en-US" altLang="zh-CN" sz="1800" b="1" baseline="-25000" smtClean="0">
                  <a:solidFill>
                    <a:srgbClr val="000000"/>
                  </a:solidFill>
                </a:rPr>
                <a:t>i</a:t>
              </a:r>
              <a:endParaRPr lang="en-US" altLang="zh-CN" sz="1800" b="1" u="sng" smtClean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5853" name="AutoShape 14"/>
            <p:cNvSpPr>
              <a:spLocks noChangeArrowheads="1"/>
            </p:cNvSpPr>
            <p:nvPr/>
          </p:nvSpPr>
          <p:spPr bwMode="auto">
            <a:xfrm>
              <a:off x="9189" y="1710"/>
              <a:ext cx="901" cy="470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36000" rIns="360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 smtClean="0">
                  <a:solidFill>
                    <a:srgbClr val="000000"/>
                  </a:solidFill>
                </a:rPr>
                <a:t>问题</a:t>
              </a:r>
              <a:r>
                <a:rPr lang="en-US" altLang="zh-CN" sz="1800" b="1" smtClean="0">
                  <a:solidFill>
                    <a:srgbClr val="000000"/>
                  </a:solidFill>
                </a:rPr>
                <a:t>Sn</a:t>
              </a:r>
              <a:endParaRPr lang="en-US" altLang="zh-CN" sz="1800" b="1" u="sng" smtClean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5854" name="AutoShape 15"/>
            <p:cNvSpPr>
              <a:spLocks noChangeArrowheads="1"/>
            </p:cNvSpPr>
            <p:nvPr/>
          </p:nvSpPr>
          <p:spPr bwMode="auto">
            <a:xfrm>
              <a:off x="7929" y="1710"/>
              <a:ext cx="904" cy="469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smtClean="0">
                  <a:solidFill>
                    <a:srgbClr val="000000"/>
                  </a:solidFill>
                </a:rPr>
                <a:t>……</a:t>
              </a:r>
              <a:endParaRPr lang="en-US" altLang="zh-CN" sz="1800" b="1" u="sng" smtClean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5855" name="AutoShape 16"/>
            <p:cNvSpPr>
              <a:spLocks noChangeArrowheads="1"/>
            </p:cNvSpPr>
            <p:nvPr/>
          </p:nvSpPr>
          <p:spPr bwMode="auto">
            <a:xfrm>
              <a:off x="2889" y="3426"/>
              <a:ext cx="903" cy="469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36000" rIns="360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smtClean="0">
                  <a:solidFill>
                    <a:srgbClr val="000000"/>
                  </a:solidFill>
                </a:rPr>
                <a:t>S</a:t>
              </a:r>
              <a:r>
                <a:rPr lang="en-US" altLang="zh-CN" sz="1800" b="1" baseline="-25000" smtClean="0">
                  <a:solidFill>
                    <a:srgbClr val="000000"/>
                  </a:solidFill>
                </a:rPr>
                <a:t>1</a:t>
              </a:r>
              <a:r>
                <a:rPr lang="zh-CN" altLang="en-US" sz="1800" b="1" smtClean="0">
                  <a:solidFill>
                    <a:srgbClr val="000000"/>
                  </a:solidFill>
                </a:rPr>
                <a:t>的解</a:t>
              </a:r>
              <a:endParaRPr lang="zh-CN" altLang="en-US" sz="1800" b="1" u="sng" smtClean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5856" name="AutoShape 17"/>
            <p:cNvSpPr>
              <a:spLocks noChangeArrowheads="1"/>
            </p:cNvSpPr>
            <p:nvPr/>
          </p:nvSpPr>
          <p:spPr bwMode="auto">
            <a:xfrm>
              <a:off x="5409" y="3426"/>
              <a:ext cx="900" cy="470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smtClean="0">
                  <a:solidFill>
                    <a:srgbClr val="000000"/>
                  </a:solidFill>
                </a:rPr>
                <a:t>……</a:t>
              </a:r>
              <a:endParaRPr lang="en-US" altLang="zh-CN" sz="1800" b="1" u="sng" smtClean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5857" name="AutoShape 18"/>
            <p:cNvSpPr>
              <a:spLocks noChangeArrowheads="1"/>
            </p:cNvSpPr>
            <p:nvPr/>
          </p:nvSpPr>
          <p:spPr bwMode="auto">
            <a:xfrm>
              <a:off x="4149" y="3426"/>
              <a:ext cx="903" cy="469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36000" rIns="360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smtClean="0">
                  <a:solidFill>
                    <a:srgbClr val="000000"/>
                  </a:solidFill>
                </a:rPr>
                <a:t>S</a:t>
              </a:r>
              <a:r>
                <a:rPr lang="en-US" altLang="zh-CN" sz="1800" b="1" baseline="-25000" smtClean="0">
                  <a:solidFill>
                    <a:srgbClr val="000000"/>
                  </a:solidFill>
                </a:rPr>
                <a:t>2</a:t>
              </a:r>
              <a:r>
                <a:rPr lang="zh-CN" altLang="en-US" sz="1800" b="1" smtClean="0">
                  <a:solidFill>
                    <a:srgbClr val="000000"/>
                  </a:solidFill>
                </a:rPr>
                <a:t>的解</a:t>
              </a:r>
              <a:endParaRPr lang="zh-CN" altLang="en-US" sz="1800" b="1" u="sng" smtClean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5858" name="AutoShape 19"/>
            <p:cNvSpPr>
              <a:spLocks noChangeArrowheads="1"/>
            </p:cNvSpPr>
            <p:nvPr/>
          </p:nvSpPr>
          <p:spPr bwMode="auto">
            <a:xfrm>
              <a:off x="6669" y="3426"/>
              <a:ext cx="903" cy="469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36000" rIns="360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smtClean="0">
                  <a:solidFill>
                    <a:srgbClr val="000000"/>
                  </a:solidFill>
                </a:rPr>
                <a:t>S</a:t>
              </a:r>
              <a:r>
                <a:rPr lang="en-US" altLang="zh-CN" sz="1800" b="1" baseline="-25000" smtClean="0">
                  <a:solidFill>
                    <a:srgbClr val="000000"/>
                  </a:solidFill>
                </a:rPr>
                <a:t>i</a:t>
              </a:r>
              <a:r>
                <a:rPr lang="zh-CN" altLang="en-US" sz="1800" b="1" smtClean="0">
                  <a:solidFill>
                    <a:srgbClr val="000000"/>
                  </a:solidFill>
                </a:rPr>
                <a:t>的解</a:t>
              </a:r>
              <a:endParaRPr lang="zh-CN" altLang="en-US" sz="1800" b="1" u="sng" smtClean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5859" name="AutoShape 20"/>
            <p:cNvSpPr>
              <a:spLocks noChangeArrowheads="1"/>
            </p:cNvSpPr>
            <p:nvPr/>
          </p:nvSpPr>
          <p:spPr bwMode="auto">
            <a:xfrm>
              <a:off x="9189" y="3426"/>
              <a:ext cx="901" cy="470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36000" rIns="360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smtClean="0">
                  <a:solidFill>
                    <a:srgbClr val="000000"/>
                  </a:solidFill>
                </a:rPr>
                <a:t>S</a:t>
              </a:r>
              <a:r>
                <a:rPr lang="en-US" altLang="zh-CN" sz="1800" b="1" baseline="-25000" smtClean="0">
                  <a:solidFill>
                    <a:srgbClr val="000000"/>
                  </a:solidFill>
                </a:rPr>
                <a:t>n</a:t>
              </a:r>
              <a:r>
                <a:rPr lang="zh-CN" altLang="en-US" sz="1800" b="1" smtClean="0">
                  <a:solidFill>
                    <a:srgbClr val="000000"/>
                  </a:solidFill>
                </a:rPr>
                <a:t>的解</a:t>
              </a:r>
              <a:endParaRPr lang="zh-CN" altLang="en-US" sz="1800" b="1" u="sng" smtClean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5860" name="AutoShape 21"/>
            <p:cNvSpPr>
              <a:spLocks noChangeArrowheads="1"/>
            </p:cNvSpPr>
            <p:nvPr/>
          </p:nvSpPr>
          <p:spPr bwMode="auto">
            <a:xfrm>
              <a:off x="7929" y="3426"/>
              <a:ext cx="904" cy="469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smtClean="0">
                  <a:solidFill>
                    <a:srgbClr val="000000"/>
                  </a:solidFill>
                </a:rPr>
                <a:t>……</a:t>
              </a:r>
              <a:endParaRPr lang="en-US" altLang="zh-CN" sz="1800" b="1" u="sng" smtClean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5861" name="Line 22"/>
            <p:cNvSpPr>
              <a:spLocks noChangeShapeType="1"/>
            </p:cNvSpPr>
            <p:nvPr/>
          </p:nvSpPr>
          <p:spPr bwMode="auto">
            <a:xfrm>
              <a:off x="2241" y="2802"/>
              <a:ext cx="8388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862" name="Line 23"/>
            <p:cNvSpPr>
              <a:spLocks noChangeShapeType="1"/>
            </p:cNvSpPr>
            <p:nvPr/>
          </p:nvSpPr>
          <p:spPr bwMode="auto">
            <a:xfrm flipH="1">
              <a:off x="3321" y="1086"/>
              <a:ext cx="306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863" name="Line 24"/>
            <p:cNvSpPr>
              <a:spLocks noChangeShapeType="1"/>
            </p:cNvSpPr>
            <p:nvPr/>
          </p:nvSpPr>
          <p:spPr bwMode="auto">
            <a:xfrm flipH="1">
              <a:off x="4581" y="1086"/>
              <a:ext cx="180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864" name="Line 25"/>
            <p:cNvSpPr>
              <a:spLocks noChangeShapeType="1"/>
            </p:cNvSpPr>
            <p:nvPr/>
          </p:nvSpPr>
          <p:spPr bwMode="auto">
            <a:xfrm flipH="1">
              <a:off x="5841" y="1086"/>
              <a:ext cx="54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865" name="Line 26"/>
            <p:cNvSpPr>
              <a:spLocks noChangeShapeType="1"/>
            </p:cNvSpPr>
            <p:nvPr/>
          </p:nvSpPr>
          <p:spPr bwMode="auto">
            <a:xfrm>
              <a:off x="6381" y="1086"/>
              <a:ext cx="72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866" name="Line 27"/>
            <p:cNvSpPr>
              <a:spLocks noChangeShapeType="1"/>
            </p:cNvSpPr>
            <p:nvPr/>
          </p:nvSpPr>
          <p:spPr bwMode="auto">
            <a:xfrm>
              <a:off x="6381" y="1086"/>
              <a:ext cx="198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867" name="Line 28"/>
            <p:cNvSpPr>
              <a:spLocks noChangeShapeType="1"/>
            </p:cNvSpPr>
            <p:nvPr/>
          </p:nvSpPr>
          <p:spPr bwMode="auto">
            <a:xfrm>
              <a:off x="6381" y="1086"/>
              <a:ext cx="324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868" name="Line 29"/>
            <p:cNvSpPr>
              <a:spLocks noChangeShapeType="1"/>
            </p:cNvSpPr>
            <p:nvPr/>
          </p:nvSpPr>
          <p:spPr bwMode="auto">
            <a:xfrm>
              <a:off x="3321" y="2178"/>
              <a:ext cx="0" cy="12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869" name="Line 30"/>
            <p:cNvSpPr>
              <a:spLocks noChangeShapeType="1"/>
            </p:cNvSpPr>
            <p:nvPr/>
          </p:nvSpPr>
          <p:spPr bwMode="auto">
            <a:xfrm>
              <a:off x="4581" y="2178"/>
              <a:ext cx="1" cy="12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870" name="Line 31"/>
            <p:cNvSpPr>
              <a:spLocks noChangeShapeType="1"/>
            </p:cNvSpPr>
            <p:nvPr/>
          </p:nvSpPr>
          <p:spPr bwMode="auto">
            <a:xfrm>
              <a:off x="5841" y="2178"/>
              <a:ext cx="1" cy="12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871" name="Line 32"/>
            <p:cNvSpPr>
              <a:spLocks noChangeShapeType="1"/>
            </p:cNvSpPr>
            <p:nvPr/>
          </p:nvSpPr>
          <p:spPr bwMode="auto">
            <a:xfrm>
              <a:off x="7101" y="2178"/>
              <a:ext cx="1" cy="12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872" name="Line 33"/>
            <p:cNvSpPr>
              <a:spLocks noChangeShapeType="1"/>
            </p:cNvSpPr>
            <p:nvPr/>
          </p:nvSpPr>
          <p:spPr bwMode="auto">
            <a:xfrm>
              <a:off x="8361" y="2178"/>
              <a:ext cx="1" cy="12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873" name="Line 34"/>
            <p:cNvSpPr>
              <a:spLocks noChangeShapeType="1"/>
            </p:cNvSpPr>
            <p:nvPr/>
          </p:nvSpPr>
          <p:spPr bwMode="auto">
            <a:xfrm>
              <a:off x="9621" y="2178"/>
              <a:ext cx="1" cy="12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874" name="Line 35"/>
            <p:cNvSpPr>
              <a:spLocks noChangeShapeType="1"/>
            </p:cNvSpPr>
            <p:nvPr/>
          </p:nvSpPr>
          <p:spPr bwMode="auto">
            <a:xfrm>
              <a:off x="3321" y="3894"/>
              <a:ext cx="324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875" name="Line 36"/>
            <p:cNvSpPr>
              <a:spLocks noChangeShapeType="1"/>
            </p:cNvSpPr>
            <p:nvPr/>
          </p:nvSpPr>
          <p:spPr bwMode="auto">
            <a:xfrm>
              <a:off x="4581" y="3894"/>
              <a:ext cx="198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876" name="Line 37"/>
            <p:cNvSpPr>
              <a:spLocks noChangeShapeType="1"/>
            </p:cNvSpPr>
            <p:nvPr/>
          </p:nvSpPr>
          <p:spPr bwMode="auto">
            <a:xfrm flipH="1" flipV="1">
              <a:off x="5841" y="3894"/>
              <a:ext cx="72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877" name="Line 38"/>
            <p:cNvSpPr>
              <a:spLocks noChangeShapeType="1"/>
            </p:cNvSpPr>
            <p:nvPr/>
          </p:nvSpPr>
          <p:spPr bwMode="auto">
            <a:xfrm flipV="1">
              <a:off x="6561" y="3894"/>
              <a:ext cx="54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878" name="Line 39"/>
            <p:cNvSpPr>
              <a:spLocks noChangeShapeType="1"/>
            </p:cNvSpPr>
            <p:nvPr/>
          </p:nvSpPr>
          <p:spPr bwMode="auto">
            <a:xfrm flipV="1">
              <a:off x="6561" y="3894"/>
              <a:ext cx="180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879" name="Line 40"/>
            <p:cNvSpPr>
              <a:spLocks noChangeShapeType="1"/>
            </p:cNvSpPr>
            <p:nvPr/>
          </p:nvSpPr>
          <p:spPr bwMode="auto">
            <a:xfrm flipV="1">
              <a:off x="6561" y="3894"/>
              <a:ext cx="306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880" name="Text Box 41"/>
            <p:cNvSpPr txBox="1">
              <a:spLocks noChangeArrowheads="1"/>
            </p:cNvSpPr>
            <p:nvPr/>
          </p:nvSpPr>
          <p:spPr bwMode="auto">
            <a:xfrm>
              <a:off x="2061" y="774"/>
              <a:ext cx="1440" cy="4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 smtClean="0">
                  <a:solidFill>
                    <a:srgbClr val="000000"/>
                  </a:solidFill>
                </a:rPr>
                <a:t>问题的分解</a:t>
              </a:r>
              <a:endParaRPr lang="zh-CN" altLang="en-US" sz="1800" b="1" u="sng" smtClean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5881" name="Text Box 42"/>
            <p:cNvSpPr txBox="1">
              <a:spLocks noChangeArrowheads="1"/>
            </p:cNvSpPr>
            <p:nvPr/>
          </p:nvSpPr>
          <p:spPr bwMode="auto">
            <a:xfrm>
              <a:off x="2061" y="4362"/>
              <a:ext cx="1620" cy="4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 smtClean="0">
                  <a:solidFill>
                    <a:srgbClr val="000000"/>
                  </a:solidFill>
                </a:rPr>
                <a:t>子集解的合并</a:t>
              </a:r>
              <a:endParaRPr lang="zh-CN" altLang="en-US" sz="1800" b="1" u="sng" smtClean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5882" name="Text Box 43"/>
            <p:cNvSpPr txBox="1">
              <a:spLocks noChangeArrowheads="1"/>
            </p:cNvSpPr>
            <p:nvPr/>
          </p:nvSpPr>
          <p:spPr bwMode="auto">
            <a:xfrm>
              <a:off x="5957" y="2559"/>
              <a:ext cx="1106" cy="4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 smtClean="0">
                  <a:solidFill>
                    <a:srgbClr val="000000"/>
                  </a:solidFill>
                </a:rPr>
                <a:t>子问题求解</a:t>
              </a:r>
              <a:endParaRPr lang="zh-CN" altLang="en-US" sz="1800" b="1" u="sng" smtClean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02711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2 </a:t>
            </a:r>
            <a:r>
              <a:rPr lang="zh-CN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分治法的适用条件</a:t>
            </a:r>
            <a:endParaRPr lang="zh-CN" altLang="en-US" dirty="0" smtClean="0"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484313"/>
            <a:ext cx="7772400" cy="35480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分治法所能解决的问题一般具有以下几个特征：</a:t>
            </a:r>
            <a:endParaRPr lang="zh-CN" altLang="en-US" sz="2400" b="1" dirty="0" smtClean="0"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sz="2400" b="1" dirty="0" smtClean="0">
                <a:ea typeface="楷体_GB2312" pitchFamily="49" charset="-122"/>
              </a:rPr>
              <a:t>该问题的规模缩小到一定的程度就可以容易地解决；</a:t>
            </a:r>
            <a:endParaRPr lang="zh-CN" altLang="en-US" sz="2400" dirty="0" smtClean="0">
              <a:ea typeface="楷体_GB2312" pitchFamily="49" charset="-122"/>
            </a:endParaRPr>
          </a:p>
          <a:p>
            <a:pPr eaLnBrk="1" hangingPunct="1">
              <a:defRPr/>
            </a:pPr>
            <a:r>
              <a:rPr lang="zh-CN" altLang="en-US" sz="2400" b="1" dirty="0" smtClean="0">
                <a:ea typeface="楷体_GB2312" pitchFamily="49" charset="-122"/>
              </a:rPr>
              <a:t>该问题可以分解为若干个规模较小的相同问题，即该问题具有</a:t>
            </a:r>
            <a:r>
              <a:rPr lang="zh-CN" altLang="en-US" sz="2400" b="1" dirty="0" smtClean="0">
                <a:ea typeface="黑体" panose="02010609060101010101" pitchFamily="49" charset="-122"/>
              </a:rPr>
              <a:t>最优子结构性质</a:t>
            </a:r>
            <a:endParaRPr lang="zh-CN" altLang="en-US" sz="2400" b="1" dirty="0" smtClean="0">
              <a:ea typeface="黑体" panose="02010609060101010101" pitchFamily="49" charset="-122"/>
            </a:endParaRPr>
          </a:p>
          <a:p>
            <a:pPr eaLnBrk="1" hangingPunct="1">
              <a:defRPr/>
            </a:pPr>
            <a:r>
              <a:rPr lang="zh-CN" altLang="en-US" sz="2400" b="1" dirty="0" smtClean="0">
                <a:ea typeface="楷体_GB2312" pitchFamily="49" charset="-122"/>
              </a:rPr>
              <a:t>利用该问题分解出的子问题的解可以合并为该问题的解；</a:t>
            </a:r>
            <a:endParaRPr lang="zh-CN" altLang="en-US" sz="2400" b="1" dirty="0" smtClean="0">
              <a:ea typeface="楷体_GB2312" pitchFamily="49" charset="-122"/>
            </a:endParaRPr>
          </a:p>
          <a:p>
            <a:pPr eaLnBrk="1" hangingPunct="1">
              <a:defRPr/>
            </a:pPr>
            <a:r>
              <a:rPr lang="zh-CN" altLang="en-US" sz="2400" b="1" dirty="0" smtClean="0">
                <a:ea typeface="楷体_GB2312" pitchFamily="49" charset="-122"/>
              </a:rPr>
              <a:t>该问题所分解出的各个子问题是相互独立的，即子问题之间不包含公共的子问题。 </a:t>
            </a:r>
            <a:endParaRPr lang="zh-CN" altLang="en-US" sz="2400" b="1" dirty="0" smtClean="0">
              <a:ea typeface="楷体_GB2312" pitchFamily="49" charset="-122"/>
            </a:endParaRP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958850" y="5368925"/>
            <a:ext cx="6913563" cy="873125"/>
          </a:xfrm>
          <a:prstGeom prst="rect">
            <a:avLst/>
          </a:prstGeom>
          <a:solidFill>
            <a:schemeClr val="hlink"/>
          </a:solidFill>
          <a:ln w="50800">
            <a:solidFill>
              <a:srgbClr val="FF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smtClean="0">
                <a:solidFill>
                  <a:srgbClr val="000000"/>
                </a:solidFill>
                <a:ea typeface="楷体_GB2312" pitchFamily="49" charset="-122"/>
                <a:cs typeface="Arial" panose="020B0604020202020204" pitchFamily="34" charset="0"/>
              </a:rPr>
              <a:t>因为问题的计算复杂性一般是随着问题规模的增加而增加，因此大部分问题满足这个特征。</a:t>
            </a:r>
            <a:endParaRPr lang="zh-CN" altLang="en-US" sz="2400" smtClean="0">
              <a:solidFill>
                <a:srgbClr val="000000"/>
              </a:solidFill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935038" y="5387975"/>
            <a:ext cx="6913562" cy="873125"/>
          </a:xfrm>
          <a:prstGeom prst="rect">
            <a:avLst/>
          </a:prstGeom>
          <a:solidFill>
            <a:schemeClr val="hlink"/>
          </a:solidFill>
          <a:ln w="50800">
            <a:solidFill>
              <a:srgbClr val="FF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smtClean="0">
                <a:solidFill>
                  <a:srgbClr val="000000"/>
                </a:solidFill>
                <a:ea typeface="楷体_GB2312" pitchFamily="49" charset="-122"/>
                <a:cs typeface="Arial" panose="020B0604020202020204" pitchFamily="34" charset="0"/>
              </a:rPr>
              <a:t>这条特征是应用分治法的前提，它也是大多数问题可以满足的，此特征反映了递归思想的应用</a:t>
            </a:r>
            <a:endParaRPr lang="zh-CN" altLang="en-US" sz="2400" smtClean="0">
              <a:solidFill>
                <a:srgbClr val="000000"/>
              </a:solidFill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27654" name="Text Box 6"/>
          <p:cNvSpPr txBox="1">
            <a:spLocks noChangeArrowheads="1"/>
          </p:cNvSpPr>
          <p:nvPr/>
        </p:nvSpPr>
        <p:spPr bwMode="auto">
          <a:xfrm>
            <a:off x="927100" y="5378450"/>
            <a:ext cx="6913563" cy="1238250"/>
          </a:xfrm>
          <a:prstGeom prst="rect">
            <a:avLst/>
          </a:prstGeom>
          <a:solidFill>
            <a:schemeClr val="hlink"/>
          </a:solidFill>
          <a:ln w="50800">
            <a:solidFill>
              <a:srgbClr val="FF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smtClean="0">
                <a:solidFill>
                  <a:srgbClr val="000000"/>
                </a:solidFill>
                <a:ea typeface="楷体_GB2312" pitchFamily="49" charset="-122"/>
                <a:cs typeface="Arial" panose="020B0604020202020204" pitchFamily="34" charset="0"/>
              </a:rPr>
              <a:t>能否利用分治法完全取决于问题是否具有这条特征，如果具备了前两条特征，而不具备第三条特征，则可以考虑</a:t>
            </a:r>
            <a:r>
              <a:rPr lang="zh-CN" altLang="en-US" sz="2400" b="1" smtClean="0">
                <a:solidFill>
                  <a:srgbClr val="00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贪心算法</a:t>
            </a:r>
            <a:r>
              <a:rPr lang="zh-CN" altLang="en-US" sz="2400" smtClean="0">
                <a:solidFill>
                  <a:srgbClr val="000000"/>
                </a:solidFill>
                <a:ea typeface="楷体_GB2312" pitchFamily="49" charset="-122"/>
                <a:cs typeface="Arial" panose="020B0604020202020204" pitchFamily="34" charset="0"/>
              </a:rPr>
              <a:t>或</a:t>
            </a:r>
            <a:r>
              <a:rPr lang="zh-CN" altLang="en-US" sz="2400" b="1" smtClean="0">
                <a:solidFill>
                  <a:srgbClr val="00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动态规划</a:t>
            </a:r>
            <a:r>
              <a:rPr lang="zh-CN" altLang="en-US" sz="2400" smtClean="0">
                <a:solidFill>
                  <a:srgbClr val="000000"/>
                </a:solidFill>
                <a:ea typeface="楷体_GB2312" pitchFamily="49" charset="-122"/>
                <a:cs typeface="Arial" panose="020B0604020202020204" pitchFamily="34" charset="0"/>
              </a:rPr>
              <a:t>。</a:t>
            </a:r>
            <a:endParaRPr lang="zh-CN" altLang="en-US" sz="2400" smtClean="0">
              <a:solidFill>
                <a:srgbClr val="000000"/>
              </a:solidFill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927100" y="5022850"/>
            <a:ext cx="6913563" cy="1603375"/>
          </a:xfrm>
          <a:prstGeom prst="rect">
            <a:avLst/>
          </a:prstGeom>
          <a:solidFill>
            <a:schemeClr val="hlink"/>
          </a:solidFill>
          <a:ln w="50800">
            <a:solidFill>
              <a:srgbClr val="FF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smtClean="0">
                <a:solidFill>
                  <a:srgbClr val="000000"/>
                </a:solidFill>
                <a:ea typeface="楷体_GB2312" pitchFamily="49" charset="-122"/>
                <a:cs typeface="Arial" panose="020B0604020202020204" pitchFamily="34" charset="0"/>
              </a:rPr>
              <a:t>这条特征涉及到分治法的效率，如果各子问题是不独立的，则分治法要做许多不必要的工作，重复地解公共的子问题，此时虽然也可用分治法，但一般用</a:t>
            </a:r>
            <a:r>
              <a:rPr lang="zh-CN" altLang="en-US" sz="2400" b="1" smtClean="0">
                <a:solidFill>
                  <a:srgbClr val="00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动态规划</a:t>
            </a:r>
            <a:r>
              <a:rPr lang="zh-CN" altLang="en-US" sz="2400" smtClean="0">
                <a:solidFill>
                  <a:srgbClr val="000000"/>
                </a:solidFill>
                <a:ea typeface="楷体_GB2312" pitchFamily="49" charset="-122"/>
                <a:cs typeface="Arial" panose="020B0604020202020204" pitchFamily="34" charset="0"/>
              </a:rPr>
              <a:t>较好。</a:t>
            </a:r>
            <a:endParaRPr lang="zh-CN" altLang="en-US" sz="2400" smtClean="0">
              <a:solidFill>
                <a:srgbClr val="000000"/>
              </a:solidFill>
              <a:ea typeface="楷体_GB2312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  <p:bldP spid="27652" grpId="0" animBg="1"/>
      <p:bldP spid="27653" grpId="0" animBg="1"/>
      <p:bldP spid="27654" grpId="0" animBg="1"/>
      <p:bldP spid="2765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188913"/>
            <a:ext cx="7696200" cy="1143000"/>
          </a:xfrm>
        </p:spPr>
        <p:txBody>
          <a:bodyPr/>
          <a:lstStyle/>
          <a:p>
            <a:pPr eaLnBrk="1" hangingPunct="1"/>
            <a:r>
              <a:rPr lang="zh-CN" altLang="en-US" smtClean="0"/>
              <a:t>分治策略的解题思路</a:t>
            </a:r>
            <a:endParaRPr lang="zh-CN" altLang="en-US" smtClean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557338"/>
            <a:ext cx="8075612" cy="45656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 smtClean="0"/>
              <a:t> </a:t>
            </a:r>
            <a:r>
              <a:rPr lang="en-US" altLang="zh-CN" sz="2800" b="1" smtClean="0"/>
              <a:t>if </a:t>
            </a:r>
            <a:r>
              <a:rPr lang="zh-CN" altLang="en-US" sz="2800" b="1" smtClean="0"/>
              <a:t>问题不可分</a:t>
            </a:r>
            <a:r>
              <a:rPr lang="en-US" altLang="zh-CN" sz="2800" b="1" smtClean="0"/>
              <a:t>then begin</a:t>
            </a:r>
            <a:endParaRPr lang="en-US" altLang="zh-CN" sz="28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smtClean="0"/>
              <a:t>      </a:t>
            </a:r>
            <a:r>
              <a:rPr lang="zh-CN" altLang="en-US" sz="2800" b="1" smtClean="0"/>
              <a:t>直接求解；</a:t>
            </a:r>
            <a:endParaRPr lang="zh-CN" altLang="en-US" sz="28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smtClean="0"/>
              <a:t>      返回问题的解；</a:t>
            </a:r>
            <a:endParaRPr lang="zh-CN" altLang="en-US" sz="28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smtClean="0"/>
              <a:t>end 	</a:t>
            </a:r>
            <a:endParaRPr lang="en-US" altLang="zh-CN" sz="28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smtClean="0"/>
              <a:t>else begin</a:t>
            </a:r>
            <a:endParaRPr lang="en-US" altLang="zh-CN" sz="28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smtClean="0"/>
              <a:t>     </a:t>
            </a:r>
            <a:r>
              <a:rPr lang="zh-CN" altLang="en-US" sz="2800" b="1" smtClean="0"/>
              <a:t>对原问题进行分治；</a:t>
            </a:r>
            <a:endParaRPr lang="zh-CN" altLang="en-US" sz="28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smtClean="0"/>
              <a:t>     递归对每一个分治的部分求解</a:t>
            </a:r>
            <a:endParaRPr lang="zh-CN" altLang="en-US" sz="28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smtClean="0"/>
              <a:t>     归并整个问题，得出全问题的解；</a:t>
            </a:r>
            <a:endParaRPr lang="zh-CN" altLang="en-US" sz="28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smtClean="0"/>
              <a:t>end;</a:t>
            </a:r>
            <a:endParaRPr lang="en-US" altLang="zh-CN" sz="2800" b="1" smtClean="0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395288" y="1557338"/>
            <a:ext cx="8342312" cy="301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divide-and-conquer</a:t>
            </a:r>
            <a:r>
              <a:rPr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(P)</a:t>
            </a:r>
            <a:endParaRPr lang="en-US" altLang="zh-CN" sz="2400" smtClean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{</a:t>
            </a:r>
            <a:endParaRPr lang="en-US" altLang="zh-CN" sz="2400" smtClean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2400" b="1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if</a:t>
            </a:r>
            <a:r>
              <a:rPr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( | P | &lt;= n0) </a:t>
            </a:r>
            <a:r>
              <a:rPr lang="en-US" altLang="zh-CN" sz="2400" b="1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adhoc</a:t>
            </a:r>
            <a:r>
              <a:rPr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(P);   //</a:t>
            </a:r>
            <a:r>
              <a:rPr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解决小规模的问题</a:t>
            </a:r>
            <a:endParaRPr lang="zh-CN" altLang="en-US" sz="2400" smtClean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2400" b="1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divide</a:t>
            </a:r>
            <a:r>
              <a:rPr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P into smaller subinstances P1,P2,...,Pk</a:t>
            </a:r>
            <a:r>
              <a:rPr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；</a:t>
            </a:r>
            <a:r>
              <a:rPr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//</a:t>
            </a:r>
            <a:r>
              <a:rPr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分解问题</a:t>
            </a:r>
            <a:endParaRPr lang="zh-CN" altLang="en-US" sz="2400" smtClean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2400" b="1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for</a:t>
            </a:r>
            <a:r>
              <a:rPr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(i=1,i&lt;=k,i++)</a:t>
            </a:r>
            <a:endParaRPr lang="en-US" altLang="zh-CN" sz="2400" smtClean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yi=</a:t>
            </a:r>
            <a:r>
              <a:rPr lang="en-US" altLang="zh-CN" sz="2400" b="1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divide-and-conquer</a:t>
            </a:r>
            <a:r>
              <a:rPr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(Pi);  //</a:t>
            </a:r>
            <a:r>
              <a:rPr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递归的解各子问题</a:t>
            </a:r>
            <a:endParaRPr lang="zh-CN" altLang="en-US" sz="2400" smtClean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2400" b="1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return</a:t>
            </a:r>
            <a:r>
              <a:rPr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merge(y1,...,yk);  //</a:t>
            </a:r>
            <a:r>
              <a:rPr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将各子问题的解合并为原问题的解</a:t>
            </a:r>
            <a:endParaRPr lang="zh-CN" altLang="en-US" sz="2400" smtClean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}</a:t>
            </a:r>
            <a:endParaRPr lang="en-US" altLang="zh-CN" sz="2400" smtClean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3 </a:t>
            </a:r>
            <a:r>
              <a:rPr lang="zh-CN" altLang="en-US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分治法的基本步骤</a:t>
            </a:r>
            <a:endParaRPr lang="zh-CN" altLang="en-US" dirty="0" smtClean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7413625" cy="561975"/>
          </a:xfrm>
        </p:spPr>
        <p:txBody>
          <a:bodyPr/>
          <a:lstStyle/>
          <a:p>
            <a:r>
              <a:rPr lang="en-US" altLang="zh-CN" b="1" dirty="0" smtClean="0">
                <a:solidFill>
                  <a:schemeClr val="tx1"/>
                </a:solidFill>
                <a:ea typeface="黑体" panose="02010609060101010101" pitchFamily="49" charset="-122"/>
              </a:rPr>
              <a:t> 4 </a:t>
            </a:r>
            <a:r>
              <a:rPr lang="zh-CN" altLang="en-US" b="1" dirty="0" smtClean="0">
                <a:solidFill>
                  <a:schemeClr val="tx1"/>
                </a:solidFill>
              </a:rPr>
              <a:t>典型例子</a:t>
            </a:r>
            <a:r>
              <a:rPr lang="en-US" altLang="zh-CN" b="1" dirty="0" smtClean="0">
                <a:solidFill>
                  <a:schemeClr val="tx1"/>
                </a:solidFill>
              </a:rPr>
              <a:t>——</a:t>
            </a:r>
            <a:r>
              <a:rPr lang="zh-CN" altLang="en-US" b="1" dirty="0" smtClean="0">
                <a:solidFill>
                  <a:schemeClr val="tx1"/>
                </a:solidFill>
                <a:ea typeface="黑体" panose="02010609060101010101" pitchFamily="49" charset="-122"/>
              </a:rPr>
              <a:t>二分搜索技术</a:t>
            </a:r>
            <a:endParaRPr lang="zh-CN" altLang="en-US" b="1" dirty="0" smtClean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39939" name="Rectangle 7"/>
          <p:cNvSpPr>
            <a:spLocks noChangeArrowheads="1"/>
          </p:cNvSpPr>
          <p:nvPr/>
        </p:nvSpPr>
        <p:spPr bwMode="auto">
          <a:xfrm>
            <a:off x="228600" y="990600"/>
            <a:ext cx="8534400" cy="374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Char char="•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algn="just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b="1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2400" b="1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同于现实中对问题（或工作）的分解，可能会考虑问题（或工作）的重点、难点、承担人员的能力等来进行问题的分解和分配。在算法设计中每次一个问题分解成的子问题个数一般是固定的，每个子问题的规模也是平均分配的。当每次都将问题分解为原问题规模的一半时，称为二分法。二分法是分治法较常用的分解策略，数据结构课程中的折半查找、归并排序等算法都是采用此策略实现的。</a:t>
            </a:r>
            <a:endParaRPr kumimoji="1" lang="zh-CN" altLang="en-US" sz="2400" b="1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en-US" altLang="zh-CN" sz="2400" b="1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Group 2"/>
          <p:cNvGrpSpPr>
            <a:grpSpLocks noChangeAspect="1"/>
          </p:cNvGrpSpPr>
          <p:nvPr/>
        </p:nvGrpSpPr>
        <p:grpSpPr bwMode="auto">
          <a:xfrm>
            <a:off x="214313" y="704850"/>
            <a:ext cx="8715375" cy="5718175"/>
            <a:chOff x="2362" y="7308"/>
            <a:chExt cx="7200" cy="4212"/>
          </a:xfrm>
        </p:grpSpPr>
        <p:sp>
          <p:nvSpPr>
            <p:cNvPr id="40969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62" y="7308"/>
              <a:ext cx="7200" cy="4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70" name="Rectangle 4"/>
            <p:cNvSpPr>
              <a:spLocks noChangeArrowheads="1"/>
            </p:cNvSpPr>
            <p:nvPr/>
          </p:nvSpPr>
          <p:spPr bwMode="auto">
            <a:xfrm>
              <a:off x="2988" y="9618"/>
              <a:ext cx="1722" cy="40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ü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Char char="•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zh-CN" altLang="en-US" sz="24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子问题</a:t>
              </a:r>
              <a:r>
                <a:rPr kumimoji="1" lang="en-US" altLang="zh-CN" sz="24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1" lang="zh-CN" altLang="en-US" sz="24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的解</a:t>
              </a: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0971" name="Rectangle 5"/>
            <p:cNvSpPr>
              <a:spLocks noChangeArrowheads="1"/>
            </p:cNvSpPr>
            <p:nvPr/>
          </p:nvSpPr>
          <p:spPr bwMode="auto">
            <a:xfrm>
              <a:off x="7058" y="9618"/>
              <a:ext cx="1721" cy="40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ü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Char char="•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zh-CN" altLang="en-US" sz="24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子问题</a:t>
              </a:r>
              <a:r>
                <a:rPr kumimoji="1" lang="en-US" altLang="zh-CN" sz="24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1" lang="zh-CN" altLang="en-US" sz="24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的解</a:t>
              </a: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0972" name="Rectangle 6"/>
            <p:cNvSpPr>
              <a:spLocks noChangeArrowheads="1"/>
            </p:cNvSpPr>
            <p:nvPr/>
          </p:nvSpPr>
          <p:spPr bwMode="auto">
            <a:xfrm>
              <a:off x="4866" y="10977"/>
              <a:ext cx="1723" cy="40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ü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Char char="•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zh-CN" altLang="en-US" sz="24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原始问题的解</a:t>
              </a: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0973" name="Line 7"/>
            <p:cNvSpPr>
              <a:spLocks noChangeShapeType="1"/>
            </p:cNvSpPr>
            <p:nvPr/>
          </p:nvSpPr>
          <p:spPr bwMode="auto">
            <a:xfrm flipH="1">
              <a:off x="3927" y="7580"/>
              <a:ext cx="1722" cy="8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74" name="Line 8"/>
            <p:cNvSpPr>
              <a:spLocks noChangeShapeType="1"/>
            </p:cNvSpPr>
            <p:nvPr/>
          </p:nvSpPr>
          <p:spPr bwMode="auto">
            <a:xfrm>
              <a:off x="5962" y="7580"/>
              <a:ext cx="1722" cy="8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75" name="Line 9"/>
            <p:cNvSpPr>
              <a:spLocks noChangeShapeType="1"/>
            </p:cNvSpPr>
            <p:nvPr/>
          </p:nvSpPr>
          <p:spPr bwMode="auto">
            <a:xfrm>
              <a:off x="3771" y="8938"/>
              <a:ext cx="0" cy="6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76" name="Line 10"/>
            <p:cNvSpPr>
              <a:spLocks noChangeShapeType="1"/>
            </p:cNvSpPr>
            <p:nvPr/>
          </p:nvSpPr>
          <p:spPr bwMode="auto">
            <a:xfrm>
              <a:off x="7840" y="8938"/>
              <a:ext cx="1" cy="6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77" name="Line 11"/>
            <p:cNvSpPr>
              <a:spLocks noChangeShapeType="1"/>
            </p:cNvSpPr>
            <p:nvPr/>
          </p:nvSpPr>
          <p:spPr bwMode="auto">
            <a:xfrm>
              <a:off x="7840" y="10025"/>
              <a:ext cx="1" cy="5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78" name="Line 12"/>
            <p:cNvSpPr>
              <a:spLocks noChangeShapeType="1"/>
            </p:cNvSpPr>
            <p:nvPr/>
          </p:nvSpPr>
          <p:spPr bwMode="auto">
            <a:xfrm>
              <a:off x="3771" y="10025"/>
              <a:ext cx="0" cy="5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79" name="Line 13"/>
            <p:cNvSpPr>
              <a:spLocks noChangeShapeType="1"/>
            </p:cNvSpPr>
            <p:nvPr/>
          </p:nvSpPr>
          <p:spPr bwMode="auto">
            <a:xfrm>
              <a:off x="3771" y="10569"/>
              <a:ext cx="406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80" name="Line 14"/>
            <p:cNvSpPr>
              <a:spLocks noChangeShapeType="1"/>
            </p:cNvSpPr>
            <p:nvPr/>
          </p:nvSpPr>
          <p:spPr bwMode="auto">
            <a:xfrm>
              <a:off x="5649" y="10569"/>
              <a:ext cx="0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0963" name="Oval 15"/>
          <p:cNvSpPr>
            <a:spLocks noChangeArrowheads="1"/>
          </p:cNvSpPr>
          <p:nvPr/>
        </p:nvSpPr>
        <p:spPr bwMode="auto">
          <a:xfrm>
            <a:off x="3419475" y="404813"/>
            <a:ext cx="2295525" cy="79216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/>
          <a:lstStyle>
            <a:lvl1pPr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Char char="•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原始问题的规模是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endParaRPr kumimoji="1" lang="en-US" altLang="zh-CN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64" name="Oval 16"/>
          <p:cNvSpPr>
            <a:spLocks noChangeArrowheads="1"/>
          </p:cNvSpPr>
          <p:nvPr/>
        </p:nvSpPr>
        <p:spPr bwMode="auto">
          <a:xfrm>
            <a:off x="611188" y="1989138"/>
            <a:ext cx="2303462" cy="863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/>
          <a:lstStyle>
            <a:lvl1pPr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Char char="•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子问题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的规模是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n/2</a:t>
            </a:r>
            <a:endParaRPr kumimoji="1" lang="en-US" altLang="zh-CN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65" name="Oval 17"/>
          <p:cNvSpPr>
            <a:spLocks noChangeArrowheads="1"/>
          </p:cNvSpPr>
          <p:nvPr/>
        </p:nvSpPr>
        <p:spPr bwMode="auto">
          <a:xfrm>
            <a:off x="5643563" y="2027238"/>
            <a:ext cx="2500312" cy="83026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/>
          <a:lstStyle>
            <a:lvl1pPr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Char char="•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子问题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的规模是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n/2</a:t>
            </a:r>
            <a:endParaRPr kumimoji="1" lang="en-US" altLang="zh-CN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66" name="Rectangle 18"/>
          <p:cNvSpPr>
            <a:spLocks noChangeArrowheads="1"/>
          </p:cNvSpPr>
          <p:nvPr/>
        </p:nvSpPr>
        <p:spPr bwMode="auto">
          <a:xfrm>
            <a:off x="0" y="1665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Char char="•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zh-CN" altLang="en-US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7" name="Rectangle 19"/>
          <p:cNvSpPr>
            <a:spLocks noChangeArrowheads="1"/>
          </p:cNvSpPr>
          <p:nvPr/>
        </p:nvSpPr>
        <p:spPr bwMode="auto">
          <a:xfrm>
            <a:off x="0" y="1665288"/>
            <a:ext cx="717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Char char="•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zh-CN" altLang="en-US" sz="12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12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</a:t>
            </a:r>
            <a:endParaRPr kumimoji="1" lang="zh-CN" altLang="en-US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68" name="Rectangle 20"/>
          <p:cNvSpPr>
            <a:spLocks noChangeArrowheads="1"/>
          </p:cNvSpPr>
          <p:nvPr/>
        </p:nvSpPr>
        <p:spPr bwMode="auto">
          <a:xfrm>
            <a:off x="0" y="5192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Char char="•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zh-CN" altLang="en-US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分治法的抽象化控制</a:t>
            </a:r>
            <a:endParaRPr lang="zh-CN" altLang="en-US" smtClean="0"/>
          </a:p>
        </p:txBody>
      </p:sp>
      <p:sp>
        <p:nvSpPr>
          <p:cNvPr id="41987" name="Rectangle 4"/>
          <p:cNvSpPr>
            <a:spLocks noChangeArrowheads="1"/>
          </p:cNvSpPr>
          <p:nvPr/>
        </p:nvSpPr>
        <p:spPr bwMode="auto">
          <a:xfrm>
            <a:off x="1362075" y="1957388"/>
            <a:ext cx="79248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Aft>
                <a:spcPct val="0"/>
              </a:spcAft>
              <a:buClr>
                <a:srgbClr val="D2611C"/>
              </a:buClr>
              <a:buFont typeface="Wingdings" panose="05000000000000000000" pitchFamily="2" charset="2"/>
              <a:buNone/>
            </a:pPr>
            <a:r>
              <a:rPr kumimoji="1" lang="zh-CN" altLang="en-US" sz="2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算法 </a:t>
            </a:r>
            <a:r>
              <a:rPr kumimoji="1" lang="en-US" altLang="zh-CN" sz="2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DANDC(int p,int q)</a:t>
            </a:r>
            <a:endParaRPr kumimoji="1" lang="en-US" altLang="zh-CN" sz="24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Aft>
                <a:spcPct val="0"/>
              </a:spcAft>
              <a:buClr>
                <a:srgbClr val="D2611C"/>
              </a:buClr>
              <a:buFont typeface="Wingdings" panose="05000000000000000000" pitchFamily="2" charset="2"/>
              <a:buNone/>
            </a:pPr>
            <a:r>
              <a:rPr kumimoji="1" lang="en-US" altLang="zh-CN" sz="2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int m,p,q;	//1≤p≤q≤n//</a:t>
            </a:r>
            <a:endParaRPr kumimoji="1" lang="en-US" altLang="zh-CN" sz="24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Aft>
                <a:spcPct val="0"/>
              </a:spcAft>
              <a:buClr>
                <a:srgbClr val="D2611C"/>
              </a:buClr>
              <a:buFont typeface="Wingdings" panose="05000000000000000000" pitchFamily="2" charset="2"/>
              <a:buNone/>
            </a:pPr>
            <a:r>
              <a:rPr kumimoji="1" lang="en-US" altLang="zh-CN" sz="2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 if SMALL(p,q)</a:t>
            </a:r>
            <a:endParaRPr kumimoji="1" lang="en-US" altLang="zh-CN" sz="24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Aft>
                <a:spcPct val="0"/>
              </a:spcAft>
              <a:buClr>
                <a:srgbClr val="D2611C"/>
              </a:buClr>
              <a:buFont typeface="Wingdings" panose="05000000000000000000" pitchFamily="2" charset="2"/>
              <a:buNone/>
            </a:pPr>
            <a:r>
              <a:rPr kumimoji="1" lang="en-US" altLang="zh-CN" sz="2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       return(G(p,q))</a:t>
            </a:r>
            <a:r>
              <a:rPr kumimoji="1" lang="zh-CN" altLang="en-US" sz="2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；</a:t>
            </a:r>
            <a:endParaRPr kumimoji="1" lang="zh-CN" altLang="en-US" sz="24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Aft>
                <a:spcPct val="0"/>
              </a:spcAft>
              <a:buClr>
                <a:srgbClr val="D2611C"/>
              </a:buClr>
              <a:buFont typeface="Wingdings" panose="05000000000000000000" pitchFamily="2" charset="2"/>
              <a:buNone/>
            </a:pPr>
            <a:r>
              <a:rPr kumimoji="1" lang="zh-CN" altLang="en-US" sz="2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   </a:t>
            </a:r>
            <a:endParaRPr kumimoji="1" lang="en-US" altLang="zh-CN" sz="24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Aft>
                <a:spcPct val="0"/>
              </a:spcAft>
              <a:buClr>
                <a:srgbClr val="D2611C"/>
              </a:buClr>
              <a:buFont typeface="Wingdings" panose="05000000000000000000" pitchFamily="2" charset="2"/>
              <a:buNone/>
            </a:pPr>
            <a:r>
              <a:rPr kumimoji="1" lang="en-US" altLang="zh-CN" sz="2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 else m</a:t>
            </a:r>
            <a:r>
              <a:rPr kumimoji="1" lang="en-US" altLang="zh-CN" sz="2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DIVIDE(p,q)</a:t>
            </a:r>
            <a:r>
              <a:rPr kumimoji="1" lang="zh-CN" altLang="en-US" sz="2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；		</a:t>
            </a:r>
            <a:r>
              <a:rPr kumimoji="1" lang="en-US" altLang="zh-CN" sz="2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//p≤m≤q//</a:t>
            </a:r>
            <a:endParaRPr kumimoji="1" lang="en-US" altLang="zh-CN" sz="24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fontAlgn="base" hangingPunct="1">
              <a:spcAft>
                <a:spcPct val="0"/>
              </a:spcAft>
              <a:buClr>
                <a:srgbClr val="D2611C"/>
              </a:buClr>
              <a:buFont typeface="Wingdings" panose="05000000000000000000" pitchFamily="2" charset="2"/>
              <a:buNone/>
            </a:pPr>
            <a:r>
              <a:rPr kumimoji="1" lang="en-US" altLang="zh-CN" sz="2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      return(COMBINE(</a:t>
            </a:r>
            <a:r>
              <a:rPr kumimoji="1" lang="en-US" altLang="zh-CN" sz="2400" smtClean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DANDC(p,m)</a:t>
            </a:r>
            <a:r>
              <a:rPr kumimoji="1" lang="en-US" altLang="zh-CN" sz="2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,</a:t>
            </a:r>
            <a:r>
              <a:rPr kumimoji="1" lang="en-US" altLang="zh-CN" sz="2400" smtClean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DANDC(m+1,q)</a:t>
            </a:r>
            <a:r>
              <a:rPr kumimoji="1" lang="en-US" altLang="zh-CN" sz="2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))</a:t>
            </a:r>
            <a:r>
              <a:rPr kumimoji="1" lang="zh-CN" altLang="en-US" sz="2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；</a:t>
            </a:r>
            <a:endParaRPr kumimoji="1" lang="zh-CN" altLang="en-US" sz="24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fontAlgn="base" hangingPunct="1">
              <a:spcAft>
                <a:spcPct val="0"/>
              </a:spcAft>
              <a:buClr>
                <a:srgbClr val="D2611C"/>
              </a:buClr>
              <a:buFont typeface="Wingdings" panose="05000000000000000000" pitchFamily="2" charset="2"/>
              <a:buNone/>
            </a:pPr>
            <a:r>
              <a:rPr kumimoji="1" lang="zh-CN" altLang="en-US" sz="2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   </a:t>
            </a:r>
            <a:endParaRPr kumimoji="1" lang="zh-CN" altLang="en-US" sz="24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fontAlgn="base" hangingPunct="1">
              <a:spcAft>
                <a:spcPct val="0"/>
              </a:spcAft>
              <a:buClr>
                <a:srgbClr val="D2611C"/>
              </a:buClr>
              <a:buFont typeface="Wingdings" panose="05000000000000000000" pitchFamily="2" charset="2"/>
              <a:buNone/>
            </a:pPr>
            <a:endParaRPr kumimoji="1" lang="en-US" altLang="zh-CN" sz="24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grpSp>
        <p:nvGrpSpPr>
          <p:cNvPr id="2" name="Group 5"/>
          <p:cNvGrpSpPr/>
          <p:nvPr/>
        </p:nvGrpSpPr>
        <p:grpSpPr bwMode="auto">
          <a:xfrm>
            <a:off x="3625850" y="2286000"/>
            <a:ext cx="4465638" cy="841375"/>
            <a:chOff x="1872" y="1390"/>
            <a:chExt cx="2813" cy="530"/>
          </a:xfrm>
        </p:grpSpPr>
        <p:sp>
          <p:nvSpPr>
            <p:cNvPr id="41998" name="Text Box 6"/>
            <p:cNvSpPr txBox="1">
              <a:spLocks noChangeArrowheads="1"/>
            </p:cNvSpPr>
            <p:nvPr/>
          </p:nvSpPr>
          <p:spPr bwMode="auto">
            <a:xfrm>
              <a:off x="2873" y="1390"/>
              <a:ext cx="1812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zh-CN" altLang="en-US" sz="2400" b="0" smtClean="0">
                  <a:solidFill>
                    <a:srgbClr val="0000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判断输入规模</a:t>
              </a:r>
              <a:endParaRPr kumimoji="1" lang="en-US" altLang="zh-CN" sz="2400" b="0" smtClean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400" b="0" smtClean="0">
                  <a:solidFill>
                    <a:srgbClr val="0000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q-p+1</a:t>
              </a:r>
              <a:r>
                <a:rPr kumimoji="1" lang="zh-CN" altLang="en-US" sz="2400" b="0" smtClean="0">
                  <a:solidFill>
                    <a:srgbClr val="0000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是否足够的小</a:t>
              </a:r>
              <a:endParaRPr kumimoji="1" lang="zh-CN" altLang="en-US" sz="2400" b="0" smtClean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1999" name="Line 7"/>
            <p:cNvSpPr>
              <a:spLocks noChangeShapeType="1"/>
            </p:cNvSpPr>
            <p:nvPr/>
          </p:nvSpPr>
          <p:spPr bwMode="auto">
            <a:xfrm flipH="1">
              <a:off x="1872" y="1660"/>
              <a:ext cx="956" cy="2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8"/>
          <p:cNvGrpSpPr/>
          <p:nvPr/>
        </p:nvGrpSpPr>
        <p:grpSpPr bwMode="auto">
          <a:xfrm>
            <a:off x="4143375" y="3357563"/>
            <a:ext cx="4722813" cy="523875"/>
            <a:chOff x="2198" y="2065"/>
            <a:chExt cx="2975" cy="330"/>
          </a:xfrm>
        </p:grpSpPr>
        <p:sp>
          <p:nvSpPr>
            <p:cNvPr id="41996" name="Text Box 9"/>
            <p:cNvSpPr txBox="1">
              <a:spLocks noChangeArrowheads="1"/>
            </p:cNvSpPr>
            <p:nvPr/>
          </p:nvSpPr>
          <p:spPr bwMode="auto">
            <a:xfrm>
              <a:off x="2558" y="2065"/>
              <a:ext cx="261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zh-CN" altLang="en-US" b="0" smtClean="0">
                  <a:solidFill>
                    <a:srgbClr val="0000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求解该规模问题解的函数</a:t>
              </a:r>
              <a:endParaRPr kumimoji="1" lang="zh-CN" altLang="en-US" b="0" smtClean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1997" name="Line 10"/>
            <p:cNvSpPr>
              <a:spLocks noChangeShapeType="1"/>
            </p:cNvSpPr>
            <p:nvPr/>
          </p:nvSpPr>
          <p:spPr bwMode="auto">
            <a:xfrm flipV="1">
              <a:off x="2198" y="2155"/>
              <a:ext cx="315" cy="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11"/>
          <p:cNvGrpSpPr/>
          <p:nvPr/>
        </p:nvGrpSpPr>
        <p:grpSpPr bwMode="auto">
          <a:xfrm>
            <a:off x="3143250" y="4929188"/>
            <a:ext cx="3178175" cy="1716087"/>
            <a:chOff x="1728" y="2832"/>
            <a:chExt cx="2002" cy="1081"/>
          </a:xfrm>
        </p:grpSpPr>
        <p:sp>
          <p:nvSpPr>
            <p:cNvPr id="41994" name="Text Box 12"/>
            <p:cNvSpPr txBox="1">
              <a:spLocks noChangeArrowheads="1"/>
            </p:cNvSpPr>
            <p:nvPr/>
          </p:nvSpPr>
          <p:spPr bwMode="auto">
            <a:xfrm>
              <a:off x="1728" y="3312"/>
              <a:ext cx="2002" cy="6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zh-CN" altLang="en-US" b="0" smtClean="0">
                  <a:solidFill>
                    <a:srgbClr val="0000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将两个子问题的解合成原问题</a:t>
              </a:r>
              <a:endParaRPr kumimoji="1" lang="zh-CN" altLang="en-US" b="0" smtClean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1995" name="Line 13"/>
            <p:cNvSpPr>
              <a:spLocks noChangeShapeType="1"/>
            </p:cNvSpPr>
            <p:nvPr/>
          </p:nvSpPr>
          <p:spPr bwMode="auto">
            <a:xfrm>
              <a:off x="1920" y="2832"/>
              <a:ext cx="336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14"/>
          <p:cNvGrpSpPr/>
          <p:nvPr/>
        </p:nvGrpSpPr>
        <p:grpSpPr bwMode="auto">
          <a:xfrm>
            <a:off x="4584700" y="4429125"/>
            <a:ext cx="4559300" cy="1590675"/>
            <a:chOff x="1968" y="2544"/>
            <a:chExt cx="2872" cy="1002"/>
          </a:xfrm>
        </p:grpSpPr>
        <p:sp>
          <p:nvSpPr>
            <p:cNvPr id="41992" name="Text Box 15"/>
            <p:cNvSpPr txBox="1">
              <a:spLocks noChangeArrowheads="1"/>
            </p:cNvSpPr>
            <p:nvPr/>
          </p:nvSpPr>
          <p:spPr bwMode="auto">
            <a:xfrm>
              <a:off x="3819" y="3216"/>
              <a:ext cx="102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zh-CN" altLang="en-US" b="0" smtClean="0">
                  <a:solidFill>
                    <a:srgbClr val="0000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分割函数</a:t>
              </a:r>
              <a:endParaRPr kumimoji="1" lang="zh-CN" altLang="en-US" b="0" smtClean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1993" name="Line 16"/>
            <p:cNvSpPr>
              <a:spLocks noChangeShapeType="1"/>
            </p:cNvSpPr>
            <p:nvPr/>
          </p:nvSpPr>
          <p:spPr bwMode="auto">
            <a:xfrm>
              <a:off x="1968" y="2544"/>
              <a:ext cx="2016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DANDC</a:t>
            </a:r>
            <a:r>
              <a:rPr lang="zh-CN" altLang="en-US" smtClean="0"/>
              <a:t>的计算时间</a:t>
            </a:r>
            <a:endParaRPr lang="zh-CN" altLang="en-US" smtClean="0"/>
          </a:p>
        </p:txBody>
      </p:sp>
      <p:sp>
        <p:nvSpPr>
          <p:cNvPr id="43011" name="Rectangle 4"/>
          <p:cNvSpPr>
            <a:spLocks noChangeArrowheads="1"/>
          </p:cNvSpPr>
          <p:nvPr/>
        </p:nvSpPr>
        <p:spPr bwMode="auto">
          <a:xfrm>
            <a:off x="685800" y="1828800"/>
            <a:ext cx="7696200" cy="390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lnSpc>
                <a:spcPct val="90000"/>
              </a:lnSpc>
              <a:spcAft>
                <a:spcPct val="0"/>
              </a:spcAft>
              <a:buClr>
                <a:srgbClr val="D2611C"/>
              </a:buClr>
              <a:buFont typeface="Wingdings" panose="05000000000000000000" pitchFamily="2" charset="2"/>
              <a:buChar char="§"/>
            </a:pPr>
            <a:r>
              <a:rPr kumimoji="1" lang="zh-CN" altLang="en-US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倘若所分成的两个子问题的输入规模大致相等，则</a:t>
            </a:r>
            <a:r>
              <a:rPr kumimoji="1" lang="en-US" altLang="zh-CN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DANDC</a:t>
            </a:r>
            <a:r>
              <a:rPr kumimoji="1" lang="zh-CN" altLang="en-US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的计算时间可表示为：</a:t>
            </a:r>
            <a:endParaRPr kumimoji="1" lang="zh-CN" altLang="en-US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 eaLnBrk="1" fontAlgn="base" hangingPunct="1">
              <a:lnSpc>
                <a:spcPct val="90000"/>
              </a:lnSpc>
              <a:spcAft>
                <a:spcPct val="0"/>
              </a:spcAft>
              <a:buClr>
                <a:srgbClr val="D2611C"/>
              </a:buClr>
              <a:buFont typeface="Wingdings" panose="05000000000000000000" pitchFamily="2" charset="2"/>
              <a:buNone/>
            </a:pPr>
            <a:endParaRPr kumimoji="1" lang="zh-CN" altLang="en-US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lnSpc>
                <a:spcPct val="90000"/>
              </a:lnSpc>
              <a:spcAft>
                <a:spcPct val="0"/>
              </a:spcAft>
              <a:buClr>
                <a:srgbClr val="D2611C"/>
              </a:buClr>
              <a:buFont typeface="Wingdings" panose="05000000000000000000" pitchFamily="2" charset="2"/>
              <a:buNone/>
            </a:pPr>
            <a:r>
              <a:rPr kumimoji="1" lang="zh-CN" altLang="en-US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           </a:t>
            </a:r>
            <a:r>
              <a:rPr kumimoji="1" lang="en-US" altLang="zh-CN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T(n)=</a:t>
            </a:r>
            <a:endParaRPr kumimoji="1" lang="en-US" altLang="zh-CN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 eaLnBrk="1" fontAlgn="base" hangingPunct="1">
              <a:lnSpc>
                <a:spcPct val="90000"/>
              </a:lnSpc>
              <a:spcAft>
                <a:spcPct val="0"/>
              </a:spcAft>
              <a:buClr>
                <a:srgbClr val="D2611C"/>
              </a:buClr>
              <a:buFont typeface="Wingdings" panose="05000000000000000000" pitchFamily="2" charset="2"/>
              <a:buNone/>
            </a:pPr>
            <a:endParaRPr kumimoji="1" lang="en-US" altLang="zh-CN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 eaLnBrk="1" fontAlgn="base" hangingPunct="1">
              <a:lnSpc>
                <a:spcPct val="90000"/>
              </a:lnSpc>
              <a:spcAft>
                <a:spcPct val="0"/>
              </a:spcAft>
              <a:buClr>
                <a:srgbClr val="D2611C"/>
              </a:buClr>
              <a:buFont typeface="Wingdings" panose="05000000000000000000" pitchFamily="2" charset="2"/>
              <a:buNone/>
            </a:pPr>
            <a:endParaRPr kumimoji="1" lang="en-US" altLang="zh-CN" sz="2400" smtClean="0">
              <a:solidFill>
                <a:srgbClr val="3366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 eaLnBrk="1" fontAlgn="base" hangingPunct="1">
              <a:lnSpc>
                <a:spcPct val="90000"/>
              </a:lnSpc>
              <a:spcAft>
                <a:spcPct val="0"/>
              </a:spcAft>
              <a:buClr>
                <a:srgbClr val="D2611C"/>
              </a:buClr>
              <a:buFont typeface="Wingdings" panose="05000000000000000000" pitchFamily="2" charset="2"/>
              <a:buNone/>
            </a:pPr>
            <a:r>
              <a:rPr kumimoji="1" lang="zh-CN" altLang="en-US" sz="2400" smtClean="0">
                <a:solidFill>
                  <a:srgbClr val="D2611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说明：</a:t>
            </a:r>
            <a:r>
              <a:rPr kumimoji="1" lang="en-US" altLang="zh-CN" sz="2400" smtClean="0">
                <a:solidFill>
                  <a:srgbClr val="D2611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T(n)</a:t>
            </a:r>
            <a:r>
              <a:rPr kumimoji="1" lang="zh-CN" altLang="en-US" sz="2400" smtClean="0">
                <a:solidFill>
                  <a:srgbClr val="D2611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式输入规模为</a:t>
            </a:r>
            <a:r>
              <a:rPr kumimoji="1" lang="en-US" altLang="zh-CN" sz="2400" smtClean="0">
                <a:solidFill>
                  <a:srgbClr val="D2611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n</a:t>
            </a:r>
            <a:r>
              <a:rPr kumimoji="1" lang="zh-CN" altLang="en-US" sz="2400" smtClean="0">
                <a:solidFill>
                  <a:srgbClr val="D2611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的</a:t>
            </a:r>
            <a:r>
              <a:rPr kumimoji="1" lang="en-US" altLang="zh-CN" sz="2400" smtClean="0">
                <a:solidFill>
                  <a:srgbClr val="D2611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DANDC</a:t>
            </a:r>
            <a:r>
              <a:rPr kumimoji="1" lang="zh-CN" altLang="en-US" sz="2400" smtClean="0">
                <a:solidFill>
                  <a:srgbClr val="D2611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的计算时间</a:t>
            </a:r>
            <a:endParaRPr kumimoji="1" lang="zh-CN" altLang="en-US" sz="2400" smtClean="0">
              <a:solidFill>
                <a:srgbClr val="D2611C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 eaLnBrk="1" fontAlgn="base" hangingPunct="1">
              <a:lnSpc>
                <a:spcPct val="90000"/>
              </a:lnSpc>
              <a:spcAft>
                <a:spcPct val="0"/>
              </a:spcAft>
              <a:buClr>
                <a:srgbClr val="D2611C"/>
              </a:buClr>
              <a:buFont typeface="Wingdings" panose="05000000000000000000" pitchFamily="2" charset="2"/>
              <a:buNone/>
            </a:pPr>
            <a:r>
              <a:rPr kumimoji="1" lang="en-US" altLang="zh-CN" sz="2400" smtClean="0">
                <a:solidFill>
                  <a:srgbClr val="D2611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g(n)</a:t>
            </a:r>
            <a:r>
              <a:rPr kumimoji="1" lang="zh-CN" altLang="en-US" sz="2400" smtClean="0">
                <a:solidFill>
                  <a:srgbClr val="D2611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是对足够小的输入规模能直接计算出答案的时间</a:t>
            </a:r>
            <a:endParaRPr kumimoji="1" lang="zh-CN" altLang="en-US" sz="2400" smtClean="0">
              <a:solidFill>
                <a:srgbClr val="D2611C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lnSpc>
                <a:spcPct val="90000"/>
              </a:lnSpc>
              <a:spcAft>
                <a:spcPct val="0"/>
              </a:spcAft>
              <a:buClr>
                <a:srgbClr val="D2611C"/>
              </a:buClr>
              <a:buFont typeface="Wingdings" panose="05000000000000000000" pitchFamily="2" charset="2"/>
              <a:buNone/>
            </a:pPr>
            <a:r>
              <a:rPr kumimoji="1" lang="en-US" altLang="zh-CN" sz="2400" smtClean="0">
                <a:solidFill>
                  <a:srgbClr val="D2611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f(n)</a:t>
            </a:r>
            <a:r>
              <a:rPr kumimoji="1" lang="zh-CN" altLang="en-US" sz="2400" smtClean="0">
                <a:solidFill>
                  <a:srgbClr val="D2611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是</a:t>
            </a:r>
            <a:r>
              <a:rPr kumimoji="1" lang="en-US" altLang="zh-CN" sz="2400" smtClean="0">
                <a:solidFill>
                  <a:srgbClr val="D2611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COMBINE</a:t>
            </a:r>
            <a:r>
              <a:rPr kumimoji="1" lang="zh-CN" altLang="en-US" sz="2400" smtClean="0">
                <a:solidFill>
                  <a:srgbClr val="D2611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的计算时间</a:t>
            </a:r>
            <a:endParaRPr kumimoji="1" lang="zh-CN" altLang="en-US" sz="2400" smtClean="0">
              <a:solidFill>
                <a:srgbClr val="D2611C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3012" name="AutoShape 5"/>
          <p:cNvSpPr/>
          <p:nvPr/>
        </p:nvSpPr>
        <p:spPr bwMode="auto">
          <a:xfrm>
            <a:off x="3276600" y="3124200"/>
            <a:ext cx="304800" cy="914400"/>
          </a:xfrm>
          <a:prstGeom prst="leftBrace">
            <a:avLst>
              <a:gd name="adj1" fmla="val 25000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zh-CN" altLang="en-US" sz="32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3013" name="Text Box 6"/>
          <p:cNvSpPr txBox="1">
            <a:spLocks noChangeArrowheads="1"/>
          </p:cNvSpPr>
          <p:nvPr/>
        </p:nvSpPr>
        <p:spPr bwMode="auto">
          <a:xfrm>
            <a:off x="3643313" y="2714625"/>
            <a:ext cx="4011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g(n)			n</a:t>
            </a:r>
            <a:r>
              <a:rPr kumimoji="1" lang="zh-CN" altLang="en-US" sz="24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足够小</a:t>
            </a:r>
            <a:endParaRPr kumimoji="1" lang="zh-CN" altLang="en-US" sz="2400" smtClean="0">
              <a:solidFill>
                <a:srgbClr val="663300"/>
              </a:solidFill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3014" name="Text Box 7"/>
          <p:cNvSpPr txBox="1">
            <a:spLocks noChangeArrowheads="1"/>
          </p:cNvSpPr>
          <p:nvPr/>
        </p:nvSpPr>
        <p:spPr bwMode="auto">
          <a:xfrm>
            <a:off x="3581400" y="3733800"/>
            <a:ext cx="3536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2T(n/2)+f(n)		</a:t>
            </a:r>
            <a:r>
              <a:rPr kumimoji="1" lang="zh-CN" altLang="en-US" sz="24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否则</a:t>
            </a:r>
            <a:endParaRPr kumimoji="1" lang="zh-CN" altLang="en-US" sz="2400" smtClean="0">
              <a:solidFill>
                <a:srgbClr val="663300"/>
              </a:solidFill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楷体_GB2312" pitchFamily="49" charset="-122"/>
                <a:ea typeface="楷体_GB2312" pitchFamily="49" charset="-122"/>
              </a:rPr>
              <a:t>人们从大量实践中发现，在用分治法设计算法时，最好使子问题的规模大致相同。即将一个问题分成大小相等的</a:t>
            </a:r>
            <a:r>
              <a:rPr lang="en-US" altLang="zh-CN" smtClean="0">
                <a:latin typeface="楷体_GB2312" pitchFamily="49" charset="-122"/>
                <a:ea typeface="楷体_GB2312" pitchFamily="49" charset="-122"/>
              </a:rPr>
              <a:t>k</a:t>
            </a:r>
            <a:r>
              <a:rPr lang="zh-CN" altLang="en-US" smtClean="0">
                <a:latin typeface="楷体_GB2312" pitchFamily="49" charset="-122"/>
                <a:ea typeface="楷体_GB2312" pitchFamily="49" charset="-122"/>
              </a:rPr>
              <a:t>个子问题的处理方法是行之有效的。这种使子问题规模大致相等的做法是出自一种</a:t>
            </a: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平衡</a:t>
            </a:r>
            <a:r>
              <a:rPr lang="en-US" altLang="zh-CN" smtClean="0">
                <a:latin typeface="Arial" panose="020B0604020202020204" pitchFamily="34" charset="0"/>
                <a:ea typeface="楷体_GB2312" pitchFamily="49" charset="-122"/>
              </a:rPr>
              <a:t>(balancing)</a:t>
            </a: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子问题</a:t>
            </a:r>
            <a:r>
              <a:rPr lang="zh-CN" altLang="en-US" smtClean="0">
                <a:latin typeface="楷体_GB2312" pitchFamily="49" charset="-122"/>
                <a:ea typeface="楷体_GB2312" pitchFamily="49" charset="-122"/>
              </a:rPr>
              <a:t>的思想，它几乎总是比子问题规模不等的做法要好。</a:t>
            </a:r>
            <a:endParaRPr lang="zh-CN" altLang="en-US" smtClean="0"/>
          </a:p>
        </p:txBody>
      </p:sp>
      <p:sp>
        <p:nvSpPr>
          <p:cNvPr id="4403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38" y="161925"/>
            <a:ext cx="7772400" cy="838200"/>
          </a:xfrm>
        </p:spPr>
        <p:txBody>
          <a:bodyPr/>
          <a:lstStyle/>
          <a:p>
            <a:pPr eaLnBrk="1" hangingPunct="1"/>
            <a:r>
              <a:rPr lang="zh-CN" altLang="en-US" smtClean="0"/>
              <a:t>二分搜索技术</a:t>
            </a:r>
            <a:endParaRPr lang="zh-CN" altLang="en-US" smtClean="0"/>
          </a:p>
        </p:txBody>
      </p:sp>
      <p:sp>
        <p:nvSpPr>
          <p:cNvPr id="73741" name="Text Box 13"/>
          <p:cNvSpPr txBox="1">
            <a:spLocks noChangeArrowheads="1"/>
          </p:cNvSpPr>
          <p:nvPr/>
        </p:nvSpPr>
        <p:spPr bwMode="auto">
          <a:xfrm>
            <a:off x="468313" y="4121150"/>
            <a:ext cx="7991475" cy="1238250"/>
          </a:xfrm>
          <a:prstGeom prst="rect">
            <a:avLst/>
          </a:prstGeom>
          <a:solidFill>
            <a:schemeClr val="hlink"/>
          </a:solidFill>
          <a:ln w="50800">
            <a:solidFill>
              <a:srgbClr val="FF66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分析：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如果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n=1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即只有一个元素，则只要比较这个元素和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x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就可以确定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x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是否在表中。因此这个问题满足分治法的第一个适用条件</a:t>
            </a:r>
            <a:endParaRPr lang="zh-CN" altLang="en-US" sz="2400" b="0" smtClean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73742" name="Text Box 14"/>
          <p:cNvSpPr txBox="1">
            <a:spLocks noChangeArrowheads="1"/>
          </p:cNvSpPr>
          <p:nvPr/>
        </p:nvSpPr>
        <p:spPr bwMode="auto">
          <a:xfrm>
            <a:off x="395288" y="4005263"/>
            <a:ext cx="8078787" cy="3063875"/>
          </a:xfrm>
          <a:prstGeom prst="rect">
            <a:avLst/>
          </a:prstGeom>
          <a:solidFill>
            <a:schemeClr val="hlink"/>
          </a:solidFill>
          <a:ln w="50800">
            <a:solidFill>
              <a:srgbClr val="FF66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分析：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比较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x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和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的中间元素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a[mid]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，若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x=a[mid]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，则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x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在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L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中的位置就是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mid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；如果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x&lt;a[mid]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，由于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是递增排序的，因此假如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x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在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中的话，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x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必然排在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a[mid]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的前面，所以我们只要在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a[mid]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的前面查找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x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即可；如果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x&gt;a[i]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，同理我们只要在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a[mid]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的后面查找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x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即可。无论是在前面还是后面查找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x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，其方法都和在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中查找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x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一样，只不过是查找的规模缩小了。这就说明了此问题满足分治法的第二个和第三个适用条件。</a:t>
            </a:r>
            <a:endParaRPr lang="zh-CN" altLang="en-US" sz="2400" b="0" smtClean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73743" name="Text Box 15"/>
          <p:cNvSpPr txBox="1">
            <a:spLocks noChangeArrowheads="1"/>
          </p:cNvSpPr>
          <p:nvPr/>
        </p:nvSpPr>
        <p:spPr bwMode="auto">
          <a:xfrm>
            <a:off x="0" y="3933825"/>
            <a:ext cx="8532813" cy="31400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4000" b="0" smtClean="0">
                <a:solidFill>
                  <a:srgbClr val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                                                       </a:t>
            </a:r>
            <a:endParaRPr lang="en-US" altLang="zh-CN" sz="4000" b="0" smtClean="0">
              <a:solidFill>
                <a:srgbClr val="000000"/>
              </a:solidFill>
              <a:latin typeface="Arial" panose="020B0604020202020204" pitchFamily="34" charset="0"/>
              <a:ea typeface="华文行楷" panose="02010800040101010101" pitchFamily="2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4000" b="0" smtClean="0">
                <a:solidFill>
                  <a:srgbClr val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Arial" panose="020B0604020202020204" pitchFamily="34" charset="0"/>
              </a:rPr>
              <a:t> </a:t>
            </a:r>
            <a:endParaRPr lang="en-US" altLang="zh-CN" sz="4000" b="0" smtClean="0">
              <a:solidFill>
                <a:srgbClr val="000000"/>
              </a:solidFill>
              <a:latin typeface="Arial" panose="020B0604020202020204" pitchFamily="34" charset="0"/>
              <a:ea typeface="华文行楷" panose="02010800040101010101" pitchFamily="2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zh-CN" sz="4000" b="0" smtClean="0">
              <a:solidFill>
                <a:srgbClr val="000000"/>
              </a:solidFill>
              <a:latin typeface="Arial" panose="020B0604020202020204" pitchFamily="34" charset="0"/>
              <a:ea typeface="华文行楷" panose="02010800040101010101" pitchFamily="2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zh-CN" sz="4000" b="0" smtClean="0">
              <a:solidFill>
                <a:srgbClr val="000000"/>
              </a:solidFill>
              <a:latin typeface="Arial" panose="020B0604020202020204" pitchFamily="34" charset="0"/>
              <a:ea typeface="华文行楷" panose="02010800040101010101" pitchFamily="2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zh-CN" sz="4000" b="0" smtClean="0">
              <a:solidFill>
                <a:srgbClr val="000000"/>
              </a:solidFill>
              <a:latin typeface="Arial" panose="020B0604020202020204" pitchFamily="34" charset="0"/>
              <a:ea typeface="华文行楷" panose="020108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73744" name="Text Box 16"/>
          <p:cNvSpPr txBox="1">
            <a:spLocks noChangeArrowheads="1"/>
          </p:cNvSpPr>
          <p:nvPr/>
        </p:nvSpPr>
        <p:spPr bwMode="auto">
          <a:xfrm>
            <a:off x="361950" y="4768850"/>
            <a:ext cx="8353425" cy="1238250"/>
          </a:xfrm>
          <a:prstGeom prst="rect">
            <a:avLst/>
          </a:prstGeom>
          <a:solidFill>
            <a:schemeClr val="hlink"/>
          </a:solidFill>
          <a:ln w="50800">
            <a:solidFill>
              <a:srgbClr val="FF66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分析：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很显然此问题分解出的子问题相互独立，即在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a[i]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的前面或后面查找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x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是独立的子问题，因此满足分治法的第四个适用条件。</a:t>
            </a:r>
            <a:endParaRPr lang="zh-CN" altLang="en-US" sz="2400" b="0" smtClean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45064" name="Text Box 18"/>
          <p:cNvSpPr txBox="1">
            <a:spLocks noChangeArrowheads="1"/>
          </p:cNvSpPr>
          <p:nvPr/>
        </p:nvSpPr>
        <p:spPr bwMode="auto">
          <a:xfrm>
            <a:off x="250825" y="1528763"/>
            <a:ext cx="864235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</a:t>
            </a:r>
            <a:r>
              <a:rPr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给定已按升序排好序的</a:t>
            </a:r>
            <a:r>
              <a:rPr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个元素</a:t>
            </a:r>
            <a:r>
              <a:rPr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a[0:n-1]</a:t>
            </a:r>
            <a:r>
              <a:rPr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，现要在这</a:t>
            </a:r>
            <a:r>
              <a:rPr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个元素中找出一特定元素</a:t>
            </a:r>
            <a:r>
              <a:rPr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。</a:t>
            </a:r>
            <a:endParaRPr lang="zh-CN" altLang="en-US" sz="2400" smtClean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分析：</a:t>
            </a:r>
            <a:endParaRPr lang="zh-CN" altLang="en-US" sz="2400" smtClean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73747" name="Rectangle 19"/>
          <p:cNvSpPr>
            <a:spLocks noChangeArrowheads="1"/>
          </p:cNvSpPr>
          <p:nvPr/>
        </p:nvSpPr>
        <p:spPr bwMode="auto">
          <a:xfrm>
            <a:off x="1071563" y="2000250"/>
            <a:ext cx="7772400" cy="23764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endParaRPr kumimoji="1" lang="en-US" altLang="zh-CN" sz="2400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ü"/>
              <a:defRPr/>
            </a:pP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该问题的规模缩小到一定的程度就可以容易地解决；</a:t>
            </a:r>
            <a:endParaRPr kumimoji="1"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ü"/>
              <a:defRPr/>
            </a:pP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该问题可以分解为若干个规模较小的相同问题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kumimoji="1"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ü"/>
              <a:defRPr/>
            </a:pP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分解出的子问题的解可以合并为原问题的解；</a:t>
            </a:r>
            <a:endParaRPr kumimoji="1"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ü"/>
              <a:defRPr/>
            </a:pP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分解出的各个子问题是相互独立的。 </a:t>
            </a:r>
            <a:endParaRPr kumimoji="1"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3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3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3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3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3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41" grpId="0" animBg="1" autoUpdateAnimBg="0"/>
      <p:bldP spid="73742" grpId="0" animBg="1" autoUpdateAnimBg="0"/>
      <p:bldP spid="73743" grpId="0" animBg="1" autoUpdateAnimBg="0"/>
      <p:bldP spid="73744" grpId="0" animBg="1" autoUpdateAnimBg="0"/>
      <p:bldP spid="73747" grpId="0" autoUpdateAnimBg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3"/>
          <p:cNvSpPr txBox="1">
            <a:spLocks noChangeArrowheads="1"/>
          </p:cNvSpPr>
          <p:nvPr/>
        </p:nvSpPr>
        <p:spPr bwMode="auto">
          <a:xfrm>
            <a:off x="0" y="1357313"/>
            <a:ext cx="86423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</a:t>
            </a:r>
            <a:r>
              <a:rPr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给定已按升序排好序的</a:t>
            </a:r>
            <a:r>
              <a:rPr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个元素</a:t>
            </a:r>
            <a:r>
              <a:rPr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a[0:n-1]</a:t>
            </a:r>
            <a:r>
              <a:rPr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，现要在这</a:t>
            </a:r>
            <a:r>
              <a:rPr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个元素中找出一特定元素</a:t>
            </a:r>
            <a:r>
              <a:rPr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。</a:t>
            </a:r>
            <a:endParaRPr lang="zh-CN" altLang="en-US" sz="2400" smtClean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0" y="2286000"/>
            <a:ext cx="8532813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800" b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Arial" panose="020B0604020202020204" pitchFamily="34" charset="0"/>
              </a:rPr>
              <a:t>   </a:t>
            </a:r>
            <a:r>
              <a:rPr lang="zh-CN" altLang="en-US" sz="1800" b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Arial" panose="020B0604020202020204" pitchFamily="34" charset="0"/>
              </a:rPr>
              <a:t>据此容易设计出</a:t>
            </a:r>
            <a:r>
              <a:rPr lang="zh-CN" altLang="en-US" sz="180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二分搜索算法</a:t>
            </a:r>
            <a:r>
              <a:rPr lang="zh-CN" altLang="en-US" sz="1800" b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Arial" panose="020B0604020202020204" pitchFamily="34" charset="0"/>
              </a:rPr>
              <a:t>：</a:t>
            </a:r>
            <a:endParaRPr lang="zh-CN" altLang="en-US" sz="1800" b="0" smtClean="0">
              <a:solidFill>
                <a:srgbClr val="000000"/>
              </a:solidFill>
              <a:latin typeface="楷体_GB2312" pitchFamily="49" charset="-122"/>
              <a:ea typeface="楷体_GB2312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public static int </a:t>
            </a:r>
            <a:r>
              <a:rPr lang="en-US" altLang="zh-CN" sz="18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binarySearch</a:t>
            </a:r>
            <a:r>
              <a:rPr lang="en-US" altLang="zh-CN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(int [] a, int x, int n)</a:t>
            </a:r>
            <a:endParaRPr lang="en-US" altLang="zh-CN" sz="1800" b="0" smtClean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   {</a:t>
            </a:r>
            <a:endParaRPr lang="en-US" altLang="zh-CN" sz="1800" b="0" smtClean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   // </a:t>
            </a:r>
            <a:r>
              <a:rPr lang="zh-CN" altLang="en-US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在 </a:t>
            </a:r>
            <a:r>
              <a:rPr lang="en-US" altLang="zh-CN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a[0] &lt;= a[1] &lt;= ... &lt;= a[n-1] </a:t>
            </a:r>
            <a:r>
              <a:rPr lang="zh-CN" altLang="en-US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中搜索 </a:t>
            </a:r>
            <a:r>
              <a:rPr lang="en-US" altLang="zh-CN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x</a:t>
            </a:r>
            <a:endParaRPr lang="en-US" altLang="zh-CN" sz="1800" b="0" smtClean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   // </a:t>
            </a:r>
            <a:r>
              <a:rPr lang="zh-CN" altLang="en-US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找到</a:t>
            </a:r>
            <a:r>
              <a:rPr lang="en-US" altLang="zh-CN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x</a:t>
            </a:r>
            <a:r>
              <a:rPr lang="zh-CN" altLang="en-US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返回其在数组中的位置</a:t>
            </a:r>
            <a:r>
              <a:rPr lang="en-US" altLang="zh-CN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,</a:t>
            </a:r>
            <a:r>
              <a:rPr lang="zh-CN" altLang="en-US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否则返回</a:t>
            </a:r>
            <a:r>
              <a:rPr lang="en-US" altLang="zh-CN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-1</a:t>
            </a:r>
            <a:endParaRPr lang="en-US" altLang="zh-CN" sz="1800" b="0" smtClean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     int left = 0; int right = n - 1;</a:t>
            </a:r>
            <a:endParaRPr lang="en-US" altLang="zh-CN" sz="1800" b="0" smtClean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     </a:t>
            </a:r>
            <a:r>
              <a:rPr lang="en-US" altLang="zh-CN" sz="18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while</a:t>
            </a:r>
            <a:r>
              <a:rPr lang="en-US" altLang="zh-CN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 (left &lt;= right) {</a:t>
            </a:r>
            <a:endParaRPr lang="en-US" altLang="zh-CN" sz="1800" b="0" smtClean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       int middle = (left + right)/2;</a:t>
            </a:r>
            <a:endParaRPr lang="en-US" altLang="zh-CN" sz="1800" b="0" smtClean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       </a:t>
            </a:r>
            <a:r>
              <a:rPr lang="en-US" altLang="zh-CN" sz="18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if </a:t>
            </a:r>
            <a:r>
              <a:rPr lang="en-US" altLang="zh-CN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(x == a[middle]) </a:t>
            </a:r>
            <a:r>
              <a:rPr lang="en-US" altLang="zh-CN" sz="18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return</a:t>
            </a:r>
            <a:r>
              <a:rPr lang="en-US" altLang="zh-CN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 middle;</a:t>
            </a:r>
            <a:endParaRPr lang="en-US" altLang="zh-CN" sz="1800" b="0" smtClean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       </a:t>
            </a:r>
            <a:r>
              <a:rPr lang="en-US" altLang="zh-CN" sz="18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if</a:t>
            </a:r>
            <a:r>
              <a:rPr lang="en-US" altLang="zh-CN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 (x &gt; a[middle]) left = middle + 1;</a:t>
            </a:r>
            <a:endParaRPr lang="en-US" altLang="zh-CN" sz="1800" b="0" smtClean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       </a:t>
            </a:r>
            <a:r>
              <a:rPr lang="en-US" altLang="zh-CN" sz="18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else</a:t>
            </a:r>
            <a:r>
              <a:rPr lang="en-US" altLang="zh-CN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 right = middle - 1;</a:t>
            </a:r>
            <a:endParaRPr lang="en-US" altLang="zh-CN" sz="1800" b="0" smtClean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      }</a:t>
            </a:r>
            <a:endParaRPr lang="en-US" altLang="zh-CN" sz="1800" b="0" smtClean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     </a:t>
            </a:r>
            <a:r>
              <a:rPr lang="en-US" altLang="zh-CN" sz="180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return</a:t>
            </a:r>
            <a:r>
              <a:rPr lang="en-US" altLang="zh-CN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 -1; // </a:t>
            </a:r>
            <a:r>
              <a:rPr lang="zh-CN" altLang="en-US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未找到</a:t>
            </a:r>
            <a:r>
              <a:rPr lang="en-US" altLang="zh-CN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x</a:t>
            </a:r>
            <a:endParaRPr lang="en-US" altLang="zh-CN" sz="1800" b="0" smtClean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1800" b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   }</a:t>
            </a:r>
            <a:endParaRPr lang="en-US" altLang="zh-CN" sz="1800" b="0" smtClean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5572125" y="2000250"/>
            <a:ext cx="3025775" cy="4524375"/>
          </a:xfrm>
          <a:prstGeom prst="rect">
            <a:avLst/>
          </a:prstGeom>
          <a:solidFill>
            <a:schemeClr val="hlink"/>
          </a:solidFill>
          <a:ln w="50800">
            <a:solidFill>
              <a:srgbClr val="FF66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2400" smtClean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算法复杂度分析：</a:t>
            </a:r>
            <a:endParaRPr lang="zh-CN" altLang="en-US" sz="2400" smtClean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每执行一次算法的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while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循环， 待搜索数组的大小减少一半。因此，在最坏情况下，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while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循环被执行了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O(log</a:t>
            </a:r>
            <a:r>
              <a:rPr lang="en-US" altLang="zh-CN" sz="2400" b="0" baseline="-2500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2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n) 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次。循环体内运算需要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O(1) 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时间，因此整个算法在最坏情况下的计算时间复杂性为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O(log</a:t>
            </a:r>
            <a:r>
              <a:rPr lang="en-US" altLang="zh-CN" sz="2400" b="0" baseline="-2500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2</a:t>
            </a:r>
            <a:r>
              <a:rPr lang="en-US" altLang="zh-CN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n) </a:t>
            </a:r>
            <a:r>
              <a:rPr lang="zh-CN" altLang="en-US" sz="2400" b="0" smtClean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。</a:t>
            </a:r>
            <a:endParaRPr lang="zh-CN" altLang="en-US" sz="2400" b="0" smtClean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46085" name="Rectangle 2"/>
          <p:cNvSpPr txBox="1">
            <a:spLocks noChangeArrowheads="1"/>
          </p:cNvSpPr>
          <p:nvPr/>
        </p:nvSpPr>
        <p:spPr bwMode="auto">
          <a:xfrm>
            <a:off x="642938" y="161925"/>
            <a:ext cx="7772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600" smtClean="0">
                <a:solidFill>
                  <a:srgbClr val="FFFF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二分搜索技术</a:t>
            </a:r>
            <a:endParaRPr lang="zh-CN" altLang="en-US" sz="3600" smtClean="0">
              <a:solidFill>
                <a:srgbClr val="FFFF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/>
      <p:bldP spid="3174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kumimoji="1" lang="zh-CN" altLang="en-US" kern="1200" dirty="0" smtClean="0"/>
              <a:t>二分搜索技术</a:t>
            </a:r>
            <a:endParaRPr kumimoji="1" lang="zh-CN" altLang="en-US" kern="1200" dirty="0" smtClean="0"/>
          </a:p>
        </p:txBody>
      </p:sp>
      <p:sp>
        <p:nvSpPr>
          <p:cNvPr id="103428" name="Text Box 4"/>
          <p:cNvSpPr>
            <a:spLocks noGrp="1" noChangeArrowheads="1"/>
          </p:cNvSpPr>
          <p:nvPr>
            <p:ph idx="1"/>
          </p:nvPr>
        </p:nvSpPr>
        <p:spPr>
          <a:xfrm>
            <a:off x="468313" y="1268413"/>
            <a:ext cx="7920037" cy="2089150"/>
          </a:xfrm>
          <a:solidFill>
            <a:schemeClr val="hlink"/>
          </a:solidFill>
          <a:ln w="50800">
            <a:solidFill>
              <a:srgbClr val="FF6600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 smtClean="0"/>
              <a:t>算法复杂度分析：</a:t>
            </a:r>
            <a:endParaRPr lang="zh-CN" altLang="en-US" smtClean="0"/>
          </a:p>
          <a:p>
            <a:pPr eaLnBrk="1" hangingPunct="1"/>
            <a:r>
              <a:rPr lang="zh-CN" altLang="en-US" smtClean="0"/>
              <a:t>二分搜索算法在最坏情况下的计算时间复杂性为</a:t>
            </a:r>
            <a:r>
              <a:rPr lang="en-US" altLang="zh-CN" smtClean="0"/>
              <a:t>O(log</a:t>
            </a:r>
            <a:r>
              <a:rPr lang="en-US" altLang="zh-CN" baseline="-25000" smtClean="0"/>
              <a:t>2</a:t>
            </a:r>
            <a:r>
              <a:rPr lang="en-US" altLang="zh-CN" smtClean="0"/>
              <a:t>n) </a:t>
            </a:r>
            <a:r>
              <a:rPr lang="zh-CN" altLang="en-US" smtClean="0"/>
              <a:t>。</a:t>
            </a:r>
            <a:endParaRPr lang="zh-CN" altLang="en-US" smtClean="0"/>
          </a:p>
        </p:txBody>
      </p:sp>
      <p:grpSp>
        <p:nvGrpSpPr>
          <p:cNvPr id="2" name="Group 5"/>
          <p:cNvGrpSpPr/>
          <p:nvPr/>
        </p:nvGrpSpPr>
        <p:grpSpPr bwMode="auto">
          <a:xfrm>
            <a:off x="963613" y="3492500"/>
            <a:ext cx="6353175" cy="1817688"/>
            <a:chOff x="588" y="2017"/>
            <a:chExt cx="4452" cy="1255"/>
          </a:xfrm>
        </p:grpSpPr>
        <p:sp>
          <p:nvSpPr>
            <p:cNvPr id="103430" name="AutoShape 6"/>
            <p:cNvSpPr>
              <a:spLocks noChangeArrowheads="1"/>
            </p:cNvSpPr>
            <p:nvPr/>
          </p:nvSpPr>
          <p:spPr bwMode="auto">
            <a:xfrm>
              <a:off x="588" y="2017"/>
              <a:ext cx="4452" cy="1255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>
              <a:solidFill>
                <a:srgbClr val="063DE8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400" b="1">
                  <a:solidFill>
                    <a:prstClr val="black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复杂度分析</a:t>
              </a:r>
              <a:endParaRPr lang="zh-CN" altLang="en-US" sz="2400" b="1">
                <a:solidFill>
                  <a:prstClr val="black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b="1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b="1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400">
                  <a:solidFill>
                    <a:prstClr val="blac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T(n)= </a:t>
              </a:r>
              <a:r>
                <a:rPr lang="en-US" altLang="zh-CN" sz="280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O(log</a:t>
              </a:r>
              <a:r>
                <a:rPr lang="en-US" altLang="zh-CN" sz="2800" baseline="-2500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2</a:t>
              </a:r>
              <a:r>
                <a:rPr lang="en-US" altLang="zh-CN" sz="280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n)</a:t>
              </a:r>
              <a:endParaRPr lang="en-US" altLang="zh-CN" sz="2800" b="1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  <a:sym typeface="Wingdings" panose="05000000000000000000" pitchFamily="2" charset="2"/>
              </a:endParaRPr>
            </a:p>
          </p:txBody>
        </p:sp>
        <p:graphicFrame>
          <p:nvGraphicFramePr>
            <p:cNvPr id="47110" name="Object 7"/>
            <p:cNvGraphicFramePr>
              <a:graphicFrameLocks noChangeAspect="1"/>
            </p:cNvGraphicFramePr>
            <p:nvPr/>
          </p:nvGraphicFramePr>
          <p:xfrm>
            <a:off x="1309" y="2161"/>
            <a:ext cx="2553" cy="7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8" name="公式" r:id="rId1" imgW="1841500" imgH="520700" progId="Equation.3">
                    <p:embed/>
                  </p:oleObj>
                </mc:Choice>
                <mc:Fallback>
                  <p:oleObj name="公式" r:id="rId1" imgW="1841500" imgH="52070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9" y="2161"/>
                          <a:ext cx="2553" cy="7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Text Box 4"/>
          <p:cNvSpPr txBox="1">
            <a:spLocks noChangeArrowheads="1"/>
          </p:cNvSpPr>
          <p:nvPr/>
        </p:nvSpPr>
        <p:spPr bwMode="auto">
          <a:xfrm>
            <a:off x="266242" y="3356992"/>
            <a:ext cx="8569325" cy="1200150"/>
          </a:xfrm>
          <a:prstGeom prst="rect">
            <a:avLst/>
          </a:prstGeom>
          <a:solidFill>
            <a:schemeClr val="accent1"/>
          </a:solidFill>
          <a:ln w="76200">
            <a:solidFill>
              <a:schemeClr val="accent1">
                <a:lumMod val="50000"/>
              </a:schemeClr>
            </a:solidFill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基本思想：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将待排序元素分成大小大致相同的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个子集合，分别对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个子集合进行排序，最终将排好序的子集合合并成为所要求的排好序的集合。 </a:t>
            </a:r>
            <a:endParaRPr kumimoji="1"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8131" name="Rectangle 10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zh-CN" altLang="en-US" sz="32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785813" y="357188"/>
            <a:ext cx="7896225" cy="563562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kern="0" dirty="0" smtClean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二、分治算法的经典实例</a:t>
            </a:r>
            <a:endParaRPr lang="zh-CN" altLang="en-US" sz="3600" kern="0" dirty="0">
              <a:solidFill>
                <a:prstClr val="white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2" y="1196752"/>
            <a:ext cx="532859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kern="0" dirty="0" smtClean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合</a:t>
            </a:r>
            <a:r>
              <a:rPr lang="zh-CN" altLang="en-US" kern="0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合并排序</a:t>
            </a:r>
            <a:endParaRPr lang="zh-CN" altLang="en-US" kern="0" dirty="0">
              <a:solidFill>
                <a:prstClr val="white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en-US" altLang="zh-CN" sz="4000" kern="0" dirty="0" smtClean="0">
                <a:latin typeface="隶书" panose="02010509060101010101" pitchFamily="49" charset="-122"/>
                <a:ea typeface="隶书" panose="02010509060101010101" pitchFamily="49" charset="-122"/>
              </a:rPr>
              <a:t>1.</a:t>
            </a:r>
            <a:r>
              <a:rPr lang="zh-CN" altLang="en-US" sz="4000" kern="0" dirty="0" smtClean="0">
                <a:latin typeface="隶书" panose="02010509060101010101" pitchFamily="49" charset="-122"/>
                <a:ea typeface="隶书" panose="02010509060101010101" pitchFamily="49" charset="-122"/>
              </a:rPr>
              <a:t>合并</a:t>
            </a:r>
            <a:r>
              <a:rPr lang="zh-CN" altLang="en-US" sz="4000" kern="0" dirty="0">
                <a:latin typeface="隶书" panose="02010509060101010101" pitchFamily="49" charset="-122"/>
                <a:ea typeface="隶书" panose="02010509060101010101" pitchFamily="49" charset="-122"/>
              </a:rPr>
              <a:t>排序</a:t>
            </a:r>
            <a:endParaRPr lang="zh-CN" altLang="en-US" sz="4000" kern="0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50825" y="404813"/>
            <a:ext cx="8540750" cy="738187"/>
          </a:xfrm>
        </p:spPr>
        <p:txBody>
          <a:bodyPr/>
          <a:lstStyle/>
          <a:p>
            <a:pPr eaLnBrk="1" hangingPunct="1"/>
            <a:r>
              <a:rPr lang="zh-CN" altLang="en-US" sz="4000" smtClean="0"/>
              <a:t>合并排序</a:t>
            </a:r>
            <a:endParaRPr lang="zh-CN" altLang="en-US" sz="4000" smtClean="0"/>
          </a:p>
        </p:txBody>
      </p:sp>
      <p:sp>
        <p:nvSpPr>
          <p:cNvPr id="49155" name="Rectangle 6"/>
          <p:cNvSpPr>
            <a:spLocks noChangeArrowheads="1"/>
          </p:cNvSpPr>
          <p:nvPr/>
        </p:nvSpPr>
        <p:spPr bwMode="auto">
          <a:xfrm>
            <a:off x="2928938" y="1357313"/>
            <a:ext cx="400050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8   3   2   9   7   1   5   4</a:t>
            </a:r>
            <a:endParaRPr kumimoji="1" lang="en-US" altLang="zh-CN" sz="2000" b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2" name="Group 56"/>
          <p:cNvGrpSpPr/>
          <p:nvPr/>
        </p:nvGrpSpPr>
        <p:grpSpPr bwMode="auto">
          <a:xfrm>
            <a:off x="1917700" y="1717675"/>
            <a:ext cx="5472113" cy="720725"/>
            <a:chOff x="1202" y="890"/>
            <a:chExt cx="3447" cy="454"/>
          </a:xfrm>
        </p:grpSpPr>
        <p:sp>
          <p:nvSpPr>
            <p:cNvPr id="49215" name="Rectangle 7"/>
            <p:cNvSpPr>
              <a:spLocks noChangeArrowheads="1"/>
            </p:cNvSpPr>
            <p:nvPr/>
          </p:nvSpPr>
          <p:spPr bwMode="auto">
            <a:xfrm>
              <a:off x="1202" y="1162"/>
              <a:ext cx="998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8   3   2   9</a:t>
              </a:r>
              <a:endPara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9216" name="Rectangle 8"/>
            <p:cNvSpPr>
              <a:spLocks noChangeArrowheads="1"/>
            </p:cNvSpPr>
            <p:nvPr/>
          </p:nvSpPr>
          <p:spPr bwMode="auto">
            <a:xfrm>
              <a:off x="3651" y="1162"/>
              <a:ext cx="998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7   1   5   4</a:t>
              </a:r>
              <a:endPara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9217" name="Line 28"/>
            <p:cNvSpPr>
              <a:spLocks noChangeShapeType="1"/>
            </p:cNvSpPr>
            <p:nvPr/>
          </p:nvSpPr>
          <p:spPr bwMode="auto">
            <a:xfrm flipH="1">
              <a:off x="1701" y="890"/>
              <a:ext cx="952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218" name="Line 29"/>
            <p:cNvSpPr>
              <a:spLocks noChangeShapeType="1"/>
            </p:cNvSpPr>
            <p:nvPr/>
          </p:nvSpPr>
          <p:spPr bwMode="auto">
            <a:xfrm>
              <a:off x="3016" y="890"/>
              <a:ext cx="1179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57"/>
          <p:cNvGrpSpPr/>
          <p:nvPr/>
        </p:nvGrpSpPr>
        <p:grpSpPr bwMode="auto">
          <a:xfrm>
            <a:off x="1268413" y="2438400"/>
            <a:ext cx="2665412" cy="647700"/>
            <a:chOff x="793" y="1344"/>
            <a:chExt cx="1679" cy="408"/>
          </a:xfrm>
        </p:grpSpPr>
        <p:sp>
          <p:nvSpPr>
            <p:cNvPr id="49211" name="Rectangle 9"/>
            <p:cNvSpPr>
              <a:spLocks noChangeArrowheads="1"/>
            </p:cNvSpPr>
            <p:nvPr/>
          </p:nvSpPr>
          <p:spPr bwMode="auto">
            <a:xfrm>
              <a:off x="793" y="1570"/>
              <a:ext cx="499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8   3</a:t>
              </a:r>
              <a:endPara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9212" name="Rectangle 10"/>
            <p:cNvSpPr>
              <a:spLocks noChangeArrowheads="1"/>
            </p:cNvSpPr>
            <p:nvPr/>
          </p:nvSpPr>
          <p:spPr bwMode="auto">
            <a:xfrm>
              <a:off x="1973" y="1570"/>
              <a:ext cx="499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2   9</a:t>
              </a:r>
              <a:endPara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9213" name="Line 30"/>
            <p:cNvSpPr>
              <a:spLocks noChangeShapeType="1"/>
            </p:cNvSpPr>
            <p:nvPr/>
          </p:nvSpPr>
          <p:spPr bwMode="auto">
            <a:xfrm flipH="1">
              <a:off x="1066" y="1344"/>
              <a:ext cx="453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214" name="Line 31"/>
            <p:cNvSpPr>
              <a:spLocks noChangeShapeType="1"/>
            </p:cNvSpPr>
            <p:nvPr/>
          </p:nvSpPr>
          <p:spPr bwMode="auto">
            <a:xfrm>
              <a:off x="1882" y="1344"/>
              <a:ext cx="318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58"/>
          <p:cNvGrpSpPr/>
          <p:nvPr/>
        </p:nvGrpSpPr>
        <p:grpSpPr bwMode="auto">
          <a:xfrm>
            <a:off x="5157788" y="2438400"/>
            <a:ext cx="2736850" cy="647700"/>
            <a:chOff x="3243" y="1344"/>
            <a:chExt cx="1724" cy="408"/>
          </a:xfrm>
        </p:grpSpPr>
        <p:sp>
          <p:nvSpPr>
            <p:cNvPr id="49207" name="Rectangle 11"/>
            <p:cNvSpPr>
              <a:spLocks noChangeArrowheads="1"/>
            </p:cNvSpPr>
            <p:nvPr/>
          </p:nvSpPr>
          <p:spPr bwMode="auto">
            <a:xfrm>
              <a:off x="3243" y="1570"/>
              <a:ext cx="499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7   1</a:t>
              </a:r>
              <a:endPara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9208" name="Rectangle 12"/>
            <p:cNvSpPr>
              <a:spLocks noChangeArrowheads="1"/>
            </p:cNvSpPr>
            <p:nvPr/>
          </p:nvSpPr>
          <p:spPr bwMode="auto">
            <a:xfrm>
              <a:off x="4468" y="1570"/>
              <a:ext cx="499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5   4</a:t>
              </a:r>
              <a:endPara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9209" name="Line 32"/>
            <p:cNvSpPr>
              <a:spLocks noChangeShapeType="1"/>
            </p:cNvSpPr>
            <p:nvPr/>
          </p:nvSpPr>
          <p:spPr bwMode="auto">
            <a:xfrm flipH="1">
              <a:off x="3515" y="1344"/>
              <a:ext cx="408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210" name="Line 33"/>
            <p:cNvSpPr>
              <a:spLocks noChangeShapeType="1"/>
            </p:cNvSpPr>
            <p:nvPr/>
          </p:nvSpPr>
          <p:spPr bwMode="auto">
            <a:xfrm>
              <a:off x="4377" y="1344"/>
              <a:ext cx="363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59"/>
          <p:cNvGrpSpPr/>
          <p:nvPr/>
        </p:nvGrpSpPr>
        <p:grpSpPr bwMode="auto">
          <a:xfrm>
            <a:off x="981075" y="3086100"/>
            <a:ext cx="1368425" cy="719138"/>
            <a:chOff x="612" y="1752"/>
            <a:chExt cx="862" cy="453"/>
          </a:xfrm>
        </p:grpSpPr>
        <p:sp>
          <p:nvSpPr>
            <p:cNvPr id="49203" name="Rectangle 13"/>
            <p:cNvSpPr>
              <a:spLocks noChangeArrowheads="1"/>
            </p:cNvSpPr>
            <p:nvPr/>
          </p:nvSpPr>
          <p:spPr bwMode="auto">
            <a:xfrm>
              <a:off x="612" y="2023"/>
              <a:ext cx="272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575F6D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8</a:t>
              </a:r>
              <a:endParaRPr kumimoji="1" lang="en-US" altLang="zh-CN" sz="2000" b="0" smtClean="0">
                <a:solidFill>
                  <a:srgbClr val="575F6D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9204" name="Rectangle 14"/>
            <p:cNvSpPr>
              <a:spLocks noChangeArrowheads="1"/>
            </p:cNvSpPr>
            <p:nvPr/>
          </p:nvSpPr>
          <p:spPr bwMode="auto">
            <a:xfrm>
              <a:off x="1202" y="2023"/>
              <a:ext cx="272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575F6D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3</a:t>
              </a:r>
              <a:endParaRPr kumimoji="1" lang="en-US" altLang="zh-CN" sz="2000" b="0" smtClean="0">
                <a:solidFill>
                  <a:srgbClr val="575F6D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9205" name="Line 34"/>
            <p:cNvSpPr>
              <a:spLocks noChangeShapeType="1"/>
            </p:cNvSpPr>
            <p:nvPr/>
          </p:nvSpPr>
          <p:spPr bwMode="auto">
            <a:xfrm flipH="1">
              <a:off x="748" y="1752"/>
              <a:ext cx="227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206" name="Line 35"/>
            <p:cNvSpPr>
              <a:spLocks noChangeShapeType="1"/>
            </p:cNvSpPr>
            <p:nvPr/>
          </p:nvSpPr>
          <p:spPr bwMode="auto">
            <a:xfrm>
              <a:off x="1111" y="1752"/>
              <a:ext cx="181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Group 60"/>
          <p:cNvGrpSpPr/>
          <p:nvPr/>
        </p:nvGrpSpPr>
        <p:grpSpPr bwMode="auto">
          <a:xfrm>
            <a:off x="2852738" y="3086100"/>
            <a:ext cx="1439862" cy="720725"/>
            <a:chOff x="1791" y="1752"/>
            <a:chExt cx="907" cy="454"/>
          </a:xfrm>
        </p:grpSpPr>
        <p:sp>
          <p:nvSpPr>
            <p:cNvPr id="49199" name="Rectangle 15"/>
            <p:cNvSpPr>
              <a:spLocks noChangeArrowheads="1"/>
            </p:cNvSpPr>
            <p:nvPr/>
          </p:nvSpPr>
          <p:spPr bwMode="auto">
            <a:xfrm>
              <a:off x="1791" y="2023"/>
              <a:ext cx="272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575F6D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2</a:t>
              </a:r>
              <a:endParaRPr kumimoji="1" lang="en-US" altLang="zh-CN" sz="2000" b="0" smtClean="0">
                <a:solidFill>
                  <a:srgbClr val="575F6D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9200" name="Rectangle 16"/>
            <p:cNvSpPr>
              <a:spLocks noChangeArrowheads="1"/>
            </p:cNvSpPr>
            <p:nvPr/>
          </p:nvSpPr>
          <p:spPr bwMode="auto">
            <a:xfrm>
              <a:off x="2426" y="2024"/>
              <a:ext cx="272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575F6D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9</a:t>
              </a:r>
              <a:endParaRPr kumimoji="1" lang="en-US" altLang="zh-CN" sz="2000" b="0" smtClean="0">
                <a:solidFill>
                  <a:srgbClr val="575F6D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9201" name="Line 36"/>
            <p:cNvSpPr>
              <a:spLocks noChangeShapeType="1"/>
            </p:cNvSpPr>
            <p:nvPr/>
          </p:nvSpPr>
          <p:spPr bwMode="auto">
            <a:xfrm flipH="1">
              <a:off x="1927" y="1752"/>
              <a:ext cx="227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202" name="Line 37"/>
            <p:cNvSpPr>
              <a:spLocks noChangeShapeType="1"/>
            </p:cNvSpPr>
            <p:nvPr/>
          </p:nvSpPr>
          <p:spPr bwMode="auto">
            <a:xfrm>
              <a:off x="2290" y="1752"/>
              <a:ext cx="272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Group 61"/>
          <p:cNvGrpSpPr/>
          <p:nvPr/>
        </p:nvGrpSpPr>
        <p:grpSpPr bwMode="auto">
          <a:xfrm>
            <a:off x="4868863" y="3086100"/>
            <a:ext cx="1368425" cy="720725"/>
            <a:chOff x="3061" y="1752"/>
            <a:chExt cx="862" cy="454"/>
          </a:xfrm>
        </p:grpSpPr>
        <p:sp>
          <p:nvSpPr>
            <p:cNvPr id="49195" name="Rectangle 17"/>
            <p:cNvSpPr>
              <a:spLocks noChangeArrowheads="1"/>
            </p:cNvSpPr>
            <p:nvPr/>
          </p:nvSpPr>
          <p:spPr bwMode="auto">
            <a:xfrm>
              <a:off x="3061" y="2024"/>
              <a:ext cx="272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575F6D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7</a:t>
              </a:r>
              <a:endParaRPr kumimoji="1" lang="en-US" altLang="zh-CN" sz="2000" b="0" smtClean="0">
                <a:solidFill>
                  <a:srgbClr val="575F6D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9196" name="Rectangle 18"/>
            <p:cNvSpPr>
              <a:spLocks noChangeArrowheads="1"/>
            </p:cNvSpPr>
            <p:nvPr/>
          </p:nvSpPr>
          <p:spPr bwMode="auto">
            <a:xfrm>
              <a:off x="3651" y="2024"/>
              <a:ext cx="272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575F6D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1</a:t>
              </a:r>
              <a:endParaRPr kumimoji="1" lang="en-US" altLang="zh-CN" sz="2000" b="0" smtClean="0">
                <a:solidFill>
                  <a:srgbClr val="575F6D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9197" name="Line 38"/>
            <p:cNvSpPr>
              <a:spLocks noChangeShapeType="1"/>
            </p:cNvSpPr>
            <p:nvPr/>
          </p:nvSpPr>
          <p:spPr bwMode="auto">
            <a:xfrm flipH="1">
              <a:off x="3198" y="1752"/>
              <a:ext cx="181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198" name="Line 39"/>
            <p:cNvSpPr>
              <a:spLocks noChangeShapeType="1"/>
            </p:cNvSpPr>
            <p:nvPr/>
          </p:nvSpPr>
          <p:spPr bwMode="auto">
            <a:xfrm>
              <a:off x="3560" y="1752"/>
              <a:ext cx="227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Group 62"/>
          <p:cNvGrpSpPr/>
          <p:nvPr/>
        </p:nvGrpSpPr>
        <p:grpSpPr bwMode="auto">
          <a:xfrm>
            <a:off x="6813550" y="3086100"/>
            <a:ext cx="1368425" cy="720725"/>
            <a:chOff x="4286" y="1752"/>
            <a:chExt cx="862" cy="454"/>
          </a:xfrm>
        </p:grpSpPr>
        <p:sp>
          <p:nvSpPr>
            <p:cNvPr id="49191" name="Rectangle 19"/>
            <p:cNvSpPr>
              <a:spLocks noChangeArrowheads="1"/>
            </p:cNvSpPr>
            <p:nvPr/>
          </p:nvSpPr>
          <p:spPr bwMode="auto">
            <a:xfrm>
              <a:off x="4286" y="2024"/>
              <a:ext cx="272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575F6D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5</a:t>
              </a:r>
              <a:endParaRPr kumimoji="1" lang="en-US" altLang="zh-CN" sz="2000" b="0" smtClean="0">
                <a:solidFill>
                  <a:srgbClr val="575F6D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9192" name="Rectangle 20"/>
            <p:cNvSpPr>
              <a:spLocks noChangeArrowheads="1"/>
            </p:cNvSpPr>
            <p:nvPr/>
          </p:nvSpPr>
          <p:spPr bwMode="auto">
            <a:xfrm>
              <a:off x="4876" y="2024"/>
              <a:ext cx="272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575F6D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4</a:t>
              </a:r>
              <a:endParaRPr kumimoji="1" lang="en-US" altLang="zh-CN" sz="2000" b="0" smtClean="0">
                <a:solidFill>
                  <a:srgbClr val="575F6D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9193" name="Line 40"/>
            <p:cNvSpPr>
              <a:spLocks noChangeShapeType="1"/>
            </p:cNvSpPr>
            <p:nvPr/>
          </p:nvSpPr>
          <p:spPr bwMode="auto">
            <a:xfrm flipH="1">
              <a:off x="4422" y="1752"/>
              <a:ext cx="227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194" name="Line 41"/>
            <p:cNvSpPr>
              <a:spLocks noChangeShapeType="1"/>
            </p:cNvSpPr>
            <p:nvPr/>
          </p:nvSpPr>
          <p:spPr bwMode="auto">
            <a:xfrm>
              <a:off x="4785" y="1752"/>
              <a:ext cx="272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Group 63"/>
          <p:cNvGrpSpPr/>
          <p:nvPr/>
        </p:nvGrpSpPr>
        <p:grpSpPr bwMode="auto">
          <a:xfrm>
            <a:off x="1196975" y="3805238"/>
            <a:ext cx="936625" cy="793750"/>
            <a:chOff x="748" y="2205"/>
            <a:chExt cx="590" cy="500"/>
          </a:xfrm>
        </p:grpSpPr>
        <p:sp>
          <p:nvSpPr>
            <p:cNvPr id="49188" name="Rectangle 21"/>
            <p:cNvSpPr>
              <a:spLocks noChangeArrowheads="1"/>
            </p:cNvSpPr>
            <p:nvPr/>
          </p:nvSpPr>
          <p:spPr bwMode="auto">
            <a:xfrm>
              <a:off x="793" y="2523"/>
              <a:ext cx="499" cy="18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3   8</a:t>
              </a:r>
              <a:endPara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9189" name="Line 42"/>
            <p:cNvSpPr>
              <a:spLocks noChangeShapeType="1"/>
            </p:cNvSpPr>
            <p:nvPr/>
          </p:nvSpPr>
          <p:spPr bwMode="auto">
            <a:xfrm>
              <a:off x="748" y="2205"/>
              <a:ext cx="272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190" name="Line 43"/>
            <p:cNvSpPr>
              <a:spLocks noChangeShapeType="1"/>
            </p:cNvSpPr>
            <p:nvPr/>
          </p:nvSpPr>
          <p:spPr bwMode="auto">
            <a:xfrm flipH="1">
              <a:off x="1111" y="2205"/>
              <a:ext cx="227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" name="Group 64"/>
          <p:cNvGrpSpPr/>
          <p:nvPr/>
        </p:nvGrpSpPr>
        <p:grpSpPr bwMode="auto">
          <a:xfrm>
            <a:off x="3068638" y="3805238"/>
            <a:ext cx="1008062" cy="793750"/>
            <a:chOff x="1927" y="2205"/>
            <a:chExt cx="635" cy="500"/>
          </a:xfrm>
        </p:grpSpPr>
        <p:sp>
          <p:nvSpPr>
            <p:cNvPr id="49185" name="Rectangle 22"/>
            <p:cNvSpPr>
              <a:spLocks noChangeArrowheads="1"/>
            </p:cNvSpPr>
            <p:nvPr/>
          </p:nvSpPr>
          <p:spPr bwMode="auto">
            <a:xfrm>
              <a:off x="1973" y="2523"/>
              <a:ext cx="499" cy="18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2   9</a:t>
              </a:r>
              <a:endPara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9186" name="Line 44"/>
            <p:cNvSpPr>
              <a:spLocks noChangeShapeType="1"/>
            </p:cNvSpPr>
            <p:nvPr/>
          </p:nvSpPr>
          <p:spPr bwMode="auto">
            <a:xfrm>
              <a:off x="1927" y="2205"/>
              <a:ext cx="182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187" name="Line 45"/>
            <p:cNvSpPr>
              <a:spLocks noChangeShapeType="1"/>
            </p:cNvSpPr>
            <p:nvPr/>
          </p:nvSpPr>
          <p:spPr bwMode="auto">
            <a:xfrm flipH="1">
              <a:off x="2290" y="2205"/>
              <a:ext cx="272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" name="Group 65"/>
          <p:cNvGrpSpPr/>
          <p:nvPr/>
        </p:nvGrpSpPr>
        <p:grpSpPr bwMode="auto">
          <a:xfrm>
            <a:off x="5086350" y="3805238"/>
            <a:ext cx="935038" cy="793750"/>
            <a:chOff x="3198" y="2205"/>
            <a:chExt cx="589" cy="500"/>
          </a:xfrm>
        </p:grpSpPr>
        <p:sp>
          <p:nvSpPr>
            <p:cNvPr id="49182" name="Rectangle 23"/>
            <p:cNvSpPr>
              <a:spLocks noChangeArrowheads="1"/>
            </p:cNvSpPr>
            <p:nvPr/>
          </p:nvSpPr>
          <p:spPr bwMode="auto">
            <a:xfrm>
              <a:off x="3243" y="2523"/>
              <a:ext cx="499" cy="18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1   7</a:t>
              </a:r>
              <a:endPara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9183" name="Line 46"/>
            <p:cNvSpPr>
              <a:spLocks noChangeShapeType="1"/>
            </p:cNvSpPr>
            <p:nvPr/>
          </p:nvSpPr>
          <p:spPr bwMode="auto">
            <a:xfrm>
              <a:off x="3198" y="2205"/>
              <a:ext cx="226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184" name="Line 47"/>
            <p:cNvSpPr>
              <a:spLocks noChangeShapeType="1"/>
            </p:cNvSpPr>
            <p:nvPr/>
          </p:nvSpPr>
          <p:spPr bwMode="auto">
            <a:xfrm flipH="1">
              <a:off x="3560" y="2205"/>
              <a:ext cx="227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2" name="Group 66"/>
          <p:cNvGrpSpPr/>
          <p:nvPr/>
        </p:nvGrpSpPr>
        <p:grpSpPr bwMode="auto">
          <a:xfrm>
            <a:off x="7102475" y="3805238"/>
            <a:ext cx="863600" cy="793750"/>
            <a:chOff x="4468" y="2205"/>
            <a:chExt cx="544" cy="500"/>
          </a:xfrm>
        </p:grpSpPr>
        <p:sp>
          <p:nvSpPr>
            <p:cNvPr id="49179" name="Rectangle 24"/>
            <p:cNvSpPr>
              <a:spLocks noChangeArrowheads="1"/>
            </p:cNvSpPr>
            <p:nvPr/>
          </p:nvSpPr>
          <p:spPr bwMode="auto">
            <a:xfrm>
              <a:off x="4468" y="2523"/>
              <a:ext cx="499" cy="18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4   5</a:t>
              </a:r>
              <a:endPara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9180" name="Line 48"/>
            <p:cNvSpPr>
              <a:spLocks noChangeShapeType="1"/>
            </p:cNvSpPr>
            <p:nvPr/>
          </p:nvSpPr>
          <p:spPr bwMode="auto">
            <a:xfrm>
              <a:off x="4468" y="2205"/>
              <a:ext cx="136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181" name="Line 49"/>
            <p:cNvSpPr>
              <a:spLocks noChangeShapeType="1"/>
            </p:cNvSpPr>
            <p:nvPr/>
          </p:nvSpPr>
          <p:spPr bwMode="auto">
            <a:xfrm flipH="1">
              <a:off x="4785" y="2205"/>
              <a:ext cx="227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" name="Group 67"/>
          <p:cNvGrpSpPr/>
          <p:nvPr/>
        </p:nvGrpSpPr>
        <p:grpSpPr bwMode="auto">
          <a:xfrm>
            <a:off x="1701800" y="4597400"/>
            <a:ext cx="1727200" cy="793750"/>
            <a:chOff x="1066" y="2704"/>
            <a:chExt cx="1088" cy="500"/>
          </a:xfrm>
        </p:grpSpPr>
        <p:sp>
          <p:nvSpPr>
            <p:cNvPr id="49176" name="Rectangle 25"/>
            <p:cNvSpPr>
              <a:spLocks noChangeArrowheads="1"/>
            </p:cNvSpPr>
            <p:nvPr/>
          </p:nvSpPr>
          <p:spPr bwMode="auto">
            <a:xfrm>
              <a:off x="1066" y="3022"/>
              <a:ext cx="998" cy="18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2   3   8   9</a:t>
              </a:r>
              <a:endPara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9177" name="Line 50"/>
            <p:cNvSpPr>
              <a:spLocks noChangeShapeType="1"/>
            </p:cNvSpPr>
            <p:nvPr/>
          </p:nvSpPr>
          <p:spPr bwMode="auto">
            <a:xfrm>
              <a:off x="1066" y="2704"/>
              <a:ext cx="317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178" name="Line 51"/>
            <p:cNvSpPr>
              <a:spLocks noChangeShapeType="1"/>
            </p:cNvSpPr>
            <p:nvPr/>
          </p:nvSpPr>
          <p:spPr bwMode="auto">
            <a:xfrm flipH="1">
              <a:off x="1746" y="2704"/>
              <a:ext cx="40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" name="Group 68"/>
          <p:cNvGrpSpPr/>
          <p:nvPr/>
        </p:nvGrpSpPr>
        <p:grpSpPr bwMode="auto">
          <a:xfrm>
            <a:off x="5518150" y="4597400"/>
            <a:ext cx="1800225" cy="793750"/>
            <a:chOff x="3470" y="2704"/>
            <a:chExt cx="1134" cy="500"/>
          </a:xfrm>
        </p:grpSpPr>
        <p:sp>
          <p:nvSpPr>
            <p:cNvPr id="49173" name="Rectangle 26"/>
            <p:cNvSpPr>
              <a:spLocks noChangeArrowheads="1"/>
            </p:cNvSpPr>
            <p:nvPr/>
          </p:nvSpPr>
          <p:spPr bwMode="auto">
            <a:xfrm>
              <a:off x="3515" y="3022"/>
              <a:ext cx="998" cy="18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1   4   5   7</a:t>
              </a:r>
              <a:endPara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9174" name="Line 52"/>
            <p:cNvSpPr>
              <a:spLocks noChangeShapeType="1"/>
            </p:cNvSpPr>
            <p:nvPr/>
          </p:nvSpPr>
          <p:spPr bwMode="auto">
            <a:xfrm>
              <a:off x="3470" y="2704"/>
              <a:ext cx="317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175" name="Line 53"/>
            <p:cNvSpPr>
              <a:spLocks noChangeShapeType="1"/>
            </p:cNvSpPr>
            <p:nvPr/>
          </p:nvSpPr>
          <p:spPr bwMode="auto">
            <a:xfrm flipH="1">
              <a:off x="4241" y="2704"/>
              <a:ext cx="36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" name="Group 69"/>
          <p:cNvGrpSpPr/>
          <p:nvPr/>
        </p:nvGrpSpPr>
        <p:grpSpPr bwMode="auto">
          <a:xfrm>
            <a:off x="2565400" y="5389563"/>
            <a:ext cx="3721100" cy="865187"/>
            <a:chOff x="1610" y="3203"/>
            <a:chExt cx="2359" cy="545"/>
          </a:xfrm>
        </p:grpSpPr>
        <p:sp>
          <p:nvSpPr>
            <p:cNvPr id="49170" name="Rectangle 27"/>
            <p:cNvSpPr>
              <a:spLocks noChangeArrowheads="1"/>
            </p:cNvSpPr>
            <p:nvPr/>
          </p:nvSpPr>
          <p:spPr bwMode="auto">
            <a:xfrm>
              <a:off x="1973" y="3521"/>
              <a:ext cx="1588" cy="227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1   2   3   4   5   7   8   9</a:t>
              </a:r>
              <a:endPara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49171" name="Line 54"/>
            <p:cNvSpPr>
              <a:spLocks noChangeShapeType="1"/>
            </p:cNvSpPr>
            <p:nvPr/>
          </p:nvSpPr>
          <p:spPr bwMode="auto">
            <a:xfrm>
              <a:off x="1610" y="3203"/>
              <a:ext cx="726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172" name="Line 55"/>
            <p:cNvSpPr>
              <a:spLocks noChangeShapeType="1"/>
            </p:cNvSpPr>
            <p:nvPr/>
          </p:nvSpPr>
          <p:spPr bwMode="auto">
            <a:xfrm flipH="1">
              <a:off x="3288" y="3203"/>
              <a:ext cx="681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4"/>
          <p:cNvSpPr txBox="1">
            <a:spLocks noChangeArrowheads="1"/>
          </p:cNvSpPr>
          <p:nvPr/>
        </p:nvSpPr>
        <p:spPr bwMode="auto">
          <a:xfrm>
            <a:off x="250825" y="1341438"/>
            <a:ext cx="8569325" cy="1200150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2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基本思想：</a:t>
            </a:r>
            <a:r>
              <a:rPr kumimoji="1" lang="zh-CN" altLang="en-US" sz="2400" smtClean="0">
                <a:solidFill>
                  <a:srgbClr val="6633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将待排序元素分成大小大致相同的</a:t>
            </a:r>
            <a:r>
              <a:rPr kumimoji="1" lang="en-US" altLang="zh-CN" sz="2400" smtClean="0">
                <a:solidFill>
                  <a:srgbClr val="6633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2</a:t>
            </a:r>
            <a:r>
              <a:rPr kumimoji="1" lang="zh-CN" altLang="en-US" sz="2400" smtClean="0">
                <a:solidFill>
                  <a:srgbClr val="6633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个子集合，分别对</a:t>
            </a:r>
            <a:r>
              <a:rPr kumimoji="1" lang="en-US" altLang="zh-CN" sz="2400" smtClean="0">
                <a:solidFill>
                  <a:srgbClr val="6633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2</a:t>
            </a:r>
            <a:r>
              <a:rPr kumimoji="1" lang="zh-CN" altLang="en-US" sz="2400" smtClean="0">
                <a:solidFill>
                  <a:srgbClr val="6633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个子集合进行排序，最终将排好序的子集合合并成为所要求的排好序的集合。 </a:t>
            </a:r>
            <a:endParaRPr kumimoji="1" lang="zh-CN" altLang="en-US" sz="2400" smtClean="0">
              <a:solidFill>
                <a:srgbClr val="663300"/>
              </a:solidFill>
              <a:latin typeface="Times New Roman" panose="02020603050405020304" pitchFamily="18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50179" name="Rectangle 5"/>
          <p:cNvSpPr>
            <a:spLocks noChangeArrowheads="1"/>
          </p:cNvSpPr>
          <p:nvPr/>
        </p:nvSpPr>
        <p:spPr bwMode="auto">
          <a:xfrm>
            <a:off x="323850" y="2894013"/>
            <a:ext cx="8034338" cy="323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void MergeSort(Type a[], int left, int right)</a:t>
            </a:r>
            <a:endParaRPr kumimoji="1" lang="en-US" altLang="zh-CN" sz="2000" b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   {</a:t>
            </a:r>
            <a:endParaRPr kumimoji="1" lang="en-US" altLang="zh-CN" sz="2000" b="0" smtClean="0">
              <a:solidFill>
                <a:srgbClr val="663300"/>
              </a:solidFill>
              <a:latin typeface="Times New Roman" panose="02020603050405020304" pitchFamily="18" charset="0"/>
              <a:ea typeface="楷体_GB2312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      if (left&lt;right) {//</a:t>
            </a:r>
            <a:r>
              <a:rPr kumimoji="1" lang="zh-CN" altLang="en-US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至少有</a:t>
            </a:r>
            <a:r>
              <a: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2</a:t>
            </a:r>
            <a:r>
              <a:rPr kumimoji="1" lang="zh-CN" altLang="en-US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个元素</a:t>
            </a:r>
            <a:endParaRPr kumimoji="1" lang="zh-CN" altLang="en-US" sz="2000" b="0" smtClean="0">
              <a:solidFill>
                <a:srgbClr val="663300"/>
              </a:solidFill>
              <a:latin typeface="Times New Roman" panose="02020603050405020304" pitchFamily="18" charset="0"/>
              <a:ea typeface="楷体_GB2312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      </a:t>
            </a:r>
            <a:r>
              <a: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int i=(left+right)/2;  //</a:t>
            </a:r>
            <a:r>
              <a:rPr kumimoji="1" lang="zh-CN" altLang="en-US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取中点</a:t>
            </a:r>
            <a:endParaRPr kumimoji="1" lang="zh-CN" altLang="en-US" sz="2000" b="0" smtClean="0">
              <a:solidFill>
                <a:srgbClr val="663300"/>
              </a:solidFill>
              <a:latin typeface="Times New Roman" panose="02020603050405020304" pitchFamily="18" charset="0"/>
              <a:ea typeface="楷体_GB2312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      </a:t>
            </a:r>
            <a:r>
              <a: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mergeSort(a, left, i);</a:t>
            </a:r>
            <a:endParaRPr kumimoji="1" lang="en-US" altLang="zh-CN" sz="2000" b="0" smtClean="0">
              <a:solidFill>
                <a:srgbClr val="663300"/>
              </a:solidFill>
              <a:latin typeface="Times New Roman" panose="02020603050405020304" pitchFamily="18" charset="0"/>
              <a:ea typeface="楷体_GB2312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      mergeSort(a, i+1, right);</a:t>
            </a:r>
            <a:endParaRPr kumimoji="1" lang="en-US" altLang="zh-CN" sz="2000" b="0" smtClean="0">
              <a:solidFill>
                <a:srgbClr val="663300"/>
              </a:solidFill>
              <a:latin typeface="Times New Roman" panose="02020603050405020304" pitchFamily="18" charset="0"/>
              <a:ea typeface="楷体_GB2312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      merge(a, b, left, i, right);  //</a:t>
            </a:r>
            <a:r>
              <a:rPr kumimoji="1" lang="zh-CN" altLang="en-US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合并到数组</a:t>
            </a:r>
            <a:r>
              <a: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b</a:t>
            </a:r>
            <a:endParaRPr kumimoji="1" lang="en-US" altLang="zh-CN" sz="2000" b="0" smtClean="0">
              <a:solidFill>
                <a:srgbClr val="663300"/>
              </a:solidFill>
              <a:latin typeface="Times New Roman" panose="02020603050405020304" pitchFamily="18" charset="0"/>
              <a:ea typeface="楷体_GB2312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      copy(a, b, left, right);    //</a:t>
            </a:r>
            <a:r>
              <a:rPr kumimoji="1" lang="zh-CN" altLang="en-US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复制回数组</a:t>
            </a:r>
            <a:r>
              <a: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a</a:t>
            </a:r>
            <a:endParaRPr kumimoji="1" lang="en-US" altLang="zh-CN" sz="2000" b="0" smtClean="0">
              <a:solidFill>
                <a:srgbClr val="663300"/>
              </a:solidFill>
              <a:latin typeface="Times New Roman" panose="02020603050405020304" pitchFamily="18" charset="0"/>
              <a:ea typeface="楷体_GB2312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      }</a:t>
            </a:r>
            <a:endParaRPr kumimoji="1" lang="en-US" altLang="zh-CN" sz="2000" b="0" smtClean="0">
              <a:solidFill>
                <a:srgbClr val="663300"/>
              </a:solidFill>
              <a:latin typeface="Times New Roman" panose="02020603050405020304" pitchFamily="18" charset="0"/>
              <a:ea typeface="楷体_GB2312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   }</a:t>
            </a:r>
            <a:endParaRPr kumimoji="1" lang="en-US" altLang="zh-CN" sz="2000" b="0" smtClean="0">
              <a:solidFill>
                <a:srgbClr val="663300"/>
              </a:solidFill>
              <a:latin typeface="Times New Roman" panose="02020603050405020304" pitchFamily="18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50180" name="Rectangle 10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zh-CN" altLang="en-US" sz="32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2" name="Group 11"/>
          <p:cNvGrpSpPr/>
          <p:nvPr/>
        </p:nvGrpSpPr>
        <p:grpSpPr bwMode="auto">
          <a:xfrm>
            <a:off x="4968875" y="3501008"/>
            <a:ext cx="4175125" cy="1584325"/>
            <a:chOff x="1002" y="2770"/>
            <a:chExt cx="4402" cy="873"/>
          </a:xfrm>
        </p:grpSpPr>
        <p:sp>
          <p:nvSpPr>
            <p:cNvPr id="43015" name="AutoShape 7"/>
            <p:cNvSpPr>
              <a:spLocks noChangeArrowheads="1"/>
            </p:cNvSpPr>
            <p:nvPr/>
          </p:nvSpPr>
          <p:spPr bwMode="auto">
            <a:xfrm>
              <a:off x="1002" y="2770"/>
              <a:ext cx="4402" cy="873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>
              <a:solidFill>
                <a:srgbClr val="063DE8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2000" dirty="0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复杂度分析</a:t>
              </a:r>
              <a:endParaRPr kumimoji="1" lang="zh-CN" altLang="en-US" sz="2000" dirty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000" dirty="0">
                <a:solidFill>
                  <a:srgbClr val="66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000" dirty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en-US" altLang="zh-CN" sz="2000" dirty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en-US" altLang="zh-CN" sz="2000" dirty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000" dirty="0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T(n)=O(</a:t>
              </a:r>
              <a:r>
                <a:rPr kumimoji="1" lang="en-US" altLang="zh-CN" sz="2000" dirty="0" err="1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nlogn</a:t>
              </a:r>
              <a:r>
                <a:rPr kumimoji="1" lang="en-US" altLang="zh-CN" sz="2000" dirty="0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) </a:t>
              </a:r>
              <a:r>
                <a:rPr kumimoji="1" lang="zh-CN" altLang="en-US" sz="2000" dirty="0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渐进意义下的最优算法</a:t>
              </a:r>
              <a:endPara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endParaRPr>
            </a:p>
          </p:txBody>
        </p:sp>
        <p:graphicFrame>
          <p:nvGraphicFramePr>
            <p:cNvPr id="50184" name="Object 2"/>
            <p:cNvGraphicFramePr>
              <a:graphicFrameLocks noChangeAspect="1"/>
            </p:cNvGraphicFramePr>
            <p:nvPr/>
          </p:nvGraphicFramePr>
          <p:xfrm>
            <a:off x="2057" y="3027"/>
            <a:ext cx="2282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3" name="公式" r:id="rId1" imgW="1905000" imgH="457200" progId="Equation.3">
                    <p:embed/>
                  </p:oleObj>
                </mc:Choice>
                <mc:Fallback>
                  <p:oleObj name="公式" r:id="rId1" imgW="1905000" imgH="45720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7" y="3027"/>
                          <a:ext cx="2282" cy="3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标题 1"/>
          <p:cNvSpPr txBox="1"/>
          <p:nvPr/>
        </p:nvSpPr>
        <p:spPr>
          <a:xfrm>
            <a:off x="785813" y="357188"/>
            <a:ext cx="7896225" cy="563562"/>
          </a:xfrm>
          <a:prstGeom prst="rect">
            <a:avLst/>
          </a:prstGeom>
        </p:spPr>
        <p:txBody>
          <a:bodyPr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kern="0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合并排序</a:t>
            </a:r>
            <a:endParaRPr lang="zh-CN" altLang="en-US" sz="3600" kern="0" dirty="0">
              <a:solidFill>
                <a:prstClr val="white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5"/>
          <p:cNvSpPr txBox="1">
            <a:spLocks noChangeArrowheads="1"/>
          </p:cNvSpPr>
          <p:nvPr/>
        </p:nvSpPr>
        <p:spPr bwMode="auto">
          <a:xfrm>
            <a:off x="250825" y="1341438"/>
            <a:ext cx="8569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2400" smtClean="0">
                <a:solidFill>
                  <a:srgbClr val="6633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算法</a:t>
            </a:r>
            <a:r>
              <a:rPr kumimoji="1" lang="en-US" altLang="zh-CN" sz="2400" smtClean="0">
                <a:solidFill>
                  <a:srgbClr val="6633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mergeSort</a:t>
            </a:r>
            <a:r>
              <a:rPr kumimoji="1" lang="zh-CN" altLang="en-US" sz="2400" smtClean="0">
                <a:solidFill>
                  <a:srgbClr val="6633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的递归过程可以消去。</a:t>
            </a:r>
            <a:endParaRPr kumimoji="1" lang="zh-CN" altLang="en-US" sz="2400" smtClean="0">
              <a:solidFill>
                <a:srgbClr val="663300"/>
              </a:solidFill>
              <a:latin typeface="Times New Roman" panose="02020603050405020304" pitchFamily="18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grpSp>
        <p:nvGrpSpPr>
          <p:cNvPr id="2" name="Group 6"/>
          <p:cNvGrpSpPr/>
          <p:nvPr/>
        </p:nvGrpSpPr>
        <p:grpSpPr bwMode="auto">
          <a:xfrm>
            <a:off x="581025" y="1974850"/>
            <a:ext cx="7724775" cy="463550"/>
            <a:chOff x="366" y="1244"/>
            <a:chExt cx="4866" cy="292"/>
          </a:xfrm>
        </p:grpSpPr>
        <p:sp>
          <p:nvSpPr>
            <p:cNvPr id="51230" name="Text Box 7"/>
            <p:cNvSpPr txBox="1">
              <a:spLocks noChangeArrowheads="1"/>
            </p:cNvSpPr>
            <p:nvPr/>
          </p:nvSpPr>
          <p:spPr bwMode="auto">
            <a:xfrm>
              <a:off x="366" y="1286"/>
              <a:ext cx="7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zh-CN" altLang="en-US" sz="2000" smtClean="0">
                  <a:solidFill>
                    <a:srgbClr val="663300"/>
                  </a:solidFill>
                  <a:ea typeface="楷体_GB2312" pitchFamily="49" charset="-122"/>
                  <a:cs typeface="Arial" panose="020B0604020202020204" pitchFamily="34" charset="0"/>
                </a:rPr>
                <a:t>初始序列</a:t>
              </a:r>
              <a:endParaRPr kumimoji="1" lang="zh-CN" altLang="en-US" sz="2000" smtClean="0">
                <a:solidFill>
                  <a:srgbClr val="663300"/>
                </a:solidFill>
                <a:ea typeface="楷体_GB2312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1231" name="Text Box 8"/>
            <p:cNvSpPr txBox="1">
              <a:spLocks noChangeArrowheads="1"/>
            </p:cNvSpPr>
            <p:nvPr/>
          </p:nvSpPr>
          <p:spPr bwMode="auto">
            <a:xfrm>
              <a:off x="1374" y="1244"/>
              <a:ext cx="385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400" smtClean="0">
                  <a:solidFill>
                    <a:srgbClr val="663300"/>
                  </a:solidFill>
                  <a:ea typeface="黑体" panose="02010609060101010101" pitchFamily="49" charset="-122"/>
                  <a:cs typeface="Arial" panose="020B0604020202020204" pitchFamily="34" charset="0"/>
                </a:rPr>
                <a:t>[49]  [38]  [65]  [97]  [76]  [13]  [27]</a:t>
              </a:r>
              <a:endParaRPr kumimoji="1" lang="en-US" altLang="zh-CN" sz="2400" smtClean="0">
                <a:solidFill>
                  <a:srgbClr val="663300"/>
                </a:solidFill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" name="Group 9"/>
          <p:cNvGrpSpPr/>
          <p:nvPr/>
        </p:nvGrpSpPr>
        <p:grpSpPr bwMode="auto">
          <a:xfrm>
            <a:off x="2571750" y="2400300"/>
            <a:ext cx="5276850" cy="781050"/>
            <a:chOff x="1620" y="1512"/>
            <a:chExt cx="3324" cy="492"/>
          </a:xfrm>
        </p:grpSpPr>
        <p:sp>
          <p:nvSpPr>
            <p:cNvPr id="51223" name="Freeform 10"/>
            <p:cNvSpPr/>
            <p:nvPr/>
          </p:nvSpPr>
          <p:spPr bwMode="auto">
            <a:xfrm>
              <a:off x="1620" y="1524"/>
              <a:ext cx="570" cy="315"/>
            </a:xfrm>
            <a:custGeom>
              <a:avLst/>
              <a:gdLst>
                <a:gd name="T0" fmla="*/ 0 w 570"/>
                <a:gd name="T1" fmla="*/ 18 h 315"/>
                <a:gd name="T2" fmla="*/ 306 w 570"/>
                <a:gd name="T3" fmla="*/ 312 h 315"/>
                <a:gd name="T4" fmla="*/ 570 w 570"/>
                <a:gd name="T5" fmla="*/ 0 h 315"/>
                <a:gd name="T6" fmla="*/ 0 60000 65536"/>
                <a:gd name="T7" fmla="*/ 0 60000 65536"/>
                <a:gd name="T8" fmla="*/ 0 60000 65536"/>
                <a:gd name="T9" fmla="*/ 0 w 570"/>
                <a:gd name="T10" fmla="*/ 0 h 315"/>
                <a:gd name="T11" fmla="*/ 570 w 570"/>
                <a:gd name="T12" fmla="*/ 315 h 3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0" h="315">
                  <a:moveTo>
                    <a:pt x="0" y="18"/>
                  </a:moveTo>
                  <a:cubicBezTo>
                    <a:pt x="105" y="166"/>
                    <a:pt x="211" y="315"/>
                    <a:pt x="306" y="312"/>
                  </a:cubicBezTo>
                  <a:cubicBezTo>
                    <a:pt x="401" y="309"/>
                    <a:pt x="525" y="53"/>
                    <a:pt x="570" y="0"/>
                  </a:cubicBezTo>
                </a:path>
              </a:pathLst>
            </a:custGeom>
            <a:noFill/>
            <a:ln w="28575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24" name="Freeform 11"/>
            <p:cNvSpPr/>
            <p:nvPr/>
          </p:nvSpPr>
          <p:spPr bwMode="auto">
            <a:xfrm>
              <a:off x="2736" y="1518"/>
              <a:ext cx="570" cy="315"/>
            </a:xfrm>
            <a:custGeom>
              <a:avLst/>
              <a:gdLst>
                <a:gd name="T0" fmla="*/ 0 w 570"/>
                <a:gd name="T1" fmla="*/ 18 h 315"/>
                <a:gd name="T2" fmla="*/ 306 w 570"/>
                <a:gd name="T3" fmla="*/ 312 h 315"/>
                <a:gd name="T4" fmla="*/ 570 w 570"/>
                <a:gd name="T5" fmla="*/ 0 h 315"/>
                <a:gd name="T6" fmla="*/ 0 60000 65536"/>
                <a:gd name="T7" fmla="*/ 0 60000 65536"/>
                <a:gd name="T8" fmla="*/ 0 60000 65536"/>
                <a:gd name="T9" fmla="*/ 0 w 570"/>
                <a:gd name="T10" fmla="*/ 0 h 315"/>
                <a:gd name="T11" fmla="*/ 570 w 570"/>
                <a:gd name="T12" fmla="*/ 315 h 3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0" h="315">
                  <a:moveTo>
                    <a:pt x="0" y="18"/>
                  </a:moveTo>
                  <a:cubicBezTo>
                    <a:pt x="105" y="166"/>
                    <a:pt x="211" y="315"/>
                    <a:pt x="306" y="312"/>
                  </a:cubicBezTo>
                  <a:cubicBezTo>
                    <a:pt x="401" y="309"/>
                    <a:pt x="525" y="53"/>
                    <a:pt x="570" y="0"/>
                  </a:cubicBezTo>
                </a:path>
              </a:pathLst>
            </a:custGeom>
            <a:noFill/>
            <a:ln w="28575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25" name="Freeform 12"/>
            <p:cNvSpPr/>
            <p:nvPr/>
          </p:nvSpPr>
          <p:spPr bwMode="auto">
            <a:xfrm>
              <a:off x="3852" y="1512"/>
              <a:ext cx="570" cy="315"/>
            </a:xfrm>
            <a:custGeom>
              <a:avLst/>
              <a:gdLst>
                <a:gd name="T0" fmla="*/ 0 w 570"/>
                <a:gd name="T1" fmla="*/ 18 h 315"/>
                <a:gd name="T2" fmla="*/ 306 w 570"/>
                <a:gd name="T3" fmla="*/ 312 h 315"/>
                <a:gd name="T4" fmla="*/ 570 w 570"/>
                <a:gd name="T5" fmla="*/ 0 h 315"/>
                <a:gd name="T6" fmla="*/ 0 60000 65536"/>
                <a:gd name="T7" fmla="*/ 0 60000 65536"/>
                <a:gd name="T8" fmla="*/ 0 60000 65536"/>
                <a:gd name="T9" fmla="*/ 0 w 570"/>
                <a:gd name="T10" fmla="*/ 0 h 315"/>
                <a:gd name="T11" fmla="*/ 570 w 570"/>
                <a:gd name="T12" fmla="*/ 315 h 3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0" h="315">
                  <a:moveTo>
                    <a:pt x="0" y="18"/>
                  </a:moveTo>
                  <a:cubicBezTo>
                    <a:pt x="105" y="166"/>
                    <a:pt x="211" y="315"/>
                    <a:pt x="306" y="312"/>
                  </a:cubicBezTo>
                  <a:cubicBezTo>
                    <a:pt x="401" y="309"/>
                    <a:pt x="525" y="53"/>
                    <a:pt x="570" y="0"/>
                  </a:cubicBezTo>
                </a:path>
              </a:pathLst>
            </a:custGeom>
            <a:noFill/>
            <a:ln w="28575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26" name="Line 13"/>
            <p:cNvSpPr>
              <a:spLocks noChangeShapeType="1"/>
            </p:cNvSpPr>
            <p:nvPr/>
          </p:nvSpPr>
          <p:spPr bwMode="auto">
            <a:xfrm>
              <a:off x="1912" y="1832"/>
              <a:ext cx="0" cy="168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27" name="Line 14"/>
            <p:cNvSpPr>
              <a:spLocks noChangeShapeType="1"/>
            </p:cNvSpPr>
            <p:nvPr/>
          </p:nvSpPr>
          <p:spPr bwMode="auto">
            <a:xfrm>
              <a:off x="3042" y="1836"/>
              <a:ext cx="0" cy="168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28" name="Line 15"/>
            <p:cNvSpPr>
              <a:spLocks noChangeShapeType="1"/>
            </p:cNvSpPr>
            <p:nvPr/>
          </p:nvSpPr>
          <p:spPr bwMode="auto">
            <a:xfrm>
              <a:off x="4164" y="1824"/>
              <a:ext cx="0" cy="168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29" name="Line 16"/>
            <p:cNvSpPr>
              <a:spLocks noChangeShapeType="1"/>
            </p:cNvSpPr>
            <p:nvPr/>
          </p:nvSpPr>
          <p:spPr bwMode="auto">
            <a:xfrm>
              <a:off x="4944" y="1536"/>
              <a:ext cx="0" cy="444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17"/>
          <p:cNvGrpSpPr/>
          <p:nvPr/>
        </p:nvGrpSpPr>
        <p:grpSpPr bwMode="auto">
          <a:xfrm>
            <a:off x="558800" y="3155950"/>
            <a:ext cx="7740650" cy="457200"/>
            <a:chOff x="352" y="1988"/>
            <a:chExt cx="4876" cy="288"/>
          </a:xfrm>
        </p:grpSpPr>
        <p:sp>
          <p:nvSpPr>
            <p:cNvPr id="51221" name="Text Box 18"/>
            <p:cNvSpPr txBox="1">
              <a:spLocks noChangeArrowheads="1"/>
            </p:cNvSpPr>
            <p:nvPr/>
          </p:nvSpPr>
          <p:spPr bwMode="auto">
            <a:xfrm>
              <a:off x="1484" y="1988"/>
              <a:ext cx="37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400" smtClean="0">
                  <a:solidFill>
                    <a:srgbClr val="663300"/>
                  </a:solidFill>
                  <a:ea typeface="黑体" panose="02010609060101010101" pitchFamily="49" charset="-122"/>
                  <a:cs typeface="Arial" panose="020B0604020202020204" pitchFamily="34" charset="0"/>
                </a:rPr>
                <a:t>[38  49]     [65  97]    [13  76]   [27]</a:t>
              </a:r>
              <a:endParaRPr kumimoji="1" lang="en-US" altLang="zh-CN" sz="2400" smtClean="0">
                <a:solidFill>
                  <a:srgbClr val="663300"/>
                </a:solidFill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1222" name="Text Box 19"/>
            <p:cNvSpPr txBox="1">
              <a:spLocks noChangeArrowheads="1"/>
            </p:cNvSpPr>
            <p:nvPr/>
          </p:nvSpPr>
          <p:spPr bwMode="auto">
            <a:xfrm>
              <a:off x="352" y="2012"/>
              <a:ext cx="5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zh-CN" altLang="en-US" sz="3200" smtClean="0">
                  <a:solidFill>
                    <a:srgbClr val="663300"/>
                  </a:solidFill>
                  <a:ea typeface="楷体_GB2312" pitchFamily="49" charset="-122"/>
                  <a:cs typeface="Arial" panose="020B0604020202020204" pitchFamily="34" charset="0"/>
                </a:rPr>
                <a:t>第一步</a:t>
              </a:r>
              <a:endParaRPr kumimoji="1" lang="zh-CN" altLang="en-US" sz="3200" smtClean="0">
                <a:solidFill>
                  <a:srgbClr val="663300"/>
                </a:solidFill>
                <a:ea typeface="楷体_GB2312" pitchFamily="49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5" name="Group 20"/>
          <p:cNvGrpSpPr/>
          <p:nvPr/>
        </p:nvGrpSpPr>
        <p:grpSpPr bwMode="auto">
          <a:xfrm>
            <a:off x="530225" y="4241800"/>
            <a:ext cx="7543800" cy="468313"/>
            <a:chOff x="334" y="2672"/>
            <a:chExt cx="4752" cy="295"/>
          </a:xfrm>
        </p:grpSpPr>
        <p:sp>
          <p:nvSpPr>
            <p:cNvPr id="51219" name="Text Box 21"/>
            <p:cNvSpPr txBox="1">
              <a:spLocks noChangeArrowheads="1"/>
            </p:cNvSpPr>
            <p:nvPr/>
          </p:nvSpPr>
          <p:spPr bwMode="auto">
            <a:xfrm>
              <a:off x="334" y="2736"/>
              <a:ext cx="5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zh-CN" altLang="en-US" sz="3200" smtClean="0">
                  <a:solidFill>
                    <a:srgbClr val="663300"/>
                  </a:solidFill>
                  <a:ea typeface="楷体_GB2312" pitchFamily="49" charset="-122"/>
                  <a:cs typeface="Arial" panose="020B0604020202020204" pitchFamily="34" charset="0"/>
                </a:rPr>
                <a:t>第二步</a:t>
              </a:r>
              <a:endParaRPr kumimoji="1" lang="zh-CN" altLang="en-US" sz="3200" smtClean="0">
                <a:solidFill>
                  <a:srgbClr val="663300"/>
                </a:solidFill>
                <a:ea typeface="楷体_GB2312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1220" name="Text Box 22"/>
            <p:cNvSpPr txBox="1">
              <a:spLocks noChangeArrowheads="1"/>
            </p:cNvSpPr>
            <p:nvPr/>
          </p:nvSpPr>
          <p:spPr bwMode="auto">
            <a:xfrm>
              <a:off x="1622" y="2672"/>
              <a:ext cx="34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400" smtClean="0">
                  <a:solidFill>
                    <a:srgbClr val="663300"/>
                  </a:solidFill>
                  <a:ea typeface="黑体" panose="02010609060101010101" pitchFamily="49" charset="-122"/>
                  <a:cs typeface="Arial" panose="020B0604020202020204" pitchFamily="34" charset="0"/>
                </a:rPr>
                <a:t>[38  49  65  97]         [13  27  76]</a:t>
              </a:r>
              <a:endParaRPr kumimoji="1" lang="en-US" altLang="zh-CN" sz="2400" smtClean="0">
                <a:solidFill>
                  <a:srgbClr val="663300"/>
                </a:solidFill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6" name="Group 23"/>
          <p:cNvGrpSpPr/>
          <p:nvPr/>
        </p:nvGrpSpPr>
        <p:grpSpPr bwMode="auto">
          <a:xfrm>
            <a:off x="3028950" y="3533775"/>
            <a:ext cx="4829175" cy="647700"/>
            <a:chOff x="1908" y="2226"/>
            <a:chExt cx="3042" cy="408"/>
          </a:xfrm>
        </p:grpSpPr>
        <p:sp>
          <p:nvSpPr>
            <p:cNvPr id="51215" name="Freeform 24"/>
            <p:cNvSpPr/>
            <p:nvPr/>
          </p:nvSpPr>
          <p:spPr bwMode="auto">
            <a:xfrm>
              <a:off x="1908" y="2232"/>
              <a:ext cx="1152" cy="255"/>
            </a:xfrm>
            <a:custGeom>
              <a:avLst/>
              <a:gdLst>
                <a:gd name="T0" fmla="*/ 0 w 1152"/>
                <a:gd name="T1" fmla="*/ 18 h 255"/>
                <a:gd name="T2" fmla="*/ 582 w 1152"/>
                <a:gd name="T3" fmla="*/ 252 h 255"/>
                <a:gd name="T4" fmla="*/ 1152 w 1152"/>
                <a:gd name="T5" fmla="*/ 0 h 255"/>
                <a:gd name="T6" fmla="*/ 0 60000 65536"/>
                <a:gd name="T7" fmla="*/ 0 60000 65536"/>
                <a:gd name="T8" fmla="*/ 0 60000 65536"/>
                <a:gd name="T9" fmla="*/ 0 w 1152"/>
                <a:gd name="T10" fmla="*/ 0 h 255"/>
                <a:gd name="T11" fmla="*/ 1152 w 1152"/>
                <a:gd name="T12" fmla="*/ 255 h 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52" h="255">
                  <a:moveTo>
                    <a:pt x="0" y="18"/>
                  </a:moveTo>
                  <a:cubicBezTo>
                    <a:pt x="195" y="136"/>
                    <a:pt x="390" y="255"/>
                    <a:pt x="582" y="252"/>
                  </a:cubicBezTo>
                  <a:cubicBezTo>
                    <a:pt x="774" y="249"/>
                    <a:pt x="963" y="124"/>
                    <a:pt x="1152" y="0"/>
                  </a:cubicBezTo>
                </a:path>
              </a:pathLst>
            </a:custGeom>
            <a:noFill/>
            <a:ln w="28575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16" name="Freeform 25"/>
            <p:cNvSpPr/>
            <p:nvPr/>
          </p:nvSpPr>
          <p:spPr bwMode="auto">
            <a:xfrm>
              <a:off x="4146" y="2226"/>
              <a:ext cx="804" cy="212"/>
            </a:xfrm>
            <a:custGeom>
              <a:avLst/>
              <a:gdLst>
                <a:gd name="T0" fmla="*/ 0 w 804"/>
                <a:gd name="T1" fmla="*/ 0 h 212"/>
                <a:gd name="T2" fmla="*/ 414 w 804"/>
                <a:gd name="T3" fmla="*/ 210 h 212"/>
                <a:gd name="T4" fmla="*/ 804 w 804"/>
                <a:gd name="T5" fmla="*/ 12 h 212"/>
                <a:gd name="T6" fmla="*/ 0 60000 65536"/>
                <a:gd name="T7" fmla="*/ 0 60000 65536"/>
                <a:gd name="T8" fmla="*/ 0 60000 65536"/>
                <a:gd name="T9" fmla="*/ 0 w 804"/>
                <a:gd name="T10" fmla="*/ 0 h 212"/>
                <a:gd name="T11" fmla="*/ 804 w 804"/>
                <a:gd name="T12" fmla="*/ 212 h 2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04" h="212">
                  <a:moveTo>
                    <a:pt x="0" y="0"/>
                  </a:moveTo>
                  <a:cubicBezTo>
                    <a:pt x="140" y="104"/>
                    <a:pt x="280" y="208"/>
                    <a:pt x="414" y="210"/>
                  </a:cubicBezTo>
                  <a:cubicBezTo>
                    <a:pt x="548" y="212"/>
                    <a:pt x="676" y="112"/>
                    <a:pt x="804" y="12"/>
                  </a:cubicBezTo>
                </a:path>
              </a:pathLst>
            </a:custGeom>
            <a:noFill/>
            <a:ln w="28575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17" name="Line 26"/>
            <p:cNvSpPr>
              <a:spLocks noChangeShapeType="1"/>
            </p:cNvSpPr>
            <p:nvPr/>
          </p:nvSpPr>
          <p:spPr bwMode="auto">
            <a:xfrm>
              <a:off x="2484" y="2490"/>
              <a:ext cx="0" cy="144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18" name="Line 27"/>
            <p:cNvSpPr>
              <a:spLocks noChangeShapeType="1"/>
            </p:cNvSpPr>
            <p:nvPr/>
          </p:nvSpPr>
          <p:spPr bwMode="auto">
            <a:xfrm>
              <a:off x="4566" y="2436"/>
              <a:ext cx="0" cy="144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Group 28"/>
          <p:cNvGrpSpPr/>
          <p:nvPr/>
        </p:nvGrpSpPr>
        <p:grpSpPr bwMode="auto">
          <a:xfrm>
            <a:off x="555625" y="5445125"/>
            <a:ext cx="7061200" cy="457200"/>
            <a:chOff x="350" y="3430"/>
            <a:chExt cx="4448" cy="288"/>
          </a:xfrm>
        </p:grpSpPr>
        <p:sp>
          <p:nvSpPr>
            <p:cNvPr id="51213" name="Text Box 29"/>
            <p:cNvSpPr txBox="1">
              <a:spLocks noChangeArrowheads="1"/>
            </p:cNvSpPr>
            <p:nvPr/>
          </p:nvSpPr>
          <p:spPr bwMode="auto">
            <a:xfrm>
              <a:off x="350" y="3450"/>
              <a:ext cx="5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zh-CN" altLang="en-US" sz="3200" smtClean="0">
                  <a:solidFill>
                    <a:srgbClr val="663300"/>
                  </a:solidFill>
                  <a:ea typeface="楷体_GB2312" pitchFamily="49" charset="-122"/>
                  <a:cs typeface="Arial" panose="020B0604020202020204" pitchFamily="34" charset="0"/>
                </a:rPr>
                <a:t>第三步</a:t>
              </a:r>
              <a:endParaRPr kumimoji="1" lang="zh-CN" altLang="en-US" sz="3200" smtClean="0">
                <a:solidFill>
                  <a:srgbClr val="663300"/>
                </a:solidFill>
                <a:ea typeface="楷体_GB2312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1214" name="Text Box 30"/>
            <p:cNvSpPr txBox="1">
              <a:spLocks noChangeArrowheads="1"/>
            </p:cNvSpPr>
            <p:nvPr/>
          </p:nvSpPr>
          <p:spPr bwMode="auto">
            <a:xfrm>
              <a:off x="1916" y="3430"/>
              <a:ext cx="288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400" smtClean="0">
                  <a:solidFill>
                    <a:srgbClr val="663300"/>
                  </a:solidFill>
                  <a:ea typeface="黑体" panose="02010609060101010101" pitchFamily="49" charset="-122"/>
                  <a:cs typeface="Arial" panose="020B0604020202020204" pitchFamily="34" charset="0"/>
                </a:rPr>
                <a:t>[13  27  38  49  65   76  97]</a:t>
              </a:r>
              <a:endParaRPr kumimoji="1" lang="en-US" altLang="zh-CN" sz="2400" smtClean="0">
                <a:solidFill>
                  <a:srgbClr val="663300"/>
                </a:solidFill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8" name="Group 31"/>
          <p:cNvGrpSpPr/>
          <p:nvPr/>
        </p:nvGrpSpPr>
        <p:grpSpPr bwMode="auto">
          <a:xfrm>
            <a:off x="3962400" y="4597400"/>
            <a:ext cx="3187700" cy="673100"/>
            <a:chOff x="2496" y="2896"/>
            <a:chExt cx="2008" cy="424"/>
          </a:xfrm>
        </p:grpSpPr>
        <p:sp>
          <p:nvSpPr>
            <p:cNvPr id="51211" name="Freeform 32"/>
            <p:cNvSpPr/>
            <p:nvPr/>
          </p:nvSpPr>
          <p:spPr bwMode="auto">
            <a:xfrm>
              <a:off x="2496" y="2896"/>
              <a:ext cx="2008" cy="265"/>
            </a:xfrm>
            <a:custGeom>
              <a:avLst/>
              <a:gdLst>
                <a:gd name="T0" fmla="*/ 0 w 2008"/>
                <a:gd name="T1" fmla="*/ 8 h 265"/>
                <a:gd name="T2" fmla="*/ 1040 w 2008"/>
                <a:gd name="T3" fmla="*/ 264 h 265"/>
                <a:gd name="T4" fmla="*/ 2008 w 2008"/>
                <a:gd name="T5" fmla="*/ 0 h 265"/>
                <a:gd name="T6" fmla="*/ 0 60000 65536"/>
                <a:gd name="T7" fmla="*/ 0 60000 65536"/>
                <a:gd name="T8" fmla="*/ 0 60000 65536"/>
                <a:gd name="T9" fmla="*/ 0 w 2008"/>
                <a:gd name="T10" fmla="*/ 0 h 265"/>
                <a:gd name="T11" fmla="*/ 2008 w 2008"/>
                <a:gd name="T12" fmla="*/ 265 h 2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8" h="265">
                  <a:moveTo>
                    <a:pt x="0" y="8"/>
                  </a:moveTo>
                  <a:cubicBezTo>
                    <a:pt x="352" y="136"/>
                    <a:pt x="705" y="265"/>
                    <a:pt x="1040" y="264"/>
                  </a:cubicBezTo>
                  <a:cubicBezTo>
                    <a:pt x="1375" y="263"/>
                    <a:pt x="1691" y="131"/>
                    <a:pt x="2008" y="0"/>
                  </a:cubicBezTo>
                </a:path>
              </a:pathLst>
            </a:custGeom>
            <a:noFill/>
            <a:ln w="28575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12" name="Line 33"/>
            <p:cNvSpPr>
              <a:spLocks noChangeShapeType="1"/>
            </p:cNvSpPr>
            <p:nvPr/>
          </p:nvSpPr>
          <p:spPr bwMode="auto">
            <a:xfrm>
              <a:off x="3520" y="3152"/>
              <a:ext cx="0" cy="168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2" name="标题 1"/>
          <p:cNvSpPr txBox="1"/>
          <p:nvPr/>
        </p:nvSpPr>
        <p:spPr>
          <a:xfrm>
            <a:off x="785813" y="357188"/>
            <a:ext cx="7896225" cy="563562"/>
          </a:xfrm>
          <a:prstGeom prst="rect">
            <a:avLst/>
          </a:prstGeom>
        </p:spPr>
        <p:txBody>
          <a:bodyPr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kern="0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合并排序</a:t>
            </a:r>
            <a:endParaRPr lang="zh-CN" altLang="en-US" sz="3600" kern="0" dirty="0">
              <a:solidFill>
                <a:prstClr val="white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571625" y="428625"/>
            <a:ext cx="7081838" cy="493713"/>
          </a:xfrm>
        </p:spPr>
        <p:txBody>
          <a:bodyPr/>
          <a:lstStyle/>
          <a:p>
            <a:pPr eaLnBrk="1" hangingPunct="1"/>
            <a:r>
              <a:rPr lang="zh-CN" altLang="en-US" smtClean="0"/>
              <a:t>合并排序</a:t>
            </a:r>
            <a:endParaRPr lang="zh-CN" altLang="en-US" smtClean="0"/>
          </a:p>
        </p:txBody>
      </p:sp>
      <p:sp>
        <p:nvSpPr>
          <p:cNvPr id="52227" name="Rectangle 4"/>
          <p:cNvSpPr>
            <a:spLocks noChangeArrowheads="1"/>
          </p:cNvSpPr>
          <p:nvPr/>
        </p:nvSpPr>
        <p:spPr bwMode="auto">
          <a:xfrm>
            <a:off x="2360613" y="1266825"/>
            <a:ext cx="3733800" cy="3810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000" b="0" smtClean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I=(n, A[0</a:t>
            </a:r>
            <a:r>
              <a:rPr kumimoji="1" lang="en-US" altLang="zh-CN" sz="2000" b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…</a:t>
            </a:r>
            <a:r>
              <a:rPr kumimoji="1" lang="en-US" altLang="zh-CN" sz="2000" b="0" smtClean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n-1])</a:t>
            </a:r>
            <a:endParaRPr kumimoji="1" lang="en-US" altLang="zh-CN" sz="2000" b="0" smtClean="0">
              <a:solidFill>
                <a:srgbClr val="000000"/>
              </a:solidFill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2" name="Group 17"/>
          <p:cNvGrpSpPr/>
          <p:nvPr/>
        </p:nvGrpSpPr>
        <p:grpSpPr bwMode="auto">
          <a:xfrm>
            <a:off x="684213" y="1647825"/>
            <a:ext cx="8158162" cy="914400"/>
            <a:chOff x="463" y="858"/>
            <a:chExt cx="5139" cy="576"/>
          </a:xfrm>
        </p:grpSpPr>
        <p:grpSp>
          <p:nvGrpSpPr>
            <p:cNvPr id="52261" name="Group 16"/>
            <p:cNvGrpSpPr/>
            <p:nvPr/>
          </p:nvGrpSpPr>
          <p:grpSpPr bwMode="auto">
            <a:xfrm>
              <a:off x="463" y="1194"/>
              <a:ext cx="5139" cy="240"/>
              <a:chOff x="463" y="1194"/>
              <a:chExt cx="5139" cy="240"/>
            </a:xfrm>
          </p:grpSpPr>
          <p:sp>
            <p:nvSpPr>
              <p:cNvPr id="52264" name="Rectangle 6"/>
              <p:cNvSpPr>
                <a:spLocks noChangeArrowheads="1"/>
              </p:cNvSpPr>
              <p:nvPr/>
            </p:nvSpPr>
            <p:spPr bwMode="auto">
              <a:xfrm>
                <a:off x="463" y="1194"/>
                <a:ext cx="2352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r>
                  <a:rPr kumimoji="1" lang="en-US" altLang="zh-CN" sz="2000" b="0" smtClean="0">
                    <a:solidFill>
                      <a:srgbClr val="000000"/>
                    </a:solidFill>
                    <a:latin typeface="Tahoma" panose="020B0604030504040204" pitchFamily="34" charset="0"/>
                    <a:ea typeface="黑体" panose="02010609060101010101" pitchFamily="49" charset="-122"/>
                    <a:cs typeface="Arial" panose="020B0604020202020204" pitchFamily="34" charset="0"/>
                  </a:rPr>
                  <a:t>I</a:t>
                </a:r>
                <a:r>
                  <a:rPr kumimoji="1" lang="en-US" altLang="zh-CN" sz="2000" b="0" baseline="-25000" smtClean="0">
                    <a:solidFill>
                      <a:srgbClr val="000000"/>
                    </a:solidFill>
                    <a:latin typeface="Tahoma" panose="020B0604030504040204" pitchFamily="34" charset="0"/>
                    <a:ea typeface="黑体" panose="02010609060101010101" pitchFamily="49" charset="-122"/>
                    <a:cs typeface="Arial" panose="020B0604020202020204" pitchFamily="34" charset="0"/>
                  </a:rPr>
                  <a:t>1</a:t>
                </a:r>
                <a:r>
                  <a:rPr kumimoji="1" lang="en-US" altLang="zh-CN" sz="2000" b="0" smtClean="0">
                    <a:solidFill>
                      <a:srgbClr val="000000"/>
                    </a:solidFill>
                    <a:latin typeface="Tahoma" panose="020B0604030504040204" pitchFamily="34" charset="0"/>
                    <a:ea typeface="黑体" panose="02010609060101010101" pitchFamily="49" charset="-122"/>
                    <a:cs typeface="Arial" panose="020B0604020202020204" pitchFamily="34" charset="0"/>
                  </a:rPr>
                  <a:t>=(n-[n/2], A[0</a:t>
                </a:r>
                <a:r>
                  <a:rPr kumimoji="1" lang="en-US" altLang="zh-CN" sz="2000" b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Arial" panose="020B0604020202020204" pitchFamily="34" charset="0"/>
                  </a:rPr>
                  <a:t>…</a:t>
                </a:r>
                <a:r>
                  <a:rPr kumimoji="1" lang="en-US" altLang="zh-CN" sz="2000" b="0" smtClean="0">
                    <a:solidFill>
                      <a:srgbClr val="000000"/>
                    </a:solidFill>
                    <a:latin typeface="Tahoma" panose="020B0604030504040204" pitchFamily="34" charset="0"/>
                    <a:ea typeface="黑体" panose="02010609060101010101" pitchFamily="49" charset="-122"/>
                    <a:cs typeface="Arial" panose="020B0604020202020204" pitchFamily="34" charset="0"/>
                  </a:rPr>
                  <a:t>[n/2]-1])</a:t>
                </a:r>
                <a:endParaRPr kumimoji="1" lang="en-US" altLang="zh-CN" sz="2000" b="0" smtClean="0">
                  <a:solidFill>
                    <a:srgbClr val="0000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2265" name="Rectangle 7"/>
              <p:cNvSpPr>
                <a:spLocks noChangeArrowheads="1"/>
              </p:cNvSpPr>
              <p:nvPr/>
            </p:nvSpPr>
            <p:spPr bwMode="auto">
              <a:xfrm>
                <a:off x="3061" y="1194"/>
                <a:ext cx="2541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r>
                  <a:rPr kumimoji="1" lang="en-US" altLang="zh-CN" sz="2000" b="0" smtClean="0">
                    <a:solidFill>
                      <a:srgbClr val="000000"/>
                    </a:solidFill>
                    <a:latin typeface="Tahoma" panose="020B0604030504040204" pitchFamily="34" charset="0"/>
                    <a:ea typeface="黑体" panose="02010609060101010101" pitchFamily="49" charset="-122"/>
                    <a:cs typeface="Arial" panose="020B0604020202020204" pitchFamily="34" charset="0"/>
                  </a:rPr>
                  <a:t>I</a:t>
                </a:r>
                <a:r>
                  <a:rPr kumimoji="1" lang="en-US" altLang="zh-CN" sz="2000" b="0" baseline="-25000" smtClean="0">
                    <a:solidFill>
                      <a:srgbClr val="000000"/>
                    </a:solidFill>
                    <a:latin typeface="Tahoma" panose="020B0604030504040204" pitchFamily="34" charset="0"/>
                    <a:ea typeface="黑体" panose="02010609060101010101" pitchFamily="49" charset="-122"/>
                    <a:cs typeface="Arial" panose="020B0604020202020204" pitchFamily="34" charset="0"/>
                  </a:rPr>
                  <a:t>2</a:t>
                </a:r>
                <a:r>
                  <a:rPr kumimoji="1" lang="en-US" altLang="zh-CN" sz="2000" b="0" smtClean="0">
                    <a:solidFill>
                      <a:srgbClr val="000000"/>
                    </a:solidFill>
                    <a:latin typeface="Tahoma" panose="020B0604030504040204" pitchFamily="34" charset="0"/>
                    <a:ea typeface="黑体" panose="02010609060101010101" pitchFamily="49" charset="-122"/>
                    <a:cs typeface="Arial" panose="020B0604020202020204" pitchFamily="34" charset="0"/>
                  </a:rPr>
                  <a:t>=(n-[n/2]-1, A[[n/2]-1</a:t>
                </a:r>
                <a:r>
                  <a:rPr kumimoji="1" lang="en-US" altLang="zh-CN" sz="2000" b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Arial" panose="020B0604020202020204" pitchFamily="34" charset="0"/>
                  </a:rPr>
                  <a:t>…</a:t>
                </a:r>
                <a:r>
                  <a:rPr kumimoji="1" lang="en-US" altLang="zh-CN" sz="2000" b="0" smtClean="0">
                    <a:solidFill>
                      <a:srgbClr val="000000"/>
                    </a:solidFill>
                    <a:latin typeface="Tahoma" panose="020B0604030504040204" pitchFamily="34" charset="0"/>
                    <a:ea typeface="黑体" panose="02010609060101010101" pitchFamily="49" charset="-122"/>
                    <a:cs typeface="Arial" panose="020B0604020202020204" pitchFamily="34" charset="0"/>
                  </a:rPr>
                  <a:t>n-1])</a:t>
                </a:r>
                <a:endParaRPr kumimoji="1" lang="en-US" altLang="zh-CN" sz="2000" b="0" smtClean="0">
                  <a:solidFill>
                    <a:srgbClr val="0000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2262" name="Line 8"/>
            <p:cNvSpPr>
              <a:spLocks noChangeShapeType="1"/>
            </p:cNvSpPr>
            <p:nvPr/>
          </p:nvSpPr>
          <p:spPr bwMode="auto">
            <a:xfrm flipH="1">
              <a:off x="1519" y="858"/>
              <a:ext cx="96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63" name="Line 9"/>
            <p:cNvSpPr>
              <a:spLocks noChangeShapeType="1"/>
            </p:cNvSpPr>
            <p:nvPr/>
          </p:nvSpPr>
          <p:spPr bwMode="auto">
            <a:xfrm>
              <a:off x="3055" y="858"/>
              <a:ext cx="1344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10"/>
          <p:cNvGrpSpPr/>
          <p:nvPr/>
        </p:nvGrpSpPr>
        <p:grpSpPr bwMode="auto">
          <a:xfrm>
            <a:off x="2339975" y="5657850"/>
            <a:ext cx="4572000" cy="914400"/>
            <a:chOff x="1536" y="1776"/>
            <a:chExt cx="2880" cy="576"/>
          </a:xfrm>
        </p:grpSpPr>
        <p:sp>
          <p:nvSpPr>
            <p:cNvPr id="52257" name="Rectangle 11"/>
            <p:cNvSpPr>
              <a:spLocks noChangeArrowheads="1"/>
            </p:cNvSpPr>
            <p:nvPr/>
          </p:nvSpPr>
          <p:spPr bwMode="auto">
            <a:xfrm>
              <a:off x="1680" y="2112"/>
              <a:ext cx="2352" cy="24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0000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I=(n,A(1),</a:t>
              </a:r>
              <a:r>
                <a:rPr kumimoji="1" lang="en-US" altLang="zh-CN" sz="2000" b="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…</a:t>
              </a:r>
              <a:r>
                <a:rPr kumimoji="1" lang="en-US" altLang="zh-CN" sz="2000" b="0" smtClean="0">
                  <a:solidFill>
                    <a:srgbClr val="0000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A(n))</a:t>
              </a:r>
              <a:endParaRPr kumimoji="1" lang="en-US" altLang="zh-CN" sz="2000" b="0" smtClean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2258" name="Line 12"/>
            <p:cNvSpPr>
              <a:spLocks noChangeShapeType="1"/>
            </p:cNvSpPr>
            <p:nvPr/>
          </p:nvSpPr>
          <p:spPr bwMode="auto">
            <a:xfrm>
              <a:off x="1536" y="1776"/>
              <a:ext cx="1200" cy="33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59" name="Line 13"/>
            <p:cNvSpPr>
              <a:spLocks noChangeShapeType="1"/>
            </p:cNvSpPr>
            <p:nvPr/>
          </p:nvSpPr>
          <p:spPr bwMode="auto">
            <a:xfrm flipH="1">
              <a:off x="3168" y="1776"/>
              <a:ext cx="1248" cy="33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60" name="Text Box 14"/>
            <p:cNvSpPr txBox="1">
              <a:spLocks noChangeArrowheads="1"/>
            </p:cNvSpPr>
            <p:nvPr/>
          </p:nvSpPr>
          <p:spPr bwMode="auto">
            <a:xfrm>
              <a:off x="2630" y="1824"/>
              <a:ext cx="63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0000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MERGE</a:t>
              </a:r>
              <a:endParaRPr kumimoji="1" lang="en-US" altLang="zh-CN" sz="2000" b="0" smtClean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5" name="Group 33"/>
          <p:cNvGrpSpPr/>
          <p:nvPr/>
        </p:nvGrpSpPr>
        <p:grpSpPr bwMode="auto">
          <a:xfrm>
            <a:off x="468313" y="3209925"/>
            <a:ext cx="3960812" cy="719138"/>
            <a:chOff x="295" y="1797"/>
            <a:chExt cx="2495" cy="453"/>
          </a:xfrm>
        </p:grpSpPr>
        <p:sp>
          <p:nvSpPr>
            <p:cNvPr id="52253" name="Rectangle 19"/>
            <p:cNvSpPr>
              <a:spLocks noChangeArrowheads="1"/>
            </p:cNvSpPr>
            <p:nvPr/>
          </p:nvSpPr>
          <p:spPr bwMode="auto">
            <a:xfrm>
              <a:off x="295" y="2023"/>
              <a:ext cx="1089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I</a:t>
              </a:r>
              <a:r>
                <a:rPr kumimoji="1" lang="en-US" altLang="zh-CN" sz="2000" b="0" baseline="-2500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h</a:t>
              </a:r>
              <a:r>
                <a:rPr kumimoji="1" lang="en-US" altLang="zh-CN" sz="2000" b="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=(1,A[0])</a:t>
              </a:r>
              <a:endParaRPr kumimoji="1" lang="en-US" altLang="zh-CN" sz="2000" b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2254" name="Rectangle 20"/>
            <p:cNvSpPr>
              <a:spLocks noChangeArrowheads="1"/>
            </p:cNvSpPr>
            <p:nvPr/>
          </p:nvSpPr>
          <p:spPr bwMode="auto">
            <a:xfrm>
              <a:off x="1701" y="2023"/>
              <a:ext cx="1089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I</a:t>
              </a:r>
              <a:r>
                <a:rPr kumimoji="1" lang="en-US" altLang="zh-CN" sz="2000" b="0" baseline="-2500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i</a:t>
              </a:r>
              <a:r>
                <a:rPr kumimoji="1" lang="en-US" altLang="zh-CN" sz="2000" b="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=(1,A[1])</a:t>
              </a:r>
              <a:endParaRPr kumimoji="1" lang="en-US" altLang="zh-CN" sz="2000" b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2255" name="Line 23"/>
            <p:cNvSpPr>
              <a:spLocks noChangeShapeType="1"/>
            </p:cNvSpPr>
            <p:nvPr/>
          </p:nvSpPr>
          <p:spPr bwMode="auto">
            <a:xfrm flipH="1">
              <a:off x="839" y="1797"/>
              <a:ext cx="181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56" name="Line 24"/>
            <p:cNvSpPr>
              <a:spLocks noChangeShapeType="1"/>
            </p:cNvSpPr>
            <p:nvPr/>
          </p:nvSpPr>
          <p:spPr bwMode="auto">
            <a:xfrm>
              <a:off x="2154" y="1797"/>
              <a:ext cx="136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Group 34"/>
          <p:cNvGrpSpPr/>
          <p:nvPr/>
        </p:nvGrpSpPr>
        <p:grpSpPr bwMode="auto">
          <a:xfrm>
            <a:off x="4787900" y="3209925"/>
            <a:ext cx="4033838" cy="719138"/>
            <a:chOff x="3016" y="1797"/>
            <a:chExt cx="2541" cy="453"/>
          </a:xfrm>
        </p:grpSpPr>
        <p:sp>
          <p:nvSpPr>
            <p:cNvPr id="52249" name="Rectangle 21"/>
            <p:cNvSpPr>
              <a:spLocks noChangeArrowheads="1"/>
            </p:cNvSpPr>
            <p:nvPr/>
          </p:nvSpPr>
          <p:spPr bwMode="auto">
            <a:xfrm>
              <a:off x="3016" y="2023"/>
              <a:ext cx="1089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I</a:t>
              </a:r>
              <a:r>
                <a:rPr kumimoji="1" lang="en-US" altLang="zh-CN" sz="2000" b="0" baseline="-2500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j</a:t>
              </a:r>
              <a:r>
                <a:rPr kumimoji="1" lang="en-US" altLang="zh-CN" sz="2000" b="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=(1,A[m])</a:t>
              </a:r>
              <a:endParaRPr kumimoji="1" lang="en-US" altLang="zh-CN" sz="2000" b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2250" name="Rectangle 22"/>
            <p:cNvSpPr>
              <a:spLocks noChangeArrowheads="1"/>
            </p:cNvSpPr>
            <p:nvPr/>
          </p:nvSpPr>
          <p:spPr bwMode="auto">
            <a:xfrm>
              <a:off x="4468" y="2023"/>
              <a:ext cx="1089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I</a:t>
              </a:r>
              <a:r>
                <a:rPr kumimoji="1" lang="en-US" altLang="zh-CN" sz="2000" b="0" baseline="-2500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k</a:t>
              </a:r>
              <a:r>
                <a:rPr kumimoji="1" lang="en-US" altLang="zh-CN" sz="2000" b="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=(1,A[n])</a:t>
              </a:r>
              <a:endParaRPr kumimoji="1" lang="en-US" altLang="zh-CN" sz="2000" b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2251" name="Line 25"/>
            <p:cNvSpPr>
              <a:spLocks noChangeShapeType="1"/>
            </p:cNvSpPr>
            <p:nvPr/>
          </p:nvSpPr>
          <p:spPr bwMode="auto">
            <a:xfrm flipH="1">
              <a:off x="3560" y="1797"/>
              <a:ext cx="182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52" name="Line 26"/>
            <p:cNvSpPr>
              <a:spLocks noChangeShapeType="1"/>
            </p:cNvSpPr>
            <p:nvPr/>
          </p:nvSpPr>
          <p:spPr bwMode="auto">
            <a:xfrm>
              <a:off x="4785" y="1797"/>
              <a:ext cx="136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Group 35"/>
          <p:cNvGrpSpPr/>
          <p:nvPr/>
        </p:nvGrpSpPr>
        <p:grpSpPr bwMode="auto">
          <a:xfrm>
            <a:off x="539750" y="3929063"/>
            <a:ext cx="3744913" cy="1152525"/>
            <a:chOff x="340" y="2250"/>
            <a:chExt cx="2359" cy="726"/>
          </a:xfrm>
        </p:grpSpPr>
        <p:sp>
          <p:nvSpPr>
            <p:cNvPr id="52246" name="Rectangle 27"/>
            <p:cNvSpPr>
              <a:spLocks noChangeArrowheads="1"/>
            </p:cNvSpPr>
            <p:nvPr/>
          </p:nvSpPr>
          <p:spPr bwMode="auto">
            <a:xfrm>
              <a:off x="340" y="2704"/>
              <a:ext cx="2359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I</a:t>
              </a:r>
              <a:r>
                <a:rPr kumimoji="1" lang="en-US" altLang="zh-CN" sz="2000" b="0" baseline="-2500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hi</a:t>
              </a:r>
              <a:r>
                <a:rPr kumimoji="1" lang="en-US" altLang="zh-CN" sz="2000" b="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=(2,A[0...1])</a:t>
              </a:r>
              <a:endParaRPr kumimoji="1" lang="en-US" altLang="zh-CN" sz="2000" b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2247" name="Line 29"/>
            <p:cNvSpPr>
              <a:spLocks noChangeShapeType="1"/>
            </p:cNvSpPr>
            <p:nvPr/>
          </p:nvSpPr>
          <p:spPr bwMode="auto">
            <a:xfrm>
              <a:off x="793" y="2250"/>
              <a:ext cx="499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48" name="Line 30"/>
            <p:cNvSpPr>
              <a:spLocks noChangeShapeType="1"/>
            </p:cNvSpPr>
            <p:nvPr/>
          </p:nvSpPr>
          <p:spPr bwMode="auto">
            <a:xfrm flipH="1">
              <a:off x="1791" y="2250"/>
              <a:ext cx="499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Group 36"/>
          <p:cNvGrpSpPr/>
          <p:nvPr/>
        </p:nvGrpSpPr>
        <p:grpSpPr bwMode="auto">
          <a:xfrm>
            <a:off x="4859338" y="3929063"/>
            <a:ext cx="3744912" cy="1152525"/>
            <a:chOff x="3061" y="2250"/>
            <a:chExt cx="2359" cy="726"/>
          </a:xfrm>
        </p:grpSpPr>
        <p:sp>
          <p:nvSpPr>
            <p:cNvPr id="52243" name="Rectangle 28"/>
            <p:cNvSpPr>
              <a:spLocks noChangeArrowheads="1"/>
            </p:cNvSpPr>
            <p:nvPr/>
          </p:nvSpPr>
          <p:spPr bwMode="auto">
            <a:xfrm>
              <a:off x="3061" y="2704"/>
              <a:ext cx="2359" cy="2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I</a:t>
              </a:r>
              <a:r>
                <a:rPr kumimoji="1" lang="en-US" altLang="zh-CN" sz="2000" b="0" baseline="-2500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jk</a:t>
              </a:r>
              <a:r>
                <a:rPr kumimoji="1" lang="en-US" altLang="zh-CN" sz="2000" b="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=(2,A[m...n])</a:t>
              </a:r>
              <a:endParaRPr kumimoji="1" lang="en-US" altLang="zh-CN" sz="2000" b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2244" name="Line 31"/>
            <p:cNvSpPr>
              <a:spLocks noChangeShapeType="1"/>
            </p:cNvSpPr>
            <p:nvPr/>
          </p:nvSpPr>
          <p:spPr bwMode="auto">
            <a:xfrm>
              <a:off x="3560" y="2250"/>
              <a:ext cx="363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45" name="Line 32"/>
            <p:cNvSpPr>
              <a:spLocks noChangeShapeType="1"/>
            </p:cNvSpPr>
            <p:nvPr/>
          </p:nvSpPr>
          <p:spPr bwMode="auto">
            <a:xfrm flipH="1">
              <a:off x="4649" y="2250"/>
              <a:ext cx="363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Group 41"/>
          <p:cNvGrpSpPr/>
          <p:nvPr/>
        </p:nvGrpSpPr>
        <p:grpSpPr bwMode="auto">
          <a:xfrm>
            <a:off x="1474788" y="2633663"/>
            <a:ext cx="2152650" cy="400050"/>
            <a:chOff x="929" y="1434"/>
            <a:chExt cx="1356" cy="252"/>
          </a:xfrm>
        </p:grpSpPr>
        <p:sp>
          <p:nvSpPr>
            <p:cNvPr id="52241" name="Text Box 37"/>
            <p:cNvSpPr txBox="1">
              <a:spLocks noChangeArrowheads="1"/>
            </p:cNvSpPr>
            <p:nvPr/>
          </p:nvSpPr>
          <p:spPr bwMode="auto">
            <a:xfrm>
              <a:off x="929" y="1434"/>
              <a:ext cx="35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......</a:t>
              </a:r>
              <a:endParaRPr kumimoji="1" lang="en-US" altLang="zh-CN" sz="2000" b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2242" name="Text Box 38"/>
            <p:cNvSpPr txBox="1">
              <a:spLocks noChangeArrowheads="1"/>
            </p:cNvSpPr>
            <p:nvPr/>
          </p:nvSpPr>
          <p:spPr bwMode="auto">
            <a:xfrm>
              <a:off x="1926" y="1434"/>
              <a:ext cx="35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......</a:t>
              </a:r>
              <a:endParaRPr kumimoji="1" lang="en-US" altLang="zh-CN" sz="2000" b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0" name="Group 44"/>
          <p:cNvGrpSpPr/>
          <p:nvPr/>
        </p:nvGrpSpPr>
        <p:grpSpPr bwMode="auto">
          <a:xfrm>
            <a:off x="5649913" y="2706688"/>
            <a:ext cx="2154237" cy="400050"/>
            <a:chOff x="3559" y="1480"/>
            <a:chExt cx="1357" cy="252"/>
          </a:xfrm>
        </p:grpSpPr>
        <p:sp>
          <p:nvSpPr>
            <p:cNvPr id="52239" name="Text Box 39"/>
            <p:cNvSpPr txBox="1">
              <a:spLocks noChangeArrowheads="1"/>
            </p:cNvSpPr>
            <p:nvPr/>
          </p:nvSpPr>
          <p:spPr bwMode="auto">
            <a:xfrm>
              <a:off x="3559" y="1480"/>
              <a:ext cx="35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......</a:t>
              </a:r>
              <a:endParaRPr kumimoji="1" lang="en-US" altLang="zh-CN" sz="2000" b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2240" name="Text Box 40"/>
            <p:cNvSpPr txBox="1">
              <a:spLocks noChangeArrowheads="1"/>
            </p:cNvSpPr>
            <p:nvPr/>
          </p:nvSpPr>
          <p:spPr bwMode="auto">
            <a:xfrm>
              <a:off x="4557" y="1480"/>
              <a:ext cx="35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......</a:t>
              </a:r>
              <a:endParaRPr kumimoji="1" lang="en-US" altLang="zh-CN" sz="2000" b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1" name="Group 45"/>
          <p:cNvGrpSpPr/>
          <p:nvPr/>
        </p:nvGrpSpPr>
        <p:grpSpPr bwMode="auto">
          <a:xfrm>
            <a:off x="2049463" y="5226050"/>
            <a:ext cx="5106987" cy="400050"/>
            <a:chOff x="1291" y="3067"/>
            <a:chExt cx="3217" cy="252"/>
          </a:xfrm>
        </p:grpSpPr>
        <p:sp>
          <p:nvSpPr>
            <p:cNvPr id="52237" name="Text Box 42"/>
            <p:cNvSpPr txBox="1">
              <a:spLocks noChangeArrowheads="1"/>
            </p:cNvSpPr>
            <p:nvPr/>
          </p:nvSpPr>
          <p:spPr bwMode="auto">
            <a:xfrm>
              <a:off x="1291" y="3067"/>
              <a:ext cx="35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......</a:t>
              </a:r>
              <a:endParaRPr kumimoji="1" lang="en-US" altLang="zh-CN" sz="2000" b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2238" name="Text Box 43"/>
            <p:cNvSpPr txBox="1">
              <a:spLocks noChangeArrowheads="1"/>
            </p:cNvSpPr>
            <p:nvPr/>
          </p:nvSpPr>
          <p:spPr bwMode="auto">
            <a:xfrm>
              <a:off x="4149" y="3067"/>
              <a:ext cx="35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000" b="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......</a:t>
              </a:r>
              <a:endParaRPr kumimoji="1" lang="en-US" altLang="zh-CN" sz="2000" b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合并函数</a:t>
            </a:r>
            <a:r>
              <a:rPr lang="en-US" altLang="zh-CN" smtClean="0"/>
              <a:t>MERGE</a:t>
            </a:r>
            <a:r>
              <a:rPr lang="zh-CN" altLang="en-US" smtClean="0"/>
              <a:t>的实现</a:t>
            </a:r>
            <a:endParaRPr lang="zh-CN" altLang="en-US" smtClean="0"/>
          </a:p>
        </p:txBody>
      </p:sp>
      <p:graphicFrame>
        <p:nvGraphicFramePr>
          <p:cNvPr id="25730" name="Group 130"/>
          <p:cNvGraphicFramePr>
            <a:graphicFrameLocks noGrp="1"/>
          </p:cNvGraphicFramePr>
          <p:nvPr/>
        </p:nvGraphicFramePr>
        <p:xfrm>
          <a:off x="1547813" y="2733675"/>
          <a:ext cx="7200900" cy="457200"/>
        </p:xfrm>
        <a:graphic>
          <a:graphicData uri="http://schemas.openxmlformats.org/drawingml/2006/table">
            <a:tbl>
              <a:tblPr/>
              <a:tblGrid>
                <a:gridCol w="792162"/>
                <a:gridCol w="719138"/>
                <a:gridCol w="504825"/>
                <a:gridCol w="1152525"/>
                <a:gridCol w="935037"/>
                <a:gridCol w="720725"/>
                <a:gridCol w="720725"/>
                <a:gridCol w="574675"/>
                <a:gridCol w="1081088"/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B[0]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B[1]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B[p-1]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C[0]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C[1]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C[q-1]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3275" name="Text Box 25"/>
          <p:cNvSpPr txBox="1">
            <a:spLocks noChangeArrowheads="1"/>
          </p:cNvSpPr>
          <p:nvPr/>
        </p:nvSpPr>
        <p:spPr bwMode="auto">
          <a:xfrm>
            <a:off x="2357438" y="2276475"/>
            <a:ext cx="1887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24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已排序序列</a:t>
            </a:r>
            <a:r>
              <a:rPr kumimoji="1" lang="en-US" altLang="zh-CN" sz="24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</a:t>
            </a:r>
            <a:endParaRPr kumimoji="1" lang="en-US" altLang="zh-CN" sz="2400" smtClean="0">
              <a:solidFill>
                <a:srgbClr val="663300"/>
              </a:solidFill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3276" name="Text Box 26"/>
          <p:cNvSpPr txBox="1">
            <a:spLocks noChangeArrowheads="1"/>
          </p:cNvSpPr>
          <p:nvPr/>
        </p:nvSpPr>
        <p:spPr bwMode="auto">
          <a:xfrm>
            <a:off x="6107113" y="2276475"/>
            <a:ext cx="1890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24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已排序序列</a:t>
            </a:r>
            <a:r>
              <a:rPr kumimoji="1" lang="en-US" altLang="zh-CN" sz="24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</a:t>
            </a:r>
            <a:endParaRPr kumimoji="1" lang="en-US" altLang="zh-CN" sz="2400" smtClean="0">
              <a:solidFill>
                <a:srgbClr val="663300"/>
              </a:solidFill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aphicFrame>
        <p:nvGraphicFramePr>
          <p:cNvPr id="25627" name="Group 27"/>
          <p:cNvGraphicFramePr>
            <a:graphicFrameLocks noGrp="1"/>
          </p:cNvGraphicFramePr>
          <p:nvPr/>
        </p:nvGraphicFramePr>
        <p:xfrm>
          <a:off x="1619250" y="4257675"/>
          <a:ext cx="7162800" cy="457200"/>
        </p:xfrm>
        <a:graphic>
          <a:graphicData uri="http://schemas.openxmlformats.org/drawingml/2006/table">
            <a:tbl>
              <a:tblPr/>
              <a:tblGrid>
                <a:gridCol w="717550"/>
                <a:gridCol w="1492250"/>
                <a:gridCol w="762000"/>
                <a:gridCol w="762000"/>
                <a:gridCol w="1066800"/>
                <a:gridCol w="762000"/>
                <a:gridCol w="762000"/>
                <a:gridCol w="83820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53297" name="Text Box 47"/>
          <p:cNvSpPr txBox="1">
            <a:spLocks noChangeArrowheads="1"/>
          </p:cNvSpPr>
          <p:nvPr/>
        </p:nvSpPr>
        <p:spPr bwMode="auto">
          <a:xfrm>
            <a:off x="539750" y="4292600"/>
            <a:ext cx="973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24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数组</a:t>
            </a:r>
            <a:r>
              <a:rPr kumimoji="1" lang="en-US" altLang="zh-CN" sz="24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</a:t>
            </a:r>
            <a:endParaRPr kumimoji="1" lang="en-US" altLang="zh-CN" sz="2400" smtClean="0">
              <a:solidFill>
                <a:srgbClr val="663300"/>
              </a:solidFill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2" name="Group 48"/>
          <p:cNvGrpSpPr/>
          <p:nvPr/>
        </p:nvGrpSpPr>
        <p:grpSpPr bwMode="auto">
          <a:xfrm>
            <a:off x="1671638" y="3214688"/>
            <a:ext cx="4568825" cy="1009650"/>
            <a:chOff x="1046" y="1503"/>
            <a:chExt cx="2878" cy="636"/>
          </a:xfrm>
        </p:grpSpPr>
        <p:sp>
          <p:nvSpPr>
            <p:cNvPr id="53315" name="Line 49"/>
            <p:cNvSpPr>
              <a:spLocks noChangeShapeType="1"/>
            </p:cNvSpPr>
            <p:nvPr/>
          </p:nvSpPr>
          <p:spPr bwMode="auto">
            <a:xfrm>
              <a:off x="1092" y="1503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16" name="Line 50"/>
            <p:cNvSpPr>
              <a:spLocks noChangeShapeType="1"/>
            </p:cNvSpPr>
            <p:nvPr/>
          </p:nvSpPr>
          <p:spPr bwMode="auto">
            <a:xfrm>
              <a:off x="1092" y="1743"/>
              <a:ext cx="28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17" name="Line 51"/>
            <p:cNvSpPr>
              <a:spLocks noChangeShapeType="1"/>
            </p:cNvSpPr>
            <p:nvPr/>
          </p:nvSpPr>
          <p:spPr bwMode="auto">
            <a:xfrm>
              <a:off x="3924" y="1503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18" name="Line 52"/>
            <p:cNvSpPr>
              <a:spLocks noChangeShapeType="1"/>
            </p:cNvSpPr>
            <p:nvPr/>
          </p:nvSpPr>
          <p:spPr bwMode="auto">
            <a:xfrm>
              <a:off x="1248" y="1755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19" name="Text Box 53"/>
            <p:cNvSpPr txBox="1">
              <a:spLocks noChangeArrowheads="1"/>
            </p:cNvSpPr>
            <p:nvPr/>
          </p:nvSpPr>
          <p:spPr bwMode="auto">
            <a:xfrm>
              <a:off x="1056" y="1575"/>
              <a:ext cx="56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zh-CN" altLang="en-US" sz="1400" smtClean="0">
                  <a:solidFill>
                    <a:srgbClr val="FF33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比较大小</a:t>
              </a:r>
              <a:endParaRPr kumimoji="1" lang="zh-CN" altLang="en-US" sz="1400" smtClean="0">
                <a:solidFill>
                  <a:srgbClr val="FF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3320" name="Text Box 54"/>
            <p:cNvSpPr txBox="1">
              <a:spLocks noChangeArrowheads="1"/>
            </p:cNvSpPr>
            <p:nvPr/>
          </p:nvSpPr>
          <p:spPr bwMode="auto">
            <a:xfrm>
              <a:off x="1046" y="1782"/>
              <a:ext cx="250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zh-CN" altLang="en-US" sz="1400" smtClean="0">
                  <a:solidFill>
                    <a:srgbClr val="FF33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小值</a:t>
              </a:r>
              <a:endParaRPr kumimoji="1" lang="zh-CN" altLang="en-US" sz="1400" smtClean="0">
                <a:solidFill>
                  <a:srgbClr val="FF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</p:grpSp>
      <p:sp>
        <p:nvSpPr>
          <p:cNvPr id="25655" name="Text Box 55"/>
          <p:cNvSpPr txBox="1">
            <a:spLocks noChangeArrowheads="1"/>
          </p:cNvSpPr>
          <p:nvPr/>
        </p:nvSpPr>
        <p:spPr bwMode="auto">
          <a:xfrm>
            <a:off x="1611313" y="4306888"/>
            <a:ext cx="665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000" smtClean="0">
                <a:solidFill>
                  <a:srgbClr val="FF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B[0]</a:t>
            </a:r>
            <a:endParaRPr kumimoji="1" lang="en-US" altLang="zh-CN" sz="2000" smtClean="0">
              <a:solidFill>
                <a:srgbClr val="FF3300"/>
              </a:solidFill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3" name="Group 56"/>
          <p:cNvGrpSpPr/>
          <p:nvPr/>
        </p:nvGrpSpPr>
        <p:grpSpPr bwMode="auto">
          <a:xfrm>
            <a:off x="2509838" y="3190875"/>
            <a:ext cx="3749675" cy="1066800"/>
            <a:chOff x="1574" y="1488"/>
            <a:chExt cx="2362" cy="672"/>
          </a:xfrm>
        </p:grpSpPr>
        <p:sp>
          <p:nvSpPr>
            <p:cNvPr id="53309" name="Line 57"/>
            <p:cNvSpPr>
              <a:spLocks noChangeShapeType="1"/>
            </p:cNvSpPr>
            <p:nvPr/>
          </p:nvSpPr>
          <p:spPr bwMode="auto">
            <a:xfrm>
              <a:off x="1632" y="1488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10" name="Line 58"/>
            <p:cNvSpPr>
              <a:spLocks noChangeShapeType="1"/>
            </p:cNvSpPr>
            <p:nvPr/>
          </p:nvSpPr>
          <p:spPr bwMode="auto">
            <a:xfrm>
              <a:off x="1632" y="1872"/>
              <a:ext cx="23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11" name="Line 59"/>
            <p:cNvSpPr>
              <a:spLocks noChangeShapeType="1"/>
            </p:cNvSpPr>
            <p:nvPr/>
          </p:nvSpPr>
          <p:spPr bwMode="auto">
            <a:xfrm flipV="1">
              <a:off x="3927" y="1719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12" name="Line 60"/>
            <p:cNvSpPr>
              <a:spLocks noChangeShapeType="1"/>
            </p:cNvSpPr>
            <p:nvPr/>
          </p:nvSpPr>
          <p:spPr bwMode="auto">
            <a:xfrm>
              <a:off x="1776" y="187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13" name="Text Box 61"/>
            <p:cNvSpPr txBox="1">
              <a:spLocks noChangeArrowheads="1"/>
            </p:cNvSpPr>
            <p:nvPr/>
          </p:nvSpPr>
          <p:spPr bwMode="auto">
            <a:xfrm>
              <a:off x="1779" y="1710"/>
              <a:ext cx="56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zh-CN" altLang="en-US" sz="1400" smtClean="0">
                  <a:solidFill>
                    <a:srgbClr val="FF33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比较大小</a:t>
              </a:r>
              <a:endParaRPr kumimoji="1" lang="zh-CN" altLang="en-US" sz="1400" smtClean="0">
                <a:solidFill>
                  <a:srgbClr val="FF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3314" name="Text Box 62"/>
            <p:cNvSpPr txBox="1">
              <a:spLocks noChangeArrowheads="1"/>
            </p:cNvSpPr>
            <p:nvPr/>
          </p:nvSpPr>
          <p:spPr bwMode="auto">
            <a:xfrm>
              <a:off x="1574" y="1878"/>
              <a:ext cx="250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zh-CN" altLang="en-US" sz="1400" smtClean="0">
                  <a:solidFill>
                    <a:srgbClr val="FF33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小值</a:t>
              </a:r>
              <a:endParaRPr kumimoji="1" lang="zh-CN" altLang="en-US" sz="1400" smtClean="0">
                <a:solidFill>
                  <a:srgbClr val="FF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</p:grpSp>
      <p:sp>
        <p:nvSpPr>
          <p:cNvPr id="25663" name="Text Box 63"/>
          <p:cNvSpPr txBox="1">
            <a:spLocks noChangeArrowheads="1"/>
          </p:cNvSpPr>
          <p:nvPr/>
        </p:nvSpPr>
        <p:spPr bwMode="auto">
          <a:xfrm>
            <a:off x="2354263" y="4275138"/>
            <a:ext cx="6683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000" smtClean="0">
                <a:solidFill>
                  <a:srgbClr val="FF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C[0]</a:t>
            </a:r>
            <a:endParaRPr kumimoji="1" lang="en-US" altLang="zh-CN" sz="2000" smtClean="0">
              <a:solidFill>
                <a:srgbClr val="FF3300"/>
              </a:solidFill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5664" name="Text Box 64"/>
          <p:cNvSpPr txBox="1">
            <a:spLocks noChangeArrowheads="1"/>
          </p:cNvSpPr>
          <p:nvPr/>
        </p:nvSpPr>
        <p:spPr bwMode="auto">
          <a:xfrm>
            <a:off x="4506913" y="3724275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……</a:t>
            </a:r>
            <a:endParaRPr kumimoji="1" lang="en-US" altLang="zh-CN" sz="2400" smtClean="0">
              <a:solidFill>
                <a:srgbClr val="663300"/>
              </a:solidFill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4" name="Group 88"/>
          <p:cNvGrpSpPr/>
          <p:nvPr/>
        </p:nvGrpSpPr>
        <p:grpSpPr bwMode="auto">
          <a:xfrm>
            <a:off x="6640513" y="3471863"/>
            <a:ext cx="1962150" cy="785812"/>
            <a:chOff x="4176" y="1665"/>
            <a:chExt cx="1236" cy="495"/>
          </a:xfrm>
        </p:grpSpPr>
        <p:sp>
          <p:nvSpPr>
            <p:cNvPr id="53305" name="Line 89"/>
            <p:cNvSpPr>
              <a:spLocks noChangeShapeType="1"/>
            </p:cNvSpPr>
            <p:nvPr/>
          </p:nvSpPr>
          <p:spPr bwMode="auto">
            <a:xfrm>
              <a:off x="4272" y="187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06" name="Line 90"/>
            <p:cNvSpPr>
              <a:spLocks noChangeShapeType="1"/>
            </p:cNvSpPr>
            <p:nvPr/>
          </p:nvSpPr>
          <p:spPr bwMode="auto">
            <a:xfrm>
              <a:off x="4752" y="187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07" name="Line 91"/>
            <p:cNvSpPr>
              <a:spLocks noChangeShapeType="1"/>
            </p:cNvSpPr>
            <p:nvPr/>
          </p:nvSpPr>
          <p:spPr bwMode="auto">
            <a:xfrm>
              <a:off x="5232" y="187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08" name="Text Box 92"/>
            <p:cNvSpPr txBox="1">
              <a:spLocks noChangeArrowheads="1"/>
            </p:cNvSpPr>
            <p:nvPr/>
          </p:nvSpPr>
          <p:spPr bwMode="auto">
            <a:xfrm>
              <a:off x="4176" y="1665"/>
              <a:ext cx="12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zh-CN" altLang="en-US" sz="2000" smtClean="0">
                  <a:solidFill>
                    <a:srgbClr val="6633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剩余已排序元素</a:t>
              </a:r>
              <a:endParaRPr kumimoji="1" lang="zh-CN" altLang="en-US" sz="20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</p:grpSp>
      <p:sp>
        <p:nvSpPr>
          <p:cNvPr id="53304" name="Text Box 99"/>
          <p:cNvSpPr txBox="1">
            <a:spLocks noChangeArrowheads="1"/>
          </p:cNvSpPr>
          <p:nvPr/>
        </p:nvSpPr>
        <p:spPr bwMode="auto">
          <a:xfrm>
            <a:off x="2051050" y="1484313"/>
            <a:ext cx="51355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32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合并函数</a:t>
            </a:r>
            <a:r>
              <a:rPr kumimoji="1" lang="en-US" altLang="zh-CN" sz="32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MERGE</a:t>
            </a:r>
            <a:r>
              <a:rPr kumimoji="1" lang="zh-CN" altLang="en-US" sz="32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的实现思想</a:t>
            </a:r>
            <a:endParaRPr kumimoji="1" lang="zh-CN" altLang="en-US" sz="3200" smtClean="0">
              <a:solidFill>
                <a:srgbClr val="663300"/>
              </a:solidFill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5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55" grpId="0" autoUpdateAnimBg="0"/>
      <p:bldP spid="25663" grpId="0" autoUpdateAnimBg="0"/>
      <p:bldP spid="25664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合并排序算法</a:t>
            </a:r>
            <a:endParaRPr lang="zh-CN" altLang="en-US" smtClean="0"/>
          </a:p>
        </p:txBody>
      </p:sp>
      <p:sp>
        <p:nvSpPr>
          <p:cNvPr id="54275" name="Text Box 6"/>
          <p:cNvSpPr txBox="1">
            <a:spLocks noChangeArrowheads="1"/>
          </p:cNvSpPr>
          <p:nvPr/>
        </p:nvSpPr>
        <p:spPr bwMode="auto">
          <a:xfrm>
            <a:off x="323850" y="1412875"/>
            <a:ext cx="3671888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140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算法 </a:t>
            </a:r>
            <a:r>
              <a:rPr kumimoji="1" lang="en-US" altLang="zh-CN" sz="1400" dirty="0" err="1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Mergesort</a:t>
            </a:r>
            <a:r>
              <a:rPr kumimoji="1" lang="en-US" altLang="zh-CN" sz="140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(A[0...n-1])</a:t>
            </a:r>
            <a:endParaRPr kumimoji="1" lang="en-US" altLang="zh-CN" sz="1400" dirty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140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//</a:t>
            </a:r>
            <a:r>
              <a:rPr kumimoji="1" lang="zh-CN" altLang="en-US" sz="140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递归调用</a:t>
            </a:r>
            <a:r>
              <a:rPr kumimoji="1" lang="en-US" altLang="zh-CN" sz="1400" dirty="0" err="1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Mergesort</a:t>
            </a:r>
            <a:r>
              <a:rPr kumimoji="1" lang="zh-CN" altLang="en-US" sz="140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来对数组</a:t>
            </a:r>
            <a:r>
              <a:rPr kumimoji="1" lang="en-US" altLang="zh-CN" sz="140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140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排序</a:t>
            </a:r>
            <a:endParaRPr kumimoji="1" lang="zh-CN" altLang="en-US" sz="1400" dirty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140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//</a:t>
            </a:r>
            <a:r>
              <a:rPr kumimoji="1" lang="zh-CN" altLang="en-US" sz="140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输入：可排序数组</a:t>
            </a:r>
            <a:r>
              <a:rPr kumimoji="1" lang="en-US" altLang="zh-CN" sz="140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A[0..n-1]</a:t>
            </a:r>
            <a:endParaRPr kumimoji="1" lang="en-US" altLang="zh-CN" sz="1400" dirty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140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//</a:t>
            </a:r>
            <a:r>
              <a:rPr kumimoji="1" lang="zh-CN" altLang="en-US" sz="140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输出：非降序列数组</a:t>
            </a:r>
            <a:r>
              <a:rPr kumimoji="1" lang="en-US" altLang="zh-CN" sz="140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A[0..n-1]</a:t>
            </a:r>
            <a:endParaRPr kumimoji="1" lang="en-US" altLang="zh-CN" sz="1400" dirty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160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if (n&gt;1){</a:t>
            </a:r>
            <a:endParaRPr kumimoji="1" lang="en-US" altLang="zh-CN" sz="1600" dirty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160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   copy A[0.. [n/2]-1] to B[0..[n/2]-1] ;</a:t>
            </a:r>
            <a:endParaRPr kumimoji="1" lang="en-US" altLang="zh-CN" sz="1600" dirty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160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   copy A[[n/2]..n-1] to C[0..[n/2]-1];</a:t>
            </a:r>
            <a:endParaRPr kumimoji="1" lang="en-US" altLang="zh-CN" sz="1600" dirty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160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   </a:t>
            </a:r>
            <a:r>
              <a:rPr kumimoji="1" lang="en-US" altLang="zh-CN" sz="1600" dirty="0" err="1" smtClean="0">
                <a:solidFill>
                  <a:srgbClr val="575F6D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Mergesort</a:t>
            </a:r>
            <a:r>
              <a:rPr kumimoji="1" lang="en-US" altLang="zh-CN" sz="1600" dirty="0" smtClean="0">
                <a:solidFill>
                  <a:srgbClr val="575F6D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(B[0..[n/2]-1]);</a:t>
            </a:r>
            <a:endParaRPr kumimoji="1" lang="en-US" altLang="zh-CN" sz="1600" dirty="0" smtClean="0">
              <a:solidFill>
                <a:srgbClr val="575F6D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1600" dirty="0" smtClean="0">
                <a:solidFill>
                  <a:srgbClr val="575F6D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   </a:t>
            </a:r>
            <a:r>
              <a:rPr kumimoji="1" lang="en-US" altLang="zh-CN" sz="1600" dirty="0" err="1" smtClean="0">
                <a:solidFill>
                  <a:srgbClr val="575F6D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Mergesort</a:t>
            </a:r>
            <a:r>
              <a:rPr kumimoji="1" lang="en-US" altLang="zh-CN" sz="1600" dirty="0" smtClean="0">
                <a:solidFill>
                  <a:srgbClr val="575F6D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(C[0..[n/2]-1]);</a:t>
            </a:r>
            <a:endParaRPr kumimoji="1" lang="en-US" altLang="zh-CN" sz="1600" dirty="0" smtClean="0">
              <a:solidFill>
                <a:srgbClr val="575F6D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160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   </a:t>
            </a:r>
            <a:r>
              <a:rPr kumimoji="1" lang="en-US" altLang="zh-CN" sz="1600" dirty="0" smtClean="0">
                <a:solidFill>
                  <a:srgbClr val="D2611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Merge(B,C,A);</a:t>
            </a:r>
            <a:endParaRPr kumimoji="1" lang="en-US" altLang="zh-CN" sz="1600" dirty="0" smtClean="0">
              <a:solidFill>
                <a:srgbClr val="D2611C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160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}</a:t>
            </a:r>
            <a:endParaRPr kumimoji="1" lang="en-US" altLang="zh-CN" sz="1600" dirty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4427538" y="1196975"/>
            <a:ext cx="3960812" cy="509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1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算法 </a:t>
            </a:r>
            <a:r>
              <a:rPr kumimoji="1" lang="en-US" altLang="zh-CN" sz="1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Merge(B[0..p-1],C[0..q-1]),A[0..p+q-1])</a:t>
            </a:r>
            <a:endParaRPr kumimoji="1" lang="en-US" altLang="zh-CN" sz="14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1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//</a:t>
            </a:r>
            <a:r>
              <a:rPr kumimoji="1" lang="zh-CN" altLang="en-US" sz="1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将两个有序数组合并成一个有序数组</a:t>
            </a:r>
            <a:endParaRPr kumimoji="1" lang="zh-CN" altLang="en-US" sz="14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1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//</a:t>
            </a:r>
            <a:r>
              <a:rPr kumimoji="1" lang="zh-CN" altLang="en-US" sz="1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输入：两个有序数组</a:t>
            </a:r>
            <a:r>
              <a:rPr kumimoji="1" lang="en-US" altLang="zh-CN" sz="1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B[0..p-1]</a:t>
            </a:r>
            <a:r>
              <a:rPr kumimoji="1" lang="zh-CN" altLang="en-US" sz="1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和</a:t>
            </a:r>
            <a:r>
              <a:rPr kumimoji="1" lang="en-US" altLang="zh-CN" sz="1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C[0..q-1]</a:t>
            </a:r>
            <a:endParaRPr kumimoji="1" lang="en-US" altLang="zh-CN" sz="14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1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//</a:t>
            </a:r>
            <a:r>
              <a:rPr kumimoji="1" lang="zh-CN" altLang="en-US" sz="1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输出：非降序列数组</a:t>
            </a:r>
            <a:r>
              <a:rPr kumimoji="1" lang="en-US" altLang="zh-CN" sz="1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A-0..p+q-1]</a:t>
            </a:r>
            <a:endParaRPr kumimoji="1" lang="en-US" altLang="zh-CN" sz="14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1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i</a:t>
            </a:r>
            <a:r>
              <a:rPr kumimoji="1" lang="en-US" altLang="zh-CN" sz="1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0;  j0;  k0;</a:t>
            </a:r>
            <a:endParaRPr kumimoji="1" lang="en-US" altLang="zh-CN" sz="14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1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while (i&lt;p and j&lt;q do){</a:t>
            </a:r>
            <a:endParaRPr kumimoji="1" lang="en-US" altLang="zh-CN" sz="14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1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    if (B[i] ≤ C[j]) {</a:t>
            </a:r>
            <a:endParaRPr kumimoji="1" lang="en-US" altLang="zh-CN" sz="14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1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        A[k]B[i];ii+1;}</a:t>
            </a:r>
            <a:endParaRPr kumimoji="1" lang="en-US" altLang="zh-CN" sz="14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1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    else{</a:t>
            </a:r>
            <a:endParaRPr kumimoji="1" lang="en-US" altLang="zh-CN" sz="14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1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        A[k]C[j];jj+1;}</a:t>
            </a:r>
            <a:endParaRPr kumimoji="1" lang="en-US" altLang="zh-CN" sz="14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1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    kk+1;</a:t>
            </a:r>
            <a:endParaRPr kumimoji="1" lang="en-US" altLang="zh-CN" sz="14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1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}</a:t>
            </a:r>
            <a:endParaRPr kumimoji="1" lang="en-US" altLang="zh-CN" sz="14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1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if (i=p)</a:t>
            </a:r>
            <a:endParaRPr kumimoji="1" lang="en-US" altLang="zh-CN" sz="14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1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    copy C[j..q-1] to A[k...p+q-1]</a:t>
            </a:r>
            <a:endParaRPr kumimoji="1" lang="en-US" altLang="zh-CN" sz="14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1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else</a:t>
            </a:r>
            <a:endParaRPr kumimoji="1" lang="en-US" altLang="zh-CN" sz="14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1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    copy B[j..p-1] to A[k...p+q-1]</a:t>
            </a:r>
            <a:endParaRPr kumimoji="1" lang="en-US" altLang="zh-CN" sz="14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7656" name="Rectangle 8"/>
          <p:cNvSpPr>
            <a:spLocks noChangeArrowheads="1"/>
          </p:cNvSpPr>
          <p:nvPr/>
        </p:nvSpPr>
        <p:spPr bwMode="auto">
          <a:xfrm>
            <a:off x="5340350" y="2852738"/>
            <a:ext cx="2232025" cy="216058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zh-CN" altLang="en-US" sz="32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7657" name="Rectangle 9"/>
          <p:cNvSpPr>
            <a:spLocks noChangeArrowheads="1"/>
          </p:cNvSpPr>
          <p:nvPr/>
        </p:nvSpPr>
        <p:spPr bwMode="auto">
          <a:xfrm>
            <a:off x="5121275" y="5072063"/>
            <a:ext cx="2736850" cy="11525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zh-CN" altLang="en-US" sz="32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5" grpId="0"/>
      <p:bldP spid="27656" grpId="0" animBg="1"/>
      <p:bldP spid="2765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>
                <a:latin typeface="隶书" panose="02010509060101010101" pitchFamily="49" charset="-122"/>
                <a:ea typeface="隶书" panose="02010509060101010101" pitchFamily="49" charset="-122"/>
              </a:rPr>
              <a:t>合并排序的计算时间</a:t>
            </a:r>
            <a:endParaRPr lang="zh-CN" altLang="en-US" sz="3600" smtClean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5299" name="Text Box 4"/>
          <p:cNvSpPr txBox="1">
            <a:spLocks noChangeArrowheads="1"/>
          </p:cNvSpPr>
          <p:nvPr/>
        </p:nvSpPr>
        <p:spPr bwMode="auto">
          <a:xfrm>
            <a:off x="1355725" y="1539875"/>
            <a:ext cx="98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T(n)=</a:t>
            </a:r>
            <a:endParaRPr kumimoji="1" lang="en-US" altLang="zh-CN" sz="2400" smtClean="0">
              <a:solidFill>
                <a:srgbClr val="663300"/>
              </a:solidFill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5300" name="AutoShape 5"/>
          <p:cNvSpPr/>
          <p:nvPr/>
        </p:nvSpPr>
        <p:spPr bwMode="auto">
          <a:xfrm>
            <a:off x="2209800" y="1277938"/>
            <a:ext cx="228600" cy="990600"/>
          </a:xfrm>
          <a:prstGeom prst="leftBrace">
            <a:avLst>
              <a:gd name="adj1" fmla="val 36111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zh-CN" altLang="en-US" sz="32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5301" name="Text Box 6"/>
          <p:cNvSpPr txBox="1">
            <a:spLocks noChangeArrowheads="1"/>
          </p:cNvSpPr>
          <p:nvPr/>
        </p:nvSpPr>
        <p:spPr bwMode="auto">
          <a:xfrm>
            <a:off x="2509838" y="1125538"/>
            <a:ext cx="2571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0		n=1</a:t>
            </a:r>
            <a:endParaRPr kumimoji="1" lang="en-US" altLang="zh-CN" sz="2400" smtClean="0">
              <a:solidFill>
                <a:srgbClr val="663300"/>
              </a:solidFill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5302" name="Text Box 7"/>
          <p:cNvSpPr txBox="1">
            <a:spLocks noChangeArrowheads="1"/>
          </p:cNvSpPr>
          <p:nvPr/>
        </p:nvSpPr>
        <p:spPr bwMode="auto">
          <a:xfrm>
            <a:off x="2514600" y="1963738"/>
            <a:ext cx="3486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2T(n/2)+T</a:t>
            </a:r>
            <a:r>
              <a:rPr kumimoji="1" lang="en-US" altLang="zh-CN" sz="2400" baseline="-250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merge</a:t>
            </a:r>
            <a:r>
              <a:rPr kumimoji="1" lang="en-US" altLang="zh-CN" sz="24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(n)	n&gt;1</a:t>
            </a:r>
            <a:endParaRPr kumimoji="1" lang="en-US" altLang="zh-CN" sz="2400" smtClean="0">
              <a:solidFill>
                <a:srgbClr val="663300"/>
              </a:solidFill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9704" name="Text Box 8"/>
          <p:cNvSpPr txBox="1">
            <a:spLocks noChangeArrowheads="1"/>
          </p:cNvSpPr>
          <p:nvPr/>
        </p:nvSpPr>
        <p:spPr bwMode="auto">
          <a:xfrm>
            <a:off x="-14288" y="2636838"/>
            <a:ext cx="3832226" cy="363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2200" dirty="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当</a:t>
            </a:r>
            <a:r>
              <a:rPr kumimoji="1" lang="en-US" altLang="zh-CN" sz="2200" dirty="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n=2</a:t>
            </a:r>
            <a:r>
              <a:rPr kumimoji="1" lang="en-US" altLang="zh-CN" sz="2200" baseline="30000" dirty="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k</a:t>
            </a:r>
            <a:r>
              <a:rPr kumimoji="1" lang="zh-CN" altLang="en-US" sz="2200" dirty="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时，可得</a:t>
            </a:r>
            <a:endParaRPr kumimoji="1" lang="zh-CN" altLang="en-US" sz="2200" dirty="0" smtClean="0">
              <a:solidFill>
                <a:srgbClr val="663300"/>
              </a:solidFill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200" dirty="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T(n)=2(2T(n/4)+n/2)+n</a:t>
            </a:r>
            <a:endParaRPr kumimoji="1" lang="en-US" altLang="zh-CN" sz="2200" dirty="0" smtClean="0">
              <a:solidFill>
                <a:srgbClr val="663300"/>
              </a:solidFill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200" dirty="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  =4T(n/4)+2n</a:t>
            </a:r>
            <a:endParaRPr kumimoji="1" lang="en-US" altLang="zh-CN" sz="2200" dirty="0" smtClean="0">
              <a:solidFill>
                <a:srgbClr val="663300"/>
              </a:solidFill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200" dirty="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  =4(2T(n/8)+n/4)+2n</a:t>
            </a:r>
            <a:endParaRPr kumimoji="1" lang="en-US" altLang="zh-CN" sz="2200" dirty="0" smtClean="0">
              <a:solidFill>
                <a:srgbClr val="663300"/>
              </a:solidFill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200" dirty="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  </a:t>
            </a:r>
            <a:r>
              <a:rPr kumimoji="1" lang="en-US" altLang="zh-CN" sz="220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……</a:t>
            </a:r>
            <a:endParaRPr kumimoji="1" lang="en-US" altLang="zh-CN" sz="2200" dirty="0" smtClean="0">
              <a:solidFill>
                <a:srgbClr val="663300"/>
              </a:solidFill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200" dirty="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  =2</a:t>
            </a:r>
            <a:r>
              <a:rPr kumimoji="1" lang="en-US" altLang="zh-CN" sz="2200" baseline="30000" dirty="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k</a:t>
            </a:r>
            <a:r>
              <a:rPr kumimoji="1" lang="en-US" altLang="zh-CN" sz="2200" dirty="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T(1)+</a:t>
            </a:r>
            <a:r>
              <a:rPr kumimoji="1" lang="en-US" altLang="zh-CN" sz="2200" dirty="0" err="1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kn</a:t>
            </a:r>
            <a:endParaRPr kumimoji="1" lang="en-US" altLang="zh-CN" sz="2200" dirty="0" smtClean="0">
              <a:solidFill>
                <a:srgbClr val="663300"/>
              </a:solidFill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200" dirty="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  =</a:t>
            </a:r>
            <a:r>
              <a:rPr kumimoji="1" lang="en-US" altLang="zh-CN" sz="2200" dirty="0" err="1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nlogn</a:t>
            </a:r>
            <a:endParaRPr kumimoji="1" lang="en-US" altLang="zh-CN" sz="2200" dirty="0" smtClean="0">
              <a:solidFill>
                <a:srgbClr val="663300"/>
              </a:solidFill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2200" dirty="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如果</a:t>
            </a:r>
            <a:r>
              <a:rPr kumimoji="1" lang="en-US" altLang="zh-CN" sz="2200" dirty="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r>
              <a:rPr kumimoji="1" lang="en-US" altLang="zh-CN" sz="2200" baseline="30000" dirty="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k</a:t>
            </a:r>
            <a:r>
              <a:rPr kumimoji="1" lang="en-US" altLang="zh-CN" sz="2200" dirty="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&lt;n&lt;2</a:t>
            </a:r>
            <a:r>
              <a:rPr kumimoji="1" lang="en-US" altLang="zh-CN" sz="2200" baseline="30000" dirty="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k+1</a:t>
            </a:r>
            <a:r>
              <a:rPr kumimoji="1" lang="zh-CN" altLang="en-US" sz="2200" dirty="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，</a:t>
            </a:r>
            <a:endParaRPr kumimoji="1" lang="zh-CN" altLang="en-US" sz="2200" dirty="0" smtClean="0">
              <a:solidFill>
                <a:srgbClr val="663300"/>
              </a:solidFill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2200" dirty="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有</a:t>
            </a:r>
            <a:r>
              <a:rPr kumimoji="1" lang="en-US" altLang="zh-CN" sz="2200" dirty="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T(n)</a:t>
            </a:r>
            <a:r>
              <a:rPr kumimoji="1" lang="en-US" altLang="zh-CN" sz="2200" dirty="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≤T(2</a:t>
            </a:r>
            <a:r>
              <a:rPr kumimoji="1" lang="en-US" altLang="zh-CN" sz="2200" baseline="30000" dirty="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k+1</a:t>
            </a:r>
            <a:r>
              <a:rPr kumimoji="1" lang="en-US" altLang="zh-CN" sz="2200" dirty="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r>
              <a:rPr kumimoji="1" lang="zh-CN" altLang="en-US" sz="2200" dirty="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，有</a:t>
            </a:r>
            <a:endParaRPr kumimoji="1" lang="zh-CN" altLang="en-US" sz="2200" dirty="0" smtClean="0">
              <a:solidFill>
                <a:srgbClr val="663300"/>
              </a:solidFill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200" dirty="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T(n)=</a:t>
            </a:r>
            <a:r>
              <a:rPr kumimoji="1" lang="en-US" altLang="zh-CN" sz="2200" dirty="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Θ</a:t>
            </a:r>
            <a:r>
              <a:rPr kumimoji="1" lang="en-US" altLang="zh-CN" sz="320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1" lang="en-US" altLang="zh-CN" sz="2200" dirty="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kumimoji="1" lang="en-US" altLang="zh-CN" sz="2200" dirty="0" err="1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nlogn</a:t>
            </a:r>
            <a:r>
              <a:rPr kumimoji="1" lang="en-US" altLang="zh-CN" sz="2200" dirty="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endParaRPr kumimoji="1" lang="en-US" altLang="zh-CN" sz="2200" dirty="0" smtClean="0">
              <a:solidFill>
                <a:srgbClr val="663300"/>
              </a:solidFill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29705" name="Picture 9" descr="nlogn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0" y="2563813"/>
            <a:ext cx="5068888" cy="357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9731" name="Group 35"/>
          <p:cNvGraphicFramePr>
            <a:graphicFrameLocks noGrp="1"/>
          </p:cNvGraphicFramePr>
          <p:nvPr>
            <p:ph idx="1"/>
          </p:nvPr>
        </p:nvGraphicFramePr>
        <p:xfrm>
          <a:off x="4716463" y="2708275"/>
          <a:ext cx="2606675" cy="1081088"/>
        </p:xfrm>
        <a:graphic>
          <a:graphicData uri="http://schemas.openxmlformats.org/drawingml/2006/table">
            <a:tbl>
              <a:tblPr/>
              <a:tblGrid>
                <a:gridCol w="647700"/>
                <a:gridCol w="1008062"/>
                <a:gridCol w="950913"/>
              </a:tblGrid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Memory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Time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冒泡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300K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7483MS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合并</a:t>
                      </a: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684K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171MS</a:t>
                      </a:r>
                      <a:endParaRPr kumimoji="0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2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思考</a:t>
            </a:r>
            <a:endParaRPr lang="zh-CN" altLang="en-US" smtClean="0"/>
          </a:p>
        </p:txBody>
      </p:sp>
      <p:sp>
        <p:nvSpPr>
          <p:cNvPr id="56323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当实例较少时，合并排序的效率如何？</a:t>
            </a:r>
            <a:endParaRPr lang="zh-CN" altLang="en-US" smtClean="0"/>
          </a:p>
          <a:p>
            <a:pPr eaLnBrk="1" hangingPunct="1"/>
            <a:r>
              <a:rPr lang="zh-CN" altLang="en-US" smtClean="0"/>
              <a:t>合并排序的空间效率如何？</a:t>
            </a:r>
            <a:endParaRPr lang="zh-CN" altLang="en-US" smtClean="0"/>
          </a:p>
          <a:p>
            <a:pPr eaLnBrk="1" hangingPunct="1"/>
            <a:r>
              <a:rPr lang="zh-CN" altLang="en-US" smtClean="0"/>
              <a:t>合并排序对特殊数据是否会退化？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在划分子问题时是否可以</a:t>
            </a:r>
            <a:r>
              <a:rPr lang="en-US" altLang="zh-CN" smtClean="0"/>
              <a:t>3</a:t>
            </a:r>
            <a:r>
              <a:rPr lang="zh-CN" altLang="en-US" smtClean="0"/>
              <a:t>等分，如果可以，效率如何？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Text Box 6"/>
          <p:cNvSpPr txBox="1">
            <a:spLocks noChangeArrowheads="1"/>
          </p:cNvSpPr>
          <p:nvPr/>
        </p:nvSpPr>
        <p:spPr bwMode="auto">
          <a:xfrm>
            <a:off x="500063" y="1928813"/>
            <a:ext cx="8353425" cy="160496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0800">
            <a:solidFill>
              <a:schemeClr val="accent1">
                <a:lumMod val="50000"/>
              </a:schemeClr>
            </a:solidFill>
            <a:miter lim="800000"/>
          </a:ln>
        </p:spPr>
        <p:txBody>
          <a:bodyPr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&amp;"/>
              <a:defRPr/>
            </a:pPr>
            <a:r>
              <a:rPr kumimoji="1" lang="zh-CN" altLang="en-US" sz="3200" b="1" dirty="0">
                <a:solidFill>
                  <a:prstClr val="white"/>
                </a:solidFill>
                <a:latin typeface="Times New Roman" panose="02020603050405020304" pitchFamily="18" charset="0"/>
                <a:ea typeface="楷体_GB2312" pitchFamily="49" charset="-122"/>
              </a:rPr>
              <a:t>最坏时间复杂度：</a:t>
            </a:r>
            <a:r>
              <a:rPr kumimoji="1" lang="en-US" altLang="zh-CN" sz="3200" b="1" dirty="0">
                <a:solidFill>
                  <a:prstClr val="white"/>
                </a:solidFill>
                <a:latin typeface="Times New Roman" panose="02020603050405020304" pitchFamily="18" charset="0"/>
                <a:ea typeface="楷体_GB2312" pitchFamily="49" charset="-122"/>
              </a:rPr>
              <a:t>O(</a:t>
            </a:r>
            <a:r>
              <a:rPr kumimoji="1" lang="en-US" altLang="zh-CN" sz="3200" b="1" dirty="0" err="1">
                <a:solidFill>
                  <a:prstClr val="white"/>
                </a:solidFill>
                <a:latin typeface="Times New Roman" panose="02020603050405020304" pitchFamily="18" charset="0"/>
                <a:ea typeface="楷体_GB2312" pitchFamily="49" charset="-122"/>
              </a:rPr>
              <a:t>nlogn</a:t>
            </a:r>
            <a:r>
              <a:rPr kumimoji="1" lang="en-US" altLang="zh-CN" sz="3200" b="1" dirty="0">
                <a:solidFill>
                  <a:prstClr val="white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kumimoji="1" lang="en-US" altLang="zh-CN" sz="3200" b="1" dirty="0">
              <a:solidFill>
                <a:prstClr val="white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&amp;"/>
              <a:defRPr/>
            </a:pPr>
            <a:r>
              <a:rPr kumimoji="1" lang="zh-CN" altLang="en-US" sz="3200" b="1" dirty="0">
                <a:solidFill>
                  <a:prstClr val="white"/>
                </a:solidFill>
                <a:latin typeface="Times New Roman" panose="02020603050405020304" pitchFamily="18" charset="0"/>
                <a:ea typeface="楷体_GB2312" pitchFamily="49" charset="-122"/>
              </a:rPr>
              <a:t>平均时间复杂度：</a:t>
            </a:r>
            <a:r>
              <a:rPr kumimoji="1" lang="en-US" altLang="zh-CN" sz="3200" b="1" dirty="0">
                <a:solidFill>
                  <a:prstClr val="white"/>
                </a:solidFill>
                <a:latin typeface="Times New Roman" panose="02020603050405020304" pitchFamily="18" charset="0"/>
                <a:ea typeface="楷体_GB2312" pitchFamily="49" charset="-122"/>
              </a:rPr>
              <a:t>O(</a:t>
            </a:r>
            <a:r>
              <a:rPr kumimoji="1" lang="en-US" altLang="zh-CN" sz="3200" b="1" dirty="0" err="1">
                <a:solidFill>
                  <a:prstClr val="white"/>
                </a:solidFill>
                <a:latin typeface="Times New Roman" panose="02020603050405020304" pitchFamily="18" charset="0"/>
                <a:ea typeface="楷体_GB2312" pitchFamily="49" charset="-122"/>
              </a:rPr>
              <a:t>nlogn</a:t>
            </a:r>
            <a:r>
              <a:rPr kumimoji="1" lang="en-US" altLang="zh-CN" sz="3200" b="1" dirty="0">
                <a:solidFill>
                  <a:prstClr val="white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kumimoji="1" lang="en-US" altLang="zh-CN" sz="3200" b="1" dirty="0">
              <a:solidFill>
                <a:prstClr val="white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&amp;"/>
              <a:defRPr/>
            </a:pPr>
            <a:r>
              <a:rPr kumimoji="1" lang="zh-CN" altLang="en-US" sz="3200" b="1" dirty="0">
                <a:solidFill>
                  <a:prstClr val="white"/>
                </a:solidFill>
                <a:latin typeface="Times New Roman" panose="02020603050405020304" pitchFamily="18" charset="0"/>
                <a:ea typeface="楷体_GB2312" pitchFamily="49" charset="-122"/>
              </a:rPr>
              <a:t>辅助空间：</a:t>
            </a:r>
            <a:r>
              <a:rPr kumimoji="1" lang="en-US" altLang="zh-CN" sz="3200" b="1" dirty="0">
                <a:solidFill>
                  <a:prstClr val="white"/>
                </a:solidFill>
                <a:latin typeface="Times New Roman" panose="02020603050405020304" pitchFamily="18" charset="0"/>
                <a:ea typeface="楷体_GB2312" pitchFamily="49" charset="-122"/>
              </a:rPr>
              <a:t>O(n)</a:t>
            </a:r>
            <a:endParaRPr kumimoji="1" lang="en-US" altLang="zh-CN" sz="3200" b="1" dirty="0">
              <a:solidFill>
                <a:prstClr val="white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785813" y="357188"/>
            <a:ext cx="7896225" cy="563562"/>
          </a:xfrm>
          <a:prstGeom prst="rect">
            <a:avLst/>
          </a:prstGeom>
        </p:spPr>
        <p:txBody>
          <a:bodyPr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kern="0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合并排序</a:t>
            </a:r>
            <a:endParaRPr lang="zh-CN" altLang="en-US" sz="3600" kern="0" dirty="0">
              <a:solidFill>
                <a:prstClr val="white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dirty="0" smtClean="0"/>
              <a:t>2.</a:t>
            </a:r>
            <a:r>
              <a:rPr lang="zh-CN" altLang="en-US" dirty="0" smtClean="0"/>
              <a:t>快速排序</a:t>
            </a:r>
            <a:endParaRPr lang="zh-CN" altLang="en-US" dirty="0" smtClean="0"/>
          </a:p>
        </p:txBody>
      </p:sp>
      <p:sp>
        <p:nvSpPr>
          <p:cNvPr id="5837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539750" y="1268413"/>
            <a:ext cx="8153400" cy="16557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mtClean="0"/>
              <a:t>基本思想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smtClean="0">
                <a:latin typeface="Arial" panose="020B0604020202020204" pitchFamily="34" charset="0"/>
                <a:ea typeface="宋体" panose="02010600030101010101" pitchFamily="2" charset="-122"/>
              </a:rPr>
              <a:t>选取</a:t>
            </a:r>
            <a:r>
              <a:rPr lang="en-US" altLang="zh-CN" sz="2400" smtClean="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zh-CN" altLang="en-US" sz="2400" smtClean="0">
                <a:latin typeface="Arial" panose="020B0604020202020204" pitchFamily="34" charset="0"/>
                <a:ea typeface="宋体" panose="02010600030101010101" pitchFamily="2" charset="-122"/>
              </a:rPr>
              <a:t>的某个元素</a:t>
            </a:r>
            <a:r>
              <a:rPr lang="en-US" altLang="zh-CN" sz="2400" smtClean="0">
                <a:latin typeface="Arial" panose="020B0604020202020204" pitchFamily="34" charset="0"/>
                <a:ea typeface="宋体" panose="02010600030101010101" pitchFamily="2" charset="-122"/>
              </a:rPr>
              <a:t>t=A[s]</a:t>
            </a:r>
            <a:r>
              <a:rPr lang="zh-CN" altLang="en-US" sz="2400" smtClean="0">
                <a:latin typeface="Arial" panose="020B0604020202020204" pitchFamily="34" charset="0"/>
                <a:ea typeface="宋体" panose="02010600030101010101" pitchFamily="2" charset="-122"/>
              </a:rPr>
              <a:t>，然后将其他元素重新排列，使</a:t>
            </a:r>
            <a:r>
              <a:rPr lang="en-US" altLang="zh-CN" sz="2400" smtClean="0">
                <a:latin typeface="Arial" panose="020B0604020202020204" pitchFamily="34" charset="0"/>
                <a:ea typeface="宋体" panose="02010600030101010101" pitchFamily="2" charset="-122"/>
              </a:rPr>
              <a:t>A[0..n-1]</a:t>
            </a:r>
            <a:r>
              <a:rPr lang="zh-CN" altLang="en-US" sz="2400" smtClean="0">
                <a:latin typeface="Arial" panose="020B0604020202020204" pitchFamily="34" charset="0"/>
                <a:ea typeface="宋体" panose="02010600030101010101" pitchFamily="2" charset="-122"/>
              </a:rPr>
              <a:t>中所有在</a:t>
            </a:r>
            <a:r>
              <a:rPr lang="en-US" altLang="zh-CN" sz="2400" smtClean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zh-CN" altLang="en-US" sz="2400" smtClean="0">
                <a:latin typeface="Arial" panose="020B0604020202020204" pitchFamily="34" charset="0"/>
                <a:ea typeface="宋体" panose="02010600030101010101" pitchFamily="2" charset="-122"/>
              </a:rPr>
              <a:t>以前出现的元素都小于或等于</a:t>
            </a:r>
            <a:r>
              <a:rPr lang="en-US" altLang="zh-CN" sz="2400" smtClean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zh-CN" altLang="en-US" sz="2400" smtClean="0">
                <a:latin typeface="Arial" panose="020B0604020202020204" pitchFamily="34" charset="0"/>
                <a:ea typeface="宋体" panose="02010600030101010101" pitchFamily="2" charset="-122"/>
              </a:rPr>
              <a:t>，而在</a:t>
            </a:r>
            <a:r>
              <a:rPr lang="en-US" altLang="zh-CN" sz="2400" smtClean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zh-CN" altLang="en-US" sz="2400" smtClean="0">
                <a:latin typeface="Arial" panose="020B0604020202020204" pitchFamily="34" charset="0"/>
                <a:ea typeface="宋体" panose="02010600030101010101" pitchFamily="2" charset="-122"/>
              </a:rPr>
              <a:t>之后出现的元素都大于或等于</a:t>
            </a:r>
            <a:r>
              <a:rPr lang="en-US" altLang="zh-CN" sz="2400" smtClean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zh-CN" altLang="en-US" sz="2400" smtClean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zh-CN" altLang="en-US" sz="2400" smtClean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3796" name="Group 4"/>
          <p:cNvGraphicFramePr>
            <a:graphicFrameLocks noGrp="1"/>
          </p:cNvGraphicFramePr>
          <p:nvPr/>
        </p:nvGraphicFramePr>
        <p:xfrm>
          <a:off x="901700" y="3113088"/>
          <a:ext cx="8153400" cy="457200"/>
        </p:xfrm>
        <a:graphic>
          <a:graphicData uri="http://schemas.openxmlformats.org/drawingml/2006/table">
            <a:tbl>
              <a:tblPr/>
              <a:tblGrid>
                <a:gridCol w="1019175"/>
                <a:gridCol w="1019175"/>
                <a:gridCol w="1020763"/>
                <a:gridCol w="1016000"/>
                <a:gridCol w="1019175"/>
                <a:gridCol w="1020762"/>
                <a:gridCol w="1019175"/>
                <a:gridCol w="1019175"/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A[0[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A[1]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A[s-1]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A[s]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A[s+1]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A[n-1]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</a:tr>
            </a:tbl>
          </a:graphicData>
        </a:graphic>
      </p:graphicFrame>
      <p:grpSp>
        <p:nvGrpSpPr>
          <p:cNvPr id="2" name="Group 24"/>
          <p:cNvGrpSpPr/>
          <p:nvPr/>
        </p:nvGrpSpPr>
        <p:grpSpPr bwMode="auto">
          <a:xfrm>
            <a:off x="5092700" y="3570288"/>
            <a:ext cx="838200" cy="914400"/>
            <a:chOff x="3072" y="2544"/>
            <a:chExt cx="528" cy="576"/>
          </a:xfrm>
        </p:grpSpPr>
        <p:sp>
          <p:nvSpPr>
            <p:cNvPr id="58418" name="Rectangle 25"/>
            <p:cNvSpPr>
              <a:spLocks noChangeArrowheads="1"/>
            </p:cNvSpPr>
            <p:nvPr/>
          </p:nvSpPr>
          <p:spPr bwMode="auto">
            <a:xfrm>
              <a:off x="3072" y="2880"/>
              <a:ext cx="52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400" smtClean="0">
                  <a:solidFill>
                    <a:srgbClr val="6633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t</a:t>
              </a:r>
              <a:endParaRPr kumimoji="1" lang="en-US" altLang="zh-CN" sz="24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8419" name="Line 26"/>
            <p:cNvSpPr>
              <a:spLocks noChangeShapeType="1"/>
            </p:cNvSpPr>
            <p:nvPr/>
          </p:nvSpPr>
          <p:spPr bwMode="auto">
            <a:xfrm>
              <a:off x="3312" y="2544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3819" name="AutoShape 27"/>
          <p:cNvSpPr>
            <a:spLocks noChangeArrowheads="1"/>
          </p:cNvSpPr>
          <p:nvPr/>
        </p:nvSpPr>
        <p:spPr bwMode="auto">
          <a:xfrm>
            <a:off x="6464300" y="4027488"/>
            <a:ext cx="1524000" cy="381000"/>
          </a:xfrm>
          <a:prstGeom prst="wedgeRoundRectCallout">
            <a:avLst>
              <a:gd name="adj1" fmla="val -97500"/>
              <a:gd name="adj2" fmla="val 17500"/>
              <a:gd name="adj3" fmla="val 16667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2000" b="0" smtClean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划分元素</a:t>
            </a:r>
            <a:endParaRPr kumimoji="1" lang="zh-CN" altLang="en-US" sz="2000" b="0" smtClean="0">
              <a:solidFill>
                <a:srgbClr val="000000"/>
              </a:solidFill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3" name="Group 28"/>
          <p:cNvGrpSpPr/>
          <p:nvPr/>
        </p:nvGrpSpPr>
        <p:grpSpPr bwMode="auto">
          <a:xfrm>
            <a:off x="901700" y="3570288"/>
            <a:ext cx="8153400" cy="1981200"/>
            <a:chOff x="432" y="2544"/>
            <a:chExt cx="5136" cy="1248"/>
          </a:xfrm>
        </p:grpSpPr>
        <p:sp>
          <p:nvSpPr>
            <p:cNvPr id="58397" name="Rectangle 29"/>
            <p:cNvSpPr>
              <a:spLocks noChangeArrowheads="1"/>
            </p:cNvSpPr>
            <p:nvPr/>
          </p:nvSpPr>
          <p:spPr bwMode="auto">
            <a:xfrm>
              <a:off x="4284" y="3504"/>
              <a:ext cx="642" cy="28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Aft>
                  <a:spcPct val="0"/>
                </a:spcAft>
                <a:buClr>
                  <a:srgbClr val="D2611C"/>
                </a:buClr>
                <a:buFont typeface="Wingdings" panose="05000000000000000000" pitchFamily="2" charset="2"/>
                <a:buNone/>
              </a:pPr>
              <a:r>
                <a:rPr kumimoji="1" lang="en-US" altLang="zh-CN" sz="2000" smtClean="0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…</a:t>
              </a:r>
              <a:endParaRPr kumimoji="1" lang="en-US" altLang="zh-CN" sz="20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8398" name="Rectangle 30"/>
            <p:cNvSpPr>
              <a:spLocks noChangeArrowheads="1"/>
            </p:cNvSpPr>
            <p:nvPr/>
          </p:nvSpPr>
          <p:spPr bwMode="auto">
            <a:xfrm>
              <a:off x="4926" y="3504"/>
              <a:ext cx="642" cy="28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Aft>
                  <a:spcPct val="0"/>
                </a:spcAft>
                <a:buClr>
                  <a:srgbClr val="D2611C"/>
                </a:buClr>
                <a:buFont typeface="Wingdings" panose="05000000000000000000" pitchFamily="2" charset="2"/>
                <a:buNone/>
              </a:pPr>
              <a:r>
                <a:rPr kumimoji="1" lang="en-US" altLang="zh-CN" sz="2000" smtClean="0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A[n-1]</a:t>
              </a:r>
              <a:endParaRPr kumimoji="1" lang="en-US" altLang="zh-CN" sz="20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8399" name="Rectangle 31"/>
            <p:cNvSpPr>
              <a:spLocks noChangeArrowheads="1"/>
            </p:cNvSpPr>
            <p:nvPr/>
          </p:nvSpPr>
          <p:spPr bwMode="auto">
            <a:xfrm>
              <a:off x="3641" y="3504"/>
              <a:ext cx="643" cy="28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Aft>
                  <a:spcPct val="0"/>
                </a:spcAft>
                <a:buClr>
                  <a:srgbClr val="D2611C"/>
                </a:buClr>
                <a:buFont typeface="Wingdings" panose="05000000000000000000" pitchFamily="2" charset="2"/>
                <a:buNone/>
              </a:pPr>
              <a:r>
                <a:rPr kumimoji="1" lang="en-US" altLang="zh-CN" sz="2000" smtClean="0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A[k]</a:t>
              </a:r>
              <a:endParaRPr kumimoji="1" lang="en-US" altLang="zh-CN" sz="20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8400" name="Rectangle 32"/>
            <p:cNvSpPr>
              <a:spLocks noChangeArrowheads="1"/>
            </p:cNvSpPr>
            <p:nvPr/>
          </p:nvSpPr>
          <p:spPr bwMode="auto">
            <a:xfrm>
              <a:off x="2999" y="3504"/>
              <a:ext cx="642" cy="288"/>
            </a:xfrm>
            <a:prstGeom prst="rect">
              <a:avLst/>
            </a:prstGeom>
            <a:solidFill>
              <a:srgbClr val="CC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Aft>
                  <a:spcPct val="0"/>
                </a:spcAft>
                <a:buClr>
                  <a:srgbClr val="D2611C"/>
                </a:buClr>
                <a:buFont typeface="Wingdings" panose="05000000000000000000" pitchFamily="2" charset="2"/>
                <a:buNone/>
              </a:pPr>
              <a:r>
                <a:rPr kumimoji="1" lang="en-US" altLang="zh-CN" sz="2000" smtClean="0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t</a:t>
              </a:r>
              <a:endParaRPr kumimoji="1" lang="en-US" altLang="zh-CN" sz="20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8401" name="Rectangle 33"/>
            <p:cNvSpPr>
              <a:spLocks noChangeArrowheads="1"/>
            </p:cNvSpPr>
            <p:nvPr/>
          </p:nvSpPr>
          <p:spPr bwMode="auto">
            <a:xfrm>
              <a:off x="2352" y="3504"/>
              <a:ext cx="647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Aft>
                  <a:spcPct val="0"/>
                </a:spcAft>
                <a:buClr>
                  <a:srgbClr val="D2611C"/>
                </a:buClr>
                <a:buFont typeface="Wingdings" panose="05000000000000000000" pitchFamily="2" charset="2"/>
                <a:buNone/>
              </a:pPr>
              <a:r>
                <a:rPr kumimoji="1" lang="en-US" altLang="zh-CN" sz="2000" smtClean="0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A[j]</a:t>
              </a:r>
              <a:endParaRPr kumimoji="1" lang="en-US" altLang="zh-CN" sz="20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8402" name="Rectangle 34"/>
            <p:cNvSpPr>
              <a:spLocks noChangeArrowheads="1"/>
            </p:cNvSpPr>
            <p:nvPr/>
          </p:nvSpPr>
          <p:spPr bwMode="auto">
            <a:xfrm>
              <a:off x="1716" y="3504"/>
              <a:ext cx="636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Aft>
                  <a:spcPct val="0"/>
                </a:spcAft>
                <a:buClr>
                  <a:srgbClr val="D2611C"/>
                </a:buClr>
                <a:buFont typeface="Wingdings" panose="05000000000000000000" pitchFamily="2" charset="2"/>
                <a:buNone/>
              </a:pPr>
              <a:r>
                <a:rPr kumimoji="1" lang="en-US" altLang="zh-CN" sz="2000" smtClean="0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…</a:t>
              </a:r>
              <a:endParaRPr kumimoji="1" lang="en-US" altLang="zh-CN" sz="20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8403" name="Rectangle 35"/>
            <p:cNvSpPr>
              <a:spLocks noChangeArrowheads="1"/>
            </p:cNvSpPr>
            <p:nvPr/>
          </p:nvSpPr>
          <p:spPr bwMode="auto">
            <a:xfrm>
              <a:off x="1074" y="3504"/>
              <a:ext cx="642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Aft>
                  <a:spcPct val="0"/>
                </a:spcAft>
                <a:buClr>
                  <a:srgbClr val="D2611C"/>
                </a:buClr>
                <a:buFont typeface="Wingdings" panose="05000000000000000000" pitchFamily="2" charset="2"/>
                <a:buNone/>
              </a:pPr>
              <a:r>
                <a:rPr kumimoji="1" lang="en-US" altLang="zh-CN" sz="2000" smtClean="0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A[1]</a:t>
              </a:r>
              <a:endParaRPr kumimoji="1" lang="en-US" altLang="zh-CN" sz="20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8404" name="Rectangle 36"/>
            <p:cNvSpPr>
              <a:spLocks noChangeArrowheads="1"/>
            </p:cNvSpPr>
            <p:nvPr/>
          </p:nvSpPr>
          <p:spPr bwMode="auto">
            <a:xfrm>
              <a:off x="432" y="3504"/>
              <a:ext cx="642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Aft>
                  <a:spcPct val="0"/>
                </a:spcAft>
                <a:buClr>
                  <a:srgbClr val="D2611C"/>
                </a:buClr>
                <a:buFont typeface="Wingdings" panose="05000000000000000000" pitchFamily="2" charset="2"/>
                <a:buNone/>
              </a:pPr>
              <a:r>
                <a:rPr kumimoji="1" lang="en-US" altLang="zh-CN" sz="2000" smtClean="0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Arial" panose="020B0604020202020204" pitchFamily="34" charset="0"/>
                </a:rPr>
                <a:t>A[0]</a:t>
              </a:r>
              <a:endParaRPr kumimoji="1" lang="en-US" altLang="zh-CN" sz="20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8405" name="Line 37"/>
            <p:cNvSpPr>
              <a:spLocks noChangeShapeType="1"/>
            </p:cNvSpPr>
            <p:nvPr/>
          </p:nvSpPr>
          <p:spPr bwMode="auto">
            <a:xfrm>
              <a:off x="432" y="3504"/>
              <a:ext cx="513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406" name="Line 38"/>
            <p:cNvSpPr>
              <a:spLocks noChangeShapeType="1"/>
            </p:cNvSpPr>
            <p:nvPr/>
          </p:nvSpPr>
          <p:spPr bwMode="auto">
            <a:xfrm>
              <a:off x="432" y="3792"/>
              <a:ext cx="513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407" name="Line 39"/>
            <p:cNvSpPr>
              <a:spLocks noChangeShapeType="1"/>
            </p:cNvSpPr>
            <p:nvPr/>
          </p:nvSpPr>
          <p:spPr bwMode="auto">
            <a:xfrm>
              <a:off x="432" y="3504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408" name="Line 40"/>
            <p:cNvSpPr>
              <a:spLocks noChangeShapeType="1"/>
            </p:cNvSpPr>
            <p:nvPr/>
          </p:nvSpPr>
          <p:spPr bwMode="auto">
            <a:xfrm>
              <a:off x="1074" y="3504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409" name="Line 41"/>
            <p:cNvSpPr>
              <a:spLocks noChangeShapeType="1"/>
            </p:cNvSpPr>
            <p:nvPr/>
          </p:nvSpPr>
          <p:spPr bwMode="auto">
            <a:xfrm>
              <a:off x="1716" y="3504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410" name="Line 42"/>
            <p:cNvSpPr>
              <a:spLocks noChangeShapeType="1"/>
            </p:cNvSpPr>
            <p:nvPr/>
          </p:nvSpPr>
          <p:spPr bwMode="auto">
            <a:xfrm>
              <a:off x="2352" y="3504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411" name="Line 43"/>
            <p:cNvSpPr>
              <a:spLocks noChangeShapeType="1"/>
            </p:cNvSpPr>
            <p:nvPr/>
          </p:nvSpPr>
          <p:spPr bwMode="auto">
            <a:xfrm>
              <a:off x="2999" y="3504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412" name="Line 44"/>
            <p:cNvSpPr>
              <a:spLocks noChangeShapeType="1"/>
            </p:cNvSpPr>
            <p:nvPr/>
          </p:nvSpPr>
          <p:spPr bwMode="auto">
            <a:xfrm>
              <a:off x="3641" y="3504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413" name="Line 45"/>
            <p:cNvSpPr>
              <a:spLocks noChangeShapeType="1"/>
            </p:cNvSpPr>
            <p:nvPr/>
          </p:nvSpPr>
          <p:spPr bwMode="auto">
            <a:xfrm>
              <a:off x="4284" y="3504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414" name="Line 46"/>
            <p:cNvSpPr>
              <a:spLocks noChangeShapeType="1"/>
            </p:cNvSpPr>
            <p:nvPr/>
          </p:nvSpPr>
          <p:spPr bwMode="auto">
            <a:xfrm>
              <a:off x="5568" y="3504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415" name="Line 47"/>
            <p:cNvSpPr>
              <a:spLocks noChangeShapeType="1"/>
            </p:cNvSpPr>
            <p:nvPr/>
          </p:nvSpPr>
          <p:spPr bwMode="auto">
            <a:xfrm>
              <a:off x="4926" y="3504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416" name="Line 48"/>
            <p:cNvSpPr>
              <a:spLocks noChangeShapeType="1"/>
            </p:cNvSpPr>
            <p:nvPr/>
          </p:nvSpPr>
          <p:spPr bwMode="auto">
            <a:xfrm>
              <a:off x="2400" y="2544"/>
              <a:ext cx="0" cy="9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417" name="Text Box 49"/>
            <p:cNvSpPr txBox="1">
              <a:spLocks noChangeArrowheads="1"/>
            </p:cNvSpPr>
            <p:nvPr/>
          </p:nvSpPr>
          <p:spPr bwMode="auto">
            <a:xfrm>
              <a:off x="1756" y="3025"/>
              <a:ext cx="11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zh-CN" altLang="en-US" sz="3200" smtClean="0">
                  <a:solidFill>
                    <a:srgbClr val="6633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经过一次划分后</a:t>
              </a:r>
              <a:endParaRPr kumimoji="1" lang="zh-CN" altLang="en-US" sz="32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</p:grpSp>
      <p:sp>
        <p:nvSpPr>
          <p:cNvPr id="33842" name="AutoShape 50"/>
          <p:cNvSpPr>
            <a:spLocks noChangeArrowheads="1"/>
          </p:cNvSpPr>
          <p:nvPr/>
        </p:nvSpPr>
        <p:spPr bwMode="auto">
          <a:xfrm>
            <a:off x="673100" y="5856288"/>
            <a:ext cx="2895600" cy="381000"/>
          </a:xfrm>
          <a:prstGeom prst="wedgeRoundRectCallout">
            <a:avLst>
              <a:gd name="adj1" fmla="val 40130"/>
              <a:gd name="adj2" fmla="val -147500"/>
              <a:gd name="adj3" fmla="val 16667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1600" b="0" smtClean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每个元素都小于或等于</a:t>
            </a:r>
            <a:r>
              <a:rPr kumimoji="1" lang="en-US" altLang="zh-CN" sz="1600" b="0" smtClean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</a:t>
            </a:r>
            <a:endParaRPr kumimoji="1" lang="en-US" altLang="zh-CN" sz="1600" b="0" smtClean="0">
              <a:solidFill>
                <a:srgbClr val="000000"/>
              </a:solidFill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3843" name="AutoShape 51"/>
          <p:cNvSpPr>
            <a:spLocks noChangeArrowheads="1"/>
          </p:cNvSpPr>
          <p:nvPr/>
        </p:nvSpPr>
        <p:spPr bwMode="auto">
          <a:xfrm>
            <a:off x="6007100" y="5780088"/>
            <a:ext cx="2895600" cy="381000"/>
          </a:xfrm>
          <a:prstGeom prst="wedgeRoundRectCallout">
            <a:avLst>
              <a:gd name="adj1" fmla="val 2301"/>
              <a:gd name="adj2" fmla="val -125000"/>
              <a:gd name="adj3" fmla="val 16667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1600" b="0" smtClean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每个元素都大于或等于</a:t>
            </a:r>
            <a:r>
              <a:rPr kumimoji="1" lang="en-US" altLang="zh-CN" sz="1600" b="0" smtClean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</a:t>
            </a:r>
            <a:endParaRPr kumimoji="1" lang="en-US" altLang="zh-CN" sz="1600" b="0" smtClean="0">
              <a:solidFill>
                <a:srgbClr val="000000"/>
              </a:solidFill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3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3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19" grpId="0" animBg="1" autoUpdateAnimBg="0"/>
      <p:bldP spid="33842" grpId="0" animBg="1" autoUpdateAnimBg="0"/>
      <p:bldP spid="33843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5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>
                <a:latin typeface="隶书" panose="02010509060101010101" pitchFamily="49" charset="-122"/>
                <a:ea typeface="隶书" panose="02010509060101010101" pitchFamily="49" charset="-122"/>
              </a:rPr>
              <a:t>划分的实现</a:t>
            </a:r>
            <a:endParaRPr lang="zh-CN" altLang="en-US" sz="3600" smtClean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aphicFrame>
        <p:nvGraphicFramePr>
          <p:cNvPr id="35882" name="Group 42"/>
          <p:cNvGraphicFramePr>
            <a:graphicFrameLocks noGrp="1"/>
          </p:cNvGraphicFramePr>
          <p:nvPr>
            <p:ph idx="1"/>
          </p:nvPr>
        </p:nvGraphicFramePr>
        <p:xfrm>
          <a:off x="395288" y="3787775"/>
          <a:ext cx="8207375" cy="460375"/>
        </p:xfrm>
        <a:graphic>
          <a:graphicData uri="http://schemas.openxmlformats.org/drawingml/2006/table">
            <a:tbl>
              <a:tblPr/>
              <a:tblGrid>
                <a:gridCol w="1320800"/>
                <a:gridCol w="1476375"/>
                <a:gridCol w="1165225"/>
                <a:gridCol w="1316037"/>
                <a:gridCol w="1320800"/>
                <a:gridCol w="1608138"/>
              </a:tblGrid>
              <a:tr h="4603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全部≤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≥p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≤p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全部≥ 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</a:tr>
            </a:tbl>
          </a:graphicData>
        </a:graphic>
      </p:graphicFrame>
      <p:sp>
        <p:nvSpPr>
          <p:cNvPr id="59411" name="Text Box 39"/>
          <p:cNvSpPr txBox="1">
            <a:spLocks noChangeArrowheads="1"/>
          </p:cNvSpPr>
          <p:nvPr/>
        </p:nvSpPr>
        <p:spPr bwMode="auto">
          <a:xfrm>
            <a:off x="5268913" y="4364038"/>
            <a:ext cx="569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0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 i</a:t>
            </a:r>
            <a:endParaRPr kumimoji="1" lang="en-US" altLang="zh-CN" sz="20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9412" name="Text Box 40"/>
          <p:cNvSpPr txBox="1">
            <a:spLocks noChangeArrowheads="1"/>
          </p:cNvSpPr>
          <p:nvPr/>
        </p:nvSpPr>
        <p:spPr bwMode="auto">
          <a:xfrm>
            <a:off x="4108450" y="4364038"/>
            <a:ext cx="5222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0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j</a:t>
            </a:r>
            <a:r>
              <a:rPr kumimoji="1" lang="en-US" altLang="zh-CN" sz="20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endParaRPr kumimoji="1" lang="en-US" altLang="zh-CN" sz="20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aphicFrame>
        <p:nvGraphicFramePr>
          <p:cNvPr id="35899" name="Group 59"/>
          <p:cNvGraphicFramePr>
            <a:graphicFrameLocks noGrp="1"/>
          </p:cNvGraphicFramePr>
          <p:nvPr/>
        </p:nvGraphicFramePr>
        <p:xfrm>
          <a:off x="1000125" y="4786313"/>
          <a:ext cx="6891338" cy="460375"/>
        </p:xfrm>
        <a:graphic>
          <a:graphicData uri="http://schemas.openxmlformats.org/drawingml/2006/table">
            <a:tbl>
              <a:tblPr/>
              <a:tblGrid>
                <a:gridCol w="1320800"/>
                <a:gridCol w="1476375"/>
                <a:gridCol w="1165225"/>
                <a:gridCol w="1320800"/>
                <a:gridCol w="1608138"/>
              </a:tblGrid>
              <a:tr h="4603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全部≤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≤ p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≥p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全部≥ 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</a:tr>
            </a:tbl>
          </a:graphicData>
        </a:graphic>
      </p:graphicFrame>
      <p:sp>
        <p:nvSpPr>
          <p:cNvPr id="59427" name="Text Box 60"/>
          <p:cNvSpPr txBox="1">
            <a:spLocks noChangeArrowheads="1"/>
          </p:cNvSpPr>
          <p:nvPr/>
        </p:nvSpPr>
        <p:spPr bwMode="auto">
          <a:xfrm>
            <a:off x="4364038" y="5272088"/>
            <a:ext cx="6492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 i</a:t>
            </a:r>
            <a:endParaRPr kumimoji="1" lang="en-US" altLang="zh-CN" sz="24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9428" name="Text Box 61"/>
          <p:cNvSpPr txBox="1">
            <a:spLocks noChangeArrowheads="1"/>
          </p:cNvSpPr>
          <p:nvPr/>
        </p:nvSpPr>
        <p:spPr bwMode="auto">
          <a:xfrm>
            <a:off x="4929188" y="5253038"/>
            <a:ext cx="8397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= j</a:t>
            </a:r>
            <a:r>
              <a:rPr kumimoji="1" lang="en-US" altLang="zh-CN" sz="2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endParaRPr kumimoji="1" lang="en-US" altLang="zh-CN" sz="24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aphicFrame>
        <p:nvGraphicFramePr>
          <p:cNvPr id="35916" name="Group 76"/>
          <p:cNvGraphicFramePr>
            <a:graphicFrameLocks noGrp="1"/>
          </p:cNvGraphicFramePr>
          <p:nvPr/>
        </p:nvGraphicFramePr>
        <p:xfrm>
          <a:off x="1643063" y="5715000"/>
          <a:ext cx="5570537" cy="460375"/>
        </p:xfrm>
        <a:graphic>
          <a:graphicData uri="http://schemas.openxmlformats.org/drawingml/2006/table">
            <a:tbl>
              <a:tblPr/>
              <a:tblGrid>
                <a:gridCol w="1320800"/>
                <a:gridCol w="1476375"/>
                <a:gridCol w="1165225"/>
                <a:gridCol w="1608137"/>
              </a:tblGrid>
              <a:tr h="4603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全部≤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= p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全部≥ 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</a:tr>
            </a:tbl>
          </a:graphicData>
        </a:graphic>
      </p:graphicFrame>
      <p:sp>
        <p:nvSpPr>
          <p:cNvPr id="59441" name="Text Box 78"/>
          <p:cNvSpPr txBox="1">
            <a:spLocks noChangeArrowheads="1"/>
          </p:cNvSpPr>
          <p:nvPr/>
        </p:nvSpPr>
        <p:spPr bwMode="auto">
          <a:xfrm>
            <a:off x="3355975" y="3355975"/>
            <a:ext cx="6492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 i</a:t>
            </a:r>
            <a:endParaRPr kumimoji="1" lang="en-US" altLang="zh-CN" sz="24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9442" name="Text Box 79"/>
          <p:cNvSpPr txBox="1">
            <a:spLocks noChangeArrowheads="1"/>
          </p:cNvSpPr>
          <p:nvPr/>
        </p:nvSpPr>
        <p:spPr bwMode="auto">
          <a:xfrm>
            <a:off x="6019800" y="3355975"/>
            <a:ext cx="588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j</a:t>
            </a:r>
            <a:r>
              <a:rPr kumimoji="1" lang="en-US" altLang="zh-CN" sz="24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endParaRPr kumimoji="1" lang="en-US" altLang="zh-CN" sz="24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9443" name="Text Box 82"/>
          <p:cNvSpPr txBox="1">
            <a:spLocks noChangeArrowheads="1"/>
          </p:cNvSpPr>
          <p:nvPr/>
        </p:nvSpPr>
        <p:spPr bwMode="auto">
          <a:xfrm>
            <a:off x="323850" y="1223963"/>
            <a:ext cx="82804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划分元素（中轴）的选取：</a:t>
            </a:r>
            <a:endParaRPr kumimoji="1" lang="zh-CN" altLang="en-US" sz="2400" dirty="0" smtClea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可以随机选取，最简单的选择策略是数组第一个元素</a:t>
            </a:r>
            <a:endParaRPr kumimoji="1" lang="zh-CN" altLang="en-US" sz="2000" b="1" dirty="0" smtClea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1" lang="zh-CN" alt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划分的实现思想</a:t>
            </a:r>
            <a:endParaRPr kumimoji="1" lang="zh-CN" altLang="en-US" sz="2000" dirty="0" smtClea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 eaLnBrk="1" fontAlgn="base" hangingPunct="1">
              <a:spcBef>
                <a:spcPct val="5000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同时从左、右开始扫描，左边找到一个比划分元素大的，右边找到一个比划分元素小的，然后交换两个元素的位置。</a:t>
            </a:r>
            <a:endParaRPr kumimoji="1" lang="zh-CN" altLang="en-US" sz="2000" b="1" dirty="0" smtClea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6F0F1E-0C5D-41B3-B932-E14A972298A7}" type="slidenum">
              <a:rPr lang="en-US" altLang="zh-CN" smtClean="0"/>
            </a:fld>
            <a:endParaRPr lang="en-US" altLang="zh-CN" dirty="0" smtClean="0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38150"/>
            <a:ext cx="8229600" cy="633413"/>
          </a:xfrm>
        </p:spPr>
        <p:txBody>
          <a:bodyPr/>
          <a:lstStyle/>
          <a:p>
            <a:r>
              <a:rPr lang="zh-CN" altLang="en-US" sz="4000" b="1" smtClean="0">
                <a:solidFill>
                  <a:srgbClr val="C00000"/>
                </a:solidFill>
              </a:rPr>
              <a:t>划分实例</a:t>
            </a:r>
            <a:endParaRPr lang="zh-CN" altLang="en-US" sz="4000" b="1" smtClean="0">
              <a:solidFill>
                <a:srgbClr val="C00000"/>
              </a:solidFill>
            </a:endParaRPr>
          </a:p>
        </p:txBody>
      </p:sp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755650" y="1285875"/>
            <a:ext cx="7488238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 b="1">
              <a:ea typeface="幼圆" panose="02010509060101010101" pitchFamily="49" charset="-122"/>
            </a:endParaRPr>
          </a:p>
          <a:p>
            <a:pPr eaLnBrk="1" hangingPunct="1"/>
            <a:r>
              <a:rPr lang="zh-CN" altLang="en-US"/>
              <a:t> </a:t>
            </a:r>
            <a:r>
              <a:rPr lang="en-US" altLang="zh-CN" sz="2000" b="1"/>
              <a:t>27    </a:t>
            </a:r>
            <a:r>
              <a:rPr lang="en-US" altLang="zh-CN" sz="2000" b="1">
                <a:solidFill>
                  <a:srgbClr val="FF0000"/>
                </a:solidFill>
              </a:rPr>
              <a:t>99 </a:t>
            </a:r>
            <a:r>
              <a:rPr lang="en-US" altLang="zh-CN" sz="2000" b="1"/>
              <a:t>    0     8    13    64    86    16     7    10     88   </a:t>
            </a:r>
            <a:r>
              <a:rPr lang="en-US" altLang="zh-CN" sz="2000" b="1">
                <a:solidFill>
                  <a:srgbClr val="CC9900"/>
                </a:solidFill>
              </a:rPr>
              <a:t> </a:t>
            </a:r>
            <a:r>
              <a:rPr lang="en-US" altLang="zh-CN" sz="2000" b="1">
                <a:solidFill>
                  <a:srgbClr val="0000FF"/>
                </a:solidFill>
              </a:rPr>
              <a:t>25 </a:t>
            </a:r>
            <a:r>
              <a:rPr lang="en-US" altLang="zh-CN" sz="2000" b="1">
                <a:solidFill>
                  <a:srgbClr val="3399FF"/>
                </a:solidFill>
              </a:rPr>
              <a:t> </a:t>
            </a:r>
            <a:r>
              <a:rPr lang="en-US" altLang="zh-CN" sz="2000" b="1"/>
              <a:t>  90</a:t>
            </a:r>
            <a:endParaRPr lang="en-US" altLang="zh-CN" sz="2000" b="1"/>
          </a:p>
          <a:p>
            <a:pPr eaLnBrk="1" hangingPunct="1"/>
            <a:r>
              <a:rPr lang="en-US" altLang="zh-CN" sz="2000" b="1"/>
              <a:t>         </a:t>
            </a:r>
            <a:r>
              <a:rPr lang="en-US" altLang="zh-CN" sz="2000" b="1" i="1">
                <a:latin typeface="Times New Roman" panose="02020603050405020304" pitchFamily="18" charset="0"/>
              </a:rPr>
              <a:t> i  </a:t>
            </a:r>
            <a:r>
              <a:rPr lang="en-US" altLang="zh-CN" sz="2000" b="1"/>
              <a:t>                                                                           </a:t>
            </a:r>
            <a:r>
              <a:rPr lang="en-US" altLang="zh-CN" sz="2000" b="1" i="1">
                <a:latin typeface="Times New Roman" panose="02020603050405020304" pitchFamily="18" charset="0"/>
              </a:rPr>
              <a:t> j  </a:t>
            </a:r>
            <a:endParaRPr lang="en-US" altLang="zh-CN" sz="2000" b="1" i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sz="2000" b="1"/>
          </a:p>
          <a:p>
            <a:pPr eaLnBrk="1" hangingPunct="1"/>
            <a:r>
              <a:rPr lang="en-US" altLang="zh-CN" sz="2000" b="1"/>
              <a:t> 27    </a:t>
            </a:r>
            <a:r>
              <a:rPr lang="en-US" altLang="zh-CN" sz="2000" b="1">
                <a:solidFill>
                  <a:srgbClr val="0000FF"/>
                </a:solidFill>
              </a:rPr>
              <a:t>25</a:t>
            </a:r>
            <a:r>
              <a:rPr lang="en-US" altLang="zh-CN" sz="2000" b="1">
                <a:solidFill>
                  <a:srgbClr val="0066CC"/>
                </a:solidFill>
              </a:rPr>
              <a:t> </a:t>
            </a:r>
            <a:r>
              <a:rPr lang="en-US" altLang="zh-CN" sz="2000" b="1"/>
              <a:t>    0     8    13    </a:t>
            </a:r>
            <a:r>
              <a:rPr lang="en-US" altLang="zh-CN" sz="2000" b="1">
                <a:solidFill>
                  <a:srgbClr val="FF0000"/>
                </a:solidFill>
              </a:rPr>
              <a:t>64 </a:t>
            </a:r>
            <a:r>
              <a:rPr lang="en-US" altLang="zh-CN" sz="2000" b="1"/>
              <a:t>   86    16     7   </a:t>
            </a:r>
            <a:r>
              <a:rPr lang="en-US" altLang="zh-CN" sz="2000" b="1">
                <a:solidFill>
                  <a:srgbClr val="3399FF"/>
                </a:solidFill>
              </a:rPr>
              <a:t> </a:t>
            </a:r>
            <a:r>
              <a:rPr lang="en-US" altLang="zh-CN" sz="2000" b="1">
                <a:solidFill>
                  <a:srgbClr val="0000FF"/>
                </a:solidFill>
              </a:rPr>
              <a:t>10  </a:t>
            </a:r>
            <a:r>
              <a:rPr lang="en-US" altLang="zh-CN" sz="2000" b="1"/>
              <a:t>   88    </a:t>
            </a:r>
            <a:r>
              <a:rPr lang="en-US" altLang="zh-CN" sz="2000" b="1">
                <a:solidFill>
                  <a:srgbClr val="FF0000"/>
                </a:solidFill>
              </a:rPr>
              <a:t>99 </a:t>
            </a:r>
            <a:r>
              <a:rPr lang="en-US" altLang="zh-CN" sz="2000" b="1">
                <a:solidFill>
                  <a:srgbClr val="339966"/>
                </a:solidFill>
              </a:rPr>
              <a:t> </a:t>
            </a:r>
            <a:r>
              <a:rPr lang="en-US" altLang="zh-CN" sz="2000" b="1"/>
              <a:t>  90</a:t>
            </a:r>
            <a:endParaRPr lang="en-US" altLang="zh-CN" sz="2000" b="1"/>
          </a:p>
          <a:p>
            <a:pPr eaLnBrk="1" hangingPunct="1"/>
            <a:r>
              <a:rPr lang="en-US" altLang="zh-CN" sz="2000" b="1"/>
              <a:t>                                        </a:t>
            </a:r>
            <a:r>
              <a:rPr lang="en-US" altLang="zh-CN" sz="2000" b="1" i="1">
                <a:latin typeface="Times New Roman" panose="02020603050405020304" pitchFamily="18" charset="0"/>
              </a:rPr>
              <a:t>i                                  j</a:t>
            </a:r>
            <a:r>
              <a:rPr lang="en-US" altLang="zh-CN" sz="2000" i="1">
                <a:latin typeface="Times New Roman" panose="02020603050405020304" pitchFamily="18" charset="0"/>
              </a:rPr>
              <a:t>  </a:t>
            </a:r>
            <a:endParaRPr lang="en-US" altLang="zh-CN" sz="2000" i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sz="2000" i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000"/>
              <a:t> </a:t>
            </a:r>
            <a:r>
              <a:rPr lang="en-US" altLang="zh-CN" sz="2000" b="1"/>
              <a:t>27   </a:t>
            </a:r>
            <a:r>
              <a:rPr lang="en-US" altLang="zh-CN" sz="2000" b="1">
                <a:solidFill>
                  <a:srgbClr val="0000FF"/>
                </a:solidFill>
              </a:rPr>
              <a:t> 25     </a:t>
            </a:r>
            <a:r>
              <a:rPr lang="en-US" altLang="zh-CN" sz="2000" b="1"/>
              <a:t>0     8    13    </a:t>
            </a:r>
            <a:r>
              <a:rPr lang="en-US" altLang="zh-CN" sz="2000" b="1">
                <a:solidFill>
                  <a:srgbClr val="0000FF"/>
                </a:solidFill>
              </a:rPr>
              <a:t>10</a:t>
            </a:r>
            <a:r>
              <a:rPr lang="en-US" altLang="zh-CN" sz="2000">
                <a:solidFill>
                  <a:srgbClr val="0000FF"/>
                </a:solidFill>
              </a:rPr>
              <a:t> </a:t>
            </a:r>
            <a:r>
              <a:rPr lang="en-US" altLang="zh-CN" sz="2000">
                <a:solidFill>
                  <a:srgbClr val="0066CC"/>
                </a:solidFill>
              </a:rPr>
              <a:t>  </a:t>
            </a:r>
            <a:r>
              <a:rPr lang="en-US" altLang="zh-CN" sz="2000">
                <a:solidFill>
                  <a:srgbClr val="FF0000"/>
                </a:solidFill>
              </a:rPr>
              <a:t> </a:t>
            </a:r>
            <a:r>
              <a:rPr lang="en-US" altLang="zh-CN" sz="2000" b="1">
                <a:solidFill>
                  <a:srgbClr val="FF0000"/>
                </a:solidFill>
              </a:rPr>
              <a:t>86</a:t>
            </a:r>
            <a:r>
              <a:rPr lang="en-US" altLang="zh-CN" sz="2000" b="1"/>
              <a:t>    16   </a:t>
            </a:r>
            <a:r>
              <a:rPr lang="en-US" altLang="zh-CN" sz="2000" b="1">
                <a:solidFill>
                  <a:srgbClr val="0066CC"/>
                </a:solidFill>
              </a:rPr>
              <a:t>  </a:t>
            </a:r>
            <a:r>
              <a:rPr lang="en-US" altLang="zh-CN" sz="2000" b="1">
                <a:solidFill>
                  <a:srgbClr val="0000FF"/>
                </a:solidFill>
              </a:rPr>
              <a:t>7</a:t>
            </a:r>
            <a:r>
              <a:rPr lang="en-US" altLang="zh-CN" sz="2000" b="1">
                <a:solidFill>
                  <a:srgbClr val="0066CC"/>
                </a:solidFill>
              </a:rPr>
              <a:t> </a:t>
            </a:r>
            <a:r>
              <a:rPr lang="en-US" altLang="zh-CN" sz="2000" b="1"/>
              <a:t>    </a:t>
            </a:r>
            <a:r>
              <a:rPr lang="en-US" altLang="zh-CN" sz="2000" b="1">
                <a:solidFill>
                  <a:srgbClr val="FF0000"/>
                </a:solidFill>
              </a:rPr>
              <a:t>64   </a:t>
            </a:r>
            <a:r>
              <a:rPr lang="en-US" altLang="zh-CN" sz="2000"/>
              <a:t> </a:t>
            </a:r>
            <a:r>
              <a:rPr lang="en-US" altLang="zh-CN" sz="2000" b="1"/>
              <a:t>88    </a:t>
            </a:r>
            <a:r>
              <a:rPr lang="en-US" altLang="zh-CN" sz="2000" b="1">
                <a:solidFill>
                  <a:srgbClr val="FF0000"/>
                </a:solidFill>
              </a:rPr>
              <a:t>99 </a:t>
            </a:r>
            <a:r>
              <a:rPr lang="en-US" altLang="zh-CN" sz="2000" b="1">
                <a:solidFill>
                  <a:srgbClr val="339966"/>
                </a:solidFill>
              </a:rPr>
              <a:t> </a:t>
            </a:r>
            <a:r>
              <a:rPr lang="en-US" altLang="zh-CN" sz="2000" b="1"/>
              <a:t>  90</a:t>
            </a:r>
            <a:endParaRPr lang="en-US" altLang="zh-CN" sz="2000" b="1"/>
          </a:p>
          <a:p>
            <a:pPr eaLnBrk="1" hangingPunct="1"/>
            <a:r>
              <a:rPr lang="en-US" altLang="zh-CN" sz="2000" b="1"/>
              <a:t>                                                </a:t>
            </a:r>
            <a:r>
              <a:rPr lang="en-US" altLang="zh-CN" sz="2000" b="1" i="1">
                <a:latin typeface="Times New Roman" panose="02020603050405020304" pitchFamily="18" charset="0"/>
              </a:rPr>
              <a:t>i                 j</a:t>
            </a:r>
            <a:r>
              <a:rPr lang="en-US" altLang="zh-CN" sz="2000" i="1">
                <a:latin typeface="Times New Roman" panose="02020603050405020304" pitchFamily="18" charset="0"/>
              </a:rPr>
              <a:t>  </a:t>
            </a:r>
            <a:endParaRPr lang="en-US" altLang="zh-CN" sz="2000" i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sz="2000" i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000">
                <a:solidFill>
                  <a:srgbClr val="C00000"/>
                </a:solidFill>
              </a:rPr>
              <a:t> </a:t>
            </a:r>
            <a:r>
              <a:rPr lang="en-US" altLang="zh-CN" sz="2000" b="1">
                <a:solidFill>
                  <a:srgbClr val="C00000"/>
                </a:solidFill>
                <a:ea typeface="幼圆" panose="02010509060101010101" pitchFamily="49" charset="-122"/>
              </a:rPr>
              <a:t>27</a:t>
            </a:r>
            <a:r>
              <a:rPr lang="en-US" altLang="zh-CN" sz="20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b="1">
                <a:solidFill>
                  <a:srgbClr val="C00000"/>
                </a:solidFill>
              </a:rPr>
              <a:t>   </a:t>
            </a:r>
            <a:r>
              <a:rPr lang="en-US" altLang="zh-CN" sz="2000" b="1">
                <a:solidFill>
                  <a:srgbClr val="0000FF"/>
                </a:solidFill>
              </a:rPr>
              <a:t>25</a:t>
            </a:r>
            <a:r>
              <a:rPr lang="en-US" altLang="zh-CN" sz="2000" b="1">
                <a:solidFill>
                  <a:srgbClr val="0066CC"/>
                </a:solidFill>
              </a:rPr>
              <a:t> </a:t>
            </a:r>
            <a:r>
              <a:rPr lang="en-US" altLang="zh-CN" sz="2000" b="1"/>
              <a:t>    0     8    13    </a:t>
            </a:r>
            <a:r>
              <a:rPr lang="en-US" altLang="zh-CN" sz="2000" b="1">
                <a:solidFill>
                  <a:srgbClr val="0000FF"/>
                </a:solidFill>
              </a:rPr>
              <a:t>10</a:t>
            </a:r>
            <a:r>
              <a:rPr lang="en-US" altLang="zh-CN" sz="2000">
                <a:solidFill>
                  <a:srgbClr val="0000FF"/>
                </a:solidFill>
              </a:rPr>
              <a:t>     </a:t>
            </a:r>
            <a:r>
              <a:rPr lang="en-US" altLang="zh-CN" sz="2000" b="1">
                <a:solidFill>
                  <a:srgbClr val="0000FF"/>
                </a:solidFill>
              </a:rPr>
              <a:t>7</a:t>
            </a:r>
            <a:r>
              <a:rPr lang="en-US" altLang="zh-CN" sz="2000" b="1">
                <a:solidFill>
                  <a:srgbClr val="3399FF"/>
                </a:solidFill>
              </a:rPr>
              <a:t>    </a:t>
            </a:r>
            <a:r>
              <a:rPr lang="en-US" altLang="zh-CN" sz="2000" b="1">
                <a:solidFill>
                  <a:srgbClr val="CC6600"/>
                </a:solidFill>
              </a:rPr>
              <a:t> </a:t>
            </a:r>
            <a:r>
              <a:rPr lang="en-US" altLang="zh-CN" sz="2000" b="1">
                <a:solidFill>
                  <a:srgbClr val="C00000"/>
                </a:solidFill>
              </a:rPr>
              <a:t>16</a:t>
            </a:r>
            <a:r>
              <a:rPr lang="en-US" altLang="zh-CN" sz="2000" b="1">
                <a:solidFill>
                  <a:srgbClr val="CC6600"/>
                </a:solidFill>
              </a:rPr>
              <a:t> </a:t>
            </a:r>
            <a:r>
              <a:rPr lang="en-US" altLang="zh-CN" sz="2000" b="1"/>
              <a:t>   </a:t>
            </a:r>
            <a:r>
              <a:rPr lang="en-US" altLang="zh-CN" sz="2000" b="1">
                <a:solidFill>
                  <a:srgbClr val="FF0000"/>
                </a:solidFill>
              </a:rPr>
              <a:t>86 </a:t>
            </a:r>
            <a:r>
              <a:rPr lang="en-US" altLang="zh-CN" sz="2000" b="1"/>
              <a:t>   </a:t>
            </a:r>
            <a:r>
              <a:rPr lang="en-US" altLang="zh-CN" sz="2000" b="1">
                <a:solidFill>
                  <a:srgbClr val="FF0000"/>
                </a:solidFill>
              </a:rPr>
              <a:t>64   </a:t>
            </a:r>
            <a:r>
              <a:rPr lang="en-US" altLang="zh-CN" sz="2000"/>
              <a:t> </a:t>
            </a:r>
            <a:r>
              <a:rPr lang="en-US" altLang="zh-CN" sz="2000" b="1"/>
              <a:t>88    </a:t>
            </a:r>
            <a:r>
              <a:rPr lang="en-US" altLang="zh-CN" sz="2000" b="1">
                <a:solidFill>
                  <a:srgbClr val="FF0000"/>
                </a:solidFill>
              </a:rPr>
              <a:t>99 </a:t>
            </a:r>
            <a:r>
              <a:rPr lang="en-US" altLang="zh-CN" sz="2000" b="1">
                <a:solidFill>
                  <a:srgbClr val="339966"/>
                </a:solidFill>
              </a:rPr>
              <a:t> </a:t>
            </a:r>
            <a:r>
              <a:rPr lang="en-US" altLang="zh-CN" sz="2000" b="1"/>
              <a:t>  90</a:t>
            </a:r>
            <a:endParaRPr lang="en-US" altLang="zh-CN" sz="2000" b="1"/>
          </a:p>
          <a:p>
            <a:pPr eaLnBrk="1" hangingPunct="1"/>
            <a:r>
              <a:rPr lang="en-US" altLang="zh-CN" sz="2000" b="1"/>
              <a:t>                                                         </a:t>
            </a:r>
            <a:r>
              <a:rPr lang="en-US" altLang="zh-CN" sz="2000" b="1" i="1">
                <a:latin typeface="Times New Roman" panose="02020603050405020304" pitchFamily="18" charset="0"/>
              </a:rPr>
              <a:t>j        i </a:t>
            </a:r>
            <a:r>
              <a:rPr lang="en-US" altLang="zh-CN" sz="2000" i="1">
                <a:latin typeface="Times New Roman" panose="02020603050405020304" pitchFamily="18" charset="0"/>
              </a:rPr>
              <a:t>  </a:t>
            </a:r>
            <a:endParaRPr lang="en-US" altLang="zh-CN" sz="2000" i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sz="2000" i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000">
                <a:solidFill>
                  <a:srgbClr val="009900"/>
                </a:solidFill>
              </a:rPr>
              <a:t> </a:t>
            </a:r>
            <a:r>
              <a:rPr lang="en-US" altLang="zh-CN" sz="2000" b="1" u="sng">
                <a:solidFill>
                  <a:srgbClr val="006600"/>
                </a:solidFill>
              </a:rPr>
              <a:t>16     25     0     8    13    10</a:t>
            </a:r>
            <a:r>
              <a:rPr lang="en-US" altLang="zh-CN" sz="2000" u="sng">
                <a:solidFill>
                  <a:srgbClr val="006600"/>
                </a:solidFill>
              </a:rPr>
              <a:t>     </a:t>
            </a:r>
            <a:r>
              <a:rPr lang="en-US" altLang="zh-CN" sz="2000" b="1" u="sng">
                <a:solidFill>
                  <a:srgbClr val="006600"/>
                </a:solidFill>
              </a:rPr>
              <a:t>7   </a:t>
            </a:r>
            <a:r>
              <a:rPr lang="zh-CN" altLang="en-US" sz="2000" b="1"/>
              <a:t>  </a:t>
            </a:r>
            <a:r>
              <a:rPr lang="en-US" altLang="zh-CN" sz="2000" b="1"/>
              <a:t>27 </a:t>
            </a:r>
            <a:r>
              <a:rPr lang="en-US" altLang="zh-CN" sz="2000" b="1">
                <a:solidFill>
                  <a:srgbClr val="CC6600"/>
                </a:solidFill>
              </a:rPr>
              <a:t>  </a:t>
            </a:r>
            <a:r>
              <a:rPr lang="en-US" altLang="zh-CN" sz="2000" b="1"/>
              <a:t> </a:t>
            </a:r>
            <a:r>
              <a:rPr lang="en-US" altLang="zh-CN" sz="2000" b="1" u="sng">
                <a:solidFill>
                  <a:srgbClr val="FF0000"/>
                </a:solidFill>
              </a:rPr>
              <a:t>86    64   </a:t>
            </a:r>
            <a:r>
              <a:rPr lang="en-US" altLang="zh-CN" sz="2000" u="sng">
                <a:solidFill>
                  <a:srgbClr val="FF0000"/>
                </a:solidFill>
              </a:rPr>
              <a:t> </a:t>
            </a:r>
            <a:r>
              <a:rPr lang="en-US" altLang="zh-CN" sz="2000" b="1" u="sng">
                <a:solidFill>
                  <a:srgbClr val="FF0000"/>
                </a:solidFill>
              </a:rPr>
              <a:t>88    99    90</a:t>
            </a:r>
            <a:r>
              <a:rPr lang="en-US" altLang="zh-CN" sz="2000" b="1" u="sng">
                <a:solidFill>
                  <a:srgbClr val="FF3300"/>
                </a:solidFill>
              </a:rPr>
              <a:t>                             </a:t>
            </a:r>
            <a:endParaRPr lang="en-US" altLang="zh-CN" sz="2000" u="sng">
              <a:solidFill>
                <a:srgbClr val="FF3300"/>
              </a:solidFill>
            </a:endParaRPr>
          </a:p>
          <a:p>
            <a:pPr eaLnBrk="1" hangingPunct="1"/>
            <a:r>
              <a:rPr lang="en-US" altLang="zh-CN" sz="2000">
                <a:solidFill>
                  <a:srgbClr val="333300"/>
                </a:solidFill>
              </a:rPr>
              <a:t> </a:t>
            </a:r>
            <a:endParaRPr lang="en-US" altLang="zh-CN" sz="2000">
              <a:solidFill>
                <a:srgbClr val="33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快速排序算法</a:t>
            </a:r>
            <a:endParaRPr lang="zh-CN" altLang="en-US" smtClean="0"/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333375" y="1700213"/>
            <a:ext cx="3873500" cy="36528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算法  </a:t>
            </a:r>
            <a:r>
              <a: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Quicksort(A[l...r])</a:t>
            </a:r>
            <a:endParaRPr kumimoji="1" lang="en-US" altLang="zh-CN" sz="2000" b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//</a:t>
            </a:r>
            <a:r>
              <a:rPr kumimoji="1" lang="zh-CN" altLang="en-US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用</a:t>
            </a:r>
            <a:r>
              <a: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Quicksort</a:t>
            </a:r>
            <a:r>
              <a:rPr kumimoji="1" lang="zh-CN" altLang="en-US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对子数组排序</a:t>
            </a:r>
            <a:endParaRPr kumimoji="1" lang="zh-CN" altLang="en-US" sz="2000" b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//</a:t>
            </a:r>
            <a:r>
              <a:rPr kumimoji="1" lang="zh-CN" altLang="en-US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输入：数组</a:t>
            </a:r>
            <a:r>
              <a: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A[0..n-1]</a:t>
            </a:r>
            <a:r>
              <a:rPr kumimoji="1" lang="zh-CN" altLang="en-US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中的子数组</a:t>
            </a:r>
            <a:endParaRPr kumimoji="1" lang="zh-CN" altLang="en-US" sz="2000" b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//</a:t>
            </a:r>
            <a:r>
              <a:rPr kumimoji="1" lang="zh-CN" altLang="en-US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输出：非降序的子数组</a:t>
            </a:r>
            <a:r>
              <a: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A[l...r]</a:t>
            </a:r>
            <a:endParaRPr kumimoji="1" lang="en-US" altLang="zh-CN" sz="2000" b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if (l&lt;r){</a:t>
            </a:r>
            <a:endParaRPr kumimoji="1" lang="en-US" altLang="zh-CN" sz="2000" b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   s </a:t>
            </a:r>
            <a:r>
              <a: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 Partition(A[l...r]);</a:t>
            </a:r>
            <a:endParaRPr kumimoji="1" lang="en-US" altLang="zh-CN" sz="2000" b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    </a:t>
            </a:r>
            <a:r>
              <a:rPr kumimoji="1" lang="en-US" altLang="zh-CN" sz="2000" b="0" smtClean="0">
                <a:solidFill>
                  <a:srgbClr val="575F6D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Quicksort(A[l...s-1]);</a:t>
            </a:r>
            <a:endParaRPr kumimoji="1" lang="en-US" altLang="zh-CN" sz="2000" b="0" smtClean="0">
              <a:solidFill>
                <a:srgbClr val="575F6D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000" b="0" smtClean="0">
                <a:solidFill>
                  <a:srgbClr val="575F6D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    Quicksort(A[s+1...r]);</a:t>
            </a:r>
            <a:endParaRPr kumimoji="1" lang="en-US" altLang="zh-CN" sz="2000" b="0" smtClean="0">
              <a:solidFill>
                <a:srgbClr val="575F6D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000" b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}</a:t>
            </a:r>
            <a:endParaRPr kumimoji="1" lang="en-US" altLang="zh-CN" sz="2000" b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4427538" y="1700213"/>
            <a:ext cx="4176712" cy="4635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Aft>
                <a:spcPct val="0"/>
              </a:spcAft>
              <a:buClrTx/>
              <a:buFontTx/>
              <a:buNone/>
            </a:pPr>
            <a:r>
              <a:rPr kumimoji="1" lang="zh-CN" altLang="en-US" sz="1800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算法 </a:t>
            </a:r>
            <a:r>
              <a:rPr kumimoji="1" lang="en-US" altLang="zh-CN" sz="1800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Partition(A[</a:t>
            </a:r>
            <a:r>
              <a:rPr kumimoji="1" lang="en-US" altLang="zh-CN" sz="1800" b="0" dirty="0" err="1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l..r</a:t>
            </a:r>
            <a:r>
              <a:rPr kumimoji="1" lang="en-US" altLang="zh-CN" sz="1800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])</a:t>
            </a:r>
            <a:endParaRPr kumimoji="1" lang="en-US" altLang="zh-CN" sz="1800" b="0" dirty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Aft>
                <a:spcPct val="0"/>
              </a:spcAft>
              <a:buClrTx/>
              <a:buFontTx/>
              <a:buNone/>
            </a:pPr>
            <a:r>
              <a:rPr kumimoji="1" lang="en-US" altLang="zh-CN" sz="1800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//</a:t>
            </a:r>
            <a:r>
              <a:rPr kumimoji="1" lang="zh-CN" altLang="en-US" sz="1800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以第一个元素作为中轴，划分数组</a:t>
            </a:r>
            <a:endParaRPr kumimoji="1" lang="zh-CN" altLang="en-US" sz="1800" b="0" dirty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Aft>
                <a:spcPct val="0"/>
              </a:spcAft>
              <a:buClrTx/>
              <a:buFontTx/>
              <a:buNone/>
            </a:pPr>
            <a:r>
              <a:rPr kumimoji="1" lang="en-US" altLang="zh-CN" sz="1800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//</a:t>
            </a:r>
            <a:r>
              <a:rPr kumimoji="1" lang="zh-CN" altLang="en-US" sz="1800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输入：数组</a:t>
            </a:r>
            <a:r>
              <a:rPr kumimoji="1" lang="en-US" altLang="zh-CN" sz="1800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A[</a:t>
            </a:r>
            <a:r>
              <a:rPr kumimoji="1" lang="en-US" altLang="zh-CN" sz="1800" b="0" dirty="0" err="1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l..r</a:t>
            </a:r>
            <a:r>
              <a:rPr kumimoji="1" lang="en-US" altLang="zh-CN" sz="1800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]</a:t>
            </a:r>
            <a:r>
              <a:rPr kumimoji="1" lang="zh-CN" altLang="en-US" sz="1800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，</a:t>
            </a:r>
            <a:r>
              <a:rPr kumimoji="1" lang="en-US" altLang="zh-CN" sz="1800" b="0" dirty="0" err="1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l,r</a:t>
            </a:r>
            <a:r>
              <a:rPr kumimoji="1" lang="zh-CN" altLang="en-US" sz="1800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为左右下标</a:t>
            </a:r>
            <a:endParaRPr kumimoji="1" lang="zh-CN" altLang="en-US" sz="1800" b="0" dirty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Aft>
                <a:spcPct val="0"/>
              </a:spcAft>
              <a:buClrTx/>
              <a:buFontTx/>
              <a:buNone/>
            </a:pPr>
            <a:r>
              <a:rPr kumimoji="1" lang="en-US" altLang="zh-CN" sz="1800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//</a:t>
            </a:r>
            <a:r>
              <a:rPr kumimoji="1" lang="zh-CN" altLang="en-US" sz="1800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输出：</a:t>
            </a:r>
            <a:r>
              <a:rPr kumimoji="1" lang="en-US" altLang="zh-CN" sz="1800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A[</a:t>
            </a:r>
            <a:r>
              <a:rPr kumimoji="1" lang="en-US" altLang="zh-CN" sz="1800" b="0" dirty="0" err="1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l..r</a:t>
            </a:r>
            <a:r>
              <a:rPr kumimoji="1" lang="en-US" altLang="zh-CN" sz="1800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]</a:t>
            </a:r>
            <a:r>
              <a:rPr kumimoji="1" lang="zh-CN" altLang="en-US" sz="1800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的一个分区，返回划分点位置</a:t>
            </a:r>
            <a:endParaRPr kumimoji="1" lang="zh-CN" altLang="en-US" sz="1800" b="0" dirty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Aft>
                <a:spcPct val="0"/>
              </a:spcAft>
              <a:buClrTx/>
              <a:buFontTx/>
              <a:buNone/>
            </a:pPr>
            <a:r>
              <a:rPr kumimoji="1" lang="en-US" altLang="zh-CN" sz="1800" b="0" dirty="0" err="1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</a:t>
            </a:r>
            <a:r>
              <a:rPr kumimoji="1" lang="en-US" altLang="zh-CN" sz="1800" b="0" dirty="0" err="1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A</a:t>
            </a:r>
            <a:r>
              <a:rPr kumimoji="1" lang="en-US" altLang="zh-CN" sz="1800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[l];</a:t>
            </a:r>
            <a:endParaRPr kumimoji="1" lang="en-US" altLang="zh-CN" sz="1800" b="0" dirty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fontAlgn="base" hangingPunct="1">
              <a:spcAft>
                <a:spcPct val="0"/>
              </a:spcAft>
              <a:buClrTx/>
              <a:buFontTx/>
              <a:buNone/>
            </a:pPr>
            <a:r>
              <a:rPr kumimoji="1" lang="en-US" altLang="zh-CN" sz="1800" b="0" dirty="0" err="1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il</a:t>
            </a:r>
            <a:r>
              <a:rPr kumimoji="1" lang="en-US" altLang="zh-CN" sz="1800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; jr+1;</a:t>
            </a:r>
            <a:endParaRPr kumimoji="1" lang="en-US" altLang="zh-CN" sz="1800" b="0" dirty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fontAlgn="base" hangingPunct="1">
              <a:spcAft>
                <a:spcPct val="0"/>
              </a:spcAft>
              <a:buClrTx/>
              <a:buFontTx/>
              <a:buNone/>
            </a:pPr>
            <a:r>
              <a:rPr kumimoji="1" lang="en-US" altLang="zh-CN" sz="1800" b="0" dirty="0" err="1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reapeat</a:t>
            </a:r>
            <a:endParaRPr kumimoji="1" lang="en-US" altLang="zh-CN" sz="1800" b="0" dirty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fontAlgn="base" hangingPunct="1">
              <a:spcAft>
                <a:spcPct val="0"/>
              </a:spcAft>
              <a:buClrTx/>
              <a:buFontTx/>
              <a:buNone/>
            </a:pPr>
            <a:r>
              <a:rPr kumimoji="1" lang="en-US" altLang="zh-CN" sz="1800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    </a:t>
            </a:r>
            <a:r>
              <a:rPr kumimoji="1" lang="en-US" altLang="zh-CN" sz="1800" b="0" dirty="0" err="1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reapeat</a:t>
            </a:r>
            <a:r>
              <a:rPr kumimoji="1" lang="en-US" altLang="zh-CN" sz="1800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 jj-1 until A[j] </a:t>
            </a:r>
            <a:r>
              <a:rPr kumimoji="1" lang="en-US" altLang="en-US" sz="1800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≤</a:t>
            </a:r>
            <a:r>
              <a:rPr kumimoji="1" lang="en-US" altLang="zh-CN" sz="1800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p</a:t>
            </a:r>
            <a:r>
              <a:rPr kumimoji="1" lang="zh-CN" altLang="en-US" sz="1800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；</a:t>
            </a:r>
            <a:endParaRPr kumimoji="1" lang="en-US" altLang="zh-CN" sz="1800" b="0" dirty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fontAlgn="base" hangingPunct="1">
              <a:spcAft>
                <a:spcPct val="0"/>
              </a:spcAft>
              <a:buClrTx/>
              <a:buNone/>
            </a:pPr>
            <a:r>
              <a:rPr kumimoji="1" lang="en-US" altLang="zh-CN" sz="1800" b="0" dirty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1" lang="en-US" altLang="zh-CN" sz="1800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   </a:t>
            </a:r>
            <a:r>
              <a:rPr kumimoji="1" lang="en-US" altLang="zh-CN" sz="1800" b="0" dirty="0" err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reapeat</a:t>
            </a:r>
            <a:r>
              <a:rPr kumimoji="1" lang="en-US" altLang="zh-CN" sz="1800" b="0" dirty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 ii+1 until A[</a:t>
            </a:r>
            <a:r>
              <a:rPr kumimoji="1" lang="en-US" altLang="zh-CN" sz="1800" b="0" dirty="0" err="1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i</a:t>
            </a:r>
            <a:r>
              <a:rPr kumimoji="1" lang="en-US" altLang="zh-CN" sz="1800" b="0" dirty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] ≥p</a:t>
            </a:r>
            <a:r>
              <a:rPr kumimoji="1" lang="zh-CN" altLang="en-US" sz="1800" b="0" dirty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；</a:t>
            </a:r>
            <a:endParaRPr kumimoji="1" lang="zh-CN" altLang="en-US" sz="1800" b="0" dirty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fontAlgn="base" hangingPunct="1">
              <a:spcAft>
                <a:spcPct val="0"/>
              </a:spcAft>
              <a:buClrTx/>
              <a:buFontTx/>
              <a:buNone/>
            </a:pPr>
            <a:r>
              <a:rPr kumimoji="1" lang="zh-CN" altLang="en-US" sz="1800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    </a:t>
            </a:r>
            <a:r>
              <a:rPr kumimoji="1" lang="en-US" altLang="zh-CN" sz="1800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swap(A[</a:t>
            </a:r>
            <a:r>
              <a:rPr kumimoji="1" lang="en-US" altLang="zh-CN" sz="1800" b="0" dirty="0" err="1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i</a:t>
            </a:r>
            <a:r>
              <a:rPr kumimoji="1" lang="en-US" altLang="zh-CN" sz="1800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],A[j]);</a:t>
            </a:r>
            <a:endParaRPr kumimoji="1" lang="en-US" altLang="zh-CN" sz="1800" b="0" dirty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fontAlgn="base" hangingPunct="1">
              <a:spcAft>
                <a:spcPct val="0"/>
              </a:spcAft>
              <a:buClrTx/>
              <a:buFontTx/>
              <a:buNone/>
            </a:pPr>
            <a:r>
              <a:rPr kumimoji="1" lang="en-US" altLang="zh-CN" sz="1800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until </a:t>
            </a:r>
            <a:r>
              <a:rPr kumimoji="1" lang="en-US" altLang="zh-CN" sz="1800" b="0" dirty="0" err="1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i</a:t>
            </a:r>
            <a:r>
              <a:rPr kumimoji="1" lang="en-US" altLang="zh-CN" sz="1800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 ≥ j</a:t>
            </a:r>
            <a:endParaRPr kumimoji="1" lang="en-US" altLang="zh-CN" sz="1800" b="0" dirty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fontAlgn="base" hangingPunct="1">
              <a:spcAft>
                <a:spcPct val="0"/>
              </a:spcAft>
              <a:buClrTx/>
              <a:buFontTx/>
              <a:buNone/>
            </a:pPr>
            <a:r>
              <a:rPr kumimoji="1" lang="en-US" altLang="zh-CN" sz="1800" b="0" dirty="0" smtClean="0">
                <a:solidFill>
                  <a:srgbClr val="575F6D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swap(A[l],A[j]);</a:t>
            </a:r>
            <a:endParaRPr kumimoji="1" lang="en-US" altLang="zh-CN" sz="1800" b="0" dirty="0" smtClean="0">
              <a:solidFill>
                <a:srgbClr val="575F6D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fontAlgn="base" hangingPunct="1">
              <a:spcAft>
                <a:spcPct val="0"/>
              </a:spcAft>
              <a:buClrTx/>
              <a:buFontTx/>
              <a:buNone/>
            </a:pPr>
            <a:r>
              <a:rPr kumimoji="1" lang="en-US" altLang="zh-CN" sz="1800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return j;</a:t>
            </a:r>
            <a:endParaRPr kumimoji="1" lang="en-US" altLang="zh-CN" sz="1800" b="0" dirty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>
            <a:off x="4427538" y="3987800"/>
            <a:ext cx="3455987" cy="15843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zh-CN" altLang="en-US" sz="320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6" grpId="0" animBg="1"/>
      <p:bldP spid="38917" grpId="0"/>
      <p:bldP spid="3891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快速排序算法计算时间</a:t>
            </a:r>
            <a:endParaRPr lang="zh-CN" altLang="en-US" smtClean="0"/>
          </a:p>
        </p:txBody>
      </p:sp>
      <p:grpSp>
        <p:nvGrpSpPr>
          <p:cNvPr id="2" name="Group 15"/>
          <p:cNvGrpSpPr/>
          <p:nvPr/>
        </p:nvGrpSpPr>
        <p:grpSpPr bwMode="auto">
          <a:xfrm>
            <a:off x="388938" y="1438275"/>
            <a:ext cx="4197350" cy="1176338"/>
            <a:chOff x="245" y="906"/>
            <a:chExt cx="2644" cy="741"/>
          </a:xfrm>
        </p:grpSpPr>
        <p:sp>
          <p:nvSpPr>
            <p:cNvPr id="61453" name="Text Box 4"/>
            <p:cNvSpPr txBox="1">
              <a:spLocks noChangeArrowheads="1"/>
            </p:cNvSpPr>
            <p:nvPr/>
          </p:nvSpPr>
          <p:spPr bwMode="auto">
            <a:xfrm>
              <a:off x="245" y="1162"/>
              <a:ext cx="68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1600" smtClean="0">
                  <a:solidFill>
                    <a:srgbClr val="6633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T</a:t>
              </a:r>
              <a:r>
                <a:rPr kumimoji="1" lang="en-US" altLang="zh-CN" sz="1600" baseline="-25000" smtClean="0">
                  <a:solidFill>
                    <a:srgbClr val="6633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best</a:t>
              </a:r>
              <a:r>
                <a:rPr kumimoji="1" lang="en-US" altLang="zh-CN" sz="1600" smtClean="0">
                  <a:solidFill>
                    <a:srgbClr val="6633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(n)=</a:t>
              </a:r>
              <a:endParaRPr kumimoji="1" lang="en-US" altLang="zh-CN" sz="16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61454" name="AutoShape 5"/>
            <p:cNvSpPr/>
            <p:nvPr/>
          </p:nvSpPr>
          <p:spPr bwMode="auto">
            <a:xfrm>
              <a:off x="964" y="1002"/>
              <a:ext cx="144" cy="624"/>
            </a:xfrm>
            <a:prstGeom prst="leftBrace">
              <a:avLst>
                <a:gd name="adj1" fmla="val 36111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kumimoji="1" lang="zh-CN" altLang="en-US" sz="16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61455" name="Text Box 6"/>
            <p:cNvSpPr txBox="1">
              <a:spLocks noChangeArrowheads="1"/>
            </p:cNvSpPr>
            <p:nvPr/>
          </p:nvSpPr>
          <p:spPr bwMode="auto">
            <a:xfrm>
              <a:off x="1187" y="906"/>
              <a:ext cx="155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1600" smtClean="0">
                  <a:solidFill>
                    <a:srgbClr val="6633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0		n=1</a:t>
              </a:r>
              <a:endParaRPr kumimoji="1" lang="en-US" altLang="zh-CN" sz="16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61456" name="Text Box 7"/>
            <p:cNvSpPr txBox="1">
              <a:spLocks noChangeArrowheads="1"/>
            </p:cNvSpPr>
            <p:nvPr/>
          </p:nvSpPr>
          <p:spPr bwMode="auto">
            <a:xfrm>
              <a:off x="1223" y="1434"/>
              <a:ext cx="166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1600" smtClean="0">
                  <a:solidFill>
                    <a:srgbClr val="6633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2T</a:t>
              </a:r>
              <a:r>
                <a:rPr kumimoji="1" lang="en-US" altLang="zh-CN" sz="1600" baseline="-25000" smtClean="0">
                  <a:solidFill>
                    <a:srgbClr val="6633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best</a:t>
              </a:r>
              <a:r>
                <a:rPr kumimoji="1" lang="en-US" altLang="zh-CN" sz="1600" smtClean="0">
                  <a:solidFill>
                    <a:srgbClr val="6633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(n/2)+n	   n&gt;1</a:t>
              </a:r>
              <a:endParaRPr kumimoji="1" lang="en-US" altLang="zh-CN" sz="16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</p:grpSp>
      <p:sp>
        <p:nvSpPr>
          <p:cNvPr id="40968" name="Text Box 8"/>
          <p:cNvSpPr txBox="1">
            <a:spLocks noChangeArrowheads="1"/>
          </p:cNvSpPr>
          <p:nvPr/>
        </p:nvSpPr>
        <p:spPr bwMode="auto">
          <a:xfrm>
            <a:off x="6183313" y="1844675"/>
            <a:ext cx="201771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16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</a:t>
            </a:r>
            <a:r>
              <a:rPr kumimoji="1" lang="en-US" altLang="zh-CN" sz="1600" baseline="-250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best</a:t>
            </a:r>
            <a:r>
              <a:rPr kumimoji="1" lang="en-US" altLang="zh-CN" sz="16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(n)=Θ(nlogn)</a:t>
            </a:r>
            <a:endParaRPr kumimoji="1" lang="en-US" altLang="zh-CN" sz="1600" smtClean="0">
              <a:solidFill>
                <a:srgbClr val="663300"/>
              </a:solidFill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0969" name="Text Box 9"/>
          <p:cNvSpPr txBox="1">
            <a:spLocks noChangeArrowheads="1"/>
          </p:cNvSpPr>
          <p:nvPr/>
        </p:nvSpPr>
        <p:spPr bwMode="auto">
          <a:xfrm>
            <a:off x="1119188" y="3429000"/>
            <a:ext cx="420211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16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</a:t>
            </a:r>
            <a:r>
              <a:rPr kumimoji="1" lang="en-US" altLang="zh-CN" sz="1600" baseline="-250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worst</a:t>
            </a:r>
            <a:r>
              <a:rPr kumimoji="1" lang="en-US" altLang="zh-CN" sz="16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(n)=(n+1)+n+(n-1)+...+3=Θ(n</a:t>
            </a:r>
            <a:r>
              <a:rPr kumimoji="1" lang="en-US" altLang="zh-CN" sz="1600" baseline="300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r>
              <a:rPr kumimoji="1" lang="en-US" altLang="zh-CN" sz="16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</a:t>
            </a:r>
            <a:endParaRPr kumimoji="1" lang="en-US" altLang="zh-CN" sz="1600" smtClean="0">
              <a:solidFill>
                <a:srgbClr val="663300"/>
              </a:solidFill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3" name="Group 16"/>
          <p:cNvGrpSpPr/>
          <p:nvPr/>
        </p:nvGrpSpPr>
        <p:grpSpPr bwMode="auto">
          <a:xfrm>
            <a:off x="457200" y="4292600"/>
            <a:ext cx="6407150" cy="1176338"/>
            <a:chOff x="288" y="2750"/>
            <a:chExt cx="4036" cy="741"/>
          </a:xfrm>
        </p:grpSpPr>
        <p:sp>
          <p:nvSpPr>
            <p:cNvPr id="61449" name="Text Box 10"/>
            <p:cNvSpPr txBox="1">
              <a:spLocks noChangeArrowheads="1"/>
            </p:cNvSpPr>
            <p:nvPr/>
          </p:nvSpPr>
          <p:spPr bwMode="auto">
            <a:xfrm>
              <a:off x="288" y="3006"/>
              <a:ext cx="65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1600" smtClean="0">
                  <a:solidFill>
                    <a:srgbClr val="6633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T</a:t>
              </a:r>
              <a:r>
                <a:rPr kumimoji="1" lang="en-US" altLang="zh-CN" sz="1600" baseline="-25000" smtClean="0">
                  <a:solidFill>
                    <a:srgbClr val="6633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avg</a:t>
              </a:r>
              <a:r>
                <a:rPr kumimoji="1" lang="en-US" altLang="zh-CN" sz="1600" smtClean="0">
                  <a:solidFill>
                    <a:srgbClr val="6633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(n)=</a:t>
              </a:r>
              <a:endParaRPr kumimoji="1" lang="en-US" altLang="zh-CN" sz="16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61450" name="AutoShape 11"/>
            <p:cNvSpPr/>
            <p:nvPr/>
          </p:nvSpPr>
          <p:spPr bwMode="auto">
            <a:xfrm>
              <a:off x="1010" y="2846"/>
              <a:ext cx="144" cy="624"/>
            </a:xfrm>
            <a:prstGeom prst="leftBrace">
              <a:avLst>
                <a:gd name="adj1" fmla="val 36111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kumimoji="1" lang="zh-CN" altLang="en-US" sz="160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61451" name="Text Box 12"/>
            <p:cNvSpPr txBox="1">
              <a:spLocks noChangeArrowheads="1"/>
            </p:cNvSpPr>
            <p:nvPr/>
          </p:nvSpPr>
          <p:spPr bwMode="auto">
            <a:xfrm>
              <a:off x="1253" y="2750"/>
              <a:ext cx="167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1600" smtClean="0">
                  <a:solidFill>
                    <a:srgbClr val="6633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0		n=0,1</a:t>
              </a:r>
              <a:endParaRPr kumimoji="1" lang="en-US" altLang="zh-CN" sz="16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61452" name="Text Box 13"/>
            <p:cNvSpPr txBox="1">
              <a:spLocks noChangeArrowheads="1"/>
            </p:cNvSpPr>
            <p:nvPr/>
          </p:nvSpPr>
          <p:spPr bwMode="auto">
            <a:xfrm>
              <a:off x="1624" y="3278"/>
              <a:ext cx="270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1600" smtClean="0">
                  <a:solidFill>
                    <a:srgbClr val="6633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(</a:t>
              </a:r>
              <a:r>
                <a:rPr kumimoji="1" lang="en-US" altLang="en-US" sz="1600" smtClean="0">
                  <a:solidFill>
                    <a:srgbClr val="6633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∑</a:t>
              </a:r>
              <a:r>
                <a:rPr kumimoji="1" lang="en-US" altLang="zh-CN" sz="1600" smtClean="0">
                  <a:solidFill>
                    <a:srgbClr val="6633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[(n+1)+T</a:t>
              </a:r>
              <a:r>
                <a:rPr kumimoji="1" lang="en-US" altLang="zh-CN" sz="1600" baseline="-25000" smtClean="0">
                  <a:solidFill>
                    <a:srgbClr val="6633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avg</a:t>
              </a:r>
              <a:r>
                <a:rPr kumimoji="1" lang="en-US" altLang="zh-CN" sz="1600" smtClean="0">
                  <a:solidFill>
                    <a:srgbClr val="6633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(s)+T</a:t>
              </a:r>
              <a:r>
                <a:rPr kumimoji="1" lang="en-US" altLang="zh-CN" sz="1600" baseline="-25000" smtClean="0">
                  <a:solidFill>
                    <a:srgbClr val="6633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avg</a:t>
              </a:r>
              <a:r>
                <a:rPr kumimoji="1" lang="en-US" altLang="zh-CN" sz="1600" smtClean="0">
                  <a:solidFill>
                    <a:srgbClr val="663300"/>
                  </a:solidFill>
                  <a:latin typeface="Tahoma" panose="020B060403050404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(n-1-s)])/n   n&gt;1</a:t>
              </a:r>
              <a:endParaRPr kumimoji="1" lang="en-US" altLang="zh-CN" sz="16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</p:grpSp>
      <p:sp>
        <p:nvSpPr>
          <p:cNvPr id="40974" name="Text Box 14"/>
          <p:cNvSpPr txBox="1">
            <a:spLocks noChangeArrowheads="1"/>
          </p:cNvSpPr>
          <p:nvPr/>
        </p:nvSpPr>
        <p:spPr bwMode="auto">
          <a:xfrm>
            <a:off x="2195513" y="5734050"/>
            <a:ext cx="29622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16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</a:t>
            </a:r>
            <a:r>
              <a:rPr kumimoji="1" lang="en-US" altLang="zh-CN" sz="1600" baseline="-250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avg</a:t>
            </a:r>
            <a:r>
              <a:rPr kumimoji="1" lang="en-US" altLang="zh-CN" sz="1600" smtClean="0">
                <a:solidFill>
                  <a:srgbClr val="663300"/>
                </a:solidFill>
                <a:latin typeface="Tahoma" panose="020B060403050404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(n) ≈2nlnn ≈1.38nlogn</a:t>
            </a:r>
            <a:endParaRPr kumimoji="1" lang="en-US" altLang="zh-CN" sz="1600" smtClean="0">
              <a:solidFill>
                <a:srgbClr val="663300"/>
              </a:solidFill>
              <a:latin typeface="Tahoma" panose="020B060403050404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0977" name="Text Box 17"/>
          <p:cNvSpPr txBox="1">
            <a:spLocks noChangeArrowheads="1"/>
          </p:cNvSpPr>
          <p:nvPr/>
        </p:nvSpPr>
        <p:spPr bwMode="auto">
          <a:xfrm>
            <a:off x="5000625" y="4365625"/>
            <a:ext cx="3811588" cy="584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>
                <a:lumMod val="50000"/>
              </a:schemeClr>
            </a:solidFill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思考：平均效率的递推式是如何</a:t>
            </a:r>
            <a:endParaRPr kumimoji="1" lang="zh-CN" altLang="en-US" sz="1600" b="1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得到的，如何计算？</a:t>
            </a:r>
            <a:endParaRPr kumimoji="1" lang="zh-CN" altLang="en-US" sz="1600" b="1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40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0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8" grpId="0"/>
      <p:bldP spid="40969" grpId="0"/>
      <p:bldP spid="40974" grpId="0"/>
      <p:bldP spid="4097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FA15C-FF2F-4A4F-A21E-688A6A76AB25}" type="slidenum">
              <a:rPr lang="en-US" altLang="zh-CN"/>
            </a:fld>
            <a:endParaRPr lang="en-US" altLang="zh-CN"/>
          </a:p>
        </p:txBody>
      </p:sp>
      <p:sp>
        <p:nvSpPr>
          <p:cNvPr id="60418" name="Text Box 1026"/>
          <p:cNvSpPr txBox="1">
            <a:spLocks noChangeArrowheads="1"/>
          </p:cNvSpPr>
          <p:nvPr/>
        </p:nvSpPr>
        <p:spPr bwMode="auto">
          <a:xfrm>
            <a:off x="250825" y="3284984"/>
            <a:ext cx="8229600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≤2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T</a:t>
            </a:r>
            <a:r>
              <a:rPr kumimoji="1"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/2</a:t>
            </a:r>
            <a:r>
              <a:rPr kumimoji="1"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kumimoji="1" lang="en-US" altLang="zh-CN" sz="24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50000"/>
              </a:spcBef>
            </a:pP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≤2</a:t>
            </a:r>
            <a:r>
              <a:rPr kumimoji="1"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/4</a:t>
            </a:r>
            <a:r>
              <a:rPr kumimoji="1"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/2</a:t>
            </a:r>
            <a:r>
              <a:rPr kumimoji="1"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/4</a:t>
            </a:r>
            <a:r>
              <a:rPr kumimoji="1"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kumimoji="1" lang="en-US" altLang="zh-CN" sz="24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50000"/>
              </a:spcBef>
            </a:pP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≤4</a:t>
            </a:r>
            <a:r>
              <a:rPr kumimoji="1"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/8</a:t>
            </a:r>
            <a:r>
              <a:rPr kumimoji="1"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/4</a:t>
            </a:r>
            <a:r>
              <a:rPr kumimoji="1"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/8</a:t>
            </a:r>
            <a:r>
              <a:rPr kumimoji="1"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kumimoji="1" lang="en-US" altLang="zh-CN" sz="24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50000"/>
              </a:spcBef>
            </a:pP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… … … </a:t>
            </a:r>
            <a:endParaRPr kumimoji="1" lang="en-US" altLang="zh-CN" sz="24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spcBef>
                <a:spcPct val="50000"/>
              </a:spcBef>
            </a:pP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kumimoji="1"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≤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nT</a:t>
            </a:r>
            <a:r>
              <a:rPr kumimoji="1"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log</a:t>
            </a:r>
            <a:r>
              <a:rPr kumimoji="1" lang="en-US" altLang="zh-CN" sz="2400" b="1" baseline="-3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kumimoji="1"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log</a:t>
            </a:r>
            <a:r>
              <a:rPr kumimoji="1" lang="en-US" altLang="zh-CN" sz="2400" b="1" baseline="-3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en-US" altLang="zh-CN" sz="24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50000"/>
              </a:spcBef>
            </a:pP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因此，时间复杂度为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kumimoji="1"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log</a:t>
            </a:r>
            <a:r>
              <a:rPr kumimoji="1" lang="en-US" altLang="zh-CN" sz="2400" b="1" baseline="-3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spcBef>
                <a:spcPct val="50000"/>
              </a:spcBef>
            </a:pPr>
            <a:r>
              <a:rPr kumimoji="1" lang="zh-CN" altLang="en-US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422" name="Rectangle 1030"/>
          <p:cNvSpPr>
            <a:spLocks noChangeArrowheads="1"/>
          </p:cNvSpPr>
          <p:nvPr/>
        </p:nvSpPr>
        <p:spPr bwMode="auto">
          <a:xfrm>
            <a:off x="0" y="3408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23" name="Text Box 1031"/>
          <p:cNvSpPr txBox="1">
            <a:spLocks noChangeArrowheads="1"/>
          </p:cNvSpPr>
          <p:nvPr/>
        </p:nvSpPr>
        <p:spPr bwMode="auto">
          <a:xfrm>
            <a:off x="179512" y="1196752"/>
            <a:ext cx="8640763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kumimoji="1"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最好情况</a:t>
            </a:r>
            <a:r>
              <a:rPr kumimoji="1"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下，每次划分对一个记录定位后，该记录的左侧子序列与右侧子序列的长度相同。在具有</a:t>
            </a:r>
            <a:r>
              <a:rPr kumimoji="1"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个记录的序列中，一次划分需要对整个待划分序列扫描一遍，则所需时间为</a:t>
            </a:r>
            <a:r>
              <a:rPr kumimoji="1"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kumimoji="1"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。设</a:t>
            </a:r>
            <a:r>
              <a:rPr kumimoji="1"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是对</a:t>
            </a:r>
            <a:r>
              <a:rPr kumimoji="1"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个记录的序列进行排序的时间，每次划分后，正好把待划分区间划分为长度相等的两个子序列，则有：</a:t>
            </a:r>
            <a:endParaRPr kumimoji="1"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A1105-A7A7-435B-A5CD-262E0334A10B}" type="slidenum">
              <a:rPr lang="en-US" altLang="zh-CN"/>
            </a:fld>
            <a:endParaRPr lang="en-US" altLang="zh-CN"/>
          </a:p>
        </p:txBody>
      </p:sp>
      <p:sp>
        <p:nvSpPr>
          <p:cNvPr id="62466" name="Text Box 2"/>
          <p:cNvSpPr txBox="1">
            <a:spLocks noChangeArrowheads="1"/>
          </p:cNvSpPr>
          <p:nvPr/>
        </p:nvSpPr>
        <p:spPr bwMode="auto">
          <a:xfrm>
            <a:off x="395288" y="5157192"/>
            <a:ext cx="8424862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因此，时间复杂度为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kumimoji="1" lang="en-US" altLang="zh-CN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kumimoji="1" lang="zh-CN" altLang="en-US" sz="28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endParaRPr kumimoji="1" lang="zh-CN" altLang="en-US" sz="28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470" name="Rectangle 6"/>
          <p:cNvSpPr>
            <a:spLocks noChangeArrowheads="1"/>
          </p:cNvSpPr>
          <p:nvPr/>
        </p:nvSpPr>
        <p:spPr bwMode="auto">
          <a:xfrm>
            <a:off x="0" y="34051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62471" name="Picture 7" descr="BACK20">
            <a:hlinkClick r:id="rId1" action="ppaction://hlinksldjump"/>
          </p:cNvPr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53400" y="6172200"/>
            <a:ext cx="685800" cy="547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472" name="Rectangle 8"/>
          <p:cNvSpPr>
            <a:spLocks noChangeArrowheads="1"/>
          </p:cNvSpPr>
          <p:nvPr/>
        </p:nvSpPr>
        <p:spPr bwMode="auto">
          <a:xfrm>
            <a:off x="395288" y="1340768"/>
            <a:ext cx="8135937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kumimoji="1"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最坏情况</a:t>
            </a: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下，待排序记录序列正序或逆序，每次划分只得到一个比上一次划分少一个记录的子序列（另一个子序列为空）。此时，必须经过</a:t>
            </a:r>
            <a:r>
              <a:rPr kumimoji="1"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次递归调用才能把所有记录定位，而且第</a:t>
            </a:r>
            <a:r>
              <a:rPr kumimoji="1" lang="en-US" altLang="zh-CN" sz="24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趟划分需要经过</a:t>
            </a:r>
            <a:r>
              <a:rPr kumimoji="1"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kumimoji="1" lang="en-US" altLang="zh-CN" sz="24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次关键码的比较才能找到第</a:t>
            </a:r>
            <a:r>
              <a:rPr kumimoji="1" lang="en-US" altLang="zh-CN" sz="24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个记录的基准位置，因此，总的比较次数为：</a:t>
            </a:r>
            <a:endParaRPr kumimoji="1"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47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62473" name="Object 9"/>
          <p:cNvGraphicFramePr>
            <a:graphicFrameLocks noChangeAspect="1"/>
          </p:cNvGraphicFramePr>
          <p:nvPr/>
        </p:nvGraphicFramePr>
        <p:xfrm>
          <a:off x="1978818" y="3645024"/>
          <a:ext cx="496887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公式" r:id="rId3" imgW="1409065" imgH="317500" progId="Equation.3">
                  <p:embed/>
                </p:oleObj>
              </mc:Choice>
              <mc:Fallback>
                <p:oleObj name="公式" r:id="rId3" imgW="1409065" imgH="3175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8818" y="3645024"/>
                        <a:ext cx="4968875" cy="1152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4CC65-BF1F-442B-92A8-7A3557178B93}" type="slidenum">
              <a:rPr lang="en-US" altLang="zh-CN"/>
            </a:fld>
            <a:endParaRPr lang="en-US" altLang="zh-CN"/>
          </a:p>
        </p:txBody>
      </p:sp>
      <p:sp>
        <p:nvSpPr>
          <p:cNvPr id="106500" name="Rectangle 4"/>
          <p:cNvSpPr>
            <a:spLocks noChangeArrowheads="1"/>
          </p:cNvSpPr>
          <p:nvPr/>
        </p:nvSpPr>
        <p:spPr bwMode="auto">
          <a:xfrm>
            <a:off x="468313" y="1196975"/>
            <a:ext cx="79914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平均情况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下，设基准记录的关键码第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小（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1≤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k≤n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），则有：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504" name="Text Box 8"/>
          <p:cNvSpPr txBox="1">
            <a:spLocks noChangeArrowheads="1"/>
          </p:cNvSpPr>
          <p:nvPr/>
        </p:nvSpPr>
        <p:spPr bwMode="auto">
          <a:xfrm>
            <a:off x="684213" y="4005263"/>
            <a:ext cx="7924800" cy="158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这是快速排序的平均时间性能，可以用归纳法证明，其数量级也为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kumimoji="1" lang="en-US" altLang="zh-CN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log</a:t>
            </a:r>
            <a:r>
              <a:rPr kumimoji="1" lang="en-US" altLang="zh-CN" sz="2800" b="1" baseline="-3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kumimoji="1" lang="zh-CN" altLang="en-US" sz="28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endParaRPr kumimoji="1" lang="zh-CN" altLang="en-US" sz="28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552" name="Rectangle 56"/>
          <p:cNvSpPr>
            <a:spLocks noChangeArrowheads="1"/>
          </p:cNvSpPr>
          <p:nvPr/>
        </p:nvSpPr>
        <p:spPr bwMode="auto">
          <a:xfrm>
            <a:off x="0" y="3248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06551" name="Object 55"/>
          <p:cNvGraphicFramePr>
            <a:graphicFrameLocks noChangeAspect="1"/>
          </p:cNvGraphicFramePr>
          <p:nvPr/>
        </p:nvGraphicFramePr>
        <p:xfrm>
          <a:off x="1042988" y="2349500"/>
          <a:ext cx="65532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公式" r:id="rId1" imgW="3124200" imgH="406400" progId="Equation.3">
                  <p:embed/>
                </p:oleObj>
              </mc:Choice>
              <mc:Fallback>
                <p:oleObj name="公式" r:id="rId1" imgW="3124200" imgH="4064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349500"/>
                        <a:ext cx="6553200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Text Box 5"/>
          <p:cNvSpPr txBox="1">
            <a:spLocks noChangeArrowheads="1"/>
          </p:cNvSpPr>
          <p:nvPr/>
        </p:nvSpPr>
        <p:spPr bwMode="auto">
          <a:xfrm>
            <a:off x="428625" y="1285875"/>
            <a:ext cx="8429625" cy="1569660"/>
          </a:xfrm>
          <a:prstGeom prst="rect">
            <a:avLst/>
          </a:prstGeom>
          <a:solidFill>
            <a:srgbClr val="FFCC00"/>
          </a:solidFill>
          <a:ln w="63500">
            <a:solidFill>
              <a:schemeClr val="accent1">
                <a:lumMod val="50000"/>
              </a:schemeClr>
            </a:solidFill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在快速排序中，记录的比较和交换是从两端向中间进行的，关键字较大的记录一次就能交换到后面单元，关键字较小的记录一次就能交换到前面单元，记录每次移动的距离较大，因而总的比较和移动次数较少。</a:t>
            </a:r>
            <a:endParaRPr kumimoji="1" lang="ja-JP" altLang="en-US" sz="24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33413" y="319088"/>
            <a:ext cx="7896225" cy="563562"/>
          </a:xfrm>
          <a:prstGeom prst="rect">
            <a:avLst/>
          </a:prstGeom>
        </p:spPr>
        <p:txBody>
          <a:bodyPr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kern="0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快速排序</a:t>
            </a:r>
            <a:endParaRPr lang="zh-CN" altLang="en-US" sz="3600" kern="0" dirty="0">
              <a:solidFill>
                <a:prstClr val="white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196849" y="3933056"/>
            <a:ext cx="8893175" cy="1938337"/>
          </a:xfrm>
          <a:prstGeom prst="rect">
            <a:avLst/>
          </a:prstGeom>
          <a:solidFill>
            <a:srgbClr val="FFC000"/>
          </a:solidFill>
          <a:ln w="63500" algn="ctr">
            <a:solidFill>
              <a:schemeClr val="accent1">
                <a:lumMod val="50000"/>
              </a:schemeClr>
            </a:solidFill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dirty="0">
                <a:solidFill>
                  <a:srgbClr val="6633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kumimoji="1" lang="zh-CN" altLang="en-US" sz="24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快速排序算法的性能取决于划分的对称性。通过修改算法</a:t>
            </a:r>
            <a:r>
              <a:rPr kumimoji="1" lang="en-US" altLang="zh-CN" sz="24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partition</a:t>
            </a:r>
            <a:r>
              <a:rPr kumimoji="1" lang="zh-CN" altLang="en-US" sz="24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，可以设计出采用随机选择策略的快速排序算法。在快速排序算法的每一步中，当数组还没有被划分时，可以在</a:t>
            </a:r>
            <a:r>
              <a:rPr kumimoji="1" lang="en-US" altLang="zh-CN" sz="24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a[p:r]</a:t>
            </a:r>
            <a:r>
              <a:rPr kumimoji="1" lang="zh-CN" altLang="en-US" sz="24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中随机选出一个元素作为划分基准，这样可以使划分基准的选择是随机的，从而可以期望划分是较对称的。</a:t>
            </a:r>
            <a:endParaRPr kumimoji="1" lang="zh-CN" altLang="en-US" sz="24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4"/>
          <p:cNvSpPr>
            <a:spLocks noChangeArrowheads="1"/>
          </p:cNvSpPr>
          <p:nvPr/>
        </p:nvSpPr>
        <p:spPr bwMode="auto">
          <a:xfrm>
            <a:off x="323528" y="1340768"/>
            <a:ext cx="7000875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template&lt;class Type&gt;</a:t>
            </a:r>
            <a:endParaRPr kumimoji="1" lang="en-US" altLang="zh-CN" b="0" dirty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b="0" dirty="0" err="1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int</a:t>
            </a:r>
            <a:r>
              <a:rPr kumimoji="1" lang="en-US" altLang="zh-CN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b="0" dirty="0" err="1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RandomizedPartition</a:t>
            </a:r>
            <a:r>
              <a:rPr kumimoji="1" lang="en-US" altLang="zh-CN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(Type a[], </a:t>
            </a:r>
            <a:r>
              <a:rPr kumimoji="1" lang="en-US" altLang="zh-CN" b="0" dirty="0" err="1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int</a:t>
            </a:r>
            <a:r>
              <a:rPr kumimoji="1" lang="en-US" altLang="zh-CN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p, </a:t>
            </a:r>
            <a:r>
              <a:rPr kumimoji="1" lang="en-US" altLang="zh-CN" b="0" dirty="0" err="1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int</a:t>
            </a:r>
            <a:r>
              <a:rPr kumimoji="1" lang="en-US" altLang="zh-CN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r)</a:t>
            </a:r>
            <a:endParaRPr kumimoji="1" lang="en-US" altLang="zh-CN" b="0" dirty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{</a:t>
            </a:r>
            <a:endParaRPr kumimoji="1" lang="en-US" altLang="zh-CN" b="0" dirty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       </a:t>
            </a:r>
            <a:r>
              <a:rPr kumimoji="1" lang="en-US" altLang="zh-CN" b="0" dirty="0" err="1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int</a:t>
            </a:r>
            <a:r>
              <a:rPr kumimoji="1" lang="en-US" altLang="zh-CN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b="0" dirty="0" err="1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i</a:t>
            </a:r>
            <a:r>
              <a:rPr kumimoji="1" lang="en-US" altLang="zh-CN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= Random(</a:t>
            </a:r>
            <a:r>
              <a:rPr kumimoji="1" lang="en-US" altLang="zh-CN" b="0" dirty="0" err="1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p,r</a:t>
            </a:r>
            <a:r>
              <a:rPr kumimoji="1" lang="en-US" altLang="zh-CN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);</a:t>
            </a:r>
            <a:endParaRPr kumimoji="1" lang="en-US" altLang="zh-CN" b="0" dirty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       Swap(a[</a:t>
            </a:r>
            <a:r>
              <a:rPr kumimoji="1" lang="en-US" altLang="zh-CN" b="0" dirty="0" err="1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i</a:t>
            </a:r>
            <a:r>
              <a:rPr kumimoji="1" lang="en-US" altLang="zh-CN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], a[p]);</a:t>
            </a:r>
            <a:endParaRPr kumimoji="1" lang="en-US" altLang="zh-CN" b="0" dirty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       return Partition (a, p, r);</a:t>
            </a:r>
            <a:endParaRPr kumimoji="1" lang="en-US" altLang="zh-CN" b="0" dirty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b="0" dirty="0" smtClean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}</a:t>
            </a:r>
            <a:endParaRPr kumimoji="1" lang="en-US" altLang="zh-CN" b="0" dirty="0" smtClean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0184" name="Text Box 8"/>
          <p:cNvSpPr txBox="1">
            <a:spLocks noChangeArrowheads="1"/>
          </p:cNvSpPr>
          <p:nvPr/>
        </p:nvSpPr>
        <p:spPr bwMode="auto">
          <a:xfrm>
            <a:off x="2915816" y="5067653"/>
            <a:ext cx="5786438" cy="160496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0800">
            <a:solidFill>
              <a:schemeClr val="accent2"/>
            </a:solidFill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&amp;"/>
              <a:defRPr/>
            </a:pPr>
            <a:r>
              <a:rPr kumimoji="1" lang="zh-CN" altLang="en-US" sz="3200" b="1" dirty="0">
                <a:solidFill>
                  <a:prstClr val="white"/>
                </a:solidFill>
                <a:latin typeface="Times New Roman" panose="02020603050405020304" pitchFamily="18" charset="0"/>
                <a:ea typeface="楷体_GB2312" pitchFamily="49" charset="-122"/>
              </a:rPr>
              <a:t>最坏时间复杂度：</a:t>
            </a:r>
            <a:r>
              <a:rPr kumimoji="1" lang="en-US" altLang="zh-CN" sz="3200" b="1" dirty="0">
                <a:solidFill>
                  <a:prstClr val="white"/>
                </a:solidFill>
                <a:latin typeface="Times New Roman" panose="02020603050405020304" pitchFamily="18" charset="0"/>
                <a:ea typeface="楷体_GB2312" pitchFamily="49" charset="-122"/>
              </a:rPr>
              <a:t>O(n</a:t>
            </a:r>
            <a:r>
              <a:rPr kumimoji="1" lang="en-US" altLang="zh-CN" sz="3200" b="1" baseline="30000" dirty="0">
                <a:solidFill>
                  <a:prstClr val="white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en-US" altLang="zh-CN" sz="3200" b="1" dirty="0">
                <a:solidFill>
                  <a:prstClr val="white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kumimoji="1" lang="en-US" altLang="zh-CN" sz="3200" b="1" dirty="0">
              <a:solidFill>
                <a:prstClr val="white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&amp;"/>
              <a:defRPr/>
            </a:pPr>
            <a:r>
              <a:rPr kumimoji="1" lang="zh-CN" altLang="en-US" sz="3200" b="1" dirty="0">
                <a:solidFill>
                  <a:prstClr val="white"/>
                </a:solidFill>
                <a:latin typeface="Times New Roman" panose="02020603050405020304" pitchFamily="18" charset="0"/>
                <a:ea typeface="楷体_GB2312" pitchFamily="49" charset="-122"/>
              </a:rPr>
              <a:t>平均时间复杂度：</a:t>
            </a:r>
            <a:r>
              <a:rPr kumimoji="1" lang="en-US" altLang="zh-CN" sz="3200" b="1" dirty="0">
                <a:solidFill>
                  <a:prstClr val="white"/>
                </a:solidFill>
                <a:latin typeface="Times New Roman" panose="02020603050405020304" pitchFamily="18" charset="0"/>
                <a:ea typeface="楷体_GB2312" pitchFamily="49" charset="-122"/>
              </a:rPr>
              <a:t>O(</a:t>
            </a:r>
            <a:r>
              <a:rPr kumimoji="1" lang="en-US" altLang="zh-CN" sz="3200" b="1" dirty="0" err="1">
                <a:solidFill>
                  <a:prstClr val="white"/>
                </a:solidFill>
                <a:latin typeface="Times New Roman" panose="02020603050405020304" pitchFamily="18" charset="0"/>
                <a:ea typeface="楷体_GB2312" pitchFamily="49" charset="-122"/>
              </a:rPr>
              <a:t>nlogn</a:t>
            </a:r>
            <a:r>
              <a:rPr kumimoji="1" lang="en-US" altLang="zh-CN" sz="3200" b="1" dirty="0">
                <a:solidFill>
                  <a:prstClr val="white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kumimoji="1" lang="en-US" altLang="zh-CN" sz="3200" b="1" dirty="0">
              <a:solidFill>
                <a:prstClr val="white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&amp;"/>
              <a:defRPr/>
            </a:pPr>
            <a:r>
              <a:rPr kumimoji="1" lang="zh-CN" altLang="en-US" sz="3200" b="1" dirty="0">
                <a:solidFill>
                  <a:prstClr val="white"/>
                </a:solidFill>
                <a:latin typeface="Times New Roman" panose="02020603050405020304" pitchFamily="18" charset="0"/>
                <a:ea typeface="楷体_GB2312" pitchFamily="49" charset="-122"/>
              </a:rPr>
              <a:t>辅助空间：</a:t>
            </a:r>
            <a:r>
              <a:rPr kumimoji="1" lang="en-US" altLang="zh-CN" sz="3200" b="1" dirty="0">
                <a:solidFill>
                  <a:prstClr val="white"/>
                </a:solidFill>
                <a:latin typeface="Times New Roman" panose="02020603050405020304" pitchFamily="18" charset="0"/>
                <a:ea typeface="楷体_GB2312" pitchFamily="49" charset="-122"/>
              </a:rPr>
              <a:t>O(n)</a:t>
            </a:r>
            <a:r>
              <a:rPr kumimoji="1" lang="zh-CN" altLang="en-US" sz="3200" b="1" dirty="0">
                <a:solidFill>
                  <a:prstClr val="white"/>
                </a:solidFill>
                <a:latin typeface="Times New Roman" panose="02020603050405020304" pitchFamily="18" charset="0"/>
                <a:ea typeface="楷体_GB2312" pitchFamily="49" charset="-122"/>
              </a:rPr>
              <a:t>或</a:t>
            </a:r>
            <a:r>
              <a:rPr kumimoji="1" lang="en-US" altLang="zh-CN" sz="3200" b="1" dirty="0">
                <a:solidFill>
                  <a:prstClr val="white"/>
                </a:solidFill>
                <a:latin typeface="Times New Roman" panose="02020603050405020304" pitchFamily="18" charset="0"/>
                <a:ea typeface="楷体_GB2312" pitchFamily="49" charset="-122"/>
              </a:rPr>
              <a:t>O(</a:t>
            </a:r>
            <a:r>
              <a:rPr kumimoji="1" lang="en-US" altLang="zh-CN" sz="3200" b="1" dirty="0" err="1">
                <a:solidFill>
                  <a:prstClr val="white"/>
                </a:solidFill>
                <a:latin typeface="Times New Roman" panose="02020603050405020304" pitchFamily="18" charset="0"/>
                <a:ea typeface="楷体_GB2312" pitchFamily="49" charset="-122"/>
              </a:rPr>
              <a:t>logn</a:t>
            </a:r>
            <a:r>
              <a:rPr kumimoji="1" lang="en-US" altLang="zh-CN" sz="3200" b="1" dirty="0">
                <a:solidFill>
                  <a:prstClr val="white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kumimoji="1" lang="en-US" altLang="zh-CN" sz="3200" b="1" dirty="0">
              <a:solidFill>
                <a:prstClr val="white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33413" y="319088"/>
            <a:ext cx="7896225" cy="563562"/>
          </a:xfrm>
          <a:prstGeom prst="rect">
            <a:avLst/>
          </a:prstGeom>
        </p:spPr>
        <p:txBody>
          <a:bodyPr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kern="0" dirty="0">
                <a:solidFill>
                  <a:prstClr val="whit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快速排序</a:t>
            </a:r>
            <a:endParaRPr lang="zh-CN" altLang="en-US" sz="3600" kern="0" dirty="0">
              <a:solidFill>
                <a:prstClr val="white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6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8" grpId="0"/>
      <p:bldP spid="5018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快速排序算法分析</a:t>
            </a:r>
            <a:endParaRPr lang="zh-CN" altLang="en-US" smtClean="0"/>
          </a:p>
        </p:txBody>
      </p:sp>
      <p:sp>
        <p:nvSpPr>
          <p:cNvPr id="62467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快速排序在平均情况下仅比最优情况多执行</a:t>
            </a:r>
            <a:r>
              <a:rPr lang="en-US" altLang="zh-CN" dirty="0" smtClean="0"/>
              <a:t>38</a:t>
            </a:r>
            <a:r>
              <a:rPr lang="zh-CN" altLang="en-US" dirty="0" smtClean="0"/>
              <a:t>％的比较操作。</a:t>
            </a:r>
            <a:endParaRPr lang="zh-CN" altLang="en-US" dirty="0" smtClean="0"/>
          </a:p>
          <a:p>
            <a:pPr eaLnBrk="1" hangingPunct="1"/>
            <a:r>
              <a:rPr lang="zh-CN" altLang="en-US" dirty="0" smtClean="0"/>
              <a:t>它的最内循环效率非常高，在处理随机排列数组时，速度比合并排序快。</a:t>
            </a:r>
            <a:endParaRPr lang="zh-CN" altLang="en-US" dirty="0" smtClean="0"/>
          </a:p>
          <a:p>
            <a:pPr eaLnBrk="1" hangingPunct="1"/>
            <a:r>
              <a:rPr lang="zh-CN" altLang="en-US" dirty="0" smtClean="0"/>
              <a:t>算法优化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更好的划分元素选择方法：</a:t>
            </a:r>
            <a:r>
              <a:rPr lang="zh-CN" altLang="en-US" dirty="0" smtClean="0">
                <a:solidFill>
                  <a:srgbClr val="FF0000"/>
                </a:solidFill>
              </a:rPr>
              <a:t>三平均分区</a:t>
            </a:r>
            <a:endParaRPr lang="zh-CN" altLang="en-US" dirty="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 dirty="0" smtClean="0"/>
              <a:t>当子数组足够小时改用更简单得排序方法</a:t>
            </a:r>
            <a:endParaRPr lang="en-US" altLang="zh-CN" dirty="0" smtClean="0"/>
          </a:p>
          <a:p>
            <a:pPr lvl="1" eaLnBrk="1" hangingPunct="1"/>
            <a:r>
              <a:rPr lang="zh-CN" altLang="en-US" dirty="0"/>
              <a:t>将分区分为三块而不是原来的两块：一块是小于中轴值的所有元素，</a:t>
            </a:r>
            <a:r>
              <a:rPr lang="zh-CN" altLang="en-US" b="1" dirty="0"/>
              <a:t>一块是等于中轴值的所有元素</a:t>
            </a:r>
            <a:r>
              <a:rPr lang="zh-CN" altLang="en-US" dirty="0"/>
              <a:t>，另一块是大于中轴值的所有元素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 smtClean="0"/>
              <a:t>作业</a:t>
            </a:r>
            <a:endParaRPr lang="zh-CN" altLang="en-US" sz="4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1262063"/>
            <a:ext cx="8858280" cy="5248275"/>
          </a:xfrm>
        </p:spPr>
        <p:txBody>
          <a:bodyPr/>
          <a:lstStyle/>
          <a:p>
            <a:r>
              <a:rPr lang="en-US" altLang="zh-CN" sz="4000" dirty="0" smtClean="0"/>
              <a:t>1</a:t>
            </a:r>
            <a:r>
              <a:rPr lang="zh-CN" altLang="en-US" sz="4000" dirty="0" smtClean="0"/>
              <a:t>、实践环节</a:t>
            </a:r>
            <a:endParaRPr lang="en-US" altLang="zh-CN" sz="4000" dirty="0" smtClean="0"/>
          </a:p>
          <a:p>
            <a:pPr lvl="1"/>
            <a:r>
              <a:rPr lang="zh-CN" altLang="en-US" sz="4000" dirty="0" smtClean="0"/>
              <a:t>自己实现合并排序和快速排序</a:t>
            </a:r>
            <a:endParaRPr lang="en-US" altLang="zh-CN" sz="4000" dirty="0" smtClean="0"/>
          </a:p>
          <a:p>
            <a:r>
              <a:rPr lang="en-US" altLang="zh-CN" sz="4000" dirty="0" smtClean="0"/>
              <a:t>2</a:t>
            </a:r>
            <a:r>
              <a:rPr lang="zh-CN" altLang="en-US" sz="4000" dirty="0" smtClean="0"/>
              <a:t>、小组讨论</a:t>
            </a:r>
            <a:endParaRPr lang="en-US" altLang="zh-CN" sz="4000" dirty="0" smtClean="0"/>
          </a:p>
          <a:p>
            <a:pPr lvl="1"/>
            <a:r>
              <a:rPr lang="zh-CN" altLang="en-US" sz="4000" dirty="0" smtClean="0"/>
              <a:t>内容：快速排序算法及其改进</a:t>
            </a:r>
            <a:endParaRPr lang="en-US" altLang="zh-CN" sz="4000" dirty="0" smtClean="0"/>
          </a:p>
          <a:p>
            <a:pPr lvl="1"/>
            <a:r>
              <a:rPr lang="zh-CN" altLang="en-US" sz="4000" dirty="0" smtClean="0"/>
              <a:t>手段：利用网络资源查阅相关资料</a:t>
            </a:r>
            <a:endParaRPr lang="en-US" altLang="zh-CN" sz="4000" dirty="0" smtClean="0"/>
          </a:p>
          <a:p>
            <a:pPr lvl="1"/>
            <a:r>
              <a:rPr lang="zh-CN" altLang="en-US" sz="4000" dirty="0" smtClean="0"/>
              <a:t>形式</a:t>
            </a:r>
            <a:r>
              <a:rPr lang="zh-CN" altLang="en-US" sz="4000" dirty="0" smtClean="0"/>
              <a:t>：提交</a:t>
            </a:r>
            <a:r>
              <a:rPr lang="zh-CN" altLang="en-US" sz="4000" dirty="0" smtClean="0"/>
              <a:t>论文（</a:t>
            </a:r>
            <a:r>
              <a:rPr lang="en-US" altLang="zh-CN" sz="4000" dirty="0" smtClean="0"/>
              <a:t>WORD</a:t>
            </a:r>
            <a:r>
              <a:rPr lang="zh-CN" altLang="en-US" sz="4000" dirty="0" smtClean="0"/>
              <a:t>文档）</a:t>
            </a:r>
            <a:endParaRPr lang="zh-CN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5"/>
          <p:cNvSpPr txBox="1">
            <a:spLocks noChangeArrowheads="1"/>
          </p:cNvSpPr>
          <p:nvPr/>
        </p:nvSpPr>
        <p:spPr bwMode="auto">
          <a:xfrm>
            <a:off x="304800" y="760230"/>
            <a:ext cx="8610600" cy="148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Char char="•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algn="just" eaLnBrk="1" fontAlgn="base" hangingPunct="1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在含有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个不同元素的集合中同时找出它的最大值和最小值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(maximum &amp; minimum)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的最简单方法是将元素逐个进行比较。 算法中用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max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min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分别表示最大值和最小值。算法描述如下： </a:t>
            </a:r>
            <a:endParaRPr kumimoji="1" lang="zh-CN" altLang="en-US" sz="24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563" name="Text Box 6"/>
          <p:cNvSpPr txBox="1">
            <a:spLocks noChangeArrowheads="1"/>
          </p:cNvSpPr>
          <p:nvPr/>
        </p:nvSpPr>
        <p:spPr bwMode="auto">
          <a:xfrm>
            <a:off x="1293553" y="2420888"/>
            <a:ext cx="5424488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Char char="•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MAXMIN(A)  </a:t>
            </a:r>
            <a:endParaRPr kumimoji="1" lang="en-US" altLang="zh-CN" sz="24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    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max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← 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min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←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A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［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］ </a:t>
            </a:r>
            <a:endParaRPr kumimoji="1" lang="zh-CN" altLang="en-US" sz="24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   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for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400" i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← 2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to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en-US" altLang="zh-CN" sz="24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	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if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［</a:t>
            </a:r>
            <a:r>
              <a:rPr kumimoji="1" lang="en-US" altLang="zh-CN" sz="24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］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max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en-US" altLang="zh-CN" sz="24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                    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then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max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← 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［</a:t>
            </a:r>
            <a:r>
              <a:rPr kumimoji="1" lang="en-US" altLang="zh-CN" sz="2400" i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］ </a:t>
            </a:r>
            <a:endParaRPr kumimoji="1" lang="zh-CN" altLang="en-US" sz="24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                    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else if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［</a:t>
            </a:r>
            <a:r>
              <a:rPr kumimoji="1" lang="en-US" altLang="zh-CN" sz="2400" i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］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min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endParaRPr kumimoji="1" lang="en-US" altLang="zh-CN" sz="24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                               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then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min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← 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［</a:t>
            </a:r>
            <a:r>
              <a:rPr kumimoji="1" lang="en-US" altLang="zh-CN" sz="2400" i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］ </a:t>
            </a:r>
            <a:endParaRPr kumimoji="1" lang="zh-CN" altLang="en-US" sz="24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   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return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max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&amp; </a:t>
            </a:r>
            <a:r>
              <a:rPr kumimoji="1" lang="en-US" altLang="zh-CN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min</a:t>
            </a:r>
            <a:r>
              <a:rPr kumimoji="1"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en-US" altLang="zh-CN" sz="24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564" name="矩形 1"/>
          <p:cNvSpPr>
            <a:spLocks noChangeArrowheads="1"/>
          </p:cNvSpPr>
          <p:nvPr/>
        </p:nvSpPr>
        <p:spPr bwMode="auto">
          <a:xfrm>
            <a:off x="146447" y="9553"/>
            <a:ext cx="3890809" cy="73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base" hangingPunct="1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3200" b="1" dirty="0" smtClean="0">
                <a:solidFill>
                  <a:srgbClr val="000000"/>
                </a:solidFill>
              </a:rPr>
              <a:t>3.</a:t>
            </a:r>
            <a:r>
              <a:rPr lang="zh-CN" altLang="en-US" sz="3200" b="1" dirty="0" smtClean="0">
                <a:solidFill>
                  <a:srgbClr val="000000"/>
                </a:solidFill>
              </a:rPr>
              <a:t>找最大值与最小值</a:t>
            </a:r>
            <a:r>
              <a:rPr lang="zh-CN" altLang="en-US" sz="3200" dirty="0" smtClean="0">
                <a:solidFill>
                  <a:srgbClr val="000000"/>
                </a:solidFill>
              </a:rPr>
              <a:t> </a:t>
            </a:r>
            <a:endParaRPr lang="zh-CN" altLang="en-US" sz="3200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4"/>
          <p:cNvSpPr txBox="1">
            <a:spLocks noChangeArrowheads="1"/>
          </p:cNvSpPr>
          <p:nvPr/>
        </p:nvSpPr>
        <p:spPr bwMode="auto">
          <a:xfrm>
            <a:off x="381000" y="762000"/>
            <a:ext cx="8534400" cy="337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Char char="•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algn="just" eaLnBrk="1" fontAlgn="base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如果数组中元素按照递增的次序排列，则找出最大值和最小值所需的元素比较次数为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，这是最佳的情况。如果数组中元素按照递减的次序排列，则找出最大值和最小值所需的元素比较次数为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2(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-1)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，这是最坏情况。 在平均情况下，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中将有一半元素使得第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行的比较为真，找出最大值和最小值所需的元素比较次数为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3(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-1)/2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 </a:t>
            </a:r>
            <a:endParaRPr kumimoji="1" lang="zh-CN" altLang="en-US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8610600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Char char="•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algn="just" eaLnBrk="1" fontAlgn="base" hangingPunct="1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如果我们将分治策略用于此问题，每次将问题分成大致相等的两部分，分别在这两部分中找出最大值与最小值，再将这两个子问题的解组合成原问题的解，就可得到该问题的分治算法。算法描述如下： </a:t>
            </a:r>
            <a:endParaRPr kumimoji="1" lang="zh-CN" altLang="en-US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611" name="Text Box 5"/>
          <p:cNvSpPr txBox="1">
            <a:spLocks noChangeArrowheads="1"/>
          </p:cNvSpPr>
          <p:nvPr/>
        </p:nvSpPr>
        <p:spPr bwMode="auto">
          <a:xfrm>
            <a:off x="1630363" y="2332038"/>
            <a:ext cx="5348287" cy="397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Char char="•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REC-MAXMIN (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fmax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fmin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endParaRPr kumimoji="1" lang="en-US" altLang="zh-CN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   </a:t>
            </a:r>
            <a:r>
              <a:rPr kumimoji="1" lang="en-US" altLang="zh-CN" sz="2400" b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if 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en-US" altLang="zh-CN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        </a:t>
            </a:r>
            <a:r>
              <a:rPr kumimoji="1" lang="en-US" altLang="zh-CN" sz="2400" b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then 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fmax ← fmin ← A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［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］ </a:t>
            </a:r>
            <a:endParaRPr kumimoji="1" lang="zh-CN" altLang="en-US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    </a:t>
            </a:r>
            <a:r>
              <a:rPr kumimoji="1" lang="en-US" altLang="zh-CN" sz="2400" b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if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=(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-1) </a:t>
            </a:r>
            <a:endParaRPr kumimoji="1" lang="en-US" altLang="zh-CN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            </a:t>
            </a:r>
            <a:r>
              <a:rPr kumimoji="1" lang="en-US" altLang="zh-CN" sz="2400" b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then if</a:t>
            </a:r>
            <a:r>
              <a:rPr kumimoji="1" lang="en-US" altLang="zh-CN" sz="2400" b="1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［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］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［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］ </a:t>
            </a:r>
            <a:endParaRPr kumimoji="1" lang="zh-CN" altLang="en-US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                             then 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fmax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←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A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［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］   </a:t>
            </a:r>
            <a:endParaRPr kumimoji="1" lang="zh-CN" altLang="en-US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                                      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fmin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← 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［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］ </a:t>
            </a:r>
            <a:endParaRPr kumimoji="1" lang="zh-CN" altLang="en-US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4"/>
          <p:cNvSpPr txBox="1">
            <a:spLocks noChangeArrowheads="1"/>
          </p:cNvSpPr>
          <p:nvPr/>
        </p:nvSpPr>
        <p:spPr bwMode="auto">
          <a:xfrm>
            <a:off x="735013" y="798513"/>
            <a:ext cx="7939087" cy="397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Char char="•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                            </a:t>
            </a:r>
            <a:r>
              <a:rPr kumimoji="1" lang="en-US" altLang="zh-CN" sz="2400" b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else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fmax 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← 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［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］ </a:t>
            </a:r>
            <a:endParaRPr kumimoji="1" lang="zh-CN" altLang="en-US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                                      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fmin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← 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［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］ </a:t>
            </a:r>
            <a:endParaRPr kumimoji="1" lang="zh-CN" altLang="en-US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              </a:t>
            </a:r>
            <a:r>
              <a:rPr kumimoji="1" lang="en-US" altLang="zh-CN" sz="2400" b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else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mid 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← 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［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)/2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］ </a:t>
            </a:r>
            <a:endParaRPr kumimoji="1" lang="zh-CN" altLang="en-US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                      REC-MAXMIN(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zh-CN" altLang="en-US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mid</a:t>
            </a:r>
            <a:r>
              <a:rPr kumimoji="1" lang="zh-CN" altLang="en-US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gmax</a:t>
            </a:r>
            <a:r>
              <a:rPr kumimoji="1" lang="zh-CN" altLang="en-US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gmin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endParaRPr kumimoji="1" lang="en-US" altLang="zh-CN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                      REC-MAXMIN(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mid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+1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hmax</a:t>
            </a:r>
            <a:r>
              <a:rPr kumimoji="1" lang="zh-CN" altLang="en-US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hmin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endParaRPr kumimoji="1" lang="en-US" altLang="zh-CN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                     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fmax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← max{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gmax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hmax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 </a:t>
            </a:r>
            <a:endParaRPr kumimoji="1" lang="en-US" altLang="zh-CN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                      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fmin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←min{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gmin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hmin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 </a:t>
            </a:r>
            <a:endParaRPr kumimoji="1" lang="en-US" altLang="zh-CN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4"/>
          <p:cNvSpPr txBox="1">
            <a:spLocks noChangeArrowheads="1"/>
          </p:cNvSpPr>
          <p:nvPr/>
        </p:nvSpPr>
        <p:spPr bwMode="auto">
          <a:xfrm>
            <a:off x="304800" y="762000"/>
            <a:ext cx="8704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Char char="•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表示算法所需的元素比较次数，则可得算法的递归方程为 </a:t>
            </a:r>
            <a:endParaRPr kumimoji="1" lang="zh-CN" altLang="en-US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0659" name="Group 9"/>
          <p:cNvGrpSpPr/>
          <p:nvPr/>
        </p:nvGrpSpPr>
        <p:grpSpPr bwMode="auto">
          <a:xfrm>
            <a:off x="1676400" y="1295400"/>
            <a:ext cx="6527800" cy="1606550"/>
            <a:chOff x="720" y="864"/>
            <a:chExt cx="4112" cy="1012"/>
          </a:xfrm>
        </p:grpSpPr>
        <p:graphicFrame>
          <p:nvGraphicFramePr>
            <p:cNvPr id="70665" name="Object 5"/>
            <p:cNvGraphicFramePr>
              <a:graphicFrameLocks noChangeAspect="1"/>
            </p:cNvGraphicFramePr>
            <p:nvPr/>
          </p:nvGraphicFramePr>
          <p:xfrm>
            <a:off x="720" y="864"/>
            <a:ext cx="2928" cy="10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0" name="Equation" r:id="rId1" imgW="2057400" imgH="711200" progId="Equation.3">
                    <p:embed/>
                  </p:oleObj>
                </mc:Choice>
                <mc:Fallback>
                  <p:oleObj name="Equation" r:id="rId1" imgW="2057400" imgH="711200" progId="Equation.3">
                    <p:embed/>
                    <p:pic>
                      <p:nvPicPr>
                        <p:cNvPr id="0" name="Picture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864"/>
                          <a:ext cx="2928" cy="10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0666" name="Text Box 6"/>
            <p:cNvSpPr txBox="1">
              <a:spLocks noChangeArrowheads="1"/>
            </p:cNvSpPr>
            <p:nvPr/>
          </p:nvSpPr>
          <p:spPr bwMode="auto">
            <a:xfrm>
              <a:off x="4358" y="864"/>
              <a:ext cx="4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ü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Char char="•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400" i="1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kumimoji="1" lang="en-US" altLang="zh-CN" sz="24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=1 </a:t>
              </a:r>
              <a:endPara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667" name="Text Box 7"/>
            <p:cNvSpPr txBox="1">
              <a:spLocks noChangeArrowheads="1"/>
            </p:cNvSpPr>
            <p:nvPr/>
          </p:nvSpPr>
          <p:spPr bwMode="auto">
            <a:xfrm>
              <a:off x="4368" y="1200"/>
              <a:ext cx="4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ü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Char char="•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400" i="1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kumimoji="1" lang="en-US" altLang="zh-CN" sz="24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=2 </a:t>
              </a:r>
              <a:endPara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668" name="Text Box 8"/>
            <p:cNvSpPr txBox="1">
              <a:spLocks noChangeArrowheads="1"/>
            </p:cNvSpPr>
            <p:nvPr/>
          </p:nvSpPr>
          <p:spPr bwMode="auto">
            <a:xfrm>
              <a:off x="4368" y="1536"/>
              <a:ext cx="4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ü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Char char="•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400" i="1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kumimoji="1" lang="en-US" altLang="zh-CN" sz="24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&gt;2 </a:t>
              </a:r>
              <a:endPara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0660" name="Text Box 10"/>
          <p:cNvSpPr txBox="1">
            <a:spLocks noChangeArrowheads="1"/>
          </p:cNvSpPr>
          <p:nvPr/>
        </p:nvSpPr>
        <p:spPr bwMode="auto">
          <a:xfrm>
            <a:off x="347663" y="3124200"/>
            <a:ext cx="4208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Char char="•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假设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的幂， 化简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可得 </a:t>
            </a:r>
            <a:endParaRPr kumimoji="1" lang="zh-CN" altLang="en-US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0661" name="Object 12"/>
          <p:cNvGraphicFramePr>
            <a:graphicFrameLocks noChangeAspect="1"/>
          </p:cNvGraphicFramePr>
          <p:nvPr/>
        </p:nvGraphicFramePr>
        <p:xfrm>
          <a:off x="2413000" y="3698875"/>
          <a:ext cx="3327400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1" name="公式" r:id="rId3" imgW="1473200" imgH="736600" progId="Equation.3">
                  <p:embed/>
                </p:oleObj>
              </mc:Choice>
              <mc:Fallback>
                <p:oleObj name="公式" r:id="rId3" imgW="1473200" imgH="73660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0" y="3698875"/>
                        <a:ext cx="3327400" cy="166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2" name="Text Box 13"/>
          <p:cNvSpPr txBox="1">
            <a:spLocks noChangeArrowheads="1"/>
          </p:cNvSpPr>
          <p:nvPr/>
        </p:nvSpPr>
        <p:spPr bwMode="auto">
          <a:xfrm>
            <a:off x="7527925" y="3727450"/>
            <a:ext cx="73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Char char="•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 </a:t>
            </a:r>
            <a:endParaRPr kumimoji="1" lang="en-US" altLang="zh-CN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0663" name="Text Box 14"/>
          <p:cNvSpPr txBox="1">
            <a:spLocks noChangeArrowheads="1"/>
          </p:cNvSpPr>
          <p:nvPr/>
        </p:nvSpPr>
        <p:spPr bwMode="auto">
          <a:xfrm>
            <a:off x="7543800" y="4260850"/>
            <a:ext cx="73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Char char="•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 </a:t>
            </a:r>
            <a:endParaRPr kumimoji="1" lang="en-US" altLang="zh-CN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0664" name="Text Box 15"/>
          <p:cNvSpPr txBox="1">
            <a:spLocks noChangeArrowheads="1"/>
          </p:cNvSpPr>
          <p:nvPr/>
        </p:nvSpPr>
        <p:spPr bwMode="auto">
          <a:xfrm>
            <a:off x="7543800" y="4794250"/>
            <a:ext cx="73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Char char="•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&gt;2 </a:t>
            </a:r>
            <a:endParaRPr kumimoji="1" lang="en-US" altLang="zh-CN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682" name="Group 6"/>
          <p:cNvGrpSpPr/>
          <p:nvPr/>
        </p:nvGrpSpPr>
        <p:grpSpPr bwMode="auto">
          <a:xfrm>
            <a:off x="2755900" y="776288"/>
            <a:ext cx="3063875" cy="3452812"/>
            <a:chOff x="1736" y="489"/>
            <a:chExt cx="1930" cy="2175"/>
          </a:xfrm>
        </p:grpSpPr>
        <p:sp>
          <p:nvSpPr>
            <p:cNvPr id="71684" name="Text Box 4"/>
            <p:cNvSpPr txBox="1">
              <a:spLocks noChangeArrowheads="1"/>
            </p:cNvSpPr>
            <p:nvPr/>
          </p:nvSpPr>
          <p:spPr bwMode="auto">
            <a:xfrm>
              <a:off x="1736" y="489"/>
              <a:ext cx="1930" cy="2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ü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Char char="•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15000"/>
                </a:spcBef>
                <a:spcAft>
                  <a:spcPct val="15000"/>
                </a:spcAft>
                <a:buClr>
                  <a:srgbClr val="FF0000"/>
                </a:buClr>
                <a:buFont typeface="Wingdings" panose="05000000000000000000" pitchFamily="2" charset="2"/>
                <a:buChar char="p"/>
                <a:defRPr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400" i="1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kumimoji="1" lang="en-US" altLang="zh-CN" sz="24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kumimoji="1" lang="en-US" altLang="zh-CN" sz="2400" i="1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kumimoji="1" lang="en-US" altLang="zh-CN" sz="24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)=2</a:t>
              </a:r>
              <a:r>
                <a:rPr kumimoji="1" lang="en-US" altLang="zh-CN" sz="2400" i="1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kumimoji="1" lang="en-US" altLang="zh-CN" sz="24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kumimoji="1" lang="en-US" altLang="zh-CN" sz="2400" i="1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kumimoji="1" lang="en-US" altLang="zh-CN" sz="24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/2)+2     </a:t>
              </a:r>
              <a:endPara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fontAlgn="base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4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=2(2</a:t>
              </a:r>
              <a:r>
                <a:rPr kumimoji="1" lang="en-US" altLang="zh-CN" sz="2400" i="1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kumimoji="1" lang="en-US" altLang="zh-CN" sz="24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kumimoji="1" lang="en-US" altLang="zh-CN" sz="2400" i="1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kumimoji="1" lang="en-US" altLang="zh-CN" sz="24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/4)+2)+2 </a:t>
              </a:r>
              <a:endPara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fontAlgn="base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4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=4T(</a:t>
              </a:r>
              <a:r>
                <a:rPr kumimoji="1" lang="en-US" altLang="zh-CN" sz="2400" i="1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kumimoji="1" lang="en-US" altLang="zh-CN" sz="24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/4)+4+2 </a:t>
              </a:r>
              <a:endPara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fontAlgn="base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4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…… </a:t>
              </a:r>
              <a:endPara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fontAlgn="base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4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=2</a:t>
              </a:r>
              <a:r>
                <a:rPr kumimoji="1" lang="en-US" altLang="zh-CN" sz="2400" i="1" baseline="300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r>
                <a:rPr kumimoji="1" lang="en-US" altLang="zh-CN" sz="2400" baseline="300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-1</a:t>
              </a:r>
              <a:r>
                <a:rPr kumimoji="1" lang="en-US" altLang="zh-CN" sz="2400" i="1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kumimoji="1" lang="en-US" altLang="zh-CN" sz="24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(2)+ </a:t>
              </a:r>
              <a:endPara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fontAlgn="base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4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=2</a:t>
              </a:r>
              <a:r>
                <a:rPr kumimoji="1" lang="en-US" altLang="zh-CN" sz="2400" i="1" baseline="300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r>
                <a:rPr kumimoji="1" lang="en-US" altLang="zh-CN" sz="2400" baseline="300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-1</a:t>
              </a:r>
              <a:r>
                <a:rPr kumimoji="1" lang="en-US" altLang="zh-CN" sz="24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+2</a:t>
              </a:r>
              <a:r>
                <a:rPr kumimoji="1" lang="en-US" altLang="zh-CN" sz="2400" i="1" baseline="300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r>
                <a:rPr kumimoji="1" lang="en-US" altLang="zh-CN" sz="24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-2 </a:t>
              </a:r>
              <a:endPara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fontAlgn="base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kumimoji="1" lang="en-US" altLang="zh-CN" sz="24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=3</a:t>
              </a:r>
              <a:r>
                <a:rPr kumimoji="1" lang="en-US" altLang="zh-CN" sz="2400" i="1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kumimoji="1" lang="en-US" altLang="zh-CN" sz="240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/2-2 </a:t>
              </a:r>
              <a:endPara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71685" name="Object 5"/>
            <p:cNvGraphicFramePr>
              <a:graphicFrameLocks noChangeAspect="1"/>
            </p:cNvGraphicFramePr>
            <p:nvPr/>
          </p:nvGraphicFramePr>
          <p:xfrm>
            <a:off x="3024" y="1719"/>
            <a:ext cx="480" cy="3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4" name="Equation" r:id="rId1" imgW="419100" imgH="342900" progId="Equation.3">
                    <p:embed/>
                  </p:oleObj>
                </mc:Choice>
                <mc:Fallback>
                  <p:oleObj name="Equation" r:id="rId1" imgW="419100" imgH="34290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1719"/>
                          <a:ext cx="480" cy="3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683" name="Text Box 7"/>
          <p:cNvSpPr txBox="1">
            <a:spLocks noChangeArrowheads="1"/>
          </p:cNvSpPr>
          <p:nvPr/>
        </p:nvSpPr>
        <p:spPr bwMode="auto">
          <a:xfrm>
            <a:off x="304800" y="4572000"/>
            <a:ext cx="9056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Char char="•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这表明算法的最坏、 平均以及最好情况的元素比较次数为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/2-2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 </a:t>
            </a:r>
            <a:endParaRPr kumimoji="1" lang="zh-CN" altLang="en-US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4"/>
          <p:cNvSpPr txBox="1">
            <a:spLocks noChangeArrowheads="1"/>
          </p:cNvSpPr>
          <p:nvPr/>
        </p:nvSpPr>
        <p:spPr bwMode="auto">
          <a:xfrm>
            <a:off x="304800" y="533400"/>
            <a:ext cx="8610600" cy="588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Char char="•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algn="just" eaLnBrk="1" fontAlgn="base" hangingPunct="1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事实上，至多进行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［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/2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］次比较是找出最小值和最大值的充分条件。我们并不将每个元素与最大值和最小值都进行比较，因为这样每个元素需要进行两次比较。下面我们成对处理元素。首先，输入元素成对相互进行比较，并将较小者与当前最小值比较，较大者与当前最大值比较。 这样每两个元素进行三次比较。  </a:t>
            </a:r>
            <a:endParaRPr kumimoji="1" lang="zh-CN" altLang="en-US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fontAlgn="base" hangingPunct="1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设置当前最小元素和最大元素的初始值，与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的奇偶性有关。 当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为奇数时，我们将最小值和最大值都设为第一个元素，然后， 将其余元素成对处理；当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为偶数时，我们在前两个元素之间进行一次比较，决定最大值和最小值的初始值，然后，将其余元素成对处理。 </a:t>
            </a:r>
            <a:endParaRPr kumimoji="1" lang="zh-CN" altLang="en-US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4"/>
          <p:cNvSpPr txBox="1">
            <a:spLocks noChangeArrowheads="1"/>
          </p:cNvSpPr>
          <p:nvPr/>
        </p:nvSpPr>
        <p:spPr bwMode="auto">
          <a:xfrm>
            <a:off x="381000" y="615950"/>
            <a:ext cx="8534400" cy="471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Char char="•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algn="just" eaLnBrk="1" fontAlgn="base" hangingPunct="1">
              <a:lnSpc>
                <a:spcPct val="135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以下分析上述算法的比较次数。如果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为奇数，那么需进行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［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/2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］次比较；如果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为偶数，我们首先在前两个元素之间进行一次比较， 然后进行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3(n-2)/2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次比较，总共进行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/2-2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次比较。因此，不论在哪一种情况下，比较的次数至多为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［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/2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］ </a:t>
            </a:r>
            <a:endParaRPr kumimoji="1" lang="zh-CN" altLang="en-US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fontAlgn="base" hangingPunct="1">
              <a:lnSpc>
                <a:spcPct val="135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可以证明，任何基于比较的找最大值和最小值的算法， 其元素比较次数下界为［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/2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］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- 2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。在这种意义下，算法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REC-MAXMIN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是最优的。 但是</a:t>
            </a:r>
            <a:r>
              <a:rPr kumimoji="1" lang="en-US" altLang="zh-CN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REC-MAXMIN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也有其不足之处， 它所要求的存储空间较大，即算法中的每次递归调用都需要保留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zh-CN" altLang="en-US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fmax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400" i="1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fmin</a:t>
            </a:r>
            <a:r>
              <a:rPr kumimoji="1" lang="zh-CN" altLang="en-US" sz="240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的值及返回地址。 </a:t>
            </a:r>
            <a:endParaRPr kumimoji="1" lang="zh-CN" altLang="en-US" sz="240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ChangeArrowheads="1"/>
          </p:cNvSpPr>
          <p:nvPr/>
        </p:nvSpPr>
        <p:spPr bwMode="auto">
          <a:xfrm>
            <a:off x="0" y="357166"/>
            <a:ext cx="8686800" cy="909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445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ü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Char char="•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defRPr>
            </a:lvl9pPr>
          </a:lstStyle>
          <a:p>
            <a:pPr eaLnBrk="1" fontAlgn="base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Tx/>
              <a:buFontTx/>
              <a:buNone/>
            </a:pPr>
            <a:r>
              <a:rPr kumimoji="1" lang="zh-CN" altLang="en-US" sz="4000" b="1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扩展：找第二大元素</a:t>
            </a:r>
            <a:endParaRPr kumimoji="1" lang="en-US" altLang="zh-CN" sz="40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57158" y="1214422"/>
            <a:ext cx="8786842" cy="216059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通常算法：顺序比较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    </a:t>
            </a:r>
            <a:r>
              <a:rPr lang="en-US" altLang="zh-CN" sz="2800" b="1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．顺序比较找到最大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max</a:t>
            </a:r>
            <a:r>
              <a:rPr lang="en-US" altLang="zh-CN" sz="2800" b="1" dirty="0">
                <a:latin typeface="Times New Roman" panose="02020603050405020304" pitchFamily="18" charset="0"/>
              </a:rPr>
              <a:t>;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latin typeface="Times New Roman" panose="02020603050405020304" pitchFamily="18" charset="0"/>
              </a:rPr>
              <a:t>    2</a:t>
            </a:r>
            <a:r>
              <a:rPr lang="zh-CN" altLang="en-US" sz="2800" b="1" dirty="0">
                <a:latin typeface="Times New Roman" panose="02020603050405020304" pitchFamily="18" charset="0"/>
              </a:rPr>
              <a:t>．从剩下的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个数中找最大，就是第二大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second</a:t>
            </a:r>
            <a:endParaRPr lang="en-US" altLang="zh-CN" sz="2800" b="1" i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复杂性：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W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)=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latin typeface="Times New Roman" panose="02020603050405020304" pitchFamily="18" charset="0"/>
              </a:rPr>
              <a:t>1+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latin typeface="Times New Roman" panose="02020603050405020304" pitchFamily="18" charset="0"/>
              </a:rPr>
              <a:t>2=2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latin typeface="Times New Roman" panose="02020603050405020304" pitchFamily="18" charset="0"/>
              </a:rPr>
              <a:t>3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71472" y="4071942"/>
            <a:ext cx="8286808" cy="16435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锦标赛算法：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    两两分组比较，大者进入下一轮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latin typeface="Times New Roman" panose="02020603050405020304" pitchFamily="18" charset="0"/>
              </a:rPr>
              <a:t>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每个元素用数表记录每次比较时小于自己的元素</a:t>
            </a:r>
            <a:endParaRPr lang="zh-CN" altLang="en-US" sz="2800" b="1" i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2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6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fld id="{A472F513-E1FF-4A81-8F83-B755A1B3F970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22531" name="Rectangle 4"/>
          <p:cNvSpPr>
            <a:spLocks noChangeArrowheads="1"/>
          </p:cNvSpPr>
          <p:nvPr/>
        </p:nvSpPr>
        <p:spPr bwMode="auto">
          <a:xfrm>
            <a:off x="571500" y="1000125"/>
            <a:ext cx="7777163" cy="54324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算法  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FindSecond</a:t>
            </a:r>
            <a:endParaRPr lang="zh-CN" altLang="en-US" sz="2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输入：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个数的数组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输出：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    </a:t>
            </a:r>
            <a:r>
              <a:rPr lang="en-US" altLang="zh-CN" sz="2400" b="1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．</a:t>
            </a:r>
            <a:r>
              <a:rPr lang="en-US" altLang="zh-CN" sz="2400" b="1" i="1">
                <a:latin typeface="Times New Roman" panose="02020603050405020304" pitchFamily="18" charset="0"/>
              </a:rPr>
              <a:t>k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endParaRPr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ts val="300"/>
              </a:spcBef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．将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k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个元素两两一组，分成 </a:t>
            </a:r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</a:rPr>
              <a:t>/2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 </a:t>
            </a:r>
            <a:r>
              <a:rPr lang="zh-CN" altLang="en-US" sz="2400" b="1">
                <a:latin typeface="Times New Roman" panose="02020603050405020304" pitchFamily="18" charset="0"/>
              </a:rPr>
              <a:t>组</a:t>
            </a:r>
            <a:endParaRPr lang="zh-CN" altLang="en-US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ts val="300"/>
              </a:spcBef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．每组的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个数比较，找到较大的数</a:t>
            </a:r>
            <a:endParaRPr lang="zh-CN" altLang="en-US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ts val="300"/>
              </a:spcBef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．将被淘汰的较小的数在淘汰它的数所指向的链表中  </a:t>
            </a:r>
            <a:endParaRPr lang="zh-CN" altLang="en-US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ts val="300"/>
              </a:spcBef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 做记录</a:t>
            </a:r>
            <a:endParaRPr lang="zh-CN" altLang="en-US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ts val="300"/>
              </a:spcBef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．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if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 k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为奇数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then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k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 </a:t>
            </a:r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</a:rPr>
              <a:t>/2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 </a:t>
            </a:r>
            <a:r>
              <a:rPr lang="en-US" altLang="zh-CN" sz="2400" b="1">
                <a:latin typeface="Times New Roman" panose="02020603050405020304" pitchFamily="18" charset="0"/>
              </a:rPr>
              <a:t>+1</a:t>
            </a:r>
            <a:endParaRPr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ts val="300"/>
              </a:spcBef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．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else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k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 </a:t>
            </a:r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</a:rPr>
              <a:t>/2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</a:t>
            </a:r>
            <a:endParaRPr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ts val="300"/>
              </a:spcBef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7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．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if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&gt;1  then  goto 2</a:t>
            </a:r>
            <a:endParaRPr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ts val="300"/>
              </a:spcBef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8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．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max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zh-CN" altLang="en-US" sz="2400" b="1">
                <a:latin typeface="Times New Roman" panose="02020603050405020304" pitchFamily="18" charset="0"/>
              </a:rPr>
              <a:t>最大数</a:t>
            </a:r>
            <a:endParaRPr lang="zh-CN" altLang="en-US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ts val="300"/>
              </a:spcBef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9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．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Second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zh-CN" sz="2400" b="1" i="1">
                <a:latin typeface="Times New Roman" panose="02020603050405020304" pitchFamily="18" charset="0"/>
              </a:rPr>
              <a:t>max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的链表中的最大</a:t>
            </a:r>
            <a:endParaRPr lang="zh-CN" altLang="en-US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2532" name="Rectangle 5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4000" b="1" smtClean="0">
                <a:solidFill>
                  <a:srgbClr val="C00000"/>
                </a:solidFill>
              </a:rPr>
              <a:t>锦标赛算法</a:t>
            </a:r>
            <a:endParaRPr lang="zh-CN" altLang="en-US" sz="4000" b="1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fld id="{2FF59DE5-65D8-4082-AC99-6FFDB02E5002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23555" name="Rectangle 4"/>
          <p:cNvSpPr>
            <a:spLocks noChangeArrowheads="1"/>
          </p:cNvSpPr>
          <p:nvPr/>
        </p:nvSpPr>
        <p:spPr bwMode="auto">
          <a:xfrm>
            <a:off x="571500" y="1785938"/>
            <a:ext cx="7777163" cy="30924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zh-CN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在第一阶段的分组比较中总计进行了</a:t>
            </a:r>
            <a:r>
              <a:rPr lang="en-US" altLang="zh-CN" sz="32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</a:t>
            </a:r>
            <a:r>
              <a:rPr lang="en-US" altLang="zh-C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CN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2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</a:t>
            </a:r>
            <a:r>
              <a:rPr lang="zh-CN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次比较</a:t>
            </a:r>
            <a:r>
              <a:rPr lang="en-US" altLang="zh-C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.    </a:t>
            </a:r>
            <a:endParaRPr lang="zh-CN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r>
              <a:rPr lang="zh-CN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　　　　　　　　　　　　　　　</a:t>
            </a:r>
            <a:endParaRPr lang="zh-CN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r>
              <a:rPr lang="zh-CN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算法时间复杂度是</a:t>
            </a:r>
            <a:endParaRPr lang="zh-CN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altLang="zh-C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n-US" altLang="zh-CN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32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1+</a:t>
            </a:r>
            <a:r>
              <a:rPr lang="en-US" altLang="zh-CN" sz="32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</a:t>
            </a:r>
            <a:r>
              <a:rPr lang="en-US" altLang="zh-C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CN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en-US" altLang="zh-CN" sz="32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</a:t>
            </a:r>
            <a:r>
              <a:rPr lang="en-US" altLang="zh-C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1= </a:t>
            </a:r>
            <a:r>
              <a:rPr lang="en-US" altLang="zh-CN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32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</a:t>
            </a:r>
            <a:r>
              <a:rPr lang="en-US" altLang="zh-C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log </a:t>
            </a:r>
            <a:r>
              <a:rPr lang="en-US" altLang="zh-CN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2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</a:t>
            </a:r>
            <a:r>
              <a:rPr lang="en-US" altLang="zh-C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endParaRPr lang="zh-CN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56" name="Rectangle 5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4000" b="1" smtClean="0">
                <a:solidFill>
                  <a:srgbClr val="C00000"/>
                </a:solidFill>
              </a:rPr>
              <a:t>时间复杂度分析</a:t>
            </a:r>
            <a:endParaRPr lang="zh-CN" altLang="en-US" sz="4000" b="1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fld id="{40CDB3AB-3C0C-4AEC-AD00-B6B898006CAD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52227" name="Rectangle 9"/>
          <p:cNvSpPr>
            <a:spLocks noChangeArrowheads="1"/>
          </p:cNvSpPr>
          <p:nvPr/>
        </p:nvSpPr>
        <p:spPr bwMode="auto">
          <a:xfrm>
            <a:off x="468313" y="1358900"/>
            <a:ext cx="7559675" cy="4075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问题：选第 </a:t>
            </a:r>
            <a:r>
              <a:rPr lang="en-US" sz="2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sz="2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小</a:t>
            </a:r>
            <a:r>
              <a:rPr 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输入：数组 </a:t>
            </a:r>
            <a:r>
              <a:rPr lang="en-US" sz="2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sz="2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的长度 </a:t>
            </a:r>
            <a:r>
              <a:rPr lang="en-US" sz="2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正整数 </a:t>
            </a:r>
            <a:r>
              <a:rPr lang="en-US" sz="2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1</a:t>
            </a:r>
            <a:r>
              <a:rPr 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/>
              </a:rPr>
              <a:t></a:t>
            </a:r>
            <a:r>
              <a:rPr 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/>
              </a:rPr>
              <a:t></a:t>
            </a:r>
            <a:r>
              <a:rPr 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输出：第 </a:t>
            </a:r>
            <a:r>
              <a:rPr lang="en-US" sz="2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小的数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76225">
              <a:lnSpc>
                <a:spcPct val="120000"/>
              </a:lnSpc>
              <a:defRPr/>
            </a:pP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indent="276225">
              <a:lnSpc>
                <a:spcPct val="120000"/>
              </a:lnSpc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通常算法 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indent="276225">
              <a:lnSpc>
                <a:spcPct val="120000"/>
              </a:lnSpc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．排序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indent="276225">
              <a:lnSpc>
                <a:spcPct val="120000"/>
              </a:lnSpc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．找第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k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小的数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indent="276225">
              <a:lnSpc>
                <a:spcPct val="120000"/>
              </a:lnSpc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时间复杂性：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O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 b="1" dirty="0" err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log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4000" b="1" smtClean="0">
                <a:solidFill>
                  <a:srgbClr val="C00000"/>
                </a:solidFill>
              </a:rPr>
              <a:t>一般性选择问题</a:t>
            </a:r>
            <a:endParaRPr lang="zh-CN" altLang="en-US" sz="4000" b="1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>
          <a:xfrm>
            <a:off x="500063" y="500063"/>
            <a:ext cx="8229600" cy="633412"/>
          </a:xfrm>
        </p:spPr>
        <p:txBody>
          <a:bodyPr/>
          <a:lstStyle/>
          <a:p>
            <a:r>
              <a:rPr lang="zh-CN" altLang="en-US" smtClean="0"/>
              <a:t>分治法设计思路</a:t>
            </a:r>
            <a:br>
              <a:rPr lang="zh-CN" altLang="en-US" smtClean="0"/>
            </a:b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000125"/>
            <a:ext cx="8401050" cy="5473700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 smtClean="0"/>
              <a:t>利用</a:t>
            </a:r>
            <a:r>
              <a:rPr lang="en-US" altLang="zh-CN" dirty="0" smtClean="0"/>
              <a:t>PARTITION</a:t>
            </a:r>
            <a:r>
              <a:rPr lang="zh-CN" altLang="en-US" dirty="0" smtClean="0"/>
              <a:t>过程。如果划分元素</a:t>
            </a:r>
            <a:r>
              <a:rPr lang="en-US" altLang="zh-CN" dirty="0" smtClean="0"/>
              <a:t>v</a:t>
            </a:r>
            <a:r>
              <a:rPr lang="zh-CN" altLang="en-US" dirty="0" smtClean="0"/>
              <a:t>测定在</a:t>
            </a:r>
            <a:r>
              <a:rPr lang="en-US" altLang="zh-CN" dirty="0" smtClean="0"/>
              <a:t>A(j)</a:t>
            </a:r>
            <a:r>
              <a:rPr lang="zh-CN" altLang="en-US" dirty="0" smtClean="0"/>
              <a:t>的位置上，则有</a:t>
            </a:r>
            <a:r>
              <a:rPr lang="en-US" altLang="zh-CN" dirty="0" smtClean="0"/>
              <a:t>j-1</a:t>
            </a:r>
            <a:r>
              <a:rPr lang="zh-CN" altLang="en-US" dirty="0" smtClean="0"/>
              <a:t>个元素小于或等于</a:t>
            </a:r>
            <a:r>
              <a:rPr lang="en-US" altLang="zh-CN" dirty="0" smtClean="0"/>
              <a:t>A(j)</a:t>
            </a:r>
            <a:r>
              <a:rPr lang="zh-CN" altLang="en-US" dirty="0" smtClean="0"/>
              <a:t>，且有</a:t>
            </a:r>
            <a:r>
              <a:rPr lang="en-US" altLang="zh-CN" dirty="0" smtClean="0"/>
              <a:t>n-j</a:t>
            </a:r>
            <a:r>
              <a:rPr lang="zh-CN" altLang="en-US" dirty="0" smtClean="0"/>
              <a:t>个元素大于或等于</a:t>
            </a:r>
            <a:r>
              <a:rPr lang="en-US" altLang="zh-CN" dirty="0" smtClean="0"/>
              <a:t>A(j)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 smtClean="0"/>
              <a:t>此时：</a:t>
            </a:r>
            <a:endParaRPr lang="zh-CN" altLang="en-US" dirty="0" smtClean="0"/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dirty="0" smtClean="0"/>
              <a:t>     若</a:t>
            </a:r>
            <a:r>
              <a:rPr lang="en-US" altLang="zh-CN" dirty="0" smtClean="0">
                <a:solidFill>
                  <a:srgbClr val="0000FF"/>
                </a:solidFill>
              </a:rPr>
              <a:t>k=j</a:t>
            </a:r>
            <a:r>
              <a:rPr lang="zh-CN" altLang="en-US" dirty="0" smtClean="0"/>
              <a:t>，则</a:t>
            </a:r>
            <a:r>
              <a:rPr lang="en-US" altLang="zh-CN" dirty="0" smtClean="0"/>
              <a:t>A(j)</a:t>
            </a:r>
            <a:r>
              <a:rPr lang="zh-CN" altLang="en-US" dirty="0" smtClean="0"/>
              <a:t>即是第</a:t>
            </a:r>
            <a:r>
              <a:rPr lang="en-US" altLang="zh-CN" dirty="0" smtClean="0"/>
              <a:t>k</a:t>
            </a:r>
            <a:r>
              <a:rPr lang="zh-CN" altLang="en-US" dirty="0" smtClean="0"/>
              <a:t>小元素；否则，</a:t>
            </a:r>
            <a:endParaRPr lang="zh-CN" altLang="en-US" dirty="0" smtClean="0"/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dirty="0" smtClean="0"/>
              <a:t>     若</a:t>
            </a:r>
            <a:r>
              <a:rPr lang="en-US" altLang="zh-CN" dirty="0" smtClean="0">
                <a:solidFill>
                  <a:srgbClr val="0000FF"/>
                </a:solidFill>
              </a:rPr>
              <a:t>k&lt;j</a:t>
            </a:r>
            <a:r>
              <a:rPr lang="zh-CN" altLang="en-US" dirty="0" smtClean="0"/>
              <a:t>，则第</a:t>
            </a:r>
            <a:r>
              <a:rPr lang="en-US" altLang="zh-CN" dirty="0" smtClean="0"/>
              <a:t>k</a:t>
            </a:r>
            <a:r>
              <a:rPr lang="zh-CN" altLang="en-US" dirty="0" smtClean="0"/>
              <a:t>小元素将出现在</a:t>
            </a:r>
            <a:r>
              <a:rPr lang="en-US" altLang="zh-CN" dirty="0" smtClean="0"/>
              <a:t>A(1:j-1)</a:t>
            </a:r>
            <a:r>
              <a:rPr lang="zh-CN" altLang="en-US" dirty="0" smtClean="0"/>
              <a:t>中；</a:t>
            </a:r>
            <a:endParaRPr lang="zh-CN" altLang="en-US" dirty="0" smtClean="0"/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dirty="0" smtClean="0"/>
              <a:t>     若</a:t>
            </a:r>
            <a:r>
              <a:rPr lang="en-US" altLang="zh-CN" dirty="0" smtClean="0">
                <a:solidFill>
                  <a:srgbClr val="0000FF"/>
                </a:solidFill>
              </a:rPr>
              <a:t>k&gt;j</a:t>
            </a:r>
            <a:r>
              <a:rPr lang="zh-CN" altLang="en-US" dirty="0" smtClean="0"/>
              <a:t>，则第</a:t>
            </a:r>
            <a:r>
              <a:rPr lang="en-US" altLang="zh-CN" dirty="0" smtClean="0"/>
              <a:t>k</a:t>
            </a:r>
            <a:r>
              <a:rPr lang="zh-CN" altLang="en-US" dirty="0" smtClean="0"/>
              <a:t>小元素将出现在</a:t>
            </a:r>
            <a:r>
              <a:rPr lang="en-US" altLang="zh-CN" dirty="0" smtClean="0"/>
              <a:t>A(j+1:n)</a:t>
            </a:r>
            <a:r>
              <a:rPr lang="zh-CN" altLang="en-US" dirty="0" smtClean="0"/>
              <a:t>中。</a:t>
            </a:r>
            <a:endParaRPr lang="zh-CN" altLang="en-US" dirty="0" smtClean="0"/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基于划分的选择算法</a:t>
            </a:r>
            <a:endParaRPr lang="zh-CN" altLang="en-US" smtClean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763000" cy="16002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mtClean="0"/>
              <a:t>A[1…28]={8,33,17,51,57,49,35,11,25,37,14,3,2,13,52,12,6,29,32,54,5,16,22,23,7,61,36,9}</a:t>
            </a:r>
            <a:r>
              <a:rPr lang="zh-CN" altLang="en-US" smtClean="0"/>
              <a:t>，求</a:t>
            </a:r>
            <a:r>
              <a:rPr lang="en-US" altLang="zh-CN" smtClean="0"/>
              <a:t>A</a:t>
            </a:r>
            <a:r>
              <a:rPr lang="zh-CN" altLang="en-US" smtClean="0"/>
              <a:t>的中值元素，即第</a:t>
            </a:r>
            <a:r>
              <a:rPr lang="en-US" altLang="zh-CN" smtClean="0"/>
              <a:t>14</a:t>
            </a:r>
            <a:r>
              <a:rPr lang="zh-CN" altLang="en-US" smtClean="0"/>
              <a:t>小元素。</a:t>
            </a:r>
            <a:r>
              <a:rPr lang="en-US" altLang="zh-CN" smtClean="0"/>
              <a:t>(k=14)</a:t>
            </a:r>
            <a:endParaRPr lang="en-US" altLang="zh-CN" smtClean="0"/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0" y="3276600"/>
            <a:ext cx="91440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/>
              <a:t>{</a:t>
            </a:r>
            <a:r>
              <a:rPr lang="en-US" altLang="zh-CN" sz="2000">
                <a:solidFill>
                  <a:srgbClr val="FF0000"/>
                </a:solidFill>
              </a:rPr>
              <a:t>8</a:t>
            </a:r>
            <a:r>
              <a:rPr lang="en-US" altLang="zh-CN" sz="2000"/>
              <a:t>,33,17,51,57,49,35,11,25,37,14,3,2,13,52,12,6,29,32,54,5,16,22,23,7,61,36,9}</a:t>
            </a:r>
            <a:endParaRPr lang="en-US" altLang="zh-CN" sz="2000"/>
          </a:p>
        </p:txBody>
      </p:sp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0" y="3810000"/>
            <a:ext cx="91440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/>
              <a:t>{3,7,5,6,2,</a:t>
            </a:r>
            <a:r>
              <a:rPr lang="en-US" altLang="zh-CN" sz="2000">
                <a:solidFill>
                  <a:srgbClr val="FF0000"/>
                </a:solidFill>
              </a:rPr>
              <a:t>8</a:t>
            </a:r>
            <a:r>
              <a:rPr lang="en-US" altLang="zh-CN" sz="2000"/>
              <a:t>,11,25,37,14,35,49,13,52,12,57,29,32,54,51,16,22,23,17,61,36,33,9}</a:t>
            </a:r>
            <a:endParaRPr lang="en-US" altLang="zh-CN" sz="2000"/>
          </a:p>
        </p:txBody>
      </p:sp>
      <p:sp>
        <p:nvSpPr>
          <p:cNvPr id="13318" name="AutoShape 6"/>
          <p:cNvSpPr/>
          <p:nvPr/>
        </p:nvSpPr>
        <p:spPr bwMode="auto">
          <a:xfrm rot="5400000">
            <a:off x="5143500" y="739775"/>
            <a:ext cx="228600" cy="7315200"/>
          </a:xfrm>
          <a:prstGeom prst="rightBrace">
            <a:avLst>
              <a:gd name="adj1" fmla="val 266667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3429000" y="4587875"/>
            <a:ext cx="45720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/>
              <a:t>j&lt;k</a:t>
            </a:r>
            <a:r>
              <a:rPr lang="zh-CN" altLang="en-US" sz="2000"/>
              <a:t>，在右边区间找第</a:t>
            </a:r>
            <a:r>
              <a:rPr lang="en-US" altLang="zh-CN" sz="2000"/>
              <a:t>k(=14-6=8)</a:t>
            </a:r>
            <a:r>
              <a:rPr lang="zh-CN" altLang="en-US" sz="2000"/>
              <a:t>小元素</a:t>
            </a:r>
            <a:endParaRPr lang="zh-CN" altLang="en-US" sz="2000"/>
          </a:p>
        </p:txBody>
      </p:sp>
      <p:sp>
        <p:nvSpPr>
          <p:cNvPr id="13320" name="Text Box 8"/>
          <p:cNvSpPr txBox="1">
            <a:spLocks noChangeArrowheads="1"/>
          </p:cNvSpPr>
          <p:nvPr/>
        </p:nvSpPr>
        <p:spPr bwMode="auto">
          <a:xfrm>
            <a:off x="1295400" y="5622925"/>
            <a:ext cx="78486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/>
              <a:t>{9,</a:t>
            </a:r>
            <a:r>
              <a:rPr lang="en-US" altLang="zh-CN" sz="2000">
                <a:solidFill>
                  <a:srgbClr val="FF0000"/>
                </a:solidFill>
              </a:rPr>
              <a:t>11</a:t>
            </a:r>
            <a:r>
              <a:rPr lang="en-US" altLang="zh-CN" sz="2000"/>
              <a:t>,37,14,35,49,13,52,12,57,29,32,54,51,16,22,23,17,61,36,33,25}</a:t>
            </a:r>
            <a:endParaRPr lang="en-US" altLang="zh-CN" sz="2000"/>
          </a:p>
        </p:txBody>
      </p:sp>
      <p:sp>
        <p:nvSpPr>
          <p:cNvPr id="13322" name="AutoShape 10"/>
          <p:cNvSpPr/>
          <p:nvPr/>
        </p:nvSpPr>
        <p:spPr bwMode="auto">
          <a:xfrm rot="5400000">
            <a:off x="5448300" y="2841625"/>
            <a:ext cx="228600" cy="6705600"/>
          </a:xfrm>
          <a:prstGeom prst="rightBrace">
            <a:avLst>
              <a:gd name="adj1" fmla="val 244444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3" name="Text Box 11"/>
          <p:cNvSpPr txBox="1">
            <a:spLocks noChangeArrowheads="1"/>
          </p:cNvSpPr>
          <p:nvPr/>
        </p:nvSpPr>
        <p:spPr bwMode="auto">
          <a:xfrm>
            <a:off x="3429000" y="6324600"/>
            <a:ext cx="44958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/>
              <a:t>j&lt;k</a:t>
            </a:r>
            <a:r>
              <a:rPr lang="zh-CN" altLang="en-US" sz="2000"/>
              <a:t>，在右边区间找第</a:t>
            </a:r>
            <a:r>
              <a:rPr lang="en-US" altLang="zh-CN" sz="2000"/>
              <a:t>k(=8-2=6)</a:t>
            </a:r>
            <a:r>
              <a:rPr lang="zh-CN" altLang="en-US" sz="2000"/>
              <a:t>小元素</a:t>
            </a:r>
            <a:endParaRPr lang="zh-CN" altLang="en-US" sz="2000"/>
          </a:p>
        </p:txBody>
      </p:sp>
      <p:sp>
        <p:nvSpPr>
          <p:cNvPr id="13327" name="Text Box 15"/>
          <p:cNvSpPr txBox="1">
            <a:spLocks noChangeArrowheads="1"/>
          </p:cNvSpPr>
          <p:nvPr/>
        </p:nvSpPr>
        <p:spPr bwMode="auto">
          <a:xfrm>
            <a:off x="1066800" y="4206875"/>
            <a:ext cx="60960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j=6</a:t>
            </a:r>
            <a:endParaRPr lang="en-US" altLang="zh-CN"/>
          </a:p>
        </p:txBody>
      </p:sp>
      <p:sp>
        <p:nvSpPr>
          <p:cNvPr id="13328" name="Text Box 16"/>
          <p:cNvSpPr txBox="1">
            <a:spLocks noChangeArrowheads="1"/>
          </p:cNvSpPr>
          <p:nvPr/>
        </p:nvSpPr>
        <p:spPr bwMode="auto">
          <a:xfrm>
            <a:off x="1600200" y="6156325"/>
            <a:ext cx="53340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j=2</a:t>
            </a:r>
            <a:endParaRPr lang="en-US" altLang="zh-CN"/>
          </a:p>
        </p:txBody>
      </p:sp>
      <p:sp>
        <p:nvSpPr>
          <p:cNvPr id="13330" name="Text Box 18"/>
          <p:cNvSpPr txBox="1">
            <a:spLocks noChangeArrowheads="1"/>
          </p:cNvSpPr>
          <p:nvPr/>
        </p:nvSpPr>
        <p:spPr bwMode="auto">
          <a:xfrm>
            <a:off x="1295400" y="5105400"/>
            <a:ext cx="78486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/>
              <a:t>{</a:t>
            </a:r>
            <a:r>
              <a:rPr lang="en-US" altLang="zh-CN" sz="2000">
                <a:solidFill>
                  <a:srgbClr val="FF0066"/>
                </a:solidFill>
              </a:rPr>
              <a:t>11</a:t>
            </a:r>
            <a:r>
              <a:rPr lang="en-US" altLang="zh-CN" sz="2000"/>
              <a:t>,25,37,14,35,49,13,52,12,57,29,32,54,51,16,22,23,17,61,36,33,9}</a:t>
            </a:r>
            <a:endParaRPr lang="en-US" altLang="zh-CN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7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0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3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1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5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/>
      <p:bldP spid="13317" grpId="0"/>
      <p:bldP spid="13318" grpId="0" animBg="1"/>
      <p:bldP spid="13318" grpId="1" animBg="1"/>
      <p:bldP spid="13319" grpId="0"/>
      <p:bldP spid="13319" grpId="1"/>
      <p:bldP spid="13320" grpId="0"/>
      <p:bldP spid="13322" grpId="0" animBg="1"/>
      <p:bldP spid="13323" grpId="0"/>
      <p:bldP spid="13327" grpId="0"/>
      <p:bldP spid="13327" grpId="1"/>
      <p:bldP spid="13328" grpId="0"/>
      <p:bldP spid="13330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基于划分的选择算法</a:t>
            </a:r>
            <a:endParaRPr lang="zh-CN" altLang="en-US" smtClean="0"/>
          </a:p>
        </p:txBody>
      </p:sp>
      <p:sp>
        <p:nvSpPr>
          <p:cNvPr id="14343" name="Text Box 7"/>
          <p:cNvSpPr txBox="1">
            <a:spLocks noChangeArrowheads="1"/>
          </p:cNvSpPr>
          <p:nvPr/>
        </p:nvSpPr>
        <p:spPr bwMode="auto">
          <a:xfrm>
            <a:off x="1295400" y="4572000"/>
            <a:ext cx="48768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/>
              <a:t>{</a:t>
            </a:r>
            <a:r>
              <a:rPr lang="en-US" altLang="zh-CN" sz="2000">
                <a:solidFill>
                  <a:srgbClr val="FF0066"/>
                </a:solidFill>
              </a:rPr>
              <a:t>22</a:t>
            </a:r>
            <a:r>
              <a:rPr lang="en-US" altLang="zh-CN" sz="2000"/>
              <a:t>,14,35,25,13,33,12,36,29,32,17,23,16}</a:t>
            </a:r>
            <a:endParaRPr lang="en-US" altLang="zh-CN" sz="2000"/>
          </a:p>
        </p:txBody>
      </p:sp>
      <p:sp>
        <p:nvSpPr>
          <p:cNvPr id="14352" name="Text Box 16"/>
          <p:cNvSpPr txBox="1">
            <a:spLocks noChangeArrowheads="1"/>
          </p:cNvSpPr>
          <p:nvPr/>
        </p:nvSpPr>
        <p:spPr bwMode="auto">
          <a:xfrm>
            <a:off x="3124200" y="5715000"/>
            <a:ext cx="60960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j=6</a:t>
            </a:r>
            <a:endParaRPr lang="en-US" altLang="zh-CN"/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1676400" y="6232525"/>
            <a:ext cx="4267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/>
              <a:t>j=k</a:t>
            </a:r>
            <a:r>
              <a:rPr lang="zh-CN" altLang="en-US" sz="2000"/>
              <a:t>，找到原问题第</a:t>
            </a:r>
            <a:r>
              <a:rPr lang="en-US" altLang="zh-CN" sz="2000"/>
              <a:t>14</a:t>
            </a:r>
            <a:r>
              <a:rPr lang="zh-CN" altLang="en-US" sz="2000"/>
              <a:t>小元素，结束。</a:t>
            </a:r>
            <a:endParaRPr lang="zh-CN" altLang="en-US" sz="2000"/>
          </a:p>
        </p:txBody>
      </p:sp>
      <p:sp>
        <p:nvSpPr>
          <p:cNvPr id="14359" name="Text Box 23"/>
          <p:cNvSpPr txBox="1">
            <a:spLocks noChangeArrowheads="1"/>
          </p:cNvSpPr>
          <p:nvPr/>
        </p:nvSpPr>
        <p:spPr bwMode="auto">
          <a:xfrm>
            <a:off x="1295400" y="5257800"/>
            <a:ext cx="48768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/>
              <a:t>{12,14,16,17,13,</a:t>
            </a:r>
            <a:r>
              <a:rPr lang="en-US" altLang="zh-CN" sz="2000">
                <a:solidFill>
                  <a:srgbClr val="FF0066"/>
                </a:solidFill>
              </a:rPr>
              <a:t>22</a:t>
            </a:r>
            <a:r>
              <a:rPr lang="en-US" altLang="zh-CN" sz="2000"/>
              <a:t>,33,36,29,32,25,23,35}</a:t>
            </a:r>
            <a:endParaRPr lang="en-US" altLang="zh-CN" sz="2000"/>
          </a:p>
        </p:txBody>
      </p:sp>
      <p:sp>
        <p:nvSpPr>
          <p:cNvPr id="14360" name="Text Box 24"/>
          <p:cNvSpPr txBox="1">
            <a:spLocks noChangeArrowheads="1"/>
          </p:cNvSpPr>
          <p:nvPr/>
        </p:nvSpPr>
        <p:spPr bwMode="auto">
          <a:xfrm>
            <a:off x="1295400" y="2895600"/>
            <a:ext cx="73914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/>
              <a:t>{22,14,35,25,13,33,12,36,29,32,17,23,16,</a:t>
            </a:r>
            <a:r>
              <a:rPr lang="en-US" altLang="zh-CN" sz="2000">
                <a:solidFill>
                  <a:srgbClr val="FF0000"/>
                </a:solidFill>
              </a:rPr>
              <a:t>37</a:t>
            </a:r>
            <a:r>
              <a:rPr lang="en-US" altLang="zh-CN" sz="2000"/>
              <a:t>,51,54,61,57,52,49}</a:t>
            </a:r>
            <a:endParaRPr lang="en-US" altLang="zh-CN" sz="2000"/>
          </a:p>
        </p:txBody>
      </p:sp>
      <p:sp>
        <p:nvSpPr>
          <p:cNvPr id="14361" name="Text Box 25"/>
          <p:cNvSpPr txBox="1">
            <a:spLocks noChangeArrowheads="1"/>
          </p:cNvSpPr>
          <p:nvPr/>
        </p:nvSpPr>
        <p:spPr bwMode="auto">
          <a:xfrm>
            <a:off x="1295400" y="2041525"/>
            <a:ext cx="73914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/>
              <a:t>{</a:t>
            </a:r>
            <a:r>
              <a:rPr lang="en-US" altLang="zh-CN" sz="2000">
                <a:solidFill>
                  <a:srgbClr val="FF0066"/>
                </a:solidFill>
              </a:rPr>
              <a:t>37</a:t>
            </a:r>
            <a:r>
              <a:rPr lang="en-US" altLang="zh-CN" sz="2000"/>
              <a:t>,14,35,49,13,52,12,57,29,32,54,51,16,22,23,17,61,36,33,25}</a:t>
            </a:r>
            <a:endParaRPr lang="en-US" altLang="zh-CN" sz="2000"/>
          </a:p>
        </p:txBody>
      </p:sp>
      <p:sp>
        <p:nvSpPr>
          <p:cNvPr id="14362" name="AutoShape 26"/>
          <p:cNvSpPr/>
          <p:nvPr/>
        </p:nvSpPr>
        <p:spPr bwMode="auto">
          <a:xfrm rot="5400000">
            <a:off x="3657600" y="1600200"/>
            <a:ext cx="152400" cy="4267200"/>
          </a:xfrm>
          <a:prstGeom prst="rightBrace">
            <a:avLst>
              <a:gd name="adj1" fmla="val 2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63" name="Text Box 27"/>
          <p:cNvSpPr txBox="1">
            <a:spLocks noChangeArrowheads="1"/>
          </p:cNvSpPr>
          <p:nvPr/>
        </p:nvSpPr>
        <p:spPr bwMode="auto">
          <a:xfrm>
            <a:off x="1752600" y="3946525"/>
            <a:ext cx="40386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/>
              <a:t>j&gt;k</a:t>
            </a:r>
            <a:r>
              <a:rPr lang="zh-CN" altLang="en-US" sz="2000"/>
              <a:t>，在左边区间找第</a:t>
            </a:r>
            <a:r>
              <a:rPr lang="en-US" altLang="zh-CN" sz="2000"/>
              <a:t>k(=6)</a:t>
            </a:r>
            <a:r>
              <a:rPr lang="zh-CN" altLang="en-US" sz="2000"/>
              <a:t>小元素</a:t>
            </a:r>
            <a:endParaRPr lang="zh-CN" altLang="en-US" sz="2000"/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5943600" y="3505200"/>
            <a:ext cx="76200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j=14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1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7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0" dur="500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3" dur="500"/>
                                        <p:tgtEl>
                                          <p:spTgt spid="143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1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3" grpId="0"/>
      <p:bldP spid="14352" grpId="0"/>
      <p:bldP spid="14355" grpId="0"/>
      <p:bldP spid="14359" grpId="0"/>
      <p:bldP spid="14360" grpId="0"/>
      <p:bldP spid="14361" grpId="0"/>
      <p:bldP spid="14362" grpId="0" animBg="1"/>
      <p:bldP spid="14362" grpId="1" animBg="1"/>
      <p:bldP spid="14363" grpId="0"/>
      <p:bldP spid="14363" grpId="1"/>
      <p:bldP spid="14364" grpId="0"/>
      <p:bldP spid="14364" grpId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总结归纳</a:t>
            </a:r>
            <a:endParaRPr lang="zh-CN" altLang="en-US" smtClean="0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1" smtClean="0"/>
              <a:t>分治是一种解题的策略，它的基本思想是：“如果整个问题比较复杂，可以将问题分化，各个击破。”</a:t>
            </a:r>
            <a:endParaRPr lang="zh-CN" altLang="en-US" sz="2400" b="1" smtClean="0"/>
          </a:p>
          <a:p>
            <a:pPr eaLnBrk="1" hangingPunct="1">
              <a:lnSpc>
                <a:spcPct val="90000"/>
              </a:lnSpc>
            </a:pPr>
            <a:r>
              <a:rPr lang="zh-CN" altLang="en-US" sz="2400" b="1" smtClean="0"/>
              <a:t>分治包含“分”和“治”两层含义，如何分，分后如何“治”成为解决问题的关键所在</a:t>
            </a:r>
            <a:endParaRPr lang="zh-CN" altLang="en-US" sz="2400" b="1" smtClean="0"/>
          </a:p>
          <a:p>
            <a:pPr eaLnBrk="1" hangingPunct="1">
              <a:lnSpc>
                <a:spcPct val="90000"/>
              </a:lnSpc>
            </a:pPr>
            <a:r>
              <a:rPr lang="zh-CN" altLang="en-US" sz="2400" b="1" smtClean="0"/>
              <a:t>不是所有的问题都可以采用分治，只有那些能将问题分成与原问题类似的子问题，并且归并后符合原问题的性质的问题，才能进行分治</a:t>
            </a:r>
            <a:endParaRPr lang="zh-CN" altLang="en-US" sz="2400" b="1" smtClean="0"/>
          </a:p>
          <a:p>
            <a:pPr eaLnBrk="1" hangingPunct="1">
              <a:lnSpc>
                <a:spcPct val="90000"/>
              </a:lnSpc>
            </a:pPr>
            <a:r>
              <a:rPr lang="zh-CN" altLang="en-US" sz="2400" b="1" smtClean="0"/>
              <a:t>分治可进行二分，三分等等，具体怎么分，需看问题的性质和分治后的效果。</a:t>
            </a:r>
            <a:endParaRPr lang="zh-CN" altLang="en-US" sz="2400" b="1" smtClean="0"/>
          </a:p>
          <a:p>
            <a:pPr eaLnBrk="1" hangingPunct="1">
              <a:lnSpc>
                <a:spcPct val="90000"/>
              </a:lnSpc>
            </a:pPr>
            <a:r>
              <a:rPr lang="zh-CN" altLang="en-US" sz="2400" b="1" smtClean="0"/>
              <a:t>只有深刻地领会分治的思想，认真分析分治后可能产生的预期效率，才能灵活地运用分治思想解决实际问题。</a:t>
            </a:r>
            <a:endParaRPr lang="zh-CN" altLang="en-US" sz="2400" b="1" smtClean="0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IMING" val="|1.2|125.1|13.2|13.9"/>
</p:tagLst>
</file>

<file path=ppt/tags/tag2.xml><?xml version="1.0" encoding="utf-8"?>
<p:tagLst xmlns:p="http://schemas.openxmlformats.org/presentationml/2006/main">
  <p:tag name="KSO_WM_DOC_GUID" val="{60a2e020-5ef8-4c0c-9c34-54880d340372}"/>
</p:tagLst>
</file>

<file path=ppt/theme/theme1.xml><?xml version="1.0" encoding="utf-8"?>
<a:theme xmlns:a="http://schemas.openxmlformats.org/drawingml/2006/main" name="主题3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华文细黑"/>
        <a:cs typeface=""/>
      </a:majorFont>
      <a:minorFont>
        <a:latin typeface="华文细黑"/>
        <a:ea typeface="华文细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/>
      <a:lstStyle/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atermark">
  <a:themeElements>
    <a:clrScheme name="Waterm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CCFF"/>
      </a:accent1>
      <a:accent2>
        <a:srgbClr val="D9D8EC"/>
      </a:accent2>
      <a:accent3>
        <a:srgbClr val="FFFFFF"/>
      </a:accent3>
      <a:accent4>
        <a:srgbClr val="000000"/>
      </a:accent4>
      <a:accent5>
        <a:srgbClr val="E2E2FF"/>
      </a:accent5>
      <a:accent6>
        <a:srgbClr val="C4C4D6"/>
      </a:accent6>
      <a:hlink>
        <a:srgbClr val="6767FF"/>
      </a:hlink>
      <a:folHlink>
        <a:srgbClr val="9933FF"/>
      </a:folHlink>
    </a:clrScheme>
    <a:fontScheme name="Waterma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Waterm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CCFF"/>
        </a:accent1>
        <a:accent2>
          <a:srgbClr val="D9D8EC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C4C4D6"/>
        </a:accent6>
        <a:hlink>
          <a:srgbClr val="6767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2">
        <a:dk1>
          <a:srgbClr val="000000"/>
        </a:dk1>
        <a:lt1>
          <a:srgbClr val="FFFFFF"/>
        </a:lt1>
        <a:dk2>
          <a:srgbClr val="666633"/>
        </a:dk2>
        <a:lt2>
          <a:srgbClr val="5F5F5F"/>
        </a:lt2>
        <a:accent1>
          <a:srgbClr val="FFCC00"/>
        </a:accent1>
        <a:accent2>
          <a:srgbClr val="EFF0B2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D9D9A1"/>
        </a:accent6>
        <a:hlink>
          <a:srgbClr val="808000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3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9BB0CB"/>
        </a:accent1>
        <a:accent2>
          <a:srgbClr val="D1E0CE"/>
        </a:accent2>
        <a:accent3>
          <a:srgbClr val="FFFFFF"/>
        </a:accent3>
        <a:accent4>
          <a:srgbClr val="000000"/>
        </a:accent4>
        <a:accent5>
          <a:srgbClr val="CBD4E2"/>
        </a:accent5>
        <a:accent6>
          <a:srgbClr val="BDCBBA"/>
        </a:accent6>
        <a:hlink>
          <a:srgbClr val="8EA642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4">
        <a:dk1>
          <a:srgbClr val="333300"/>
        </a:dk1>
        <a:lt1>
          <a:srgbClr val="FFFFCC"/>
        </a:lt1>
        <a:dk2>
          <a:srgbClr val="336600"/>
        </a:dk2>
        <a:lt2>
          <a:srgbClr val="FFFFCC"/>
        </a:lt2>
        <a:accent1>
          <a:srgbClr val="99CC00"/>
        </a:accent1>
        <a:accent2>
          <a:srgbClr val="669900"/>
        </a:accent2>
        <a:accent3>
          <a:srgbClr val="ADB8AA"/>
        </a:accent3>
        <a:accent4>
          <a:srgbClr val="DADAAE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5">
        <a:dk1>
          <a:srgbClr val="424458"/>
        </a:dk1>
        <a:lt1>
          <a:srgbClr val="FFFFFF"/>
        </a:lt1>
        <a:dk2>
          <a:srgbClr val="004A48"/>
        </a:dk2>
        <a:lt2>
          <a:srgbClr val="FFFFFF"/>
        </a:lt2>
        <a:accent1>
          <a:srgbClr val="83B200"/>
        </a:accent1>
        <a:accent2>
          <a:srgbClr val="006260"/>
        </a:accent2>
        <a:accent3>
          <a:srgbClr val="AAB1B1"/>
        </a:accent3>
        <a:accent4>
          <a:srgbClr val="DADADA"/>
        </a:accent4>
        <a:accent5>
          <a:srgbClr val="C1D5AA"/>
        </a:accent5>
        <a:accent6>
          <a:srgbClr val="005856"/>
        </a:accent6>
        <a:hlink>
          <a:srgbClr val="6666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6">
        <a:dk1>
          <a:srgbClr val="000000"/>
        </a:dk1>
        <a:lt1>
          <a:srgbClr val="FFFFFF"/>
        </a:lt1>
        <a:dk2>
          <a:srgbClr val="1C2046"/>
        </a:dk2>
        <a:lt2>
          <a:srgbClr val="FFFFFF"/>
        </a:lt2>
        <a:accent1>
          <a:srgbClr val="00CCFF"/>
        </a:accent1>
        <a:accent2>
          <a:srgbClr val="2D226E"/>
        </a:accent2>
        <a:accent3>
          <a:srgbClr val="ABABB0"/>
        </a:accent3>
        <a:accent4>
          <a:srgbClr val="DADADA"/>
        </a:accent4>
        <a:accent5>
          <a:srgbClr val="AAE2FF"/>
        </a:accent5>
        <a:accent6>
          <a:srgbClr val="281E63"/>
        </a:accent6>
        <a:hlink>
          <a:srgbClr val="666699"/>
        </a:hlink>
        <a:folHlink>
          <a:srgbClr val="99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7">
        <a:dk1>
          <a:srgbClr val="424458"/>
        </a:dk1>
        <a:lt1>
          <a:srgbClr val="FFFFFF"/>
        </a:lt1>
        <a:dk2>
          <a:srgbClr val="000066"/>
        </a:dk2>
        <a:lt2>
          <a:srgbClr val="FFFFFF"/>
        </a:lt2>
        <a:accent1>
          <a:srgbClr val="6666FF"/>
        </a:accent1>
        <a:accent2>
          <a:srgbClr val="333399"/>
        </a:accent2>
        <a:accent3>
          <a:srgbClr val="AAAAB8"/>
        </a:accent3>
        <a:accent4>
          <a:srgbClr val="DADADA"/>
        </a:accent4>
        <a:accent5>
          <a:srgbClr val="B8B8FF"/>
        </a:accent5>
        <a:accent6>
          <a:srgbClr val="2D2D8A"/>
        </a:accent6>
        <a:hlink>
          <a:srgbClr val="FF99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8">
        <a:dk1>
          <a:srgbClr val="1C1C1C"/>
        </a:dk1>
        <a:lt1>
          <a:srgbClr val="FFFFCC"/>
        </a:lt1>
        <a:dk2>
          <a:srgbClr val="390B20"/>
        </a:dk2>
        <a:lt2>
          <a:srgbClr val="FFFFCC"/>
        </a:lt2>
        <a:accent1>
          <a:srgbClr val="FF916F"/>
        </a:accent1>
        <a:accent2>
          <a:srgbClr val="561450"/>
        </a:accent2>
        <a:accent3>
          <a:srgbClr val="AEAAAB"/>
        </a:accent3>
        <a:accent4>
          <a:srgbClr val="DADAAE"/>
        </a:accent4>
        <a:accent5>
          <a:srgbClr val="FFC7BB"/>
        </a:accent5>
        <a:accent6>
          <a:srgbClr val="4D1148"/>
        </a:accent6>
        <a:hlink>
          <a:srgbClr val="637D95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9">
        <a:dk1>
          <a:srgbClr val="4C0000"/>
        </a:dk1>
        <a:lt1>
          <a:srgbClr val="FFFFFF"/>
        </a:lt1>
        <a:dk2>
          <a:srgbClr val="722104"/>
        </a:dk2>
        <a:lt2>
          <a:srgbClr val="FFFFFF"/>
        </a:lt2>
        <a:accent1>
          <a:srgbClr val="CC6600"/>
        </a:accent1>
        <a:accent2>
          <a:srgbClr val="8A2E00"/>
        </a:accent2>
        <a:accent3>
          <a:srgbClr val="BCABAA"/>
        </a:accent3>
        <a:accent4>
          <a:srgbClr val="DADADA"/>
        </a:accent4>
        <a:accent5>
          <a:srgbClr val="E2B8AA"/>
        </a:accent5>
        <a:accent6>
          <a:srgbClr val="7D2900"/>
        </a:accent6>
        <a:hlink>
          <a:srgbClr val="FFCC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Watermark">
  <a:themeElements>
    <a:clrScheme name="Waterm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CCFF"/>
      </a:accent1>
      <a:accent2>
        <a:srgbClr val="D9D8EC"/>
      </a:accent2>
      <a:accent3>
        <a:srgbClr val="FFFFFF"/>
      </a:accent3>
      <a:accent4>
        <a:srgbClr val="000000"/>
      </a:accent4>
      <a:accent5>
        <a:srgbClr val="E2E2FF"/>
      </a:accent5>
      <a:accent6>
        <a:srgbClr val="C4C4D6"/>
      </a:accent6>
      <a:hlink>
        <a:srgbClr val="6767FF"/>
      </a:hlink>
      <a:folHlink>
        <a:srgbClr val="9933FF"/>
      </a:folHlink>
    </a:clrScheme>
    <a:fontScheme name="Waterma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Waterm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CCFF"/>
        </a:accent1>
        <a:accent2>
          <a:srgbClr val="D9D8EC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C4C4D6"/>
        </a:accent6>
        <a:hlink>
          <a:srgbClr val="6767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2">
        <a:dk1>
          <a:srgbClr val="000000"/>
        </a:dk1>
        <a:lt1>
          <a:srgbClr val="FFFFFF"/>
        </a:lt1>
        <a:dk2>
          <a:srgbClr val="666633"/>
        </a:dk2>
        <a:lt2>
          <a:srgbClr val="5F5F5F"/>
        </a:lt2>
        <a:accent1>
          <a:srgbClr val="FFCC00"/>
        </a:accent1>
        <a:accent2>
          <a:srgbClr val="EFF0B2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D9D9A1"/>
        </a:accent6>
        <a:hlink>
          <a:srgbClr val="808000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3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9BB0CB"/>
        </a:accent1>
        <a:accent2>
          <a:srgbClr val="D1E0CE"/>
        </a:accent2>
        <a:accent3>
          <a:srgbClr val="FFFFFF"/>
        </a:accent3>
        <a:accent4>
          <a:srgbClr val="000000"/>
        </a:accent4>
        <a:accent5>
          <a:srgbClr val="CBD4E2"/>
        </a:accent5>
        <a:accent6>
          <a:srgbClr val="BDCBBA"/>
        </a:accent6>
        <a:hlink>
          <a:srgbClr val="8EA642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4">
        <a:dk1>
          <a:srgbClr val="333300"/>
        </a:dk1>
        <a:lt1>
          <a:srgbClr val="FFFFCC"/>
        </a:lt1>
        <a:dk2>
          <a:srgbClr val="336600"/>
        </a:dk2>
        <a:lt2>
          <a:srgbClr val="FFFFCC"/>
        </a:lt2>
        <a:accent1>
          <a:srgbClr val="99CC00"/>
        </a:accent1>
        <a:accent2>
          <a:srgbClr val="669900"/>
        </a:accent2>
        <a:accent3>
          <a:srgbClr val="ADB8AA"/>
        </a:accent3>
        <a:accent4>
          <a:srgbClr val="DADAAE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5">
        <a:dk1>
          <a:srgbClr val="424458"/>
        </a:dk1>
        <a:lt1>
          <a:srgbClr val="FFFFFF"/>
        </a:lt1>
        <a:dk2>
          <a:srgbClr val="004A48"/>
        </a:dk2>
        <a:lt2>
          <a:srgbClr val="FFFFFF"/>
        </a:lt2>
        <a:accent1>
          <a:srgbClr val="83B200"/>
        </a:accent1>
        <a:accent2>
          <a:srgbClr val="006260"/>
        </a:accent2>
        <a:accent3>
          <a:srgbClr val="AAB1B1"/>
        </a:accent3>
        <a:accent4>
          <a:srgbClr val="DADADA"/>
        </a:accent4>
        <a:accent5>
          <a:srgbClr val="C1D5AA"/>
        </a:accent5>
        <a:accent6>
          <a:srgbClr val="005856"/>
        </a:accent6>
        <a:hlink>
          <a:srgbClr val="6666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6">
        <a:dk1>
          <a:srgbClr val="000000"/>
        </a:dk1>
        <a:lt1>
          <a:srgbClr val="FFFFFF"/>
        </a:lt1>
        <a:dk2>
          <a:srgbClr val="1C2046"/>
        </a:dk2>
        <a:lt2>
          <a:srgbClr val="FFFFFF"/>
        </a:lt2>
        <a:accent1>
          <a:srgbClr val="00CCFF"/>
        </a:accent1>
        <a:accent2>
          <a:srgbClr val="2D226E"/>
        </a:accent2>
        <a:accent3>
          <a:srgbClr val="ABABB0"/>
        </a:accent3>
        <a:accent4>
          <a:srgbClr val="DADADA"/>
        </a:accent4>
        <a:accent5>
          <a:srgbClr val="AAE2FF"/>
        </a:accent5>
        <a:accent6>
          <a:srgbClr val="281E63"/>
        </a:accent6>
        <a:hlink>
          <a:srgbClr val="666699"/>
        </a:hlink>
        <a:folHlink>
          <a:srgbClr val="99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7">
        <a:dk1>
          <a:srgbClr val="424458"/>
        </a:dk1>
        <a:lt1>
          <a:srgbClr val="FFFFFF"/>
        </a:lt1>
        <a:dk2>
          <a:srgbClr val="000066"/>
        </a:dk2>
        <a:lt2>
          <a:srgbClr val="FFFFFF"/>
        </a:lt2>
        <a:accent1>
          <a:srgbClr val="6666FF"/>
        </a:accent1>
        <a:accent2>
          <a:srgbClr val="333399"/>
        </a:accent2>
        <a:accent3>
          <a:srgbClr val="AAAAB8"/>
        </a:accent3>
        <a:accent4>
          <a:srgbClr val="DADADA"/>
        </a:accent4>
        <a:accent5>
          <a:srgbClr val="B8B8FF"/>
        </a:accent5>
        <a:accent6>
          <a:srgbClr val="2D2D8A"/>
        </a:accent6>
        <a:hlink>
          <a:srgbClr val="FF99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8">
        <a:dk1>
          <a:srgbClr val="1C1C1C"/>
        </a:dk1>
        <a:lt1>
          <a:srgbClr val="FFFFCC"/>
        </a:lt1>
        <a:dk2>
          <a:srgbClr val="390B20"/>
        </a:dk2>
        <a:lt2>
          <a:srgbClr val="FFFFCC"/>
        </a:lt2>
        <a:accent1>
          <a:srgbClr val="FF916F"/>
        </a:accent1>
        <a:accent2>
          <a:srgbClr val="561450"/>
        </a:accent2>
        <a:accent3>
          <a:srgbClr val="AEAAAB"/>
        </a:accent3>
        <a:accent4>
          <a:srgbClr val="DADAAE"/>
        </a:accent4>
        <a:accent5>
          <a:srgbClr val="FFC7BB"/>
        </a:accent5>
        <a:accent6>
          <a:srgbClr val="4D1148"/>
        </a:accent6>
        <a:hlink>
          <a:srgbClr val="637D95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9">
        <a:dk1>
          <a:srgbClr val="4C0000"/>
        </a:dk1>
        <a:lt1>
          <a:srgbClr val="FFFFFF"/>
        </a:lt1>
        <a:dk2>
          <a:srgbClr val="722104"/>
        </a:dk2>
        <a:lt2>
          <a:srgbClr val="FFFFFF"/>
        </a:lt2>
        <a:accent1>
          <a:srgbClr val="CC6600"/>
        </a:accent1>
        <a:accent2>
          <a:srgbClr val="8A2E00"/>
        </a:accent2>
        <a:accent3>
          <a:srgbClr val="BCABAA"/>
        </a:accent3>
        <a:accent4>
          <a:srgbClr val="DADADA"/>
        </a:accent4>
        <a:accent5>
          <a:srgbClr val="E2B8AA"/>
        </a:accent5>
        <a:accent6>
          <a:srgbClr val="7D2900"/>
        </a:accent6>
        <a:hlink>
          <a:srgbClr val="FFCC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Watermark">
  <a:themeElements>
    <a:clrScheme name="Waterm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CCFF"/>
      </a:accent1>
      <a:accent2>
        <a:srgbClr val="D9D8EC"/>
      </a:accent2>
      <a:accent3>
        <a:srgbClr val="FFFFFF"/>
      </a:accent3>
      <a:accent4>
        <a:srgbClr val="000000"/>
      </a:accent4>
      <a:accent5>
        <a:srgbClr val="E2E2FF"/>
      </a:accent5>
      <a:accent6>
        <a:srgbClr val="C4C4D6"/>
      </a:accent6>
      <a:hlink>
        <a:srgbClr val="6767FF"/>
      </a:hlink>
      <a:folHlink>
        <a:srgbClr val="9933FF"/>
      </a:folHlink>
    </a:clrScheme>
    <a:fontScheme name="Waterma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Waterm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CCFF"/>
        </a:accent1>
        <a:accent2>
          <a:srgbClr val="D9D8EC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C4C4D6"/>
        </a:accent6>
        <a:hlink>
          <a:srgbClr val="6767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2">
        <a:dk1>
          <a:srgbClr val="000000"/>
        </a:dk1>
        <a:lt1>
          <a:srgbClr val="FFFFFF"/>
        </a:lt1>
        <a:dk2>
          <a:srgbClr val="666633"/>
        </a:dk2>
        <a:lt2>
          <a:srgbClr val="5F5F5F"/>
        </a:lt2>
        <a:accent1>
          <a:srgbClr val="FFCC00"/>
        </a:accent1>
        <a:accent2>
          <a:srgbClr val="EFF0B2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D9D9A1"/>
        </a:accent6>
        <a:hlink>
          <a:srgbClr val="808000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3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9BB0CB"/>
        </a:accent1>
        <a:accent2>
          <a:srgbClr val="D1E0CE"/>
        </a:accent2>
        <a:accent3>
          <a:srgbClr val="FFFFFF"/>
        </a:accent3>
        <a:accent4>
          <a:srgbClr val="000000"/>
        </a:accent4>
        <a:accent5>
          <a:srgbClr val="CBD4E2"/>
        </a:accent5>
        <a:accent6>
          <a:srgbClr val="BDCBBA"/>
        </a:accent6>
        <a:hlink>
          <a:srgbClr val="8EA642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4">
        <a:dk1>
          <a:srgbClr val="333300"/>
        </a:dk1>
        <a:lt1>
          <a:srgbClr val="FFFFCC"/>
        </a:lt1>
        <a:dk2>
          <a:srgbClr val="336600"/>
        </a:dk2>
        <a:lt2>
          <a:srgbClr val="FFFFCC"/>
        </a:lt2>
        <a:accent1>
          <a:srgbClr val="99CC00"/>
        </a:accent1>
        <a:accent2>
          <a:srgbClr val="669900"/>
        </a:accent2>
        <a:accent3>
          <a:srgbClr val="ADB8AA"/>
        </a:accent3>
        <a:accent4>
          <a:srgbClr val="DADAAE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5">
        <a:dk1>
          <a:srgbClr val="424458"/>
        </a:dk1>
        <a:lt1>
          <a:srgbClr val="FFFFFF"/>
        </a:lt1>
        <a:dk2>
          <a:srgbClr val="004A48"/>
        </a:dk2>
        <a:lt2>
          <a:srgbClr val="FFFFFF"/>
        </a:lt2>
        <a:accent1>
          <a:srgbClr val="83B200"/>
        </a:accent1>
        <a:accent2>
          <a:srgbClr val="006260"/>
        </a:accent2>
        <a:accent3>
          <a:srgbClr val="AAB1B1"/>
        </a:accent3>
        <a:accent4>
          <a:srgbClr val="DADADA"/>
        </a:accent4>
        <a:accent5>
          <a:srgbClr val="C1D5AA"/>
        </a:accent5>
        <a:accent6>
          <a:srgbClr val="005856"/>
        </a:accent6>
        <a:hlink>
          <a:srgbClr val="6666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6">
        <a:dk1>
          <a:srgbClr val="000000"/>
        </a:dk1>
        <a:lt1>
          <a:srgbClr val="FFFFFF"/>
        </a:lt1>
        <a:dk2>
          <a:srgbClr val="1C2046"/>
        </a:dk2>
        <a:lt2>
          <a:srgbClr val="FFFFFF"/>
        </a:lt2>
        <a:accent1>
          <a:srgbClr val="00CCFF"/>
        </a:accent1>
        <a:accent2>
          <a:srgbClr val="2D226E"/>
        </a:accent2>
        <a:accent3>
          <a:srgbClr val="ABABB0"/>
        </a:accent3>
        <a:accent4>
          <a:srgbClr val="DADADA"/>
        </a:accent4>
        <a:accent5>
          <a:srgbClr val="AAE2FF"/>
        </a:accent5>
        <a:accent6>
          <a:srgbClr val="281E63"/>
        </a:accent6>
        <a:hlink>
          <a:srgbClr val="666699"/>
        </a:hlink>
        <a:folHlink>
          <a:srgbClr val="99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7">
        <a:dk1>
          <a:srgbClr val="424458"/>
        </a:dk1>
        <a:lt1>
          <a:srgbClr val="FFFFFF"/>
        </a:lt1>
        <a:dk2>
          <a:srgbClr val="000066"/>
        </a:dk2>
        <a:lt2>
          <a:srgbClr val="FFFFFF"/>
        </a:lt2>
        <a:accent1>
          <a:srgbClr val="6666FF"/>
        </a:accent1>
        <a:accent2>
          <a:srgbClr val="333399"/>
        </a:accent2>
        <a:accent3>
          <a:srgbClr val="AAAAB8"/>
        </a:accent3>
        <a:accent4>
          <a:srgbClr val="DADADA"/>
        </a:accent4>
        <a:accent5>
          <a:srgbClr val="B8B8FF"/>
        </a:accent5>
        <a:accent6>
          <a:srgbClr val="2D2D8A"/>
        </a:accent6>
        <a:hlink>
          <a:srgbClr val="FF99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8">
        <a:dk1>
          <a:srgbClr val="1C1C1C"/>
        </a:dk1>
        <a:lt1>
          <a:srgbClr val="FFFFCC"/>
        </a:lt1>
        <a:dk2>
          <a:srgbClr val="390B20"/>
        </a:dk2>
        <a:lt2>
          <a:srgbClr val="FFFFCC"/>
        </a:lt2>
        <a:accent1>
          <a:srgbClr val="FF916F"/>
        </a:accent1>
        <a:accent2>
          <a:srgbClr val="561450"/>
        </a:accent2>
        <a:accent3>
          <a:srgbClr val="AEAAAB"/>
        </a:accent3>
        <a:accent4>
          <a:srgbClr val="DADAAE"/>
        </a:accent4>
        <a:accent5>
          <a:srgbClr val="FFC7BB"/>
        </a:accent5>
        <a:accent6>
          <a:srgbClr val="4D1148"/>
        </a:accent6>
        <a:hlink>
          <a:srgbClr val="637D95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9">
        <a:dk1>
          <a:srgbClr val="4C0000"/>
        </a:dk1>
        <a:lt1>
          <a:srgbClr val="FFFFFF"/>
        </a:lt1>
        <a:dk2>
          <a:srgbClr val="722104"/>
        </a:dk2>
        <a:lt2>
          <a:srgbClr val="FFFFFF"/>
        </a:lt2>
        <a:accent1>
          <a:srgbClr val="CC6600"/>
        </a:accent1>
        <a:accent2>
          <a:srgbClr val="8A2E00"/>
        </a:accent2>
        <a:accent3>
          <a:srgbClr val="BCABAA"/>
        </a:accent3>
        <a:accent4>
          <a:srgbClr val="DADADA"/>
        </a:accent4>
        <a:accent5>
          <a:srgbClr val="E2B8AA"/>
        </a:accent5>
        <a:accent6>
          <a:srgbClr val="7D2900"/>
        </a:accent6>
        <a:hlink>
          <a:srgbClr val="FFCC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Watermark">
  <a:themeElements>
    <a:clrScheme name="Waterm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CCFF"/>
      </a:accent1>
      <a:accent2>
        <a:srgbClr val="D9D8EC"/>
      </a:accent2>
      <a:accent3>
        <a:srgbClr val="FFFFFF"/>
      </a:accent3>
      <a:accent4>
        <a:srgbClr val="000000"/>
      </a:accent4>
      <a:accent5>
        <a:srgbClr val="E2E2FF"/>
      </a:accent5>
      <a:accent6>
        <a:srgbClr val="C4C4D6"/>
      </a:accent6>
      <a:hlink>
        <a:srgbClr val="6767FF"/>
      </a:hlink>
      <a:folHlink>
        <a:srgbClr val="9933FF"/>
      </a:folHlink>
    </a:clrScheme>
    <a:fontScheme name="Waterma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Waterm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CCFF"/>
        </a:accent1>
        <a:accent2>
          <a:srgbClr val="D9D8EC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C4C4D6"/>
        </a:accent6>
        <a:hlink>
          <a:srgbClr val="6767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2">
        <a:dk1>
          <a:srgbClr val="000000"/>
        </a:dk1>
        <a:lt1>
          <a:srgbClr val="FFFFFF"/>
        </a:lt1>
        <a:dk2>
          <a:srgbClr val="666633"/>
        </a:dk2>
        <a:lt2>
          <a:srgbClr val="5F5F5F"/>
        </a:lt2>
        <a:accent1>
          <a:srgbClr val="FFCC00"/>
        </a:accent1>
        <a:accent2>
          <a:srgbClr val="EFF0B2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D9D9A1"/>
        </a:accent6>
        <a:hlink>
          <a:srgbClr val="808000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3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9BB0CB"/>
        </a:accent1>
        <a:accent2>
          <a:srgbClr val="D1E0CE"/>
        </a:accent2>
        <a:accent3>
          <a:srgbClr val="FFFFFF"/>
        </a:accent3>
        <a:accent4>
          <a:srgbClr val="000000"/>
        </a:accent4>
        <a:accent5>
          <a:srgbClr val="CBD4E2"/>
        </a:accent5>
        <a:accent6>
          <a:srgbClr val="BDCBBA"/>
        </a:accent6>
        <a:hlink>
          <a:srgbClr val="8EA642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4">
        <a:dk1>
          <a:srgbClr val="333300"/>
        </a:dk1>
        <a:lt1>
          <a:srgbClr val="FFFFCC"/>
        </a:lt1>
        <a:dk2>
          <a:srgbClr val="336600"/>
        </a:dk2>
        <a:lt2>
          <a:srgbClr val="FFFFCC"/>
        </a:lt2>
        <a:accent1>
          <a:srgbClr val="99CC00"/>
        </a:accent1>
        <a:accent2>
          <a:srgbClr val="669900"/>
        </a:accent2>
        <a:accent3>
          <a:srgbClr val="ADB8AA"/>
        </a:accent3>
        <a:accent4>
          <a:srgbClr val="DADAAE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5">
        <a:dk1>
          <a:srgbClr val="424458"/>
        </a:dk1>
        <a:lt1>
          <a:srgbClr val="FFFFFF"/>
        </a:lt1>
        <a:dk2>
          <a:srgbClr val="004A48"/>
        </a:dk2>
        <a:lt2>
          <a:srgbClr val="FFFFFF"/>
        </a:lt2>
        <a:accent1>
          <a:srgbClr val="83B200"/>
        </a:accent1>
        <a:accent2>
          <a:srgbClr val="006260"/>
        </a:accent2>
        <a:accent3>
          <a:srgbClr val="AAB1B1"/>
        </a:accent3>
        <a:accent4>
          <a:srgbClr val="DADADA"/>
        </a:accent4>
        <a:accent5>
          <a:srgbClr val="C1D5AA"/>
        </a:accent5>
        <a:accent6>
          <a:srgbClr val="005856"/>
        </a:accent6>
        <a:hlink>
          <a:srgbClr val="6666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6">
        <a:dk1>
          <a:srgbClr val="000000"/>
        </a:dk1>
        <a:lt1>
          <a:srgbClr val="FFFFFF"/>
        </a:lt1>
        <a:dk2>
          <a:srgbClr val="1C2046"/>
        </a:dk2>
        <a:lt2>
          <a:srgbClr val="FFFFFF"/>
        </a:lt2>
        <a:accent1>
          <a:srgbClr val="00CCFF"/>
        </a:accent1>
        <a:accent2>
          <a:srgbClr val="2D226E"/>
        </a:accent2>
        <a:accent3>
          <a:srgbClr val="ABABB0"/>
        </a:accent3>
        <a:accent4>
          <a:srgbClr val="DADADA"/>
        </a:accent4>
        <a:accent5>
          <a:srgbClr val="AAE2FF"/>
        </a:accent5>
        <a:accent6>
          <a:srgbClr val="281E63"/>
        </a:accent6>
        <a:hlink>
          <a:srgbClr val="666699"/>
        </a:hlink>
        <a:folHlink>
          <a:srgbClr val="99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7">
        <a:dk1>
          <a:srgbClr val="424458"/>
        </a:dk1>
        <a:lt1>
          <a:srgbClr val="FFFFFF"/>
        </a:lt1>
        <a:dk2>
          <a:srgbClr val="000066"/>
        </a:dk2>
        <a:lt2>
          <a:srgbClr val="FFFFFF"/>
        </a:lt2>
        <a:accent1>
          <a:srgbClr val="6666FF"/>
        </a:accent1>
        <a:accent2>
          <a:srgbClr val="333399"/>
        </a:accent2>
        <a:accent3>
          <a:srgbClr val="AAAAB8"/>
        </a:accent3>
        <a:accent4>
          <a:srgbClr val="DADADA"/>
        </a:accent4>
        <a:accent5>
          <a:srgbClr val="B8B8FF"/>
        </a:accent5>
        <a:accent6>
          <a:srgbClr val="2D2D8A"/>
        </a:accent6>
        <a:hlink>
          <a:srgbClr val="FF99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8">
        <a:dk1>
          <a:srgbClr val="1C1C1C"/>
        </a:dk1>
        <a:lt1>
          <a:srgbClr val="FFFFCC"/>
        </a:lt1>
        <a:dk2>
          <a:srgbClr val="390B20"/>
        </a:dk2>
        <a:lt2>
          <a:srgbClr val="FFFFCC"/>
        </a:lt2>
        <a:accent1>
          <a:srgbClr val="FF916F"/>
        </a:accent1>
        <a:accent2>
          <a:srgbClr val="561450"/>
        </a:accent2>
        <a:accent3>
          <a:srgbClr val="AEAAAB"/>
        </a:accent3>
        <a:accent4>
          <a:srgbClr val="DADAAE"/>
        </a:accent4>
        <a:accent5>
          <a:srgbClr val="FFC7BB"/>
        </a:accent5>
        <a:accent6>
          <a:srgbClr val="4D1148"/>
        </a:accent6>
        <a:hlink>
          <a:srgbClr val="637D95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9">
        <a:dk1>
          <a:srgbClr val="4C0000"/>
        </a:dk1>
        <a:lt1>
          <a:srgbClr val="FFFFFF"/>
        </a:lt1>
        <a:dk2>
          <a:srgbClr val="722104"/>
        </a:dk2>
        <a:lt2>
          <a:srgbClr val="FFFFFF"/>
        </a:lt2>
        <a:accent1>
          <a:srgbClr val="CC6600"/>
        </a:accent1>
        <a:accent2>
          <a:srgbClr val="8A2E00"/>
        </a:accent2>
        <a:accent3>
          <a:srgbClr val="BCABAA"/>
        </a:accent3>
        <a:accent4>
          <a:srgbClr val="DADADA"/>
        </a:accent4>
        <a:accent5>
          <a:srgbClr val="E2B8AA"/>
        </a:accent5>
        <a:accent6>
          <a:srgbClr val="7D2900"/>
        </a:accent6>
        <a:hlink>
          <a:srgbClr val="FFCC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Watermark">
  <a:themeElements>
    <a:clrScheme name="Waterm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CCFF"/>
      </a:accent1>
      <a:accent2>
        <a:srgbClr val="D9D8EC"/>
      </a:accent2>
      <a:accent3>
        <a:srgbClr val="FFFFFF"/>
      </a:accent3>
      <a:accent4>
        <a:srgbClr val="000000"/>
      </a:accent4>
      <a:accent5>
        <a:srgbClr val="E2E2FF"/>
      </a:accent5>
      <a:accent6>
        <a:srgbClr val="C4C4D6"/>
      </a:accent6>
      <a:hlink>
        <a:srgbClr val="6767FF"/>
      </a:hlink>
      <a:folHlink>
        <a:srgbClr val="9933FF"/>
      </a:folHlink>
    </a:clrScheme>
    <a:fontScheme name="Waterma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Waterm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CCFF"/>
        </a:accent1>
        <a:accent2>
          <a:srgbClr val="D9D8EC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C4C4D6"/>
        </a:accent6>
        <a:hlink>
          <a:srgbClr val="6767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2">
        <a:dk1>
          <a:srgbClr val="000000"/>
        </a:dk1>
        <a:lt1>
          <a:srgbClr val="FFFFFF"/>
        </a:lt1>
        <a:dk2>
          <a:srgbClr val="666633"/>
        </a:dk2>
        <a:lt2>
          <a:srgbClr val="5F5F5F"/>
        </a:lt2>
        <a:accent1>
          <a:srgbClr val="FFCC00"/>
        </a:accent1>
        <a:accent2>
          <a:srgbClr val="EFF0B2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D9D9A1"/>
        </a:accent6>
        <a:hlink>
          <a:srgbClr val="808000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3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9BB0CB"/>
        </a:accent1>
        <a:accent2>
          <a:srgbClr val="D1E0CE"/>
        </a:accent2>
        <a:accent3>
          <a:srgbClr val="FFFFFF"/>
        </a:accent3>
        <a:accent4>
          <a:srgbClr val="000000"/>
        </a:accent4>
        <a:accent5>
          <a:srgbClr val="CBD4E2"/>
        </a:accent5>
        <a:accent6>
          <a:srgbClr val="BDCBBA"/>
        </a:accent6>
        <a:hlink>
          <a:srgbClr val="8EA642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4">
        <a:dk1>
          <a:srgbClr val="333300"/>
        </a:dk1>
        <a:lt1>
          <a:srgbClr val="FFFFCC"/>
        </a:lt1>
        <a:dk2>
          <a:srgbClr val="336600"/>
        </a:dk2>
        <a:lt2>
          <a:srgbClr val="FFFFCC"/>
        </a:lt2>
        <a:accent1>
          <a:srgbClr val="99CC00"/>
        </a:accent1>
        <a:accent2>
          <a:srgbClr val="669900"/>
        </a:accent2>
        <a:accent3>
          <a:srgbClr val="ADB8AA"/>
        </a:accent3>
        <a:accent4>
          <a:srgbClr val="DADAAE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5">
        <a:dk1>
          <a:srgbClr val="424458"/>
        </a:dk1>
        <a:lt1>
          <a:srgbClr val="FFFFFF"/>
        </a:lt1>
        <a:dk2>
          <a:srgbClr val="004A48"/>
        </a:dk2>
        <a:lt2>
          <a:srgbClr val="FFFFFF"/>
        </a:lt2>
        <a:accent1>
          <a:srgbClr val="83B200"/>
        </a:accent1>
        <a:accent2>
          <a:srgbClr val="006260"/>
        </a:accent2>
        <a:accent3>
          <a:srgbClr val="AAB1B1"/>
        </a:accent3>
        <a:accent4>
          <a:srgbClr val="DADADA"/>
        </a:accent4>
        <a:accent5>
          <a:srgbClr val="C1D5AA"/>
        </a:accent5>
        <a:accent6>
          <a:srgbClr val="005856"/>
        </a:accent6>
        <a:hlink>
          <a:srgbClr val="6666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6">
        <a:dk1>
          <a:srgbClr val="000000"/>
        </a:dk1>
        <a:lt1>
          <a:srgbClr val="FFFFFF"/>
        </a:lt1>
        <a:dk2>
          <a:srgbClr val="1C2046"/>
        </a:dk2>
        <a:lt2>
          <a:srgbClr val="FFFFFF"/>
        </a:lt2>
        <a:accent1>
          <a:srgbClr val="00CCFF"/>
        </a:accent1>
        <a:accent2>
          <a:srgbClr val="2D226E"/>
        </a:accent2>
        <a:accent3>
          <a:srgbClr val="ABABB0"/>
        </a:accent3>
        <a:accent4>
          <a:srgbClr val="DADADA"/>
        </a:accent4>
        <a:accent5>
          <a:srgbClr val="AAE2FF"/>
        </a:accent5>
        <a:accent6>
          <a:srgbClr val="281E63"/>
        </a:accent6>
        <a:hlink>
          <a:srgbClr val="666699"/>
        </a:hlink>
        <a:folHlink>
          <a:srgbClr val="99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7">
        <a:dk1>
          <a:srgbClr val="424458"/>
        </a:dk1>
        <a:lt1>
          <a:srgbClr val="FFFFFF"/>
        </a:lt1>
        <a:dk2>
          <a:srgbClr val="000066"/>
        </a:dk2>
        <a:lt2>
          <a:srgbClr val="FFFFFF"/>
        </a:lt2>
        <a:accent1>
          <a:srgbClr val="6666FF"/>
        </a:accent1>
        <a:accent2>
          <a:srgbClr val="333399"/>
        </a:accent2>
        <a:accent3>
          <a:srgbClr val="AAAAB8"/>
        </a:accent3>
        <a:accent4>
          <a:srgbClr val="DADADA"/>
        </a:accent4>
        <a:accent5>
          <a:srgbClr val="B8B8FF"/>
        </a:accent5>
        <a:accent6>
          <a:srgbClr val="2D2D8A"/>
        </a:accent6>
        <a:hlink>
          <a:srgbClr val="FF99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8">
        <a:dk1>
          <a:srgbClr val="1C1C1C"/>
        </a:dk1>
        <a:lt1>
          <a:srgbClr val="FFFFCC"/>
        </a:lt1>
        <a:dk2>
          <a:srgbClr val="390B20"/>
        </a:dk2>
        <a:lt2>
          <a:srgbClr val="FFFFCC"/>
        </a:lt2>
        <a:accent1>
          <a:srgbClr val="FF916F"/>
        </a:accent1>
        <a:accent2>
          <a:srgbClr val="561450"/>
        </a:accent2>
        <a:accent3>
          <a:srgbClr val="AEAAAB"/>
        </a:accent3>
        <a:accent4>
          <a:srgbClr val="DADAAE"/>
        </a:accent4>
        <a:accent5>
          <a:srgbClr val="FFC7BB"/>
        </a:accent5>
        <a:accent6>
          <a:srgbClr val="4D1148"/>
        </a:accent6>
        <a:hlink>
          <a:srgbClr val="637D95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9">
        <a:dk1>
          <a:srgbClr val="4C0000"/>
        </a:dk1>
        <a:lt1>
          <a:srgbClr val="FFFFFF"/>
        </a:lt1>
        <a:dk2>
          <a:srgbClr val="722104"/>
        </a:dk2>
        <a:lt2>
          <a:srgbClr val="FFFFFF"/>
        </a:lt2>
        <a:accent1>
          <a:srgbClr val="CC6600"/>
        </a:accent1>
        <a:accent2>
          <a:srgbClr val="8A2E00"/>
        </a:accent2>
        <a:accent3>
          <a:srgbClr val="BCABAA"/>
        </a:accent3>
        <a:accent4>
          <a:srgbClr val="DADADA"/>
        </a:accent4>
        <a:accent5>
          <a:srgbClr val="E2B8AA"/>
        </a:accent5>
        <a:accent6>
          <a:srgbClr val="7D2900"/>
        </a:accent6>
        <a:hlink>
          <a:srgbClr val="FFCC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Watermark">
  <a:themeElements>
    <a:clrScheme name="Waterm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CCFF"/>
      </a:accent1>
      <a:accent2>
        <a:srgbClr val="D9D8EC"/>
      </a:accent2>
      <a:accent3>
        <a:srgbClr val="FFFFFF"/>
      </a:accent3>
      <a:accent4>
        <a:srgbClr val="000000"/>
      </a:accent4>
      <a:accent5>
        <a:srgbClr val="E2E2FF"/>
      </a:accent5>
      <a:accent6>
        <a:srgbClr val="C4C4D6"/>
      </a:accent6>
      <a:hlink>
        <a:srgbClr val="6767FF"/>
      </a:hlink>
      <a:folHlink>
        <a:srgbClr val="9933FF"/>
      </a:folHlink>
    </a:clrScheme>
    <a:fontScheme name="Waterma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Waterm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CCFF"/>
        </a:accent1>
        <a:accent2>
          <a:srgbClr val="D9D8EC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C4C4D6"/>
        </a:accent6>
        <a:hlink>
          <a:srgbClr val="6767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2">
        <a:dk1>
          <a:srgbClr val="000000"/>
        </a:dk1>
        <a:lt1>
          <a:srgbClr val="FFFFFF"/>
        </a:lt1>
        <a:dk2>
          <a:srgbClr val="666633"/>
        </a:dk2>
        <a:lt2>
          <a:srgbClr val="5F5F5F"/>
        </a:lt2>
        <a:accent1>
          <a:srgbClr val="FFCC00"/>
        </a:accent1>
        <a:accent2>
          <a:srgbClr val="EFF0B2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D9D9A1"/>
        </a:accent6>
        <a:hlink>
          <a:srgbClr val="808000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3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9BB0CB"/>
        </a:accent1>
        <a:accent2>
          <a:srgbClr val="D1E0CE"/>
        </a:accent2>
        <a:accent3>
          <a:srgbClr val="FFFFFF"/>
        </a:accent3>
        <a:accent4>
          <a:srgbClr val="000000"/>
        </a:accent4>
        <a:accent5>
          <a:srgbClr val="CBD4E2"/>
        </a:accent5>
        <a:accent6>
          <a:srgbClr val="BDCBBA"/>
        </a:accent6>
        <a:hlink>
          <a:srgbClr val="8EA642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4">
        <a:dk1>
          <a:srgbClr val="333300"/>
        </a:dk1>
        <a:lt1>
          <a:srgbClr val="FFFFCC"/>
        </a:lt1>
        <a:dk2>
          <a:srgbClr val="336600"/>
        </a:dk2>
        <a:lt2>
          <a:srgbClr val="FFFFCC"/>
        </a:lt2>
        <a:accent1>
          <a:srgbClr val="99CC00"/>
        </a:accent1>
        <a:accent2>
          <a:srgbClr val="669900"/>
        </a:accent2>
        <a:accent3>
          <a:srgbClr val="ADB8AA"/>
        </a:accent3>
        <a:accent4>
          <a:srgbClr val="DADAAE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5">
        <a:dk1>
          <a:srgbClr val="424458"/>
        </a:dk1>
        <a:lt1>
          <a:srgbClr val="FFFFFF"/>
        </a:lt1>
        <a:dk2>
          <a:srgbClr val="004A48"/>
        </a:dk2>
        <a:lt2>
          <a:srgbClr val="FFFFFF"/>
        </a:lt2>
        <a:accent1>
          <a:srgbClr val="83B200"/>
        </a:accent1>
        <a:accent2>
          <a:srgbClr val="006260"/>
        </a:accent2>
        <a:accent3>
          <a:srgbClr val="AAB1B1"/>
        </a:accent3>
        <a:accent4>
          <a:srgbClr val="DADADA"/>
        </a:accent4>
        <a:accent5>
          <a:srgbClr val="C1D5AA"/>
        </a:accent5>
        <a:accent6>
          <a:srgbClr val="005856"/>
        </a:accent6>
        <a:hlink>
          <a:srgbClr val="6666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6">
        <a:dk1>
          <a:srgbClr val="000000"/>
        </a:dk1>
        <a:lt1>
          <a:srgbClr val="FFFFFF"/>
        </a:lt1>
        <a:dk2>
          <a:srgbClr val="1C2046"/>
        </a:dk2>
        <a:lt2>
          <a:srgbClr val="FFFFFF"/>
        </a:lt2>
        <a:accent1>
          <a:srgbClr val="00CCFF"/>
        </a:accent1>
        <a:accent2>
          <a:srgbClr val="2D226E"/>
        </a:accent2>
        <a:accent3>
          <a:srgbClr val="ABABB0"/>
        </a:accent3>
        <a:accent4>
          <a:srgbClr val="DADADA"/>
        </a:accent4>
        <a:accent5>
          <a:srgbClr val="AAE2FF"/>
        </a:accent5>
        <a:accent6>
          <a:srgbClr val="281E63"/>
        </a:accent6>
        <a:hlink>
          <a:srgbClr val="666699"/>
        </a:hlink>
        <a:folHlink>
          <a:srgbClr val="99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7">
        <a:dk1>
          <a:srgbClr val="424458"/>
        </a:dk1>
        <a:lt1>
          <a:srgbClr val="FFFFFF"/>
        </a:lt1>
        <a:dk2>
          <a:srgbClr val="000066"/>
        </a:dk2>
        <a:lt2>
          <a:srgbClr val="FFFFFF"/>
        </a:lt2>
        <a:accent1>
          <a:srgbClr val="6666FF"/>
        </a:accent1>
        <a:accent2>
          <a:srgbClr val="333399"/>
        </a:accent2>
        <a:accent3>
          <a:srgbClr val="AAAAB8"/>
        </a:accent3>
        <a:accent4>
          <a:srgbClr val="DADADA"/>
        </a:accent4>
        <a:accent5>
          <a:srgbClr val="B8B8FF"/>
        </a:accent5>
        <a:accent6>
          <a:srgbClr val="2D2D8A"/>
        </a:accent6>
        <a:hlink>
          <a:srgbClr val="FF99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8">
        <a:dk1>
          <a:srgbClr val="1C1C1C"/>
        </a:dk1>
        <a:lt1>
          <a:srgbClr val="FFFFCC"/>
        </a:lt1>
        <a:dk2>
          <a:srgbClr val="390B20"/>
        </a:dk2>
        <a:lt2>
          <a:srgbClr val="FFFFCC"/>
        </a:lt2>
        <a:accent1>
          <a:srgbClr val="FF916F"/>
        </a:accent1>
        <a:accent2>
          <a:srgbClr val="561450"/>
        </a:accent2>
        <a:accent3>
          <a:srgbClr val="AEAAAB"/>
        </a:accent3>
        <a:accent4>
          <a:srgbClr val="DADAAE"/>
        </a:accent4>
        <a:accent5>
          <a:srgbClr val="FFC7BB"/>
        </a:accent5>
        <a:accent6>
          <a:srgbClr val="4D1148"/>
        </a:accent6>
        <a:hlink>
          <a:srgbClr val="637D95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9">
        <a:dk1>
          <a:srgbClr val="4C0000"/>
        </a:dk1>
        <a:lt1>
          <a:srgbClr val="FFFFFF"/>
        </a:lt1>
        <a:dk2>
          <a:srgbClr val="722104"/>
        </a:dk2>
        <a:lt2>
          <a:srgbClr val="FFFFFF"/>
        </a:lt2>
        <a:accent1>
          <a:srgbClr val="CC6600"/>
        </a:accent1>
        <a:accent2>
          <a:srgbClr val="8A2E00"/>
        </a:accent2>
        <a:accent3>
          <a:srgbClr val="BCABAA"/>
        </a:accent3>
        <a:accent4>
          <a:srgbClr val="DADADA"/>
        </a:accent4>
        <a:accent5>
          <a:srgbClr val="E2B8AA"/>
        </a:accent5>
        <a:accent6>
          <a:srgbClr val="7D2900"/>
        </a:accent6>
        <a:hlink>
          <a:srgbClr val="FFCC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Watermark">
  <a:themeElements>
    <a:clrScheme name="Waterm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CCFF"/>
      </a:accent1>
      <a:accent2>
        <a:srgbClr val="D9D8EC"/>
      </a:accent2>
      <a:accent3>
        <a:srgbClr val="FFFFFF"/>
      </a:accent3>
      <a:accent4>
        <a:srgbClr val="000000"/>
      </a:accent4>
      <a:accent5>
        <a:srgbClr val="E2E2FF"/>
      </a:accent5>
      <a:accent6>
        <a:srgbClr val="C4C4D6"/>
      </a:accent6>
      <a:hlink>
        <a:srgbClr val="6767FF"/>
      </a:hlink>
      <a:folHlink>
        <a:srgbClr val="9933FF"/>
      </a:folHlink>
    </a:clrScheme>
    <a:fontScheme name="Waterma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Waterm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CCFF"/>
        </a:accent1>
        <a:accent2>
          <a:srgbClr val="D9D8EC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C4C4D6"/>
        </a:accent6>
        <a:hlink>
          <a:srgbClr val="6767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2">
        <a:dk1>
          <a:srgbClr val="000000"/>
        </a:dk1>
        <a:lt1>
          <a:srgbClr val="FFFFFF"/>
        </a:lt1>
        <a:dk2>
          <a:srgbClr val="666633"/>
        </a:dk2>
        <a:lt2>
          <a:srgbClr val="5F5F5F"/>
        </a:lt2>
        <a:accent1>
          <a:srgbClr val="FFCC00"/>
        </a:accent1>
        <a:accent2>
          <a:srgbClr val="EFF0B2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D9D9A1"/>
        </a:accent6>
        <a:hlink>
          <a:srgbClr val="808000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3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9BB0CB"/>
        </a:accent1>
        <a:accent2>
          <a:srgbClr val="D1E0CE"/>
        </a:accent2>
        <a:accent3>
          <a:srgbClr val="FFFFFF"/>
        </a:accent3>
        <a:accent4>
          <a:srgbClr val="000000"/>
        </a:accent4>
        <a:accent5>
          <a:srgbClr val="CBD4E2"/>
        </a:accent5>
        <a:accent6>
          <a:srgbClr val="BDCBBA"/>
        </a:accent6>
        <a:hlink>
          <a:srgbClr val="8EA642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4">
        <a:dk1>
          <a:srgbClr val="333300"/>
        </a:dk1>
        <a:lt1>
          <a:srgbClr val="FFFFCC"/>
        </a:lt1>
        <a:dk2>
          <a:srgbClr val="336600"/>
        </a:dk2>
        <a:lt2>
          <a:srgbClr val="FFFFCC"/>
        </a:lt2>
        <a:accent1>
          <a:srgbClr val="99CC00"/>
        </a:accent1>
        <a:accent2>
          <a:srgbClr val="669900"/>
        </a:accent2>
        <a:accent3>
          <a:srgbClr val="ADB8AA"/>
        </a:accent3>
        <a:accent4>
          <a:srgbClr val="DADAAE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5">
        <a:dk1>
          <a:srgbClr val="424458"/>
        </a:dk1>
        <a:lt1>
          <a:srgbClr val="FFFFFF"/>
        </a:lt1>
        <a:dk2>
          <a:srgbClr val="004A48"/>
        </a:dk2>
        <a:lt2>
          <a:srgbClr val="FFFFFF"/>
        </a:lt2>
        <a:accent1>
          <a:srgbClr val="83B200"/>
        </a:accent1>
        <a:accent2>
          <a:srgbClr val="006260"/>
        </a:accent2>
        <a:accent3>
          <a:srgbClr val="AAB1B1"/>
        </a:accent3>
        <a:accent4>
          <a:srgbClr val="DADADA"/>
        </a:accent4>
        <a:accent5>
          <a:srgbClr val="C1D5AA"/>
        </a:accent5>
        <a:accent6>
          <a:srgbClr val="005856"/>
        </a:accent6>
        <a:hlink>
          <a:srgbClr val="6666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6">
        <a:dk1>
          <a:srgbClr val="000000"/>
        </a:dk1>
        <a:lt1>
          <a:srgbClr val="FFFFFF"/>
        </a:lt1>
        <a:dk2>
          <a:srgbClr val="1C2046"/>
        </a:dk2>
        <a:lt2>
          <a:srgbClr val="FFFFFF"/>
        </a:lt2>
        <a:accent1>
          <a:srgbClr val="00CCFF"/>
        </a:accent1>
        <a:accent2>
          <a:srgbClr val="2D226E"/>
        </a:accent2>
        <a:accent3>
          <a:srgbClr val="ABABB0"/>
        </a:accent3>
        <a:accent4>
          <a:srgbClr val="DADADA"/>
        </a:accent4>
        <a:accent5>
          <a:srgbClr val="AAE2FF"/>
        </a:accent5>
        <a:accent6>
          <a:srgbClr val="281E63"/>
        </a:accent6>
        <a:hlink>
          <a:srgbClr val="666699"/>
        </a:hlink>
        <a:folHlink>
          <a:srgbClr val="99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7">
        <a:dk1>
          <a:srgbClr val="424458"/>
        </a:dk1>
        <a:lt1>
          <a:srgbClr val="FFFFFF"/>
        </a:lt1>
        <a:dk2>
          <a:srgbClr val="000066"/>
        </a:dk2>
        <a:lt2>
          <a:srgbClr val="FFFFFF"/>
        </a:lt2>
        <a:accent1>
          <a:srgbClr val="6666FF"/>
        </a:accent1>
        <a:accent2>
          <a:srgbClr val="333399"/>
        </a:accent2>
        <a:accent3>
          <a:srgbClr val="AAAAB8"/>
        </a:accent3>
        <a:accent4>
          <a:srgbClr val="DADADA"/>
        </a:accent4>
        <a:accent5>
          <a:srgbClr val="B8B8FF"/>
        </a:accent5>
        <a:accent6>
          <a:srgbClr val="2D2D8A"/>
        </a:accent6>
        <a:hlink>
          <a:srgbClr val="FF99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8">
        <a:dk1>
          <a:srgbClr val="1C1C1C"/>
        </a:dk1>
        <a:lt1>
          <a:srgbClr val="FFFFCC"/>
        </a:lt1>
        <a:dk2>
          <a:srgbClr val="390B20"/>
        </a:dk2>
        <a:lt2>
          <a:srgbClr val="FFFFCC"/>
        </a:lt2>
        <a:accent1>
          <a:srgbClr val="FF916F"/>
        </a:accent1>
        <a:accent2>
          <a:srgbClr val="561450"/>
        </a:accent2>
        <a:accent3>
          <a:srgbClr val="AEAAAB"/>
        </a:accent3>
        <a:accent4>
          <a:srgbClr val="DADAAE"/>
        </a:accent4>
        <a:accent5>
          <a:srgbClr val="FFC7BB"/>
        </a:accent5>
        <a:accent6>
          <a:srgbClr val="4D1148"/>
        </a:accent6>
        <a:hlink>
          <a:srgbClr val="637D95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9">
        <a:dk1>
          <a:srgbClr val="4C0000"/>
        </a:dk1>
        <a:lt1>
          <a:srgbClr val="FFFFFF"/>
        </a:lt1>
        <a:dk2>
          <a:srgbClr val="722104"/>
        </a:dk2>
        <a:lt2>
          <a:srgbClr val="FFFFFF"/>
        </a:lt2>
        <a:accent1>
          <a:srgbClr val="CC6600"/>
        </a:accent1>
        <a:accent2>
          <a:srgbClr val="8A2E00"/>
        </a:accent2>
        <a:accent3>
          <a:srgbClr val="BCABAA"/>
        </a:accent3>
        <a:accent4>
          <a:srgbClr val="DADADA"/>
        </a:accent4>
        <a:accent5>
          <a:srgbClr val="E2B8AA"/>
        </a:accent5>
        <a:accent6>
          <a:srgbClr val="7D2900"/>
        </a:accent6>
        <a:hlink>
          <a:srgbClr val="FFCC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_主题2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sample 1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C5903B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B28235"/>
        </a:accent6>
        <a:hlink>
          <a:srgbClr val="FF99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24B98"/>
        </a:dk1>
        <a:lt1>
          <a:srgbClr val="FFFFFF"/>
        </a:lt1>
        <a:dk2>
          <a:srgbClr val="000000"/>
        </a:dk2>
        <a:lt2>
          <a:srgbClr val="C0C0C0"/>
        </a:lt2>
        <a:accent1>
          <a:srgbClr val="4A95E8"/>
        </a:accent1>
        <a:accent2>
          <a:srgbClr val="6D8DE9"/>
        </a:accent2>
        <a:accent3>
          <a:srgbClr val="FFFFFF"/>
        </a:accent3>
        <a:accent4>
          <a:srgbClr val="0E3F81"/>
        </a:accent4>
        <a:accent5>
          <a:srgbClr val="B1C8F2"/>
        </a:accent5>
        <a:accent6>
          <a:srgbClr val="627FD3"/>
        </a:accent6>
        <a:hlink>
          <a:srgbClr val="95CD2F"/>
        </a:hlink>
        <a:folHlink>
          <a:srgbClr val="CAA66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99"/>
        </a:dk1>
        <a:lt1>
          <a:srgbClr val="FFFFFF"/>
        </a:lt1>
        <a:dk2>
          <a:srgbClr val="000066"/>
        </a:dk2>
        <a:lt2>
          <a:srgbClr val="C0C0C0"/>
        </a:lt2>
        <a:accent1>
          <a:srgbClr val="49CACD"/>
        </a:accent1>
        <a:accent2>
          <a:srgbClr val="467CE8"/>
        </a:accent2>
        <a:accent3>
          <a:srgbClr val="FFFFFF"/>
        </a:accent3>
        <a:accent4>
          <a:srgbClr val="565682"/>
        </a:accent4>
        <a:accent5>
          <a:srgbClr val="B1E1E3"/>
        </a:accent5>
        <a:accent6>
          <a:srgbClr val="3F70D2"/>
        </a:accent6>
        <a:hlink>
          <a:srgbClr val="28BFEE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8_Watermark">
  <a:themeElements>
    <a:clrScheme name="Waterm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CCFF"/>
      </a:accent1>
      <a:accent2>
        <a:srgbClr val="D9D8EC"/>
      </a:accent2>
      <a:accent3>
        <a:srgbClr val="FFFFFF"/>
      </a:accent3>
      <a:accent4>
        <a:srgbClr val="000000"/>
      </a:accent4>
      <a:accent5>
        <a:srgbClr val="E2E2FF"/>
      </a:accent5>
      <a:accent6>
        <a:srgbClr val="C4C4D6"/>
      </a:accent6>
      <a:hlink>
        <a:srgbClr val="6767FF"/>
      </a:hlink>
      <a:folHlink>
        <a:srgbClr val="9933FF"/>
      </a:folHlink>
    </a:clrScheme>
    <a:fontScheme name="Waterma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Waterm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CCFF"/>
        </a:accent1>
        <a:accent2>
          <a:srgbClr val="D9D8EC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C4C4D6"/>
        </a:accent6>
        <a:hlink>
          <a:srgbClr val="6767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2">
        <a:dk1>
          <a:srgbClr val="000000"/>
        </a:dk1>
        <a:lt1>
          <a:srgbClr val="FFFFFF"/>
        </a:lt1>
        <a:dk2>
          <a:srgbClr val="666633"/>
        </a:dk2>
        <a:lt2>
          <a:srgbClr val="5F5F5F"/>
        </a:lt2>
        <a:accent1>
          <a:srgbClr val="FFCC00"/>
        </a:accent1>
        <a:accent2>
          <a:srgbClr val="EFF0B2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D9D9A1"/>
        </a:accent6>
        <a:hlink>
          <a:srgbClr val="808000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3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9BB0CB"/>
        </a:accent1>
        <a:accent2>
          <a:srgbClr val="D1E0CE"/>
        </a:accent2>
        <a:accent3>
          <a:srgbClr val="FFFFFF"/>
        </a:accent3>
        <a:accent4>
          <a:srgbClr val="000000"/>
        </a:accent4>
        <a:accent5>
          <a:srgbClr val="CBD4E2"/>
        </a:accent5>
        <a:accent6>
          <a:srgbClr val="BDCBBA"/>
        </a:accent6>
        <a:hlink>
          <a:srgbClr val="8EA642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4">
        <a:dk1>
          <a:srgbClr val="333300"/>
        </a:dk1>
        <a:lt1>
          <a:srgbClr val="FFFFCC"/>
        </a:lt1>
        <a:dk2>
          <a:srgbClr val="336600"/>
        </a:dk2>
        <a:lt2>
          <a:srgbClr val="FFFFCC"/>
        </a:lt2>
        <a:accent1>
          <a:srgbClr val="99CC00"/>
        </a:accent1>
        <a:accent2>
          <a:srgbClr val="669900"/>
        </a:accent2>
        <a:accent3>
          <a:srgbClr val="ADB8AA"/>
        </a:accent3>
        <a:accent4>
          <a:srgbClr val="DADAAE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5">
        <a:dk1>
          <a:srgbClr val="424458"/>
        </a:dk1>
        <a:lt1>
          <a:srgbClr val="FFFFFF"/>
        </a:lt1>
        <a:dk2>
          <a:srgbClr val="004A48"/>
        </a:dk2>
        <a:lt2>
          <a:srgbClr val="FFFFFF"/>
        </a:lt2>
        <a:accent1>
          <a:srgbClr val="83B200"/>
        </a:accent1>
        <a:accent2>
          <a:srgbClr val="006260"/>
        </a:accent2>
        <a:accent3>
          <a:srgbClr val="AAB1B1"/>
        </a:accent3>
        <a:accent4>
          <a:srgbClr val="DADADA"/>
        </a:accent4>
        <a:accent5>
          <a:srgbClr val="C1D5AA"/>
        </a:accent5>
        <a:accent6>
          <a:srgbClr val="005856"/>
        </a:accent6>
        <a:hlink>
          <a:srgbClr val="6666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6">
        <a:dk1>
          <a:srgbClr val="000000"/>
        </a:dk1>
        <a:lt1>
          <a:srgbClr val="FFFFFF"/>
        </a:lt1>
        <a:dk2>
          <a:srgbClr val="1C2046"/>
        </a:dk2>
        <a:lt2>
          <a:srgbClr val="FFFFFF"/>
        </a:lt2>
        <a:accent1>
          <a:srgbClr val="00CCFF"/>
        </a:accent1>
        <a:accent2>
          <a:srgbClr val="2D226E"/>
        </a:accent2>
        <a:accent3>
          <a:srgbClr val="ABABB0"/>
        </a:accent3>
        <a:accent4>
          <a:srgbClr val="DADADA"/>
        </a:accent4>
        <a:accent5>
          <a:srgbClr val="AAE2FF"/>
        </a:accent5>
        <a:accent6>
          <a:srgbClr val="281E63"/>
        </a:accent6>
        <a:hlink>
          <a:srgbClr val="666699"/>
        </a:hlink>
        <a:folHlink>
          <a:srgbClr val="99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7">
        <a:dk1>
          <a:srgbClr val="424458"/>
        </a:dk1>
        <a:lt1>
          <a:srgbClr val="FFFFFF"/>
        </a:lt1>
        <a:dk2>
          <a:srgbClr val="000066"/>
        </a:dk2>
        <a:lt2>
          <a:srgbClr val="FFFFFF"/>
        </a:lt2>
        <a:accent1>
          <a:srgbClr val="6666FF"/>
        </a:accent1>
        <a:accent2>
          <a:srgbClr val="333399"/>
        </a:accent2>
        <a:accent3>
          <a:srgbClr val="AAAAB8"/>
        </a:accent3>
        <a:accent4>
          <a:srgbClr val="DADADA"/>
        </a:accent4>
        <a:accent5>
          <a:srgbClr val="B8B8FF"/>
        </a:accent5>
        <a:accent6>
          <a:srgbClr val="2D2D8A"/>
        </a:accent6>
        <a:hlink>
          <a:srgbClr val="FF99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8">
        <a:dk1>
          <a:srgbClr val="1C1C1C"/>
        </a:dk1>
        <a:lt1>
          <a:srgbClr val="FFFFCC"/>
        </a:lt1>
        <a:dk2>
          <a:srgbClr val="390B20"/>
        </a:dk2>
        <a:lt2>
          <a:srgbClr val="FFFFCC"/>
        </a:lt2>
        <a:accent1>
          <a:srgbClr val="FF916F"/>
        </a:accent1>
        <a:accent2>
          <a:srgbClr val="561450"/>
        </a:accent2>
        <a:accent3>
          <a:srgbClr val="AEAAAB"/>
        </a:accent3>
        <a:accent4>
          <a:srgbClr val="DADAAE"/>
        </a:accent4>
        <a:accent5>
          <a:srgbClr val="FFC7BB"/>
        </a:accent5>
        <a:accent6>
          <a:srgbClr val="4D1148"/>
        </a:accent6>
        <a:hlink>
          <a:srgbClr val="637D95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9">
        <a:dk1>
          <a:srgbClr val="4C0000"/>
        </a:dk1>
        <a:lt1>
          <a:srgbClr val="FFFFFF"/>
        </a:lt1>
        <a:dk2>
          <a:srgbClr val="722104"/>
        </a:dk2>
        <a:lt2>
          <a:srgbClr val="FFFFFF"/>
        </a:lt2>
        <a:accent1>
          <a:srgbClr val="CC6600"/>
        </a:accent1>
        <a:accent2>
          <a:srgbClr val="8A2E00"/>
        </a:accent2>
        <a:accent3>
          <a:srgbClr val="BCABAA"/>
        </a:accent3>
        <a:accent4>
          <a:srgbClr val="DADADA"/>
        </a:accent4>
        <a:accent5>
          <a:srgbClr val="E2B8AA"/>
        </a:accent5>
        <a:accent6>
          <a:srgbClr val="7D2900"/>
        </a:accent6>
        <a:hlink>
          <a:srgbClr val="FFCC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算法">
  <a:themeElements>
    <a:clrScheme name="中性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12093</Words>
  <Application>WPS 演示</Application>
  <PresentationFormat>全屏显示(4:3)</PresentationFormat>
  <Paragraphs>884</Paragraphs>
  <Slides>58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13</vt:i4>
      </vt:variant>
      <vt:variant>
        <vt:lpstr>嵌入 OLE 服务器</vt:lpstr>
      </vt:variant>
      <vt:variant>
        <vt:i4>9</vt:i4>
      </vt:variant>
      <vt:variant>
        <vt:lpstr>幻灯片标题</vt:lpstr>
      </vt:variant>
      <vt:variant>
        <vt:i4>58</vt:i4>
      </vt:variant>
    </vt:vector>
  </HeadingPairs>
  <TitlesOfParts>
    <vt:vector size="99" baseType="lpstr">
      <vt:lpstr>Arial</vt:lpstr>
      <vt:lpstr>宋体</vt:lpstr>
      <vt:lpstr>Wingdings</vt:lpstr>
      <vt:lpstr>Times New Roman</vt:lpstr>
      <vt:lpstr>华文细黑</vt:lpstr>
      <vt:lpstr>Arial Black</vt:lpstr>
      <vt:lpstr>黑体</vt:lpstr>
      <vt:lpstr>Verdana</vt:lpstr>
      <vt:lpstr>隶书</vt:lpstr>
      <vt:lpstr>Calibri</vt:lpstr>
      <vt:lpstr>Tahoma</vt:lpstr>
      <vt:lpstr>楷体_GB2312</vt:lpstr>
      <vt:lpstr>新宋体</vt:lpstr>
      <vt:lpstr>微软雅黑</vt:lpstr>
      <vt:lpstr>Arial Unicode MS</vt:lpstr>
      <vt:lpstr>华文行楷</vt:lpstr>
      <vt:lpstr>幼圆</vt:lpstr>
      <vt:lpstr>Symbol</vt:lpstr>
      <vt:lpstr>Symbol</vt:lpstr>
      <vt:lpstr>主题3</vt:lpstr>
      <vt:lpstr>Watermark</vt:lpstr>
      <vt:lpstr>1_Watermark</vt:lpstr>
      <vt:lpstr>2_Watermark</vt:lpstr>
      <vt:lpstr>3_Watermark</vt:lpstr>
      <vt:lpstr>4_Watermark</vt:lpstr>
      <vt:lpstr>5_Watermark</vt:lpstr>
      <vt:lpstr>Pixel</vt:lpstr>
      <vt:lpstr>7_Watermark</vt:lpstr>
      <vt:lpstr>1_Pixel</vt:lpstr>
      <vt:lpstr>1_主题2</vt:lpstr>
      <vt:lpstr>8_Watermark</vt:lpstr>
      <vt:lpstr>算法</vt:lpstr>
      <vt:lpstr>Equation.3</vt:lpstr>
      <vt:lpstr>Equation.3</vt:lpstr>
      <vt:lpstr>Equation.3</vt:lpstr>
      <vt:lpstr>Equation.3</vt:lpstr>
      <vt:lpstr>PBrush</vt:lpstr>
      <vt:lpstr>PBrush</vt:lpstr>
      <vt:lpstr>Equation.3</vt:lpstr>
      <vt:lpstr>Equation.3</vt:lpstr>
      <vt:lpstr>Equation.3</vt:lpstr>
      <vt:lpstr> 第三章 分治算法</vt:lpstr>
      <vt:lpstr>问题：找出伪币</vt:lpstr>
      <vt:lpstr>方法1</vt:lpstr>
      <vt:lpstr>方法2</vt:lpstr>
      <vt:lpstr>方法3</vt:lpstr>
      <vt:lpstr>分析</vt:lpstr>
      <vt:lpstr>PowerPoint 演示文稿</vt:lpstr>
      <vt:lpstr>PowerPoint 演示文稿</vt:lpstr>
      <vt:lpstr>分治思想</vt:lpstr>
      <vt:lpstr>2 分治法的适用条件</vt:lpstr>
      <vt:lpstr>分治策略的解题思路</vt:lpstr>
      <vt:lpstr>PowerPoint 演示文稿</vt:lpstr>
      <vt:lpstr> 4 典型例子——二分搜索技术</vt:lpstr>
      <vt:lpstr>PowerPoint 演示文稿</vt:lpstr>
      <vt:lpstr>分治法的抽象化控制</vt:lpstr>
      <vt:lpstr>DANDC的计算时间</vt:lpstr>
      <vt:lpstr>PowerPoint 演示文稿</vt:lpstr>
      <vt:lpstr>二分搜索技术</vt:lpstr>
      <vt:lpstr>PowerPoint 演示文稿</vt:lpstr>
      <vt:lpstr>二分搜索技术</vt:lpstr>
      <vt:lpstr>PowerPoint 演示文稿</vt:lpstr>
      <vt:lpstr>合并排序</vt:lpstr>
      <vt:lpstr>PowerPoint 演示文稿</vt:lpstr>
      <vt:lpstr>PowerPoint 演示文稿</vt:lpstr>
      <vt:lpstr>合并排序</vt:lpstr>
      <vt:lpstr>合并函数MERGE的实现</vt:lpstr>
      <vt:lpstr>合并排序算法</vt:lpstr>
      <vt:lpstr>合并排序的计算时间</vt:lpstr>
      <vt:lpstr>思考</vt:lpstr>
      <vt:lpstr>PowerPoint 演示文稿</vt:lpstr>
      <vt:lpstr>2.快速排序</vt:lpstr>
      <vt:lpstr>划分的实现</vt:lpstr>
      <vt:lpstr>划分实例</vt:lpstr>
      <vt:lpstr>快速排序算法</vt:lpstr>
      <vt:lpstr>快速排序算法计算时间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快速排序算法分析</vt:lpstr>
      <vt:lpstr>作业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锦标赛算法</vt:lpstr>
      <vt:lpstr>时间复杂度分析</vt:lpstr>
      <vt:lpstr>一般性选择问题</vt:lpstr>
      <vt:lpstr>分治法设计思路 </vt:lpstr>
      <vt:lpstr>基于划分的选择算法</vt:lpstr>
      <vt:lpstr>基于划分的选择算法</vt:lpstr>
      <vt:lpstr>总结归纳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第三章 分治算法</dc:title>
  <dc:creator>Administrator</dc:creator>
  <cp:lastModifiedBy>coral</cp:lastModifiedBy>
  <cp:revision>26</cp:revision>
  <dcterms:created xsi:type="dcterms:W3CDTF">2015-03-23T06:40:00Z</dcterms:created>
  <dcterms:modified xsi:type="dcterms:W3CDTF">2019-03-11T11:26:47Z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2052-11.1.0.8517</vt:lpwstr>
  </property>
</Properties>
</file>