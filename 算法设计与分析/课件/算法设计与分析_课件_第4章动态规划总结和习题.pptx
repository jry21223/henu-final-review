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slideLayouts/slideLayout15.xml" ContentType="application/vnd.openxmlformats-officedocument.presentationml.slideLayout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74" r:id="rId3"/>
    <p:sldMasterId id="2147483676" r:id="rId4"/>
    <p:sldMasterId id="2147483678" r:id="rId5"/>
  </p:sldMasterIdLst>
  <p:sldIdLst>
    <p:sldId id="256" r:id="rId6"/>
    <p:sldId id="257" r:id="rId7"/>
    <p:sldId id="258" r:id="rId8"/>
    <p:sldId id="259" r:id="rId9"/>
    <p:sldId id="266" r:id="rId10"/>
    <p:sldId id="260" r:id="rId11"/>
    <p:sldId id="261" r:id="rId12"/>
    <p:sldId id="262" r:id="rId13"/>
    <p:sldId id="263" r:id="rId14"/>
    <p:sldId id="264" r:id="rId15"/>
    <p:sldId id="265" r:id="rId16"/>
    <p:sldId id="267" r:id="rId17"/>
    <p:sldId id="268" r:id="rId18"/>
    <p:sldId id="269" r:id="rId19"/>
    <p:sldId id="270" r:id="rId20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-858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685800" y="3196686"/>
            <a:ext cx="77724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676401"/>
            <a:ext cx="7772400" cy="1538286"/>
          </a:xfrm>
        </p:spPr>
        <p:txBody>
          <a:bodyPr anchor="b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14686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A3B19-88EB-46D1-A50B-3A0AC28E239D}" type="datetimeFigureOut">
              <a:rPr lang="zh-CN" altLang="en-US" smtClean="0"/>
              <a:pPr/>
              <a:t>2018/5/10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E6303-B2EF-496F-9507-98D4EF48AB4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73152" y="6400800"/>
            <a:ext cx="3200400" cy="283800"/>
          </a:xfrm>
        </p:spPr>
        <p:txBody>
          <a:bodyPr/>
          <a:lstStyle/>
          <a:p>
            <a:fld id="{A32A3B19-88EB-46D1-A50B-3A0AC28E239D}" type="datetimeFigureOut">
              <a:rPr lang="zh-CN" altLang="en-US" smtClean="0"/>
              <a:pPr/>
              <a:t>2018/5/10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330952" y="6400800"/>
            <a:ext cx="3733800" cy="283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E6303-B2EF-496F-9507-98D4EF48AB4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685800" y="3143248"/>
            <a:ext cx="77724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143248"/>
            <a:ext cx="7772400" cy="1362075"/>
          </a:xfrm>
        </p:spPr>
        <p:txBody>
          <a:bodyPr anchor="t"/>
          <a:lstStyle>
            <a:lvl1pPr algn="ctr">
              <a:defRPr sz="4000" b="0" cap="all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1643061"/>
            <a:ext cx="7772400" cy="1500187"/>
          </a:xfrm>
        </p:spPr>
        <p:txBody>
          <a:bodyPr anchor="b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A3B19-88EB-46D1-A50B-3A0AC28E239D}" type="datetimeFigureOut">
              <a:rPr lang="zh-CN" altLang="en-US" smtClean="0"/>
              <a:pPr/>
              <a:t>2018/5/10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E6303-B2EF-496F-9507-98D4EF48AB4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A3B19-88EB-46D1-A50B-3A0AC28E239D}" type="datetimeFigureOut">
              <a:rPr lang="zh-CN" altLang="en-US" smtClean="0"/>
              <a:pPr/>
              <a:t>2018/5/10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E6303-B2EF-496F-9507-98D4EF48AB4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2pPr>
            <a:lvl3pPr marL="914400" indent="0">
              <a:buNone/>
              <a:defRPr sz="18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3pPr>
            <a:lvl4pPr marL="13716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4pPr>
            <a:lvl5pPr marL="18288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2pPr>
            <a:lvl3pPr marL="914400" indent="0">
              <a:buNone/>
              <a:defRPr sz="18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3pPr>
            <a:lvl4pPr marL="13716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4pPr>
            <a:lvl5pPr marL="18288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A3B19-88EB-46D1-A50B-3A0AC28E239D}" type="datetimeFigureOut">
              <a:rPr lang="zh-CN" altLang="en-US" smtClean="0"/>
              <a:pPr/>
              <a:t>2018/5/10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E6303-B2EF-496F-9507-98D4EF48AB4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A3B19-88EB-46D1-A50B-3A0AC28E239D}" type="datetimeFigureOut">
              <a:rPr lang="zh-CN" altLang="en-US" smtClean="0"/>
              <a:pPr/>
              <a:t>2018/5/10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E6303-B2EF-496F-9507-98D4EF48AB4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A3B19-88EB-46D1-A50B-3A0AC28E239D}" type="datetimeFigureOut">
              <a:rPr lang="zh-CN" altLang="en-US" smtClean="0"/>
              <a:pPr/>
              <a:t>2018/5/10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E6303-B2EF-496F-9507-98D4EF48AB4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2786050" y="1053546"/>
            <a:ext cx="59040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86050" y="228600"/>
            <a:ext cx="5900752" cy="842946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86050" y="1142984"/>
            <a:ext cx="5900750" cy="514353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5" y="1142984"/>
            <a:ext cx="2257408" cy="5143536"/>
          </a:xfrm>
        </p:spPr>
        <p:txBody>
          <a:bodyPr anchor="ctr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A3B19-88EB-46D1-A50B-3A0AC28E239D}" type="datetimeFigureOut">
              <a:rPr lang="zh-CN" altLang="en-US" smtClean="0"/>
              <a:pPr/>
              <a:t>2018/5/10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E6303-B2EF-496F-9507-98D4EF48AB4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6400800" cy="685800"/>
          </a:xfrm>
        </p:spPr>
        <p:txBody>
          <a:bodyPr anchor="ctr"/>
          <a:lstStyle>
            <a:lvl1pPr algn="l">
              <a:defRPr sz="24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701552" y="1143000"/>
            <a:ext cx="7223248" cy="3980172"/>
          </a:xfrm>
          <a:prstGeom prst="roundRect">
            <a:avLst>
              <a:gd name="adj" fmla="val 18278"/>
            </a:avLst>
          </a:prstGeom>
          <a:solidFill>
            <a:schemeClr val="accent1">
              <a:tint val="40000"/>
            </a:schemeClr>
          </a:solidFill>
          <a:ln w="50800" cap="rnd">
            <a:gradFill flip="none" rotWithShape="1">
              <a:gsLst>
                <a:gs pos="0">
                  <a:schemeClr val="accent1">
                    <a:shade val="50000"/>
                  </a:schemeClr>
                </a:gs>
                <a:gs pos="20000">
                  <a:schemeClr val="accent2">
                    <a:shade val="50000"/>
                  </a:schemeClr>
                </a:gs>
                <a:gs pos="40000">
                  <a:schemeClr val="accent3">
                    <a:shade val="50000"/>
                  </a:schemeClr>
                </a:gs>
                <a:gs pos="60000">
                  <a:schemeClr val="accent4">
                    <a:shade val="50000"/>
                  </a:schemeClr>
                </a:gs>
                <a:gs pos="80000">
                  <a:schemeClr val="accent5">
                    <a:shade val="50000"/>
                  </a:schemeClr>
                </a:gs>
                <a:gs pos="100000">
                  <a:schemeClr val="accent6">
                    <a:shade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  <a:effectLst>
            <a:outerShdw blurRad="50800" dist="38100" dir="5400000" algn="tl" rotWithShape="0">
              <a:prstClr val="black">
                <a:alpha val="50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zh-CN" altLang="en-US" smtClean="0"/>
              <a:t>单击图标添加图片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62200" y="5410200"/>
            <a:ext cx="5657888" cy="804862"/>
          </a:xfrm>
        </p:spPr>
        <p:txBody>
          <a:bodyPr anchor="ctr"/>
          <a:lstStyle>
            <a:lvl1pPr marL="0" indent="0" algn="r">
              <a:buNone/>
              <a:defRPr sz="1200" b="0"/>
            </a:lvl1pPr>
            <a:lvl2pPr marL="457200" indent="0" algn="r">
              <a:buNone/>
              <a:defRPr sz="1200" b="0"/>
            </a:lvl2pPr>
            <a:lvl3pPr marL="914400" indent="0" algn="r">
              <a:buNone/>
              <a:defRPr sz="1200" b="0"/>
            </a:lvl3pPr>
            <a:lvl4pPr marL="1371600" indent="0" algn="r">
              <a:buNone/>
              <a:defRPr sz="1200" b="0"/>
            </a:lvl4pPr>
            <a:lvl5pPr marL="1828800" indent="0" algn="r">
              <a:buNone/>
              <a:defRPr sz="1200" b="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A3B19-88EB-46D1-A50B-3A0AC28E239D}" type="datetimeFigureOut">
              <a:rPr lang="zh-CN" altLang="en-US" smtClean="0"/>
              <a:pPr/>
              <a:t>2018/5/10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E6303-B2EF-496F-9507-98D4EF48AB4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A3B19-88EB-46D1-A50B-3A0AC28E239D}" type="datetimeFigureOut">
              <a:rPr lang="zh-CN" altLang="en-US" smtClean="0"/>
              <a:pPr/>
              <a:t>2018/5/10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E6303-B2EF-496F-9507-98D4EF48AB4E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215206" y="274638"/>
            <a:ext cx="1471594" cy="6011882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686568" cy="6011882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A3B19-88EB-46D1-A50B-3A0AC28E239D}" type="datetimeFigureOut">
              <a:rPr lang="zh-CN" altLang="en-US" smtClean="0"/>
              <a:pPr/>
              <a:t>2018/5/10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E6303-B2EF-496F-9507-98D4EF48AB4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122D8D-697D-4526-BA27-09F945F5CA0F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77739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51E348-9765-462E-B3ED-D6B5C5AA5C79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2815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51E348-9765-462E-B3ED-D6B5C5AA5C79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2815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6"/>
          <p:cNvGrpSpPr>
            <a:grpSpLocks/>
          </p:cNvGrpSpPr>
          <p:nvPr userDrawn="1"/>
        </p:nvGrpSpPr>
        <p:grpSpPr bwMode="auto">
          <a:xfrm>
            <a:off x="76200" y="152400"/>
            <a:ext cx="9067800" cy="6429375"/>
            <a:chOff x="48" y="96"/>
            <a:chExt cx="5712" cy="4050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268" y="164"/>
              <a:ext cx="448" cy="299"/>
              <a:chOff x="720" y="336"/>
              <a:chExt cx="624" cy="432"/>
            </a:xfrm>
          </p:grpSpPr>
          <p:sp>
            <p:nvSpPr>
              <p:cNvPr id="20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4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mtClean="0">
                  <a:solidFill>
                    <a:srgbClr val="333399"/>
                  </a:solidFill>
                </a:endParaRPr>
              </a:p>
            </p:txBody>
          </p:sp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4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mtClean="0">
                  <a:solidFill>
                    <a:srgbClr val="333399"/>
                  </a:solidFill>
                </a:endParaRPr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346" y="430"/>
              <a:ext cx="465" cy="299"/>
              <a:chOff x="912" y="2640"/>
              <a:chExt cx="672" cy="432"/>
            </a:xfrm>
          </p:grpSpPr>
          <p:sp>
            <p:nvSpPr>
              <p:cNvPr id="18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4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mtClean="0">
                  <a:solidFill>
                    <a:srgbClr val="333399"/>
                  </a:solidFill>
                </a:endParaRPr>
              </a:p>
            </p:txBody>
          </p:sp>
          <p:sp>
            <p:nvSpPr>
              <p:cNvPr id="19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4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mtClean="0">
                  <a:solidFill>
                    <a:srgbClr val="333399"/>
                  </a:solidFill>
                </a:endParaRPr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85" y="38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1pPr>
              <a:lvl2pPr marL="742950" indent="-285750" eaLnBrk="0" hangingPunct="0">
                <a:defRPr sz="24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2pPr>
              <a:lvl3pPr marL="1143000" indent="-228600" eaLnBrk="0" hangingPunct="0">
                <a:defRPr sz="24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3pPr>
              <a:lvl4pPr marL="1600200" indent="-228600" eaLnBrk="0" hangingPunct="0">
                <a:defRPr sz="24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4pPr>
              <a:lvl5pPr marL="2057400" indent="-228600" eaLnBrk="0" hangingPunct="0">
                <a:defRPr sz="24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zh-CN" altLang="en-US" smtClean="0">
                <a:solidFill>
                  <a:srgbClr val="333399"/>
                </a:solidFill>
              </a:endParaRPr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85" y="9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1pPr>
              <a:lvl2pPr marL="742950" indent="-285750" eaLnBrk="0" hangingPunct="0">
                <a:defRPr sz="24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2pPr>
              <a:lvl3pPr marL="1143000" indent="-228600" eaLnBrk="0" hangingPunct="0">
                <a:defRPr sz="24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3pPr>
              <a:lvl4pPr marL="1600200" indent="-228600" eaLnBrk="0" hangingPunct="0">
                <a:defRPr sz="24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4pPr>
              <a:lvl5pPr marL="2057400" indent="-228600" eaLnBrk="0" hangingPunct="0">
                <a:defRPr sz="24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zh-CN" altLang="en-US" smtClean="0">
                <a:solidFill>
                  <a:srgbClr val="333399"/>
                </a:solidFill>
              </a:endParaRPr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284" y="61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1pPr>
              <a:lvl2pPr marL="742950" indent="-285750" eaLnBrk="0" hangingPunct="0">
                <a:defRPr sz="24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2pPr>
              <a:lvl3pPr marL="1143000" indent="-228600" eaLnBrk="0" hangingPunct="0">
                <a:defRPr sz="24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3pPr>
              <a:lvl4pPr marL="1600200" indent="-228600" eaLnBrk="0" hangingPunct="0">
                <a:defRPr sz="24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4pPr>
              <a:lvl5pPr marL="2057400" indent="-228600" eaLnBrk="0" hangingPunct="0">
                <a:defRPr sz="24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zh-CN" altLang="en-US" smtClean="0">
                <a:solidFill>
                  <a:srgbClr val="333399"/>
                </a:solidFill>
              </a:endParaRPr>
            </a:p>
          </p:txBody>
        </p:sp>
        <p:sp>
          <p:nvSpPr>
            <p:cNvPr id="10" name="Rectangle 25"/>
            <p:cNvSpPr>
              <a:spLocks noChangeArrowheads="1"/>
            </p:cNvSpPr>
            <p:nvPr userDrawn="1"/>
          </p:nvSpPr>
          <p:spPr bwMode="auto">
            <a:xfrm flipV="1">
              <a:off x="48" y="4032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1pPr>
              <a:lvl2pPr marL="742950" indent="-285750" eaLnBrk="0" hangingPunct="0">
                <a:defRPr sz="24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2pPr>
              <a:lvl3pPr marL="1143000" indent="-228600" eaLnBrk="0" hangingPunct="0">
                <a:defRPr sz="24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3pPr>
              <a:lvl4pPr marL="1600200" indent="-228600" eaLnBrk="0" hangingPunct="0">
                <a:defRPr sz="24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4pPr>
              <a:lvl5pPr marL="2057400" indent="-228600" eaLnBrk="0" hangingPunct="0">
                <a:defRPr sz="24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zh-CN" altLang="en-US" smtClean="0">
                <a:solidFill>
                  <a:srgbClr val="333399"/>
                </a:solidFill>
              </a:endParaRPr>
            </a:p>
          </p:txBody>
        </p:sp>
        <p:grpSp>
          <p:nvGrpSpPr>
            <p:cNvPr id="11" name="Group 20"/>
            <p:cNvGrpSpPr>
              <a:grpSpLocks/>
            </p:cNvGrpSpPr>
            <p:nvPr userDrawn="1"/>
          </p:nvGrpSpPr>
          <p:grpSpPr bwMode="auto">
            <a:xfrm>
              <a:off x="5199" y="3847"/>
              <a:ext cx="465" cy="299"/>
              <a:chOff x="912" y="2640"/>
              <a:chExt cx="672" cy="432"/>
            </a:xfrm>
          </p:grpSpPr>
          <p:sp>
            <p:nvSpPr>
              <p:cNvPr id="16" name="Rectangle 21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4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mtClean="0">
                  <a:solidFill>
                    <a:srgbClr val="333399"/>
                  </a:solidFill>
                </a:endParaRPr>
              </a:p>
            </p:txBody>
          </p:sp>
          <p:sp>
            <p:nvSpPr>
              <p:cNvPr id="17" name="Rectangle 22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4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mtClean="0">
                  <a:solidFill>
                    <a:srgbClr val="333399"/>
                  </a:solidFill>
                </a:endParaRPr>
              </a:p>
            </p:txBody>
          </p:sp>
        </p:grpSp>
        <p:sp>
          <p:nvSpPr>
            <p:cNvPr id="12" name="Rectangle 23"/>
            <p:cNvSpPr>
              <a:spLocks noChangeArrowheads="1"/>
            </p:cNvSpPr>
            <p:nvPr userDrawn="1"/>
          </p:nvSpPr>
          <p:spPr bwMode="auto">
            <a:xfrm>
              <a:off x="4938" y="3801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1pPr>
              <a:lvl2pPr marL="742950" indent="-285750" eaLnBrk="0" hangingPunct="0">
                <a:defRPr sz="24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2pPr>
              <a:lvl3pPr marL="1143000" indent="-228600" eaLnBrk="0" hangingPunct="0">
                <a:defRPr sz="24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3pPr>
              <a:lvl4pPr marL="1600200" indent="-228600" eaLnBrk="0" hangingPunct="0">
                <a:defRPr sz="24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4pPr>
              <a:lvl5pPr marL="2057400" indent="-228600" eaLnBrk="0" hangingPunct="0">
                <a:defRPr sz="24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2"/>
                  </a:solidFill>
                  <a:latin typeface="Tahoma" pitchFamily="34" charset="0"/>
                  <a:ea typeface="宋体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zh-CN" altLang="en-US" smtClean="0">
                <a:solidFill>
                  <a:srgbClr val="333399"/>
                </a:solidFill>
              </a:endParaRPr>
            </a:p>
          </p:txBody>
        </p:sp>
        <p:grpSp>
          <p:nvGrpSpPr>
            <p:cNvPr id="13" name="Group 17"/>
            <p:cNvGrpSpPr>
              <a:grpSpLocks/>
            </p:cNvGrpSpPr>
            <p:nvPr userDrawn="1"/>
          </p:nvGrpSpPr>
          <p:grpSpPr bwMode="auto">
            <a:xfrm>
              <a:off x="5121" y="3581"/>
              <a:ext cx="448" cy="299"/>
              <a:chOff x="720" y="336"/>
              <a:chExt cx="624" cy="432"/>
            </a:xfrm>
          </p:grpSpPr>
          <p:sp>
            <p:nvSpPr>
              <p:cNvPr id="14" name="Rectangle 18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4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mtClean="0">
                  <a:solidFill>
                    <a:srgbClr val="333399"/>
                  </a:solidFill>
                </a:endParaRPr>
              </a:p>
            </p:txBody>
          </p:sp>
          <p:sp>
            <p:nvSpPr>
              <p:cNvPr id="15" name="Rectangle 19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4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2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mtClean="0">
                  <a:solidFill>
                    <a:srgbClr val="333399"/>
                  </a:solidFill>
                </a:endParaRPr>
              </a:p>
            </p:txBody>
          </p:sp>
        </p:grpSp>
      </p:grpSp>
      <p:sp>
        <p:nvSpPr>
          <p:cNvPr id="308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</a:p>
        </p:txBody>
      </p:sp>
      <p:sp>
        <p:nvSpPr>
          <p:cNvPr id="3085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</a:p>
        </p:txBody>
      </p:sp>
      <p:sp>
        <p:nvSpPr>
          <p:cNvPr id="22" name="Rectangle 1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 smtClean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D1016600-777F-48C7-9EC7-1CF8CD8902F1}" type="slidenum">
              <a:rPr lang="en-US" altLang="zh-CN">
                <a:solidFill>
                  <a:srgbClr val="1C1C1C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1C1C1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6253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6678000"/>
            <a:ext cx="9144000" cy="18000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68632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6200" y="6400800"/>
            <a:ext cx="3200400" cy="283800"/>
          </a:xfrm>
          <a:prstGeom prst="rect">
            <a:avLst/>
          </a:prstGeom>
        </p:spPr>
        <p:txBody>
          <a:bodyPr vert="horz" rtlCol="0" anchor="b"/>
          <a:lstStyle>
            <a:lvl1pPr algn="l" eaLnBrk="1" latinLnBrk="0" hangingPunct="1">
              <a:defRPr kumimoji="0" sz="11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fld id="{A32A3B19-88EB-46D1-A50B-3A0AC28E239D}" type="datetimeFigureOut">
              <a:rPr lang="zh-CN" altLang="en-US" smtClean="0"/>
              <a:pPr/>
              <a:t>2018/5/10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3800"/>
          </a:xfrm>
          <a:prstGeom prst="rect">
            <a:avLst/>
          </a:prstGeom>
        </p:spPr>
        <p:txBody>
          <a:bodyPr vert="horz" rtlCol="0" anchor="ctr"/>
          <a:lstStyle>
            <a:lvl1pPr algn="r" eaLnBrk="1" latinLnBrk="0" hangingPunct="1">
              <a:defRPr kumimoji="0" sz="11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3464"/>
          </a:xfrm>
          <a:prstGeom prst="rect">
            <a:avLst/>
          </a:prstGeom>
          <a:noFill/>
        </p:spPr>
        <p:txBody>
          <a:bodyPr vert="horz" lIns="45720" rIns="45720" rtlCol="0" anchor="ctr"/>
          <a:lstStyle>
            <a:lvl1pPr algn="ctr" eaLnBrk="1" latinLnBrk="0" hangingPunct="1">
              <a:defRPr kumimoji="0" sz="1100" b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fld id="{5CBE6303-B2EF-496F-9507-98D4EF48AB4E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9144000" cy="10800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ß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Þ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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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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宋体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宋体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a typeface="宋体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FE2FB7B-B9EC-45A9-9E68-48955C28EF4D}" type="slidenum">
              <a:rPr lang="en-US" altLang="zh-CN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宋体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宋体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a typeface="宋体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FE2FB7B-B9EC-45A9-9E68-48955C28EF4D}" type="slidenum">
              <a:rPr lang="en-US" altLang="zh-CN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宋体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宋体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a typeface="宋体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FE2FB7B-B9EC-45A9-9E68-48955C28EF4D}" type="slidenum">
              <a:rPr lang="en-US" altLang="zh-CN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kumimoji="1" lang="zh-CN" altLang="zh-CN" b="0" smtClean="0">
              <a:solidFill>
                <a:srgbClr val="000000"/>
              </a:solidFill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kumimoji="1" lang="zh-CN" altLang="zh-CN" b="0" smtClean="0">
              <a:solidFill>
                <a:srgbClr val="000000"/>
              </a:solidFill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kumimoji="1" lang="zh-CN" altLang="zh-CN" b="0" smtClean="0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kumimoji="1" lang="zh-CN" altLang="zh-CN" b="0" smtClean="0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kumimoji="1" lang="zh-CN" altLang="zh-CN" b="0" smtClean="0">
              <a:solidFill>
                <a:srgbClr val="000000"/>
              </a:solidFill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kumimoji="1" lang="zh-CN" altLang="zh-CN" b="0" smtClean="0">
              <a:solidFill>
                <a:srgbClr val="000000"/>
              </a:solidFill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kumimoji="1" lang="zh-CN" altLang="zh-CN" b="0" smtClean="0">
              <a:solidFill>
                <a:srgbClr val="000000"/>
              </a:solidFill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2059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 b="0" smtClean="0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2060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 b="0" smtClean="0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2061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 b="0" smtClean="0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8B578EB-A3BC-4CCB-B048-FA7672E6F221}" type="slidenum">
              <a:rPr lang="en-US" altLang="zh-CN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6000" dirty="0" smtClean="0"/>
              <a:t>动态规划总结和习题</a:t>
            </a:r>
            <a:endParaRPr lang="zh-CN" altLang="en-US" sz="60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2649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36712"/>
            <a:ext cx="8229600" cy="5449808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动态规划的实质是分治思想和解决冗余，因此，动态规划是一种将问题实例分解为更小的、相似的子问题，并存储子问题的解而避免计算重复的子问题，以解决最优化问题的算法策略。</a:t>
            </a:r>
            <a:endParaRPr lang="en-US" altLang="zh-CN" dirty="0" smtClean="0"/>
          </a:p>
          <a:p>
            <a:r>
              <a:rPr lang="zh-CN" altLang="en-US" dirty="0" smtClean="0"/>
              <a:t>由此可知，动态规划法与分治法和贪心法类似，它们都是将问题实例归纳为更小的、相似的子问题，并通过求解子问题产生一个全局最优解。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63665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6632"/>
            <a:ext cx="8229600" cy="6009531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 smtClean="0"/>
              <a:t>贪心法的当前选择可能要依赖已经作出的所有选择，但不依赖于有待于做出的选择和子问题。因此贪心法自顶向下，一步一步地作出贪心选择； </a:t>
            </a:r>
            <a:endParaRPr lang="en-US" altLang="zh-CN" dirty="0" smtClean="0"/>
          </a:p>
          <a:p>
            <a:r>
              <a:rPr lang="zh-CN" altLang="en-US" dirty="0" smtClean="0"/>
              <a:t>而分治法中的各个子问题是独立的（即不包含公共的子问题），因此一旦递归地求出各子问题的解后，便可自下而上地将子问题的解合并成问题的解。</a:t>
            </a:r>
            <a:endParaRPr lang="en-US" altLang="zh-CN" dirty="0" smtClean="0"/>
          </a:p>
          <a:p>
            <a:r>
              <a:rPr lang="zh-CN" altLang="en-US" dirty="0" smtClean="0"/>
              <a:t>不足之处：如果当前选择可能要依赖子问题的解时，则难以通过局部的贪心策略达到全局最优解；如果各子问题是不独立的，则分治法要做许多不必要的工作，重复地解公共的子问题。 解决上述问题的办法是利用动态规划。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55227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5721499"/>
          </a:xfrm>
        </p:spPr>
        <p:txBody>
          <a:bodyPr>
            <a:normAutofit lnSpcReduction="10000"/>
          </a:bodyPr>
          <a:lstStyle/>
          <a:p>
            <a:r>
              <a:rPr lang="zh-CN" altLang="en-US" dirty="0" smtClean="0"/>
              <a:t>动态规划方法主要应用于最优化问题，这类问题会有多种可能的解，每个解都有一个值，而动态规划找出其中最优（最大或最小）值的解。若存在若干个取最优值的解的话，它只取其中的一个。在求解过程中，该方法也是通过求解局部子问题的解达到全局最优解，但与分治法和贪心法不同的是，动态规划允许这些子问题不独立，（亦即各子问题可包含公共的子问题）也允许其通过自身子问题的解作出选择，该方法对每一个子问题只解一次，并将结果保存起来，避免每次碰到时都要重复计算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84470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Text Box 3"/>
          <p:cNvSpPr txBox="1">
            <a:spLocks noChangeArrowheads="1"/>
          </p:cNvSpPr>
          <p:nvPr/>
        </p:nvSpPr>
        <p:spPr bwMode="auto">
          <a:xfrm>
            <a:off x="539750" y="836613"/>
            <a:ext cx="8424863" cy="181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dirty="0">
                <a:latin typeface="Arial" pitchFamily="34" charset="0"/>
                <a:ea typeface="宋体" pitchFamily="2" charset="-122"/>
              </a:rPr>
              <a:t>W</a:t>
            </a:r>
            <a:r>
              <a:rPr lang="zh-CN" altLang="en-US" sz="2800" dirty="0">
                <a:latin typeface="Arial" pitchFamily="34" charset="0"/>
                <a:ea typeface="宋体" pitchFamily="2" charset="-122"/>
              </a:rPr>
              <a:t>先生每天驾车去公司上班。</a:t>
            </a:r>
            <a:r>
              <a:rPr lang="en-US" altLang="zh-CN" sz="2800" dirty="0">
                <a:latin typeface="Arial" pitchFamily="34" charset="0"/>
                <a:ea typeface="宋体" pitchFamily="2" charset="-122"/>
              </a:rPr>
              <a:t>W</a:t>
            </a:r>
            <a:r>
              <a:rPr lang="zh-CN" altLang="en-US" sz="2800" dirty="0">
                <a:latin typeface="Arial" pitchFamily="34" charset="0"/>
                <a:ea typeface="宋体" pitchFamily="2" charset="-122"/>
              </a:rPr>
              <a:t>先生的住所位于</a:t>
            </a:r>
            <a:r>
              <a:rPr lang="en-US" altLang="zh-CN" sz="2800" dirty="0">
                <a:latin typeface="Arial" pitchFamily="34" charset="0"/>
                <a:ea typeface="宋体" pitchFamily="2" charset="-122"/>
              </a:rPr>
              <a:t>A</a:t>
            </a:r>
            <a:r>
              <a:rPr lang="zh-CN" altLang="en-US" sz="2800" dirty="0">
                <a:latin typeface="Arial" pitchFamily="34" charset="0"/>
                <a:ea typeface="宋体" pitchFamily="2" charset="-122"/>
              </a:rPr>
              <a:t>，公司位于</a:t>
            </a:r>
            <a:r>
              <a:rPr lang="en-US" altLang="zh-CN" sz="2800" dirty="0">
                <a:latin typeface="Arial" pitchFamily="34" charset="0"/>
                <a:ea typeface="宋体" pitchFamily="2" charset="-122"/>
              </a:rPr>
              <a:t>F</a:t>
            </a:r>
            <a:r>
              <a:rPr lang="zh-CN" altLang="en-US" sz="2800" dirty="0">
                <a:latin typeface="Arial" pitchFamily="34" charset="0"/>
                <a:ea typeface="宋体" pitchFamily="2" charset="-122"/>
              </a:rPr>
              <a:t>，图中的直线段代表公路，交叉点代表路口，直线段上的数字代表两路口之间的平均行驶时间。现在</a:t>
            </a:r>
            <a:r>
              <a:rPr lang="en-US" altLang="zh-CN" sz="2800" dirty="0">
                <a:latin typeface="Arial" pitchFamily="34" charset="0"/>
                <a:ea typeface="宋体" pitchFamily="2" charset="-122"/>
              </a:rPr>
              <a:t>W</a:t>
            </a:r>
            <a:r>
              <a:rPr lang="zh-CN" altLang="en-US" sz="2800" dirty="0">
                <a:latin typeface="Arial" pitchFamily="34" charset="0"/>
                <a:ea typeface="宋体" pitchFamily="2" charset="-122"/>
              </a:rPr>
              <a:t>先生的问题是要确定一条最省时的上班路线。</a:t>
            </a:r>
          </a:p>
        </p:txBody>
      </p:sp>
      <p:grpSp>
        <p:nvGrpSpPr>
          <p:cNvPr id="2" name="Group 26"/>
          <p:cNvGrpSpPr>
            <a:grpSpLocks/>
          </p:cNvGrpSpPr>
          <p:nvPr/>
        </p:nvGrpSpPr>
        <p:grpSpPr bwMode="auto">
          <a:xfrm>
            <a:off x="1763713" y="2565400"/>
            <a:ext cx="6096000" cy="3748088"/>
            <a:chOff x="-398" y="0"/>
            <a:chExt cx="3742" cy="2863"/>
          </a:xfrm>
        </p:grpSpPr>
        <p:sp>
          <p:nvSpPr>
            <p:cNvPr id="101384" name="Line 27"/>
            <p:cNvSpPr>
              <a:spLocks noChangeShapeType="1"/>
            </p:cNvSpPr>
            <p:nvPr/>
          </p:nvSpPr>
          <p:spPr bwMode="auto">
            <a:xfrm>
              <a:off x="240" y="2562"/>
              <a:ext cx="1200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1385" name="Line 28"/>
            <p:cNvSpPr>
              <a:spLocks noChangeShapeType="1"/>
            </p:cNvSpPr>
            <p:nvPr/>
          </p:nvSpPr>
          <p:spPr bwMode="auto">
            <a:xfrm>
              <a:off x="1440" y="2562"/>
              <a:ext cx="1152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1386" name="Line 30"/>
            <p:cNvSpPr>
              <a:spLocks noChangeShapeType="1"/>
            </p:cNvSpPr>
            <p:nvPr/>
          </p:nvSpPr>
          <p:spPr bwMode="auto">
            <a:xfrm flipV="1">
              <a:off x="227" y="1600"/>
              <a:ext cx="0" cy="96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1387" name="Line 31"/>
            <p:cNvSpPr>
              <a:spLocks noChangeShapeType="1"/>
            </p:cNvSpPr>
            <p:nvPr/>
          </p:nvSpPr>
          <p:spPr bwMode="auto">
            <a:xfrm flipV="1">
              <a:off x="1428" y="1624"/>
              <a:ext cx="0" cy="912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1388" name="Line 32"/>
            <p:cNvSpPr>
              <a:spLocks noChangeShapeType="1"/>
            </p:cNvSpPr>
            <p:nvPr/>
          </p:nvSpPr>
          <p:spPr bwMode="auto">
            <a:xfrm flipV="1">
              <a:off x="2640" y="1631"/>
              <a:ext cx="0" cy="912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1389" name="Line 34"/>
            <p:cNvSpPr>
              <a:spLocks noChangeShapeType="1"/>
            </p:cNvSpPr>
            <p:nvPr/>
          </p:nvSpPr>
          <p:spPr bwMode="auto">
            <a:xfrm>
              <a:off x="240" y="1602"/>
              <a:ext cx="1152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1390" name="Line 35"/>
            <p:cNvSpPr>
              <a:spLocks noChangeShapeType="1"/>
            </p:cNvSpPr>
            <p:nvPr/>
          </p:nvSpPr>
          <p:spPr bwMode="auto">
            <a:xfrm>
              <a:off x="1440" y="1602"/>
              <a:ext cx="1152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1391" name="Line 37"/>
            <p:cNvSpPr>
              <a:spLocks noChangeShapeType="1"/>
            </p:cNvSpPr>
            <p:nvPr/>
          </p:nvSpPr>
          <p:spPr bwMode="auto">
            <a:xfrm flipV="1">
              <a:off x="240" y="354"/>
              <a:ext cx="0" cy="120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1392" name="Line 38"/>
            <p:cNvSpPr>
              <a:spLocks noChangeShapeType="1"/>
            </p:cNvSpPr>
            <p:nvPr/>
          </p:nvSpPr>
          <p:spPr bwMode="auto">
            <a:xfrm>
              <a:off x="288" y="306"/>
              <a:ext cx="1104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1393" name="Line 39"/>
            <p:cNvSpPr>
              <a:spLocks noChangeShapeType="1"/>
            </p:cNvSpPr>
            <p:nvPr/>
          </p:nvSpPr>
          <p:spPr bwMode="auto">
            <a:xfrm flipV="1">
              <a:off x="1440" y="306"/>
              <a:ext cx="0" cy="1248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1394" name="Line 40"/>
            <p:cNvSpPr>
              <a:spLocks noChangeShapeType="1"/>
            </p:cNvSpPr>
            <p:nvPr/>
          </p:nvSpPr>
          <p:spPr bwMode="auto">
            <a:xfrm>
              <a:off x="1488" y="306"/>
              <a:ext cx="1104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1395" name="Line 41"/>
            <p:cNvSpPr>
              <a:spLocks noChangeShapeType="1"/>
            </p:cNvSpPr>
            <p:nvPr/>
          </p:nvSpPr>
          <p:spPr bwMode="auto">
            <a:xfrm flipV="1">
              <a:off x="2640" y="306"/>
              <a:ext cx="0" cy="1296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504" name="Text Box 44"/>
            <p:cNvSpPr txBox="1">
              <a:spLocks noChangeArrowheads="1"/>
            </p:cNvSpPr>
            <p:nvPr/>
          </p:nvSpPr>
          <p:spPr bwMode="auto">
            <a:xfrm>
              <a:off x="-9" y="2459"/>
              <a:ext cx="2775" cy="404"/>
            </a:xfrm>
            <a:prstGeom prst="rect">
              <a:avLst/>
            </a:prstGeom>
            <a:noFill/>
            <a:ln w="9525" cmpd="sng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800" dirty="0" smtClean="0">
                  <a:solidFill>
                    <a:srgbClr val="99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A</a:t>
              </a:r>
              <a:r>
                <a:rPr lang="en-US" altLang="zh-CN" dirty="0" smtClean="0">
                  <a:solidFill>
                    <a:srgbClr val="0000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          3            B1        4       C1                    </a:t>
              </a:r>
              <a:endParaRPr lang="en-US" altLang="zh-CN" dirty="0" smtClean="0">
                <a:solidFill>
                  <a:srgbClr val="000099"/>
                </a:solidFill>
              </a:endParaRPr>
            </a:p>
          </p:txBody>
        </p:sp>
        <p:sp>
          <p:nvSpPr>
            <p:cNvPr id="63505" name="Text Box 45"/>
            <p:cNvSpPr txBox="1">
              <a:spLocks noChangeArrowheads="1"/>
            </p:cNvSpPr>
            <p:nvPr/>
          </p:nvSpPr>
          <p:spPr bwMode="auto">
            <a:xfrm>
              <a:off x="0" y="1918"/>
              <a:ext cx="2874" cy="3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dirty="0" smtClean="0">
                  <a:solidFill>
                    <a:srgbClr val="0000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4                        5                      3                            </a:t>
              </a:r>
            </a:p>
          </p:txBody>
        </p:sp>
        <p:sp>
          <p:nvSpPr>
            <p:cNvPr id="63506" name="Text Box 46"/>
            <p:cNvSpPr txBox="1">
              <a:spLocks noChangeArrowheads="1"/>
            </p:cNvSpPr>
            <p:nvPr/>
          </p:nvSpPr>
          <p:spPr bwMode="auto">
            <a:xfrm>
              <a:off x="-398" y="1304"/>
              <a:ext cx="3668" cy="3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dirty="0" smtClean="0">
                  <a:solidFill>
                    <a:srgbClr val="0000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B2          2         C2          3       D1                        </a:t>
              </a:r>
            </a:p>
          </p:txBody>
        </p:sp>
        <p:sp>
          <p:nvSpPr>
            <p:cNvPr id="63507" name="Text Box 47"/>
            <p:cNvSpPr txBox="1">
              <a:spLocks noChangeArrowheads="1"/>
            </p:cNvSpPr>
            <p:nvPr/>
          </p:nvSpPr>
          <p:spPr bwMode="auto">
            <a:xfrm>
              <a:off x="-369" y="753"/>
              <a:ext cx="3713" cy="3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dirty="0" smtClean="0">
                  <a:solidFill>
                    <a:srgbClr val="0000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1                       2                       3</a:t>
              </a:r>
              <a:endParaRPr lang="en-US" altLang="zh-CN" dirty="0" smtClean="0">
                <a:solidFill>
                  <a:srgbClr val="000099"/>
                </a:solidFill>
              </a:endParaRPr>
            </a:p>
          </p:txBody>
        </p:sp>
        <p:sp>
          <p:nvSpPr>
            <p:cNvPr id="63508" name="Text Box 48"/>
            <p:cNvSpPr txBox="1">
              <a:spLocks noChangeArrowheads="1"/>
            </p:cNvSpPr>
            <p:nvPr/>
          </p:nvSpPr>
          <p:spPr bwMode="auto">
            <a:xfrm>
              <a:off x="-9" y="0"/>
              <a:ext cx="2889" cy="3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dirty="0" smtClean="0">
                  <a:solidFill>
                    <a:srgbClr val="0000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C3          4        D2           5        </a:t>
              </a:r>
              <a:r>
                <a:rPr lang="en-US" altLang="zh-CN" dirty="0" smtClean="0">
                  <a:solidFill>
                    <a:srgbClr val="CC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F</a:t>
              </a:r>
              <a:endParaRPr lang="en-US" altLang="zh-CN" sz="2800" dirty="0" smtClean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</p:grpSp>
      <p:sp>
        <p:nvSpPr>
          <p:cNvPr id="101380" name="Text Box 49"/>
          <p:cNvSpPr txBox="1">
            <a:spLocks noChangeArrowheads="1"/>
          </p:cNvSpPr>
          <p:nvPr/>
        </p:nvSpPr>
        <p:spPr bwMode="auto">
          <a:xfrm>
            <a:off x="468313" y="188913"/>
            <a:ext cx="241300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dirty="0" smtClean="0">
                <a:solidFill>
                  <a:srgbClr val="FF0000"/>
                </a:solidFill>
                <a:latin typeface="Arial" pitchFamily="34" charset="0"/>
                <a:ea typeface="宋体" pitchFamily="2" charset="-122"/>
              </a:rPr>
              <a:t>习题</a:t>
            </a:r>
            <a:r>
              <a:rPr lang="en-US" altLang="zh-CN" sz="3200" dirty="0" smtClean="0">
                <a:solidFill>
                  <a:srgbClr val="FF0000"/>
                </a:solidFill>
                <a:latin typeface="Arial" pitchFamily="34" charset="0"/>
                <a:ea typeface="宋体" pitchFamily="2" charset="-122"/>
              </a:rPr>
              <a:t>1</a:t>
            </a:r>
            <a:endParaRPr lang="zh-CN" altLang="en-US" sz="3200" dirty="0">
              <a:solidFill>
                <a:srgbClr val="FF0000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101381" name="日期占位符 1"/>
          <p:cNvSpPr txBox="1">
            <a:spLocks noGrp="1" noChangeArrowheads="1"/>
          </p:cNvSpPr>
          <p:nvPr/>
        </p:nvSpPr>
        <p:spPr bwMode="auto">
          <a:xfrm>
            <a:off x="66294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eaLnBrk="0" hangingPunct="0"/>
            <a:fld id="{97621D1A-30D2-4F74-A15C-3FA6E5AF35F3}" type="datetime1">
              <a:rPr lang="zh-CN" altLang="en-US" sz="1400">
                <a:latin typeface="Comic Sans MS" pitchFamily="66" charset="0"/>
                <a:ea typeface="宋体" pitchFamily="2" charset="-122"/>
              </a:rPr>
              <a:pPr algn="r" eaLnBrk="0" hangingPunct="0"/>
              <a:t>2018/5/10</a:t>
            </a:fld>
            <a:endParaRPr lang="en-US" altLang="zh-CN" sz="1400">
              <a:latin typeface="Comic Sans MS" pitchFamily="66" charset="0"/>
              <a:ea typeface="宋体" pitchFamily="2" charset="-122"/>
            </a:endParaRPr>
          </a:p>
        </p:txBody>
      </p:sp>
      <p:sp>
        <p:nvSpPr>
          <p:cNvPr id="101382" name="页脚占位符 2"/>
          <p:cNvSpPr txBox="1">
            <a:spLocks noGrp="1" noChangeArrowheads="1"/>
          </p:cNvSpPr>
          <p:nvPr/>
        </p:nvSpPr>
        <p:spPr bwMode="auto">
          <a:xfrm>
            <a:off x="33528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eaLnBrk="0" hangingPunct="0"/>
            <a:r>
              <a:rPr lang="en-US" altLang="zh-CN" sz="1400">
                <a:latin typeface="Comic Sans MS" pitchFamily="66" charset="0"/>
                <a:ea typeface="宋体" pitchFamily="2" charset="-122"/>
              </a:rPr>
              <a:t>第6章  动态规划法</a:t>
            </a:r>
          </a:p>
        </p:txBody>
      </p:sp>
      <p:sp>
        <p:nvSpPr>
          <p:cNvPr id="101383" name="灯片编号占位符 3"/>
          <p:cNvSpPr txBox="1">
            <a:spLocks noGrp="1" noChangeArrowheads="1"/>
          </p:cNvSpPr>
          <p:nvPr/>
        </p:nvSpPr>
        <p:spPr bwMode="auto">
          <a:xfrm>
            <a:off x="1066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eaLnBrk="0" hangingPunct="0"/>
            <a:r>
              <a:rPr lang="en-US" altLang="zh-CN" sz="1400">
                <a:latin typeface="Comic Sans MS" pitchFamily="66" charset="0"/>
                <a:ea typeface="宋体" pitchFamily="2" charset="-122"/>
              </a:rPr>
              <a:t>Page </a:t>
            </a:r>
            <a:fld id="{3E8C4ED0-FC59-463C-BEA2-3384A66801E0}" type="slidenum">
              <a:rPr lang="en-US" altLang="zh-CN" sz="1400">
                <a:latin typeface="Comic Sans MS" pitchFamily="66" charset="0"/>
                <a:ea typeface="宋体" pitchFamily="2" charset="-122"/>
              </a:rPr>
              <a:pPr eaLnBrk="0" hangingPunct="0"/>
              <a:t>5</a:t>
            </a:fld>
            <a:endParaRPr lang="en-US" altLang="zh-CN" sz="1400">
              <a:latin typeface="Comic Sans MS" pitchFamily="66" charset="0"/>
              <a:ea typeface="宋体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850106"/>
          </a:xfrm>
        </p:spPr>
        <p:txBody>
          <a:bodyPr/>
          <a:lstStyle/>
          <a:p>
            <a:r>
              <a:rPr lang="zh-CN" altLang="en-US" dirty="0" smtClean="0"/>
              <a:t>习题</a:t>
            </a:r>
            <a:r>
              <a:rPr lang="en-US" altLang="zh-CN" dirty="0" smtClean="0"/>
              <a:t>2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616624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 smtClean="0"/>
              <a:t>用动态规划算法求解下面的组合优化问题：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    max g</a:t>
            </a:r>
            <a:r>
              <a:rPr lang="en-US" altLang="zh-CN" baseline="-25000" dirty="0" smtClean="0"/>
              <a:t>1</a:t>
            </a:r>
            <a:r>
              <a:rPr lang="en-US" altLang="zh-CN" dirty="0" smtClean="0"/>
              <a:t>(x</a:t>
            </a:r>
            <a:r>
              <a:rPr lang="en-US" altLang="zh-CN" baseline="-25000" dirty="0"/>
              <a:t>1</a:t>
            </a:r>
            <a:r>
              <a:rPr lang="en-US" altLang="zh-CN" dirty="0" smtClean="0"/>
              <a:t>)+g</a:t>
            </a:r>
            <a:r>
              <a:rPr lang="en-US" altLang="zh-CN" baseline="-25000" dirty="0"/>
              <a:t>2</a:t>
            </a:r>
            <a:r>
              <a:rPr lang="en-US" altLang="zh-CN" dirty="0" smtClean="0"/>
              <a:t>(x</a:t>
            </a:r>
            <a:r>
              <a:rPr lang="en-US" altLang="zh-CN" baseline="-25000" dirty="0"/>
              <a:t>2</a:t>
            </a:r>
            <a:r>
              <a:rPr lang="en-US" altLang="zh-CN" dirty="0" smtClean="0"/>
              <a:t>)+g</a:t>
            </a:r>
            <a:r>
              <a:rPr lang="en-US" altLang="zh-CN" baseline="-25000" dirty="0"/>
              <a:t>3</a:t>
            </a:r>
            <a:r>
              <a:rPr lang="en-US" altLang="zh-CN" dirty="0" smtClean="0"/>
              <a:t>(x</a:t>
            </a:r>
            <a:r>
              <a:rPr lang="en-US" altLang="zh-CN" baseline="-25000" dirty="0"/>
              <a:t>3</a:t>
            </a:r>
            <a:r>
              <a:rPr lang="en-US" altLang="zh-CN" dirty="0" smtClean="0"/>
              <a:t>)</a:t>
            </a:r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    x</a:t>
            </a:r>
            <a:r>
              <a:rPr lang="en-US" altLang="zh-CN" baseline="-25000" dirty="0" smtClean="0"/>
              <a:t>1</a:t>
            </a:r>
            <a:r>
              <a:rPr lang="en-US" altLang="zh-CN" dirty="0" smtClean="0"/>
              <a:t>+x</a:t>
            </a:r>
            <a:r>
              <a:rPr lang="en-US" altLang="zh-CN" baseline="-25000" dirty="0" smtClean="0"/>
              <a:t>2</a:t>
            </a:r>
            <a:r>
              <a:rPr lang="en-US" altLang="zh-CN" dirty="0" smtClean="0"/>
              <a:t>+x</a:t>
            </a:r>
            <a:r>
              <a:rPr lang="en-US" altLang="zh-CN" baseline="-25000" dirty="0" smtClean="0"/>
              <a:t>3</a:t>
            </a:r>
            <a:r>
              <a:rPr lang="en-US" altLang="zh-CN" dirty="0" smtClean="0"/>
              <a:t>&lt;=3</a:t>
            </a:r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    x</a:t>
            </a:r>
            <a:r>
              <a:rPr lang="en-US" altLang="zh-CN" baseline="-25000" dirty="0"/>
              <a:t>1</a:t>
            </a:r>
            <a:r>
              <a:rPr lang="en-US" altLang="zh-CN" dirty="0" smtClean="0"/>
              <a:t>,x</a:t>
            </a:r>
            <a:r>
              <a:rPr lang="en-US" altLang="zh-CN" baseline="-25000" dirty="0"/>
              <a:t>2</a:t>
            </a:r>
            <a:r>
              <a:rPr lang="en-US" altLang="zh-CN" dirty="0" smtClean="0"/>
              <a:t>,x</a:t>
            </a:r>
            <a:r>
              <a:rPr lang="en-US" altLang="zh-CN" baseline="-25000" dirty="0"/>
              <a:t>3</a:t>
            </a:r>
            <a:r>
              <a:rPr lang="zh-CN" altLang="en-US" dirty="0" smtClean="0"/>
              <a:t>为非负整数</a:t>
            </a: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/>
              <a:t>其中</a:t>
            </a:r>
            <a:r>
              <a:rPr lang="en-US" altLang="zh-CN" dirty="0" smtClean="0"/>
              <a:t>g</a:t>
            </a:r>
            <a:r>
              <a:rPr lang="en-US" altLang="zh-CN" baseline="-25000" dirty="0" smtClean="0"/>
              <a:t>1</a:t>
            </a:r>
            <a:r>
              <a:rPr lang="en-US" altLang="zh-CN" dirty="0" smtClean="0"/>
              <a:t>(x)</a:t>
            </a:r>
            <a:r>
              <a:rPr lang="zh-CN" altLang="en-US" dirty="0" smtClean="0"/>
              <a:t>、</a:t>
            </a:r>
            <a:r>
              <a:rPr lang="en-US" altLang="zh-CN" dirty="0" smtClean="0"/>
              <a:t>g</a:t>
            </a:r>
            <a:r>
              <a:rPr lang="en-US" altLang="zh-CN" baseline="-25000" dirty="0" smtClean="0"/>
              <a:t>2</a:t>
            </a:r>
            <a:r>
              <a:rPr lang="en-US" altLang="zh-CN" dirty="0" smtClean="0"/>
              <a:t>(x)</a:t>
            </a:r>
            <a:r>
              <a:rPr lang="zh-CN" altLang="en-US" dirty="0" smtClean="0"/>
              <a:t>、</a:t>
            </a:r>
            <a:r>
              <a:rPr lang="en-US" altLang="zh-CN" dirty="0" smtClean="0"/>
              <a:t>g</a:t>
            </a:r>
            <a:r>
              <a:rPr lang="en-US" altLang="zh-CN" baseline="-25000" dirty="0" smtClean="0"/>
              <a:t>3</a:t>
            </a:r>
            <a:r>
              <a:rPr lang="en-US" altLang="zh-CN" dirty="0" smtClean="0"/>
              <a:t>(x)</a:t>
            </a:r>
            <a:r>
              <a:rPr lang="zh-CN" altLang="en-US" dirty="0" smtClean="0"/>
              <a:t>的值在下表中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9731845"/>
              </p:ext>
            </p:extLst>
          </p:nvPr>
        </p:nvGraphicFramePr>
        <p:xfrm>
          <a:off x="1475656" y="4077071"/>
          <a:ext cx="6096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4000"/>
                <a:gridCol w="1524000"/>
                <a:gridCol w="1524000"/>
              </a:tblGrid>
              <a:tr h="24117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/>
                        <a:t>x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/>
                        <a:t>g</a:t>
                      </a:r>
                      <a:r>
                        <a:rPr lang="en-US" altLang="zh-CN" sz="2400" baseline="-25000" dirty="0" smtClean="0"/>
                        <a:t>1</a:t>
                      </a:r>
                      <a:r>
                        <a:rPr lang="en-US" altLang="zh-CN" sz="2400" dirty="0" smtClean="0"/>
                        <a:t>(x)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/>
                        <a:t>g</a:t>
                      </a:r>
                      <a:r>
                        <a:rPr lang="en-US" altLang="zh-CN" sz="2400" baseline="-25000" dirty="0" smtClean="0"/>
                        <a:t>2</a:t>
                      </a:r>
                      <a:r>
                        <a:rPr lang="en-US" altLang="zh-CN" sz="2400" dirty="0" smtClean="0"/>
                        <a:t>(x)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/>
                        <a:t>g</a:t>
                      </a:r>
                      <a:r>
                        <a:rPr lang="en-US" altLang="zh-CN" sz="2400" baseline="-25000" dirty="0" smtClean="0"/>
                        <a:t>3</a:t>
                      </a:r>
                      <a:r>
                        <a:rPr lang="en-US" altLang="zh-CN" sz="2400" dirty="0" smtClean="0"/>
                        <a:t>(x)</a:t>
                      </a:r>
                      <a:endParaRPr lang="zh-CN" alt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/>
                        <a:t>0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/>
                        <a:t>2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/>
                        <a:t>5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/>
                        <a:t>8</a:t>
                      </a:r>
                      <a:endParaRPr lang="zh-CN" alt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/>
                        <a:t>1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/>
                        <a:t>4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/>
                        <a:t>10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/>
                        <a:t>13</a:t>
                      </a:r>
                      <a:endParaRPr lang="zh-CN" alt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/>
                        <a:t>2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/>
                        <a:t>7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/>
                        <a:t>16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/>
                        <a:t>17</a:t>
                      </a:r>
                      <a:endParaRPr lang="zh-CN" alt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/>
                        <a:t>3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/>
                        <a:t>11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/>
                        <a:t>20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/>
                        <a:t>22</a:t>
                      </a:r>
                      <a:endParaRPr lang="zh-CN" altLang="en-US" sz="24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0282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16632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zh-CN" altLang="en-US" dirty="0" smtClean="0"/>
              <a:t>习题</a:t>
            </a:r>
            <a:r>
              <a:rPr lang="en-US" altLang="zh-CN" dirty="0" smtClean="0"/>
              <a:t>3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36712"/>
            <a:ext cx="8229600" cy="590465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CN" altLang="en-US" dirty="0" smtClean="0"/>
              <a:t>设有</a:t>
            </a:r>
            <a:r>
              <a:rPr lang="en-US" altLang="zh-CN" dirty="0" smtClean="0"/>
              <a:t>n</a:t>
            </a:r>
            <a:r>
              <a:rPr lang="zh-CN" altLang="en-US" dirty="0" smtClean="0"/>
              <a:t>种不同面值的硬币，第</a:t>
            </a:r>
            <a:r>
              <a:rPr lang="en-US" altLang="zh-CN" dirty="0" err="1" smtClean="0"/>
              <a:t>i</a:t>
            </a:r>
            <a:r>
              <a:rPr lang="zh-CN" altLang="en-US" dirty="0" smtClean="0"/>
              <a:t>种硬币的币值是</a:t>
            </a:r>
            <a:r>
              <a:rPr lang="en-US" altLang="zh-CN" dirty="0" smtClean="0"/>
              <a:t>v</a:t>
            </a:r>
            <a:r>
              <a:rPr lang="en-US" altLang="zh-CN" baseline="-25000" dirty="0" smtClean="0"/>
              <a:t>i</a:t>
            </a:r>
            <a:r>
              <a:rPr lang="zh-CN" altLang="en-US" dirty="0" smtClean="0"/>
              <a:t>（其中</a:t>
            </a:r>
            <a:r>
              <a:rPr lang="en-US" altLang="zh-CN" dirty="0" smtClean="0"/>
              <a:t>v</a:t>
            </a:r>
            <a:r>
              <a:rPr lang="en-US" altLang="zh-CN" baseline="-25000" dirty="0"/>
              <a:t>1</a:t>
            </a:r>
            <a:r>
              <a:rPr lang="en-US" altLang="zh-CN" dirty="0" smtClean="0"/>
              <a:t>=1</a:t>
            </a:r>
            <a:r>
              <a:rPr lang="zh-CN" altLang="en-US" dirty="0" smtClean="0"/>
              <a:t>），重量是</a:t>
            </a:r>
            <a:r>
              <a:rPr lang="en-US" altLang="zh-CN" dirty="0" err="1" smtClean="0"/>
              <a:t>w</a:t>
            </a:r>
            <a:r>
              <a:rPr lang="en-US" altLang="zh-CN" baseline="-25000" dirty="0" err="1"/>
              <a:t>i</a:t>
            </a:r>
            <a:r>
              <a:rPr lang="zh-CN" altLang="en-US" dirty="0" smtClean="0"/>
              <a:t>。现在购买总价值为</a:t>
            </a:r>
            <a:r>
              <a:rPr lang="en-US" altLang="zh-CN" dirty="0" smtClean="0"/>
              <a:t>y</a:t>
            </a:r>
            <a:r>
              <a:rPr lang="zh-CN" altLang="en-US" dirty="0" smtClean="0"/>
              <a:t>的某些商品，需要用这些硬币付款，如果每种钱币使用的个数不限，问如何选择付款的方法使得付出钱币的总重量最轻？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1</a:t>
            </a:r>
            <a:r>
              <a:rPr lang="zh-CN" altLang="en-US" dirty="0" smtClean="0"/>
              <a:t>、用合适的数学模型描述问题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2</a:t>
            </a:r>
            <a:r>
              <a:rPr lang="zh-CN" altLang="en-US" dirty="0" smtClean="0"/>
              <a:t>、使用以下的输入实例求解问题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    </a:t>
            </a:r>
            <a:r>
              <a:rPr lang="en-US" altLang="zh-CN" dirty="0" smtClean="0"/>
              <a:t>1          2           3           4</a:t>
            </a:r>
          </a:p>
          <a:p>
            <a:pPr marL="0" indent="0">
              <a:buNone/>
            </a:pPr>
            <a:r>
              <a:rPr lang="en-US" altLang="zh-CN" dirty="0" smtClean="0"/>
              <a:t>v</a:t>
            </a:r>
            <a:r>
              <a:rPr lang="en-US" altLang="zh-CN" baseline="-25000" dirty="0" smtClean="0"/>
              <a:t>i</a:t>
            </a:r>
            <a:r>
              <a:rPr lang="en-US" altLang="zh-CN" dirty="0" smtClean="0"/>
              <a:t>  </a:t>
            </a:r>
            <a:r>
              <a:rPr lang="en-US" altLang="zh-CN" dirty="0" smtClean="0"/>
              <a:t>  </a:t>
            </a:r>
            <a:r>
              <a:rPr lang="en-US" altLang="zh-CN" dirty="0" smtClean="0"/>
              <a:t>1          4           6           8</a:t>
            </a:r>
          </a:p>
          <a:p>
            <a:pPr marL="0" indent="0">
              <a:buNone/>
            </a:pPr>
            <a:r>
              <a:rPr lang="en-US" altLang="zh-CN" dirty="0" err="1" smtClean="0"/>
              <a:t>w</a:t>
            </a:r>
            <a:r>
              <a:rPr lang="en-US" altLang="zh-CN" baseline="-25000" dirty="0" err="1" smtClean="0"/>
              <a:t>i</a:t>
            </a:r>
            <a:r>
              <a:rPr lang="en-US" altLang="zh-CN" dirty="0" smtClean="0"/>
              <a:t>   1          2           4           6</a:t>
            </a:r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 y=11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48013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ext Box 3"/>
          <p:cNvSpPr txBox="1">
            <a:spLocks noChangeArrowheads="1"/>
          </p:cNvSpPr>
          <p:nvPr/>
        </p:nvSpPr>
        <p:spPr bwMode="auto">
          <a:xfrm>
            <a:off x="611188" y="1484313"/>
            <a:ext cx="7920037" cy="3887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800" b="1"/>
              <a:t>问题描述：在数字序列</a:t>
            </a:r>
            <a:r>
              <a:rPr lang="en-US" altLang="zh-CN" sz="2800" b="1" i="1"/>
              <a:t>A</a:t>
            </a:r>
            <a:r>
              <a:rPr lang="en-US" altLang="zh-CN" sz="2800" b="1"/>
              <a:t>={</a:t>
            </a:r>
            <a:r>
              <a:rPr lang="en-US" altLang="zh-CN" sz="2800" b="1" i="1"/>
              <a:t>a</a:t>
            </a:r>
            <a:r>
              <a:rPr lang="en-US" altLang="zh-CN" sz="2800" b="1" baseline="-25000"/>
              <a:t>1</a:t>
            </a:r>
            <a:r>
              <a:rPr lang="en-US" altLang="zh-CN" sz="2800" b="1"/>
              <a:t>, </a:t>
            </a:r>
            <a:r>
              <a:rPr lang="en-US" altLang="zh-CN" sz="2800" b="1" i="1"/>
              <a:t>a</a:t>
            </a:r>
            <a:r>
              <a:rPr lang="en-US" altLang="zh-CN" sz="2800" b="1" baseline="-25000"/>
              <a:t>2</a:t>
            </a:r>
            <a:r>
              <a:rPr lang="en-US" altLang="zh-CN" sz="2800" b="1"/>
              <a:t>, …, </a:t>
            </a:r>
            <a:r>
              <a:rPr lang="en-US" altLang="zh-CN" sz="2800" b="1" i="1"/>
              <a:t>a</a:t>
            </a:r>
            <a:r>
              <a:rPr lang="en-US" altLang="zh-CN" sz="2800" b="1" i="1" baseline="-25000"/>
              <a:t>n</a:t>
            </a:r>
            <a:r>
              <a:rPr lang="en-US" altLang="zh-CN" sz="2800" b="1"/>
              <a:t>}</a:t>
            </a:r>
            <a:r>
              <a:rPr lang="zh-CN" altLang="en-US" sz="2800" b="1"/>
              <a:t>中按递增下标序列</a:t>
            </a:r>
            <a:r>
              <a:rPr lang="en-US" altLang="zh-CN" sz="2800" b="1"/>
              <a:t>(</a:t>
            </a:r>
            <a:r>
              <a:rPr lang="en-US" altLang="zh-CN" sz="2800" b="1" i="1"/>
              <a:t>i</a:t>
            </a:r>
            <a:r>
              <a:rPr lang="en-US" altLang="zh-CN" sz="2800" b="1" baseline="-25000"/>
              <a:t>1</a:t>
            </a:r>
            <a:r>
              <a:rPr lang="en-US" altLang="zh-CN" sz="2800" b="1"/>
              <a:t>, </a:t>
            </a:r>
            <a:r>
              <a:rPr lang="en-US" altLang="zh-CN" sz="2800" b="1" i="1"/>
              <a:t>i</a:t>
            </a:r>
            <a:r>
              <a:rPr lang="en-US" altLang="zh-CN" sz="2800" b="1" baseline="-25000"/>
              <a:t>2</a:t>
            </a:r>
            <a:r>
              <a:rPr lang="en-US" altLang="zh-CN" sz="2800" b="1"/>
              <a:t>,…, </a:t>
            </a:r>
            <a:r>
              <a:rPr lang="en-US" altLang="zh-CN" sz="2800" b="1" i="1"/>
              <a:t>i</a:t>
            </a:r>
            <a:r>
              <a:rPr lang="en-US" altLang="zh-CN" sz="2800" b="1" i="1" baseline="-25000"/>
              <a:t>k</a:t>
            </a:r>
            <a:r>
              <a:rPr lang="en-US" altLang="zh-CN" sz="2800" b="1"/>
              <a:t>)</a:t>
            </a:r>
            <a:r>
              <a:rPr lang="zh-CN" altLang="en-US" sz="2800" b="1"/>
              <a:t>（</a:t>
            </a:r>
            <a:r>
              <a:rPr lang="en-US" altLang="zh-CN" sz="2800" b="1"/>
              <a:t>1≤</a:t>
            </a:r>
            <a:r>
              <a:rPr lang="en-US" altLang="zh-CN" sz="2800" b="1" i="1"/>
              <a:t>i</a:t>
            </a:r>
            <a:r>
              <a:rPr lang="en-US" altLang="zh-CN" sz="2800" b="1" baseline="-25000"/>
              <a:t>1</a:t>
            </a:r>
            <a:r>
              <a:rPr lang="en-US" altLang="zh-CN" sz="2800" b="1"/>
              <a:t>&lt; </a:t>
            </a:r>
            <a:r>
              <a:rPr lang="en-US" altLang="zh-CN" sz="2800" b="1" i="1"/>
              <a:t>i</a:t>
            </a:r>
            <a:r>
              <a:rPr lang="en-US" altLang="zh-CN" sz="2800" b="1" baseline="-25000"/>
              <a:t>2</a:t>
            </a:r>
            <a:r>
              <a:rPr lang="en-US" altLang="zh-CN" sz="2800" b="1"/>
              <a:t>&lt;…&lt; </a:t>
            </a:r>
            <a:r>
              <a:rPr lang="en-US" altLang="zh-CN" sz="2800" b="1" i="1"/>
              <a:t>i</a:t>
            </a:r>
            <a:r>
              <a:rPr lang="en-US" altLang="zh-CN" sz="2800" b="1" i="1" baseline="-25000"/>
              <a:t>k</a:t>
            </a:r>
            <a:r>
              <a:rPr lang="en-US" altLang="zh-CN" sz="2800" b="1"/>
              <a:t>≤</a:t>
            </a:r>
            <a:r>
              <a:rPr lang="en-US" altLang="zh-CN" sz="2800" b="1" i="1"/>
              <a:t>n</a:t>
            </a:r>
            <a:r>
              <a:rPr lang="zh-CN" altLang="en-US" sz="2800" b="1"/>
              <a:t>）顺序选出一个子序列</a:t>
            </a:r>
            <a:r>
              <a:rPr lang="en-US" altLang="zh-CN" sz="2800" b="1" i="1"/>
              <a:t>B</a:t>
            </a:r>
            <a:r>
              <a:rPr lang="zh-CN" altLang="en-US" sz="2800" b="1"/>
              <a:t>，如果子序列</a:t>
            </a:r>
            <a:r>
              <a:rPr lang="en-US" altLang="zh-CN" sz="2800" b="1" i="1"/>
              <a:t>B</a:t>
            </a:r>
            <a:r>
              <a:rPr lang="zh-CN" altLang="en-US" sz="2800" b="1"/>
              <a:t>中的数字都是严格递增的，则子序列</a:t>
            </a:r>
            <a:r>
              <a:rPr lang="en-US" altLang="zh-CN" sz="2800" b="1" i="1"/>
              <a:t>B</a:t>
            </a:r>
            <a:r>
              <a:rPr lang="zh-CN" altLang="en-US" sz="2800" b="1"/>
              <a:t>称为序列</a:t>
            </a:r>
            <a:r>
              <a:rPr lang="en-US" altLang="zh-CN" sz="2800" b="1" i="1"/>
              <a:t>A</a:t>
            </a:r>
            <a:r>
              <a:rPr lang="zh-CN" altLang="en-US" sz="2800" b="1"/>
              <a:t>的递增子序列。最长递增子序列问题就是要找出序列</a:t>
            </a:r>
            <a:r>
              <a:rPr lang="en-US" altLang="zh-CN" sz="2800" b="1" i="1"/>
              <a:t>A</a:t>
            </a:r>
            <a:r>
              <a:rPr lang="zh-CN" altLang="en-US" sz="2800" b="1"/>
              <a:t>的一个最长的递增子序列。</a:t>
            </a:r>
          </a:p>
        </p:txBody>
      </p:sp>
      <p:sp>
        <p:nvSpPr>
          <p:cNvPr id="58371" name="Text Box 53"/>
          <p:cNvSpPr txBox="1">
            <a:spLocks noChangeArrowheads="1"/>
          </p:cNvSpPr>
          <p:nvPr/>
        </p:nvSpPr>
        <p:spPr bwMode="auto">
          <a:xfrm>
            <a:off x="323850" y="260350"/>
            <a:ext cx="7848600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4400" b="1" dirty="0" smtClean="0">
                <a:solidFill>
                  <a:schemeClr val="tx2"/>
                </a:solidFill>
                <a:latin typeface="华文行楷" pitchFamily="2" charset="-122"/>
                <a:ea typeface="华文行楷" pitchFamily="2" charset="-122"/>
              </a:rPr>
              <a:t>最</a:t>
            </a:r>
            <a:r>
              <a:rPr lang="zh-CN" altLang="en-US" sz="4400" b="1" dirty="0">
                <a:solidFill>
                  <a:schemeClr val="tx2"/>
                </a:solidFill>
                <a:latin typeface="华文行楷" pitchFamily="2" charset="-122"/>
                <a:ea typeface="华文行楷" pitchFamily="2" charset="-122"/>
              </a:rPr>
              <a:t>长递增子序列问题 </a:t>
            </a:r>
          </a:p>
        </p:txBody>
      </p:sp>
      <p:sp>
        <p:nvSpPr>
          <p:cNvPr id="58372" name="日期占位符 1"/>
          <p:cNvSpPr txBox="1">
            <a:spLocks noGrp="1" noChangeArrowheads="1"/>
          </p:cNvSpPr>
          <p:nvPr/>
        </p:nvSpPr>
        <p:spPr bwMode="auto">
          <a:xfrm>
            <a:off x="66294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/>
            <a:fld id="{5151B616-F8B0-4141-9FB0-4F86145EEE79}" type="datetime1">
              <a:rPr lang="zh-CN" altLang="en-US" sz="1400">
                <a:latin typeface="Comic Sans MS" pitchFamily="66" charset="0"/>
              </a:rPr>
              <a:pPr algn="r"/>
              <a:t>2018/5/10</a:t>
            </a:fld>
            <a:endParaRPr lang="en-US" altLang="zh-CN" sz="1400">
              <a:latin typeface="Comic Sans MS" pitchFamily="66" charset="0"/>
            </a:endParaRPr>
          </a:p>
        </p:txBody>
      </p:sp>
      <p:sp>
        <p:nvSpPr>
          <p:cNvPr id="58373" name="页脚占位符 2"/>
          <p:cNvSpPr txBox="1">
            <a:spLocks noGrp="1" noChangeArrowheads="1"/>
          </p:cNvSpPr>
          <p:nvPr/>
        </p:nvSpPr>
        <p:spPr bwMode="auto">
          <a:xfrm>
            <a:off x="33528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/>
            <a:r>
              <a:rPr lang="en-US" altLang="zh-CN" sz="1400">
                <a:latin typeface="Comic Sans MS" pitchFamily="66" charset="0"/>
              </a:rPr>
              <a:t>第6章  动态规划法</a:t>
            </a:r>
          </a:p>
        </p:txBody>
      </p:sp>
      <p:sp>
        <p:nvSpPr>
          <p:cNvPr id="58374" name="灯片编号占位符 4"/>
          <p:cNvSpPr txBox="1">
            <a:spLocks noGrp="1" noChangeArrowheads="1"/>
          </p:cNvSpPr>
          <p:nvPr/>
        </p:nvSpPr>
        <p:spPr bwMode="auto">
          <a:xfrm>
            <a:off x="1066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en-US" altLang="zh-CN" sz="1400">
                <a:latin typeface="Comic Sans MS" pitchFamily="66" charset="0"/>
              </a:rPr>
              <a:t>Page </a:t>
            </a:r>
            <a:fld id="{198C784F-C2EB-468A-BBC3-35946370C764}" type="slidenum">
              <a:rPr lang="en-US" altLang="zh-CN" sz="1400">
                <a:latin typeface="Comic Sans MS" pitchFamily="66" charset="0"/>
              </a:rPr>
              <a:pPr/>
              <a:t>8</a:t>
            </a:fld>
            <a:endParaRPr lang="en-US" altLang="zh-CN" sz="1400">
              <a:latin typeface="Comic Sans MS" pitchFamily="66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ext Box 5"/>
          <p:cNvSpPr txBox="1">
            <a:spLocks noChangeArrowheads="1"/>
          </p:cNvSpPr>
          <p:nvPr/>
        </p:nvSpPr>
        <p:spPr bwMode="auto">
          <a:xfrm>
            <a:off x="684213" y="447675"/>
            <a:ext cx="7759700" cy="534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zh-CN" altLang="en-US" sz="3200" b="1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最长递增子序列问题</a:t>
            </a:r>
            <a:r>
              <a:rPr lang="en-US" altLang="zh-CN" sz="3200" b="1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——</a:t>
            </a:r>
            <a:r>
              <a:rPr lang="zh-CN" altLang="en-US" sz="3200" b="1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想法</a:t>
            </a:r>
          </a:p>
        </p:txBody>
      </p:sp>
      <p:sp>
        <p:nvSpPr>
          <p:cNvPr id="59395" name="Text Box 6"/>
          <p:cNvSpPr txBox="1">
            <a:spLocks noChangeArrowheads="1"/>
          </p:cNvSpPr>
          <p:nvPr/>
        </p:nvSpPr>
        <p:spPr bwMode="auto">
          <a:xfrm>
            <a:off x="611188" y="1339850"/>
            <a:ext cx="7920037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设序列</a:t>
            </a:r>
            <a:r>
              <a:rPr lang="en-US" altLang="zh-CN" sz="2800" b="1" i="1"/>
              <a:t>A</a:t>
            </a:r>
            <a:r>
              <a:rPr lang="en-US" altLang="zh-CN" sz="2800" b="1"/>
              <a:t>={</a:t>
            </a:r>
            <a:r>
              <a:rPr lang="en-US" altLang="zh-CN" sz="2800" b="1" i="1"/>
              <a:t>a</a:t>
            </a:r>
            <a:r>
              <a:rPr lang="en-US" altLang="zh-CN" sz="2800" b="1" baseline="-25000"/>
              <a:t>1</a:t>
            </a:r>
            <a:r>
              <a:rPr lang="en-US" altLang="zh-CN" sz="2800" b="1"/>
              <a:t>, </a:t>
            </a:r>
            <a:r>
              <a:rPr lang="en-US" altLang="zh-CN" sz="2800" b="1" i="1"/>
              <a:t>a</a:t>
            </a:r>
            <a:r>
              <a:rPr lang="en-US" altLang="zh-CN" sz="2800" b="1" baseline="-25000"/>
              <a:t>2</a:t>
            </a:r>
            <a:r>
              <a:rPr lang="en-US" altLang="zh-CN" sz="2800" b="1"/>
              <a:t>, …, </a:t>
            </a:r>
            <a:r>
              <a:rPr lang="en-US" altLang="zh-CN" sz="2800" b="1" i="1"/>
              <a:t>a</a:t>
            </a:r>
            <a:r>
              <a:rPr lang="en-US" altLang="zh-CN" sz="2800" b="1" i="1" baseline="-25000"/>
              <a:t>n</a:t>
            </a:r>
            <a:r>
              <a:rPr lang="en-US" altLang="zh-CN" sz="2800" b="1"/>
              <a:t>}</a:t>
            </a:r>
          </a:p>
          <a:p>
            <a:pPr eaLnBrk="1" hangingPunct="1"/>
            <a:r>
              <a:rPr lang="zh-CN" altLang="en-US" sz="2800" b="1"/>
              <a:t>最长递增子序列是</a:t>
            </a:r>
            <a:r>
              <a:rPr lang="en-US" altLang="zh-CN" sz="2800" b="1" i="1"/>
              <a:t>B</a:t>
            </a:r>
            <a:r>
              <a:rPr lang="en-US" altLang="zh-CN" sz="2800" b="1"/>
              <a:t>={</a:t>
            </a:r>
            <a:r>
              <a:rPr lang="en-US" altLang="zh-CN" sz="2800" b="1" i="1"/>
              <a:t>b</a:t>
            </a:r>
            <a:r>
              <a:rPr lang="en-US" altLang="zh-CN" sz="2800" b="1" baseline="-25000"/>
              <a:t>1</a:t>
            </a:r>
            <a:r>
              <a:rPr lang="en-US" altLang="zh-CN" sz="2800" b="1"/>
              <a:t>, </a:t>
            </a:r>
            <a:r>
              <a:rPr lang="en-US" altLang="zh-CN" sz="2800" b="1" i="1"/>
              <a:t>b</a:t>
            </a:r>
            <a:r>
              <a:rPr lang="en-US" altLang="zh-CN" sz="2800" b="1" baseline="-25000"/>
              <a:t>2</a:t>
            </a:r>
            <a:r>
              <a:rPr lang="en-US" altLang="zh-CN" sz="2800" b="1"/>
              <a:t>,…, </a:t>
            </a:r>
            <a:r>
              <a:rPr lang="en-US" altLang="zh-CN" sz="2800" b="1" i="1"/>
              <a:t>b</a:t>
            </a:r>
            <a:r>
              <a:rPr lang="en-US" altLang="zh-CN" sz="2800" b="1" i="1" baseline="-25000"/>
              <a:t>m</a:t>
            </a:r>
            <a:r>
              <a:rPr lang="en-US" altLang="zh-CN" sz="2800" b="1"/>
              <a:t>}</a:t>
            </a:r>
          </a:p>
          <a:p>
            <a:pPr eaLnBrk="1" hangingPunct="1"/>
            <a:r>
              <a:rPr lang="zh-CN" altLang="en-US" sz="2800" b="1"/>
              <a:t>最长递增子序列问题满足最优性原理。 </a:t>
            </a:r>
          </a:p>
        </p:txBody>
      </p:sp>
      <p:sp>
        <p:nvSpPr>
          <p:cNvPr id="59396" name="Text Box 7"/>
          <p:cNvSpPr txBox="1">
            <a:spLocks noChangeArrowheads="1"/>
          </p:cNvSpPr>
          <p:nvPr/>
        </p:nvSpPr>
        <p:spPr bwMode="auto">
          <a:xfrm>
            <a:off x="611188" y="2708275"/>
            <a:ext cx="7848600" cy="2227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设</a:t>
            </a:r>
            <a:r>
              <a:rPr lang="en-US" altLang="zh-CN" sz="2800" b="1" i="1"/>
              <a:t>L</a:t>
            </a:r>
            <a:r>
              <a:rPr lang="en-US" altLang="zh-CN" sz="2800" b="1"/>
              <a:t>(</a:t>
            </a:r>
            <a:r>
              <a:rPr lang="en-US" altLang="zh-CN" sz="2800" b="1" i="1"/>
              <a:t>n</a:t>
            </a:r>
            <a:r>
              <a:rPr lang="en-US" altLang="zh-CN" sz="2800" b="1"/>
              <a:t>)</a:t>
            </a:r>
            <a:r>
              <a:rPr lang="zh-CN" altLang="en-US" sz="2800" b="1"/>
              <a:t>为数字序列</a:t>
            </a:r>
            <a:r>
              <a:rPr lang="en-US" altLang="zh-CN" sz="2800" b="1" i="1"/>
              <a:t>A</a:t>
            </a:r>
            <a:r>
              <a:rPr lang="en-US" altLang="zh-CN" sz="2800" b="1"/>
              <a:t>={</a:t>
            </a:r>
            <a:r>
              <a:rPr lang="en-US" altLang="zh-CN" sz="2800" b="1" i="1"/>
              <a:t>a</a:t>
            </a:r>
            <a:r>
              <a:rPr lang="en-US" altLang="zh-CN" sz="2800" b="1" baseline="-25000"/>
              <a:t>1</a:t>
            </a:r>
            <a:r>
              <a:rPr lang="en-US" altLang="zh-CN" sz="2800" b="1"/>
              <a:t>, </a:t>
            </a:r>
            <a:r>
              <a:rPr lang="en-US" altLang="zh-CN" sz="2800" b="1" i="1"/>
              <a:t>a</a:t>
            </a:r>
            <a:r>
              <a:rPr lang="en-US" altLang="zh-CN" sz="2800" b="1" baseline="-25000"/>
              <a:t>2</a:t>
            </a:r>
            <a:r>
              <a:rPr lang="en-US" altLang="zh-CN" sz="2800" b="1"/>
              <a:t>, …, </a:t>
            </a:r>
            <a:r>
              <a:rPr lang="en-US" altLang="zh-CN" sz="2800" b="1" i="1"/>
              <a:t>a</a:t>
            </a:r>
            <a:r>
              <a:rPr lang="en-US" altLang="zh-CN" sz="2800" b="1" i="1" baseline="-25000"/>
              <a:t>n</a:t>
            </a:r>
            <a:r>
              <a:rPr lang="en-US" altLang="zh-CN" sz="2800" b="1"/>
              <a:t>}</a:t>
            </a:r>
            <a:r>
              <a:rPr lang="zh-CN" altLang="en-US" sz="2800" b="1"/>
              <a:t>的最长递增子序列的长度，显然，初始子问题是</a:t>
            </a:r>
            <a:r>
              <a:rPr lang="en-US" altLang="zh-CN" sz="2800" b="1"/>
              <a:t>{</a:t>
            </a:r>
            <a:r>
              <a:rPr lang="en-US" altLang="zh-CN" sz="2800" b="1" i="1"/>
              <a:t>a</a:t>
            </a:r>
            <a:r>
              <a:rPr lang="en-US" altLang="zh-CN" sz="2800" b="1" baseline="-25000"/>
              <a:t>1</a:t>
            </a:r>
            <a:r>
              <a:rPr lang="en-US" altLang="zh-CN" sz="2800" b="1"/>
              <a:t>}</a:t>
            </a:r>
            <a:r>
              <a:rPr lang="zh-CN" altLang="en-US" sz="2800" b="1"/>
              <a:t>，即</a:t>
            </a:r>
            <a:r>
              <a:rPr lang="en-US" altLang="zh-CN" sz="2800" b="1" i="1"/>
              <a:t>L</a:t>
            </a:r>
            <a:r>
              <a:rPr lang="en-US" altLang="zh-CN" sz="2800" b="1"/>
              <a:t>(1)=1</a:t>
            </a:r>
            <a:r>
              <a:rPr lang="zh-CN" altLang="en-US" sz="2800" b="1"/>
              <a:t>。考虑原问题的一部分，设</a:t>
            </a:r>
            <a:r>
              <a:rPr lang="en-US" altLang="zh-CN" sz="2800" b="1" i="1"/>
              <a:t>L</a:t>
            </a:r>
            <a:r>
              <a:rPr lang="en-US" altLang="zh-CN" sz="2800" b="1"/>
              <a:t>(</a:t>
            </a:r>
            <a:r>
              <a:rPr lang="en-US" altLang="zh-CN" sz="2800" b="1" i="1"/>
              <a:t>i</a:t>
            </a:r>
            <a:r>
              <a:rPr lang="en-US" altLang="zh-CN" sz="2800" b="1"/>
              <a:t>)</a:t>
            </a:r>
            <a:r>
              <a:rPr lang="zh-CN" altLang="en-US" sz="2800" b="1"/>
              <a:t>为子序列</a:t>
            </a:r>
            <a:r>
              <a:rPr lang="en-US" altLang="zh-CN" sz="2800" b="1" i="1"/>
              <a:t>A</a:t>
            </a:r>
            <a:r>
              <a:rPr lang="en-US" altLang="zh-CN" sz="2800" b="1"/>
              <a:t>={</a:t>
            </a:r>
            <a:r>
              <a:rPr lang="en-US" altLang="zh-CN" sz="2800" b="1" i="1"/>
              <a:t>a</a:t>
            </a:r>
            <a:r>
              <a:rPr lang="en-US" altLang="zh-CN" sz="2800" b="1" baseline="-25000"/>
              <a:t>1</a:t>
            </a:r>
            <a:r>
              <a:rPr lang="en-US" altLang="zh-CN" sz="2800" b="1"/>
              <a:t>, </a:t>
            </a:r>
            <a:r>
              <a:rPr lang="en-US" altLang="zh-CN" sz="2800" b="1" i="1"/>
              <a:t>a</a:t>
            </a:r>
            <a:r>
              <a:rPr lang="en-US" altLang="zh-CN" sz="2800" b="1" baseline="-25000"/>
              <a:t>2</a:t>
            </a:r>
            <a:r>
              <a:rPr lang="en-US" altLang="zh-CN" sz="2800" b="1"/>
              <a:t>, …, </a:t>
            </a:r>
            <a:r>
              <a:rPr lang="en-US" altLang="zh-CN" sz="2800" b="1" i="1"/>
              <a:t>a</a:t>
            </a:r>
            <a:r>
              <a:rPr lang="en-US" altLang="zh-CN" sz="2800" b="1" i="1" baseline="-25000"/>
              <a:t>i</a:t>
            </a:r>
            <a:r>
              <a:rPr lang="en-US" altLang="zh-CN" sz="2800" b="1"/>
              <a:t>}</a:t>
            </a:r>
            <a:r>
              <a:rPr lang="zh-CN" altLang="en-US" sz="2800" b="1"/>
              <a:t>的最长递增子序列的长度，则满足如下递推式：</a:t>
            </a:r>
          </a:p>
        </p:txBody>
      </p:sp>
      <p:grpSp>
        <p:nvGrpSpPr>
          <p:cNvPr id="59397" name="Group 8"/>
          <p:cNvGrpSpPr>
            <a:grpSpLocks/>
          </p:cNvGrpSpPr>
          <p:nvPr/>
        </p:nvGrpSpPr>
        <p:grpSpPr bwMode="auto">
          <a:xfrm>
            <a:off x="1042988" y="5011738"/>
            <a:ext cx="7129462" cy="1081087"/>
            <a:chOff x="0" y="0"/>
            <a:chExt cx="5542" cy="678"/>
          </a:xfrm>
        </p:grpSpPr>
        <p:sp>
          <p:nvSpPr>
            <p:cNvPr id="59398" name="Text Box 9"/>
            <p:cNvSpPr txBox="1">
              <a:spLocks noChangeArrowheads="1"/>
            </p:cNvSpPr>
            <p:nvPr/>
          </p:nvSpPr>
          <p:spPr bwMode="auto">
            <a:xfrm>
              <a:off x="662" y="0"/>
              <a:ext cx="4880" cy="67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just" eaLnBrk="1" hangingPunct="1"/>
              <a:r>
                <a:rPr lang="en-US" altLang="zh-CN" sz="1000" b="1"/>
                <a:t> </a:t>
              </a:r>
            </a:p>
            <a:p>
              <a:pPr algn="just" eaLnBrk="1" hangingPunct="1"/>
              <a:r>
                <a:rPr lang="en-US" altLang="zh-CN" b="1"/>
                <a:t>         1                </a:t>
              </a:r>
              <a:r>
                <a:rPr lang="en-US" altLang="zh-CN" b="1" i="1"/>
                <a:t>i</a:t>
              </a:r>
              <a:r>
                <a:rPr lang="en-US" altLang="zh-CN" b="1"/>
                <a:t> = 1</a:t>
              </a:r>
              <a:r>
                <a:rPr lang="zh-CN" altLang="en-US" b="1"/>
                <a:t>或不存在</a:t>
              </a:r>
              <a:r>
                <a:rPr lang="en-US" altLang="zh-CN" b="1" i="1"/>
                <a:t>a</a:t>
              </a:r>
              <a:r>
                <a:rPr lang="en-US" altLang="zh-CN" b="1" i="1" baseline="-25000"/>
                <a:t>j</a:t>
              </a:r>
              <a:r>
                <a:rPr lang="en-US" altLang="zh-CN" b="1"/>
                <a:t>&lt;</a:t>
              </a:r>
              <a:r>
                <a:rPr lang="en-US" altLang="zh-CN" b="1" i="1"/>
                <a:t>a</a:t>
              </a:r>
              <a:r>
                <a:rPr lang="en-US" altLang="zh-CN" b="1" i="1" baseline="-25000"/>
                <a:t>i</a:t>
              </a:r>
              <a:r>
                <a:rPr lang="zh-CN" altLang="en-US" b="1"/>
                <a:t>（</a:t>
              </a:r>
              <a:r>
                <a:rPr lang="en-US" altLang="zh-CN" b="1"/>
                <a:t>1≤</a:t>
              </a:r>
              <a:r>
                <a:rPr lang="en-US" altLang="zh-CN" b="1" i="1"/>
                <a:t>j</a:t>
              </a:r>
              <a:r>
                <a:rPr lang="zh-CN" altLang="en-US" b="1"/>
                <a:t>＜</a:t>
              </a:r>
              <a:r>
                <a:rPr lang="en-US" altLang="zh-CN" b="1" i="1"/>
                <a:t>i</a:t>
              </a:r>
              <a:r>
                <a:rPr lang="zh-CN" altLang="en-US" b="1"/>
                <a:t>）</a:t>
              </a:r>
            </a:p>
            <a:p>
              <a:pPr algn="just" eaLnBrk="1" hangingPunct="1"/>
              <a:r>
                <a:rPr lang="en-US" altLang="zh-CN" b="1"/>
                <a:t>max{</a:t>
              </a:r>
              <a:r>
                <a:rPr lang="en-US" altLang="zh-CN" b="1" i="1"/>
                <a:t>L</a:t>
              </a:r>
              <a:r>
                <a:rPr lang="en-US" altLang="zh-CN" b="1"/>
                <a:t>(</a:t>
              </a:r>
              <a:r>
                <a:rPr lang="en-US" altLang="zh-CN" b="1" i="1"/>
                <a:t>j</a:t>
              </a:r>
              <a:r>
                <a:rPr lang="en-US" altLang="zh-CN" b="1"/>
                <a:t>) + 1}    </a:t>
              </a:r>
              <a:r>
                <a:rPr lang="zh-CN" altLang="en-US" b="1"/>
                <a:t>对于所有的</a:t>
              </a:r>
              <a:r>
                <a:rPr lang="en-US" altLang="zh-CN" b="1" i="1"/>
                <a:t>a</a:t>
              </a:r>
              <a:r>
                <a:rPr lang="en-US" altLang="zh-CN" b="1" i="1" baseline="-25000"/>
                <a:t>j</a:t>
              </a:r>
              <a:r>
                <a:rPr lang="en-US" altLang="zh-CN" b="1"/>
                <a:t>&lt;</a:t>
              </a:r>
              <a:r>
                <a:rPr lang="en-US" altLang="zh-CN" b="1" i="1"/>
                <a:t>a</a:t>
              </a:r>
              <a:r>
                <a:rPr lang="en-US" altLang="zh-CN" b="1" i="1" baseline="-25000"/>
                <a:t>i</a:t>
              </a:r>
              <a:r>
                <a:rPr lang="zh-CN" altLang="en-US" b="1"/>
                <a:t>（</a:t>
              </a:r>
              <a:r>
                <a:rPr lang="en-US" altLang="zh-CN" b="1"/>
                <a:t>1≤</a:t>
              </a:r>
              <a:r>
                <a:rPr lang="en-US" altLang="zh-CN" b="1" i="1"/>
                <a:t>j</a:t>
              </a:r>
              <a:r>
                <a:rPr lang="zh-CN" altLang="en-US" b="1"/>
                <a:t>＜</a:t>
              </a:r>
              <a:r>
                <a:rPr lang="en-US" altLang="zh-CN" b="1" i="1"/>
                <a:t>i</a:t>
              </a:r>
              <a:r>
                <a:rPr lang="zh-CN" altLang="en-US" b="1"/>
                <a:t>）</a:t>
              </a:r>
              <a:endParaRPr lang="zh-CN" altLang="en-US" sz="4800" b="1">
                <a:latin typeface="Arial" pitchFamily="34" charset="0"/>
              </a:endParaRPr>
            </a:p>
          </p:txBody>
        </p:sp>
        <p:sp>
          <p:nvSpPr>
            <p:cNvPr id="59399" name="Text Box 10"/>
            <p:cNvSpPr txBox="1">
              <a:spLocks noChangeArrowheads="1"/>
            </p:cNvSpPr>
            <p:nvPr/>
          </p:nvSpPr>
          <p:spPr bwMode="auto">
            <a:xfrm>
              <a:off x="0" y="172"/>
              <a:ext cx="650" cy="258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just" eaLnBrk="1" hangingPunct="1"/>
              <a:r>
                <a:rPr lang="en-US" altLang="zh-CN" b="1" i="1"/>
                <a:t>L</a:t>
              </a:r>
              <a:r>
                <a:rPr lang="en-US" altLang="zh-CN" b="1"/>
                <a:t>(</a:t>
              </a:r>
              <a:r>
                <a:rPr lang="en-US" altLang="zh-CN" b="1" i="1"/>
                <a:t>i</a:t>
              </a:r>
              <a:r>
                <a:rPr lang="en-US" altLang="zh-CN" b="1"/>
                <a:t>) =</a:t>
              </a:r>
              <a:endParaRPr lang="en-US" altLang="zh-CN" sz="4800" b="1">
                <a:latin typeface="Arial" pitchFamily="34" charset="0"/>
              </a:endParaRPr>
            </a:p>
          </p:txBody>
        </p:sp>
        <p:sp>
          <p:nvSpPr>
            <p:cNvPr id="59400" name="AutoShape 11"/>
            <p:cNvSpPr>
              <a:spLocks/>
            </p:cNvSpPr>
            <p:nvPr/>
          </p:nvSpPr>
          <p:spPr bwMode="auto">
            <a:xfrm>
              <a:off x="542" y="131"/>
              <a:ext cx="90" cy="391"/>
            </a:xfrm>
            <a:prstGeom prst="leftBrace">
              <a:avLst>
                <a:gd name="adj1" fmla="val 36204"/>
                <a:gd name="adj2" fmla="val 50000"/>
              </a:avLst>
            </a:prstGeom>
            <a:noFill/>
            <a:ln w="9525" cmpd="sng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 sz="3600"/>
            </a:p>
          </p:txBody>
        </p:sp>
      </p:grpSp>
      <p:sp>
        <p:nvSpPr>
          <p:cNvPr id="59401" name="日期占位符 1"/>
          <p:cNvSpPr txBox="1">
            <a:spLocks noGrp="1" noChangeArrowheads="1"/>
          </p:cNvSpPr>
          <p:nvPr/>
        </p:nvSpPr>
        <p:spPr bwMode="auto">
          <a:xfrm>
            <a:off x="66294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/>
            <a:fld id="{D357C3F3-0C8D-42B7-83E4-5A41CBB4D06A}" type="datetime1">
              <a:rPr lang="zh-CN" altLang="en-US" sz="1400">
                <a:latin typeface="Comic Sans MS" pitchFamily="66" charset="0"/>
              </a:rPr>
              <a:pPr algn="r"/>
              <a:t>2018/5/10</a:t>
            </a:fld>
            <a:endParaRPr lang="en-US" altLang="zh-CN" sz="1400">
              <a:latin typeface="Comic Sans MS" pitchFamily="66" charset="0"/>
            </a:endParaRPr>
          </a:p>
        </p:txBody>
      </p:sp>
      <p:sp>
        <p:nvSpPr>
          <p:cNvPr id="59402" name="页脚占位符 2"/>
          <p:cNvSpPr txBox="1">
            <a:spLocks noGrp="1" noChangeArrowheads="1"/>
          </p:cNvSpPr>
          <p:nvPr/>
        </p:nvSpPr>
        <p:spPr bwMode="auto">
          <a:xfrm>
            <a:off x="33528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/>
            <a:r>
              <a:rPr lang="en-US" altLang="zh-CN" sz="1400">
                <a:latin typeface="Comic Sans MS" pitchFamily="66" charset="0"/>
              </a:rPr>
              <a:t>第6章  动态规划法</a:t>
            </a:r>
          </a:p>
        </p:txBody>
      </p:sp>
      <p:sp>
        <p:nvSpPr>
          <p:cNvPr id="59403" name="灯片编号占位符 3"/>
          <p:cNvSpPr txBox="1">
            <a:spLocks noGrp="1" noChangeArrowheads="1"/>
          </p:cNvSpPr>
          <p:nvPr/>
        </p:nvSpPr>
        <p:spPr bwMode="auto">
          <a:xfrm>
            <a:off x="1066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en-US" altLang="zh-CN" sz="1400">
                <a:latin typeface="Comic Sans MS" pitchFamily="66" charset="0"/>
              </a:rPr>
              <a:t>Page </a:t>
            </a:r>
            <a:fld id="{FD11C5E3-7EFE-4126-B31B-CE063AA795B3}" type="slidenum">
              <a:rPr lang="en-US" altLang="zh-CN" sz="1400">
                <a:latin typeface="Comic Sans MS" pitchFamily="66" charset="0"/>
              </a:rPr>
              <a:pPr/>
              <a:t>9</a:t>
            </a:fld>
            <a:endParaRPr lang="en-US" altLang="zh-CN" sz="1400">
              <a:latin typeface="Comic Sans MS" pitchFamily="66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ext Box 4"/>
          <p:cNvSpPr txBox="1">
            <a:spLocks noChangeArrowheads="1"/>
          </p:cNvSpPr>
          <p:nvPr/>
        </p:nvSpPr>
        <p:spPr bwMode="auto">
          <a:xfrm>
            <a:off x="755650" y="1114425"/>
            <a:ext cx="76327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于序列</a:t>
            </a:r>
            <a:r>
              <a:rPr lang="en-US" altLang="zh-CN" sz="2800" b="1" i="1"/>
              <a:t>A</a:t>
            </a:r>
            <a:r>
              <a:rPr lang="en-US" altLang="zh-CN" sz="2800" b="1"/>
              <a:t>={5, 2, 8, 6, 3, 6, 9, 7}</a:t>
            </a:r>
            <a:r>
              <a:rPr lang="zh-CN" altLang="en-US" sz="2800" b="1"/>
              <a:t>，用动态规划法求解最长递增子序列。</a:t>
            </a:r>
          </a:p>
        </p:txBody>
      </p:sp>
      <p:sp>
        <p:nvSpPr>
          <p:cNvPr id="60419" name="Text Box 6"/>
          <p:cNvSpPr txBox="1">
            <a:spLocks noChangeArrowheads="1"/>
          </p:cNvSpPr>
          <p:nvPr/>
        </p:nvSpPr>
        <p:spPr bwMode="auto">
          <a:xfrm>
            <a:off x="900113" y="2205038"/>
            <a:ext cx="7993062" cy="411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zh-CN" altLang="en-US" sz="2000" b="1">
                <a:solidFill>
                  <a:srgbClr val="000099"/>
                </a:solidFill>
              </a:rPr>
              <a:t>首先计算初始子问题，可以直接获得：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 b="1">
                <a:solidFill>
                  <a:srgbClr val="000099"/>
                </a:solidFill>
              </a:rPr>
              <a:t>L(1)=1({5})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sz="2000" b="1">
                <a:solidFill>
                  <a:srgbClr val="000099"/>
                </a:solidFill>
              </a:rPr>
              <a:t>然后依次求解下一个阶段的子问题，有：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 b="1">
                <a:solidFill>
                  <a:srgbClr val="000099"/>
                </a:solidFill>
              </a:rPr>
              <a:t>L(2)=1({2})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 b="1">
                <a:solidFill>
                  <a:srgbClr val="000099"/>
                </a:solidFill>
              </a:rPr>
              <a:t>L(3)=max{L(1)+1, L(2)+1}=2({5, 8}, {2, 8})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 b="1">
                <a:solidFill>
                  <a:srgbClr val="000099"/>
                </a:solidFill>
              </a:rPr>
              <a:t>L(4)= max{L(1)+1, L(2)+1}=2({5, 6}, {2, 6})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 b="1">
                <a:solidFill>
                  <a:srgbClr val="000099"/>
                </a:solidFill>
              </a:rPr>
              <a:t>L(5)=L(2)+1=2({2, 3})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 b="1">
                <a:solidFill>
                  <a:srgbClr val="000099"/>
                </a:solidFill>
              </a:rPr>
              <a:t>L(6)=max{L(1)+1, L(2)+1, L(5)+1)}=3({2, 3, 6})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 b="1">
                <a:solidFill>
                  <a:srgbClr val="000099"/>
                </a:solidFill>
              </a:rPr>
              <a:t>L(7)=max{L(1)+1, L(2)+1, L(3)+1, L(4)+1, L(5)+1, L(6)+1}=4({2, 3, 6, 9})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 b="1">
                <a:solidFill>
                  <a:srgbClr val="000099"/>
                </a:solidFill>
              </a:rPr>
              <a:t>L(8)=max{L(1)+1, L(2)+1, L(4)+1, L(5)+1, L(6)+1}=4({2, 3, 6, 7})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sz="2000" b="1">
                <a:solidFill>
                  <a:srgbClr val="000099"/>
                </a:solidFill>
              </a:rPr>
              <a:t>序列</a:t>
            </a:r>
            <a:r>
              <a:rPr lang="en-US" altLang="zh-CN" sz="2000" b="1">
                <a:solidFill>
                  <a:srgbClr val="000099"/>
                </a:solidFill>
              </a:rPr>
              <a:t>A</a:t>
            </a:r>
            <a:r>
              <a:rPr lang="zh-CN" altLang="en-US" sz="2000" b="1">
                <a:solidFill>
                  <a:srgbClr val="000099"/>
                </a:solidFill>
              </a:rPr>
              <a:t>的最长递增子序列的长度为</a:t>
            </a:r>
            <a:r>
              <a:rPr lang="en-US" altLang="zh-CN" sz="2000" b="1">
                <a:solidFill>
                  <a:srgbClr val="000099"/>
                </a:solidFill>
              </a:rPr>
              <a:t>4</a:t>
            </a:r>
            <a:r>
              <a:rPr lang="zh-CN" altLang="en-US" sz="2000" b="1">
                <a:solidFill>
                  <a:srgbClr val="000099"/>
                </a:solidFill>
              </a:rPr>
              <a:t>，有两个最长递增子序列，分别是</a:t>
            </a:r>
            <a:r>
              <a:rPr lang="en-US" altLang="zh-CN" sz="2000" b="1">
                <a:solidFill>
                  <a:srgbClr val="000099"/>
                </a:solidFill>
              </a:rPr>
              <a:t>{2, 3, 6, 9}</a:t>
            </a:r>
            <a:r>
              <a:rPr lang="zh-CN" altLang="en-US" sz="2000" b="1">
                <a:solidFill>
                  <a:srgbClr val="000099"/>
                </a:solidFill>
              </a:rPr>
              <a:t>和</a:t>
            </a:r>
            <a:r>
              <a:rPr lang="en-US" altLang="zh-CN" sz="2000" b="1">
                <a:solidFill>
                  <a:srgbClr val="000099"/>
                </a:solidFill>
              </a:rPr>
              <a:t>{2, 3, 6, 7})</a:t>
            </a:r>
            <a:r>
              <a:rPr lang="zh-CN" altLang="en-US" sz="2000" b="1">
                <a:solidFill>
                  <a:srgbClr val="000099"/>
                </a:solidFill>
              </a:rPr>
              <a:t>。</a:t>
            </a:r>
          </a:p>
        </p:txBody>
      </p:sp>
      <p:sp>
        <p:nvSpPr>
          <p:cNvPr id="60420" name="Text Box 5"/>
          <p:cNvSpPr txBox="1">
            <a:spLocks noChangeArrowheads="1"/>
          </p:cNvSpPr>
          <p:nvPr/>
        </p:nvSpPr>
        <p:spPr bwMode="auto">
          <a:xfrm>
            <a:off x="684213" y="447675"/>
            <a:ext cx="7759700" cy="534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zh-CN" altLang="en-US" sz="3200" b="1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最长递增子序列问题</a:t>
            </a:r>
            <a:r>
              <a:rPr lang="en-US" altLang="zh-CN" sz="3200" b="1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——</a:t>
            </a:r>
            <a:r>
              <a:rPr lang="zh-CN" altLang="en-US" sz="3200" b="1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实例</a:t>
            </a:r>
          </a:p>
        </p:txBody>
      </p:sp>
      <p:sp>
        <p:nvSpPr>
          <p:cNvPr id="60421" name="日期占位符 1"/>
          <p:cNvSpPr txBox="1">
            <a:spLocks noGrp="1" noChangeArrowheads="1"/>
          </p:cNvSpPr>
          <p:nvPr/>
        </p:nvSpPr>
        <p:spPr bwMode="auto">
          <a:xfrm>
            <a:off x="66294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/>
            <a:fld id="{5BCF52B4-26AA-43F7-99D2-927E0D521846}" type="datetime1">
              <a:rPr lang="zh-CN" altLang="en-US" sz="1400">
                <a:latin typeface="Comic Sans MS" pitchFamily="66" charset="0"/>
              </a:rPr>
              <a:pPr algn="r"/>
              <a:t>2018/5/10</a:t>
            </a:fld>
            <a:endParaRPr lang="en-US" altLang="zh-CN" sz="1400">
              <a:latin typeface="Comic Sans MS" pitchFamily="66" charset="0"/>
            </a:endParaRPr>
          </a:p>
        </p:txBody>
      </p:sp>
      <p:sp>
        <p:nvSpPr>
          <p:cNvPr id="60422" name="页脚占位符 2"/>
          <p:cNvSpPr txBox="1">
            <a:spLocks noGrp="1" noChangeArrowheads="1"/>
          </p:cNvSpPr>
          <p:nvPr/>
        </p:nvSpPr>
        <p:spPr bwMode="auto">
          <a:xfrm>
            <a:off x="33528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/>
            <a:r>
              <a:rPr lang="en-US" altLang="zh-CN" sz="1400">
                <a:latin typeface="Comic Sans MS" pitchFamily="66" charset="0"/>
              </a:rPr>
              <a:t>第6章  动态规划法</a:t>
            </a:r>
          </a:p>
        </p:txBody>
      </p:sp>
      <p:sp>
        <p:nvSpPr>
          <p:cNvPr id="60423" name="灯片编号占位符 3"/>
          <p:cNvSpPr txBox="1">
            <a:spLocks noGrp="1" noChangeArrowheads="1"/>
          </p:cNvSpPr>
          <p:nvPr/>
        </p:nvSpPr>
        <p:spPr bwMode="auto">
          <a:xfrm>
            <a:off x="1066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en-US" altLang="zh-CN" sz="1400">
                <a:latin typeface="Comic Sans MS" pitchFamily="66" charset="0"/>
              </a:rPr>
              <a:t>Page </a:t>
            </a:r>
            <a:fld id="{8FFCC30F-4DA7-41D6-A123-1EE9103E8AA9}" type="slidenum">
              <a:rPr lang="en-US" altLang="zh-CN" sz="1400">
                <a:latin typeface="Comic Sans MS" pitchFamily="66" charset="0"/>
              </a:rPr>
              <a:pPr/>
              <a:t>10</a:t>
            </a:fld>
            <a:endParaRPr lang="en-US" altLang="zh-CN" sz="1400">
              <a:latin typeface="Comic Sans MS" pitchFamily="66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442" name="Group 2"/>
          <p:cNvGraphicFramePr>
            <a:graphicFrameLocks noGrp="1"/>
          </p:cNvGraphicFramePr>
          <p:nvPr/>
        </p:nvGraphicFramePr>
        <p:xfrm>
          <a:off x="539750" y="1484313"/>
          <a:ext cx="8064500" cy="3567624"/>
        </p:xfrm>
        <a:graphic>
          <a:graphicData uri="http://schemas.openxmlformats.org/drawingml/2006/table">
            <a:tbl>
              <a:tblPr/>
              <a:tblGrid>
                <a:gridCol w="814388"/>
                <a:gridCol w="482600"/>
                <a:gridCol w="503237"/>
                <a:gridCol w="1295400"/>
                <a:gridCol w="1296988"/>
                <a:gridCol w="647700"/>
                <a:gridCol w="863600"/>
                <a:gridCol w="1081087"/>
                <a:gridCol w="1079500"/>
              </a:tblGrid>
              <a:tr h="6111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defRPr sz="3000"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 b="1">
                          <a:solidFill>
                            <a:srgbClr val="08228E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sz="2000"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序号</a:t>
                      </a:r>
                      <a:endParaRPr kumimoji="0" lang="zh-CN" altLang="zh-CN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1434" marR="91434" marT="45689" marB="4568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defRPr sz="3000"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 b="1">
                          <a:solidFill>
                            <a:srgbClr val="08228E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sz="2000"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1434" marR="91434" marT="45689" marB="4568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defRPr sz="3000"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 b="1">
                          <a:solidFill>
                            <a:srgbClr val="08228E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sz="2000"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endParaRPr kumimoji="0" lang="en-US" altLang="zh-CN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1434" marR="91434" marT="45689" marB="4568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defRPr sz="3000"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 b="1">
                          <a:solidFill>
                            <a:srgbClr val="08228E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sz="2000"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endParaRPr kumimoji="0" lang="en-US" altLang="zh-CN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1434" marR="91434" marT="45689" marB="4568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defRPr sz="3000"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 b="1">
                          <a:solidFill>
                            <a:srgbClr val="08228E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sz="2000"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</a:t>
                      </a:r>
                      <a:endParaRPr kumimoji="0" lang="en-US" altLang="zh-CN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1434" marR="91434" marT="45689" marB="4568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defRPr sz="3000"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 b="1">
                          <a:solidFill>
                            <a:srgbClr val="08228E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sz="2000"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5</a:t>
                      </a:r>
                      <a:endParaRPr kumimoji="0" lang="en-US" altLang="zh-CN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1434" marR="91434" marT="45689" marB="4568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defRPr sz="3000"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 b="1">
                          <a:solidFill>
                            <a:srgbClr val="08228E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sz="2000"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6</a:t>
                      </a:r>
                      <a:endParaRPr kumimoji="0" lang="en-US" altLang="zh-CN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1434" marR="91434" marT="45689" marB="4568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defRPr sz="3000"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 b="1">
                          <a:solidFill>
                            <a:srgbClr val="08228E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sz="2000"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7</a:t>
                      </a:r>
                      <a:endParaRPr kumimoji="0" lang="en-US" altLang="zh-CN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1434" marR="91434" marT="45689" marB="4568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defRPr sz="3000"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 b="1">
                          <a:solidFill>
                            <a:srgbClr val="08228E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sz="2000"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8</a:t>
                      </a:r>
                      <a:endParaRPr kumimoji="0" lang="en-US" altLang="zh-CN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1434" marR="91434" marT="45689" marB="4568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620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defRPr sz="3000"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 b="1">
                          <a:solidFill>
                            <a:srgbClr val="08228E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sz="2000"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序列元素</a:t>
                      </a:r>
                      <a:endParaRPr kumimoji="0" lang="zh-CN" altLang="zh-CN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1434" marR="91434" marT="45689" marB="4568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defRPr sz="3000"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 b="1">
                          <a:solidFill>
                            <a:srgbClr val="08228E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sz="2000"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5</a:t>
                      </a:r>
                      <a:endParaRPr kumimoji="0" lang="en-US" altLang="zh-CN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1434" marR="91434" marT="45689" marB="4568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defRPr sz="3000"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 b="1">
                          <a:solidFill>
                            <a:srgbClr val="08228E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sz="2000"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endParaRPr kumimoji="0" lang="en-US" altLang="zh-CN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1434" marR="91434" marT="45689" marB="4568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defRPr sz="3000"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 b="1">
                          <a:solidFill>
                            <a:srgbClr val="08228E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sz="2000"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8</a:t>
                      </a:r>
                      <a:endParaRPr kumimoji="0" lang="en-US" altLang="zh-CN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1434" marR="91434" marT="45689" marB="4568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defRPr sz="3000"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 b="1">
                          <a:solidFill>
                            <a:srgbClr val="08228E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sz="2000"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6</a:t>
                      </a:r>
                      <a:endParaRPr kumimoji="0" lang="en-US" altLang="zh-CN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1434" marR="91434" marT="45689" marB="4568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defRPr sz="3000"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 b="1">
                          <a:solidFill>
                            <a:srgbClr val="08228E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sz="2000"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endParaRPr kumimoji="0" lang="en-US" altLang="zh-CN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1434" marR="91434" marT="45689" marB="4568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defRPr sz="3000"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 b="1">
                          <a:solidFill>
                            <a:srgbClr val="08228E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sz="2000"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6</a:t>
                      </a:r>
                      <a:endParaRPr kumimoji="0" lang="en-US" altLang="zh-CN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1434" marR="91434" marT="45689" marB="4568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defRPr sz="3000"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 b="1">
                          <a:solidFill>
                            <a:srgbClr val="08228E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sz="2000"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9</a:t>
                      </a:r>
                      <a:endParaRPr kumimoji="0" lang="en-US" altLang="zh-CN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1434" marR="91434" marT="45689" marB="4568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defRPr sz="3000"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 b="1">
                          <a:solidFill>
                            <a:srgbClr val="08228E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sz="2000"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7</a:t>
                      </a:r>
                      <a:endParaRPr kumimoji="0" lang="en-US" altLang="zh-CN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1434" marR="91434" marT="45689" marB="4568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969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defRPr sz="3000"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 b="1">
                          <a:solidFill>
                            <a:srgbClr val="08228E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sz="2000"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子序列长度</a:t>
                      </a:r>
                      <a:endParaRPr kumimoji="0" lang="zh-CN" altLang="zh-CN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1434" marR="91434" marT="45689" marB="4568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defRPr sz="3000"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 b="1">
                          <a:solidFill>
                            <a:srgbClr val="08228E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sz="2000"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1434" marR="91434" marT="45689" marB="4568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defRPr sz="3000"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 b="1">
                          <a:solidFill>
                            <a:srgbClr val="08228E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sz="2000"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1434" marR="91434" marT="45689" marB="4568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defRPr sz="3000"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 b="1">
                          <a:solidFill>
                            <a:srgbClr val="08228E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sz="2000"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endParaRPr kumimoji="0" lang="en-US" altLang="zh-CN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1434" marR="91434" marT="45689" marB="4568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defRPr sz="3000"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 b="1">
                          <a:solidFill>
                            <a:srgbClr val="08228E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sz="2000"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endParaRPr kumimoji="0" lang="en-US" altLang="zh-CN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1434" marR="91434" marT="45689" marB="4568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defRPr sz="3000"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 b="1">
                          <a:solidFill>
                            <a:srgbClr val="08228E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sz="2000"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endParaRPr kumimoji="0" lang="en-US" altLang="zh-CN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1434" marR="91434" marT="45689" marB="4568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defRPr sz="3000"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 b="1">
                          <a:solidFill>
                            <a:srgbClr val="08228E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sz="2000"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endParaRPr kumimoji="0" lang="en-US" altLang="zh-CN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1434" marR="91434" marT="45689" marB="4568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defRPr sz="3000"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 b="1">
                          <a:solidFill>
                            <a:srgbClr val="08228E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sz="2000"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</a:t>
                      </a:r>
                      <a:endParaRPr kumimoji="0" lang="en-US" altLang="zh-CN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1434" marR="91434" marT="45689" marB="4568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defRPr sz="3000"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 b="1">
                          <a:solidFill>
                            <a:srgbClr val="08228E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sz="2000"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</a:t>
                      </a:r>
                      <a:endParaRPr kumimoji="0" lang="en-US" altLang="zh-CN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1434" marR="91434" marT="45689" marB="4568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969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defRPr sz="3000"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 b="1">
                          <a:solidFill>
                            <a:srgbClr val="08228E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sz="2000"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递增子序列</a:t>
                      </a:r>
                      <a:endParaRPr kumimoji="0" lang="zh-CN" altLang="zh-CN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1434" marR="91434" marT="45689" marB="4568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defRPr sz="3000"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 b="1">
                          <a:solidFill>
                            <a:srgbClr val="08228E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sz="2000"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{5}</a:t>
                      </a:r>
                      <a:endParaRPr kumimoji="0" lang="en-US" altLang="zh-CN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1434" marR="91434" marT="45689" marB="4568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defRPr sz="3000"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 b="1">
                          <a:solidFill>
                            <a:srgbClr val="08228E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sz="2000"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{2}</a:t>
                      </a:r>
                      <a:endParaRPr kumimoji="0" lang="en-US" altLang="zh-CN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1434" marR="91434" marT="45689" marB="4568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defRPr sz="3000"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 b="1">
                          <a:solidFill>
                            <a:srgbClr val="08228E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sz="2000"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{5,8},{2,8}</a:t>
                      </a:r>
                      <a:endParaRPr kumimoji="0" lang="en-US" altLang="zh-CN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1434" marR="91434" marT="45689" marB="4568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defRPr sz="3000"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 b="1">
                          <a:solidFill>
                            <a:srgbClr val="08228E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sz="2000"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{5,6},{2,6}</a:t>
                      </a:r>
                      <a:endParaRPr kumimoji="0" lang="en-US" altLang="zh-CN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1434" marR="91434" marT="45689" marB="4568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defRPr sz="3000"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 b="1">
                          <a:solidFill>
                            <a:srgbClr val="08228E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sz="2000"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{2,3}</a:t>
                      </a:r>
                      <a:endParaRPr kumimoji="0" lang="en-US" altLang="zh-CN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1434" marR="91434" marT="45689" marB="4568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defRPr sz="3000"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 b="1">
                          <a:solidFill>
                            <a:srgbClr val="08228E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sz="2000"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{2,3,6}</a:t>
                      </a:r>
                      <a:endParaRPr kumimoji="0" lang="en-US" altLang="zh-CN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1434" marR="91434" marT="45689" marB="4568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defRPr sz="3000"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 b="1">
                          <a:solidFill>
                            <a:srgbClr val="08228E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sz="2000"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{2,3,6,9}</a:t>
                      </a:r>
                      <a:endParaRPr kumimoji="0" lang="en-US" altLang="zh-CN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1434" marR="91434" marT="45689" marB="4568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0000"/>
                        <a:defRPr sz="3000"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 b="1">
                          <a:solidFill>
                            <a:srgbClr val="08228E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sz="2000"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{2,3,6,7}</a:t>
                      </a:r>
                      <a:endParaRPr kumimoji="0" lang="en-US" altLang="zh-CN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1434" marR="91434" marT="45689" marB="4568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1494" name="Text Box 5"/>
          <p:cNvSpPr txBox="1">
            <a:spLocks noChangeArrowheads="1"/>
          </p:cNvSpPr>
          <p:nvPr/>
        </p:nvSpPr>
        <p:spPr bwMode="auto">
          <a:xfrm>
            <a:off x="684213" y="447675"/>
            <a:ext cx="7759700" cy="534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zh-CN" altLang="en-US" sz="3200" b="1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最长递增子序列问题</a:t>
            </a:r>
            <a:r>
              <a:rPr lang="en-US" altLang="zh-CN" sz="3200" b="1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——</a:t>
            </a:r>
            <a:r>
              <a:rPr lang="zh-CN" altLang="en-US" sz="3200" b="1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实例（填表）</a:t>
            </a:r>
          </a:p>
        </p:txBody>
      </p:sp>
      <p:sp>
        <p:nvSpPr>
          <p:cNvPr id="61495" name="日期占位符 1"/>
          <p:cNvSpPr txBox="1">
            <a:spLocks noGrp="1" noChangeArrowheads="1"/>
          </p:cNvSpPr>
          <p:nvPr/>
        </p:nvSpPr>
        <p:spPr bwMode="auto">
          <a:xfrm>
            <a:off x="66294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/>
            <a:fld id="{B30CB045-FFA1-4F69-9255-0439A4F84607}" type="datetime1">
              <a:rPr lang="zh-CN" altLang="en-US" sz="1400">
                <a:latin typeface="Comic Sans MS" pitchFamily="66" charset="0"/>
              </a:rPr>
              <a:pPr algn="r"/>
              <a:t>2018/5/10</a:t>
            </a:fld>
            <a:endParaRPr lang="en-US" altLang="zh-CN" sz="1400">
              <a:latin typeface="Comic Sans MS" pitchFamily="66" charset="0"/>
            </a:endParaRPr>
          </a:p>
        </p:txBody>
      </p:sp>
      <p:sp>
        <p:nvSpPr>
          <p:cNvPr id="61496" name="页脚占位符 2"/>
          <p:cNvSpPr txBox="1">
            <a:spLocks noGrp="1" noChangeArrowheads="1"/>
          </p:cNvSpPr>
          <p:nvPr/>
        </p:nvSpPr>
        <p:spPr bwMode="auto">
          <a:xfrm>
            <a:off x="33528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/>
            <a:r>
              <a:rPr lang="en-US" altLang="zh-CN" sz="1400">
                <a:latin typeface="Comic Sans MS" pitchFamily="66" charset="0"/>
              </a:rPr>
              <a:t>第6章  动态规划法</a:t>
            </a:r>
          </a:p>
        </p:txBody>
      </p:sp>
      <p:sp>
        <p:nvSpPr>
          <p:cNvPr id="61497" name="灯片编号占位符 4"/>
          <p:cNvSpPr txBox="1">
            <a:spLocks noGrp="1" noChangeArrowheads="1"/>
          </p:cNvSpPr>
          <p:nvPr/>
        </p:nvSpPr>
        <p:spPr bwMode="auto">
          <a:xfrm>
            <a:off x="1066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en-US" altLang="zh-CN" sz="1400">
                <a:latin typeface="Comic Sans MS" pitchFamily="66" charset="0"/>
              </a:rPr>
              <a:t>Page </a:t>
            </a:r>
            <a:fld id="{95807F0A-60FB-43BE-9811-356D0AB6DCCE}" type="slidenum">
              <a:rPr lang="en-US" altLang="zh-CN" sz="1400">
                <a:latin typeface="Comic Sans MS" pitchFamily="66" charset="0"/>
              </a:rPr>
              <a:pPr/>
              <a:t>11</a:t>
            </a:fld>
            <a:endParaRPr lang="en-US" altLang="zh-CN" sz="1400">
              <a:latin typeface="Comic Sans MS" pitchFamily="66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5"/>
          <p:cNvSpPr txBox="1">
            <a:spLocks noChangeArrowheads="1"/>
          </p:cNvSpPr>
          <p:nvPr/>
        </p:nvSpPr>
        <p:spPr bwMode="auto">
          <a:xfrm>
            <a:off x="827088" y="1355725"/>
            <a:ext cx="7343775" cy="2678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fontAlgn="base" hangingPunct="1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zh-CN" altLang="en-US" sz="2800" b="1" smtClean="0">
                <a:solidFill>
                  <a:srgbClr val="000000"/>
                </a:solidFill>
                <a:latin typeface="Times New Roman" pitchFamily="18" charset="0"/>
              </a:rPr>
              <a:t>设序列</a:t>
            </a:r>
            <a:r>
              <a:rPr lang="en-US" altLang="zh-CN" sz="2800" b="1" smtClean="0">
                <a:solidFill>
                  <a:srgbClr val="000000"/>
                </a:solidFill>
                <a:latin typeface="Times New Roman" pitchFamily="18" charset="0"/>
              </a:rPr>
              <a:t>A</a:t>
            </a:r>
            <a:r>
              <a:rPr lang="zh-CN" altLang="en-US" sz="2800" b="1" smtClean="0">
                <a:solidFill>
                  <a:srgbClr val="000000"/>
                </a:solidFill>
                <a:latin typeface="Times New Roman" pitchFamily="18" charset="0"/>
              </a:rPr>
              <a:t>存储在数组</a:t>
            </a:r>
            <a:r>
              <a:rPr lang="en-US" altLang="zh-CN" sz="2800" b="1" smtClean="0">
                <a:solidFill>
                  <a:srgbClr val="000000"/>
                </a:solidFill>
                <a:latin typeface="Times New Roman" pitchFamily="18" charset="0"/>
              </a:rPr>
              <a:t>b[n]</a:t>
            </a:r>
            <a:r>
              <a:rPr lang="zh-CN" altLang="en-US" sz="2800" b="1" smtClean="0">
                <a:solidFill>
                  <a:srgbClr val="000000"/>
                </a:solidFill>
                <a:latin typeface="Times New Roman" pitchFamily="18" charset="0"/>
              </a:rPr>
              <a:t>中，数组</a:t>
            </a:r>
            <a:r>
              <a:rPr lang="en-US" altLang="zh-CN" sz="2800" b="1" smtClean="0">
                <a:solidFill>
                  <a:srgbClr val="000000"/>
                </a:solidFill>
                <a:latin typeface="Times New Roman" pitchFamily="18" charset="0"/>
              </a:rPr>
              <a:t>MAXLen[n]</a:t>
            </a:r>
            <a:r>
              <a:rPr lang="zh-CN" altLang="en-US" sz="2800" b="1" smtClean="0">
                <a:solidFill>
                  <a:srgbClr val="000000"/>
                </a:solidFill>
                <a:latin typeface="Times New Roman" pitchFamily="18" charset="0"/>
              </a:rPr>
              <a:t>存储最长递增子序列的长度，其中</a:t>
            </a:r>
            <a:r>
              <a:rPr lang="en-US" altLang="zh-CN" sz="2800" b="1" smtClean="0">
                <a:solidFill>
                  <a:srgbClr val="000000"/>
                </a:solidFill>
                <a:latin typeface="Times New Roman" pitchFamily="18" charset="0"/>
              </a:rPr>
              <a:t>MAXLen [i]</a:t>
            </a:r>
            <a:r>
              <a:rPr lang="zh-CN" altLang="en-US" sz="2800" b="1" smtClean="0">
                <a:solidFill>
                  <a:srgbClr val="000000"/>
                </a:solidFill>
                <a:latin typeface="Times New Roman" pitchFamily="18" charset="0"/>
              </a:rPr>
              <a:t>表示元素序列</a:t>
            </a:r>
            <a:r>
              <a:rPr lang="en-US" altLang="zh-CN" sz="2800" b="1" smtClean="0">
                <a:solidFill>
                  <a:srgbClr val="000000"/>
                </a:solidFill>
                <a:latin typeface="Times New Roman" pitchFamily="18" charset="0"/>
              </a:rPr>
              <a:t>a[0]~a[i]</a:t>
            </a:r>
            <a:r>
              <a:rPr lang="zh-CN" altLang="en-US" sz="2800" b="1" smtClean="0">
                <a:solidFill>
                  <a:srgbClr val="000000"/>
                </a:solidFill>
                <a:latin typeface="Times New Roman" pitchFamily="18" charset="0"/>
              </a:rPr>
              <a:t>的最长递增子序列的长度。</a:t>
            </a:r>
            <a:endParaRPr lang="zh-CN" altLang="en-US" sz="2800" b="1" smtClean="0">
              <a:solidFill>
                <a:srgbClr val="FF0000"/>
              </a:solidFill>
              <a:latin typeface="Times New Roman" pitchFamily="18" charset="0"/>
            </a:endParaRPr>
          </a:p>
        </p:txBody>
      </p:sp>
      <p:sp>
        <p:nvSpPr>
          <p:cNvPr id="22531" name="Text Box 5"/>
          <p:cNvSpPr txBox="1">
            <a:spLocks noChangeArrowheads="1"/>
          </p:cNvSpPr>
          <p:nvPr/>
        </p:nvSpPr>
        <p:spPr bwMode="auto">
          <a:xfrm>
            <a:off x="684213" y="447675"/>
            <a:ext cx="7759700" cy="534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b="1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最长递增子序列问题</a:t>
            </a:r>
            <a:r>
              <a:rPr lang="en-US" altLang="zh-CN" b="1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——</a:t>
            </a:r>
            <a:r>
              <a:rPr lang="zh-CN" altLang="en-US" b="1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算法</a:t>
            </a:r>
          </a:p>
        </p:txBody>
      </p:sp>
      <p:sp>
        <p:nvSpPr>
          <p:cNvPr id="22532" name="日期占位符 1"/>
          <p:cNvSpPr txBox="1">
            <a:spLocks noGrp="1" noChangeArrowheads="1"/>
          </p:cNvSpPr>
          <p:nvPr/>
        </p:nvSpPr>
        <p:spPr bwMode="auto">
          <a:xfrm>
            <a:off x="66294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C1EA1C59-5ADE-4429-86A2-448325782B48}" type="datetime1">
              <a:rPr lang="zh-CN" altLang="en-US" sz="1400" smtClean="0">
                <a:solidFill>
                  <a:srgbClr val="000000"/>
                </a:solidFill>
                <a:latin typeface="Comic Sans MS" pitchFamily="66" charset="0"/>
              </a:rPr>
              <a:pPr algn="r"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2018/5/10</a:t>
            </a:fld>
            <a:endParaRPr lang="en-US" altLang="zh-CN" sz="1400" smtClean="0">
              <a:solidFill>
                <a:srgbClr val="000000"/>
              </a:solidFill>
              <a:latin typeface="Comic Sans MS" pitchFamily="66" charset="0"/>
            </a:endParaRPr>
          </a:p>
        </p:txBody>
      </p:sp>
      <p:sp>
        <p:nvSpPr>
          <p:cNvPr id="22533" name="页脚占位符 2"/>
          <p:cNvSpPr txBox="1">
            <a:spLocks noGrp="1" noChangeArrowheads="1"/>
          </p:cNvSpPr>
          <p:nvPr/>
        </p:nvSpPr>
        <p:spPr bwMode="auto">
          <a:xfrm>
            <a:off x="33528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1400" smtClean="0">
                <a:solidFill>
                  <a:srgbClr val="000000"/>
                </a:solidFill>
                <a:latin typeface="Comic Sans MS" pitchFamily="66" charset="0"/>
              </a:rPr>
              <a:t>第6章  动态规划法</a:t>
            </a:r>
          </a:p>
        </p:txBody>
      </p:sp>
      <p:sp>
        <p:nvSpPr>
          <p:cNvPr id="22534" name="灯片编号占位符 4"/>
          <p:cNvSpPr txBox="1">
            <a:spLocks noGrp="1" noChangeArrowheads="1"/>
          </p:cNvSpPr>
          <p:nvPr/>
        </p:nvSpPr>
        <p:spPr bwMode="auto">
          <a:xfrm>
            <a:off x="1066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1400" smtClean="0">
                <a:solidFill>
                  <a:srgbClr val="000000"/>
                </a:solidFill>
                <a:latin typeface="Comic Sans MS" pitchFamily="66" charset="0"/>
              </a:rPr>
              <a:t>Page </a:t>
            </a:r>
            <a:fld id="{B7C44DBE-6180-4769-BE1C-867EE067AC3E}" type="slidenum">
              <a:rPr lang="en-US" altLang="zh-CN" sz="1400" smtClean="0">
                <a:solidFill>
                  <a:srgbClr val="000000"/>
                </a:solidFill>
                <a:latin typeface="Comic Sans MS" pitchFamily="66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12</a:t>
            </a:fld>
            <a:endParaRPr lang="en-US" altLang="zh-CN" sz="1400" smtClean="0">
              <a:solidFill>
                <a:srgbClr val="000000"/>
              </a:solidFill>
              <a:latin typeface="Comic Sans MS" pitchFamily="66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620713" y="228600"/>
            <a:ext cx="7696200" cy="762000"/>
          </a:xfrm>
        </p:spPr>
        <p:txBody>
          <a:bodyPr/>
          <a:lstStyle/>
          <a:p>
            <a:pPr eaLnBrk="1" hangingPunct="1"/>
            <a:r>
              <a:rPr lang="en-US" altLang="zh-CN" smtClean="0">
                <a:solidFill>
                  <a:srgbClr val="000099"/>
                </a:solidFill>
              </a:rPr>
              <a:t>3</a:t>
            </a:r>
            <a:r>
              <a:rPr lang="zh-CN" altLang="en-US" smtClean="0">
                <a:solidFill>
                  <a:srgbClr val="000099"/>
                </a:solidFill>
              </a:rPr>
              <a:t>、</a:t>
            </a:r>
            <a:r>
              <a:rPr lang="zh-CN" altLang="en-US" smtClean="0"/>
              <a:t>参考程序</a:t>
            </a:r>
          </a:p>
        </p:txBody>
      </p:sp>
      <p:sp>
        <p:nvSpPr>
          <p:cNvPr id="25603" name="Text Box 3"/>
          <p:cNvSpPr txBox="1">
            <a:spLocks noChangeArrowheads="1"/>
          </p:cNvSpPr>
          <p:nvPr/>
        </p:nvSpPr>
        <p:spPr bwMode="auto">
          <a:xfrm>
            <a:off x="395288" y="1036638"/>
            <a:ext cx="8497887" cy="4848225"/>
          </a:xfrm>
          <a:prstGeom prst="rect">
            <a:avLst/>
          </a:prstGeom>
          <a:solidFill>
            <a:srgbClr val="FFFF99"/>
          </a:solidFill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pt-BR" altLang="zh-CN" sz="2400" b="1" smtClean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int b[MAX_N + 10];</a:t>
            </a:r>
          </a:p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pt-BR" altLang="zh-CN" sz="2400" b="1" smtClean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int aMaxLen[MAX_N + 10];</a:t>
            </a:r>
          </a:p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pt-BR" altLang="zh-CN" sz="2400" b="1" smtClean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int main(void)</a:t>
            </a:r>
          </a:p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pt-BR" altLang="zh-CN" sz="2400" b="1" smtClean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{</a:t>
            </a:r>
          </a:p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pt-BR" altLang="zh-CN" sz="2400" b="1" smtClean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    int i, j, N;</a:t>
            </a:r>
          </a:p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pt-BR" altLang="zh-CN" sz="2400" b="1" smtClean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    scanf("%d", &amp; N);</a:t>
            </a:r>
          </a:p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pt-BR" altLang="zh-CN" sz="2400" b="1" smtClean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    for( i = 1;i &lt;= N;i ++ )</a:t>
            </a:r>
          </a:p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pt-BR" altLang="zh-CN" sz="2400" b="1" smtClean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        scanf("%d", &amp; b[i]);</a:t>
            </a:r>
          </a:p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pt-BR" altLang="zh-CN" sz="2400" b="1" smtClean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    aMaxLen[1] = 1;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5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620713" y="228600"/>
            <a:ext cx="7696200" cy="762000"/>
          </a:xfrm>
        </p:spPr>
        <p:txBody>
          <a:bodyPr/>
          <a:lstStyle/>
          <a:p>
            <a:pPr eaLnBrk="1" hangingPunct="1"/>
            <a:r>
              <a:rPr lang="en-US" altLang="zh-CN" smtClean="0">
                <a:solidFill>
                  <a:srgbClr val="000099"/>
                </a:solidFill>
              </a:rPr>
              <a:t>3</a:t>
            </a:r>
            <a:r>
              <a:rPr lang="zh-CN" altLang="en-US" smtClean="0">
                <a:solidFill>
                  <a:srgbClr val="000099"/>
                </a:solidFill>
              </a:rPr>
              <a:t>、</a:t>
            </a:r>
            <a:r>
              <a:rPr lang="zh-CN" altLang="en-US" smtClean="0"/>
              <a:t>参考程序</a:t>
            </a:r>
          </a:p>
        </p:txBody>
      </p:sp>
      <p:sp>
        <p:nvSpPr>
          <p:cNvPr id="26627" name="Text Box 3"/>
          <p:cNvSpPr txBox="1">
            <a:spLocks noChangeArrowheads="1"/>
          </p:cNvSpPr>
          <p:nvPr/>
        </p:nvSpPr>
        <p:spPr bwMode="auto">
          <a:xfrm>
            <a:off x="395288" y="333375"/>
            <a:ext cx="8497887" cy="6197600"/>
          </a:xfrm>
          <a:prstGeom prst="rect">
            <a:avLst/>
          </a:prstGeom>
          <a:solidFill>
            <a:srgbClr val="FFFF99"/>
          </a:solidFill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1" lang="pt-BR" altLang="zh-CN" sz="2000" b="1" dirty="0" smtClean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 for( i = 2; i &lt;= N; i ++ ) 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1" lang="pt-BR" altLang="zh-CN" sz="2000" b="1" dirty="0" smtClean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    { //</a:t>
            </a:r>
            <a:r>
              <a:rPr kumimoji="1" lang="zh-CN" altLang="pt-BR" sz="2000" b="1" dirty="0" smtClean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求以第</a:t>
            </a:r>
            <a:r>
              <a:rPr kumimoji="1" lang="pt-BR" altLang="zh-CN" sz="2000" b="1" dirty="0" smtClean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i </a:t>
            </a:r>
            <a:r>
              <a:rPr kumimoji="1" lang="zh-CN" altLang="pt-BR" sz="2000" b="1" dirty="0" smtClean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个数为终点的最长上升子序列的长度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1" lang="zh-CN" altLang="pt-BR" sz="2000" b="1" dirty="0" smtClean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        </a:t>
            </a:r>
            <a:r>
              <a:rPr kumimoji="1" lang="pt-BR" altLang="zh-CN" sz="2000" b="1" dirty="0" smtClean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int nTmp = 0; //</a:t>
            </a:r>
            <a:r>
              <a:rPr kumimoji="1" lang="zh-CN" altLang="pt-BR" sz="2000" b="1" dirty="0" smtClean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记录第</a:t>
            </a:r>
            <a:r>
              <a:rPr kumimoji="1" lang="pt-BR" altLang="zh-CN" sz="2000" b="1" dirty="0" smtClean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i </a:t>
            </a:r>
            <a:r>
              <a:rPr kumimoji="1" lang="zh-CN" altLang="pt-BR" sz="2000" b="1" dirty="0" smtClean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个数左边子序列最大长度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1" lang="zh-CN" altLang="pt-BR" sz="2000" b="1" dirty="0" smtClean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        </a:t>
            </a:r>
            <a:r>
              <a:rPr kumimoji="1" lang="pt-BR" altLang="zh-CN" sz="2000" b="1" dirty="0" smtClean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for( j = 1; j &lt; i; j ++ ) 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1" lang="pt-BR" altLang="zh-CN" sz="2000" b="1" dirty="0" smtClean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        { //</a:t>
            </a:r>
            <a:r>
              <a:rPr kumimoji="1" lang="zh-CN" altLang="pt-BR" sz="2000" b="1" dirty="0" smtClean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搜索以第</a:t>
            </a:r>
            <a:r>
              <a:rPr kumimoji="1" lang="pt-BR" altLang="zh-CN" sz="2000" b="1" dirty="0" smtClean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i </a:t>
            </a:r>
            <a:r>
              <a:rPr kumimoji="1" lang="zh-CN" altLang="pt-BR" sz="2000" b="1" dirty="0" smtClean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个数左边数为终点的最长上升子序列长度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1" lang="zh-CN" altLang="pt-BR" sz="2000" b="1" dirty="0" smtClean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            </a:t>
            </a:r>
            <a:r>
              <a:rPr kumimoji="1" lang="pt-BR" altLang="zh-CN" sz="2000" b="1" dirty="0" smtClean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if( b[i] &gt; b[j] ) 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1" lang="pt-BR" altLang="zh-CN" sz="2000" b="1" dirty="0" smtClean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            {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1" lang="pt-BR" altLang="zh-CN" sz="2000" b="1" dirty="0" smtClean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                if( nTmp &lt; aMaxLen[j] )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1" lang="pt-BR" altLang="zh-CN" sz="2000" b="1" dirty="0" smtClean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                    nTmp = aMaxLen[j];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1" lang="pt-BR" altLang="zh-CN" sz="2000" b="1" dirty="0" smtClean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            }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1" lang="pt-BR" altLang="zh-CN" sz="2000" b="1" dirty="0" smtClean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        }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1" lang="pt-BR" altLang="zh-CN" sz="2000" b="1" dirty="0" smtClean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        aMaxLen[i] = nTmp + 1;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1" lang="pt-BR" altLang="zh-CN" sz="2000" b="1" dirty="0" smtClean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    }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1" lang="pt-BR" altLang="zh-CN" sz="2000" b="1" dirty="0" smtClean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    int nMax = -1;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1" lang="pt-BR" altLang="zh-CN" sz="2000" b="1" dirty="0" smtClean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    for( i = 1;i &lt;= N;i ++ )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1" lang="pt-BR" altLang="zh-CN" sz="2000" b="1" dirty="0" smtClean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        if( nMax &lt; aMaxLen[i])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1" lang="pt-BR" altLang="zh-CN" sz="2000" b="1" dirty="0" smtClean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            nMax = aMaxLen[i];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1" lang="pt-BR" altLang="zh-CN" sz="2000" b="1" dirty="0" smtClean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    printf("%d\n", nMax);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1" lang="pt-BR" altLang="zh-CN" sz="2000" b="1" dirty="0" smtClean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    return 0;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1" lang="pt-BR" altLang="zh-CN" sz="2000" b="1" dirty="0" smtClean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}</a:t>
            </a:r>
          </a:p>
        </p:txBody>
      </p:sp>
      <p:sp>
        <p:nvSpPr>
          <p:cNvPr id="26628" name="Text Box 4"/>
          <p:cNvSpPr txBox="1">
            <a:spLocks noChangeArrowheads="1"/>
          </p:cNvSpPr>
          <p:nvPr/>
        </p:nvSpPr>
        <p:spPr bwMode="auto">
          <a:xfrm>
            <a:off x="5003800" y="5260975"/>
            <a:ext cx="3889375" cy="831850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50000">
                <a:schemeClr val="bg1"/>
              </a:gs>
              <a:gs pos="100000">
                <a:schemeClr val="accent2"/>
              </a:gs>
            </a:gsLst>
            <a:lin ang="5400000" scaled="1"/>
          </a:gradFill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400" b="1">
                <a:solidFill>
                  <a:srgbClr val="000000"/>
                </a:solidFill>
                <a:latin typeface="Tahoma" pitchFamily="34" charset="0"/>
                <a:ea typeface="黑体" pitchFamily="2" charset="-122"/>
              </a:rPr>
              <a:t>思考题：改进此程序，使之能够输出最长上升子序列 </a:t>
            </a:r>
          </a:p>
        </p:txBody>
      </p:sp>
      <p:sp>
        <p:nvSpPr>
          <p:cNvPr id="24581" name="TextBox 1"/>
          <p:cNvSpPr txBox="1">
            <a:spLocks noChangeArrowheads="1"/>
          </p:cNvSpPr>
          <p:nvPr/>
        </p:nvSpPr>
        <p:spPr bwMode="auto">
          <a:xfrm>
            <a:off x="5651500" y="3054350"/>
            <a:ext cx="3168650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 smtClean="0">
                <a:solidFill>
                  <a:srgbClr val="FF0000"/>
                </a:solidFill>
                <a:latin typeface="Times New Roman" pitchFamily="18" charset="0"/>
              </a:rPr>
              <a:t>二维数组</a:t>
            </a:r>
            <a:r>
              <a:rPr lang="en-US" altLang="zh-CN" sz="2000" b="1" dirty="0" smtClean="0">
                <a:solidFill>
                  <a:srgbClr val="FF0000"/>
                </a:solidFill>
                <a:latin typeface="Times New Roman" pitchFamily="18" charset="0"/>
              </a:rPr>
              <a:t>x[n][n]</a:t>
            </a:r>
            <a:r>
              <a:rPr lang="zh-CN" altLang="en-US" sz="2000" b="1" dirty="0" smtClean="0">
                <a:solidFill>
                  <a:srgbClr val="FF0000"/>
                </a:solidFill>
                <a:latin typeface="Times New Roman" pitchFamily="18" charset="0"/>
              </a:rPr>
              <a:t>存储对应的最长递增子序列，其中</a:t>
            </a:r>
            <a:r>
              <a:rPr lang="en-US" altLang="zh-CN" sz="2000" b="1" dirty="0" smtClean="0">
                <a:solidFill>
                  <a:srgbClr val="FF0000"/>
                </a:solidFill>
                <a:latin typeface="Times New Roman" pitchFamily="18" charset="0"/>
              </a:rPr>
              <a:t>x[</a:t>
            </a:r>
            <a:r>
              <a:rPr lang="en-US" altLang="zh-CN" sz="2000" b="1" dirty="0" err="1" smtClean="0">
                <a:solidFill>
                  <a:srgbClr val="FF0000"/>
                </a:solidFill>
                <a:latin typeface="Times New Roman" pitchFamily="18" charset="0"/>
              </a:rPr>
              <a:t>i</a:t>
            </a:r>
            <a:r>
              <a:rPr lang="en-US" altLang="zh-CN" sz="2000" b="1" dirty="0" smtClean="0">
                <a:solidFill>
                  <a:srgbClr val="FF0000"/>
                </a:solidFill>
                <a:latin typeface="Times New Roman" pitchFamily="18" charset="0"/>
              </a:rPr>
              <a:t>][n]</a:t>
            </a:r>
            <a:r>
              <a:rPr lang="zh-CN" altLang="en-US" sz="2000" b="1" dirty="0" smtClean="0">
                <a:solidFill>
                  <a:srgbClr val="FF0000"/>
                </a:solidFill>
                <a:latin typeface="Times New Roman" pitchFamily="18" charset="0"/>
              </a:rPr>
              <a:t>存储</a:t>
            </a:r>
            <a:r>
              <a:rPr lang="en-US" altLang="zh-CN" sz="2000" b="1" dirty="0" smtClean="0">
                <a:solidFill>
                  <a:srgbClr val="FF0000"/>
                </a:solidFill>
                <a:latin typeface="Times New Roman" pitchFamily="18" charset="0"/>
              </a:rPr>
              <a:t>a[0]~a[</a:t>
            </a:r>
            <a:r>
              <a:rPr lang="en-US" altLang="zh-CN" sz="2000" b="1" dirty="0" err="1" smtClean="0">
                <a:solidFill>
                  <a:srgbClr val="FF0000"/>
                </a:solidFill>
                <a:latin typeface="Times New Roman" pitchFamily="18" charset="0"/>
              </a:rPr>
              <a:t>i</a:t>
            </a:r>
            <a:r>
              <a:rPr lang="en-US" altLang="zh-CN" sz="2000" b="1" dirty="0" smtClean="0">
                <a:solidFill>
                  <a:srgbClr val="FF0000"/>
                </a:solidFill>
                <a:latin typeface="Times New Roman" pitchFamily="18" charset="0"/>
              </a:rPr>
              <a:t>]</a:t>
            </a:r>
            <a:r>
              <a:rPr lang="zh-CN" altLang="en-US" sz="2000" b="1" dirty="0" smtClean="0">
                <a:solidFill>
                  <a:srgbClr val="FF0000"/>
                </a:solidFill>
                <a:latin typeface="Times New Roman" pitchFamily="18" charset="0"/>
              </a:rPr>
              <a:t>的最长递增子序列，注意到数组下标均从</a:t>
            </a:r>
            <a:r>
              <a:rPr lang="en-US" altLang="zh-CN" sz="2000" b="1" dirty="0" smtClean="0">
                <a:solidFill>
                  <a:srgbClr val="FF0000"/>
                </a:solidFill>
                <a:latin typeface="Times New Roman" pitchFamily="18" charset="0"/>
              </a:rPr>
              <a:t>0</a:t>
            </a:r>
            <a:r>
              <a:rPr lang="zh-CN" altLang="en-US" sz="2000" b="1" dirty="0" smtClean="0">
                <a:solidFill>
                  <a:srgbClr val="FF0000"/>
                </a:solidFill>
                <a:latin typeface="Times New Roman" pitchFamily="18" charset="0"/>
              </a:rPr>
              <a:t>开始。</a:t>
            </a:r>
            <a:endParaRPr lang="zh-CN" altLang="en-US" sz="2000" dirty="0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6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6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66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66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66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662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662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662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662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662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662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662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662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662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26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8" grpId="0" animBg="1"/>
      <p:bldP spid="2458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3"/>
          <p:cNvSpPr txBox="1">
            <a:spLocks noChangeArrowheads="1"/>
          </p:cNvSpPr>
          <p:nvPr/>
        </p:nvSpPr>
        <p:spPr bwMode="auto">
          <a:xfrm>
            <a:off x="99070" y="1196752"/>
            <a:ext cx="8929688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>
            <a:spAutoFit/>
          </a:bodyPr>
          <a:lstStyle>
            <a:lvl1pPr eaLnBrk="0" hangingPunct="0">
              <a:defRPr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 smtClean="0">
                <a:solidFill>
                  <a:srgbClr val="333399"/>
                </a:solidFill>
                <a:latin typeface="黑体" pitchFamily="49" charset="-122"/>
                <a:ea typeface="黑体" pitchFamily="49" charset="-122"/>
              </a:rPr>
              <a:t>问题描述</a:t>
            </a:r>
            <a:r>
              <a:rPr lang="zh-CN" altLang="en-US" sz="2000" dirty="0" smtClean="0">
                <a:solidFill>
                  <a:srgbClr val="333399"/>
                </a:solidFill>
                <a:latin typeface="黑体" pitchFamily="49" charset="-122"/>
                <a:ea typeface="黑体" pitchFamily="49" charset="-122"/>
              </a:rPr>
              <a:t>：</a:t>
            </a:r>
          </a:p>
          <a:p>
            <a:pPr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 smtClean="0">
                <a:solidFill>
                  <a:srgbClr val="333399"/>
                </a:solidFill>
                <a:latin typeface="黑体" pitchFamily="49" charset="-122"/>
                <a:ea typeface="黑体" pitchFamily="49" charset="-122"/>
              </a:rPr>
              <a:t>    某国为了防御敌国的导弹袭击，发展出一种导弹拦截系统。但是这种导弹拦截系统有一个缺陷：虽然它的第一发炮弹能够到达任意的高度，但是以后每一发炮弹都不能高于前一发的高度。某天，雷达捕捉到敌国的导弹来袭，由于该系统还在试用阶段，所以只有一套系统，因此有可能不能拦截所有的导弹。</a:t>
            </a:r>
          </a:p>
          <a:p>
            <a:pPr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 smtClean="0">
                <a:solidFill>
                  <a:srgbClr val="333399"/>
                </a:solidFill>
                <a:latin typeface="黑体" pitchFamily="49" charset="-122"/>
                <a:ea typeface="黑体" pitchFamily="49" charset="-122"/>
              </a:rPr>
              <a:t>    输入导弹的枚数和导弹依次飞来的高度（雷达给出的高度数据是不大于</a:t>
            </a:r>
            <a:r>
              <a:rPr lang="en-US" altLang="zh-CN" sz="2000" dirty="0" smtClean="0">
                <a:solidFill>
                  <a:srgbClr val="333399"/>
                </a:solidFill>
                <a:latin typeface="黑体" pitchFamily="49" charset="-122"/>
                <a:ea typeface="黑体" pitchFamily="49" charset="-122"/>
              </a:rPr>
              <a:t>30000</a:t>
            </a:r>
            <a:r>
              <a:rPr lang="zh-CN" altLang="en-US" sz="2000" dirty="0" smtClean="0">
                <a:solidFill>
                  <a:srgbClr val="333399"/>
                </a:solidFill>
                <a:latin typeface="黑体" pitchFamily="49" charset="-122"/>
                <a:ea typeface="黑体" pitchFamily="49" charset="-122"/>
              </a:rPr>
              <a:t>的正整数，每个数据之间有一个空格），计算这套系统最多能拦截多少导弹</a:t>
            </a:r>
            <a:r>
              <a:rPr lang="zh-CN" altLang="en-US" sz="2000" dirty="0" smtClean="0">
                <a:solidFill>
                  <a:srgbClr val="333399"/>
                </a:solidFill>
                <a:latin typeface="黑体" pitchFamily="49" charset="-122"/>
                <a:ea typeface="黑体" pitchFamily="49" charset="-122"/>
              </a:rPr>
              <a:t>？</a:t>
            </a:r>
            <a:endParaRPr lang="zh-CN" altLang="en-US" sz="2000" dirty="0" smtClean="0">
              <a:solidFill>
                <a:srgbClr val="333399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201635" y="4021861"/>
            <a:ext cx="5976937" cy="192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>
            <a:spAutoFit/>
          </a:bodyPr>
          <a:lstStyle>
            <a:lvl1pPr eaLnBrk="0" hangingPunct="0">
              <a:defRPr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 smtClean="0">
                <a:solidFill>
                  <a:srgbClr val="333399"/>
                </a:solidFill>
                <a:latin typeface="黑体" pitchFamily="49" charset="-122"/>
                <a:ea typeface="黑体" pitchFamily="49" charset="-122"/>
              </a:rPr>
              <a:t>样例输入：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 smtClean="0">
                <a:solidFill>
                  <a:srgbClr val="333399"/>
                </a:solidFill>
                <a:latin typeface="黑体" pitchFamily="49" charset="-122"/>
                <a:ea typeface="黑体" pitchFamily="49" charset="-122"/>
              </a:rPr>
              <a:t>  </a:t>
            </a:r>
            <a:r>
              <a:rPr lang="en-US" altLang="zh-CN" sz="2000" dirty="0" smtClean="0">
                <a:solidFill>
                  <a:srgbClr val="333399"/>
                </a:solidFill>
                <a:latin typeface="黑体" pitchFamily="49" charset="-122"/>
                <a:ea typeface="黑体" pitchFamily="49" charset="-122"/>
              </a:rPr>
              <a:t>8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 smtClean="0">
                <a:solidFill>
                  <a:srgbClr val="333399"/>
                </a:solidFill>
                <a:latin typeface="黑体" pitchFamily="49" charset="-122"/>
                <a:ea typeface="黑体" pitchFamily="49" charset="-122"/>
              </a:rPr>
              <a:t>  389  207  155  300  299  170  158  65   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 smtClean="0">
                <a:solidFill>
                  <a:srgbClr val="333399"/>
                </a:solidFill>
                <a:latin typeface="黑体" pitchFamily="49" charset="-122"/>
                <a:ea typeface="黑体" pitchFamily="49" charset="-122"/>
              </a:rPr>
              <a:t>样例输出：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 smtClean="0">
                <a:solidFill>
                  <a:srgbClr val="333399"/>
                </a:solidFill>
                <a:latin typeface="黑体" pitchFamily="49" charset="-122"/>
                <a:ea typeface="黑体" pitchFamily="49" charset="-122"/>
              </a:rPr>
              <a:t>  </a:t>
            </a:r>
            <a:r>
              <a:rPr lang="en-US" altLang="zh-CN" sz="2000" dirty="0" smtClean="0">
                <a:solidFill>
                  <a:srgbClr val="333399"/>
                </a:solidFill>
                <a:latin typeface="黑体" pitchFamily="49" charset="-122"/>
                <a:ea typeface="黑体" pitchFamily="49" charset="-122"/>
              </a:rPr>
              <a:t>6</a:t>
            </a:r>
            <a:r>
              <a:rPr lang="zh-CN" altLang="en-US" sz="2000" dirty="0" smtClean="0">
                <a:solidFill>
                  <a:srgbClr val="333399"/>
                </a:solidFill>
                <a:latin typeface="黑体" pitchFamily="49" charset="-122"/>
                <a:ea typeface="黑体" pitchFamily="49" charset="-122"/>
              </a:rPr>
              <a:t>（最多能拦截的导弹数）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 smtClean="0">
                <a:solidFill>
                  <a:srgbClr val="333399"/>
                </a:solidFill>
                <a:latin typeface="黑体" pitchFamily="49" charset="-122"/>
                <a:ea typeface="黑体" pitchFamily="49" charset="-122"/>
              </a:rPr>
              <a:t>  </a:t>
            </a:r>
          </a:p>
        </p:txBody>
      </p:sp>
      <p:sp>
        <p:nvSpPr>
          <p:cNvPr id="2" name="矩形 1"/>
          <p:cNvSpPr/>
          <p:nvPr/>
        </p:nvSpPr>
        <p:spPr>
          <a:xfrm>
            <a:off x="2843808" y="332656"/>
            <a:ext cx="4288353" cy="6340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dirty="0">
                <a:solidFill>
                  <a:srgbClr val="333399"/>
                </a:solidFill>
                <a:latin typeface="黑体" pitchFamily="49" charset="-122"/>
                <a:ea typeface="黑体" pitchFamily="49" charset="-122"/>
              </a:rPr>
              <a:t>拦截导弹（</a:t>
            </a:r>
            <a:r>
              <a:rPr lang="en-US" altLang="zh-CN" sz="3200" dirty="0">
                <a:solidFill>
                  <a:srgbClr val="333399"/>
                </a:solidFill>
                <a:latin typeface="黑体" pitchFamily="49" charset="-122"/>
                <a:ea typeface="黑体" pitchFamily="49" charset="-122"/>
              </a:rPr>
              <a:t>NOIP1999</a:t>
            </a:r>
            <a:r>
              <a:rPr lang="zh-CN" altLang="en-US" sz="3200" dirty="0">
                <a:solidFill>
                  <a:srgbClr val="333399"/>
                </a:solidFill>
                <a:latin typeface="黑体" pitchFamily="49" charset="-122"/>
                <a:ea typeface="黑体" pitchFamily="49" charset="-122"/>
              </a:rPr>
              <a:t>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暗香扑面">
  <a:themeElements>
    <a:clrScheme name="暗香扑面">
      <a:dk1>
        <a:sysClr val="windowText" lastClr="000000"/>
      </a:dk1>
      <a:lt1>
        <a:sysClr val="window" lastClr="FFFFFF"/>
      </a:lt1>
      <a:dk2>
        <a:srgbClr val="2F2F2F"/>
      </a:dk2>
      <a:lt2>
        <a:srgbClr val="FFFFF4"/>
      </a:lt2>
      <a:accent1>
        <a:srgbClr val="918415"/>
      </a:accent1>
      <a:accent2>
        <a:srgbClr val="C47546"/>
      </a:accent2>
      <a:accent3>
        <a:srgbClr val="AFB591"/>
      </a:accent3>
      <a:accent4>
        <a:srgbClr val="B9945B"/>
      </a:accent4>
      <a:accent5>
        <a:srgbClr val="85ADBC"/>
      </a:accent5>
      <a:accent6>
        <a:srgbClr val="E5B440"/>
      </a:accent6>
      <a:hlink>
        <a:srgbClr val="00D5D5"/>
      </a:hlink>
      <a:folHlink>
        <a:srgbClr val="DD00DD"/>
      </a:folHlink>
    </a:clrScheme>
    <a:fontScheme name="暗香扑面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創英角ｺﾞｼｯｸUB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n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暗香扑面">
      <a:fillStyleLst>
        <a:solidFill>
          <a:schemeClr val="phClr"/>
        </a:solidFill>
        <a:gradFill rotWithShape="1">
          <a:gsLst>
            <a:gs pos="0">
              <a:schemeClr val="phClr">
                <a:tint val="98000"/>
                <a:satMod val="220000"/>
              </a:schemeClr>
            </a:gs>
            <a:gs pos="31000">
              <a:schemeClr val="phClr">
                <a:tint val="30000"/>
                <a:satMod val="150000"/>
              </a:schemeClr>
            </a:gs>
            <a:gs pos="91000">
              <a:schemeClr val="phClr">
                <a:tint val="96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28000"/>
                <a:satMod val="100000"/>
              </a:schemeClr>
              <a:schemeClr val="phClr">
                <a:tint val="100000"/>
                <a:satMod val="200000"/>
              </a:schemeClr>
            </a:duotone>
          </a:blip>
          <a:tile tx="0" ty="0" sx="80000" sy="8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10000"/>
              </a:schemeClr>
            </a:glow>
          </a:effectLst>
        </a:effectStyle>
        <a:effectStyle>
          <a:effectLst>
            <a:outerShdw blurRad="34925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9525" prstMaterial="dkEdge">
            <a:bevelT w="12000" h="24150"/>
            <a:contourClr>
              <a:schemeClr val="phClr">
                <a:satMod val="110000"/>
              </a:schemeClr>
            </a:contourClr>
          </a:sp3d>
        </a:effectStyle>
        <a:effectStyle>
          <a:effectLst>
            <a:outerShdw blurRad="50800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18700" prstMaterial="dkEdge">
            <a:bevelT w="44450" h="80600"/>
            <a:contourClr>
              <a:schemeClr val="phClr"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0000"/>
                <a:satMod val="1000000"/>
              </a:schemeClr>
            </a:gs>
            <a:gs pos="31000">
              <a:schemeClr val="phClr">
                <a:shade val="85000"/>
                <a:satMod val="450000"/>
              </a:schemeClr>
            </a:gs>
            <a:gs pos="100000">
              <a:schemeClr val="phClr">
                <a:tint val="70000"/>
                <a:satMod val="300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2">
            <a:duotone>
              <a:schemeClr val="phClr">
                <a:tint val="100000"/>
                <a:shade val="70000"/>
                <a:hueMod val="100000"/>
                <a:satMod val="100000"/>
              </a:schemeClr>
              <a:schemeClr val="phClr">
                <a:tint val="90000"/>
                <a:shade val="100000"/>
                <a:hueMod val="100000"/>
                <a:satMod val="10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2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2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b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Tahoma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2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b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Tahoma" pitchFamily="34" charset="0"/>
            <a:ea typeface="宋体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Fan</Template>
  <TotalTime>234</TotalTime>
  <Words>1761</Words>
  <Application>Microsoft Office PowerPoint</Application>
  <PresentationFormat>全屏显示(4:3)</PresentationFormat>
  <Paragraphs>172</Paragraphs>
  <Slides>15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5</vt:i4>
      </vt:variant>
      <vt:variant>
        <vt:lpstr>幻灯片标题</vt:lpstr>
      </vt:variant>
      <vt:variant>
        <vt:i4>15</vt:i4>
      </vt:variant>
    </vt:vector>
  </HeadingPairs>
  <TitlesOfParts>
    <vt:vector size="20" baseType="lpstr">
      <vt:lpstr>暗香扑面</vt:lpstr>
      <vt:lpstr>默认设计模板</vt:lpstr>
      <vt:lpstr>1_默认设计模板</vt:lpstr>
      <vt:lpstr>2_默认设计模板</vt:lpstr>
      <vt:lpstr>Blends</vt:lpstr>
      <vt:lpstr>动态规划总结和习题</vt:lpstr>
      <vt:lpstr>PowerPoint 演示文稿</vt:lpstr>
      <vt:lpstr>PowerPoint 演示文稿</vt:lpstr>
      <vt:lpstr>PowerPoint 演示文稿</vt:lpstr>
      <vt:lpstr>PowerPoint 演示文稿</vt:lpstr>
      <vt:lpstr>习题2</vt:lpstr>
      <vt:lpstr>习题3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3、参考程序</vt:lpstr>
      <vt:lpstr>3、参考程序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动态规划总结和习题</dc:title>
  <dc:creator>ad</dc:creator>
  <cp:lastModifiedBy>ad</cp:lastModifiedBy>
  <cp:revision>11</cp:revision>
  <dcterms:created xsi:type="dcterms:W3CDTF">2015-05-25T01:49:54Z</dcterms:created>
  <dcterms:modified xsi:type="dcterms:W3CDTF">2018-05-10T03:28:00Z</dcterms:modified>
</cp:coreProperties>
</file>