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3"/>
    <p:sldMasterId id="2147483663" r:id="rId4"/>
    <p:sldMasterId id="2147483665" r:id="rId5"/>
  </p:sldMasterIdLst>
  <p:notesMasterIdLst>
    <p:notesMasterId r:id="rId56"/>
  </p:notesMasterIdLst>
  <p:handoutMasterIdLst>
    <p:handoutMasterId r:id="rId81"/>
  </p:handoutMasterIdLst>
  <p:sldIdLst>
    <p:sldId id="256" r:id="rId6"/>
    <p:sldId id="303" r:id="rId7"/>
    <p:sldId id="345" r:id="rId8"/>
    <p:sldId id="258" r:id="rId9"/>
    <p:sldId id="259" r:id="rId10"/>
    <p:sldId id="260" r:id="rId11"/>
    <p:sldId id="261" r:id="rId12"/>
    <p:sldId id="262" r:id="rId13"/>
    <p:sldId id="263" r:id="rId14"/>
    <p:sldId id="340" r:id="rId15"/>
    <p:sldId id="264" r:id="rId16"/>
    <p:sldId id="265" r:id="rId17"/>
    <p:sldId id="266" r:id="rId18"/>
    <p:sldId id="267" r:id="rId19"/>
    <p:sldId id="268" r:id="rId20"/>
    <p:sldId id="277" r:id="rId21"/>
    <p:sldId id="314" r:id="rId22"/>
    <p:sldId id="315" r:id="rId23"/>
    <p:sldId id="320" r:id="rId24"/>
    <p:sldId id="325" r:id="rId25"/>
    <p:sldId id="326" r:id="rId26"/>
    <p:sldId id="270" r:id="rId27"/>
    <p:sldId id="327" r:id="rId28"/>
    <p:sldId id="328" r:id="rId29"/>
    <p:sldId id="278" r:id="rId30"/>
    <p:sldId id="279" r:id="rId31"/>
    <p:sldId id="346" r:id="rId32"/>
    <p:sldId id="271" r:id="rId33"/>
    <p:sldId id="353" r:id="rId34"/>
    <p:sldId id="356" r:id="rId35"/>
    <p:sldId id="357" r:id="rId36"/>
    <p:sldId id="358" r:id="rId37"/>
    <p:sldId id="272" r:id="rId38"/>
    <p:sldId id="354" r:id="rId39"/>
    <p:sldId id="347" r:id="rId40"/>
    <p:sldId id="348" r:id="rId41"/>
    <p:sldId id="355" r:id="rId42"/>
    <p:sldId id="349" r:id="rId43"/>
    <p:sldId id="350" r:id="rId44"/>
    <p:sldId id="351" r:id="rId45"/>
    <p:sldId id="352" r:id="rId46"/>
    <p:sldId id="280" r:id="rId47"/>
    <p:sldId id="329" r:id="rId48"/>
    <p:sldId id="281" r:id="rId49"/>
    <p:sldId id="330" r:id="rId50"/>
    <p:sldId id="331" r:id="rId51"/>
    <p:sldId id="333" r:id="rId52"/>
    <p:sldId id="334" r:id="rId53"/>
    <p:sldId id="335" r:id="rId54"/>
    <p:sldId id="282" r:id="rId55"/>
    <p:sldId id="359" r:id="rId57"/>
    <p:sldId id="360" r:id="rId58"/>
    <p:sldId id="362" r:id="rId59"/>
    <p:sldId id="283" r:id="rId60"/>
    <p:sldId id="284" r:id="rId61"/>
    <p:sldId id="285" r:id="rId62"/>
    <p:sldId id="363" r:id="rId63"/>
    <p:sldId id="364" r:id="rId64"/>
    <p:sldId id="415" r:id="rId65"/>
    <p:sldId id="416" r:id="rId66"/>
    <p:sldId id="365" r:id="rId67"/>
    <p:sldId id="366" r:id="rId68"/>
    <p:sldId id="296" r:id="rId69"/>
    <p:sldId id="337" r:id="rId70"/>
    <p:sldId id="338" r:id="rId71"/>
    <p:sldId id="297" r:id="rId72"/>
    <p:sldId id="298" r:id="rId73"/>
    <p:sldId id="299" r:id="rId74"/>
    <p:sldId id="307" r:id="rId75"/>
    <p:sldId id="308" r:id="rId76"/>
    <p:sldId id="310" r:id="rId77"/>
    <p:sldId id="342" r:id="rId78"/>
    <p:sldId id="343" r:id="rId79"/>
    <p:sldId id="344" r:id="rId80"/>
  </p:sldIdLst>
  <p:sldSz cx="9144000" cy="6858000" type="screen4x3"/>
  <p:notesSz cx="6760845" cy="994219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6600"/>
    <a:srgbClr val="00FF00"/>
    <a:srgbClr val="CCFF99"/>
    <a:srgbClr val="99FF33"/>
    <a:srgbClr val="0080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3" d="100"/>
          <a:sy n="93" d="100"/>
        </p:scale>
        <p:origin x="-13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4" Type="http://schemas.openxmlformats.org/officeDocument/2006/relationships/tableStyles" Target="tableStyles.xml"/><Relationship Id="rId83" Type="http://schemas.openxmlformats.org/officeDocument/2006/relationships/viewProps" Target="viewProps.xml"/><Relationship Id="rId82" Type="http://schemas.openxmlformats.org/officeDocument/2006/relationships/presProps" Target="presProps.xml"/><Relationship Id="rId81" Type="http://schemas.openxmlformats.org/officeDocument/2006/relationships/handoutMaster" Target="handoutMasters/handoutMaster1.xml"/><Relationship Id="rId80" Type="http://schemas.openxmlformats.org/officeDocument/2006/relationships/slide" Target="slides/slide74.xml"/><Relationship Id="rId8" Type="http://schemas.openxmlformats.org/officeDocument/2006/relationships/slide" Target="slides/slide3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7" Type="http://schemas.openxmlformats.org/officeDocument/2006/relationships/slide" Target="slides/slide2.xml"/><Relationship Id="rId69" Type="http://schemas.openxmlformats.org/officeDocument/2006/relationships/slide" Target="slides/slide63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0" Type="http://schemas.openxmlformats.org/officeDocument/2006/relationships/slide" Target="slides/slide54.xml"/><Relationship Id="rId6" Type="http://schemas.openxmlformats.org/officeDocument/2006/relationships/slide" Target="slides/slide1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notesMaster" Target="notesMasters/notesMaster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image" Target="../media/image13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31C70E93-6923-4033-9BA2-E3E44D85B131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762D404-DB78-41EE-BA76-B6299B7C1A8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17AAF3BE-DA44-40C6-AF92-E4720473148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275" y="4722813"/>
            <a:ext cx="5408613" cy="4473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636CBF89-60CE-4A28-B40D-DB35F70BC44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823C443-7A1D-4885-8B41-ABFDB329EFA6}" type="slidenum">
              <a:rPr lang="zh-CN" altLang="en-US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9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000100" y="2271713"/>
            <a:ext cx="7215238" cy="1585915"/>
          </a:xfrm>
        </p:spPr>
        <p:txBody>
          <a:bodyPr/>
          <a:lstStyle>
            <a:lvl1pPr algn="ctr">
              <a:defRPr sz="4800" b="1" cap="none" spc="0" baseline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9969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900122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aseline="0">
                <a:latin typeface="Consolas" panose="020B0609020204030204" pitchFamily="49" charset="0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 sz="1400" baseline="0" smtClean="0">
                <a:solidFill>
                  <a:schemeClr val="bg2"/>
                </a:solidFill>
                <a:latin typeface="Consolas" panose="020B0609020204030204" pitchFamily="49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EFCA30A-2274-4D3E-9D1A-6C3F57D05FB4}" type="datetimeFigureOut">
              <a:rPr lang="zh-CN" altLang="en-US"/>
            </a:fld>
            <a:endParaRPr lang="zh-CN" altLang="en-US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 baseline="0">
                <a:solidFill>
                  <a:schemeClr val="bg2"/>
                </a:solidFill>
                <a:latin typeface="Consolas" panose="020B0609020204030204" pitchFamily="49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baseline="0" smtClean="0">
                <a:solidFill>
                  <a:schemeClr val="bg2"/>
                </a:solidFill>
                <a:latin typeface="Consolas" panose="020B0609020204030204" pitchFamily="49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3373D6B-C75D-4CCA-9C2F-16B16F88457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592138" y="857250"/>
            <a:ext cx="8337550" cy="4603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50000">
                <a:schemeClr val="accent6">
                  <a:lumMod val="7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42852"/>
            <a:ext cx="8305800" cy="682648"/>
          </a:xfrm>
        </p:spPr>
        <p:txBody>
          <a:bodyPr/>
          <a:lstStyle>
            <a:lvl1pPr>
              <a:defRPr sz="3400" baseline="0">
                <a:latin typeface="Consolas" panose="020B0609020204030204" pitchFamily="49" charset="0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="0" baseline="0">
                <a:latin typeface="Consolas" panose="020B0609020204030204" pitchFamily="49" charset="0"/>
                <a:ea typeface="+mn-ea"/>
              </a:defRPr>
            </a:lvl1pPr>
            <a:lvl2pPr>
              <a:defRPr b="0" baseline="0">
                <a:latin typeface="Consolas" panose="020B0609020204030204" pitchFamily="49" charset="0"/>
                <a:ea typeface="+mn-ea"/>
              </a:defRPr>
            </a:lvl2pPr>
            <a:lvl3pPr>
              <a:defRPr b="0" baseline="0">
                <a:latin typeface="Consolas" panose="020B0609020204030204" pitchFamily="49" charset="0"/>
                <a:ea typeface="+mn-ea"/>
              </a:defRPr>
            </a:lvl3pPr>
            <a:lvl4pPr>
              <a:defRPr b="0" baseline="0">
                <a:latin typeface="Consolas" panose="020B0609020204030204" pitchFamily="49" charset="0"/>
                <a:ea typeface="+mn-ea"/>
              </a:defRPr>
            </a:lvl4pPr>
            <a:lvl5pPr>
              <a:defRPr b="0" baseline="0">
                <a:latin typeface="Consolas" panose="020B0609020204030204" pitchFamily="49" charset="0"/>
                <a:ea typeface="+mn-ea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816850" y="6488113"/>
            <a:ext cx="1327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900">
                <a:solidFill>
                  <a:srgbClr val="BFBFBF"/>
                </a:solidFill>
                <a:ea typeface="宋体" panose="02010600030101010101" pitchFamily="2" charset="-122"/>
              </a:rPr>
              <a:t>段旭良</a:t>
            </a:r>
            <a:r>
              <a:rPr lang="en-US" altLang="zh-CN" sz="900">
                <a:solidFill>
                  <a:srgbClr val="BFBFBF"/>
                </a:solidFill>
                <a:ea typeface="宋体" panose="02010600030101010101" pitchFamily="2" charset="-122"/>
              </a:rPr>
              <a:t>@</a:t>
            </a:r>
            <a:r>
              <a:rPr lang="zh-CN" altLang="en-US" sz="900">
                <a:solidFill>
                  <a:srgbClr val="BFBFBF"/>
                </a:solidFill>
                <a:ea typeface="宋体" panose="02010600030101010101" pitchFamily="2" charset="-122"/>
              </a:rPr>
              <a:t>四川农业大学</a:t>
            </a:r>
            <a:endParaRPr lang="en-US" altLang="zh-CN" sz="900">
              <a:solidFill>
                <a:srgbClr val="BFBFBF"/>
              </a:solidFill>
              <a:ea typeface="宋体" panose="02010600030101010101" pitchFamily="2" charset="-122"/>
            </a:endParaRPr>
          </a:p>
          <a:p>
            <a:pPr algn="r"/>
            <a:r>
              <a:rPr lang="en-US" altLang="zh-CN" sz="900">
                <a:solidFill>
                  <a:srgbClr val="BFBFBF"/>
                </a:solidFill>
                <a:ea typeface="宋体" panose="02010600030101010101" pitchFamily="2" charset="-122"/>
              </a:rPr>
              <a:t>5025968@qq.com</a:t>
            </a:r>
            <a:endParaRPr lang="zh-CN" altLang="en-US" sz="900">
              <a:solidFill>
                <a:srgbClr val="BFBFBF"/>
              </a:solidFill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42852"/>
            <a:ext cx="8305800" cy="682648"/>
          </a:xfrm>
        </p:spPr>
        <p:txBody>
          <a:bodyPr/>
          <a:lstStyle>
            <a:lvl1pPr>
              <a:defRPr sz="3400" baseline="0">
                <a:latin typeface="Consolas" panose="020B0609020204030204" pitchFamily="49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baseline="0">
                <a:latin typeface="Consolas" panose="020B0609020204030204" pitchFamily="49" charset="0"/>
                <a:ea typeface="+mn-ea"/>
              </a:defRPr>
            </a:lvl1pPr>
            <a:lvl2pPr>
              <a:defRPr b="0" baseline="0">
                <a:latin typeface="Consolas" panose="020B0609020204030204" pitchFamily="49" charset="0"/>
                <a:ea typeface="+mn-ea"/>
              </a:defRPr>
            </a:lvl2pPr>
            <a:lvl3pPr>
              <a:defRPr b="0" baseline="0">
                <a:latin typeface="Consolas" panose="020B0609020204030204" pitchFamily="49" charset="0"/>
                <a:ea typeface="+mn-ea"/>
              </a:defRPr>
            </a:lvl3pPr>
            <a:lvl4pPr>
              <a:defRPr b="0" baseline="0">
                <a:latin typeface="Consolas" panose="020B0609020204030204" pitchFamily="49" charset="0"/>
                <a:ea typeface="+mn-ea"/>
              </a:defRPr>
            </a:lvl4pPr>
            <a:lvl5pPr>
              <a:defRPr b="0" baseline="0">
                <a:latin typeface="Consolas" panose="020B0609020204030204" pitchFamily="49" charset="0"/>
                <a:ea typeface="+mn-ea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914400"/>
            <a:ext cx="409575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914400"/>
            <a:ext cx="4097338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215900"/>
            <a:ext cx="2085975" cy="63373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5900"/>
            <a:ext cx="6107113" cy="63373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93F7A3-758E-4602-B219-085FA7D55990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93F7A3-758E-4602-B219-085FA7D55990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E548B-1B06-48B6-A3C3-A21A42DCEC12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5900"/>
            <a:ext cx="830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14400"/>
            <a:ext cx="8345488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n-lt"/>
          <a:ea typeface="+mn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onsolas" panose="020B0609020204030204" pitchFamily="49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onsolas" panose="020B0609020204030204" pitchFamily="49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onsolas" panose="020B0609020204030204" pitchFamily="49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onsolas" panose="020B0609020204030204" pitchFamily="49" charset="0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rgbClr val="292929"/>
          </a:solidFill>
          <a:latin typeface="Consolas" panose="020B0609020204030204" pitchFamily="49" charset="0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600">
          <a:solidFill>
            <a:srgbClr val="003366"/>
          </a:solidFill>
          <a:latin typeface="Consolas" panose="020B0609020204030204" pitchFamily="49" charset="0"/>
          <a:ea typeface="+mn-ea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rgbClr val="990033"/>
          </a:solidFill>
          <a:latin typeface="Consolas" panose="020B0609020204030204" pitchFamily="49" charset="0"/>
          <a:ea typeface="+mn-ea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200">
          <a:solidFill>
            <a:srgbClr val="6600CC"/>
          </a:solidFill>
          <a:latin typeface="Consolas" panose="020B0609020204030204" pitchFamily="49" charset="0"/>
          <a:ea typeface="+mn-ea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Consolas" panose="020B0609020204030204" pitchFamily="49" charset="0"/>
          <a:ea typeface="+mn-ea"/>
        </a:defRPr>
      </a:lvl5pPr>
      <a:lvl6pPr marL="25146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fld id="{CAA5066D-3C7D-4919-9CDC-3169C67B0476}" type="slidenum"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fld id="{CAA5066D-3C7D-4919-9CDC-3169C67B0476}" type="slidenum"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fld id="{CAA5066D-3C7D-4919-9CDC-3169C67B0476}" type="slidenum"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11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8.xml"/><Relationship Id="rId7" Type="http://schemas.openxmlformats.org/officeDocument/2006/relationships/image" Target="../media/image15.png"/><Relationship Id="rId6" Type="http://schemas.openxmlformats.org/officeDocument/2006/relationships/oleObject" Target="../embeddings/oleObject5.bin"/><Relationship Id="rId5" Type="http://schemas.openxmlformats.org/officeDocument/2006/relationships/image" Target="../media/image14.jpeg"/><Relationship Id="rId4" Type="http://schemas.openxmlformats.org/officeDocument/2006/relationships/slide" Target="slide31.xml"/><Relationship Id="rId3" Type="http://schemas.openxmlformats.org/officeDocument/2006/relationships/slide" Target="slide7.xml"/><Relationship Id="rId2" Type="http://schemas.openxmlformats.org/officeDocument/2006/relationships/image" Target="../media/image13.png"/><Relationship Id="rId1" Type="http://schemas.openxmlformats.org/officeDocument/2006/relationships/oleObject" Target="../embeddings/oleObject4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6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wmf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oleObject" Target="../embeddings/oleObject7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emf"/><Relationship Id="rId1" Type="http://schemas.openxmlformats.org/officeDocument/2006/relationships/image" Target="../media/image19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w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slide" Target="slide2.xml"/><Relationship Id="rId3" Type="http://schemas.openxmlformats.org/officeDocument/2006/relationships/image" Target="../media/image14.jpeg"/><Relationship Id="rId2" Type="http://schemas.openxmlformats.org/officeDocument/2006/relationships/slide" Target="slide31.xml"/><Relationship Id="rId1" Type="http://schemas.openxmlformats.org/officeDocument/2006/relationships/slide" Target="slide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14.jpeg"/><Relationship Id="rId2" Type="http://schemas.openxmlformats.org/officeDocument/2006/relationships/slide" Target="slide31.xml"/><Relationship Id="rId1" Type="http://schemas.openxmlformats.org/officeDocument/2006/relationships/slide" Target="slide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w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ln>
            <a:miter lim="800000"/>
          </a:ln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第</a:t>
            </a:r>
            <a:r>
              <a:rPr lang="zh-CN" altLang="en-US" dirty="0"/>
              <a:t>六</a:t>
            </a:r>
            <a:r>
              <a:rPr lang="zh-CN" altLang="en-US" dirty="0" smtClean="0"/>
              <a:t>章 回溯法</a:t>
            </a:r>
            <a:endParaRPr lang="zh-CN" altLang="en-US" dirty="0"/>
          </a:p>
        </p:txBody>
      </p:sp>
      <p:sp>
        <p:nvSpPr>
          <p:cNvPr id="512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900113"/>
          </a:xfrm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smtClean="0"/>
              <a:t>本章主要内容</a:t>
            </a:r>
            <a:endParaRPr lang="zh-CN" altLang="en-US" smtClean="0"/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8345488" cy="5657850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回溯法算法框架</a:t>
            </a:r>
            <a:endParaRPr lang="en-US" altLang="zh-CN" dirty="0" smtClean="0"/>
          </a:p>
          <a:p>
            <a:r>
              <a:rPr lang="en-US" altLang="zh-CN" dirty="0" smtClean="0"/>
              <a:t>6.2 </a:t>
            </a:r>
            <a:r>
              <a:rPr lang="zh-CN" altLang="en-US" dirty="0" smtClean="0"/>
              <a:t>典型应用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装载问题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n</a:t>
            </a:r>
            <a:r>
              <a:rPr lang="zh-CN" altLang="en-US" dirty="0" smtClean="0"/>
              <a:t>后问题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0-1</a:t>
            </a:r>
            <a:r>
              <a:rPr lang="zh-CN" altLang="en-US" dirty="0" smtClean="0"/>
              <a:t>背包问题</a:t>
            </a:r>
            <a:endParaRPr lang="zh-CN" altLang="en-US" dirty="0" smtClean="0"/>
          </a:p>
          <a:p>
            <a:pPr lvl="1"/>
            <a:r>
              <a:rPr lang="zh-CN" altLang="en-US" dirty="0"/>
              <a:t>旅行售货员问题</a:t>
            </a:r>
            <a:endParaRPr lang="zh-CN" altLang="en-US" dirty="0"/>
          </a:p>
          <a:p>
            <a:pPr lvl="1"/>
            <a:r>
              <a:rPr lang="zh-CN" altLang="en-US" dirty="0" smtClean="0"/>
              <a:t>图的</a:t>
            </a:r>
            <a:r>
              <a:rPr lang="en-US" altLang="zh-CN" dirty="0" smtClean="0"/>
              <a:t>m</a:t>
            </a:r>
            <a:r>
              <a:rPr lang="zh-CN" altLang="en-US" dirty="0" smtClean="0"/>
              <a:t>着色问题</a:t>
            </a:r>
            <a:endParaRPr lang="zh-CN" altLang="en-US" dirty="0" smtClean="0"/>
          </a:p>
        </p:txBody>
      </p:sp>
      <p:pic>
        <p:nvPicPr>
          <p:cNvPr id="6148" name="Picture 1" descr="D:\Temp\Temporary Internet Files\Content.IE5\RCULP1HP\MCj04366680000[1].wm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1428750"/>
            <a:ext cx="24130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学习要点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>
                <a:ea typeface="宋体" panose="02010600030101010101" pitchFamily="2" charset="-122"/>
              </a:rPr>
              <a:t>掌握回溯的概念</a:t>
            </a:r>
            <a:endParaRPr lang="en-US" altLang="zh-CN" sz="3600" dirty="0">
              <a:ea typeface="宋体" panose="02010600030101010101" pitchFamily="2" charset="-122"/>
            </a:endParaRPr>
          </a:p>
          <a:p>
            <a:r>
              <a:rPr lang="zh-CN" altLang="en-US" sz="3600" dirty="0">
                <a:ea typeface="宋体" panose="02010600030101010101" pitchFamily="2" charset="-122"/>
              </a:rPr>
              <a:t>掌握经典问题的回溯解决方法</a:t>
            </a:r>
            <a:endParaRPr lang="en-US" altLang="zh-CN" sz="3600" dirty="0">
              <a:ea typeface="宋体" panose="02010600030101010101" pitchFamily="2" charset="-122"/>
            </a:endParaRPr>
          </a:p>
          <a:p>
            <a:r>
              <a:rPr lang="zh-CN" altLang="en-US" sz="3600" dirty="0">
                <a:ea typeface="宋体" panose="02010600030101010101" pitchFamily="2" charset="-122"/>
              </a:rPr>
              <a:t>掌握回溯与其它方法的异同</a:t>
            </a:r>
            <a:endParaRPr lang="zh-CN" altLang="en-US" sz="3600" dirty="0"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smtClean="0"/>
              <a:t>引言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理论上</a:t>
            </a:r>
            <a:endParaRPr lang="en-US" altLang="zh-CN" smtClean="0"/>
          </a:p>
          <a:p>
            <a:pPr lvl="1"/>
            <a:r>
              <a:rPr lang="zh-CN" altLang="en-US" smtClean="0"/>
              <a:t>寻找问题的解的一种可靠的方法是首先</a:t>
            </a:r>
            <a:r>
              <a:rPr lang="zh-CN" altLang="en-US" smtClean="0">
                <a:solidFill>
                  <a:srgbClr val="C00000"/>
                </a:solidFill>
              </a:rPr>
              <a:t>列出所有候选解</a:t>
            </a:r>
            <a:r>
              <a:rPr lang="zh-CN" altLang="en-US" smtClean="0"/>
              <a:t>，然后依次检查每一个，在检查完所有或部分候选解后，即可找到所需要的解。</a:t>
            </a:r>
            <a:endParaRPr lang="en-US" altLang="zh-CN" smtClean="0"/>
          </a:p>
          <a:p>
            <a:r>
              <a:rPr lang="zh-CN" altLang="en-US" smtClean="0"/>
              <a:t>但是</a:t>
            </a:r>
            <a:endParaRPr lang="en-US" altLang="zh-CN" smtClean="0"/>
          </a:p>
          <a:p>
            <a:pPr lvl="1"/>
            <a:r>
              <a:rPr lang="zh-CN" altLang="en-US" smtClean="0"/>
              <a:t>当候选</a:t>
            </a:r>
            <a:r>
              <a:rPr lang="zh-CN" altLang="en-US" smtClean="0">
                <a:solidFill>
                  <a:srgbClr val="C00000"/>
                </a:solidFill>
              </a:rPr>
              <a:t>解数量有限</a:t>
            </a:r>
            <a:r>
              <a:rPr lang="zh-CN" altLang="en-US" smtClean="0"/>
              <a:t>并且通过检查所有或部分候选解能够得到所需解时，上述方法是可行的。</a:t>
            </a:r>
            <a:endParaRPr lang="en-US" altLang="zh-CN" smtClean="0"/>
          </a:p>
          <a:p>
            <a:pPr lvl="1"/>
            <a:r>
              <a:rPr lang="zh-CN" altLang="en-US" smtClean="0"/>
              <a:t>若候选解的数量非常大（指数级，大数阶乘），即便采用最快的计算机也</a:t>
            </a:r>
            <a:r>
              <a:rPr lang="zh-CN" altLang="en-US" smtClean="0">
                <a:solidFill>
                  <a:srgbClr val="C00000"/>
                </a:solidFill>
              </a:rPr>
              <a:t>只能解决规模很小的问题</a:t>
            </a:r>
            <a:r>
              <a:rPr lang="zh-CN" altLang="en-US" smtClean="0"/>
              <a:t>。</a:t>
            </a:r>
            <a:endParaRPr lang="zh-CN" altLang="en-US" smtClean="0"/>
          </a:p>
        </p:txBody>
      </p:sp>
      <p:pic>
        <p:nvPicPr>
          <p:cNvPr id="7172" name="Picture 1" descr="D:\Temp\Temporary Internet Files\Content.IE5\NX19AAQ6\MCj04379900000[1].wm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1066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smtClean="0"/>
              <a:t>引言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于是</a:t>
            </a:r>
            <a:endParaRPr lang="en-US" altLang="zh-CN" dirty="0" smtClean="0"/>
          </a:p>
          <a:p>
            <a:pPr lvl="1">
              <a:defRPr/>
            </a:pPr>
            <a:r>
              <a:rPr lang="zh-CN" altLang="en-US" dirty="0" smtClean="0">
                <a:solidFill>
                  <a:srgbClr val="FF0000"/>
                </a:solidFill>
              </a:rPr>
              <a:t>回溯</a:t>
            </a:r>
            <a:r>
              <a:rPr lang="zh-CN" altLang="en-US" dirty="0" smtClean="0"/>
              <a:t>和</a:t>
            </a:r>
            <a:r>
              <a:rPr lang="zh-CN" altLang="en-US" dirty="0" smtClean="0">
                <a:solidFill>
                  <a:srgbClr val="FF0000"/>
                </a:solidFill>
              </a:rPr>
              <a:t>分枝限界法</a:t>
            </a:r>
            <a:r>
              <a:rPr lang="zh-CN" altLang="en-US" dirty="0" smtClean="0"/>
              <a:t>是比较常用的</a:t>
            </a:r>
            <a:r>
              <a:rPr lang="zh-CN" altLang="en-US" dirty="0" smtClean="0">
                <a:solidFill>
                  <a:schemeClr val="accent2">
                    <a:lumMod val="75000"/>
                  </a:schemeClr>
                </a:solidFill>
              </a:rPr>
              <a:t>对候选解进行系统检查两种方法。</a:t>
            </a:r>
            <a:endParaRPr lang="en-US" altLang="zh-CN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defRPr/>
            </a:pPr>
            <a:r>
              <a:rPr lang="zh-CN" altLang="en-US" dirty="0" smtClean="0"/>
              <a:t>按照这两种方法对候选解进行系统检查通常会使问题的</a:t>
            </a:r>
            <a:r>
              <a:rPr lang="zh-CN" altLang="en-US" dirty="0" smtClean="0">
                <a:solidFill>
                  <a:srgbClr val="FF0000"/>
                </a:solidFill>
              </a:rPr>
              <a:t>求解时间大大减少</a:t>
            </a:r>
            <a:r>
              <a:rPr lang="zh-CN" altLang="en-US" dirty="0" smtClean="0"/>
              <a:t>（无论对于最坏情形还是对于一般情形） 。</a:t>
            </a:r>
            <a:endParaRPr lang="en-US" altLang="zh-CN" dirty="0" smtClean="0"/>
          </a:p>
          <a:p>
            <a:pPr lvl="1">
              <a:defRPr/>
            </a:pPr>
            <a:r>
              <a:rPr lang="zh-CN" altLang="en-US" dirty="0" smtClean="0"/>
              <a:t>可以避免对很大的候选解集合进行检查，同时能够保证算法运行结束时可以找到所需要的解。</a:t>
            </a:r>
            <a:endParaRPr lang="en-US" altLang="zh-CN" dirty="0" smtClean="0"/>
          </a:p>
          <a:p>
            <a:pPr lvl="1">
              <a:defRPr/>
            </a:pPr>
            <a:r>
              <a:rPr lang="zh-CN" altLang="en-US" dirty="0" smtClean="0"/>
              <a:t>通常能够用来</a:t>
            </a:r>
            <a:r>
              <a:rPr lang="zh-CN" altLang="en-US" dirty="0" smtClean="0">
                <a:solidFill>
                  <a:srgbClr val="0000FF"/>
                </a:solidFill>
              </a:rPr>
              <a:t>求解规模很大</a:t>
            </a:r>
            <a:r>
              <a:rPr lang="zh-CN" altLang="en-US" dirty="0" smtClean="0"/>
              <a:t>的问题。</a:t>
            </a:r>
            <a:endParaRPr lang="en-US" altLang="zh-CN" dirty="0" smtClean="0"/>
          </a:p>
        </p:txBody>
      </p:sp>
      <p:pic>
        <p:nvPicPr>
          <p:cNvPr id="8196" name="Picture 1" descr="D:\Temp\Temporary Internet Files\Content.IE5\NX19AAQ6\MCj04379900000[1].wm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1066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smtClean="0"/>
              <a:t>引言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8345488" cy="58007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回溯法</a:t>
            </a:r>
            <a:endParaRPr lang="en-US" altLang="zh-CN" dirty="0" smtClean="0"/>
          </a:p>
          <a:p>
            <a:pPr lvl="1">
              <a:defRPr/>
            </a:pPr>
            <a:r>
              <a:rPr lang="zh-CN" altLang="en-US" dirty="0" smtClean="0"/>
              <a:t>基本做法是</a:t>
            </a:r>
            <a:r>
              <a:rPr lang="zh-CN" altLang="en-US" dirty="0" smtClean="0">
                <a:solidFill>
                  <a:srgbClr val="FF0000"/>
                </a:solidFill>
              </a:rPr>
              <a:t>搜索</a:t>
            </a:r>
            <a:r>
              <a:rPr lang="zh-CN" altLang="en-US" dirty="0" smtClean="0"/>
              <a:t>，或是一种组织得井井有条的、能</a:t>
            </a:r>
            <a:r>
              <a:rPr lang="zh-CN" altLang="en-US" dirty="0" smtClean="0">
                <a:solidFill>
                  <a:srgbClr val="FF0000"/>
                </a:solidFill>
              </a:rPr>
              <a:t>避免不必要搜索的穷举式搜索法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lvl="1">
              <a:defRPr/>
            </a:pPr>
            <a:r>
              <a:rPr lang="zh-CN" altLang="en-US" dirty="0" smtClean="0"/>
              <a:t>回溯法在问题的</a:t>
            </a:r>
            <a:r>
              <a:rPr lang="zh-CN" altLang="en-US" dirty="0" smtClean="0">
                <a:solidFill>
                  <a:srgbClr val="FF0000"/>
                </a:solidFill>
              </a:rPr>
              <a:t>解空间树</a:t>
            </a:r>
            <a:r>
              <a:rPr lang="zh-CN" altLang="en-US" dirty="0" smtClean="0"/>
              <a:t>中，按</a:t>
            </a:r>
            <a:r>
              <a:rPr lang="zh-CN" alt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深度优先</a:t>
            </a:r>
            <a:r>
              <a:rPr lang="zh-CN" altLang="en-US" dirty="0" smtClean="0"/>
              <a:t>策略，从</a:t>
            </a:r>
            <a:r>
              <a:rPr lang="zh-CN" altLang="en-US" dirty="0" smtClean="0">
                <a:solidFill>
                  <a:srgbClr val="FF0000"/>
                </a:solidFill>
              </a:rPr>
              <a:t>根结点</a:t>
            </a:r>
            <a:r>
              <a:rPr lang="zh-CN" altLang="en-US" dirty="0" smtClean="0"/>
              <a:t>出发搜索解空间树。</a:t>
            </a:r>
            <a:endParaRPr lang="en-US" altLang="zh-CN" dirty="0" smtClean="0"/>
          </a:p>
          <a:p>
            <a:pPr lvl="1">
              <a:defRPr/>
            </a:pPr>
            <a:r>
              <a:rPr lang="zh-CN" altLang="en-US" dirty="0" smtClean="0"/>
              <a:t>算法搜索至解空间树的任意一点时，先判断该结点是否包含问题的解</a:t>
            </a:r>
            <a:endParaRPr lang="en-US" altLang="zh-CN" dirty="0" smtClean="0"/>
          </a:p>
          <a:p>
            <a:pPr lvl="2">
              <a:defRPr/>
            </a:pPr>
            <a:r>
              <a:rPr lang="zh-CN" altLang="en-US" dirty="0" smtClean="0"/>
              <a:t>如果</a:t>
            </a:r>
            <a:r>
              <a:rPr lang="zh-CN" altLang="en-US" dirty="0" smtClean="0">
                <a:solidFill>
                  <a:srgbClr val="0000FF"/>
                </a:solidFill>
              </a:rPr>
              <a:t>肯定不包含</a:t>
            </a:r>
            <a:r>
              <a:rPr lang="zh-CN" altLang="en-US" dirty="0" smtClean="0"/>
              <a:t>，则跳过对该结点为根的子树的搜索，逐层向其祖先结点</a:t>
            </a:r>
            <a:r>
              <a:rPr lang="zh-CN" altLang="en-US" dirty="0" smtClean="0">
                <a:solidFill>
                  <a:srgbClr val="0000FF"/>
                </a:solidFill>
              </a:rPr>
              <a:t>回溯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2">
              <a:defRPr/>
            </a:pPr>
            <a:r>
              <a:rPr lang="zh-CN" altLang="en-US" dirty="0" smtClean="0"/>
              <a:t>否则，进入该子树，继续按深度优先策略搜索。</a:t>
            </a:r>
            <a:endParaRPr lang="zh-CN" altLang="en-US" dirty="0"/>
          </a:p>
        </p:txBody>
      </p:sp>
      <p:pic>
        <p:nvPicPr>
          <p:cNvPr id="9220" name="Picture 1" descr="D:\Temp\Temporary Internet Files\Content.IE5\NX19AAQ6\MCj04379900000[1].wm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1066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8345488" cy="4800600"/>
          </a:xfrm>
        </p:spPr>
        <p:txBody>
          <a:bodyPr/>
          <a:lstStyle/>
          <a:p>
            <a:r>
              <a:rPr lang="en-US" altLang="zh-CN" dirty="0" smtClean="0"/>
              <a:t>6.1.1 </a:t>
            </a:r>
            <a:r>
              <a:rPr lang="zh-CN" altLang="en-US" dirty="0" smtClean="0"/>
              <a:t>问题的解空间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问题的</a:t>
            </a:r>
            <a:r>
              <a:rPr lang="zh-CN" altLang="en-US" dirty="0" smtClean="0">
                <a:solidFill>
                  <a:srgbClr val="FF0000"/>
                </a:solidFill>
              </a:rPr>
              <a:t>解向量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2"/>
            <a:r>
              <a:rPr lang="zh-CN" altLang="en-US" dirty="0" smtClean="0"/>
              <a:t>回溯法希望一个问题的解能够表示成一个</a:t>
            </a:r>
            <a:r>
              <a:rPr lang="en-US" altLang="zh-CN" dirty="0" smtClean="0">
                <a:solidFill>
                  <a:srgbClr val="0000FF"/>
                </a:solidFill>
              </a:rPr>
              <a:t>n</a:t>
            </a:r>
            <a:r>
              <a:rPr lang="zh-CN" altLang="en-US" dirty="0" smtClean="0"/>
              <a:t>元式</a:t>
            </a:r>
            <a:r>
              <a:rPr lang="en-US" altLang="zh-CN" dirty="0" smtClean="0">
                <a:solidFill>
                  <a:srgbClr val="0000FF"/>
                </a:solidFill>
              </a:rPr>
              <a:t>(x</a:t>
            </a:r>
            <a:r>
              <a:rPr lang="en-US" altLang="zh-CN" baseline="-25000" dirty="0" smtClean="0">
                <a:solidFill>
                  <a:srgbClr val="0000FF"/>
                </a:solidFill>
              </a:rPr>
              <a:t>1</a:t>
            </a:r>
            <a:r>
              <a:rPr lang="en-US" altLang="zh-CN" dirty="0" smtClean="0">
                <a:solidFill>
                  <a:srgbClr val="0000FF"/>
                </a:solidFill>
              </a:rPr>
              <a:t>,x</a:t>
            </a:r>
            <a:r>
              <a:rPr lang="en-US" altLang="zh-CN" baseline="-25000" dirty="0" smtClean="0">
                <a:solidFill>
                  <a:srgbClr val="0000FF"/>
                </a:solidFill>
              </a:rPr>
              <a:t>2</a:t>
            </a:r>
            <a:r>
              <a:rPr lang="en-US" altLang="zh-CN" dirty="0" smtClean="0">
                <a:solidFill>
                  <a:srgbClr val="0000FF"/>
                </a:solidFill>
              </a:rPr>
              <a:t>,…,</a:t>
            </a:r>
            <a:r>
              <a:rPr lang="en-US" altLang="zh-CN" dirty="0" err="1" smtClean="0">
                <a:solidFill>
                  <a:srgbClr val="0000FF"/>
                </a:solidFill>
              </a:rPr>
              <a:t>x</a:t>
            </a:r>
            <a:r>
              <a:rPr lang="en-US" altLang="zh-CN" baseline="-25000" dirty="0" err="1" smtClean="0">
                <a:solidFill>
                  <a:srgbClr val="0000FF"/>
                </a:solidFill>
              </a:rPr>
              <a:t>n</a:t>
            </a:r>
            <a:r>
              <a:rPr lang="en-US" altLang="zh-CN" dirty="0" smtClean="0">
                <a:solidFill>
                  <a:srgbClr val="0000FF"/>
                </a:solidFill>
              </a:rPr>
              <a:t>)</a:t>
            </a:r>
            <a:r>
              <a:rPr lang="zh-CN" altLang="en-US" dirty="0" smtClean="0"/>
              <a:t>的形式。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显约束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对分量</a:t>
            </a:r>
            <a:r>
              <a:rPr lang="en-US" altLang="zh-CN" dirty="0" smtClean="0">
                <a:solidFill>
                  <a:srgbClr val="0000FF"/>
                </a:solidFill>
              </a:rPr>
              <a:t>x</a:t>
            </a:r>
            <a:r>
              <a:rPr lang="en-US" altLang="zh-CN" baseline="-25000" dirty="0" smtClean="0">
                <a:solidFill>
                  <a:srgbClr val="0000FF"/>
                </a:solidFill>
              </a:rPr>
              <a:t>i</a:t>
            </a:r>
            <a:r>
              <a:rPr lang="zh-CN" altLang="en-US" dirty="0" smtClean="0"/>
              <a:t>的取值限定。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隐约束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为满足问题的解而对</a:t>
            </a:r>
            <a:r>
              <a:rPr lang="zh-CN" altLang="en-US" dirty="0" smtClean="0">
                <a:solidFill>
                  <a:srgbClr val="0000FF"/>
                </a:solidFill>
              </a:rPr>
              <a:t>不同分量之间</a:t>
            </a:r>
            <a:r>
              <a:rPr lang="zh-CN" altLang="en-US" dirty="0" smtClean="0"/>
              <a:t>施加的约束。</a:t>
            </a:r>
            <a:endParaRPr lang="zh-CN" alt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8345488" cy="4371975"/>
          </a:xfrm>
        </p:spPr>
        <p:txBody>
          <a:bodyPr/>
          <a:lstStyle/>
          <a:p>
            <a:pPr lvl="1"/>
            <a:r>
              <a:rPr lang="zh-CN" altLang="en-US" smtClean="0"/>
              <a:t>解空间（</a:t>
            </a:r>
            <a:r>
              <a:rPr lang="en-US" altLang="zh-CN" smtClean="0"/>
              <a:t>Solution Space</a:t>
            </a:r>
            <a:r>
              <a:rPr lang="zh-CN" altLang="en-US" smtClean="0"/>
              <a:t>）</a:t>
            </a:r>
            <a:endParaRPr lang="en-US" altLang="zh-CN" smtClean="0"/>
          </a:p>
          <a:p>
            <a:pPr lvl="2"/>
            <a:r>
              <a:rPr lang="zh-CN" altLang="en-US" smtClean="0"/>
              <a:t>对于问题的一个实例，解向量满足</a:t>
            </a:r>
            <a:r>
              <a:rPr lang="zh-CN" altLang="en-US" smtClean="0">
                <a:solidFill>
                  <a:srgbClr val="0000FF"/>
                </a:solidFill>
              </a:rPr>
              <a:t>显式约束</a:t>
            </a:r>
            <a:r>
              <a:rPr lang="zh-CN" altLang="en-US" smtClean="0"/>
              <a:t>条件的</a:t>
            </a:r>
            <a:r>
              <a:rPr lang="zh-CN" altLang="en-US" smtClean="0">
                <a:solidFill>
                  <a:srgbClr val="0000FF"/>
                </a:solidFill>
              </a:rPr>
              <a:t>所有多元组</a:t>
            </a:r>
            <a:r>
              <a:rPr lang="zh-CN" altLang="en-US" smtClean="0"/>
              <a:t>，构成了该实例的一个解空间。</a:t>
            </a:r>
            <a:endParaRPr lang="en-US" altLang="zh-CN" smtClean="0"/>
          </a:p>
          <a:p>
            <a:pPr lvl="2"/>
            <a:r>
              <a:rPr lang="zh-CN" altLang="en-US" smtClean="0"/>
              <a:t>回溯法解问题时，首先应明确定义问题的解空间。解空间应</a:t>
            </a:r>
            <a:r>
              <a:rPr lang="zh-CN" altLang="en-US" smtClean="0">
                <a:solidFill>
                  <a:srgbClr val="0000FF"/>
                </a:solidFill>
              </a:rPr>
              <a:t>至少</a:t>
            </a:r>
            <a:r>
              <a:rPr lang="zh-CN" altLang="en-US" smtClean="0"/>
              <a:t>包含问题的一个（最优）解。</a:t>
            </a:r>
            <a:endParaRPr lang="en-US" altLang="zh-CN" smtClean="0"/>
          </a:p>
          <a:p>
            <a:pPr lvl="2"/>
            <a:r>
              <a:rPr lang="zh-CN" altLang="en-US" smtClean="0"/>
              <a:t>同一问题可有</a:t>
            </a:r>
            <a:r>
              <a:rPr lang="zh-CN" altLang="en-US" smtClean="0">
                <a:solidFill>
                  <a:srgbClr val="0000FF"/>
                </a:solidFill>
              </a:rPr>
              <a:t>多种表示</a:t>
            </a:r>
            <a:r>
              <a:rPr lang="zh-CN" altLang="en-US" smtClean="0"/>
              <a:t>，有些表示更简单，所需状态空间更小（存储量少，搜索方法简单）。</a:t>
            </a:r>
            <a:endParaRPr lang="zh-CN" altLang="en-US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8345488" cy="5514975"/>
          </a:xfrm>
        </p:spPr>
        <p:txBody>
          <a:bodyPr/>
          <a:lstStyle/>
          <a:p>
            <a:pPr lvl="1"/>
            <a:r>
              <a:rPr lang="zh-CN" altLang="en-US" dirty="0" smtClean="0"/>
              <a:t>例如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对于有</a:t>
            </a:r>
            <a:r>
              <a:rPr lang="en-US" altLang="zh-CN" dirty="0" smtClean="0">
                <a:solidFill>
                  <a:srgbClr val="0000FF"/>
                </a:solidFill>
              </a:rPr>
              <a:t>n</a:t>
            </a:r>
            <a:r>
              <a:rPr lang="zh-CN" altLang="en-US" dirty="0" smtClean="0"/>
              <a:t>种可选物品的</a:t>
            </a:r>
            <a:r>
              <a:rPr lang="en-US" altLang="zh-CN" dirty="0" smtClean="0">
                <a:solidFill>
                  <a:srgbClr val="0000FF"/>
                </a:solidFill>
              </a:rPr>
              <a:t>0-1</a:t>
            </a:r>
            <a:r>
              <a:rPr lang="zh-CN" altLang="en-US" dirty="0" smtClean="0">
                <a:solidFill>
                  <a:srgbClr val="0000FF"/>
                </a:solidFill>
              </a:rPr>
              <a:t>背包问题</a:t>
            </a:r>
            <a:r>
              <a:rPr lang="zh-CN" altLang="en-US" dirty="0" smtClean="0"/>
              <a:t>，其</a:t>
            </a:r>
            <a:r>
              <a:rPr lang="zh-CN" altLang="en-US" dirty="0" smtClean="0">
                <a:solidFill>
                  <a:srgbClr val="0000FF"/>
                </a:solidFill>
              </a:rPr>
              <a:t>解空间</a:t>
            </a:r>
            <a:r>
              <a:rPr lang="zh-CN" altLang="en-US" dirty="0" smtClean="0"/>
              <a:t>由</a:t>
            </a:r>
            <a:r>
              <a:rPr lang="en-US" altLang="zh-CN" dirty="0" smtClean="0">
                <a:solidFill>
                  <a:srgbClr val="0000FF"/>
                </a:solidFill>
              </a:rPr>
              <a:t>2</a:t>
            </a:r>
            <a:r>
              <a:rPr lang="en-US" altLang="zh-CN" baseline="30000" dirty="0" smtClean="0">
                <a:solidFill>
                  <a:srgbClr val="0000FF"/>
                </a:solidFill>
              </a:rPr>
              <a:t>n</a:t>
            </a:r>
            <a:r>
              <a:rPr lang="zh-CN" altLang="en-US" dirty="0" smtClean="0"/>
              <a:t>个长度为</a:t>
            </a:r>
            <a:r>
              <a:rPr lang="en-US" altLang="zh-CN" dirty="0" smtClean="0">
                <a:solidFill>
                  <a:srgbClr val="0000FF"/>
                </a:solidFill>
              </a:rPr>
              <a:t>n</a:t>
            </a:r>
            <a:r>
              <a:rPr lang="zh-CN" altLang="en-US" dirty="0" smtClean="0"/>
              <a:t>的</a:t>
            </a:r>
            <a:r>
              <a:rPr lang="en-US" altLang="zh-CN" dirty="0" smtClean="0">
                <a:solidFill>
                  <a:srgbClr val="0000FF"/>
                </a:solidFill>
              </a:rPr>
              <a:t>0-1</a:t>
            </a:r>
            <a:r>
              <a:rPr lang="zh-CN" altLang="en-US" dirty="0" smtClean="0"/>
              <a:t>向量组成。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0000FF"/>
                </a:solidFill>
              </a:rPr>
              <a:t>n=3</a:t>
            </a:r>
            <a:r>
              <a:rPr lang="zh-CN" altLang="en-US" dirty="0" smtClean="0"/>
              <a:t>时，解空间为</a:t>
            </a:r>
            <a:br>
              <a:rPr lang="en-US" altLang="zh-CN" dirty="0" smtClean="0"/>
            </a:br>
            <a:r>
              <a:rPr lang="en-US" altLang="zh-CN" sz="2200" dirty="0" smtClean="0">
                <a:solidFill>
                  <a:srgbClr val="0000FF"/>
                </a:solidFill>
                <a:ea typeface="仿宋_GB2312" pitchFamily="49" charset="-122"/>
              </a:rPr>
              <a:t>{(0,0,0),(0,0,1),(0,1,0),(0,1,1),</a:t>
            </a:r>
            <a:endParaRPr lang="en-US" altLang="zh-CN" sz="2200" dirty="0" smtClean="0">
              <a:solidFill>
                <a:srgbClr val="0000FF"/>
              </a:solidFill>
              <a:ea typeface="仿宋_GB2312" pitchFamily="49" charset="-122"/>
            </a:endParaRP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2200" dirty="0" smtClean="0">
                <a:solidFill>
                  <a:srgbClr val="0000FF"/>
                </a:solidFill>
                <a:ea typeface="仿宋_GB2312" pitchFamily="49" charset="-122"/>
              </a:rPr>
              <a:t>   (1,0,0),(1,0,1),(1,1,0),(1,1,1)}</a:t>
            </a:r>
            <a:endParaRPr lang="zh-CN" altLang="en-US" sz="2200" dirty="0" smtClean="0">
              <a:solidFill>
                <a:srgbClr val="0000FF"/>
              </a:solidFill>
              <a:ea typeface="仿宋_GB2312" pitchFamily="49" charset="-122"/>
            </a:endParaRPr>
          </a:p>
          <a:p>
            <a:pPr lvl="2"/>
            <a:r>
              <a:rPr lang="zh-CN" altLang="en-US" dirty="0" smtClean="0"/>
              <a:t>用</a:t>
            </a:r>
            <a:r>
              <a:rPr lang="zh-CN" altLang="en-US" b="1" dirty="0" smtClean="0">
                <a:solidFill>
                  <a:srgbClr val="FF0000"/>
                </a:solidFill>
              </a:rPr>
              <a:t>完全二叉树</a:t>
            </a:r>
            <a:r>
              <a:rPr lang="zh-CN" altLang="en-US" dirty="0" smtClean="0"/>
              <a:t>表示的</a:t>
            </a:r>
            <a:r>
              <a:rPr lang="zh-CN" altLang="en-US" b="1" dirty="0" smtClean="0">
                <a:solidFill>
                  <a:srgbClr val="FF0000"/>
                </a:solidFill>
              </a:rPr>
              <a:t>解空间</a:t>
            </a:r>
            <a:endParaRPr lang="zh-CN" altLang="en-US" b="1" dirty="0" smtClean="0">
              <a:solidFill>
                <a:srgbClr val="FF0000"/>
              </a:solidFill>
            </a:endParaRPr>
          </a:p>
          <a:p>
            <a:pPr lvl="3"/>
            <a:r>
              <a:rPr lang="zh-CN" altLang="en-US" dirty="0" smtClean="0"/>
              <a:t>边上的数字给出了向量</a:t>
            </a:r>
            <a:r>
              <a:rPr lang="en-US" altLang="zh-CN" dirty="0" smtClean="0">
                <a:solidFill>
                  <a:srgbClr val="FF0000"/>
                </a:solidFill>
              </a:rPr>
              <a:t>x</a:t>
            </a:r>
            <a:r>
              <a:rPr lang="zh-CN" altLang="en-US" dirty="0" smtClean="0"/>
              <a:t>中第</a:t>
            </a:r>
            <a:r>
              <a:rPr lang="en-US" altLang="zh-CN" dirty="0" err="1" smtClean="0">
                <a:solidFill>
                  <a:srgbClr val="FF0000"/>
                </a:solidFill>
              </a:rPr>
              <a:t>i</a:t>
            </a:r>
            <a:r>
              <a:rPr lang="zh-CN" altLang="en-US" dirty="0" smtClean="0"/>
              <a:t>个分量的值</a:t>
            </a:r>
            <a:r>
              <a:rPr lang="en-US" altLang="zh-CN" dirty="0" smtClean="0">
                <a:solidFill>
                  <a:srgbClr val="FF0000"/>
                </a:solidFill>
              </a:rPr>
              <a:t>x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i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3"/>
            <a:r>
              <a:rPr lang="zh-CN" altLang="en-US" dirty="0" smtClean="0">
                <a:solidFill>
                  <a:srgbClr val="FF0000"/>
                </a:solidFill>
              </a:rPr>
              <a:t>根节点</a:t>
            </a:r>
            <a:r>
              <a:rPr lang="zh-CN" altLang="en-US" dirty="0" smtClean="0"/>
              <a:t>到</a:t>
            </a:r>
            <a:r>
              <a:rPr lang="zh-CN" altLang="en-US" dirty="0" smtClean="0">
                <a:solidFill>
                  <a:srgbClr val="FF0000"/>
                </a:solidFill>
              </a:rPr>
              <a:t>叶节点</a:t>
            </a:r>
            <a:r>
              <a:rPr lang="zh-CN" altLang="en-US" dirty="0" smtClean="0"/>
              <a:t>的路径定义了解</a:t>
            </a:r>
            <a:r>
              <a:rPr lang="zh-CN" altLang="en-US" dirty="0"/>
              <a:t>问题</a:t>
            </a:r>
            <a:r>
              <a:rPr lang="zh-CN" altLang="en-US" dirty="0" smtClean="0"/>
              <a:t>的一个解； 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根据</a:t>
            </a:r>
            <a:r>
              <a:rPr lang="en-US" altLang="zh-CN" dirty="0" smtClean="0">
                <a:solidFill>
                  <a:srgbClr val="FF0000"/>
                </a:solidFill>
              </a:rPr>
              <a:t>w</a:t>
            </a:r>
            <a:r>
              <a:rPr lang="zh-CN" altLang="en-US" dirty="0" smtClean="0"/>
              <a:t>和</a:t>
            </a:r>
            <a:r>
              <a:rPr lang="en-US" altLang="zh-CN" dirty="0" smtClean="0">
                <a:solidFill>
                  <a:srgbClr val="FF0000"/>
                </a:solidFill>
              </a:rPr>
              <a:t>c</a:t>
            </a:r>
            <a:r>
              <a:rPr lang="zh-CN" altLang="en-US" dirty="0" smtClean="0"/>
              <a:t>的值，从根到叶的路径中的部分或全部解可能是不可行的。</a:t>
            </a:r>
            <a:endParaRPr lang="en-US" altLang="zh-CN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7.1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mtClean="0"/>
          </a:p>
        </p:txBody>
      </p:sp>
      <p:graphicFrame>
        <p:nvGraphicFramePr>
          <p:cNvPr id="13316" name="Object 3"/>
          <p:cNvGraphicFramePr>
            <a:graphicFrameLocks noChangeAspect="1"/>
          </p:cNvGraphicFramePr>
          <p:nvPr/>
        </p:nvGraphicFramePr>
        <p:xfrm>
          <a:off x="714375" y="1071563"/>
          <a:ext cx="7885113" cy="521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name="Visio" r:id="rId1" imgW="3531235" imgH="2332990" progId="">
                  <p:embed/>
                </p:oleObj>
              </mc:Choice>
              <mc:Fallback>
                <p:oleObj name="Visio" r:id="rId1" imgW="3531235" imgH="233299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1071563"/>
                        <a:ext cx="7885113" cy="5214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6.1.2 </a:t>
            </a:r>
            <a:r>
              <a:rPr lang="zh-CN" altLang="en-US" dirty="0" smtClean="0"/>
              <a:t>回溯法的基本思想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回溯法的基本步骤</a:t>
            </a:r>
            <a:endParaRPr lang="zh-CN" altLang="en-US" dirty="0" smtClean="0"/>
          </a:p>
          <a:p>
            <a:pPr lvl="2"/>
            <a:r>
              <a:rPr lang="en-US" altLang="zh-CN" dirty="0" smtClean="0"/>
              <a:t>(1)</a:t>
            </a:r>
            <a:r>
              <a:rPr lang="zh-CN" altLang="en-US" dirty="0" smtClean="0"/>
              <a:t>针对所给问题，</a:t>
            </a:r>
            <a:r>
              <a:rPr lang="zh-CN" altLang="en-US" dirty="0" smtClean="0">
                <a:solidFill>
                  <a:srgbClr val="0000FF"/>
                </a:solidFill>
              </a:rPr>
              <a:t>定义</a:t>
            </a:r>
            <a:r>
              <a:rPr lang="zh-CN" altLang="en-US" dirty="0" smtClean="0"/>
              <a:t>问题的</a:t>
            </a:r>
            <a:r>
              <a:rPr lang="zh-CN" altLang="en-US" dirty="0" smtClean="0">
                <a:solidFill>
                  <a:srgbClr val="0000FF"/>
                </a:solidFill>
              </a:rPr>
              <a:t>解空间</a:t>
            </a:r>
            <a:r>
              <a:rPr lang="zh-CN" altLang="en-US" dirty="0" smtClean="0"/>
              <a:t>；</a:t>
            </a:r>
            <a:endParaRPr lang="zh-CN" altLang="en-US" dirty="0" smtClean="0"/>
          </a:p>
          <a:p>
            <a:pPr lvl="2"/>
            <a:r>
              <a:rPr lang="en-US" altLang="zh-CN" dirty="0" smtClean="0"/>
              <a:t>(2)</a:t>
            </a:r>
            <a:r>
              <a:rPr lang="zh-CN" altLang="en-US" dirty="0" smtClean="0">
                <a:solidFill>
                  <a:srgbClr val="0000FF"/>
                </a:solidFill>
              </a:rPr>
              <a:t>确定</a:t>
            </a:r>
            <a:r>
              <a:rPr lang="zh-CN" altLang="en-US" dirty="0" smtClean="0"/>
              <a:t>易于搜索的</a:t>
            </a:r>
            <a:r>
              <a:rPr lang="zh-CN" altLang="en-US" dirty="0" smtClean="0">
                <a:solidFill>
                  <a:srgbClr val="0000FF"/>
                </a:solidFill>
              </a:rPr>
              <a:t>解空间结构</a:t>
            </a:r>
            <a:r>
              <a:rPr lang="zh-CN" altLang="en-US" dirty="0" smtClean="0"/>
              <a:t>；</a:t>
            </a:r>
            <a:endParaRPr lang="zh-CN" altLang="en-US" dirty="0" smtClean="0"/>
          </a:p>
          <a:p>
            <a:pPr lvl="2"/>
            <a:r>
              <a:rPr lang="en-US" altLang="zh-CN" dirty="0" smtClean="0"/>
              <a:t>(3)</a:t>
            </a:r>
            <a:r>
              <a:rPr lang="zh-CN" altLang="en-US" dirty="0" smtClean="0"/>
              <a:t>以</a:t>
            </a:r>
            <a:r>
              <a:rPr lang="zh-CN" altLang="en-US" b="1" dirty="0" smtClean="0">
                <a:solidFill>
                  <a:srgbClr val="0000FF"/>
                </a:solidFill>
              </a:rPr>
              <a:t>深度优先</a:t>
            </a:r>
            <a:r>
              <a:rPr lang="zh-CN" altLang="en-US" dirty="0" smtClean="0"/>
              <a:t>方式</a:t>
            </a:r>
            <a:r>
              <a:rPr lang="zh-CN" altLang="en-US" dirty="0" smtClean="0">
                <a:solidFill>
                  <a:srgbClr val="0000FF"/>
                </a:solidFill>
              </a:rPr>
              <a:t>搜索解空间</a:t>
            </a:r>
            <a:r>
              <a:rPr lang="zh-CN" altLang="en-US" dirty="0" smtClean="0"/>
              <a:t>，并在搜索过程中用</a:t>
            </a:r>
            <a:r>
              <a:rPr lang="zh-CN" altLang="en-US" dirty="0">
                <a:solidFill>
                  <a:srgbClr val="0000FF"/>
                </a:solidFill>
              </a:rPr>
              <a:t>剪枝函数</a:t>
            </a:r>
            <a:r>
              <a:rPr lang="zh-CN" altLang="en-US" dirty="0"/>
              <a:t>避免无效搜索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常用剪枝函数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用</a:t>
            </a:r>
            <a:r>
              <a:rPr lang="zh-CN" altLang="en-US" dirty="0" smtClean="0">
                <a:solidFill>
                  <a:srgbClr val="0000FF"/>
                </a:solidFill>
              </a:rPr>
              <a:t>约束函数</a:t>
            </a:r>
            <a:r>
              <a:rPr lang="zh-CN" altLang="en-US" dirty="0" smtClean="0"/>
              <a:t>在</a:t>
            </a:r>
            <a:r>
              <a:rPr lang="zh-CN" altLang="en-US" dirty="0" smtClean="0">
                <a:solidFill>
                  <a:srgbClr val="0000FF"/>
                </a:solidFill>
              </a:rPr>
              <a:t>扩展结点</a:t>
            </a:r>
            <a:r>
              <a:rPr lang="zh-CN" altLang="en-US" dirty="0" smtClean="0"/>
              <a:t>处剪去</a:t>
            </a:r>
            <a:r>
              <a:rPr lang="zh-CN" altLang="en-US" dirty="0" smtClean="0">
                <a:solidFill>
                  <a:srgbClr val="0000FF"/>
                </a:solidFill>
              </a:rPr>
              <a:t>不满足约束</a:t>
            </a:r>
            <a:r>
              <a:rPr lang="zh-CN" altLang="en-US" dirty="0" smtClean="0"/>
              <a:t>的子树；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用</a:t>
            </a:r>
            <a:r>
              <a:rPr lang="zh-CN" altLang="en-US" dirty="0" smtClean="0">
                <a:solidFill>
                  <a:srgbClr val="0000FF"/>
                </a:solidFill>
              </a:rPr>
              <a:t>限界函数</a:t>
            </a:r>
            <a:r>
              <a:rPr lang="zh-CN" altLang="en-US" dirty="0" smtClean="0"/>
              <a:t>剪去</a:t>
            </a:r>
            <a:r>
              <a:rPr lang="zh-CN" altLang="en-US" dirty="0" smtClean="0">
                <a:solidFill>
                  <a:srgbClr val="0000FF"/>
                </a:solidFill>
              </a:rPr>
              <a:t>得不到最优解</a:t>
            </a:r>
            <a:r>
              <a:rPr lang="zh-CN" altLang="en-US" dirty="0" smtClean="0"/>
              <a:t>的子树。</a:t>
            </a:r>
            <a:endParaRPr lang="zh-CN" alt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 smtClean="0"/>
              <a:t>空间复杂性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用回溯法解题的一个显著特征是在搜索过程中</a:t>
            </a:r>
            <a:r>
              <a:rPr lang="zh-CN" altLang="en-US" dirty="0" smtClean="0">
                <a:solidFill>
                  <a:srgbClr val="0000FF"/>
                </a:solidFill>
              </a:rPr>
              <a:t>动态产生问题的解空间</a:t>
            </a:r>
            <a:r>
              <a:rPr lang="zh-CN" altLang="en-US" dirty="0" smtClean="0"/>
              <a:t>。在任何时刻，</a:t>
            </a:r>
            <a:r>
              <a:rPr lang="zh-CN" altLang="en-US" b="1" dirty="0" smtClean="0"/>
              <a:t>算法只保存从根结点到当前扩展结点的路径。</a:t>
            </a:r>
            <a:endParaRPr lang="en-US" altLang="zh-CN" b="1" dirty="0" smtClean="0"/>
          </a:p>
          <a:p>
            <a:pPr lvl="2"/>
            <a:r>
              <a:rPr lang="zh-CN" altLang="en-US" dirty="0" smtClean="0"/>
              <a:t>如果解空间树中从根结点到叶结点的最长路径的长度为</a:t>
            </a:r>
            <a:r>
              <a:rPr lang="en-US" altLang="zh-CN" dirty="0" smtClean="0">
                <a:solidFill>
                  <a:srgbClr val="0000FF"/>
                </a:solidFill>
              </a:rPr>
              <a:t>h(n)</a:t>
            </a:r>
            <a:r>
              <a:rPr lang="zh-CN" altLang="en-US" dirty="0" smtClean="0"/>
              <a:t>，则回溯法所需的计算空间通常为</a:t>
            </a:r>
            <a:r>
              <a:rPr lang="en-US" altLang="zh-CN" dirty="0" smtClean="0">
                <a:solidFill>
                  <a:srgbClr val="0000FF"/>
                </a:solidFill>
              </a:rPr>
              <a:t>O(h(n))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显式地存储整个解空间则需要</a:t>
            </a:r>
            <a:r>
              <a:rPr lang="en-US" altLang="zh-CN" dirty="0" smtClean="0">
                <a:solidFill>
                  <a:srgbClr val="0000FF"/>
                </a:solidFill>
              </a:rPr>
              <a:t>O(2</a:t>
            </a:r>
            <a:r>
              <a:rPr lang="en-US" altLang="zh-CN" baseline="30000" dirty="0" smtClean="0">
                <a:solidFill>
                  <a:srgbClr val="0000FF"/>
                </a:solidFill>
              </a:rPr>
              <a:t>h(n</a:t>
            </a:r>
            <a:r>
              <a:rPr lang="zh-CN" altLang="en-US" baseline="30000" dirty="0" smtClean="0">
                <a:solidFill>
                  <a:srgbClr val="0000FF"/>
                </a:solidFill>
              </a:rPr>
              <a:t>）</a:t>
            </a:r>
            <a:r>
              <a:rPr lang="en-US" altLang="zh-CN" dirty="0" smtClean="0">
                <a:solidFill>
                  <a:srgbClr val="0000FF"/>
                </a:solidFill>
              </a:rPr>
              <a:t>)</a:t>
            </a:r>
            <a:r>
              <a:rPr lang="zh-CN" altLang="en-US" dirty="0" smtClean="0"/>
              <a:t>或</a:t>
            </a:r>
            <a:r>
              <a:rPr lang="en-US" altLang="zh-CN" dirty="0" smtClean="0">
                <a:solidFill>
                  <a:srgbClr val="0000FF"/>
                </a:solidFill>
              </a:rPr>
              <a:t>O(h(n)!)</a:t>
            </a:r>
            <a:r>
              <a:rPr lang="zh-CN" altLang="en-US" dirty="0" smtClean="0"/>
              <a:t>内存空间。</a:t>
            </a:r>
            <a:endParaRPr lang="zh-CN" altLang="en-US" dirty="0" smtClean="0"/>
          </a:p>
        </p:txBody>
      </p:sp>
      <p:pic>
        <p:nvPicPr>
          <p:cNvPr id="15364" name="Picture 1" descr="D:\Temp\Temporary Internet Files\Content.IE5\0CU2I1O4\MCj04343770000[1].wm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313" y="4857750"/>
            <a:ext cx="1838325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生成问题状态的基本方法</a:t>
            </a:r>
            <a:endParaRPr lang="en-US" altLang="zh-CN" dirty="0" smtClean="0"/>
          </a:p>
          <a:p>
            <a:pPr lvl="1">
              <a:defRPr/>
            </a:pPr>
            <a:r>
              <a:rPr lang="zh-CN" altLang="en-US" dirty="0" smtClean="0"/>
              <a:t>扩展结点（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E-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结点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,Expansion Node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>
              <a:defRPr/>
            </a:pPr>
            <a:r>
              <a:rPr lang="zh-CN" altLang="en-US" dirty="0" smtClean="0"/>
              <a:t>一个</a:t>
            </a:r>
            <a:r>
              <a:rPr lang="zh-CN" altLang="en-US" b="1" dirty="0" smtClean="0">
                <a:solidFill>
                  <a:srgbClr val="0000FF"/>
                </a:solidFill>
              </a:rPr>
              <a:t>正在</a:t>
            </a:r>
            <a:r>
              <a:rPr lang="zh-CN" altLang="en-US" dirty="0" smtClean="0">
                <a:solidFill>
                  <a:srgbClr val="0000FF"/>
                </a:solidFill>
              </a:rPr>
              <a:t>产生儿子的结点</a:t>
            </a:r>
            <a:r>
              <a:rPr lang="zh-CN" altLang="en-US" dirty="0" smtClean="0"/>
              <a:t>称为</a:t>
            </a:r>
            <a:r>
              <a:rPr lang="zh-CN" altLang="en-US" dirty="0" smtClean="0">
                <a:solidFill>
                  <a:srgbClr val="0000FF"/>
                </a:solidFill>
              </a:rPr>
              <a:t>扩展结点</a:t>
            </a:r>
            <a:endParaRPr lang="zh-CN" altLang="en-US" dirty="0" smtClean="0">
              <a:solidFill>
                <a:srgbClr val="0000FF"/>
              </a:solidFill>
            </a:endParaRPr>
          </a:p>
          <a:p>
            <a:pPr lvl="1">
              <a:defRPr/>
            </a:pPr>
            <a:r>
              <a:rPr lang="zh-CN" altLang="en-US" dirty="0" smtClean="0"/>
              <a:t>活结点（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L-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结点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,Live Node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>
              <a:defRPr/>
            </a:pPr>
            <a:r>
              <a:rPr lang="zh-CN" altLang="en-US" dirty="0" smtClean="0"/>
              <a:t>一个</a:t>
            </a:r>
            <a:r>
              <a:rPr lang="zh-CN" altLang="en-US" dirty="0" smtClean="0">
                <a:solidFill>
                  <a:srgbClr val="0000FF"/>
                </a:solidFill>
              </a:rPr>
              <a:t>自身已生成</a:t>
            </a:r>
            <a:r>
              <a:rPr lang="zh-CN" altLang="en-US" dirty="0" smtClean="0"/>
              <a:t>但其</a:t>
            </a:r>
            <a:r>
              <a:rPr lang="zh-CN" altLang="en-US" dirty="0" smtClean="0">
                <a:solidFill>
                  <a:srgbClr val="0000FF"/>
                </a:solidFill>
              </a:rPr>
              <a:t>儿子还没有全部生成</a:t>
            </a:r>
            <a:r>
              <a:rPr lang="zh-CN" altLang="en-US" dirty="0" smtClean="0"/>
              <a:t>的节点称做</a:t>
            </a:r>
            <a:r>
              <a:rPr lang="zh-CN" altLang="en-US" dirty="0" smtClean="0">
                <a:solidFill>
                  <a:srgbClr val="0000FF"/>
                </a:solidFill>
              </a:rPr>
              <a:t>活结点</a:t>
            </a:r>
            <a:endParaRPr lang="zh-CN" altLang="en-US" dirty="0" smtClean="0">
              <a:solidFill>
                <a:srgbClr val="0000FF"/>
              </a:solidFill>
            </a:endParaRPr>
          </a:p>
          <a:p>
            <a:pPr lvl="1">
              <a:defRPr/>
            </a:pPr>
            <a:r>
              <a:rPr lang="zh-CN" altLang="en-US" dirty="0" smtClean="0"/>
              <a:t>死结点（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D-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结点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,Dead Node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>
              <a:defRPr/>
            </a:pPr>
            <a:r>
              <a:rPr lang="zh-CN" altLang="en-US" dirty="0" smtClean="0"/>
              <a:t>一个</a:t>
            </a:r>
            <a:r>
              <a:rPr lang="zh-CN" altLang="en-US" dirty="0" smtClean="0">
                <a:solidFill>
                  <a:srgbClr val="0000FF"/>
                </a:solidFill>
              </a:rPr>
              <a:t>所有儿子已经产生</a:t>
            </a:r>
            <a:r>
              <a:rPr lang="zh-CN" altLang="en-US" dirty="0" smtClean="0"/>
              <a:t>的结点称做</a:t>
            </a:r>
            <a:r>
              <a:rPr lang="zh-CN" altLang="en-US" dirty="0" smtClean="0">
                <a:solidFill>
                  <a:srgbClr val="0000FF"/>
                </a:solidFill>
              </a:rPr>
              <a:t>死结点</a:t>
            </a:r>
            <a:endParaRPr lang="zh-CN" altLang="en-US" dirty="0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smtClean="0"/>
              <a:t>深度优先的问题状态生成法</a:t>
            </a:r>
            <a:endParaRPr lang="en-US" altLang="zh-CN" smtClean="0"/>
          </a:p>
          <a:p>
            <a:pPr lvl="2"/>
            <a:r>
              <a:rPr lang="zh-CN" altLang="en-US" smtClean="0"/>
              <a:t>如果对一个</a:t>
            </a:r>
            <a:r>
              <a:rPr lang="zh-CN" altLang="en-US" b="1" smtClean="0">
                <a:solidFill>
                  <a:srgbClr val="0000FF"/>
                </a:solidFill>
              </a:rPr>
              <a:t>扩展结点</a:t>
            </a:r>
            <a:r>
              <a:rPr lang="en-US" altLang="zh-CN" b="1" smtClean="0">
                <a:solidFill>
                  <a:srgbClr val="0000FF"/>
                </a:solidFill>
              </a:rPr>
              <a:t>R</a:t>
            </a:r>
            <a:r>
              <a:rPr lang="zh-CN" altLang="en-US" smtClean="0"/>
              <a:t>，一旦产生了它的一个</a:t>
            </a:r>
            <a:r>
              <a:rPr lang="zh-CN" altLang="en-US" b="1" smtClean="0">
                <a:solidFill>
                  <a:srgbClr val="0000FF"/>
                </a:solidFill>
              </a:rPr>
              <a:t>儿子</a:t>
            </a:r>
            <a:r>
              <a:rPr lang="en-US" altLang="zh-CN" b="1" smtClean="0">
                <a:solidFill>
                  <a:srgbClr val="0000FF"/>
                </a:solidFill>
              </a:rPr>
              <a:t>C</a:t>
            </a:r>
            <a:r>
              <a:rPr lang="zh-CN" altLang="en-US" smtClean="0"/>
              <a:t>，就把</a:t>
            </a:r>
            <a:r>
              <a:rPr lang="en-US" altLang="zh-CN" smtClean="0">
                <a:solidFill>
                  <a:srgbClr val="0000FF"/>
                </a:solidFill>
              </a:rPr>
              <a:t>C</a:t>
            </a:r>
            <a:r>
              <a:rPr lang="zh-CN" altLang="en-US" smtClean="0"/>
              <a:t>当做新的</a:t>
            </a:r>
            <a:r>
              <a:rPr lang="zh-CN" altLang="en-US" smtClean="0">
                <a:solidFill>
                  <a:srgbClr val="0000FF"/>
                </a:solidFill>
              </a:rPr>
              <a:t>扩展结点</a:t>
            </a:r>
            <a:r>
              <a:rPr lang="zh-CN" altLang="en-US" smtClean="0"/>
              <a:t>。</a:t>
            </a:r>
            <a:endParaRPr lang="en-US" altLang="zh-CN" smtClean="0"/>
          </a:p>
          <a:p>
            <a:pPr lvl="2"/>
            <a:r>
              <a:rPr lang="zh-CN" altLang="en-US" smtClean="0"/>
              <a:t>在</a:t>
            </a:r>
            <a:r>
              <a:rPr lang="zh-CN" altLang="en-US" smtClean="0">
                <a:solidFill>
                  <a:srgbClr val="0000FF"/>
                </a:solidFill>
              </a:rPr>
              <a:t>完成</a:t>
            </a:r>
            <a:r>
              <a:rPr lang="zh-CN" altLang="en-US" smtClean="0"/>
              <a:t>对子树</a:t>
            </a:r>
            <a:r>
              <a:rPr lang="en-US" altLang="zh-CN" smtClean="0"/>
              <a:t>C</a:t>
            </a:r>
            <a:r>
              <a:rPr lang="zh-CN" altLang="en-US" smtClean="0"/>
              <a:t>（以</a:t>
            </a:r>
            <a:r>
              <a:rPr lang="en-US" altLang="zh-CN" smtClean="0"/>
              <a:t>C</a:t>
            </a:r>
            <a:r>
              <a:rPr lang="zh-CN" altLang="en-US" smtClean="0"/>
              <a:t>为根的子树）的</a:t>
            </a:r>
            <a:r>
              <a:rPr lang="zh-CN" altLang="en-US" smtClean="0">
                <a:solidFill>
                  <a:srgbClr val="0000FF"/>
                </a:solidFill>
              </a:rPr>
              <a:t>穷尽搜索</a:t>
            </a:r>
            <a:r>
              <a:rPr lang="zh-CN" altLang="en-US" smtClean="0"/>
              <a:t>之后，将</a:t>
            </a:r>
            <a:r>
              <a:rPr lang="en-US" altLang="zh-CN" smtClean="0">
                <a:solidFill>
                  <a:srgbClr val="0000FF"/>
                </a:solidFill>
              </a:rPr>
              <a:t>R</a:t>
            </a:r>
            <a:r>
              <a:rPr lang="zh-CN" altLang="en-US" smtClean="0"/>
              <a:t>重新变成</a:t>
            </a:r>
            <a:r>
              <a:rPr lang="zh-CN" altLang="en-US" smtClean="0">
                <a:solidFill>
                  <a:srgbClr val="0000FF"/>
                </a:solidFill>
              </a:rPr>
              <a:t>扩展结点</a:t>
            </a:r>
            <a:r>
              <a:rPr lang="zh-CN" altLang="en-US" smtClean="0"/>
              <a:t>，继续生成</a:t>
            </a:r>
            <a:r>
              <a:rPr lang="en-US" altLang="zh-CN" smtClean="0"/>
              <a:t>R</a:t>
            </a:r>
            <a:r>
              <a:rPr lang="zh-CN" altLang="en-US" smtClean="0"/>
              <a:t>的下一个儿子（如果存在）。</a:t>
            </a:r>
            <a:endParaRPr lang="zh-CN" altLang="en-US" smtClean="0"/>
          </a:p>
          <a:p>
            <a:pPr lvl="1"/>
            <a:r>
              <a:rPr lang="zh-CN" altLang="en-US" smtClean="0"/>
              <a:t>宽度优先的问题状态生成法</a:t>
            </a:r>
            <a:endParaRPr lang="en-US" altLang="zh-CN" smtClean="0"/>
          </a:p>
          <a:p>
            <a:pPr lvl="2"/>
            <a:r>
              <a:rPr lang="zh-CN" altLang="en-US" smtClean="0"/>
              <a:t>一个扩展结点变成死结点之前，它一直是扩展结点。</a:t>
            </a:r>
            <a:endParaRPr lang="en-US" altLang="zh-CN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zh-CN" altLang="en-US" dirty="0" smtClean="0"/>
              <a:t>回溯法</a:t>
            </a:r>
            <a:endParaRPr lang="en-US" altLang="zh-CN" dirty="0" smtClean="0"/>
          </a:p>
          <a:p>
            <a:pPr lvl="2">
              <a:defRPr/>
            </a:pPr>
            <a:r>
              <a:rPr lang="zh-CN" altLang="en-US" dirty="0" smtClean="0"/>
              <a:t>为了避免生成那些不可能产生最佳解的问题状态，要不断地利用</a:t>
            </a:r>
            <a:r>
              <a:rPr lang="zh-CN" altLang="en-US" dirty="0" smtClean="0">
                <a:solidFill>
                  <a:srgbClr val="0000FF"/>
                </a:solidFill>
              </a:rPr>
              <a:t>限界函数</a:t>
            </a:r>
            <a:r>
              <a:rPr lang="en-US" altLang="zh-CN" dirty="0" smtClean="0">
                <a:solidFill>
                  <a:srgbClr val="FF0000"/>
                </a:solidFill>
              </a:rPr>
              <a:t>(Bounding Function)</a:t>
            </a:r>
            <a:r>
              <a:rPr lang="zh-CN" altLang="en-US" dirty="0" smtClean="0"/>
              <a:t>来处死那些实际上不可能产生所需解的活结点，以减少问题的计算量。</a:t>
            </a:r>
            <a:endParaRPr lang="en-US" altLang="zh-CN" dirty="0" smtClean="0"/>
          </a:p>
          <a:p>
            <a:pPr lvl="2">
              <a:defRPr/>
            </a:pPr>
            <a:r>
              <a:rPr lang="zh-CN" altLang="en-US" dirty="0" smtClean="0"/>
              <a:t>具有</a:t>
            </a:r>
            <a:r>
              <a:rPr lang="zh-CN" altLang="en-US" dirty="0" smtClean="0">
                <a:solidFill>
                  <a:srgbClr val="0000FF"/>
                </a:solidFill>
              </a:rPr>
              <a:t>限界函数</a:t>
            </a:r>
            <a:r>
              <a:rPr lang="zh-CN" altLang="en-US" dirty="0" smtClean="0"/>
              <a:t>的深度优先生成法称为</a:t>
            </a:r>
            <a:r>
              <a:rPr lang="zh-CN" altLang="en-US" sz="4000" b="1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回溯法。</a:t>
            </a:r>
            <a:endParaRPr lang="zh-CN" altLang="en-US" b="1" dirty="0">
              <a:solidFill>
                <a:srgbClr val="FF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0-1</a:t>
            </a:r>
            <a:r>
              <a:rPr lang="zh-CN" altLang="en-US" smtClean="0"/>
              <a:t>背包问题</a:t>
            </a:r>
            <a:endParaRPr lang="en-US" altLang="zh-CN" smtClean="0"/>
          </a:p>
          <a:p>
            <a:pPr lvl="1"/>
            <a:r>
              <a:rPr lang="en-US" altLang="zh-CN" smtClean="0"/>
              <a:t>n=3, </a:t>
            </a:r>
            <a:r>
              <a:rPr lang="en-US" altLang="zh-CN" smtClean="0">
                <a:solidFill>
                  <a:srgbClr val="FF0000"/>
                </a:solidFill>
              </a:rPr>
              <a:t>C=30</a:t>
            </a:r>
            <a:r>
              <a:rPr lang="en-US" altLang="zh-CN" smtClean="0"/>
              <a:t>, </a:t>
            </a:r>
            <a:r>
              <a:rPr lang="en-US" altLang="zh-CN" smtClean="0">
                <a:solidFill>
                  <a:srgbClr val="0000FF"/>
                </a:solidFill>
              </a:rPr>
              <a:t>w={16, 15, 15}</a:t>
            </a:r>
            <a:r>
              <a:rPr lang="en-US" altLang="zh-CN" smtClean="0"/>
              <a:t>, </a:t>
            </a:r>
            <a:r>
              <a:rPr lang="en-US" altLang="zh-CN" smtClean="0">
                <a:solidFill>
                  <a:srgbClr val="FF0000"/>
                </a:solidFill>
              </a:rPr>
              <a:t>v={45,25,25}</a:t>
            </a:r>
            <a:endParaRPr lang="en-US" altLang="zh-CN" smtClean="0">
              <a:solidFill>
                <a:srgbClr val="FF0000"/>
              </a:solidFill>
            </a:endParaRPr>
          </a:p>
          <a:p>
            <a:pPr lvl="1"/>
            <a:r>
              <a:rPr lang="zh-CN" altLang="en-US" smtClean="0"/>
              <a:t>开始时，</a:t>
            </a:r>
            <a:endParaRPr lang="en-US" altLang="zh-CN" smtClean="0"/>
          </a:p>
          <a:p>
            <a:pPr lvl="2"/>
            <a:r>
              <a:rPr lang="en-US" altLang="zh-CN" b="1" smtClean="0">
                <a:solidFill>
                  <a:srgbClr val="0000FF"/>
                </a:solidFill>
              </a:rPr>
              <a:t>Cr=C=30</a:t>
            </a:r>
            <a:r>
              <a:rPr lang="zh-CN" altLang="en-US" b="1" smtClean="0">
                <a:solidFill>
                  <a:srgbClr val="0000FF"/>
                </a:solidFill>
              </a:rPr>
              <a:t>，</a:t>
            </a:r>
            <a:r>
              <a:rPr lang="en-US" altLang="zh-CN" b="1" smtClean="0">
                <a:solidFill>
                  <a:srgbClr val="0000FF"/>
                </a:solidFill>
              </a:rPr>
              <a:t>V=0</a:t>
            </a:r>
            <a:endParaRPr lang="en-US" altLang="zh-CN" b="1" smtClean="0">
              <a:solidFill>
                <a:srgbClr val="0000FF"/>
              </a:solidFill>
            </a:endParaRPr>
          </a:p>
          <a:p>
            <a:pPr lvl="3"/>
            <a:r>
              <a:rPr lang="en-US" altLang="zh-CN" smtClean="0">
                <a:solidFill>
                  <a:srgbClr val="FF0000"/>
                </a:solidFill>
              </a:rPr>
              <a:t>C</a:t>
            </a:r>
            <a:r>
              <a:rPr lang="zh-CN" altLang="en-US" smtClean="0">
                <a:solidFill>
                  <a:srgbClr val="FF0000"/>
                </a:solidFill>
              </a:rPr>
              <a:t>为容量，</a:t>
            </a:r>
            <a:r>
              <a:rPr lang="en-US" altLang="zh-CN" smtClean="0">
                <a:solidFill>
                  <a:srgbClr val="FF0000"/>
                </a:solidFill>
              </a:rPr>
              <a:t>Cr</a:t>
            </a:r>
            <a:r>
              <a:rPr lang="zh-CN" altLang="en-US" smtClean="0">
                <a:solidFill>
                  <a:srgbClr val="FF0000"/>
                </a:solidFill>
              </a:rPr>
              <a:t>为剩余空间，</a:t>
            </a:r>
            <a:r>
              <a:rPr lang="en-US" altLang="zh-CN" smtClean="0">
                <a:solidFill>
                  <a:srgbClr val="FF0000"/>
                </a:solidFill>
              </a:rPr>
              <a:t>V</a:t>
            </a:r>
            <a:r>
              <a:rPr lang="zh-CN" altLang="en-US" smtClean="0">
                <a:solidFill>
                  <a:srgbClr val="FF0000"/>
                </a:solidFill>
              </a:rPr>
              <a:t>为价值。</a:t>
            </a:r>
            <a:endParaRPr lang="en-US" altLang="zh-CN" smtClean="0"/>
          </a:p>
          <a:p>
            <a:pPr lvl="2"/>
            <a:r>
              <a:rPr lang="en-US" altLang="zh-CN" smtClean="0">
                <a:solidFill>
                  <a:srgbClr val="FF0000"/>
                </a:solidFill>
              </a:rPr>
              <a:t>A</a:t>
            </a:r>
            <a:r>
              <a:rPr lang="zh-CN" altLang="en-US" smtClean="0"/>
              <a:t>为唯一活结点，也是当前</a:t>
            </a:r>
            <a:r>
              <a:rPr lang="zh-CN" altLang="en-US" smtClean="0">
                <a:solidFill>
                  <a:srgbClr val="FF0000"/>
                </a:solidFill>
              </a:rPr>
              <a:t>扩展结点。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071688" y="4071938"/>
          <a:ext cx="4643437" cy="259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4" name="Visio" r:id="rId1" imgW="3531235" imgH="1976120" progId="">
                  <p:embed/>
                </p:oleObj>
              </mc:Choice>
              <mc:Fallback>
                <p:oleObj name="Visio" r:id="rId1" imgW="3531235" imgH="197612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4071938"/>
                        <a:ext cx="4643437" cy="2598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8345488" cy="728663"/>
          </a:xfrm>
        </p:spPr>
        <p:txBody>
          <a:bodyPr/>
          <a:lstStyle/>
          <a:p>
            <a:r>
              <a:rPr lang="en-US" altLang="zh-CN" smtClean="0"/>
              <a:t>n=3, </a:t>
            </a:r>
            <a:r>
              <a:rPr lang="en-US" altLang="zh-CN" smtClean="0">
                <a:solidFill>
                  <a:srgbClr val="FF0000"/>
                </a:solidFill>
              </a:rPr>
              <a:t>C=30</a:t>
            </a:r>
            <a:r>
              <a:rPr lang="en-US" altLang="zh-CN" smtClean="0"/>
              <a:t>, </a:t>
            </a:r>
            <a:r>
              <a:rPr lang="en-US" altLang="zh-CN" smtClean="0">
                <a:solidFill>
                  <a:srgbClr val="0000FF"/>
                </a:solidFill>
              </a:rPr>
              <a:t>w={16,15,15}</a:t>
            </a:r>
            <a:r>
              <a:rPr lang="en-US" altLang="zh-CN" smtClean="0"/>
              <a:t>, </a:t>
            </a:r>
            <a:r>
              <a:rPr lang="en-US" altLang="zh-CN" smtClean="0">
                <a:solidFill>
                  <a:srgbClr val="FF0000"/>
                </a:solidFill>
              </a:rPr>
              <a:t>v={45,25,25}</a:t>
            </a:r>
            <a:endParaRPr lang="zh-CN" altLang="en-US" smtClean="0"/>
          </a:p>
        </p:txBody>
      </p:sp>
      <p:grpSp>
        <p:nvGrpSpPr>
          <p:cNvPr id="96" name="组合 95"/>
          <p:cNvGrpSpPr/>
          <p:nvPr/>
        </p:nvGrpSpPr>
        <p:grpSpPr bwMode="auto">
          <a:xfrm>
            <a:off x="3857625" y="1785938"/>
            <a:ext cx="2347913" cy="649287"/>
            <a:chOff x="3857620" y="1785926"/>
            <a:chExt cx="2347255" cy="649288"/>
          </a:xfrm>
        </p:grpSpPr>
        <p:sp>
          <p:nvSpPr>
            <p:cNvPr id="44" name="Oval 62"/>
            <p:cNvSpPr>
              <a:spLocks noChangeArrowheads="1"/>
            </p:cNvSpPr>
            <p:nvPr/>
          </p:nvSpPr>
          <p:spPr bwMode="auto">
            <a:xfrm>
              <a:off x="3857620" y="1785926"/>
              <a:ext cx="649288" cy="649288"/>
            </a:xfrm>
            <a:prstGeom prst="ellipse">
              <a:avLst/>
            </a:prstGeom>
            <a:solidFill>
              <a:srgbClr val="0070C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/>
                <a:t>A</a:t>
              </a:r>
              <a:endParaRPr lang="en-US" altLang="zh-CN" sz="2000" b="1" dirty="0"/>
            </a:p>
          </p:txBody>
        </p:sp>
        <p:sp>
          <p:nvSpPr>
            <p:cNvPr id="20516" name="Text Box 65"/>
            <p:cNvSpPr txBox="1">
              <a:spLocks noChangeArrowheads="1"/>
            </p:cNvSpPr>
            <p:nvPr/>
          </p:nvSpPr>
          <p:spPr bwMode="auto">
            <a:xfrm>
              <a:off x="4500562" y="1857364"/>
              <a:ext cx="170431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C</a:t>
              </a:r>
              <a:r>
                <a:rPr lang="en-US" altLang="zh-CN" sz="2000" b="1" baseline="-25000">
                  <a:solidFill>
                    <a:srgbClr val="0000FF"/>
                  </a:solidFill>
                </a:rPr>
                <a:t>r</a:t>
              </a:r>
              <a:r>
                <a:rPr lang="en-US" altLang="zh-CN" sz="2000" b="1">
                  <a:solidFill>
                    <a:srgbClr val="0000FF"/>
                  </a:solidFill>
                </a:rPr>
                <a:t>=C=30,V=0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97" name="组合 96"/>
          <p:cNvGrpSpPr/>
          <p:nvPr/>
        </p:nvGrpSpPr>
        <p:grpSpPr bwMode="auto">
          <a:xfrm>
            <a:off x="571500" y="2428875"/>
            <a:ext cx="2095500" cy="903288"/>
            <a:chOff x="571472" y="2428868"/>
            <a:chExt cx="2095557" cy="903316"/>
          </a:xfrm>
        </p:grpSpPr>
        <p:sp>
          <p:nvSpPr>
            <p:cNvPr id="46" name="Oval 64"/>
            <p:cNvSpPr>
              <a:spLocks noChangeArrowheads="1"/>
            </p:cNvSpPr>
            <p:nvPr/>
          </p:nvSpPr>
          <p:spPr bwMode="auto">
            <a:xfrm>
              <a:off x="2017742" y="2682896"/>
              <a:ext cx="649287" cy="649288"/>
            </a:xfrm>
            <a:prstGeom prst="ellipse">
              <a:avLst/>
            </a:prstGeom>
            <a:solidFill>
              <a:srgbClr val="0070C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/>
                <a:t>B</a:t>
              </a:r>
              <a:endParaRPr lang="en-US" altLang="zh-CN" sz="2000" b="1" dirty="0"/>
            </a:p>
          </p:txBody>
        </p:sp>
        <p:sp>
          <p:nvSpPr>
            <p:cNvPr id="20512" name="Text Box 66"/>
            <p:cNvSpPr txBox="1">
              <a:spLocks noChangeArrowheads="1"/>
            </p:cNvSpPr>
            <p:nvPr/>
          </p:nvSpPr>
          <p:spPr bwMode="auto">
            <a:xfrm>
              <a:off x="571472" y="2428868"/>
              <a:ext cx="153760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w</a:t>
              </a:r>
              <a:r>
                <a:rPr lang="en-US" altLang="zh-CN" sz="2000" b="1" baseline="-25000">
                  <a:solidFill>
                    <a:srgbClr val="0000FF"/>
                  </a:solidFill>
                </a:rPr>
                <a:t>1</a:t>
              </a:r>
              <a:r>
                <a:rPr lang="en-US" altLang="zh-CN" sz="2000" b="1">
                  <a:solidFill>
                    <a:srgbClr val="0000FF"/>
                  </a:solidFill>
                </a:rPr>
                <a:t>=16,v</a:t>
              </a:r>
              <a:r>
                <a:rPr lang="en-US" altLang="zh-CN" sz="2000" b="1" baseline="-25000">
                  <a:solidFill>
                    <a:srgbClr val="0000FF"/>
                  </a:solidFill>
                </a:rPr>
                <a:t>1</a:t>
              </a:r>
              <a:r>
                <a:rPr lang="en-US" altLang="zh-CN" sz="2000" b="1">
                  <a:solidFill>
                    <a:srgbClr val="0000FF"/>
                  </a:solidFill>
                </a:rPr>
                <a:t>=45</a:t>
              </a:r>
              <a:endParaRPr lang="en-US" altLang="zh-CN" sz="2000" b="1">
                <a:solidFill>
                  <a:srgbClr val="0000FF"/>
                </a:solidFill>
              </a:endParaRPr>
            </a:p>
            <a:p>
              <a:r>
                <a:rPr lang="en-US" altLang="zh-CN" sz="2000" b="1">
                  <a:solidFill>
                    <a:srgbClr val="0000FF"/>
                  </a:solidFill>
                </a:rPr>
                <a:t>C</a:t>
              </a:r>
              <a:r>
                <a:rPr lang="en-US" altLang="zh-CN" sz="2000" b="1" baseline="-25000">
                  <a:solidFill>
                    <a:srgbClr val="0000FF"/>
                  </a:solidFill>
                </a:rPr>
                <a:t>r</a:t>
              </a:r>
              <a:r>
                <a:rPr lang="en-US" altLang="zh-CN" sz="2000" b="1">
                  <a:solidFill>
                    <a:srgbClr val="0000FF"/>
                  </a:solidFill>
                </a:rPr>
                <a:t>=14,V=45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</p:grpSp>
      <p:cxnSp>
        <p:nvCxnSpPr>
          <p:cNvPr id="75" name="直接连接符 74"/>
          <p:cNvCxnSpPr>
            <a:cxnSpLocks noChangeShapeType="1"/>
            <a:stCxn id="0" idx="2"/>
            <a:endCxn id="0" idx="7"/>
          </p:cNvCxnSpPr>
          <p:nvPr/>
        </p:nvCxnSpPr>
        <p:spPr bwMode="auto">
          <a:xfrm rot="10800000" flipV="1">
            <a:off x="2571750" y="2109788"/>
            <a:ext cx="1285875" cy="668337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sp>
        <p:nvSpPr>
          <p:cNvPr id="84" name="圆角矩形标注 83"/>
          <p:cNvSpPr/>
          <p:nvPr/>
        </p:nvSpPr>
        <p:spPr bwMode="auto">
          <a:xfrm>
            <a:off x="4143372" y="2571744"/>
            <a:ext cx="3500462" cy="1500198"/>
          </a:xfrm>
          <a:prstGeom prst="wedgeRoundRectCallout">
            <a:avLst>
              <a:gd name="adj1" fmla="val -66382"/>
              <a:gd name="adj2" fmla="val -26469"/>
              <a:gd name="adj3" fmla="val 16667"/>
            </a:avLst>
          </a:prstGeom>
          <a:solidFill>
            <a:srgbClr val="CCFF99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扩展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，先到达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结点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Cr=Cr-w1=14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V=V+v1=45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此时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为活结点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成为当前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</a:rPr>
              <a:t>扩展结点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5" name="圆角矩形标注 84"/>
          <p:cNvSpPr/>
          <p:nvPr/>
        </p:nvSpPr>
        <p:spPr bwMode="auto">
          <a:xfrm>
            <a:off x="4214810" y="4214818"/>
            <a:ext cx="3429024" cy="1500198"/>
          </a:xfrm>
          <a:prstGeom prst="wedgeRoundRectCallout">
            <a:avLst>
              <a:gd name="adj1" fmla="val -74028"/>
              <a:gd name="adj2" fmla="val -26469"/>
              <a:gd name="adj3" fmla="val 16667"/>
            </a:avLst>
          </a:prstGeom>
          <a:solidFill>
            <a:srgbClr val="CCFF99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扩展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，先到达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D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Cr&lt;w2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D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导致一个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</a:rPr>
              <a:t>不可行解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回溯到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B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99" name="组合 98"/>
          <p:cNvGrpSpPr/>
          <p:nvPr/>
        </p:nvGrpSpPr>
        <p:grpSpPr bwMode="auto">
          <a:xfrm>
            <a:off x="1370013" y="3763963"/>
            <a:ext cx="1776412" cy="873125"/>
            <a:chOff x="1370042" y="3763983"/>
            <a:chExt cx="1775752" cy="872969"/>
          </a:xfrm>
        </p:grpSpPr>
        <p:sp>
          <p:nvSpPr>
            <p:cNvPr id="86" name="Oval 71"/>
            <p:cNvSpPr>
              <a:spLocks noChangeArrowheads="1"/>
            </p:cNvSpPr>
            <p:nvPr/>
          </p:nvSpPr>
          <p:spPr bwMode="auto">
            <a:xfrm>
              <a:off x="1370042" y="3763983"/>
              <a:ext cx="649287" cy="649288"/>
            </a:xfrm>
            <a:prstGeom prst="ellipse">
              <a:avLst/>
            </a:prstGeom>
            <a:solidFill>
              <a:srgbClr val="0070C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/>
                <a:t>D</a:t>
              </a:r>
              <a:endParaRPr lang="en-US" altLang="zh-CN" sz="2000" b="1"/>
            </a:p>
          </p:txBody>
        </p:sp>
        <p:sp>
          <p:nvSpPr>
            <p:cNvPr id="20508" name="Text Box 72"/>
            <p:cNvSpPr txBox="1">
              <a:spLocks noChangeArrowheads="1"/>
            </p:cNvSpPr>
            <p:nvPr/>
          </p:nvSpPr>
          <p:spPr bwMode="auto">
            <a:xfrm>
              <a:off x="1928794" y="3929066"/>
              <a:ext cx="121700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FF0000"/>
                  </a:solidFill>
                </a:rPr>
                <a:t>C</a:t>
              </a:r>
              <a:r>
                <a:rPr lang="en-US" altLang="zh-CN" sz="2000" b="1" baseline="-25000">
                  <a:solidFill>
                    <a:srgbClr val="FF0000"/>
                  </a:solidFill>
                </a:rPr>
                <a:t>r</a:t>
              </a:r>
              <a:r>
                <a:rPr lang="en-US" altLang="zh-CN" sz="2000" b="1">
                  <a:solidFill>
                    <a:srgbClr val="FF0000"/>
                  </a:solidFill>
                </a:rPr>
                <a:t>&lt;w</a:t>
              </a:r>
              <a:r>
                <a:rPr lang="en-US" altLang="zh-CN" sz="2000" b="1" baseline="-25000">
                  <a:solidFill>
                    <a:srgbClr val="FF0000"/>
                  </a:solidFill>
                </a:rPr>
                <a:t>2</a:t>
              </a:r>
              <a:endParaRPr lang="en-US" altLang="zh-CN" sz="2000" b="1" baseline="-25000">
                <a:solidFill>
                  <a:srgbClr val="FF0000"/>
                </a:solidFill>
              </a:endParaRPr>
            </a:p>
            <a:p>
              <a:r>
                <a:rPr lang="zh-CN" altLang="en-US" sz="2000" b="1">
                  <a:solidFill>
                    <a:srgbClr val="FF0000"/>
                  </a:solidFill>
                  <a:ea typeface="楷体_GB2312" pitchFamily="49" charset="-122"/>
                </a:rPr>
                <a:t>不可行解</a:t>
              </a:r>
              <a:endParaRPr lang="zh-CN" altLang="en-US" sz="20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</p:grpSp>
      <p:cxnSp>
        <p:nvCxnSpPr>
          <p:cNvPr id="89" name="直接连接符 88"/>
          <p:cNvCxnSpPr>
            <a:cxnSpLocks noChangeShapeType="1"/>
            <a:stCxn id="0" idx="3"/>
            <a:endCxn id="0" idx="0"/>
          </p:cNvCxnSpPr>
          <p:nvPr/>
        </p:nvCxnSpPr>
        <p:spPr bwMode="auto">
          <a:xfrm rot="5400000">
            <a:off x="1640682" y="3291681"/>
            <a:ext cx="527050" cy="417513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grpSp>
        <p:nvGrpSpPr>
          <p:cNvPr id="98" name="组合 97"/>
          <p:cNvGrpSpPr/>
          <p:nvPr/>
        </p:nvGrpSpPr>
        <p:grpSpPr bwMode="auto">
          <a:xfrm>
            <a:off x="785813" y="4411663"/>
            <a:ext cx="1506537" cy="2024062"/>
            <a:chOff x="785786" y="4411683"/>
            <a:chExt cx="1506544" cy="2024059"/>
          </a:xfrm>
        </p:grpSpPr>
        <p:sp>
          <p:nvSpPr>
            <p:cNvPr id="91" name="Oval 88"/>
            <p:cNvSpPr>
              <a:spLocks noChangeArrowheads="1"/>
            </p:cNvSpPr>
            <p:nvPr/>
          </p:nvSpPr>
          <p:spPr bwMode="auto">
            <a:xfrm>
              <a:off x="785786" y="5780108"/>
              <a:ext cx="649288" cy="649288"/>
            </a:xfrm>
            <a:prstGeom prst="ellipse">
              <a:avLst/>
            </a:prstGeom>
            <a:solidFill>
              <a:srgbClr val="FF66FF"/>
            </a:solidFill>
            <a:ln w="19050">
              <a:solidFill>
                <a:srgbClr val="FF0000"/>
              </a:solidFill>
              <a:prstDash val="lgDash"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/>
                <a:t>H</a:t>
              </a:r>
              <a:endParaRPr lang="en-US" altLang="zh-CN" sz="2000" b="1"/>
            </a:p>
          </p:txBody>
        </p:sp>
        <p:sp>
          <p:nvSpPr>
            <p:cNvPr id="92" name="Oval 89"/>
            <p:cNvSpPr>
              <a:spLocks noChangeArrowheads="1"/>
            </p:cNvSpPr>
            <p:nvPr/>
          </p:nvSpPr>
          <p:spPr bwMode="auto">
            <a:xfrm>
              <a:off x="1643042" y="5786454"/>
              <a:ext cx="649288" cy="649288"/>
            </a:xfrm>
            <a:prstGeom prst="ellipse">
              <a:avLst/>
            </a:prstGeom>
            <a:solidFill>
              <a:srgbClr val="FF66FF"/>
            </a:solidFill>
            <a:ln w="19050">
              <a:solidFill>
                <a:srgbClr val="FF0000"/>
              </a:solidFill>
              <a:prstDash val="lgDash"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/>
                <a:t>I</a:t>
              </a:r>
              <a:endParaRPr lang="en-US" altLang="zh-CN" sz="2000" b="1"/>
            </a:p>
          </p:txBody>
        </p:sp>
        <p:sp>
          <p:nvSpPr>
            <p:cNvPr id="20503" name="Line 90"/>
            <p:cNvSpPr>
              <a:spLocks noChangeShapeType="1"/>
            </p:cNvSpPr>
            <p:nvPr/>
          </p:nvSpPr>
          <p:spPr bwMode="auto">
            <a:xfrm flipH="1">
              <a:off x="1071538" y="4429132"/>
              <a:ext cx="500066" cy="135732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Line 91"/>
            <p:cNvSpPr>
              <a:spLocks noChangeShapeType="1"/>
            </p:cNvSpPr>
            <p:nvPr/>
          </p:nvSpPr>
          <p:spPr bwMode="auto">
            <a:xfrm>
              <a:off x="1730405" y="4411683"/>
              <a:ext cx="198389" cy="144620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5" name="Freeform 86"/>
          <p:cNvSpPr/>
          <p:nvPr/>
        </p:nvSpPr>
        <p:spPr bwMode="auto">
          <a:xfrm>
            <a:off x="1946275" y="3332163"/>
            <a:ext cx="503238" cy="576262"/>
          </a:xfrm>
          <a:custGeom>
            <a:avLst/>
            <a:gdLst>
              <a:gd name="T0" fmla="*/ 0 w 317"/>
              <a:gd name="T1" fmla="*/ 363 h 363"/>
              <a:gd name="T2" fmla="*/ 272 w 317"/>
              <a:gd name="T3" fmla="*/ 181 h 363"/>
              <a:gd name="T4" fmla="*/ 272 w 317"/>
              <a:gd name="T5" fmla="*/ 0 h 36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7" h="363">
                <a:moveTo>
                  <a:pt x="0" y="363"/>
                </a:moveTo>
                <a:cubicBezTo>
                  <a:pt x="113" y="302"/>
                  <a:pt x="227" y="241"/>
                  <a:pt x="272" y="181"/>
                </a:cubicBezTo>
                <a:cubicBezTo>
                  <a:pt x="317" y="121"/>
                  <a:pt x="272" y="30"/>
                  <a:pt x="272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9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altLang="zh-CN" smtClean="0"/>
              <a:t>n=3, </a:t>
            </a:r>
            <a:r>
              <a:rPr lang="en-US" altLang="zh-CN" smtClean="0">
                <a:solidFill>
                  <a:srgbClr val="FF0000"/>
                </a:solidFill>
              </a:rPr>
              <a:t>C=30</a:t>
            </a:r>
            <a:r>
              <a:rPr lang="en-US" altLang="zh-CN" smtClean="0"/>
              <a:t>, </a:t>
            </a:r>
            <a:r>
              <a:rPr lang="en-US" altLang="zh-CN" smtClean="0">
                <a:solidFill>
                  <a:srgbClr val="0000FF"/>
                </a:solidFill>
              </a:rPr>
              <a:t>w={16,15,15}</a:t>
            </a:r>
            <a:r>
              <a:rPr lang="en-US" altLang="zh-CN" smtClean="0"/>
              <a:t>, </a:t>
            </a:r>
            <a:r>
              <a:rPr lang="en-US" altLang="zh-CN" smtClean="0">
                <a:solidFill>
                  <a:srgbClr val="FF0000"/>
                </a:solidFill>
              </a:rPr>
              <a:t>v={45,25,25}</a:t>
            </a:r>
            <a:endParaRPr lang="zh-CN" altLang="en-US" smtClean="0"/>
          </a:p>
        </p:txBody>
      </p:sp>
      <p:sp>
        <p:nvSpPr>
          <p:cNvPr id="44" name="Oval 62"/>
          <p:cNvSpPr>
            <a:spLocks noChangeArrowheads="1"/>
          </p:cNvSpPr>
          <p:nvPr/>
        </p:nvSpPr>
        <p:spPr bwMode="auto">
          <a:xfrm>
            <a:off x="3857620" y="1785926"/>
            <a:ext cx="649288" cy="649288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/>
              <a:t>A</a:t>
            </a:r>
            <a:endParaRPr lang="en-US" altLang="zh-CN" sz="2000" b="1" dirty="0"/>
          </a:p>
        </p:txBody>
      </p:sp>
      <p:sp>
        <p:nvSpPr>
          <p:cNvPr id="21511" name="Text Box 65"/>
          <p:cNvSpPr txBox="1">
            <a:spLocks noChangeArrowheads="1"/>
          </p:cNvSpPr>
          <p:nvPr/>
        </p:nvSpPr>
        <p:spPr bwMode="auto">
          <a:xfrm>
            <a:off x="4500563" y="1857375"/>
            <a:ext cx="1704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0000FF"/>
                </a:solidFill>
              </a:rPr>
              <a:t>C</a:t>
            </a:r>
            <a:r>
              <a:rPr lang="en-US" altLang="zh-CN" sz="2000" b="1" baseline="-25000">
                <a:solidFill>
                  <a:srgbClr val="0000FF"/>
                </a:solidFill>
              </a:rPr>
              <a:t>r</a:t>
            </a:r>
            <a:r>
              <a:rPr lang="en-US" altLang="zh-CN" sz="2000" b="1">
                <a:solidFill>
                  <a:srgbClr val="0000FF"/>
                </a:solidFill>
              </a:rPr>
              <a:t>=C=30,V=0</a:t>
            </a:r>
            <a:endParaRPr lang="en-US" altLang="zh-CN" sz="2000" b="1">
              <a:solidFill>
                <a:srgbClr val="0000FF"/>
              </a:solidFill>
            </a:endParaRPr>
          </a:p>
        </p:txBody>
      </p:sp>
      <p:sp>
        <p:nvSpPr>
          <p:cNvPr id="46" name="Oval 64"/>
          <p:cNvSpPr>
            <a:spLocks noChangeArrowheads="1"/>
          </p:cNvSpPr>
          <p:nvPr/>
        </p:nvSpPr>
        <p:spPr bwMode="auto">
          <a:xfrm>
            <a:off x="2017742" y="2682896"/>
            <a:ext cx="649287" cy="649288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/>
              <a:t>B</a:t>
            </a:r>
            <a:endParaRPr lang="en-US" altLang="zh-CN" sz="2000" b="1" dirty="0"/>
          </a:p>
        </p:txBody>
      </p:sp>
      <p:sp>
        <p:nvSpPr>
          <p:cNvPr id="21515" name="Text Box 66"/>
          <p:cNvSpPr txBox="1">
            <a:spLocks noChangeArrowheads="1"/>
          </p:cNvSpPr>
          <p:nvPr/>
        </p:nvSpPr>
        <p:spPr bwMode="auto">
          <a:xfrm>
            <a:off x="571500" y="2428875"/>
            <a:ext cx="15382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0000FF"/>
                </a:solidFill>
              </a:rPr>
              <a:t>w</a:t>
            </a:r>
            <a:r>
              <a:rPr lang="en-US" altLang="zh-CN" sz="2000" b="1" baseline="-25000">
                <a:solidFill>
                  <a:srgbClr val="0000FF"/>
                </a:solidFill>
              </a:rPr>
              <a:t>1</a:t>
            </a:r>
            <a:r>
              <a:rPr lang="en-US" altLang="zh-CN" sz="2000" b="1">
                <a:solidFill>
                  <a:srgbClr val="0000FF"/>
                </a:solidFill>
              </a:rPr>
              <a:t>=16,v</a:t>
            </a:r>
            <a:r>
              <a:rPr lang="en-US" altLang="zh-CN" sz="2000" b="1" baseline="-25000">
                <a:solidFill>
                  <a:srgbClr val="0000FF"/>
                </a:solidFill>
              </a:rPr>
              <a:t>1</a:t>
            </a:r>
            <a:r>
              <a:rPr lang="en-US" altLang="zh-CN" sz="2000" b="1">
                <a:solidFill>
                  <a:srgbClr val="0000FF"/>
                </a:solidFill>
              </a:rPr>
              <a:t>=45</a:t>
            </a:r>
            <a:endParaRPr lang="en-US" altLang="zh-CN" sz="2000" b="1">
              <a:solidFill>
                <a:srgbClr val="0000FF"/>
              </a:solidFill>
            </a:endParaRPr>
          </a:p>
          <a:p>
            <a:r>
              <a:rPr lang="en-US" altLang="zh-CN" sz="2000" b="1">
                <a:solidFill>
                  <a:srgbClr val="0000FF"/>
                </a:solidFill>
              </a:rPr>
              <a:t>C</a:t>
            </a:r>
            <a:r>
              <a:rPr lang="en-US" altLang="zh-CN" sz="2000" b="1" baseline="-25000">
                <a:solidFill>
                  <a:srgbClr val="0000FF"/>
                </a:solidFill>
              </a:rPr>
              <a:t>r</a:t>
            </a:r>
            <a:r>
              <a:rPr lang="en-US" altLang="zh-CN" sz="2000" b="1">
                <a:solidFill>
                  <a:srgbClr val="0000FF"/>
                </a:solidFill>
              </a:rPr>
              <a:t>=14,V=45</a:t>
            </a:r>
            <a:endParaRPr lang="en-US" altLang="zh-CN" sz="2000" b="1">
              <a:solidFill>
                <a:srgbClr val="0000FF"/>
              </a:solidFill>
            </a:endParaRPr>
          </a:p>
        </p:txBody>
      </p:sp>
      <p:sp>
        <p:nvSpPr>
          <p:cNvPr id="50" name="Oval 71"/>
          <p:cNvSpPr>
            <a:spLocks noChangeArrowheads="1"/>
          </p:cNvSpPr>
          <p:nvPr/>
        </p:nvSpPr>
        <p:spPr bwMode="auto">
          <a:xfrm>
            <a:off x="1370042" y="3763983"/>
            <a:ext cx="649287" cy="649288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D</a:t>
            </a:r>
            <a:endParaRPr lang="en-US" altLang="zh-CN" sz="2000" b="1"/>
          </a:p>
        </p:txBody>
      </p:sp>
      <p:sp>
        <p:nvSpPr>
          <p:cNvPr id="21519" name="Text Box 72"/>
          <p:cNvSpPr txBox="1">
            <a:spLocks noChangeArrowheads="1"/>
          </p:cNvSpPr>
          <p:nvPr/>
        </p:nvSpPr>
        <p:spPr bwMode="auto">
          <a:xfrm>
            <a:off x="1928813" y="3929063"/>
            <a:ext cx="12176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FF0000"/>
                </a:solidFill>
              </a:rPr>
              <a:t>C</a:t>
            </a:r>
            <a:r>
              <a:rPr lang="en-US" altLang="zh-CN" sz="2000" b="1" baseline="-25000">
                <a:solidFill>
                  <a:srgbClr val="FF0000"/>
                </a:solidFill>
              </a:rPr>
              <a:t>r</a:t>
            </a:r>
            <a:r>
              <a:rPr lang="en-US" altLang="zh-CN" sz="2000" b="1">
                <a:solidFill>
                  <a:srgbClr val="FF0000"/>
                </a:solidFill>
              </a:rPr>
              <a:t>&lt;w</a:t>
            </a:r>
            <a:r>
              <a:rPr lang="en-US" altLang="zh-CN" sz="2000" b="1" baseline="-25000">
                <a:solidFill>
                  <a:srgbClr val="FF0000"/>
                </a:solidFill>
              </a:rPr>
              <a:t>2</a:t>
            </a:r>
            <a:endParaRPr lang="en-US" altLang="zh-CN" sz="2000" b="1" baseline="-25000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  <a:ea typeface="楷体_GB2312" pitchFamily="49" charset="-122"/>
              </a:rPr>
              <a:t>不可行解</a:t>
            </a:r>
            <a:endParaRPr lang="zh-CN" altLang="en-US" sz="2000" b="1">
              <a:solidFill>
                <a:srgbClr val="FF0000"/>
              </a:solidFill>
              <a:ea typeface="楷体_GB2312" pitchFamily="49" charset="-122"/>
            </a:endParaRPr>
          </a:p>
        </p:txBody>
      </p:sp>
      <p:grpSp>
        <p:nvGrpSpPr>
          <p:cNvPr id="92" name="组合 91"/>
          <p:cNvGrpSpPr/>
          <p:nvPr/>
        </p:nvGrpSpPr>
        <p:grpSpPr bwMode="auto">
          <a:xfrm>
            <a:off x="2016125" y="4929188"/>
            <a:ext cx="1844675" cy="708025"/>
            <a:chOff x="2016154" y="4929198"/>
            <a:chExt cx="1844020" cy="708035"/>
          </a:xfrm>
        </p:grpSpPr>
        <p:sp>
          <p:nvSpPr>
            <p:cNvPr id="52" name="Oval 75"/>
            <p:cNvSpPr>
              <a:spLocks noChangeArrowheads="1"/>
            </p:cNvSpPr>
            <p:nvPr/>
          </p:nvSpPr>
          <p:spPr bwMode="auto">
            <a:xfrm>
              <a:off x="2016154" y="4987946"/>
              <a:ext cx="649288" cy="649287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/>
                <a:t>J</a:t>
              </a:r>
              <a:endParaRPr lang="en-US" altLang="zh-CN" sz="2000" b="1" dirty="0"/>
            </a:p>
          </p:txBody>
        </p:sp>
        <p:sp>
          <p:nvSpPr>
            <p:cNvPr id="21561" name="Text Box 77"/>
            <p:cNvSpPr txBox="1">
              <a:spLocks noChangeArrowheads="1"/>
            </p:cNvSpPr>
            <p:nvPr/>
          </p:nvSpPr>
          <p:spPr bwMode="auto">
            <a:xfrm>
              <a:off x="2643174" y="4929198"/>
              <a:ext cx="121700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FF0000"/>
                  </a:solidFill>
                </a:rPr>
                <a:t>C</a:t>
              </a:r>
              <a:r>
                <a:rPr lang="en-US" altLang="zh-CN" sz="2000" b="1" baseline="-25000">
                  <a:solidFill>
                    <a:srgbClr val="FF0000"/>
                  </a:solidFill>
                </a:rPr>
                <a:t>r</a:t>
              </a:r>
              <a:r>
                <a:rPr lang="en-US" altLang="zh-CN" sz="2000" b="1">
                  <a:solidFill>
                    <a:srgbClr val="FF0000"/>
                  </a:solidFill>
                </a:rPr>
                <a:t>&lt;w</a:t>
              </a:r>
              <a:r>
                <a:rPr lang="en-US" altLang="zh-CN" sz="2000" b="1" baseline="-25000">
                  <a:solidFill>
                    <a:srgbClr val="FF0000"/>
                  </a:solidFill>
                </a:rPr>
                <a:t>3</a:t>
              </a:r>
              <a:endParaRPr lang="en-US" altLang="zh-CN" sz="2000" b="1" baseline="-25000">
                <a:solidFill>
                  <a:srgbClr val="FF0000"/>
                </a:solidFill>
              </a:endParaRPr>
            </a:p>
            <a:p>
              <a:r>
                <a:rPr lang="zh-CN" altLang="en-US" sz="2000" b="1">
                  <a:solidFill>
                    <a:srgbClr val="FF0000"/>
                  </a:solidFill>
                  <a:ea typeface="楷体_GB2312" pitchFamily="49" charset="-122"/>
                </a:rPr>
                <a:t>不可行解</a:t>
              </a:r>
              <a:endParaRPr lang="zh-CN" altLang="en-US" sz="20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93" name="组合 92"/>
          <p:cNvGrpSpPr/>
          <p:nvPr/>
        </p:nvGrpSpPr>
        <p:grpSpPr bwMode="auto">
          <a:xfrm>
            <a:off x="3817938" y="4843463"/>
            <a:ext cx="1968500" cy="1016000"/>
            <a:chOff x="3817967" y="4843483"/>
            <a:chExt cx="1968479" cy="1015663"/>
          </a:xfrm>
        </p:grpSpPr>
        <p:sp>
          <p:nvSpPr>
            <p:cNvPr id="54" name="Oval 79"/>
            <p:cNvSpPr>
              <a:spLocks noChangeArrowheads="1"/>
            </p:cNvSpPr>
            <p:nvPr/>
          </p:nvSpPr>
          <p:spPr bwMode="auto">
            <a:xfrm>
              <a:off x="3817967" y="4914921"/>
              <a:ext cx="649288" cy="649288"/>
            </a:xfrm>
            <a:prstGeom prst="ellipse">
              <a:avLst/>
            </a:prstGeom>
            <a:solidFill>
              <a:srgbClr val="00800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/>
                <a:t>K</a:t>
              </a:r>
              <a:endParaRPr lang="en-US" altLang="zh-CN" sz="2000" b="1"/>
            </a:p>
          </p:txBody>
        </p:sp>
        <p:sp>
          <p:nvSpPr>
            <p:cNvPr id="21557" name="Text Box 80"/>
            <p:cNvSpPr txBox="1">
              <a:spLocks noChangeArrowheads="1"/>
            </p:cNvSpPr>
            <p:nvPr/>
          </p:nvSpPr>
          <p:spPr bwMode="auto">
            <a:xfrm>
              <a:off x="4394230" y="4843483"/>
              <a:ext cx="1392216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6600"/>
                  </a:solidFill>
                </a:rPr>
                <a:t>C</a:t>
              </a:r>
              <a:r>
                <a:rPr lang="en-US" altLang="zh-CN" sz="2000" b="1" baseline="-25000">
                  <a:solidFill>
                    <a:srgbClr val="006600"/>
                  </a:solidFill>
                </a:rPr>
                <a:t>r</a:t>
              </a:r>
              <a:r>
                <a:rPr lang="en-US" altLang="zh-CN" sz="2000" b="1">
                  <a:solidFill>
                    <a:srgbClr val="006600"/>
                  </a:solidFill>
                </a:rPr>
                <a:t>=14</a:t>
              </a:r>
              <a:endParaRPr lang="en-US" altLang="zh-CN" sz="2000" b="1">
                <a:solidFill>
                  <a:srgbClr val="006600"/>
                </a:solidFill>
              </a:endParaRPr>
            </a:p>
            <a:p>
              <a:r>
                <a:rPr lang="en-US" altLang="zh-CN" sz="2000" b="1">
                  <a:solidFill>
                    <a:srgbClr val="006600"/>
                  </a:solidFill>
                </a:rPr>
                <a:t>V=45</a:t>
              </a:r>
              <a:endParaRPr lang="en-US" altLang="zh-CN" sz="2000" b="1">
                <a:solidFill>
                  <a:srgbClr val="006600"/>
                </a:solidFill>
              </a:endParaRPr>
            </a:p>
            <a:p>
              <a:r>
                <a:rPr lang="en-US" altLang="zh-CN" sz="2000" b="1">
                  <a:solidFill>
                    <a:srgbClr val="006600"/>
                  </a:solidFill>
                </a:rPr>
                <a:t>x=(1,0,0)</a:t>
              </a:r>
              <a:endParaRPr lang="en-US" altLang="zh-CN" sz="2000" b="1">
                <a:solidFill>
                  <a:srgbClr val="006600"/>
                </a:solidFill>
              </a:endParaRPr>
            </a:p>
          </p:txBody>
        </p:sp>
      </p:grpSp>
      <p:sp>
        <p:nvSpPr>
          <p:cNvPr id="56" name="Freeform 83"/>
          <p:cNvSpPr/>
          <p:nvPr/>
        </p:nvSpPr>
        <p:spPr bwMode="auto">
          <a:xfrm>
            <a:off x="2593975" y="4411663"/>
            <a:ext cx="863600" cy="720725"/>
          </a:xfrm>
          <a:custGeom>
            <a:avLst/>
            <a:gdLst>
              <a:gd name="T0" fmla="*/ 0 w 544"/>
              <a:gd name="T1" fmla="*/ 454 h 454"/>
              <a:gd name="T2" fmla="*/ 408 w 544"/>
              <a:gd name="T3" fmla="*/ 272 h 454"/>
              <a:gd name="T4" fmla="*/ 544 w 544"/>
              <a:gd name="T5" fmla="*/ 0 h 4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4" h="454">
                <a:moveTo>
                  <a:pt x="0" y="454"/>
                </a:moveTo>
                <a:cubicBezTo>
                  <a:pt x="158" y="401"/>
                  <a:pt x="317" y="348"/>
                  <a:pt x="408" y="272"/>
                </a:cubicBezTo>
                <a:cubicBezTo>
                  <a:pt x="499" y="196"/>
                  <a:pt x="521" y="45"/>
                  <a:pt x="544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3" name="Freeform 86"/>
          <p:cNvSpPr/>
          <p:nvPr/>
        </p:nvSpPr>
        <p:spPr bwMode="auto">
          <a:xfrm>
            <a:off x="1946275" y="3332163"/>
            <a:ext cx="503238" cy="576262"/>
          </a:xfrm>
          <a:custGeom>
            <a:avLst/>
            <a:gdLst>
              <a:gd name="T0" fmla="*/ 0 w 317"/>
              <a:gd name="T1" fmla="*/ 363 h 363"/>
              <a:gd name="T2" fmla="*/ 272 w 317"/>
              <a:gd name="T3" fmla="*/ 181 h 363"/>
              <a:gd name="T4" fmla="*/ 272 w 317"/>
              <a:gd name="T5" fmla="*/ 0 h 36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7" h="363">
                <a:moveTo>
                  <a:pt x="0" y="363"/>
                </a:moveTo>
                <a:cubicBezTo>
                  <a:pt x="113" y="302"/>
                  <a:pt x="227" y="241"/>
                  <a:pt x="272" y="181"/>
                </a:cubicBezTo>
                <a:cubicBezTo>
                  <a:pt x="317" y="121"/>
                  <a:pt x="272" y="30"/>
                  <a:pt x="272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87"/>
          <p:cNvSpPr/>
          <p:nvPr/>
        </p:nvSpPr>
        <p:spPr bwMode="auto">
          <a:xfrm>
            <a:off x="2593975" y="2395538"/>
            <a:ext cx="1584325" cy="503237"/>
          </a:xfrm>
          <a:custGeom>
            <a:avLst/>
            <a:gdLst>
              <a:gd name="T0" fmla="*/ 0 w 998"/>
              <a:gd name="T1" fmla="*/ 317 h 317"/>
              <a:gd name="T2" fmla="*/ 544 w 998"/>
              <a:gd name="T3" fmla="*/ 227 h 317"/>
              <a:gd name="T4" fmla="*/ 998 w 998"/>
              <a:gd name="T5" fmla="*/ 0 h 3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98" h="317">
                <a:moveTo>
                  <a:pt x="0" y="317"/>
                </a:moveTo>
                <a:cubicBezTo>
                  <a:pt x="189" y="298"/>
                  <a:pt x="378" y="280"/>
                  <a:pt x="544" y="227"/>
                </a:cubicBezTo>
                <a:cubicBezTo>
                  <a:pt x="710" y="174"/>
                  <a:pt x="923" y="38"/>
                  <a:pt x="998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Oval 88"/>
          <p:cNvSpPr>
            <a:spLocks noChangeArrowheads="1"/>
          </p:cNvSpPr>
          <p:nvPr/>
        </p:nvSpPr>
        <p:spPr bwMode="auto">
          <a:xfrm>
            <a:off x="785786" y="5780108"/>
            <a:ext cx="649288" cy="649288"/>
          </a:xfrm>
          <a:prstGeom prst="ellipse">
            <a:avLst/>
          </a:prstGeom>
          <a:solidFill>
            <a:srgbClr val="FF66FF"/>
          </a:solidFill>
          <a:ln w="19050">
            <a:solidFill>
              <a:srgbClr val="FF0000"/>
            </a:solidFill>
            <a:prstDash val="lgDash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H</a:t>
            </a:r>
            <a:endParaRPr lang="en-US" altLang="zh-CN" sz="2000" b="1"/>
          </a:p>
        </p:txBody>
      </p:sp>
      <p:sp>
        <p:nvSpPr>
          <p:cNvPr id="62" name="Oval 89"/>
          <p:cNvSpPr>
            <a:spLocks noChangeArrowheads="1"/>
          </p:cNvSpPr>
          <p:nvPr/>
        </p:nvSpPr>
        <p:spPr bwMode="auto">
          <a:xfrm>
            <a:off x="1643042" y="5786454"/>
            <a:ext cx="649288" cy="649288"/>
          </a:xfrm>
          <a:prstGeom prst="ellipse">
            <a:avLst/>
          </a:prstGeom>
          <a:solidFill>
            <a:srgbClr val="FF66FF"/>
          </a:solidFill>
          <a:ln w="19050">
            <a:solidFill>
              <a:srgbClr val="FF0000"/>
            </a:solidFill>
            <a:prstDash val="lgDash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I</a:t>
            </a:r>
            <a:endParaRPr lang="en-US" altLang="zh-CN" sz="2000" b="1"/>
          </a:p>
        </p:txBody>
      </p:sp>
      <p:sp>
        <p:nvSpPr>
          <p:cNvPr id="21531" name="Line 90"/>
          <p:cNvSpPr>
            <a:spLocks noChangeShapeType="1"/>
          </p:cNvSpPr>
          <p:nvPr/>
        </p:nvSpPr>
        <p:spPr bwMode="auto">
          <a:xfrm flipH="1">
            <a:off x="1071563" y="4429125"/>
            <a:ext cx="500062" cy="1357313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2" name="Line 91"/>
          <p:cNvSpPr>
            <a:spLocks noChangeShapeType="1"/>
          </p:cNvSpPr>
          <p:nvPr/>
        </p:nvSpPr>
        <p:spPr bwMode="auto">
          <a:xfrm>
            <a:off x="1730375" y="4411663"/>
            <a:ext cx="198438" cy="1446212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1" name="组合 90"/>
          <p:cNvGrpSpPr/>
          <p:nvPr/>
        </p:nvGrpSpPr>
        <p:grpSpPr bwMode="auto">
          <a:xfrm>
            <a:off x="3241675" y="3429000"/>
            <a:ext cx="1392238" cy="984250"/>
            <a:chOff x="3241704" y="3429000"/>
            <a:chExt cx="1392787" cy="984270"/>
          </a:xfrm>
        </p:grpSpPr>
        <p:sp>
          <p:nvSpPr>
            <p:cNvPr id="65" name="Oval 73"/>
            <p:cNvSpPr>
              <a:spLocks noChangeArrowheads="1"/>
            </p:cNvSpPr>
            <p:nvPr/>
          </p:nvSpPr>
          <p:spPr bwMode="auto">
            <a:xfrm>
              <a:off x="3241704" y="3763983"/>
              <a:ext cx="649288" cy="649287"/>
            </a:xfrm>
            <a:prstGeom prst="ellipse">
              <a:avLst/>
            </a:prstGeom>
            <a:solidFill>
              <a:srgbClr val="0070C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/>
                <a:t>E</a:t>
              </a:r>
              <a:endParaRPr lang="en-US" altLang="zh-CN" sz="2000" b="1"/>
            </a:p>
          </p:txBody>
        </p:sp>
        <p:sp>
          <p:nvSpPr>
            <p:cNvPr id="21553" name="Text Box 74"/>
            <p:cNvSpPr txBox="1">
              <a:spLocks noChangeArrowheads="1"/>
            </p:cNvSpPr>
            <p:nvPr/>
          </p:nvSpPr>
          <p:spPr bwMode="auto">
            <a:xfrm>
              <a:off x="3786182" y="3429000"/>
              <a:ext cx="84830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C</a:t>
              </a:r>
              <a:r>
                <a:rPr lang="en-US" altLang="zh-CN" sz="2000" b="1" baseline="-25000">
                  <a:solidFill>
                    <a:srgbClr val="0000FF"/>
                  </a:solidFill>
                </a:rPr>
                <a:t>r</a:t>
              </a:r>
              <a:r>
                <a:rPr lang="en-US" altLang="zh-CN" sz="2000" b="1">
                  <a:solidFill>
                    <a:srgbClr val="0000FF"/>
                  </a:solidFill>
                </a:rPr>
                <a:t>=14</a:t>
              </a:r>
              <a:endParaRPr lang="en-US" altLang="zh-CN" sz="2000" b="1">
                <a:solidFill>
                  <a:srgbClr val="0000FF"/>
                </a:solidFill>
              </a:endParaRPr>
            </a:p>
            <a:p>
              <a:r>
                <a:rPr lang="en-US" altLang="zh-CN" sz="2000" b="1">
                  <a:solidFill>
                    <a:srgbClr val="0000FF"/>
                  </a:solidFill>
                </a:rPr>
                <a:t>V=45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</p:grpSp>
      <p:sp>
        <p:nvSpPr>
          <p:cNvPr id="71" name="Freeform 130"/>
          <p:cNvSpPr/>
          <p:nvPr/>
        </p:nvSpPr>
        <p:spPr bwMode="auto">
          <a:xfrm>
            <a:off x="3817938" y="4267200"/>
            <a:ext cx="515937" cy="720725"/>
          </a:xfrm>
          <a:custGeom>
            <a:avLst/>
            <a:gdLst>
              <a:gd name="T0" fmla="*/ 318 w 325"/>
              <a:gd name="T1" fmla="*/ 454 h 454"/>
              <a:gd name="T2" fmla="*/ 272 w 325"/>
              <a:gd name="T3" fmla="*/ 91 h 454"/>
              <a:gd name="T4" fmla="*/ 0 w 325"/>
              <a:gd name="T5" fmla="*/ 0 h 4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5" h="454">
                <a:moveTo>
                  <a:pt x="318" y="454"/>
                </a:moveTo>
                <a:cubicBezTo>
                  <a:pt x="321" y="310"/>
                  <a:pt x="325" y="166"/>
                  <a:pt x="272" y="91"/>
                </a:cubicBezTo>
                <a:cubicBezTo>
                  <a:pt x="219" y="16"/>
                  <a:pt x="45" y="15"/>
                  <a:pt x="0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1535" name="直接连接符 74"/>
          <p:cNvCxnSpPr>
            <a:cxnSpLocks noChangeShapeType="1"/>
            <a:stCxn id="0" idx="2"/>
            <a:endCxn id="0" idx="7"/>
          </p:cNvCxnSpPr>
          <p:nvPr/>
        </p:nvCxnSpPr>
        <p:spPr bwMode="auto">
          <a:xfrm rot="10800000" flipV="1">
            <a:off x="2571750" y="2109788"/>
            <a:ext cx="1285875" cy="668337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21536" name="直接连接符 75"/>
          <p:cNvCxnSpPr>
            <a:cxnSpLocks noChangeShapeType="1"/>
            <a:stCxn id="0" idx="3"/>
            <a:endCxn id="0" idx="0"/>
          </p:cNvCxnSpPr>
          <p:nvPr/>
        </p:nvCxnSpPr>
        <p:spPr bwMode="auto">
          <a:xfrm rot="5400000">
            <a:off x="1640682" y="3291681"/>
            <a:ext cx="527050" cy="417513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77" name="直接连接符 76"/>
          <p:cNvCxnSpPr>
            <a:cxnSpLocks noChangeShapeType="1"/>
            <a:stCxn id="0" idx="5"/>
            <a:endCxn id="0" idx="1"/>
          </p:cNvCxnSpPr>
          <p:nvPr/>
        </p:nvCxnSpPr>
        <p:spPr bwMode="auto">
          <a:xfrm rot="16200000" flipH="1">
            <a:off x="2643188" y="3165475"/>
            <a:ext cx="622300" cy="765175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81" name="直接连接符 80"/>
          <p:cNvCxnSpPr>
            <a:cxnSpLocks noChangeShapeType="1"/>
            <a:stCxn id="0" idx="3"/>
            <a:endCxn id="0" idx="7"/>
          </p:cNvCxnSpPr>
          <p:nvPr/>
        </p:nvCxnSpPr>
        <p:spPr bwMode="auto">
          <a:xfrm rot="5400000">
            <a:off x="2570956" y="4317207"/>
            <a:ext cx="765175" cy="766762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82" name="直接连接符 81"/>
          <p:cNvCxnSpPr>
            <a:cxnSpLocks noChangeShapeType="1"/>
            <a:stCxn id="0" idx="5"/>
            <a:endCxn id="0" idx="0"/>
          </p:cNvCxnSpPr>
          <p:nvPr/>
        </p:nvCxnSpPr>
        <p:spPr bwMode="auto">
          <a:xfrm rot="16200000" flipH="1">
            <a:off x="3671094" y="4442619"/>
            <a:ext cx="596900" cy="347662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sp>
        <p:nvSpPr>
          <p:cNvPr id="87" name="圆角矩形标注 86"/>
          <p:cNvSpPr/>
          <p:nvPr/>
        </p:nvSpPr>
        <p:spPr bwMode="auto">
          <a:xfrm>
            <a:off x="4429124" y="2357430"/>
            <a:ext cx="3143272" cy="1143008"/>
          </a:xfrm>
          <a:prstGeom prst="wedgeRoundRectCallout">
            <a:avLst>
              <a:gd name="adj1" fmla="val -67446"/>
              <a:gd name="adj2" fmla="val 50603"/>
              <a:gd name="adj3" fmla="val 16667"/>
            </a:avLst>
          </a:prstGeom>
          <a:solidFill>
            <a:srgbClr val="CCFF99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再扩展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到达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E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E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可行，此时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A,B,E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是活结点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E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成为新的扩展结点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圆角矩形标注 87"/>
          <p:cNvSpPr/>
          <p:nvPr/>
        </p:nvSpPr>
        <p:spPr bwMode="auto">
          <a:xfrm>
            <a:off x="2214546" y="5643578"/>
            <a:ext cx="2286016" cy="1143008"/>
          </a:xfrm>
          <a:prstGeom prst="wedgeRoundRectCallout">
            <a:avLst>
              <a:gd name="adj1" fmla="val -32325"/>
              <a:gd name="adj2" fmla="val -60616"/>
              <a:gd name="adj3" fmla="val 16667"/>
            </a:avLst>
          </a:prstGeom>
          <a:solidFill>
            <a:srgbClr val="CCFF99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扩展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E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，先到达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J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Cr&lt;w3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J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</a:rPr>
              <a:t>不可行解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</a:rPr>
              <a:t>回溯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E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9" name="圆角矩形标注 88"/>
          <p:cNvSpPr/>
          <p:nvPr/>
        </p:nvSpPr>
        <p:spPr bwMode="auto">
          <a:xfrm>
            <a:off x="5500694" y="3643314"/>
            <a:ext cx="3500462" cy="2214578"/>
          </a:xfrm>
          <a:prstGeom prst="wedgeRoundRectCallout">
            <a:avLst>
              <a:gd name="adj1" fmla="val -70802"/>
              <a:gd name="adj2" fmla="val -2261"/>
              <a:gd name="adj3" fmla="val 16667"/>
            </a:avLst>
          </a:prstGeom>
          <a:solidFill>
            <a:srgbClr val="CCFF99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扩展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E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到达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K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K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是叶结点，得到一个可行解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x=(1,0,0)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V=45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K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不可扩展，死结点，返回到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E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E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成为死结点，返回到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B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成为死结点，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</a:rPr>
              <a:t>返回到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A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0" name="Freeform 85"/>
          <p:cNvSpPr/>
          <p:nvPr/>
        </p:nvSpPr>
        <p:spPr bwMode="auto">
          <a:xfrm>
            <a:off x="2738438" y="3043238"/>
            <a:ext cx="792162" cy="720725"/>
          </a:xfrm>
          <a:custGeom>
            <a:avLst/>
            <a:gdLst>
              <a:gd name="T0" fmla="*/ 499 w 499"/>
              <a:gd name="T1" fmla="*/ 454 h 454"/>
              <a:gd name="T2" fmla="*/ 408 w 499"/>
              <a:gd name="T3" fmla="*/ 136 h 454"/>
              <a:gd name="T4" fmla="*/ 0 w 499"/>
              <a:gd name="T5" fmla="*/ 0 h 4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99" h="454">
                <a:moveTo>
                  <a:pt x="499" y="454"/>
                </a:moveTo>
                <a:cubicBezTo>
                  <a:pt x="495" y="333"/>
                  <a:pt x="491" y="212"/>
                  <a:pt x="408" y="136"/>
                </a:cubicBezTo>
                <a:cubicBezTo>
                  <a:pt x="325" y="60"/>
                  <a:pt x="68" y="23"/>
                  <a:pt x="0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0" grpId="0" animBg="1"/>
      <p:bldP spid="71" grpId="0" animBg="1"/>
      <p:bldP spid="9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altLang="zh-CN" smtClean="0"/>
              <a:t>n=3, </a:t>
            </a:r>
            <a:r>
              <a:rPr lang="en-US" altLang="zh-CN" smtClean="0">
                <a:solidFill>
                  <a:srgbClr val="FF0000"/>
                </a:solidFill>
              </a:rPr>
              <a:t>C=30</a:t>
            </a:r>
            <a:r>
              <a:rPr lang="en-US" altLang="zh-CN" smtClean="0"/>
              <a:t>, </a:t>
            </a:r>
            <a:r>
              <a:rPr lang="en-US" altLang="zh-CN" smtClean="0">
                <a:solidFill>
                  <a:srgbClr val="0000FF"/>
                </a:solidFill>
              </a:rPr>
              <a:t>w={16,15,15}</a:t>
            </a:r>
            <a:r>
              <a:rPr lang="en-US" altLang="zh-CN" smtClean="0"/>
              <a:t>, </a:t>
            </a:r>
            <a:r>
              <a:rPr lang="en-US" altLang="zh-CN" smtClean="0">
                <a:solidFill>
                  <a:srgbClr val="FF0000"/>
                </a:solidFill>
              </a:rPr>
              <a:t>v={45,25,25}</a:t>
            </a:r>
            <a:endParaRPr lang="zh-CN" altLang="en-US" smtClean="0"/>
          </a:p>
        </p:txBody>
      </p:sp>
      <p:sp>
        <p:nvSpPr>
          <p:cNvPr id="44" name="Oval 62"/>
          <p:cNvSpPr>
            <a:spLocks noChangeArrowheads="1"/>
          </p:cNvSpPr>
          <p:nvPr/>
        </p:nvSpPr>
        <p:spPr bwMode="auto">
          <a:xfrm>
            <a:off x="3857620" y="1785926"/>
            <a:ext cx="649288" cy="649288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/>
              <a:t>A</a:t>
            </a:r>
            <a:endParaRPr lang="en-US" altLang="zh-CN" sz="2000" b="1" dirty="0"/>
          </a:p>
        </p:txBody>
      </p:sp>
      <p:sp>
        <p:nvSpPr>
          <p:cNvPr id="22535" name="Text Box 65"/>
          <p:cNvSpPr txBox="1">
            <a:spLocks noChangeArrowheads="1"/>
          </p:cNvSpPr>
          <p:nvPr/>
        </p:nvSpPr>
        <p:spPr bwMode="auto">
          <a:xfrm>
            <a:off x="4500563" y="1857375"/>
            <a:ext cx="1704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0000FF"/>
                </a:solidFill>
              </a:rPr>
              <a:t>C</a:t>
            </a:r>
            <a:r>
              <a:rPr lang="en-US" altLang="zh-CN" sz="2000" b="1" baseline="-25000">
                <a:solidFill>
                  <a:srgbClr val="0000FF"/>
                </a:solidFill>
              </a:rPr>
              <a:t>r</a:t>
            </a:r>
            <a:r>
              <a:rPr lang="en-US" altLang="zh-CN" sz="2000" b="1">
                <a:solidFill>
                  <a:srgbClr val="0000FF"/>
                </a:solidFill>
              </a:rPr>
              <a:t>=C=30,V=0</a:t>
            </a:r>
            <a:endParaRPr lang="en-US" altLang="zh-CN" sz="2000" b="1">
              <a:solidFill>
                <a:srgbClr val="0000FF"/>
              </a:solidFill>
            </a:endParaRPr>
          </a:p>
        </p:txBody>
      </p:sp>
      <p:sp>
        <p:nvSpPr>
          <p:cNvPr id="46" name="Oval 64"/>
          <p:cNvSpPr>
            <a:spLocks noChangeArrowheads="1"/>
          </p:cNvSpPr>
          <p:nvPr/>
        </p:nvSpPr>
        <p:spPr bwMode="auto">
          <a:xfrm>
            <a:off x="2017742" y="2682896"/>
            <a:ext cx="649287" cy="649288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/>
              <a:t>B</a:t>
            </a:r>
            <a:endParaRPr lang="en-US" altLang="zh-CN" sz="2000" b="1" dirty="0"/>
          </a:p>
        </p:txBody>
      </p:sp>
      <p:sp>
        <p:nvSpPr>
          <p:cNvPr id="22539" name="Text Box 66"/>
          <p:cNvSpPr txBox="1">
            <a:spLocks noChangeArrowheads="1"/>
          </p:cNvSpPr>
          <p:nvPr/>
        </p:nvSpPr>
        <p:spPr bwMode="auto">
          <a:xfrm>
            <a:off x="571500" y="2428875"/>
            <a:ext cx="15382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0000FF"/>
                </a:solidFill>
              </a:rPr>
              <a:t>w</a:t>
            </a:r>
            <a:r>
              <a:rPr lang="en-US" altLang="zh-CN" sz="2000" b="1" baseline="-25000">
                <a:solidFill>
                  <a:srgbClr val="0000FF"/>
                </a:solidFill>
              </a:rPr>
              <a:t>1</a:t>
            </a:r>
            <a:r>
              <a:rPr lang="en-US" altLang="zh-CN" sz="2000" b="1">
                <a:solidFill>
                  <a:srgbClr val="0000FF"/>
                </a:solidFill>
              </a:rPr>
              <a:t>=16,v</a:t>
            </a:r>
            <a:r>
              <a:rPr lang="en-US" altLang="zh-CN" sz="2000" b="1" baseline="-25000">
                <a:solidFill>
                  <a:srgbClr val="0000FF"/>
                </a:solidFill>
              </a:rPr>
              <a:t>1</a:t>
            </a:r>
            <a:r>
              <a:rPr lang="en-US" altLang="zh-CN" sz="2000" b="1">
                <a:solidFill>
                  <a:srgbClr val="0000FF"/>
                </a:solidFill>
              </a:rPr>
              <a:t>=45</a:t>
            </a:r>
            <a:endParaRPr lang="en-US" altLang="zh-CN" sz="2000" b="1">
              <a:solidFill>
                <a:srgbClr val="0000FF"/>
              </a:solidFill>
            </a:endParaRPr>
          </a:p>
          <a:p>
            <a:r>
              <a:rPr lang="en-US" altLang="zh-CN" sz="2000" b="1">
                <a:solidFill>
                  <a:srgbClr val="0000FF"/>
                </a:solidFill>
              </a:rPr>
              <a:t>C</a:t>
            </a:r>
            <a:r>
              <a:rPr lang="en-US" altLang="zh-CN" sz="2000" b="1" baseline="-25000">
                <a:solidFill>
                  <a:srgbClr val="0000FF"/>
                </a:solidFill>
              </a:rPr>
              <a:t>r</a:t>
            </a:r>
            <a:r>
              <a:rPr lang="en-US" altLang="zh-CN" sz="2000" b="1">
                <a:solidFill>
                  <a:srgbClr val="0000FF"/>
                </a:solidFill>
              </a:rPr>
              <a:t>=14,V=45</a:t>
            </a:r>
            <a:endParaRPr lang="en-US" altLang="zh-CN" sz="2000" b="1">
              <a:solidFill>
                <a:srgbClr val="0000FF"/>
              </a:solidFill>
            </a:endParaRPr>
          </a:p>
        </p:txBody>
      </p:sp>
      <p:grpSp>
        <p:nvGrpSpPr>
          <p:cNvPr id="87" name="组合 86"/>
          <p:cNvGrpSpPr/>
          <p:nvPr/>
        </p:nvGrpSpPr>
        <p:grpSpPr bwMode="auto">
          <a:xfrm>
            <a:off x="5402263" y="2682875"/>
            <a:ext cx="1949450" cy="649288"/>
            <a:chOff x="5402292" y="2682896"/>
            <a:chExt cx="1948754" cy="649287"/>
          </a:xfrm>
        </p:grpSpPr>
        <p:sp>
          <p:nvSpPr>
            <p:cNvPr id="48" name="Oval 67"/>
            <p:cNvSpPr>
              <a:spLocks noChangeArrowheads="1"/>
            </p:cNvSpPr>
            <p:nvPr/>
          </p:nvSpPr>
          <p:spPr bwMode="auto">
            <a:xfrm>
              <a:off x="5402292" y="2682896"/>
              <a:ext cx="649287" cy="649287"/>
            </a:xfrm>
            <a:prstGeom prst="ellipse">
              <a:avLst/>
            </a:prstGeom>
            <a:solidFill>
              <a:srgbClr val="0070C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/>
                <a:t>C</a:t>
              </a:r>
              <a:endParaRPr lang="en-US" altLang="zh-CN" sz="2000" b="1" dirty="0"/>
            </a:p>
          </p:txBody>
        </p:sp>
        <p:sp>
          <p:nvSpPr>
            <p:cNvPr id="22601" name="Text Box 68"/>
            <p:cNvSpPr txBox="1">
              <a:spLocks noChangeArrowheads="1"/>
            </p:cNvSpPr>
            <p:nvPr/>
          </p:nvSpPr>
          <p:spPr bwMode="auto">
            <a:xfrm>
              <a:off x="5978554" y="2755921"/>
              <a:ext cx="13724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C</a:t>
              </a:r>
              <a:r>
                <a:rPr lang="en-US" altLang="zh-CN" sz="2000" b="1" baseline="-25000">
                  <a:solidFill>
                    <a:srgbClr val="0000FF"/>
                  </a:solidFill>
                </a:rPr>
                <a:t>r</a:t>
              </a:r>
              <a:r>
                <a:rPr lang="en-US" altLang="zh-CN" sz="2000" b="1">
                  <a:solidFill>
                    <a:srgbClr val="0000FF"/>
                  </a:solidFill>
                </a:rPr>
                <a:t>=30,V=0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</p:grpSp>
      <p:sp>
        <p:nvSpPr>
          <p:cNvPr id="50" name="Oval 71"/>
          <p:cNvSpPr>
            <a:spLocks noChangeArrowheads="1"/>
          </p:cNvSpPr>
          <p:nvPr/>
        </p:nvSpPr>
        <p:spPr bwMode="auto">
          <a:xfrm>
            <a:off x="1370042" y="3763983"/>
            <a:ext cx="649287" cy="649288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D</a:t>
            </a:r>
            <a:endParaRPr lang="en-US" altLang="zh-CN" sz="2000" b="1"/>
          </a:p>
        </p:txBody>
      </p:sp>
      <p:sp>
        <p:nvSpPr>
          <p:cNvPr id="22544" name="Text Box 72"/>
          <p:cNvSpPr txBox="1">
            <a:spLocks noChangeArrowheads="1"/>
          </p:cNvSpPr>
          <p:nvPr/>
        </p:nvSpPr>
        <p:spPr bwMode="auto">
          <a:xfrm>
            <a:off x="1928813" y="3929063"/>
            <a:ext cx="12176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FF0000"/>
                </a:solidFill>
              </a:rPr>
              <a:t>C</a:t>
            </a:r>
            <a:r>
              <a:rPr lang="en-US" altLang="zh-CN" sz="2000" b="1" baseline="-25000">
                <a:solidFill>
                  <a:srgbClr val="FF0000"/>
                </a:solidFill>
              </a:rPr>
              <a:t>r</a:t>
            </a:r>
            <a:r>
              <a:rPr lang="en-US" altLang="zh-CN" sz="2000" b="1">
                <a:solidFill>
                  <a:srgbClr val="FF0000"/>
                </a:solidFill>
              </a:rPr>
              <a:t>&lt;w</a:t>
            </a:r>
            <a:r>
              <a:rPr lang="en-US" altLang="zh-CN" sz="2000" b="1" baseline="-25000">
                <a:solidFill>
                  <a:srgbClr val="FF0000"/>
                </a:solidFill>
              </a:rPr>
              <a:t>2</a:t>
            </a:r>
            <a:endParaRPr lang="en-US" altLang="zh-CN" sz="2000" b="1" baseline="-25000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  <a:ea typeface="楷体_GB2312" pitchFamily="49" charset="-122"/>
              </a:rPr>
              <a:t>不可行解</a:t>
            </a:r>
            <a:endParaRPr lang="zh-CN" altLang="en-US" sz="2000" b="1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52" name="Oval 75"/>
          <p:cNvSpPr>
            <a:spLocks noChangeArrowheads="1"/>
          </p:cNvSpPr>
          <p:nvPr/>
        </p:nvSpPr>
        <p:spPr bwMode="auto">
          <a:xfrm>
            <a:off x="2016154" y="4987946"/>
            <a:ext cx="649288" cy="649287"/>
          </a:xfrm>
          <a:prstGeom prst="ellipse">
            <a:avLst/>
          </a:prstGeom>
          <a:solidFill>
            <a:srgbClr val="C0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/>
              <a:t>J</a:t>
            </a:r>
            <a:endParaRPr lang="en-US" altLang="zh-CN" sz="2000" b="1" dirty="0"/>
          </a:p>
        </p:txBody>
      </p:sp>
      <p:sp>
        <p:nvSpPr>
          <p:cNvPr id="22548" name="Text Box 77"/>
          <p:cNvSpPr txBox="1">
            <a:spLocks noChangeArrowheads="1"/>
          </p:cNvSpPr>
          <p:nvPr/>
        </p:nvSpPr>
        <p:spPr bwMode="auto">
          <a:xfrm>
            <a:off x="2643188" y="5143500"/>
            <a:ext cx="12176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FF0000"/>
                </a:solidFill>
              </a:rPr>
              <a:t>C</a:t>
            </a:r>
            <a:r>
              <a:rPr lang="en-US" altLang="zh-CN" sz="2000" b="1" baseline="-25000">
                <a:solidFill>
                  <a:srgbClr val="FF0000"/>
                </a:solidFill>
              </a:rPr>
              <a:t>r</a:t>
            </a:r>
            <a:r>
              <a:rPr lang="en-US" altLang="zh-CN" sz="2000" b="1">
                <a:solidFill>
                  <a:srgbClr val="FF0000"/>
                </a:solidFill>
              </a:rPr>
              <a:t>&lt;w</a:t>
            </a:r>
            <a:r>
              <a:rPr lang="en-US" altLang="zh-CN" sz="2000" b="1" baseline="-25000">
                <a:solidFill>
                  <a:srgbClr val="FF0000"/>
                </a:solidFill>
              </a:rPr>
              <a:t>3</a:t>
            </a:r>
            <a:endParaRPr lang="en-US" altLang="zh-CN" sz="2000" b="1" baseline="-25000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  <a:ea typeface="楷体_GB2312" pitchFamily="49" charset="-122"/>
              </a:rPr>
              <a:t>不可行解</a:t>
            </a:r>
            <a:endParaRPr lang="zh-CN" altLang="en-US" sz="2000" b="1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54" name="Oval 79"/>
          <p:cNvSpPr>
            <a:spLocks noChangeArrowheads="1"/>
          </p:cNvSpPr>
          <p:nvPr/>
        </p:nvSpPr>
        <p:spPr bwMode="auto">
          <a:xfrm>
            <a:off x="3817967" y="4914921"/>
            <a:ext cx="649288" cy="649288"/>
          </a:xfrm>
          <a:prstGeom prst="ellipse">
            <a:avLst/>
          </a:prstGeom>
          <a:solidFill>
            <a:srgbClr val="008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K</a:t>
            </a:r>
            <a:endParaRPr lang="en-US" altLang="zh-CN" sz="2000" b="1"/>
          </a:p>
        </p:txBody>
      </p:sp>
      <p:sp>
        <p:nvSpPr>
          <p:cNvPr id="22552" name="Text Box 80"/>
          <p:cNvSpPr txBox="1">
            <a:spLocks noChangeArrowheads="1"/>
          </p:cNvSpPr>
          <p:nvPr/>
        </p:nvSpPr>
        <p:spPr bwMode="auto">
          <a:xfrm>
            <a:off x="4394200" y="4843463"/>
            <a:ext cx="14636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006600"/>
                </a:solidFill>
              </a:rPr>
              <a:t>C</a:t>
            </a:r>
            <a:r>
              <a:rPr lang="en-US" altLang="zh-CN" sz="2000" b="1" baseline="-25000">
                <a:solidFill>
                  <a:srgbClr val="006600"/>
                </a:solidFill>
              </a:rPr>
              <a:t>r</a:t>
            </a:r>
            <a:r>
              <a:rPr lang="en-US" altLang="zh-CN" sz="2000" b="1">
                <a:solidFill>
                  <a:srgbClr val="006600"/>
                </a:solidFill>
              </a:rPr>
              <a:t>=14</a:t>
            </a:r>
            <a:endParaRPr lang="en-US" altLang="zh-CN" sz="2000" b="1">
              <a:solidFill>
                <a:srgbClr val="006600"/>
              </a:solidFill>
            </a:endParaRPr>
          </a:p>
          <a:p>
            <a:r>
              <a:rPr lang="en-US" altLang="zh-CN" sz="2000" b="1">
                <a:solidFill>
                  <a:srgbClr val="006600"/>
                </a:solidFill>
              </a:rPr>
              <a:t>V=45</a:t>
            </a:r>
            <a:endParaRPr lang="en-US" altLang="zh-CN" sz="2000" b="1">
              <a:solidFill>
                <a:srgbClr val="006600"/>
              </a:solidFill>
            </a:endParaRPr>
          </a:p>
          <a:p>
            <a:r>
              <a:rPr lang="en-US" altLang="zh-CN" sz="2000" b="1">
                <a:solidFill>
                  <a:srgbClr val="006600"/>
                </a:solidFill>
              </a:rPr>
              <a:t>x=(1,0,0)</a:t>
            </a:r>
            <a:endParaRPr lang="en-US" altLang="zh-CN" sz="2000" b="1">
              <a:solidFill>
                <a:srgbClr val="006600"/>
              </a:solidFill>
            </a:endParaRPr>
          </a:p>
        </p:txBody>
      </p:sp>
      <p:sp>
        <p:nvSpPr>
          <p:cNvPr id="22553" name="Freeform 83"/>
          <p:cNvSpPr/>
          <p:nvPr/>
        </p:nvSpPr>
        <p:spPr bwMode="auto">
          <a:xfrm>
            <a:off x="2593975" y="4411663"/>
            <a:ext cx="863600" cy="720725"/>
          </a:xfrm>
          <a:custGeom>
            <a:avLst/>
            <a:gdLst>
              <a:gd name="T0" fmla="*/ 0 w 544"/>
              <a:gd name="T1" fmla="*/ 454 h 454"/>
              <a:gd name="T2" fmla="*/ 408 w 544"/>
              <a:gd name="T3" fmla="*/ 272 h 454"/>
              <a:gd name="T4" fmla="*/ 544 w 544"/>
              <a:gd name="T5" fmla="*/ 0 h 4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4" h="454">
                <a:moveTo>
                  <a:pt x="0" y="454"/>
                </a:moveTo>
                <a:cubicBezTo>
                  <a:pt x="158" y="401"/>
                  <a:pt x="317" y="348"/>
                  <a:pt x="408" y="272"/>
                </a:cubicBezTo>
                <a:cubicBezTo>
                  <a:pt x="499" y="196"/>
                  <a:pt x="521" y="45"/>
                  <a:pt x="544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84"/>
          <p:cNvSpPr/>
          <p:nvPr/>
        </p:nvSpPr>
        <p:spPr bwMode="auto">
          <a:xfrm>
            <a:off x="5546725" y="4195763"/>
            <a:ext cx="358775" cy="720725"/>
          </a:xfrm>
          <a:custGeom>
            <a:avLst/>
            <a:gdLst>
              <a:gd name="T0" fmla="*/ 318 w 325"/>
              <a:gd name="T1" fmla="*/ 454 h 454"/>
              <a:gd name="T2" fmla="*/ 272 w 325"/>
              <a:gd name="T3" fmla="*/ 91 h 454"/>
              <a:gd name="T4" fmla="*/ 0 w 325"/>
              <a:gd name="T5" fmla="*/ 0 h 4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5" h="454">
                <a:moveTo>
                  <a:pt x="318" y="454"/>
                </a:moveTo>
                <a:cubicBezTo>
                  <a:pt x="321" y="310"/>
                  <a:pt x="325" y="166"/>
                  <a:pt x="272" y="91"/>
                </a:cubicBezTo>
                <a:cubicBezTo>
                  <a:pt x="219" y="16"/>
                  <a:pt x="45" y="15"/>
                  <a:pt x="0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5" name="Freeform 85"/>
          <p:cNvSpPr/>
          <p:nvPr/>
        </p:nvSpPr>
        <p:spPr bwMode="auto">
          <a:xfrm>
            <a:off x="2738438" y="3043238"/>
            <a:ext cx="792162" cy="720725"/>
          </a:xfrm>
          <a:custGeom>
            <a:avLst/>
            <a:gdLst>
              <a:gd name="T0" fmla="*/ 499 w 499"/>
              <a:gd name="T1" fmla="*/ 454 h 454"/>
              <a:gd name="T2" fmla="*/ 408 w 499"/>
              <a:gd name="T3" fmla="*/ 136 h 454"/>
              <a:gd name="T4" fmla="*/ 0 w 499"/>
              <a:gd name="T5" fmla="*/ 0 h 4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99" h="454">
                <a:moveTo>
                  <a:pt x="499" y="454"/>
                </a:moveTo>
                <a:cubicBezTo>
                  <a:pt x="495" y="333"/>
                  <a:pt x="491" y="212"/>
                  <a:pt x="408" y="136"/>
                </a:cubicBezTo>
                <a:cubicBezTo>
                  <a:pt x="325" y="60"/>
                  <a:pt x="68" y="23"/>
                  <a:pt x="0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6" name="Freeform 86"/>
          <p:cNvSpPr/>
          <p:nvPr/>
        </p:nvSpPr>
        <p:spPr bwMode="auto">
          <a:xfrm>
            <a:off x="1946275" y="3332163"/>
            <a:ext cx="503238" cy="576262"/>
          </a:xfrm>
          <a:custGeom>
            <a:avLst/>
            <a:gdLst>
              <a:gd name="T0" fmla="*/ 0 w 317"/>
              <a:gd name="T1" fmla="*/ 363 h 363"/>
              <a:gd name="T2" fmla="*/ 272 w 317"/>
              <a:gd name="T3" fmla="*/ 181 h 363"/>
              <a:gd name="T4" fmla="*/ 272 w 317"/>
              <a:gd name="T5" fmla="*/ 0 h 36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7" h="363">
                <a:moveTo>
                  <a:pt x="0" y="363"/>
                </a:moveTo>
                <a:cubicBezTo>
                  <a:pt x="113" y="302"/>
                  <a:pt x="227" y="241"/>
                  <a:pt x="272" y="181"/>
                </a:cubicBezTo>
                <a:cubicBezTo>
                  <a:pt x="317" y="121"/>
                  <a:pt x="272" y="30"/>
                  <a:pt x="272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7" name="Freeform 87"/>
          <p:cNvSpPr/>
          <p:nvPr/>
        </p:nvSpPr>
        <p:spPr bwMode="auto">
          <a:xfrm>
            <a:off x="2593975" y="2395538"/>
            <a:ext cx="1584325" cy="503237"/>
          </a:xfrm>
          <a:custGeom>
            <a:avLst/>
            <a:gdLst>
              <a:gd name="T0" fmla="*/ 0 w 998"/>
              <a:gd name="T1" fmla="*/ 317 h 317"/>
              <a:gd name="T2" fmla="*/ 544 w 998"/>
              <a:gd name="T3" fmla="*/ 227 h 317"/>
              <a:gd name="T4" fmla="*/ 998 w 998"/>
              <a:gd name="T5" fmla="*/ 0 h 3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98" h="317">
                <a:moveTo>
                  <a:pt x="0" y="317"/>
                </a:moveTo>
                <a:cubicBezTo>
                  <a:pt x="189" y="298"/>
                  <a:pt x="378" y="280"/>
                  <a:pt x="544" y="227"/>
                </a:cubicBezTo>
                <a:cubicBezTo>
                  <a:pt x="710" y="174"/>
                  <a:pt x="923" y="38"/>
                  <a:pt x="998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Oval 88"/>
          <p:cNvSpPr>
            <a:spLocks noChangeArrowheads="1"/>
          </p:cNvSpPr>
          <p:nvPr/>
        </p:nvSpPr>
        <p:spPr bwMode="auto">
          <a:xfrm>
            <a:off x="785786" y="5780108"/>
            <a:ext cx="649288" cy="649288"/>
          </a:xfrm>
          <a:prstGeom prst="ellipse">
            <a:avLst/>
          </a:prstGeom>
          <a:solidFill>
            <a:srgbClr val="FF66FF"/>
          </a:solidFill>
          <a:ln w="19050">
            <a:solidFill>
              <a:srgbClr val="FF0000"/>
            </a:solidFill>
            <a:prstDash val="lgDash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H</a:t>
            </a:r>
            <a:endParaRPr lang="en-US" altLang="zh-CN" sz="2000" b="1"/>
          </a:p>
        </p:txBody>
      </p:sp>
      <p:sp>
        <p:nvSpPr>
          <p:cNvPr id="62" name="Oval 89"/>
          <p:cNvSpPr>
            <a:spLocks noChangeArrowheads="1"/>
          </p:cNvSpPr>
          <p:nvPr/>
        </p:nvSpPr>
        <p:spPr bwMode="auto">
          <a:xfrm>
            <a:off x="1643042" y="5786454"/>
            <a:ext cx="649288" cy="649288"/>
          </a:xfrm>
          <a:prstGeom prst="ellipse">
            <a:avLst/>
          </a:prstGeom>
          <a:solidFill>
            <a:srgbClr val="FF66FF"/>
          </a:solidFill>
          <a:ln w="19050">
            <a:solidFill>
              <a:srgbClr val="FF0000"/>
            </a:solidFill>
            <a:prstDash val="lgDash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I</a:t>
            </a:r>
            <a:endParaRPr lang="en-US" altLang="zh-CN" sz="2000" b="1"/>
          </a:p>
        </p:txBody>
      </p:sp>
      <p:sp>
        <p:nvSpPr>
          <p:cNvPr id="22564" name="Line 90"/>
          <p:cNvSpPr>
            <a:spLocks noChangeShapeType="1"/>
          </p:cNvSpPr>
          <p:nvPr/>
        </p:nvSpPr>
        <p:spPr bwMode="auto">
          <a:xfrm flipH="1">
            <a:off x="1071563" y="4429125"/>
            <a:ext cx="500062" cy="1357313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65" name="Line 91"/>
          <p:cNvSpPr>
            <a:spLocks noChangeShapeType="1"/>
          </p:cNvSpPr>
          <p:nvPr/>
        </p:nvSpPr>
        <p:spPr bwMode="auto">
          <a:xfrm>
            <a:off x="1730375" y="4411663"/>
            <a:ext cx="198438" cy="1446212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Oval 73"/>
          <p:cNvSpPr>
            <a:spLocks noChangeArrowheads="1"/>
          </p:cNvSpPr>
          <p:nvPr/>
        </p:nvSpPr>
        <p:spPr bwMode="auto">
          <a:xfrm>
            <a:off x="3241704" y="3763983"/>
            <a:ext cx="649288" cy="649287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E</a:t>
            </a:r>
            <a:endParaRPr lang="en-US" altLang="zh-CN" sz="2000" b="1"/>
          </a:p>
        </p:txBody>
      </p:sp>
      <p:sp>
        <p:nvSpPr>
          <p:cNvPr id="22569" name="Text Box 74"/>
          <p:cNvSpPr txBox="1">
            <a:spLocks noChangeArrowheads="1"/>
          </p:cNvSpPr>
          <p:nvPr/>
        </p:nvSpPr>
        <p:spPr bwMode="auto">
          <a:xfrm>
            <a:off x="3786188" y="3429000"/>
            <a:ext cx="847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0000FF"/>
                </a:solidFill>
              </a:rPr>
              <a:t>C</a:t>
            </a:r>
            <a:r>
              <a:rPr lang="en-US" altLang="zh-CN" sz="2000" b="1" baseline="-25000">
                <a:solidFill>
                  <a:srgbClr val="0000FF"/>
                </a:solidFill>
              </a:rPr>
              <a:t>r</a:t>
            </a:r>
            <a:r>
              <a:rPr lang="en-US" altLang="zh-CN" sz="2000" b="1">
                <a:solidFill>
                  <a:srgbClr val="0000FF"/>
                </a:solidFill>
              </a:rPr>
              <a:t>=14</a:t>
            </a:r>
            <a:endParaRPr lang="en-US" altLang="zh-CN" sz="2000" b="1">
              <a:solidFill>
                <a:srgbClr val="0000FF"/>
              </a:solidFill>
            </a:endParaRPr>
          </a:p>
          <a:p>
            <a:r>
              <a:rPr lang="en-US" altLang="zh-CN" sz="2000" b="1">
                <a:solidFill>
                  <a:srgbClr val="0000FF"/>
                </a:solidFill>
              </a:rPr>
              <a:t>V=45</a:t>
            </a:r>
            <a:endParaRPr lang="en-US" altLang="zh-CN" sz="2000" b="1">
              <a:solidFill>
                <a:srgbClr val="0000FF"/>
              </a:solidFill>
            </a:endParaRPr>
          </a:p>
        </p:txBody>
      </p:sp>
      <p:grpSp>
        <p:nvGrpSpPr>
          <p:cNvPr id="89" name="组合 88"/>
          <p:cNvGrpSpPr/>
          <p:nvPr/>
        </p:nvGrpSpPr>
        <p:grpSpPr bwMode="auto">
          <a:xfrm>
            <a:off x="5400675" y="4843463"/>
            <a:ext cx="2143125" cy="1323975"/>
            <a:chOff x="5400704" y="4843483"/>
            <a:chExt cx="2142717" cy="1323439"/>
          </a:xfrm>
        </p:grpSpPr>
        <p:sp>
          <p:nvSpPr>
            <p:cNvPr id="67" name="Oval 102"/>
            <p:cNvSpPr>
              <a:spLocks noChangeArrowheads="1"/>
            </p:cNvSpPr>
            <p:nvPr/>
          </p:nvSpPr>
          <p:spPr bwMode="auto">
            <a:xfrm>
              <a:off x="5400704" y="4916508"/>
              <a:ext cx="649288" cy="649287"/>
            </a:xfrm>
            <a:prstGeom prst="ellipse">
              <a:avLst/>
            </a:prstGeom>
            <a:solidFill>
              <a:srgbClr val="00800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/>
                <a:t>L</a:t>
              </a:r>
              <a:endParaRPr lang="en-US" altLang="zh-CN" sz="2000" b="1"/>
            </a:p>
          </p:txBody>
        </p:sp>
        <p:sp>
          <p:nvSpPr>
            <p:cNvPr id="22597" name="Text Box 111"/>
            <p:cNvSpPr txBox="1">
              <a:spLocks noChangeArrowheads="1"/>
            </p:cNvSpPr>
            <p:nvPr/>
          </p:nvSpPr>
          <p:spPr bwMode="auto">
            <a:xfrm>
              <a:off x="5976967" y="4843483"/>
              <a:ext cx="1566454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6600"/>
                  </a:solidFill>
                </a:rPr>
                <a:t>w</a:t>
              </a:r>
              <a:r>
                <a:rPr lang="en-US" altLang="zh-CN" sz="2000" b="1" baseline="-25000">
                  <a:solidFill>
                    <a:srgbClr val="006600"/>
                  </a:solidFill>
                </a:rPr>
                <a:t>3</a:t>
              </a:r>
              <a:r>
                <a:rPr lang="en-US" altLang="zh-CN" sz="2000" b="1">
                  <a:solidFill>
                    <a:srgbClr val="006600"/>
                  </a:solidFill>
                </a:rPr>
                <a:t>=15,v</a:t>
              </a:r>
              <a:r>
                <a:rPr lang="en-US" altLang="zh-CN" sz="2000" b="1" baseline="-25000">
                  <a:solidFill>
                    <a:srgbClr val="006600"/>
                  </a:solidFill>
                </a:rPr>
                <a:t>3</a:t>
              </a:r>
              <a:r>
                <a:rPr lang="en-US" altLang="zh-CN" sz="2000" b="1">
                  <a:solidFill>
                    <a:srgbClr val="006600"/>
                  </a:solidFill>
                </a:rPr>
                <a:t>=25</a:t>
              </a:r>
              <a:endParaRPr lang="en-US" altLang="zh-CN" sz="2000" b="1">
                <a:solidFill>
                  <a:srgbClr val="006600"/>
                </a:solidFill>
              </a:endParaRPr>
            </a:p>
            <a:p>
              <a:r>
                <a:rPr lang="en-US" altLang="zh-CN" sz="2000" b="1">
                  <a:solidFill>
                    <a:srgbClr val="006600"/>
                  </a:solidFill>
                </a:rPr>
                <a:t>C</a:t>
              </a:r>
              <a:r>
                <a:rPr lang="en-US" altLang="zh-CN" sz="2000" b="1" baseline="-25000">
                  <a:solidFill>
                    <a:srgbClr val="006600"/>
                  </a:solidFill>
                </a:rPr>
                <a:t>r</a:t>
              </a:r>
              <a:r>
                <a:rPr lang="en-US" altLang="zh-CN" sz="2000" b="1">
                  <a:solidFill>
                    <a:srgbClr val="006600"/>
                  </a:solidFill>
                </a:rPr>
                <a:t>=0,V=50</a:t>
              </a:r>
              <a:endParaRPr lang="en-US" altLang="zh-CN" sz="2000" b="1">
                <a:solidFill>
                  <a:srgbClr val="006600"/>
                </a:solidFill>
              </a:endParaRPr>
            </a:p>
            <a:p>
              <a:r>
                <a:rPr lang="en-US" altLang="zh-CN" sz="2000" b="1">
                  <a:solidFill>
                    <a:srgbClr val="006600"/>
                  </a:solidFill>
                </a:rPr>
                <a:t>50&gt;45</a:t>
              </a:r>
              <a:endParaRPr lang="en-US" altLang="zh-CN" sz="2000" b="1">
                <a:solidFill>
                  <a:srgbClr val="006600"/>
                </a:solidFill>
              </a:endParaRPr>
            </a:p>
            <a:p>
              <a:r>
                <a:rPr lang="en-US" altLang="zh-CN" sz="2000" b="1">
                  <a:solidFill>
                    <a:srgbClr val="006600"/>
                  </a:solidFill>
                </a:rPr>
                <a:t>x=(0,1,1)</a:t>
              </a:r>
              <a:endParaRPr lang="en-US" altLang="zh-CN" sz="2000" b="1">
                <a:solidFill>
                  <a:srgbClr val="006600"/>
                </a:solidFill>
              </a:endParaRPr>
            </a:p>
          </p:txBody>
        </p:sp>
      </p:grpSp>
      <p:grpSp>
        <p:nvGrpSpPr>
          <p:cNvPr id="88" name="组合 87"/>
          <p:cNvGrpSpPr/>
          <p:nvPr/>
        </p:nvGrpSpPr>
        <p:grpSpPr bwMode="auto">
          <a:xfrm>
            <a:off x="4970463" y="3643313"/>
            <a:ext cx="2211387" cy="708025"/>
            <a:chOff x="4970492" y="3643314"/>
            <a:chExt cx="2210678" cy="707886"/>
          </a:xfrm>
        </p:grpSpPr>
        <p:sp>
          <p:nvSpPr>
            <p:cNvPr id="69" name="Oval 100"/>
            <p:cNvSpPr>
              <a:spLocks noChangeArrowheads="1"/>
            </p:cNvSpPr>
            <p:nvPr/>
          </p:nvSpPr>
          <p:spPr bwMode="auto">
            <a:xfrm>
              <a:off x="4970492" y="3690958"/>
              <a:ext cx="649288" cy="649288"/>
            </a:xfrm>
            <a:prstGeom prst="ellipse">
              <a:avLst/>
            </a:prstGeom>
            <a:solidFill>
              <a:srgbClr val="0070C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/>
                <a:t>F</a:t>
              </a:r>
              <a:endParaRPr lang="en-US" altLang="zh-CN" sz="2000" b="1"/>
            </a:p>
          </p:txBody>
        </p:sp>
        <p:sp>
          <p:nvSpPr>
            <p:cNvPr id="22593" name="Text Box 110"/>
            <p:cNvSpPr txBox="1">
              <a:spLocks noChangeArrowheads="1"/>
            </p:cNvSpPr>
            <p:nvPr/>
          </p:nvSpPr>
          <p:spPr bwMode="auto">
            <a:xfrm>
              <a:off x="5643570" y="3643314"/>
              <a:ext cx="153760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w</a:t>
              </a:r>
              <a:r>
                <a:rPr lang="en-US" altLang="zh-CN" sz="2000" b="1" baseline="-25000">
                  <a:solidFill>
                    <a:srgbClr val="0000FF"/>
                  </a:solidFill>
                </a:rPr>
                <a:t>2</a:t>
              </a:r>
              <a:r>
                <a:rPr lang="en-US" altLang="zh-CN" sz="2000" b="1">
                  <a:solidFill>
                    <a:srgbClr val="0000FF"/>
                  </a:solidFill>
                </a:rPr>
                <a:t>=15,v</a:t>
              </a:r>
              <a:r>
                <a:rPr lang="en-US" altLang="zh-CN" sz="2000" b="1" baseline="-25000">
                  <a:solidFill>
                    <a:srgbClr val="0000FF"/>
                  </a:solidFill>
                </a:rPr>
                <a:t>2</a:t>
              </a:r>
              <a:r>
                <a:rPr lang="en-US" altLang="zh-CN" sz="2000" b="1">
                  <a:solidFill>
                    <a:srgbClr val="0000FF"/>
                  </a:solidFill>
                </a:rPr>
                <a:t>=25</a:t>
              </a:r>
              <a:endParaRPr lang="en-US" altLang="zh-CN" sz="2000" b="1">
                <a:solidFill>
                  <a:srgbClr val="0000FF"/>
                </a:solidFill>
              </a:endParaRPr>
            </a:p>
            <a:p>
              <a:r>
                <a:rPr lang="en-US" altLang="zh-CN" sz="2000" b="1">
                  <a:solidFill>
                    <a:srgbClr val="0000FF"/>
                  </a:solidFill>
                </a:rPr>
                <a:t>C</a:t>
              </a:r>
              <a:r>
                <a:rPr lang="en-US" altLang="zh-CN" sz="2000" b="1" baseline="-25000">
                  <a:solidFill>
                    <a:srgbClr val="0000FF"/>
                  </a:solidFill>
                </a:rPr>
                <a:t>r</a:t>
              </a:r>
              <a:r>
                <a:rPr lang="en-US" altLang="zh-CN" sz="2000" b="1">
                  <a:solidFill>
                    <a:srgbClr val="0000FF"/>
                  </a:solidFill>
                </a:rPr>
                <a:t>=15,V=25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</p:grpSp>
      <p:sp>
        <p:nvSpPr>
          <p:cNvPr id="22572" name="Freeform 130"/>
          <p:cNvSpPr/>
          <p:nvPr/>
        </p:nvSpPr>
        <p:spPr bwMode="auto">
          <a:xfrm>
            <a:off x="3817938" y="4267200"/>
            <a:ext cx="515937" cy="720725"/>
          </a:xfrm>
          <a:custGeom>
            <a:avLst/>
            <a:gdLst>
              <a:gd name="T0" fmla="*/ 318 w 325"/>
              <a:gd name="T1" fmla="*/ 454 h 454"/>
              <a:gd name="T2" fmla="*/ 272 w 325"/>
              <a:gd name="T3" fmla="*/ 91 h 454"/>
              <a:gd name="T4" fmla="*/ 0 w 325"/>
              <a:gd name="T5" fmla="*/ 0 h 4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5" h="454">
                <a:moveTo>
                  <a:pt x="318" y="454"/>
                </a:moveTo>
                <a:cubicBezTo>
                  <a:pt x="321" y="310"/>
                  <a:pt x="325" y="166"/>
                  <a:pt x="272" y="91"/>
                </a:cubicBezTo>
                <a:cubicBezTo>
                  <a:pt x="219" y="16"/>
                  <a:pt x="45" y="15"/>
                  <a:pt x="0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2573" name="直接连接符 74"/>
          <p:cNvCxnSpPr>
            <a:cxnSpLocks noChangeShapeType="1"/>
            <a:stCxn id="0" idx="2"/>
            <a:endCxn id="0" idx="7"/>
          </p:cNvCxnSpPr>
          <p:nvPr/>
        </p:nvCxnSpPr>
        <p:spPr bwMode="auto">
          <a:xfrm rot="10800000" flipV="1">
            <a:off x="2571750" y="2109788"/>
            <a:ext cx="1285875" cy="668337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22574" name="直接连接符 75"/>
          <p:cNvCxnSpPr>
            <a:cxnSpLocks noChangeShapeType="1"/>
            <a:stCxn id="0" idx="3"/>
            <a:endCxn id="0" idx="0"/>
          </p:cNvCxnSpPr>
          <p:nvPr/>
        </p:nvCxnSpPr>
        <p:spPr bwMode="auto">
          <a:xfrm rot="5400000">
            <a:off x="1640682" y="3291681"/>
            <a:ext cx="527050" cy="417513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22575" name="直接连接符 76"/>
          <p:cNvCxnSpPr>
            <a:cxnSpLocks noChangeShapeType="1"/>
            <a:stCxn id="0" idx="5"/>
            <a:endCxn id="0" idx="1"/>
          </p:cNvCxnSpPr>
          <p:nvPr/>
        </p:nvCxnSpPr>
        <p:spPr bwMode="auto">
          <a:xfrm rot="16200000" flipH="1">
            <a:off x="2643188" y="3165475"/>
            <a:ext cx="622300" cy="765175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78" name="直接连接符 77"/>
          <p:cNvCxnSpPr>
            <a:cxnSpLocks noChangeShapeType="1"/>
            <a:stCxn id="0" idx="6"/>
            <a:endCxn id="0" idx="1"/>
          </p:cNvCxnSpPr>
          <p:nvPr/>
        </p:nvCxnSpPr>
        <p:spPr bwMode="auto">
          <a:xfrm>
            <a:off x="4506913" y="2109788"/>
            <a:ext cx="990600" cy="668337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79" name="直接连接符 78"/>
          <p:cNvCxnSpPr>
            <a:cxnSpLocks noChangeShapeType="1"/>
            <a:stCxn id="0" idx="3"/>
            <a:endCxn id="0" idx="0"/>
          </p:cNvCxnSpPr>
          <p:nvPr/>
        </p:nvCxnSpPr>
        <p:spPr bwMode="auto">
          <a:xfrm rot="5400000">
            <a:off x="5169694" y="3363119"/>
            <a:ext cx="454025" cy="201613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22578" name="直接连接符 80"/>
          <p:cNvCxnSpPr>
            <a:cxnSpLocks noChangeShapeType="1"/>
            <a:stCxn id="0" idx="3"/>
            <a:endCxn id="0" idx="7"/>
          </p:cNvCxnSpPr>
          <p:nvPr/>
        </p:nvCxnSpPr>
        <p:spPr bwMode="auto">
          <a:xfrm rot="5400000">
            <a:off x="2570956" y="4317207"/>
            <a:ext cx="765175" cy="766762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22579" name="直接连接符 81"/>
          <p:cNvCxnSpPr>
            <a:cxnSpLocks noChangeShapeType="1"/>
            <a:stCxn id="0" idx="5"/>
            <a:endCxn id="0" idx="0"/>
          </p:cNvCxnSpPr>
          <p:nvPr/>
        </p:nvCxnSpPr>
        <p:spPr bwMode="auto">
          <a:xfrm rot="16200000" flipH="1">
            <a:off x="3671094" y="4442619"/>
            <a:ext cx="596900" cy="347662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83" name="直接连接符 82"/>
          <p:cNvCxnSpPr>
            <a:cxnSpLocks noChangeShapeType="1"/>
            <a:stCxn id="0" idx="4"/>
            <a:endCxn id="0" idx="1"/>
          </p:cNvCxnSpPr>
          <p:nvPr/>
        </p:nvCxnSpPr>
        <p:spPr bwMode="auto">
          <a:xfrm rot="16200000" flipH="1">
            <a:off x="5060156" y="4575969"/>
            <a:ext cx="671513" cy="200025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sp>
        <p:nvSpPr>
          <p:cNvPr id="84" name="圆角矩形标注 83"/>
          <p:cNvSpPr/>
          <p:nvPr/>
        </p:nvSpPr>
        <p:spPr bwMode="auto">
          <a:xfrm>
            <a:off x="6286512" y="214290"/>
            <a:ext cx="2643206" cy="1857388"/>
          </a:xfrm>
          <a:prstGeom prst="wedgeRoundRectCallout">
            <a:avLst>
              <a:gd name="adj1" fmla="val -53092"/>
              <a:gd name="adj2" fmla="val 71615"/>
              <a:gd name="adj3" fmla="val 16667"/>
            </a:avLst>
          </a:prstGeom>
          <a:solidFill>
            <a:srgbClr val="CCFF99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再次成为扩展结点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扩展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到达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C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Cr=30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V=0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，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活结点为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C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C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为当前扩展结点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5" name="圆角矩形标注 84"/>
          <p:cNvSpPr/>
          <p:nvPr/>
        </p:nvSpPr>
        <p:spPr bwMode="auto">
          <a:xfrm>
            <a:off x="2143108" y="2071678"/>
            <a:ext cx="2643206" cy="1857388"/>
          </a:xfrm>
          <a:prstGeom prst="wedgeRoundRectCallout">
            <a:avLst>
              <a:gd name="adj1" fmla="val 61660"/>
              <a:gd name="adj2" fmla="val 37994"/>
              <a:gd name="adj3" fmla="val 16667"/>
            </a:avLst>
          </a:prstGeom>
          <a:solidFill>
            <a:srgbClr val="CCFF99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扩展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C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，先到达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F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Cr=Cr-w2=15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V=V+v2=25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此时活结点为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A,C,F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F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成为当前扩展结点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6" name="圆角矩形标注 85"/>
          <p:cNvSpPr/>
          <p:nvPr/>
        </p:nvSpPr>
        <p:spPr bwMode="auto">
          <a:xfrm>
            <a:off x="2143108" y="3929066"/>
            <a:ext cx="2714644" cy="2857496"/>
          </a:xfrm>
          <a:prstGeom prst="wedgeRoundRectCallout">
            <a:avLst>
              <a:gd name="adj1" fmla="val 69557"/>
              <a:gd name="adj2" fmla="val 1379"/>
              <a:gd name="adj3" fmla="val 16667"/>
            </a:avLst>
          </a:prstGeom>
          <a:solidFill>
            <a:srgbClr val="CCFF99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扩展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F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，先到达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L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Cr=Cr-w3=0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V=V+v3=50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L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是叶结点，且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50&gt;45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得到一个可行解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x=(0,1,1)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V=50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L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不可扩展，死结点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返回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F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altLang="zh-CN" smtClean="0"/>
              <a:t>n=3, </a:t>
            </a:r>
            <a:r>
              <a:rPr lang="en-US" altLang="zh-CN" smtClean="0">
                <a:solidFill>
                  <a:srgbClr val="FF0000"/>
                </a:solidFill>
              </a:rPr>
              <a:t>C=30</a:t>
            </a:r>
            <a:r>
              <a:rPr lang="en-US" altLang="zh-CN" smtClean="0"/>
              <a:t>, </a:t>
            </a:r>
            <a:r>
              <a:rPr lang="en-US" altLang="zh-CN" smtClean="0">
                <a:solidFill>
                  <a:srgbClr val="0000FF"/>
                </a:solidFill>
              </a:rPr>
              <a:t>w={16,15,15}</a:t>
            </a:r>
            <a:r>
              <a:rPr lang="en-US" altLang="zh-CN" smtClean="0"/>
              <a:t>, </a:t>
            </a:r>
            <a:r>
              <a:rPr lang="en-US" altLang="zh-CN" smtClean="0">
                <a:solidFill>
                  <a:srgbClr val="FF0000"/>
                </a:solidFill>
              </a:rPr>
              <a:t>v={45,25,25}</a:t>
            </a:r>
            <a:endParaRPr lang="zh-CN" altLang="en-US" smtClean="0"/>
          </a:p>
        </p:txBody>
      </p:sp>
      <p:sp>
        <p:nvSpPr>
          <p:cNvPr id="44" name="Oval 62"/>
          <p:cNvSpPr>
            <a:spLocks noChangeArrowheads="1"/>
          </p:cNvSpPr>
          <p:nvPr/>
        </p:nvSpPr>
        <p:spPr bwMode="auto">
          <a:xfrm>
            <a:off x="3857620" y="1785926"/>
            <a:ext cx="649288" cy="649288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/>
              <a:t>A</a:t>
            </a:r>
            <a:endParaRPr lang="en-US" altLang="zh-CN" sz="2000" b="1" dirty="0"/>
          </a:p>
        </p:txBody>
      </p:sp>
      <p:sp>
        <p:nvSpPr>
          <p:cNvPr id="23559" name="Text Box 65"/>
          <p:cNvSpPr txBox="1">
            <a:spLocks noChangeArrowheads="1"/>
          </p:cNvSpPr>
          <p:nvPr/>
        </p:nvSpPr>
        <p:spPr bwMode="auto">
          <a:xfrm>
            <a:off x="4500563" y="1857375"/>
            <a:ext cx="1704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0000FF"/>
                </a:solidFill>
              </a:rPr>
              <a:t>C</a:t>
            </a:r>
            <a:r>
              <a:rPr lang="en-US" altLang="zh-CN" sz="2000" b="1" baseline="-25000">
                <a:solidFill>
                  <a:srgbClr val="0000FF"/>
                </a:solidFill>
              </a:rPr>
              <a:t>r</a:t>
            </a:r>
            <a:r>
              <a:rPr lang="en-US" altLang="zh-CN" sz="2000" b="1">
                <a:solidFill>
                  <a:srgbClr val="0000FF"/>
                </a:solidFill>
              </a:rPr>
              <a:t>=C=30,V=0</a:t>
            </a:r>
            <a:endParaRPr lang="en-US" altLang="zh-CN" sz="2000" b="1">
              <a:solidFill>
                <a:srgbClr val="0000FF"/>
              </a:solidFill>
            </a:endParaRPr>
          </a:p>
        </p:txBody>
      </p:sp>
      <p:sp>
        <p:nvSpPr>
          <p:cNvPr id="46" name="Oval 64"/>
          <p:cNvSpPr>
            <a:spLocks noChangeArrowheads="1"/>
          </p:cNvSpPr>
          <p:nvPr/>
        </p:nvSpPr>
        <p:spPr bwMode="auto">
          <a:xfrm>
            <a:off x="2017742" y="2682896"/>
            <a:ext cx="649287" cy="649288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/>
              <a:t>B</a:t>
            </a:r>
            <a:endParaRPr lang="en-US" altLang="zh-CN" sz="2000" b="1" dirty="0"/>
          </a:p>
        </p:txBody>
      </p:sp>
      <p:sp>
        <p:nvSpPr>
          <p:cNvPr id="23563" name="Text Box 66"/>
          <p:cNvSpPr txBox="1">
            <a:spLocks noChangeArrowheads="1"/>
          </p:cNvSpPr>
          <p:nvPr/>
        </p:nvSpPr>
        <p:spPr bwMode="auto">
          <a:xfrm>
            <a:off x="571500" y="2428875"/>
            <a:ext cx="15382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0000FF"/>
                </a:solidFill>
              </a:rPr>
              <a:t>w</a:t>
            </a:r>
            <a:r>
              <a:rPr lang="en-US" altLang="zh-CN" sz="2000" b="1" baseline="-25000">
                <a:solidFill>
                  <a:srgbClr val="0000FF"/>
                </a:solidFill>
              </a:rPr>
              <a:t>1</a:t>
            </a:r>
            <a:r>
              <a:rPr lang="en-US" altLang="zh-CN" sz="2000" b="1">
                <a:solidFill>
                  <a:srgbClr val="0000FF"/>
                </a:solidFill>
              </a:rPr>
              <a:t>=16,v</a:t>
            </a:r>
            <a:r>
              <a:rPr lang="en-US" altLang="zh-CN" sz="2000" b="1" baseline="-25000">
                <a:solidFill>
                  <a:srgbClr val="0000FF"/>
                </a:solidFill>
              </a:rPr>
              <a:t>1</a:t>
            </a:r>
            <a:r>
              <a:rPr lang="en-US" altLang="zh-CN" sz="2000" b="1">
                <a:solidFill>
                  <a:srgbClr val="0000FF"/>
                </a:solidFill>
              </a:rPr>
              <a:t>=45</a:t>
            </a:r>
            <a:endParaRPr lang="en-US" altLang="zh-CN" sz="2000" b="1">
              <a:solidFill>
                <a:srgbClr val="0000FF"/>
              </a:solidFill>
            </a:endParaRPr>
          </a:p>
          <a:p>
            <a:r>
              <a:rPr lang="en-US" altLang="zh-CN" sz="2000" b="1">
                <a:solidFill>
                  <a:srgbClr val="0000FF"/>
                </a:solidFill>
              </a:rPr>
              <a:t>C</a:t>
            </a:r>
            <a:r>
              <a:rPr lang="en-US" altLang="zh-CN" sz="2000" b="1" baseline="-25000">
                <a:solidFill>
                  <a:srgbClr val="0000FF"/>
                </a:solidFill>
              </a:rPr>
              <a:t>r</a:t>
            </a:r>
            <a:r>
              <a:rPr lang="en-US" altLang="zh-CN" sz="2000" b="1">
                <a:solidFill>
                  <a:srgbClr val="0000FF"/>
                </a:solidFill>
              </a:rPr>
              <a:t>=14,V=45</a:t>
            </a:r>
            <a:endParaRPr lang="en-US" altLang="zh-CN" sz="2000" b="1">
              <a:solidFill>
                <a:srgbClr val="0000FF"/>
              </a:solidFill>
            </a:endParaRPr>
          </a:p>
        </p:txBody>
      </p:sp>
      <p:sp>
        <p:nvSpPr>
          <p:cNvPr id="48" name="Oval 67"/>
          <p:cNvSpPr>
            <a:spLocks noChangeArrowheads="1"/>
          </p:cNvSpPr>
          <p:nvPr/>
        </p:nvSpPr>
        <p:spPr bwMode="auto">
          <a:xfrm>
            <a:off x="5402292" y="2682896"/>
            <a:ext cx="649287" cy="649287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/>
              <a:t>C</a:t>
            </a:r>
            <a:endParaRPr lang="en-US" altLang="zh-CN" sz="2000" b="1" dirty="0"/>
          </a:p>
        </p:txBody>
      </p:sp>
      <p:sp>
        <p:nvSpPr>
          <p:cNvPr id="23567" name="Text Box 68"/>
          <p:cNvSpPr txBox="1">
            <a:spLocks noChangeArrowheads="1"/>
          </p:cNvSpPr>
          <p:nvPr/>
        </p:nvSpPr>
        <p:spPr bwMode="auto">
          <a:xfrm>
            <a:off x="5978525" y="2755900"/>
            <a:ext cx="1373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0000FF"/>
                </a:solidFill>
              </a:rPr>
              <a:t>C</a:t>
            </a:r>
            <a:r>
              <a:rPr lang="en-US" altLang="zh-CN" sz="2000" b="1" baseline="-25000">
                <a:solidFill>
                  <a:srgbClr val="0000FF"/>
                </a:solidFill>
              </a:rPr>
              <a:t>r</a:t>
            </a:r>
            <a:r>
              <a:rPr lang="en-US" altLang="zh-CN" sz="2000" b="1">
                <a:solidFill>
                  <a:srgbClr val="0000FF"/>
                </a:solidFill>
              </a:rPr>
              <a:t>=30,V=0</a:t>
            </a:r>
            <a:endParaRPr lang="en-US" altLang="zh-CN" sz="2000" b="1">
              <a:solidFill>
                <a:srgbClr val="0000FF"/>
              </a:solidFill>
            </a:endParaRPr>
          </a:p>
        </p:txBody>
      </p:sp>
      <p:sp>
        <p:nvSpPr>
          <p:cNvPr id="50" name="Oval 71"/>
          <p:cNvSpPr>
            <a:spLocks noChangeArrowheads="1"/>
          </p:cNvSpPr>
          <p:nvPr/>
        </p:nvSpPr>
        <p:spPr bwMode="auto">
          <a:xfrm>
            <a:off x="1370042" y="3763983"/>
            <a:ext cx="649287" cy="649288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D</a:t>
            </a:r>
            <a:endParaRPr lang="en-US" altLang="zh-CN" sz="2000" b="1"/>
          </a:p>
        </p:txBody>
      </p:sp>
      <p:sp>
        <p:nvSpPr>
          <p:cNvPr id="23571" name="Text Box 72"/>
          <p:cNvSpPr txBox="1">
            <a:spLocks noChangeArrowheads="1"/>
          </p:cNvSpPr>
          <p:nvPr/>
        </p:nvSpPr>
        <p:spPr bwMode="auto">
          <a:xfrm>
            <a:off x="1928813" y="3929063"/>
            <a:ext cx="12176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FF0000"/>
                </a:solidFill>
              </a:rPr>
              <a:t>C</a:t>
            </a:r>
            <a:r>
              <a:rPr lang="en-US" altLang="zh-CN" sz="2000" b="1" baseline="-25000">
                <a:solidFill>
                  <a:srgbClr val="FF0000"/>
                </a:solidFill>
              </a:rPr>
              <a:t>r</a:t>
            </a:r>
            <a:r>
              <a:rPr lang="en-US" altLang="zh-CN" sz="2000" b="1">
                <a:solidFill>
                  <a:srgbClr val="FF0000"/>
                </a:solidFill>
              </a:rPr>
              <a:t>&lt;w</a:t>
            </a:r>
            <a:r>
              <a:rPr lang="en-US" altLang="zh-CN" sz="2000" b="1" baseline="-25000">
                <a:solidFill>
                  <a:srgbClr val="FF0000"/>
                </a:solidFill>
              </a:rPr>
              <a:t>2</a:t>
            </a:r>
            <a:endParaRPr lang="en-US" altLang="zh-CN" sz="2000" b="1" baseline="-25000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  <a:ea typeface="楷体_GB2312" pitchFamily="49" charset="-122"/>
              </a:rPr>
              <a:t>不可行解</a:t>
            </a:r>
            <a:endParaRPr lang="zh-CN" altLang="en-US" sz="2000" b="1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52" name="Oval 75"/>
          <p:cNvSpPr>
            <a:spLocks noChangeArrowheads="1"/>
          </p:cNvSpPr>
          <p:nvPr/>
        </p:nvSpPr>
        <p:spPr bwMode="auto">
          <a:xfrm>
            <a:off x="2016154" y="4987946"/>
            <a:ext cx="649288" cy="649287"/>
          </a:xfrm>
          <a:prstGeom prst="ellipse">
            <a:avLst/>
          </a:prstGeom>
          <a:solidFill>
            <a:srgbClr val="C0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/>
              <a:t>J</a:t>
            </a:r>
            <a:endParaRPr lang="en-US" altLang="zh-CN" sz="2000" b="1" dirty="0"/>
          </a:p>
        </p:txBody>
      </p:sp>
      <p:sp>
        <p:nvSpPr>
          <p:cNvPr id="23575" name="Text Box 77"/>
          <p:cNvSpPr txBox="1">
            <a:spLocks noChangeArrowheads="1"/>
          </p:cNvSpPr>
          <p:nvPr/>
        </p:nvSpPr>
        <p:spPr bwMode="auto">
          <a:xfrm>
            <a:off x="2643188" y="5143500"/>
            <a:ext cx="12176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FF0000"/>
                </a:solidFill>
              </a:rPr>
              <a:t>C</a:t>
            </a:r>
            <a:r>
              <a:rPr lang="en-US" altLang="zh-CN" sz="2000" b="1" baseline="-25000">
                <a:solidFill>
                  <a:srgbClr val="FF0000"/>
                </a:solidFill>
              </a:rPr>
              <a:t>r</a:t>
            </a:r>
            <a:r>
              <a:rPr lang="en-US" altLang="zh-CN" sz="2000" b="1">
                <a:solidFill>
                  <a:srgbClr val="FF0000"/>
                </a:solidFill>
              </a:rPr>
              <a:t>&lt;w</a:t>
            </a:r>
            <a:r>
              <a:rPr lang="en-US" altLang="zh-CN" sz="2000" b="1" baseline="-25000">
                <a:solidFill>
                  <a:srgbClr val="FF0000"/>
                </a:solidFill>
              </a:rPr>
              <a:t>3</a:t>
            </a:r>
            <a:endParaRPr lang="en-US" altLang="zh-CN" sz="2000" b="1" baseline="-25000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  <a:ea typeface="楷体_GB2312" pitchFamily="49" charset="-122"/>
              </a:rPr>
              <a:t>不可行解</a:t>
            </a:r>
            <a:endParaRPr lang="zh-CN" altLang="en-US" sz="2000" b="1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54" name="Oval 79"/>
          <p:cNvSpPr>
            <a:spLocks noChangeArrowheads="1"/>
          </p:cNvSpPr>
          <p:nvPr/>
        </p:nvSpPr>
        <p:spPr bwMode="auto">
          <a:xfrm>
            <a:off x="3817967" y="4914921"/>
            <a:ext cx="649288" cy="649288"/>
          </a:xfrm>
          <a:prstGeom prst="ellipse">
            <a:avLst/>
          </a:prstGeom>
          <a:solidFill>
            <a:srgbClr val="008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K</a:t>
            </a:r>
            <a:endParaRPr lang="en-US" altLang="zh-CN" sz="2000" b="1"/>
          </a:p>
        </p:txBody>
      </p:sp>
      <p:sp>
        <p:nvSpPr>
          <p:cNvPr id="23579" name="Text Box 80"/>
          <p:cNvSpPr txBox="1">
            <a:spLocks noChangeArrowheads="1"/>
          </p:cNvSpPr>
          <p:nvPr/>
        </p:nvSpPr>
        <p:spPr bwMode="auto">
          <a:xfrm>
            <a:off x="4394200" y="4843463"/>
            <a:ext cx="12239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006600"/>
                </a:solidFill>
              </a:rPr>
              <a:t>C</a:t>
            </a:r>
            <a:r>
              <a:rPr lang="en-US" altLang="zh-CN" sz="2000" b="1" baseline="-25000">
                <a:solidFill>
                  <a:srgbClr val="006600"/>
                </a:solidFill>
              </a:rPr>
              <a:t>r</a:t>
            </a:r>
            <a:r>
              <a:rPr lang="en-US" altLang="zh-CN" sz="2000" b="1">
                <a:solidFill>
                  <a:srgbClr val="006600"/>
                </a:solidFill>
              </a:rPr>
              <a:t>=14</a:t>
            </a:r>
            <a:endParaRPr lang="en-US" altLang="zh-CN" sz="2000" b="1">
              <a:solidFill>
                <a:srgbClr val="006600"/>
              </a:solidFill>
            </a:endParaRPr>
          </a:p>
          <a:p>
            <a:r>
              <a:rPr lang="en-US" altLang="zh-CN" sz="2000" b="1">
                <a:solidFill>
                  <a:srgbClr val="006600"/>
                </a:solidFill>
              </a:rPr>
              <a:t>V=45</a:t>
            </a:r>
            <a:endParaRPr lang="en-US" altLang="zh-CN" sz="2000" b="1">
              <a:solidFill>
                <a:srgbClr val="006600"/>
              </a:solidFill>
            </a:endParaRPr>
          </a:p>
          <a:p>
            <a:r>
              <a:rPr lang="en-US" altLang="zh-CN" sz="2000" b="1">
                <a:solidFill>
                  <a:srgbClr val="006600"/>
                </a:solidFill>
              </a:rPr>
              <a:t>x=(1,0,0)</a:t>
            </a:r>
            <a:endParaRPr lang="en-US" altLang="zh-CN" sz="2000" b="1">
              <a:solidFill>
                <a:srgbClr val="006600"/>
              </a:solidFill>
            </a:endParaRPr>
          </a:p>
        </p:txBody>
      </p:sp>
      <p:sp>
        <p:nvSpPr>
          <p:cNvPr id="23580" name="Freeform 83"/>
          <p:cNvSpPr/>
          <p:nvPr/>
        </p:nvSpPr>
        <p:spPr bwMode="auto">
          <a:xfrm>
            <a:off x="2593975" y="4411663"/>
            <a:ext cx="863600" cy="720725"/>
          </a:xfrm>
          <a:custGeom>
            <a:avLst/>
            <a:gdLst>
              <a:gd name="T0" fmla="*/ 0 w 544"/>
              <a:gd name="T1" fmla="*/ 454 h 454"/>
              <a:gd name="T2" fmla="*/ 408 w 544"/>
              <a:gd name="T3" fmla="*/ 272 h 454"/>
              <a:gd name="T4" fmla="*/ 544 w 544"/>
              <a:gd name="T5" fmla="*/ 0 h 4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4" h="454">
                <a:moveTo>
                  <a:pt x="0" y="454"/>
                </a:moveTo>
                <a:cubicBezTo>
                  <a:pt x="158" y="401"/>
                  <a:pt x="317" y="348"/>
                  <a:pt x="408" y="272"/>
                </a:cubicBezTo>
                <a:cubicBezTo>
                  <a:pt x="499" y="196"/>
                  <a:pt x="521" y="45"/>
                  <a:pt x="544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1" name="Freeform 84"/>
          <p:cNvSpPr/>
          <p:nvPr/>
        </p:nvSpPr>
        <p:spPr bwMode="auto">
          <a:xfrm>
            <a:off x="5546725" y="4195763"/>
            <a:ext cx="358775" cy="720725"/>
          </a:xfrm>
          <a:custGeom>
            <a:avLst/>
            <a:gdLst>
              <a:gd name="T0" fmla="*/ 318 w 325"/>
              <a:gd name="T1" fmla="*/ 454 h 454"/>
              <a:gd name="T2" fmla="*/ 272 w 325"/>
              <a:gd name="T3" fmla="*/ 91 h 454"/>
              <a:gd name="T4" fmla="*/ 0 w 325"/>
              <a:gd name="T5" fmla="*/ 0 h 4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5" h="454">
                <a:moveTo>
                  <a:pt x="318" y="454"/>
                </a:moveTo>
                <a:cubicBezTo>
                  <a:pt x="321" y="310"/>
                  <a:pt x="325" y="166"/>
                  <a:pt x="272" y="91"/>
                </a:cubicBezTo>
                <a:cubicBezTo>
                  <a:pt x="219" y="16"/>
                  <a:pt x="45" y="15"/>
                  <a:pt x="0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2" name="Freeform 85"/>
          <p:cNvSpPr/>
          <p:nvPr/>
        </p:nvSpPr>
        <p:spPr bwMode="auto">
          <a:xfrm>
            <a:off x="2738438" y="3043238"/>
            <a:ext cx="792162" cy="720725"/>
          </a:xfrm>
          <a:custGeom>
            <a:avLst/>
            <a:gdLst>
              <a:gd name="T0" fmla="*/ 499 w 499"/>
              <a:gd name="T1" fmla="*/ 454 h 454"/>
              <a:gd name="T2" fmla="*/ 408 w 499"/>
              <a:gd name="T3" fmla="*/ 136 h 454"/>
              <a:gd name="T4" fmla="*/ 0 w 499"/>
              <a:gd name="T5" fmla="*/ 0 h 4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99" h="454">
                <a:moveTo>
                  <a:pt x="499" y="454"/>
                </a:moveTo>
                <a:cubicBezTo>
                  <a:pt x="495" y="333"/>
                  <a:pt x="491" y="212"/>
                  <a:pt x="408" y="136"/>
                </a:cubicBezTo>
                <a:cubicBezTo>
                  <a:pt x="325" y="60"/>
                  <a:pt x="68" y="23"/>
                  <a:pt x="0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3" name="Freeform 86"/>
          <p:cNvSpPr/>
          <p:nvPr/>
        </p:nvSpPr>
        <p:spPr bwMode="auto">
          <a:xfrm>
            <a:off x="1946275" y="3332163"/>
            <a:ext cx="503238" cy="576262"/>
          </a:xfrm>
          <a:custGeom>
            <a:avLst/>
            <a:gdLst>
              <a:gd name="T0" fmla="*/ 0 w 317"/>
              <a:gd name="T1" fmla="*/ 363 h 363"/>
              <a:gd name="T2" fmla="*/ 272 w 317"/>
              <a:gd name="T3" fmla="*/ 181 h 363"/>
              <a:gd name="T4" fmla="*/ 272 w 317"/>
              <a:gd name="T5" fmla="*/ 0 h 36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7" h="363">
                <a:moveTo>
                  <a:pt x="0" y="363"/>
                </a:moveTo>
                <a:cubicBezTo>
                  <a:pt x="113" y="302"/>
                  <a:pt x="227" y="241"/>
                  <a:pt x="272" y="181"/>
                </a:cubicBezTo>
                <a:cubicBezTo>
                  <a:pt x="317" y="121"/>
                  <a:pt x="272" y="30"/>
                  <a:pt x="272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4" name="Freeform 87"/>
          <p:cNvSpPr/>
          <p:nvPr/>
        </p:nvSpPr>
        <p:spPr bwMode="auto">
          <a:xfrm>
            <a:off x="2593975" y="2395538"/>
            <a:ext cx="1584325" cy="503237"/>
          </a:xfrm>
          <a:custGeom>
            <a:avLst/>
            <a:gdLst>
              <a:gd name="T0" fmla="*/ 0 w 998"/>
              <a:gd name="T1" fmla="*/ 317 h 317"/>
              <a:gd name="T2" fmla="*/ 544 w 998"/>
              <a:gd name="T3" fmla="*/ 227 h 317"/>
              <a:gd name="T4" fmla="*/ 998 w 998"/>
              <a:gd name="T5" fmla="*/ 0 h 3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98" h="317">
                <a:moveTo>
                  <a:pt x="0" y="317"/>
                </a:moveTo>
                <a:cubicBezTo>
                  <a:pt x="189" y="298"/>
                  <a:pt x="378" y="280"/>
                  <a:pt x="544" y="227"/>
                </a:cubicBezTo>
                <a:cubicBezTo>
                  <a:pt x="710" y="174"/>
                  <a:pt x="923" y="38"/>
                  <a:pt x="998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Oval 88"/>
          <p:cNvSpPr>
            <a:spLocks noChangeArrowheads="1"/>
          </p:cNvSpPr>
          <p:nvPr/>
        </p:nvSpPr>
        <p:spPr bwMode="auto">
          <a:xfrm>
            <a:off x="785786" y="5780108"/>
            <a:ext cx="649288" cy="649288"/>
          </a:xfrm>
          <a:prstGeom prst="ellipse">
            <a:avLst/>
          </a:prstGeom>
          <a:solidFill>
            <a:srgbClr val="FF66FF"/>
          </a:solidFill>
          <a:ln w="19050">
            <a:solidFill>
              <a:srgbClr val="FF0000"/>
            </a:solidFill>
            <a:prstDash val="lgDash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H</a:t>
            </a:r>
            <a:endParaRPr lang="en-US" altLang="zh-CN" sz="2000" b="1"/>
          </a:p>
        </p:txBody>
      </p:sp>
      <p:sp>
        <p:nvSpPr>
          <p:cNvPr id="62" name="Oval 89"/>
          <p:cNvSpPr>
            <a:spLocks noChangeArrowheads="1"/>
          </p:cNvSpPr>
          <p:nvPr/>
        </p:nvSpPr>
        <p:spPr bwMode="auto">
          <a:xfrm>
            <a:off x="1643042" y="5786454"/>
            <a:ext cx="649288" cy="649288"/>
          </a:xfrm>
          <a:prstGeom prst="ellipse">
            <a:avLst/>
          </a:prstGeom>
          <a:solidFill>
            <a:srgbClr val="FF66FF"/>
          </a:solidFill>
          <a:ln w="19050">
            <a:solidFill>
              <a:srgbClr val="FF0000"/>
            </a:solidFill>
            <a:prstDash val="lgDash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I</a:t>
            </a:r>
            <a:endParaRPr lang="en-US" altLang="zh-CN" sz="2000" b="1"/>
          </a:p>
        </p:txBody>
      </p:sp>
      <p:sp>
        <p:nvSpPr>
          <p:cNvPr id="23591" name="Line 90"/>
          <p:cNvSpPr>
            <a:spLocks noChangeShapeType="1"/>
          </p:cNvSpPr>
          <p:nvPr/>
        </p:nvSpPr>
        <p:spPr bwMode="auto">
          <a:xfrm flipH="1">
            <a:off x="1071563" y="4429125"/>
            <a:ext cx="500062" cy="1357313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2" name="Line 91"/>
          <p:cNvSpPr>
            <a:spLocks noChangeShapeType="1"/>
          </p:cNvSpPr>
          <p:nvPr/>
        </p:nvSpPr>
        <p:spPr bwMode="auto">
          <a:xfrm>
            <a:off x="1730375" y="4411663"/>
            <a:ext cx="198438" cy="1446212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Oval 73"/>
          <p:cNvSpPr>
            <a:spLocks noChangeArrowheads="1"/>
          </p:cNvSpPr>
          <p:nvPr/>
        </p:nvSpPr>
        <p:spPr bwMode="auto">
          <a:xfrm>
            <a:off x="3241704" y="3763983"/>
            <a:ext cx="649288" cy="649287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E</a:t>
            </a:r>
            <a:endParaRPr lang="en-US" altLang="zh-CN" sz="2000" b="1"/>
          </a:p>
        </p:txBody>
      </p:sp>
      <p:sp>
        <p:nvSpPr>
          <p:cNvPr id="23596" name="Text Box 74"/>
          <p:cNvSpPr txBox="1">
            <a:spLocks noChangeArrowheads="1"/>
          </p:cNvSpPr>
          <p:nvPr/>
        </p:nvSpPr>
        <p:spPr bwMode="auto">
          <a:xfrm>
            <a:off x="3786188" y="3429000"/>
            <a:ext cx="847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0000FF"/>
                </a:solidFill>
              </a:rPr>
              <a:t>C</a:t>
            </a:r>
            <a:r>
              <a:rPr lang="en-US" altLang="zh-CN" sz="2000" b="1" baseline="-25000">
                <a:solidFill>
                  <a:srgbClr val="0000FF"/>
                </a:solidFill>
              </a:rPr>
              <a:t>r</a:t>
            </a:r>
            <a:r>
              <a:rPr lang="en-US" altLang="zh-CN" sz="2000" b="1">
                <a:solidFill>
                  <a:srgbClr val="0000FF"/>
                </a:solidFill>
              </a:rPr>
              <a:t>=14</a:t>
            </a:r>
            <a:endParaRPr lang="en-US" altLang="zh-CN" sz="2000" b="1">
              <a:solidFill>
                <a:srgbClr val="0000FF"/>
              </a:solidFill>
            </a:endParaRPr>
          </a:p>
          <a:p>
            <a:r>
              <a:rPr lang="en-US" altLang="zh-CN" sz="2000" b="1">
                <a:solidFill>
                  <a:srgbClr val="0000FF"/>
                </a:solidFill>
              </a:rPr>
              <a:t>V=45</a:t>
            </a:r>
            <a:endParaRPr lang="en-US" altLang="zh-CN" sz="2000" b="1">
              <a:solidFill>
                <a:srgbClr val="0000FF"/>
              </a:solidFill>
            </a:endParaRPr>
          </a:p>
        </p:txBody>
      </p:sp>
      <p:sp>
        <p:nvSpPr>
          <p:cNvPr id="67" name="Oval 102"/>
          <p:cNvSpPr>
            <a:spLocks noChangeArrowheads="1"/>
          </p:cNvSpPr>
          <p:nvPr/>
        </p:nvSpPr>
        <p:spPr bwMode="auto">
          <a:xfrm>
            <a:off x="5400704" y="4916508"/>
            <a:ext cx="649288" cy="649287"/>
          </a:xfrm>
          <a:prstGeom prst="ellipse">
            <a:avLst/>
          </a:prstGeom>
          <a:solidFill>
            <a:srgbClr val="008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L</a:t>
            </a:r>
            <a:endParaRPr lang="en-US" altLang="zh-CN" sz="2000" b="1"/>
          </a:p>
        </p:txBody>
      </p:sp>
      <p:sp>
        <p:nvSpPr>
          <p:cNvPr id="23600" name="Text Box 111"/>
          <p:cNvSpPr txBox="1">
            <a:spLocks noChangeArrowheads="1"/>
          </p:cNvSpPr>
          <p:nvPr/>
        </p:nvSpPr>
        <p:spPr bwMode="auto">
          <a:xfrm>
            <a:off x="5976938" y="4843463"/>
            <a:ext cx="1566862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006600"/>
                </a:solidFill>
              </a:rPr>
              <a:t>w</a:t>
            </a:r>
            <a:r>
              <a:rPr lang="en-US" altLang="zh-CN" sz="2000" b="1" baseline="-25000">
                <a:solidFill>
                  <a:srgbClr val="006600"/>
                </a:solidFill>
              </a:rPr>
              <a:t>3</a:t>
            </a:r>
            <a:r>
              <a:rPr lang="en-US" altLang="zh-CN" sz="2000" b="1">
                <a:solidFill>
                  <a:srgbClr val="006600"/>
                </a:solidFill>
              </a:rPr>
              <a:t>=15,v</a:t>
            </a:r>
            <a:r>
              <a:rPr lang="en-US" altLang="zh-CN" sz="2000" b="1" baseline="-25000">
                <a:solidFill>
                  <a:srgbClr val="006600"/>
                </a:solidFill>
              </a:rPr>
              <a:t>3</a:t>
            </a:r>
            <a:r>
              <a:rPr lang="en-US" altLang="zh-CN" sz="2000" b="1">
                <a:solidFill>
                  <a:srgbClr val="006600"/>
                </a:solidFill>
              </a:rPr>
              <a:t>=25</a:t>
            </a:r>
            <a:endParaRPr lang="en-US" altLang="zh-CN" sz="2000" b="1">
              <a:solidFill>
                <a:srgbClr val="006600"/>
              </a:solidFill>
            </a:endParaRPr>
          </a:p>
          <a:p>
            <a:r>
              <a:rPr lang="en-US" altLang="zh-CN" sz="2000" b="1">
                <a:solidFill>
                  <a:srgbClr val="006600"/>
                </a:solidFill>
              </a:rPr>
              <a:t>C</a:t>
            </a:r>
            <a:r>
              <a:rPr lang="en-US" altLang="zh-CN" sz="2000" b="1" baseline="-25000">
                <a:solidFill>
                  <a:srgbClr val="006600"/>
                </a:solidFill>
              </a:rPr>
              <a:t>r</a:t>
            </a:r>
            <a:r>
              <a:rPr lang="en-US" altLang="zh-CN" sz="2000" b="1">
                <a:solidFill>
                  <a:srgbClr val="006600"/>
                </a:solidFill>
              </a:rPr>
              <a:t>=0,V=50</a:t>
            </a:r>
            <a:endParaRPr lang="en-US" altLang="zh-CN" sz="2000" b="1">
              <a:solidFill>
                <a:srgbClr val="006600"/>
              </a:solidFill>
            </a:endParaRPr>
          </a:p>
          <a:p>
            <a:r>
              <a:rPr lang="en-US" altLang="zh-CN" sz="2000" b="1">
                <a:solidFill>
                  <a:srgbClr val="006600"/>
                </a:solidFill>
              </a:rPr>
              <a:t>50&gt;45</a:t>
            </a:r>
            <a:endParaRPr lang="en-US" altLang="zh-CN" sz="2000" b="1">
              <a:solidFill>
                <a:srgbClr val="006600"/>
              </a:solidFill>
            </a:endParaRPr>
          </a:p>
          <a:p>
            <a:r>
              <a:rPr lang="en-US" altLang="zh-CN" sz="2000" b="1">
                <a:solidFill>
                  <a:srgbClr val="006600"/>
                </a:solidFill>
              </a:rPr>
              <a:t>x=(0,1,1)</a:t>
            </a:r>
            <a:endParaRPr lang="en-US" altLang="zh-CN" sz="2000" b="1">
              <a:solidFill>
                <a:srgbClr val="006600"/>
              </a:solidFill>
            </a:endParaRPr>
          </a:p>
        </p:txBody>
      </p:sp>
      <p:sp>
        <p:nvSpPr>
          <p:cNvPr id="69" name="Oval 100"/>
          <p:cNvSpPr>
            <a:spLocks noChangeArrowheads="1"/>
          </p:cNvSpPr>
          <p:nvPr/>
        </p:nvSpPr>
        <p:spPr bwMode="auto">
          <a:xfrm>
            <a:off x="4970492" y="3690958"/>
            <a:ext cx="649288" cy="649288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/>
              <a:t>F</a:t>
            </a:r>
            <a:endParaRPr lang="en-US" altLang="zh-CN" sz="2000" b="1"/>
          </a:p>
        </p:txBody>
      </p:sp>
      <p:sp>
        <p:nvSpPr>
          <p:cNvPr id="23604" name="Text Box 110"/>
          <p:cNvSpPr txBox="1">
            <a:spLocks noChangeArrowheads="1"/>
          </p:cNvSpPr>
          <p:nvPr/>
        </p:nvSpPr>
        <p:spPr bwMode="auto">
          <a:xfrm>
            <a:off x="5643563" y="3792538"/>
            <a:ext cx="15382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>
                <a:solidFill>
                  <a:srgbClr val="0000FF"/>
                </a:solidFill>
              </a:rPr>
              <a:t>w</a:t>
            </a:r>
            <a:r>
              <a:rPr lang="en-US" altLang="zh-CN" sz="2000" b="1" baseline="-25000">
                <a:solidFill>
                  <a:srgbClr val="0000FF"/>
                </a:solidFill>
              </a:rPr>
              <a:t>2</a:t>
            </a:r>
            <a:r>
              <a:rPr lang="en-US" altLang="zh-CN" sz="2000" b="1">
                <a:solidFill>
                  <a:srgbClr val="0000FF"/>
                </a:solidFill>
              </a:rPr>
              <a:t>=15,v</a:t>
            </a:r>
            <a:r>
              <a:rPr lang="en-US" altLang="zh-CN" sz="2000" b="1" baseline="-25000">
                <a:solidFill>
                  <a:srgbClr val="0000FF"/>
                </a:solidFill>
              </a:rPr>
              <a:t>2</a:t>
            </a:r>
            <a:r>
              <a:rPr lang="en-US" altLang="zh-CN" sz="2000" b="1">
                <a:solidFill>
                  <a:srgbClr val="0000FF"/>
                </a:solidFill>
              </a:rPr>
              <a:t>=25</a:t>
            </a:r>
            <a:endParaRPr lang="en-US" altLang="zh-CN" sz="2000" b="1">
              <a:solidFill>
                <a:srgbClr val="0000FF"/>
              </a:solidFill>
            </a:endParaRPr>
          </a:p>
          <a:p>
            <a:r>
              <a:rPr lang="en-US" altLang="zh-CN" sz="2000" b="1">
                <a:solidFill>
                  <a:srgbClr val="0000FF"/>
                </a:solidFill>
              </a:rPr>
              <a:t>C</a:t>
            </a:r>
            <a:r>
              <a:rPr lang="en-US" altLang="zh-CN" sz="2000" b="1" baseline="-25000">
                <a:solidFill>
                  <a:srgbClr val="0000FF"/>
                </a:solidFill>
              </a:rPr>
              <a:t>r</a:t>
            </a:r>
            <a:r>
              <a:rPr lang="en-US" altLang="zh-CN" sz="2000" b="1">
                <a:solidFill>
                  <a:srgbClr val="0000FF"/>
                </a:solidFill>
              </a:rPr>
              <a:t>=15,V=25</a:t>
            </a:r>
            <a:endParaRPr lang="en-US" altLang="zh-CN" sz="2000" b="1">
              <a:solidFill>
                <a:srgbClr val="0000FF"/>
              </a:solidFill>
            </a:endParaRPr>
          </a:p>
        </p:txBody>
      </p:sp>
      <p:sp>
        <p:nvSpPr>
          <p:cNvPr id="23605" name="Freeform 130"/>
          <p:cNvSpPr/>
          <p:nvPr/>
        </p:nvSpPr>
        <p:spPr bwMode="auto">
          <a:xfrm>
            <a:off x="3817938" y="4267200"/>
            <a:ext cx="515937" cy="720725"/>
          </a:xfrm>
          <a:custGeom>
            <a:avLst/>
            <a:gdLst>
              <a:gd name="T0" fmla="*/ 318 w 325"/>
              <a:gd name="T1" fmla="*/ 454 h 454"/>
              <a:gd name="T2" fmla="*/ 272 w 325"/>
              <a:gd name="T3" fmla="*/ 91 h 454"/>
              <a:gd name="T4" fmla="*/ 0 w 325"/>
              <a:gd name="T5" fmla="*/ 0 h 4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5" h="454">
                <a:moveTo>
                  <a:pt x="318" y="454"/>
                </a:moveTo>
                <a:cubicBezTo>
                  <a:pt x="321" y="310"/>
                  <a:pt x="325" y="166"/>
                  <a:pt x="272" y="91"/>
                </a:cubicBezTo>
                <a:cubicBezTo>
                  <a:pt x="219" y="16"/>
                  <a:pt x="45" y="15"/>
                  <a:pt x="0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3606" name="直接连接符 74"/>
          <p:cNvCxnSpPr>
            <a:cxnSpLocks noChangeShapeType="1"/>
            <a:stCxn id="0" idx="2"/>
            <a:endCxn id="0" idx="7"/>
          </p:cNvCxnSpPr>
          <p:nvPr/>
        </p:nvCxnSpPr>
        <p:spPr bwMode="auto">
          <a:xfrm rot="10800000" flipV="1">
            <a:off x="2571750" y="2109788"/>
            <a:ext cx="1285875" cy="668337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23607" name="直接连接符 75"/>
          <p:cNvCxnSpPr>
            <a:cxnSpLocks noChangeShapeType="1"/>
            <a:stCxn id="0" idx="3"/>
            <a:endCxn id="0" idx="0"/>
          </p:cNvCxnSpPr>
          <p:nvPr/>
        </p:nvCxnSpPr>
        <p:spPr bwMode="auto">
          <a:xfrm rot="5400000">
            <a:off x="1640682" y="3291681"/>
            <a:ext cx="527050" cy="417513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23608" name="直接连接符 76"/>
          <p:cNvCxnSpPr>
            <a:cxnSpLocks noChangeShapeType="1"/>
            <a:stCxn id="0" idx="5"/>
            <a:endCxn id="0" idx="1"/>
          </p:cNvCxnSpPr>
          <p:nvPr/>
        </p:nvCxnSpPr>
        <p:spPr bwMode="auto">
          <a:xfrm rot="16200000" flipH="1">
            <a:off x="2643188" y="3165475"/>
            <a:ext cx="622300" cy="765175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23609" name="直接连接符 77"/>
          <p:cNvCxnSpPr>
            <a:cxnSpLocks noChangeShapeType="1"/>
            <a:stCxn id="0" idx="6"/>
            <a:endCxn id="0" idx="1"/>
          </p:cNvCxnSpPr>
          <p:nvPr/>
        </p:nvCxnSpPr>
        <p:spPr bwMode="auto">
          <a:xfrm>
            <a:off x="4506913" y="2109788"/>
            <a:ext cx="990600" cy="668337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23610" name="直接连接符 78"/>
          <p:cNvCxnSpPr>
            <a:cxnSpLocks noChangeShapeType="1"/>
            <a:stCxn id="0" idx="3"/>
            <a:endCxn id="0" idx="0"/>
          </p:cNvCxnSpPr>
          <p:nvPr/>
        </p:nvCxnSpPr>
        <p:spPr bwMode="auto">
          <a:xfrm rot="5400000">
            <a:off x="5169694" y="3363119"/>
            <a:ext cx="454025" cy="201613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23611" name="直接连接符 80"/>
          <p:cNvCxnSpPr>
            <a:cxnSpLocks noChangeShapeType="1"/>
            <a:stCxn id="0" idx="3"/>
            <a:endCxn id="0" idx="7"/>
          </p:cNvCxnSpPr>
          <p:nvPr/>
        </p:nvCxnSpPr>
        <p:spPr bwMode="auto">
          <a:xfrm rot="5400000">
            <a:off x="2570956" y="4317207"/>
            <a:ext cx="765175" cy="766762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23612" name="直接连接符 81"/>
          <p:cNvCxnSpPr>
            <a:cxnSpLocks noChangeShapeType="1"/>
            <a:stCxn id="0" idx="5"/>
            <a:endCxn id="0" idx="0"/>
          </p:cNvCxnSpPr>
          <p:nvPr/>
        </p:nvCxnSpPr>
        <p:spPr bwMode="auto">
          <a:xfrm rot="16200000" flipH="1">
            <a:off x="3671094" y="4442619"/>
            <a:ext cx="596900" cy="347662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cxnSp>
        <p:nvCxnSpPr>
          <p:cNvPr id="23613" name="直接连接符 82"/>
          <p:cNvCxnSpPr>
            <a:cxnSpLocks noChangeShapeType="1"/>
            <a:stCxn id="0" idx="4"/>
            <a:endCxn id="0" idx="1"/>
          </p:cNvCxnSpPr>
          <p:nvPr/>
        </p:nvCxnSpPr>
        <p:spPr bwMode="auto">
          <a:xfrm rot="16200000" flipH="1">
            <a:off x="5060156" y="4575969"/>
            <a:ext cx="671513" cy="200025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sp>
        <p:nvSpPr>
          <p:cNvPr id="84" name="圆角矩形标注 83"/>
          <p:cNvSpPr/>
          <p:nvPr/>
        </p:nvSpPr>
        <p:spPr bwMode="auto">
          <a:xfrm>
            <a:off x="1785918" y="3714752"/>
            <a:ext cx="3643338" cy="2928958"/>
          </a:xfrm>
          <a:prstGeom prst="wedgeRoundRectCallout">
            <a:avLst>
              <a:gd name="adj1" fmla="val 73986"/>
              <a:gd name="adj2" fmla="val -18486"/>
              <a:gd name="adj3" fmla="val 16667"/>
            </a:avLst>
          </a:prstGeom>
          <a:solidFill>
            <a:srgbClr val="CCFF99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再扩展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F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到达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M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M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是叶结点，且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25&lt;50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不是最优解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M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不可扩展，成为死结点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返回到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F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，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F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没有可扩展结点，成为死结点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返回到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C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</a:rPr>
              <a:t>，再扩展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</a:rPr>
              <a:t>到达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G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</a:rPr>
              <a:t>……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97" name="组合 96"/>
          <p:cNvGrpSpPr/>
          <p:nvPr/>
        </p:nvGrpSpPr>
        <p:grpSpPr bwMode="auto">
          <a:xfrm>
            <a:off x="7000875" y="4286250"/>
            <a:ext cx="1651000" cy="1158875"/>
            <a:chOff x="7000892" y="4286256"/>
            <a:chExt cx="1651005" cy="1158539"/>
          </a:xfrm>
        </p:grpSpPr>
        <p:sp>
          <p:nvSpPr>
            <p:cNvPr id="43" name="Oval 103"/>
            <p:cNvSpPr>
              <a:spLocks noChangeArrowheads="1"/>
            </p:cNvSpPr>
            <p:nvPr/>
          </p:nvSpPr>
          <p:spPr bwMode="auto">
            <a:xfrm>
              <a:off x="7000892" y="4286256"/>
              <a:ext cx="649288" cy="649288"/>
            </a:xfrm>
            <a:prstGeom prst="ellipse">
              <a:avLst/>
            </a:prstGeom>
            <a:solidFill>
              <a:srgbClr val="00206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/>
                <a:t>M</a:t>
              </a:r>
              <a:endParaRPr lang="en-US" altLang="zh-CN" sz="2000" b="1"/>
            </a:p>
          </p:txBody>
        </p:sp>
        <p:sp>
          <p:nvSpPr>
            <p:cNvPr id="23628" name="Text Box 132"/>
            <p:cNvSpPr txBox="1">
              <a:spLocks noChangeArrowheads="1"/>
            </p:cNvSpPr>
            <p:nvPr/>
          </p:nvSpPr>
          <p:spPr bwMode="auto">
            <a:xfrm>
              <a:off x="7643834" y="4429132"/>
              <a:ext cx="1008063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C00000"/>
                  </a:solidFill>
                </a:rPr>
                <a:t>25&lt;50</a:t>
              </a:r>
              <a:endParaRPr lang="en-US" altLang="zh-CN" sz="2000" b="1">
                <a:solidFill>
                  <a:srgbClr val="C00000"/>
                </a:solidFill>
              </a:endParaRPr>
            </a:p>
            <a:p>
              <a:r>
                <a:rPr lang="zh-CN" altLang="en-US" sz="2000" b="1">
                  <a:solidFill>
                    <a:srgbClr val="C00000"/>
                  </a:solidFill>
                  <a:ea typeface="楷体_GB2312" pitchFamily="49" charset="-122"/>
                </a:rPr>
                <a:t>不是最优解</a:t>
              </a:r>
              <a:endParaRPr lang="zh-CN" altLang="en-US" sz="2000" b="1">
                <a:solidFill>
                  <a:srgbClr val="C00000"/>
                </a:solidFill>
                <a:ea typeface="楷体_GB2312" pitchFamily="49" charset="-122"/>
              </a:endParaRPr>
            </a:p>
          </p:txBody>
        </p:sp>
      </p:grpSp>
      <p:sp>
        <p:nvSpPr>
          <p:cNvPr id="73" name="Freeform 134"/>
          <p:cNvSpPr/>
          <p:nvPr/>
        </p:nvSpPr>
        <p:spPr bwMode="auto">
          <a:xfrm rot="-410044">
            <a:off x="5618163" y="3643313"/>
            <a:ext cx="1882775" cy="623887"/>
          </a:xfrm>
          <a:custGeom>
            <a:avLst/>
            <a:gdLst>
              <a:gd name="T0" fmla="*/ 1225 w 1429"/>
              <a:gd name="T1" fmla="*/ 159 h 159"/>
              <a:gd name="T2" fmla="*/ 1225 w 1429"/>
              <a:gd name="T3" fmla="*/ 23 h 159"/>
              <a:gd name="T4" fmla="*/ 0 w 1429"/>
              <a:gd name="T5" fmla="*/ 23 h 15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29" h="159">
                <a:moveTo>
                  <a:pt x="1225" y="159"/>
                </a:moveTo>
                <a:cubicBezTo>
                  <a:pt x="1327" y="102"/>
                  <a:pt x="1429" y="46"/>
                  <a:pt x="1225" y="23"/>
                </a:cubicBezTo>
                <a:cubicBezTo>
                  <a:pt x="1021" y="0"/>
                  <a:pt x="204" y="23"/>
                  <a:pt x="0" y="23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74" name="直接连接符 73"/>
          <p:cNvCxnSpPr>
            <a:cxnSpLocks noChangeShapeType="1"/>
            <a:stCxn id="0" idx="6"/>
            <a:endCxn id="0" idx="2"/>
          </p:cNvCxnSpPr>
          <p:nvPr/>
        </p:nvCxnSpPr>
        <p:spPr bwMode="auto">
          <a:xfrm>
            <a:off x="5619750" y="4016375"/>
            <a:ext cx="1381125" cy="595313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  <p:sp>
        <p:nvSpPr>
          <p:cNvPr id="88" name="Freeform 86"/>
          <p:cNvSpPr/>
          <p:nvPr/>
        </p:nvSpPr>
        <p:spPr bwMode="auto">
          <a:xfrm>
            <a:off x="5643563" y="3281363"/>
            <a:ext cx="360362" cy="433387"/>
          </a:xfrm>
          <a:custGeom>
            <a:avLst/>
            <a:gdLst>
              <a:gd name="T0" fmla="*/ 0 w 317"/>
              <a:gd name="T1" fmla="*/ 363 h 363"/>
              <a:gd name="T2" fmla="*/ 272 w 317"/>
              <a:gd name="T3" fmla="*/ 181 h 363"/>
              <a:gd name="T4" fmla="*/ 272 w 317"/>
              <a:gd name="T5" fmla="*/ 0 h 36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7" h="363">
                <a:moveTo>
                  <a:pt x="0" y="363"/>
                </a:moveTo>
                <a:cubicBezTo>
                  <a:pt x="113" y="302"/>
                  <a:pt x="227" y="241"/>
                  <a:pt x="272" y="181"/>
                </a:cubicBezTo>
                <a:cubicBezTo>
                  <a:pt x="317" y="121"/>
                  <a:pt x="272" y="30"/>
                  <a:pt x="272" y="0"/>
                </a:cubicBezTo>
              </a:path>
            </a:pathLst>
          </a:custGeom>
          <a:noFill/>
          <a:ln w="19050">
            <a:solidFill>
              <a:srgbClr val="0000FF"/>
            </a:solidFill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Oval 100"/>
          <p:cNvSpPr>
            <a:spLocks noChangeArrowheads="1"/>
          </p:cNvSpPr>
          <p:nvPr/>
        </p:nvSpPr>
        <p:spPr bwMode="auto">
          <a:xfrm>
            <a:off x="8072462" y="3429000"/>
            <a:ext cx="649288" cy="649288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/>
              <a:t>G</a:t>
            </a:r>
            <a:endParaRPr lang="en-US" altLang="zh-CN" sz="2000" b="1" dirty="0"/>
          </a:p>
        </p:txBody>
      </p:sp>
      <p:cxnSp>
        <p:nvCxnSpPr>
          <p:cNvPr id="93" name="直接连接符 92"/>
          <p:cNvCxnSpPr>
            <a:cxnSpLocks noChangeShapeType="1"/>
            <a:endCxn id="0" idx="2"/>
          </p:cNvCxnSpPr>
          <p:nvPr/>
        </p:nvCxnSpPr>
        <p:spPr bwMode="auto">
          <a:xfrm>
            <a:off x="5857875" y="3143250"/>
            <a:ext cx="2214563" cy="611188"/>
          </a:xfrm>
          <a:prstGeom prst="line">
            <a:avLst/>
          </a:prstGeom>
          <a:noFill/>
          <a:ln w="19050" algn="ctr">
            <a:solidFill>
              <a:srgbClr val="0070C0"/>
            </a:solidFill>
            <a:round/>
          </a:ln>
        </p:spPr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8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zh-CN" altLang="en-US" smtClean="0"/>
              <a:t>扩展到</a:t>
            </a:r>
            <a:r>
              <a:rPr lang="en-US" altLang="zh-CN" smtClean="0"/>
              <a:t>G</a:t>
            </a:r>
            <a:r>
              <a:rPr lang="zh-CN" altLang="en-US" smtClean="0"/>
              <a:t>以后</a:t>
            </a:r>
            <a:r>
              <a:rPr lang="en-US" altLang="zh-CN" smtClean="0"/>
              <a:t>……</a:t>
            </a:r>
            <a:endParaRPr lang="en-US" altLang="zh-CN" smtClean="0"/>
          </a:p>
          <a:p>
            <a:pPr lvl="3"/>
            <a:r>
              <a:rPr lang="en-US" altLang="zh-CN" smtClean="0"/>
              <a:t>Cr=30</a:t>
            </a:r>
            <a:r>
              <a:rPr lang="zh-CN" altLang="en-US" smtClean="0"/>
              <a:t>，</a:t>
            </a:r>
            <a:r>
              <a:rPr lang="en-US" altLang="zh-CN" smtClean="0"/>
              <a:t>V=0</a:t>
            </a:r>
            <a:r>
              <a:rPr lang="zh-CN" altLang="en-US" smtClean="0"/>
              <a:t>，</a:t>
            </a:r>
            <a:br>
              <a:rPr lang="en-US" altLang="zh-CN" smtClean="0"/>
            </a:br>
            <a:r>
              <a:rPr lang="zh-CN" altLang="en-US" smtClean="0"/>
              <a:t>活结点为</a:t>
            </a:r>
            <a:r>
              <a:rPr lang="en-US" altLang="zh-CN" smtClean="0"/>
              <a:t>A</a:t>
            </a:r>
            <a:r>
              <a:rPr lang="zh-CN" altLang="en-US" smtClean="0"/>
              <a:t>、</a:t>
            </a:r>
            <a:r>
              <a:rPr lang="en-US" altLang="zh-CN" smtClean="0"/>
              <a:t>C</a:t>
            </a:r>
            <a:r>
              <a:rPr lang="zh-CN" altLang="en-US" smtClean="0"/>
              <a:t>、</a:t>
            </a:r>
            <a:r>
              <a:rPr lang="en-US" altLang="zh-CN" smtClean="0"/>
              <a:t>G</a:t>
            </a:r>
            <a:r>
              <a:rPr lang="zh-CN" altLang="en-US" smtClean="0"/>
              <a:t>，</a:t>
            </a:r>
            <a:r>
              <a:rPr lang="en-US" altLang="zh-CN" smtClean="0"/>
              <a:t>G</a:t>
            </a:r>
            <a:r>
              <a:rPr lang="zh-CN" altLang="en-US" smtClean="0"/>
              <a:t>为当前扩展结点</a:t>
            </a:r>
            <a:endParaRPr lang="zh-CN" altLang="en-US" smtClean="0"/>
          </a:p>
          <a:p>
            <a:pPr lvl="3"/>
            <a:r>
              <a:rPr lang="zh-CN" altLang="en-US" smtClean="0"/>
              <a:t>扩展</a:t>
            </a:r>
            <a:r>
              <a:rPr lang="en-US" altLang="zh-CN" smtClean="0"/>
              <a:t>G</a:t>
            </a:r>
            <a:r>
              <a:rPr lang="zh-CN" altLang="en-US" smtClean="0"/>
              <a:t>，先到达</a:t>
            </a:r>
            <a:r>
              <a:rPr lang="en-US" altLang="zh-CN" smtClean="0"/>
              <a:t>N</a:t>
            </a:r>
            <a:r>
              <a:rPr lang="zh-CN" altLang="en-US" smtClean="0"/>
              <a:t>，</a:t>
            </a:r>
            <a:r>
              <a:rPr lang="en-US" altLang="zh-CN" smtClean="0"/>
              <a:t>N</a:t>
            </a:r>
            <a:r>
              <a:rPr lang="zh-CN" altLang="en-US" smtClean="0"/>
              <a:t>是叶结点，且</a:t>
            </a:r>
            <a:r>
              <a:rPr lang="en-US" altLang="zh-CN" smtClean="0"/>
              <a:t>25&lt;50</a:t>
            </a:r>
            <a:r>
              <a:rPr lang="zh-CN" altLang="en-US" smtClean="0"/>
              <a:t>，不是最优解，又</a:t>
            </a:r>
            <a:r>
              <a:rPr lang="en-US" altLang="zh-CN" smtClean="0"/>
              <a:t>N</a:t>
            </a:r>
            <a:r>
              <a:rPr lang="zh-CN" altLang="en-US" smtClean="0"/>
              <a:t>不可扩展，返回到</a:t>
            </a:r>
            <a:r>
              <a:rPr lang="en-US" altLang="zh-CN" smtClean="0"/>
              <a:t>G</a:t>
            </a:r>
            <a:endParaRPr lang="en-US" altLang="zh-CN" smtClean="0"/>
          </a:p>
          <a:p>
            <a:pPr lvl="3"/>
            <a:r>
              <a:rPr lang="zh-CN" altLang="en-US" smtClean="0"/>
              <a:t>再扩展</a:t>
            </a:r>
            <a:r>
              <a:rPr lang="en-US" altLang="zh-CN" smtClean="0"/>
              <a:t>G</a:t>
            </a:r>
            <a:r>
              <a:rPr lang="zh-CN" altLang="en-US" smtClean="0"/>
              <a:t>到达</a:t>
            </a:r>
            <a:r>
              <a:rPr lang="en-US" altLang="zh-CN" smtClean="0"/>
              <a:t>O</a:t>
            </a:r>
            <a:r>
              <a:rPr lang="zh-CN" altLang="en-US" smtClean="0"/>
              <a:t>，</a:t>
            </a:r>
            <a:r>
              <a:rPr lang="en-US" altLang="zh-CN" smtClean="0"/>
              <a:t>O</a:t>
            </a:r>
            <a:r>
              <a:rPr lang="zh-CN" altLang="en-US" smtClean="0"/>
              <a:t>是叶结点，且</a:t>
            </a:r>
            <a:r>
              <a:rPr lang="en-US" altLang="zh-CN" smtClean="0"/>
              <a:t>0&lt;50</a:t>
            </a:r>
            <a:r>
              <a:rPr lang="zh-CN" altLang="en-US" smtClean="0"/>
              <a:t>，不是最优解，又</a:t>
            </a:r>
            <a:r>
              <a:rPr lang="en-US" altLang="zh-CN" smtClean="0"/>
              <a:t>O</a:t>
            </a:r>
            <a:r>
              <a:rPr lang="zh-CN" altLang="en-US" smtClean="0"/>
              <a:t>不可扩展，返回到</a:t>
            </a:r>
            <a:r>
              <a:rPr lang="en-US" altLang="zh-CN" smtClean="0"/>
              <a:t>G</a:t>
            </a:r>
            <a:endParaRPr lang="en-US" altLang="zh-CN" smtClean="0"/>
          </a:p>
          <a:p>
            <a:pPr lvl="3"/>
            <a:r>
              <a:rPr lang="en-US" altLang="zh-CN" smtClean="0"/>
              <a:t>G</a:t>
            </a:r>
            <a:r>
              <a:rPr lang="zh-CN" altLang="en-US" smtClean="0"/>
              <a:t>没有可扩展结点，成为死结点，返回到</a:t>
            </a:r>
            <a:r>
              <a:rPr lang="en-US" altLang="zh-CN" smtClean="0"/>
              <a:t>C</a:t>
            </a:r>
            <a:endParaRPr lang="en-US" altLang="zh-CN" smtClean="0"/>
          </a:p>
          <a:p>
            <a:pPr lvl="3"/>
            <a:r>
              <a:rPr lang="en-US" altLang="zh-CN" smtClean="0"/>
              <a:t>C</a:t>
            </a:r>
            <a:r>
              <a:rPr lang="zh-CN" altLang="en-US" smtClean="0"/>
              <a:t>没有可扩展结点，成为死结点，返回到</a:t>
            </a:r>
            <a:r>
              <a:rPr lang="en-US" altLang="zh-CN" smtClean="0"/>
              <a:t>A</a:t>
            </a:r>
            <a:endParaRPr lang="en-US" altLang="zh-CN" smtClean="0"/>
          </a:p>
          <a:p>
            <a:pPr lvl="3"/>
            <a:r>
              <a:rPr lang="en-US" altLang="zh-CN" smtClean="0"/>
              <a:t>A</a:t>
            </a:r>
            <a:r>
              <a:rPr lang="zh-CN" altLang="en-US" smtClean="0"/>
              <a:t>没有可扩展结点，成为死结点，</a:t>
            </a:r>
            <a:r>
              <a:rPr lang="zh-CN" altLang="en-US" smtClean="0">
                <a:solidFill>
                  <a:srgbClr val="FF0000"/>
                </a:solidFill>
              </a:rPr>
              <a:t>算法结束</a:t>
            </a:r>
            <a:endParaRPr lang="en-US" altLang="zh-CN" smtClean="0">
              <a:solidFill>
                <a:srgbClr val="FF0000"/>
              </a:solidFill>
            </a:endParaRPr>
          </a:p>
          <a:p>
            <a:pPr lvl="3"/>
            <a:r>
              <a:rPr lang="zh-CN" altLang="en-US" smtClean="0"/>
              <a:t>最优解</a:t>
            </a:r>
            <a:r>
              <a:rPr lang="en-US" altLang="zh-CN" smtClean="0">
                <a:solidFill>
                  <a:srgbClr val="FF0000"/>
                </a:solidFill>
              </a:rPr>
              <a:t>X=(0,1,1)</a:t>
            </a:r>
            <a:r>
              <a:rPr lang="zh-CN" altLang="en-US" smtClean="0"/>
              <a:t>，最优值</a:t>
            </a:r>
            <a:r>
              <a:rPr lang="en-US" altLang="zh-CN" smtClean="0">
                <a:solidFill>
                  <a:srgbClr val="FF0000"/>
                </a:solidFill>
              </a:rPr>
              <a:t>50</a:t>
            </a:r>
            <a:r>
              <a:rPr lang="zh-CN" altLang="en-US" smtClean="0"/>
              <a:t>。</a:t>
            </a:r>
            <a:endParaRPr lang="zh-CN" altLang="en-US" smtClean="0"/>
          </a:p>
        </p:txBody>
      </p:sp>
      <p:pic>
        <p:nvPicPr>
          <p:cNvPr id="24580" name="Picture 1" descr="D:\Temp\Temporary Internet Files\Content.IE5\0CU2I1O4\MCj02959780000[1].wm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688" y="0"/>
            <a:ext cx="2500312" cy="204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4176713" cy="5638800"/>
          </a:xfrm>
        </p:spPr>
        <p:txBody>
          <a:bodyPr/>
          <a:lstStyle/>
          <a:p>
            <a:r>
              <a:rPr lang="zh-CN" altLang="en-US" smtClean="0"/>
              <a:t>推销员问题</a:t>
            </a:r>
            <a:endParaRPr lang="en-US" altLang="zh-CN" smtClean="0"/>
          </a:p>
          <a:p>
            <a:pPr lvl="1"/>
            <a:r>
              <a:rPr lang="zh-CN" altLang="en-US" smtClean="0"/>
              <a:t>问题描述</a:t>
            </a:r>
            <a:endParaRPr lang="en-US" altLang="zh-CN" smtClean="0"/>
          </a:p>
          <a:p>
            <a:pPr lvl="2"/>
            <a:r>
              <a:rPr lang="zh-CN" altLang="en-US" smtClean="0"/>
              <a:t>每个城市一遍，最后回到住地的路线，使总的路程最短。</a:t>
            </a:r>
            <a:endParaRPr lang="zh-CN" altLang="en-US" smtClean="0"/>
          </a:p>
          <a:p>
            <a:pPr lvl="1"/>
            <a:r>
              <a:rPr lang="zh-CN" altLang="en-US" smtClean="0"/>
              <a:t>该问题是一个</a:t>
            </a:r>
            <a:r>
              <a:rPr lang="en-US" altLang="zh-CN" smtClean="0">
                <a:solidFill>
                  <a:srgbClr val="FF0000"/>
                </a:solidFill>
              </a:rPr>
              <a:t>NP</a:t>
            </a:r>
            <a:r>
              <a:rPr lang="zh-CN" altLang="en-US" smtClean="0">
                <a:solidFill>
                  <a:srgbClr val="FF0000"/>
                </a:solidFill>
              </a:rPr>
              <a:t>完全问题</a:t>
            </a:r>
            <a:r>
              <a:rPr lang="zh-CN" altLang="en-US" smtClean="0"/>
              <a:t>， 有</a:t>
            </a:r>
            <a:r>
              <a:rPr lang="en-US" altLang="zh-CN" smtClean="0">
                <a:solidFill>
                  <a:srgbClr val="FF0000"/>
                </a:solidFill>
              </a:rPr>
              <a:t>(n-1)!</a:t>
            </a:r>
            <a:r>
              <a:rPr lang="zh-CN" altLang="en-US" smtClean="0"/>
              <a:t>条可选路线</a:t>
            </a:r>
            <a:endParaRPr lang="zh-CN" altLang="en-US" smtClean="0"/>
          </a:p>
          <a:p>
            <a:pPr lvl="1"/>
            <a:r>
              <a:rPr lang="zh-CN" altLang="en-US" smtClean="0"/>
              <a:t>最优解</a:t>
            </a:r>
            <a:r>
              <a:rPr lang="en-US" altLang="zh-CN" smtClean="0">
                <a:solidFill>
                  <a:srgbClr val="FF0000"/>
                </a:solidFill>
              </a:rPr>
              <a:t>(1,3,2,4,1)</a:t>
            </a:r>
            <a:r>
              <a:rPr lang="zh-CN" altLang="en-US" smtClean="0"/>
              <a:t>，最优值</a:t>
            </a:r>
            <a:r>
              <a:rPr lang="en-US" altLang="zh-CN" smtClean="0">
                <a:solidFill>
                  <a:srgbClr val="FF0000"/>
                </a:solidFill>
              </a:rPr>
              <a:t>25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 bwMode="auto">
          <a:xfrm>
            <a:off x="5473700" y="1357313"/>
            <a:ext cx="2744788" cy="1624012"/>
            <a:chOff x="5473730" y="1357298"/>
            <a:chExt cx="2744787" cy="1624013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5761067" y="1646223"/>
              <a:ext cx="360363" cy="360363"/>
            </a:xfrm>
            <a:prstGeom prst="ellipse">
              <a:avLst/>
            </a:prstGeom>
            <a:solidFill>
              <a:srgbClr val="99FF33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C00000"/>
                  </a:solidFill>
                </a:rPr>
                <a:t>1</a:t>
              </a:r>
              <a:endParaRPr lang="en-US" altLang="zh-CN" sz="2000" b="1">
                <a:solidFill>
                  <a:srgbClr val="C00000"/>
                </a:solidFill>
              </a:endParaRPr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7489855" y="1501761"/>
              <a:ext cx="360363" cy="360363"/>
            </a:xfrm>
            <a:prstGeom prst="ellipse">
              <a:avLst/>
            </a:prstGeom>
            <a:solidFill>
              <a:srgbClr val="99FF33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C00000"/>
                  </a:solidFill>
                </a:rPr>
                <a:t>2</a:t>
              </a:r>
              <a:endParaRPr lang="en-US" altLang="zh-CN" sz="2000" b="1">
                <a:solidFill>
                  <a:srgbClr val="C00000"/>
                </a:solidFill>
              </a:endParaRP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5545167" y="2438386"/>
              <a:ext cx="360363" cy="360363"/>
            </a:xfrm>
            <a:prstGeom prst="ellipse">
              <a:avLst/>
            </a:prstGeom>
            <a:solidFill>
              <a:srgbClr val="99FF33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C00000"/>
                  </a:solidFill>
                </a:rPr>
                <a:t>3</a:t>
              </a:r>
              <a:endParaRPr lang="en-US" altLang="zh-CN" sz="2000" b="1">
                <a:solidFill>
                  <a:srgbClr val="C00000"/>
                </a:solidFill>
              </a:endParaRP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7705755" y="2438386"/>
              <a:ext cx="360363" cy="360363"/>
            </a:xfrm>
            <a:prstGeom prst="ellipse">
              <a:avLst/>
            </a:prstGeom>
            <a:solidFill>
              <a:srgbClr val="99FF33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C00000"/>
                  </a:solidFill>
                </a:rPr>
                <a:t>4</a:t>
              </a:r>
              <a:endParaRPr lang="en-US" altLang="zh-CN" sz="2000" b="1">
                <a:solidFill>
                  <a:srgbClr val="C00000"/>
                </a:solidFill>
              </a:endParaRPr>
            </a:p>
          </p:txBody>
        </p:sp>
        <p:sp>
          <p:nvSpPr>
            <p:cNvPr id="25667" name="Line 9"/>
            <p:cNvSpPr>
              <a:spLocks noChangeShapeType="1"/>
            </p:cNvSpPr>
            <p:nvPr/>
          </p:nvSpPr>
          <p:spPr bwMode="auto">
            <a:xfrm>
              <a:off x="5905530" y="2654286"/>
              <a:ext cx="1800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8" name="Text Box 10"/>
            <p:cNvSpPr txBox="1">
              <a:spLocks noChangeArrowheads="1"/>
            </p:cNvSpPr>
            <p:nvPr/>
          </p:nvSpPr>
          <p:spPr bwMode="auto">
            <a:xfrm>
              <a:off x="6481792" y="2581261"/>
              <a:ext cx="441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/>
                <a:t>20</a:t>
              </a:r>
              <a:endParaRPr lang="en-US" altLang="zh-CN" sz="2000" b="1"/>
            </a:p>
          </p:txBody>
        </p:sp>
        <p:sp>
          <p:nvSpPr>
            <p:cNvPr id="25669" name="Line 11"/>
            <p:cNvSpPr>
              <a:spLocks noChangeShapeType="1"/>
            </p:cNvSpPr>
            <p:nvPr/>
          </p:nvSpPr>
          <p:spPr bwMode="auto">
            <a:xfrm flipH="1">
              <a:off x="5761067" y="2006586"/>
              <a:ext cx="144463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0" name="Text Box 12"/>
            <p:cNvSpPr txBox="1">
              <a:spLocks noChangeArrowheads="1"/>
            </p:cNvSpPr>
            <p:nvPr/>
          </p:nvSpPr>
          <p:spPr bwMode="auto">
            <a:xfrm>
              <a:off x="5473730" y="2006586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/>
                <a:t>6</a:t>
              </a:r>
              <a:endParaRPr lang="en-US" altLang="zh-CN" sz="2000" b="1"/>
            </a:p>
          </p:txBody>
        </p:sp>
        <p:sp>
          <p:nvSpPr>
            <p:cNvPr id="25671" name="Line 13"/>
            <p:cNvSpPr>
              <a:spLocks noChangeShapeType="1"/>
            </p:cNvSpPr>
            <p:nvPr/>
          </p:nvSpPr>
          <p:spPr bwMode="auto">
            <a:xfrm flipV="1">
              <a:off x="6121430" y="1717661"/>
              <a:ext cx="1368425" cy="71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2" name="Text Box 14"/>
            <p:cNvSpPr txBox="1">
              <a:spLocks noChangeArrowheads="1"/>
            </p:cNvSpPr>
            <p:nvPr/>
          </p:nvSpPr>
          <p:spPr bwMode="auto">
            <a:xfrm>
              <a:off x="6626255" y="1357298"/>
              <a:ext cx="441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/>
                <a:t>30</a:t>
              </a:r>
              <a:endParaRPr lang="en-US" altLang="zh-CN" sz="2000" b="1"/>
            </a:p>
          </p:txBody>
        </p:sp>
        <p:sp>
          <p:nvSpPr>
            <p:cNvPr id="25673" name="Line 15"/>
            <p:cNvSpPr>
              <a:spLocks noChangeShapeType="1"/>
            </p:cNvSpPr>
            <p:nvPr/>
          </p:nvSpPr>
          <p:spPr bwMode="auto">
            <a:xfrm flipH="1">
              <a:off x="5834092" y="1789098"/>
              <a:ext cx="1655763" cy="720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4" name="Text Box 16"/>
            <p:cNvSpPr txBox="1">
              <a:spLocks noChangeArrowheads="1"/>
            </p:cNvSpPr>
            <p:nvPr/>
          </p:nvSpPr>
          <p:spPr bwMode="auto">
            <a:xfrm>
              <a:off x="5905530" y="2078023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/>
                <a:t>5</a:t>
              </a:r>
              <a:endParaRPr lang="en-US" altLang="zh-CN" sz="2000" b="1"/>
            </a:p>
          </p:txBody>
        </p:sp>
        <p:sp>
          <p:nvSpPr>
            <p:cNvPr id="25675" name="Line 17"/>
            <p:cNvSpPr>
              <a:spLocks noChangeShapeType="1"/>
            </p:cNvSpPr>
            <p:nvPr/>
          </p:nvSpPr>
          <p:spPr bwMode="auto">
            <a:xfrm>
              <a:off x="6121430" y="1933561"/>
              <a:ext cx="15843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6" name="Text Box 18"/>
            <p:cNvSpPr txBox="1">
              <a:spLocks noChangeArrowheads="1"/>
            </p:cNvSpPr>
            <p:nvPr/>
          </p:nvSpPr>
          <p:spPr bwMode="auto">
            <a:xfrm>
              <a:off x="6842155" y="2222486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/>
                <a:t>4</a:t>
              </a:r>
              <a:endParaRPr lang="en-US" altLang="zh-CN" sz="2000" b="1"/>
            </a:p>
          </p:txBody>
        </p:sp>
        <p:sp>
          <p:nvSpPr>
            <p:cNvPr id="25677" name="Line 19"/>
            <p:cNvSpPr>
              <a:spLocks noChangeShapeType="1"/>
            </p:cNvSpPr>
            <p:nvPr/>
          </p:nvSpPr>
          <p:spPr bwMode="auto">
            <a:xfrm>
              <a:off x="7705755" y="1862123"/>
              <a:ext cx="144463" cy="576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8" name="Text Box 20"/>
            <p:cNvSpPr txBox="1">
              <a:spLocks noChangeArrowheads="1"/>
            </p:cNvSpPr>
            <p:nvPr/>
          </p:nvSpPr>
          <p:spPr bwMode="auto">
            <a:xfrm>
              <a:off x="7777192" y="1933561"/>
              <a:ext cx="441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/>
                <a:t>10</a:t>
              </a:r>
              <a:endParaRPr lang="en-US" altLang="zh-CN" sz="2000" b="1"/>
            </a:p>
          </p:txBody>
        </p:sp>
      </p:grpSp>
      <p:grpSp>
        <p:nvGrpSpPr>
          <p:cNvPr id="72" name="组合 71"/>
          <p:cNvGrpSpPr/>
          <p:nvPr/>
        </p:nvGrpSpPr>
        <p:grpSpPr bwMode="auto">
          <a:xfrm>
            <a:off x="5041900" y="3086100"/>
            <a:ext cx="3816350" cy="2881313"/>
            <a:chOff x="5041930" y="3086086"/>
            <a:chExt cx="3816350" cy="2881313"/>
          </a:xfrm>
        </p:grpSpPr>
        <p:sp>
          <p:nvSpPr>
            <p:cNvPr id="22" name="Oval 21"/>
            <p:cNvSpPr>
              <a:spLocks noChangeArrowheads="1"/>
            </p:cNvSpPr>
            <p:nvPr/>
          </p:nvSpPr>
          <p:spPr bwMode="auto">
            <a:xfrm>
              <a:off x="6769130" y="3086086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solidFill>
                    <a:srgbClr val="FF0000"/>
                  </a:solidFill>
                </a:rPr>
                <a:t>A</a:t>
              </a:r>
              <a:endParaRPr lang="en-US" altLang="zh-CN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6769130" y="3590911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B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24" name="Oval 23"/>
            <p:cNvSpPr>
              <a:spLocks noChangeArrowheads="1"/>
            </p:cNvSpPr>
            <p:nvPr/>
          </p:nvSpPr>
          <p:spPr bwMode="auto">
            <a:xfrm>
              <a:off x="5400705" y="4167174"/>
              <a:ext cx="360363" cy="360362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C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6769130" y="4094149"/>
              <a:ext cx="360363" cy="360362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D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26" name="Oval 27"/>
            <p:cNvSpPr>
              <a:spLocks noChangeArrowheads="1"/>
            </p:cNvSpPr>
            <p:nvPr/>
          </p:nvSpPr>
          <p:spPr bwMode="auto">
            <a:xfrm>
              <a:off x="8137555" y="4094149"/>
              <a:ext cx="360363" cy="360362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solidFill>
                    <a:srgbClr val="FF0000"/>
                  </a:solidFill>
                </a:rPr>
                <a:t>E</a:t>
              </a:r>
              <a:endParaRPr lang="en-US" altLang="zh-CN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Oval 28"/>
            <p:cNvSpPr>
              <a:spLocks noChangeArrowheads="1"/>
            </p:cNvSpPr>
            <p:nvPr/>
          </p:nvSpPr>
          <p:spPr bwMode="auto">
            <a:xfrm>
              <a:off x="5041930" y="4886311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F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28" name="Oval 29"/>
            <p:cNvSpPr>
              <a:spLocks noChangeArrowheads="1"/>
            </p:cNvSpPr>
            <p:nvPr/>
          </p:nvSpPr>
          <p:spPr bwMode="auto">
            <a:xfrm>
              <a:off x="5761068" y="4886311"/>
              <a:ext cx="360362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G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29" name="Oval 30"/>
            <p:cNvSpPr>
              <a:spLocks noChangeArrowheads="1"/>
            </p:cNvSpPr>
            <p:nvPr/>
          </p:nvSpPr>
          <p:spPr bwMode="auto">
            <a:xfrm>
              <a:off x="6410355" y="4886311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H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30" name="Oval 31"/>
            <p:cNvSpPr>
              <a:spLocks noChangeArrowheads="1"/>
            </p:cNvSpPr>
            <p:nvPr/>
          </p:nvSpPr>
          <p:spPr bwMode="auto">
            <a:xfrm>
              <a:off x="7129493" y="4886311"/>
              <a:ext cx="360362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I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31" name="Oval 35"/>
            <p:cNvSpPr>
              <a:spLocks noChangeArrowheads="1"/>
            </p:cNvSpPr>
            <p:nvPr/>
          </p:nvSpPr>
          <p:spPr bwMode="auto">
            <a:xfrm>
              <a:off x="7778780" y="4886311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solidFill>
                    <a:srgbClr val="FF0000"/>
                  </a:solidFill>
                </a:rPr>
                <a:t>J</a:t>
              </a:r>
              <a:endParaRPr lang="en-US" altLang="zh-CN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32" name="Oval 36"/>
            <p:cNvSpPr>
              <a:spLocks noChangeArrowheads="1"/>
            </p:cNvSpPr>
            <p:nvPr/>
          </p:nvSpPr>
          <p:spPr bwMode="auto">
            <a:xfrm>
              <a:off x="8497918" y="4886311"/>
              <a:ext cx="360362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K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33" name="Oval 37"/>
            <p:cNvSpPr>
              <a:spLocks noChangeArrowheads="1"/>
            </p:cNvSpPr>
            <p:nvPr/>
          </p:nvSpPr>
          <p:spPr bwMode="auto">
            <a:xfrm>
              <a:off x="5041930" y="5607036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L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34" name="Oval 38"/>
            <p:cNvSpPr>
              <a:spLocks noChangeArrowheads="1"/>
            </p:cNvSpPr>
            <p:nvPr/>
          </p:nvSpPr>
          <p:spPr bwMode="auto">
            <a:xfrm>
              <a:off x="5761068" y="5607036"/>
              <a:ext cx="360362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M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35" name="Oval 39"/>
            <p:cNvSpPr>
              <a:spLocks noChangeArrowheads="1"/>
            </p:cNvSpPr>
            <p:nvPr/>
          </p:nvSpPr>
          <p:spPr bwMode="auto">
            <a:xfrm>
              <a:off x="6410355" y="5607036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N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36" name="Oval 40"/>
            <p:cNvSpPr>
              <a:spLocks noChangeArrowheads="1"/>
            </p:cNvSpPr>
            <p:nvPr/>
          </p:nvSpPr>
          <p:spPr bwMode="auto">
            <a:xfrm>
              <a:off x="7129493" y="5607036"/>
              <a:ext cx="360362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O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37" name="Oval 41"/>
            <p:cNvSpPr>
              <a:spLocks noChangeArrowheads="1"/>
            </p:cNvSpPr>
            <p:nvPr/>
          </p:nvSpPr>
          <p:spPr bwMode="auto">
            <a:xfrm>
              <a:off x="7778780" y="5607036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P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38" name="Oval 42"/>
            <p:cNvSpPr>
              <a:spLocks noChangeArrowheads="1"/>
            </p:cNvSpPr>
            <p:nvPr/>
          </p:nvSpPr>
          <p:spPr bwMode="auto">
            <a:xfrm>
              <a:off x="8497918" y="5607036"/>
              <a:ext cx="360362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Q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25623" name="Line 43"/>
            <p:cNvSpPr>
              <a:spLocks noChangeShapeType="1"/>
            </p:cNvSpPr>
            <p:nvPr/>
          </p:nvSpPr>
          <p:spPr bwMode="auto">
            <a:xfrm>
              <a:off x="6913592" y="3446448"/>
              <a:ext cx="0" cy="144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Text Box 44"/>
            <p:cNvSpPr txBox="1">
              <a:spLocks noChangeArrowheads="1"/>
            </p:cNvSpPr>
            <p:nvPr/>
          </p:nvSpPr>
          <p:spPr bwMode="auto">
            <a:xfrm>
              <a:off x="6616716" y="3314702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1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25" name="Line 45"/>
            <p:cNvSpPr>
              <a:spLocks noChangeShapeType="1"/>
            </p:cNvSpPr>
            <p:nvPr/>
          </p:nvSpPr>
          <p:spPr bwMode="auto">
            <a:xfrm>
              <a:off x="6913592" y="3951273"/>
              <a:ext cx="0" cy="142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6" name="Line 46"/>
            <p:cNvSpPr>
              <a:spLocks noChangeShapeType="1"/>
            </p:cNvSpPr>
            <p:nvPr/>
          </p:nvSpPr>
          <p:spPr bwMode="auto">
            <a:xfrm flipH="1">
              <a:off x="5689630" y="3878248"/>
              <a:ext cx="107950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7" name="Line 47"/>
            <p:cNvSpPr>
              <a:spLocks noChangeShapeType="1"/>
            </p:cNvSpPr>
            <p:nvPr/>
          </p:nvSpPr>
          <p:spPr bwMode="auto">
            <a:xfrm>
              <a:off x="7129492" y="3878248"/>
              <a:ext cx="1008063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8" name="Line 48"/>
            <p:cNvSpPr>
              <a:spLocks noChangeShapeType="1"/>
            </p:cNvSpPr>
            <p:nvPr/>
          </p:nvSpPr>
          <p:spPr bwMode="auto">
            <a:xfrm flipH="1">
              <a:off x="5257830" y="4525948"/>
              <a:ext cx="21590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9" name="Line 49"/>
            <p:cNvSpPr>
              <a:spLocks noChangeShapeType="1"/>
            </p:cNvSpPr>
            <p:nvPr/>
          </p:nvSpPr>
          <p:spPr bwMode="auto">
            <a:xfrm>
              <a:off x="5618192" y="4525948"/>
              <a:ext cx="287338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0" name="Line 50"/>
            <p:cNvSpPr>
              <a:spLocks noChangeShapeType="1"/>
            </p:cNvSpPr>
            <p:nvPr/>
          </p:nvSpPr>
          <p:spPr bwMode="auto">
            <a:xfrm flipH="1">
              <a:off x="6624667" y="4454511"/>
              <a:ext cx="217488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1" name="Line 51"/>
            <p:cNvSpPr>
              <a:spLocks noChangeShapeType="1"/>
            </p:cNvSpPr>
            <p:nvPr/>
          </p:nvSpPr>
          <p:spPr bwMode="auto">
            <a:xfrm>
              <a:off x="6985030" y="4454511"/>
              <a:ext cx="287338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2" name="Line 52"/>
            <p:cNvSpPr>
              <a:spLocks noChangeShapeType="1"/>
            </p:cNvSpPr>
            <p:nvPr/>
          </p:nvSpPr>
          <p:spPr bwMode="auto">
            <a:xfrm flipH="1">
              <a:off x="7993092" y="4454511"/>
              <a:ext cx="217488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Line 53"/>
            <p:cNvSpPr>
              <a:spLocks noChangeShapeType="1"/>
            </p:cNvSpPr>
            <p:nvPr/>
          </p:nvSpPr>
          <p:spPr bwMode="auto">
            <a:xfrm>
              <a:off x="8353455" y="4454511"/>
              <a:ext cx="287338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4" name="Line 54"/>
            <p:cNvSpPr>
              <a:spLocks noChangeShapeType="1"/>
            </p:cNvSpPr>
            <p:nvPr/>
          </p:nvSpPr>
          <p:spPr bwMode="auto">
            <a:xfrm>
              <a:off x="5216528" y="5246673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5" name="Line 55"/>
            <p:cNvSpPr>
              <a:spLocks noChangeShapeType="1"/>
            </p:cNvSpPr>
            <p:nvPr/>
          </p:nvSpPr>
          <p:spPr bwMode="auto">
            <a:xfrm>
              <a:off x="5937253" y="5246673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Line 56"/>
            <p:cNvSpPr>
              <a:spLocks noChangeShapeType="1"/>
            </p:cNvSpPr>
            <p:nvPr/>
          </p:nvSpPr>
          <p:spPr bwMode="auto">
            <a:xfrm>
              <a:off x="6657978" y="5246673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7" name="Line 57"/>
            <p:cNvSpPr>
              <a:spLocks noChangeShapeType="1"/>
            </p:cNvSpPr>
            <p:nvPr/>
          </p:nvSpPr>
          <p:spPr bwMode="auto">
            <a:xfrm>
              <a:off x="7305678" y="5246673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8" name="Line 58"/>
            <p:cNvSpPr>
              <a:spLocks noChangeShapeType="1"/>
            </p:cNvSpPr>
            <p:nvPr/>
          </p:nvSpPr>
          <p:spPr bwMode="auto">
            <a:xfrm>
              <a:off x="8024815" y="5246673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9" name="Line 59"/>
            <p:cNvSpPr>
              <a:spLocks noChangeShapeType="1"/>
            </p:cNvSpPr>
            <p:nvPr/>
          </p:nvSpPr>
          <p:spPr bwMode="auto">
            <a:xfrm>
              <a:off x="8674103" y="5246673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0" name="Text Box 60"/>
            <p:cNvSpPr txBox="1">
              <a:spLocks noChangeArrowheads="1"/>
            </p:cNvSpPr>
            <p:nvPr/>
          </p:nvSpPr>
          <p:spPr bwMode="auto">
            <a:xfrm>
              <a:off x="5976967" y="381476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2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41" name="Text Box 61"/>
            <p:cNvSpPr txBox="1">
              <a:spLocks noChangeArrowheads="1"/>
            </p:cNvSpPr>
            <p:nvPr/>
          </p:nvSpPr>
          <p:spPr bwMode="auto">
            <a:xfrm>
              <a:off x="6626255" y="3806811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3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42" name="Text Box 62"/>
            <p:cNvSpPr txBox="1">
              <a:spLocks noChangeArrowheads="1"/>
            </p:cNvSpPr>
            <p:nvPr/>
          </p:nvSpPr>
          <p:spPr bwMode="auto">
            <a:xfrm>
              <a:off x="7500958" y="381476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4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43" name="Text Box 63"/>
            <p:cNvSpPr txBox="1">
              <a:spLocks noChangeArrowheads="1"/>
            </p:cNvSpPr>
            <p:nvPr/>
          </p:nvSpPr>
          <p:spPr bwMode="auto">
            <a:xfrm>
              <a:off x="5187956" y="452914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3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44" name="Text Box 64"/>
            <p:cNvSpPr txBox="1">
              <a:spLocks noChangeArrowheads="1"/>
            </p:cNvSpPr>
            <p:nvPr/>
          </p:nvSpPr>
          <p:spPr bwMode="auto">
            <a:xfrm>
              <a:off x="5715008" y="4454511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4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45" name="Text Box 65"/>
            <p:cNvSpPr txBox="1">
              <a:spLocks noChangeArrowheads="1"/>
            </p:cNvSpPr>
            <p:nvPr/>
          </p:nvSpPr>
          <p:spPr bwMode="auto">
            <a:xfrm>
              <a:off x="5160992" y="524352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4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46" name="Text Box 66"/>
            <p:cNvSpPr txBox="1">
              <a:spLocks noChangeArrowheads="1"/>
            </p:cNvSpPr>
            <p:nvPr/>
          </p:nvSpPr>
          <p:spPr bwMode="auto">
            <a:xfrm>
              <a:off x="5808692" y="524352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3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47" name="Text Box 67"/>
            <p:cNvSpPr txBox="1">
              <a:spLocks noChangeArrowheads="1"/>
            </p:cNvSpPr>
            <p:nvPr/>
          </p:nvSpPr>
          <p:spPr bwMode="auto">
            <a:xfrm>
              <a:off x="6529417" y="524352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4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48" name="Text Box 68"/>
            <p:cNvSpPr txBox="1">
              <a:spLocks noChangeArrowheads="1"/>
            </p:cNvSpPr>
            <p:nvPr/>
          </p:nvSpPr>
          <p:spPr bwMode="auto">
            <a:xfrm>
              <a:off x="7177117" y="524352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2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49" name="Text Box 69"/>
            <p:cNvSpPr txBox="1">
              <a:spLocks noChangeArrowheads="1"/>
            </p:cNvSpPr>
            <p:nvPr/>
          </p:nvSpPr>
          <p:spPr bwMode="auto">
            <a:xfrm>
              <a:off x="7897842" y="524352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3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50" name="Text Box 70"/>
            <p:cNvSpPr txBox="1">
              <a:spLocks noChangeArrowheads="1"/>
            </p:cNvSpPr>
            <p:nvPr/>
          </p:nvSpPr>
          <p:spPr bwMode="auto">
            <a:xfrm>
              <a:off x="8545542" y="524352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2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51" name="Text Box 71"/>
            <p:cNvSpPr txBox="1">
              <a:spLocks noChangeArrowheads="1"/>
            </p:cNvSpPr>
            <p:nvPr/>
          </p:nvSpPr>
          <p:spPr bwMode="auto">
            <a:xfrm>
              <a:off x="6545278" y="4383073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2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52" name="Text Box 72"/>
            <p:cNvSpPr txBox="1">
              <a:spLocks noChangeArrowheads="1"/>
            </p:cNvSpPr>
            <p:nvPr/>
          </p:nvSpPr>
          <p:spPr bwMode="auto">
            <a:xfrm>
              <a:off x="7072330" y="4383073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4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53" name="Text Box 73"/>
            <p:cNvSpPr txBox="1">
              <a:spLocks noChangeArrowheads="1"/>
            </p:cNvSpPr>
            <p:nvPr/>
          </p:nvSpPr>
          <p:spPr bwMode="auto">
            <a:xfrm>
              <a:off x="7831162" y="4383073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2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5654" name="Text Box 74"/>
            <p:cNvSpPr txBox="1">
              <a:spLocks noChangeArrowheads="1"/>
            </p:cNvSpPr>
            <p:nvPr/>
          </p:nvSpPr>
          <p:spPr bwMode="auto">
            <a:xfrm>
              <a:off x="8429652" y="4383073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3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1231900"/>
            <a:ext cx="6991350" cy="526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44624"/>
            <a:ext cx="8345488" cy="6508576"/>
          </a:xfrm>
          <a:solidFill>
            <a:schemeClr val="bg1">
              <a:alpha val="58038"/>
            </a:schemeClr>
          </a:solidFill>
        </p:spPr>
        <p:txBody>
          <a:bodyPr/>
          <a:lstStyle/>
          <a:p>
            <a:pPr lvl="1"/>
            <a:r>
              <a:rPr lang="zh-CN" altLang="en-US" dirty="0" smtClean="0"/>
              <a:t>回溯算法将用深度优先方式从根节点开始，通过搜索解空间树发现一个</a:t>
            </a:r>
            <a:r>
              <a:rPr lang="zh-CN" altLang="en-US" dirty="0" smtClean="0">
                <a:solidFill>
                  <a:srgbClr val="FF0000"/>
                </a:solidFill>
              </a:rPr>
              <a:t>最小耗费的旅行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一个可能的搜索为 </a:t>
            </a:r>
            <a:r>
              <a:rPr lang="en-US" altLang="zh-CN" dirty="0" smtClean="0"/>
              <a:t>ABCFL</a:t>
            </a:r>
            <a:r>
              <a:rPr lang="zh-CN" altLang="en-US" dirty="0" smtClean="0"/>
              <a:t>。</a:t>
            </a:r>
            <a:r>
              <a:rPr lang="en-US" altLang="zh-CN" dirty="0" smtClean="0"/>
              <a:t>L</a:t>
            </a:r>
            <a:r>
              <a:rPr lang="zh-CN" altLang="en-US" dirty="0" smtClean="0"/>
              <a:t>点，旅行</a:t>
            </a:r>
            <a:r>
              <a:rPr lang="en-US" altLang="zh-CN" b="1" dirty="0" smtClean="0">
                <a:solidFill>
                  <a:srgbClr val="0000FF"/>
                </a:solidFill>
              </a:rPr>
              <a:t>1-2-3-4-1</a:t>
            </a:r>
            <a:r>
              <a:rPr lang="zh-CN" altLang="en-US" dirty="0" smtClean="0"/>
              <a:t>作为当前最好的旅行被记录下来，耗费 </a:t>
            </a:r>
            <a:r>
              <a:rPr lang="en-US" altLang="zh-CN" dirty="0" smtClean="0">
                <a:solidFill>
                  <a:srgbClr val="0000FF"/>
                </a:solidFill>
              </a:rPr>
              <a:t>59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从</a:t>
            </a:r>
            <a:r>
              <a:rPr lang="en-US" altLang="zh-CN" dirty="0" smtClean="0"/>
              <a:t>L</a:t>
            </a:r>
            <a:r>
              <a:rPr lang="zh-CN" altLang="en-US" dirty="0" smtClean="0"/>
              <a:t>点回溯到活节点</a:t>
            </a:r>
            <a:r>
              <a:rPr lang="en-US" altLang="zh-CN" dirty="0" smtClean="0"/>
              <a:t>F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</a:t>
            </a:r>
            <a:r>
              <a:rPr lang="zh-CN" altLang="en-US" dirty="0" smtClean="0"/>
              <a:t>没有未被检查的孩子，所以它成为死节点，回溯到 </a:t>
            </a:r>
            <a:r>
              <a:rPr lang="en-US" altLang="zh-CN" dirty="0" smtClean="0"/>
              <a:t>C</a:t>
            </a:r>
            <a:r>
              <a:rPr lang="zh-CN" altLang="en-US" dirty="0" smtClean="0"/>
              <a:t>点。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C</a:t>
            </a:r>
            <a:r>
              <a:rPr lang="zh-CN" altLang="en-US" dirty="0" smtClean="0"/>
              <a:t>变为</a:t>
            </a:r>
            <a:r>
              <a:rPr lang="en-US" altLang="zh-CN" dirty="0" smtClean="0">
                <a:solidFill>
                  <a:srgbClr val="0000FF"/>
                </a:solidFill>
              </a:rPr>
              <a:t>E-</a:t>
            </a:r>
            <a:r>
              <a:rPr lang="zh-CN" altLang="en-US" dirty="0" smtClean="0">
                <a:solidFill>
                  <a:srgbClr val="0000FF"/>
                </a:solidFill>
              </a:rPr>
              <a:t>节点</a:t>
            </a:r>
            <a:r>
              <a:rPr lang="zh-CN" altLang="en-US" dirty="0" smtClean="0"/>
              <a:t>，向前移动到</a:t>
            </a:r>
            <a:r>
              <a:rPr lang="en-US" altLang="zh-CN" dirty="0" smtClean="0"/>
              <a:t>G</a:t>
            </a:r>
            <a:r>
              <a:rPr lang="zh-CN" altLang="en-US" dirty="0" smtClean="0"/>
              <a:t>，然后是</a:t>
            </a:r>
            <a:r>
              <a:rPr lang="en-US" altLang="zh-CN" dirty="0" smtClean="0"/>
              <a:t>M</a:t>
            </a:r>
            <a:r>
              <a:rPr lang="zh-CN" altLang="en-US" dirty="0" smtClean="0"/>
              <a:t>。这样构造出了旅行</a:t>
            </a:r>
            <a:r>
              <a:rPr lang="en-US" altLang="zh-CN" dirty="0" smtClean="0">
                <a:solidFill>
                  <a:srgbClr val="0000FF"/>
                </a:solidFill>
              </a:rPr>
              <a:t>1-2-4-3-1</a:t>
            </a:r>
            <a:r>
              <a:rPr lang="zh-CN" altLang="en-US" dirty="0" smtClean="0"/>
              <a:t>，它的耗费是</a:t>
            </a:r>
            <a:r>
              <a:rPr lang="en-US" altLang="zh-CN" dirty="0" smtClean="0">
                <a:solidFill>
                  <a:srgbClr val="0000FF"/>
                </a:solidFill>
              </a:rPr>
              <a:t>66</a:t>
            </a:r>
            <a:r>
              <a:rPr lang="zh-CN" altLang="en-US" dirty="0" smtClean="0"/>
              <a:t>。不比当前的最佳旅行好，</a:t>
            </a:r>
            <a:r>
              <a:rPr lang="zh-CN" altLang="en-US" dirty="0" smtClean="0">
                <a:solidFill>
                  <a:srgbClr val="0000FF"/>
                </a:solidFill>
              </a:rPr>
              <a:t>抛弃</a:t>
            </a:r>
            <a:r>
              <a:rPr lang="zh-CN" altLang="en-US" dirty="0" smtClean="0"/>
              <a:t>它并</a:t>
            </a:r>
            <a:r>
              <a:rPr lang="zh-CN" altLang="en-US" dirty="0" smtClean="0">
                <a:solidFill>
                  <a:srgbClr val="0000FF"/>
                </a:solidFill>
              </a:rPr>
              <a:t>回溯</a:t>
            </a:r>
            <a:r>
              <a:rPr lang="zh-CN" altLang="en-US" dirty="0" smtClean="0"/>
              <a:t>到</a:t>
            </a:r>
            <a:r>
              <a:rPr lang="en-US" altLang="zh-CN" dirty="0" smtClean="0"/>
              <a:t>G</a:t>
            </a:r>
            <a:r>
              <a:rPr lang="zh-CN" altLang="en-US" dirty="0" smtClean="0"/>
              <a:t>，然后是</a:t>
            </a:r>
            <a:r>
              <a:rPr lang="en-US" altLang="zh-CN" dirty="0" smtClean="0"/>
              <a:t>C,B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zh-CN" altLang="en-US" smtClean="0"/>
              <a:t>从</a:t>
            </a:r>
            <a:r>
              <a:rPr lang="en-US" altLang="zh-CN" smtClean="0"/>
              <a:t>B</a:t>
            </a:r>
            <a:r>
              <a:rPr lang="zh-CN" altLang="en-US" smtClean="0"/>
              <a:t>点，搜索向前移动到</a:t>
            </a:r>
            <a:r>
              <a:rPr lang="en-US" altLang="zh-CN" smtClean="0"/>
              <a:t>D</a:t>
            </a:r>
            <a:r>
              <a:rPr lang="zh-CN" altLang="en-US" smtClean="0"/>
              <a:t>，然后是</a:t>
            </a:r>
            <a:r>
              <a:rPr lang="en-US" altLang="zh-CN" smtClean="0"/>
              <a:t>H,N</a:t>
            </a:r>
            <a:r>
              <a:rPr lang="zh-CN" altLang="en-US" smtClean="0"/>
              <a:t>。这个旅行</a:t>
            </a:r>
            <a:r>
              <a:rPr lang="en-US" altLang="zh-CN" smtClean="0">
                <a:solidFill>
                  <a:srgbClr val="0000FF"/>
                </a:solidFill>
              </a:rPr>
              <a:t>1-3-2-4-1</a:t>
            </a:r>
            <a:r>
              <a:rPr lang="zh-CN" altLang="en-US" smtClean="0"/>
              <a:t>的耗费是</a:t>
            </a:r>
            <a:r>
              <a:rPr lang="en-US" altLang="zh-CN" smtClean="0"/>
              <a:t>25</a:t>
            </a:r>
            <a:r>
              <a:rPr lang="zh-CN" altLang="en-US" smtClean="0"/>
              <a:t>，比当前的最佳旅行好，把它作为当前的最好旅行。</a:t>
            </a:r>
            <a:endParaRPr lang="en-US" altLang="zh-CN" smtClean="0"/>
          </a:p>
          <a:p>
            <a:pPr lvl="2"/>
            <a:r>
              <a:rPr lang="zh-CN" altLang="en-US" smtClean="0"/>
              <a:t>从</a:t>
            </a:r>
            <a:r>
              <a:rPr lang="en-US" altLang="zh-CN" smtClean="0"/>
              <a:t>N</a:t>
            </a:r>
            <a:r>
              <a:rPr lang="zh-CN" altLang="en-US" smtClean="0"/>
              <a:t>点，搜索回溯到</a:t>
            </a:r>
            <a:r>
              <a:rPr lang="en-US" altLang="zh-CN" smtClean="0"/>
              <a:t>H</a:t>
            </a:r>
            <a:r>
              <a:rPr lang="zh-CN" altLang="en-US" smtClean="0"/>
              <a:t>，然后是</a:t>
            </a:r>
            <a:r>
              <a:rPr lang="en-US" altLang="zh-CN" smtClean="0"/>
              <a:t>D</a:t>
            </a:r>
            <a:r>
              <a:rPr lang="zh-CN" altLang="en-US" smtClean="0"/>
              <a:t>。在</a:t>
            </a:r>
            <a:r>
              <a:rPr lang="en-US" altLang="zh-CN" smtClean="0"/>
              <a:t>D</a:t>
            </a:r>
            <a:r>
              <a:rPr lang="zh-CN" altLang="en-US" smtClean="0"/>
              <a:t>点，再次向前移动，到达</a:t>
            </a:r>
            <a:r>
              <a:rPr lang="en-US" altLang="zh-CN" smtClean="0"/>
              <a:t>O</a:t>
            </a:r>
            <a:r>
              <a:rPr lang="zh-CN" altLang="en-US" smtClean="0"/>
              <a:t>点。</a:t>
            </a:r>
            <a:endParaRPr lang="en-US" altLang="zh-CN" smtClean="0"/>
          </a:p>
          <a:p>
            <a:pPr lvl="2"/>
            <a:r>
              <a:rPr lang="zh-CN" altLang="en-US" smtClean="0"/>
              <a:t>如此继续下去，可搜索完整个树，得出</a:t>
            </a:r>
            <a:r>
              <a:rPr lang="en-US" altLang="zh-CN" smtClean="0">
                <a:solidFill>
                  <a:srgbClr val="0000FF"/>
                </a:solidFill>
              </a:rPr>
              <a:t>1-3-2-4-1</a:t>
            </a:r>
            <a:r>
              <a:rPr lang="zh-CN" altLang="en-US" smtClean="0"/>
              <a:t>是最少耗费的旅行，耗费值为</a:t>
            </a:r>
            <a:r>
              <a:rPr lang="en-US" altLang="zh-CN" smtClean="0">
                <a:solidFill>
                  <a:srgbClr val="0000FF"/>
                </a:solidFill>
              </a:rPr>
              <a:t>25</a:t>
            </a:r>
            <a:r>
              <a:rPr lang="zh-CN" altLang="en-US" smtClean="0"/>
              <a:t>。</a:t>
            </a:r>
            <a:endParaRPr lang="zh-CN" altLang="en-US" smtClean="0"/>
          </a:p>
        </p:txBody>
      </p:sp>
      <p:grpSp>
        <p:nvGrpSpPr>
          <p:cNvPr id="27652" name="组合 52"/>
          <p:cNvGrpSpPr/>
          <p:nvPr/>
        </p:nvGrpSpPr>
        <p:grpSpPr bwMode="auto">
          <a:xfrm>
            <a:off x="5041900" y="3714750"/>
            <a:ext cx="3816350" cy="2881313"/>
            <a:chOff x="5041930" y="3086086"/>
            <a:chExt cx="3816350" cy="2881313"/>
          </a:xfrm>
        </p:grpSpPr>
        <p:sp>
          <p:nvSpPr>
            <p:cNvPr id="4" name="Oval 21"/>
            <p:cNvSpPr>
              <a:spLocks noChangeArrowheads="1"/>
            </p:cNvSpPr>
            <p:nvPr/>
          </p:nvSpPr>
          <p:spPr bwMode="auto">
            <a:xfrm>
              <a:off x="6769130" y="3086086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solidFill>
                    <a:srgbClr val="FF0000"/>
                  </a:solidFill>
                </a:rPr>
                <a:t>A</a:t>
              </a:r>
              <a:endParaRPr lang="en-US" altLang="zh-CN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5" name="Oval 22"/>
            <p:cNvSpPr>
              <a:spLocks noChangeArrowheads="1"/>
            </p:cNvSpPr>
            <p:nvPr/>
          </p:nvSpPr>
          <p:spPr bwMode="auto">
            <a:xfrm>
              <a:off x="6769130" y="3590911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B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6" name="Oval 23"/>
            <p:cNvSpPr>
              <a:spLocks noChangeArrowheads="1"/>
            </p:cNvSpPr>
            <p:nvPr/>
          </p:nvSpPr>
          <p:spPr bwMode="auto">
            <a:xfrm>
              <a:off x="5400705" y="4167174"/>
              <a:ext cx="360363" cy="360362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C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7" name="Oval 24"/>
            <p:cNvSpPr>
              <a:spLocks noChangeArrowheads="1"/>
            </p:cNvSpPr>
            <p:nvPr/>
          </p:nvSpPr>
          <p:spPr bwMode="auto">
            <a:xfrm>
              <a:off x="6769130" y="4094149"/>
              <a:ext cx="360363" cy="360362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D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8" name="Oval 27"/>
            <p:cNvSpPr>
              <a:spLocks noChangeArrowheads="1"/>
            </p:cNvSpPr>
            <p:nvPr/>
          </p:nvSpPr>
          <p:spPr bwMode="auto">
            <a:xfrm>
              <a:off x="8137555" y="4094149"/>
              <a:ext cx="360363" cy="360362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solidFill>
                    <a:srgbClr val="FF0000"/>
                  </a:solidFill>
                </a:rPr>
                <a:t>E</a:t>
              </a:r>
              <a:endParaRPr lang="en-US" altLang="zh-CN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Oval 28"/>
            <p:cNvSpPr>
              <a:spLocks noChangeArrowheads="1"/>
            </p:cNvSpPr>
            <p:nvPr/>
          </p:nvSpPr>
          <p:spPr bwMode="auto">
            <a:xfrm>
              <a:off x="5041930" y="4886311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F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10" name="Oval 29"/>
            <p:cNvSpPr>
              <a:spLocks noChangeArrowheads="1"/>
            </p:cNvSpPr>
            <p:nvPr/>
          </p:nvSpPr>
          <p:spPr bwMode="auto">
            <a:xfrm>
              <a:off x="5761068" y="4886311"/>
              <a:ext cx="360362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G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11" name="Oval 30"/>
            <p:cNvSpPr>
              <a:spLocks noChangeArrowheads="1"/>
            </p:cNvSpPr>
            <p:nvPr/>
          </p:nvSpPr>
          <p:spPr bwMode="auto">
            <a:xfrm>
              <a:off x="6410355" y="4886311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H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12" name="Oval 31"/>
            <p:cNvSpPr>
              <a:spLocks noChangeArrowheads="1"/>
            </p:cNvSpPr>
            <p:nvPr/>
          </p:nvSpPr>
          <p:spPr bwMode="auto">
            <a:xfrm>
              <a:off x="7129493" y="4886311"/>
              <a:ext cx="360362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I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13" name="Oval 35"/>
            <p:cNvSpPr>
              <a:spLocks noChangeArrowheads="1"/>
            </p:cNvSpPr>
            <p:nvPr/>
          </p:nvSpPr>
          <p:spPr bwMode="auto">
            <a:xfrm>
              <a:off x="7778780" y="4886311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J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14" name="Oval 36"/>
            <p:cNvSpPr>
              <a:spLocks noChangeArrowheads="1"/>
            </p:cNvSpPr>
            <p:nvPr/>
          </p:nvSpPr>
          <p:spPr bwMode="auto">
            <a:xfrm>
              <a:off x="8497918" y="4886311"/>
              <a:ext cx="360362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K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15" name="Oval 37"/>
            <p:cNvSpPr>
              <a:spLocks noChangeArrowheads="1"/>
            </p:cNvSpPr>
            <p:nvPr/>
          </p:nvSpPr>
          <p:spPr bwMode="auto">
            <a:xfrm>
              <a:off x="5041930" y="5607036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L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16" name="Oval 38"/>
            <p:cNvSpPr>
              <a:spLocks noChangeArrowheads="1"/>
            </p:cNvSpPr>
            <p:nvPr/>
          </p:nvSpPr>
          <p:spPr bwMode="auto">
            <a:xfrm>
              <a:off x="5761068" y="5607036"/>
              <a:ext cx="360362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M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17" name="Oval 39"/>
            <p:cNvSpPr>
              <a:spLocks noChangeArrowheads="1"/>
            </p:cNvSpPr>
            <p:nvPr/>
          </p:nvSpPr>
          <p:spPr bwMode="auto">
            <a:xfrm>
              <a:off x="6410355" y="5607036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N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18" name="Oval 40"/>
            <p:cNvSpPr>
              <a:spLocks noChangeArrowheads="1"/>
            </p:cNvSpPr>
            <p:nvPr/>
          </p:nvSpPr>
          <p:spPr bwMode="auto">
            <a:xfrm>
              <a:off x="7129493" y="5607036"/>
              <a:ext cx="360362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O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19" name="Oval 41"/>
            <p:cNvSpPr>
              <a:spLocks noChangeArrowheads="1"/>
            </p:cNvSpPr>
            <p:nvPr/>
          </p:nvSpPr>
          <p:spPr bwMode="auto">
            <a:xfrm>
              <a:off x="7778780" y="5607036"/>
              <a:ext cx="360363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P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20" name="Oval 42"/>
            <p:cNvSpPr>
              <a:spLocks noChangeArrowheads="1"/>
            </p:cNvSpPr>
            <p:nvPr/>
          </p:nvSpPr>
          <p:spPr bwMode="auto">
            <a:xfrm>
              <a:off x="8497918" y="5607036"/>
              <a:ext cx="360362" cy="360363"/>
            </a:xfrm>
            <a:prstGeom prst="ellipse">
              <a:avLst/>
            </a:prstGeom>
            <a:solidFill>
              <a:srgbClr val="99FF33"/>
            </a:solidFill>
            <a:ln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FF0000"/>
                  </a:solidFill>
                </a:rPr>
                <a:t>Q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27671" name="Line 43"/>
            <p:cNvSpPr>
              <a:spLocks noChangeShapeType="1"/>
            </p:cNvSpPr>
            <p:nvPr/>
          </p:nvSpPr>
          <p:spPr bwMode="auto">
            <a:xfrm>
              <a:off x="6913592" y="3446448"/>
              <a:ext cx="0" cy="144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2" name="Text Box 44"/>
            <p:cNvSpPr txBox="1">
              <a:spLocks noChangeArrowheads="1"/>
            </p:cNvSpPr>
            <p:nvPr/>
          </p:nvSpPr>
          <p:spPr bwMode="auto">
            <a:xfrm>
              <a:off x="6616716" y="3314702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1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673" name="Line 45"/>
            <p:cNvSpPr>
              <a:spLocks noChangeShapeType="1"/>
            </p:cNvSpPr>
            <p:nvPr/>
          </p:nvSpPr>
          <p:spPr bwMode="auto">
            <a:xfrm>
              <a:off x="6913592" y="3951273"/>
              <a:ext cx="0" cy="142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4" name="Line 46"/>
            <p:cNvSpPr>
              <a:spLocks noChangeShapeType="1"/>
            </p:cNvSpPr>
            <p:nvPr/>
          </p:nvSpPr>
          <p:spPr bwMode="auto">
            <a:xfrm flipH="1">
              <a:off x="5689630" y="3878248"/>
              <a:ext cx="107950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5" name="Line 47"/>
            <p:cNvSpPr>
              <a:spLocks noChangeShapeType="1"/>
            </p:cNvSpPr>
            <p:nvPr/>
          </p:nvSpPr>
          <p:spPr bwMode="auto">
            <a:xfrm>
              <a:off x="7129492" y="3878248"/>
              <a:ext cx="1008063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6" name="Line 48"/>
            <p:cNvSpPr>
              <a:spLocks noChangeShapeType="1"/>
            </p:cNvSpPr>
            <p:nvPr/>
          </p:nvSpPr>
          <p:spPr bwMode="auto">
            <a:xfrm flipH="1">
              <a:off x="5257830" y="4525948"/>
              <a:ext cx="21590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7" name="Line 49"/>
            <p:cNvSpPr>
              <a:spLocks noChangeShapeType="1"/>
            </p:cNvSpPr>
            <p:nvPr/>
          </p:nvSpPr>
          <p:spPr bwMode="auto">
            <a:xfrm>
              <a:off x="5618192" y="4525948"/>
              <a:ext cx="287338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8" name="Line 50"/>
            <p:cNvSpPr>
              <a:spLocks noChangeShapeType="1"/>
            </p:cNvSpPr>
            <p:nvPr/>
          </p:nvSpPr>
          <p:spPr bwMode="auto">
            <a:xfrm flipH="1">
              <a:off x="6624667" y="4454511"/>
              <a:ext cx="217488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9" name="Line 51"/>
            <p:cNvSpPr>
              <a:spLocks noChangeShapeType="1"/>
            </p:cNvSpPr>
            <p:nvPr/>
          </p:nvSpPr>
          <p:spPr bwMode="auto">
            <a:xfrm>
              <a:off x="6985030" y="4454511"/>
              <a:ext cx="287338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0" name="Line 52"/>
            <p:cNvSpPr>
              <a:spLocks noChangeShapeType="1"/>
            </p:cNvSpPr>
            <p:nvPr/>
          </p:nvSpPr>
          <p:spPr bwMode="auto">
            <a:xfrm flipH="1">
              <a:off x="7993092" y="4454511"/>
              <a:ext cx="217488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1" name="Line 53"/>
            <p:cNvSpPr>
              <a:spLocks noChangeShapeType="1"/>
            </p:cNvSpPr>
            <p:nvPr/>
          </p:nvSpPr>
          <p:spPr bwMode="auto">
            <a:xfrm>
              <a:off x="8353455" y="4454511"/>
              <a:ext cx="287338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2" name="Line 54"/>
            <p:cNvSpPr>
              <a:spLocks noChangeShapeType="1"/>
            </p:cNvSpPr>
            <p:nvPr/>
          </p:nvSpPr>
          <p:spPr bwMode="auto">
            <a:xfrm>
              <a:off x="5216528" y="5246673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3" name="Line 55"/>
            <p:cNvSpPr>
              <a:spLocks noChangeShapeType="1"/>
            </p:cNvSpPr>
            <p:nvPr/>
          </p:nvSpPr>
          <p:spPr bwMode="auto">
            <a:xfrm>
              <a:off x="5937253" y="5246673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4" name="Line 56"/>
            <p:cNvSpPr>
              <a:spLocks noChangeShapeType="1"/>
            </p:cNvSpPr>
            <p:nvPr/>
          </p:nvSpPr>
          <p:spPr bwMode="auto">
            <a:xfrm>
              <a:off x="6657978" y="5246673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5" name="Line 57"/>
            <p:cNvSpPr>
              <a:spLocks noChangeShapeType="1"/>
            </p:cNvSpPr>
            <p:nvPr/>
          </p:nvSpPr>
          <p:spPr bwMode="auto">
            <a:xfrm>
              <a:off x="7305678" y="5246673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6" name="Line 58"/>
            <p:cNvSpPr>
              <a:spLocks noChangeShapeType="1"/>
            </p:cNvSpPr>
            <p:nvPr/>
          </p:nvSpPr>
          <p:spPr bwMode="auto">
            <a:xfrm>
              <a:off x="8024815" y="5246673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7" name="Line 59"/>
            <p:cNvSpPr>
              <a:spLocks noChangeShapeType="1"/>
            </p:cNvSpPr>
            <p:nvPr/>
          </p:nvSpPr>
          <p:spPr bwMode="auto">
            <a:xfrm>
              <a:off x="8674103" y="5246673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Text Box 60"/>
            <p:cNvSpPr txBox="1">
              <a:spLocks noChangeArrowheads="1"/>
            </p:cNvSpPr>
            <p:nvPr/>
          </p:nvSpPr>
          <p:spPr bwMode="auto">
            <a:xfrm>
              <a:off x="5976967" y="381476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2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689" name="Text Box 61"/>
            <p:cNvSpPr txBox="1">
              <a:spLocks noChangeArrowheads="1"/>
            </p:cNvSpPr>
            <p:nvPr/>
          </p:nvSpPr>
          <p:spPr bwMode="auto">
            <a:xfrm>
              <a:off x="6626255" y="3806811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3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690" name="Text Box 62"/>
            <p:cNvSpPr txBox="1">
              <a:spLocks noChangeArrowheads="1"/>
            </p:cNvSpPr>
            <p:nvPr/>
          </p:nvSpPr>
          <p:spPr bwMode="auto">
            <a:xfrm>
              <a:off x="7500958" y="381476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4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691" name="Text Box 63"/>
            <p:cNvSpPr txBox="1">
              <a:spLocks noChangeArrowheads="1"/>
            </p:cNvSpPr>
            <p:nvPr/>
          </p:nvSpPr>
          <p:spPr bwMode="auto">
            <a:xfrm>
              <a:off x="5187956" y="452914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3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692" name="Text Box 64"/>
            <p:cNvSpPr txBox="1">
              <a:spLocks noChangeArrowheads="1"/>
            </p:cNvSpPr>
            <p:nvPr/>
          </p:nvSpPr>
          <p:spPr bwMode="auto">
            <a:xfrm>
              <a:off x="5715008" y="4454511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4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693" name="Text Box 65"/>
            <p:cNvSpPr txBox="1">
              <a:spLocks noChangeArrowheads="1"/>
            </p:cNvSpPr>
            <p:nvPr/>
          </p:nvSpPr>
          <p:spPr bwMode="auto">
            <a:xfrm>
              <a:off x="5160992" y="524352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4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694" name="Text Box 66"/>
            <p:cNvSpPr txBox="1">
              <a:spLocks noChangeArrowheads="1"/>
            </p:cNvSpPr>
            <p:nvPr/>
          </p:nvSpPr>
          <p:spPr bwMode="auto">
            <a:xfrm>
              <a:off x="5808692" y="524352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3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695" name="Text Box 67"/>
            <p:cNvSpPr txBox="1">
              <a:spLocks noChangeArrowheads="1"/>
            </p:cNvSpPr>
            <p:nvPr/>
          </p:nvSpPr>
          <p:spPr bwMode="auto">
            <a:xfrm>
              <a:off x="6529417" y="524352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4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696" name="Text Box 68"/>
            <p:cNvSpPr txBox="1">
              <a:spLocks noChangeArrowheads="1"/>
            </p:cNvSpPr>
            <p:nvPr/>
          </p:nvSpPr>
          <p:spPr bwMode="auto">
            <a:xfrm>
              <a:off x="7177117" y="524352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2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697" name="Text Box 69"/>
            <p:cNvSpPr txBox="1">
              <a:spLocks noChangeArrowheads="1"/>
            </p:cNvSpPr>
            <p:nvPr/>
          </p:nvSpPr>
          <p:spPr bwMode="auto">
            <a:xfrm>
              <a:off x="7897842" y="524352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3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698" name="Text Box 70"/>
            <p:cNvSpPr txBox="1">
              <a:spLocks noChangeArrowheads="1"/>
            </p:cNvSpPr>
            <p:nvPr/>
          </p:nvSpPr>
          <p:spPr bwMode="auto">
            <a:xfrm>
              <a:off x="8545542" y="5243528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2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699" name="Text Box 71"/>
            <p:cNvSpPr txBox="1">
              <a:spLocks noChangeArrowheads="1"/>
            </p:cNvSpPr>
            <p:nvPr/>
          </p:nvSpPr>
          <p:spPr bwMode="auto">
            <a:xfrm>
              <a:off x="6545278" y="4383073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2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700" name="Text Box 72"/>
            <p:cNvSpPr txBox="1">
              <a:spLocks noChangeArrowheads="1"/>
            </p:cNvSpPr>
            <p:nvPr/>
          </p:nvSpPr>
          <p:spPr bwMode="auto">
            <a:xfrm>
              <a:off x="7072330" y="4383073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4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701" name="Text Box 73"/>
            <p:cNvSpPr txBox="1">
              <a:spLocks noChangeArrowheads="1"/>
            </p:cNvSpPr>
            <p:nvPr/>
          </p:nvSpPr>
          <p:spPr bwMode="auto">
            <a:xfrm>
              <a:off x="7831162" y="4383073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2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  <p:sp>
          <p:nvSpPr>
            <p:cNvPr id="27702" name="Text Box 74"/>
            <p:cNvSpPr txBox="1">
              <a:spLocks noChangeArrowheads="1"/>
            </p:cNvSpPr>
            <p:nvPr/>
          </p:nvSpPr>
          <p:spPr bwMode="auto">
            <a:xfrm>
              <a:off x="8429652" y="4383073"/>
              <a:ext cx="3127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sz="2000" b="1">
                  <a:solidFill>
                    <a:srgbClr val="0000FF"/>
                  </a:solidFill>
                </a:rPr>
                <a:t>3</a:t>
              </a:r>
              <a:endParaRPr lang="en-US" altLang="zh-CN" sz="2000" b="1">
                <a:solidFill>
                  <a:srgbClr val="0000FF"/>
                </a:solidFill>
              </a:endParaRPr>
            </a:p>
          </p:txBody>
        </p:sp>
      </p:grpSp>
      <p:pic>
        <p:nvPicPr>
          <p:cNvPr id="27653" name="Picture 1" descr="D:\Temp\Temporary Internet Files\Content.IE5\51RT335K\MCj04294570000[1].wm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22850"/>
            <a:ext cx="2500313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6.1.3 </a:t>
            </a:r>
            <a:r>
              <a:rPr lang="zh-CN" altLang="en-US" dirty="0" smtClean="0"/>
              <a:t>子集树与排列树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子集树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从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个元素的集合</a:t>
            </a:r>
            <a:r>
              <a:rPr lang="en-US" altLang="zh-CN" dirty="0" smtClean="0"/>
              <a:t>S</a:t>
            </a:r>
            <a:r>
              <a:rPr lang="zh-CN" altLang="en-US" dirty="0" smtClean="0"/>
              <a:t>中找出</a:t>
            </a:r>
            <a:r>
              <a:rPr lang="en-US" altLang="zh-CN" dirty="0" smtClean="0"/>
              <a:t>S</a:t>
            </a:r>
            <a:r>
              <a:rPr lang="zh-CN" altLang="en-US" b="1" dirty="0" smtClean="0">
                <a:solidFill>
                  <a:srgbClr val="0000FF"/>
                </a:solidFill>
              </a:rPr>
              <a:t>满足某种性质的子集</a:t>
            </a:r>
            <a:r>
              <a:rPr lang="zh-CN" altLang="en-US" dirty="0" smtClean="0"/>
              <a:t>，相应的解空间称为</a:t>
            </a:r>
            <a:r>
              <a:rPr lang="zh-CN" altLang="en-US" dirty="0" smtClean="0">
                <a:solidFill>
                  <a:srgbClr val="0000FF"/>
                </a:solidFill>
              </a:rPr>
              <a:t>子集树</a:t>
            </a:r>
            <a:r>
              <a:rPr lang="zh-CN" altLang="en-US" dirty="0" smtClean="0"/>
              <a:t>。通常有</a:t>
            </a:r>
            <a:r>
              <a:rPr lang="en-US" altLang="zh-CN" b="1" dirty="0" smtClean="0">
                <a:solidFill>
                  <a:srgbClr val="0000FF"/>
                </a:solidFill>
              </a:rPr>
              <a:t>2</a:t>
            </a:r>
            <a:r>
              <a:rPr lang="en-US" altLang="zh-CN" b="1" baseline="30000" dirty="0" smtClean="0">
                <a:solidFill>
                  <a:srgbClr val="0000FF"/>
                </a:solidFill>
              </a:rPr>
              <a:t>n</a:t>
            </a:r>
            <a:r>
              <a:rPr lang="zh-CN" altLang="en-US" dirty="0" smtClean="0"/>
              <a:t>个叶结点，结点总数为</a:t>
            </a:r>
            <a:r>
              <a:rPr lang="en-US" altLang="zh-CN" b="1" dirty="0" smtClean="0">
                <a:solidFill>
                  <a:srgbClr val="0000FF"/>
                </a:solidFill>
              </a:rPr>
              <a:t>2</a:t>
            </a:r>
            <a:r>
              <a:rPr lang="en-US" altLang="zh-CN" b="1" baseline="30000" dirty="0" smtClean="0">
                <a:solidFill>
                  <a:srgbClr val="0000FF"/>
                </a:solidFill>
              </a:rPr>
              <a:t>n+1</a:t>
            </a:r>
            <a:r>
              <a:rPr lang="en-US" altLang="zh-CN" b="1" dirty="0" smtClean="0">
                <a:solidFill>
                  <a:srgbClr val="0000FF"/>
                </a:solidFill>
              </a:rPr>
              <a:t>-1</a:t>
            </a:r>
            <a:r>
              <a:rPr lang="zh-CN" altLang="en-US" dirty="0" smtClean="0"/>
              <a:t>。需</a:t>
            </a:r>
            <a:r>
              <a:rPr lang="en-US" altLang="zh-CN" dirty="0" smtClean="0">
                <a:solidFill>
                  <a:srgbClr val="0000FF"/>
                </a:solidFill>
              </a:rPr>
              <a:t>Ω(2</a:t>
            </a:r>
            <a:r>
              <a:rPr lang="en-US" altLang="zh-CN" baseline="30000" dirty="0" smtClean="0">
                <a:solidFill>
                  <a:srgbClr val="0000FF"/>
                </a:solidFill>
              </a:rPr>
              <a:t>n</a:t>
            </a:r>
            <a:r>
              <a:rPr lang="en-US" altLang="zh-CN" dirty="0" smtClean="0">
                <a:solidFill>
                  <a:srgbClr val="0000FF"/>
                </a:solidFill>
              </a:rPr>
              <a:t>)</a:t>
            </a:r>
            <a:r>
              <a:rPr lang="zh-CN" altLang="en-US" dirty="0" smtClean="0"/>
              <a:t>计算时间。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如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个物品的</a:t>
            </a:r>
            <a:r>
              <a:rPr lang="en-US" altLang="zh-CN" dirty="0" smtClean="0">
                <a:solidFill>
                  <a:srgbClr val="0000FF"/>
                </a:solidFill>
              </a:rPr>
              <a:t>0-1</a:t>
            </a:r>
            <a:r>
              <a:rPr lang="zh-CN" altLang="en-US" dirty="0" smtClean="0">
                <a:solidFill>
                  <a:srgbClr val="0000FF"/>
                </a:solidFill>
              </a:rPr>
              <a:t>背包问题</a:t>
            </a:r>
            <a:r>
              <a:rPr lang="zh-CN" altLang="en-US" dirty="0" smtClean="0"/>
              <a:t>的解空间是一棵</a:t>
            </a:r>
            <a:r>
              <a:rPr lang="zh-CN" altLang="en-US" dirty="0" smtClean="0">
                <a:solidFill>
                  <a:srgbClr val="0000FF"/>
                </a:solidFill>
              </a:rPr>
              <a:t>子集树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排列树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当所给问题的确定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个元素</a:t>
            </a:r>
            <a:r>
              <a:rPr lang="zh-CN" altLang="en-US" b="1" dirty="0" smtClean="0"/>
              <a:t>满足某种性质的</a:t>
            </a:r>
            <a:r>
              <a:rPr lang="zh-CN" altLang="en-US" b="1" dirty="0" smtClean="0">
                <a:solidFill>
                  <a:srgbClr val="FF0000"/>
                </a:solidFill>
              </a:rPr>
              <a:t>排列</a:t>
            </a:r>
            <a:r>
              <a:rPr lang="zh-CN" altLang="en-US" dirty="0" smtClean="0">
                <a:solidFill>
                  <a:srgbClr val="FF0000"/>
                </a:solidFill>
              </a:rPr>
              <a:t>时</a:t>
            </a:r>
            <a:r>
              <a:rPr lang="zh-CN" altLang="en-US" dirty="0" smtClean="0"/>
              <a:t>，相应的解空间树称为</a:t>
            </a:r>
            <a:r>
              <a:rPr lang="zh-CN" altLang="en-US" b="1" dirty="0" smtClean="0">
                <a:solidFill>
                  <a:srgbClr val="0000FF"/>
                </a:solidFill>
              </a:rPr>
              <a:t>排列树</a:t>
            </a:r>
            <a:r>
              <a:rPr lang="zh-CN" altLang="en-US" dirty="0" smtClean="0"/>
              <a:t>。排列树通常有</a:t>
            </a:r>
            <a:r>
              <a:rPr lang="en-US" altLang="zh-CN" dirty="0" smtClean="0">
                <a:solidFill>
                  <a:srgbClr val="0000FF"/>
                </a:solidFill>
              </a:rPr>
              <a:t>n!</a:t>
            </a:r>
            <a:r>
              <a:rPr lang="zh-CN" altLang="en-US" dirty="0" smtClean="0"/>
              <a:t>个叶结点。因此遍历排列树需要</a:t>
            </a:r>
            <a:r>
              <a:rPr lang="en-US" altLang="zh-CN" dirty="0" smtClean="0">
                <a:solidFill>
                  <a:srgbClr val="0000FF"/>
                </a:solidFill>
              </a:rPr>
              <a:t>Ω(n!)</a:t>
            </a:r>
            <a:r>
              <a:rPr lang="zh-CN" altLang="en-US" dirty="0" smtClean="0"/>
              <a:t>计算时间。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0000FF"/>
                </a:solidFill>
              </a:rPr>
              <a:t>TSP(</a:t>
            </a:r>
            <a:r>
              <a:rPr lang="zh-CN" altLang="en-US" dirty="0" smtClean="0">
                <a:solidFill>
                  <a:srgbClr val="0000FF"/>
                </a:solidFill>
              </a:rPr>
              <a:t>旅行售货员问题</a:t>
            </a:r>
            <a:r>
              <a:rPr lang="en-US" altLang="zh-CN" dirty="0" smtClean="0">
                <a:solidFill>
                  <a:srgbClr val="0000FF"/>
                </a:solidFill>
              </a:rPr>
              <a:t>)</a:t>
            </a:r>
            <a:r>
              <a:rPr lang="zh-CN" altLang="en-US" dirty="0" smtClean="0"/>
              <a:t>的解空间是一棵排列树。</a:t>
            </a:r>
            <a:endParaRPr lang="zh-CN" alt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pic>
        <p:nvPicPr>
          <p:cNvPr id="31747" name="Picture 1" descr="D:\Temp\Temporary Internet Files\Content.IE5\ZHLSEDAZ\MCj04357410000[1].wm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563" y="214313"/>
            <a:ext cx="2444750" cy="207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" name="组合 60"/>
          <p:cNvGrpSpPr/>
          <p:nvPr/>
        </p:nvGrpSpPr>
        <p:grpSpPr bwMode="auto">
          <a:xfrm>
            <a:off x="5000625" y="2905125"/>
            <a:ext cx="3829050" cy="3524250"/>
            <a:chOff x="5715008" y="2500306"/>
            <a:chExt cx="3829342" cy="3524255"/>
          </a:xfrm>
        </p:grpSpPr>
        <p:sp>
          <p:nvSpPr>
            <p:cNvPr id="7" name="矩形 6"/>
            <p:cNvSpPr/>
            <p:nvPr/>
          </p:nvSpPr>
          <p:spPr>
            <a:xfrm>
              <a:off x="6929539" y="2500306"/>
              <a:ext cx="1262158" cy="5238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rPr>
                <a:t>排列树</a:t>
              </a:r>
              <a:endPara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endParaRPr>
            </a:p>
          </p:txBody>
        </p:sp>
        <p:grpSp>
          <p:nvGrpSpPr>
            <p:cNvPr id="31753" name="组合 10"/>
            <p:cNvGrpSpPr/>
            <p:nvPr/>
          </p:nvGrpSpPr>
          <p:grpSpPr bwMode="auto">
            <a:xfrm>
              <a:off x="5715008" y="3143248"/>
              <a:ext cx="3829342" cy="2881313"/>
              <a:chOff x="5041930" y="3086086"/>
              <a:chExt cx="3829342" cy="2881313"/>
            </a:xfrm>
          </p:grpSpPr>
          <p:sp>
            <p:nvSpPr>
              <p:cNvPr id="12" name="Oval 21"/>
              <p:cNvSpPr>
                <a:spLocks noChangeArrowheads="1"/>
              </p:cNvSpPr>
              <p:nvPr/>
            </p:nvSpPr>
            <p:spPr bwMode="auto">
              <a:xfrm>
                <a:off x="6769262" y="3086083"/>
                <a:ext cx="360390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</a:t>
                </a:r>
                <a:endParaRPr lang="en-US" altLang="zh-C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" name="Oval 22"/>
              <p:cNvSpPr>
                <a:spLocks noChangeArrowheads="1"/>
              </p:cNvSpPr>
              <p:nvPr/>
            </p:nvSpPr>
            <p:spPr bwMode="auto">
              <a:xfrm>
                <a:off x="6769262" y="3590909"/>
                <a:ext cx="360390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4" name="Oval 23"/>
              <p:cNvSpPr>
                <a:spLocks noChangeArrowheads="1"/>
              </p:cNvSpPr>
              <p:nvPr/>
            </p:nvSpPr>
            <p:spPr bwMode="auto">
              <a:xfrm>
                <a:off x="5400732" y="4167172"/>
                <a:ext cx="360390" cy="360364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" name="Oval 24"/>
              <p:cNvSpPr>
                <a:spLocks noChangeArrowheads="1"/>
              </p:cNvSpPr>
              <p:nvPr/>
            </p:nvSpPr>
            <p:spPr bwMode="auto">
              <a:xfrm>
                <a:off x="6769262" y="4094146"/>
                <a:ext cx="360390" cy="360364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6" name="Oval 27"/>
              <p:cNvSpPr>
                <a:spLocks noChangeArrowheads="1"/>
              </p:cNvSpPr>
              <p:nvPr/>
            </p:nvSpPr>
            <p:spPr bwMode="auto">
              <a:xfrm>
                <a:off x="8137791" y="4094146"/>
                <a:ext cx="360390" cy="360364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</a:t>
                </a:r>
                <a:endParaRPr lang="en-US" altLang="zh-CN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7" name="Oval 28"/>
              <p:cNvSpPr>
                <a:spLocks noChangeArrowheads="1"/>
              </p:cNvSpPr>
              <p:nvPr/>
            </p:nvSpPr>
            <p:spPr bwMode="auto">
              <a:xfrm>
                <a:off x="5041930" y="4886310"/>
                <a:ext cx="360390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" name="Oval 29"/>
              <p:cNvSpPr>
                <a:spLocks noChangeArrowheads="1"/>
              </p:cNvSpPr>
              <p:nvPr/>
            </p:nvSpPr>
            <p:spPr bwMode="auto">
              <a:xfrm>
                <a:off x="5761123" y="4886310"/>
                <a:ext cx="360389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G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9" name="Oval 30"/>
              <p:cNvSpPr>
                <a:spLocks noChangeArrowheads="1"/>
              </p:cNvSpPr>
              <p:nvPr/>
            </p:nvSpPr>
            <p:spPr bwMode="auto">
              <a:xfrm>
                <a:off x="6410459" y="4886310"/>
                <a:ext cx="360390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H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" name="Oval 31"/>
              <p:cNvSpPr>
                <a:spLocks noChangeArrowheads="1"/>
              </p:cNvSpPr>
              <p:nvPr/>
            </p:nvSpPr>
            <p:spPr bwMode="auto">
              <a:xfrm>
                <a:off x="7129652" y="4886310"/>
                <a:ext cx="360389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1" name="Oval 35"/>
              <p:cNvSpPr>
                <a:spLocks noChangeArrowheads="1"/>
              </p:cNvSpPr>
              <p:nvPr/>
            </p:nvSpPr>
            <p:spPr bwMode="auto">
              <a:xfrm>
                <a:off x="7778989" y="4886310"/>
                <a:ext cx="360390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J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" name="Oval 36"/>
              <p:cNvSpPr>
                <a:spLocks noChangeArrowheads="1"/>
              </p:cNvSpPr>
              <p:nvPr/>
            </p:nvSpPr>
            <p:spPr bwMode="auto">
              <a:xfrm>
                <a:off x="8498182" y="4886310"/>
                <a:ext cx="360389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K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3" name="Oval 37"/>
              <p:cNvSpPr>
                <a:spLocks noChangeArrowheads="1"/>
              </p:cNvSpPr>
              <p:nvPr/>
            </p:nvSpPr>
            <p:spPr bwMode="auto">
              <a:xfrm>
                <a:off x="5041930" y="5607036"/>
                <a:ext cx="360390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L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Oval 38"/>
              <p:cNvSpPr>
                <a:spLocks noChangeArrowheads="1"/>
              </p:cNvSpPr>
              <p:nvPr/>
            </p:nvSpPr>
            <p:spPr bwMode="auto">
              <a:xfrm>
                <a:off x="5761123" y="5607036"/>
                <a:ext cx="360389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Oval 39"/>
              <p:cNvSpPr>
                <a:spLocks noChangeArrowheads="1"/>
              </p:cNvSpPr>
              <p:nvPr/>
            </p:nvSpPr>
            <p:spPr bwMode="auto">
              <a:xfrm>
                <a:off x="6410459" y="5607036"/>
                <a:ext cx="360390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6" name="Oval 40"/>
              <p:cNvSpPr>
                <a:spLocks noChangeArrowheads="1"/>
              </p:cNvSpPr>
              <p:nvPr/>
            </p:nvSpPr>
            <p:spPr bwMode="auto">
              <a:xfrm>
                <a:off x="7129652" y="5607036"/>
                <a:ext cx="360389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O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7" name="Oval 41"/>
              <p:cNvSpPr>
                <a:spLocks noChangeArrowheads="1"/>
              </p:cNvSpPr>
              <p:nvPr/>
            </p:nvSpPr>
            <p:spPr bwMode="auto">
              <a:xfrm>
                <a:off x="7778989" y="5607036"/>
                <a:ext cx="360390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8" name="Oval 42"/>
              <p:cNvSpPr>
                <a:spLocks noChangeArrowheads="1"/>
              </p:cNvSpPr>
              <p:nvPr/>
            </p:nvSpPr>
            <p:spPr bwMode="auto">
              <a:xfrm>
                <a:off x="8498182" y="5607036"/>
                <a:ext cx="360389" cy="360363"/>
              </a:xfrm>
              <a:prstGeom prst="ellipse">
                <a:avLst/>
              </a:prstGeom>
              <a:solidFill>
                <a:srgbClr val="99FF33"/>
              </a:solidFill>
              <a:ln>
                <a:solidFill>
                  <a:srgbClr val="008000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" name="Line 43"/>
              <p:cNvSpPr>
                <a:spLocks noChangeShapeType="1"/>
              </p:cNvSpPr>
              <p:nvPr/>
            </p:nvSpPr>
            <p:spPr bwMode="auto">
              <a:xfrm>
                <a:off x="6913736" y="3446446"/>
                <a:ext cx="0" cy="1444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30" name="Text Box 44"/>
              <p:cNvSpPr txBox="1">
                <a:spLocks noChangeArrowheads="1"/>
              </p:cNvSpPr>
              <p:nvPr/>
            </p:nvSpPr>
            <p:spPr bwMode="auto">
              <a:xfrm>
                <a:off x="6616850" y="3314683"/>
                <a:ext cx="325463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1</a:t>
                </a:r>
                <a:endParaRPr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31" name="Line 45"/>
              <p:cNvSpPr>
                <a:spLocks noChangeShapeType="1"/>
              </p:cNvSpPr>
              <p:nvPr/>
            </p:nvSpPr>
            <p:spPr bwMode="auto">
              <a:xfrm>
                <a:off x="6913736" y="3951271"/>
                <a:ext cx="0" cy="142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32" name="Line 46"/>
              <p:cNvSpPr>
                <a:spLocks noChangeShapeType="1"/>
              </p:cNvSpPr>
              <p:nvPr/>
            </p:nvSpPr>
            <p:spPr bwMode="auto">
              <a:xfrm flipH="1">
                <a:off x="5689679" y="3878246"/>
                <a:ext cx="1079582" cy="3603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33" name="Line 47"/>
              <p:cNvSpPr>
                <a:spLocks noChangeShapeType="1"/>
              </p:cNvSpPr>
              <p:nvPr/>
            </p:nvSpPr>
            <p:spPr bwMode="auto">
              <a:xfrm>
                <a:off x="7129652" y="3878246"/>
                <a:ext cx="1008139" cy="2889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34" name="Line 48"/>
              <p:cNvSpPr>
                <a:spLocks noChangeShapeType="1"/>
              </p:cNvSpPr>
              <p:nvPr/>
            </p:nvSpPr>
            <p:spPr bwMode="auto">
              <a:xfrm flipH="1">
                <a:off x="5257846" y="4525947"/>
                <a:ext cx="215916" cy="3603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35" name="Line 49"/>
              <p:cNvSpPr>
                <a:spLocks noChangeShapeType="1"/>
              </p:cNvSpPr>
              <p:nvPr/>
            </p:nvSpPr>
            <p:spPr bwMode="auto">
              <a:xfrm>
                <a:off x="5618237" y="4525947"/>
                <a:ext cx="287359" cy="3603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36" name="Line 50"/>
              <p:cNvSpPr>
                <a:spLocks noChangeShapeType="1"/>
              </p:cNvSpPr>
              <p:nvPr/>
            </p:nvSpPr>
            <p:spPr bwMode="auto">
              <a:xfrm flipH="1">
                <a:off x="6624789" y="4454510"/>
                <a:ext cx="217504" cy="4318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37" name="Line 51"/>
              <p:cNvSpPr>
                <a:spLocks noChangeShapeType="1"/>
              </p:cNvSpPr>
              <p:nvPr/>
            </p:nvSpPr>
            <p:spPr bwMode="auto">
              <a:xfrm>
                <a:off x="6985178" y="4454510"/>
                <a:ext cx="287360" cy="4318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38" name="Line 52"/>
              <p:cNvSpPr>
                <a:spLocks noChangeShapeType="1"/>
              </p:cNvSpPr>
              <p:nvPr/>
            </p:nvSpPr>
            <p:spPr bwMode="auto">
              <a:xfrm flipH="1">
                <a:off x="7993318" y="4454510"/>
                <a:ext cx="217504" cy="4318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39" name="Line 53"/>
              <p:cNvSpPr>
                <a:spLocks noChangeShapeType="1"/>
              </p:cNvSpPr>
              <p:nvPr/>
            </p:nvSpPr>
            <p:spPr bwMode="auto">
              <a:xfrm>
                <a:off x="8353708" y="4454510"/>
                <a:ext cx="287360" cy="4318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40" name="Line 54"/>
              <p:cNvSpPr>
                <a:spLocks noChangeShapeType="1"/>
              </p:cNvSpPr>
              <p:nvPr/>
            </p:nvSpPr>
            <p:spPr bwMode="auto">
              <a:xfrm>
                <a:off x="5216568" y="5246673"/>
                <a:ext cx="0" cy="3603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41" name="Line 55"/>
              <p:cNvSpPr>
                <a:spLocks noChangeShapeType="1"/>
              </p:cNvSpPr>
              <p:nvPr/>
            </p:nvSpPr>
            <p:spPr bwMode="auto">
              <a:xfrm>
                <a:off x="5937348" y="5246673"/>
                <a:ext cx="0" cy="3603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42" name="Line 56"/>
              <p:cNvSpPr>
                <a:spLocks noChangeShapeType="1"/>
              </p:cNvSpPr>
              <p:nvPr/>
            </p:nvSpPr>
            <p:spPr bwMode="auto">
              <a:xfrm>
                <a:off x="6658128" y="5246673"/>
                <a:ext cx="0" cy="3603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43" name="Line 57"/>
              <p:cNvSpPr>
                <a:spLocks noChangeShapeType="1"/>
              </p:cNvSpPr>
              <p:nvPr/>
            </p:nvSpPr>
            <p:spPr bwMode="auto">
              <a:xfrm>
                <a:off x="7305878" y="5246673"/>
                <a:ext cx="0" cy="3603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44" name="Line 58"/>
              <p:cNvSpPr>
                <a:spLocks noChangeShapeType="1"/>
              </p:cNvSpPr>
              <p:nvPr/>
            </p:nvSpPr>
            <p:spPr bwMode="auto">
              <a:xfrm>
                <a:off x="8025070" y="5246673"/>
                <a:ext cx="0" cy="3603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45" name="Line 59"/>
              <p:cNvSpPr>
                <a:spLocks noChangeShapeType="1"/>
              </p:cNvSpPr>
              <p:nvPr/>
            </p:nvSpPr>
            <p:spPr bwMode="auto">
              <a:xfrm>
                <a:off x="8674407" y="5246673"/>
                <a:ext cx="0" cy="3603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0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46" name="Text Box 60"/>
              <p:cNvSpPr txBox="1">
                <a:spLocks noChangeArrowheads="1"/>
              </p:cNvSpPr>
              <p:nvPr/>
            </p:nvSpPr>
            <p:spPr bwMode="auto">
              <a:xfrm>
                <a:off x="5977039" y="3814746"/>
                <a:ext cx="325462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2</a:t>
                </a:r>
                <a:endParaRPr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47" name="Text Box 61"/>
              <p:cNvSpPr txBox="1">
                <a:spLocks noChangeArrowheads="1"/>
              </p:cNvSpPr>
              <p:nvPr/>
            </p:nvSpPr>
            <p:spPr bwMode="auto">
              <a:xfrm>
                <a:off x="6626376" y="3806809"/>
                <a:ext cx="325463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3</a:t>
                </a:r>
                <a:endParaRPr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48" name="Text Box 62"/>
              <p:cNvSpPr txBox="1">
                <a:spLocks noChangeArrowheads="1"/>
              </p:cNvSpPr>
              <p:nvPr/>
            </p:nvSpPr>
            <p:spPr bwMode="auto">
              <a:xfrm>
                <a:off x="7501156" y="3814746"/>
                <a:ext cx="325462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4</a:t>
                </a:r>
                <a:endParaRPr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49" name="Text Box 63"/>
              <p:cNvSpPr txBox="1">
                <a:spLocks noChangeArrowheads="1"/>
              </p:cNvSpPr>
              <p:nvPr/>
            </p:nvSpPr>
            <p:spPr bwMode="auto">
              <a:xfrm>
                <a:off x="5187991" y="4529122"/>
                <a:ext cx="325463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3</a:t>
                </a:r>
                <a:endParaRPr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50" name="Text Box 64"/>
              <p:cNvSpPr txBox="1">
                <a:spLocks noChangeArrowheads="1"/>
              </p:cNvSpPr>
              <p:nvPr/>
            </p:nvSpPr>
            <p:spPr bwMode="auto">
              <a:xfrm>
                <a:off x="5715081" y="4454510"/>
                <a:ext cx="325463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4</a:t>
                </a:r>
                <a:endParaRPr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51" name="Text Box 65"/>
              <p:cNvSpPr txBox="1">
                <a:spLocks noChangeArrowheads="1"/>
              </p:cNvSpPr>
              <p:nvPr/>
            </p:nvSpPr>
            <p:spPr bwMode="auto">
              <a:xfrm>
                <a:off x="5161002" y="5243498"/>
                <a:ext cx="325462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4</a:t>
                </a:r>
                <a:endParaRPr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52" name="Text Box 66"/>
              <p:cNvSpPr txBox="1">
                <a:spLocks noChangeArrowheads="1"/>
              </p:cNvSpPr>
              <p:nvPr/>
            </p:nvSpPr>
            <p:spPr bwMode="auto">
              <a:xfrm>
                <a:off x="5808751" y="5243498"/>
                <a:ext cx="325462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3</a:t>
                </a:r>
                <a:endParaRPr lang="en-US" altLang="zh-CN" sz="2000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53" name="Text Box 67"/>
              <p:cNvSpPr txBox="1">
                <a:spLocks noChangeArrowheads="1"/>
              </p:cNvSpPr>
              <p:nvPr/>
            </p:nvSpPr>
            <p:spPr bwMode="auto">
              <a:xfrm>
                <a:off x="6529531" y="5243498"/>
                <a:ext cx="325462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4</a:t>
                </a:r>
                <a:endParaRPr lang="en-US" altLang="zh-CN" sz="2000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54" name="Text Box 68"/>
              <p:cNvSpPr txBox="1">
                <a:spLocks noChangeArrowheads="1"/>
              </p:cNvSpPr>
              <p:nvPr/>
            </p:nvSpPr>
            <p:spPr bwMode="auto">
              <a:xfrm>
                <a:off x="7177281" y="5243498"/>
                <a:ext cx="325462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2</a:t>
                </a:r>
                <a:endParaRPr lang="en-US" altLang="zh-CN" sz="2000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55" name="Text Box 69"/>
              <p:cNvSpPr txBox="1">
                <a:spLocks noChangeArrowheads="1"/>
              </p:cNvSpPr>
              <p:nvPr/>
            </p:nvSpPr>
            <p:spPr bwMode="auto">
              <a:xfrm>
                <a:off x="7898061" y="5243498"/>
                <a:ext cx="325462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3</a:t>
                </a:r>
                <a:endParaRPr lang="en-US" altLang="zh-CN" sz="2000" b="1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56" name="Text Box 70"/>
              <p:cNvSpPr txBox="1">
                <a:spLocks noChangeArrowheads="1"/>
              </p:cNvSpPr>
              <p:nvPr/>
            </p:nvSpPr>
            <p:spPr bwMode="auto">
              <a:xfrm>
                <a:off x="8545810" y="5243498"/>
                <a:ext cx="325462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2</a:t>
                </a:r>
                <a:endParaRPr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57" name="Text Box 71"/>
              <p:cNvSpPr txBox="1">
                <a:spLocks noChangeArrowheads="1"/>
              </p:cNvSpPr>
              <p:nvPr/>
            </p:nvSpPr>
            <p:spPr bwMode="auto">
              <a:xfrm>
                <a:off x="6545408" y="4383072"/>
                <a:ext cx="325462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2</a:t>
                </a:r>
                <a:endParaRPr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58" name="Text Box 72"/>
              <p:cNvSpPr txBox="1">
                <a:spLocks noChangeArrowheads="1"/>
              </p:cNvSpPr>
              <p:nvPr/>
            </p:nvSpPr>
            <p:spPr bwMode="auto">
              <a:xfrm>
                <a:off x="7072498" y="4383072"/>
                <a:ext cx="325462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4</a:t>
                </a:r>
                <a:endParaRPr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59" name="Text Box 73"/>
              <p:cNvSpPr txBox="1">
                <a:spLocks noChangeArrowheads="1"/>
              </p:cNvSpPr>
              <p:nvPr/>
            </p:nvSpPr>
            <p:spPr bwMode="auto">
              <a:xfrm>
                <a:off x="7831381" y="4383072"/>
                <a:ext cx="325462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2</a:t>
                </a:r>
                <a:endParaRPr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  <p:sp>
            <p:nvSpPr>
              <p:cNvPr id="60" name="Text Box 74"/>
              <p:cNvSpPr txBox="1">
                <a:spLocks noChangeArrowheads="1"/>
              </p:cNvSpPr>
              <p:nvPr/>
            </p:nvSpPr>
            <p:spPr bwMode="auto">
              <a:xfrm>
                <a:off x="8429913" y="4383072"/>
                <a:ext cx="325463" cy="4000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3</a:t>
                </a:r>
                <a:endParaRPr lang="en-US" altLang="zh-CN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31749" name="组合 63"/>
          <p:cNvGrpSpPr/>
          <p:nvPr/>
        </p:nvGrpSpPr>
        <p:grpSpPr bwMode="auto">
          <a:xfrm>
            <a:off x="571500" y="1000125"/>
            <a:ext cx="4643438" cy="3143250"/>
            <a:chOff x="0" y="3714752"/>
            <a:chExt cx="4643437" cy="3143248"/>
          </a:xfrm>
        </p:grpSpPr>
        <p:graphicFrame>
          <p:nvGraphicFramePr>
            <p:cNvPr id="31750" name="Object 1"/>
            <p:cNvGraphicFramePr>
              <a:graphicFrameLocks noChangeAspect="1"/>
            </p:cNvGraphicFramePr>
            <p:nvPr/>
          </p:nvGraphicFramePr>
          <p:xfrm>
            <a:off x="0" y="4259263"/>
            <a:ext cx="4643437" cy="2598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6" name="Visio" r:id="rId2" imgW="3531235" imgH="1976120" progId="">
                    <p:embed/>
                  </p:oleObj>
                </mc:Choice>
                <mc:Fallback>
                  <p:oleObj name="Visio" r:id="rId2" imgW="3531235" imgH="1976120" progId="">
                    <p:embed/>
                    <p:pic>
                      <p:nvPicPr>
                        <p:cNvPr id="0" name="Picture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259263"/>
                          <a:ext cx="4643437" cy="25987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矩形 62"/>
            <p:cNvSpPr/>
            <p:nvPr/>
          </p:nvSpPr>
          <p:spPr>
            <a:xfrm>
              <a:off x="1666875" y="3714752"/>
              <a:ext cx="1262063" cy="5238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rPr>
                <a:t>子集树</a:t>
              </a:r>
              <a:endPara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zh-CN" altLang="en-US" sz="4000" dirty="0" smtClean="0"/>
              <a:t>回顾</a:t>
            </a:r>
            <a:endParaRPr lang="zh-CN" altLang="en-US" sz="400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回溯三要素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>
          <a:xfrm>
            <a:off x="251520" y="2174875"/>
            <a:ext cx="4245868" cy="3951288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CN" dirty="0" smtClean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dirty="0" smtClean="0">
                <a:latin typeface="Tahoma" panose="020B0604030504040204" pitchFamily="34" charset="0"/>
              </a:rPr>
              <a:t>1</a:t>
            </a:r>
            <a:r>
              <a:rPr kumimoji="1" lang="en-US" altLang="zh-CN" dirty="0">
                <a:latin typeface="Tahoma" panose="020B0604030504040204" pitchFamily="34" charset="0"/>
              </a:rPr>
              <a:t>) </a:t>
            </a:r>
            <a:r>
              <a:rPr kumimoji="1" lang="zh-CN" altLang="en-US" dirty="0">
                <a:latin typeface="Tahoma" panose="020B0604030504040204" pitchFamily="34" charset="0"/>
              </a:rPr>
              <a:t>解空间：该</a:t>
            </a:r>
            <a:r>
              <a:rPr kumimoji="1" lang="zh-CN" altLang="en-US" dirty="0" smtClean="0">
                <a:latin typeface="Tahoma" panose="020B0604030504040204" pitchFamily="34" charset="0"/>
              </a:rPr>
              <a:t>空间包含问题所有可能的</a:t>
            </a:r>
            <a:r>
              <a:rPr kumimoji="1" lang="zh-CN" altLang="en-US" dirty="0">
                <a:latin typeface="Tahoma" panose="020B0604030504040204" pitchFamily="34" charset="0"/>
              </a:rPr>
              <a:t>解</a:t>
            </a:r>
            <a:endParaRPr kumimoji="1" lang="zh-CN" altLang="en-US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>
                <a:latin typeface="Tahoma" panose="020B0604030504040204" pitchFamily="34" charset="0"/>
              </a:rPr>
              <a:t>     </a:t>
            </a:r>
            <a:endParaRPr kumimoji="1" lang="en-US" altLang="zh-CN" dirty="0" smtClean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dirty="0" smtClean="0">
                <a:latin typeface="Tahoma" panose="020B0604030504040204" pitchFamily="34" charset="0"/>
              </a:rPr>
              <a:t>2</a:t>
            </a:r>
            <a:r>
              <a:rPr kumimoji="1" lang="en-US" altLang="zh-CN" dirty="0">
                <a:latin typeface="Tahoma" panose="020B0604030504040204" pitchFamily="34" charset="0"/>
              </a:rPr>
              <a:t>) </a:t>
            </a:r>
            <a:r>
              <a:rPr kumimoji="1" lang="zh-CN" altLang="en-US" dirty="0">
                <a:latin typeface="Tahoma" panose="020B0604030504040204" pitchFamily="34" charset="0"/>
              </a:rPr>
              <a:t>约束条件</a:t>
            </a:r>
            <a:endParaRPr kumimoji="1" lang="zh-CN" altLang="en-US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>
                <a:latin typeface="Tahoma" panose="020B0604030504040204" pitchFamily="34" charset="0"/>
              </a:rPr>
              <a:t>    </a:t>
            </a:r>
            <a:endParaRPr kumimoji="1" lang="en-US" altLang="zh-CN" dirty="0" smtClean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 smtClean="0">
                <a:latin typeface="Tahoma" panose="020B0604030504040204" pitchFamily="34" charset="0"/>
              </a:rPr>
              <a:t> </a:t>
            </a:r>
            <a:r>
              <a:rPr kumimoji="1" lang="en-US" altLang="zh-CN" dirty="0">
                <a:latin typeface="Tahoma" panose="020B0604030504040204" pitchFamily="34" charset="0"/>
              </a:rPr>
              <a:t>3) </a:t>
            </a:r>
            <a:r>
              <a:rPr kumimoji="1" lang="zh-CN" altLang="en-US" dirty="0">
                <a:latin typeface="Tahoma" panose="020B0604030504040204" pitchFamily="34" charset="0"/>
              </a:rPr>
              <a:t>状态树</a:t>
            </a:r>
            <a:endParaRPr kumimoji="1" lang="zh-CN" altLang="en-US" dirty="0">
              <a:latin typeface="Tahoma" panose="020B0604030504040204" pitchFamily="34" charset="0"/>
            </a:endParaRPr>
          </a:p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3"/>
          </p:nvPr>
        </p:nvSpPr>
        <p:spPr>
          <a:xfrm>
            <a:off x="4644008" y="1484784"/>
            <a:ext cx="4041775" cy="639762"/>
          </a:xfrm>
        </p:spPr>
        <p:txBody>
          <a:bodyPr/>
          <a:lstStyle/>
          <a:p>
            <a:r>
              <a:rPr lang="zh-CN" altLang="en-US" dirty="0" smtClean="0"/>
              <a:t>回溯法基本步骤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dirty="0" smtClean="0"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</a:rPr>
              <a:t>1)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针对所给问题，定义问题的解空间；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</a:rPr>
              <a:t>(2)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确定易于搜索的解空间结构；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</a:rPr>
              <a:t>(3)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以深度优先方式搜索解空间，并在搜索过程中用剪枝函数避免无效搜索。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251520" y="116632"/>
            <a:ext cx="8703568" cy="6436568"/>
          </a:xfrm>
        </p:spPr>
        <p:txBody>
          <a:bodyPr/>
          <a:lstStyle/>
          <a:p>
            <a:r>
              <a:rPr lang="en-US" altLang="zh-CN" dirty="0" smtClean="0"/>
              <a:t>6.1.4 </a:t>
            </a:r>
            <a:r>
              <a:rPr lang="zh-CN" altLang="en-US" dirty="0" smtClean="0"/>
              <a:t>递归回溯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回溯法</a:t>
            </a:r>
            <a:r>
              <a:rPr lang="zh-CN" altLang="en-US" dirty="0" smtClean="0">
                <a:solidFill>
                  <a:srgbClr val="FF0000"/>
                </a:solidFill>
              </a:rPr>
              <a:t>对解空间作深度优先搜索</a:t>
            </a:r>
            <a:r>
              <a:rPr lang="zh-CN" altLang="en-US" dirty="0" smtClean="0"/>
              <a:t>，因此，在一般情况下用</a:t>
            </a:r>
            <a:r>
              <a:rPr lang="zh-CN" altLang="en-US" dirty="0" smtClean="0">
                <a:solidFill>
                  <a:srgbClr val="FF0000"/>
                </a:solidFill>
              </a:rPr>
              <a:t>递归方法</a:t>
            </a:r>
            <a:r>
              <a:rPr lang="zh-CN" altLang="en-US" dirty="0" smtClean="0"/>
              <a:t>实现回溯法，</a:t>
            </a:r>
            <a:r>
              <a:rPr lang="en-US" altLang="zh-CN" dirty="0" smtClean="0"/>
              <a:t>t</a:t>
            </a:r>
            <a:r>
              <a:rPr lang="zh-CN" altLang="en-US" dirty="0" smtClean="0"/>
              <a:t>表示搜索深度。</a:t>
            </a:r>
            <a:endParaRPr lang="zh-CN" altLang="en-US" dirty="0" smtClean="0"/>
          </a:p>
        </p:txBody>
      </p:sp>
      <p:sp>
        <p:nvSpPr>
          <p:cNvPr id="4" name="矩形 3"/>
          <p:cNvSpPr/>
          <p:nvPr/>
        </p:nvSpPr>
        <p:spPr>
          <a:xfrm>
            <a:off x="179512" y="1700808"/>
            <a:ext cx="8784976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+mn-lt"/>
                <a:ea typeface="+mn-ea"/>
              </a:rPr>
              <a:t>void</a:t>
            </a: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 backtrack (</a:t>
            </a:r>
            <a:r>
              <a:rPr lang="en-US" altLang="zh-CN" sz="2200" b="1" dirty="0" err="1">
                <a:solidFill>
                  <a:srgbClr val="0000FF"/>
                </a:solidFill>
                <a:latin typeface="+mn-lt"/>
                <a:ea typeface="+mn-ea"/>
              </a:rPr>
              <a:t>int</a:t>
            </a: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 t)</a:t>
            </a:r>
            <a:endParaRPr lang="en-US" altLang="zh-CN" sz="22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{</a:t>
            </a:r>
            <a:endParaRPr lang="en-US" altLang="zh-CN" sz="22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</a:endParaRP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+mn-lt"/>
                <a:ea typeface="+mn-ea"/>
              </a:rPr>
              <a:t>if</a:t>
            </a: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 (t&gt;n) </a:t>
            </a:r>
            <a:r>
              <a:rPr lang="en-US" altLang="zh-CN" sz="2000" dirty="0"/>
              <a:t>//</a:t>
            </a:r>
            <a:r>
              <a:rPr lang="en-US" altLang="zh-CN" sz="2000" dirty="0" err="1"/>
              <a:t>t〉n</a:t>
            </a:r>
            <a:r>
              <a:rPr lang="zh-CN" altLang="en-US" sz="2000" dirty="0"/>
              <a:t>表示算法已搜索到叶</a:t>
            </a:r>
            <a:r>
              <a:rPr lang="zh-CN" altLang="en-US" sz="2000" dirty="0" smtClean="0"/>
              <a:t>节点</a:t>
            </a:r>
            <a:endParaRPr lang="en-US" altLang="zh-CN" sz="2200" b="1" dirty="0" smtClean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</a:endParaRP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 </a:t>
            </a:r>
            <a:r>
              <a:rPr lang="en-US" altLang="zh-CN" sz="2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  </a:t>
            </a:r>
            <a:r>
              <a:rPr lang="en-US" altLang="zh-CN" sz="2200" b="1" dirty="0" smtClean="0">
                <a:solidFill>
                  <a:srgbClr val="0000FF"/>
                </a:solidFill>
                <a:latin typeface="+mn-lt"/>
                <a:ea typeface="+mn-ea"/>
              </a:rPr>
              <a:t>output</a:t>
            </a:r>
            <a:r>
              <a:rPr lang="en-US" altLang="zh-CN" sz="2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(x);</a:t>
            </a:r>
            <a:r>
              <a:rPr lang="en-US" altLang="zh-CN" sz="2400" dirty="0"/>
              <a:t> </a:t>
            </a:r>
            <a:r>
              <a:rPr lang="en-US" altLang="zh-CN" sz="2000" dirty="0"/>
              <a:t>//</a:t>
            </a:r>
            <a:r>
              <a:rPr lang="zh-CN" altLang="en-US" sz="2000" dirty="0"/>
              <a:t>记录或输出得到的可行解</a:t>
            </a:r>
            <a:r>
              <a:rPr lang="en-US" altLang="zh-CN" sz="2000" dirty="0"/>
              <a:t>x</a:t>
            </a:r>
            <a:endParaRPr lang="en-US" altLang="zh-CN" sz="2000" dirty="0"/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 smtClean="0">
                <a:solidFill>
                  <a:srgbClr val="0000FF"/>
                </a:solidFill>
                <a:latin typeface="+mn-lt"/>
                <a:ea typeface="+mn-ea"/>
              </a:rPr>
              <a:t>else</a:t>
            </a:r>
            <a:endParaRPr lang="en-US" altLang="zh-CN" sz="2200" b="1" dirty="0">
              <a:solidFill>
                <a:srgbClr val="0000FF"/>
              </a:solidFill>
              <a:latin typeface="+mn-lt"/>
              <a:ea typeface="+mn-ea"/>
            </a:endParaRPr>
          </a:p>
          <a:p>
            <a:pPr lvl="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+mn-lt"/>
                <a:ea typeface="+mn-ea"/>
              </a:rPr>
              <a:t>for</a:t>
            </a: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 (</a:t>
            </a:r>
            <a:r>
              <a:rPr lang="en-US" altLang="zh-CN" sz="2200" b="1" dirty="0" err="1">
                <a:solidFill>
                  <a:srgbClr val="0000FF"/>
                </a:solidFill>
                <a:latin typeface="+mn-lt"/>
                <a:ea typeface="+mn-ea"/>
              </a:rPr>
              <a:t>int</a:t>
            </a: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 </a:t>
            </a:r>
            <a:r>
              <a:rPr lang="en-US" altLang="zh-CN" sz="2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i</a:t>
            </a: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=f(</a:t>
            </a:r>
            <a:r>
              <a:rPr lang="en-US" altLang="zh-CN" sz="2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n,t</a:t>
            </a: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);</a:t>
            </a:r>
            <a:r>
              <a:rPr lang="en-US" altLang="zh-CN" sz="2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i</a:t>
            </a: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&lt;=g(</a:t>
            </a:r>
            <a:r>
              <a:rPr lang="en-US" altLang="zh-CN" sz="2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n,t</a:t>
            </a: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);</a:t>
            </a:r>
            <a:r>
              <a:rPr lang="en-US" altLang="zh-CN" sz="2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i</a:t>
            </a: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++) </a:t>
            </a:r>
            <a:endParaRPr lang="en-US" altLang="zh-CN" sz="22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</a:endParaRPr>
          </a:p>
          <a:p>
            <a:r>
              <a:rPr lang="en-US" altLang="zh-CN" sz="2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         {</a:t>
            </a:r>
            <a:r>
              <a:rPr lang="zh-CN" altLang="en-US" dirty="0"/>
              <a:t>//其中</a:t>
            </a:r>
            <a:r>
              <a:rPr lang="en-US" altLang="zh-CN" dirty="0"/>
              <a:t>f(</a:t>
            </a:r>
            <a:r>
              <a:rPr lang="en-US" altLang="zh-CN" dirty="0" err="1"/>
              <a:t>n,t</a:t>
            </a:r>
            <a:r>
              <a:rPr lang="en-US" altLang="zh-CN" dirty="0"/>
              <a:t>),g(</a:t>
            </a:r>
            <a:r>
              <a:rPr lang="en-US" altLang="zh-CN" dirty="0" err="1"/>
              <a:t>n,t</a:t>
            </a:r>
            <a:r>
              <a:rPr lang="en-US" altLang="zh-CN" dirty="0"/>
              <a:t>)</a:t>
            </a:r>
            <a:r>
              <a:rPr lang="zh-CN" altLang="en-US" dirty="0"/>
              <a:t>分别表示在当前扩展结点处未搜索</a:t>
            </a:r>
            <a:r>
              <a:rPr lang="zh-CN" altLang="en-US" dirty="0" smtClean="0"/>
              <a:t>过    的子</a:t>
            </a:r>
            <a:r>
              <a:rPr lang="zh-CN" altLang="en-US" dirty="0"/>
              <a:t>树的起始编号和终止编号</a:t>
            </a:r>
            <a:r>
              <a:rPr lang="zh-CN" altLang="en-US" dirty="0" smtClean="0"/>
              <a:t>。</a:t>
            </a:r>
            <a:endParaRPr lang="en-US" altLang="zh-CN" sz="22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</a:endParaRPr>
          </a:p>
          <a:p>
            <a:pPr lvl="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x[t]=h(</a:t>
            </a:r>
            <a:r>
              <a:rPr lang="en-US" altLang="zh-CN" sz="2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i</a:t>
            </a:r>
            <a:r>
              <a:rPr lang="en-US" altLang="zh-CN" sz="2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);</a:t>
            </a:r>
            <a:r>
              <a:rPr lang="en-US" altLang="zh-CN" sz="2400" dirty="0"/>
              <a:t> </a:t>
            </a:r>
            <a:r>
              <a:rPr lang="en-US" altLang="zh-CN" dirty="0"/>
              <a:t>//h(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r>
              <a:rPr lang="zh-CN" altLang="en-US" dirty="0"/>
              <a:t>表示在当前扩展节点处</a:t>
            </a:r>
            <a:r>
              <a:rPr lang="en-US" altLang="zh-CN" dirty="0"/>
              <a:t>x[t]</a:t>
            </a:r>
            <a:r>
              <a:rPr lang="zh-CN" altLang="en-US" dirty="0"/>
              <a:t>的第</a:t>
            </a:r>
            <a:r>
              <a:rPr lang="en-US" altLang="zh-CN" dirty="0" err="1"/>
              <a:t>i</a:t>
            </a:r>
            <a:r>
              <a:rPr lang="zh-CN" altLang="en-US" dirty="0"/>
              <a:t>个可选值</a:t>
            </a:r>
            <a:endParaRPr lang="zh-CN" altLang="en-US" dirty="0"/>
          </a:p>
          <a:p>
            <a:pPr lvl="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 smtClean="0">
                <a:solidFill>
                  <a:srgbClr val="0000FF"/>
                </a:solidFill>
                <a:latin typeface="+mn-lt"/>
                <a:ea typeface="+mn-ea"/>
              </a:rPr>
              <a:t>if </a:t>
            </a: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(constraint(t)&amp;&amp;bound(t))    	backtrack(t+1);</a:t>
            </a:r>
            <a:endParaRPr lang="en-US" altLang="zh-CN" sz="22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</a:endParaRPr>
          </a:p>
          <a:p>
            <a:pPr lvl="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}</a:t>
            </a:r>
            <a:endParaRPr lang="en-US" altLang="zh-CN" sz="22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</a:rPr>
              <a:t>}</a:t>
            </a:r>
            <a:endParaRPr lang="zh-CN" altLang="en-US" sz="22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260350"/>
            <a:ext cx="8424936" cy="62658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 sz="2400" b="1" dirty="0"/>
              <a:t>	</a:t>
            </a:r>
            <a:r>
              <a:rPr lang="en-US" altLang="zh-CN" sz="2000" b="1" dirty="0"/>
              <a:t>if (Constraint(t)&amp;&amp;Bound(t) )  Backtrack(t + 1)</a:t>
            </a:r>
            <a:r>
              <a:rPr lang="zh-CN" altLang="en-US" sz="2000" b="1" dirty="0"/>
              <a:t>；</a:t>
            </a:r>
            <a:endParaRPr lang="zh-CN" altLang="en-US" sz="2000" b="1" dirty="0"/>
          </a:p>
          <a:p>
            <a:pPr marL="0" indent="0">
              <a:buFontTx/>
              <a:buNone/>
            </a:pPr>
            <a:r>
              <a:rPr lang="zh-CN" altLang="en-US" sz="2000" b="1" dirty="0"/>
              <a:t>	</a:t>
            </a:r>
            <a:r>
              <a:rPr lang="en-US" altLang="zh-CN" sz="2000" b="1" dirty="0"/>
              <a:t>if</a:t>
            </a:r>
            <a:r>
              <a:rPr lang="zh-CN" altLang="en-US" sz="2000" b="1" dirty="0"/>
              <a:t>语句含义：</a:t>
            </a:r>
            <a:r>
              <a:rPr lang="en-US" altLang="zh-CN" sz="2000" b="1" dirty="0"/>
              <a:t>Constraint(t)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Bound(t)</a:t>
            </a:r>
            <a:r>
              <a:rPr lang="zh-CN" altLang="en-US" sz="2000" b="1" dirty="0"/>
              <a:t>表示当前扩展节点处的约束函数和限界函数。</a:t>
            </a:r>
            <a:endParaRPr lang="zh-CN" altLang="en-US" sz="2000" b="1" dirty="0"/>
          </a:p>
          <a:p>
            <a:pPr marL="0" indent="0">
              <a:buFontTx/>
              <a:buNone/>
            </a:pPr>
            <a:r>
              <a:rPr lang="zh-CN" altLang="en-US" sz="2000" b="1" dirty="0"/>
              <a:t>	</a:t>
            </a:r>
            <a:r>
              <a:rPr lang="en-US" altLang="zh-CN" sz="2000" b="1" dirty="0"/>
              <a:t>Constraint(t): </a:t>
            </a:r>
            <a:r>
              <a:rPr lang="zh-CN" altLang="en-US" sz="2000" b="1" dirty="0"/>
              <a:t>返回值为</a:t>
            </a:r>
            <a:r>
              <a:rPr lang="en-US" altLang="zh-CN" sz="2000" b="1" dirty="0"/>
              <a:t>true</a:t>
            </a:r>
            <a:r>
              <a:rPr lang="zh-CN" altLang="en-US" sz="2000" b="1" dirty="0"/>
              <a:t>时，在当前扩展节点处</a:t>
            </a:r>
            <a:r>
              <a:rPr lang="en-US" altLang="zh-CN" sz="2000" b="1" dirty="0"/>
              <a:t>x[1:t]</a:t>
            </a:r>
            <a:r>
              <a:rPr lang="zh-CN" altLang="en-US" sz="2000" b="1" dirty="0"/>
              <a:t>的</a:t>
            </a:r>
            <a:r>
              <a:rPr lang="zh-CN" altLang="en-US" sz="2000" b="1" dirty="0" smtClean="0"/>
              <a:t>取值满足问题</a:t>
            </a:r>
            <a:r>
              <a:rPr lang="zh-CN" altLang="en-US" sz="2000" b="1" dirty="0"/>
              <a:t>的约束条件，否则不满足问题的约束条件，可剪去相应的子树</a:t>
            </a:r>
            <a:endParaRPr lang="zh-CN" altLang="en-US" sz="2000" b="1" dirty="0"/>
          </a:p>
          <a:p>
            <a:pPr marL="0" indent="0">
              <a:buFontTx/>
              <a:buNone/>
            </a:pPr>
            <a:r>
              <a:rPr lang="zh-CN" altLang="en-US" sz="2000" b="1" dirty="0"/>
              <a:t>	</a:t>
            </a:r>
            <a:r>
              <a:rPr lang="en-US" altLang="zh-CN" sz="2000" b="1" dirty="0"/>
              <a:t>Bound(t): </a:t>
            </a:r>
            <a:r>
              <a:rPr lang="zh-CN" altLang="en-US" sz="2000" b="1" dirty="0"/>
              <a:t>返回的值为</a:t>
            </a:r>
            <a:r>
              <a:rPr lang="en-US" altLang="zh-CN" sz="2000" b="1" dirty="0"/>
              <a:t>true</a:t>
            </a:r>
            <a:r>
              <a:rPr lang="zh-CN" altLang="en-US" sz="2000" b="1" dirty="0"/>
              <a:t>时，在当前扩展节点处</a:t>
            </a:r>
            <a:r>
              <a:rPr lang="en-US" altLang="zh-CN" sz="2000" b="1" dirty="0"/>
              <a:t>x[1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t]</a:t>
            </a:r>
            <a:r>
              <a:rPr lang="zh-CN" altLang="en-US" sz="2000" b="1" dirty="0"/>
              <a:t>的取值</a:t>
            </a:r>
            <a:r>
              <a:rPr lang="zh-CN" altLang="en-US" sz="2000" b="1" dirty="0" smtClean="0"/>
              <a:t>为目标函数不越界</a:t>
            </a:r>
            <a:r>
              <a:rPr lang="zh-CN" altLang="en-US" sz="2000" b="1" dirty="0"/>
              <a:t>，还需由</a:t>
            </a:r>
            <a:r>
              <a:rPr lang="en-US" altLang="zh-CN" sz="2000" b="1" dirty="0"/>
              <a:t>Backtrack(t+1)</a:t>
            </a:r>
            <a:r>
              <a:rPr lang="zh-CN" altLang="en-US" sz="2000" b="1" dirty="0"/>
              <a:t>对其相应的子树做进一步搜索。否则，当前扩展节点处</a:t>
            </a:r>
            <a:r>
              <a:rPr lang="en-US" altLang="zh-CN" sz="2000" b="1" dirty="0"/>
              <a:t>x[1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t]</a:t>
            </a:r>
            <a:r>
              <a:rPr lang="zh-CN" altLang="en-US" sz="2000" b="1" dirty="0"/>
              <a:t>的取值是目标函数越界，可剪去相应的子树</a:t>
            </a:r>
            <a:endParaRPr lang="zh-CN" altLang="en-US" sz="2000" b="1" dirty="0"/>
          </a:p>
          <a:p>
            <a:pPr marL="0" indent="0">
              <a:buFontTx/>
              <a:buNone/>
            </a:pPr>
            <a:r>
              <a:rPr lang="zh-CN" altLang="en-US" sz="2000" b="1" dirty="0"/>
              <a:t>	</a:t>
            </a:r>
            <a:r>
              <a:rPr lang="en-US" altLang="zh-CN" sz="2000" b="1" dirty="0"/>
              <a:t>for</a:t>
            </a:r>
            <a:r>
              <a:rPr lang="zh-CN" altLang="en-US" sz="2000" b="1" dirty="0"/>
              <a:t>循环作用：搜索遍当前扩展的所有未搜索过的子树。</a:t>
            </a:r>
            <a:endParaRPr lang="zh-CN" altLang="en-US" sz="2000" b="1" dirty="0"/>
          </a:p>
          <a:p>
            <a:pPr marL="0" indent="0">
              <a:buFontTx/>
              <a:buNone/>
            </a:pPr>
            <a:r>
              <a:rPr lang="zh-CN" altLang="en-US" sz="2000" dirty="0"/>
              <a:t>	</a:t>
            </a:r>
            <a:r>
              <a:rPr lang="zh-CN" altLang="en-US" sz="2000" b="1" dirty="0"/>
              <a:t>递归出口：</a:t>
            </a:r>
            <a:r>
              <a:rPr lang="en-US" altLang="zh-CN" sz="2000" b="1" dirty="0"/>
              <a:t>Backtrack(t)</a:t>
            </a:r>
            <a:r>
              <a:rPr lang="zh-CN" altLang="en-US" sz="2000" b="1" dirty="0"/>
              <a:t>执行完毕，返回</a:t>
            </a:r>
            <a:r>
              <a:rPr lang="en-US" altLang="zh-CN" sz="2000" b="1" dirty="0"/>
              <a:t>t-1</a:t>
            </a:r>
            <a:r>
              <a:rPr lang="zh-CN" altLang="en-US" sz="2000" b="1" dirty="0"/>
              <a:t>层继续执行，对还没有测试过的</a:t>
            </a:r>
            <a:r>
              <a:rPr lang="en-US" altLang="zh-CN" sz="2000" b="1" dirty="0"/>
              <a:t>x[t-1]</a:t>
            </a:r>
            <a:r>
              <a:rPr lang="zh-CN" altLang="en-US" sz="2000" b="1" dirty="0"/>
              <a:t>的值继续搜索。当</a:t>
            </a:r>
            <a:r>
              <a:rPr lang="en-US" altLang="zh-CN" sz="2000" b="1" dirty="0"/>
              <a:t>t=1</a:t>
            </a:r>
            <a:r>
              <a:rPr lang="zh-CN" altLang="en-US" sz="2000" b="1" dirty="0"/>
              <a:t>时，若以测试完</a:t>
            </a:r>
            <a:r>
              <a:rPr lang="en-US" altLang="zh-CN" sz="2000" b="1" dirty="0"/>
              <a:t>x[1]</a:t>
            </a:r>
            <a:r>
              <a:rPr lang="zh-CN" altLang="en-US" sz="2000" b="1" dirty="0"/>
              <a:t>的所有可选值，外层调用就全部结束。</a:t>
            </a:r>
            <a:endParaRPr lang="zh-CN" altLang="en-US" sz="2000" b="1" dirty="0"/>
          </a:p>
          <a:p>
            <a:pPr marL="0" indent="0">
              <a:buFontTx/>
              <a:buNone/>
            </a:pPr>
            <a:r>
              <a:rPr lang="zh-CN" altLang="en-US" sz="2400" b="1" dirty="0"/>
              <a:t>	</a:t>
            </a:r>
            <a:endParaRPr lang="zh-CN" altLang="en-US" sz="24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395288" y="990600"/>
            <a:ext cx="442941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 err="1"/>
              <a:t>bag:array</a:t>
            </a:r>
            <a:r>
              <a:rPr lang="en-US" altLang="zh-CN" sz="2000" dirty="0"/>
              <a:t>[1..maxn] of 0..1;</a:t>
            </a:r>
            <a:endParaRPr lang="en-US" altLang="zh-CN" sz="2000" dirty="0"/>
          </a:p>
          <a:p>
            <a:r>
              <a:rPr lang="zh-CN" altLang="en-US" sz="2000" dirty="0"/>
              <a:t>其中，</a:t>
            </a:r>
            <a:r>
              <a:rPr lang="en-US" altLang="zh-CN" sz="2000" dirty="0"/>
              <a:t>bag[k]=1</a:t>
            </a:r>
            <a:r>
              <a:rPr lang="zh-CN" altLang="en-US" sz="2000" dirty="0"/>
              <a:t>表示第</a:t>
            </a:r>
            <a:r>
              <a:rPr lang="en-US" altLang="zh-CN" sz="2000" dirty="0"/>
              <a:t>k</a:t>
            </a:r>
            <a:r>
              <a:rPr lang="zh-CN" altLang="en-US" sz="2000" dirty="0"/>
              <a:t>个物品</a:t>
            </a:r>
            <a:r>
              <a:rPr lang="zh-CN" altLang="en-US" sz="2000" dirty="0" smtClean="0"/>
              <a:t>要放</a:t>
            </a:r>
            <a:endParaRPr lang="zh-CN" altLang="en-US" sz="2000" dirty="0"/>
          </a:p>
          <a:p>
            <a:r>
              <a:rPr lang="zh-CN" altLang="en-US" sz="2000" dirty="0"/>
              <a:t>	      </a:t>
            </a:r>
            <a:r>
              <a:rPr lang="en-US" altLang="zh-CN" sz="2000" dirty="0" smtClean="0"/>
              <a:t>0</a:t>
            </a:r>
            <a:r>
              <a:rPr lang="zh-CN" altLang="en-US" sz="2000" dirty="0"/>
              <a:t>表示第</a:t>
            </a:r>
            <a:r>
              <a:rPr lang="en-US" altLang="zh-CN" sz="2000" dirty="0"/>
              <a:t>k</a:t>
            </a:r>
            <a:r>
              <a:rPr lang="zh-CN" altLang="en-US" sz="2000" dirty="0"/>
              <a:t>个物品</a:t>
            </a:r>
            <a:r>
              <a:rPr lang="zh-CN" altLang="en-US" sz="2000" dirty="0" smtClean="0"/>
              <a:t>不放</a:t>
            </a:r>
            <a:endParaRPr lang="zh-CN" altLang="en-US" sz="2000" dirty="0"/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304800" y="609600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ea typeface="华文行楷" panose="02010800040101010101" pitchFamily="2" charset="-122"/>
              </a:rPr>
              <a:t>解空间</a:t>
            </a:r>
            <a:endParaRPr lang="zh-CN" altLang="en-US" sz="2400">
              <a:solidFill>
                <a:srgbClr val="FF0000"/>
              </a:solidFill>
              <a:ea typeface="华文行楷" panose="02010800040101010101" pitchFamily="2" charset="-122"/>
            </a:endParaRPr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304800" y="198120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ea typeface="华文行楷" panose="02010800040101010101" pitchFamily="2" charset="-122"/>
              </a:rPr>
              <a:t>约束条件</a:t>
            </a:r>
            <a:endParaRPr lang="zh-CN" altLang="en-US" sz="2400">
              <a:solidFill>
                <a:srgbClr val="FF0000"/>
              </a:solidFill>
              <a:ea typeface="华文行楷" panose="02010800040101010101" pitchFamily="2" charset="-122"/>
            </a:endParaRPr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1050925" y="2438400"/>
            <a:ext cx="6831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/>
              <a:t>第</a:t>
            </a:r>
            <a:r>
              <a:rPr lang="en-US" altLang="zh-CN" sz="2000"/>
              <a:t>k</a:t>
            </a:r>
            <a:r>
              <a:rPr lang="zh-CN" altLang="en-US" sz="2000"/>
              <a:t>个物品确定放置方法后，背包所剩重量足够放第</a:t>
            </a:r>
            <a:r>
              <a:rPr lang="en-US" altLang="zh-CN" sz="2000"/>
              <a:t>K</a:t>
            </a:r>
            <a:r>
              <a:rPr lang="zh-CN" altLang="en-US" sz="2000"/>
              <a:t>个物品</a:t>
            </a:r>
            <a:endParaRPr lang="zh-CN" altLang="en-US" sz="2000"/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1066800" y="2879725"/>
            <a:ext cx="57642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 err="1"/>
              <a:t>wei</a:t>
            </a:r>
            <a:r>
              <a:rPr lang="en-US" altLang="zh-CN" sz="2000" dirty="0"/>
              <a:t>-bag[k]*w[k]&gt;=0	{</a:t>
            </a:r>
            <a:r>
              <a:rPr lang="en-US" altLang="zh-CN" sz="2000" dirty="0" err="1"/>
              <a:t>wei</a:t>
            </a:r>
            <a:r>
              <a:rPr lang="zh-CN" altLang="en-US" sz="2000" dirty="0"/>
              <a:t>：背包还能装的重量</a:t>
            </a:r>
            <a:r>
              <a:rPr lang="en-US" altLang="zh-CN" sz="2000" dirty="0"/>
              <a:t>}</a:t>
            </a:r>
            <a:endParaRPr lang="en-US" altLang="zh-CN" sz="2000" dirty="0"/>
          </a:p>
        </p:txBody>
      </p:sp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609600" y="4479925"/>
            <a:ext cx="7296150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/>
              <a:t>Best:=0;   </a:t>
            </a:r>
            <a:r>
              <a:rPr lang="zh-CN" altLang="en-US" sz="2000" dirty="0"/>
              <a:t>表示最大价值</a:t>
            </a:r>
            <a:endParaRPr lang="zh-CN" altLang="en-US" sz="2000" dirty="0"/>
          </a:p>
          <a:p>
            <a:r>
              <a:rPr lang="zh-CN" altLang="en-US" sz="2000" dirty="0"/>
              <a:t>当一</a:t>
            </a:r>
            <a:r>
              <a:rPr lang="zh-CN" altLang="en-US" sz="2000" dirty="0" smtClean="0"/>
              <a:t>组可行解</a:t>
            </a:r>
            <a:r>
              <a:rPr lang="zh-CN" altLang="en-US" sz="2000" dirty="0"/>
              <a:t>产生后，得到当前总价值</a:t>
            </a:r>
            <a:r>
              <a:rPr lang="en-US" altLang="zh-CN" sz="2000" dirty="0"/>
              <a:t>count</a:t>
            </a:r>
            <a:r>
              <a:rPr lang="zh-CN" altLang="en-US" sz="2000" dirty="0"/>
              <a:t>，</a:t>
            </a:r>
            <a:endParaRPr lang="zh-CN" altLang="en-US" sz="2000" dirty="0"/>
          </a:p>
          <a:p>
            <a:r>
              <a:rPr lang="zh-CN" altLang="en-US" sz="2000" dirty="0"/>
              <a:t>	</a:t>
            </a:r>
            <a:r>
              <a:rPr lang="en-US" altLang="zh-CN" sz="2000" dirty="0"/>
              <a:t>if count&gt;best then best:=count</a:t>
            </a:r>
            <a:endParaRPr lang="en-US" altLang="zh-CN" sz="2000" dirty="0"/>
          </a:p>
          <a:p>
            <a:r>
              <a:rPr lang="zh-CN" altLang="en-US" sz="2000" dirty="0"/>
              <a:t>利用这种方法记录最优解！如果还要记录最优时的物品取法应：</a:t>
            </a:r>
            <a:endParaRPr lang="zh-CN" altLang="en-US" sz="2000" dirty="0"/>
          </a:p>
          <a:p>
            <a:r>
              <a:rPr lang="en-US" altLang="zh-CN" sz="2000" dirty="0"/>
              <a:t>if count&gt;best </a:t>
            </a:r>
            <a:r>
              <a:rPr lang="en-US" altLang="zh-CN" sz="2000" dirty="0" smtClean="0"/>
              <a:t>then{</a:t>
            </a:r>
            <a:endParaRPr lang="en-US" altLang="zh-CN" sz="2000" dirty="0"/>
          </a:p>
          <a:p>
            <a:r>
              <a:rPr lang="en-US" altLang="zh-CN" sz="2000" dirty="0"/>
              <a:t>		     best:=count;</a:t>
            </a:r>
            <a:endParaRPr lang="en-US" altLang="zh-CN" sz="2000" dirty="0"/>
          </a:p>
          <a:p>
            <a:r>
              <a:rPr lang="en-US" altLang="zh-CN" sz="2000" dirty="0"/>
              <a:t>		     for i:=1 to n do y[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]:=bag[</a:t>
            </a:r>
            <a:r>
              <a:rPr lang="en-US" altLang="zh-CN" sz="2000" dirty="0" err="1"/>
              <a:t>i</a:t>
            </a:r>
            <a:r>
              <a:rPr lang="en-US" altLang="zh-CN" sz="2000" dirty="0" smtClean="0"/>
              <a:t>];}</a:t>
            </a:r>
            <a:endParaRPr lang="en-US" altLang="zh-CN" sz="2000" dirty="0"/>
          </a:p>
        </p:txBody>
      </p:sp>
      <p:sp>
        <p:nvSpPr>
          <p:cNvPr id="37898" name="Text Box 10"/>
          <p:cNvSpPr txBox="1">
            <a:spLocks noChangeArrowheads="1"/>
          </p:cNvSpPr>
          <p:nvPr/>
        </p:nvSpPr>
        <p:spPr bwMode="auto">
          <a:xfrm>
            <a:off x="381000" y="3352800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ea typeface="华文行楷" panose="02010800040101010101" pitchFamily="2" charset="-122"/>
              </a:rPr>
              <a:t>状态树</a:t>
            </a:r>
            <a:endParaRPr lang="zh-CN" altLang="en-US" sz="2400">
              <a:solidFill>
                <a:srgbClr val="FF0000"/>
              </a:solidFill>
              <a:ea typeface="华文行楷" panose="02010800040101010101" pitchFamily="2" charset="-122"/>
            </a:endParaRPr>
          </a:p>
        </p:txBody>
      </p: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381000" y="3946525"/>
            <a:ext cx="327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0033CC"/>
                </a:solidFill>
              </a:rPr>
              <a:t>求最优值</a:t>
            </a:r>
            <a:endParaRPr lang="zh-CN" altLang="en-US" sz="2000" b="1">
              <a:solidFill>
                <a:srgbClr val="0033CC"/>
              </a:solidFill>
            </a:endParaRPr>
          </a:p>
        </p:txBody>
      </p:sp>
      <p:sp>
        <p:nvSpPr>
          <p:cNvPr id="37901" name="WordArt 13"/>
          <p:cNvSpPr>
            <a:spLocks noChangeArrowheads="1" noChangeShapeType="1" noTextEdit="1"/>
          </p:cNvSpPr>
          <p:nvPr/>
        </p:nvSpPr>
        <p:spPr bwMode="auto">
          <a:xfrm>
            <a:off x="5796136" y="157163"/>
            <a:ext cx="3043064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 dirty="0" smtClean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0-1</a:t>
            </a:r>
            <a:r>
              <a:rPr lang="zh-CN" altLang="en-US" sz="3600" kern="10" dirty="0" smtClean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背包</a:t>
            </a:r>
            <a:endParaRPr lang="zh-CN" altLang="en-US" sz="3600" kern="10" dirty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楷体_GB231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37895" grpId="0"/>
      <p:bldP spid="37896" grpId="0"/>
      <p:bldP spid="37897" grpId="0"/>
      <p:bldP spid="3790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457200" y="1233487"/>
            <a:ext cx="403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 dirty="0"/>
              <a:t>本题可以用递归求解：</a:t>
            </a:r>
            <a:endParaRPr lang="zh-CN" altLang="en-US" sz="2000" dirty="0"/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304800" y="685800"/>
            <a:ext cx="2286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0033CC"/>
                </a:solidFill>
              </a:rPr>
              <a:t>算法分析：</a:t>
            </a:r>
            <a:endParaRPr lang="zh-CN" altLang="en-US" sz="2000" b="1">
              <a:solidFill>
                <a:srgbClr val="0033CC"/>
              </a:solidFill>
            </a:endParaRPr>
          </a:p>
        </p:txBody>
      </p: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457200" y="2057400"/>
            <a:ext cx="82296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dirty="0"/>
              <a:t>   </a:t>
            </a:r>
            <a:r>
              <a:rPr lang="zh-CN" altLang="en-US" sz="2000" dirty="0" smtClean="0"/>
              <a:t>设</a:t>
            </a:r>
            <a:r>
              <a:rPr lang="zh-CN" altLang="en-US" sz="2000" dirty="0"/>
              <a:t>当前有</a:t>
            </a:r>
            <a:r>
              <a:rPr lang="en-US" altLang="zh-CN" sz="2000" dirty="0"/>
              <a:t>N</a:t>
            </a:r>
            <a:r>
              <a:rPr lang="zh-CN" altLang="en-US" sz="2000" dirty="0"/>
              <a:t>个物品，容量为</a:t>
            </a:r>
            <a:r>
              <a:rPr lang="en-US" altLang="zh-CN" sz="2000" dirty="0"/>
              <a:t>M</a:t>
            </a:r>
            <a:r>
              <a:rPr lang="zh-CN" altLang="en-US" sz="2000" dirty="0"/>
              <a:t>；</a:t>
            </a:r>
            <a:endParaRPr lang="zh-CN" altLang="en-US" sz="2000" dirty="0"/>
          </a:p>
          <a:p>
            <a:r>
              <a:rPr lang="zh-CN" altLang="en-US" sz="2000" dirty="0"/>
              <a:t>   </a:t>
            </a:r>
            <a:r>
              <a:rPr lang="zh-CN" altLang="en-US" sz="2000" dirty="0" smtClean="0"/>
              <a:t>这些</a:t>
            </a:r>
            <a:r>
              <a:rPr lang="zh-CN" altLang="en-US" sz="2000" dirty="0"/>
              <a:t>物品要么选，要么不选，我们假设选的第一个物品编号为</a:t>
            </a:r>
            <a:r>
              <a:rPr lang="en-US" altLang="zh-CN" sz="2000" dirty="0" err="1"/>
              <a:t>i</a:t>
            </a:r>
            <a:r>
              <a:rPr lang="zh-CN" altLang="en-US" sz="2000" dirty="0"/>
              <a:t>（</a:t>
            </a:r>
            <a:r>
              <a:rPr lang="en-US" altLang="zh-CN" sz="2000" dirty="0"/>
              <a:t>1~i-1</a:t>
            </a:r>
            <a:r>
              <a:rPr lang="zh-CN" altLang="en-US" sz="2000" dirty="0"/>
              <a:t>号物品不选），问题又可以转化为有</a:t>
            </a:r>
            <a:r>
              <a:rPr lang="en-US" altLang="zh-CN" sz="2000" dirty="0"/>
              <a:t>N-I</a:t>
            </a:r>
            <a:r>
              <a:rPr lang="zh-CN" altLang="en-US" sz="2000" dirty="0"/>
              <a:t>个物品（即第</a:t>
            </a:r>
            <a:r>
              <a:rPr lang="en-US" altLang="zh-CN" sz="2000" dirty="0"/>
              <a:t>I+1~N</a:t>
            </a:r>
            <a:r>
              <a:rPr lang="zh-CN" altLang="en-US" sz="2000" dirty="0"/>
              <a:t>号物品），容量为</a:t>
            </a:r>
            <a:r>
              <a:rPr lang="en-US" altLang="zh-CN" sz="2000" dirty="0"/>
              <a:t>M-Wi</a:t>
            </a:r>
            <a:r>
              <a:rPr lang="zh-CN" altLang="en-US" sz="2000" dirty="0"/>
              <a:t>的子问题</a:t>
            </a:r>
            <a:r>
              <a:rPr lang="en-US" altLang="zh-CN" sz="2000" dirty="0"/>
              <a:t>……</a:t>
            </a:r>
            <a:r>
              <a:rPr lang="zh-CN" altLang="en-US" sz="2000" dirty="0"/>
              <a:t>如此反复下去，然后在所有可行解中选一个效益最大的便可。</a:t>
            </a:r>
            <a:endParaRPr lang="zh-CN" altLang="en-US" sz="2000" dirty="0"/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685800" y="3860800"/>
            <a:ext cx="4756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/>
              <a:t>回溯（状态恢复）后，需恢复的状态有：</a:t>
            </a:r>
            <a:endParaRPr lang="zh-CN" altLang="en-US" sz="2000"/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1447800" y="4495800"/>
            <a:ext cx="5562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zh-CN" sz="2000" dirty="0"/>
              <a:t>Bag[k] 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背包可装的物品重量：</a:t>
            </a:r>
            <a:r>
              <a:rPr lang="en-US" altLang="zh-CN" sz="2000" dirty="0" err="1"/>
              <a:t>wei</a:t>
            </a:r>
            <a:r>
              <a:rPr lang="en-US" altLang="zh-CN" sz="2000" dirty="0"/>
              <a:t>:=</a:t>
            </a:r>
            <a:r>
              <a:rPr lang="en-US" altLang="zh-CN" sz="2000" dirty="0" err="1"/>
              <a:t>wei+w</a:t>
            </a:r>
            <a:r>
              <a:rPr lang="en-US" altLang="zh-CN" sz="2000" dirty="0"/>
              <a:t>[k]*</a:t>
            </a:r>
            <a:r>
              <a:rPr lang="en-US" altLang="zh-CN" sz="2000" dirty="0" err="1"/>
              <a:t>i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已装物品的价值总和：</a:t>
            </a:r>
            <a:r>
              <a:rPr lang="en-US" altLang="zh-CN" sz="2000" dirty="0"/>
              <a:t>count:=</a:t>
            </a:r>
            <a:r>
              <a:rPr lang="en-US" altLang="zh-CN" sz="2000" dirty="0" smtClean="0"/>
              <a:t>count-v[k</a:t>
            </a:r>
            <a:r>
              <a:rPr lang="en-US" altLang="zh-CN" sz="2000" dirty="0"/>
              <a:t>]*</a:t>
            </a:r>
            <a:r>
              <a:rPr lang="en-US" altLang="zh-CN" sz="2000" dirty="0" err="1"/>
              <a:t>i</a:t>
            </a:r>
            <a:endParaRPr lang="en-US" altLang="zh-CN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9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9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99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/>
      <p:bldP spid="39944" grpId="0"/>
      <p:bldP spid="39945" grpId="0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395536" y="620688"/>
            <a:ext cx="8424936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/>
              <a:t>procedure work(</a:t>
            </a:r>
            <a:r>
              <a:rPr lang="en-US" altLang="zh-CN" sz="2400" dirty="0" err="1"/>
              <a:t>k,wei:integer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var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i,j:integer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en-US" altLang="zh-CN" sz="2400" dirty="0" smtClean="0"/>
              <a:t>for </a:t>
            </a:r>
            <a:r>
              <a:rPr lang="en-US" altLang="zh-CN" sz="2400" dirty="0"/>
              <a:t>i:=1 </a:t>
            </a:r>
            <a:r>
              <a:rPr lang="en-US" altLang="zh-CN" sz="2400" dirty="0" err="1"/>
              <a:t>downto</a:t>
            </a:r>
            <a:r>
              <a:rPr lang="en-US" altLang="zh-CN" sz="2400" dirty="0"/>
              <a:t> 0 do</a:t>
            </a:r>
            <a:endParaRPr lang="en-US" altLang="zh-CN" sz="2400" dirty="0"/>
          </a:p>
          <a:p>
            <a:r>
              <a:rPr lang="en-US" altLang="zh-CN" sz="2400" dirty="0"/>
              <a:t>        </a:t>
            </a:r>
            <a:r>
              <a:rPr lang="en-US" altLang="zh-CN" sz="2400" dirty="0" smtClean="0"/>
              <a:t>if  </a:t>
            </a:r>
            <a:r>
              <a:rPr lang="en-US" altLang="zh-CN" sz="2400" dirty="0"/>
              <a:t>(</a:t>
            </a:r>
            <a:r>
              <a:rPr lang="en-US" altLang="zh-CN" sz="2400" dirty="0" err="1"/>
              <a:t>wei</a:t>
            </a:r>
            <a:r>
              <a:rPr lang="en-US" altLang="zh-CN" sz="2400" dirty="0"/>
              <a:t>-w[k]*</a:t>
            </a:r>
            <a:r>
              <a:rPr lang="en-US" altLang="zh-CN" sz="2400" dirty="0" err="1"/>
              <a:t>i</a:t>
            </a:r>
            <a:r>
              <a:rPr lang="en-US" altLang="zh-CN" sz="2400" dirty="0"/>
              <a:t>&gt;=0</a:t>
            </a:r>
            <a:r>
              <a:rPr lang="en-US" altLang="zh-CN" sz="2400" dirty="0" smtClean="0"/>
              <a:t>) </a:t>
            </a:r>
            <a:endParaRPr lang="en-US" altLang="zh-CN" sz="2400" dirty="0"/>
          </a:p>
          <a:p>
            <a:r>
              <a:rPr lang="en-US" altLang="zh-CN" sz="2400" dirty="0"/>
              <a:t>          </a:t>
            </a:r>
            <a:r>
              <a:rPr lang="en-US" altLang="zh-CN" sz="2400" dirty="0" smtClean="0"/>
              <a:t>{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en-US" altLang="zh-CN" sz="2400" dirty="0" smtClean="0"/>
              <a:t>bag[k</a:t>
            </a:r>
            <a:r>
              <a:rPr lang="en-US" altLang="zh-CN" sz="2400" dirty="0"/>
              <a:t>]:=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en-US" altLang="zh-CN" sz="2400" dirty="0" smtClean="0"/>
              <a:t>count</a:t>
            </a:r>
            <a:r>
              <a:rPr lang="en-US" altLang="zh-CN" sz="2400" dirty="0"/>
              <a:t>:=</a:t>
            </a:r>
            <a:r>
              <a:rPr lang="en-US" altLang="zh-CN" sz="2400" dirty="0" err="1" smtClean="0"/>
              <a:t>count+v</a:t>
            </a:r>
            <a:r>
              <a:rPr lang="en-US" altLang="zh-CN" sz="2400" dirty="0" smtClean="0"/>
              <a:t>[k</a:t>
            </a:r>
            <a:r>
              <a:rPr lang="en-US" altLang="zh-CN" sz="2400" dirty="0"/>
              <a:t>]*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en-US" altLang="zh-CN" sz="2400" dirty="0" smtClean="0"/>
              <a:t>if </a:t>
            </a:r>
            <a:r>
              <a:rPr lang="en-US" altLang="zh-CN" sz="2400" dirty="0"/>
              <a:t>(k=n) and (</a:t>
            </a:r>
            <a:r>
              <a:rPr lang="en-US" altLang="zh-CN" sz="2400" dirty="0" smtClean="0"/>
              <a:t>count&gt;best)</a:t>
            </a:r>
            <a:endParaRPr lang="en-US" altLang="zh-CN" sz="2400" dirty="0"/>
          </a:p>
          <a:p>
            <a:r>
              <a:rPr lang="en-US" altLang="zh-CN" sz="2400" dirty="0" smtClean="0"/>
              <a:t>             {best</a:t>
            </a:r>
            <a:r>
              <a:rPr lang="en-US" altLang="zh-CN" sz="2400" dirty="0"/>
              <a:t>:=count;</a:t>
            </a:r>
            <a:endParaRPr lang="en-US" altLang="zh-CN" sz="2400" dirty="0"/>
          </a:p>
          <a:p>
            <a:r>
              <a:rPr lang="en-US" altLang="zh-CN" sz="2400" dirty="0"/>
              <a:t>              </a:t>
            </a:r>
            <a:r>
              <a:rPr lang="en-US" altLang="zh-CN" sz="2400" dirty="0" smtClean="0"/>
              <a:t>for </a:t>
            </a:r>
            <a:r>
              <a:rPr lang="en-US" altLang="zh-CN" sz="2400" dirty="0"/>
              <a:t>j:=1 to n do y[j]:=bag[j];</a:t>
            </a:r>
            <a:endParaRPr lang="en-US" altLang="zh-CN" sz="2400" dirty="0"/>
          </a:p>
          <a:p>
            <a:r>
              <a:rPr lang="en-US" altLang="zh-CN" sz="2400" dirty="0" smtClean="0"/>
              <a:t>             }</a:t>
            </a:r>
            <a:endParaRPr lang="en-US" altLang="zh-CN" sz="2400" dirty="0" smtClean="0"/>
          </a:p>
          <a:p>
            <a:r>
              <a:rPr lang="en-US" altLang="zh-CN" sz="2400" dirty="0" smtClean="0"/>
              <a:t>           if </a:t>
            </a:r>
            <a:r>
              <a:rPr lang="en-US" altLang="zh-CN" sz="2400" dirty="0"/>
              <a:t>k&lt;n then work(k+1,wei-w[k]*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en-US" altLang="zh-CN" sz="2400" dirty="0" smtClean="0"/>
              <a:t>count</a:t>
            </a:r>
            <a:r>
              <a:rPr lang="en-US" altLang="zh-CN" sz="2400" dirty="0"/>
              <a:t>:=</a:t>
            </a:r>
            <a:r>
              <a:rPr lang="en-US" altLang="zh-CN" sz="2400" dirty="0" smtClean="0"/>
              <a:t>count-v[k</a:t>
            </a:r>
            <a:r>
              <a:rPr lang="en-US" altLang="zh-CN" sz="2400" dirty="0"/>
              <a:t>]*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    {</a:t>
            </a:r>
            <a:r>
              <a:rPr lang="zh-CN" altLang="en-US" sz="2400" dirty="0"/>
              <a:t>状态恢复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en-US" altLang="zh-CN" sz="2400" dirty="0" smtClean="0"/>
              <a:t>}</a:t>
            </a:r>
            <a:endParaRPr lang="en-US" altLang="zh-CN" sz="2400" dirty="0"/>
          </a:p>
          <a:p>
            <a:r>
              <a:rPr lang="en-US" altLang="zh-CN" sz="2000" dirty="0"/>
              <a:t>    </a:t>
            </a:r>
            <a:r>
              <a:rPr lang="en-US" altLang="zh-CN" sz="2000" dirty="0" smtClean="0"/>
              <a:t> </a:t>
            </a:r>
            <a:endParaRPr lang="en-US" altLang="zh-CN" sz="2000" dirty="0"/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241769" y="24812"/>
            <a:ext cx="4359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0033CC"/>
                </a:solidFill>
              </a:rPr>
              <a:t>0-1</a:t>
            </a:r>
            <a:r>
              <a:rPr lang="zh-CN" altLang="en-US" sz="2000" b="1" dirty="0">
                <a:solidFill>
                  <a:srgbClr val="0033CC"/>
                </a:solidFill>
              </a:rPr>
              <a:t>背包（递归）</a:t>
            </a:r>
            <a:endParaRPr lang="zh-CN" altLang="en-US" sz="2000" b="1" dirty="0">
              <a:solidFill>
                <a:srgbClr val="0033CC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回溯法的算法框架</a:t>
            </a:r>
            <a:endParaRPr lang="zh-CN" altLang="en-US" dirty="0" smtClean="0"/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8345488" cy="1435100"/>
          </a:xfrm>
        </p:spPr>
        <p:txBody>
          <a:bodyPr/>
          <a:lstStyle/>
          <a:p>
            <a:r>
              <a:rPr lang="en-US" altLang="zh-CN" sz="2400" dirty="0" smtClean="0"/>
              <a:t>6.1.5 </a:t>
            </a:r>
            <a:r>
              <a:rPr lang="zh-CN" altLang="en-US" sz="2400" dirty="0" smtClean="0"/>
              <a:t>迭代回溯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采用树的</a:t>
            </a:r>
            <a:r>
              <a:rPr lang="zh-CN" altLang="en-US" sz="2400" dirty="0" smtClean="0">
                <a:solidFill>
                  <a:srgbClr val="FF0000"/>
                </a:solidFill>
              </a:rPr>
              <a:t>非递归</a:t>
            </a:r>
            <a:r>
              <a:rPr lang="zh-CN" altLang="en-US" sz="2400" dirty="0" smtClean="0"/>
              <a:t>深度优先遍历算法，可将回溯法表示为一个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非递归</a:t>
            </a:r>
            <a:r>
              <a:rPr lang="zh-CN" altLang="en-US" sz="2400" dirty="0" smtClean="0"/>
              <a:t>迭代过程。</a:t>
            </a:r>
            <a:endParaRPr lang="zh-CN" altLang="en-US" sz="2400" dirty="0" smtClean="0"/>
          </a:p>
        </p:txBody>
      </p:sp>
      <p:sp>
        <p:nvSpPr>
          <p:cNvPr id="29700" name="矩形 3"/>
          <p:cNvSpPr>
            <a:spLocks noChangeArrowheads="1"/>
          </p:cNvSpPr>
          <p:nvPr/>
        </p:nvSpPr>
        <p:spPr bwMode="auto">
          <a:xfrm>
            <a:off x="1042988" y="2205038"/>
            <a:ext cx="8215312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000" b="1" dirty="0">
                <a:solidFill>
                  <a:srgbClr val="0000FF"/>
                </a:solidFill>
              </a:rPr>
              <a:t>void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iterativeBacktrack</a:t>
            </a:r>
            <a:r>
              <a:rPr lang="en-US" altLang="zh-CN" sz="2000" b="1" dirty="0">
                <a:solidFill>
                  <a:srgbClr val="000000"/>
                </a:solidFill>
              </a:rPr>
              <a:t>  ()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r>
              <a:rPr lang="en-US" altLang="zh-CN" sz="2000" b="1" dirty="0">
                <a:solidFill>
                  <a:srgbClr val="000000"/>
                </a:solidFill>
              </a:rPr>
              <a:t>{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r>
              <a:rPr lang="en-US" altLang="zh-CN" sz="2000" b="1" dirty="0">
                <a:solidFill>
                  <a:srgbClr val="000000"/>
                </a:solidFill>
              </a:rPr>
              <a:t>  </a:t>
            </a:r>
            <a:r>
              <a:rPr lang="en-US" altLang="zh-CN" sz="2000" b="1" dirty="0" err="1">
                <a:solidFill>
                  <a:srgbClr val="0000FF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t=1;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r>
              <a:rPr lang="en-US" altLang="zh-CN" sz="2000" b="1" dirty="0">
                <a:solidFill>
                  <a:srgbClr val="000000"/>
                </a:solidFill>
              </a:rPr>
              <a:t>  </a:t>
            </a:r>
            <a:r>
              <a:rPr lang="en-US" altLang="zh-CN" sz="2000" b="1" dirty="0">
                <a:solidFill>
                  <a:srgbClr val="0000FF"/>
                </a:solidFill>
              </a:rPr>
              <a:t>while</a:t>
            </a:r>
            <a:r>
              <a:rPr lang="en-US" altLang="zh-CN" sz="2000" b="1" dirty="0">
                <a:solidFill>
                  <a:srgbClr val="000000"/>
                </a:solidFill>
              </a:rPr>
              <a:t>(t&gt;0){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r>
              <a:rPr lang="en-US" altLang="zh-CN" sz="2000" b="1" dirty="0">
                <a:solidFill>
                  <a:srgbClr val="000000"/>
                </a:solidFill>
              </a:rPr>
              <a:t>    </a:t>
            </a:r>
            <a:r>
              <a:rPr lang="en-US" altLang="zh-CN" sz="2000" b="1" dirty="0">
                <a:solidFill>
                  <a:srgbClr val="0000FF"/>
                </a:solidFill>
              </a:rPr>
              <a:t>if</a:t>
            </a:r>
            <a:r>
              <a:rPr lang="en-US" altLang="zh-CN" sz="2000" b="1" dirty="0">
                <a:solidFill>
                  <a:srgbClr val="000000"/>
                </a:solidFill>
              </a:rPr>
              <a:t> (f(</a:t>
            </a:r>
            <a:r>
              <a:rPr lang="en-US" altLang="zh-CN" sz="2000" b="1" dirty="0" err="1">
                <a:solidFill>
                  <a:srgbClr val="000000"/>
                </a:solidFill>
              </a:rPr>
              <a:t>n,t</a:t>
            </a:r>
            <a:r>
              <a:rPr lang="en-US" altLang="zh-CN" sz="2000" b="1" dirty="0">
                <a:solidFill>
                  <a:srgbClr val="000000"/>
                </a:solidFill>
              </a:rPr>
              <a:t>)&lt;=g(</a:t>
            </a:r>
            <a:r>
              <a:rPr lang="en-US" altLang="zh-CN" sz="2000" b="1" dirty="0" err="1">
                <a:solidFill>
                  <a:srgbClr val="000000"/>
                </a:solidFill>
              </a:rPr>
              <a:t>n,t</a:t>
            </a:r>
            <a:r>
              <a:rPr lang="en-US" altLang="zh-CN" sz="2000" b="1" dirty="0">
                <a:solidFill>
                  <a:srgbClr val="000000"/>
                </a:solidFill>
              </a:rPr>
              <a:t>))  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r>
              <a:rPr lang="en-US" altLang="zh-CN" sz="2000" b="1" dirty="0">
                <a:solidFill>
                  <a:srgbClr val="000000"/>
                </a:solidFill>
              </a:rPr>
              <a:t>       </a:t>
            </a:r>
            <a:r>
              <a:rPr lang="en-US" altLang="zh-CN" sz="2000" b="1" dirty="0">
                <a:solidFill>
                  <a:srgbClr val="0000FF"/>
                </a:solidFill>
              </a:rPr>
              <a:t>for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  </a:t>
            </a:r>
            <a:r>
              <a:rPr lang="en-US" altLang="zh-CN" sz="2000" b="1" dirty="0" err="1">
                <a:solidFill>
                  <a:srgbClr val="000000"/>
                </a:solidFill>
              </a:rPr>
              <a:t>i</a:t>
            </a:r>
            <a:r>
              <a:rPr lang="en-US" altLang="zh-CN" sz="2000" b="1" dirty="0">
                <a:solidFill>
                  <a:srgbClr val="000000"/>
                </a:solidFill>
              </a:rPr>
              <a:t>=f(</a:t>
            </a:r>
            <a:r>
              <a:rPr lang="en-US" altLang="zh-CN" sz="2000" b="1" dirty="0" err="1">
                <a:solidFill>
                  <a:srgbClr val="000000"/>
                </a:solidFill>
              </a:rPr>
              <a:t>n,t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  <a:r>
              <a:rPr lang="en-US" altLang="zh-CN" sz="2000" b="1" dirty="0" err="1">
                <a:solidFill>
                  <a:srgbClr val="000000"/>
                </a:solidFill>
              </a:rPr>
              <a:t>i</a:t>
            </a:r>
            <a:r>
              <a:rPr lang="en-US" altLang="zh-CN" sz="2000" b="1" dirty="0">
                <a:solidFill>
                  <a:srgbClr val="000000"/>
                </a:solidFill>
              </a:rPr>
              <a:t>&lt;=g(</a:t>
            </a:r>
            <a:r>
              <a:rPr lang="en-US" altLang="zh-CN" sz="2000" b="1" dirty="0" err="1">
                <a:solidFill>
                  <a:srgbClr val="000000"/>
                </a:solidFill>
              </a:rPr>
              <a:t>n,t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  <a:r>
              <a:rPr lang="en-US" altLang="zh-CN" sz="2000" b="1" dirty="0" err="1">
                <a:solidFill>
                  <a:srgbClr val="000000"/>
                </a:solidFill>
              </a:rPr>
              <a:t>i</a:t>
            </a:r>
            <a:r>
              <a:rPr lang="en-US" altLang="zh-CN" sz="2000" b="1" dirty="0">
                <a:solidFill>
                  <a:srgbClr val="000000"/>
                </a:solidFill>
              </a:rPr>
              <a:t>++){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r>
              <a:rPr lang="en-US" altLang="zh-CN" sz="2000" b="1" dirty="0">
                <a:solidFill>
                  <a:srgbClr val="000000"/>
                </a:solidFill>
              </a:rPr>
              <a:t>          x[t]=h(</a:t>
            </a:r>
            <a:r>
              <a:rPr lang="en-US" altLang="zh-CN" sz="2000" b="1" dirty="0" err="1">
                <a:solidFill>
                  <a:srgbClr val="000000"/>
                </a:solidFill>
              </a:rPr>
              <a:t>i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r>
              <a:rPr lang="en-US" altLang="zh-CN" sz="2000" b="1" dirty="0">
                <a:solidFill>
                  <a:srgbClr val="000000"/>
                </a:solidFill>
              </a:rPr>
              <a:t>          </a:t>
            </a:r>
            <a:r>
              <a:rPr lang="en-US" altLang="zh-CN" sz="2000" b="1" dirty="0">
                <a:solidFill>
                  <a:srgbClr val="0000FF"/>
                </a:solidFill>
              </a:rPr>
              <a:t>if</a:t>
            </a:r>
            <a:r>
              <a:rPr lang="en-US" altLang="zh-CN" sz="2000" b="1" dirty="0">
                <a:solidFill>
                  <a:srgbClr val="000000"/>
                </a:solidFill>
              </a:rPr>
              <a:t>(constraint(t) &amp;&amp; bound(t)){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r>
              <a:rPr lang="en-US" altLang="zh-CN" sz="2000" b="1" dirty="0">
                <a:solidFill>
                  <a:srgbClr val="000000"/>
                </a:solidFill>
              </a:rPr>
              <a:t>             </a:t>
            </a:r>
            <a:r>
              <a:rPr lang="en-US" altLang="zh-CN" sz="2000" b="1" dirty="0">
                <a:solidFill>
                  <a:srgbClr val="0000FF"/>
                </a:solidFill>
              </a:rPr>
              <a:t>if</a:t>
            </a:r>
            <a:r>
              <a:rPr lang="en-US" altLang="zh-CN" sz="2000" b="1" dirty="0">
                <a:solidFill>
                  <a:srgbClr val="000000"/>
                </a:solidFill>
              </a:rPr>
              <a:t>(solution(t)) output(x);</a:t>
            </a:r>
            <a:r>
              <a:rPr lang="en-US" altLang="zh-CN" sz="2000" b="1" dirty="0">
                <a:solidFill>
                  <a:srgbClr val="008200"/>
                </a:solidFill>
              </a:rPr>
              <a:t>//</a:t>
            </a:r>
            <a:r>
              <a:rPr lang="zh-CN" altLang="en-US" sz="2000" b="1" dirty="0">
                <a:solidFill>
                  <a:srgbClr val="008200"/>
                </a:solidFill>
              </a:rPr>
              <a:t>输出最优解</a:t>
            </a:r>
            <a:endParaRPr lang="zh-CN" altLang="en-US" sz="2000" b="1" dirty="0">
              <a:solidFill>
                <a:srgbClr val="000000"/>
              </a:solidFill>
            </a:endParaRPr>
          </a:p>
          <a:p>
            <a:r>
              <a:rPr lang="zh-CN" altLang="en-US" sz="2000" b="1" dirty="0">
                <a:solidFill>
                  <a:srgbClr val="000000"/>
                </a:solidFill>
              </a:rPr>
              <a:t>             </a:t>
            </a:r>
            <a:r>
              <a:rPr lang="en-US" altLang="zh-CN" sz="2000" b="1" dirty="0">
                <a:solidFill>
                  <a:srgbClr val="0000FF"/>
                </a:solidFill>
              </a:rPr>
              <a:t>else</a:t>
            </a:r>
            <a:r>
              <a:rPr lang="en-US" altLang="zh-CN" sz="2000" b="1" dirty="0">
                <a:solidFill>
                  <a:srgbClr val="000000"/>
                </a:solidFill>
              </a:rPr>
              <a:t> t++;</a:t>
            </a:r>
            <a:r>
              <a:rPr lang="en-US" altLang="zh-CN" sz="2000" b="1" dirty="0">
                <a:solidFill>
                  <a:srgbClr val="008200"/>
                </a:solidFill>
              </a:rPr>
              <a:t>//</a:t>
            </a:r>
            <a:r>
              <a:rPr lang="zh-CN" altLang="en-US" sz="2000" b="1" dirty="0">
                <a:solidFill>
                  <a:srgbClr val="008200"/>
                </a:solidFill>
              </a:rPr>
              <a:t>搜索下一层节点</a:t>
            </a:r>
            <a:endParaRPr lang="zh-CN" altLang="en-US" sz="2000" b="1" dirty="0">
              <a:solidFill>
                <a:srgbClr val="000000"/>
              </a:solidFill>
            </a:endParaRPr>
          </a:p>
          <a:p>
            <a:r>
              <a:rPr lang="zh-CN" altLang="en-US" sz="2000" b="1" dirty="0">
                <a:solidFill>
                  <a:srgbClr val="000000"/>
                </a:solidFill>
              </a:rPr>
              <a:t>           </a:t>
            </a:r>
            <a:r>
              <a:rPr lang="en-US" altLang="zh-CN" sz="2000" b="1" dirty="0">
                <a:solidFill>
                  <a:srgbClr val="000000"/>
                </a:solidFill>
              </a:rPr>
              <a:t>}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r>
              <a:rPr lang="en-US" altLang="zh-CN" sz="2000" b="1" dirty="0">
                <a:solidFill>
                  <a:srgbClr val="000000"/>
                </a:solidFill>
              </a:rPr>
              <a:t>        }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r>
              <a:rPr lang="en-US" altLang="zh-CN" sz="2000" b="1" dirty="0">
                <a:solidFill>
                  <a:srgbClr val="000000"/>
                </a:solidFill>
              </a:rPr>
              <a:t>    </a:t>
            </a:r>
            <a:r>
              <a:rPr lang="en-US" altLang="zh-CN" sz="2000" b="1" dirty="0">
                <a:solidFill>
                  <a:srgbClr val="0000FF"/>
                </a:solidFill>
              </a:rPr>
              <a:t>else</a:t>
            </a:r>
            <a:r>
              <a:rPr lang="en-US" altLang="zh-CN" sz="2000" b="1" dirty="0">
                <a:solidFill>
                  <a:srgbClr val="000000"/>
                </a:solidFill>
              </a:rPr>
              <a:t>  t--;</a:t>
            </a:r>
            <a:r>
              <a:rPr lang="en-US" altLang="zh-CN" sz="2000" b="1" dirty="0">
                <a:solidFill>
                  <a:srgbClr val="008200"/>
                </a:solidFill>
              </a:rPr>
              <a:t>//</a:t>
            </a:r>
            <a:r>
              <a:rPr lang="zh-CN" altLang="en-US" sz="2000" b="1" dirty="0">
                <a:solidFill>
                  <a:srgbClr val="008200"/>
                </a:solidFill>
              </a:rPr>
              <a:t>回溯到上一节点</a:t>
            </a:r>
            <a:endParaRPr lang="zh-CN" altLang="en-US" sz="2000" b="1" dirty="0">
              <a:solidFill>
                <a:srgbClr val="000000"/>
              </a:solidFill>
            </a:endParaRPr>
          </a:p>
          <a:p>
            <a:r>
              <a:rPr lang="zh-CN" altLang="en-US" sz="2000" b="1" dirty="0">
                <a:solidFill>
                  <a:srgbClr val="000000"/>
                </a:solidFill>
              </a:rPr>
              <a:t>  </a:t>
            </a:r>
            <a:r>
              <a:rPr lang="en-US" altLang="zh-CN" sz="2000" b="1" dirty="0">
                <a:solidFill>
                  <a:srgbClr val="000000"/>
                </a:solidFill>
              </a:rPr>
              <a:t>}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r>
              <a:rPr lang="en-US" altLang="zh-CN" sz="2000" b="1" dirty="0">
                <a:solidFill>
                  <a:srgbClr val="000000"/>
                </a:solidFill>
              </a:rPr>
              <a:t>}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611188" y="476250"/>
            <a:ext cx="838996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200" dirty="0"/>
              <a:t>if (Constraint(t) &amp;&amp;Bound(t) ) </a:t>
            </a:r>
            <a:endParaRPr lang="en-US" altLang="zh-CN" sz="2200" dirty="0"/>
          </a:p>
          <a:p>
            <a:r>
              <a:rPr lang="en-US" altLang="zh-CN" sz="2200" dirty="0"/>
              <a:t>{           if (Solution(t))      Output(x);</a:t>
            </a:r>
            <a:endParaRPr lang="en-US" altLang="zh-CN" sz="2200" dirty="0"/>
          </a:p>
          <a:p>
            <a:r>
              <a:rPr lang="en-US" altLang="zh-CN" sz="2200" dirty="0"/>
              <a:t>	     else t ++;	}</a:t>
            </a:r>
            <a:endParaRPr lang="en-US" altLang="zh-CN" sz="2200" dirty="0"/>
          </a:p>
          <a:p>
            <a:r>
              <a:rPr lang="en-US" altLang="zh-CN" sz="2200" dirty="0"/>
              <a:t> else t --;</a:t>
            </a:r>
            <a:endParaRPr lang="en-US" altLang="zh-CN" sz="2200" dirty="0"/>
          </a:p>
          <a:p>
            <a:r>
              <a:rPr kumimoji="0" lang="en-US" altLang="zh-CN" sz="2200" dirty="0"/>
              <a:t>	</a:t>
            </a:r>
            <a:endParaRPr kumimoji="0" lang="en-US" altLang="zh-CN" sz="2200" dirty="0"/>
          </a:p>
          <a:p>
            <a:r>
              <a:rPr kumimoji="0" lang="zh-CN" altLang="en-US" sz="2200" dirty="0"/>
              <a:t>分析：</a:t>
            </a:r>
            <a:endParaRPr kumimoji="0" lang="zh-CN" altLang="en-US" sz="2200" dirty="0"/>
          </a:p>
          <a:p>
            <a:r>
              <a:rPr kumimoji="0" lang="zh-CN" altLang="en-US" sz="2200" dirty="0"/>
              <a:t>	</a:t>
            </a:r>
            <a:r>
              <a:rPr kumimoji="0" lang="en-US" altLang="zh-CN" sz="2200" dirty="0"/>
              <a:t>Constraint(t):</a:t>
            </a:r>
            <a:r>
              <a:rPr kumimoji="0" lang="zh-CN" altLang="en-US" sz="2200" dirty="0"/>
              <a:t>约束函数，剪枝</a:t>
            </a:r>
            <a:r>
              <a:rPr kumimoji="0" lang="zh-CN" altLang="en-US" sz="2200" dirty="0" smtClean="0"/>
              <a:t>条件（剪去不可行解）</a:t>
            </a:r>
            <a:endParaRPr kumimoji="0" lang="zh-CN" altLang="en-US" sz="2200" dirty="0"/>
          </a:p>
          <a:p>
            <a:r>
              <a:rPr kumimoji="0" lang="zh-CN" altLang="en-US" sz="2200" dirty="0"/>
              <a:t>	</a:t>
            </a:r>
            <a:r>
              <a:rPr kumimoji="0" lang="en-US" altLang="zh-CN" sz="2200" dirty="0"/>
              <a:t>Bound(t):</a:t>
            </a:r>
            <a:r>
              <a:rPr kumimoji="0" lang="zh-CN" altLang="en-US" sz="2200" dirty="0"/>
              <a:t>限界函数，剪枝</a:t>
            </a:r>
            <a:r>
              <a:rPr kumimoji="0" lang="zh-CN" altLang="en-US" sz="2200" dirty="0" smtClean="0"/>
              <a:t>条件（剪去不可能最优的解）</a:t>
            </a:r>
            <a:endParaRPr kumimoji="0" lang="zh-CN" altLang="en-US" sz="2200" dirty="0"/>
          </a:p>
          <a:p>
            <a:r>
              <a:rPr kumimoji="0" lang="zh-CN" altLang="en-US" sz="2200" dirty="0"/>
              <a:t>	</a:t>
            </a:r>
            <a:r>
              <a:rPr kumimoji="0" lang="en-US" altLang="zh-CN" sz="2200" dirty="0"/>
              <a:t>Solution(t)</a:t>
            </a:r>
            <a:r>
              <a:rPr kumimoji="0" lang="zh-CN" altLang="en-US" sz="2200" dirty="0"/>
              <a:t>：判断在当前扩展节点处是否已得到问题的可行解。它返回值为</a:t>
            </a:r>
            <a:r>
              <a:rPr kumimoji="0" lang="en-US" altLang="zh-CN" sz="2200" dirty="0"/>
              <a:t>true</a:t>
            </a:r>
            <a:r>
              <a:rPr kumimoji="0" lang="zh-CN" altLang="en-US" sz="2200" dirty="0"/>
              <a:t>时，当前扩展节点处</a:t>
            </a:r>
            <a:r>
              <a:rPr kumimoji="0" lang="en-US" altLang="zh-CN" sz="2200" dirty="0"/>
              <a:t>x[1</a:t>
            </a:r>
            <a:r>
              <a:rPr kumimoji="0" lang="zh-CN" altLang="en-US" sz="2200" dirty="0"/>
              <a:t>：</a:t>
            </a:r>
            <a:r>
              <a:rPr kumimoji="0" lang="en-US" altLang="zh-CN" sz="2200" dirty="0"/>
              <a:t>t]</a:t>
            </a:r>
            <a:r>
              <a:rPr kumimoji="0" lang="zh-CN" altLang="en-US" sz="2200" dirty="0"/>
              <a:t>是问题的可行解。此时，由</a:t>
            </a:r>
            <a:r>
              <a:rPr kumimoji="0" lang="en-US" altLang="zh-CN" sz="2200" dirty="0"/>
              <a:t>Output(x)</a:t>
            </a:r>
            <a:r>
              <a:rPr kumimoji="0" lang="zh-CN" altLang="en-US" sz="2200" dirty="0"/>
              <a:t>记录或输出得到的可行解。</a:t>
            </a:r>
            <a:endParaRPr kumimoji="0" lang="zh-CN" altLang="en-US" sz="2200" dirty="0"/>
          </a:p>
          <a:p>
            <a:r>
              <a:rPr kumimoji="0" lang="zh-CN" altLang="en-US" sz="2200" dirty="0"/>
              <a:t>	它的返回值为</a:t>
            </a:r>
            <a:r>
              <a:rPr kumimoji="0" lang="en-US" altLang="zh-CN" sz="2200" dirty="0"/>
              <a:t>false</a:t>
            </a:r>
            <a:r>
              <a:rPr kumimoji="0" lang="zh-CN" altLang="en-US" sz="2200" dirty="0"/>
              <a:t>时，在当前扩展结点处</a:t>
            </a:r>
            <a:r>
              <a:rPr kumimoji="0" lang="en-US" altLang="zh-CN" sz="2200" dirty="0"/>
              <a:t>x[1:t]</a:t>
            </a:r>
            <a:r>
              <a:rPr kumimoji="0" lang="zh-CN" altLang="en-US" sz="2200" dirty="0"/>
              <a:t>只是问题的部分解，还需向纵深方向继续搜索。</a:t>
            </a:r>
            <a:endParaRPr kumimoji="0" lang="zh-CN" altLang="en-US" sz="2200" dirty="0"/>
          </a:p>
          <a:p>
            <a:r>
              <a:rPr kumimoji="0" lang="zh-CN" altLang="en-US" sz="2200" dirty="0"/>
              <a:t>	搜索边界： </a:t>
            </a:r>
            <a:r>
              <a:rPr lang="en-US" altLang="zh-CN" sz="2200" dirty="0"/>
              <a:t>f(</a:t>
            </a:r>
            <a:r>
              <a:rPr lang="en-US" altLang="zh-CN" sz="2200" dirty="0" err="1"/>
              <a:t>n,t</a:t>
            </a:r>
            <a:r>
              <a:rPr lang="en-US" altLang="zh-CN" sz="2200" dirty="0"/>
              <a:t>)</a:t>
            </a:r>
            <a:r>
              <a:rPr lang="zh-CN" altLang="en-US" sz="2200" dirty="0"/>
              <a:t>和</a:t>
            </a:r>
            <a:r>
              <a:rPr lang="en-US" altLang="zh-CN" sz="2200" dirty="0"/>
              <a:t>g(</a:t>
            </a:r>
            <a:r>
              <a:rPr lang="en-US" altLang="zh-CN" sz="2200" dirty="0" err="1"/>
              <a:t>n,t</a:t>
            </a:r>
            <a:r>
              <a:rPr lang="en-US" altLang="zh-CN" sz="2200" dirty="0"/>
              <a:t>)</a:t>
            </a:r>
            <a:endParaRPr kumimoji="0" lang="en-US" altLang="zh-CN" sz="2200" dirty="0"/>
          </a:p>
          <a:p>
            <a:r>
              <a:rPr kumimoji="0" lang="en-US" altLang="zh-CN" sz="2200" dirty="0"/>
              <a:t>	</a:t>
            </a:r>
            <a:endParaRPr kumimoji="0" lang="en-US" altLang="zh-CN" sz="2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500063" y="1285875"/>
            <a:ext cx="8153400" cy="13112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0">
            <a:solidFill>
              <a:schemeClr val="accent1">
                <a:lumMod val="75000"/>
              </a:schemeClr>
            </a:solidFill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ea typeface="宋体" panose="02010600030101010101" pitchFamily="2" charset="-122"/>
              </a:rPr>
              <a:t>在一个</a:t>
            </a:r>
            <a:r>
              <a:rPr lang="en-US" altLang="zh-CN" sz="2000" dirty="0">
                <a:ea typeface="宋体" panose="02010600030101010101" pitchFamily="2" charset="-122"/>
              </a:rPr>
              <a:t>n*n</a:t>
            </a:r>
            <a:r>
              <a:rPr lang="zh-CN" altLang="en-US" sz="2000" dirty="0">
                <a:ea typeface="宋体" panose="02010600030101010101" pitchFamily="2" charset="-122"/>
              </a:rPr>
              <a:t>的国际象棋棋盘上放置</a:t>
            </a:r>
            <a:r>
              <a:rPr lang="en-US" altLang="zh-CN" sz="2000" dirty="0">
                <a:ea typeface="宋体" panose="02010600030101010101" pitchFamily="2" charset="-122"/>
              </a:rPr>
              <a:t>n</a:t>
            </a:r>
            <a:r>
              <a:rPr lang="zh-CN" altLang="en-US" sz="2000" dirty="0">
                <a:ea typeface="宋体" panose="02010600030101010101" pitchFamily="2" charset="-122"/>
              </a:rPr>
              <a:t>个皇后，使得它们中任意</a:t>
            </a:r>
            <a:r>
              <a:rPr lang="en-US" altLang="zh-CN" sz="2000" dirty="0"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ea typeface="宋体" panose="02010600030101010101" pitchFamily="2" charset="-122"/>
              </a:rPr>
              <a:t>个之间都不互相“攻击”，即任意</a:t>
            </a:r>
            <a:r>
              <a:rPr lang="en-US" altLang="zh-CN" sz="2000" dirty="0"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ea typeface="宋体" panose="02010600030101010101" pitchFamily="2" charset="-122"/>
              </a:rPr>
              <a:t>个皇后不可在同行、同列、同斜线上。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000" dirty="0">
                <a:ea typeface="宋体" panose="02010600030101010101" pitchFamily="2" charset="-122"/>
              </a:rPr>
              <a:t>输出</a:t>
            </a:r>
            <a:r>
              <a:rPr lang="en-US" altLang="zh-CN" sz="2000" dirty="0">
                <a:ea typeface="宋体" panose="02010600030101010101" pitchFamily="2" charset="-122"/>
              </a:rPr>
              <a:t>N</a:t>
            </a:r>
            <a:r>
              <a:rPr lang="zh-CN" altLang="en-US" sz="2000" dirty="0">
                <a:ea typeface="宋体" panose="02010600030101010101" pitchFamily="2" charset="-122"/>
              </a:rPr>
              <a:t>，</a:t>
            </a:r>
            <a:r>
              <a:rPr lang="zh-CN" altLang="en-US" dirty="0">
                <a:ea typeface="宋体" panose="02010600030101010101" pitchFamily="2" charset="-122"/>
              </a:rPr>
              <a:t>⑴</a:t>
            </a:r>
            <a:r>
              <a:rPr lang="zh-CN" altLang="en-US" sz="2000" dirty="0">
                <a:ea typeface="宋体" panose="02010600030101010101" pitchFamily="2" charset="-122"/>
              </a:rPr>
              <a:t>求</a:t>
            </a:r>
            <a:r>
              <a:rPr lang="en-US" altLang="zh-CN" sz="2000" dirty="0">
                <a:ea typeface="宋体" panose="02010600030101010101" pitchFamily="2" charset="-122"/>
              </a:rPr>
              <a:t>N</a:t>
            </a:r>
            <a:r>
              <a:rPr lang="zh-CN" altLang="en-US" sz="2000" dirty="0">
                <a:ea typeface="宋体" panose="02010600030101010101" pitchFamily="2" charset="-122"/>
              </a:rPr>
              <a:t>皇后问题的一种放法；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000" dirty="0">
                <a:ea typeface="宋体" panose="02010600030101010101" pitchFamily="2" charset="-122"/>
              </a:rPr>
              <a:t>	</a:t>
            </a:r>
            <a:r>
              <a:rPr lang="zh-CN" altLang="en-US" dirty="0">
                <a:ea typeface="宋体" panose="02010600030101010101" pitchFamily="2" charset="-122"/>
              </a:rPr>
              <a:t>⑵求</a:t>
            </a:r>
            <a:r>
              <a:rPr lang="en-US" altLang="zh-CN" dirty="0">
                <a:ea typeface="宋体" panose="02010600030101010101" pitchFamily="2" charset="-122"/>
              </a:rPr>
              <a:t>N</a:t>
            </a:r>
            <a:r>
              <a:rPr lang="zh-CN" altLang="en-US" dirty="0">
                <a:ea typeface="宋体" panose="02010600030101010101" pitchFamily="2" charset="-122"/>
              </a:rPr>
              <a:t>皇后问题的所有放法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28600" y="2651125"/>
            <a:ext cx="3810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>
                <a:latin typeface="Tahoma" panose="020B0604030504040204" pitchFamily="34" charset="0"/>
              </a:rPr>
              <a:t>分析：</a:t>
            </a:r>
            <a:endParaRPr kumimoji="1" lang="zh-CN" altLang="en-US" sz="20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>
                <a:latin typeface="Tahoma" panose="020B0604030504040204" pitchFamily="34" charset="0"/>
              </a:rPr>
              <a:t>        </a:t>
            </a:r>
            <a:r>
              <a:rPr kumimoji="1" lang="en-US" altLang="zh-CN" sz="2000">
                <a:latin typeface="Tahoma" panose="020B0604030504040204" pitchFamily="34" charset="0"/>
              </a:rPr>
              <a:t>N=4</a:t>
            </a:r>
            <a:r>
              <a:rPr kumimoji="1" lang="zh-CN" altLang="en-US" sz="2000">
                <a:latin typeface="Tahoma" panose="020B0604030504040204" pitchFamily="34" charset="0"/>
              </a:rPr>
              <a:t>时，右图是一组解</a:t>
            </a:r>
            <a:endParaRPr kumimoji="1" lang="zh-CN" altLang="en-US" sz="2000" b="0">
              <a:latin typeface="Tahoma" panose="020B0604030504040204" pitchFamily="34" charset="0"/>
            </a:endParaRP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228600" y="34290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要素一： 解空间</a:t>
            </a:r>
            <a:endParaRPr kumimoji="1" lang="zh-CN" altLang="en-US" sz="2400" b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828925"/>
            <a:ext cx="1885950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500063" y="3714750"/>
            <a:ext cx="6096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>
                <a:latin typeface="Tahoma" panose="020B0604030504040204" pitchFamily="34" charset="0"/>
              </a:rPr>
              <a:t>一般想法：利用二维数组，用</a:t>
            </a:r>
            <a:r>
              <a:rPr lang="en-US" altLang="zh-CN" sz="2000" b="0">
                <a:latin typeface="Tahoma" panose="020B0604030504040204" pitchFamily="34" charset="0"/>
              </a:rPr>
              <a:t>[i,j]</a:t>
            </a:r>
            <a:r>
              <a:rPr lang="zh-CN" altLang="en-US" sz="2000" b="0">
                <a:latin typeface="Tahoma" panose="020B0604030504040204" pitchFamily="34" charset="0"/>
              </a:rPr>
              <a:t>确定一个皇后位置！</a:t>
            </a:r>
            <a:endParaRPr lang="zh-CN" altLang="en-US" sz="20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>
                <a:latin typeface="Tahoma" panose="020B0604030504040204" pitchFamily="34" charset="0"/>
              </a:rPr>
              <a:t>			</a:t>
            </a:r>
            <a:endParaRPr kumimoji="1" lang="zh-CN" altLang="en-US" sz="2000" b="0" baseline="3000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571500" y="4143375"/>
            <a:ext cx="57150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 dirty="0">
                <a:latin typeface="Tahoma" panose="020B0604030504040204" pitchFamily="34" charset="0"/>
              </a:rPr>
              <a:t>优化：利用约束条件，只需一维数组即可！</a:t>
            </a:r>
            <a:endParaRPr lang="zh-CN" altLang="en-US" sz="2000" b="0" dirty="0">
              <a:latin typeface="Tahoma" panose="020B0604030504040204" pitchFamily="34" charset="0"/>
            </a:endParaRPr>
          </a:p>
          <a:p>
            <a:pPr eaLnBrk="1" hangingPunct="1"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zh-CN" altLang="en-US" sz="2000" b="0" dirty="0">
                <a:latin typeface="Tahoma" panose="020B0604030504040204" pitchFamily="34" charset="0"/>
              </a:rPr>
              <a:t>           </a:t>
            </a:r>
            <a:r>
              <a:rPr kumimoji="1" lang="en-US" altLang="zh-CN" sz="2000" b="0" dirty="0">
                <a:latin typeface="Tahoma" panose="020B0604030504040204" pitchFamily="34" charset="0"/>
              </a:rPr>
              <a:t>x:array[1..n] of integer;</a:t>
            </a:r>
            <a:endParaRPr kumimoji="1" lang="en-US" altLang="zh-CN" sz="2000" b="0" dirty="0">
              <a:latin typeface="Tahoma" panose="020B0604030504040204" pitchFamily="34" charset="0"/>
            </a:endParaRPr>
          </a:p>
          <a:p>
            <a:pPr eaLnBrk="1" hangingPunct="1"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latin typeface="Tahoma" panose="020B0604030504040204" pitchFamily="34" charset="0"/>
              </a:rPr>
              <a:t>           x[</a:t>
            </a:r>
            <a:r>
              <a:rPr kumimoji="1" lang="en-US" altLang="zh-CN" sz="2000" b="0" dirty="0" err="1">
                <a:latin typeface="Tahoma" panose="020B0604030504040204" pitchFamily="34" charset="0"/>
              </a:rPr>
              <a:t>i</a:t>
            </a:r>
            <a:r>
              <a:rPr kumimoji="1" lang="en-US" altLang="zh-CN" sz="2000" b="0" dirty="0">
                <a:latin typeface="Tahoma" panose="020B0604030504040204" pitchFamily="34" charset="0"/>
              </a:rPr>
              <a:t>]</a:t>
            </a:r>
            <a:r>
              <a:rPr kumimoji="1" lang="zh-CN" altLang="en-US" sz="2000" b="0" dirty="0">
                <a:latin typeface="Tahoma" panose="020B0604030504040204" pitchFamily="34" charset="0"/>
              </a:rPr>
              <a:t>：</a:t>
            </a:r>
            <a:r>
              <a:rPr kumimoji="1" lang="en-US" altLang="zh-CN" sz="2000" b="0" dirty="0" err="1">
                <a:latin typeface="Tahoma" panose="020B0604030504040204" pitchFamily="34" charset="0"/>
              </a:rPr>
              <a:t>i</a:t>
            </a:r>
            <a:r>
              <a:rPr kumimoji="1" lang="zh-CN" altLang="en-US" sz="2000" b="0" dirty="0">
                <a:latin typeface="Tahoma" panose="020B0604030504040204" pitchFamily="34" charset="0"/>
              </a:rPr>
              <a:t>表示第</a:t>
            </a:r>
            <a:r>
              <a:rPr kumimoji="1" lang="en-US" altLang="zh-CN" sz="2000" b="0" dirty="0" err="1">
                <a:latin typeface="Tahoma" panose="020B0604030504040204" pitchFamily="34" charset="0"/>
              </a:rPr>
              <a:t>i</a:t>
            </a:r>
            <a:r>
              <a:rPr kumimoji="1" lang="zh-CN" altLang="en-US" sz="2000" b="0" dirty="0">
                <a:latin typeface="Tahoma" panose="020B0604030504040204" pitchFamily="34" charset="0"/>
              </a:rPr>
              <a:t>行皇后</a:t>
            </a:r>
            <a:endParaRPr kumimoji="1" lang="zh-CN" altLang="en-US" sz="2000" b="0" dirty="0">
              <a:latin typeface="Tahoma" panose="020B0604030504040204" pitchFamily="34" charset="0"/>
            </a:endParaRPr>
          </a:p>
          <a:p>
            <a:pPr eaLnBrk="1" hangingPunct="1"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zh-CN" altLang="en-US" sz="2000" b="0" dirty="0">
                <a:latin typeface="Tahoma" panose="020B0604030504040204" pitchFamily="34" charset="0"/>
              </a:rPr>
              <a:t>                   </a:t>
            </a:r>
            <a:r>
              <a:rPr kumimoji="1" lang="en-US" altLang="zh-CN" sz="2000" b="0" dirty="0">
                <a:latin typeface="Tahoma" panose="020B0604030504040204" pitchFamily="34" charset="0"/>
              </a:rPr>
              <a:t>x[</a:t>
            </a:r>
            <a:r>
              <a:rPr kumimoji="1" lang="en-US" altLang="zh-CN" sz="2000" b="0" dirty="0" err="1">
                <a:latin typeface="Tahoma" panose="020B0604030504040204" pitchFamily="34" charset="0"/>
              </a:rPr>
              <a:t>i</a:t>
            </a:r>
            <a:r>
              <a:rPr kumimoji="1" lang="en-US" altLang="zh-CN" sz="2000" b="0" dirty="0">
                <a:latin typeface="Tahoma" panose="020B0604030504040204" pitchFamily="34" charset="0"/>
              </a:rPr>
              <a:t>]</a:t>
            </a:r>
            <a:r>
              <a:rPr kumimoji="1" lang="zh-CN" altLang="en-US" sz="2000" b="0" dirty="0">
                <a:latin typeface="Tahoma" panose="020B0604030504040204" pitchFamily="34" charset="0"/>
              </a:rPr>
              <a:t>表示第</a:t>
            </a:r>
            <a:r>
              <a:rPr kumimoji="1" lang="en-US" altLang="zh-CN" sz="2000" b="0" dirty="0" err="1">
                <a:latin typeface="Tahoma" panose="020B0604030504040204" pitchFamily="34" charset="0"/>
              </a:rPr>
              <a:t>i</a:t>
            </a:r>
            <a:r>
              <a:rPr kumimoji="1" lang="zh-CN" altLang="en-US" sz="2000" b="0" dirty="0">
                <a:latin typeface="Tahoma" panose="020B0604030504040204" pitchFamily="34" charset="0"/>
              </a:rPr>
              <a:t>行上皇后放第几列</a:t>
            </a:r>
            <a:endParaRPr kumimoji="1" lang="zh-CN" altLang="en-US" sz="2000" b="0" dirty="0">
              <a:latin typeface="Tahoma" panose="020B0604030504040204" pitchFamily="34" charset="0"/>
            </a:endParaRPr>
          </a:p>
          <a:p>
            <a:pPr eaLnBrk="1" hangingPunct="1"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zh-CN" altLang="en-US" sz="2000" b="0" dirty="0">
                <a:latin typeface="Tahoma" panose="020B0604030504040204" pitchFamily="34" charset="0"/>
              </a:rPr>
              <a:t>			</a:t>
            </a:r>
            <a:endParaRPr kumimoji="1" lang="zh-CN" altLang="en-US" sz="2000" b="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6934200" y="4876800"/>
            <a:ext cx="1225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rgbClr val="009900"/>
                </a:solidFill>
                <a:latin typeface="Tahoma" panose="020B0604030504040204" pitchFamily="34" charset="0"/>
              </a:rPr>
              <a:t>x[3,1,4,2]</a:t>
            </a:r>
            <a:endParaRPr lang="en-US" altLang="zh-CN" sz="2000" b="0">
              <a:solidFill>
                <a:srgbClr val="009900"/>
              </a:solidFill>
              <a:latin typeface="Tahoma" panose="020B0604030504040204" pitchFamily="34" charset="0"/>
            </a:endParaRPr>
          </a:p>
        </p:txBody>
      </p:sp>
      <p:sp>
        <p:nvSpPr>
          <p:cNvPr id="14345" name="标题 4"/>
          <p:cNvSpPr txBox="1"/>
          <p:nvPr/>
        </p:nvSpPr>
        <p:spPr bwMode="auto">
          <a:xfrm>
            <a:off x="633413" y="319088"/>
            <a:ext cx="789622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dirty="0" smtClean="0"/>
              <a:t>6.2 </a:t>
            </a:r>
            <a:r>
              <a:rPr lang="zh-CN" altLang="en-US" sz="3200" dirty="0"/>
              <a:t>经典应用</a:t>
            </a:r>
            <a:r>
              <a:rPr lang="en-US" altLang="zh-CN" sz="3200" dirty="0"/>
              <a:t>—— </a:t>
            </a:r>
            <a:r>
              <a:rPr lang="en-US" altLang="zh-CN" sz="3200" b="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N</a:t>
            </a:r>
            <a:r>
              <a:rPr lang="zh-CN" altLang="en-US" sz="3200" b="0" dirty="0">
                <a:latin typeface="隶书" panose="02010509060101010101" pitchFamily="49" charset="-122"/>
                <a:ea typeface="隶书" panose="02010509060101010101" pitchFamily="49" charset="-122"/>
              </a:rPr>
              <a:t>皇后问题</a:t>
            </a:r>
            <a:endParaRPr lang="zh-CN" altLang="en-US" sz="3200" b="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/>
      <p:bldP spid="11270" grpId="0"/>
      <p:bldP spid="11273" grpId="0" build="allAtOnce"/>
      <p:bldP spid="11274" grpId="0"/>
      <p:bldP spid="1127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5"/>
          <p:cNvSpPr txBox="1">
            <a:spLocks noChangeArrowheads="1"/>
          </p:cNvSpPr>
          <p:nvPr/>
        </p:nvSpPr>
        <p:spPr bwMode="auto">
          <a:xfrm>
            <a:off x="500063" y="985838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要素二：约束条件</a:t>
            </a:r>
            <a:endParaRPr kumimoji="1" lang="zh-CN" altLang="en-US" sz="2400" b="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714375" y="1518008"/>
            <a:ext cx="48780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 dirty="0">
                <a:latin typeface="Tahoma" panose="020B0604030504040204" pitchFamily="34" charset="0"/>
              </a:rPr>
              <a:t>不同行：数组</a:t>
            </a:r>
            <a:r>
              <a:rPr lang="en-US" altLang="zh-CN" sz="2000" b="0" dirty="0">
                <a:latin typeface="Tahoma" panose="020B0604030504040204" pitchFamily="34" charset="0"/>
              </a:rPr>
              <a:t>x</a:t>
            </a:r>
            <a:r>
              <a:rPr lang="zh-CN" altLang="en-US" sz="2000" b="0" dirty="0">
                <a:latin typeface="Tahoma" panose="020B0604030504040204" pitchFamily="34" charset="0"/>
              </a:rPr>
              <a:t>的下标保证不重复</a:t>
            </a:r>
            <a:endParaRPr lang="zh-CN" altLang="en-US" sz="2000" b="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 dirty="0">
                <a:latin typeface="Tahoma" panose="020B0604030504040204" pitchFamily="34" charset="0"/>
              </a:rPr>
              <a:t>不同列：</a:t>
            </a:r>
            <a:r>
              <a:rPr lang="en-US" altLang="zh-CN" sz="2000" b="0" dirty="0">
                <a:latin typeface="Tahoma" panose="020B0604030504040204" pitchFamily="34" charset="0"/>
              </a:rPr>
              <a:t>x[</a:t>
            </a:r>
            <a:r>
              <a:rPr lang="en-US" altLang="zh-CN" sz="2000" b="0" dirty="0" err="1">
                <a:latin typeface="Tahoma" panose="020B0604030504040204" pitchFamily="34" charset="0"/>
              </a:rPr>
              <a:t>i</a:t>
            </a:r>
            <a:r>
              <a:rPr lang="en-US" altLang="zh-CN" sz="2000" b="0" dirty="0">
                <a:latin typeface="Tahoma" panose="020B0604030504040204" pitchFamily="34" charset="0"/>
              </a:rPr>
              <a:t>]&lt;&gt;x[j]    (</a:t>
            </a:r>
            <a:r>
              <a:rPr lang="en-US" altLang="zh-CN" sz="2000" b="0" dirty="0" err="1">
                <a:latin typeface="Tahoma" panose="020B0604030504040204" pitchFamily="34" charset="0"/>
              </a:rPr>
              <a:t>i</a:t>
            </a:r>
            <a:r>
              <a:rPr lang="en-US" altLang="zh-CN" sz="2000" b="0" dirty="0" smtClean="0">
                <a:latin typeface="Tahoma" panose="020B0604030504040204" pitchFamily="34" charset="0"/>
              </a:rPr>
              <a:t>&lt;=</a:t>
            </a:r>
            <a:r>
              <a:rPr lang="en-US" altLang="zh-CN" sz="2000" b="0" dirty="0" err="1" smtClean="0">
                <a:latin typeface="Tahoma" panose="020B0604030504040204" pitchFamily="34" charset="0"/>
              </a:rPr>
              <a:t>n,j</a:t>
            </a:r>
            <a:r>
              <a:rPr lang="en-US" altLang="zh-CN" sz="2000" b="0" dirty="0">
                <a:latin typeface="Tahoma" panose="020B0604030504040204" pitchFamily="34" charset="0"/>
              </a:rPr>
              <a:t>&lt;=n</a:t>
            </a:r>
            <a:r>
              <a:rPr lang="zh-CN" altLang="en-US" sz="2000" b="0" dirty="0">
                <a:latin typeface="Tahoma" panose="020B0604030504040204" pitchFamily="34" charset="0"/>
              </a:rPr>
              <a:t>；</a:t>
            </a:r>
            <a:r>
              <a:rPr lang="en-US" altLang="zh-CN" sz="2000" b="0" dirty="0" err="1">
                <a:latin typeface="Tahoma" panose="020B0604030504040204" pitchFamily="34" charset="0"/>
              </a:rPr>
              <a:t>i</a:t>
            </a:r>
            <a:r>
              <a:rPr lang="en-US" altLang="zh-CN" sz="2000" b="0" dirty="0">
                <a:latin typeface="Tahoma" panose="020B0604030504040204" pitchFamily="34" charset="0"/>
              </a:rPr>
              <a:t>&lt;&gt;j)</a:t>
            </a:r>
            <a:endParaRPr lang="en-US" altLang="zh-CN" sz="2000" b="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 dirty="0">
                <a:latin typeface="Tahoma" panose="020B0604030504040204" pitchFamily="34" charset="0"/>
              </a:rPr>
              <a:t>不同对角线：</a:t>
            </a:r>
            <a:endParaRPr lang="zh-CN" altLang="en-US" sz="2000" b="0" dirty="0">
              <a:latin typeface="Tahoma" panose="020B0604030504040204" pitchFamily="34" charset="0"/>
            </a:endParaRPr>
          </a:p>
        </p:txBody>
      </p:sp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976" y="1447074"/>
            <a:ext cx="1885950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7" name="Line 9"/>
          <p:cNvSpPr>
            <a:spLocks noChangeShapeType="1"/>
          </p:cNvSpPr>
          <p:nvPr/>
        </p:nvSpPr>
        <p:spPr bwMode="auto">
          <a:xfrm>
            <a:off x="7124326" y="1518008"/>
            <a:ext cx="1371600" cy="1371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 flipH="1">
            <a:off x="7048126" y="1941037"/>
            <a:ext cx="1447800" cy="1371600"/>
          </a:xfrm>
          <a:prstGeom prst="line">
            <a:avLst/>
          </a:prstGeom>
          <a:noFill/>
          <a:ln w="254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2252663" y="2185988"/>
            <a:ext cx="2759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</a:rPr>
              <a:t>abs(x[</a:t>
            </a:r>
            <a:r>
              <a:rPr lang="en-US" altLang="zh-CN" sz="2000" dirty="0" err="1"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latin typeface="Tahoma" panose="020B0604030504040204" pitchFamily="34" charset="0"/>
              </a:rPr>
              <a:t>]-x[j])&lt;&gt;abs(</a:t>
            </a:r>
            <a:r>
              <a:rPr lang="en-US" altLang="zh-CN" sz="2000" dirty="0" err="1"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latin typeface="Tahoma" panose="020B0604030504040204" pitchFamily="34" charset="0"/>
              </a:rPr>
              <a:t>-j)</a:t>
            </a:r>
            <a:endParaRPr lang="en-US" altLang="zh-CN" sz="2000" dirty="0">
              <a:latin typeface="Tahoma" panose="020B0604030504040204" pitchFamily="34" charset="0"/>
            </a:endParaRPr>
          </a:p>
        </p:txBody>
      </p:sp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357188" y="5357813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要素三：状态树</a:t>
            </a:r>
            <a:endParaRPr kumimoji="1" lang="zh-CN" altLang="en-US" sz="2400" b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762000" y="5791200"/>
            <a:ext cx="5518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>
                <a:latin typeface="Tahoma" panose="020B0604030504040204" pitchFamily="34" charset="0"/>
              </a:rPr>
              <a:t>将搜索过程中的每个状态用树的形式表示出来！</a:t>
            </a:r>
            <a:endParaRPr lang="zh-CN" altLang="en-US" sz="20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>
                <a:latin typeface="Tahoma" panose="020B0604030504040204" pitchFamily="34" charset="0"/>
              </a:rPr>
              <a:t>画出状态树对书写程序有很大帮助！</a:t>
            </a:r>
            <a:endParaRPr lang="zh-CN" altLang="en-US" sz="2000" b="0">
              <a:latin typeface="Tahoma" panose="020B0604030504040204" pitchFamily="34" charset="0"/>
            </a:endParaRPr>
          </a:p>
        </p:txBody>
      </p:sp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531063" y="2871788"/>
            <a:ext cx="4800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rgbClr val="009900"/>
                </a:solidFill>
                <a:latin typeface="Tahoma" panose="020B0604030504040204" pitchFamily="34" charset="0"/>
              </a:rPr>
              <a:t>填到第</a:t>
            </a:r>
            <a:r>
              <a:rPr lang="en-US" altLang="zh-CN" sz="1800" dirty="0">
                <a:solidFill>
                  <a:srgbClr val="009900"/>
                </a:solidFill>
                <a:latin typeface="Tahoma" panose="020B0604030504040204" pitchFamily="34" charset="0"/>
              </a:rPr>
              <a:t>K</a:t>
            </a:r>
            <a:r>
              <a:rPr lang="zh-CN" altLang="en-US" sz="1800" dirty="0">
                <a:solidFill>
                  <a:srgbClr val="009900"/>
                </a:solidFill>
                <a:latin typeface="Tahoma" panose="020B0604030504040204" pitchFamily="34" charset="0"/>
              </a:rPr>
              <a:t>行时，就与前</a:t>
            </a:r>
            <a:r>
              <a:rPr lang="en-US" altLang="zh-CN" sz="1800" dirty="0">
                <a:solidFill>
                  <a:srgbClr val="009900"/>
                </a:solidFill>
                <a:latin typeface="Tahoma" panose="020B0604030504040204" pitchFamily="34" charset="0"/>
              </a:rPr>
              <a:t>1~(K-1)</a:t>
            </a:r>
            <a:r>
              <a:rPr lang="zh-CN" altLang="en-US" sz="1800" dirty="0">
                <a:solidFill>
                  <a:srgbClr val="009900"/>
                </a:solidFill>
                <a:latin typeface="Tahoma" panose="020B0604030504040204" pitchFamily="34" charset="0"/>
              </a:rPr>
              <a:t>行都进行比较</a:t>
            </a:r>
            <a:endParaRPr lang="zh-CN" altLang="en-US" sz="1800" dirty="0">
              <a:solidFill>
                <a:srgbClr val="009900"/>
              </a:solidFill>
              <a:latin typeface="Tahoma" panose="020B0604030504040204" pitchFamily="34" charset="0"/>
            </a:endParaRPr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714375" y="3357563"/>
            <a:ext cx="4953000" cy="195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Function Place(</a:t>
            </a:r>
            <a:r>
              <a:rPr lang="en-US" altLang="zh-CN" sz="2000" dirty="0" err="1">
                <a:latin typeface="Times New Roman" panose="02020603050405020304" pitchFamily="18" charset="0"/>
              </a:rPr>
              <a:t>k:integer</a:t>
            </a:r>
            <a:r>
              <a:rPr lang="en-US" altLang="zh-CN" sz="2000" dirty="0">
                <a:latin typeface="Times New Roman" panose="02020603050405020304" pitchFamily="18" charset="0"/>
              </a:rPr>
              <a:t>):</a:t>
            </a:r>
            <a:r>
              <a:rPr lang="en-US" altLang="zh-CN" sz="2000" dirty="0" err="1">
                <a:latin typeface="Times New Roman" panose="02020603050405020304" pitchFamily="18" charset="0"/>
              </a:rPr>
              <a:t>boolean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place:=true;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for</a:t>
            </a:r>
            <a:r>
              <a:rPr lang="en-US" altLang="zh-CN" sz="2000" dirty="0">
                <a:latin typeface="Times New Roman" panose="02020603050405020304" pitchFamily="18" charset="0"/>
              </a:rPr>
              <a:t>  j←1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to</a:t>
            </a:r>
            <a:r>
              <a:rPr lang="en-US" altLang="zh-CN" sz="2000" dirty="0">
                <a:latin typeface="Times New Roman" panose="02020603050405020304" pitchFamily="18" charset="0"/>
              </a:rPr>
              <a:t> k-1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do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if</a:t>
            </a:r>
            <a:r>
              <a:rPr lang="en-US" altLang="zh-CN" sz="2000" dirty="0">
                <a:latin typeface="Times New Roman" panose="02020603050405020304" pitchFamily="18" charset="0"/>
              </a:rPr>
              <a:t> |k-j|=|x[j]-x[k]| or x[j]=x[k]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then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      place:=</a:t>
            </a:r>
            <a:r>
              <a:rPr lang="en-US" altLang="zh-CN" sz="2000" dirty="0">
                <a:latin typeface="Times New Roman" panose="02020603050405020304" pitchFamily="18" charset="0"/>
              </a:rPr>
              <a:t> false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5372" name="标题 4"/>
          <p:cNvSpPr txBox="1"/>
          <p:nvPr/>
        </p:nvSpPr>
        <p:spPr bwMode="auto">
          <a:xfrm>
            <a:off x="633413" y="319088"/>
            <a:ext cx="7896225" cy="281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N</a:t>
            </a:r>
            <a:r>
              <a:rPr lang="zh-CN" altLang="en-US" sz="3200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皇后问题</a:t>
            </a:r>
            <a:endParaRPr lang="zh-CN" altLang="en-US" sz="3200" b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/>
      <p:bldP spid="12297" grpId="0" animBg="1"/>
      <p:bldP spid="12298" grpId="0" animBg="1"/>
      <p:bldP spid="12299" grpId="0"/>
      <p:bldP spid="12300" grpId="0"/>
      <p:bldP spid="12301" grpId="0"/>
      <p:bldP spid="12302" grpId="0"/>
      <p:bldP spid="1230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4" name="Object 6"/>
          <p:cNvGraphicFramePr>
            <a:graphicFrameLocks noChangeAspect="1"/>
          </p:cNvGraphicFramePr>
          <p:nvPr/>
        </p:nvGraphicFramePr>
        <p:xfrm>
          <a:off x="0" y="685800"/>
          <a:ext cx="88392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6" name="Photo Editor 照片" r:id="rId1" imgW="42908220" imgH="22029420" progId="">
                  <p:embed/>
                </p:oleObj>
              </mc:Choice>
              <mc:Fallback>
                <p:oleObj name="Photo Editor 照片" r:id="rId1" imgW="42908220" imgH="2202942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3699"/>
                      <a:stretch>
                        <a:fillRect/>
                      </a:stretch>
                    </p:blipFill>
                    <p:spPr bwMode="auto">
                      <a:xfrm>
                        <a:off x="0" y="685800"/>
                        <a:ext cx="88392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143000" y="6472238"/>
            <a:ext cx="381000" cy="304800"/>
          </a:xfrm>
          <a:prstGeom prst="actionButtonBackPrevious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776" name="AutoShape 8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533400" y="6472238"/>
            <a:ext cx="381000" cy="304800"/>
          </a:xfrm>
          <a:prstGeom prst="actionButtonBeginning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777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2362200" y="6472238"/>
            <a:ext cx="381000" cy="304800"/>
          </a:xfrm>
          <a:prstGeom prst="actionButtonEnd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778" name="AutoShape 10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971800" y="6472238"/>
            <a:ext cx="457200" cy="304800"/>
          </a:xfrm>
          <a:prstGeom prst="actionButtonInformation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779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752600" y="6472238"/>
            <a:ext cx="381000" cy="304800"/>
          </a:xfrm>
          <a:prstGeom prst="actionButtonForwardNext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780" name="Rectangle 12"/>
          <p:cNvSpPr>
            <a:spLocks noChangeArrowheads="1"/>
          </p:cNvSpPr>
          <p:nvPr/>
        </p:nvSpPr>
        <p:spPr bwMode="auto">
          <a:xfrm>
            <a:off x="1371600" y="6584950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pic>
        <p:nvPicPr>
          <p:cNvPr id="32781" name="Picture 13" descr="STATBAR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324600"/>
            <a:ext cx="8153400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2" name="Picture 14" descr="STATBAR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"/>
            <a:ext cx="83058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2784" name="Object 16"/>
          <p:cNvGraphicFramePr>
            <a:graphicFrameLocks noChangeAspect="1"/>
          </p:cNvGraphicFramePr>
          <p:nvPr/>
        </p:nvGraphicFramePr>
        <p:xfrm>
          <a:off x="2438400" y="5638800"/>
          <a:ext cx="4038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7" name="Photo Editor 照片" r:id="rId6" imgW="13418820" imgH="1836420" progId="">
                  <p:embed/>
                </p:oleObj>
              </mc:Choice>
              <mc:Fallback>
                <p:oleObj name="Photo Editor 照片" r:id="rId6" imgW="13418820" imgH="183642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638800"/>
                        <a:ext cx="4038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381000" y="0"/>
            <a:ext cx="42672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">
              <a:lnSpc>
                <a:spcPct val="110000"/>
              </a:lnSpc>
            </a:pPr>
            <a:r>
              <a:rPr lang="zh-CN" altLang="en-US" sz="1800" dirty="0">
                <a:solidFill>
                  <a:srgbClr val="99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算法设计与分析 </a:t>
            </a:r>
            <a:r>
              <a:rPr lang="en-US" altLang="zh-CN" sz="1800" dirty="0">
                <a:solidFill>
                  <a:srgbClr val="99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&gt;</a:t>
            </a:r>
            <a:r>
              <a:rPr lang="zh-CN" altLang="en-US" sz="1800" dirty="0">
                <a:latin typeface="幼圆" panose="02010509060101010101" pitchFamily="49" charset="-122"/>
                <a:ea typeface="幼圆" panose="02010509060101010101" pitchFamily="49" charset="-122"/>
              </a:rPr>
              <a:t>回溯法 </a:t>
            </a:r>
            <a:r>
              <a:rPr lang="en-US" altLang="zh-CN" sz="1800" dirty="0">
                <a:latin typeface="幼圆" panose="02010509060101010101" pitchFamily="49" charset="-122"/>
                <a:ea typeface="幼圆" panose="02010509060101010101" pitchFamily="49" charset="-122"/>
              </a:rPr>
              <a:t>&gt;</a:t>
            </a:r>
            <a:r>
              <a:rPr lang="en-US" altLang="zh-CN" sz="1800" b="0" dirty="0">
                <a:latin typeface="黑体" panose="02010609060101010101" pitchFamily="2" charset="-122"/>
                <a:ea typeface="黑体" panose="02010609060101010101" pitchFamily="2" charset="-122"/>
              </a:rPr>
              <a:t>n</a:t>
            </a:r>
            <a:r>
              <a:rPr lang="zh-CN" altLang="en-US" sz="1800" b="0" dirty="0">
                <a:latin typeface="幼圆" panose="02010509060101010101" pitchFamily="49" charset="-122"/>
                <a:ea typeface="幼圆" panose="02010509060101010101" pitchFamily="49" charset="-122"/>
              </a:rPr>
              <a:t>后问题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2787" name="Rectangle 19"/>
          <p:cNvSpPr>
            <a:spLocks noChangeArrowheads="1"/>
          </p:cNvSpPr>
          <p:nvPr/>
        </p:nvSpPr>
        <p:spPr bwMode="auto">
          <a:xfrm>
            <a:off x="5092700" y="5743575"/>
            <a:ext cx="15843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800">
                <a:ea typeface="华文中宋" panose="02010600040101010101" pitchFamily="2" charset="-122"/>
              </a:rPr>
              <a:t>（未剪枝之前）</a:t>
            </a:r>
            <a:endParaRPr lang="zh-CN" altLang="en-US" sz="180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54" name="Group 42"/>
          <p:cNvGraphicFramePr>
            <a:graphicFrameLocks noGrp="1"/>
          </p:cNvGraphicFramePr>
          <p:nvPr/>
        </p:nvGraphicFramePr>
        <p:xfrm>
          <a:off x="3810000" y="0"/>
          <a:ext cx="990600" cy="1036639"/>
        </p:xfrm>
        <a:graphic>
          <a:graphicData uri="http://schemas.openxmlformats.org/drawingml/2006/table">
            <a:tbl>
              <a:tblPr/>
              <a:tblGrid>
                <a:gridCol w="247650"/>
                <a:gridCol w="247650"/>
                <a:gridCol w="247650"/>
                <a:gridCol w="247650"/>
              </a:tblGrid>
              <a:tr h="304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413" name="Text Box 43"/>
          <p:cNvSpPr txBox="1">
            <a:spLocks noChangeArrowheads="1"/>
          </p:cNvSpPr>
          <p:nvPr/>
        </p:nvSpPr>
        <p:spPr bwMode="auto">
          <a:xfrm>
            <a:off x="212725" y="239713"/>
            <a:ext cx="65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K=0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graphicFrame>
        <p:nvGraphicFramePr>
          <p:cNvPr id="13356" name="Group 44"/>
          <p:cNvGraphicFramePr>
            <a:graphicFrameLocks noGrp="1"/>
          </p:cNvGraphicFramePr>
          <p:nvPr/>
        </p:nvGraphicFramePr>
        <p:xfrm>
          <a:off x="3824288" y="1447800"/>
          <a:ext cx="990600" cy="1036639"/>
        </p:xfrm>
        <a:graphic>
          <a:graphicData uri="http://schemas.openxmlformats.org/drawingml/2006/table">
            <a:tbl>
              <a:tblPr/>
              <a:tblGrid>
                <a:gridCol w="247650"/>
                <a:gridCol w="247650"/>
                <a:gridCol w="247650"/>
                <a:gridCol w="247650"/>
              </a:tblGrid>
              <a:tr h="304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441" name="Text Box 72"/>
          <p:cNvSpPr txBox="1">
            <a:spLocks noChangeArrowheads="1"/>
          </p:cNvSpPr>
          <p:nvPr/>
        </p:nvSpPr>
        <p:spPr bwMode="auto">
          <a:xfrm>
            <a:off x="228600" y="1676400"/>
            <a:ext cx="65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K=1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graphicFrame>
        <p:nvGraphicFramePr>
          <p:cNvPr id="13386" name="Group 74"/>
          <p:cNvGraphicFramePr>
            <a:graphicFrameLocks noGrp="1"/>
          </p:cNvGraphicFramePr>
          <p:nvPr/>
        </p:nvGraphicFramePr>
        <p:xfrm>
          <a:off x="2528888" y="2895600"/>
          <a:ext cx="990600" cy="1036639"/>
        </p:xfrm>
        <a:graphic>
          <a:graphicData uri="http://schemas.openxmlformats.org/drawingml/2006/table">
            <a:tbl>
              <a:tblPr/>
              <a:tblGrid>
                <a:gridCol w="247650"/>
                <a:gridCol w="247650"/>
                <a:gridCol w="247650"/>
                <a:gridCol w="247650"/>
              </a:tblGrid>
              <a:tr h="304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413" name="Text Box 101"/>
          <p:cNvSpPr txBox="1">
            <a:spLocks noChangeArrowheads="1"/>
          </p:cNvSpPr>
          <p:nvPr/>
        </p:nvSpPr>
        <p:spPr bwMode="auto">
          <a:xfrm>
            <a:off x="2514600" y="2890838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15" name="Text Box 103"/>
          <p:cNvSpPr txBox="1">
            <a:spLocks noChangeArrowheads="1"/>
          </p:cNvSpPr>
          <p:nvPr/>
        </p:nvSpPr>
        <p:spPr bwMode="auto">
          <a:xfrm>
            <a:off x="3519488" y="1447800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17" name="Text Box 105"/>
          <p:cNvSpPr txBox="1">
            <a:spLocks noChangeArrowheads="1"/>
          </p:cNvSpPr>
          <p:nvPr/>
        </p:nvSpPr>
        <p:spPr bwMode="auto">
          <a:xfrm>
            <a:off x="2224088" y="3138488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18" name="Text Box 106"/>
          <p:cNvSpPr txBox="1">
            <a:spLocks noChangeArrowheads="1"/>
          </p:cNvSpPr>
          <p:nvPr/>
        </p:nvSpPr>
        <p:spPr bwMode="auto">
          <a:xfrm>
            <a:off x="2514600" y="3138488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19" name="Text Box 107"/>
          <p:cNvSpPr txBox="1">
            <a:spLocks noChangeArrowheads="1"/>
          </p:cNvSpPr>
          <p:nvPr/>
        </p:nvSpPr>
        <p:spPr bwMode="auto">
          <a:xfrm>
            <a:off x="2752725" y="3138488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20" name="Text Box 108"/>
          <p:cNvSpPr txBox="1">
            <a:spLocks noChangeArrowheads="1"/>
          </p:cNvSpPr>
          <p:nvPr/>
        </p:nvSpPr>
        <p:spPr bwMode="auto">
          <a:xfrm>
            <a:off x="2990850" y="3138488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graphicFrame>
        <p:nvGraphicFramePr>
          <p:cNvPr id="13421" name="Group 109"/>
          <p:cNvGraphicFramePr>
            <a:graphicFrameLocks noGrp="1"/>
          </p:cNvGraphicFramePr>
          <p:nvPr/>
        </p:nvGraphicFramePr>
        <p:xfrm>
          <a:off x="2528888" y="4419600"/>
          <a:ext cx="990600" cy="1036639"/>
        </p:xfrm>
        <a:graphic>
          <a:graphicData uri="http://schemas.openxmlformats.org/drawingml/2006/table">
            <a:tbl>
              <a:tblPr/>
              <a:tblGrid>
                <a:gridCol w="247650"/>
                <a:gridCol w="247650"/>
                <a:gridCol w="247650"/>
                <a:gridCol w="247650"/>
              </a:tblGrid>
              <a:tr h="304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448" name="Text Box 136"/>
          <p:cNvSpPr txBox="1">
            <a:spLocks noChangeArrowheads="1"/>
          </p:cNvSpPr>
          <p:nvPr/>
        </p:nvSpPr>
        <p:spPr bwMode="auto">
          <a:xfrm>
            <a:off x="2514600" y="44053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49" name="Text Box 137"/>
          <p:cNvSpPr txBox="1">
            <a:spLocks noChangeArrowheads="1"/>
          </p:cNvSpPr>
          <p:nvPr/>
        </p:nvSpPr>
        <p:spPr bwMode="auto">
          <a:xfrm>
            <a:off x="3000375" y="4681538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50" name="Text Box 138"/>
          <p:cNvSpPr txBox="1">
            <a:spLocks noChangeArrowheads="1"/>
          </p:cNvSpPr>
          <p:nvPr/>
        </p:nvSpPr>
        <p:spPr bwMode="auto">
          <a:xfrm>
            <a:off x="2219325" y="491966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51" name="Text Box 139"/>
          <p:cNvSpPr txBox="1">
            <a:spLocks noChangeArrowheads="1"/>
          </p:cNvSpPr>
          <p:nvPr/>
        </p:nvSpPr>
        <p:spPr bwMode="auto">
          <a:xfrm>
            <a:off x="2500313" y="4924425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52" name="Text Box 140"/>
          <p:cNvSpPr txBox="1">
            <a:spLocks noChangeArrowheads="1"/>
          </p:cNvSpPr>
          <p:nvPr/>
        </p:nvSpPr>
        <p:spPr bwMode="auto">
          <a:xfrm>
            <a:off x="2757488" y="4924425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53" name="Text Box 141"/>
          <p:cNvSpPr txBox="1">
            <a:spLocks noChangeArrowheads="1"/>
          </p:cNvSpPr>
          <p:nvPr/>
        </p:nvSpPr>
        <p:spPr bwMode="auto">
          <a:xfrm>
            <a:off x="2986088" y="4924425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54" name="Text Box 142"/>
          <p:cNvSpPr txBox="1">
            <a:spLocks noChangeArrowheads="1"/>
          </p:cNvSpPr>
          <p:nvPr/>
        </p:nvSpPr>
        <p:spPr bwMode="auto">
          <a:xfrm>
            <a:off x="3248025" y="491966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55" name="Text Box 143"/>
          <p:cNvSpPr txBox="1">
            <a:spLocks noChangeArrowheads="1"/>
          </p:cNvSpPr>
          <p:nvPr/>
        </p:nvSpPr>
        <p:spPr bwMode="auto">
          <a:xfrm>
            <a:off x="3521075" y="49387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56" name="Line 144"/>
          <p:cNvSpPr>
            <a:spLocks noChangeShapeType="1"/>
          </p:cNvSpPr>
          <p:nvPr/>
        </p:nvSpPr>
        <p:spPr bwMode="auto">
          <a:xfrm>
            <a:off x="2986088" y="3962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57" name="AutoShape 145"/>
          <p:cNvSpPr>
            <a:spLocks noChangeArrowheads="1"/>
          </p:cNvSpPr>
          <p:nvPr/>
        </p:nvSpPr>
        <p:spPr bwMode="auto">
          <a:xfrm flipV="1">
            <a:off x="2147888" y="3657600"/>
            <a:ext cx="304800" cy="990600"/>
          </a:xfrm>
          <a:prstGeom prst="curvedRightArrow">
            <a:avLst>
              <a:gd name="adj1" fmla="val 30604"/>
              <a:gd name="adj2" fmla="val 156752"/>
              <a:gd name="adj3" fmla="val 3603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Tahoma" panose="020B0604030504040204" pitchFamily="34" charset="0"/>
            </a:endParaRPr>
          </a:p>
        </p:txBody>
      </p:sp>
      <p:sp>
        <p:nvSpPr>
          <p:cNvPr id="13459" name="Text Box 147"/>
          <p:cNvSpPr txBox="1">
            <a:spLocks noChangeArrowheads="1"/>
          </p:cNvSpPr>
          <p:nvPr/>
        </p:nvSpPr>
        <p:spPr bwMode="auto">
          <a:xfrm>
            <a:off x="1538288" y="4038600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latin typeface="Tahoma" panose="020B0604030504040204" pitchFamily="34" charset="0"/>
              </a:rPr>
              <a:t>回溯</a:t>
            </a:r>
            <a:endParaRPr lang="zh-CN" altLang="en-US" sz="1800" b="0">
              <a:latin typeface="Tahoma" panose="020B0604030504040204" pitchFamily="34" charset="0"/>
            </a:endParaRPr>
          </a:p>
        </p:txBody>
      </p:sp>
      <p:sp>
        <p:nvSpPr>
          <p:cNvPr id="13460" name="Line 148"/>
          <p:cNvSpPr>
            <a:spLocks noChangeShapeType="1"/>
          </p:cNvSpPr>
          <p:nvPr/>
        </p:nvSpPr>
        <p:spPr bwMode="auto">
          <a:xfrm flipH="1">
            <a:off x="4343400" y="1066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61" name="Line 149"/>
          <p:cNvSpPr>
            <a:spLocks noChangeShapeType="1"/>
          </p:cNvSpPr>
          <p:nvPr/>
        </p:nvSpPr>
        <p:spPr bwMode="auto">
          <a:xfrm flipH="1">
            <a:off x="3062288" y="25146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62" name="Text Box 150"/>
          <p:cNvSpPr txBox="1">
            <a:spLocks noChangeArrowheads="1"/>
          </p:cNvSpPr>
          <p:nvPr/>
        </p:nvSpPr>
        <p:spPr bwMode="auto">
          <a:xfrm>
            <a:off x="3248025" y="3157538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63" name="Line 151"/>
          <p:cNvSpPr>
            <a:spLocks noChangeShapeType="1"/>
          </p:cNvSpPr>
          <p:nvPr/>
        </p:nvSpPr>
        <p:spPr bwMode="auto">
          <a:xfrm>
            <a:off x="3062288" y="3962400"/>
            <a:ext cx="1676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464" name="Group 152"/>
          <p:cNvGraphicFramePr>
            <a:graphicFrameLocks noGrp="1"/>
          </p:cNvGraphicFramePr>
          <p:nvPr/>
        </p:nvGraphicFramePr>
        <p:xfrm>
          <a:off x="4281488" y="4454525"/>
          <a:ext cx="990600" cy="1036639"/>
        </p:xfrm>
        <a:graphic>
          <a:graphicData uri="http://schemas.openxmlformats.org/drawingml/2006/table">
            <a:tbl>
              <a:tblPr/>
              <a:tblGrid>
                <a:gridCol w="247650"/>
                <a:gridCol w="247650"/>
                <a:gridCol w="247650"/>
                <a:gridCol w="247650"/>
              </a:tblGrid>
              <a:tr h="304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491" name="Text Box 179"/>
          <p:cNvSpPr txBox="1">
            <a:spLocks noChangeArrowheads="1"/>
          </p:cNvSpPr>
          <p:nvPr/>
        </p:nvSpPr>
        <p:spPr bwMode="auto">
          <a:xfrm>
            <a:off x="4268788" y="4454525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92" name="Text Box 180"/>
          <p:cNvSpPr txBox="1">
            <a:spLocks noChangeArrowheads="1"/>
          </p:cNvSpPr>
          <p:nvPr/>
        </p:nvSpPr>
        <p:spPr bwMode="auto">
          <a:xfrm>
            <a:off x="4983163" y="4711700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93" name="Text Box 181"/>
          <p:cNvSpPr txBox="1">
            <a:spLocks noChangeArrowheads="1"/>
          </p:cNvSpPr>
          <p:nvPr/>
        </p:nvSpPr>
        <p:spPr bwMode="auto">
          <a:xfrm>
            <a:off x="3976688" y="4926013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94" name="Text Box 182"/>
          <p:cNvSpPr txBox="1">
            <a:spLocks noChangeArrowheads="1"/>
          </p:cNvSpPr>
          <p:nvPr/>
        </p:nvSpPr>
        <p:spPr bwMode="auto">
          <a:xfrm>
            <a:off x="4254500" y="4949825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95" name="Text Box 183"/>
          <p:cNvSpPr txBox="1">
            <a:spLocks noChangeArrowheads="1"/>
          </p:cNvSpPr>
          <p:nvPr/>
        </p:nvSpPr>
        <p:spPr bwMode="auto">
          <a:xfrm>
            <a:off x="4497388" y="4953000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496" name="Text Box 184"/>
          <p:cNvSpPr txBox="1">
            <a:spLocks noChangeArrowheads="1"/>
          </p:cNvSpPr>
          <p:nvPr/>
        </p:nvSpPr>
        <p:spPr bwMode="auto">
          <a:xfrm>
            <a:off x="2882900" y="5811838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graphicFrame>
        <p:nvGraphicFramePr>
          <p:cNvPr id="13498" name="Group 186"/>
          <p:cNvGraphicFramePr>
            <a:graphicFrameLocks noGrp="1"/>
          </p:cNvGraphicFramePr>
          <p:nvPr/>
        </p:nvGraphicFramePr>
        <p:xfrm>
          <a:off x="2895600" y="5826125"/>
          <a:ext cx="990600" cy="1036639"/>
        </p:xfrm>
        <a:graphic>
          <a:graphicData uri="http://schemas.openxmlformats.org/drawingml/2006/table">
            <a:tbl>
              <a:tblPr/>
              <a:tblGrid>
                <a:gridCol w="247650"/>
                <a:gridCol w="247650"/>
                <a:gridCol w="247650"/>
                <a:gridCol w="247650"/>
              </a:tblGrid>
              <a:tr h="304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525" name="Text Box 213"/>
          <p:cNvSpPr txBox="1">
            <a:spLocks noChangeArrowheads="1"/>
          </p:cNvSpPr>
          <p:nvPr/>
        </p:nvSpPr>
        <p:spPr bwMode="auto">
          <a:xfrm>
            <a:off x="3611563" y="6069013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526" name="Text Box 214"/>
          <p:cNvSpPr txBox="1">
            <a:spLocks noChangeArrowheads="1"/>
          </p:cNvSpPr>
          <p:nvPr/>
        </p:nvSpPr>
        <p:spPr bwMode="auto">
          <a:xfrm>
            <a:off x="3125788" y="6316663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527" name="Text Box 215"/>
          <p:cNvSpPr txBox="1">
            <a:spLocks noChangeArrowheads="1"/>
          </p:cNvSpPr>
          <p:nvPr/>
        </p:nvSpPr>
        <p:spPr bwMode="auto">
          <a:xfrm>
            <a:off x="3873500" y="6559550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529" name="Line 217"/>
          <p:cNvSpPr>
            <a:spLocks noChangeShapeType="1"/>
          </p:cNvSpPr>
          <p:nvPr/>
        </p:nvSpPr>
        <p:spPr bwMode="auto">
          <a:xfrm flipH="1">
            <a:off x="3505200" y="5562600"/>
            <a:ext cx="1295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32" name="AutoShape 220"/>
          <p:cNvSpPr>
            <a:spLocks noChangeArrowheads="1"/>
          </p:cNvSpPr>
          <p:nvPr/>
        </p:nvSpPr>
        <p:spPr bwMode="auto">
          <a:xfrm rot="14377688" flipH="1">
            <a:off x="4457700" y="5448300"/>
            <a:ext cx="228600" cy="1066800"/>
          </a:xfrm>
          <a:prstGeom prst="curvedLeftArrow">
            <a:avLst>
              <a:gd name="adj1" fmla="val 93333"/>
              <a:gd name="adj2" fmla="val 186667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Tahoma" panose="020B0604030504040204" pitchFamily="34" charset="0"/>
            </a:endParaRPr>
          </a:p>
        </p:txBody>
      </p:sp>
      <p:sp>
        <p:nvSpPr>
          <p:cNvPr id="13533" name="Text Box 221"/>
          <p:cNvSpPr txBox="1">
            <a:spLocks noChangeArrowheads="1"/>
          </p:cNvSpPr>
          <p:nvPr/>
        </p:nvSpPr>
        <p:spPr bwMode="auto">
          <a:xfrm>
            <a:off x="4876800" y="6019800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latin typeface="Tahoma" panose="020B0604030504040204" pitchFamily="34" charset="0"/>
              </a:rPr>
              <a:t>回溯</a:t>
            </a:r>
            <a:endParaRPr lang="zh-CN" altLang="en-US" sz="1800" b="0">
              <a:latin typeface="Tahoma" panose="020B0604030504040204" pitchFamily="34" charset="0"/>
            </a:endParaRPr>
          </a:p>
        </p:txBody>
      </p:sp>
      <p:sp>
        <p:nvSpPr>
          <p:cNvPr id="13534" name="Text Box 222"/>
          <p:cNvSpPr txBox="1">
            <a:spLocks noChangeArrowheads="1"/>
          </p:cNvSpPr>
          <p:nvPr/>
        </p:nvSpPr>
        <p:spPr bwMode="auto">
          <a:xfrm>
            <a:off x="4738688" y="4953000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535" name="Text Box 223"/>
          <p:cNvSpPr txBox="1">
            <a:spLocks noChangeArrowheads="1"/>
          </p:cNvSpPr>
          <p:nvPr/>
        </p:nvSpPr>
        <p:spPr bwMode="auto">
          <a:xfrm>
            <a:off x="4981575" y="4953000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536" name="Text Box 224"/>
          <p:cNvSpPr txBox="1">
            <a:spLocks noChangeArrowheads="1"/>
          </p:cNvSpPr>
          <p:nvPr/>
        </p:nvSpPr>
        <p:spPr bwMode="auto">
          <a:xfrm>
            <a:off x="5257800" y="49387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537" name="AutoShape 225"/>
          <p:cNvSpPr>
            <a:spLocks noChangeArrowheads="1"/>
          </p:cNvSpPr>
          <p:nvPr/>
        </p:nvSpPr>
        <p:spPr bwMode="auto">
          <a:xfrm rot="-9187772">
            <a:off x="3671888" y="3886200"/>
            <a:ext cx="1373187" cy="214313"/>
          </a:xfrm>
          <a:prstGeom prst="curvedUpArrow">
            <a:avLst>
              <a:gd name="adj1" fmla="val 128148"/>
              <a:gd name="adj2" fmla="val 256296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Tahoma" panose="020B0604030504040204" pitchFamily="34" charset="0"/>
            </a:endParaRPr>
          </a:p>
        </p:txBody>
      </p:sp>
      <p:sp>
        <p:nvSpPr>
          <p:cNvPr id="13539" name="Text Box 227"/>
          <p:cNvSpPr txBox="1">
            <a:spLocks noChangeArrowheads="1"/>
          </p:cNvSpPr>
          <p:nvPr/>
        </p:nvSpPr>
        <p:spPr bwMode="auto">
          <a:xfrm>
            <a:off x="3506788" y="3171825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540" name="AutoShape 228"/>
          <p:cNvSpPr>
            <a:spLocks noChangeArrowheads="1"/>
          </p:cNvSpPr>
          <p:nvPr/>
        </p:nvSpPr>
        <p:spPr bwMode="auto">
          <a:xfrm rot="-2474019">
            <a:off x="3748088" y="2819400"/>
            <a:ext cx="930275" cy="277813"/>
          </a:xfrm>
          <a:prstGeom prst="curvedUpArrow">
            <a:avLst>
              <a:gd name="adj1" fmla="val 66971"/>
              <a:gd name="adj2" fmla="val 133943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Tahoma" panose="020B0604030504040204" pitchFamily="34" charset="0"/>
            </a:endParaRPr>
          </a:p>
        </p:txBody>
      </p:sp>
      <p:sp>
        <p:nvSpPr>
          <p:cNvPr id="13541" name="Text Box 229"/>
          <p:cNvSpPr txBox="1">
            <a:spLocks noChangeArrowheads="1"/>
          </p:cNvSpPr>
          <p:nvPr/>
        </p:nvSpPr>
        <p:spPr bwMode="auto">
          <a:xfrm>
            <a:off x="3811588" y="1447800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542" name="Text Box 230"/>
          <p:cNvSpPr txBox="1">
            <a:spLocks noChangeArrowheads="1"/>
          </p:cNvSpPr>
          <p:nvPr/>
        </p:nvSpPr>
        <p:spPr bwMode="auto">
          <a:xfrm>
            <a:off x="4054475" y="1447800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graphicFrame>
        <p:nvGraphicFramePr>
          <p:cNvPr id="13543" name="Group 231"/>
          <p:cNvGraphicFramePr>
            <a:graphicFrameLocks noGrp="1"/>
          </p:cNvGraphicFramePr>
          <p:nvPr/>
        </p:nvGraphicFramePr>
        <p:xfrm>
          <a:off x="5181600" y="2895600"/>
          <a:ext cx="990600" cy="1036639"/>
        </p:xfrm>
        <a:graphic>
          <a:graphicData uri="http://schemas.openxmlformats.org/drawingml/2006/table">
            <a:tbl>
              <a:tblPr/>
              <a:tblGrid>
                <a:gridCol w="247650"/>
                <a:gridCol w="247650"/>
                <a:gridCol w="247650"/>
                <a:gridCol w="247650"/>
              </a:tblGrid>
              <a:tr h="304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570" name="Text Box 258"/>
          <p:cNvSpPr txBox="1">
            <a:spLocks noChangeArrowheads="1"/>
          </p:cNvSpPr>
          <p:nvPr/>
        </p:nvSpPr>
        <p:spPr bwMode="auto">
          <a:xfrm>
            <a:off x="5395913" y="2881313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571" name="Text Box 259"/>
          <p:cNvSpPr txBox="1">
            <a:spLocks noChangeArrowheads="1"/>
          </p:cNvSpPr>
          <p:nvPr/>
        </p:nvSpPr>
        <p:spPr bwMode="auto">
          <a:xfrm>
            <a:off x="5891213" y="3148013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572" name="Line 260"/>
          <p:cNvSpPr>
            <a:spLocks noChangeShapeType="1"/>
          </p:cNvSpPr>
          <p:nvPr/>
        </p:nvSpPr>
        <p:spPr bwMode="auto">
          <a:xfrm>
            <a:off x="4495800" y="25146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573" name="Group 261"/>
          <p:cNvGraphicFramePr>
            <a:graphicFrameLocks noGrp="1"/>
          </p:cNvGraphicFramePr>
          <p:nvPr/>
        </p:nvGraphicFramePr>
        <p:xfrm>
          <a:off x="6324600" y="4378325"/>
          <a:ext cx="990600" cy="1036639"/>
        </p:xfrm>
        <a:graphic>
          <a:graphicData uri="http://schemas.openxmlformats.org/drawingml/2006/table">
            <a:tbl>
              <a:tblPr/>
              <a:tblGrid>
                <a:gridCol w="247650"/>
                <a:gridCol w="247650"/>
                <a:gridCol w="247650"/>
                <a:gridCol w="247650"/>
              </a:tblGrid>
              <a:tr h="304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600" name="Text Box 288"/>
          <p:cNvSpPr txBox="1">
            <a:spLocks noChangeArrowheads="1"/>
          </p:cNvSpPr>
          <p:nvPr/>
        </p:nvSpPr>
        <p:spPr bwMode="auto">
          <a:xfrm>
            <a:off x="6538913" y="4364038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601" name="Text Box 289"/>
          <p:cNvSpPr txBox="1">
            <a:spLocks noChangeArrowheads="1"/>
          </p:cNvSpPr>
          <p:nvPr/>
        </p:nvSpPr>
        <p:spPr bwMode="auto">
          <a:xfrm>
            <a:off x="7034213" y="4630738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602" name="Line 290"/>
          <p:cNvSpPr>
            <a:spLocks noChangeShapeType="1"/>
          </p:cNvSpPr>
          <p:nvPr/>
        </p:nvSpPr>
        <p:spPr bwMode="auto">
          <a:xfrm>
            <a:off x="5638800" y="39624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03" name="Text Box 291"/>
          <p:cNvSpPr txBox="1">
            <a:spLocks noChangeArrowheads="1"/>
          </p:cNvSpPr>
          <p:nvPr/>
        </p:nvSpPr>
        <p:spPr bwMode="auto">
          <a:xfrm>
            <a:off x="6291263" y="4862513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6652" name="Text Box 293"/>
          <p:cNvSpPr txBox="1">
            <a:spLocks noChangeArrowheads="1"/>
          </p:cNvSpPr>
          <p:nvPr/>
        </p:nvSpPr>
        <p:spPr bwMode="auto">
          <a:xfrm>
            <a:off x="228600" y="4724400"/>
            <a:ext cx="65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K=3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16653" name="Text Box 294"/>
          <p:cNvSpPr txBox="1">
            <a:spLocks noChangeArrowheads="1"/>
          </p:cNvSpPr>
          <p:nvPr/>
        </p:nvSpPr>
        <p:spPr bwMode="auto">
          <a:xfrm>
            <a:off x="228600" y="3108325"/>
            <a:ext cx="65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K=2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16654" name="Text Box 295"/>
          <p:cNvSpPr txBox="1">
            <a:spLocks noChangeArrowheads="1"/>
          </p:cNvSpPr>
          <p:nvPr/>
        </p:nvSpPr>
        <p:spPr bwMode="auto">
          <a:xfrm>
            <a:off x="228600" y="6096000"/>
            <a:ext cx="65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K=4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graphicFrame>
        <p:nvGraphicFramePr>
          <p:cNvPr id="13608" name="Group 296"/>
          <p:cNvGraphicFramePr>
            <a:graphicFrameLocks noGrp="1"/>
          </p:cNvGraphicFramePr>
          <p:nvPr/>
        </p:nvGraphicFramePr>
        <p:xfrm>
          <a:off x="7577138" y="5826125"/>
          <a:ext cx="990600" cy="1036639"/>
        </p:xfrm>
        <a:graphic>
          <a:graphicData uri="http://schemas.openxmlformats.org/drawingml/2006/table">
            <a:tbl>
              <a:tblPr/>
              <a:tblGrid>
                <a:gridCol w="247650"/>
                <a:gridCol w="247650"/>
                <a:gridCol w="247650"/>
                <a:gridCol w="247650"/>
              </a:tblGrid>
              <a:tr h="304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635" name="Text Box 323"/>
          <p:cNvSpPr txBox="1">
            <a:spLocks noChangeArrowheads="1"/>
          </p:cNvSpPr>
          <p:nvPr/>
        </p:nvSpPr>
        <p:spPr bwMode="auto">
          <a:xfrm>
            <a:off x="7791450" y="5811838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636" name="Text Box 324"/>
          <p:cNvSpPr txBox="1">
            <a:spLocks noChangeArrowheads="1"/>
          </p:cNvSpPr>
          <p:nvPr/>
        </p:nvSpPr>
        <p:spPr bwMode="auto">
          <a:xfrm>
            <a:off x="8286750" y="6078538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637" name="Text Box 325"/>
          <p:cNvSpPr txBox="1">
            <a:spLocks noChangeArrowheads="1"/>
          </p:cNvSpPr>
          <p:nvPr/>
        </p:nvSpPr>
        <p:spPr bwMode="auto">
          <a:xfrm>
            <a:off x="7543800" y="6310313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638" name="Text Box 326"/>
          <p:cNvSpPr txBox="1">
            <a:spLocks noChangeArrowheads="1"/>
          </p:cNvSpPr>
          <p:nvPr/>
        </p:nvSpPr>
        <p:spPr bwMode="auto">
          <a:xfrm>
            <a:off x="8034338" y="6553200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*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639" name="Line 327"/>
          <p:cNvSpPr>
            <a:spLocks noChangeShapeType="1"/>
          </p:cNvSpPr>
          <p:nvPr/>
        </p:nvSpPr>
        <p:spPr bwMode="auto">
          <a:xfrm>
            <a:off x="6858000" y="5486400"/>
            <a:ext cx="1219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40" name="AutoShape 328"/>
          <p:cNvSpPr/>
          <p:nvPr/>
        </p:nvSpPr>
        <p:spPr bwMode="auto">
          <a:xfrm>
            <a:off x="7924800" y="3733799"/>
            <a:ext cx="990600" cy="1433513"/>
          </a:xfrm>
          <a:prstGeom prst="borderCallout3">
            <a:avLst>
              <a:gd name="adj1" fmla="val 8824"/>
              <a:gd name="adj2" fmla="val 107694"/>
              <a:gd name="adj3" fmla="val 8824"/>
              <a:gd name="adj4" fmla="val 111699"/>
              <a:gd name="adj5" fmla="val 178065"/>
              <a:gd name="adj6" fmla="val 111699"/>
              <a:gd name="adj7" fmla="val 199880"/>
              <a:gd name="adj8" fmla="val 7403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 dirty="0" smtClean="0">
                <a:latin typeface="Tahoma" panose="020B0604030504040204" pitchFamily="34" charset="0"/>
              </a:rPr>
              <a:t>找到解</a:t>
            </a:r>
            <a:r>
              <a:rPr lang="zh-CN" altLang="en-US" sz="1800" b="0" dirty="0">
                <a:latin typeface="Tahoma" panose="020B0604030504040204" pitchFamily="34" charset="0"/>
              </a:rPr>
              <a:t>后可以继续刚才的做法</a:t>
            </a:r>
            <a:endParaRPr lang="zh-CN" altLang="en-US" sz="1800" b="0" dirty="0">
              <a:latin typeface="Tahoma" panose="020B0604030504040204" pitchFamily="34" charset="0"/>
            </a:endParaRPr>
          </a:p>
        </p:txBody>
      </p:sp>
      <p:sp>
        <p:nvSpPr>
          <p:cNvPr id="13641" name="Text Box 329"/>
          <p:cNvSpPr txBox="1">
            <a:spLocks noChangeArrowheads="1"/>
          </p:cNvSpPr>
          <p:nvPr/>
        </p:nvSpPr>
        <p:spPr bwMode="auto">
          <a:xfrm>
            <a:off x="1219200" y="685800"/>
            <a:ext cx="2073275" cy="14652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ea typeface="宋体" panose="02010600030101010101" pitchFamily="2" charset="-122"/>
              </a:rPr>
              <a:t>过程：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ea typeface="宋体" panose="02010600030101010101" pitchFamily="2" charset="-122"/>
              </a:rPr>
              <a:t>进入新一行，</a:t>
            </a:r>
            <a:r>
              <a:rPr lang="zh-CN" altLang="en-US" dirty="0">
                <a:ea typeface="宋体" panose="02010600030101010101" pitchFamily="2" charset="-122"/>
              </a:rPr>
              <a:t>该行上按顺序逐个格子尝试，直到能放为止（不冲突、不越界）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3642" name="Text Box 330"/>
          <p:cNvSpPr txBox="1">
            <a:spLocks noChangeArrowheads="1"/>
          </p:cNvSpPr>
          <p:nvPr/>
        </p:nvSpPr>
        <p:spPr bwMode="auto">
          <a:xfrm>
            <a:off x="5486400" y="914400"/>
            <a:ext cx="36576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latin typeface="Tahoma" panose="020B0604030504040204" pitchFamily="34" charset="0"/>
              </a:rPr>
              <a:t>算法描述：</a:t>
            </a:r>
            <a:endParaRPr lang="zh-CN" altLang="en-US" sz="18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AutoNum type="arabicPeriod"/>
            </a:pPr>
            <a:r>
              <a:rPr lang="zh-CN" altLang="en-US" sz="1800" b="0">
                <a:latin typeface="Tahoma" panose="020B0604030504040204" pitchFamily="34" charset="0"/>
              </a:rPr>
              <a:t>产生一种新放法</a:t>
            </a:r>
            <a:endParaRPr lang="zh-CN" altLang="en-US" sz="18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AutoNum type="arabicPeriod"/>
            </a:pPr>
            <a:r>
              <a:rPr lang="zh-CN" altLang="en-US" sz="1800" b="0">
                <a:latin typeface="Tahoma" panose="020B0604030504040204" pitchFamily="34" charset="0"/>
              </a:rPr>
              <a:t>冲突，继续找，直到找到不冲突</a:t>
            </a:r>
            <a:r>
              <a:rPr lang="en-US" altLang="zh-CN" sz="1800" b="0">
                <a:latin typeface="Tahoma" panose="020B0604030504040204" pitchFamily="34" charset="0"/>
              </a:rPr>
              <a:t>----</a:t>
            </a:r>
            <a:r>
              <a:rPr lang="zh-CN" altLang="en-US" sz="1800" b="0">
                <a:latin typeface="Tahoma" panose="020B0604030504040204" pitchFamily="34" charset="0"/>
              </a:rPr>
              <a:t>不超范围</a:t>
            </a:r>
            <a:endParaRPr lang="zh-CN" altLang="en-US" sz="1800" b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AutoNum type="arabicPeriod"/>
            </a:pPr>
            <a:r>
              <a:rPr lang="en-US" altLang="zh-CN" sz="1800" b="0">
                <a:latin typeface="Tahoma" panose="020B0604030504040204" pitchFamily="34" charset="0"/>
              </a:rPr>
              <a:t>if </a:t>
            </a:r>
            <a:r>
              <a:rPr lang="zh-CN" altLang="en-US" sz="1800" b="0">
                <a:latin typeface="Tahoma" panose="020B0604030504040204" pitchFamily="34" charset="0"/>
              </a:rPr>
              <a:t>不冲突 </a:t>
            </a:r>
            <a:r>
              <a:rPr lang="en-US" altLang="zh-CN" sz="1800" b="0">
                <a:latin typeface="Tahoma" panose="020B0604030504040204" pitchFamily="34" charset="0"/>
              </a:rPr>
              <a:t>then   k&lt;n</a:t>
            </a:r>
            <a:r>
              <a:rPr lang="en-US" altLang="zh-CN" sz="1800" b="0">
                <a:latin typeface="Tahoma" panose="020B0604030504040204" pitchFamily="34" charset="0"/>
                <a:sym typeface="Wingdings" panose="05000000000000000000" pitchFamily="2" charset="2"/>
              </a:rPr>
              <a:t>k+1</a:t>
            </a:r>
            <a:endParaRPr lang="en-US" altLang="zh-CN" sz="1800" b="0">
              <a:latin typeface="Tahoma" panose="020B060403050404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Tahoma" panose="020B0604030504040204" pitchFamily="34" charset="0"/>
                <a:sym typeface="Wingdings" panose="05000000000000000000" pitchFamily="2" charset="2"/>
              </a:rPr>
              <a:t>		                k=n</a:t>
            </a:r>
            <a:r>
              <a:rPr lang="zh-CN" altLang="en-US" sz="1800" b="0">
                <a:latin typeface="Tahoma" panose="020B0604030504040204" pitchFamily="34" charset="0"/>
                <a:sym typeface="Wingdings" panose="05000000000000000000" pitchFamily="2" charset="2"/>
              </a:rPr>
              <a:t>一组解</a:t>
            </a:r>
            <a:endParaRPr lang="zh-CN" altLang="en-US" sz="1800" b="0">
              <a:latin typeface="Tahoma" panose="020B060403050404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AutoNum type="arabicPeriod" startAt="4"/>
            </a:pPr>
            <a:r>
              <a:rPr lang="en-US" altLang="zh-CN" sz="1800" b="0">
                <a:latin typeface="Tahoma" panose="020B0604030504040204" pitchFamily="34" charset="0"/>
                <a:sym typeface="Wingdings" panose="05000000000000000000" pitchFamily="2" charset="2"/>
              </a:rPr>
              <a:t>if </a:t>
            </a:r>
            <a:r>
              <a:rPr lang="zh-CN" altLang="en-US" sz="1800" b="0">
                <a:latin typeface="Tahoma" panose="020B0604030504040204" pitchFamily="34" charset="0"/>
                <a:sym typeface="Wingdings" panose="05000000000000000000" pitchFamily="2" charset="2"/>
              </a:rPr>
              <a:t>冲突 </a:t>
            </a:r>
            <a:r>
              <a:rPr lang="en-US" altLang="zh-CN" sz="1800" b="0">
                <a:latin typeface="Tahoma" panose="020B0604030504040204" pitchFamily="34" charset="0"/>
                <a:sym typeface="Wingdings" panose="05000000000000000000" pitchFamily="2" charset="2"/>
              </a:rPr>
              <a:t>then </a:t>
            </a:r>
            <a:r>
              <a:rPr lang="zh-CN" altLang="en-US" sz="1800" b="0">
                <a:latin typeface="Tahoma" panose="020B0604030504040204" pitchFamily="34" charset="0"/>
                <a:sym typeface="Wingdings" panose="05000000000000000000" pitchFamily="2" charset="2"/>
              </a:rPr>
              <a:t>回溯</a:t>
            </a:r>
            <a:endParaRPr lang="zh-CN" altLang="en-US" sz="1800" b="0">
              <a:latin typeface="Tahoma" panose="020B0604030504040204" pitchFamily="34" charset="0"/>
            </a:endParaRPr>
          </a:p>
        </p:txBody>
      </p:sp>
      <p:sp>
        <p:nvSpPr>
          <p:cNvPr id="16690" name="标题 4"/>
          <p:cNvSpPr txBox="1"/>
          <p:nvPr/>
        </p:nvSpPr>
        <p:spPr bwMode="auto">
          <a:xfrm>
            <a:off x="633413" y="319088"/>
            <a:ext cx="789622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N</a:t>
            </a:r>
            <a:r>
              <a:rPr lang="zh-CN" altLang="en-US" sz="3200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皇后问题</a:t>
            </a:r>
            <a:endParaRPr lang="zh-CN" altLang="en-US" sz="3200" b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3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3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1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3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13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3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1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13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1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1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1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1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1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1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6" dur="500"/>
                                        <p:tgtEl>
                                          <p:spTgt spid="1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1" dur="500"/>
                                        <p:tgtEl>
                                          <p:spTgt spid="1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4" dur="500"/>
                                        <p:tgtEl>
                                          <p:spTgt spid="1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7" dur="500"/>
                                        <p:tgtEl>
                                          <p:spTgt spid="1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0" dur="500"/>
                                        <p:tgtEl>
                                          <p:spTgt spid="1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3" dur="500"/>
                                        <p:tgtEl>
                                          <p:spTgt spid="1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8" dur="500"/>
                                        <p:tgtEl>
                                          <p:spTgt spid="1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1" dur="500"/>
                                        <p:tgtEl>
                                          <p:spTgt spid="1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9" dur="500"/>
                                        <p:tgtEl>
                                          <p:spTgt spid="1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7" dur="500"/>
                                        <p:tgtEl>
                                          <p:spTgt spid="13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5" dur="500"/>
                                        <p:tgtEl>
                                          <p:spTgt spid="13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13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8" dur="500"/>
                                        <p:tgtEl>
                                          <p:spTgt spid="1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1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1" dur="500"/>
                                        <p:tgtEl>
                                          <p:spTgt spid="1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6" dur="500"/>
                                        <p:tgtEl>
                                          <p:spTgt spid="1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1" dur="500"/>
                                        <p:tgtEl>
                                          <p:spTgt spid="1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4" dur="500"/>
                                        <p:tgtEl>
                                          <p:spTgt spid="1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7" dur="500"/>
                                        <p:tgtEl>
                                          <p:spTgt spid="1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2" dur="500"/>
                                        <p:tgtEl>
                                          <p:spTgt spid="1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7" dur="500"/>
                                        <p:tgtEl>
                                          <p:spTgt spid="1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0" dur="500"/>
                                        <p:tgtEl>
                                          <p:spTgt spid="1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3" dur="500"/>
                                        <p:tgtEl>
                                          <p:spTgt spid="1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6" dur="500"/>
                                        <p:tgtEl>
                                          <p:spTgt spid="1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1" dur="500"/>
                                        <p:tgtEl>
                                          <p:spTgt spid="13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6" dur="500"/>
                                        <p:tgtEl>
                                          <p:spTgt spid="1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9" dur="500"/>
                                        <p:tgtEl>
                                          <p:spTgt spid="1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2" dur="500"/>
                                        <p:tgtEl>
                                          <p:spTgt spid="1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5" dur="500"/>
                                        <p:tgtEl>
                                          <p:spTgt spid="1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8" dur="500"/>
                                        <p:tgtEl>
                                          <p:spTgt spid="13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7" dur="500"/>
                                        <p:tgtEl>
                                          <p:spTgt spid="13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2" dur="500"/>
                                        <p:tgtEl>
                                          <p:spTgt spid="13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7" dur="500"/>
                                        <p:tgtEl>
                                          <p:spTgt spid="13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2" dur="500"/>
                                        <p:tgtEl>
                                          <p:spTgt spid="13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7" dur="500"/>
                                        <p:tgtEl>
                                          <p:spTgt spid="13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2" dur="500"/>
                                        <p:tgtEl>
                                          <p:spTgt spid="13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7" dur="500"/>
                                        <p:tgtEl>
                                          <p:spTgt spid="1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3" grpId="0"/>
      <p:bldP spid="13415" grpId="0"/>
      <p:bldP spid="13415" grpId="1"/>
      <p:bldP spid="13417" grpId="0"/>
      <p:bldP spid="13417" grpId="1"/>
      <p:bldP spid="13418" grpId="0"/>
      <p:bldP spid="13418" grpId="1"/>
      <p:bldP spid="13419" grpId="0"/>
      <p:bldP spid="13419" grpId="1"/>
      <p:bldP spid="13420" grpId="0"/>
      <p:bldP spid="13420" grpId="1"/>
      <p:bldP spid="13448" grpId="0"/>
      <p:bldP spid="13449" grpId="0"/>
      <p:bldP spid="13450" grpId="0"/>
      <p:bldP spid="13450" grpId="1"/>
      <p:bldP spid="13451" grpId="0"/>
      <p:bldP spid="13451" grpId="1"/>
      <p:bldP spid="13452" grpId="0"/>
      <p:bldP spid="13452" grpId="1"/>
      <p:bldP spid="13453" grpId="0"/>
      <p:bldP spid="13453" grpId="1"/>
      <p:bldP spid="13454" grpId="0"/>
      <p:bldP spid="13454" grpId="1"/>
      <p:bldP spid="13455" grpId="0"/>
      <p:bldP spid="13456" grpId="0" animBg="1"/>
      <p:bldP spid="13457" grpId="0" animBg="1"/>
      <p:bldP spid="13459" grpId="0"/>
      <p:bldP spid="13460" grpId="0" animBg="1"/>
      <p:bldP spid="13461" grpId="0" animBg="1"/>
      <p:bldP spid="13462" grpId="0"/>
      <p:bldP spid="13462" grpId="1"/>
      <p:bldP spid="13463" grpId="0" animBg="1"/>
      <p:bldP spid="13491" grpId="0"/>
      <p:bldP spid="13492" grpId="0"/>
      <p:bldP spid="13493" grpId="0"/>
      <p:bldP spid="13493" grpId="1"/>
      <p:bldP spid="13494" grpId="0"/>
      <p:bldP spid="13494" grpId="1"/>
      <p:bldP spid="13495" grpId="0"/>
      <p:bldP spid="13495" grpId="1"/>
      <p:bldP spid="13496" grpId="0"/>
      <p:bldP spid="13525" grpId="0"/>
      <p:bldP spid="13526" grpId="0"/>
      <p:bldP spid="13527" grpId="0"/>
      <p:bldP spid="13529" grpId="0" animBg="1"/>
      <p:bldP spid="13532" grpId="0" animBg="1"/>
      <p:bldP spid="13533" grpId="0"/>
      <p:bldP spid="13534" grpId="0"/>
      <p:bldP spid="13534" grpId="1"/>
      <p:bldP spid="13535" grpId="0"/>
      <p:bldP spid="13535" grpId="1"/>
      <p:bldP spid="13536" grpId="0"/>
      <p:bldP spid="13537" grpId="0" animBg="1"/>
      <p:bldP spid="13539" grpId="0"/>
      <p:bldP spid="13540" grpId="0" animBg="1"/>
      <p:bldP spid="13541" grpId="0"/>
      <p:bldP spid="13541" grpId="1"/>
      <p:bldP spid="13542" grpId="0"/>
      <p:bldP spid="13570" grpId="0"/>
      <p:bldP spid="13571" grpId="0"/>
      <p:bldP spid="13572" grpId="0" animBg="1"/>
      <p:bldP spid="13600" grpId="0"/>
      <p:bldP spid="13601" grpId="0"/>
      <p:bldP spid="13602" grpId="0" animBg="1"/>
      <p:bldP spid="13603" grpId="0"/>
      <p:bldP spid="13635" grpId="0"/>
      <p:bldP spid="13636" grpId="0"/>
      <p:bldP spid="13637" grpId="0"/>
      <p:bldP spid="13638" grpId="0"/>
      <p:bldP spid="13639" grpId="0" animBg="1"/>
      <p:bldP spid="13640" grpId="0" animBg="1"/>
      <p:bldP spid="1364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6"/>
          <p:cNvSpPr txBox="1">
            <a:spLocks noChangeArrowheads="1"/>
          </p:cNvSpPr>
          <p:nvPr/>
        </p:nvSpPr>
        <p:spPr bwMode="auto">
          <a:xfrm>
            <a:off x="428624" y="1500188"/>
            <a:ext cx="860787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00FF"/>
                </a:solidFill>
                <a:latin typeface="Tahoma" panose="020B0604030504040204" pitchFamily="34" charset="0"/>
              </a:rPr>
              <a:t>程序结束条件：</a:t>
            </a:r>
            <a:endParaRPr lang="zh-CN" altLang="en-US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 dirty="0">
                <a:latin typeface="Tahoma" panose="020B0604030504040204" pitchFamily="34" charset="0"/>
              </a:rPr>
              <a:t>        一组解：设标志，找到一解后更改标志，以标志做为结束循环的</a:t>
            </a:r>
            <a:r>
              <a:rPr lang="zh-CN" altLang="en-US" sz="2000" b="0" dirty="0" smtClean="0">
                <a:latin typeface="Tahoma" panose="020B0604030504040204" pitchFamily="34" charset="0"/>
              </a:rPr>
              <a:t>条件。</a:t>
            </a:r>
            <a:endParaRPr lang="en-US" altLang="zh-CN" sz="2000" b="0" dirty="0" smtClean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latin typeface="Tahoma" panose="020B0604030504040204" pitchFamily="34" charset="0"/>
              </a:rPr>
              <a:t> </a:t>
            </a:r>
            <a:r>
              <a:rPr lang="en-US" altLang="zh-CN" sz="2000" b="0" dirty="0" smtClean="0">
                <a:latin typeface="Tahoma" panose="020B0604030504040204" pitchFamily="34" charset="0"/>
              </a:rPr>
              <a:t>       </a:t>
            </a:r>
            <a:r>
              <a:rPr lang="zh-CN" altLang="en-US" sz="2000" b="0" dirty="0" smtClean="0">
                <a:latin typeface="Tahoma" panose="020B0604030504040204" pitchFamily="34" charset="0"/>
              </a:rPr>
              <a:t>所有</a:t>
            </a:r>
            <a:r>
              <a:rPr lang="zh-CN" altLang="en-US" sz="2000" b="0" dirty="0">
                <a:latin typeface="Tahoma" panose="020B0604030504040204" pitchFamily="34" charset="0"/>
              </a:rPr>
              <a:t>解：</a:t>
            </a:r>
            <a:r>
              <a:rPr lang="en-US" altLang="zh-CN" sz="2000" b="0" dirty="0">
                <a:latin typeface="Tahoma" panose="020B0604030504040204" pitchFamily="34" charset="0"/>
              </a:rPr>
              <a:t>k=0</a:t>
            </a:r>
            <a:endParaRPr lang="en-US" altLang="zh-CN" sz="2000" b="0" dirty="0">
              <a:latin typeface="Tahoma" panose="020B0604030504040204" pitchFamily="34" charset="0"/>
            </a:endParaRP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428625" y="5572125"/>
            <a:ext cx="5943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程序实现：</a:t>
            </a:r>
            <a:endParaRPr lang="zh-CN" altLang="en-US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Tahoma" panose="020B0604030504040204" pitchFamily="34" charset="0"/>
              </a:rPr>
              <a:t>       回溯算法可用非递归和递归两种方法实现！</a:t>
            </a:r>
            <a:endParaRPr lang="zh-CN" altLang="en-US" sz="2000">
              <a:latin typeface="Tahoma" panose="020B0604030504040204" pitchFamily="34" charset="0"/>
            </a:endParaRP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428625" y="3024188"/>
            <a:ext cx="2286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判断约束函数</a:t>
            </a:r>
            <a:endParaRPr lang="zh-CN" altLang="en-US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6395" name="Rectangle 11"/>
          <p:cNvSpPr>
            <a:spLocks noChangeArrowheads="1"/>
          </p:cNvSpPr>
          <p:nvPr/>
        </p:nvSpPr>
        <p:spPr bwMode="auto">
          <a:xfrm>
            <a:off x="581025" y="3481388"/>
            <a:ext cx="49530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Function Place(</a:t>
            </a:r>
            <a:r>
              <a:rPr lang="en-US" altLang="zh-CN" sz="2000" dirty="0" err="1">
                <a:latin typeface="Times New Roman" panose="02020603050405020304" pitchFamily="18" charset="0"/>
              </a:rPr>
              <a:t>k:integer</a:t>
            </a:r>
            <a:r>
              <a:rPr lang="en-US" altLang="zh-CN" sz="2000" dirty="0">
                <a:latin typeface="Times New Roman" panose="02020603050405020304" pitchFamily="18" charset="0"/>
              </a:rPr>
              <a:t>):</a:t>
            </a:r>
            <a:r>
              <a:rPr lang="en-US" altLang="zh-CN" sz="2000" dirty="0" err="1">
                <a:latin typeface="Times New Roman" panose="02020603050405020304" pitchFamily="18" charset="0"/>
              </a:rPr>
              <a:t>boolean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place:=true;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for</a:t>
            </a:r>
            <a:r>
              <a:rPr lang="en-US" altLang="zh-CN" sz="2000" dirty="0">
                <a:latin typeface="Times New Roman" panose="02020603050405020304" pitchFamily="18" charset="0"/>
              </a:rPr>
              <a:t>  j←1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to</a:t>
            </a:r>
            <a:r>
              <a:rPr lang="en-US" altLang="zh-CN" sz="2000" dirty="0">
                <a:latin typeface="Times New Roman" panose="02020603050405020304" pitchFamily="18" charset="0"/>
              </a:rPr>
              <a:t> k-1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do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if</a:t>
            </a:r>
            <a:r>
              <a:rPr lang="en-US" altLang="zh-CN" sz="2000" dirty="0">
                <a:latin typeface="Times New Roman" panose="02020603050405020304" pitchFamily="18" charset="0"/>
              </a:rPr>
              <a:t> |k-j|=|x[j]-x[k]| or x[j]=x[k]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then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      place:=</a:t>
            </a:r>
            <a:r>
              <a:rPr lang="en-US" altLang="zh-CN" sz="2000" dirty="0">
                <a:latin typeface="Times New Roman" panose="02020603050405020304" pitchFamily="18" charset="0"/>
              </a:rPr>
              <a:t> false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7415" name="标题 4"/>
          <p:cNvSpPr txBox="1"/>
          <p:nvPr/>
        </p:nvSpPr>
        <p:spPr bwMode="auto">
          <a:xfrm>
            <a:off x="633413" y="319088"/>
            <a:ext cx="789622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N</a:t>
            </a:r>
            <a:r>
              <a:rPr lang="zh-CN" altLang="en-US" sz="3200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皇后问题</a:t>
            </a:r>
            <a:endParaRPr lang="zh-CN" altLang="en-US" sz="3200" b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/>
      <p:bldP spid="16394" grpId="0"/>
      <p:bldP spid="1639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381000" y="600868"/>
            <a:ext cx="4876800" cy="6068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 err="1">
                <a:latin typeface="Times New Roman" panose="02020603050405020304" pitchFamily="18" charset="0"/>
              </a:rPr>
              <a:t>Nqueens</a:t>
            </a:r>
            <a:r>
              <a:rPr lang="en-US" altLang="zh-CN" sz="2000" dirty="0">
                <a:latin typeface="Times New Roman" panose="02020603050405020304" pitchFamily="18" charset="0"/>
              </a:rPr>
              <a:t>()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{</a:t>
            </a:r>
            <a:endParaRPr lang="en-US" altLang="zh-CN" sz="2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x[1] ← 0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k ← 1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zh-CN" sz="2000" dirty="0">
                <a:latin typeface="Times New Roman" panose="02020603050405020304" pitchFamily="18" charset="0"/>
              </a:rPr>
              <a:t> k&gt;0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do</a:t>
            </a:r>
            <a:endParaRPr lang="en-US" altLang="zh-CN" sz="2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000" dirty="0" smtClean="0">
                <a:solidFill>
                  <a:schemeClr val="folHlink"/>
                </a:solidFill>
                <a:latin typeface="Times New Roman" panose="02020603050405020304" pitchFamily="18" charset="0"/>
              </a:rPr>
              <a:t>{</a:t>
            </a:r>
            <a:endParaRPr lang="en-US" altLang="zh-CN" sz="2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altLang="zh-CN" sz="2000" dirty="0">
                <a:latin typeface="Times New Roman" panose="02020603050405020304" pitchFamily="18" charset="0"/>
              </a:rPr>
              <a:t>x[k] ← x[k] +1</a:t>
            </a:r>
            <a:endParaRPr lang="en-US" altLang="zh-CN" sz="2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while </a:t>
            </a:r>
            <a:r>
              <a:rPr lang="en-US" altLang="zh-CN" sz="2000" dirty="0">
                <a:latin typeface="Times New Roman" panose="02020603050405020304" pitchFamily="18" charset="0"/>
              </a:rPr>
              <a:t>x[k]&lt;=n and (not place(k))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do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       x[k] ← x[k] +1</a:t>
            </a:r>
            <a:endParaRPr lang="en-US" altLang="zh-CN" sz="2000" dirty="0">
              <a:latin typeface="Times New Roman" panose="02020603050405020304" pitchFamily="18" charset="0"/>
              <a:ea typeface="仿宋_GB2312" pitchFamily="49" charset="-122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2000" dirty="0">
                <a:latin typeface="Times New Roman" panose="02020603050405020304" pitchFamily="18" charset="0"/>
              </a:rPr>
              <a:t>  x[k]&lt;=n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then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                if</a:t>
            </a:r>
            <a:r>
              <a:rPr lang="en-US" altLang="zh-CN" sz="2000" dirty="0">
                <a:latin typeface="Times New Roman" panose="02020603050405020304" pitchFamily="18" charset="0"/>
              </a:rPr>
              <a:t> k=n 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zh-CN" sz="2000" dirty="0">
                <a:latin typeface="Times New Roman" panose="02020603050405020304" pitchFamily="18" charset="0"/>
              </a:rPr>
              <a:t>  sum ← sum+1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         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zh-CN" sz="2000" dirty="0">
                <a:latin typeface="Times New Roman" panose="02020603050405020304" pitchFamily="18" charset="0"/>
              </a:rPr>
              <a:t>   </a:t>
            </a:r>
            <a:r>
              <a:rPr lang="en-US" altLang="zh-CN" sz="2000" dirty="0" smtClean="0">
                <a:solidFill>
                  <a:schemeClr val="folHlink"/>
                </a:solidFill>
                <a:latin typeface="Times New Roman" panose="02020603050405020304" pitchFamily="18" charset="0"/>
              </a:rPr>
              <a:t>{</a:t>
            </a:r>
            <a:endParaRPr lang="en-US" altLang="zh-CN" sz="2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                       k ← k+1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                       x[k] ← 0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                    </a:t>
            </a:r>
            <a:r>
              <a:rPr lang="en-US" altLang="zh-CN" sz="2000" dirty="0" smtClean="0">
                <a:solidFill>
                  <a:schemeClr val="folHlink"/>
                </a:solidFill>
                <a:latin typeface="Times New Roman" panose="02020603050405020304" pitchFamily="18" charset="0"/>
              </a:rPr>
              <a:t>}</a:t>
            </a:r>
            <a:endParaRPr lang="en-US" altLang="zh-CN" sz="2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zh-CN" sz="2000" dirty="0">
                <a:latin typeface="Times New Roman" panose="02020603050405020304" pitchFamily="18" charset="0"/>
              </a:rPr>
              <a:t> k ← k-1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 smtClean="0">
                <a:solidFill>
                  <a:schemeClr val="folHlink"/>
                </a:solidFill>
                <a:latin typeface="Times New Roman" panose="02020603050405020304" pitchFamily="18" charset="0"/>
              </a:rPr>
              <a:t>}</a:t>
            </a:r>
            <a:endParaRPr lang="en-US" altLang="zh-CN" sz="2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</a:t>
            </a:r>
            <a:r>
              <a:rPr lang="en-US" altLang="zh-CN" sz="2000" dirty="0" smtClean="0">
                <a:solidFill>
                  <a:schemeClr val="folHlink"/>
                </a:solidFill>
                <a:latin typeface="Times New Roman" panose="02020603050405020304" pitchFamily="18" charset="0"/>
              </a:rPr>
              <a:t>}</a:t>
            </a:r>
            <a:endParaRPr lang="en-US" altLang="zh-CN" sz="2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Tahoma" panose="020B0604030504040204" pitchFamily="34" charset="0"/>
              </a:rPr>
              <a:t>      </a:t>
            </a:r>
            <a:endParaRPr lang="en-US" altLang="zh-CN" sz="1600" dirty="0">
              <a:latin typeface="Tahoma" panose="020B0604030504040204" pitchFamily="34" charset="0"/>
            </a:endParaRPr>
          </a:p>
        </p:txBody>
      </p:sp>
      <p:sp>
        <p:nvSpPr>
          <p:cNvPr id="18435" name="Text Box 6"/>
          <p:cNvSpPr txBox="1">
            <a:spLocks noChangeArrowheads="1"/>
          </p:cNvSpPr>
          <p:nvPr/>
        </p:nvSpPr>
        <p:spPr bwMode="auto">
          <a:xfrm>
            <a:off x="428625" y="120650"/>
            <a:ext cx="2895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0000FF"/>
                </a:solidFill>
                <a:latin typeface="Tahoma" panose="020B0604030504040204" pitchFamily="34" charset="0"/>
              </a:rPr>
              <a:t>非递归写法：</a:t>
            </a:r>
            <a:endParaRPr lang="zh-CN" altLang="en-US" sz="2000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5423407" y="3573016"/>
            <a:ext cx="388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rgbClr val="0099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9900"/>
                </a:solidFill>
                <a:latin typeface="Times New Roman" panose="02020603050405020304" pitchFamily="18" charset="0"/>
              </a:rPr>
              <a:t>if k=n  then  </a:t>
            </a:r>
            <a:r>
              <a:rPr lang="en-US" altLang="zh-CN" sz="2000" dirty="0" err="1">
                <a:solidFill>
                  <a:srgbClr val="009900"/>
                </a:solidFill>
                <a:latin typeface="Times New Roman" panose="02020603050405020304" pitchFamily="18" charset="0"/>
              </a:rPr>
              <a:t>print;flag</a:t>
            </a:r>
            <a:r>
              <a:rPr lang="en-US" altLang="zh-CN" sz="2000" dirty="0">
                <a:solidFill>
                  <a:srgbClr val="009900"/>
                </a:solidFill>
                <a:latin typeface="Times New Roman" panose="02020603050405020304" pitchFamily="18" charset="0"/>
              </a:rPr>
              <a:t> ←false</a:t>
            </a:r>
            <a:endParaRPr lang="en-US" altLang="zh-CN" sz="20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Text Box 9"/>
          <p:cNvSpPr txBox="1">
            <a:spLocks noChangeArrowheads="1"/>
          </p:cNvSpPr>
          <p:nvPr/>
        </p:nvSpPr>
        <p:spPr bwMode="auto">
          <a:xfrm>
            <a:off x="5486400" y="0"/>
            <a:ext cx="3657600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 dirty="0">
                <a:solidFill>
                  <a:srgbClr val="FF0000"/>
                </a:solidFill>
                <a:latin typeface="Tahoma" panose="020B0604030504040204" pitchFamily="34" charset="0"/>
              </a:rPr>
              <a:t>算法描述：</a:t>
            </a:r>
            <a:endParaRPr lang="zh-CN" altLang="en-US" sz="1800" b="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AutoNum type="arabicPeriod"/>
            </a:pPr>
            <a:r>
              <a:rPr lang="zh-CN" altLang="en-US" sz="1800" b="0" dirty="0">
                <a:latin typeface="Tahoma" panose="020B0604030504040204" pitchFamily="34" charset="0"/>
              </a:rPr>
              <a:t>产生一种新放法</a:t>
            </a:r>
            <a:endParaRPr lang="zh-CN" altLang="en-US" sz="1800" b="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AutoNum type="arabicPeriod"/>
            </a:pPr>
            <a:r>
              <a:rPr lang="zh-CN" altLang="en-US" sz="1800" b="0" dirty="0">
                <a:latin typeface="Tahoma" panose="020B0604030504040204" pitchFamily="34" charset="0"/>
              </a:rPr>
              <a:t>冲突，继续找，直到找到不冲突</a:t>
            </a:r>
            <a:r>
              <a:rPr lang="en-US" altLang="zh-CN" sz="1800" b="0" dirty="0">
                <a:latin typeface="Tahoma" panose="020B0604030504040204" pitchFamily="34" charset="0"/>
              </a:rPr>
              <a:t>----</a:t>
            </a:r>
            <a:r>
              <a:rPr lang="zh-CN" altLang="en-US" sz="1800" b="0" dirty="0">
                <a:latin typeface="Tahoma" panose="020B0604030504040204" pitchFamily="34" charset="0"/>
              </a:rPr>
              <a:t>不超范围</a:t>
            </a:r>
            <a:endParaRPr lang="zh-CN" altLang="en-US" sz="1800" b="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AutoNum type="arabicPeriod"/>
            </a:pPr>
            <a:r>
              <a:rPr lang="en-US" altLang="zh-CN" sz="1800" b="0" dirty="0">
                <a:latin typeface="Tahoma" panose="020B0604030504040204" pitchFamily="34" charset="0"/>
              </a:rPr>
              <a:t>if </a:t>
            </a:r>
            <a:r>
              <a:rPr lang="zh-CN" altLang="en-US" sz="1800" b="0" dirty="0">
                <a:latin typeface="Tahoma" panose="020B0604030504040204" pitchFamily="34" charset="0"/>
              </a:rPr>
              <a:t>不冲突 </a:t>
            </a:r>
            <a:r>
              <a:rPr lang="en-US" altLang="zh-CN" sz="1800" b="0" dirty="0">
                <a:latin typeface="Tahoma" panose="020B0604030504040204" pitchFamily="34" charset="0"/>
              </a:rPr>
              <a:t>then   k&lt;n</a:t>
            </a:r>
            <a:r>
              <a:rPr lang="en-US" altLang="zh-CN" sz="1800" b="0" dirty="0">
                <a:latin typeface="Tahoma" panose="020B0604030504040204" pitchFamily="34" charset="0"/>
                <a:sym typeface="Wingdings" panose="05000000000000000000" pitchFamily="2" charset="2"/>
              </a:rPr>
              <a:t>k+1</a:t>
            </a:r>
            <a:endParaRPr lang="en-US" altLang="zh-CN" sz="1800" b="0" dirty="0">
              <a:latin typeface="Tahoma" panose="020B060403050404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latin typeface="Tahoma" panose="020B0604030504040204" pitchFamily="34" charset="0"/>
                <a:sym typeface="Wingdings" panose="05000000000000000000" pitchFamily="2" charset="2"/>
              </a:rPr>
              <a:t>		                k=n</a:t>
            </a:r>
            <a:r>
              <a:rPr lang="zh-CN" altLang="en-US" sz="1800" b="0" dirty="0">
                <a:latin typeface="Tahoma" panose="020B0604030504040204" pitchFamily="34" charset="0"/>
                <a:sym typeface="Wingdings" panose="05000000000000000000" pitchFamily="2" charset="2"/>
              </a:rPr>
              <a:t>一组解</a:t>
            </a:r>
            <a:endParaRPr lang="zh-CN" altLang="en-US" sz="1800" b="0" dirty="0">
              <a:latin typeface="Tahoma" panose="020B060403050404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AutoNum type="arabicPeriod" startAt="4"/>
            </a:pPr>
            <a:r>
              <a:rPr lang="en-US" altLang="zh-CN" sz="1800" b="0" dirty="0">
                <a:latin typeface="Tahoma" panose="020B0604030504040204" pitchFamily="34" charset="0"/>
                <a:sym typeface="Wingdings" panose="05000000000000000000" pitchFamily="2" charset="2"/>
              </a:rPr>
              <a:t>if </a:t>
            </a:r>
            <a:r>
              <a:rPr lang="zh-CN" altLang="en-US" sz="1800" b="0" dirty="0">
                <a:latin typeface="Tahoma" panose="020B0604030504040204" pitchFamily="34" charset="0"/>
                <a:sym typeface="Wingdings" panose="05000000000000000000" pitchFamily="2" charset="2"/>
              </a:rPr>
              <a:t>冲突 </a:t>
            </a:r>
            <a:r>
              <a:rPr lang="en-US" altLang="zh-CN" sz="1800" b="0" dirty="0">
                <a:latin typeface="Tahoma" panose="020B0604030504040204" pitchFamily="34" charset="0"/>
                <a:sym typeface="Wingdings" panose="05000000000000000000" pitchFamily="2" charset="2"/>
              </a:rPr>
              <a:t>then </a:t>
            </a:r>
            <a:r>
              <a:rPr lang="zh-CN" altLang="en-US" sz="1800" b="0" dirty="0">
                <a:latin typeface="Tahoma" panose="020B0604030504040204" pitchFamily="34" charset="0"/>
                <a:sym typeface="Wingdings" panose="05000000000000000000" pitchFamily="2" charset="2"/>
              </a:rPr>
              <a:t>回溯</a:t>
            </a:r>
            <a:endParaRPr lang="zh-CN" altLang="en-US" sz="1800" b="0" dirty="0">
              <a:latin typeface="Tahoma" panose="020B0604030504040204" pitchFamily="34" charset="0"/>
            </a:endParaRP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3622675" y="1018819"/>
            <a:ext cx="1497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9900"/>
                </a:solidFill>
                <a:latin typeface="Times New Roman" panose="02020603050405020304" pitchFamily="18" charset="0"/>
              </a:rPr>
              <a:t>Flag ← true</a:t>
            </a:r>
            <a:endParaRPr lang="en-US" altLang="zh-CN" sz="20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3754437" y="1700808"/>
            <a:ext cx="163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9900"/>
                </a:solidFill>
                <a:latin typeface="Times New Roman" panose="02020603050405020304" pitchFamily="18" charset="0"/>
              </a:rPr>
              <a:t>While flag do</a:t>
            </a:r>
            <a:endParaRPr lang="en-US" altLang="zh-CN" sz="20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0" name="标题 4"/>
          <p:cNvSpPr txBox="1"/>
          <p:nvPr/>
        </p:nvSpPr>
        <p:spPr bwMode="auto">
          <a:xfrm>
            <a:off x="633413" y="319088"/>
            <a:ext cx="789622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N</a:t>
            </a:r>
            <a:r>
              <a:rPr lang="zh-CN" altLang="en-US" sz="3200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皇后问题</a:t>
            </a:r>
            <a:endParaRPr lang="zh-CN" altLang="en-US" sz="3200" b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/>
      <p:bldP spid="17418" grpId="0"/>
      <p:bldP spid="1742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ChangeArrowheads="1"/>
          </p:cNvSpPr>
          <p:nvPr/>
        </p:nvSpPr>
        <p:spPr bwMode="auto">
          <a:xfrm>
            <a:off x="533400" y="1878013"/>
            <a:ext cx="8353425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</a:rPr>
              <a:t>procedure try(</a:t>
            </a:r>
            <a:r>
              <a:rPr lang="en-US" altLang="zh-CN" sz="2000" dirty="0" err="1">
                <a:latin typeface="Tahoma" panose="020B0604030504040204" pitchFamily="34" charset="0"/>
              </a:rPr>
              <a:t>k:byte</a:t>
            </a:r>
            <a:r>
              <a:rPr lang="en-US" altLang="zh-CN" sz="2000" dirty="0">
                <a:latin typeface="Tahoma" panose="020B0604030504040204" pitchFamily="34" charset="0"/>
              </a:rPr>
              <a:t>);</a:t>
            </a:r>
            <a:endParaRPr lang="en-US" altLang="zh-CN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</a:rPr>
              <a:t>　</a:t>
            </a:r>
            <a:r>
              <a:rPr lang="en-US" altLang="zh-CN" sz="2000" dirty="0" err="1">
                <a:latin typeface="Tahoma" panose="020B0604030504040204" pitchFamily="34" charset="0"/>
              </a:rPr>
              <a:t>var</a:t>
            </a:r>
            <a:r>
              <a:rPr lang="en-US" altLang="zh-CN" sz="2000" dirty="0">
                <a:latin typeface="Tahoma" panose="020B0604030504040204" pitchFamily="34" charset="0"/>
              </a:rPr>
              <a:t> i:byte;</a:t>
            </a:r>
            <a:endParaRPr lang="en-US" altLang="zh-CN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</a:rPr>
              <a:t>　</a:t>
            </a:r>
            <a:r>
              <a:rPr lang="en-US" altLang="zh-CN" sz="2000" dirty="0">
                <a:latin typeface="Tahoma" panose="020B0604030504040204" pitchFamily="34" charset="0"/>
              </a:rPr>
              <a:t>begin</a:t>
            </a:r>
            <a:endParaRPr lang="en-US" altLang="zh-CN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</a:rPr>
              <a:t>　　</a:t>
            </a:r>
            <a:r>
              <a:rPr lang="en-US" altLang="zh-CN" sz="2000" dirty="0">
                <a:latin typeface="Tahoma" panose="020B0604030504040204" pitchFamily="34" charset="0"/>
              </a:rPr>
              <a:t>for i:=1 to n do		{</a:t>
            </a:r>
            <a:r>
              <a:rPr lang="zh-CN" altLang="en-US" sz="2000" dirty="0">
                <a:latin typeface="Tahoma" panose="020B0604030504040204" pitchFamily="34" charset="0"/>
              </a:rPr>
              <a:t>每层均有</a:t>
            </a:r>
            <a:r>
              <a:rPr lang="en-US" altLang="zh-CN" sz="2000" dirty="0">
                <a:latin typeface="Tahoma" panose="020B0604030504040204" pitchFamily="34" charset="0"/>
              </a:rPr>
              <a:t>n</a:t>
            </a:r>
            <a:r>
              <a:rPr lang="zh-CN" altLang="en-US" sz="2000" dirty="0">
                <a:latin typeface="Tahoma" panose="020B0604030504040204" pitchFamily="34" charset="0"/>
              </a:rPr>
              <a:t>种放法</a:t>
            </a:r>
            <a:r>
              <a:rPr lang="en-US" altLang="zh-CN" sz="2000" dirty="0">
                <a:latin typeface="Tahoma" panose="020B0604030504040204" pitchFamily="34" charset="0"/>
              </a:rPr>
              <a:t>}</a:t>
            </a:r>
            <a:endParaRPr lang="en-US" altLang="zh-CN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</a:rPr>
              <a:t>　　　</a:t>
            </a:r>
            <a:r>
              <a:rPr lang="en-US" altLang="zh-CN" sz="2000" dirty="0">
                <a:latin typeface="Tahoma" panose="020B0604030504040204" pitchFamily="34" charset="0"/>
              </a:rPr>
              <a:t>if place(k) then 		{</a:t>
            </a:r>
            <a:r>
              <a:rPr lang="zh-CN" altLang="en-US" sz="2000" dirty="0">
                <a:latin typeface="Tahoma" panose="020B0604030504040204" pitchFamily="34" charset="0"/>
              </a:rPr>
              <a:t>寻找放置皇后的位置</a:t>
            </a:r>
            <a:r>
              <a:rPr lang="en-US" altLang="zh-CN" sz="2000" dirty="0">
                <a:latin typeface="Tahoma" panose="020B0604030504040204" pitchFamily="34" charset="0"/>
              </a:rPr>
              <a:t>}</a:t>
            </a:r>
            <a:endParaRPr lang="en-US" altLang="zh-CN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</a:rPr>
              <a:t>　　　　</a:t>
            </a:r>
            <a:r>
              <a:rPr lang="en-US" altLang="zh-CN" sz="2000" dirty="0">
                <a:latin typeface="Tahoma" panose="020B0604030504040204" pitchFamily="34" charset="0"/>
              </a:rPr>
              <a:t>begin</a:t>
            </a:r>
            <a:r>
              <a:rPr lang="zh-CN" altLang="en-US" sz="2000" dirty="0">
                <a:latin typeface="Tahoma" panose="020B0604030504040204" pitchFamily="34" charset="0"/>
              </a:rPr>
              <a:t>　			</a:t>
            </a:r>
            <a:endParaRPr lang="zh-CN" altLang="en-US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</a:rPr>
              <a:t>　　　　　</a:t>
            </a:r>
            <a:r>
              <a:rPr lang="en-US" altLang="zh-CN" sz="2000" dirty="0">
                <a:latin typeface="Tahoma" panose="020B0604030504040204" pitchFamily="34" charset="0"/>
              </a:rPr>
              <a:t>x[k]:=</a:t>
            </a:r>
            <a:r>
              <a:rPr lang="en-US" altLang="zh-CN" sz="2000" dirty="0" err="1">
                <a:latin typeface="Tahoma" panose="020B0604030504040204" pitchFamily="34" charset="0"/>
              </a:rPr>
              <a:t>i</a:t>
            </a:r>
            <a:r>
              <a:rPr lang="en-US" altLang="zh-CN" sz="2000" dirty="0">
                <a:latin typeface="Tahoma" panose="020B0604030504040204" pitchFamily="34" charset="0"/>
              </a:rPr>
              <a:t>; 		{</a:t>
            </a:r>
            <a:r>
              <a:rPr lang="zh-CN" altLang="en-US" sz="2000" dirty="0">
                <a:latin typeface="Tahoma" panose="020B0604030504040204" pitchFamily="34" charset="0"/>
              </a:rPr>
              <a:t>放置皇后</a:t>
            </a:r>
            <a:r>
              <a:rPr lang="en-US" altLang="zh-CN" sz="2000" dirty="0">
                <a:latin typeface="Tahoma" panose="020B0604030504040204" pitchFamily="34" charset="0"/>
              </a:rPr>
              <a:t>)</a:t>
            </a:r>
            <a:endParaRPr lang="en-US" altLang="zh-CN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</a:rPr>
              <a:t>　　　　　</a:t>
            </a:r>
            <a:r>
              <a:rPr lang="en-US" altLang="zh-CN" sz="2000" dirty="0">
                <a:latin typeface="Tahoma" panose="020B0604030504040204" pitchFamily="34" charset="0"/>
              </a:rPr>
              <a:t>if k=n then print 	</a:t>
            </a:r>
            <a:r>
              <a:rPr lang="en-US" altLang="zh-CN" sz="2000" dirty="0" smtClean="0">
                <a:latin typeface="Tahoma" panose="020B0604030504040204" pitchFamily="34" charset="0"/>
              </a:rPr>
              <a:t>{n</a:t>
            </a:r>
            <a:r>
              <a:rPr lang="zh-CN" altLang="en-US" sz="2000" dirty="0" smtClean="0">
                <a:latin typeface="Tahoma" panose="020B0604030504040204" pitchFamily="34" charset="0"/>
              </a:rPr>
              <a:t>个</a:t>
            </a:r>
            <a:r>
              <a:rPr lang="zh-CN" altLang="en-US" sz="2000" dirty="0">
                <a:latin typeface="Tahoma" panose="020B0604030504040204" pitchFamily="34" charset="0"/>
              </a:rPr>
              <a:t>皇后都放置好</a:t>
            </a:r>
            <a:r>
              <a:rPr lang="en-US" altLang="zh-CN" sz="2000" dirty="0">
                <a:latin typeface="Tahoma" panose="020B0604030504040204" pitchFamily="34" charset="0"/>
              </a:rPr>
              <a:t>,</a:t>
            </a:r>
            <a:r>
              <a:rPr lang="zh-CN" altLang="en-US" sz="2000" dirty="0">
                <a:latin typeface="Tahoma" panose="020B0604030504040204" pitchFamily="34" charset="0"/>
              </a:rPr>
              <a:t>输出</a:t>
            </a:r>
            <a:r>
              <a:rPr lang="en-US" altLang="zh-CN" sz="2000" dirty="0">
                <a:latin typeface="Tahoma" panose="020B0604030504040204" pitchFamily="34" charset="0"/>
              </a:rPr>
              <a:t>}</a:t>
            </a:r>
            <a:endParaRPr lang="en-US" altLang="zh-CN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</a:rPr>
              <a:t>				{</a:t>
            </a:r>
            <a:r>
              <a:rPr lang="zh-CN" altLang="en-US" sz="2000" dirty="0">
                <a:latin typeface="Tahoma" panose="020B0604030504040204" pitchFamily="34" charset="0"/>
              </a:rPr>
              <a:t>若只想找一组解，</a:t>
            </a:r>
            <a:r>
              <a:rPr lang="en-US" altLang="zh-CN" sz="2000" dirty="0">
                <a:latin typeface="Tahoma" panose="020B0604030504040204" pitchFamily="34" charset="0"/>
              </a:rPr>
              <a:t>halt}</a:t>
            </a:r>
            <a:endParaRPr lang="en-US" altLang="zh-CN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</a:rPr>
              <a:t>　　　　　</a:t>
            </a:r>
            <a:r>
              <a:rPr lang="en-US" altLang="zh-CN" sz="2000" dirty="0">
                <a:latin typeface="Tahoma" panose="020B0604030504040204" pitchFamily="34" charset="0"/>
              </a:rPr>
              <a:t>else try(k+1);	{</a:t>
            </a:r>
            <a:r>
              <a:rPr lang="zh-CN" altLang="en-US" sz="2000" dirty="0">
                <a:latin typeface="Tahoma" panose="020B0604030504040204" pitchFamily="34" charset="0"/>
              </a:rPr>
              <a:t>继续递归放置下一个皇后</a:t>
            </a:r>
            <a:r>
              <a:rPr lang="en-US" altLang="zh-CN" sz="2000" dirty="0">
                <a:latin typeface="Tahoma" panose="020B0604030504040204" pitchFamily="34" charset="0"/>
              </a:rPr>
              <a:t>}</a:t>
            </a:r>
            <a:endParaRPr lang="en-US" altLang="zh-CN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</a:rPr>
              <a:t>　　　　</a:t>
            </a:r>
            <a:r>
              <a:rPr lang="en-US" altLang="zh-CN" sz="2000" dirty="0">
                <a:latin typeface="Tahoma" panose="020B0604030504040204" pitchFamily="34" charset="0"/>
              </a:rPr>
              <a:t>end;</a:t>
            </a:r>
            <a:endParaRPr lang="en-US" altLang="zh-CN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</a:rPr>
              <a:t>　</a:t>
            </a:r>
            <a:r>
              <a:rPr lang="en-US" altLang="zh-CN" sz="2000" dirty="0">
                <a:latin typeface="Tahoma" panose="020B0604030504040204" pitchFamily="34" charset="0"/>
              </a:rPr>
              <a:t>end;</a:t>
            </a:r>
            <a:endParaRPr lang="en-US" altLang="zh-CN" sz="2000" dirty="0">
              <a:latin typeface="Tahoma" panose="020B0604030504040204" pitchFamily="34" charset="0"/>
            </a:endParaRPr>
          </a:p>
        </p:txBody>
      </p:sp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357188" y="1285875"/>
            <a:ext cx="145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递归写法：</a:t>
            </a:r>
            <a:endParaRPr lang="zh-CN" altLang="en-US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9461" name="标题 4"/>
          <p:cNvSpPr txBox="1"/>
          <p:nvPr/>
        </p:nvSpPr>
        <p:spPr bwMode="auto">
          <a:xfrm>
            <a:off x="633413" y="319088"/>
            <a:ext cx="789622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N</a:t>
            </a:r>
            <a:r>
              <a:rPr lang="zh-CN" altLang="en-US" sz="3200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皇后问题</a:t>
            </a:r>
            <a:endParaRPr lang="zh-CN" altLang="en-US" sz="3200" b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en-US" altLang="zh-CN" dirty="0" smtClean="0"/>
              <a:t>6.2 </a:t>
            </a:r>
            <a:r>
              <a:rPr lang="zh-CN" altLang="en-US" dirty="0" smtClean="0"/>
              <a:t>经典应用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装载问题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 </a:t>
            </a:r>
            <a:r>
              <a:rPr lang="zh-CN" altLang="en-US" dirty="0" smtClean="0"/>
              <a:t>问题描述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一批共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zh-CN" altLang="en-US" dirty="0" smtClean="0"/>
              <a:t>个集装箱要装上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艘</a:t>
            </a:r>
            <a:r>
              <a:rPr lang="zh-CN" altLang="en-US" dirty="0" smtClean="0"/>
              <a:t>载重量分别为</a:t>
            </a:r>
            <a:r>
              <a:rPr lang="en-US" altLang="zh-CN" dirty="0" smtClean="0">
                <a:solidFill>
                  <a:srgbClr val="FF0000"/>
                </a:solidFill>
              </a:rPr>
              <a:t>C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/>
              <a:t>和</a:t>
            </a:r>
            <a:r>
              <a:rPr lang="en-US" altLang="zh-CN" dirty="0" smtClean="0">
                <a:solidFill>
                  <a:srgbClr val="FF0000"/>
                </a:solidFill>
              </a:rPr>
              <a:t>C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/>
              <a:t>的轮船，其中集装箱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的重量为</a:t>
            </a:r>
            <a:r>
              <a:rPr lang="en-US" altLang="zh-CN" b="1" dirty="0" err="1" smtClean="0">
                <a:solidFill>
                  <a:srgbClr val="FF0000"/>
                </a:solidFill>
              </a:rPr>
              <a:t>w</a:t>
            </a:r>
            <a:r>
              <a:rPr lang="en-US" altLang="zh-CN" b="1" baseline="-25000" dirty="0" err="1" smtClean="0">
                <a:solidFill>
                  <a:srgbClr val="FF0000"/>
                </a:solidFill>
              </a:rPr>
              <a:t>i</a:t>
            </a:r>
            <a:r>
              <a:rPr lang="zh-CN" altLang="en-US" dirty="0" smtClean="0"/>
              <a:t>，且</a:t>
            </a:r>
            <a:r>
              <a:rPr lang="zh-CN" altLang="en-US" b="1" dirty="0" smtClean="0">
                <a:solidFill>
                  <a:srgbClr val="FF0000"/>
                </a:solidFill>
              </a:rPr>
              <a:t>∑</a:t>
            </a:r>
            <a:r>
              <a:rPr lang="en-US" altLang="zh-CN" b="1" dirty="0" smtClean="0">
                <a:solidFill>
                  <a:srgbClr val="FF0000"/>
                </a:solidFill>
              </a:rPr>
              <a:t>w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CN" b="1" dirty="0" smtClean="0">
                <a:solidFill>
                  <a:srgbClr val="FF0000"/>
                </a:solidFill>
              </a:rPr>
              <a:t>≤C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b="1" dirty="0" smtClean="0">
                <a:solidFill>
                  <a:srgbClr val="FF0000"/>
                </a:solidFill>
              </a:rPr>
              <a:t>+C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2</a:t>
            </a:r>
            <a:endParaRPr lang="en-US" altLang="zh-CN" b="1" baseline="-25000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要求确定是否有一个</a:t>
            </a:r>
            <a:r>
              <a:rPr lang="zh-CN" altLang="en-US" b="1" dirty="0" smtClean="0">
                <a:solidFill>
                  <a:srgbClr val="FF0000"/>
                </a:solidFill>
              </a:rPr>
              <a:t>合理的装载方案</a:t>
            </a:r>
            <a:r>
              <a:rPr lang="zh-CN" altLang="en-US" dirty="0" smtClean="0"/>
              <a:t>可将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zh-CN" altLang="en-US" dirty="0" smtClean="0"/>
              <a:t>个集装箱装上</a:t>
            </a:r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zh-CN" altLang="en-US" b="1" dirty="0" smtClean="0">
                <a:solidFill>
                  <a:srgbClr val="FF0000"/>
                </a:solidFill>
              </a:rPr>
              <a:t>艘</a:t>
            </a:r>
            <a:r>
              <a:rPr lang="zh-CN" altLang="en-US" dirty="0" smtClean="0"/>
              <a:t>轮船。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如果一个给定装载问题有解，采用下面的策略可得到最优装载方案：</a:t>
            </a:r>
            <a:endParaRPr lang="zh-CN" altLang="en-US" dirty="0" smtClean="0"/>
          </a:p>
          <a:p>
            <a:pPr lvl="2"/>
            <a:r>
              <a:rPr lang="en-US" altLang="zh-CN" dirty="0" smtClean="0"/>
              <a:t>(1)</a:t>
            </a:r>
            <a:r>
              <a:rPr lang="zh-CN" altLang="en-US" dirty="0" smtClean="0"/>
              <a:t>首先将第一艘轮船尽可能装满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选取子集，重量和最接近</a:t>
            </a:r>
            <a:r>
              <a:rPr lang="en-US" altLang="zh-CN" b="1" dirty="0" smtClean="0">
                <a:solidFill>
                  <a:srgbClr val="FF0000"/>
                </a:solidFill>
              </a:rPr>
              <a:t>C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lvl="2"/>
            <a:r>
              <a:rPr lang="en-US" altLang="zh-CN" dirty="0" smtClean="0"/>
              <a:t>(2)</a:t>
            </a:r>
            <a:r>
              <a:rPr lang="zh-CN" altLang="en-US" dirty="0" smtClean="0"/>
              <a:t>将剩余的集装箱装上第二艘轮船。</a:t>
            </a:r>
            <a:endParaRPr lang="zh-CN" alt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装载问题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 smtClean="0"/>
              <a:t>例如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0000FF"/>
                </a:solidFill>
              </a:rPr>
              <a:t>n=3,c1=c2=50,</a:t>
            </a:r>
            <a:r>
              <a:rPr lang="zh-CN" altLang="en-US" dirty="0" smtClean="0"/>
              <a:t>且</a:t>
            </a:r>
            <a:r>
              <a:rPr lang="en-US" altLang="zh-CN" dirty="0" smtClean="0">
                <a:solidFill>
                  <a:srgbClr val="0000FF"/>
                </a:solidFill>
              </a:rPr>
              <a:t>w=[10,40,40]</a:t>
            </a:r>
            <a:r>
              <a:rPr lang="zh-CN" altLang="en-US" dirty="0" smtClean="0"/>
              <a:t>时，集装箱</a:t>
            </a:r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2</a:t>
            </a:r>
            <a:r>
              <a:rPr lang="zh-CN" altLang="en-US" dirty="0" smtClean="0"/>
              <a:t>装第一艘船，</a:t>
            </a:r>
            <a:r>
              <a:rPr lang="en-US" altLang="zh-CN" dirty="0" smtClean="0"/>
              <a:t>3</a:t>
            </a:r>
            <a:r>
              <a:rPr lang="zh-CN" altLang="en-US" dirty="0" smtClean="0"/>
              <a:t>装第二艘船。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0000FF"/>
                </a:solidFill>
              </a:rPr>
              <a:t>w=[20,40,40]</a:t>
            </a:r>
            <a:r>
              <a:rPr lang="zh-CN" altLang="en-US" dirty="0" smtClean="0"/>
              <a:t>时，无可行解。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当</a:t>
            </a:r>
            <a:r>
              <a:rPr lang="en-US" altLang="zh-CN" dirty="0" smtClean="0">
                <a:solidFill>
                  <a:srgbClr val="FF0000"/>
                </a:solidFill>
              </a:rPr>
              <a:t>∑</a:t>
            </a:r>
            <a:r>
              <a:rPr lang="en-US" altLang="zh-CN" dirty="0" err="1" smtClean="0">
                <a:solidFill>
                  <a:srgbClr val="FF0000"/>
                </a:solidFill>
              </a:rPr>
              <a:t>w</a:t>
            </a:r>
            <a:r>
              <a:rPr lang="en-US" altLang="zh-CN" baseline="-25000" dirty="0" err="1" smtClean="0">
                <a:solidFill>
                  <a:srgbClr val="FF0000"/>
                </a:solidFill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</a:rPr>
              <a:t> =c1+c2</a:t>
            </a:r>
            <a:r>
              <a:rPr lang="zh-CN" altLang="en-US" dirty="0" smtClean="0"/>
              <a:t>时，两艘船的装载问题等价于</a:t>
            </a:r>
            <a:r>
              <a:rPr lang="zh-CN" altLang="en-US" b="1" dirty="0" smtClean="0">
                <a:solidFill>
                  <a:srgbClr val="0000FF"/>
                </a:solidFill>
              </a:rPr>
              <a:t>子集之和（</a:t>
            </a:r>
            <a:r>
              <a:rPr lang="en-US" altLang="zh-CN" b="1" dirty="0" smtClean="0">
                <a:solidFill>
                  <a:srgbClr val="0000FF"/>
                </a:solidFill>
              </a:rPr>
              <a:t>sum-of-subset</a:t>
            </a:r>
            <a:r>
              <a:rPr lang="zh-CN" altLang="en-US" b="1" dirty="0" smtClean="0">
                <a:solidFill>
                  <a:srgbClr val="0000FF"/>
                </a:solidFill>
              </a:rPr>
              <a:t>）问题</a:t>
            </a:r>
            <a:r>
              <a:rPr lang="zh-CN" altLang="en-US" dirty="0" smtClean="0"/>
              <a:t>，即有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个数字，要求找到一个子集（如果存在的话）使它的和为</a:t>
            </a:r>
            <a:r>
              <a:rPr lang="en-US" altLang="zh-CN" dirty="0" smtClean="0"/>
              <a:t>c1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当</a:t>
            </a:r>
            <a:r>
              <a:rPr lang="en-US" altLang="zh-CN" dirty="0" smtClean="0">
                <a:solidFill>
                  <a:srgbClr val="FF0000"/>
                </a:solidFill>
              </a:rPr>
              <a:t>c1=c2</a:t>
            </a:r>
            <a:r>
              <a:rPr lang="en-US" altLang="zh-CN" dirty="0" smtClean="0"/>
              <a:t> </a:t>
            </a:r>
            <a:r>
              <a:rPr lang="zh-CN" altLang="en-US" dirty="0" smtClean="0"/>
              <a:t>且</a:t>
            </a:r>
            <a:r>
              <a:rPr lang="en-US" altLang="zh-CN" dirty="0" smtClean="0">
                <a:solidFill>
                  <a:srgbClr val="FF0000"/>
                </a:solidFill>
              </a:rPr>
              <a:t>∑</a:t>
            </a:r>
            <a:r>
              <a:rPr lang="en-US" altLang="zh-CN" dirty="0" err="1" smtClean="0">
                <a:solidFill>
                  <a:srgbClr val="FF0000"/>
                </a:solidFill>
              </a:rPr>
              <a:t>w</a:t>
            </a:r>
            <a:r>
              <a:rPr lang="en-US" altLang="zh-CN" baseline="-25000" dirty="0" err="1" smtClean="0">
                <a:solidFill>
                  <a:srgbClr val="FF0000"/>
                </a:solidFill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</a:rPr>
              <a:t>=2c1 </a:t>
            </a:r>
            <a:r>
              <a:rPr lang="zh-CN" altLang="en-US" dirty="0" smtClean="0"/>
              <a:t>时，两艘船的装载问题等价于</a:t>
            </a:r>
            <a:r>
              <a:rPr lang="zh-CN" altLang="en-US" dirty="0" smtClean="0">
                <a:solidFill>
                  <a:srgbClr val="0000FF"/>
                </a:solidFill>
              </a:rPr>
              <a:t>分割问题（</a:t>
            </a:r>
            <a:r>
              <a:rPr lang="en-US" altLang="zh-CN" dirty="0" smtClean="0">
                <a:solidFill>
                  <a:srgbClr val="0000FF"/>
                </a:solidFill>
              </a:rPr>
              <a:t>partition problem</a:t>
            </a:r>
            <a:r>
              <a:rPr lang="zh-CN" altLang="en-US" dirty="0" smtClean="0">
                <a:solidFill>
                  <a:srgbClr val="0000FF"/>
                </a:solidFill>
              </a:rPr>
              <a:t>） </a:t>
            </a:r>
            <a:r>
              <a:rPr lang="zh-CN" altLang="en-US" dirty="0" smtClean="0"/>
              <a:t>，即有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个数字</a:t>
            </a:r>
            <a:r>
              <a:rPr lang="en-US" altLang="zh-CN" dirty="0" err="1" smtClean="0"/>
              <a:t>a</a:t>
            </a:r>
            <a:r>
              <a:rPr lang="en-US" altLang="zh-CN" baseline="-25000" dirty="0" err="1" smtClean="0"/>
              <a:t>i</a:t>
            </a:r>
            <a:r>
              <a:rPr lang="en-US" altLang="zh-CN" dirty="0" smtClean="0"/>
              <a:t> , ( 1≤i≤n)</a:t>
            </a:r>
            <a:r>
              <a:rPr lang="zh-CN" altLang="en-US" dirty="0" smtClean="0"/>
              <a:t>，要求找到一个子集（若存在），使得子集之和为</a:t>
            </a:r>
            <a:r>
              <a:rPr lang="en-US" altLang="zh-CN" dirty="0" smtClean="0">
                <a:solidFill>
                  <a:srgbClr val="FF0000"/>
                </a:solidFill>
              </a:rPr>
              <a:t>∑</a:t>
            </a:r>
            <a:r>
              <a:rPr lang="en-US" altLang="zh-CN" dirty="0" err="1" smtClean="0">
                <a:solidFill>
                  <a:srgbClr val="FF0000"/>
                </a:solidFill>
              </a:rPr>
              <a:t>a</a:t>
            </a:r>
            <a:r>
              <a:rPr lang="en-US" altLang="zh-CN" baseline="-25000" dirty="0" err="1" smtClean="0">
                <a:solidFill>
                  <a:srgbClr val="FF0000"/>
                </a:solidFill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</a:rPr>
              <a:t>/2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分割问题和子集之和问题都是</a:t>
            </a:r>
            <a:r>
              <a:rPr lang="en-US" altLang="zh-CN" dirty="0" smtClean="0">
                <a:solidFill>
                  <a:srgbClr val="FF0000"/>
                </a:solidFill>
              </a:rPr>
              <a:t>NP-</a:t>
            </a:r>
            <a:r>
              <a:rPr lang="zh-CN" altLang="en-US" dirty="0" smtClean="0">
                <a:solidFill>
                  <a:srgbClr val="FF0000"/>
                </a:solidFill>
              </a:rPr>
              <a:t>复杂问题</a:t>
            </a:r>
            <a:r>
              <a:rPr lang="zh-CN" altLang="en-US" dirty="0" smtClean="0"/>
              <a:t>。</a:t>
            </a:r>
            <a:endParaRPr lang="zh-CN" alt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装载问题</a:t>
            </a:r>
            <a:endParaRPr lang="zh-CN" altLang="en-US" dirty="0" smtClean="0"/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 </a:t>
            </a:r>
            <a:r>
              <a:rPr lang="zh-CN" altLang="en-US" dirty="0" smtClean="0"/>
              <a:t>问题分析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将第一艘轮船尽可能装满等价于</a:t>
            </a:r>
            <a:r>
              <a:rPr lang="zh-CN" altLang="en-US" dirty="0" smtClean="0">
                <a:solidFill>
                  <a:srgbClr val="FF0000"/>
                </a:solidFill>
              </a:rPr>
              <a:t>选取</a:t>
            </a:r>
            <a:r>
              <a:rPr lang="zh-CN" altLang="en-US" dirty="0" smtClean="0"/>
              <a:t>全体集装箱的一个</a:t>
            </a:r>
            <a:r>
              <a:rPr lang="zh-CN" altLang="en-US" dirty="0" smtClean="0">
                <a:solidFill>
                  <a:srgbClr val="FF0000"/>
                </a:solidFill>
              </a:rPr>
              <a:t>子集</a:t>
            </a:r>
            <a:r>
              <a:rPr lang="zh-CN" altLang="en-US" dirty="0" smtClean="0"/>
              <a:t>，重量之和</a:t>
            </a:r>
            <a:r>
              <a:rPr lang="zh-CN" altLang="en-US" dirty="0" smtClean="0">
                <a:solidFill>
                  <a:srgbClr val="FF0000"/>
                </a:solidFill>
              </a:rPr>
              <a:t>最接近</a:t>
            </a:r>
            <a:r>
              <a:rPr lang="zh-CN" altLang="en-US" dirty="0" smtClean="0"/>
              <a:t>轮船载重量。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由此可知，装载问题等价于以下</a:t>
            </a:r>
            <a:r>
              <a:rPr lang="zh-CN" altLang="en-US" dirty="0" smtClean="0">
                <a:solidFill>
                  <a:srgbClr val="FF0000"/>
                </a:solidFill>
              </a:rPr>
              <a:t>特殊的</a:t>
            </a:r>
            <a:r>
              <a:rPr lang="en-US" altLang="zh-CN" dirty="0" smtClean="0">
                <a:solidFill>
                  <a:srgbClr val="FF0000"/>
                </a:solidFill>
              </a:rPr>
              <a:t>0-1</a:t>
            </a:r>
            <a:r>
              <a:rPr lang="zh-CN" altLang="en-US" dirty="0" smtClean="0">
                <a:solidFill>
                  <a:srgbClr val="FF0000"/>
                </a:solidFill>
              </a:rPr>
              <a:t>背包</a:t>
            </a:r>
            <a:r>
              <a:rPr lang="zh-CN" altLang="en-US" dirty="0" smtClean="0"/>
              <a:t>问题。</a:t>
            </a:r>
            <a:endParaRPr lang="zh-CN" altLang="en-US" dirty="0" smtClean="0"/>
          </a:p>
          <a:p>
            <a:pPr lvl="1"/>
            <a:endParaRPr lang="zh-CN" altLang="en-US" dirty="0" smtClean="0"/>
          </a:p>
        </p:txBody>
      </p:sp>
      <p:graphicFrame>
        <p:nvGraphicFramePr>
          <p:cNvPr id="34820" name="Object 3"/>
          <p:cNvGraphicFramePr>
            <a:graphicFrameLocks noChangeAspect="1"/>
          </p:cNvGraphicFramePr>
          <p:nvPr/>
        </p:nvGraphicFramePr>
        <p:xfrm>
          <a:off x="2071688" y="3500438"/>
          <a:ext cx="3357562" cy="286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4" name="公式" r:id="rId1" imgW="1104900" imgH="1104900" progId="Equation.3">
                  <p:embed/>
                </p:oleObj>
              </mc:Choice>
              <mc:Fallback>
                <p:oleObj name="公式" r:id="rId1" imgW="1104900" imgH="110490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3500438"/>
                        <a:ext cx="3357562" cy="286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装载问题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 smtClean="0"/>
              <a:t>回溯算法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既然想要找到一个重量的子集，使</a:t>
            </a:r>
            <a:r>
              <a:rPr lang="zh-CN" altLang="en-US" dirty="0" smtClean="0">
                <a:solidFill>
                  <a:srgbClr val="0000FF"/>
                </a:solidFill>
              </a:rPr>
              <a:t>子集之和</a:t>
            </a:r>
            <a:r>
              <a:rPr lang="zh-CN" altLang="en-US" dirty="0" smtClean="0"/>
              <a:t>尽量接近 </a:t>
            </a:r>
            <a:r>
              <a:rPr lang="en-US" altLang="zh-CN" dirty="0" smtClean="0">
                <a:solidFill>
                  <a:srgbClr val="0000FF"/>
                </a:solidFill>
              </a:rPr>
              <a:t>c1</a:t>
            </a:r>
            <a:r>
              <a:rPr lang="zh-CN" altLang="en-US" dirty="0" smtClean="0"/>
              <a:t>，那么可以使用一个</a:t>
            </a:r>
            <a:r>
              <a:rPr lang="zh-CN" altLang="en-US" dirty="0" smtClean="0">
                <a:solidFill>
                  <a:srgbClr val="0000FF"/>
                </a:solidFill>
              </a:rPr>
              <a:t>子集空间</a:t>
            </a:r>
            <a:r>
              <a:rPr lang="zh-CN" altLang="en-US" dirty="0" smtClean="0"/>
              <a:t>，组织成二叉树。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用深度优先的方法搜索该解空间以求得最优解。使用</a:t>
            </a:r>
            <a:r>
              <a:rPr lang="zh-CN" altLang="en-US" dirty="0">
                <a:solidFill>
                  <a:srgbClr val="0000FF"/>
                </a:solidFill>
              </a:rPr>
              <a:t>剪枝</a:t>
            </a:r>
            <a:r>
              <a:rPr lang="zh-CN" altLang="en-US" dirty="0" smtClean="0">
                <a:solidFill>
                  <a:srgbClr val="0000FF"/>
                </a:solidFill>
              </a:rPr>
              <a:t>函数</a:t>
            </a:r>
            <a:r>
              <a:rPr lang="zh-CN" altLang="en-US" dirty="0" smtClean="0"/>
              <a:t>去阻止不可能获得解答的节点的扩张。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如果 </a:t>
            </a:r>
            <a:r>
              <a:rPr lang="en-US" altLang="zh-CN" dirty="0" smtClean="0"/>
              <a:t>Z</a:t>
            </a:r>
            <a:r>
              <a:rPr lang="zh-CN" altLang="en-US" dirty="0" smtClean="0"/>
              <a:t>是树的</a:t>
            </a:r>
            <a:r>
              <a:rPr lang="en-US" altLang="zh-CN" dirty="0" smtClean="0">
                <a:solidFill>
                  <a:srgbClr val="0000FF"/>
                </a:solidFill>
              </a:rPr>
              <a:t>j+1</a:t>
            </a:r>
            <a:r>
              <a:rPr lang="zh-CN" altLang="en-US" dirty="0" smtClean="0"/>
              <a:t>层的一个节点，那么从根</a:t>
            </a:r>
            <a:r>
              <a:rPr lang="en-US" altLang="zh-CN" dirty="0">
                <a:solidFill>
                  <a:srgbClr val="0000FF"/>
                </a:solidFill>
              </a:rPr>
              <a:t>O</a:t>
            </a:r>
            <a:r>
              <a:rPr lang="zh-CN" altLang="en-US" dirty="0" smtClean="0"/>
              <a:t>到</a:t>
            </a:r>
            <a:r>
              <a:rPr lang="en-US" altLang="zh-CN" dirty="0" smtClean="0"/>
              <a:t>Z</a:t>
            </a:r>
            <a:r>
              <a:rPr lang="zh-CN" altLang="en-US" dirty="0" smtClean="0"/>
              <a:t>的路径定义了</a:t>
            </a:r>
            <a:r>
              <a:rPr lang="en-US" altLang="zh-CN" dirty="0" smtClean="0">
                <a:solidFill>
                  <a:srgbClr val="0000FF"/>
                </a:solidFill>
              </a:rPr>
              <a:t>x</a:t>
            </a:r>
            <a:r>
              <a:rPr lang="en-US" altLang="zh-CN" baseline="-25000" dirty="0" smtClean="0">
                <a:solidFill>
                  <a:srgbClr val="0000FF"/>
                </a:solidFill>
              </a:rPr>
              <a:t>i </a:t>
            </a:r>
            <a:r>
              <a:rPr lang="en-US" altLang="zh-CN" dirty="0" smtClean="0">
                <a:solidFill>
                  <a:srgbClr val="0000FF"/>
                </a:solidFill>
              </a:rPr>
              <a:t>(1≤i≤j)</a:t>
            </a:r>
            <a:r>
              <a:rPr lang="zh-CN" altLang="en-US" dirty="0" smtClean="0"/>
              <a:t>的值。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定义</a:t>
            </a:r>
            <a:r>
              <a:rPr lang="en-US" altLang="zh-CN" dirty="0" err="1" smtClean="0">
                <a:solidFill>
                  <a:srgbClr val="0000FF"/>
                </a:solidFill>
              </a:rPr>
              <a:t>cw</a:t>
            </a:r>
            <a:r>
              <a:rPr lang="zh-CN" altLang="en-US" dirty="0" smtClean="0"/>
              <a:t>当前重量为</a:t>
            </a:r>
            <a:r>
              <a:rPr lang="en-US" altLang="zh-CN" dirty="0" smtClean="0">
                <a:solidFill>
                  <a:srgbClr val="0000FF"/>
                </a:solidFill>
              </a:rPr>
              <a:t>∑</a:t>
            </a:r>
            <a:r>
              <a:rPr lang="en-US" altLang="zh-CN" dirty="0" err="1" smtClean="0">
                <a:solidFill>
                  <a:srgbClr val="0000FF"/>
                </a:solidFill>
              </a:rPr>
              <a:t>w</a:t>
            </a:r>
            <a:r>
              <a:rPr lang="en-US" altLang="zh-CN" baseline="-25000" dirty="0" err="1" smtClean="0">
                <a:solidFill>
                  <a:srgbClr val="0000FF"/>
                </a:solidFill>
              </a:rPr>
              <a:t>i</a:t>
            </a:r>
            <a:r>
              <a:rPr lang="en-US" altLang="zh-CN" dirty="0" err="1" smtClean="0">
                <a:solidFill>
                  <a:srgbClr val="0000FF"/>
                </a:solidFill>
              </a:rPr>
              <a:t>x</a:t>
            </a:r>
            <a:r>
              <a:rPr lang="en-US" altLang="zh-CN" baseline="-25000" dirty="0" err="1" smtClean="0">
                <a:solidFill>
                  <a:srgbClr val="0000FF"/>
                </a:solidFill>
              </a:rPr>
              <a:t>i</a:t>
            </a:r>
            <a:r>
              <a:rPr lang="en-US" altLang="zh-CN" dirty="0" smtClean="0">
                <a:solidFill>
                  <a:srgbClr val="0000FF"/>
                </a:solidFill>
              </a:rPr>
              <a:t>(1</a:t>
            </a:r>
            <a:r>
              <a:rPr lang="zh-CN" altLang="en-US" dirty="0" smtClean="0">
                <a:solidFill>
                  <a:srgbClr val="0000FF"/>
                </a:solidFill>
              </a:rPr>
              <a:t>≤</a:t>
            </a:r>
            <a:r>
              <a:rPr lang="en-US" altLang="zh-CN" dirty="0" err="1" smtClean="0">
                <a:solidFill>
                  <a:srgbClr val="0000FF"/>
                </a:solidFill>
              </a:rPr>
              <a:t>i</a:t>
            </a:r>
            <a:r>
              <a:rPr lang="zh-CN" altLang="en-US" dirty="0" smtClean="0">
                <a:solidFill>
                  <a:srgbClr val="0000FF"/>
                </a:solidFill>
              </a:rPr>
              <a:t>≤</a:t>
            </a:r>
            <a:r>
              <a:rPr lang="en-US" altLang="zh-CN" dirty="0" smtClean="0">
                <a:solidFill>
                  <a:srgbClr val="0000FF"/>
                </a:solidFill>
              </a:rPr>
              <a:t>n)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若</a:t>
            </a:r>
            <a:r>
              <a:rPr lang="en-US" altLang="zh-CN" b="1" dirty="0" err="1" smtClean="0">
                <a:solidFill>
                  <a:srgbClr val="0000FF"/>
                </a:solidFill>
              </a:rPr>
              <a:t>cw</a:t>
            </a:r>
            <a:r>
              <a:rPr lang="en-US" altLang="zh-CN" b="1" dirty="0" smtClean="0">
                <a:solidFill>
                  <a:srgbClr val="0000FF"/>
                </a:solidFill>
              </a:rPr>
              <a:t>&gt;c1</a:t>
            </a:r>
            <a:r>
              <a:rPr lang="zh-CN" altLang="en-US" dirty="0" smtClean="0"/>
              <a:t>，则以</a:t>
            </a:r>
            <a:r>
              <a:rPr lang="en-US" altLang="zh-CN" dirty="0" smtClean="0"/>
              <a:t>O</a:t>
            </a:r>
            <a:r>
              <a:rPr lang="zh-CN" altLang="en-US" dirty="0" smtClean="0"/>
              <a:t>为根的子树不能产生一个可行解答。可将这个测试作为</a:t>
            </a:r>
            <a:r>
              <a:rPr lang="zh-CN" altLang="en-US" b="1" dirty="0">
                <a:solidFill>
                  <a:srgbClr val="0000FF"/>
                </a:solidFill>
              </a:rPr>
              <a:t>约束</a:t>
            </a:r>
            <a:r>
              <a:rPr lang="zh-CN" altLang="en-US" b="1" dirty="0" smtClean="0">
                <a:solidFill>
                  <a:srgbClr val="0000FF"/>
                </a:solidFill>
              </a:rPr>
              <a:t>函数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当且仅当一个节点的</a:t>
            </a:r>
            <a:r>
              <a:rPr lang="en-US" altLang="zh-CN" b="1" dirty="0" err="1" smtClean="0">
                <a:solidFill>
                  <a:srgbClr val="0000FF"/>
                </a:solidFill>
              </a:rPr>
              <a:t>cw</a:t>
            </a:r>
            <a:r>
              <a:rPr lang="zh-CN" altLang="en-US" dirty="0" smtClean="0"/>
              <a:t>值大于</a:t>
            </a:r>
            <a:r>
              <a:rPr lang="en-US" altLang="zh-CN" dirty="0" smtClean="0"/>
              <a:t>c1 </a:t>
            </a:r>
            <a:r>
              <a:rPr lang="zh-CN" altLang="en-US" dirty="0" smtClean="0"/>
              <a:t>时，定义它是不可行的。</a:t>
            </a:r>
            <a:endParaRPr lang="zh-CN" alt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装载问题</a:t>
            </a:r>
            <a:endParaRPr lang="zh-CN" altLang="en-US" dirty="0" smtClean="0"/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8345488" cy="1228725"/>
          </a:xfrm>
        </p:spPr>
        <p:txBody>
          <a:bodyPr/>
          <a:lstStyle/>
          <a:p>
            <a:pPr lvl="1"/>
            <a:r>
              <a:rPr lang="zh-CN" altLang="en-US" smtClean="0"/>
              <a:t>假定</a:t>
            </a:r>
            <a:r>
              <a:rPr lang="en-US" altLang="zh-CN" smtClean="0"/>
              <a:t>n= 4</a:t>
            </a:r>
            <a:r>
              <a:rPr lang="zh-CN" altLang="en-US" smtClean="0"/>
              <a:t>，</a:t>
            </a:r>
            <a:r>
              <a:rPr lang="en-US" altLang="zh-CN" smtClean="0"/>
              <a:t>w= [8,6,2,3]</a:t>
            </a:r>
            <a:r>
              <a:rPr lang="zh-CN" altLang="en-US" smtClean="0"/>
              <a:t>，</a:t>
            </a:r>
            <a:r>
              <a:rPr lang="en-US" altLang="zh-CN" smtClean="0"/>
              <a:t>c1 = 12</a:t>
            </a:r>
            <a:r>
              <a:rPr lang="zh-CN" altLang="en-US" smtClean="0"/>
              <a:t>。</a:t>
            </a:r>
            <a:endParaRPr lang="en-US" altLang="zh-CN" smtClean="0"/>
          </a:p>
          <a:p>
            <a:pPr lvl="2"/>
            <a:r>
              <a:rPr lang="zh-CN" altLang="en-US" smtClean="0"/>
              <a:t>解空间树为</a:t>
            </a:r>
            <a:endParaRPr lang="en-US" altLang="zh-CN" smtClean="0"/>
          </a:p>
          <a:p>
            <a:pPr lvl="1"/>
            <a:endParaRPr lang="en-US" altLang="zh-CN" smtClean="0"/>
          </a:p>
        </p:txBody>
      </p:sp>
      <p:grpSp>
        <p:nvGrpSpPr>
          <p:cNvPr id="36868" name="组合 145"/>
          <p:cNvGrpSpPr/>
          <p:nvPr/>
        </p:nvGrpSpPr>
        <p:grpSpPr bwMode="auto">
          <a:xfrm>
            <a:off x="214313" y="2000250"/>
            <a:ext cx="8737600" cy="4000500"/>
            <a:chOff x="714348" y="2214554"/>
            <a:chExt cx="7801045" cy="3571900"/>
          </a:xfrm>
        </p:grpSpPr>
        <p:sp>
          <p:nvSpPr>
            <p:cNvPr id="7" name="椭圆 6"/>
            <p:cNvSpPr/>
            <p:nvPr/>
          </p:nvSpPr>
          <p:spPr bwMode="auto">
            <a:xfrm>
              <a:off x="4357686" y="2214554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A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500298" y="300037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B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6357950" y="300037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C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1500166" y="3714752"/>
              <a:ext cx="428660" cy="428628"/>
            </a:xfrm>
            <a:prstGeom prst="ellipse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D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3428992" y="371475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E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5357786" y="371475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F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7286644" y="371475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G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6858016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N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7786710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O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1" name="椭圆 20"/>
            <p:cNvSpPr/>
            <p:nvPr/>
          </p:nvSpPr>
          <p:spPr bwMode="auto">
            <a:xfrm>
              <a:off x="4857752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L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2" name="椭圆 21"/>
            <p:cNvSpPr/>
            <p:nvPr/>
          </p:nvSpPr>
          <p:spPr bwMode="auto">
            <a:xfrm>
              <a:off x="5857884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M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000068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H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4" name="椭圆 23"/>
            <p:cNvSpPr/>
            <p:nvPr/>
          </p:nvSpPr>
          <p:spPr bwMode="auto">
            <a:xfrm>
              <a:off x="2000200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I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5" name="椭圆 24"/>
            <p:cNvSpPr/>
            <p:nvPr/>
          </p:nvSpPr>
          <p:spPr bwMode="auto">
            <a:xfrm>
              <a:off x="2928926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J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6" name="椭圆 25"/>
            <p:cNvSpPr/>
            <p:nvPr/>
          </p:nvSpPr>
          <p:spPr bwMode="auto">
            <a:xfrm>
              <a:off x="3929026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K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7" name="椭圆 26"/>
            <p:cNvSpPr/>
            <p:nvPr/>
          </p:nvSpPr>
          <p:spPr bwMode="auto">
            <a:xfrm>
              <a:off x="5629268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Z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椭圆 27"/>
            <p:cNvSpPr/>
            <p:nvPr/>
          </p:nvSpPr>
          <p:spPr bwMode="auto">
            <a:xfrm>
              <a:off x="6612252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B'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椭圆 28"/>
            <p:cNvSpPr/>
            <p:nvPr/>
          </p:nvSpPr>
          <p:spPr bwMode="auto">
            <a:xfrm>
              <a:off x="4646284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X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0" name="椭圆 29"/>
            <p:cNvSpPr/>
            <p:nvPr/>
          </p:nvSpPr>
          <p:spPr bwMode="auto">
            <a:xfrm>
              <a:off x="5137776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Y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1" name="椭圆 30"/>
            <p:cNvSpPr/>
            <p:nvPr/>
          </p:nvSpPr>
          <p:spPr bwMode="auto">
            <a:xfrm>
              <a:off x="4154792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W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椭圆 31"/>
            <p:cNvSpPr/>
            <p:nvPr/>
          </p:nvSpPr>
          <p:spPr bwMode="auto">
            <a:xfrm>
              <a:off x="3663300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V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椭圆 32"/>
            <p:cNvSpPr/>
            <p:nvPr/>
          </p:nvSpPr>
          <p:spPr bwMode="auto">
            <a:xfrm>
              <a:off x="2680316" y="5357826"/>
              <a:ext cx="428660" cy="428628"/>
            </a:xfrm>
            <a:prstGeom prst="ellipse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T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4" name="椭圆 33"/>
            <p:cNvSpPr/>
            <p:nvPr/>
          </p:nvSpPr>
          <p:spPr bwMode="auto">
            <a:xfrm>
              <a:off x="3171808" y="5357826"/>
              <a:ext cx="428660" cy="428628"/>
            </a:xfrm>
            <a:prstGeom prst="ellipse">
              <a:avLst/>
            </a:prstGeom>
            <a:solidFill>
              <a:srgbClr val="008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</a:rPr>
                <a:t>U</a:t>
              </a:r>
              <a:endPara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5" name="椭圆 34"/>
            <p:cNvSpPr/>
            <p:nvPr/>
          </p:nvSpPr>
          <p:spPr bwMode="auto">
            <a:xfrm>
              <a:off x="1697332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R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6" name="椭圆 35"/>
            <p:cNvSpPr/>
            <p:nvPr/>
          </p:nvSpPr>
          <p:spPr bwMode="auto">
            <a:xfrm>
              <a:off x="2188824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S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椭圆 36"/>
            <p:cNvSpPr/>
            <p:nvPr/>
          </p:nvSpPr>
          <p:spPr bwMode="auto">
            <a:xfrm>
              <a:off x="714348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P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" name="椭圆 37"/>
            <p:cNvSpPr/>
            <p:nvPr/>
          </p:nvSpPr>
          <p:spPr bwMode="auto">
            <a:xfrm>
              <a:off x="1205840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Q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" name="椭圆 38"/>
            <p:cNvSpPr/>
            <p:nvPr/>
          </p:nvSpPr>
          <p:spPr bwMode="auto">
            <a:xfrm>
              <a:off x="7595236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D'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椭圆 39"/>
            <p:cNvSpPr/>
            <p:nvPr/>
          </p:nvSpPr>
          <p:spPr bwMode="auto">
            <a:xfrm>
              <a:off x="8086733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E'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 bwMode="auto">
            <a:xfrm>
              <a:off x="6120760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A'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椭圆 41"/>
            <p:cNvSpPr/>
            <p:nvPr/>
          </p:nvSpPr>
          <p:spPr bwMode="auto">
            <a:xfrm>
              <a:off x="7103744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C'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cxnSp>
          <p:nvCxnSpPr>
            <p:cNvPr id="36986" name="直接连接符 43"/>
            <p:cNvCxnSpPr>
              <a:cxnSpLocks noChangeShapeType="1"/>
              <a:stCxn id="0" idx="3"/>
              <a:endCxn id="0" idx="7"/>
            </p:cNvCxnSpPr>
            <p:nvPr/>
          </p:nvCxnSpPr>
          <p:spPr bwMode="auto">
            <a:xfrm rot="5400000">
              <a:off x="3401956" y="2044637"/>
              <a:ext cx="482732" cy="155428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6987" name="直接连接符 46"/>
            <p:cNvCxnSpPr>
              <a:cxnSpLocks noChangeShapeType="1"/>
              <a:stCxn id="0" idx="5"/>
              <a:endCxn id="0" idx="1"/>
            </p:cNvCxnSpPr>
            <p:nvPr/>
          </p:nvCxnSpPr>
          <p:spPr bwMode="auto">
            <a:xfrm rot="16200000" flipH="1">
              <a:off x="5330782" y="1973199"/>
              <a:ext cx="482732" cy="169715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6988" name="直接连接符 49"/>
            <p:cNvCxnSpPr>
              <a:cxnSpLocks noChangeShapeType="1"/>
              <a:stCxn id="0" idx="3"/>
              <a:endCxn id="0" idx="7"/>
            </p:cNvCxnSpPr>
            <p:nvPr/>
          </p:nvCxnSpPr>
          <p:spPr bwMode="auto">
            <a:xfrm rot="5400000">
              <a:off x="2008915" y="3223364"/>
              <a:ext cx="411294" cy="69702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6989" name="直接连接符 50"/>
            <p:cNvCxnSpPr>
              <a:cxnSpLocks noChangeShapeType="1"/>
              <a:stCxn id="0" idx="5"/>
              <a:endCxn id="0" idx="1"/>
            </p:cNvCxnSpPr>
            <p:nvPr/>
          </p:nvCxnSpPr>
          <p:spPr bwMode="auto">
            <a:xfrm rot="16200000" flipH="1">
              <a:off x="2973328" y="3259083"/>
              <a:ext cx="411294" cy="62558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6990" name="直接连接符 55"/>
            <p:cNvCxnSpPr>
              <a:cxnSpLocks noChangeShapeType="1"/>
              <a:stCxn id="0" idx="3"/>
              <a:endCxn id="0" idx="7"/>
            </p:cNvCxnSpPr>
            <p:nvPr/>
          </p:nvCxnSpPr>
          <p:spPr bwMode="auto">
            <a:xfrm rot="5400000">
              <a:off x="5866551" y="3223348"/>
              <a:ext cx="411294" cy="69705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6991" name="直接连接符 56"/>
            <p:cNvCxnSpPr>
              <a:cxnSpLocks noChangeShapeType="1"/>
              <a:stCxn id="0" idx="5"/>
              <a:endCxn id="0" idx="1"/>
            </p:cNvCxnSpPr>
            <p:nvPr/>
          </p:nvCxnSpPr>
          <p:spPr bwMode="auto">
            <a:xfrm rot="16200000" flipH="1">
              <a:off x="6830980" y="3259083"/>
              <a:ext cx="411294" cy="62558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6992" name="直接连接符 61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1214409" y="4080598"/>
              <a:ext cx="348523" cy="34854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6993" name="直接连接符 62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1866029" y="4080630"/>
              <a:ext cx="348523" cy="34848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6994" name="直接连接符 63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7036622" y="4116333"/>
              <a:ext cx="348523" cy="27707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6995" name="直接连接符 64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7652523" y="4080614"/>
              <a:ext cx="348523" cy="34851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6996" name="直接连接符 69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3143251" y="4080614"/>
              <a:ext cx="348523" cy="34851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6997" name="直接连接符 70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3794855" y="4080630"/>
              <a:ext cx="348523" cy="34848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6998" name="直接连接符 71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5072061" y="4080630"/>
              <a:ext cx="348523" cy="34848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6999" name="直接连接符 72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5723681" y="4080598"/>
              <a:ext cx="348523" cy="34854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00" name="直接连接符 85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714343" y="5009324"/>
              <a:ext cx="562837" cy="13416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01" name="直接连接符 86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1111643" y="5049298"/>
              <a:ext cx="562837" cy="54218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02" name="直接连接符 92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1705901" y="5000750"/>
              <a:ext cx="562837" cy="15131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03" name="直接连接符 93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2103201" y="5057872"/>
              <a:ext cx="562837" cy="3707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04" name="直接连接符 94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2661756" y="5027879"/>
              <a:ext cx="562837" cy="9705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05" name="直接连接符 95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3059056" y="5030743"/>
              <a:ext cx="562837" cy="91328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06" name="直接连接符 96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3653298" y="5019321"/>
              <a:ext cx="562837" cy="11417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07" name="直接连接符 97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4050598" y="5039301"/>
              <a:ext cx="562837" cy="7421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08" name="直接连接符 98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4609153" y="5046450"/>
              <a:ext cx="562837" cy="5991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09" name="直接连接符 99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5006453" y="5012172"/>
              <a:ext cx="562837" cy="12847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10" name="直接连接符 100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5600711" y="5037876"/>
              <a:ext cx="562837" cy="7706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11" name="直接连接符 101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5998011" y="5020746"/>
              <a:ext cx="562837" cy="11132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12" name="直接连接符 102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6592269" y="5029302"/>
              <a:ext cx="562837" cy="9421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13" name="直接连接符 103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6989569" y="5029320"/>
              <a:ext cx="562837" cy="9417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14" name="直接连接符 104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7548108" y="5056447"/>
              <a:ext cx="562837" cy="3992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7015" name="直接连接符 105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7945410" y="5002172"/>
              <a:ext cx="562837" cy="148469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sp>
          <p:nvSpPr>
            <p:cNvPr id="37016" name="TextBox 137"/>
            <p:cNvSpPr txBox="1">
              <a:spLocks noChangeArrowheads="1"/>
            </p:cNvSpPr>
            <p:nvPr/>
          </p:nvSpPr>
          <p:spPr bwMode="auto">
            <a:xfrm>
              <a:off x="3428992" y="2500306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017" name="TextBox 138"/>
            <p:cNvSpPr txBox="1">
              <a:spLocks noChangeArrowheads="1"/>
            </p:cNvSpPr>
            <p:nvPr/>
          </p:nvSpPr>
          <p:spPr bwMode="auto">
            <a:xfrm>
              <a:off x="2000232" y="3286124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018" name="TextBox 139"/>
            <p:cNvSpPr txBox="1">
              <a:spLocks noChangeArrowheads="1"/>
            </p:cNvSpPr>
            <p:nvPr/>
          </p:nvSpPr>
          <p:spPr bwMode="auto">
            <a:xfrm>
              <a:off x="1142976" y="3929066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019" name="TextBox 140"/>
            <p:cNvSpPr txBox="1">
              <a:spLocks noChangeArrowheads="1"/>
            </p:cNvSpPr>
            <p:nvPr/>
          </p:nvSpPr>
          <p:spPr bwMode="auto">
            <a:xfrm>
              <a:off x="714348" y="4857760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020" name="TextBox 141"/>
            <p:cNvSpPr txBox="1">
              <a:spLocks noChangeArrowheads="1"/>
            </p:cNvSpPr>
            <p:nvPr/>
          </p:nvSpPr>
          <p:spPr bwMode="auto">
            <a:xfrm>
              <a:off x="5357818" y="2488164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0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021" name="TextBox 142"/>
            <p:cNvSpPr txBox="1">
              <a:spLocks noChangeArrowheads="1"/>
            </p:cNvSpPr>
            <p:nvPr/>
          </p:nvSpPr>
          <p:spPr bwMode="auto">
            <a:xfrm>
              <a:off x="6929454" y="3286124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0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022" name="TextBox 143"/>
            <p:cNvSpPr txBox="1">
              <a:spLocks noChangeArrowheads="1"/>
            </p:cNvSpPr>
            <p:nvPr/>
          </p:nvSpPr>
          <p:spPr bwMode="auto">
            <a:xfrm>
              <a:off x="7715272" y="3988362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0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023" name="TextBox 144"/>
            <p:cNvSpPr txBox="1">
              <a:spLocks noChangeArrowheads="1"/>
            </p:cNvSpPr>
            <p:nvPr/>
          </p:nvSpPr>
          <p:spPr bwMode="auto">
            <a:xfrm>
              <a:off x="8143900" y="4845618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0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48" name="圆角矩形标注 147"/>
          <p:cNvSpPr/>
          <p:nvPr/>
        </p:nvSpPr>
        <p:spPr bwMode="auto">
          <a:xfrm>
            <a:off x="5286380" y="1357298"/>
            <a:ext cx="1571636" cy="714380"/>
          </a:xfrm>
          <a:prstGeom prst="wedgeRoundRectCallout">
            <a:avLst>
              <a:gd name="adj1" fmla="val -79133"/>
              <a:gd name="adj2" fmla="val 59898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X=[0,0,0,0]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0&lt;c1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9" name="圆角矩形标注 148"/>
          <p:cNvSpPr/>
          <p:nvPr/>
        </p:nvSpPr>
        <p:spPr bwMode="auto">
          <a:xfrm>
            <a:off x="928662" y="2000240"/>
            <a:ext cx="1500198" cy="714380"/>
          </a:xfrm>
          <a:prstGeom prst="wedgeRoundRectCallout">
            <a:avLst>
              <a:gd name="adj1" fmla="val 37624"/>
              <a:gd name="adj2" fmla="val 75508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X=[1,0,0,0]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8&lt;c1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1" name="圆角矩形标注 150"/>
          <p:cNvSpPr/>
          <p:nvPr/>
        </p:nvSpPr>
        <p:spPr bwMode="auto">
          <a:xfrm>
            <a:off x="71406" y="2786058"/>
            <a:ext cx="1500198" cy="714380"/>
          </a:xfrm>
          <a:prstGeom prst="wedgeRoundRectCallout">
            <a:avLst>
              <a:gd name="adj1" fmla="val 27961"/>
              <a:gd name="adj2" fmla="val 77069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X=[1,1,0,0]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= 14&gt;c1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2" name="圆角矩形标注 151"/>
          <p:cNvSpPr/>
          <p:nvPr/>
        </p:nvSpPr>
        <p:spPr bwMode="auto">
          <a:xfrm>
            <a:off x="3214678" y="2857496"/>
            <a:ext cx="1500198" cy="714380"/>
          </a:xfrm>
          <a:prstGeom prst="wedgeRoundRectCallout">
            <a:avLst>
              <a:gd name="adj1" fmla="val -29274"/>
              <a:gd name="adj2" fmla="val 64581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X=[1,0,0,0]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8&lt;c1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3" name="圆角矩形标注 152"/>
          <p:cNvSpPr/>
          <p:nvPr/>
        </p:nvSpPr>
        <p:spPr bwMode="auto">
          <a:xfrm>
            <a:off x="1500166" y="3714752"/>
            <a:ext cx="1500198" cy="714380"/>
          </a:xfrm>
          <a:prstGeom prst="wedgeRoundRectCallout">
            <a:avLst>
              <a:gd name="adj1" fmla="val 33908"/>
              <a:gd name="adj2" fmla="val 61459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X=[1,0,1,0]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10&lt;c1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4" name="圆角矩形标注 153"/>
          <p:cNvSpPr/>
          <p:nvPr/>
        </p:nvSpPr>
        <p:spPr bwMode="auto">
          <a:xfrm>
            <a:off x="1285852" y="6143620"/>
            <a:ext cx="1500198" cy="714380"/>
          </a:xfrm>
          <a:prstGeom prst="wedgeRoundRectCallout">
            <a:avLst>
              <a:gd name="adj1" fmla="val 35395"/>
              <a:gd name="adj2" fmla="val -68101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X=[1,0,1,1]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= 13&gt;c1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5" name="圆角矩形标注 154"/>
          <p:cNvSpPr/>
          <p:nvPr/>
        </p:nvSpPr>
        <p:spPr bwMode="auto">
          <a:xfrm>
            <a:off x="2857488" y="6143620"/>
            <a:ext cx="1500198" cy="714380"/>
          </a:xfrm>
          <a:prstGeom prst="wedgeRoundRectCallout">
            <a:avLst>
              <a:gd name="adj1" fmla="val -24070"/>
              <a:gd name="adj2" fmla="val -66540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X=[1,0,1,0]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10&lt;c1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6" name="圆角矩形标注 155"/>
          <p:cNvSpPr/>
          <p:nvPr/>
        </p:nvSpPr>
        <p:spPr bwMode="auto">
          <a:xfrm>
            <a:off x="4000496" y="3714752"/>
            <a:ext cx="1500198" cy="714380"/>
          </a:xfrm>
          <a:prstGeom prst="wedgeRoundRectCallout">
            <a:avLst>
              <a:gd name="adj1" fmla="val -35964"/>
              <a:gd name="adj2" fmla="val 56776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X=[1,0,0,0]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8&lt;c1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装载问题</a:t>
            </a:r>
            <a:endParaRPr lang="zh-CN" altLang="en-US" dirty="0" smtClean="0"/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8345488" cy="1228725"/>
          </a:xfrm>
        </p:spPr>
        <p:txBody>
          <a:bodyPr/>
          <a:lstStyle/>
          <a:p>
            <a:pPr lvl="1"/>
            <a:r>
              <a:rPr lang="zh-CN" altLang="en-US" smtClean="0"/>
              <a:t>假定</a:t>
            </a:r>
            <a:r>
              <a:rPr lang="en-US" altLang="zh-CN" smtClean="0"/>
              <a:t>n= 4</a:t>
            </a:r>
            <a:r>
              <a:rPr lang="zh-CN" altLang="en-US" smtClean="0"/>
              <a:t>，</a:t>
            </a:r>
            <a:r>
              <a:rPr lang="en-US" altLang="zh-CN" smtClean="0">
                <a:solidFill>
                  <a:srgbClr val="FF0000"/>
                </a:solidFill>
              </a:rPr>
              <a:t>w= [8,6,2,3]</a:t>
            </a:r>
            <a:r>
              <a:rPr lang="zh-CN" altLang="en-US" smtClean="0"/>
              <a:t>，</a:t>
            </a:r>
            <a:r>
              <a:rPr lang="en-US" altLang="zh-CN" smtClean="0">
                <a:solidFill>
                  <a:srgbClr val="FF0000"/>
                </a:solidFill>
              </a:rPr>
              <a:t>c1 = 12</a:t>
            </a:r>
            <a:r>
              <a:rPr lang="zh-CN" altLang="en-US" smtClean="0"/>
              <a:t>。</a:t>
            </a:r>
            <a:endParaRPr lang="en-US" altLang="zh-CN" smtClean="0"/>
          </a:p>
          <a:p>
            <a:pPr lvl="2"/>
            <a:r>
              <a:rPr lang="zh-CN" altLang="en-US" smtClean="0"/>
              <a:t>解空间树为</a:t>
            </a:r>
            <a:endParaRPr lang="en-US" altLang="zh-CN" smtClean="0"/>
          </a:p>
          <a:p>
            <a:pPr lvl="1"/>
            <a:endParaRPr lang="en-US" altLang="zh-CN" smtClean="0"/>
          </a:p>
        </p:txBody>
      </p:sp>
      <p:grpSp>
        <p:nvGrpSpPr>
          <p:cNvPr id="37892" name="组合 145"/>
          <p:cNvGrpSpPr/>
          <p:nvPr/>
        </p:nvGrpSpPr>
        <p:grpSpPr bwMode="auto">
          <a:xfrm>
            <a:off x="214313" y="2000250"/>
            <a:ext cx="8737600" cy="4000500"/>
            <a:chOff x="714348" y="2214554"/>
            <a:chExt cx="7801045" cy="3571900"/>
          </a:xfrm>
        </p:grpSpPr>
        <p:sp>
          <p:nvSpPr>
            <p:cNvPr id="7" name="椭圆 6"/>
            <p:cNvSpPr/>
            <p:nvPr/>
          </p:nvSpPr>
          <p:spPr bwMode="auto">
            <a:xfrm>
              <a:off x="4357686" y="2214554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A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500298" y="300037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B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6357950" y="300037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C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1500166" y="3714752"/>
              <a:ext cx="428660" cy="428628"/>
            </a:xfrm>
            <a:prstGeom prst="ellipse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D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3428992" y="371475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E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5357786" y="371475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F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7286644" y="371475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G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6858016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N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7786710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O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1" name="椭圆 20"/>
            <p:cNvSpPr/>
            <p:nvPr/>
          </p:nvSpPr>
          <p:spPr bwMode="auto">
            <a:xfrm>
              <a:off x="4857752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L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2" name="椭圆 21"/>
            <p:cNvSpPr/>
            <p:nvPr/>
          </p:nvSpPr>
          <p:spPr bwMode="auto">
            <a:xfrm>
              <a:off x="5857884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M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000068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H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4" name="椭圆 23"/>
            <p:cNvSpPr/>
            <p:nvPr/>
          </p:nvSpPr>
          <p:spPr bwMode="auto">
            <a:xfrm>
              <a:off x="2000200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I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5" name="椭圆 24"/>
            <p:cNvSpPr/>
            <p:nvPr/>
          </p:nvSpPr>
          <p:spPr bwMode="auto">
            <a:xfrm>
              <a:off x="2928926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J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6" name="椭圆 25"/>
            <p:cNvSpPr/>
            <p:nvPr/>
          </p:nvSpPr>
          <p:spPr bwMode="auto">
            <a:xfrm>
              <a:off x="3929026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K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7" name="椭圆 26"/>
            <p:cNvSpPr/>
            <p:nvPr/>
          </p:nvSpPr>
          <p:spPr bwMode="auto">
            <a:xfrm>
              <a:off x="5629268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Z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椭圆 27"/>
            <p:cNvSpPr/>
            <p:nvPr/>
          </p:nvSpPr>
          <p:spPr bwMode="auto">
            <a:xfrm>
              <a:off x="6612252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B'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椭圆 28"/>
            <p:cNvSpPr/>
            <p:nvPr/>
          </p:nvSpPr>
          <p:spPr bwMode="auto">
            <a:xfrm>
              <a:off x="4646284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X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0" name="椭圆 29"/>
            <p:cNvSpPr/>
            <p:nvPr/>
          </p:nvSpPr>
          <p:spPr bwMode="auto">
            <a:xfrm>
              <a:off x="5137776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Y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1" name="椭圆 30"/>
            <p:cNvSpPr/>
            <p:nvPr/>
          </p:nvSpPr>
          <p:spPr bwMode="auto">
            <a:xfrm>
              <a:off x="4154792" y="5357826"/>
              <a:ext cx="428660" cy="428628"/>
            </a:xfrm>
            <a:prstGeom prst="ellipse">
              <a:avLst/>
            </a:prstGeom>
            <a:solidFill>
              <a:srgbClr val="008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</a:rPr>
                <a:t>W</a:t>
              </a:r>
              <a:endPara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椭圆 31"/>
            <p:cNvSpPr/>
            <p:nvPr/>
          </p:nvSpPr>
          <p:spPr bwMode="auto">
            <a:xfrm>
              <a:off x="3663300" y="5357826"/>
              <a:ext cx="428660" cy="428628"/>
            </a:xfrm>
            <a:prstGeom prst="ellipse">
              <a:avLst/>
            </a:prstGeom>
            <a:solidFill>
              <a:srgbClr val="008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</a:rPr>
                <a:t>V</a:t>
              </a:r>
              <a:endPara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椭圆 32"/>
            <p:cNvSpPr/>
            <p:nvPr/>
          </p:nvSpPr>
          <p:spPr bwMode="auto">
            <a:xfrm>
              <a:off x="2680316" y="5357826"/>
              <a:ext cx="428660" cy="428628"/>
            </a:xfrm>
            <a:prstGeom prst="ellipse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T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4" name="椭圆 33"/>
            <p:cNvSpPr/>
            <p:nvPr/>
          </p:nvSpPr>
          <p:spPr bwMode="auto">
            <a:xfrm>
              <a:off x="3171808" y="5357826"/>
              <a:ext cx="428660" cy="428628"/>
            </a:xfrm>
            <a:prstGeom prst="ellipse">
              <a:avLst/>
            </a:prstGeom>
            <a:solidFill>
              <a:srgbClr val="008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</a:rPr>
                <a:t>U</a:t>
              </a:r>
              <a:endPara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5" name="椭圆 34"/>
            <p:cNvSpPr/>
            <p:nvPr/>
          </p:nvSpPr>
          <p:spPr bwMode="auto">
            <a:xfrm>
              <a:off x="1697332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R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6" name="椭圆 35"/>
            <p:cNvSpPr/>
            <p:nvPr/>
          </p:nvSpPr>
          <p:spPr bwMode="auto">
            <a:xfrm>
              <a:off x="2188824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S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椭圆 36"/>
            <p:cNvSpPr/>
            <p:nvPr/>
          </p:nvSpPr>
          <p:spPr bwMode="auto">
            <a:xfrm>
              <a:off x="714348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P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" name="椭圆 37"/>
            <p:cNvSpPr/>
            <p:nvPr/>
          </p:nvSpPr>
          <p:spPr bwMode="auto">
            <a:xfrm>
              <a:off x="1205840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Q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" name="椭圆 38"/>
            <p:cNvSpPr/>
            <p:nvPr/>
          </p:nvSpPr>
          <p:spPr bwMode="auto">
            <a:xfrm>
              <a:off x="7595236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D'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椭圆 39"/>
            <p:cNvSpPr/>
            <p:nvPr/>
          </p:nvSpPr>
          <p:spPr bwMode="auto">
            <a:xfrm>
              <a:off x="8086733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E'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 bwMode="auto">
            <a:xfrm>
              <a:off x="6120760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A'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椭圆 41"/>
            <p:cNvSpPr/>
            <p:nvPr/>
          </p:nvSpPr>
          <p:spPr bwMode="auto">
            <a:xfrm>
              <a:off x="7103744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C'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cxnSp>
          <p:nvCxnSpPr>
            <p:cNvPr id="38016" name="直接连接符 43"/>
            <p:cNvCxnSpPr>
              <a:cxnSpLocks noChangeShapeType="1"/>
              <a:stCxn id="0" idx="3"/>
              <a:endCxn id="0" idx="7"/>
            </p:cNvCxnSpPr>
            <p:nvPr/>
          </p:nvCxnSpPr>
          <p:spPr bwMode="auto">
            <a:xfrm rot="5400000">
              <a:off x="3401956" y="2044637"/>
              <a:ext cx="482732" cy="155428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17" name="直接连接符 46"/>
            <p:cNvCxnSpPr>
              <a:cxnSpLocks noChangeShapeType="1"/>
              <a:stCxn id="0" idx="5"/>
              <a:endCxn id="0" idx="1"/>
            </p:cNvCxnSpPr>
            <p:nvPr/>
          </p:nvCxnSpPr>
          <p:spPr bwMode="auto">
            <a:xfrm rot="16200000" flipH="1">
              <a:off x="5330782" y="1973199"/>
              <a:ext cx="482732" cy="169715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18" name="直接连接符 49"/>
            <p:cNvCxnSpPr>
              <a:cxnSpLocks noChangeShapeType="1"/>
              <a:stCxn id="0" idx="3"/>
              <a:endCxn id="0" idx="7"/>
            </p:cNvCxnSpPr>
            <p:nvPr/>
          </p:nvCxnSpPr>
          <p:spPr bwMode="auto">
            <a:xfrm rot="5400000">
              <a:off x="2008915" y="3223364"/>
              <a:ext cx="411294" cy="69702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19" name="直接连接符 50"/>
            <p:cNvCxnSpPr>
              <a:cxnSpLocks noChangeShapeType="1"/>
              <a:stCxn id="0" idx="5"/>
              <a:endCxn id="0" idx="1"/>
            </p:cNvCxnSpPr>
            <p:nvPr/>
          </p:nvCxnSpPr>
          <p:spPr bwMode="auto">
            <a:xfrm rot="16200000" flipH="1">
              <a:off x="2973328" y="3259083"/>
              <a:ext cx="411294" cy="62558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20" name="直接连接符 55"/>
            <p:cNvCxnSpPr>
              <a:cxnSpLocks noChangeShapeType="1"/>
              <a:stCxn id="0" idx="3"/>
              <a:endCxn id="0" idx="7"/>
            </p:cNvCxnSpPr>
            <p:nvPr/>
          </p:nvCxnSpPr>
          <p:spPr bwMode="auto">
            <a:xfrm rot="5400000">
              <a:off x="5866551" y="3223348"/>
              <a:ext cx="411294" cy="69705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21" name="直接连接符 56"/>
            <p:cNvCxnSpPr>
              <a:cxnSpLocks noChangeShapeType="1"/>
              <a:stCxn id="0" idx="5"/>
              <a:endCxn id="0" idx="1"/>
            </p:cNvCxnSpPr>
            <p:nvPr/>
          </p:nvCxnSpPr>
          <p:spPr bwMode="auto">
            <a:xfrm rot="16200000" flipH="1">
              <a:off x="6830980" y="3259083"/>
              <a:ext cx="411294" cy="62558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22" name="直接连接符 61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1214409" y="4080598"/>
              <a:ext cx="348523" cy="34854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23" name="直接连接符 62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1866029" y="4080630"/>
              <a:ext cx="348523" cy="34848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24" name="直接连接符 63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7036622" y="4116333"/>
              <a:ext cx="348523" cy="27707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25" name="直接连接符 64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7652523" y="4080614"/>
              <a:ext cx="348523" cy="34851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26" name="直接连接符 69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3143251" y="4080614"/>
              <a:ext cx="348523" cy="34851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27" name="直接连接符 70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3794855" y="4080630"/>
              <a:ext cx="348523" cy="34848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28" name="直接连接符 71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5072061" y="4080630"/>
              <a:ext cx="348523" cy="34848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29" name="直接连接符 72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5723681" y="4080598"/>
              <a:ext cx="348523" cy="34854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30" name="直接连接符 85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714343" y="5009324"/>
              <a:ext cx="562837" cy="13416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31" name="直接连接符 86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1111643" y="5049298"/>
              <a:ext cx="562837" cy="54218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32" name="直接连接符 92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1705901" y="5000750"/>
              <a:ext cx="562837" cy="15131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33" name="直接连接符 93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2103201" y="5057872"/>
              <a:ext cx="562837" cy="3707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34" name="直接连接符 94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2661756" y="5027879"/>
              <a:ext cx="562837" cy="9705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35" name="直接连接符 95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3059056" y="5030743"/>
              <a:ext cx="562837" cy="91328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36" name="直接连接符 96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3653298" y="5019321"/>
              <a:ext cx="562837" cy="11417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37" name="直接连接符 97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4050598" y="5039301"/>
              <a:ext cx="562837" cy="7421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38" name="直接连接符 98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4609153" y="5046450"/>
              <a:ext cx="562837" cy="5991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39" name="直接连接符 99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5006453" y="5012172"/>
              <a:ext cx="562837" cy="12847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40" name="直接连接符 100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5600711" y="5037876"/>
              <a:ext cx="562837" cy="7706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41" name="直接连接符 101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5998011" y="5020746"/>
              <a:ext cx="562837" cy="11132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42" name="直接连接符 102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6592269" y="5029302"/>
              <a:ext cx="562837" cy="9421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43" name="直接连接符 103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6989569" y="5029320"/>
              <a:ext cx="562837" cy="9417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44" name="直接连接符 104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7548108" y="5056447"/>
              <a:ext cx="562837" cy="3992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8045" name="直接连接符 105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7945410" y="5002172"/>
              <a:ext cx="562837" cy="148469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sp>
          <p:nvSpPr>
            <p:cNvPr id="38046" name="TextBox 137"/>
            <p:cNvSpPr txBox="1">
              <a:spLocks noChangeArrowheads="1"/>
            </p:cNvSpPr>
            <p:nvPr/>
          </p:nvSpPr>
          <p:spPr bwMode="auto">
            <a:xfrm>
              <a:off x="3428992" y="2500306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047" name="TextBox 138"/>
            <p:cNvSpPr txBox="1">
              <a:spLocks noChangeArrowheads="1"/>
            </p:cNvSpPr>
            <p:nvPr/>
          </p:nvSpPr>
          <p:spPr bwMode="auto">
            <a:xfrm>
              <a:off x="2000232" y="3286124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048" name="TextBox 139"/>
            <p:cNvSpPr txBox="1">
              <a:spLocks noChangeArrowheads="1"/>
            </p:cNvSpPr>
            <p:nvPr/>
          </p:nvSpPr>
          <p:spPr bwMode="auto">
            <a:xfrm>
              <a:off x="1142976" y="3929066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049" name="TextBox 140"/>
            <p:cNvSpPr txBox="1">
              <a:spLocks noChangeArrowheads="1"/>
            </p:cNvSpPr>
            <p:nvPr/>
          </p:nvSpPr>
          <p:spPr bwMode="auto">
            <a:xfrm>
              <a:off x="714348" y="4857760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050" name="TextBox 141"/>
            <p:cNvSpPr txBox="1">
              <a:spLocks noChangeArrowheads="1"/>
            </p:cNvSpPr>
            <p:nvPr/>
          </p:nvSpPr>
          <p:spPr bwMode="auto">
            <a:xfrm>
              <a:off x="5357818" y="2488164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0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051" name="TextBox 142"/>
            <p:cNvSpPr txBox="1">
              <a:spLocks noChangeArrowheads="1"/>
            </p:cNvSpPr>
            <p:nvPr/>
          </p:nvSpPr>
          <p:spPr bwMode="auto">
            <a:xfrm>
              <a:off x="6929454" y="3286124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0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052" name="TextBox 143"/>
            <p:cNvSpPr txBox="1">
              <a:spLocks noChangeArrowheads="1"/>
            </p:cNvSpPr>
            <p:nvPr/>
          </p:nvSpPr>
          <p:spPr bwMode="auto">
            <a:xfrm>
              <a:off x="7715272" y="3988362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0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053" name="TextBox 144"/>
            <p:cNvSpPr txBox="1">
              <a:spLocks noChangeArrowheads="1"/>
            </p:cNvSpPr>
            <p:nvPr/>
          </p:nvSpPr>
          <p:spPr bwMode="auto">
            <a:xfrm>
              <a:off x="8143900" y="4845618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0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48" name="圆角矩形标注 147"/>
          <p:cNvSpPr/>
          <p:nvPr/>
        </p:nvSpPr>
        <p:spPr bwMode="auto">
          <a:xfrm>
            <a:off x="5286380" y="1357298"/>
            <a:ext cx="1571636" cy="714380"/>
          </a:xfrm>
          <a:prstGeom prst="wedgeRoundRectCallout">
            <a:avLst>
              <a:gd name="adj1" fmla="val -79133"/>
              <a:gd name="adj2" fmla="val 59898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X=[0,0,0,0]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0&lt;c1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9" name="圆角矩形标注 148"/>
          <p:cNvSpPr/>
          <p:nvPr/>
        </p:nvSpPr>
        <p:spPr bwMode="auto">
          <a:xfrm>
            <a:off x="928662" y="2000240"/>
            <a:ext cx="1500198" cy="714380"/>
          </a:xfrm>
          <a:prstGeom prst="wedgeRoundRectCallout">
            <a:avLst>
              <a:gd name="adj1" fmla="val 37624"/>
              <a:gd name="adj2" fmla="val 75508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X=[1,0,0,0]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8&lt;c1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1" name="圆角矩形标注 150"/>
          <p:cNvSpPr/>
          <p:nvPr/>
        </p:nvSpPr>
        <p:spPr bwMode="auto">
          <a:xfrm>
            <a:off x="71406" y="2786058"/>
            <a:ext cx="1500198" cy="714380"/>
          </a:xfrm>
          <a:prstGeom prst="wedgeRoundRectCallout">
            <a:avLst>
              <a:gd name="adj1" fmla="val 27961"/>
              <a:gd name="adj2" fmla="val 77069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X=[1,1,0,0]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= 14&gt;c1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2" name="圆角矩形标注 151"/>
          <p:cNvSpPr/>
          <p:nvPr/>
        </p:nvSpPr>
        <p:spPr bwMode="auto">
          <a:xfrm>
            <a:off x="3214678" y="2857496"/>
            <a:ext cx="1500198" cy="714380"/>
          </a:xfrm>
          <a:prstGeom prst="wedgeRoundRectCallout">
            <a:avLst>
              <a:gd name="adj1" fmla="val -29274"/>
              <a:gd name="adj2" fmla="val 64581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X=[1,0,0,0]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8&lt;c1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3" name="圆角矩形标注 152"/>
          <p:cNvSpPr/>
          <p:nvPr/>
        </p:nvSpPr>
        <p:spPr bwMode="auto">
          <a:xfrm>
            <a:off x="1500166" y="3714752"/>
            <a:ext cx="1500198" cy="714380"/>
          </a:xfrm>
          <a:prstGeom prst="wedgeRoundRectCallout">
            <a:avLst>
              <a:gd name="adj1" fmla="val 33908"/>
              <a:gd name="adj2" fmla="val 61459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X=[1,0,1,0]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10&lt;c1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4" name="圆角矩形标注 153"/>
          <p:cNvSpPr/>
          <p:nvPr/>
        </p:nvSpPr>
        <p:spPr bwMode="auto">
          <a:xfrm>
            <a:off x="2214546" y="6143620"/>
            <a:ext cx="500066" cy="428652"/>
          </a:xfrm>
          <a:prstGeom prst="wedgeRoundRectCallout">
            <a:avLst>
              <a:gd name="adj1" fmla="val 35395"/>
              <a:gd name="adj2" fmla="val -68101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13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5" name="圆角矩形标注 154"/>
          <p:cNvSpPr/>
          <p:nvPr/>
        </p:nvSpPr>
        <p:spPr bwMode="auto">
          <a:xfrm>
            <a:off x="3500430" y="6143620"/>
            <a:ext cx="1500198" cy="714380"/>
          </a:xfrm>
          <a:prstGeom prst="wedgeRoundRectCallout">
            <a:avLst>
              <a:gd name="adj1" fmla="val -32990"/>
              <a:gd name="adj2" fmla="val -66540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X=[1,0,0,1]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11&lt;c1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6" name="圆角矩形标注 155"/>
          <p:cNvSpPr/>
          <p:nvPr/>
        </p:nvSpPr>
        <p:spPr bwMode="auto">
          <a:xfrm>
            <a:off x="4000496" y="3714752"/>
            <a:ext cx="1500198" cy="714380"/>
          </a:xfrm>
          <a:prstGeom prst="wedgeRoundRectCallout">
            <a:avLst>
              <a:gd name="adj1" fmla="val -35964"/>
              <a:gd name="adj2" fmla="val 56776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X=[1,0,0,0]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8&lt;c1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2" name="圆角矩形标注 81"/>
          <p:cNvSpPr/>
          <p:nvPr/>
        </p:nvSpPr>
        <p:spPr bwMode="auto">
          <a:xfrm>
            <a:off x="2786050" y="6143620"/>
            <a:ext cx="500066" cy="428652"/>
          </a:xfrm>
          <a:prstGeom prst="wedgeRoundRectCallout">
            <a:avLst>
              <a:gd name="adj1" fmla="val 32917"/>
              <a:gd name="adj2" fmla="val -76945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10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3" name="圆角矩形标注 82"/>
          <p:cNvSpPr/>
          <p:nvPr/>
        </p:nvSpPr>
        <p:spPr bwMode="auto">
          <a:xfrm>
            <a:off x="4357686" y="5000636"/>
            <a:ext cx="357190" cy="428652"/>
          </a:xfrm>
          <a:prstGeom prst="wedgeRoundRectCallout">
            <a:avLst>
              <a:gd name="adj1" fmla="val -33982"/>
              <a:gd name="adj2" fmla="val 76541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8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装载问题</a:t>
            </a:r>
            <a:endParaRPr lang="zh-CN" altLang="en-US" dirty="0" smtClean="0"/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8345488" cy="1228725"/>
          </a:xfrm>
        </p:spPr>
        <p:txBody>
          <a:bodyPr/>
          <a:lstStyle/>
          <a:p>
            <a:pPr lvl="1"/>
            <a:r>
              <a:rPr lang="zh-CN" altLang="en-US" smtClean="0"/>
              <a:t>假定</a:t>
            </a:r>
            <a:r>
              <a:rPr lang="en-US" altLang="zh-CN" smtClean="0"/>
              <a:t>n= 4</a:t>
            </a:r>
            <a:r>
              <a:rPr lang="zh-CN" altLang="en-US" smtClean="0"/>
              <a:t>，</a:t>
            </a:r>
            <a:r>
              <a:rPr lang="en-US" altLang="zh-CN" smtClean="0"/>
              <a:t>w= [8,6,2,3]</a:t>
            </a:r>
            <a:r>
              <a:rPr lang="zh-CN" altLang="en-US" smtClean="0"/>
              <a:t>，</a:t>
            </a:r>
            <a:r>
              <a:rPr lang="en-US" altLang="zh-CN" smtClean="0"/>
              <a:t>c1 = 12</a:t>
            </a:r>
            <a:r>
              <a:rPr lang="zh-CN" altLang="en-US" smtClean="0"/>
              <a:t>。</a:t>
            </a:r>
            <a:endParaRPr lang="en-US" altLang="zh-CN" smtClean="0"/>
          </a:p>
          <a:p>
            <a:pPr lvl="2"/>
            <a:r>
              <a:rPr lang="zh-CN" altLang="en-US" smtClean="0"/>
              <a:t>解空间树为</a:t>
            </a:r>
            <a:endParaRPr lang="en-US" altLang="zh-CN" smtClean="0"/>
          </a:p>
          <a:p>
            <a:pPr lvl="1"/>
            <a:endParaRPr lang="en-US" altLang="zh-CN" smtClean="0"/>
          </a:p>
        </p:txBody>
      </p:sp>
      <p:grpSp>
        <p:nvGrpSpPr>
          <p:cNvPr id="38916" name="组合 145"/>
          <p:cNvGrpSpPr/>
          <p:nvPr/>
        </p:nvGrpSpPr>
        <p:grpSpPr bwMode="auto">
          <a:xfrm>
            <a:off x="214313" y="2000250"/>
            <a:ext cx="8737600" cy="4000500"/>
            <a:chOff x="714348" y="2214554"/>
            <a:chExt cx="7801045" cy="3571900"/>
          </a:xfrm>
        </p:grpSpPr>
        <p:sp>
          <p:nvSpPr>
            <p:cNvPr id="7" name="椭圆 6"/>
            <p:cNvSpPr/>
            <p:nvPr/>
          </p:nvSpPr>
          <p:spPr bwMode="auto">
            <a:xfrm>
              <a:off x="4357686" y="2214554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A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500298" y="300037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B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6357950" y="300037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C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1500166" y="3714752"/>
              <a:ext cx="428660" cy="428628"/>
            </a:xfrm>
            <a:prstGeom prst="ellipse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D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3428992" y="371475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E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5357786" y="371475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F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7286644" y="371475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G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6858016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N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7786710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O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1" name="椭圆 20"/>
            <p:cNvSpPr/>
            <p:nvPr/>
          </p:nvSpPr>
          <p:spPr bwMode="auto">
            <a:xfrm>
              <a:off x="4857752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L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2" name="椭圆 21"/>
            <p:cNvSpPr/>
            <p:nvPr/>
          </p:nvSpPr>
          <p:spPr bwMode="auto">
            <a:xfrm>
              <a:off x="5857884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M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1000068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H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4" name="椭圆 23"/>
            <p:cNvSpPr/>
            <p:nvPr/>
          </p:nvSpPr>
          <p:spPr bwMode="auto">
            <a:xfrm>
              <a:off x="2000200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I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5" name="椭圆 24"/>
            <p:cNvSpPr/>
            <p:nvPr/>
          </p:nvSpPr>
          <p:spPr bwMode="auto">
            <a:xfrm>
              <a:off x="2928926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J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6" name="椭圆 25"/>
            <p:cNvSpPr/>
            <p:nvPr/>
          </p:nvSpPr>
          <p:spPr bwMode="auto">
            <a:xfrm>
              <a:off x="3929026" y="4429132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K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7" name="椭圆 26"/>
            <p:cNvSpPr/>
            <p:nvPr/>
          </p:nvSpPr>
          <p:spPr bwMode="auto">
            <a:xfrm>
              <a:off x="5629268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Z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椭圆 27"/>
            <p:cNvSpPr/>
            <p:nvPr/>
          </p:nvSpPr>
          <p:spPr bwMode="auto">
            <a:xfrm>
              <a:off x="6612252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B'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椭圆 28"/>
            <p:cNvSpPr/>
            <p:nvPr/>
          </p:nvSpPr>
          <p:spPr bwMode="auto">
            <a:xfrm>
              <a:off x="4646284" y="5357826"/>
              <a:ext cx="428660" cy="428628"/>
            </a:xfrm>
            <a:prstGeom prst="ellipse">
              <a:avLst/>
            </a:prstGeom>
            <a:solidFill>
              <a:srgbClr val="008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</a:rPr>
                <a:t>X</a:t>
              </a:r>
              <a:endPara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0" name="椭圆 29"/>
            <p:cNvSpPr/>
            <p:nvPr/>
          </p:nvSpPr>
          <p:spPr bwMode="auto">
            <a:xfrm>
              <a:off x="5137776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Y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1" name="椭圆 30"/>
            <p:cNvSpPr/>
            <p:nvPr/>
          </p:nvSpPr>
          <p:spPr bwMode="auto">
            <a:xfrm>
              <a:off x="4154792" y="5357826"/>
              <a:ext cx="428660" cy="428628"/>
            </a:xfrm>
            <a:prstGeom prst="ellipse">
              <a:avLst/>
            </a:prstGeom>
            <a:solidFill>
              <a:srgbClr val="008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</a:rPr>
                <a:t>W</a:t>
              </a:r>
              <a:endPara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椭圆 31"/>
            <p:cNvSpPr/>
            <p:nvPr/>
          </p:nvSpPr>
          <p:spPr bwMode="auto">
            <a:xfrm>
              <a:off x="3663300" y="5357826"/>
              <a:ext cx="428660" cy="428628"/>
            </a:xfrm>
            <a:prstGeom prst="ellipse">
              <a:avLst/>
            </a:prstGeom>
            <a:solidFill>
              <a:srgbClr val="008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</a:rPr>
                <a:t>V</a:t>
              </a:r>
              <a:endPara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椭圆 32"/>
            <p:cNvSpPr/>
            <p:nvPr/>
          </p:nvSpPr>
          <p:spPr bwMode="auto">
            <a:xfrm>
              <a:off x="2680316" y="5357826"/>
              <a:ext cx="428660" cy="428628"/>
            </a:xfrm>
            <a:prstGeom prst="ellipse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T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4" name="椭圆 33"/>
            <p:cNvSpPr/>
            <p:nvPr/>
          </p:nvSpPr>
          <p:spPr bwMode="auto">
            <a:xfrm>
              <a:off x="3171808" y="5357826"/>
              <a:ext cx="428660" cy="428628"/>
            </a:xfrm>
            <a:prstGeom prst="ellipse">
              <a:avLst/>
            </a:prstGeom>
            <a:solidFill>
              <a:srgbClr val="008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</a:rPr>
                <a:t>U</a:t>
              </a:r>
              <a:endPara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5" name="椭圆 34"/>
            <p:cNvSpPr/>
            <p:nvPr/>
          </p:nvSpPr>
          <p:spPr bwMode="auto">
            <a:xfrm>
              <a:off x="1697332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R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6" name="椭圆 35"/>
            <p:cNvSpPr/>
            <p:nvPr/>
          </p:nvSpPr>
          <p:spPr bwMode="auto">
            <a:xfrm>
              <a:off x="2188824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S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椭圆 36"/>
            <p:cNvSpPr/>
            <p:nvPr/>
          </p:nvSpPr>
          <p:spPr bwMode="auto">
            <a:xfrm>
              <a:off x="714348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P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" name="椭圆 37"/>
            <p:cNvSpPr/>
            <p:nvPr/>
          </p:nvSpPr>
          <p:spPr bwMode="auto">
            <a:xfrm>
              <a:off x="1205840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Q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" name="椭圆 38"/>
            <p:cNvSpPr/>
            <p:nvPr/>
          </p:nvSpPr>
          <p:spPr bwMode="auto">
            <a:xfrm>
              <a:off x="7595236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D'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椭圆 39"/>
            <p:cNvSpPr/>
            <p:nvPr/>
          </p:nvSpPr>
          <p:spPr bwMode="auto">
            <a:xfrm>
              <a:off x="8086733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E'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 bwMode="auto">
            <a:xfrm>
              <a:off x="6120760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A'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椭圆 41"/>
            <p:cNvSpPr/>
            <p:nvPr/>
          </p:nvSpPr>
          <p:spPr bwMode="auto">
            <a:xfrm>
              <a:off x="7103744" y="5357826"/>
              <a:ext cx="428660" cy="428628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C'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cxnSp>
          <p:nvCxnSpPr>
            <p:cNvPr id="39037" name="直接连接符 43"/>
            <p:cNvCxnSpPr>
              <a:cxnSpLocks noChangeShapeType="1"/>
              <a:stCxn id="0" idx="3"/>
              <a:endCxn id="0" idx="7"/>
            </p:cNvCxnSpPr>
            <p:nvPr/>
          </p:nvCxnSpPr>
          <p:spPr bwMode="auto">
            <a:xfrm rot="5400000">
              <a:off x="3401956" y="2044637"/>
              <a:ext cx="482732" cy="155428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38" name="直接连接符 46"/>
            <p:cNvCxnSpPr>
              <a:cxnSpLocks noChangeShapeType="1"/>
              <a:stCxn id="0" idx="5"/>
              <a:endCxn id="0" idx="1"/>
            </p:cNvCxnSpPr>
            <p:nvPr/>
          </p:nvCxnSpPr>
          <p:spPr bwMode="auto">
            <a:xfrm rot="16200000" flipH="1">
              <a:off x="5330782" y="1973199"/>
              <a:ext cx="482732" cy="169715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39" name="直接连接符 49"/>
            <p:cNvCxnSpPr>
              <a:cxnSpLocks noChangeShapeType="1"/>
              <a:stCxn id="0" idx="3"/>
              <a:endCxn id="0" idx="7"/>
            </p:cNvCxnSpPr>
            <p:nvPr/>
          </p:nvCxnSpPr>
          <p:spPr bwMode="auto">
            <a:xfrm rot="5400000">
              <a:off x="2008915" y="3223364"/>
              <a:ext cx="411294" cy="69702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40" name="直接连接符 50"/>
            <p:cNvCxnSpPr>
              <a:cxnSpLocks noChangeShapeType="1"/>
              <a:stCxn id="0" idx="5"/>
              <a:endCxn id="0" idx="1"/>
            </p:cNvCxnSpPr>
            <p:nvPr/>
          </p:nvCxnSpPr>
          <p:spPr bwMode="auto">
            <a:xfrm rot="16200000" flipH="1">
              <a:off x="2973328" y="3259083"/>
              <a:ext cx="411294" cy="62558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41" name="直接连接符 55"/>
            <p:cNvCxnSpPr>
              <a:cxnSpLocks noChangeShapeType="1"/>
              <a:stCxn id="0" idx="3"/>
              <a:endCxn id="0" idx="7"/>
            </p:cNvCxnSpPr>
            <p:nvPr/>
          </p:nvCxnSpPr>
          <p:spPr bwMode="auto">
            <a:xfrm rot="5400000">
              <a:off x="5866551" y="3223348"/>
              <a:ext cx="411294" cy="69705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42" name="直接连接符 56"/>
            <p:cNvCxnSpPr>
              <a:cxnSpLocks noChangeShapeType="1"/>
              <a:stCxn id="0" idx="5"/>
              <a:endCxn id="0" idx="1"/>
            </p:cNvCxnSpPr>
            <p:nvPr/>
          </p:nvCxnSpPr>
          <p:spPr bwMode="auto">
            <a:xfrm rot="16200000" flipH="1">
              <a:off x="6830980" y="3259083"/>
              <a:ext cx="411294" cy="62558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43" name="直接连接符 61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1214409" y="4080598"/>
              <a:ext cx="348523" cy="34854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44" name="直接连接符 62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1866029" y="4080630"/>
              <a:ext cx="348523" cy="34848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45" name="直接连接符 63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7036622" y="4116333"/>
              <a:ext cx="348523" cy="27707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46" name="直接连接符 64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7652523" y="4080614"/>
              <a:ext cx="348523" cy="34851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47" name="直接连接符 69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3143251" y="4080614"/>
              <a:ext cx="348523" cy="34851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48" name="直接连接符 70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3794855" y="4080630"/>
              <a:ext cx="348523" cy="34848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49" name="直接连接符 71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5072061" y="4080630"/>
              <a:ext cx="348523" cy="34848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50" name="直接连接符 72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5723681" y="4080598"/>
              <a:ext cx="348523" cy="34854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51" name="直接连接符 85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714343" y="5009324"/>
              <a:ext cx="562837" cy="13416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52" name="直接连接符 86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1111643" y="5049298"/>
              <a:ext cx="562837" cy="54218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53" name="直接连接符 92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1705901" y="5000750"/>
              <a:ext cx="562837" cy="15131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54" name="直接连接符 93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2103201" y="5057872"/>
              <a:ext cx="562837" cy="3707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55" name="直接连接符 94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2661756" y="5027879"/>
              <a:ext cx="562837" cy="97056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56" name="直接连接符 95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3059056" y="5030743"/>
              <a:ext cx="562837" cy="91328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57" name="直接连接符 96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3653298" y="5019321"/>
              <a:ext cx="562837" cy="11417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58" name="直接连接符 97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4050598" y="5039301"/>
              <a:ext cx="562837" cy="7421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59" name="直接连接符 98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4609153" y="5046450"/>
              <a:ext cx="562837" cy="5991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60" name="直接连接符 99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5006453" y="5012172"/>
              <a:ext cx="562837" cy="12847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61" name="直接连接符 100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5600711" y="5037876"/>
              <a:ext cx="562837" cy="7706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62" name="直接连接符 101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5998011" y="5020746"/>
              <a:ext cx="562837" cy="111322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63" name="直接连接符 102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6592269" y="5029302"/>
              <a:ext cx="562837" cy="9421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64" name="直接连接符 103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6989569" y="5029320"/>
              <a:ext cx="562837" cy="94174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65" name="直接连接符 104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7548108" y="5056447"/>
              <a:ext cx="562837" cy="39920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cxnSp>
          <p:nvCxnSpPr>
            <p:cNvPr id="39066" name="直接连接符 105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7945410" y="5002172"/>
              <a:ext cx="562837" cy="148469"/>
            </a:xfrm>
            <a:prstGeom prst="line">
              <a:avLst/>
            </a:prstGeom>
            <a:noFill/>
            <a:ln w="28575" algn="ctr">
              <a:solidFill>
                <a:srgbClr val="0070C0"/>
              </a:solidFill>
              <a:round/>
            </a:ln>
          </p:spPr>
        </p:cxnSp>
        <p:sp>
          <p:nvSpPr>
            <p:cNvPr id="39067" name="TextBox 137"/>
            <p:cNvSpPr txBox="1">
              <a:spLocks noChangeArrowheads="1"/>
            </p:cNvSpPr>
            <p:nvPr/>
          </p:nvSpPr>
          <p:spPr bwMode="auto">
            <a:xfrm>
              <a:off x="3428992" y="2500306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068" name="TextBox 138"/>
            <p:cNvSpPr txBox="1">
              <a:spLocks noChangeArrowheads="1"/>
            </p:cNvSpPr>
            <p:nvPr/>
          </p:nvSpPr>
          <p:spPr bwMode="auto">
            <a:xfrm>
              <a:off x="2000232" y="3286124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069" name="TextBox 139"/>
            <p:cNvSpPr txBox="1">
              <a:spLocks noChangeArrowheads="1"/>
            </p:cNvSpPr>
            <p:nvPr/>
          </p:nvSpPr>
          <p:spPr bwMode="auto">
            <a:xfrm>
              <a:off x="1142976" y="3929066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070" name="TextBox 140"/>
            <p:cNvSpPr txBox="1">
              <a:spLocks noChangeArrowheads="1"/>
            </p:cNvSpPr>
            <p:nvPr/>
          </p:nvSpPr>
          <p:spPr bwMode="auto">
            <a:xfrm>
              <a:off x="714348" y="4857760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071" name="TextBox 141"/>
            <p:cNvSpPr txBox="1">
              <a:spLocks noChangeArrowheads="1"/>
            </p:cNvSpPr>
            <p:nvPr/>
          </p:nvSpPr>
          <p:spPr bwMode="auto">
            <a:xfrm>
              <a:off x="5357818" y="2488164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0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072" name="TextBox 142"/>
            <p:cNvSpPr txBox="1">
              <a:spLocks noChangeArrowheads="1"/>
            </p:cNvSpPr>
            <p:nvPr/>
          </p:nvSpPr>
          <p:spPr bwMode="auto">
            <a:xfrm>
              <a:off x="6929454" y="3286124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0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073" name="TextBox 143"/>
            <p:cNvSpPr txBox="1">
              <a:spLocks noChangeArrowheads="1"/>
            </p:cNvSpPr>
            <p:nvPr/>
          </p:nvSpPr>
          <p:spPr bwMode="auto">
            <a:xfrm>
              <a:off x="7715272" y="3988362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0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9074" name="TextBox 144"/>
            <p:cNvSpPr txBox="1">
              <a:spLocks noChangeArrowheads="1"/>
            </p:cNvSpPr>
            <p:nvPr/>
          </p:nvSpPr>
          <p:spPr bwMode="auto">
            <a:xfrm>
              <a:off x="8143900" y="4845618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0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48" name="圆角矩形标注 147"/>
          <p:cNvSpPr/>
          <p:nvPr/>
        </p:nvSpPr>
        <p:spPr bwMode="auto">
          <a:xfrm>
            <a:off x="5286380" y="1357298"/>
            <a:ext cx="1571636" cy="714380"/>
          </a:xfrm>
          <a:prstGeom prst="wedgeRoundRectCallout">
            <a:avLst>
              <a:gd name="adj1" fmla="val -79133"/>
              <a:gd name="adj2" fmla="val 59898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X=[0,0,0,0]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0&lt;c1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4" name="圆角矩形标注 153"/>
          <p:cNvSpPr/>
          <p:nvPr/>
        </p:nvSpPr>
        <p:spPr bwMode="auto">
          <a:xfrm>
            <a:off x="2285984" y="6143620"/>
            <a:ext cx="500066" cy="428652"/>
          </a:xfrm>
          <a:prstGeom prst="wedgeRoundRectCallout">
            <a:avLst>
              <a:gd name="adj1" fmla="val 22015"/>
              <a:gd name="adj2" fmla="val -70703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</a:rPr>
              <a:t>13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2" name="圆角矩形标注 81"/>
          <p:cNvSpPr/>
          <p:nvPr/>
        </p:nvSpPr>
        <p:spPr bwMode="auto">
          <a:xfrm>
            <a:off x="2857488" y="6143620"/>
            <a:ext cx="500066" cy="428652"/>
          </a:xfrm>
          <a:prstGeom prst="wedgeRoundRectCallout">
            <a:avLst>
              <a:gd name="adj1" fmla="val 32917"/>
              <a:gd name="adj2" fmla="val -76945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10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4" name="圆角矩形标注 83"/>
          <p:cNvSpPr/>
          <p:nvPr/>
        </p:nvSpPr>
        <p:spPr bwMode="auto">
          <a:xfrm>
            <a:off x="3428992" y="6143644"/>
            <a:ext cx="500066" cy="428652"/>
          </a:xfrm>
          <a:prstGeom prst="wedgeRoundRectCallout">
            <a:avLst>
              <a:gd name="adj1" fmla="val 32917"/>
              <a:gd name="adj2" fmla="val -76945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11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5" name="圆角矩形标注 84"/>
          <p:cNvSpPr/>
          <p:nvPr/>
        </p:nvSpPr>
        <p:spPr bwMode="auto">
          <a:xfrm>
            <a:off x="4000496" y="6143644"/>
            <a:ext cx="357190" cy="428652"/>
          </a:xfrm>
          <a:prstGeom prst="wedgeRoundRectCallout">
            <a:avLst>
              <a:gd name="adj1" fmla="val 28457"/>
              <a:gd name="adj2" fmla="val -89952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8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圆角矩形标注 87"/>
          <p:cNvSpPr/>
          <p:nvPr/>
        </p:nvSpPr>
        <p:spPr bwMode="auto">
          <a:xfrm>
            <a:off x="7000892" y="2214554"/>
            <a:ext cx="1571636" cy="714380"/>
          </a:xfrm>
          <a:prstGeom prst="wedgeRoundRectCallout">
            <a:avLst>
              <a:gd name="adj1" fmla="val -58557"/>
              <a:gd name="adj2" fmla="val 50532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X=[0,0,0,0]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0&lt;c1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9" name="圆角矩形标注 88"/>
          <p:cNvSpPr/>
          <p:nvPr/>
        </p:nvSpPr>
        <p:spPr bwMode="auto">
          <a:xfrm>
            <a:off x="3857620" y="3071810"/>
            <a:ext cx="1571636" cy="714380"/>
          </a:xfrm>
          <a:prstGeom prst="wedgeRoundRectCallout">
            <a:avLst>
              <a:gd name="adj1" fmla="val 59226"/>
              <a:gd name="adj2" fmla="val 33361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X=[0,1,0,0]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6&lt;c1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0" name="圆角矩形标注 89"/>
          <p:cNvSpPr/>
          <p:nvPr/>
        </p:nvSpPr>
        <p:spPr bwMode="auto">
          <a:xfrm>
            <a:off x="3286116" y="3857628"/>
            <a:ext cx="1571636" cy="714380"/>
          </a:xfrm>
          <a:prstGeom prst="wedgeRoundRectCallout">
            <a:avLst>
              <a:gd name="adj1" fmla="val 59226"/>
              <a:gd name="adj2" fmla="val 33361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X=[0,1,1,0]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8&lt;c1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1" name="圆角矩形标注 90"/>
          <p:cNvSpPr/>
          <p:nvPr/>
        </p:nvSpPr>
        <p:spPr bwMode="auto">
          <a:xfrm>
            <a:off x="4429124" y="6143620"/>
            <a:ext cx="1500198" cy="714380"/>
          </a:xfrm>
          <a:prstGeom prst="wedgeRoundRectCallout">
            <a:avLst>
              <a:gd name="adj1" fmla="val -20354"/>
              <a:gd name="adj2" fmla="val -71223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X=[0,1,1,1]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</a:rPr>
              <a:t>cw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 11&lt;c1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装载问题</a:t>
            </a:r>
            <a:endParaRPr lang="zh-CN" altLang="en-US" dirty="0" smtClean="0"/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8345488" cy="1085850"/>
          </a:xfrm>
        </p:spPr>
        <p:txBody>
          <a:bodyPr/>
          <a:lstStyle/>
          <a:p>
            <a:pPr lvl="1"/>
            <a:r>
              <a:rPr lang="zh-CN" altLang="en-US" dirty="0" smtClean="0"/>
              <a:t>思考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除了不可行解，所有节点都要搜索吗？</a:t>
            </a:r>
            <a:endParaRPr lang="zh-CN" altLang="en-US" dirty="0" smtClean="0"/>
          </a:p>
        </p:txBody>
      </p:sp>
      <p:grpSp>
        <p:nvGrpSpPr>
          <p:cNvPr id="83" name="组合 82"/>
          <p:cNvGrpSpPr/>
          <p:nvPr/>
        </p:nvGrpSpPr>
        <p:grpSpPr bwMode="auto">
          <a:xfrm>
            <a:off x="214313" y="2000250"/>
            <a:ext cx="8737600" cy="4572000"/>
            <a:chOff x="214282" y="2000240"/>
            <a:chExt cx="8737170" cy="4572056"/>
          </a:xfrm>
        </p:grpSpPr>
        <p:grpSp>
          <p:nvGrpSpPr>
            <p:cNvPr id="39947" name="组合 145"/>
            <p:cNvGrpSpPr/>
            <p:nvPr/>
          </p:nvGrpSpPr>
          <p:grpSpPr bwMode="auto">
            <a:xfrm>
              <a:off x="214282" y="2000240"/>
              <a:ext cx="8737170" cy="4000528"/>
              <a:chOff x="714348" y="2214554"/>
              <a:chExt cx="7801045" cy="3571900"/>
            </a:xfrm>
          </p:grpSpPr>
          <p:sp>
            <p:nvSpPr>
              <p:cNvPr id="5" name="椭圆 4"/>
              <p:cNvSpPr/>
              <p:nvPr/>
            </p:nvSpPr>
            <p:spPr bwMode="auto">
              <a:xfrm>
                <a:off x="4357686" y="2214554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A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 bwMode="auto">
              <a:xfrm>
                <a:off x="2500298" y="3000372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B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 bwMode="auto">
              <a:xfrm>
                <a:off x="6357950" y="3000372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C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 bwMode="auto">
              <a:xfrm>
                <a:off x="1500166" y="3714752"/>
                <a:ext cx="428660" cy="428628"/>
              </a:xfrm>
              <a:prstGeom prst="ellipse">
                <a:avLst/>
              </a:prstGeom>
              <a:solidFill>
                <a:srgbClr val="C00000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D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 bwMode="auto">
              <a:xfrm>
                <a:off x="3428992" y="3714752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E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 bwMode="auto">
              <a:xfrm>
                <a:off x="5357786" y="3714752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F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 bwMode="auto">
              <a:xfrm>
                <a:off x="7286644" y="3714752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G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 bwMode="auto">
              <a:xfrm>
                <a:off x="6858016" y="4429132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N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 bwMode="auto">
              <a:xfrm>
                <a:off x="7786710" y="4429132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O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 bwMode="auto">
              <a:xfrm>
                <a:off x="4857752" y="4429132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L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 bwMode="auto">
              <a:xfrm>
                <a:off x="5857884" y="4429132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M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 bwMode="auto">
              <a:xfrm>
                <a:off x="1000068" y="4429132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H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 bwMode="auto">
              <a:xfrm>
                <a:off x="2000200" y="4429132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I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 bwMode="auto">
              <a:xfrm>
                <a:off x="2928926" y="4429132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J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 bwMode="auto">
              <a:xfrm>
                <a:off x="3929026" y="4429132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K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 bwMode="auto">
              <a:xfrm>
                <a:off x="5629268" y="5357826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Z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 bwMode="auto">
              <a:xfrm>
                <a:off x="6612252" y="5357826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B'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 bwMode="auto">
              <a:xfrm>
                <a:off x="4646284" y="5357826"/>
                <a:ext cx="428660" cy="428628"/>
              </a:xfrm>
              <a:prstGeom prst="ellipse">
                <a:avLst/>
              </a:prstGeom>
              <a:solidFill>
                <a:srgbClr val="008000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FF00"/>
                    </a:solidFill>
                    <a:latin typeface="微软雅黑" panose="020B0503020204020204" pitchFamily="34" charset="-122"/>
                  </a:rPr>
                  <a:t>X</a:t>
                </a:r>
                <a:endParaRPr lang="zh-CN" altLang="en-US" sz="1600" b="1" dirty="0">
                  <a:solidFill>
                    <a:srgbClr val="FFFF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3" name="椭圆 22"/>
              <p:cNvSpPr/>
              <p:nvPr/>
            </p:nvSpPr>
            <p:spPr bwMode="auto">
              <a:xfrm>
                <a:off x="5137776" y="5357826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Y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 bwMode="auto">
              <a:xfrm>
                <a:off x="4154792" y="5357826"/>
                <a:ext cx="428660" cy="428628"/>
              </a:xfrm>
              <a:prstGeom prst="ellipse">
                <a:avLst/>
              </a:prstGeom>
              <a:solidFill>
                <a:srgbClr val="008000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FF00"/>
                    </a:solidFill>
                    <a:latin typeface="微软雅黑" panose="020B0503020204020204" pitchFamily="34" charset="-122"/>
                  </a:rPr>
                  <a:t>W</a:t>
                </a:r>
                <a:endParaRPr lang="zh-CN" altLang="en-US" sz="1600" b="1" dirty="0">
                  <a:solidFill>
                    <a:srgbClr val="FFFF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 bwMode="auto">
              <a:xfrm>
                <a:off x="3663300" y="5357826"/>
                <a:ext cx="428660" cy="428628"/>
              </a:xfrm>
              <a:prstGeom prst="ellipse">
                <a:avLst/>
              </a:prstGeom>
              <a:solidFill>
                <a:srgbClr val="008000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FF00"/>
                    </a:solidFill>
                    <a:latin typeface="微软雅黑" panose="020B0503020204020204" pitchFamily="34" charset="-122"/>
                  </a:rPr>
                  <a:t>V</a:t>
                </a:r>
                <a:endParaRPr lang="zh-CN" altLang="en-US" sz="1600" b="1" dirty="0">
                  <a:solidFill>
                    <a:srgbClr val="FFFF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 bwMode="auto">
              <a:xfrm>
                <a:off x="2680316" y="5357826"/>
                <a:ext cx="428660" cy="428628"/>
              </a:xfrm>
              <a:prstGeom prst="ellipse">
                <a:avLst/>
              </a:prstGeom>
              <a:solidFill>
                <a:srgbClr val="C00000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T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 bwMode="auto">
              <a:xfrm>
                <a:off x="3171808" y="5357826"/>
                <a:ext cx="428660" cy="428628"/>
              </a:xfrm>
              <a:prstGeom prst="ellipse">
                <a:avLst/>
              </a:prstGeom>
              <a:solidFill>
                <a:srgbClr val="008000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FF00"/>
                    </a:solidFill>
                    <a:latin typeface="微软雅黑" panose="020B0503020204020204" pitchFamily="34" charset="-122"/>
                  </a:rPr>
                  <a:t>U</a:t>
                </a:r>
                <a:endParaRPr lang="zh-CN" altLang="en-US" sz="1600" b="1" dirty="0">
                  <a:solidFill>
                    <a:srgbClr val="FFFF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 bwMode="auto">
              <a:xfrm>
                <a:off x="1697332" y="5357826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R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 bwMode="auto">
              <a:xfrm>
                <a:off x="2188824" y="5357826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S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 bwMode="auto">
              <a:xfrm>
                <a:off x="714348" y="5357826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P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 bwMode="auto">
              <a:xfrm>
                <a:off x="1205840" y="5357826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Q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 bwMode="auto">
              <a:xfrm>
                <a:off x="7595236" y="5357826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D'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 bwMode="auto">
              <a:xfrm>
                <a:off x="8086733" y="5357826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E'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 bwMode="auto">
              <a:xfrm>
                <a:off x="6120760" y="5357826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A'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 bwMode="auto">
              <a:xfrm>
                <a:off x="7103744" y="5357826"/>
                <a:ext cx="428660" cy="428628"/>
              </a:xfrm>
              <a:prstGeom prst="ellipse">
                <a:avLst/>
              </a:prstGeom>
              <a:solidFill>
                <a:srgbClr val="99FF33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 algn="ctr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C'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</a:endParaRPr>
              </a:p>
            </p:txBody>
          </p:sp>
          <p:cxnSp>
            <p:nvCxnSpPr>
              <p:cNvPr id="40053" name="直接连接符 35"/>
              <p:cNvCxnSpPr>
                <a:cxnSpLocks noChangeShapeType="1"/>
                <a:stCxn id="0" idx="3"/>
                <a:endCxn id="0" idx="7"/>
              </p:cNvCxnSpPr>
              <p:nvPr/>
            </p:nvCxnSpPr>
            <p:spPr bwMode="auto">
              <a:xfrm rot="5400000">
                <a:off x="3401956" y="2044637"/>
                <a:ext cx="482732" cy="1554280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54" name="直接连接符 36"/>
              <p:cNvCxnSpPr>
                <a:cxnSpLocks noChangeShapeType="1"/>
                <a:stCxn id="0" idx="5"/>
                <a:endCxn id="0" idx="1"/>
              </p:cNvCxnSpPr>
              <p:nvPr/>
            </p:nvCxnSpPr>
            <p:spPr bwMode="auto">
              <a:xfrm rot="16200000" flipH="1">
                <a:off x="5330782" y="1973199"/>
                <a:ext cx="482732" cy="1697156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55" name="直接连接符 37"/>
              <p:cNvCxnSpPr>
                <a:cxnSpLocks noChangeShapeType="1"/>
                <a:stCxn id="0" idx="3"/>
                <a:endCxn id="0" idx="7"/>
              </p:cNvCxnSpPr>
              <p:nvPr/>
            </p:nvCxnSpPr>
            <p:spPr bwMode="auto">
              <a:xfrm rot="5400000">
                <a:off x="2008915" y="3223364"/>
                <a:ext cx="411294" cy="697024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56" name="直接连接符 38"/>
              <p:cNvCxnSpPr>
                <a:cxnSpLocks noChangeShapeType="1"/>
                <a:stCxn id="0" idx="5"/>
                <a:endCxn id="0" idx="1"/>
              </p:cNvCxnSpPr>
              <p:nvPr/>
            </p:nvCxnSpPr>
            <p:spPr bwMode="auto">
              <a:xfrm rot="16200000" flipH="1">
                <a:off x="2973328" y="3259083"/>
                <a:ext cx="411294" cy="625586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57" name="直接连接符 39"/>
              <p:cNvCxnSpPr>
                <a:cxnSpLocks noChangeShapeType="1"/>
                <a:stCxn id="0" idx="3"/>
                <a:endCxn id="0" idx="7"/>
              </p:cNvCxnSpPr>
              <p:nvPr/>
            </p:nvCxnSpPr>
            <p:spPr bwMode="auto">
              <a:xfrm rot="5400000">
                <a:off x="5866551" y="3223348"/>
                <a:ext cx="411294" cy="697056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58" name="直接连接符 40"/>
              <p:cNvCxnSpPr>
                <a:cxnSpLocks noChangeShapeType="1"/>
                <a:stCxn id="0" idx="5"/>
                <a:endCxn id="0" idx="1"/>
              </p:cNvCxnSpPr>
              <p:nvPr/>
            </p:nvCxnSpPr>
            <p:spPr bwMode="auto">
              <a:xfrm rot="16200000" flipH="1">
                <a:off x="6830980" y="3259083"/>
                <a:ext cx="411294" cy="625586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59" name="直接连接符 41"/>
              <p:cNvCxnSpPr>
                <a:cxnSpLocks noChangeShapeType="1"/>
                <a:stCxn id="0" idx="3"/>
                <a:endCxn id="0" idx="0"/>
              </p:cNvCxnSpPr>
              <p:nvPr/>
            </p:nvCxnSpPr>
            <p:spPr bwMode="auto">
              <a:xfrm rot="5400000">
                <a:off x="1214409" y="4080598"/>
                <a:ext cx="348523" cy="348544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60" name="直接连接符 42"/>
              <p:cNvCxnSpPr>
                <a:cxnSpLocks noChangeShapeType="1"/>
                <a:stCxn id="0" idx="5"/>
                <a:endCxn id="0" idx="0"/>
              </p:cNvCxnSpPr>
              <p:nvPr/>
            </p:nvCxnSpPr>
            <p:spPr bwMode="auto">
              <a:xfrm rot="16200000" flipH="1">
                <a:off x="1866029" y="4080630"/>
                <a:ext cx="348523" cy="348480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61" name="直接连接符 43"/>
              <p:cNvCxnSpPr>
                <a:cxnSpLocks noChangeShapeType="1"/>
                <a:stCxn id="0" idx="3"/>
                <a:endCxn id="0" idx="0"/>
              </p:cNvCxnSpPr>
              <p:nvPr/>
            </p:nvCxnSpPr>
            <p:spPr bwMode="auto">
              <a:xfrm rot="5400000">
                <a:off x="7036622" y="4116333"/>
                <a:ext cx="348523" cy="277074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62" name="直接连接符 44"/>
              <p:cNvCxnSpPr>
                <a:cxnSpLocks noChangeShapeType="1"/>
                <a:stCxn id="0" idx="5"/>
                <a:endCxn id="0" idx="0"/>
              </p:cNvCxnSpPr>
              <p:nvPr/>
            </p:nvCxnSpPr>
            <p:spPr bwMode="auto">
              <a:xfrm rot="16200000" flipH="1">
                <a:off x="7652523" y="4080614"/>
                <a:ext cx="348523" cy="348512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63" name="直接连接符 45"/>
              <p:cNvCxnSpPr>
                <a:cxnSpLocks noChangeShapeType="1"/>
                <a:stCxn id="0" idx="3"/>
                <a:endCxn id="0" idx="0"/>
              </p:cNvCxnSpPr>
              <p:nvPr/>
            </p:nvCxnSpPr>
            <p:spPr bwMode="auto">
              <a:xfrm rot="5400000">
                <a:off x="3143251" y="4080614"/>
                <a:ext cx="348523" cy="348512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64" name="直接连接符 46"/>
              <p:cNvCxnSpPr>
                <a:cxnSpLocks noChangeShapeType="1"/>
                <a:stCxn id="0" idx="5"/>
                <a:endCxn id="0" idx="0"/>
              </p:cNvCxnSpPr>
              <p:nvPr/>
            </p:nvCxnSpPr>
            <p:spPr bwMode="auto">
              <a:xfrm rot="16200000" flipH="1">
                <a:off x="3794855" y="4080630"/>
                <a:ext cx="348523" cy="348480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65" name="直接连接符 47"/>
              <p:cNvCxnSpPr>
                <a:cxnSpLocks noChangeShapeType="1"/>
                <a:stCxn id="0" idx="3"/>
                <a:endCxn id="0" idx="0"/>
              </p:cNvCxnSpPr>
              <p:nvPr/>
            </p:nvCxnSpPr>
            <p:spPr bwMode="auto">
              <a:xfrm rot="5400000">
                <a:off x="5072061" y="4080630"/>
                <a:ext cx="348523" cy="348480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66" name="直接连接符 48"/>
              <p:cNvCxnSpPr>
                <a:cxnSpLocks noChangeShapeType="1"/>
                <a:stCxn id="0" idx="5"/>
                <a:endCxn id="0" idx="0"/>
              </p:cNvCxnSpPr>
              <p:nvPr/>
            </p:nvCxnSpPr>
            <p:spPr bwMode="auto">
              <a:xfrm rot="16200000" flipH="1">
                <a:off x="5723681" y="4080598"/>
                <a:ext cx="348523" cy="348544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67" name="直接连接符 49"/>
              <p:cNvCxnSpPr>
                <a:cxnSpLocks noChangeShapeType="1"/>
                <a:stCxn id="0" idx="3"/>
                <a:endCxn id="0" idx="0"/>
              </p:cNvCxnSpPr>
              <p:nvPr/>
            </p:nvCxnSpPr>
            <p:spPr bwMode="auto">
              <a:xfrm rot="5400000">
                <a:off x="714343" y="5009324"/>
                <a:ext cx="562837" cy="134166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68" name="直接连接符 50"/>
              <p:cNvCxnSpPr>
                <a:cxnSpLocks noChangeShapeType="1"/>
                <a:stCxn id="0" idx="5"/>
                <a:endCxn id="0" idx="0"/>
              </p:cNvCxnSpPr>
              <p:nvPr/>
            </p:nvCxnSpPr>
            <p:spPr bwMode="auto">
              <a:xfrm rot="16200000" flipH="1">
                <a:off x="1111643" y="5049298"/>
                <a:ext cx="562837" cy="54218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69" name="直接连接符 51"/>
              <p:cNvCxnSpPr>
                <a:cxnSpLocks noChangeShapeType="1"/>
                <a:stCxn id="0" idx="3"/>
                <a:endCxn id="0" idx="0"/>
              </p:cNvCxnSpPr>
              <p:nvPr/>
            </p:nvCxnSpPr>
            <p:spPr bwMode="auto">
              <a:xfrm rot="5400000">
                <a:off x="1705901" y="5000750"/>
                <a:ext cx="562837" cy="151314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70" name="直接连接符 52"/>
              <p:cNvCxnSpPr>
                <a:cxnSpLocks noChangeShapeType="1"/>
                <a:stCxn id="0" idx="5"/>
                <a:endCxn id="0" idx="0"/>
              </p:cNvCxnSpPr>
              <p:nvPr/>
            </p:nvCxnSpPr>
            <p:spPr bwMode="auto">
              <a:xfrm rot="16200000" flipH="1">
                <a:off x="2103201" y="5057872"/>
                <a:ext cx="562837" cy="37070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71" name="直接连接符 53"/>
              <p:cNvCxnSpPr>
                <a:cxnSpLocks noChangeShapeType="1"/>
                <a:stCxn id="0" idx="3"/>
                <a:endCxn id="0" idx="0"/>
              </p:cNvCxnSpPr>
              <p:nvPr/>
            </p:nvCxnSpPr>
            <p:spPr bwMode="auto">
              <a:xfrm rot="5400000">
                <a:off x="2661756" y="5027879"/>
                <a:ext cx="562837" cy="97056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72" name="直接连接符 54"/>
              <p:cNvCxnSpPr>
                <a:cxnSpLocks noChangeShapeType="1"/>
                <a:stCxn id="0" idx="5"/>
                <a:endCxn id="0" idx="0"/>
              </p:cNvCxnSpPr>
              <p:nvPr/>
            </p:nvCxnSpPr>
            <p:spPr bwMode="auto">
              <a:xfrm rot="16200000" flipH="1">
                <a:off x="3059056" y="5030743"/>
                <a:ext cx="562837" cy="91328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73" name="直接连接符 55"/>
              <p:cNvCxnSpPr>
                <a:cxnSpLocks noChangeShapeType="1"/>
                <a:stCxn id="0" idx="3"/>
                <a:endCxn id="0" idx="0"/>
              </p:cNvCxnSpPr>
              <p:nvPr/>
            </p:nvCxnSpPr>
            <p:spPr bwMode="auto">
              <a:xfrm rot="5400000">
                <a:off x="3653298" y="5019321"/>
                <a:ext cx="562837" cy="114172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74" name="直接连接符 56"/>
              <p:cNvCxnSpPr>
                <a:cxnSpLocks noChangeShapeType="1"/>
                <a:stCxn id="0" idx="5"/>
                <a:endCxn id="0" idx="0"/>
              </p:cNvCxnSpPr>
              <p:nvPr/>
            </p:nvCxnSpPr>
            <p:spPr bwMode="auto">
              <a:xfrm rot="16200000" flipH="1">
                <a:off x="4050598" y="5039301"/>
                <a:ext cx="562837" cy="74212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75" name="直接连接符 57"/>
              <p:cNvCxnSpPr>
                <a:cxnSpLocks noChangeShapeType="1"/>
                <a:stCxn id="0" idx="3"/>
                <a:endCxn id="0" idx="0"/>
              </p:cNvCxnSpPr>
              <p:nvPr/>
            </p:nvCxnSpPr>
            <p:spPr bwMode="auto">
              <a:xfrm rot="5400000">
                <a:off x="4609153" y="5046450"/>
                <a:ext cx="562837" cy="59914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76" name="直接连接符 58"/>
              <p:cNvCxnSpPr>
                <a:cxnSpLocks noChangeShapeType="1"/>
                <a:stCxn id="0" idx="5"/>
                <a:endCxn id="0" idx="0"/>
              </p:cNvCxnSpPr>
              <p:nvPr/>
            </p:nvCxnSpPr>
            <p:spPr bwMode="auto">
              <a:xfrm rot="16200000" flipH="1">
                <a:off x="5006453" y="5012172"/>
                <a:ext cx="562837" cy="128470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77" name="直接连接符 59"/>
              <p:cNvCxnSpPr>
                <a:cxnSpLocks noChangeShapeType="1"/>
                <a:stCxn id="0" idx="3"/>
                <a:endCxn id="0" idx="0"/>
              </p:cNvCxnSpPr>
              <p:nvPr/>
            </p:nvCxnSpPr>
            <p:spPr bwMode="auto">
              <a:xfrm rot="5400000">
                <a:off x="5600711" y="5037876"/>
                <a:ext cx="562837" cy="77062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78" name="直接连接符 60"/>
              <p:cNvCxnSpPr>
                <a:cxnSpLocks noChangeShapeType="1"/>
                <a:stCxn id="0" idx="5"/>
                <a:endCxn id="0" idx="0"/>
              </p:cNvCxnSpPr>
              <p:nvPr/>
            </p:nvCxnSpPr>
            <p:spPr bwMode="auto">
              <a:xfrm rot="16200000" flipH="1">
                <a:off x="5998011" y="5020746"/>
                <a:ext cx="562837" cy="111322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79" name="直接连接符 61"/>
              <p:cNvCxnSpPr>
                <a:cxnSpLocks noChangeShapeType="1"/>
                <a:stCxn id="0" idx="3"/>
                <a:endCxn id="0" idx="0"/>
              </p:cNvCxnSpPr>
              <p:nvPr/>
            </p:nvCxnSpPr>
            <p:spPr bwMode="auto">
              <a:xfrm rot="5400000">
                <a:off x="6592269" y="5029302"/>
                <a:ext cx="562837" cy="94210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80" name="直接连接符 62"/>
              <p:cNvCxnSpPr>
                <a:cxnSpLocks noChangeShapeType="1"/>
                <a:stCxn id="0" idx="5"/>
                <a:endCxn id="0" idx="0"/>
              </p:cNvCxnSpPr>
              <p:nvPr/>
            </p:nvCxnSpPr>
            <p:spPr bwMode="auto">
              <a:xfrm rot="16200000" flipH="1">
                <a:off x="6989569" y="5029320"/>
                <a:ext cx="562837" cy="94174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81" name="直接连接符 63"/>
              <p:cNvCxnSpPr>
                <a:cxnSpLocks noChangeShapeType="1"/>
                <a:stCxn id="0" idx="3"/>
                <a:endCxn id="0" idx="0"/>
              </p:cNvCxnSpPr>
              <p:nvPr/>
            </p:nvCxnSpPr>
            <p:spPr bwMode="auto">
              <a:xfrm rot="5400000">
                <a:off x="7548108" y="5056447"/>
                <a:ext cx="562837" cy="39920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cxnSp>
            <p:nvCxnSpPr>
              <p:cNvPr id="40082" name="直接连接符 64"/>
              <p:cNvCxnSpPr>
                <a:cxnSpLocks noChangeShapeType="1"/>
                <a:stCxn id="0" idx="5"/>
                <a:endCxn id="0" idx="0"/>
              </p:cNvCxnSpPr>
              <p:nvPr/>
            </p:nvCxnSpPr>
            <p:spPr bwMode="auto">
              <a:xfrm rot="16200000" flipH="1">
                <a:off x="7945410" y="5002172"/>
                <a:ext cx="562837" cy="148469"/>
              </a:xfrm>
              <a:prstGeom prst="line">
                <a:avLst/>
              </a:prstGeom>
              <a:noFill/>
              <a:ln w="28575" algn="ctr">
                <a:solidFill>
                  <a:srgbClr val="0070C0"/>
                </a:solidFill>
                <a:round/>
              </a:ln>
            </p:spPr>
          </p:cxnSp>
          <p:sp>
            <p:nvSpPr>
              <p:cNvPr id="40083" name="TextBox 65"/>
              <p:cNvSpPr txBox="1">
                <a:spLocks noChangeArrowheads="1"/>
              </p:cNvSpPr>
              <p:nvPr/>
            </p:nvSpPr>
            <p:spPr bwMode="auto">
              <a:xfrm>
                <a:off x="3428992" y="2500306"/>
                <a:ext cx="32733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9pPr>
              </a:lstStyle>
              <a:p>
                <a:r>
                  <a:rPr lang="en-US" altLang="zh-CN" b="1">
                    <a:solidFill>
                      <a:srgbClr val="0000FF"/>
                    </a:solidFill>
                    <a:latin typeface="微软雅黑" panose="020B0503020204020204" pitchFamily="34" charset="-122"/>
                  </a:rPr>
                  <a:t>1</a:t>
                </a:r>
                <a:endParaRPr lang="zh-CN" altLang="en-US" b="1">
                  <a:solidFill>
                    <a:srgbClr val="0000FF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40084" name="TextBox 66"/>
              <p:cNvSpPr txBox="1">
                <a:spLocks noChangeArrowheads="1"/>
              </p:cNvSpPr>
              <p:nvPr/>
            </p:nvSpPr>
            <p:spPr bwMode="auto">
              <a:xfrm>
                <a:off x="2000232" y="3286124"/>
                <a:ext cx="32733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9pPr>
              </a:lstStyle>
              <a:p>
                <a:r>
                  <a:rPr lang="en-US" altLang="zh-CN" b="1">
                    <a:solidFill>
                      <a:srgbClr val="0000FF"/>
                    </a:solidFill>
                    <a:latin typeface="微软雅黑" panose="020B0503020204020204" pitchFamily="34" charset="-122"/>
                  </a:rPr>
                  <a:t>1</a:t>
                </a:r>
                <a:endParaRPr lang="zh-CN" altLang="en-US" b="1">
                  <a:solidFill>
                    <a:srgbClr val="0000FF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40085" name="TextBox 67"/>
              <p:cNvSpPr txBox="1">
                <a:spLocks noChangeArrowheads="1"/>
              </p:cNvSpPr>
              <p:nvPr/>
            </p:nvSpPr>
            <p:spPr bwMode="auto">
              <a:xfrm>
                <a:off x="1142976" y="3929066"/>
                <a:ext cx="32733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9pPr>
              </a:lstStyle>
              <a:p>
                <a:r>
                  <a:rPr lang="en-US" altLang="zh-CN" b="1">
                    <a:solidFill>
                      <a:srgbClr val="0000FF"/>
                    </a:solidFill>
                    <a:latin typeface="微软雅黑" panose="020B0503020204020204" pitchFamily="34" charset="-122"/>
                  </a:rPr>
                  <a:t>1</a:t>
                </a:r>
                <a:endParaRPr lang="zh-CN" altLang="en-US" b="1">
                  <a:solidFill>
                    <a:srgbClr val="0000FF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40086" name="TextBox 68"/>
              <p:cNvSpPr txBox="1">
                <a:spLocks noChangeArrowheads="1"/>
              </p:cNvSpPr>
              <p:nvPr/>
            </p:nvSpPr>
            <p:spPr bwMode="auto">
              <a:xfrm>
                <a:off x="714348" y="4857760"/>
                <a:ext cx="32733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9pPr>
              </a:lstStyle>
              <a:p>
                <a:r>
                  <a:rPr lang="en-US" altLang="zh-CN" b="1">
                    <a:solidFill>
                      <a:srgbClr val="0000FF"/>
                    </a:solidFill>
                    <a:latin typeface="微软雅黑" panose="020B0503020204020204" pitchFamily="34" charset="-122"/>
                  </a:rPr>
                  <a:t>1</a:t>
                </a:r>
                <a:endParaRPr lang="zh-CN" altLang="en-US" b="1">
                  <a:solidFill>
                    <a:srgbClr val="0000FF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40087" name="TextBox 69"/>
              <p:cNvSpPr txBox="1">
                <a:spLocks noChangeArrowheads="1"/>
              </p:cNvSpPr>
              <p:nvPr/>
            </p:nvSpPr>
            <p:spPr bwMode="auto">
              <a:xfrm>
                <a:off x="5357818" y="2488164"/>
                <a:ext cx="32733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9pPr>
              </a:lstStyle>
              <a:p>
                <a:r>
                  <a:rPr lang="en-US" altLang="zh-CN" b="1">
                    <a:solidFill>
                      <a:srgbClr val="0000FF"/>
                    </a:solidFill>
                    <a:latin typeface="微软雅黑" panose="020B0503020204020204" pitchFamily="34" charset="-122"/>
                  </a:rPr>
                  <a:t>0</a:t>
                </a:r>
                <a:endParaRPr lang="zh-CN" altLang="en-US" b="1">
                  <a:solidFill>
                    <a:srgbClr val="0000FF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40088" name="TextBox 70"/>
              <p:cNvSpPr txBox="1">
                <a:spLocks noChangeArrowheads="1"/>
              </p:cNvSpPr>
              <p:nvPr/>
            </p:nvSpPr>
            <p:spPr bwMode="auto">
              <a:xfrm>
                <a:off x="6929454" y="3286124"/>
                <a:ext cx="32733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9pPr>
              </a:lstStyle>
              <a:p>
                <a:r>
                  <a:rPr lang="en-US" altLang="zh-CN" b="1">
                    <a:solidFill>
                      <a:srgbClr val="0000FF"/>
                    </a:solidFill>
                    <a:latin typeface="微软雅黑" panose="020B0503020204020204" pitchFamily="34" charset="-122"/>
                  </a:rPr>
                  <a:t>0</a:t>
                </a:r>
                <a:endParaRPr lang="zh-CN" altLang="en-US" b="1">
                  <a:solidFill>
                    <a:srgbClr val="0000FF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40089" name="TextBox 71"/>
              <p:cNvSpPr txBox="1">
                <a:spLocks noChangeArrowheads="1"/>
              </p:cNvSpPr>
              <p:nvPr/>
            </p:nvSpPr>
            <p:spPr bwMode="auto">
              <a:xfrm>
                <a:off x="7715272" y="3988362"/>
                <a:ext cx="32733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9pPr>
              </a:lstStyle>
              <a:p>
                <a:r>
                  <a:rPr lang="en-US" altLang="zh-CN" b="1">
                    <a:solidFill>
                      <a:srgbClr val="0000FF"/>
                    </a:solidFill>
                    <a:latin typeface="微软雅黑" panose="020B0503020204020204" pitchFamily="34" charset="-122"/>
                  </a:rPr>
                  <a:t>0</a:t>
                </a:r>
                <a:endParaRPr lang="zh-CN" altLang="en-US" b="1">
                  <a:solidFill>
                    <a:srgbClr val="0000FF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40090" name="TextBox 72"/>
              <p:cNvSpPr txBox="1">
                <a:spLocks noChangeArrowheads="1"/>
              </p:cNvSpPr>
              <p:nvPr/>
            </p:nvSpPr>
            <p:spPr bwMode="auto">
              <a:xfrm>
                <a:off x="8143900" y="4845618"/>
                <a:ext cx="32733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defRPr>
                </a:lvl9pPr>
              </a:lstStyle>
              <a:p>
                <a:r>
                  <a:rPr lang="en-US" altLang="zh-CN" b="1">
                    <a:solidFill>
                      <a:srgbClr val="0000FF"/>
                    </a:solidFill>
                    <a:latin typeface="微软雅黑" panose="020B0503020204020204" pitchFamily="34" charset="-122"/>
                  </a:rPr>
                  <a:t>0</a:t>
                </a:r>
                <a:endParaRPr lang="zh-CN" altLang="en-US" b="1">
                  <a:solidFill>
                    <a:srgbClr val="0000FF"/>
                  </a:solidFill>
                  <a:latin typeface="微软雅黑" panose="020B0503020204020204" pitchFamily="34" charset="-122"/>
                </a:endParaRPr>
              </a:p>
            </p:txBody>
          </p:sp>
        </p:grpSp>
        <p:sp>
          <p:nvSpPr>
            <p:cNvPr id="75" name="圆角矩形标注 74"/>
            <p:cNvSpPr/>
            <p:nvPr/>
          </p:nvSpPr>
          <p:spPr bwMode="auto">
            <a:xfrm>
              <a:off x="2285984" y="6143620"/>
              <a:ext cx="500066" cy="428652"/>
            </a:xfrm>
            <a:prstGeom prst="wedgeRoundRectCallout">
              <a:avLst>
                <a:gd name="adj1" fmla="val 22015"/>
                <a:gd name="adj2" fmla="val -70703"/>
                <a:gd name="adj3" fmla="val 16667"/>
              </a:avLst>
            </a:prstGeom>
            <a:solidFill>
              <a:srgbClr val="FFCCFF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13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6" name="圆角矩形标注 75"/>
            <p:cNvSpPr/>
            <p:nvPr/>
          </p:nvSpPr>
          <p:spPr bwMode="auto">
            <a:xfrm>
              <a:off x="2857488" y="6143620"/>
              <a:ext cx="500066" cy="428652"/>
            </a:xfrm>
            <a:prstGeom prst="wedgeRoundRectCallout">
              <a:avLst>
                <a:gd name="adj1" fmla="val 32917"/>
                <a:gd name="adj2" fmla="val -76945"/>
                <a:gd name="adj3" fmla="val 16667"/>
              </a:avLst>
            </a:prstGeom>
            <a:solidFill>
              <a:srgbClr val="92D05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b="1" dirty="0">
                  <a:solidFill>
                    <a:srgbClr val="0000FF"/>
                  </a:solidFill>
                  <a:latin typeface="微软雅黑" panose="020B0503020204020204" pitchFamily="34" charset="-122"/>
                </a:rPr>
                <a:t>10</a:t>
              </a:r>
              <a:endPara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7" name="圆角矩形标注 76"/>
            <p:cNvSpPr/>
            <p:nvPr/>
          </p:nvSpPr>
          <p:spPr bwMode="auto">
            <a:xfrm>
              <a:off x="3428992" y="6143644"/>
              <a:ext cx="500066" cy="428652"/>
            </a:xfrm>
            <a:prstGeom prst="wedgeRoundRectCallout">
              <a:avLst>
                <a:gd name="adj1" fmla="val 32917"/>
                <a:gd name="adj2" fmla="val -76945"/>
                <a:gd name="adj3" fmla="val 16667"/>
              </a:avLst>
            </a:prstGeom>
            <a:solidFill>
              <a:srgbClr val="92D05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b="1" dirty="0">
                  <a:solidFill>
                    <a:srgbClr val="0000FF"/>
                  </a:solidFill>
                  <a:latin typeface="微软雅黑" panose="020B0503020204020204" pitchFamily="34" charset="-122"/>
                </a:rPr>
                <a:t>11</a:t>
              </a:r>
              <a:endPara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8" name="圆角矩形标注 77"/>
            <p:cNvSpPr/>
            <p:nvPr/>
          </p:nvSpPr>
          <p:spPr bwMode="auto">
            <a:xfrm>
              <a:off x="4000496" y="6143644"/>
              <a:ext cx="357190" cy="428652"/>
            </a:xfrm>
            <a:prstGeom prst="wedgeRoundRectCallout">
              <a:avLst>
                <a:gd name="adj1" fmla="val 28457"/>
                <a:gd name="adj2" fmla="val -89952"/>
                <a:gd name="adj3" fmla="val 16667"/>
              </a:avLst>
            </a:prstGeom>
            <a:solidFill>
              <a:srgbClr val="92D05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altLang="zh-CN" b="1" dirty="0">
                  <a:solidFill>
                    <a:srgbClr val="0000FF"/>
                  </a:solidFill>
                  <a:latin typeface="微软雅黑" panose="020B0503020204020204" pitchFamily="34" charset="-122"/>
                </a:rPr>
                <a:t>8</a:t>
              </a:r>
              <a:endPara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79" name="圆角矩形标注 78"/>
          <p:cNvSpPr/>
          <p:nvPr/>
        </p:nvSpPr>
        <p:spPr bwMode="auto">
          <a:xfrm>
            <a:off x="7143768" y="1928802"/>
            <a:ext cx="1643074" cy="1000132"/>
          </a:xfrm>
          <a:prstGeom prst="wedgeRoundRectCallout">
            <a:avLst>
              <a:gd name="adj1" fmla="val -58557"/>
              <a:gd name="adj2" fmla="val 50532"/>
              <a:gd name="adj3" fmla="val 16667"/>
            </a:avLst>
          </a:prstGeom>
          <a:solidFill>
            <a:srgbClr val="FFCCFF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2,3,4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</a:rPr>
              <a:t>都装上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</a:rPr>
              <a:t>最优值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=11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</a:rPr>
              <a:t>还搜吗？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2" name="组合 81"/>
          <p:cNvGrpSpPr/>
          <p:nvPr/>
        </p:nvGrpSpPr>
        <p:grpSpPr bwMode="auto">
          <a:xfrm>
            <a:off x="4572000" y="3143250"/>
            <a:ext cx="4357688" cy="3556835"/>
            <a:chOff x="4786314" y="3143248"/>
            <a:chExt cx="4357718" cy="3556859"/>
          </a:xfrm>
        </p:grpSpPr>
        <p:sp>
          <p:nvSpPr>
            <p:cNvPr id="84" name="矩形 83"/>
            <p:cNvSpPr/>
            <p:nvPr/>
          </p:nvSpPr>
          <p:spPr>
            <a:xfrm>
              <a:off x="4786314" y="3560764"/>
              <a:ext cx="4357718" cy="313934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200" b="1" dirty="0"/>
                <a:t>剩余货箱的重量</a:t>
              </a:r>
              <a:endParaRPr lang="en-US" altLang="zh-CN" sz="2200" b="1" dirty="0"/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200" b="1" dirty="0">
                  <a:solidFill>
                    <a:srgbClr val="0000FF"/>
                  </a:solidFill>
                </a:rPr>
                <a:t>r=∑w[j],i+1</a:t>
              </a:r>
              <a:r>
                <a:rPr lang="zh-CN" altLang="en-US" sz="2200" b="1" dirty="0">
                  <a:solidFill>
                    <a:srgbClr val="0000FF"/>
                  </a:solidFill>
                </a:rPr>
                <a:t>≤</a:t>
              </a:r>
              <a:r>
                <a:rPr lang="en-US" altLang="zh-CN" sz="2200" b="1" dirty="0">
                  <a:solidFill>
                    <a:srgbClr val="0000FF"/>
                  </a:solidFill>
                </a:rPr>
                <a:t>j</a:t>
              </a:r>
              <a:r>
                <a:rPr lang="zh-CN" altLang="en-US" sz="2200" b="1" dirty="0">
                  <a:solidFill>
                    <a:srgbClr val="0000FF"/>
                  </a:solidFill>
                </a:rPr>
                <a:t>≤</a:t>
              </a:r>
              <a:r>
                <a:rPr lang="en-US" altLang="zh-CN" sz="2200" b="1" dirty="0">
                  <a:solidFill>
                    <a:srgbClr val="0000FF"/>
                  </a:solidFill>
                </a:rPr>
                <a:t>n</a:t>
              </a:r>
              <a:endParaRPr lang="en-US" altLang="zh-CN" sz="2200" b="1" dirty="0">
                <a:solidFill>
                  <a:srgbClr val="0000FF"/>
                </a:solidFill>
              </a:endParaRP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200" b="1" dirty="0"/>
                <a:t>当</a:t>
              </a:r>
              <a:r>
                <a:rPr lang="en-US" altLang="zh-CN" sz="2200" b="1" dirty="0" err="1">
                  <a:solidFill>
                    <a:srgbClr val="FF0000"/>
                  </a:solidFill>
                </a:rPr>
                <a:t>cw+r≤bestW</a:t>
              </a:r>
              <a:r>
                <a:rPr lang="zh-CN" altLang="en-US" sz="2200" b="1" dirty="0"/>
                <a:t>时，</a:t>
              </a:r>
              <a:endParaRPr lang="en-US" altLang="zh-CN" sz="2200" b="1" dirty="0"/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200" b="1" dirty="0">
                  <a:solidFill>
                    <a:srgbClr val="0000FF"/>
                  </a:solidFill>
                </a:rPr>
                <a:t>当前的</a:t>
              </a:r>
              <a:r>
                <a:rPr lang="en-US" altLang="zh-CN" sz="2200" b="1" dirty="0">
                  <a:solidFill>
                    <a:srgbClr val="0000FF"/>
                  </a:solidFill>
                </a:rPr>
                <a:t>+</a:t>
              </a:r>
              <a:r>
                <a:rPr lang="zh-CN" altLang="en-US" sz="2200" b="1" dirty="0">
                  <a:solidFill>
                    <a:srgbClr val="0000FF"/>
                  </a:solidFill>
                </a:rPr>
                <a:t>剩下的所有≤最优的</a:t>
              </a:r>
              <a:endParaRPr lang="en-US" altLang="zh-CN" sz="2200" b="1" dirty="0">
                <a:solidFill>
                  <a:srgbClr val="0000FF"/>
                </a:solidFill>
              </a:endParaRP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200" b="1" dirty="0"/>
                <a:t>没必要搜索。</a:t>
              </a:r>
              <a:endParaRPr lang="en-US" altLang="zh-CN" sz="2200" b="1" dirty="0"/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200" b="1" dirty="0"/>
                <a:t>限界</a:t>
              </a:r>
              <a:r>
                <a:rPr lang="zh-CN" altLang="en-US" sz="2200" b="1" dirty="0" smtClean="0"/>
                <a:t>函数</a:t>
              </a:r>
              <a:r>
                <a:rPr lang="zh-CN" altLang="en-US" sz="2200" b="1" dirty="0"/>
                <a:t>减去子树</a:t>
              </a:r>
              <a:endParaRPr lang="zh-CN" altLang="en-US" sz="2200" b="1" dirty="0"/>
            </a:p>
          </p:txBody>
        </p:sp>
        <p:pic>
          <p:nvPicPr>
            <p:cNvPr id="39946" name="Picture 1" descr="D:\Temp\Temporary Internet Files\Content.IE5\51RT335K\MCj04294570000[1].wmf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2513" y="3143248"/>
              <a:ext cx="1741487" cy="1277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装载问题</a:t>
            </a:r>
            <a:endParaRPr lang="zh-CN" altLang="en-US" dirty="0" smtClean="0"/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3 </a:t>
            </a:r>
            <a:r>
              <a:rPr lang="zh-CN" altLang="en-US" dirty="0" smtClean="0"/>
              <a:t>算法设计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解空间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子集树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可行性约束（剪枝）函数</a:t>
            </a:r>
            <a:endParaRPr lang="en-US" altLang="zh-CN" dirty="0" smtClean="0"/>
          </a:p>
          <a:p>
            <a:pPr lvl="1"/>
            <a:endParaRPr lang="zh-CN" altLang="en-US" dirty="0" smtClean="0"/>
          </a:p>
          <a:p>
            <a:pPr lvl="1"/>
            <a:r>
              <a:rPr lang="zh-CN" altLang="en-US" dirty="0" smtClean="0"/>
              <a:t>限界函数（不选择当前元素）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当前重量</a:t>
            </a:r>
            <a:r>
              <a:rPr lang="en-US" altLang="zh-CN" dirty="0" smtClean="0"/>
              <a:t> + </a:t>
            </a:r>
            <a:r>
              <a:rPr lang="zh-CN" altLang="en-US" dirty="0" smtClean="0"/>
              <a:t>剩余集装箱重量 </a:t>
            </a:r>
            <a:r>
              <a:rPr lang="en-US" altLang="zh-CN" dirty="0" smtClean="0"/>
              <a:t>≤ </a:t>
            </a:r>
            <a:r>
              <a:rPr lang="zh-CN" altLang="en-US" dirty="0" smtClean="0"/>
              <a:t>当前最优载重量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0000FF"/>
                </a:solidFill>
              </a:rPr>
              <a:t>CW+R </a:t>
            </a:r>
            <a:r>
              <a:rPr lang="zh-CN" altLang="en-US" dirty="0" smtClean="0">
                <a:solidFill>
                  <a:srgbClr val="0000FF"/>
                </a:solidFill>
              </a:rPr>
              <a:t>≤ </a:t>
            </a:r>
            <a:r>
              <a:rPr lang="en-US" altLang="zh-CN" dirty="0" err="1" smtClean="0">
                <a:solidFill>
                  <a:srgbClr val="0000FF"/>
                </a:solidFill>
              </a:rPr>
              <a:t>BestW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dirty="0" smtClean="0"/>
              <a:t>用回溯法设计解装载问题的</a:t>
            </a:r>
            <a:r>
              <a:rPr lang="en-US" altLang="zh-CN" dirty="0" smtClean="0">
                <a:solidFill>
                  <a:srgbClr val="FF0000"/>
                </a:solidFill>
              </a:rPr>
              <a:t>O(2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n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r>
              <a:rPr lang="zh-CN" altLang="en-US" dirty="0" smtClean="0"/>
              <a:t>计算时间算法，</a:t>
            </a:r>
            <a:r>
              <a:rPr lang="zh-CN" altLang="en-US" dirty="0" smtClean="0">
                <a:solidFill>
                  <a:srgbClr val="006600"/>
                </a:solidFill>
              </a:rPr>
              <a:t>某些情况下</a:t>
            </a:r>
            <a:r>
              <a:rPr lang="zh-CN" altLang="en-US" dirty="0" smtClean="0"/>
              <a:t>优于动态规划算法。</a:t>
            </a:r>
            <a:endParaRPr lang="zh-CN" altLang="en-US" dirty="0" smtClean="0"/>
          </a:p>
        </p:txBody>
      </p:sp>
      <p:graphicFrame>
        <p:nvGraphicFramePr>
          <p:cNvPr id="40964" name="Object 2"/>
          <p:cNvGraphicFramePr>
            <a:graphicFrameLocks noChangeAspect="1"/>
          </p:cNvGraphicFramePr>
          <p:nvPr/>
        </p:nvGraphicFramePr>
        <p:xfrm>
          <a:off x="5286375" y="2143125"/>
          <a:ext cx="3214688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9" name="公式" r:id="rId1" imgW="736600" imgH="431800" progId="Equation.3">
                  <p:embed/>
                </p:oleObj>
              </mc:Choice>
              <mc:Fallback>
                <p:oleObj name="公式" r:id="rId1" imgW="736600" imgH="43180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2143125"/>
                        <a:ext cx="3214688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65" name="Picture 3" descr="D:\Temp\Temporary Internet Files\Content.IE5\RCULP1HP\MCj04261900000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5" y="0"/>
            <a:ext cx="1857375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7" name="Line 17"/>
          <p:cNvSpPr>
            <a:spLocks noChangeShapeType="1"/>
          </p:cNvSpPr>
          <p:nvPr/>
        </p:nvSpPr>
        <p:spPr bwMode="auto">
          <a:xfrm>
            <a:off x="457200" y="5943600"/>
            <a:ext cx="5410200" cy="0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304800" y="914400"/>
            <a:ext cx="6643464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200" b="0" dirty="0"/>
              <a:t>template &lt; class Type &gt;</a:t>
            </a:r>
            <a:endParaRPr lang="en-US" altLang="zh-CN" sz="2200" b="0" dirty="0"/>
          </a:p>
          <a:p>
            <a:pPr>
              <a:lnSpc>
                <a:spcPct val="90000"/>
              </a:lnSpc>
            </a:pPr>
            <a:r>
              <a:rPr lang="en-US" altLang="zh-CN" sz="2200" b="0" dirty="0"/>
              <a:t>Type </a:t>
            </a:r>
            <a:r>
              <a:rPr lang="en-US" altLang="zh-CN" sz="2200" b="0" dirty="0" err="1"/>
              <a:t>Maxloading</a:t>
            </a:r>
            <a:r>
              <a:rPr lang="en-US" altLang="zh-CN" sz="2200" b="0" dirty="0"/>
              <a:t>(type w[], type </a:t>
            </a:r>
            <a:r>
              <a:rPr lang="en-US" altLang="zh-CN" sz="2200" b="0" dirty="0" err="1" smtClean="0"/>
              <a:t>c</a:t>
            </a:r>
            <a:r>
              <a:rPr lang="en-US" altLang="zh-CN" sz="2200" dirty="0" err="1" smtClean="0"/>
              <a:t>,int</a:t>
            </a:r>
            <a:r>
              <a:rPr lang="en-US" altLang="zh-CN" sz="2200" dirty="0" smtClean="0"/>
              <a:t> n)</a:t>
            </a:r>
            <a:endParaRPr lang="en-US" altLang="zh-CN" sz="2200" dirty="0" smtClean="0"/>
          </a:p>
          <a:p>
            <a:pPr>
              <a:lnSpc>
                <a:spcPct val="90000"/>
              </a:lnSpc>
            </a:pPr>
            <a:r>
              <a:rPr lang="en-US" altLang="zh-CN" sz="2200" b="0" dirty="0" smtClean="0"/>
              <a:t>   loading </a:t>
            </a:r>
            <a:r>
              <a:rPr lang="en-US" altLang="zh-CN" sz="2200" b="0" dirty="0"/>
              <a:t>&lt;Type&gt; X</a:t>
            </a:r>
            <a:r>
              <a:rPr lang="zh-CN" altLang="en-US" sz="2200" b="0" dirty="0"/>
              <a:t>；</a:t>
            </a:r>
            <a:endParaRPr lang="zh-CN" altLang="en-US" sz="2200" b="0" dirty="0"/>
          </a:p>
          <a:p>
            <a:pPr>
              <a:lnSpc>
                <a:spcPct val="90000"/>
              </a:lnSpc>
            </a:pPr>
            <a:r>
              <a:rPr lang="zh-CN" altLang="en-US" sz="2200" b="0" dirty="0"/>
              <a:t>    </a:t>
            </a:r>
            <a:r>
              <a:rPr lang="en-US" altLang="zh-CN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初始化</a:t>
            </a:r>
            <a:r>
              <a:rPr lang="en-US" altLang="zh-CN" sz="2200" b="0" dirty="0">
                <a:solidFill>
                  <a:srgbClr val="990000"/>
                </a:solidFill>
                <a:latin typeface="Century Schoolbook" panose="02040604050505020304" pitchFamily="18" charset="0"/>
                <a:ea typeface="楷体_GB2312" pitchFamily="49" charset="-122"/>
              </a:rPr>
              <a:t>X</a:t>
            </a:r>
            <a:endParaRPr lang="en-US" altLang="zh-CN" sz="2200" b="0" dirty="0"/>
          </a:p>
          <a:p>
            <a:pPr>
              <a:lnSpc>
                <a:spcPct val="90000"/>
              </a:lnSpc>
            </a:pPr>
            <a:r>
              <a:rPr lang="en-US" altLang="zh-CN" sz="2200" b="0" dirty="0"/>
              <a:t>    X. w=w;  </a:t>
            </a:r>
            <a:r>
              <a:rPr lang="en-US" altLang="zh-CN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集装箱重量数组</a:t>
            </a:r>
            <a:endParaRPr lang="zh-CN" altLang="en-US" sz="2200" b="0" dirty="0"/>
          </a:p>
          <a:p>
            <a:pPr>
              <a:lnSpc>
                <a:spcPct val="90000"/>
              </a:lnSpc>
            </a:pPr>
            <a:r>
              <a:rPr lang="zh-CN" altLang="en-US" sz="2200" b="0" dirty="0"/>
              <a:t>    </a:t>
            </a:r>
            <a:r>
              <a:rPr lang="en-US" altLang="zh-CN" sz="2200" b="0" dirty="0"/>
              <a:t>X. c=c;   </a:t>
            </a:r>
            <a:r>
              <a:rPr lang="en-US" altLang="zh-CN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第一艘船载重量</a:t>
            </a:r>
            <a:endParaRPr lang="zh-CN" altLang="en-US" sz="2200" b="0" dirty="0"/>
          </a:p>
          <a:p>
            <a:pPr>
              <a:lnSpc>
                <a:spcPct val="90000"/>
              </a:lnSpc>
            </a:pPr>
            <a:r>
              <a:rPr lang="zh-CN" altLang="en-US" sz="2200" b="0" dirty="0"/>
              <a:t>    </a:t>
            </a:r>
            <a:r>
              <a:rPr lang="en-US" altLang="zh-CN" sz="2200" b="0" dirty="0"/>
              <a:t>X. n=n</a:t>
            </a:r>
            <a:r>
              <a:rPr lang="zh-CN" altLang="en-US" sz="2200" b="0" dirty="0"/>
              <a:t>；</a:t>
            </a:r>
            <a:r>
              <a:rPr lang="en-US" altLang="zh-CN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集装箱数</a:t>
            </a:r>
            <a:endParaRPr lang="zh-CN" altLang="en-US" sz="2200" b="0" dirty="0"/>
          </a:p>
          <a:p>
            <a:pPr>
              <a:lnSpc>
                <a:spcPct val="90000"/>
              </a:lnSpc>
            </a:pPr>
            <a:r>
              <a:rPr lang="zh-CN" altLang="en-US" sz="2200" b="0" dirty="0"/>
              <a:t>    </a:t>
            </a:r>
            <a:r>
              <a:rPr lang="en-US" altLang="zh-CN" sz="2200" b="0" dirty="0"/>
              <a:t>X. </a:t>
            </a:r>
            <a:r>
              <a:rPr lang="en-US" altLang="zh-CN" sz="2200" b="0" dirty="0" err="1"/>
              <a:t>bestw</a:t>
            </a:r>
            <a:r>
              <a:rPr lang="en-US" altLang="zh-CN" sz="2200" b="0" dirty="0"/>
              <a:t>=0; </a:t>
            </a:r>
            <a:r>
              <a:rPr lang="en-US" altLang="zh-CN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当前最优载重</a:t>
            </a:r>
            <a:endParaRPr lang="zh-CN" altLang="en-US" sz="2200" b="0" dirty="0">
              <a:solidFill>
                <a:srgbClr val="99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200" b="0" dirty="0"/>
              <a:t>    </a:t>
            </a:r>
            <a:r>
              <a:rPr lang="en-US" altLang="zh-CN" sz="2200" b="0" dirty="0"/>
              <a:t>X. </a:t>
            </a:r>
            <a:r>
              <a:rPr lang="en-US" altLang="zh-CN" sz="2200" b="0" dirty="0" err="1"/>
              <a:t>cw</a:t>
            </a:r>
            <a:r>
              <a:rPr lang="en-US" altLang="zh-CN" sz="2200" b="0" dirty="0"/>
              <a:t>=0</a:t>
            </a:r>
            <a:r>
              <a:rPr lang="en-US" altLang="zh-CN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;//</a:t>
            </a:r>
            <a:r>
              <a:rPr lang="zh-CN" altLang="en-US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当前载重量</a:t>
            </a:r>
            <a:endParaRPr lang="zh-CN" altLang="en-US" sz="2200" b="0" dirty="0"/>
          </a:p>
          <a:p>
            <a:pPr>
              <a:lnSpc>
                <a:spcPct val="90000"/>
              </a:lnSpc>
            </a:pPr>
            <a:r>
              <a:rPr lang="zh-CN" altLang="en-US" sz="2200" b="0" dirty="0"/>
              <a:t>    </a:t>
            </a:r>
            <a:r>
              <a:rPr lang="en-US" altLang="zh-CN" sz="2200" b="0" dirty="0"/>
              <a:t>X. r=0</a:t>
            </a:r>
            <a:r>
              <a:rPr lang="en-US" altLang="zh-CN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; //</a:t>
            </a:r>
            <a:r>
              <a:rPr lang="zh-CN" altLang="en-US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剩余集装箱重量</a:t>
            </a:r>
            <a:r>
              <a:rPr lang="zh-CN" altLang="en-US" sz="2200" b="0" dirty="0"/>
              <a:t> </a:t>
            </a:r>
            <a:endParaRPr lang="zh-CN" altLang="en-US" sz="2200" b="0" dirty="0"/>
          </a:p>
          <a:p>
            <a:pPr>
              <a:lnSpc>
                <a:spcPct val="90000"/>
              </a:lnSpc>
            </a:pPr>
            <a:r>
              <a:rPr lang="zh-CN" altLang="en-US" sz="2200" b="0" dirty="0"/>
              <a:t>    </a:t>
            </a:r>
            <a:r>
              <a:rPr lang="en-US" altLang="zh-CN" sz="2200" b="0" dirty="0"/>
              <a:t>for (</a:t>
            </a:r>
            <a:r>
              <a:rPr lang="en-US" altLang="zh-CN" sz="2200" b="0" dirty="0" err="1"/>
              <a:t>int</a:t>
            </a:r>
            <a:r>
              <a:rPr lang="en-US" altLang="zh-CN" sz="2200" b="0" dirty="0"/>
              <a:t> </a:t>
            </a:r>
            <a:r>
              <a:rPr lang="en-US" altLang="zh-CN" sz="2200" b="0" dirty="0" err="1"/>
              <a:t>i</a:t>
            </a:r>
            <a:r>
              <a:rPr lang="en-US" altLang="zh-CN" sz="2200" b="0" dirty="0"/>
              <a:t>=1; </a:t>
            </a:r>
            <a:r>
              <a:rPr lang="en-US" altLang="zh-CN" sz="2200" b="0" dirty="0" err="1"/>
              <a:t>i</a:t>
            </a:r>
            <a:r>
              <a:rPr lang="en-US" altLang="zh-CN" sz="2200" b="0" dirty="0"/>
              <a:t>&lt;=n; </a:t>
            </a:r>
            <a:r>
              <a:rPr lang="en-US" altLang="zh-CN" sz="2200" b="0" dirty="0" err="1"/>
              <a:t>i</a:t>
            </a:r>
            <a:r>
              <a:rPr lang="en-US" altLang="zh-CN" sz="2200" b="0" dirty="0"/>
              <a:t>++)</a:t>
            </a:r>
            <a:endParaRPr lang="en-US" altLang="zh-CN" sz="2200" b="0" dirty="0"/>
          </a:p>
          <a:p>
            <a:pPr>
              <a:lnSpc>
                <a:spcPct val="90000"/>
              </a:lnSpc>
            </a:pPr>
            <a:r>
              <a:rPr lang="en-US" altLang="zh-CN" sz="2200" b="0" dirty="0"/>
              <a:t>        X. r +=w[</a:t>
            </a:r>
            <a:r>
              <a:rPr lang="en-US" altLang="zh-CN" sz="2200" b="0" dirty="0" err="1"/>
              <a:t>i</a:t>
            </a:r>
            <a:r>
              <a:rPr lang="en-US" altLang="zh-CN" sz="2200" b="0" dirty="0"/>
              <a:t>]</a:t>
            </a:r>
            <a:endParaRPr lang="en-US" altLang="zh-CN" sz="2200" b="0" dirty="0"/>
          </a:p>
          <a:p>
            <a:pPr>
              <a:lnSpc>
                <a:spcPct val="90000"/>
              </a:lnSpc>
            </a:pPr>
            <a:r>
              <a:rPr lang="en-US" altLang="zh-CN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  //</a:t>
            </a:r>
            <a:r>
              <a:rPr lang="zh-CN" altLang="en-US" sz="2200" b="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计算最优载重量</a:t>
            </a:r>
            <a:endParaRPr lang="zh-CN" altLang="en-US" sz="2200" b="0" dirty="0"/>
          </a:p>
          <a:p>
            <a:pPr>
              <a:lnSpc>
                <a:spcPct val="90000"/>
              </a:lnSpc>
            </a:pPr>
            <a:r>
              <a:rPr lang="zh-CN" altLang="en-US" sz="2200" dirty="0">
                <a:solidFill>
                  <a:srgbClr val="FF0000"/>
                </a:solidFill>
              </a:rPr>
              <a:t>    </a:t>
            </a:r>
            <a:r>
              <a:rPr lang="en-US" altLang="zh-CN" sz="2200" dirty="0" err="1">
                <a:solidFill>
                  <a:srgbClr val="FF0000"/>
                </a:solidFill>
              </a:rPr>
              <a:t>X.Backtrack</a:t>
            </a:r>
            <a:r>
              <a:rPr lang="en-US" altLang="zh-CN" sz="2200" dirty="0">
                <a:solidFill>
                  <a:srgbClr val="FF0000"/>
                </a:solidFill>
              </a:rPr>
              <a:t>(1)</a:t>
            </a:r>
            <a:r>
              <a:rPr lang="zh-CN" altLang="en-US" sz="2200" dirty="0">
                <a:solidFill>
                  <a:srgbClr val="FF0000"/>
                </a:solidFill>
              </a:rPr>
              <a:t>；</a:t>
            </a:r>
            <a:endParaRPr lang="zh-CN" altLang="en-US" sz="22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200" b="0" dirty="0"/>
              <a:t>    </a:t>
            </a:r>
            <a:r>
              <a:rPr lang="en-US" altLang="zh-CN" sz="2200" b="0" dirty="0"/>
              <a:t>return </a:t>
            </a:r>
            <a:r>
              <a:rPr lang="en-US" altLang="zh-CN" sz="2200" b="0" dirty="0" err="1"/>
              <a:t>X.bestw</a:t>
            </a:r>
            <a:r>
              <a:rPr lang="zh-CN" altLang="en-US" sz="2200" b="0" dirty="0"/>
              <a:t>； </a:t>
            </a:r>
            <a:r>
              <a:rPr lang="en-US" altLang="zh-CN" sz="2200" b="0" dirty="0"/>
              <a:t>}</a:t>
            </a:r>
            <a:endParaRPr lang="en-US" altLang="zh-CN" sz="2200" b="0" dirty="0"/>
          </a:p>
        </p:txBody>
      </p:sp>
      <p:sp>
        <p:nvSpPr>
          <p:cNvPr id="61454" name="Rectangle 14"/>
          <p:cNvSpPr>
            <a:spLocks noChangeArrowheads="1"/>
          </p:cNvSpPr>
          <p:nvPr/>
        </p:nvSpPr>
        <p:spPr bwMode="auto">
          <a:xfrm>
            <a:off x="381000" y="406400"/>
            <a:ext cx="33274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200">
                <a:latin typeface="黑体" panose="02010609060101010101" pitchFamily="2" charset="-122"/>
                <a:ea typeface="幼圆" panose="02010509060101010101" pitchFamily="49" charset="-122"/>
              </a:rPr>
              <a:t>装载问题的</a:t>
            </a:r>
            <a:r>
              <a:rPr lang="zh-CN" altLang="en-US" sz="2200">
                <a:latin typeface="幼圆" panose="02010509060101010101" pitchFamily="49" charset="-122"/>
                <a:ea typeface="幼圆" panose="02010509060101010101" pitchFamily="49" charset="-122"/>
              </a:rPr>
              <a:t>回溯</a:t>
            </a:r>
            <a:r>
              <a:rPr lang="zh-CN" altLang="en-US" sz="2200">
                <a:latin typeface="黑体" panose="02010609060101010101" pitchFamily="2" charset="-122"/>
                <a:ea typeface="幼圆" panose="02010509060101010101" pitchFamily="49" charset="-122"/>
              </a:rPr>
              <a:t>算法</a:t>
            </a:r>
            <a:endParaRPr lang="zh-CN" altLang="en-US" sz="2200">
              <a:latin typeface="黑体" panose="02010609060101010101" pitchFamily="2" charset="-122"/>
              <a:ea typeface="幼圆" panose="02010509060101010101" pitchFamily="49" charset="-122"/>
            </a:endParaRPr>
          </a:p>
        </p:txBody>
      </p:sp>
      <p:sp>
        <p:nvSpPr>
          <p:cNvPr id="61456" name="Line 16"/>
          <p:cNvSpPr>
            <a:spLocks noChangeShapeType="1"/>
          </p:cNvSpPr>
          <p:nvPr/>
        </p:nvSpPr>
        <p:spPr bwMode="auto">
          <a:xfrm>
            <a:off x="381000" y="838200"/>
            <a:ext cx="5410200" cy="0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8" name="Text Box 18"/>
          <p:cNvSpPr txBox="1">
            <a:spLocks noChangeArrowheads="1"/>
          </p:cNvSpPr>
          <p:nvPr/>
        </p:nvSpPr>
        <p:spPr bwMode="auto">
          <a:xfrm>
            <a:off x="366713" y="5943600"/>
            <a:ext cx="2605087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lang="zh-CN" altLang="en-US" sz="2200">
                <a:latin typeface="宋体" panose="02010600030101010101" pitchFamily="2" charset="-122"/>
              </a:rPr>
              <a:t>算法复杂性</a:t>
            </a:r>
            <a:r>
              <a:rPr lang="en-US" altLang="zh-CN" sz="1800" b="0">
                <a:latin typeface="幼圆" panose="02010509060101010101" pitchFamily="49" charset="-122"/>
                <a:ea typeface="幼圆" panose="02010509060101010101" pitchFamily="49" charset="-122"/>
              </a:rPr>
              <a:t>:  </a:t>
            </a:r>
            <a:r>
              <a:rPr lang="en-US" altLang="zh-CN" sz="2200" b="0">
                <a:latin typeface="Century Schoolbook" panose="02040604050505020304" pitchFamily="18" charset="0"/>
                <a:ea typeface="幼圆" panose="02010509060101010101" pitchFamily="49" charset="-122"/>
              </a:rPr>
              <a:t>O(2</a:t>
            </a:r>
            <a:r>
              <a:rPr lang="en-US" altLang="zh-CN" sz="2200" b="0" baseline="30000">
                <a:latin typeface="Century Schoolbook" panose="02040604050505020304" pitchFamily="18" charset="0"/>
                <a:ea typeface="幼圆" panose="02010509060101010101" pitchFamily="49" charset="-122"/>
              </a:rPr>
              <a:t>n</a:t>
            </a:r>
            <a:r>
              <a:rPr lang="en-US" altLang="zh-CN" sz="2200" b="0">
                <a:latin typeface="Century Schoolbook" panose="02040604050505020304" pitchFamily="18" charset="0"/>
                <a:ea typeface="幼圆" panose="02010509060101010101" pitchFamily="49" charset="-122"/>
              </a:rPr>
              <a:t>)</a:t>
            </a:r>
            <a:endParaRPr lang="en-US" altLang="zh-CN" sz="2200" b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1459" name="Rectangle 19"/>
          <p:cNvSpPr>
            <a:spLocks noChangeArrowheads="1"/>
          </p:cNvSpPr>
          <p:nvPr/>
        </p:nvSpPr>
        <p:spPr bwMode="auto">
          <a:xfrm>
            <a:off x="4932040" y="4268724"/>
            <a:ext cx="3708400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b="0" dirty="0" smtClean="0"/>
              <a:t>算法</a:t>
            </a:r>
            <a:r>
              <a:rPr lang="en-US" altLang="zh-CN" b="0" dirty="0" err="1"/>
              <a:t>MaxLoading</a:t>
            </a:r>
            <a:r>
              <a:rPr lang="zh-CN" altLang="en-US" b="0" dirty="0"/>
              <a:t>调用递归函数</a:t>
            </a:r>
            <a:r>
              <a:rPr lang="en-US" altLang="zh-CN" b="0" dirty="0"/>
              <a:t>Backtrack(1)</a:t>
            </a:r>
            <a:r>
              <a:rPr lang="zh-CN" altLang="en-US" b="0" dirty="0"/>
              <a:t>实现回溯搜索。</a:t>
            </a:r>
            <a:endParaRPr lang="zh-CN" altLang="en-US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404813"/>
            <a:ext cx="7848600" cy="5545137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   Backtrack(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搜索子集树中第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层子树。类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Loading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的数据成员记录子集树中结点信息，以减少传给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Backtrack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的参数。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marL="0" indent="0">
              <a:buFontTx/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  在算法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Backtrack(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中，当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＞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，算法搜索到了叶节点。被叶节点定义的解答有装载重量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c w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，它一定≤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，因为搜索不会移动到不可行的节点。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marL="0" indent="0">
              <a:buFontTx/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  若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c w &gt; b e s t w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，则表示当前解优于最优解。目前最优解答的值被更新。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marL="0" indent="0">
              <a:buFontTx/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  当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i≤n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时，当前扩展节点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是子集树中的内部节点。它有两个孩子节点。左孩子表示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x[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]= 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情况，只有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cw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+ w[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]≤c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时，才能移到这里。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marL="0" indent="0">
              <a:buFontTx/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  当移动到左孩子时，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cw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被置为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cw+w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]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，且到达一个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i+1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层的节点。以该节点为根的子树被递归搜索。调用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Backtrack (i+1)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；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marL="0" indent="0">
              <a:buFontTx/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  当搜索完成时，回到节点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（第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层）。为了得到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cw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值，需用当前的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cw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值减去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w[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]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的右子树还未搜索。既然这个子树表示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x[</a:t>
            </a:r>
            <a:r>
              <a:rPr lang="en-US" altLang="zh-CN" sz="2000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]=0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的情况，所以无需进行可行性检查就可移动到该子树，因为一个可行节点的右孩子总是可行的。即执行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Backtrack (i+1)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；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3598862" cy="504031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400" b="1" dirty="0" smtClean="0"/>
              <a:t>加入</a:t>
            </a:r>
            <a:r>
              <a:rPr lang="zh-CN" altLang="en-US" sz="2400" b="1" dirty="0"/>
              <a:t>限</a:t>
            </a:r>
            <a:r>
              <a:rPr lang="zh-CN" altLang="en-US" sz="2400" b="1" dirty="0" smtClean="0"/>
              <a:t>界</a:t>
            </a:r>
            <a:r>
              <a:rPr lang="zh-CN" altLang="en-US" sz="2400" b="1" dirty="0"/>
              <a:t>函数</a:t>
            </a:r>
            <a:endParaRPr lang="zh-CN" altLang="en-US" sz="2400" b="1" dirty="0"/>
          </a:p>
          <a:p>
            <a:pPr marL="0" indent="0">
              <a:buFontTx/>
              <a:buNone/>
            </a:pPr>
            <a:r>
              <a:rPr lang="zh-CN" altLang="en-US" sz="2400" b="1" dirty="0" smtClean="0"/>
              <a:t>引入</a:t>
            </a:r>
            <a:r>
              <a:rPr lang="zh-CN" altLang="en-US" sz="2400" b="1" dirty="0"/>
              <a:t>限</a:t>
            </a:r>
            <a:r>
              <a:rPr lang="zh-CN" altLang="en-US" sz="2400" b="1" dirty="0" smtClean="0"/>
              <a:t>界</a:t>
            </a:r>
            <a:r>
              <a:rPr lang="zh-CN" altLang="en-US" sz="2400" b="1" dirty="0"/>
              <a:t>函数，用于剪去不含最优解的子树，从而改进算法在平均情况下的运行效率。</a:t>
            </a:r>
            <a:endParaRPr lang="zh-CN" altLang="en-US" sz="2400" b="1" dirty="0"/>
          </a:p>
          <a:p>
            <a:pPr marL="0" indent="0">
              <a:buFontTx/>
              <a:buNone/>
            </a:pPr>
            <a:r>
              <a:rPr lang="zh-CN" altLang="en-US" sz="2400" b="1" dirty="0" smtClean="0"/>
              <a:t>设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是剩余集装箱的重量。</a:t>
            </a:r>
            <a:r>
              <a:rPr lang="zh-CN" altLang="en-US" sz="2400" b="1" dirty="0" smtClean="0"/>
              <a:t>定义限界</a:t>
            </a:r>
            <a:r>
              <a:rPr lang="zh-CN" altLang="en-US" sz="2400" b="1" dirty="0"/>
              <a:t>函数为</a:t>
            </a:r>
            <a:r>
              <a:rPr lang="en-US" altLang="zh-CN" sz="2400" b="1" dirty="0" err="1"/>
              <a:t>cw+r</a:t>
            </a:r>
            <a:r>
              <a:rPr lang="zh-CN" altLang="en-US" sz="2400" b="1" dirty="0"/>
              <a:t>。在以</a:t>
            </a:r>
            <a:r>
              <a:rPr lang="en-US" altLang="zh-CN" sz="2400" b="1" dirty="0"/>
              <a:t>Z</a:t>
            </a:r>
            <a:r>
              <a:rPr lang="zh-CN" altLang="en-US" sz="2400" b="1" dirty="0"/>
              <a:t>为根的子树中任意叶结点所相应的载重量</a:t>
            </a:r>
            <a:r>
              <a:rPr lang="zh-CN" altLang="en-US" sz="2400" b="1" dirty="0" smtClean="0"/>
              <a:t>不超过</a:t>
            </a:r>
            <a:r>
              <a:rPr lang="en-US" altLang="zh-CN" sz="2400" b="1" dirty="0" err="1" smtClean="0"/>
              <a:t>cw+r</a:t>
            </a:r>
            <a:r>
              <a:rPr lang="zh-CN" altLang="en-US" sz="2400" b="1" dirty="0"/>
              <a:t>。因此，当</a:t>
            </a:r>
            <a:r>
              <a:rPr lang="en-US" altLang="zh-CN" sz="2400" b="1" dirty="0" err="1"/>
              <a:t>cw+r≤bestw</a:t>
            </a:r>
            <a:r>
              <a:rPr lang="zh-CN" altLang="en-US" sz="2400" b="1" dirty="0"/>
              <a:t>时，可将</a:t>
            </a:r>
            <a:r>
              <a:rPr lang="en-US" altLang="zh-CN" sz="2400" b="1" dirty="0"/>
              <a:t>Z</a:t>
            </a:r>
            <a:r>
              <a:rPr lang="zh-CN" altLang="en-US" sz="2400" b="1" dirty="0"/>
              <a:t>的右子树剪去。</a:t>
            </a:r>
            <a:endParaRPr lang="zh-CN" altLang="en-US" sz="2400" b="1" dirty="0"/>
          </a:p>
          <a:p>
            <a:pPr marL="0" indent="0">
              <a:buFontTx/>
              <a:buNone/>
            </a:pPr>
            <a:r>
              <a:rPr lang="en-US" altLang="zh-CN" sz="2400" b="1" dirty="0"/>
              <a:t>4</a:t>
            </a:r>
            <a:r>
              <a:rPr lang="zh-CN" altLang="en-US" sz="2400" b="1" dirty="0"/>
              <a:t>、构造最优解</a:t>
            </a:r>
            <a:endParaRPr lang="zh-CN" altLang="en-US" sz="2400" b="1" dirty="0"/>
          </a:p>
        </p:txBody>
      </p:sp>
      <p:sp>
        <p:nvSpPr>
          <p:cNvPr id="120836" name="Rectangle 4"/>
          <p:cNvSpPr>
            <a:spLocks noChangeArrowheads="1"/>
          </p:cNvSpPr>
          <p:nvPr/>
        </p:nvSpPr>
        <p:spPr bwMode="auto">
          <a:xfrm>
            <a:off x="3587637" y="0"/>
            <a:ext cx="5580112" cy="5853910"/>
          </a:xfrm>
          <a:prstGeom prst="rect">
            <a:avLst/>
          </a:prstGeom>
          <a:solidFill>
            <a:schemeClr val="bg2"/>
          </a:solidFill>
          <a:ln w="9525">
            <a:solidFill>
              <a:srgbClr val="99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200" dirty="0"/>
              <a:t>template&lt;</a:t>
            </a:r>
            <a:r>
              <a:rPr lang="en-US" altLang="zh-CN" sz="2200" dirty="0" err="1"/>
              <a:t>classType</a:t>
            </a:r>
            <a:r>
              <a:rPr lang="en-US" altLang="zh-CN" sz="2200" dirty="0"/>
              <a:t>&gt;</a:t>
            </a:r>
            <a:endParaRPr lang="en-US" altLang="zh-CN" sz="2200" dirty="0"/>
          </a:p>
          <a:p>
            <a:pPr>
              <a:lnSpc>
                <a:spcPct val="90000"/>
              </a:lnSpc>
            </a:pPr>
            <a:r>
              <a:rPr lang="en-US" altLang="zh-CN" sz="2200" dirty="0"/>
              <a:t>void Loading&lt;Type&gt;::Backtrack(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)</a:t>
            </a:r>
            <a:endParaRPr lang="en-US" altLang="zh-CN" sz="2200" dirty="0"/>
          </a:p>
          <a:p>
            <a:pPr>
              <a:lnSpc>
                <a:spcPct val="90000"/>
              </a:lnSpc>
            </a:pPr>
            <a:r>
              <a:rPr lang="en-US" altLang="zh-CN" sz="2200" dirty="0">
                <a:ea typeface="楷体_GB2312" pitchFamily="49" charset="-122"/>
              </a:rPr>
              <a:t>{ </a:t>
            </a:r>
            <a:r>
              <a:rPr lang="en-US" altLang="zh-CN" sz="2200" dirty="0">
                <a:solidFill>
                  <a:srgbClr val="990000"/>
                </a:solidFill>
                <a:ea typeface="楷体_GB2312" pitchFamily="49" charset="-122"/>
              </a:rPr>
              <a:t>/ /</a:t>
            </a:r>
            <a:r>
              <a:rPr lang="zh-CN" altLang="en-US" sz="2200" dirty="0">
                <a:solidFill>
                  <a:srgbClr val="990000"/>
                </a:solidFill>
                <a:ea typeface="楷体_GB2312" pitchFamily="49" charset="-122"/>
              </a:rPr>
              <a:t>搜索第</a:t>
            </a:r>
            <a:r>
              <a:rPr lang="en-US" altLang="zh-CN" sz="2200" dirty="0" err="1">
                <a:solidFill>
                  <a:srgbClr val="990000"/>
                </a:solidFill>
                <a:ea typeface="楷体_GB2312" pitchFamily="49" charset="-122"/>
              </a:rPr>
              <a:t>i</a:t>
            </a:r>
            <a:r>
              <a:rPr lang="zh-CN" altLang="en-US" sz="2200" dirty="0">
                <a:solidFill>
                  <a:srgbClr val="990000"/>
                </a:solidFill>
                <a:ea typeface="楷体_GB2312" pitchFamily="49" charset="-122"/>
              </a:rPr>
              <a:t>层结点</a:t>
            </a:r>
            <a:endParaRPr lang="zh-CN" altLang="en-US" sz="2200" dirty="0">
              <a:solidFill>
                <a:srgbClr val="990000"/>
              </a:solidFill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200" dirty="0"/>
              <a:t>    </a:t>
            </a:r>
            <a:r>
              <a:rPr lang="en-US" altLang="zh-CN" sz="2200" dirty="0"/>
              <a:t>if (</a:t>
            </a:r>
            <a:r>
              <a:rPr lang="en-US" altLang="zh-CN" sz="2200" dirty="0" err="1"/>
              <a:t>i</a:t>
            </a:r>
            <a:r>
              <a:rPr lang="en-US" altLang="zh-CN" sz="2200" dirty="0"/>
              <a:t>&gt;n) </a:t>
            </a:r>
            <a:r>
              <a:rPr lang="en-US" altLang="zh-CN" sz="2200" dirty="0">
                <a:latin typeface="楷体_GB2312" pitchFamily="49" charset="-122"/>
                <a:ea typeface="楷体_GB2312" pitchFamily="49" charset="-122"/>
              </a:rPr>
              <a:t>{</a:t>
            </a:r>
            <a:r>
              <a:rPr lang="en-US" altLang="zh-CN" sz="22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2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到达叶结点</a:t>
            </a:r>
            <a:endParaRPr lang="zh-CN" altLang="en-US" sz="22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         </a:t>
            </a:r>
            <a:r>
              <a:rPr lang="en-US" altLang="zh-CN" sz="2200" dirty="0" err="1"/>
              <a:t>bestw</a:t>
            </a:r>
            <a:r>
              <a:rPr lang="en-US" altLang="zh-CN" sz="2200" dirty="0"/>
              <a:t>=</a:t>
            </a:r>
            <a:r>
              <a:rPr lang="en-US" altLang="zh-CN" sz="2200" dirty="0" err="1"/>
              <a:t>cw</a:t>
            </a:r>
            <a:r>
              <a:rPr lang="zh-CN" altLang="en-US" sz="2200" dirty="0"/>
              <a:t>；</a:t>
            </a:r>
            <a:endParaRPr lang="zh-CN" altLang="en-US" sz="22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         </a:t>
            </a:r>
            <a:r>
              <a:rPr lang="en-US" altLang="zh-CN" sz="2200" dirty="0"/>
              <a:t>return</a:t>
            </a:r>
            <a:r>
              <a:rPr lang="zh-CN" altLang="en-US" sz="2200" dirty="0"/>
              <a:t>；</a:t>
            </a:r>
            <a:r>
              <a:rPr lang="en-US" altLang="zh-CN" sz="2200" dirty="0"/>
              <a:t>}</a:t>
            </a:r>
            <a:endParaRPr lang="en-US" altLang="zh-CN" sz="2200" dirty="0"/>
          </a:p>
          <a:p>
            <a:pPr>
              <a:lnSpc>
                <a:spcPct val="90000"/>
              </a:lnSpc>
            </a:pPr>
            <a:r>
              <a:rPr lang="en-US" altLang="zh-CN" sz="2200" dirty="0"/>
              <a:t>    </a:t>
            </a:r>
            <a:r>
              <a:rPr lang="en-US" altLang="zh-CN" sz="22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2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搜索子树</a:t>
            </a:r>
            <a:endParaRPr lang="zh-CN" altLang="en-US" sz="2200" dirty="0">
              <a:solidFill>
                <a:srgbClr val="99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200" dirty="0"/>
              <a:t>    </a:t>
            </a:r>
            <a:r>
              <a:rPr lang="en-US" altLang="zh-CN" sz="2200" dirty="0"/>
              <a:t>r - = w[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];</a:t>
            </a:r>
            <a:endParaRPr lang="en-US" altLang="zh-CN" sz="2200" dirty="0"/>
          </a:p>
          <a:p>
            <a:pPr>
              <a:lnSpc>
                <a:spcPct val="90000"/>
              </a:lnSpc>
            </a:pPr>
            <a:r>
              <a:rPr lang="en-US" altLang="zh-CN" sz="2200" dirty="0"/>
              <a:t>    if (</a:t>
            </a:r>
            <a:r>
              <a:rPr lang="en-US" altLang="zh-CN" sz="2200" dirty="0" err="1"/>
              <a:t>cw+w</a:t>
            </a:r>
            <a:r>
              <a:rPr lang="en-US" altLang="zh-CN" sz="2200" dirty="0"/>
              <a:t>[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]]&lt;=c){ </a:t>
            </a:r>
            <a:r>
              <a:rPr lang="en-US" altLang="zh-CN" sz="2200" dirty="0">
                <a:solidFill>
                  <a:srgbClr val="990000"/>
                </a:solidFill>
              </a:rPr>
              <a:t>//x[</a:t>
            </a:r>
            <a:r>
              <a:rPr lang="en-US" altLang="zh-CN" sz="2200" dirty="0" err="1">
                <a:solidFill>
                  <a:srgbClr val="990000"/>
                </a:solidFill>
              </a:rPr>
              <a:t>i</a:t>
            </a:r>
            <a:r>
              <a:rPr lang="en-US" altLang="zh-CN" sz="2200" dirty="0">
                <a:solidFill>
                  <a:srgbClr val="990000"/>
                </a:solidFill>
              </a:rPr>
              <a:t>]=1</a:t>
            </a:r>
            <a:r>
              <a:rPr lang="zh-CN" altLang="en-US" sz="2200" dirty="0">
                <a:solidFill>
                  <a:srgbClr val="990000"/>
                </a:solidFill>
              </a:rPr>
              <a:t>左孩子</a:t>
            </a:r>
            <a:endParaRPr lang="zh-CN" altLang="en-US" sz="22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         </a:t>
            </a:r>
            <a:r>
              <a:rPr lang="en-US" altLang="zh-CN" sz="2200" dirty="0" err="1"/>
              <a:t>cw</a:t>
            </a:r>
            <a:r>
              <a:rPr lang="en-US" altLang="zh-CN" sz="2200" dirty="0"/>
              <a:t> += w[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</a:t>
            </a:r>
            <a:r>
              <a:rPr lang="zh-CN" altLang="en-US" sz="2200" dirty="0"/>
              <a:t>；    </a:t>
            </a:r>
            <a:endParaRPr lang="zh-CN" altLang="en-US" sz="22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         </a:t>
            </a:r>
            <a:r>
              <a:rPr lang="en-US" altLang="zh-CN" sz="2200" dirty="0"/>
              <a:t>Backtrack (i+1)</a:t>
            </a:r>
            <a:r>
              <a:rPr lang="zh-CN" altLang="en-US" sz="2200" dirty="0"/>
              <a:t>；</a:t>
            </a:r>
            <a:endParaRPr lang="zh-CN" altLang="en-US" sz="22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         </a:t>
            </a:r>
            <a:r>
              <a:rPr lang="en-US" altLang="zh-CN" sz="2200" dirty="0" err="1"/>
              <a:t>cw</a:t>
            </a:r>
            <a:r>
              <a:rPr lang="en-US" altLang="zh-CN" sz="2200" dirty="0"/>
              <a:t> - = w[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]; }</a:t>
            </a:r>
            <a:endParaRPr lang="en-US" altLang="zh-CN" sz="2200" dirty="0"/>
          </a:p>
          <a:p>
            <a:pPr>
              <a:lnSpc>
                <a:spcPct val="90000"/>
              </a:lnSpc>
            </a:pPr>
            <a:r>
              <a:rPr lang="en-US" altLang="zh-CN" sz="2200" dirty="0"/>
              <a:t>     if (</a:t>
            </a:r>
            <a:r>
              <a:rPr lang="en-US" altLang="zh-CN" sz="2200" dirty="0" err="1"/>
              <a:t>cw+r</a:t>
            </a:r>
            <a:r>
              <a:rPr lang="en-US" altLang="zh-CN" sz="2200" dirty="0"/>
              <a:t> &gt; </a:t>
            </a:r>
            <a:r>
              <a:rPr lang="en-US" altLang="zh-CN" sz="2200" dirty="0" err="1"/>
              <a:t>bestw</a:t>
            </a:r>
            <a:r>
              <a:rPr lang="en-US" altLang="zh-CN" sz="2200" dirty="0"/>
              <a:t>){ </a:t>
            </a:r>
            <a:r>
              <a:rPr lang="en-US" altLang="zh-CN" sz="2000" dirty="0">
                <a:solidFill>
                  <a:srgbClr val="990000"/>
                </a:solidFill>
              </a:rPr>
              <a:t>//</a:t>
            </a:r>
            <a:r>
              <a:rPr lang="zh-CN" altLang="en-US" sz="2000" dirty="0">
                <a:solidFill>
                  <a:srgbClr val="990000"/>
                </a:solidFill>
              </a:rPr>
              <a:t>控制剪去右子树</a:t>
            </a:r>
            <a:endParaRPr lang="zh-CN" altLang="en-US" sz="20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         </a:t>
            </a:r>
            <a:r>
              <a:rPr lang="en-US" altLang="zh-CN" sz="2200" dirty="0"/>
              <a:t>Backtrack(i+1)</a:t>
            </a:r>
            <a:r>
              <a:rPr lang="zh-CN" altLang="en-US" sz="2200" dirty="0"/>
              <a:t>；</a:t>
            </a:r>
            <a:endParaRPr lang="zh-CN" altLang="en-US" sz="22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    </a:t>
            </a:r>
            <a:r>
              <a:rPr lang="en-US" altLang="zh-CN" sz="2200" dirty="0"/>
              <a:t>r+=w[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 </a:t>
            </a:r>
            <a:endParaRPr lang="en-US" altLang="zh-CN" sz="2200" dirty="0"/>
          </a:p>
          <a:p>
            <a:pPr>
              <a:lnSpc>
                <a:spcPct val="90000"/>
              </a:lnSpc>
            </a:pPr>
            <a:r>
              <a:rPr lang="en-US" altLang="zh-CN" sz="2200" dirty="0"/>
              <a:t>    }</a:t>
            </a:r>
            <a:endParaRPr lang="en-US" altLang="zh-CN" sz="2200" dirty="0"/>
          </a:p>
          <a:p>
            <a:pPr>
              <a:lnSpc>
                <a:spcPct val="90000"/>
              </a:lnSpc>
            </a:pPr>
            <a:r>
              <a:rPr lang="en-US" altLang="zh-CN" sz="2200" dirty="0"/>
              <a:t> </a:t>
            </a:r>
            <a:endParaRPr lang="en-US" altLang="zh-CN" sz="2200" dirty="0"/>
          </a:p>
        </p:txBody>
      </p:sp>
      <p:sp>
        <p:nvSpPr>
          <p:cNvPr id="120837" name="Rectangle 5"/>
          <p:cNvSpPr>
            <a:spLocks noChangeArrowheads="1"/>
          </p:cNvSpPr>
          <p:nvPr/>
        </p:nvSpPr>
        <p:spPr bwMode="auto">
          <a:xfrm>
            <a:off x="107504" y="5893562"/>
            <a:ext cx="799306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/>
              <a:t>if (</a:t>
            </a:r>
            <a:r>
              <a:rPr lang="en-US" altLang="zh-CN" dirty="0" err="1"/>
              <a:t>i</a:t>
            </a:r>
            <a:r>
              <a:rPr lang="en-US" altLang="zh-CN" dirty="0"/>
              <a:t> &gt; n) {// </a:t>
            </a:r>
            <a:r>
              <a:rPr lang="zh-CN" altLang="en-US" dirty="0"/>
              <a:t>在叶节点上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for (</a:t>
            </a:r>
            <a:r>
              <a:rPr lang="en-US" altLang="zh-CN" dirty="0" err="1"/>
              <a:t>int</a:t>
            </a:r>
            <a:r>
              <a:rPr lang="en-US" altLang="zh-CN" dirty="0"/>
              <a:t> j = 1; j &lt;= n; j++)	 </a:t>
            </a:r>
            <a:r>
              <a:rPr lang="en-US" altLang="zh-CN" dirty="0" err="1"/>
              <a:t>bestx</a:t>
            </a:r>
            <a:r>
              <a:rPr lang="en-US" altLang="zh-CN" dirty="0"/>
              <a:t>[j] = x[j];//</a:t>
            </a:r>
            <a:r>
              <a:rPr lang="zh-CN" altLang="en-US" dirty="0"/>
              <a:t>最优解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 err="1"/>
              <a:t>bestw</a:t>
            </a:r>
            <a:r>
              <a:rPr lang="en-US" altLang="zh-CN" dirty="0"/>
              <a:t> = </a:t>
            </a:r>
            <a:r>
              <a:rPr lang="en-US" altLang="zh-CN" dirty="0" err="1"/>
              <a:t>cw</a:t>
            </a:r>
            <a:r>
              <a:rPr lang="en-US" altLang="zh-CN" dirty="0"/>
              <a:t>; return;}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6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装载问题</a:t>
            </a:r>
            <a:endParaRPr lang="zh-CN" altLang="en-US" dirty="0" smtClean="0"/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4 </a:t>
            </a:r>
            <a:r>
              <a:rPr lang="zh-CN" altLang="en-US" dirty="0" smtClean="0"/>
              <a:t>算法描述</a:t>
            </a:r>
            <a:endParaRPr lang="zh-CN" altLang="en-US" dirty="0" smtClean="0"/>
          </a:p>
        </p:txBody>
      </p:sp>
      <p:grpSp>
        <p:nvGrpSpPr>
          <p:cNvPr id="41989" name="组合 10"/>
          <p:cNvGrpSpPr/>
          <p:nvPr/>
        </p:nvGrpSpPr>
        <p:grpSpPr bwMode="auto">
          <a:xfrm>
            <a:off x="928688" y="185738"/>
            <a:ext cx="7827962" cy="6315075"/>
            <a:chOff x="857224" y="116710"/>
            <a:chExt cx="7828352" cy="6314879"/>
          </a:xfrm>
        </p:grpSpPr>
        <p:pic>
          <p:nvPicPr>
            <p:cNvPr id="41990" name="Picture 2" descr="D:\Temp\Temporary Internet Files\Content.IE5\51RT335K\MCj04377910000[1].wmf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0762" y="116710"/>
              <a:ext cx="2384814" cy="1954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99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224" y="1500174"/>
              <a:ext cx="6858048" cy="4931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经典应用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批处理作业调度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 </a:t>
            </a:r>
            <a:r>
              <a:rPr lang="zh-CN" altLang="en-US" dirty="0" smtClean="0"/>
              <a:t>问题描述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给定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zh-CN" altLang="en-US" dirty="0" smtClean="0"/>
              <a:t>个作业的集合</a:t>
            </a:r>
            <a:r>
              <a:rPr lang="en-US" altLang="zh-CN" dirty="0" smtClean="0">
                <a:solidFill>
                  <a:srgbClr val="FF0000"/>
                </a:solidFill>
              </a:rPr>
              <a:t>{J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,J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</a:rPr>
              <a:t>,…,</a:t>
            </a:r>
            <a:r>
              <a:rPr lang="en-US" altLang="zh-CN" dirty="0" err="1" smtClean="0">
                <a:solidFill>
                  <a:srgbClr val="FF0000"/>
                </a:solidFill>
              </a:rPr>
              <a:t>J</a:t>
            </a:r>
            <a:r>
              <a:rPr lang="en-US" altLang="zh-CN" baseline="-25000" dirty="0" err="1" smtClean="0">
                <a:solidFill>
                  <a:srgbClr val="FF0000"/>
                </a:solidFill>
              </a:rPr>
              <a:t>n</a:t>
            </a:r>
            <a:r>
              <a:rPr lang="en-US" altLang="zh-CN" dirty="0" smtClean="0">
                <a:solidFill>
                  <a:srgbClr val="FF0000"/>
                </a:solidFill>
              </a:rPr>
              <a:t>}</a:t>
            </a:r>
            <a:r>
              <a:rPr lang="zh-CN" altLang="en-US" dirty="0" smtClean="0"/>
              <a:t>。每个作业必须先由</a:t>
            </a:r>
            <a:r>
              <a:rPr lang="zh-CN" altLang="en-US" dirty="0" smtClean="0">
                <a:solidFill>
                  <a:srgbClr val="FF0000"/>
                </a:solidFill>
              </a:rPr>
              <a:t>机器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/>
              <a:t>处理，然后由</a:t>
            </a:r>
            <a:r>
              <a:rPr lang="zh-CN" altLang="en-US" dirty="0" smtClean="0">
                <a:solidFill>
                  <a:srgbClr val="FF0000"/>
                </a:solidFill>
              </a:rPr>
              <a:t>机器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/>
              <a:t>处理。作业</a:t>
            </a:r>
            <a:r>
              <a:rPr lang="en-US" altLang="zh-CN" dirty="0" err="1" smtClean="0">
                <a:solidFill>
                  <a:srgbClr val="FF0000"/>
                </a:solidFill>
              </a:rPr>
              <a:t>J</a:t>
            </a:r>
            <a:r>
              <a:rPr lang="en-US" altLang="zh-CN" baseline="-25000" dirty="0" err="1" smtClean="0">
                <a:solidFill>
                  <a:srgbClr val="FF0000"/>
                </a:solidFill>
              </a:rPr>
              <a:t>i</a:t>
            </a:r>
            <a:r>
              <a:rPr lang="zh-CN" altLang="en-US" dirty="0" smtClean="0"/>
              <a:t>需要机器</a:t>
            </a:r>
            <a:r>
              <a:rPr lang="en-US" altLang="zh-CN" dirty="0" smtClean="0">
                <a:solidFill>
                  <a:srgbClr val="FF0000"/>
                </a:solidFill>
              </a:rPr>
              <a:t>j</a:t>
            </a:r>
            <a:r>
              <a:rPr lang="zh-CN" altLang="en-US" dirty="0" smtClean="0"/>
              <a:t>的处理时间为</a:t>
            </a:r>
            <a:r>
              <a:rPr lang="en-US" altLang="zh-CN" dirty="0" err="1" smtClean="0">
                <a:solidFill>
                  <a:srgbClr val="FF0000"/>
                </a:solidFill>
              </a:rPr>
              <a:t>t</a:t>
            </a:r>
            <a:r>
              <a:rPr lang="en-US" altLang="zh-CN" baseline="-25000" dirty="0" err="1" smtClean="0">
                <a:solidFill>
                  <a:srgbClr val="FF0000"/>
                </a:solidFill>
              </a:rPr>
              <a:t>ji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对于一个确定的作业调度，设</a:t>
            </a:r>
            <a:r>
              <a:rPr lang="en-US" altLang="zh-CN" dirty="0" err="1" smtClean="0">
                <a:solidFill>
                  <a:srgbClr val="FF0000"/>
                </a:solidFill>
              </a:rPr>
              <a:t>F</a:t>
            </a:r>
            <a:r>
              <a:rPr lang="en-US" altLang="zh-CN" baseline="-25000" dirty="0" err="1" smtClean="0">
                <a:solidFill>
                  <a:srgbClr val="FF0000"/>
                </a:solidFill>
              </a:rPr>
              <a:t>ji</a:t>
            </a:r>
            <a:r>
              <a:rPr lang="zh-CN" altLang="en-US" dirty="0" smtClean="0"/>
              <a:t>是作业</a:t>
            </a:r>
            <a:r>
              <a:rPr lang="en-US" altLang="zh-CN" dirty="0" err="1" smtClean="0">
                <a:solidFill>
                  <a:srgbClr val="FF0000"/>
                </a:solidFill>
              </a:rPr>
              <a:t>i</a:t>
            </a:r>
            <a:r>
              <a:rPr lang="zh-CN" altLang="en-US" dirty="0" smtClean="0"/>
              <a:t>在机器</a:t>
            </a:r>
            <a:r>
              <a:rPr lang="en-US" altLang="zh-CN" dirty="0" smtClean="0">
                <a:solidFill>
                  <a:srgbClr val="FF0000"/>
                </a:solidFill>
              </a:rPr>
              <a:t>j</a:t>
            </a:r>
            <a:r>
              <a:rPr lang="zh-CN" altLang="en-US" dirty="0" smtClean="0"/>
              <a:t>上完成处理的时间。</a:t>
            </a:r>
            <a:r>
              <a:rPr lang="zh-CN" altLang="en-US" b="1" dirty="0" smtClean="0">
                <a:solidFill>
                  <a:srgbClr val="FF0066"/>
                </a:solidFill>
              </a:rPr>
              <a:t>所有作业在机器</a:t>
            </a:r>
            <a:r>
              <a:rPr lang="en-US" altLang="zh-CN" b="1" dirty="0" smtClean="0">
                <a:solidFill>
                  <a:srgbClr val="FF0066"/>
                </a:solidFill>
              </a:rPr>
              <a:t>2</a:t>
            </a:r>
            <a:r>
              <a:rPr lang="zh-CN" altLang="en-US" b="1" dirty="0" smtClean="0">
                <a:solidFill>
                  <a:srgbClr val="FF0066"/>
                </a:solidFill>
              </a:rPr>
              <a:t>上完成处理的时间和</a:t>
            </a:r>
            <a:r>
              <a:rPr lang="en-US" altLang="zh-CN" sz="2800" dirty="0">
                <a:solidFill>
                  <a:srgbClr val="990000"/>
                </a:solidFill>
              </a:rPr>
              <a:t>: f=∑F</a:t>
            </a:r>
            <a:r>
              <a:rPr lang="en-US" altLang="zh-CN" sz="2800" baseline="-25000" dirty="0">
                <a:solidFill>
                  <a:srgbClr val="990000"/>
                </a:solidFill>
              </a:rPr>
              <a:t>2i</a:t>
            </a:r>
            <a:r>
              <a:rPr lang="zh-CN" altLang="en-US" b="1" dirty="0" smtClean="0">
                <a:solidFill>
                  <a:srgbClr val="FF0066"/>
                </a:solidFill>
              </a:rPr>
              <a:t>称为该作业调度的完成时间和。</a:t>
            </a:r>
            <a:endParaRPr lang="zh-CN" altLang="en-US" b="1" dirty="0" smtClean="0">
              <a:solidFill>
                <a:srgbClr val="FF0066"/>
              </a:solidFill>
            </a:endParaRPr>
          </a:p>
          <a:p>
            <a:pPr lvl="1"/>
            <a:r>
              <a:rPr lang="zh-CN" altLang="en-US" dirty="0" smtClean="0"/>
              <a:t>批处理作业调度问题要求对于给定的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个作业，制定最佳作业调度方案，使其</a:t>
            </a:r>
            <a:r>
              <a:rPr lang="zh-CN" altLang="en-US" dirty="0" smtClean="0">
                <a:solidFill>
                  <a:srgbClr val="0000FF"/>
                </a:solidFill>
              </a:rPr>
              <a:t>完成时间和</a:t>
            </a:r>
            <a:r>
              <a:rPr lang="zh-CN" altLang="en-US" dirty="0" smtClean="0"/>
              <a:t>达到</a:t>
            </a:r>
            <a:r>
              <a:rPr lang="zh-CN" altLang="en-US" dirty="0" smtClean="0">
                <a:solidFill>
                  <a:srgbClr val="0000FF"/>
                </a:solidFill>
              </a:rPr>
              <a:t>最小</a:t>
            </a:r>
            <a:r>
              <a:rPr lang="zh-CN" altLang="en-US" dirty="0" smtClean="0"/>
              <a:t>。</a:t>
            </a:r>
            <a:endParaRPr lang="zh-CN" alt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批处理作业调度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 </a:t>
            </a:r>
            <a:r>
              <a:rPr lang="zh-CN" altLang="en-US" dirty="0" smtClean="0"/>
              <a:t>实例分析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这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个作业的</a:t>
            </a:r>
            <a:r>
              <a:rPr lang="en-US" altLang="zh-CN" dirty="0" smtClean="0"/>
              <a:t>6</a:t>
            </a:r>
            <a:r>
              <a:rPr lang="zh-CN" altLang="en-US" dirty="0" smtClean="0"/>
              <a:t>种可能的调度方案是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1,2,3</a:t>
            </a:r>
            <a:r>
              <a:rPr lang="zh-CN" altLang="en-US" dirty="0" smtClean="0"/>
              <a:t>；</a:t>
            </a:r>
            <a:r>
              <a:rPr lang="en-US" altLang="zh-CN" dirty="0" smtClean="0"/>
              <a:t>1,3,2</a:t>
            </a:r>
            <a:r>
              <a:rPr lang="zh-CN" altLang="en-US" dirty="0" smtClean="0"/>
              <a:t>；</a:t>
            </a:r>
            <a:r>
              <a:rPr lang="en-US" altLang="zh-CN" dirty="0" smtClean="0"/>
              <a:t>2,1,3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2,3,1</a:t>
            </a:r>
            <a:r>
              <a:rPr lang="zh-CN" altLang="en-US" dirty="0" smtClean="0"/>
              <a:t>；</a:t>
            </a:r>
            <a:r>
              <a:rPr lang="en-US" altLang="zh-CN" dirty="0" smtClean="0"/>
              <a:t>3,1,2</a:t>
            </a:r>
            <a:r>
              <a:rPr lang="zh-CN" altLang="en-US" dirty="0" smtClean="0"/>
              <a:t>；</a:t>
            </a:r>
            <a:r>
              <a:rPr lang="en-US" altLang="zh-CN" dirty="0" smtClean="0"/>
              <a:t>3,2,1</a:t>
            </a:r>
            <a:r>
              <a:rPr lang="zh-CN" altLang="en-US" dirty="0" smtClean="0"/>
              <a:t>；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相应的完成时间和分别是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19,18,20,21,19,19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最佳调度方案是</a:t>
            </a:r>
            <a:r>
              <a:rPr lang="en-US" altLang="zh-CN" dirty="0" smtClean="0"/>
              <a:t>1,3,2</a:t>
            </a:r>
            <a:r>
              <a:rPr lang="zh-CN" altLang="en-US" dirty="0" smtClean="0"/>
              <a:t>，完成时间和为</a:t>
            </a:r>
            <a:r>
              <a:rPr lang="en-US" altLang="zh-CN" dirty="0" smtClean="0"/>
              <a:t>18</a:t>
            </a:r>
            <a:r>
              <a:rPr lang="zh-CN" altLang="en-US" dirty="0" smtClean="0"/>
              <a:t>。</a:t>
            </a:r>
            <a:endParaRPr lang="zh-CN" altLang="en-US" dirty="0" smtClean="0"/>
          </a:p>
        </p:txBody>
      </p:sp>
      <p:graphicFrame>
        <p:nvGraphicFramePr>
          <p:cNvPr id="4" name="Group 59"/>
          <p:cNvGraphicFramePr/>
          <p:nvPr/>
        </p:nvGraphicFramePr>
        <p:xfrm>
          <a:off x="1214438" y="1500188"/>
          <a:ext cx="5286375" cy="158481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504161"/>
                <a:gridCol w="1893921"/>
                <a:gridCol w="1888293"/>
              </a:tblGrid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kumimoji="1" lang="en-US" altLang="zh-CN" sz="2000" b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</a:t>
                      </a:r>
                      <a:endParaRPr kumimoji="1" lang="en-US" altLang="zh-CN" sz="20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机器</a:t>
                      </a:r>
                      <a:r>
                        <a:rPr kumimoji="1" lang="en-US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机器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2" marB="45702" anchor="ctr" horzOverflow="overflow"/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</a:t>
                      </a:r>
                      <a:r>
                        <a:rPr kumimoji="1" lang="en-US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kumimoji="1" lang="en-US" altLang="zh-CN" sz="2000" b="1" u="none" strike="noStrike" kern="1200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2" marB="45702" horzOverflow="overflow"/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</a:t>
                      </a:r>
                      <a:r>
                        <a:rPr kumimoji="1" lang="en-US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2" marB="45702" horzOverflow="overflow"/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</a:t>
                      </a:r>
                      <a:r>
                        <a:rPr kumimoji="1" lang="en-US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2" marB="45702" horzOverflow="overflow"/>
                </a:tc>
              </a:tr>
            </a:tbl>
          </a:graphicData>
        </a:graphic>
      </p:graphicFrame>
      <p:graphicFrame>
        <p:nvGraphicFramePr>
          <p:cNvPr id="5" name="Group 59"/>
          <p:cNvGraphicFramePr/>
          <p:nvPr/>
        </p:nvGraphicFramePr>
        <p:xfrm>
          <a:off x="5429250" y="4059238"/>
          <a:ext cx="3214688" cy="17272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914693"/>
                <a:gridCol w="1151709"/>
                <a:gridCol w="1148286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ij</a:t>
                      </a:r>
                      <a:endParaRPr kumimoji="1" lang="en-US" altLang="zh-CN" sz="2000" b="1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机器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机器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anchor="ctr" horzOverflow="overflow"/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作业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=2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21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=3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作业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=4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23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=7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作业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=7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22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=8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</a:tr>
            </a:tbl>
          </a:graphicData>
        </a:graphic>
      </p:graphicFrame>
      <p:pic>
        <p:nvPicPr>
          <p:cNvPr id="44080" name="Picture 2" descr="D:\Temp\Temporary Internet Files\Content.IE5\54948IEP\MCj04239840000[1].wm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275" y="0"/>
            <a:ext cx="1990725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算法思路</a:t>
            </a:r>
            <a:r>
              <a:rPr lang="en-US" altLang="zh-CN" dirty="0">
                <a:latin typeface="宋体" panose="02010600030101010101" pitchFamily="2" charset="-122"/>
              </a:rPr>
              <a:t>: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68760"/>
            <a:ext cx="8345488" cy="5284440"/>
          </a:xfrm>
        </p:spPr>
        <p:txBody>
          <a:bodyPr/>
          <a:lstStyle/>
          <a:p>
            <a:pPr marL="0" indent="0">
              <a:lnSpc>
                <a:spcPct val="105000"/>
              </a:lnSpc>
              <a:buNone/>
            </a:pPr>
            <a:r>
              <a:rPr lang="zh-CN" altLang="en-US" dirty="0" smtClean="0">
                <a:latin typeface="宋体" panose="02010600030101010101" pitchFamily="2" charset="-122"/>
              </a:rPr>
              <a:t>解空间：</a:t>
            </a:r>
            <a:r>
              <a:rPr lang="zh-CN" altLang="en-US" dirty="0">
                <a:solidFill>
                  <a:srgbClr val="990000"/>
                </a:solidFill>
                <a:latin typeface="宋体" panose="02010600030101010101" pitchFamily="2" charset="-122"/>
              </a:rPr>
              <a:t>设解为</a:t>
            </a:r>
            <a:r>
              <a:rPr lang="en-US" altLang="zh-CN" dirty="0">
                <a:solidFill>
                  <a:srgbClr val="990000"/>
                </a:solidFill>
                <a:latin typeface="宋体" panose="02010600030101010101" pitchFamily="2" charset="-122"/>
              </a:rPr>
              <a:t>n</a:t>
            </a:r>
            <a:r>
              <a:rPr lang="zh-CN" altLang="en-US" dirty="0">
                <a:solidFill>
                  <a:srgbClr val="990000"/>
                </a:solidFill>
                <a:latin typeface="宋体" panose="02010600030101010101" pitchFamily="2" charset="-122"/>
              </a:rPr>
              <a:t>元向量</a:t>
            </a:r>
            <a:r>
              <a:rPr lang="en-US" altLang="zh-CN" dirty="0">
                <a:solidFill>
                  <a:srgbClr val="990000"/>
                </a:solidFill>
              </a:rPr>
              <a:t>{x</a:t>
            </a:r>
            <a:r>
              <a:rPr lang="en-US" altLang="zh-CN" baseline="-25000" dirty="0">
                <a:solidFill>
                  <a:srgbClr val="990000"/>
                </a:solidFill>
              </a:rPr>
              <a:t>1</a:t>
            </a:r>
            <a:r>
              <a:rPr lang="en-US" altLang="zh-CN" dirty="0">
                <a:solidFill>
                  <a:srgbClr val="990000"/>
                </a:solidFill>
              </a:rPr>
              <a:t>,... ,</a:t>
            </a:r>
            <a:r>
              <a:rPr lang="en-US" altLang="zh-CN" dirty="0" err="1">
                <a:solidFill>
                  <a:srgbClr val="990000"/>
                </a:solidFill>
              </a:rPr>
              <a:t>x</a:t>
            </a:r>
            <a:r>
              <a:rPr lang="en-US" altLang="zh-CN" baseline="-25000" dirty="0" err="1">
                <a:solidFill>
                  <a:srgbClr val="990000"/>
                </a:solidFill>
              </a:rPr>
              <a:t>n</a:t>
            </a:r>
            <a:r>
              <a:rPr lang="en-US" altLang="zh-CN" dirty="0">
                <a:solidFill>
                  <a:srgbClr val="990000"/>
                </a:solidFill>
              </a:rPr>
              <a:t> },</a:t>
            </a:r>
            <a:r>
              <a:rPr lang="en-US" altLang="zh-CN" dirty="0">
                <a:solidFill>
                  <a:srgbClr val="99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Century Schoolbook" panose="020406040505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solidFill>
                  <a:srgbClr val="990000"/>
                </a:solidFill>
                <a:latin typeface="Century Schoolbook" panose="020406040505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solidFill>
                  <a:srgbClr val="990000"/>
                </a:solidFill>
                <a:latin typeface="Century Schoolbook" panose="02040604050505020304" pitchFamily="18" charset="0"/>
                <a:sym typeface="Symbol" panose="05050102010706020507" pitchFamily="18" charset="2"/>
              </a:rPr>
              <a:t>{1,..n}, </a:t>
            </a:r>
            <a:r>
              <a:rPr lang="zh-CN" altLang="en-US" dirty="0">
                <a:solidFill>
                  <a:srgbClr val="990000"/>
                </a:solidFill>
              </a:rPr>
              <a:t>用排序树表示解空间</a:t>
            </a:r>
            <a:r>
              <a:rPr lang="zh-CN" altLang="en-US" dirty="0">
                <a:solidFill>
                  <a:srgbClr val="990000"/>
                </a:solidFill>
                <a:latin typeface="Century Schoolbook" panose="02040604050505020304" pitchFamily="18" charset="0"/>
                <a:sym typeface="Symbol" panose="05050102010706020507" pitchFamily="18" charset="2"/>
              </a:rPr>
              <a:t> </a:t>
            </a:r>
            <a:endParaRPr lang="zh-CN" altLang="en-US" dirty="0">
              <a:solidFill>
                <a:srgbClr val="990000"/>
              </a:solidFill>
              <a:latin typeface="Century Schoolbook" panose="020406040505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Century Schoolbook" panose="02040604050505020304" pitchFamily="18" charset="0"/>
                <a:sym typeface="Symbol" panose="05050102010706020507" pitchFamily="18" charset="2"/>
              </a:rPr>
              <a:t>约束条件</a:t>
            </a:r>
            <a:r>
              <a:rPr lang="en-US" altLang="zh-CN" dirty="0">
                <a:solidFill>
                  <a:schemeClr val="tx1"/>
                </a:solidFill>
                <a:latin typeface="Century Schoolbook" panose="020406040505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dirty="0">
                <a:solidFill>
                  <a:srgbClr val="990000"/>
                </a:solidFill>
                <a:latin typeface="Century Schoolbook" panose="020406040505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990000"/>
                </a:solidFill>
                <a:latin typeface="Century Schoolbook" panose="02040604050505020304" pitchFamily="18" charset="0"/>
                <a:sym typeface="Symbol" panose="05050102010706020507" pitchFamily="18" charset="2"/>
              </a:rPr>
              <a:t>当</a:t>
            </a:r>
            <a:r>
              <a:rPr lang="en-US" altLang="zh-CN" dirty="0" err="1">
                <a:solidFill>
                  <a:srgbClr val="990000"/>
                </a:solidFill>
              </a:rPr>
              <a:t>i</a:t>
            </a:r>
            <a:r>
              <a:rPr lang="en-US" altLang="zh-CN" dirty="0">
                <a:solidFill>
                  <a:srgbClr val="990000"/>
                </a:solidFill>
              </a:rPr>
              <a:t> </a:t>
            </a:r>
            <a:r>
              <a:rPr lang="en-US" altLang="zh-CN" dirty="0">
                <a:solidFill>
                  <a:srgbClr val="990000"/>
                </a:solidFill>
                <a:sym typeface="Symbol" panose="05050102010706020507" pitchFamily="18" charset="2"/>
              </a:rPr>
              <a:t></a:t>
            </a:r>
            <a:r>
              <a:rPr lang="en-US" altLang="zh-CN" dirty="0">
                <a:solidFill>
                  <a:srgbClr val="990000"/>
                </a:solidFill>
              </a:rPr>
              <a:t> j , x</a:t>
            </a:r>
            <a:r>
              <a:rPr lang="en-US" altLang="zh-CN" baseline="-25000" dirty="0">
                <a:solidFill>
                  <a:srgbClr val="990000"/>
                </a:solidFill>
              </a:rPr>
              <a:t>i</a:t>
            </a:r>
            <a:r>
              <a:rPr lang="en-US" altLang="zh-CN" dirty="0">
                <a:solidFill>
                  <a:srgbClr val="990000"/>
                </a:solidFill>
              </a:rPr>
              <a:t> </a:t>
            </a:r>
            <a:r>
              <a:rPr lang="en-US" altLang="zh-CN" dirty="0">
                <a:solidFill>
                  <a:srgbClr val="990000"/>
                </a:solidFill>
                <a:sym typeface="Symbol" panose="05050102010706020507" pitchFamily="18" charset="2"/>
              </a:rPr>
              <a:t></a:t>
            </a:r>
            <a:r>
              <a:rPr lang="en-US" altLang="zh-CN" dirty="0">
                <a:solidFill>
                  <a:srgbClr val="990000"/>
                </a:solidFill>
              </a:rPr>
              <a:t> </a:t>
            </a:r>
            <a:r>
              <a:rPr lang="en-US" altLang="zh-CN" dirty="0" err="1">
                <a:solidFill>
                  <a:srgbClr val="990000"/>
                </a:solidFill>
              </a:rPr>
              <a:t>x</a:t>
            </a:r>
            <a:r>
              <a:rPr lang="en-US" altLang="zh-CN" baseline="-25000" dirty="0" err="1">
                <a:solidFill>
                  <a:srgbClr val="990000"/>
                </a:solidFill>
              </a:rPr>
              <a:t>j</a:t>
            </a:r>
            <a:r>
              <a:rPr lang="en-US" altLang="zh-CN" dirty="0">
                <a:solidFill>
                  <a:srgbClr val="990000"/>
                </a:solidFill>
              </a:rPr>
              <a:t> (</a:t>
            </a:r>
            <a:r>
              <a:rPr lang="zh-CN" altLang="en-US" dirty="0">
                <a:solidFill>
                  <a:srgbClr val="990000"/>
                </a:solidFill>
              </a:rPr>
              <a:t>元素不能重复选取</a:t>
            </a:r>
            <a:r>
              <a:rPr lang="en-US" altLang="zh-CN" dirty="0">
                <a:solidFill>
                  <a:srgbClr val="990000"/>
                </a:solidFill>
              </a:rPr>
              <a:t>)</a:t>
            </a:r>
            <a:endParaRPr lang="en-US" altLang="zh-CN" dirty="0">
              <a:solidFill>
                <a:srgbClr val="990000"/>
              </a:solidFill>
              <a:latin typeface="Century Schoolbook" panose="020406040505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限界函数</a:t>
            </a:r>
            <a:r>
              <a:rPr lang="en-US" altLang="zh-CN" dirty="0">
                <a:solidFill>
                  <a:schemeClr val="tx1"/>
                </a:solidFill>
              </a:rPr>
              <a:t>: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en-US" altLang="zh-CN" dirty="0" err="1" smtClean="0">
                <a:solidFill>
                  <a:srgbClr val="990000"/>
                </a:solidFill>
              </a:rPr>
              <a:t>bestx</a:t>
            </a:r>
            <a:r>
              <a:rPr lang="en-US" altLang="zh-CN" dirty="0">
                <a:solidFill>
                  <a:srgbClr val="990000"/>
                </a:solidFill>
              </a:rPr>
              <a:t>:</a:t>
            </a:r>
            <a:r>
              <a:rPr lang="zh-CN" altLang="en-US" dirty="0">
                <a:solidFill>
                  <a:srgbClr val="990000"/>
                </a:solidFill>
              </a:rPr>
              <a:t>为当前最小时间</a:t>
            </a:r>
            <a:r>
              <a:rPr lang="zh-CN" altLang="en-US" dirty="0" smtClean="0">
                <a:solidFill>
                  <a:srgbClr val="990000"/>
                </a:solidFill>
              </a:rPr>
              <a:t>和；</a:t>
            </a:r>
            <a:endParaRPr lang="zh-CN" altLang="en-US" dirty="0">
              <a:solidFill>
                <a:srgbClr val="990000"/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zh-CN" altLang="en-US" dirty="0">
                <a:solidFill>
                  <a:srgbClr val="990000"/>
                </a:solidFill>
              </a:rPr>
              <a:t>   </a:t>
            </a:r>
            <a:r>
              <a:rPr lang="en-US" altLang="zh-CN" dirty="0" smtClean="0">
                <a:solidFill>
                  <a:srgbClr val="990000"/>
                </a:solidFill>
              </a:rPr>
              <a:t>x </a:t>
            </a:r>
            <a:r>
              <a:rPr lang="en-US" altLang="zh-CN" dirty="0">
                <a:solidFill>
                  <a:srgbClr val="990000"/>
                </a:solidFill>
              </a:rPr>
              <a:t>: </a:t>
            </a:r>
            <a:r>
              <a:rPr lang="zh-CN" altLang="en-US" dirty="0">
                <a:solidFill>
                  <a:srgbClr val="990000"/>
                </a:solidFill>
              </a:rPr>
              <a:t>当前扩展结点的时间和</a:t>
            </a:r>
            <a:r>
              <a:rPr lang="en-US" altLang="zh-CN" dirty="0">
                <a:solidFill>
                  <a:srgbClr val="990000"/>
                </a:solidFill>
              </a:rPr>
              <a:t>; </a:t>
            </a:r>
            <a:endParaRPr lang="en-US" altLang="zh-CN" dirty="0">
              <a:solidFill>
                <a:srgbClr val="99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solidFill>
                  <a:srgbClr val="990000"/>
                </a:solidFill>
              </a:rPr>
              <a:t>   </a:t>
            </a:r>
            <a:r>
              <a:rPr lang="en-US" altLang="zh-CN" dirty="0" smtClean="0">
                <a:solidFill>
                  <a:srgbClr val="990000"/>
                </a:solidFill>
              </a:rPr>
              <a:t>r </a:t>
            </a:r>
            <a:r>
              <a:rPr lang="en-US" altLang="zh-CN" dirty="0">
                <a:solidFill>
                  <a:srgbClr val="990000"/>
                </a:solidFill>
              </a:rPr>
              <a:t>: </a:t>
            </a:r>
            <a:r>
              <a:rPr lang="zh-CN" altLang="en-US" dirty="0">
                <a:solidFill>
                  <a:srgbClr val="990000"/>
                </a:solidFill>
              </a:rPr>
              <a:t>剩余作业的时间和</a:t>
            </a:r>
            <a:r>
              <a:rPr lang="en-US" altLang="zh-CN" dirty="0">
                <a:solidFill>
                  <a:srgbClr val="990000"/>
                </a:solidFill>
              </a:rPr>
              <a:t>;</a:t>
            </a:r>
            <a:endParaRPr lang="en-US" altLang="zh-CN" dirty="0">
              <a:solidFill>
                <a:srgbClr val="990000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dirty="0" smtClean="0">
                <a:solidFill>
                  <a:srgbClr val="990000"/>
                </a:solidFill>
              </a:rPr>
              <a:t>   当 </a:t>
            </a:r>
            <a:r>
              <a:rPr lang="en-US" altLang="zh-CN" dirty="0" err="1">
                <a:solidFill>
                  <a:srgbClr val="990000"/>
                </a:solidFill>
              </a:rPr>
              <a:t>x+r</a:t>
            </a:r>
            <a:r>
              <a:rPr lang="en-US" altLang="zh-CN" dirty="0">
                <a:solidFill>
                  <a:srgbClr val="990000"/>
                </a:solidFill>
              </a:rPr>
              <a:t> &lt;= </a:t>
            </a:r>
            <a:r>
              <a:rPr lang="en-US" altLang="zh-CN" dirty="0" err="1">
                <a:solidFill>
                  <a:srgbClr val="990000"/>
                </a:solidFill>
              </a:rPr>
              <a:t>bestx</a:t>
            </a:r>
            <a:r>
              <a:rPr lang="en-US" altLang="zh-CN" dirty="0">
                <a:solidFill>
                  <a:srgbClr val="990000"/>
                </a:solidFill>
              </a:rPr>
              <a:t> </a:t>
            </a:r>
            <a:r>
              <a:rPr lang="zh-CN" altLang="en-US" dirty="0">
                <a:solidFill>
                  <a:srgbClr val="990000"/>
                </a:solidFill>
              </a:rPr>
              <a:t>时</a:t>
            </a:r>
            <a:r>
              <a:rPr lang="en-US" altLang="zh-CN" dirty="0">
                <a:solidFill>
                  <a:srgbClr val="990000"/>
                </a:solidFill>
              </a:rPr>
              <a:t>, </a:t>
            </a:r>
            <a:r>
              <a:rPr lang="zh-CN" altLang="en-US" dirty="0">
                <a:solidFill>
                  <a:srgbClr val="990000"/>
                </a:solidFill>
              </a:rPr>
              <a:t>将</a:t>
            </a:r>
            <a:r>
              <a:rPr lang="en-US" altLang="zh-CN" dirty="0">
                <a:solidFill>
                  <a:srgbClr val="990000"/>
                </a:solidFill>
              </a:rPr>
              <a:t>x</a:t>
            </a:r>
            <a:r>
              <a:rPr lang="zh-CN" altLang="en-US" dirty="0">
                <a:solidFill>
                  <a:srgbClr val="990000"/>
                </a:solidFill>
              </a:rPr>
              <a:t>对应右子树剪去</a:t>
            </a:r>
            <a:r>
              <a:rPr lang="zh-CN" altLang="en-US" dirty="0">
                <a:solidFill>
                  <a:srgbClr val="990000"/>
                </a:solidFill>
                <a:latin typeface="Century Schoolbook" panose="02040604050505020304" pitchFamily="18" charset="0"/>
                <a:sym typeface="Symbol" panose="05050102010706020507" pitchFamily="18" charset="2"/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AutoShape 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143000" y="6516688"/>
            <a:ext cx="381000" cy="304800"/>
          </a:xfrm>
          <a:prstGeom prst="actionButtonBackPrevious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83" name="AutoShape 3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533400" y="6516688"/>
            <a:ext cx="381000" cy="304800"/>
          </a:xfrm>
          <a:prstGeom prst="actionButtonBeginning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84" name="AutoShape 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2362200" y="6516688"/>
            <a:ext cx="381000" cy="304800"/>
          </a:xfrm>
          <a:prstGeom prst="actionButtonEnd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85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971800" y="6516688"/>
            <a:ext cx="457200" cy="304800"/>
          </a:xfrm>
          <a:prstGeom prst="actionButtonInformation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86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752600" y="6516688"/>
            <a:ext cx="381000" cy="304800"/>
          </a:xfrm>
          <a:prstGeom prst="actionButtonForwardNext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1687" name="Picture 7" descr="STATBAR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369050"/>
            <a:ext cx="8153400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8" name="Picture 8" descr="STATBAR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3058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9" name="Rectangle 9"/>
          <p:cNvSpPr>
            <a:spLocks noChangeArrowheads="1"/>
          </p:cNvSpPr>
          <p:nvPr/>
        </p:nvSpPr>
        <p:spPr bwMode="auto">
          <a:xfrm>
            <a:off x="381000" y="0"/>
            <a:ext cx="4267200" cy="79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">
              <a:lnSpc>
                <a:spcPct val="110000"/>
              </a:lnSpc>
            </a:pPr>
            <a:r>
              <a:rPr kumimoji="1" lang="zh-CN" altLang="en-US" b="1" smtClean="0">
                <a:solidFill>
                  <a:srgbClr val="99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算法设计与分析 </a:t>
            </a:r>
            <a:r>
              <a:rPr kumimoji="1" lang="en-US" altLang="zh-CN" b="1" smtClean="0">
                <a:solidFill>
                  <a:srgbClr val="99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&gt;</a:t>
            </a:r>
            <a:r>
              <a:rPr kumimoji="1" lang="zh-CN" altLang="en-US" b="1" smtClean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回溯法 </a:t>
            </a:r>
            <a:r>
              <a:rPr kumimoji="1" lang="en-US" altLang="zh-CN" b="1" smtClean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&gt;</a:t>
            </a:r>
            <a:r>
              <a:rPr kumimoji="1" lang="zh-CN" altLang="en-US" smtClean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作业调度</a:t>
            </a:r>
            <a:endParaRPr kumimoji="1" lang="zh-CN" altLang="en-US" smtClean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fontAlgn="b">
              <a:lnSpc>
                <a:spcPct val="110000"/>
              </a:lnSpc>
            </a:pPr>
            <a:endParaRPr kumimoji="1" lang="en-US" altLang="zh-CN" sz="2400" smtClean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1714" name="Line 34"/>
          <p:cNvSpPr>
            <a:spLocks noChangeShapeType="1"/>
          </p:cNvSpPr>
          <p:nvPr/>
        </p:nvSpPr>
        <p:spPr bwMode="auto">
          <a:xfrm flipH="1">
            <a:off x="3124200" y="31242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15" name="Line 35"/>
          <p:cNvSpPr>
            <a:spLocks noChangeShapeType="1"/>
          </p:cNvSpPr>
          <p:nvPr/>
        </p:nvSpPr>
        <p:spPr bwMode="auto">
          <a:xfrm>
            <a:off x="4419600" y="31242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16" name="Line 36"/>
          <p:cNvSpPr>
            <a:spLocks noChangeShapeType="1"/>
          </p:cNvSpPr>
          <p:nvPr/>
        </p:nvSpPr>
        <p:spPr bwMode="auto">
          <a:xfrm>
            <a:off x="4264025" y="3276600"/>
            <a:ext cx="317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17" name="Line 37"/>
          <p:cNvSpPr>
            <a:spLocks noChangeShapeType="1"/>
          </p:cNvSpPr>
          <p:nvPr/>
        </p:nvSpPr>
        <p:spPr bwMode="auto">
          <a:xfrm flipH="1">
            <a:off x="2514600" y="38100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18" name="Line 38"/>
          <p:cNvSpPr>
            <a:spLocks noChangeShapeType="1"/>
          </p:cNvSpPr>
          <p:nvPr/>
        </p:nvSpPr>
        <p:spPr bwMode="auto">
          <a:xfrm>
            <a:off x="3124200" y="38862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19" name="Text Box 39"/>
          <p:cNvSpPr txBox="1">
            <a:spLocks noChangeArrowheads="1"/>
          </p:cNvSpPr>
          <p:nvPr/>
        </p:nvSpPr>
        <p:spPr bwMode="auto">
          <a:xfrm>
            <a:off x="3276600" y="3048000"/>
            <a:ext cx="7445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x1=J1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20" name="Text Box 40"/>
          <p:cNvSpPr txBox="1">
            <a:spLocks noChangeArrowheads="1"/>
          </p:cNvSpPr>
          <p:nvPr/>
        </p:nvSpPr>
        <p:spPr bwMode="auto">
          <a:xfrm>
            <a:off x="4191000" y="3276600"/>
            <a:ext cx="38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J2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21" name="Text Box 41"/>
          <p:cNvSpPr txBox="1">
            <a:spLocks noChangeArrowheads="1"/>
          </p:cNvSpPr>
          <p:nvPr/>
        </p:nvSpPr>
        <p:spPr bwMode="auto">
          <a:xfrm>
            <a:off x="4953000" y="3124200"/>
            <a:ext cx="38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J3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22" name="Text Box 42"/>
          <p:cNvSpPr txBox="1">
            <a:spLocks noChangeArrowheads="1"/>
          </p:cNvSpPr>
          <p:nvPr/>
        </p:nvSpPr>
        <p:spPr bwMode="auto">
          <a:xfrm>
            <a:off x="2057400" y="3810000"/>
            <a:ext cx="7445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x2=J2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23" name="Text Box 43"/>
          <p:cNvSpPr txBox="1">
            <a:spLocks noChangeArrowheads="1"/>
          </p:cNvSpPr>
          <p:nvPr/>
        </p:nvSpPr>
        <p:spPr bwMode="auto">
          <a:xfrm>
            <a:off x="3124200" y="3810000"/>
            <a:ext cx="38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J3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24" name="Text Box 44"/>
          <p:cNvSpPr txBox="1">
            <a:spLocks noChangeArrowheads="1"/>
          </p:cNvSpPr>
          <p:nvPr/>
        </p:nvSpPr>
        <p:spPr bwMode="auto">
          <a:xfrm>
            <a:off x="3886200" y="38862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J1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25" name="Line 45"/>
          <p:cNvSpPr>
            <a:spLocks noChangeShapeType="1"/>
          </p:cNvSpPr>
          <p:nvPr/>
        </p:nvSpPr>
        <p:spPr bwMode="auto">
          <a:xfrm>
            <a:off x="2438400" y="4572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26" name="Text Box 46"/>
          <p:cNvSpPr txBox="1">
            <a:spLocks noChangeArrowheads="1"/>
          </p:cNvSpPr>
          <p:nvPr/>
        </p:nvSpPr>
        <p:spPr bwMode="auto">
          <a:xfrm>
            <a:off x="1752600" y="4495800"/>
            <a:ext cx="838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x3=J3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27" name="Oval 47"/>
          <p:cNvSpPr>
            <a:spLocks noChangeArrowheads="1"/>
          </p:cNvSpPr>
          <p:nvPr/>
        </p:nvSpPr>
        <p:spPr bwMode="auto">
          <a:xfrm>
            <a:off x="4038600" y="2895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28" name="Oval 48"/>
          <p:cNvSpPr>
            <a:spLocks noChangeArrowheads="1"/>
          </p:cNvSpPr>
          <p:nvPr/>
        </p:nvSpPr>
        <p:spPr bwMode="auto">
          <a:xfrm>
            <a:off x="5334000" y="3505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29" name="Oval 49"/>
          <p:cNvSpPr>
            <a:spLocks noChangeArrowheads="1"/>
          </p:cNvSpPr>
          <p:nvPr/>
        </p:nvSpPr>
        <p:spPr bwMode="auto">
          <a:xfrm>
            <a:off x="2819400" y="3505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30" name="Oval 50"/>
          <p:cNvSpPr>
            <a:spLocks noChangeArrowheads="1"/>
          </p:cNvSpPr>
          <p:nvPr/>
        </p:nvSpPr>
        <p:spPr bwMode="auto">
          <a:xfrm>
            <a:off x="4041775" y="3581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31" name="Oval 51"/>
          <p:cNvSpPr>
            <a:spLocks noChangeArrowheads="1"/>
          </p:cNvSpPr>
          <p:nvPr/>
        </p:nvSpPr>
        <p:spPr bwMode="auto">
          <a:xfrm>
            <a:off x="2286000" y="4191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32" name="Oval 52"/>
          <p:cNvSpPr>
            <a:spLocks noChangeArrowheads="1"/>
          </p:cNvSpPr>
          <p:nvPr/>
        </p:nvSpPr>
        <p:spPr bwMode="auto">
          <a:xfrm>
            <a:off x="2209800" y="4800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33" name="Oval 53"/>
          <p:cNvSpPr>
            <a:spLocks noChangeArrowheads="1"/>
          </p:cNvSpPr>
          <p:nvPr/>
        </p:nvSpPr>
        <p:spPr bwMode="auto">
          <a:xfrm>
            <a:off x="3124200" y="4191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34" name="Text Box 54"/>
          <p:cNvSpPr txBox="1">
            <a:spLocks noChangeArrowheads="1"/>
          </p:cNvSpPr>
          <p:nvPr/>
        </p:nvSpPr>
        <p:spPr bwMode="auto">
          <a:xfrm>
            <a:off x="4038600" y="2895600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kumimoji="1" lang="en-US" altLang="zh-CN" sz="20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35" name="Text Box 55"/>
          <p:cNvSpPr txBox="1">
            <a:spLocks noChangeArrowheads="1"/>
          </p:cNvSpPr>
          <p:nvPr/>
        </p:nvSpPr>
        <p:spPr bwMode="auto">
          <a:xfrm>
            <a:off x="2819400" y="35052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kumimoji="1" lang="en-US" altLang="zh-CN" sz="20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36" name="Text Box 56"/>
          <p:cNvSpPr txBox="1">
            <a:spLocks noChangeArrowheads="1"/>
          </p:cNvSpPr>
          <p:nvPr/>
        </p:nvSpPr>
        <p:spPr bwMode="auto">
          <a:xfrm>
            <a:off x="4038600" y="35814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kumimoji="1" lang="en-US" altLang="zh-CN" sz="20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37" name="Text Box 57"/>
          <p:cNvSpPr txBox="1">
            <a:spLocks noChangeArrowheads="1"/>
          </p:cNvSpPr>
          <p:nvPr/>
        </p:nvSpPr>
        <p:spPr bwMode="auto">
          <a:xfrm>
            <a:off x="5334000" y="3505200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kumimoji="1" lang="en-US" altLang="zh-CN" sz="20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38" name="Text Box 58"/>
          <p:cNvSpPr txBox="1">
            <a:spLocks noChangeArrowheads="1"/>
          </p:cNvSpPr>
          <p:nvPr/>
        </p:nvSpPr>
        <p:spPr bwMode="auto">
          <a:xfrm>
            <a:off x="2286000" y="4191000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kumimoji="1" lang="en-US" altLang="zh-CN" sz="20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39" name="Text Box 59"/>
          <p:cNvSpPr txBox="1">
            <a:spLocks noChangeArrowheads="1"/>
          </p:cNvSpPr>
          <p:nvPr/>
        </p:nvSpPr>
        <p:spPr bwMode="auto">
          <a:xfrm>
            <a:off x="3124200" y="4191000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en-US" altLang="zh-CN" sz="20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40" name="Oval 60"/>
          <p:cNvSpPr>
            <a:spLocks noChangeArrowheads="1"/>
          </p:cNvSpPr>
          <p:nvPr/>
        </p:nvSpPr>
        <p:spPr bwMode="auto">
          <a:xfrm>
            <a:off x="4038600" y="28956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 smtClean="0">
              <a:solidFill>
                <a:srgbClr val="99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41" name="Oval 61"/>
          <p:cNvSpPr>
            <a:spLocks noChangeArrowheads="1"/>
          </p:cNvSpPr>
          <p:nvPr/>
        </p:nvSpPr>
        <p:spPr bwMode="auto">
          <a:xfrm>
            <a:off x="2819400" y="35052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42" name="Oval 62"/>
          <p:cNvSpPr>
            <a:spLocks noChangeArrowheads="1"/>
          </p:cNvSpPr>
          <p:nvPr/>
        </p:nvSpPr>
        <p:spPr bwMode="auto">
          <a:xfrm>
            <a:off x="2286000" y="41910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43" name="Oval 63"/>
          <p:cNvSpPr>
            <a:spLocks noChangeArrowheads="1"/>
          </p:cNvSpPr>
          <p:nvPr/>
        </p:nvSpPr>
        <p:spPr bwMode="auto">
          <a:xfrm>
            <a:off x="2209800" y="48006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45" name="Oval 65"/>
          <p:cNvSpPr>
            <a:spLocks noChangeArrowheads="1"/>
          </p:cNvSpPr>
          <p:nvPr/>
        </p:nvSpPr>
        <p:spPr bwMode="auto">
          <a:xfrm>
            <a:off x="3124200" y="41910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46" name="Line 66"/>
          <p:cNvSpPr>
            <a:spLocks noChangeShapeType="1"/>
          </p:cNvSpPr>
          <p:nvPr/>
        </p:nvSpPr>
        <p:spPr bwMode="auto">
          <a:xfrm>
            <a:off x="3352800" y="4572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47" name="Text Box 67"/>
          <p:cNvSpPr txBox="1">
            <a:spLocks noChangeArrowheads="1"/>
          </p:cNvSpPr>
          <p:nvPr/>
        </p:nvSpPr>
        <p:spPr bwMode="auto">
          <a:xfrm>
            <a:off x="3048000" y="4572000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J2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48" name="Oval 68"/>
          <p:cNvSpPr>
            <a:spLocks noChangeArrowheads="1"/>
          </p:cNvSpPr>
          <p:nvPr/>
        </p:nvSpPr>
        <p:spPr bwMode="auto">
          <a:xfrm>
            <a:off x="3124200" y="4800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49" name="Oval 69"/>
          <p:cNvSpPr>
            <a:spLocks noChangeArrowheads="1"/>
          </p:cNvSpPr>
          <p:nvPr/>
        </p:nvSpPr>
        <p:spPr bwMode="auto">
          <a:xfrm>
            <a:off x="3124200" y="48006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50" name="Text Box 70"/>
          <p:cNvSpPr txBox="1">
            <a:spLocks noChangeArrowheads="1"/>
          </p:cNvSpPr>
          <p:nvPr/>
        </p:nvSpPr>
        <p:spPr bwMode="auto">
          <a:xfrm>
            <a:off x="2708275" y="5415773"/>
            <a:ext cx="1219200" cy="341632"/>
          </a:xfrm>
          <a:prstGeom prst="rect">
            <a:avLst/>
          </a:prstGeom>
          <a:solidFill>
            <a:srgbClr val="FFFF99"/>
          </a:solidFill>
          <a:ln w="9525">
            <a:solidFill>
              <a:srgbClr val="99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dirty="0" err="1" smtClean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bestx</a:t>
            </a:r>
            <a:r>
              <a:rPr kumimoji="1" lang="en-US" altLang="zh-CN" dirty="0" smtClean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=18</a:t>
            </a:r>
            <a:endParaRPr kumimoji="1" lang="en-US" altLang="zh-CN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51" name="Oval 71"/>
          <p:cNvSpPr>
            <a:spLocks noChangeArrowheads="1"/>
          </p:cNvSpPr>
          <p:nvPr/>
        </p:nvSpPr>
        <p:spPr bwMode="auto">
          <a:xfrm>
            <a:off x="4038600" y="35814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52" name="Line 72"/>
          <p:cNvSpPr>
            <a:spLocks noChangeShapeType="1"/>
          </p:cNvSpPr>
          <p:nvPr/>
        </p:nvSpPr>
        <p:spPr bwMode="auto">
          <a:xfrm flipH="1">
            <a:off x="3886200" y="38862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53" name="Line 73"/>
          <p:cNvSpPr>
            <a:spLocks noChangeShapeType="1"/>
          </p:cNvSpPr>
          <p:nvPr/>
        </p:nvSpPr>
        <p:spPr bwMode="auto">
          <a:xfrm>
            <a:off x="4343400" y="38862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54" name="Text Box 74"/>
          <p:cNvSpPr txBox="1">
            <a:spLocks noChangeArrowheads="1"/>
          </p:cNvSpPr>
          <p:nvPr/>
        </p:nvSpPr>
        <p:spPr bwMode="auto">
          <a:xfrm>
            <a:off x="4419600" y="3886200"/>
            <a:ext cx="38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J3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55" name="Line 75"/>
          <p:cNvSpPr>
            <a:spLocks noChangeShapeType="1"/>
          </p:cNvSpPr>
          <p:nvPr/>
        </p:nvSpPr>
        <p:spPr bwMode="auto">
          <a:xfrm>
            <a:off x="3886200" y="4572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56" name="Oval 76"/>
          <p:cNvSpPr>
            <a:spLocks noChangeArrowheads="1"/>
          </p:cNvSpPr>
          <p:nvPr/>
        </p:nvSpPr>
        <p:spPr bwMode="auto">
          <a:xfrm>
            <a:off x="3657600" y="4191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57" name="Oval 77"/>
          <p:cNvSpPr>
            <a:spLocks noChangeArrowheads="1"/>
          </p:cNvSpPr>
          <p:nvPr/>
        </p:nvSpPr>
        <p:spPr bwMode="auto">
          <a:xfrm>
            <a:off x="3657600" y="4800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58" name="Oval 78"/>
          <p:cNvSpPr>
            <a:spLocks noChangeArrowheads="1"/>
          </p:cNvSpPr>
          <p:nvPr/>
        </p:nvSpPr>
        <p:spPr bwMode="auto">
          <a:xfrm>
            <a:off x="4419600" y="4191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59" name="Text Box 79"/>
          <p:cNvSpPr txBox="1">
            <a:spLocks noChangeArrowheads="1"/>
          </p:cNvSpPr>
          <p:nvPr/>
        </p:nvSpPr>
        <p:spPr bwMode="auto">
          <a:xfrm>
            <a:off x="3657600" y="4191000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kumimoji="1" lang="en-US" altLang="zh-CN" sz="20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60" name="Text Box 80"/>
          <p:cNvSpPr txBox="1">
            <a:spLocks noChangeArrowheads="1"/>
          </p:cNvSpPr>
          <p:nvPr/>
        </p:nvSpPr>
        <p:spPr bwMode="auto">
          <a:xfrm>
            <a:off x="4419600" y="4191000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en-US" altLang="zh-CN" sz="20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61" name="Oval 81"/>
          <p:cNvSpPr>
            <a:spLocks noChangeArrowheads="1"/>
          </p:cNvSpPr>
          <p:nvPr/>
        </p:nvSpPr>
        <p:spPr bwMode="auto">
          <a:xfrm>
            <a:off x="4419600" y="41910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62" name="Line 82"/>
          <p:cNvSpPr>
            <a:spLocks noChangeShapeType="1"/>
          </p:cNvSpPr>
          <p:nvPr/>
        </p:nvSpPr>
        <p:spPr bwMode="auto">
          <a:xfrm>
            <a:off x="4648200" y="4572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63" name="Text Box 83"/>
          <p:cNvSpPr txBox="1">
            <a:spLocks noChangeArrowheads="1"/>
          </p:cNvSpPr>
          <p:nvPr/>
        </p:nvSpPr>
        <p:spPr bwMode="auto">
          <a:xfrm>
            <a:off x="3810000" y="44958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J3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64" name="Oval 84"/>
          <p:cNvSpPr>
            <a:spLocks noChangeArrowheads="1"/>
          </p:cNvSpPr>
          <p:nvPr/>
        </p:nvSpPr>
        <p:spPr bwMode="auto">
          <a:xfrm>
            <a:off x="4419600" y="4800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65" name="Oval 85"/>
          <p:cNvSpPr>
            <a:spLocks noChangeArrowheads="1"/>
          </p:cNvSpPr>
          <p:nvPr/>
        </p:nvSpPr>
        <p:spPr bwMode="auto">
          <a:xfrm>
            <a:off x="4419600" y="48006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66" name="Text Box 86"/>
          <p:cNvSpPr txBox="1">
            <a:spLocks noChangeArrowheads="1"/>
          </p:cNvSpPr>
          <p:nvPr/>
        </p:nvSpPr>
        <p:spPr bwMode="auto">
          <a:xfrm>
            <a:off x="5334000" y="38862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J1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67" name="Line 87"/>
          <p:cNvSpPr>
            <a:spLocks noChangeShapeType="1"/>
          </p:cNvSpPr>
          <p:nvPr/>
        </p:nvSpPr>
        <p:spPr bwMode="auto">
          <a:xfrm flipH="1">
            <a:off x="5257800" y="38862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68" name="Line 88"/>
          <p:cNvSpPr>
            <a:spLocks noChangeShapeType="1"/>
          </p:cNvSpPr>
          <p:nvPr/>
        </p:nvSpPr>
        <p:spPr bwMode="auto">
          <a:xfrm>
            <a:off x="5715000" y="38100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69" name="Text Box 89"/>
          <p:cNvSpPr txBox="1">
            <a:spLocks noChangeArrowheads="1"/>
          </p:cNvSpPr>
          <p:nvPr/>
        </p:nvSpPr>
        <p:spPr bwMode="auto">
          <a:xfrm>
            <a:off x="5867400" y="3886200"/>
            <a:ext cx="38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J2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70" name="Line 90"/>
          <p:cNvSpPr>
            <a:spLocks noChangeShapeType="1"/>
          </p:cNvSpPr>
          <p:nvPr/>
        </p:nvSpPr>
        <p:spPr bwMode="auto">
          <a:xfrm>
            <a:off x="5257800" y="4572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71" name="Oval 91"/>
          <p:cNvSpPr>
            <a:spLocks noChangeArrowheads="1"/>
          </p:cNvSpPr>
          <p:nvPr/>
        </p:nvSpPr>
        <p:spPr bwMode="auto">
          <a:xfrm>
            <a:off x="5029200" y="4191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72" name="Oval 92"/>
          <p:cNvSpPr>
            <a:spLocks noChangeArrowheads="1"/>
          </p:cNvSpPr>
          <p:nvPr/>
        </p:nvSpPr>
        <p:spPr bwMode="auto">
          <a:xfrm>
            <a:off x="5029200" y="4800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73" name="Oval 93"/>
          <p:cNvSpPr>
            <a:spLocks noChangeArrowheads="1"/>
          </p:cNvSpPr>
          <p:nvPr/>
        </p:nvSpPr>
        <p:spPr bwMode="auto">
          <a:xfrm>
            <a:off x="5867400" y="4191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74" name="Text Box 94"/>
          <p:cNvSpPr txBox="1">
            <a:spLocks noChangeArrowheads="1"/>
          </p:cNvSpPr>
          <p:nvPr/>
        </p:nvSpPr>
        <p:spPr bwMode="auto">
          <a:xfrm>
            <a:off x="5029200" y="4191000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kumimoji="1" lang="en-US" altLang="zh-CN" sz="20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75" name="Text Box 95"/>
          <p:cNvSpPr txBox="1">
            <a:spLocks noChangeArrowheads="1"/>
          </p:cNvSpPr>
          <p:nvPr/>
        </p:nvSpPr>
        <p:spPr bwMode="auto">
          <a:xfrm>
            <a:off x="5867400" y="4191000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kumimoji="1" lang="en-US" altLang="zh-CN" sz="20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76" name="Oval 96"/>
          <p:cNvSpPr>
            <a:spLocks noChangeArrowheads="1"/>
          </p:cNvSpPr>
          <p:nvPr/>
        </p:nvSpPr>
        <p:spPr bwMode="auto">
          <a:xfrm>
            <a:off x="5867400" y="41910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77" name="Line 97"/>
          <p:cNvSpPr>
            <a:spLocks noChangeShapeType="1"/>
          </p:cNvSpPr>
          <p:nvPr/>
        </p:nvSpPr>
        <p:spPr bwMode="auto">
          <a:xfrm>
            <a:off x="6096000" y="4572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78" name="Text Box 98"/>
          <p:cNvSpPr txBox="1">
            <a:spLocks noChangeArrowheads="1"/>
          </p:cNvSpPr>
          <p:nvPr/>
        </p:nvSpPr>
        <p:spPr bwMode="auto">
          <a:xfrm>
            <a:off x="5181600" y="45720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J2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79" name="Oval 99"/>
          <p:cNvSpPr>
            <a:spLocks noChangeArrowheads="1"/>
          </p:cNvSpPr>
          <p:nvPr/>
        </p:nvSpPr>
        <p:spPr bwMode="auto">
          <a:xfrm>
            <a:off x="5867400" y="4800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80" name="Oval 100"/>
          <p:cNvSpPr>
            <a:spLocks noChangeArrowheads="1"/>
          </p:cNvSpPr>
          <p:nvPr/>
        </p:nvSpPr>
        <p:spPr bwMode="auto">
          <a:xfrm>
            <a:off x="5867400" y="48006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81" name="Oval 101"/>
          <p:cNvSpPr>
            <a:spLocks noChangeArrowheads="1"/>
          </p:cNvSpPr>
          <p:nvPr/>
        </p:nvSpPr>
        <p:spPr bwMode="auto">
          <a:xfrm>
            <a:off x="3657600" y="41910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82" name="Oval 102"/>
          <p:cNvSpPr>
            <a:spLocks noChangeArrowheads="1"/>
          </p:cNvSpPr>
          <p:nvPr/>
        </p:nvSpPr>
        <p:spPr bwMode="auto">
          <a:xfrm>
            <a:off x="5029200" y="41910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83" name="Oval 103"/>
          <p:cNvSpPr>
            <a:spLocks noChangeArrowheads="1"/>
          </p:cNvSpPr>
          <p:nvPr/>
        </p:nvSpPr>
        <p:spPr bwMode="auto">
          <a:xfrm>
            <a:off x="5029200" y="48006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84" name="Oval 104"/>
          <p:cNvSpPr>
            <a:spLocks noChangeArrowheads="1"/>
          </p:cNvSpPr>
          <p:nvPr/>
        </p:nvSpPr>
        <p:spPr bwMode="auto">
          <a:xfrm>
            <a:off x="5334000" y="35052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85" name="Text Box 105"/>
          <p:cNvSpPr txBox="1">
            <a:spLocks noChangeArrowheads="1"/>
          </p:cNvSpPr>
          <p:nvPr/>
        </p:nvSpPr>
        <p:spPr bwMode="auto">
          <a:xfrm>
            <a:off x="4572000" y="45720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J2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86" name="Text Box 106"/>
          <p:cNvSpPr txBox="1">
            <a:spLocks noChangeArrowheads="1"/>
          </p:cNvSpPr>
          <p:nvPr/>
        </p:nvSpPr>
        <p:spPr bwMode="auto">
          <a:xfrm>
            <a:off x="6096000" y="45720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J1</a:t>
            </a:r>
            <a:endParaRPr kumimoji="1" lang="en-US" altLang="zh-CN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87" name="Oval 107"/>
          <p:cNvSpPr>
            <a:spLocks noChangeArrowheads="1"/>
          </p:cNvSpPr>
          <p:nvPr/>
        </p:nvSpPr>
        <p:spPr bwMode="auto">
          <a:xfrm>
            <a:off x="3657600" y="4800600"/>
            <a:ext cx="3810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88" name="AutoShape 108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381000" y="533400"/>
            <a:ext cx="838200" cy="381000"/>
          </a:xfrm>
          <a:prstGeom prst="actionButtonBlank">
            <a:avLst/>
          </a:prstGeom>
          <a:solidFill>
            <a:srgbClr val="FF3300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6800" rIns="50400" anchor="ctr" anchorCtr="1">
            <a:spAutoFit/>
          </a:bodyPr>
          <a:lstStyle/>
          <a:p>
            <a:pPr algn="ctr"/>
            <a:r>
              <a:rPr kumimoji="1" lang="zh-CN" altLang="en-US" sz="1600" b="1" smtClean="0">
                <a:solidFill>
                  <a:srgbClr val="FFFF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例 题</a:t>
            </a:r>
            <a:endParaRPr kumimoji="1" lang="zh-CN" altLang="en-US" sz="2000" smtClean="0">
              <a:solidFill>
                <a:srgbClr val="FF3300"/>
              </a:solidFill>
              <a:effectDag name="">
                <a:cont type="tree" name="">
                  <a:effect ref="fillLine"/>
                  <a:outerShdw dist="38100" dir="13500000" algn="br">
                    <a:srgbClr val="FF7755"/>
                  </a:outerShdw>
                </a:cont>
                <a:cont type="tree" name="">
                  <a:effect ref="fillLine"/>
                  <a:outerShdw dist="38100" dir="2700000" algn="tl">
                    <a:srgbClr val="991E00"/>
                  </a:outerShdw>
                </a:cont>
                <a:effect ref="fillLine"/>
              </a:effectDag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92" name="Group 59"/>
          <p:cNvGraphicFramePr/>
          <p:nvPr/>
        </p:nvGraphicFramePr>
        <p:xfrm>
          <a:off x="5929312" y="1778000"/>
          <a:ext cx="3214688" cy="17272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914693"/>
                <a:gridCol w="1151709"/>
                <a:gridCol w="1148286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ij</a:t>
                      </a:r>
                      <a:endParaRPr kumimoji="1" lang="en-US" altLang="zh-CN" sz="2000" b="1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机器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机器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anchor="ctr" horzOverflow="overflow"/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作业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=2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21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=3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作业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=4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23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=7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作业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=7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</a:t>
                      </a:r>
                      <a:r>
                        <a:rPr kumimoji="1" lang="en-US" altLang="zh-CN" sz="2000" b="1" u="none" strike="noStrike" kern="1200" cap="none" normalizeH="0" baseline="-2500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22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=8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3" marB="45703" horzOverflow="overflow"/>
                </a:tc>
              </a:tr>
            </a:tbl>
          </a:graphicData>
        </a:graphic>
      </p:graphicFrame>
      <p:graphicFrame>
        <p:nvGraphicFramePr>
          <p:cNvPr id="93" name="Group 59"/>
          <p:cNvGraphicFramePr/>
          <p:nvPr/>
        </p:nvGraphicFramePr>
        <p:xfrm>
          <a:off x="328612" y="980728"/>
          <a:ext cx="5286375" cy="158481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504161"/>
                <a:gridCol w="1893921"/>
                <a:gridCol w="1888293"/>
              </a:tblGrid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kumimoji="1" lang="en-US" altLang="zh-CN" sz="2000" b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</a:t>
                      </a:r>
                      <a:endParaRPr kumimoji="1" lang="en-US" altLang="zh-CN" sz="20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机器</a:t>
                      </a:r>
                      <a:r>
                        <a:rPr kumimoji="1" lang="en-US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机器</a:t>
                      </a: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2" marB="45702" anchor="ctr" horzOverflow="overflow"/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</a:t>
                      </a:r>
                      <a:r>
                        <a:rPr kumimoji="1" lang="en-US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kumimoji="1" lang="en-US" altLang="zh-CN" sz="2000" b="1" u="none" strike="noStrike" kern="1200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2" marB="45702" horzOverflow="overflow"/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</a:t>
                      </a:r>
                      <a:r>
                        <a:rPr kumimoji="1" lang="en-US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2" marB="45702" horzOverflow="overflow"/>
                </a:tc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</a:t>
                      </a:r>
                      <a:r>
                        <a:rPr kumimoji="1" lang="en-US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45702" marB="45702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endParaRPr kumimoji="1" lang="en-US" altLang="zh-CN" sz="20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2" marB="45702" horzOverflow="overflow"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295" y="1112520"/>
            <a:ext cx="4229100" cy="27622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3685" y="190500"/>
            <a:ext cx="789432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排列算法：</a:t>
            </a:r>
            <a:endParaRPr lang="zh-CN" altLang="en-US"/>
          </a:p>
          <a:p>
            <a:r>
              <a:rPr lang="zh-CN" altLang="en-US"/>
              <a:t>全排列是将一组数按一定顺序进行排列，如果这组数有n个，那么全排列数为n!个。现以{1, 2, 3}为例说明如何编写全排列的递归算法。 如下图所示：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71805" y="4291965"/>
            <a:ext cx="78613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上图中，第一层S1表示第一个数分别与第1、2、3个数交换位置，如123是1和第一个数1交换，213是1和第二个数2交换，321是1和第三个数交换。第二层S2是第二个数分别与第2、3个数交换位置。则最后一层的所有叶子节点，即为全排列的所有结果。第k层中的节点Sk就是父节点中的第k个数，分别与第k、k+1...n个数交换位置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7355" y="267335"/>
            <a:ext cx="8046720" cy="6323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递归算法代码：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#include &lt;stdio.h&gt;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int n = 0;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void swap(int *a, int *b) {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      int m;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       m = *a; 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      *a = *b; 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      *b = m;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}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void perm(int list[], int k, int m) {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int i; 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if(k &gt; m)  { 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    for(i = 0; i &lt;= m; i++)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       printf("%d ", list[i]);   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       printf("\n");   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     n++;        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}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else {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  for(i = k; i &lt;= m; i++)     {      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      swap(&amp;list[k], &amp;list[i]);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       perm(list, k + 1, m);      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       swap(&amp;list[k], &amp;list[i]);               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     }        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 }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}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int main() {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int list[] = {1, 2, 3, 4, 5};     perm(list, 0, 4); 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printf("total:%d\n", n); return 0;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}  </a:t>
            </a:r>
            <a:endParaRPr lang="zh-CN" altLang="en-US"/>
          </a:p>
          <a:p>
            <a: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23" name="Line 15"/>
          <p:cNvSpPr>
            <a:spLocks noChangeShapeType="1"/>
          </p:cNvSpPr>
          <p:nvPr/>
        </p:nvSpPr>
        <p:spPr bwMode="auto">
          <a:xfrm>
            <a:off x="381000" y="990600"/>
            <a:ext cx="6934200" cy="0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21" name="Line 13"/>
          <p:cNvSpPr>
            <a:spLocks noChangeShapeType="1"/>
          </p:cNvSpPr>
          <p:nvPr/>
        </p:nvSpPr>
        <p:spPr bwMode="auto">
          <a:xfrm>
            <a:off x="381000" y="5943600"/>
            <a:ext cx="6934200" cy="0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0" name="AutoShape 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143000" y="6516688"/>
            <a:ext cx="381000" cy="304800"/>
          </a:xfrm>
          <a:prstGeom prst="actionButtonBackPrevious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1" name="AutoShape 3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533400" y="6516688"/>
            <a:ext cx="381000" cy="304800"/>
          </a:xfrm>
          <a:prstGeom prst="actionButtonBeginning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2" name="AutoShape 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2362200" y="6516688"/>
            <a:ext cx="381000" cy="304800"/>
          </a:xfrm>
          <a:prstGeom prst="actionButtonEnd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3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971800" y="6516688"/>
            <a:ext cx="457200" cy="304800"/>
          </a:xfrm>
          <a:prstGeom prst="actionButtonInformation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4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752600" y="6516688"/>
            <a:ext cx="381000" cy="304800"/>
          </a:xfrm>
          <a:prstGeom prst="actionButtonForwardNext">
            <a:avLst/>
          </a:prstGeom>
          <a:solidFill>
            <a:srgbClr val="00CCFF"/>
          </a:solidFill>
          <a:ln w="9525">
            <a:solidFill>
              <a:srgbClr val="96969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8615" name="Picture 7" descr="STATBAR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369050"/>
            <a:ext cx="8153400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6" name="Picture 8" descr="STATBAR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3058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7" name="Rectangle 9"/>
          <p:cNvSpPr>
            <a:spLocks noChangeArrowheads="1"/>
          </p:cNvSpPr>
          <p:nvPr/>
        </p:nvSpPr>
        <p:spPr bwMode="auto">
          <a:xfrm>
            <a:off x="381000" y="0"/>
            <a:ext cx="42672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">
              <a:lnSpc>
                <a:spcPct val="110000"/>
              </a:lnSpc>
            </a:pPr>
            <a:r>
              <a:rPr kumimoji="1" lang="zh-CN" altLang="en-US" b="1" smtClean="0">
                <a:solidFill>
                  <a:srgbClr val="99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算法设计与分析 </a:t>
            </a:r>
            <a:r>
              <a:rPr kumimoji="1" lang="en-US" altLang="zh-CN" b="1" smtClean="0">
                <a:solidFill>
                  <a:srgbClr val="99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&gt;</a:t>
            </a:r>
            <a:r>
              <a:rPr kumimoji="1" lang="zh-CN" altLang="en-US" b="1" smtClean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回溯法 </a:t>
            </a:r>
            <a:r>
              <a:rPr kumimoji="1" lang="en-US" altLang="zh-CN" b="1" smtClean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&gt;</a:t>
            </a:r>
            <a:r>
              <a:rPr kumimoji="1" lang="zh-CN" altLang="en-US" smtClean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作业调度</a:t>
            </a:r>
            <a:endParaRPr kumimoji="1" lang="zh-CN" altLang="en-US" sz="2400" smtClean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8620" name="Rectangle 12"/>
          <p:cNvSpPr>
            <a:spLocks noChangeArrowheads="1"/>
          </p:cNvSpPr>
          <p:nvPr/>
        </p:nvSpPr>
        <p:spPr bwMode="auto">
          <a:xfrm>
            <a:off x="381000" y="1066800"/>
            <a:ext cx="5915402" cy="5022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Flow(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** M,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n,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bestx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 ] )</a:t>
            </a:r>
            <a:endParaRPr kumimoji="1"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ub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32767;</a:t>
            </a:r>
            <a:endParaRPr kumimoji="1"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Flowshop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X;</a:t>
            </a:r>
            <a:endParaRPr kumimoji="1"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X.x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new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[n+ 1]; </a:t>
            </a:r>
            <a:r>
              <a:rPr kumimoji="1" lang="en-US" altLang="zh-CN" sz="2200" dirty="0" smtClean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 sz="2200" dirty="0" smtClean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当前调度</a:t>
            </a:r>
            <a:endParaRPr kumimoji="1" lang="zh-CN" altLang="en-US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kumimoji="1"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X.f2 = new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[n+ l];</a:t>
            </a:r>
            <a:r>
              <a:rPr kumimoji="1" lang="en-US" altLang="zh-CN" sz="28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 //</a:t>
            </a:r>
            <a:r>
              <a:rPr kumimoji="1" lang="zh-CN" altLang="en-US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机器</a:t>
            </a:r>
            <a:r>
              <a:rPr kumimoji="1" lang="en-US" altLang="zh-CN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完成处理时间</a:t>
            </a:r>
            <a:endParaRPr kumimoji="1"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X.M = M; </a:t>
            </a:r>
            <a:r>
              <a:rPr kumimoji="1" lang="en-US" altLang="zh-CN" sz="2000" dirty="0" smtClean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 sz="2000" dirty="0" smtClean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各作业所需处理时间</a:t>
            </a:r>
            <a:endParaRPr kumimoji="1" lang="zh-CN" altLang="en-US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kumimoji="1"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X.n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n; </a:t>
            </a:r>
            <a:r>
              <a:rPr kumimoji="1" lang="en-US" altLang="zh-CN" sz="2000" dirty="0" smtClean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kumimoji="1" lang="zh-CN" altLang="en-US" sz="2000" dirty="0" smtClean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作业数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kumimoji="1"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X.bestx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bestx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r>
              <a:rPr kumimoji="1" lang="en-US" altLang="zh-CN" sz="2000" dirty="0" smtClean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 sz="2000" dirty="0" smtClean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当前最优调度</a:t>
            </a:r>
            <a:endParaRPr kumimoji="1" lang="zh-CN" altLang="en-US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kumimoji="1"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X.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bestf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ub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r>
              <a:rPr kumimoji="1" lang="en-US" altLang="zh-CN" sz="2000" dirty="0" smtClean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 sz="2000" dirty="0" smtClean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当前最优调度时间</a:t>
            </a:r>
            <a:endParaRPr kumimoji="1" lang="zh-CN" altLang="en-US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kumimoji="1"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X.f1 = 0; </a:t>
            </a:r>
            <a:r>
              <a:rPr kumimoji="1" lang="en-US" altLang="zh-CN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机器</a:t>
            </a:r>
            <a:r>
              <a:rPr kumimoji="1" lang="en-US" altLang="zh-CN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zh-CN" altLang="en-US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完成处理时间</a:t>
            </a:r>
            <a:endParaRPr kumimoji="1" lang="zh-CN" altLang="en-US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kumimoji="1"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X.f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= 0; </a:t>
            </a:r>
            <a:r>
              <a:rPr kumimoji="1" lang="en-US" altLang="zh-CN" sz="2000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 sz="2000" dirty="0" smtClean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时间</a:t>
            </a:r>
            <a:r>
              <a:rPr kumimoji="1" lang="zh-CN" altLang="en-US" sz="20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endParaRPr kumimoji="1" lang="zh-CN" altLang="en-US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for(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0;i&lt;= n;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++)</a:t>
            </a:r>
            <a:endParaRPr kumimoji="1"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X.f2[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 = 0,X.x[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kumimoji="1"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X. Backtrack( 1 );</a:t>
            </a:r>
            <a:endParaRPr kumimoji="1"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delete [ ] X. x; </a:t>
            </a:r>
            <a:endParaRPr kumimoji="1"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delete [ ] X. f2;</a:t>
            </a:r>
            <a:endParaRPr kumimoji="1"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return X. </a:t>
            </a:r>
            <a:r>
              <a:rPr kumimoji="1" lang="en-US" altLang="zh-CN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bestf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;}</a:t>
            </a:r>
            <a:endParaRPr kumimoji="1"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22" name="Text Box 14"/>
          <p:cNvSpPr txBox="1">
            <a:spLocks noChangeArrowheads="1"/>
          </p:cNvSpPr>
          <p:nvPr/>
        </p:nvSpPr>
        <p:spPr bwMode="auto">
          <a:xfrm>
            <a:off x="379413" y="5943600"/>
            <a:ext cx="25781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kumimoji="1" lang="zh-CN" altLang="en-US" sz="2200" b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算法复杂性</a:t>
            </a:r>
            <a:r>
              <a:rPr kumimoji="1" lang="en-US" altLang="zh-CN" smtClean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  </a:t>
            </a:r>
            <a:r>
              <a:rPr kumimoji="1" lang="en-US" altLang="zh-CN" sz="2200" smtClean="0">
                <a:solidFill>
                  <a:srgbClr val="000000"/>
                </a:solidFill>
                <a:latin typeface="Century Schoolbook" panose="02040604050505020304" pitchFamily="18" charset="0"/>
                <a:ea typeface="幼圆" panose="02010509060101010101" pitchFamily="49" charset="-122"/>
              </a:rPr>
              <a:t>O(n!)</a:t>
            </a:r>
            <a:endParaRPr kumimoji="1" lang="en-US" altLang="zh-CN" sz="2200" smtClean="0">
              <a:solidFill>
                <a:srgbClr val="0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8624" name="Rectangle 16"/>
          <p:cNvSpPr>
            <a:spLocks noChangeArrowheads="1"/>
          </p:cNvSpPr>
          <p:nvPr/>
        </p:nvSpPr>
        <p:spPr bwMode="auto">
          <a:xfrm>
            <a:off x="381000" y="457200"/>
            <a:ext cx="282257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200" smtClean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作业调度</a:t>
            </a:r>
            <a:r>
              <a:rPr kumimoji="1" lang="zh-CN" altLang="en-US" sz="2200" b="1" smtClean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回溯</a:t>
            </a:r>
            <a:r>
              <a:rPr kumimoji="1" lang="zh-CN" altLang="en-US" sz="2200" smtClean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算法</a:t>
            </a:r>
            <a:endParaRPr kumimoji="1" lang="zh-CN" altLang="en-US" sz="2200" smtClean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22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549275"/>
            <a:ext cx="3816350" cy="55546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 sz="2400" b="1" dirty="0"/>
              <a:t>Backtrack</a:t>
            </a:r>
            <a:r>
              <a:rPr lang="zh-CN" altLang="en-US" sz="2400" b="1" dirty="0"/>
              <a:t>中，</a:t>
            </a:r>
            <a:endParaRPr lang="zh-CN" altLang="en-US" sz="2400" b="1" dirty="0"/>
          </a:p>
          <a:p>
            <a:pPr marL="0" indent="0">
              <a:buFontTx/>
              <a:buNone/>
            </a:pPr>
            <a:r>
              <a:rPr lang="zh-CN" altLang="en-US" sz="2400" b="1" dirty="0"/>
              <a:t>        当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＞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时，算法搜索至叶结点，得到一个新的作业调度方案，此时算法适合更新当前最优值和相应的当前最佳作业调度。</a:t>
            </a:r>
            <a:endParaRPr lang="zh-CN" altLang="en-US" sz="2400" b="1" dirty="0"/>
          </a:p>
          <a:p>
            <a:pPr marL="0" indent="0">
              <a:buFontTx/>
              <a:buNone/>
            </a:pPr>
            <a:r>
              <a:rPr lang="zh-CN" altLang="en-US" sz="2400" b="1" dirty="0"/>
              <a:t>        当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&lt;n</a:t>
            </a:r>
            <a:r>
              <a:rPr lang="zh-CN" altLang="en-US" sz="2400" b="1" dirty="0"/>
              <a:t>时，当前扩展节点位于排列树的第</a:t>
            </a:r>
            <a:r>
              <a:rPr lang="en-US" altLang="zh-CN" sz="2400" b="1" dirty="0"/>
              <a:t>i-1</a:t>
            </a:r>
            <a:r>
              <a:rPr lang="zh-CN" altLang="en-US" sz="2400" b="1" dirty="0"/>
              <a:t>层。此时算法选择下一个要安排的作业，以深度优先的方式递归地对相应子树进行搜索。对于不</a:t>
            </a:r>
            <a:r>
              <a:rPr lang="zh-CN" altLang="en-US" sz="2400" b="1" dirty="0" smtClean="0"/>
              <a:t>满足</a:t>
            </a:r>
            <a:r>
              <a:rPr lang="zh-CN" altLang="en-US" sz="2400" b="1" dirty="0"/>
              <a:t>限</a:t>
            </a:r>
            <a:r>
              <a:rPr lang="zh-CN" altLang="en-US" sz="2400" b="1" dirty="0" smtClean="0"/>
              <a:t>界</a:t>
            </a:r>
            <a:r>
              <a:rPr lang="zh-CN" altLang="en-US" sz="2400" b="1" dirty="0"/>
              <a:t>约束的节点，则剪去相应的子树。</a:t>
            </a:r>
            <a:endParaRPr lang="zh-CN" altLang="en-US" sz="2400" b="1" dirty="0"/>
          </a:p>
        </p:txBody>
      </p:sp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4648200" y="838200"/>
            <a:ext cx="4225925" cy="5229225"/>
          </a:xfrm>
          <a:prstGeom prst="rect">
            <a:avLst/>
          </a:prstGeom>
          <a:solidFill>
            <a:srgbClr val="FFFF99"/>
          </a:solidFill>
          <a:ln w="9525">
            <a:solidFill>
              <a:srgbClr val="99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void 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Flowshop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:Backtrack(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if (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&gt;n) {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for(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j = 1;j &lt;= n; 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j++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bestx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[j] = x[j];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bestf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f;}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else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for (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j = 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j &lt; = n; j ++) {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fl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+= M[ x[j] ] [1];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f2[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 ((f2[i-1]&gt;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fl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)?f2[i-1]: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fl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+M[x[j]][2];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f+= f2[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];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if (f &lt;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bestf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{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Swap(x[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], x[j]);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Backtrack(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+ 1 );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Swap(xl 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], x[j] );}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fl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- = M[x[j]][1];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f- = f2[</a:t>
            </a:r>
            <a:r>
              <a:rPr kumimoji="1" lang="en-US" altLang="zh-CN" sz="2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 ;}}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图的</a:t>
            </a:r>
            <a:r>
              <a:rPr lang="en-US" altLang="zh-CN" dirty="0" smtClean="0"/>
              <a:t>m</a:t>
            </a:r>
            <a:r>
              <a:rPr lang="zh-CN" altLang="en-US" dirty="0" smtClean="0"/>
              <a:t>着色问题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 </a:t>
            </a:r>
            <a:r>
              <a:rPr lang="zh-CN" altLang="en-US" dirty="0" smtClean="0"/>
              <a:t>基本概念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图的</a:t>
            </a:r>
            <a:r>
              <a:rPr lang="en-US" altLang="zh-CN" dirty="0" smtClean="0"/>
              <a:t>m</a:t>
            </a:r>
            <a:r>
              <a:rPr lang="zh-CN" altLang="en-US" dirty="0" smtClean="0"/>
              <a:t>可着色判定问题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给定</a:t>
            </a:r>
            <a:r>
              <a:rPr lang="zh-CN" altLang="en-US" dirty="0" smtClean="0">
                <a:solidFill>
                  <a:srgbClr val="0000FF"/>
                </a:solidFill>
              </a:rPr>
              <a:t>无向连通图</a:t>
            </a:r>
            <a:r>
              <a:rPr lang="en-US" altLang="zh-CN" dirty="0" smtClean="0">
                <a:solidFill>
                  <a:srgbClr val="0000FF"/>
                </a:solidFill>
              </a:rPr>
              <a:t>G</a:t>
            </a:r>
            <a:r>
              <a:rPr lang="zh-CN" altLang="en-US" dirty="0" smtClean="0"/>
              <a:t>和</a:t>
            </a:r>
            <a:r>
              <a:rPr lang="en-US" altLang="zh-CN" dirty="0" smtClean="0">
                <a:solidFill>
                  <a:srgbClr val="0000FF"/>
                </a:solidFill>
              </a:rPr>
              <a:t>m</a:t>
            </a:r>
            <a:r>
              <a:rPr lang="zh-CN" altLang="en-US" dirty="0" smtClean="0">
                <a:solidFill>
                  <a:srgbClr val="0000FF"/>
                </a:solidFill>
              </a:rPr>
              <a:t>种不同的颜色</a:t>
            </a:r>
            <a:r>
              <a:rPr lang="zh-CN" altLang="en-US" dirty="0" smtClean="0"/>
              <a:t>。用这些颜色为图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的各顶点着色，每个顶点着一种颜色。是否有一种着色法使</a:t>
            </a:r>
            <a:r>
              <a:rPr lang="en-US" altLang="zh-CN" dirty="0" smtClean="0">
                <a:solidFill>
                  <a:srgbClr val="0000FF"/>
                </a:solidFill>
              </a:rPr>
              <a:t>G</a:t>
            </a:r>
            <a:r>
              <a:rPr lang="zh-CN" altLang="en-US" dirty="0" smtClean="0">
                <a:solidFill>
                  <a:srgbClr val="0000FF"/>
                </a:solidFill>
              </a:rPr>
              <a:t>中每条边的</a:t>
            </a:r>
            <a:r>
              <a:rPr lang="en-US" altLang="zh-CN" dirty="0" smtClean="0">
                <a:solidFill>
                  <a:srgbClr val="0000FF"/>
                </a:solidFill>
              </a:rPr>
              <a:t>2</a:t>
            </a:r>
            <a:r>
              <a:rPr lang="zh-CN" altLang="en-US" dirty="0" smtClean="0">
                <a:solidFill>
                  <a:srgbClr val="0000FF"/>
                </a:solidFill>
              </a:rPr>
              <a:t>个顶点着不同颜色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该图的色数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若一个图最少需要</a:t>
            </a:r>
            <a:r>
              <a:rPr lang="en-US" altLang="zh-CN" dirty="0" smtClean="0"/>
              <a:t>m</a:t>
            </a:r>
            <a:r>
              <a:rPr lang="zh-CN" altLang="en-US" dirty="0" smtClean="0"/>
              <a:t>种颜色才能使图中每条边连接的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个顶点着不同颜色，则称这个数</a:t>
            </a:r>
            <a:r>
              <a:rPr lang="en-US" altLang="zh-CN" dirty="0" smtClean="0"/>
              <a:t>m</a:t>
            </a:r>
            <a:r>
              <a:rPr lang="zh-CN" altLang="en-US" dirty="0" smtClean="0"/>
              <a:t>为该图的色数。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可着色优化问题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求图的色数</a:t>
            </a:r>
            <a:r>
              <a:rPr lang="en-US" altLang="zh-CN" dirty="0" smtClean="0"/>
              <a:t>m</a:t>
            </a:r>
            <a:r>
              <a:rPr lang="zh-CN" altLang="en-US" dirty="0" smtClean="0"/>
              <a:t>的问题称为图的</a:t>
            </a:r>
            <a:r>
              <a:rPr lang="en-US" altLang="zh-CN" dirty="0" smtClean="0"/>
              <a:t>m</a:t>
            </a:r>
            <a:r>
              <a:rPr lang="zh-CN" altLang="en-US" dirty="0" smtClean="0">
                <a:solidFill>
                  <a:srgbClr val="0000FF"/>
                </a:solidFill>
              </a:rPr>
              <a:t>可着色优化问题。</a:t>
            </a:r>
            <a:endParaRPr lang="zh-CN" altLang="en-US" dirty="0" smtClean="0">
              <a:solidFill>
                <a:srgbClr val="0000FF"/>
              </a:solidFill>
            </a:endParaRPr>
          </a:p>
        </p:txBody>
      </p:sp>
      <p:pic>
        <p:nvPicPr>
          <p:cNvPr id="54276" name="Picture 2" descr="D:\Temp\Temporary Internet Files\Content.IE5\51RT335K\MCj04380590000[1]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438" y="0"/>
            <a:ext cx="2214562" cy="221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图的</a:t>
            </a:r>
            <a:r>
              <a:rPr lang="en-US" altLang="zh-CN" dirty="0" smtClean="0"/>
              <a:t>m</a:t>
            </a:r>
            <a:r>
              <a:rPr lang="zh-CN" altLang="en-US" dirty="0" smtClean="0"/>
              <a:t>着色问题</a:t>
            </a:r>
            <a:endParaRPr lang="zh-CN" altLang="en-US" dirty="0" smtClean="0"/>
          </a:p>
        </p:txBody>
      </p:sp>
      <p:graphicFrame>
        <p:nvGraphicFramePr>
          <p:cNvPr id="59" name="内容占位符 58"/>
          <p:cNvGraphicFramePr>
            <a:graphicFrameLocks noGrp="1"/>
          </p:cNvGraphicFramePr>
          <p:nvPr>
            <p:ph idx="1"/>
          </p:nvPr>
        </p:nvGraphicFramePr>
        <p:xfrm>
          <a:off x="5786438" y="928688"/>
          <a:ext cx="2714628" cy="2608260"/>
        </p:xfrm>
        <a:graphic>
          <a:graphicData uri="http://schemas.openxmlformats.org/drawingml/2006/table">
            <a:tbl>
              <a:tblPr/>
              <a:tblGrid>
                <a:gridCol w="452438"/>
                <a:gridCol w="452438"/>
                <a:gridCol w="452438"/>
                <a:gridCol w="452438"/>
                <a:gridCol w="452438"/>
                <a:gridCol w="452438"/>
              </a:tblGrid>
              <a:tr h="43471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dirty="0">
                          <a:solidFill>
                            <a:srgbClr val="808080"/>
                          </a:solidFill>
                          <a:latin typeface="Times New Roman" panose="02020603050405020304"/>
                        </a:rPr>
                        <a:t>　</a:t>
                      </a:r>
                      <a:endParaRPr lang="zh-CN" altLang="en-US" sz="2400" b="1" i="0" u="none" strike="noStrike" dirty="0">
                        <a:solidFill>
                          <a:srgbClr val="808080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808080"/>
                          </a:solidFill>
                          <a:latin typeface="Times New Roman" panose="02020603050405020304"/>
                        </a:rPr>
                        <a:t>a</a:t>
                      </a:r>
                      <a:endParaRPr lang="en-US" sz="2400" b="1" i="0" u="none" strike="noStrike">
                        <a:solidFill>
                          <a:srgbClr val="808080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808080"/>
                          </a:solidFill>
                          <a:latin typeface="Times New Roman" panose="02020603050405020304"/>
                        </a:rPr>
                        <a:t>b</a:t>
                      </a:r>
                      <a:endParaRPr lang="en-US" sz="2400" b="1" i="0" u="none" strike="noStrike">
                        <a:solidFill>
                          <a:srgbClr val="808080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808080"/>
                          </a:solidFill>
                          <a:latin typeface="Times New Roman" panose="02020603050405020304"/>
                        </a:rPr>
                        <a:t>c</a:t>
                      </a:r>
                      <a:endParaRPr lang="en-US" sz="2400" b="1" i="0" u="none" strike="noStrike">
                        <a:solidFill>
                          <a:srgbClr val="808080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808080"/>
                          </a:solidFill>
                          <a:latin typeface="Times New Roman" panose="02020603050405020304"/>
                        </a:rPr>
                        <a:t>d</a:t>
                      </a:r>
                      <a:endParaRPr lang="en-US" sz="2400" b="1" i="0" u="none" strike="noStrike">
                        <a:solidFill>
                          <a:srgbClr val="808080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808080"/>
                          </a:solidFill>
                          <a:latin typeface="Times New Roman" panose="02020603050405020304"/>
                        </a:rPr>
                        <a:t>e</a:t>
                      </a:r>
                      <a:endParaRPr lang="en-US" sz="2400" b="1" i="0" u="none" strike="noStrike">
                        <a:solidFill>
                          <a:srgbClr val="808080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7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808080"/>
                          </a:solidFill>
                          <a:latin typeface="Times New Roman" panose="02020603050405020304"/>
                        </a:rPr>
                        <a:t>a</a:t>
                      </a:r>
                      <a:endParaRPr lang="en-US" sz="2400" b="1" i="0" u="none" strike="noStrike">
                        <a:solidFill>
                          <a:srgbClr val="808080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dirty="0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　</a:t>
                      </a:r>
                      <a:endParaRPr lang="zh-CN" altLang="en-US" sz="2400" b="1" i="0" u="none" strike="noStrike" dirty="0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</a:tr>
              <a:tr h="4347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808080"/>
                          </a:solidFill>
                          <a:latin typeface="Times New Roman" panose="02020603050405020304"/>
                        </a:rPr>
                        <a:t>b</a:t>
                      </a:r>
                      <a:endParaRPr lang="en-US" sz="2400" b="1" i="0" u="none" strike="noStrike">
                        <a:solidFill>
                          <a:srgbClr val="808080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dirty="0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　</a:t>
                      </a:r>
                      <a:endParaRPr lang="zh-CN" altLang="en-US" sz="2400" b="1" i="0" u="none" strike="noStrike" dirty="0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 dirty="0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0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</a:tr>
              <a:tr h="4347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808080"/>
                          </a:solidFill>
                          <a:latin typeface="Times New Roman" panose="02020603050405020304"/>
                        </a:rPr>
                        <a:t>c</a:t>
                      </a:r>
                      <a:endParaRPr lang="en-US" sz="2400" b="1" i="0" u="none" strike="noStrike">
                        <a:solidFill>
                          <a:srgbClr val="808080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dirty="0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　</a:t>
                      </a:r>
                      <a:endParaRPr lang="zh-CN" altLang="en-US" sz="2400" b="1" i="0" u="none" strike="noStrike" dirty="0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 dirty="0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 dirty="0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</a:tr>
              <a:tr h="4347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808080"/>
                          </a:solidFill>
                          <a:latin typeface="Times New Roman" panose="02020603050405020304"/>
                        </a:rPr>
                        <a:t>d</a:t>
                      </a:r>
                      <a:endParaRPr lang="en-US" sz="2400" b="1" i="0" u="none" strike="noStrike">
                        <a:solidFill>
                          <a:srgbClr val="808080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　</a:t>
                      </a:r>
                      <a:endParaRPr lang="zh-CN" altLang="en-US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0</a:t>
                      </a:r>
                      <a:endParaRPr lang="en-US" altLang="zh-CN" sz="2400" b="1" i="0" u="none" strike="noStrike" dirty="0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</a:tr>
              <a:tr h="4347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808080"/>
                          </a:solidFill>
                          <a:latin typeface="Times New Roman" panose="02020603050405020304"/>
                        </a:rPr>
                        <a:t>e</a:t>
                      </a:r>
                      <a:endParaRPr lang="en-US" sz="2400" b="1" i="0" u="none" strike="noStrike">
                        <a:solidFill>
                          <a:srgbClr val="808080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0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0</a:t>
                      </a:r>
                      <a:endParaRPr lang="en-US" altLang="zh-CN" sz="2400" b="1" i="0" u="none" strike="noStrike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dirty="0">
                          <a:solidFill>
                            <a:srgbClr val="0000FF"/>
                          </a:solidFill>
                          <a:latin typeface="Times New Roman" panose="02020603050405020304"/>
                        </a:rPr>
                        <a:t>　</a:t>
                      </a:r>
                      <a:endParaRPr lang="zh-CN" altLang="en-US" sz="2400" b="1" i="0" u="none" strike="noStrike" dirty="0">
                        <a:solidFill>
                          <a:srgbClr val="0000FF"/>
                        </a:solidFill>
                        <a:latin typeface="Times New Roman" panose="02020603050405020304"/>
                      </a:endParaRPr>
                    </a:p>
                  </a:txBody>
                  <a:tcPr marL="9525" marR="9525" marT="9523" marB="0" anchor="ctr">
                    <a:lnL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6D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</a:tr>
            </a:tbl>
          </a:graphicData>
        </a:graphic>
      </p:graphicFrame>
      <p:grpSp>
        <p:nvGrpSpPr>
          <p:cNvPr id="55350" name="组合 11"/>
          <p:cNvGrpSpPr/>
          <p:nvPr/>
        </p:nvGrpSpPr>
        <p:grpSpPr bwMode="auto">
          <a:xfrm>
            <a:off x="500063" y="785813"/>
            <a:ext cx="4870450" cy="3776662"/>
            <a:chOff x="130629" y="1509486"/>
            <a:chExt cx="5660571" cy="4572000"/>
          </a:xfrm>
        </p:grpSpPr>
        <p:sp>
          <p:nvSpPr>
            <p:cNvPr id="6" name="任意多边形 5"/>
            <p:cNvSpPr/>
            <p:nvPr/>
          </p:nvSpPr>
          <p:spPr bwMode="auto">
            <a:xfrm>
              <a:off x="1683657" y="2090057"/>
              <a:ext cx="2032000" cy="1596572"/>
            </a:xfrm>
            <a:custGeom>
              <a:avLst/>
              <a:gdLst>
                <a:gd name="connsiteX0" fmla="*/ 275772 w 2032000"/>
                <a:gd name="connsiteY0" fmla="*/ 0 h 1596572"/>
                <a:gd name="connsiteX1" fmla="*/ 0 w 2032000"/>
                <a:gd name="connsiteY1" fmla="*/ 725714 h 1596572"/>
                <a:gd name="connsiteX2" fmla="*/ 420914 w 2032000"/>
                <a:gd name="connsiteY2" fmla="*/ 1524000 h 1596572"/>
                <a:gd name="connsiteX3" fmla="*/ 1596572 w 2032000"/>
                <a:gd name="connsiteY3" fmla="*/ 1596572 h 1596572"/>
                <a:gd name="connsiteX4" fmla="*/ 2032000 w 2032000"/>
                <a:gd name="connsiteY4" fmla="*/ 1045029 h 1596572"/>
                <a:gd name="connsiteX5" fmla="*/ 1175657 w 2032000"/>
                <a:gd name="connsiteY5" fmla="*/ 798286 h 1596572"/>
                <a:gd name="connsiteX6" fmla="*/ 275772 w 2032000"/>
                <a:gd name="connsiteY6" fmla="*/ 0 h 159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32000" h="1596572">
                  <a:moveTo>
                    <a:pt x="275772" y="0"/>
                  </a:moveTo>
                  <a:lnTo>
                    <a:pt x="0" y="725714"/>
                  </a:lnTo>
                  <a:lnTo>
                    <a:pt x="420914" y="1524000"/>
                  </a:lnTo>
                  <a:lnTo>
                    <a:pt x="1596572" y="1596572"/>
                  </a:lnTo>
                  <a:lnTo>
                    <a:pt x="2032000" y="1045029"/>
                  </a:lnTo>
                  <a:lnTo>
                    <a:pt x="1175657" y="798286"/>
                  </a:lnTo>
                  <a:lnTo>
                    <a:pt x="275772" y="0"/>
                  </a:ln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FF0000"/>
                  </a:solidFill>
                  <a:latin typeface="微软雅黑" panose="020B0503020204020204" pitchFamily="34" charset="-122"/>
                </a:rPr>
                <a:t>A 1     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" name="任意多边形 6"/>
            <p:cNvSpPr/>
            <p:nvPr/>
          </p:nvSpPr>
          <p:spPr bwMode="auto">
            <a:xfrm>
              <a:off x="2830286" y="2409371"/>
              <a:ext cx="2162628" cy="1930400"/>
            </a:xfrm>
            <a:custGeom>
              <a:avLst/>
              <a:gdLst>
                <a:gd name="connsiteX0" fmla="*/ 0 w 2162628"/>
                <a:gd name="connsiteY0" fmla="*/ 449943 h 1930400"/>
                <a:gd name="connsiteX1" fmla="*/ 827314 w 2162628"/>
                <a:gd name="connsiteY1" fmla="*/ 0 h 1930400"/>
                <a:gd name="connsiteX2" fmla="*/ 2104571 w 2162628"/>
                <a:gd name="connsiteY2" fmla="*/ 362858 h 1930400"/>
                <a:gd name="connsiteX3" fmla="*/ 2162628 w 2162628"/>
                <a:gd name="connsiteY3" fmla="*/ 1233715 h 1930400"/>
                <a:gd name="connsiteX4" fmla="*/ 1364343 w 2162628"/>
                <a:gd name="connsiteY4" fmla="*/ 1930400 h 1930400"/>
                <a:gd name="connsiteX5" fmla="*/ 449943 w 2162628"/>
                <a:gd name="connsiteY5" fmla="*/ 1277258 h 1930400"/>
                <a:gd name="connsiteX6" fmla="*/ 885371 w 2162628"/>
                <a:gd name="connsiteY6" fmla="*/ 740229 h 1930400"/>
                <a:gd name="connsiteX7" fmla="*/ 0 w 2162628"/>
                <a:gd name="connsiteY7" fmla="*/ 449943 h 193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2628" h="1930400">
                  <a:moveTo>
                    <a:pt x="0" y="449943"/>
                  </a:moveTo>
                  <a:lnTo>
                    <a:pt x="827314" y="0"/>
                  </a:lnTo>
                  <a:lnTo>
                    <a:pt x="2104571" y="362858"/>
                  </a:lnTo>
                  <a:lnTo>
                    <a:pt x="2162628" y="1233715"/>
                  </a:lnTo>
                  <a:lnTo>
                    <a:pt x="1364343" y="1930400"/>
                  </a:lnTo>
                  <a:lnTo>
                    <a:pt x="449943" y="1277258"/>
                  </a:lnTo>
                  <a:lnTo>
                    <a:pt x="885371" y="740229"/>
                  </a:lnTo>
                  <a:lnTo>
                    <a:pt x="0" y="449943"/>
                  </a:ln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FF0000"/>
                  </a:solidFill>
                  <a:latin typeface="微软雅黑" panose="020B0503020204020204" pitchFamily="34" charset="-122"/>
                </a:rPr>
                <a:t>     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B 2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任意多边形 7"/>
            <p:cNvSpPr/>
            <p:nvPr/>
          </p:nvSpPr>
          <p:spPr bwMode="auto">
            <a:xfrm>
              <a:off x="1915886" y="3614057"/>
              <a:ext cx="2278743" cy="1799772"/>
            </a:xfrm>
            <a:custGeom>
              <a:avLst/>
              <a:gdLst>
                <a:gd name="connsiteX0" fmla="*/ 2264228 w 2278743"/>
                <a:gd name="connsiteY0" fmla="*/ 740229 h 1799772"/>
                <a:gd name="connsiteX1" fmla="*/ 2278743 w 2278743"/>
                <a:gd name="connsiteY1" fmla="*/ 1756229 h 1799772"/>
                <a:gd name="connsiteX2" fmla="*/ 1146628 w 2278743"/>
                <a:gd name="connsiteY2" fmla="*/ 1799772 h 1799772"/>
                <a:gd name="connsiteX3" fmla="*/ 0 w 2278743"/>
                <a:gd name="connsiteY3" fmla="*/ 1277257 h 1799772"/>
                <a:gd name="connsiteX4" fmla="*/ 174171 w 2278743"/>
                <a:gd name="connsiteY4" fmla="*/ 0 h 1799772"/>
                <a:gd name="connsiteX5" fmla="*/ 1364343 w 2278743"/>
                <a:gd name="connsiteY5" fmla="*/ 87086 h 1799772"/>
                <a:gd name="connsiteX6" fmla="*/ 2264228 w 2278743"/>
                <a:gd name="connsiteY6" fmla="*/ 740229 h 1799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8743" h="1799772">
                  <a:moveTo>
                    <a:pt x="2264228" y="740229"/>
                  </a:moveTo>
                  <a:lnTo>
                    <a:pt x="2278743" y="1756229"/>
                  </a:lnTo>
                  <a:lnTo>
                    <a:pt x="1146628" y="1799772"/>
                  </a:lnTo>
                  <a:lnTo>
                    <a:pt x="0" y="1277257"/>
                  </a:lnTo>
                  <a:lnTo>
                    <a:pt x="174171" y="0"/>
                  </a:lnTo>
                  <a:lnTo>
                    <a:pt x="1364343" y="87086"/>
                  </a:lnTo>
                  <a:lnTo>
                    <a:pt x="2264228" y="740229"/>
                  </a:ln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C 3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任意多边形 8"/>
            <p:cNvSpPr/>
            <p:nvPr/>
          </p:nvSpPr>
          <p:spPr bwMode="auto">
            <a:xfrm>
              <a:off x="1944914" y="1524000"/>
              <a:ext cx="3846286" cy="3846286"/>
            </a:xfrm>
            <a:custGeom>
              <a:avLst/>
              <a:gdLst>
                <a:gd name="connsiteX0" fmla="*/ 0 w 3846286"/>
                <a:gd name="connsiteY0" fmla="*/ 551543 h 3846286"/>
                <a:gd name="connsiteX1" fmla="*/ 972457 w 3846286"/>
                <a:gd name="connsiteY1" fmla="*/ 0 h 3846286"/>
                <a:gd name="connsiteX2" fmla="*/ 3497943 w 3846286"/>
                <a:gd name="connsiteY2" fmla="*/ 159657 h 3846286"/>
                <a:gd name="connsiteX3" fmla="*/ 3846286 w 3846286"/>
                <a:gd name="connsiteY3" fmla="*/ 1727200 h 3846286"/>
                <a:gd name="connsiteX4" fmla="*/ 3135086 w 3846286"/>
                <a:gd name="connsiteY4" fmla="*/ 3846286 h 3846286"/>
                <a:gd name="connsiteX5" fmla="*/ 2249715 w 3846286"/>
                <a:gd name="connsiteY5" fmla="*/ 3846286 h 3846286"/>
                <a:gd name="connsiteX6" fmla="*/ 2235200 w 3846286"/>
                <a:gd name="connsiteY6" fmla="*/ 2786743 h 3846286"/>
                <a:gd name="connsiteX7" fmla="*/ 3062515 w 3846286"/>
                <a:gd name="connsiteY7" fmla="*/ 2133600 h 3846286"/>
                <a:gd name="connsiteX8" fmla="*/ 2975429 w 3846286"/>
                <a:gd name="connsiteY8" fmla="*/ 1219200 h 3846286"/>
                <a:gd name="connsiteX9" fmla="*/ 1712686 w 3846286"/>
                <a:gd name="connsiteY9" fmla="*/ 899886 h 3846286"/>
                <a:gd name="connsiteX10" fmla="*/ 928915 w 3846286"/>
                <a:gd name="connsiteY10" fmla="*/ 1335314 h 3846286"/>
                <a:gd name="connsiteX11" fmla="*/ 0 w 3846286"/>
                <a:gd name="connsiteY11" fmla="*/ 551543 h 3846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46286" h="3846286">
                  <a:moveTo>
                    <a:pt x="0" y="551543"/>
                  </a:moveTo>
                  <a:lnTo>
                    <a:pt x="972457" y="0"/>
                  </a:lnTo>
                  <a:lnTo>
                    <a:pt x="3497943" y="159657"/>
                  </a:lnTo>
                  <a:lnTo>
                    <a:pt x="3846286" y="1727200"/>
                  </a:lnTo>
                  <a:lnTo>
                    <a:pt x="3135086" y="3846286"/>
                  </a:lnTo>
                  <a:lnTo>
                    <a:pt x="2249715" y="3846286"/>
                  </a:lnTo>
                  <a:lnTo>
                    <a:pt x="2235200" y="2786743"/>
                  </a:lnTo>
                  <a:lnTo>
                    <a:pt x="3062515" y="2133600"/>
                  </a:lnTo>
                  <a:lnTo>
                    <a:pt x="2975429" y="1219200"/>
                  </a:lnTo>
                  <a:lnTo>
                    <a:pt x="1712686" y="899886"/>
                  </a:lnTo>
                  <a:lnTo>
                    <a:pt x="928915" y="1335314"/>
                  </a:lnTo>
                  <a:lnTo>
                    <a:pt x="0" y="551543"/>
                  </a:ln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FF0000"/>
                  </a:solidFill>
                  <a:latin typeface="微软雅黑" panose="020B0503020204020204" pitchFamily="34" charset="-122"/>
                </a:rPr>
                <a:t>                                  D 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4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" name="任意多边形 9"/>
            <p:cNvSpPr/>
            <p:nvPr/>
          </p:nvSpPr>
          <p:spPr bwMode="auto">
            <a:xfrm>
              <a:off x="624114" y="2815771"/>
              <a:ext cx="1465943" cy="2061029"/>
            </a:xfrm>
            <a:custGeom>
              <a:avLst/>
              <a:gdLst>
                <a:gd name="connsiteX0" fmla="*/ 1074057 w 1465943"/>
                <a:gd name="connsiteY0" fmla="*/ 0 h 2061029"/>
                <a:gd name="connsiteX1" fmla="*/ 0 w 1465943"/>
                <a:gd name="connsiteY1" fmla="*/ 493486 h 2061029"/>
                <a:gd name="connsiteX2" fmla="*/ 72572 w 1465943"/>
                <a:gd name="connsiteY2" fmla="*/ 1785258 h 2061029"/>
                <a:gd name="connsiteX3" fmla="*/ 1277257 w 1465943"/>
                <a:gd name="connsiteY3" fmla="*/ 2061029 h 2061029"/>
                <a:gd name="connsiteX4" fmla="*/ 1465943 w 1465943"/>
                <a:gd name="connsiteY4" fmla="*/ 812800 h 2061029"/>
                <a:gd name="connsiteX5" fmla="*/ 1074057 w 1465943"/>
                <a:gd name="connsiteY5" fmla="*/ 0 h 206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65943" h="2061029">
                  <a:moveTo>
                    <a:pt x="1074057" y="0"/>
                  </a:moveTo>
                  <a:lnTo>
                    <a:pt x="0" y="493486"/>
                  </a:lnTo>
                  <a:lnTo>
                    <a:pt x="72572" y="1785258"/>
                  </a:lnTo>
                  <a:lnTo>
                    <a:pt x="1277257" y="2061029"/>
                  </a:lnTo>
                  <a:lnTo>
                    <a:pt x="1465943" y="812800"/>
                  </a:lnTo>
                  <a:lnTo>
                    <a:pt x="1074057" y="0"/>
                  </a:ln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</a:rPr>
                <a:t>E 4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任意多边形 10"/>
            <p:cNvSpPr/>
            <p:nvPr/>
          </p:nvSpPr>
          <p:spPr bwMode="auto">
            <a:xfrm>
              <a:off x="130629" y="1509486"/>
              <a:ext cx="2960914" cy="4572000"/>
            </a:xfrm>
            <a:custGeom>
              <a:avLst/>
              <a:gdLst>
                <a:gd name="connsiteX0" fmla="*/ 2786742 w 2960914"/>
                <a:gd name="connsiteY0" fmla="*/ 0 h 4572000"/>
                <a:gd name="connsiteX1" fmla="*/ 116114 w 2960914"/>
                <a:gd name="connsiteY1" fmla="*/ 261257 h 4572000"/>
                <a:gd name="connsiteX2" fmla="*/ 0 w 2960914"/>
                <a:gd name="connsiteY2" fmla="*/ 2902857 h 4572000"/>
                <a:gd name="connsiteX3" fmla="*/ 1190171 w 2960914"/>
                <a:gd name="connsiteY3" fmla="*/ 4572000 h 4572000"/>
                <a:gd name="connsiteX4" fmla="*/ 2960914 w 2960914"/>
                <a:gd name="connsiteY4" fmla="*/ 3904343 h 4572000"/>
                <a:gd name="connsiteX5" fmla="*/ 1756228 w 2960914"/>
                <a:gd name="connsiteY5" fmla="*/ 3396343 h 4572000"/>
                <a:gd name="connsiteX6" fmla="*/ 580571 w 2960914"/>
                <a:gd name="connsiteY6" fmla="*/ 3106057 h 4572000"/>
                <a:gd name="connsiteX7" fmla="*/ 508000 w 2960914"/>
                <a:gd name="connsiteY7" fmla="*/ 1814285 h 4572000"/>
                <a:gd name="connsiteX8" fmla="*/ 1567542 w 2960914"/>
                <a:gd name="connsiteY8" fmla="*/ 1306285 h 4572000"/>
                <a:gd name="connsiteX9" fmla="*/ 1843314 w 2960914"/>
                <a:gd name="connsiteY9" fmla="*/ 551543 h 4572000"/>
                <a:gd name="connsiteX10" fmla="*/ 2786742 w 2960914"/>
                <a:gd name="connsiteY10" fmla="*/ 0 h 457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60914" h="4572000">
                  <a:moveTo>
                    <a:pt x="2786742" y="0"/>
                  </a:moveTo>
                  <a:lnTo>
                    <a:pt x="116114" y="261257"/>
                  </a:lnTo>
                  <a:lnTo>
                    <a:pt x="0" y="2902857"/>
                  </a:lnTo>
                  <a:lnTo>
                    <a:pt x="1190171" y="4572000"/>
                  </a:lnTo>
                  <a:lnTo>
                    <a:pt x="2960914" y="3904343"/>
                  </a:lnTo>
                  <a:lnTo>
                    <a:pt x="1756228" y="3396343"/>
                  </a:lnTo>
                  <a:lnTo>
                    <a:pt x="580571" y="3106057"/>
                  </a:lnTo>
                  <a:lnTo>
                    <a:pt x="508000" y="1814285"/>
                  </a:lnTo>
                  <a:lnTo>
                    <a:pt x="1567542" y="1306285"/>
                  </a:lnTo>
                  <a:lnTo>
                    <a:pt x="1843314" y="551543"/>
                  </a:lnTo>
                  <a:lnTo>
                    <a:pt x="2786742" y="0"/>
                  </a:ln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>
                  <a:solidFill>
                    <a:srgbClr val="FF0000"/>
                  </a:solidFill>
                  <a:latin typeface="微软雅黑" panose="020B0503020204020204" pitchFamily="34" charset="-122"/>
                </a:rPr>
                <a:t>F 2                           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 bwMode="auto">
          <a:xfrm>
            <a:off x="4508500" y="3714750"/>
            <a:ext cx="4349750" cy="2928938"/>
            <a:chOff x="4509105" y="3714752"/>
            <a:chExt cx="4349175" cy="2928958"/>
          </a:xfrm>
        </p:grpSpPr>
        <p:sp>
          <p:nvSpPr>
            <p:cNvPr id="13" name="椭圆 12"/>
            <p:cNvSpPr/>
            <p:nvPr/>
          </p:nvSpPr>
          <p:spPr bwMode="auto">
            <a:xfrm>
              <a:off x="6500826" y="3714752"/>
              <a:ext cx="500066" cy="500066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A </a:t>
              </a:r>
              <a:r>
                <a:rPr lang="en-US" altLang="zh-CN" sz="2000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endParaRPr lang="zh-CN" altLang="en-US" sz="2000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6500826" y="4929198"/>
              <a:ext cx="500066" cy="500066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C </a:t>
              </a:r>
              <a:r>
                <a:rPr lang="en-US" altLang="zh-CN" sz="2000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3</a:t>
              </a:r>
              <a:endParaRPr lang="zh-CN" altLang="en-US" sz="2000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6500826" y="6143644"/>
              <a:ext cx="500066" cy="500066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F </a:t>
              </a:r>
              <a:r>
                <a:rPr lang="en-US" altLang="zh-CN" sz="2000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  <a:endParaRPr lang="zh-CN" altLang="en-US" sz="2000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 bwMode="auto">
            <a:xfrm>
              <a:off x="7500958" y="4214818"/>
              <a:ext cx="500066" cy="500066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B </a:t>
              </a:r>
              <a:r>
                <a:rPr lang="en-US" altLang="zh-CN" sz="2000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  <a:endParaRPr lang="zh-CN" altLang="en-US" sz="2000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椭圆 16"/>
            <p:cNvSpPr/>
            <p:nvPr/>
          </p:nvSpPr>
          <p:spPr bwMode="auto">
            <a:xfrm>
              <a:off x="8358214" y="4929198"/>
              <a:ext cx="500066" cy="500066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D </a:t>
              </a:r>
              <a:r>
                <a:rPr lang="en-US" altLang="zh-CN" sz="2000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4</a:t>
              </a:r>
              <a:endParaRPr lang="zh-CN" altLang="en-US" sz="2000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椭圆 17"/>
            <p:cNvSpPr/>
            <p:nvPr/>
          </p:nvSpPr>
          <p:spPr bwMode="auto">
            <a:xfrm>
              <a:off x="5143504" y="4929198"/>
              <a:ext cx="500066" cy="500066"/>
            </a:xfrm>
            <a:prstGeom prst="ellipse">
              <a:avLst/>
            </a:prstGeom>
            <a:solidFill>
              <a:srgbClr val="99FF33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E </a:t>
              </a:r>
              <a:r>
                <a:rPr lang="en-US" altLang="zh-CN" sz="2000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4</a:t>
              </a:r>
              <a:endParaRPr lang="zh-CN" altLang="en-US" sz="2000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5373" name="直接连接符 19"/>
            <p:cNvCxnSpPr>
              <a:cxnSpLocks noChangeShapeType="1"/>
              <a:stCxn id="0" idx="4"/>
              <a:endCxn id="0" idx="0"/>
            </p:cNvCxnSpPr>
            <p:nvPr/>
          </p:nvCxnSpPr>
          <p:spPr bwMode="auto">
            <a:xfrm rot="5400000">
              <a:off x="6393669" y="4572008"/>
              <a:ext cx="71438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</p:spPr>
        </p:cxnSp>
        <p:cxnSp>
          <p:nvCxnSpPr>
            <p:cNvPr id="55374" name="直接连接符 21"/>
            <p:cNvCxnSpPr>
              <a:cxnSpLocks noChangeShapeType="1"/>
              <a:stCxn id="0" idx="4"/>
              <a:endCxn id="0" idx="0"/>
            </p:cNvCxnSpPr>
            <p:nvPr/>
          </p:nvCxnSpPr>
          <p:spPr bwMode="auto">
            <a:xfrm rot="5400000">
              <a:off x="6393669" y="5786454"/>
              <a:ext cx="71438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</p:spPr>
        </p:cxnSp>
        <p:cxnSp>
          <p:nvCxnSpPr>
            <p:cNvPr id="55375" name="直接连接符 24"/>
            <p:cNvCxnSpPr>
              <a:cxnSpLocks noChangeShapeType="1"/>
              <a:stCxn id="0" idx="2"/>
              <a:endCxn id="0" idx="6"/>
            </p:cNvCxnSpPr>
            <p:nvPr/>
          </p:nvCxnSpPr>
          <p:spPr bwMode="auto">
            <a:xfrm rot="10800000">
              <a:off x="5643570" y="5179231"/>
              <a:ext cx="8572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</p:spPr>
        </p:cxnSp>
        <p:cxnSp>
          <p:nvCxnSpPr>
            <p:cNvPr id="55376" name="直接连接符 25"/>
            <p:cNvCxnSpPr>
              <a:cxnSpLocks noChangeShapeType="1"/>
              <a:stCxn id="0" idx="6"/>
              <a:endCxn id="0" idx="2"/>
            </p:cNvCxnSpPr>
            <p:nvPr/>
          </p:nvCxnSpPr>
          <p:spPr bwMode="auto">
            <a:xfrm>
              <a:off x="7000892" y="5179231"/>
              <a:ext cx="13573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</p:spPr>
        </p:cxnSp>
        <p:cxnSp>
          <p:nvCxnSpPr>
            <p:cNvPr id="55377" name="直接连接符 30"/>
            <p:cNvCxnSpPr>
              <a:cxnSpLocks noChangeShapeType="1"/>
              <a:stCxn id="0" idx="7"/>
              <a:endCxn id="0" idx="3"/>
            </p:cNvCxnSpPr>
            <p:nvPr/>
          </p:nvCxnSpPr>
          <p:spPr bwMode="auto">
            <a:xfrm rot="5400000" flipH="1" flipV="1">
              <a:off x="7070535" y="4498775"/>
              <a:ext cx="360780" cy="64653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</p:spPr>
        </p:cxnSp>
        <p:cxnSp>
          <p:nvCxnSpPr>
            <p:cNvPr id="55378" name="直接连接符 33"/>
            <p:cNvCxnSpPr>
              <a:cxnSpLocks noChangeShapeType="1"/>
              <a:stCxn id="0" idx="7"/>
              <a:endCxn id="0" idx="3"/>
            </p:cNvCxnSpPr>
            <p:nvPr/>
          </p:nvCxnSpPr>
          <p:spPr bwMode="auto">
            <a:xfrm rot="5400000" flipH="1" flipV="1">
              <a:off x="5641775" y="4070147"/>
              <a:ext cx="860846" cy="100372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</p:spPr>
        </p:cxnSp>
        <p:cxnSp>
          <p:nvCxnSpPr>
            <p:cNvPr id="55379" name="直接连接符 36"/>
            <p:cNvCxnSpPr>
              <a:cxnSpLocks noChangeShapeType="1"/>
              <a:stCxn id="0" idx="6"/>
              <a:endCxn id="0" idx="1"/>
            </p:cNvCxnSpPr>
            <p:nvPr/>
          </p:nvCxnSpPr>
          <p:spPr bwMode="auto">
            <a:xfrm>
              <a:off x="7000892" y="3964785"/>
              <a:ext cx="573299" cy="32326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</p:spPr>
        </p:cxnSp>
        <p:cxnSp>
          <p:nvCxnSpPr>
            <p:cNvPr id="55380" name="直接连接符 39"/>
            <p:cNvCxnSpPr>
              <a:cxnSpLocks noChangeShapeType="1"/>
              <a:stCxn id="0" idx="5"/>
              <a:endCxn id="0" idx="1"/>
            </p:cNvCxnSpPr>
            <p:nvPr/>
          </p:nvCxnSpPr>
          <p:spPr bwMode="auto">
            <a:xfrm rot="16200000" flipH="1">
              <a:off x="7999229" y="4570213"/>
              <a:ext cx="360780" cy="5036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</p:spPr>
        </p:cxnSp>
        <p:cxnSp>
          <p:nvCxnSpPr>
            <p:cNvPr id="55381" name="直接连接符 42"/>
            <p:cNvCxnSpPr>
              <a:cxnSpLocks noChangeShapeType="1"/>
              <a:stCxn id="0" idx="7"/>
              <a:endCxn id="0" idx="3"/>
            </p:cNvCxnSpPr>
            <p:nvPr/>
          </p:nvCxnSpPr>
          <p:spPr bwMode="auto">
            <a:xfrm rot="5400000" flipH="1" flipV="1">
              <a:off x="7249130" y="5034560"/>
              <a:ext cx="860846" cy="15037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</p:spPr>
        </p:cxnSp>
        <p:cxnSp>
          <p:nvCxnSpPr>
            <p:cNvPr id="55382" name="直接连接符 46"/>
            <p:cNvCxnSpPr>
              <a:cxnSpLocks noChangeShapeType="1"/>
              <a:stCxn id="0" idx="5"/>
              <a:endCxn id="0" idx="1"/>
            </p:cNvCxnSpPr>
            <p:nvPr/>
          </p:nvCxnSpPr>
          <p:spPr bwMode="auto">
            <a:xfrm rot="16200000" flipH="1">
              <a:off x="5641775" y="5284593"/>
              <a:ext cx="860846" cy="100372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</p:spPr>
        </p:cxnSp>
        <p:sp>
          <p:nvSpPr>
            <p:cNvPr id="55383" name="任意多边形 54"/>
            <p:cNvSpPr/>
            <p:nvPr/>
          </p:nvSpPr>
          <p:spPr bwMode="auto">
            <a:xfrm>
              <a:off x="4509105" y="3933371"/>
              <a:ext cx="1993295" cy="2481943"/>
            </a:xfrm>
            <a:custGeom>
              <a:avLst/>
              <a:gdLst>
                <a:gd name="T0" fmla="*/ 1964266 w 1993295"/>
                <a:gd name="T1" fmla="*/ 0 h 2481943"/>
                <a:gd name="T2" fmla="*/ 4838 w 1993295"/>
                <a:gd name="T3" fmla="*/ 1219200 h 2481943"/>
                <a:gd name="T4" fmla="*/ 1993295 w 1993295"/>
                <a:gd name="T5" fmla="*/ 2481943 h 2481943"/>
                <a:gd name="T6" fmla="*/ 1993295 w 1993295"/>
                <a:gd name="T7" fmla="*/ 2481943 h 24819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93295" h="2481943">
                  <a:moveTo>
                    <a:pt x="1964266" y="0"/>
                  </a:moveTo>
                  <a:cubicBezTo>
                    <a:pt x="982133" y="402771"/>
                    <a:pt x="0" y="805543"/>
                    <a:pt x="4838" y="1219200"/>
                  </a:cubicBezTo>
                  <a:cubicBezTo>
                    <a:pt x="9676" y="1632857"/>
                    <a:pt x="1993295" y="2481943"/>
                    <a:pt x="1993295" y="2481943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5384" name="任意多边形 56"/>
            <p:cNvSpPr/>
            <p:nvPr/>
          </p:nvSpPr>
          <p:spPr bwMode="auto">
            <a:xfrm>
              <a:off x="6894286" y="3773714"/>
              <a:ext cx="1756228" cy="1132115"/>
            </a:xfrm>
            <a:custGeom>
              <a:avLst/>
              <a:gdLst>
                <a:gd name="T0" fmla="*/ 0 w 1756228"/>
                <a:gd name="T1" fmla="*/ 0 h 1132115"/>
                <a:gd name="T2" fmla="*/ 1291771 w 1756228"/>
                <a:gd name="T3" fmla="*/ 101600 h 1132115"/>
                <a:gd name="T4" fmla="*/ 1756228 w 1756228"/>
                <a:gd name="T5" fmla="*/ 1132115 h 11321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56228" h="1132115">
                  <a:moveTo>
                    <a:pt x="0" y="0"/>
                  </a:moveTo>
                  <a:lnTo>
                    <a:pt x="1291771" y="101600"/>
                  </a:lnTo>
                  <a:cubicBezTo>
                    <a:pt x="1584476" y="290286"/>
                    <a:pt x="1670352" y="711200"/>
                    <a:pt x="1756228" y="11321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 bwMode="auto">
          <a:xfrm>
            <a:off x="1182688" y="4889500"/>
            <a:ext cx="3686175" cy="1370013"/>
            <a:chOff x="1183352" y="4890116"/>
            <a:chExt cx="3684803" cy="1370145"/>
          </a:xfrm>
        </p:grpSpPr>
        <p:sp>
          <p:nvSpPr>
            <p:cNvPr id="55353" name="下弧形箭头 59"/>
            <p:cNvSpPr>
              <a:spLocks noChangeArrowheads="1"/>
            </p:cNvSpPr>
            <p:nvPr/>
          </p:nvSpPr>
          <p:spPr bwMode="auto">
            <a:xfrm rot="2021231">
              <a:off x="2114095" y="4890116"/>
              <a:ext cx="2754060" cy="1053868"/>
            </a:xfrm>
            <a:prstGeom prst="curvedUpArrow">
              <a:avLst>
                <a:gd name="adj1" fmla="val 36768"/>
                <a:gd name="adj2" fmla="val 88549"/>
                <a:gd name="adj3" fmla="val 25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354" name="TextBox 60"/>
            <p:cNvSpPr txBox="1">
              <a:spLocks noChangeArrowheads="1"/>
            </p:cNvSpPr>
            <p:nvPr/>
          </p:nvSpPr>
          <p:spPr bwMode="auto">
            <a:xfrm>
              <a:off x="1183352" y="5429264"/>
              <a:ext cx="203132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pPr algn="ctr"/>
              <a:r>
                <a:rPr lang="zh-CN" altLang="en-US" sz="2400">
                  <a:solidFill>
                    <a:srgbClr val="C00000"/>
                  </a:solidFill>
                </a:rPr>
                <a:t>区域图</a:t>
              </a:r>
              <a:endParaRPr lang="en-US" altLang="zh-CN" sz="2400">
                <a:solidFill>
                  <a:srgbClr val="C00000"/>
                </a:solidFill>
              </a:endParaRPr>
            </a:p>
            <a:p>
              <a:pPr algn="ctr"/>
              <a:r>
                <a:rPr lang="zh-CN" altLang="en-US" sz="2400">
                  <a:solidFill>
                    <a:srgbClr val="C00000"/>
                  </a:solidFill>
                </a:rPr>
                <a:t>抽象为平面图</a:t>
              </a:r>
              <a:endParaRPr lang="zh-CN" altLang="en-US" sz="240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组合 107"/>
          <p:cNvGrpSpPr/>
          <p:nvPr/>
        </p:nvGrpSpPr>
        <p:grpSpPr bwMode="auto">
          <a:xfrm>
            <a:off x="4214813" y="2000250"/>
            <a:ext cx="4214812" cy="3929063"/>
            <a:chOff x="4143372" y="1643050"/>
            <a:chExt cx="714380" cy="3929090"/>
          </a:xfrm>
        </p:grpSpPr>
        <p:cxnSp>
          <p:nvCxnSpPr>
            <p:cNvPr id="56438" name="直接连接符 97"/>
            <p:cNvCxnSpPr>
              <a:cxnSpLocks noChangeShapeType="1"/>
            </p:cNvCxnSpPr>
            <p:nvPr/>
          </p:nvCxnSpPr>
          <p:spPr bwMode="auto">
            <a:xfrm rot="5400000" flipH="1" flipV="1">
              <a:off x="2178827" y="3607595"/>
              <a:ext cx="392909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</a:ln>
          </p:spPr>
        </p:cxnSp>
        <p:cxnSp>
          <p:nvCxnSpPr>
            <p:cNvPr id="99" name="直接连接符 98"/>
            <p:cNvCxnSpPr/>
            <p:nvPr/>
          </p:nvCxnSpPr>
          <p:spPr bwMode="auto">
            <a:xfrm rot="10800000">
              <a:off x="4143372" y="1643050"/>
              <a:ext cx="7143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/>
          </p:nvCxnSpPr>
          <p:spPr bwMode="auto">
            <a:xfrm rot="10800000">
              <a:off x="4143372" y="2285992"/>
              <a:ext cx="7143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/>
            <p:cNvCxnSpPr/>
            <p:nvPr/>
          </p:nvCxnSpPr>
          <p:spPr bwMode="auto">
            <a:xfrm rot="10800000">
              <a:off x="4143372" y="3143248"/>
              <a:ext cx="7143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/>
          </p:nvCxnSpPr>
          <p:spPr bwMode="auto">
            <a:xfrm rot="10800000">
              <a:off x="4143372" y="3929066"/>
              <a:ext cx="7143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/>
          </p:nvCxnSpPr>
          <p:spPr bwMode="auto">
            <a:xfrm rot="10800000">
              <a:off x="4143372" y="4786322"/>
              <a:ext cx="7143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/>
            <p:cNvCxnSpPr/>
            <p:nvPr/>
          </p:nvCxnSpPr>
          <p:spPr bwMode="auto">
            <a:xfrm rot="10800000">
              <a:off x="4143372" y="5572140"/>
              <a:ext cx="7143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6323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图的</a:t>
            </a:r>
            <a:r>
              <a:rPr lang="en-US" altLang="zh-CN" dirty="0" smtClean="0"/>
              <a:t>m</a:t>
            </a:r>
            <a:r>
              <a:rPr lang="zh-CN" altLang="en-US" dirty="0" smtClean="0"/>
              <a:t>着色问题</a:t>
            </a:r>
            <a:endParaRPr lang="zh-CN" altLang="en-US" dirty="0" smtClean="0"/>
          </a:p>
        </p:txBody>
      </p:sp>
      <p:sp>
        <p:nvSpPr>
          <p:cNvPr id="56324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6176963" cy="1728788"/>
          </a:xfrm>
        </p:spPr>
        <p:txBody>
          <a:bodyPr/>
          <a:lstStyle/>
          <a:p>
            <a:pPr lvl="1"/>
            <a:r>
              <a:rPr lang="zh-CN" altLang="en-US" smtClean="0"/>
              <a:t>例 三着色图</a:t>
            </a:r>
            <a:endParaRPr lang="en-US" altLang="zh-CN" smtClean="0"/>
          </a:p>
          <a:p>
            <a:pPr lvl="2"/>
            <a:r>
              <a:rPr lang="zh-CN" altLang="en-US" smtClean="0"/>
              <a:t>总结点数为</a:t>
            </a:r>
            <a:r>
              <a:rPr lang="en-US" altLang="zh-CN" smtClean="0">
                <a:solidFill>
                  <a:srgbClr val="0000FF"/>
                </a:solidFill>
              </a:rPr>
              <a:t>1+3+9+27+81+243=364</a:t>
            </a:r>
            <a:endParaRPr lang="en-US" altLang="zh-CN" smtClean="0">
              <a:solidFill>
                <a:srgbClr val="0000FF"/>
              </a:solidFill>
            </a:endParaRPr>
          </a:p>
          <a:p>
            <a:pPr lvl="2"/>
            <a:r>
              <a:rPr lang="zh-CN" altLang="en-US" smtClean="0"/>
              <a:t>搜索</a:t>
            </a:r>
            <a:r>
              <a:rPr lang="en-US" altLang="zh-CN" smtClean="0">
                <a:solidFill>
                  <a:srgbClr val="0000FF"/>
                </a:solidFill>
              </a:rPr>
              <a:t>14</a:t>
            </a:r>
            <a:r>
              <a:rPr lang="zh-CN" altLang="en-US" smtClean="0"/>
              <a:t>个结点</a:t>
            </a:r>
            <a:endParaRPr lang="zh-CN" altLang="en-US" smtClean="0"/>
          </a:p>
        </p:txBody>
      </p:sp>
      <p:sp>
        <p:nvSpPr>
          <p:cNvPr id="4" name="椭圆 3"/>
          <p:cNvSpPr/>
          <p:nvPr/>
        </p:nvSpPr>
        <p:spPr bwMode="auto">
          <a:xfrm>
            <a:off x="1357290" y="3857628"/>
            <a:ext cx="714380" cy="714380"/>
          </a:xfrm>
          <a:prstGeom prst="ellipse">
            <a:avLst/>
          </a:prstGeom>
          <a:solidFill>
            <a:srgbClr val="0066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endParaRPr lang="zh-CN" altLang="en-US" sz="2800" b="1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1357290" y="5000636"/>
            <a:ext cx="714380" cy="714380"/>
          </a:xfrm>
          <a:prstGeom prst="ellipse">
            <a:avLst/>
          </a:prstGeom>
          <a:solidFill>
            <a:srgbClr val="0066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endParaRPr lang="zh-CN" altLang="en-US" sz="2800" b="1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571736" y="3857628"/>
            <a:ext cx="714380" cy="714380"/>
          </a:xfrm>
          <a:prstGeom prst="ellipse">
            <a:avLst/>
          </a:prstGeom>
          <a:solidFill>
            <a:srgbClr val="0066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endParaRPr lang="zh-CN" altLang="en-US" sz="2800" b="1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2571736" y="5000636"/>
            <a:ext cx="714380" cy="714380"/>
          </a:xfrm>
          <a:prstGeom prst="ellipse">
            <a:avLst/>
          </a:prstGeom>
          <a:solidFill>
            <a:srgbClr val="0066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E</a:t>
            </a:r>
            <a:endParaRPr lang="zh-CN" altLang="en-US" sz="2800" b="1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71736" y="2500306"/>
            <a:ext cx="714380" cy="714380"/>
          </a:xfrm>
          <a:prstGeom prst="ellipse">
            <a:avLst/>
          </a:prstGeom>
          <a:solidFill>
            <a:srgbClr val="0066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endParaRPr lang="zh-CN" altLang="en-US" sz="2800" b="1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56340" name="直接连接符 9"/>
          <p:cNvCxnSpPr>
            <a:cxnSpLocks noChangeShapeType="1"/>
            <a:stCxn id="0" idx="4"/>
            <a:endCxn id="0" idx="0"/>
          </p:cNvCxnSpPr>
          <p:nvPr/>
        </p:nvCxnSpPr>
        <p:spPr bwMode="auto">
          <a:xfrm rot="5400000">
            <a:off x="2607469" y="3536157"/>
            <a:ext cx="64293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41" name="直接连接符 10"/>
          <p:cNvCxnSpPr>
            <a:cxnSpLocks noChangeShapeType="1"/>
            <a:stCxn id="0" idx="4"/>
            <a:endCxn id="0" idx="0"/>
          </p:cNvCxnSpPr>
          <p:nvPr/>
        </p:nvCxnSpPr>
        <p:spPr bwMode="auto">
          <a:xfrm rot="5400000">
            <a:off x="2714625" y="4786313"/>
            <a:ext cx="4286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</p:spPr>
      </p:cxnSp>
      <p:cxnSp>
        <p:nvCxnSpPr>
          <p:cNvPr id="56342" name="直接连接符 13"/>
          <p:cNvCxnSpPr>
            <a:cxnSpLocks noChangeShapeType="1"/>
            <a:stCxn id="0" idx="6"/>
            <a:endCxn id="0" idx="2"/>
          </p:cNvCxnSpPr>
          <p:nvPr/>
        </p:nvCxnSpPr>
        <p:spPr bwMode="auto">
          <a:xfrm>
            <a:off x="2071688" y="5357813"/>
            <a:ext cx="500062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</p:spPr>
      </p:cxnSp>
      <p:cxnSp>
        <p:nvCxnSpPr>
          <p:cNvPr id="56343" name="直接连接符 16"/>
          <p:cNvCxnSpPr>
            <a:cxnSpLocks noChangeShapeType="1"/>
            <a:stCxn id="0" idx="6"/>
            <a:endCxn id="0" idx="2"/>
          </p:cNvCxnSpPr>
          <p:nvPr/>
        </p:nvCxnSpPr>
        <p:spPr bwMode="auto">
          <a:xfrm>
            <a:off x="2071688" y="4214813"/>
            <a:ext cx="500062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</p:spPr>
      </p:cxnSp>
      <p:cxnSp>
        <p:nvCxnSpPr>
          <p:cNvPr id="56344" name="直接连接符 19"/>
          <p:cNvCxnSpPr>
            <a:cxnSpLocks noChangeShapeType="1"/>
            <a:stCxn id="0" idx="4"/>
            <a:endCxn id="0" idx="0"/>
          </p:cNvCxnSpPr>
          <p:nvPr/>
        </p:nvCxnSpPr>
        <p:spPr bwMode="auto">
          <a:xfrm rot="5400000">
            <a:off x="1500187" y="4786313"/>
            <a:ext cx="4286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</p:spPr>
      </p:cxnSp>
      <p:cxnSp>
        <p:nvCxnSpPr>
          <p:cNvPr id="56345" name="直接连接符 22"/>
          <p:cNvCxnSpPr>
            <a:cxnSpLocks noChangeShapeType="1"/>
            <a:stCxn id="0" idx="3"/>
            <a:endCxn id="0" idx="0"/>
          </p:cNvCxnSpPr>
          <p:nvPr/>
        </p:nvCxnSpPr>
        <p:spPr bwMode="auto">
          <a:xfrm rot="5400000">
            <a:off x="1821657" y="3002756"/>
            <a:ext cx="747712" cy="9620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46" name="直接连接符 26"/>
          <p:cNvCxnSpPr>
            <a:cxnSpLocks noChangeShapeType="1"/>
            <a:stCxn id="0" idx="1"/>
            <a:endCxn id="0" idx="5"/>
          </p:cNvCxnSpPr>
          <p:nvPr/>
        </p:nvCxnSpPr>
        <p:spPr bwMode="auto">
          <a:xfrm rot="16200000" flipV="1">
            <a:off x="2002631" y="4431507"/>
            <a:ext cx="638175" cy="709612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</a:ln>
        </p:spPr>
      </p:cxnSp>
      <p:sp>
        <p:nvSpPr>
          <p:cNvPr id="32" name="椭圆 31"/>
          <p:cNvSpPr/>
          <p:nvPr/>
        </p:nvSpPr>
        <p:spPr bwMode="auto">
          <a:xfrm>
            <a:off x="6786578" y="1857364"/>
            <a:ext cx="428628" cy="428628"/>
          </a:xfrm>
          <a:prstGeom prst="ellipse">
            <a:avLst/>
          </a:prstGeom>
          <a:solidFill>
            <a:srgbClr val="0066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1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椭圆 32"/>
          <p:cNvSpPr/>
          <p:nvPr/>
        </p:nvSpPr>
        <p:spPr bwMode="auto">
          <a:xfrm>
            <a:off x="6357950" y="2500306"/>
            <a:ext cx="428628" cy="428628"/>
          </a:xfrm>
          <a:prstGeom prst="ellipse">
            <a:avLst/>
          </a:prstGeom>
          <a:solidFill>
            <a:srgbClr val="0066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2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椭圆 33"/>
          <p:cNvSpPr/>
          <p:nvPr/>
        </p:nvSpPr>
        <p:spPr bwMode="auto">
          <a:xfrm>
            <a:off x="6357950" y="3286124"/>
            <a:ext cx="428628" cy="428628"/>
          </a:xfrm>
          <a:prstGeom prst="ellipse">
            <a:avLst/>
          </a:prstGeom>
          <a:solidFill>
            <a:srgbClr val="0066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4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椭圆 34"/>
          <p:cNvSpPr/>
          <p:nvPr/>
        </p:nvSpPr>
        <p:spPr bwMode="auto">
          <a:xfrm>
            <a:off x="6357950" y="4071942"/>
            <a:ext cx="428628" cy="428628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6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/>
        </p:nvSpPr>
        <p:spPr bwMode="auto">
          <a:xfrm>
            <a:off x="7000892" y="4071942"/>
            <a:ext cx="428628" cy="428628"/>
          </a:xfrm>
          <a:prstGeom prst="ellipse">
            <a:avLst/>
          </a:prstGeom>
          <a:solidFill>
            <a:srgbClr val="0066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7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 bwMode="auto">
          <a:xfrm>
            <a:off x="7000892" y="4929198"/>
            <a:ext cx="428628" cy="428628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9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椭圆 37"/>
          <p:cNvSpPr/>
          <p:nvPr/>
        </p:nvSpPr>
        <p:spPr bwMode="auto">
          <a:xfrm>
            <a:off x="6429388" y="4929198"/>
            <a:ext cx="428628" cy="428628"/>
          </a:xfrm>
          <a:prstGeom prst="ellipse">
            <a:avLst/>
          </a:prstGeom>
          <a:solidFill>
            <a:srgbClr val="0066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8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椭圆 38"/>
          <p:cNvSpPr/>
          <p:nvPr/>
        </p:nvSpPr>
        <p:spPr bwMode="auto">
          <a:xfrm>
            <a:off x="6357950" y="5786454"/>
            <a:ext cx="428628" cy="428628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13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椭圆 39"/>
          <p:cNvSpPr/>
          <p:nvPr/>
        </p:nvSpPr>
        <p:spPr bwMode="auto">
          <a:xfrm>
            <a:off x="5715008" y="5786454"/>
            <a:ext cx="428628" cy="428628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12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椭圆 40"/>
          <p:cNvSpPr/>
          <p:nvPr/>
        </p:nvSpPr>
        <p:spPr bwMode="auto">
          <a:xfrm>
            <a:off x="5000628" y="5786454"/>
            <a:ext cx="428628" cy="428628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11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椭圆 41"/>
          <p:cNvSpPr/>
          <p:nvPr/>
        </p:nvSpPr>
        <p:spPr bwMode="auto">
          <a:xfrm>
            <a:off x="7000892" y="5786454"/>
            <a:ext cx="428628" cy="428628"/>
          </a:xfrm>
          <a:prstGeom prst="ellipse">
            <a:avLst/>
          </a:prstGeom>
          <a:solidFill>
            <a:srgbClr val="0066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14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椭圆 42"/>
          <p:cNvSpPr/>
          <p:nvPr/>
        </p:nvSpPr>
        <p:spPr bwMode="auto">
          <a:xfrm>
            <a:off x="5715008" y="3286124"/>
            <a:ext cx="428628" cy="428628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3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椭圆 43"/>
          <p:cNvSpPr/>
          <p:nvPr/>
        </p:nvSpPr>
        <p:spPr bwMode="auto">
          <a:xfrm>
            <a:off x="5715008" y="4071942"/>
            <a:ext cx="428628" cy="428628"/>
          </a:xfrm>
          <a:prstGeom prst="ellipse">
            <a:avLst/>
          </a:prstGeom>
          <a:solidFill>
            <a:srgbClr val="C000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5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5" name="椭圆 44"/>
          <p:cNvSpPr/>
          <p:nvPr/>
        </p:nvSpPr>
        <p:spPr bwMode="auto">
          <a:xfrm>
            <a:off x="7572396" y="4929198"/>
            <a:ext cx="428628" cy="428628"/>
          </a:xfrm>
          <a:prstGeom prst="ellipse">
            <a:avLst/>
          </a:prstGeom>
          <a:solidFill>
            <a:srgbClr val="00660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</a:rPr>
              <a:t>10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49" name="直接连接符 48"/>
          <p:cNvCxnSpPr>
            <a:cxnSpLocks noChangeShapeType="1"/>
            <a:stCxn id="0" idx="3"/>
            <a:endCxn id="0" idx="0"/>
          </p:cNvCxnSpPr>
          <p:nvPr/>
        </p:nvCxnSpPr>
        <p:spPr bwMode="auto">
          <a:xfrm rot="5400000">
            <a:off x="5965032" y="2829719"/>
            <a:ext cx="420687" cy="4921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接连接符 54"/>
          <p:cNvCxnSpPr>
            <a:cxnSpLocks noChangeShapeType="1"/>
            <a:stCxn id="0" idx="4"/>
            <a:endCxn id="0" idx="0"/>
          </p:cNvCxnSpPr>
          <p:nvPr/>
        </p:nvCxnSpPr>
        <p:spPr bwMode="auto">
          <a:xfrm rot="5400000">
            <a:off x="6393656" y="3893344"/>
            <a:ext cx="35718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接连接符 57"/>
          <p:cNvCxnSpPr>
            <a:cxnSpLocks noChangeShapeType="1"/>
            <a:stCxn id="0" idx="4"/>
            <a:endCxn id="0" idx="0"/>
          </p:cNvCxnSpPr>
          <p:nvPr/>
        </p:nvCxnSpPr>
        <p:spPr bwMode="auto">
          <a:xfrm rot="5400000">
            <a:off x="7000875" y="4714876"/>
            <a:ext cx="4286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直接连接符 62"/>
          <p:cNvCxnSpPr>
            <a:cxnSpLocks noChangeShapeType="1"/>
            <a:stCxn id="0" idx="3"/>
            <a:endCxn id="0" idx="0"/>
          </p:cNvCxnSpPr>
          <p:nvPr/>
        </p:nvCxnSpPr>
        <p:spPr bwMode="auto">
          <a:xfrm rot="5400000">
            <a:off x="6607969" y="4472782"/>
            <a:ext cx="492125" cy="4206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直接连接符 71"/>
          <p:cNvCxnSpPr>
            <a:cxnSpLocks noChangeShapeType="1"/>
            <a:stCxn id="0" idx="3"/>
            <a:endCxn id="0" idx="0"/>
          </p:cNvCxnSpPr>
          <p:nvPr/>
        </p:nvCxnSpPr>
        <p:spPr bwMode="auto">
          <a:xfrm rot="5400000">
            <a:off x="5965032" y="3615531"/>
            <a:ext cx="420688" cy="4921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直接连接符 77"/>
          <p:cNvCxnSpPr>
            <a:cxnSpLocks noChangeShapeType="1"/>
            <a:stCxn id="0" idx="4"/>
            <a:endCxn id="0" idx="0"/>
          </p:cNvCxnSpPr>
          <p:nvPr/>
        </p:nvCxnSpPr>
        <p:spPr bwMode="auto">
          <a:xfrm rot="5400000">
            <a:off x="6393656" y="5536407"/>
            <a:ext cx="428625" cy="7143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" name="直接连接符 80"/>
          <p:cNvCxnSpPr>
            <a:cxnSpLocks noChangeShapeType="1"/>
            <a:stCxn id="0" idx="4"/>
            <a:endCxn id="0" idx="0"/>
          </p:cNvCxnSpPr>
          <p:nvPr/>
        </p:nvCxnSpPr>
        <p:spPr bwMode="auto">
          <a:xfrm rot="5400000">
            <a:off x="6072188" y="5214938"/>
            <a:ext cx="428625" cy="7143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" name="直接连接符 83"/>
          <p:cNvCxnSpPr>
            <a:cxnSpLocks noChangeShapeType="1"/>
            <a:stCxn id="0" idx="4"/>
            <a:endCxn id="0" idx="0"/>
          </p:cNvCxnSpPr>
          <p:nvPr/>
        </p:nvCxnSpPr>
        <p:spPr bwMode="auto">
          <a:xfrm rot="5400000">
            <a:off x="5715000" y="4857751"/>
            <a:ext cx="428625" cy="14287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4" name="组合 113"/>
          <p:cNvGrpSpPr/>
          <p:nvPr/>
        </p:nvGrpSpPr>
        <p:grpSpPr bwMode="auto">
          <a:xfrm>
            <a:off x="6572250" y="2222500"/>
            <a:ext cx="785813" cy="420688"/>
            <a:chOff x="6572265" y="2223221"/>
            <a:chExt cx="785817" cy="419961"/>
          </a:xfrm>
        </p:grpSpPr>
        <p:cxnSp>
          <p:nvCxnSpPr>
            <p:cNvPr id="56436" name="直接连接符 45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6572265" y="2223221"/>
              <a:ext cx="277085" cy="27708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437" name="TextBox 90"/>
            <p:cNvSpPr txBox="1">
              <a:spLocks noChangeArrowheads="1"/>
            </p:cNvSpPr>
            <p:nvPr/>
          </p:nvSpPr>
          <p:spPr bwMode="auto">
            <a:xfrm>
              <a:off x="6681294" y="2273850"/>
              <a:ext cx="6767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A=1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5" name="组合 114"/>
          <p:cNvGrpSpPr/>
          <p:nvPr/>
        </p:nvGrpSpPr>
        <p:grpSpPr bwMode="auto">
          <a:xfrm>
            <a:off x="6572250" y="2928938"/>
            <a:ext cx="660400" cy="369887"/>
            <a:chOff x="6572264" y="2928934"/>
            <a:chExt cx="660758" cy="369332"/>
          </a:xfrm>
        </p:grpSpPr>
        <p:cxnSp>
          <p:nvCxnSpPr>
            <p:cNvPr id="56434" name="直接连接符 51"/>
            <p:cNvCxnSpPr>
              <a:cxnSpLocks noChangeShapeType="1"/>
              <a:stCxn id="0" idx="4"/>
              <a:endCxn id="0" idx="0"/>
            </p:cNvCxnSpPr>
            <p:nvPr/>
          </p:nvCxnSpPr>
          <p:spPr bwMode="auto">
            <a:xfrm rot="5400000">
              <a:off x="6393669" y="3107529"/>
              <a:ext cx="35719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435" name="TextBox 91"/>
            <p:cNvSpPr txBox="1">
              <a:spLocks noChangeArrowheads="1"/>
            </p:cNvSpPr>
            <p:nvPr/>
          </p:nvSpPr>
          <p:spPr bwMode="auto">
            <a:xfrm>
              <a:off x="6572264" y="2928934"/>
              <a:ext cx="66075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B=2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6" name="组合 115"/>
          <p:cNvGrpSpPr/>
          <p:nvPr/>
        </p:nvGrpSpPr>
        <p:grpSpPr bwMode="auto">
          <a:xfrm>
            <a:off x="6723063" y="3571875"/>
            <a:ext cx="795337" cy="500063"/>
            <a:chOff x="6723807" y="3571876"/>
            <a:chExt cx="794967" cy="500065"/>
          </a:xfrm>
        </p:grpSpPr>
        <p:cxnSp>
          <p:nvCxnSpPr>
            <p:cNvPr id="56432" name="直接连接符 68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6759526" y="3616261"/>
              <a:ext cx="419961" cy="49139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433" name="TextBox 92"/>
            <p:cNvSpPr txBox="1">
              <a:spLocks noChangeArrowheads="1"/>
            </p:cNvSpPr>
            <p:nvPr/>
          </p:nvSpPr>
          <p:spPr bwMode="auto">
            <a:xfrm>
              <a:off x="6858016" y="3571876"/>
              <a:ext cx="66075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C=3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 bwMode="auto">
          <a:xfrm>
            <a:off x="7366000" y="4429125"/>
            <a:ext cx="820738" cy="500063"/>
            <a:chOff x="7366749" y="4429132"/>
            <a:chExt cx="820615" cy="500065"/>
          </a:xfrm>
        </p:grpSpPr>
        <p:cxnSp>
          <p:nvCxnSpPr>
            <p:cNvPr id="56430" name="直接连接符 65"/>
            <p:cNvCxnSpPr>
              <a:cxnSpLocks noChangeShapeType="1"/>
              <a:stCxn id="0" idx="5"/>
              <a:endCxn id="0" idx="0"/>
            </p:cNvCxnSpPr>
            <p:nvPr/>
          </p:nvCxnSpPr>
          <p:spPr bwMode="auto">
            <a:xfrm rot="16200000" flipH="1">
              <a:off x="7331030" y="4473517"/>
              <a:ext cx="491399" cy="41996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431" name="TextBox 93"/>
            <p:cNvSpPr txBox="1">
              <a:spLocks noChangeArrowheads="1"/>
            </p:cNvSpPr>
            <p:nvPr/>
          </p:nvSpPr>
          <p:spPr bwMode="auto">
            <a:xfrm>
              <a:off x="7500958" y="4429132"/>
              <a:ext cx="6864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D=3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8" name="组合 117"/>
          <p:cNvGrpSpPr/>
          <p:nvPr/>
        </p:nvGrpSpPr>
        <p:grpSpPr bwMode="auto">
          <a:xfrm>
            <a:off x="7215188" y="5294313"/>
            <a:ext cx="849312" cy="504825"/>
            <a:chOff x="7215207" y="5295055"/>
            <a:chExt cx="849423" cy="503541"/>
          </a:xfrm>
        </p:grpSpPr>
        <p:cxnSp>
          <p:nvCxnSpPr>
            <p:cNvPr id="56428" name="直接连接符 74"/>
            <p:cNvCxnSpPr>
              <a:cxnSpLocks noChangeShapeType="1"/>
              <a:stCxn id="0" idx="3"/>
              <a:endCxn id="0" idx="0"/>
            </p:cNvCxnSpPr>
            <p:nvPr/>
          </p:nvCxnSpPr>
          <p:spPr bwMode="auto">
            <a:xfrm rot="5400000">
              <a:off x="7179488" y="5330774"/>
              <a:ext cx="491399" cy="41996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429" name="TextBox 94"/>
            <p:cNvSpPr txBox="1">
              <a:spLocks noChangeArrowheads="1"/>
            </p:cNvSpPr>
            <p:nvPr/>
          </p:nvSpPr>
          <p:spPr bwMode="auto">
            <a:xfrm>
              <a:off x="7429520" y="5429264"/>
              <a:ext cx="6351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olas" panose="020B0609020204030204" pitchFamily="49" charset="0"/>
                  <a:ea typeface="微软雅黑" panose="020B0503020204020204" pitchFamily="34" charset="-122"/>
                </a:defRPr>
              </a:lvl9pPr>
            </a:lstStyle>
            <a:p>
              <a:r>
                <a:rPr lang="en-US" altLang="zh-CN" b="1">
                  <a:solidFill>
                    <a:srgbClr val="0000FF"/>
                  </a:solidFill>
                  <a:latin typeface="微软雅黑" panose="020B0503020204020204" pitchFamily="34" charset="-122"/>
                </a:rPr>
                <a:t>E=1</a:t>
              </a:r>
              <a:endParaRPr lang="zh-CN" altLang="en-US" b="1">
                <a:solidFill>
                  <a:srgbClr val="0000FF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56402" name="TextBox 108"/>
          <p:cNvSpPr txBox="1">
            <a:spLocks noChangeArrowheads="1"/>
          </p:cNvSpPr>
          <p:nvPr/>
        </p:nvSpPr>
        <p:spPr bwMode="auto">
          <a:xfrm>
            <a:off x="4357688" y="2143125"/>
            <a:ext cx="415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b="1">
                <a:solidFill>
                  <a:srgbClr val="006600"/>
                </a:solidFill>
                <a:latin typeface="微软雅黑" panose="020B0503020204020204" pitchFamily="34" charset="-122"/>
              </a:rPr>
              <a:t>A</a:t>
            </a:r>
            <a:endParaRPr lang="zh-CN" altLang="en-US" sz="2400" b="1">
              <a:solidFill>
                <a:srgbClr val="0066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403" name="TextBox 109"/>
          <p:cNvSpPr txBox="1">
            <a:spLocks noChangeArrowheads="1"/>
          </p:cNvSpPr>
          <p:nvPr/>
        </p:nvSpPr>
        <p:spPr bwMode="auto">
          <a:xfrm>
            <a:off x="4357688" y="2857500"/>
            <a:ext cx="395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b="1">
                <a:solidFill>
                  <a:srgbClr val="006600"/>
                </a:solidFill>
                <a:latin typeface="微软雅黑" panose="020B0503020204020204" pitchFamily="34" charset="-122"/>
              </a:rPr>
              <a:t>B</a:t>
            </a:r>
            <a:endParaRPr lang="zh-CN" altLang="en-US" sz="2400" b="1">
              <a:solidFill>
                <a:srgbClr val="0066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404" name="TextBox 110"/>
          <p:cNvSpPr txBox="1">
            <a:spLocks noChangeArrowheads="1"/>
          </p:cNvSpPr>
          <p:nvPr/>
        </p:nvSpPr>
        <p:spPr bwMode="auto">
          <a:xfrm>
            <a:off x="4357688" y="3643313"/>
            <a:ext cx="392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b="1">
                <a:solidFill>
                  <a:srgbClr val="006600"/>
                </a:solidFill>
                <a:latin typeface="微软雅黑" panose="020B0503020204020204" pitchFamily="34" charset="-122"/>
              </a:rPr>
              <a:t>C</a:t>
            </a:r>
            <a:endParaRPr lang="zh-CN" altLang="en-US" sz="2400" b="1">
              <a:solidFill>
                <a:srgbClr val="0066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405" name="TextBox 111"/>
          <p:cNvSpPr txBox="1">
            <a:spLocks noChangeArrowheads="1"/>
          </p:cNvSpPr>
          <p:nvPr/>
        </p:nvSpPr>
        <p:spPr bwMode="auto">
          <a:xfrm>
            <a:off x="4357688" y="4500563"/>
            <a:ext cx="428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b="1">
                <a:solidFill>
                  <a:srgbClr val="006600"/>
                </a:solidFill>
                <a:latin typeface="微软雅黑" panose="020B0503020204020204" pitchFamily="34" charset="-122"/>
              </a:rPr>
              <a:t>D</a:t>
            </a:r>
            <a:endParaRPr lang="zh-CN" altLang="en-US" sz="2400" b="1">
              <a:solidFill>
                <a:srgbClr val="0066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406" name="TextBox 112"/>
          <p:cNvSpPr txBox="1">
            <a:spLocks noChangeArrowheads="1"/>
          </p:cNvSpPr>
          <p:nvPr/>
        </p:nvSpPr>
        <p:spPr bwMode="auto">
          <a:xfrm>
            <a:off x="4357688" y="5286375"/>
            <a:ext cx="360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b="1">
                <a:solidFill>
                  <a:srgbClr val="006600"/>
                </a:solidFill>
                <a:latin typeface="微软雅黑" panose="020B0503020204020204" pitchFamily="34" charset="-122"/>
              </a:rPr>
              <a:t>E</a:t>
            </a:r>
            <a:endParaRPr lang="zh-CN" altLang="en-US" sz="2400" b="1">
              <a:solidFill>
                <a:srgbClr val="0066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9" name="圆角矩形标注 118"/>
          <p:cNvSpPr/>
          <p:nvPr/>
        </p:nvSpPr>
        <p:spPr bwMode="auto">
          <a:xfrm>
            <a:off x="7429488" y="1142984"/>
            <a:ext cx="1714512" cy="428628"/>
          </a:xfrm>
          <a:prstGeom prst="wedgeRoundRectCallout">
            <a:avLst>
              <a:gd name="adj1" fmla="val -63528"/>
              <a:gd name="adj2" fmla="val 115019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X=[0,0,0,0,0]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0" name="圆角矩形标注 119"/>
          <p:cNvSpPr/>
          <p:nvPr/>
        </p:nvSpPr>
        <p:spPr bwMode="auto">
          <a:xfrm>
            <a:off x="7429488" y="2143116"/>
            <a:ext cx="1714512" cy="428628"/>
          </a:xfrm>
          <a:prstGeom prst="wedgeRoundRectCallout">
            <a:avLst>
              <a:gd name="adj1" fmla="val -57602"/>
              <a:gd name="adj2" fmla="val 3274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X=[1,0,0,0,0]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1" name="圆角矩形标注 120"/>
          <p:cNvSpPr/>
          <p:nvPr/>
        </p:nvSpPr>
        <p:spPr bwMode="auto">
          <a:xfrm>
            <a:off x="4071934" y="2571744"/>
            <a:ext cx="1714512" cy="428628"/>
          </a:xfrm>
          <a:prstGeom prst="wedgeRoundRectCallout">
            <a:avLst>
              <a:gd name="adj1" fmla="val 49911"/>
              <a:gd name="adj2" fmla="val 101475"/>
              <a:gd name="adj3" fmla="val 16667"/>
            </a:avLst>
          </a:prstGeom>
          <a:solidFill>
            <a:srgbClr val="7030A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FF00"/>
                </a:solidFill>
                <a:latin typeface="微软雅黑" panose="020B0503020204020204" pitchFamily="34" charset="-122"/>
              </a:rPr>
              <a:t>X=[1,1,0,0,0]</a:t>
            </a:r>
            <a:endParaRPr lang="zh-CN" altLang="en-US" b="1" dirty="0">
              <a:solidFill>
                <a:srgbClr val="00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2" name="圆角矩形标注 121"/>
          <p:cNvSpPr/>
          <p:nvPr/>
        </p:nvSpPr>
        <p:spPr bwMode="auto">
          <a:xfrm>
            <a:off x="7429488" y="3000372"/>
            <a:ext cx="1714512" cy="428628"/>
          </a:xfrm>
          <a:prstGeom prst="wedgeRoundRectCallout">
            <a:avLst>
              <a:gd name="adj1" fmla="val -66914"/>
              <a:gd name="adj2" fmla="val 37136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X=[1,2,0,0,0]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3" name="圆角矩形标注 122"/>
          <p:cNvSpPr/>
          <p:nvPr/>
        </p:nvSpPr>
        <p:spPr bwMode="auto">
          <a:xfrm>
            <a:off x="7429488" y="3643314"/>
            <a:ext cx="1714512" cy="428628"/>
          </a:xfrm>
          <a:prstGeom prst="wedgeRoundRectCallout">
            <a:avLst>
              <a:gd name="adj1" fmla="val -56755"/>
              <a:gd name="adj2" fmla="val 40522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X=[1,2,3,0,0]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4" name="圆角矩形标注 123"/>
          <p:cNvSpPr/>
          <p:nvPr/>
        </p:nvSpPr>
        <p:spPr bwMode="auto">
          <a:xfrm>
            <a:off x="4000496" y="4857760"/>
            <a:ext cx="1714512" cy="428628"/>
          </a:xfrm>
          <a:prstGeom prst="wedgeRoundRectCallout">
            <a:avLst>
              <a:gd name="adj1" fmla="val 88006"/>
              <a:gd name="adj2" fmla="val -33974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X=[1,2,3,1,0]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5" name="圆角矩形标注 124"/>
          <p:cNvSpPr/>
          <p:nvPr/>
        </p:nvSpPr>
        <p:spPr bwMode="auto">
          <a:xfrm>
            <a:off x="7429488" y="6143644"/>
            <a:ext cx="1714512" cy="428628"/>
          </a:xfrm>
          <a:prstGeom prst="wedgeRoundRectCallout">
            <a:avLst>
              <a:gd name="adj1" fmla="val -53368"/>
              <a:gd name="adj2" fmla="val -50906"/>
              <a:gd name="adj3" fmla="val 16667"/>
            </a:avLst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</a:rPr>
              <a:t>X=[1,2,3,3,1]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图的</a:t>
            </a:r>
            <a:r>
              <a:rPr lang="en-US" altLang="zh-CN" dirty="0" smtClean="0"/>
              <a:t>m</a:t>
            </a:r>
            <a:r>
              <a:rPr lang="zh-CN" altLang="en-US" dirty="0" smtClean="0"/>
              <a:t>着色问题</a:t>
            </a:r>
            <a:endParaRPr lang="zh-CN" altLang="en-US" dirty="0" smtClean="0"/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 </a:t>
            </a:r>
            <a:r>
              <a:rPr lang="zh-CN" altLang="en-US" dirty="0" smtClean="0"/>
              <a:t>问题分析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解向量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0000FF"/>
                </a:solidFill>
              </a:rPr>
              <a:t>(x</a:t>
            </a:r>
            <a:r>
              <a:rPr lang="en-US" altLang="zh-CN" baseline="-25000" dirty="0" smtClean="0">
                <a:solidFill>
                  <a:srgbClr val="0000FF"/>
                </a:solidFill>
              </a:rPr>
              <a:t>1</a:t>
            </a:r>
            <a:r>
              <a:rPr lang="en-US" altLang="zh-CN" dirty="0" smtClean="0">
                <a:solidFill>
                  <a:srgbClr val="0000FF"/>
                </a:solidFill>
              </a:rPr>
              <a:t>, x</a:t>
            </a:r>
            <a:r>
              <a:rPr lang="en-US" altLang="zh-CN" baseline="-25000" dirty="0" smtClean="0">
                <a:solidFill>
                  <a:srgbClr val="0000FF"/>
                </a:solidFill>
              </a:rPr>
              <a:t>2</a:t>
            </a:r>
            <a:r>
              <a:rPr lang="en-US" altLang="zh-CN" dirty="0" smtClean="0">
                <a:solidFill>
                  <a:srgbClr val="0000FF"/>
                </a:solidFill>
              </a:rPr>
              <a:t>, … , </a:t>
            </a:r>
            <a:r>
              <a:rPr lang="en-US" altLang="zh-CN" dirty="0" err="1" smtClean="0">
                <a:solidFill>
                  <a:srgbClr val="0000FF"/>
                </a:solidFill>
              </a:rPr>
              <a:t>x</a:t>
            </a:r>
            <a:r>
              <a:rPr lang="en-US" altLang="zh-CN" baseline="-25000" dirty="0" err="1" smtClean="0">
                <a:solidFill>
                  <a:srgbClr val="0000FF"/>
                </a:solidFill>
              </a:rPr>
              <a:t>n</a:t>
            </a:r>
            <a:r>
              <a:rPr lang="en-US" altLang="zh-CN" dirty="0" smtClean="0">
                <a:solidFill>
                  <a:srgbClr val="0000FF"/>
                </a:solidFill>
              </a:rPr>
              <a:t>)</a:t>
            </a:r>
            <a:r>
              <a:rPr lang="zh-CN" altLang="en-US" dirty="0" smtClean="0"/>
              <a:t>表示顶点</a:t>
            </a:r>
            <a:r>
              <a:rPr lang="en-US" altLang="zh-CN" dirty="0" err="1" smtClean="0">
                <a:solidFill>
                  <a:srgbClr val="0000FF"/>
                </a:solidFill>
              </a:rPr>
              <a:t>i</a:t>
            </a:r>
            <a:r>
              <a:rPr lang="zh-CN" altLang="en-US" dirty="0" smtClean="0"/>
              <a:t>所着颜色</a:t>
            </a:r>
            <a:r>
              <a:rPr lang="en-US" altLang="zh-CN" dirty="0" smtClean="0">
                <a:solidFill>
                  <a:srgbClr val="0000FF"/>
                </a:solidFill>
              </a:rPr>
              <a:t>x[</a:t>
            </a:r>
            <a:r>
              <a:rPr lang="en-US" altLang="zh-CN" dirty="0" err="1" smtClean="0">
                <a:solidFill>
                  <a:srgbClr val="0000FF"/>
                </a:solidFill>
              </a:rPr>
              <a:t>i</a:t>
            </a:r>
            <a:r>
              <a:rPr lang="en-US" altLang="zh-CN" dirty="0" smtClean="0">
                <a:solidFill>
                  <a:srgbClr val="0000FF"/>
                </a:solidFill>
              </a:rPr>
              <a:t>] 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dirty="0" smtClean="0"/>
              <a:t>可行性约束函数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顶点</a:t>
            </a:r>
            <a:r>
              <a:rPr lang="en-US" altLang="zh-CN" dirty="0" err="1" smtClean="0">
                <a:solidFill>
                  <a:srgbClr val="0000FF"/>
                </a:solidFill>
              </a:rPr>
              <a:t>i</a:t>
            </a:r>
            <a:r>
              <a:rPr lang="zh-CN" altLang="en-US" dirty="0" smtClean="0"/>
              <a:t>与已着色的相邻顶点颜色</a:t>
            </a:r>
            <a:r>
              <a:rPr lang="zh-CN" altLang="en-US" dirty="0" smtClean="0">
                <a:solidFill>
                  <a:srgbClr val="0000FF"/>
                </a:solidFill>
              </a:rPr>
              <a:t>不重复</a:t>
            </a:r>
            <a:r>
              <a:rPr lang="zh-CN" altLang="en-US" dirty="0" smtClean="0"/>
              <a:t>。</a:t>
            </a:r>
            <a:endParaRPr lang="zh-CN" altLang="en-US" dirty="0" smtClean="0"/>
          </a:p>
        </p:txBody>
      </p:sp>
      <p:pic>
        <p:nvPicPr>
          <p:cNvPr id="57348" name="Picture 4" descr="t570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" t="6122" r="1411" b="6122"/>
          <a:stretch>
            <a:fillRect/>
          </a:stretch>
        </p:blipFill>
        <p:spPr bwMode="auto">
          <a:xfrm>
            <a:off x="285750" y="3571875"/>
            <a:ext cx="8572500" cy="307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图的</a:t>
            </a:r>
            <a:r>
              <a:rPr lang="en-US" altLang="zh-CN" dirty="0" smtClean="0"/>
              <a:t>m</a:t>
            </a:r>
            <a:r>
              <a:rPr lang="zh-CN" altLang="en-US" dirty="0" smtClean="0"/>
              <a:t>着色问题</a:t>
            </a:r>
            <a:endParaRPr lang="zh-CN" altLang="en-US" dirty="0" smtClean="0"/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3 </a:t>
            </a:r>
            <a:r>
              <a:rPr lang="zh-CN" altLang="en-US" dirty="0" smtClean="0"/>
              <a:t>算法描述</a:t>
            </a:r>
            <a:endParaRPr lang="zh-CN" altLang="en-US" dirty="0" smtClean="0"/>
          </a:p>
        </p:txBody>
      </p:sp>
      <p:sp>
        <p:nvSpPr>
          <p:cNvPr id="4" name="矩形 3"/>
          <p:cNvSpPr/>
          <p:nvPr/>
        </p:nvSpPr>
        <p:spPr>
          <a:xfrm>
            <a:off x="1071563" y="1428750"/>
            <a:ext cx="7143750" cy="480060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void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Color::Backtrack(</a:t>
            </a:r>
            <a:r>
              <a:rPr lang="en-US" altLang="zh-CN" b="1" kern="0" dirty="0" err="1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t)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{ </a:t>
            </a:r>
            <a:r>
              <a:rPr lang="en-US" altLang="zh-CN" b="1" kern="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(t&gt;n) {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 sum++;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b="1" kern="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(</a:t>
            </a:r>
            <a:r>
              <a:rPr lang="en-US" altLang="zh-CN" b="1" kern="0" dirty="0" err="1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i=1; i&lt;=n; i++) </a:t>
            </a:r>
            <a:r>
              <a:rPr lang="en-US" altLang="zh-CN" b="1" kern="0" dirty="0" err="1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cout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&lt;&lt; x[i] &lt;&lt; </a:t>
            </a:r>
            <a:r>
              <a:rPr lang="en-US" altLang="zh-CN" b="1" kern="0" dirty="0">
                <a:solidFill>
                  <a:srgbClr val="8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' '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b="1" kern="0" dirty="0" err="1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cout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&lt;&lt; </a:t>
            </a:r>
            <a:r>
              <a:rPr lang="en-US" altLang="zh-CN" b="1" kern="0" dirty="0" err="1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endl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 }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b="1" kern="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else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b="1" kern="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(</a:t>
            </a:r>
            <a:r>
              <a:rPr lang="en-US" altLang="zh-CN" b="1" kern="0" dirty="0" err="1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i=1;i&lt;=</a:t>
            </a:r>
            <a:r>
              <a:rPr lang="en-US" altLang="zh-CN" b="1" kern="0" dirty="0" err="1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m;i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++) {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     x[t]=i;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b="1" kern="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(Ok(t)) Backtrack(t+1);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   }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 err="1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bool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Color::Ok(</a:t>
            </a:r>
            <a:r>
              <a:rPr lang="en-US" altLang="zh-CN" b="1" kern="0" dirty="0" err="1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k) </a:t>
            </a:r>
            <a:r>
              <a:rPr lang="en-US" altLang="zh-CN" b="1" kern="0" dirty="0">
                <a:solidFill>
                  <a:srgbClr val="0082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// </a:t>
            </a:r>
            <a:r>
              <a:rPr lang="zh-CN" altLang="zh-CN" b="1" kern="0" dirty="0">
                <a:solidFill>
                  <a:srgbClr val="0082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检查颜色可用性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{ </a:t>
            </a:r>
            <a:r>
              <a:rPr lang="en-US" altLang="zh-CN" b="1" kern="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(</a:t>
            </a:r>
            <a:r>
              <a:rPr lang="en-US" altLang="zh-CN" b="1" kern="0" dirty="0" err="1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j=1;j&lt;=</a:t>
            </a:r>
            <a:r>
              <a:rPr lang="en-US" altLang="zh-CN" b="1" kern="0" dirty="0" err="1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n;j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++)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b="1" kern="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((a[k][j]==1)&amp;&amp;(x[j]==x[k])) </a:t>
            </a:r>
            <a:r>
              <a:rPr lang="en-US" altLang="zh-CN" b="1" kern="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return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b="1" kern="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false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b="1" kern="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return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b="1" kern="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zh-CN" altLang="zh-CN" sz="2000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图的</a:t>
            </a:r>
            <a:r>
              <a:rPr lang="en-US" altLang="zh-CN" dirty="0" smtClean="0"/>
              <a:t>m</a:t>
            </a:r>
            <a:r>
              <a:rPr lang="zh-CN" altLang="en-US" dirty="0" smtClean="0"/>
              <a:t>着色问题</a:t>
            </a:r>
            <a:endParaRPr lang="zh-CN" altLang="en-US" dirty="0" smtClean="0"/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4 </a:t>
            </a:r>
            <a:r>
              <a:rPr lang="zh-CN" altLang="en-US" dirty="0" smtClean="0"/>
              <a:t>复杂性分析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图</a:t>
            </a:r>
            <a:r>
              <a:rPr lang="en-US" altLang="zh-CN" dirty="0" smtClean="0"/>
              <a:t>m</a:t>
            </a:r>
            <a:r>
              <a:rPr lang="zh-CN" altLang="en-US" dirty="0" smtClean="0"/>
              <a:t>可着色问题的解空间树中内结点个数：</a:t>
            </a:r>
            <a:endParaRPr lang="en-US" altLang="zh-CN" dirty="0" smtClean="0"/>
          </a:p>
          <a:p>
            <a:pPr lvl="2"/>
            <a:r>
              <a:rPr lang="zh-CN" altLang="en-US" dirty="0" smtClean="0">
                <a:cs typeface="Times New Roman" panose="02020603050405020304" pitchFamily="18" charset="0"/>
              </a:rPr>
              <a:t>∑</a:t>
            </a:r>
            <a:r>
              <a:rPr lang="en-US" altLang="zh-CN" i="1" dirty="0" smtClean="0">
                <a:cs typeface="Times New Roman" panose="02020603050405020304" pitchFamily="18" charset="0"/>
              </a:rPr>
              <a:t>m</a:t>
            </a:r>
            <a:r>
              <a:rPr lang="en-US" altLang="zh-CN" i="1" baseline="30000" dirty="0" smtClean="0"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cs typeface="Times New Roman" panose="02020603050405020304" pitchFamily="18" charset="0"/>
              </a:rPr>
              <a:t>(0≤</a:t>
            </a:r>
            <a:r>
              <a:rPr lang="en-US" altLang="zh-CN" i="1" dirty="0" smtClean="0"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cs typeface="Times New Roman" panose="02020603050405020304" pitchFamily="18" charset="0"/>
              </a:rPr>
              <a:t>≤</a:t>
            </a:r>
            <a:r>
              <a:rPr lang="en-US" altLang="zh-CN" i="1" dirty="0" smtClean="0">
                <a:cs typeface="Times New Roman" panose="02020603050405020304" pitchFamily="18" charset="0"/>
              </a:rPr>
              <a:t>n</a:t>
            </a:r>
            <a:r>
              <a:rPr lang="en-US" altLang="zh-CN" dirty="0" smtClean="0">
                <a:cs typeface="Times New Roman" panose="02020603050405020304" pitchFamily="18" charset="0"/>
              </a:rPr>
              <a:t>-1)</a:t>
            </a:r>
            <a:r>
              <a:rPr lang="zh-CN" altLang="en-US" dirty="0" smtClean="0">
                <a:cs typeface="Times New Roman" panose="02020603050405020304" pitchFamily="18" charset="0"/>
              </a:rPr>
              <a:t>。</a:t>
            </a:r>
            <a:endParaRPr lang="zh-CN" altLang="en-US" dirty="0" smtClean="0">
              <a:cs typeface="Times New Roman" panose="02020603050405020304" pitchFamily="18" charset="0"/>
            </a:endParaRPr>
          </a:p>
          <a:p>
            <a:pPr lvl="1"/>
            <a:r>
              <a:rPr lang="zh-CN" altLang="en-US" dirty="0" smtClean="0"/>
              <a:t>对于每一个内结点，在最坏情况下，检查当前扩展结点的每一个儿子所相应的颜色可用性需耗时</a:t>
            </a:r>
            <a:r>
              <a:rPr lang="en-US" altLang="zh-CN" i="1" dirty="0" smtClean="0"/>
              <a:t>O</a:t>
            </a:r>
            <a:r>
              <a:rPr lang="en-US" altLang="zh-CN" dirty="0" smtClean="0"/>
              <a:t>(</a:t>
            </a:r>
            <a:r>
              <a:rPr lang="en-US" altLang="zh-CN" i="1" dirty="0" err="1" smtClean="0"/>
              <a:t>mn</a:t>
            </a:r>
            <a:r>
              <a:rPr lang="en-US" altLang="zh-CN" dirty="0" smtClean="0"/>
              <a:t>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因此，回溯法总的时间耗费是</a:t>
            </a:r>
            <a:endParaRPr lang="en-US" altLang="zh-CN" dirty="0" smtClean="0"/>
          </a:p>
          <a:p>
            <a:pPr lvl="2"/>
            <a:r>
              <a:rPr lang="zh-CN" altLang="en-US" dirty="0" smtClean="0">
                <a:cs typeface="Times New Roman" panose="02020603050405020304" pitchFamily="18" charset="0"/>
              </a:rPr>
              <a:t>∑</a:t>
            </a:r>
            <a:r>
              <a:rPr lang="en-US" altLang="zh-CN" i="1" dirty="0" smtClean="0">
                <a:cs typeface="Times New Roman" panose="02020603050405020304" pitchFamily="18" charset="0"/>
              </a:rPr>
              <a:t>m</a:t>
            </a:r>
            <a:r>
              <a:rPr lang="en-US" altLang="zh-CN" i="1" baseline="30000" dirty="0" smtClean="0"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cs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cs typeface="Times New Roman" panose="02020603050405020304" pitchFamily="18" charset="0"/>
              </a:rPr>
              <a:t>mn</a:t>
            </a:r>
            <a:r>
              <a:rPr lang="en-US" altLang="zh-CN" dirty="0" smtClean="0">
                <a:cs typeface="Times New Roman" panose="02020603050405020304" pitchFamily="18" charset="0"/>
              </a:rPr>
              <a:t>)=</a:t>
            </a:r>
            <a:r>
              <a:rPr lang="en-US" altLang="zh-CN" i="1" dirty="0" smtClean="0">
                <a:cs typeface="Times New Roman" panose="02020603050405020304" pitchFamily="18" charset="0"/>
              </a:rPr>
              <a:t>nm</a:t>
            </a:r>
            <a:r>
              <a:rPr lang="en-US" altLang="zh-CN" dirty="0" smtClean="0"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cs typeface="Times New Roman" panose="02020603050405020304" pitchFamily="18" charset="0"/>
              </a:rPr>
              <a:t>m</a:t>
            </a:r>
            <a:r>
              <a:rPr lang="en-US" altLang="zh-CN" i="1" baseline="30000" dirty="0" smtClean="0">
                <a:cs typeface="Times New Roman" panose="02020603050405020304" pitchFamily="18" charset="0"/>
              </a:rPr>
              <a:t>n</a:t>
            </a:r>
            <a:r>
              <a:rPr lang="en-US" altLang="zh-CN" dirty="0" smtClean="0">
                <a:cs typeface="Times New Roman" panose="02020603050405020304" pitchFamily="18" charset="0"/>
              </a:rPr>
              <a:t>-1)/(</a:t>
            </a:r>
            <a:r>
              <a:rPr lang="en-US" altLang="zh-CN" i="1" dirty="0" smtClean="0">
                <a:cs typeface="Times New Roman" panose="02020603050405020304" pitchFamily="18" charset="0"/>
              </a:rPr>
              <a:t>m</a:t>
            </a:r>
            <a:r>
              <a:rPr lang="en-US" altLang="zh-CN" dirty="0" smtClean="0">
                <a:cs typeface="Times New Roman" panose="02020603050405020304" pitchFamily="18" charset="0"/>
              </a:rPr>
              <a:t>-1)=</a:t>
            </a:r>
            <a:r>
              <a:rPr lang="en-US" altLang="zh-CN" i="1" dirty="0" smtClean="0">
                <a:cs typeface="Times New Roman" panose="02020603050405020304" pitchFamily="18" charset="0"/>
              </a:rPr>
              <a:t>O</a:t>
            </a:r>
            <a:r>
              <a:rPr lang="en-US" altLang="zh-CN" dirty="0" smtClean="0">
                <a:cs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cs typeface="Times New Roman" panose="02020603050405020304" pitchFamily="18" charset="0"/>
              </a:rPr>
              <a:t>nm</a:t>
            </a:r>
            <a:r>
              <a:rPr lang="en-US" altLang="zh-CN" i="1" baseline="30000" dirty="0" err="1" smtClean="0">
                <a:cs typeface="Times New Roman" panose="02020603050405020304" pitchFamily="18" charset="0"/>
              </a:rPr>
              <a:t>n</a:t>
            </a:r>
            <a:r>
              <a:rPr lang="en-US" altLang="zh-CN" dirty="0" smtClean="0">
                <a:cs typeface="Times New Roman" panose="02020603050405020304" pitchFamily="18" charset="0"/>
              </a:rPr>
              <a:t>) (0≤</a:t>
            </a:r>
            <a:r>
              <a:rPr lang="en-US" altLang="zh-CN" i="1" dirty="0" smtClean="0"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cs typeface="Times New Roman" panose="02020603050405020304" pitchFamily="18" charset="0"/>
              </a:rPr>
              <a:t>≤</a:t>
            </a:r>
            <a:r>
              <a:rPr lang="en-US" altLang="zh-CN" i="1" dirty="0" smtClean="0">
                <a:cs typeface="Times New Roman" panose="02020603050405020304" pitchFamily="18" charset="0"/>
              </a:rPr>
              <a:t>n</a:t>
            </a:r>
            <a:r>
              <a:rPr lang="en-US" altLang="zh-CN" dirty="0" smtClean="0">
                <a:cs typeface="Times New Roman" panose="02020603050405020304" pitchFamily="18" charset="0"/>
              </a:rPr>
              <a:t>-1)</a:t>
            </a:r>
            <a:endParaRPr lang="zh-CN" alt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smtClean="0"/>
              <a:t>回溯法效率分析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回溯算法效率在很大程度上依赖于以下因素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(1)</a:t>
            </a:r>
            <a:r>
              <a:rPr lang="zh-CN" altLang="en-US" dirty="0" smtClean="0"/>
              <a:t>产生</a:t>
            </a:r>
            <a:r>
              <a:rPr lang="en-US" altLang="zh-CN" dirty="0" smtClean="0">
                <a:solidFill>
                  <a:srgbClr val="FF0000"/>
                </a:solidFill>
              </a:rPr>
              <a:t>x[k]</a:t>
            </a:r>
            <a:r>
              <a:rPr lang="zh-CN" altLang="en-US" dirty="0" smtClean="0"/>
              <a:t>的时间；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(2)</a:t>
            </a:r>
            <a:r>
              <a:rPr lang="zh-CN" altLang="en-US" dirty="0" smtClean="0"/>
              <a:t>满足显约束的</a:t>
            </a:r>
            <a:r>
              <a:rPr lang="en-US" altLang="zh-CN" dirty="0" smtClean="0"/>
              <a:t>x[k]</a:t>
            </a:r>
            <a:r>
              <a:rPr lang="zh-CN" altLang="en-US" dirty="0" smtClean="0"/>
              <a:t>值的个数；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(3)</a:t>
            </a:r>
            <a:r>
              <a:rPr lang="zh-CN" altLang="en-US" dirty="0" smtClean="0"/>
              <a:t>计算</a:t>
            </a:r>
            <a:r>
              <a:rPr lang="zh-CN" altLang="en-US" dirty="0" smtClean="0">
                <a:solidFill>
                  <a:srgbClr val="FF0000"/>
                </a:solidFill>
              </a:rPr>
              <a:t>约束函数</a:t>
            </a:r>
            <a:r>
              <a:rPr lang="en-US" altLang="zh-CN" dirty="0" smtClean="0"/>
              <a:t>constraint</a:t>
            </a:r>
            <a:r>
              <a:rPr lang="zh-CN" altLang="en-US" dirty="0" smtClean="0"/>
              <a:t>的时间；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(4)</a:t>
            </a:r>
            <a:r>
              <a:rPr lang="zh-CN" altLang="en-US" dirty="0" smtClean="0"/>
              <a:t>计算</a:t>
            </a:r>
            <a:r>
              <a:rPr lang="zh-CN" altLang="en-US" dirty="0">
                <a:solidFill>
                  <a:srgbClr val="FF0000"/>
                </a:solidFill>
              </a:rPr>
              <a:t>限</a:t>
            </a:r>
            <a:r>
              <a:rPr lang="zh-CN" altLang="en-US" dirty="0" smtClean="0">
                <a:solidFill>
                  <a:srgbClr val="FF0000"/>
                </a:solidFill>
              </a:rPr>
              <a:t>界</a:t>
            </a:r>
            <a:r>
              <a:rPr lang="zh-CN" altLang="en-US" dirty="0" smtClean="0">
                <a:solidFill>
                  <a:srgbClr val="FF0000"/>
                </a:solidFill>
              </a:rPr>
              <a:t>函数</a:t>
            </a:r>
            <a:r>
              <a:rPr lang="en-US" altLang="zh-CN" dirty="0" smtClean="0"/>
              <a:t>bound</a:t>
            </a:r>
            <a:r>
              <a:rPr lang="zh-CN" altLang="en-US" dirty="0" smtClean="0"/>
              <a:t>的时间；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(5)</a:t>
            </a:r>
            <a:r>
              <a:rPr lang="zh-CN" altLang="en-US" dirty="0" smtClean="0"/>
              <a:t>满足约束函数和上界函数的所有</a:t>
            </a:r>
            <a:r>
              <a:rPr lang="en-US" altLang="zh-CN" dirty="0" smtClean="0"/>
              <a:t>x[k]</a:t>
            </a:r>
            <a:r>
              <a:rPr lang="zh-CN" altLang="en-US" dirty="0" smtClean="0"/>
              <a:t>的个数。</a:t>
            </a:r>
            <a:endParaRPr lang="zh-CN" altLang="en-US" dirty="0" smtClean="0"/>
          </a:p>
          <a:p>
            <a:r>
              <a:rPr lang="zh-CN" altLang="en-US" dirty="0" smtClean="0"/>
              <a:t>约束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好的约束函数能显著地减少所生成的结点数，但往往计算量较大。因此，在选择约束函数时通常存在</a:t>
            </a:r>
            <a:r>
              <a:rPr lang="zh-CN" altLang="en-US" dirty="0" smtClean="0">
                <a:solidFill>
                  <a:srgbClr val="FF0000"/>
                </a:solidFill>
              </a:rPr>
              <a:t>生成结点数</a:t>
            </a:r>
            <a:r>
              <a:rPr lang="zh-CN" altLang="en-US" dirty="0" smtClean="0"/>
              <a:t>与</a:t>
            </a:r>
            <a:r>
              <a:rPr lang="zh-CN" altLang="en-US" dirty="0" smtClean="0">
                <a:solidFill>
                  <a:srgbClr val="FF0000"/>
                </a:solidFill>
              </a:rPr>
              <a:t>约束函数</a:t>
            </a:r>
            <a:r>
              <a:rPr lang="zh-CN" altLang="en-US" dirty="0" smtClean="0"/>
              <a:t>计算量之间的</a:t>
            </a:r>
            <a:r>
              <a:rPr lang="zh-CN" altLang="en-US" dirty="0" smtClean="0">
                <a:solidFill>
                  <a:srgbClr val="FF0000"/>
                </a:solidFill>
              </a:rPr>
              <a:t>折衷</a:t>
            </a:r>
            <a:r>
              <a:rPr lang="zh-CN" altLang="en-US" dirty="0" smtClean="0"/>
              <a:t>。</a:t>
            </a:r>
            <a:endParaRPr lang="zh-CN" alt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smtClean="0"/>
              <a:t>回溯法效率分析</a:t>
            </a:r>
            <a:endParaRPr lang="zh-CN" altLang="en-US" smtClean="0"/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重排原理</a:t>
            </a:r>
            <a:endParaRPr lang="en-US" altLang="zh-CN" smtClean="0"/>
          </a:p>
          <a:p>
            <a:pPr lvl="1"/>
            <a:r>
              <a:rPr lang="zh-CN" altLang="en-US" smtClean="0"/>
              <a:t>对于许多问题而言，在搜索试探时选取</a:t>
            </a:r>
            <a:r>
              <a:rPr lang="en-US" altLang="zh-CN" smtClean="0"/>
              <a:t>x[i]</a:t>
            </a:r>
            <a:r>
              <a:rPr lang="zh-CN" altLang="en-US" smtClean="0"/>
              <a:t>的值顺序是任意的。在其他条件相当的前提下，让</a:t>
            </a:r>
            <a:r>
              <a:rPr lang="zh-CN" altLang="en-US" smtClean="0">
                <a:solidFill>
                  <a:srgbClr val="FF0000"/>
                </a:solidFill>
              </a:rPr>
              <a:t>可取值最少的</a:t>
            </a:r>
            <a:r>
              <a:rPr lang="en-US" altLang="zh-CN" smtClean="0">
                <a:solidFill>
                  <a:srgbClr val="FF0000"/>
                </a:solidFill>
              </a:rPr>
              <a:t>x[i]</a:t>
            </a:r>
            <a:r>
              <a:rPr lang="zh-CN" altLang="en-US" smtClean="0">
                <a:solidFill>
                  <a:srgbClr val="FF0000"/>
                </a:solidFill>
              </a:rPr>
              <a:t>优先</a:t>
            </a:r>
            <a:r>
              <a:rPr lang="zh-CN" altLang="en-US" smtClean="0"/>
              <a:t>。</a:t>
            </a:r>
            <a:endParaRPr lang="en-US" altLang="zh-CN" smtClean="0"/>
          </a:p>
          <a:p>
            <a:pPr lvl="1"/>
            <a:r>
              <a:rPr lang="zh-CN" altLang="en-US" smtClean="0"/>
              <a:t>从图中关于同一问题的</a:t>
            </a:r>
            <a:r>
              <a:rPr lang="en-US" altLang="zh-CN" smtClean="0"/>
              <a:t>2</a:t>
            </a:r>
            <a:r>
              <a:rPr lang="zh-CN" altLang="en-US" smtClean="0"/>
              <a:t>棵不同解空间树，可以体会到这种策略的潜力。</a:t>
            </a:r>
            <a:endParaRPr lang="zh-CN" altLang="en-US" smtClean="0"/>
          </a:p>
          <a:p>
            <a:endParaRPr lang="zh-CN" altLang="en-US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smtClean="0"/>
              <a:t>回溯法效率分析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smtClean="0"/>
              <a:t>从第</a:t>
            </a:r>
            <a:r>
              <a:rPr lang="en-US" altLang="zh-CN" smtClean="0"/>
              <a:t>1</a:t>
            </a:r>
            <a:r>
              <a:rPr lang="zh-CN" altLang="en-US" smtClean="0"/>
              <a:t>层剪去</a:t>
            </a:r>
            <a:r>
              <a:rPr lang="en-US" altLang="zh-CN" smtClean="0"/>
              <a:t>1</a:t>
            </a:r>
            <a:r>
              <a:rPr lang="zh-CN" altLang="en-US" smtClean="0"/>
              <a:t>棵子树，则从所有应当考虑的</a:t>
            </a:r>
            <a:r>
              <a:rPr lang="en-US" altLang="zh-CN" smtClean="0"/>
              <a:t>3</a:t>
            </a:r>
            <a:r>
              <a:rPr lang="zh-CN" altLang="en-US" smtClean="0"/>
              <a:t>元组中一次消去</a:t>
            </a:r>
            <a:r>
              <a:rPr lang="en-US" altLang="zh-CN" smtClean="0"/>
              <a:t>12</a:t>
            </a:r>
            <a:r>
              <a:rPr lang="zh-CN" altLang="en-US" smtClean="0"/>
              <a:t>个</a:t>
            </a:r>
            <a:r>
              <a:rPr lang="en-US" altLang="zh-CN" smtClean="0"/>
              <a:t>3</a:t>
            </a:r>
            <a:r>
              <a:rPr lang="zh-CN" altLang="en-US" smtClean="0"/>
              <a:t>元组。</a:t>
            </a:r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r>
              <a:rPr lang="zh-CN" altLang="en-US" smtClean="0"/>
              <a:t>从第</a:t>
            </a:r>
            <a:r>
              <a:rPr lang="en-US" altLang="zh-CN" smtClean="0"/>
              <a:t>1</a:t>
            </a:r>
            <a:r>
              <a:rPr lang="zh-CN" altLang="en-US" smtClean="0"/>
              <a:t>层剪去</a:t>
            </a:r>
            <a:r>
              <a:rPr lang="en-US" altLang="zh-CN" smtClean="0"/>
              <a:t>1</a:t>
            </a:r>
            <a:r>
              <a:rPr lang="zh-CN" altLang="en-US" smtClean="0"/>
              <a:t>棵子树，却只消去</a:t>
            </a:r>
            <a:r>
              <a:rPr lang="en-US" altLang="zh-CN" smtClean="0"/>
              <a:t>8</a:t>
            </a:r>
            <a:r>
              <a:rPr lang="zh-CN" altLang="en-US" smtClean="0"/>
              <a:t>个</a:t>
            </a:r>
            <a:r>
              <a:rPr lang="en-US" altLang="zh-CN" smtClean="0"/>
              <a:t>3</a:t>
            </a:r>
            <a:r>
              <a:rPr lang="zh-CN" altLang="en-US" smtClean="0"/>
              <a:t>元组。</a:t>
            </a:r>
            <a:endParaRPr lang="en-US" altLang="zh-CN" smtClean="0"/>
          </a:p>
          <a:p>
            <a:pPr lvl="1"/>
            <a:r>
              <a:rPr lang="zh-CN" altLang="en-US" smtClean="0"/>
              <a:t>前者的效果明显比后者好。</a:t>
            </a:r>
            <a:endParaRPr lang="zh-CN" altLang="en-US" smtClean="0"/>
          </a:p>
          <a:p>
            <a:endParaRPr lang="zh-CN" altLang="en-US" smtClean="0"/>
          </a:p>
        </p:txBody>
      </p:sp>
      <p:pic>
        <p:nvPicPr>
          <p:cNvPr id="4" name="Picture 5" descr="t510a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1785938"/>
            <a:ext cx="7215188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t510b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4643438"/>
            <a:ext cx="7429500" cy="200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连续邮资问题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连续邮资问题描述</a:t>
            </a:r>
            <a:endParaRPr lang="zh-CN" altLang="en-US" smtClean="0"/>
          </a:p>
          <a:p>
            <a:pPr lvl="1"/>
            <a:r>
              <a:rPr lang="zh-CN" altLang="en-US" smtClean="0"/>
              <a:t>假设国家发行了</a:t>
            </a:r>
            <a:r>
              <a:rPr lang="en-US" altLang="zh-CN" smtClean="0">
                <a:solidFill>
                  <a:srgbClr val="FF0000"/>
                </a:solidFill>
              </a:rPr>
              <a:t>n</a:t>
            </a:r>
            <a:r>
              <a:rPr lang="zh-CN" altLang="en-US" smtClean="0">
                <a:solidFill>
                  <a:srgbClr val="FF0000"/>
                </a:solidFill>
              </a:rPr>
              <a:t>种</a:t>
            </a:r>
            <a:r>
              <a:rPr lang="zh-CN" altLang="en-US" smtClean="0"/>
              <a:t>不同面值的邮票，并且规定每张信封上最多只允许贴</a:t>
            </a:r>
            <a:r>
              <a:rPr lang="en-US" altLang="zh-CN" smtClean="0">
                <a:solidFill>
                  <a:srgbClr val="FF0000"/>
                </a:solidFill>
              </a:rPr>
              <a:t>m</a:t>
            </a:r>
            <a:r>
              <a:rPr lang="zh-CN" altLang="en-US" smtClean="0">
                <a:solidFill>
                  <a:srgbClr val="FF0000"/>
                </a:solidFill>
              </a:rPr>
              <a:t>张</a:t>
            </a:r>
            <a:r>
              <a:rPr lang="zh-CN" altLang="en-US" smtClean="0"/>
              <a:t>邮票。</a:t>
            </a:r>
            <a:endParaRPr lang="en-US" altLang="zh-CN" smtClean="0"/>
          </a:p>
          <a:p>
            <a:pPr lvl="1"/>
            <a:r>
              <a:rPr lang="zh-CN" altLang="en-US" smtClean="0">
                <a:solidFill>
                  <a:srgbClr val="FF0000"/>
                </a:solidFill>
              </a:rPr>
              <a:t>连续邮资问题</a:t>
            </a:r>
            <a:r>
              <a:rPr lang="zh-CN" altLang="en-US" smtClean="0"/>
              <a:t>要求对于给定的</a:t>
            </a:r>
            <a:r>
              <a:rPr lang="en-US" altLang="zh-CN" smtClean="0"/>
              <a:t>n</a:t>
            </a:r>
            <a:r>
              <a:rPr lang="zh-CN" altLang="en-US" smtClean="0"/>
              <a:t>和</a:t>
            </a:r>
            <a:r>
              <a:rPr lang="en-US" altLang="zh-CN" smtClean="0"/>
              <a:t>m</a:t>
            </a:r>
            <a:r>
              <a:rPr lang="zh-CN" altLang="en-US" smtClean="0"/>
              <a:t>的值，给出</a:t>
            </a:r>
            <a:r>
              <a:rPr lang="zh-CN" altLang="en-US" smtClean="0">
                <a:solidFill>
                  <a:srgbClr val="0000FF"/>
                </a:solidFill>
              </a:rPr>
              <a:t>邮票面值</a:t>
            </a:r>
            <a:r>
              <a:rPr lang="zh-CN" altLang="en-US" smtClean="0"/>
              <a:t>的最佳设计，在</a:t>
            </a:r>
            <a:r>
              <a:rPr lang="en-US" altLang="zh-CN" smtClean="0"/>
              <a:t>1</a:t>
            </a:r>
            <a:r>
              <a:rPr lang="zh-CN" altLang="en-US" smtClean="0"/>
              <a:t>张信封上可贴出</a:t>
            </a:r>
            <a:r>
              <a:rPr lang="zh-CN" altLang="en-US" smtClean="0">
                <a:solidFill>
                  <a:srgbClr val="0000FF"/>
                </a:solidFill>
              </a:rPr>
              <a:t>从邮资</a:t>
            </a:r>
            <a:r>
              <a:rPr lang="en-US" altLang="zh-CN" smtClean="0">
                <a:solidFill>
                  <a:srgbClr val="0000FF"/>
                </a:solidFill>
              </a:rPr>
              <a:t>1</a:t>
            </a:r>
            <a:r>
              <a:rPr lang="zh-CN" altLang="en-US" smtClean="0">
                <a:solidFill>
                  <a:srgbClr val="0000FF"/>
                </a:solidFill>
              </a:rPr>
              <a:t>开始，增量为</a:t>
            </a:r>
            <a:r>
              <a:rPr lang="en-US" altLang="zh-CN" smtClean="0">
                <a:solidFill>
                  <a:srgbClr val="0000FF"/>
                </a:solidFill>
              </a:rPr>
              <a:t>1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rgbClr val="FF0000"/>
                </a:solidFill>
              </a:rPr>
              <a:t>最大连续邮资区间</a:t>
            </a:r>
            <a:r>
              <a:rPr lang="zh-CN" altLang="en-US" smtClean="0"/>
              <a:t>。</a:t>
            </a:r>
            <a:endParaRPr lang="en-US" altLang="zh-CN" smtClean="0"/>
          </a:p>
          <a:p>
            <a:pPr lvl="2"/>
            <a:r>
              <a:rPr lang="zh-CN" altLang="en-US" sz="2200" smtClean="0"/>
              <a:t>例如，当</a:t>
            </a:r>
            <a:r>
              <a:rPr lang="en-US" altLang="zh-CN" sz="2200" smtClean="0">
                <a:solidFill>
                  <a:srgbClr val="0000FF"/>
                </a:solidFill>
              </a:rPr>
              <a:t>n=5</a:t>
            </a:r>
            <a:r>
              <a:rPr lang="zh-CN" altLang="en-US" sz="2200" smtClean="0"/>
              <a:t>和</a:t>
            </a:r>
            <a:r>
              <a:rPr lang="en-US" altLang="zh-CN" sz="2200" smtClean="0">
                <a:solidFill>
                  <a:srgbClr val="0000FF"/>
                </a:solidFill>
              </a:rPr>
              <a:t>m=4</a:t>
            </a:r>
            <a:r>
              <a:rPr lang="zh-CN" altLang="en-US" sz="2200" smtClean="0"/>
              <a:t>时，面值为</a:t>
            </a:r>
            <a:r>
              <a:rPr lang="en-US" altLang="zh-CN" sz="2200" smtClean="0">
                <a:solidFill>
                  <a:srgbClr val="0000FF"/>
                </a:solidFill>
              </a:rPr>
              <a:t>(1,3,11,15,32)</a:t>
            </a:r>
            <a:r>
              <a:rPr lang="zh-CN" altLang="en-US" sz="2200" smtClean="0"/>
              <a:t>的</a:t>
            </a:r>
            <a:r>
              <a:rPr lang="en-US" altLang="zh-CN" sz="2200" smtClean="0">
                <a:solidFill>
                  <a:srgbClr val="0000FF"/>
                </a:solidFill>
              </a:rPr>
              <a:t>5</a:t>
            </a:r>
            <a:r>
              <a:rPr lang="zh-CN" altLang="en-US" sz="2200" smtClean="0">
                <a:solidFill>
                  <a:srgbClr val="0000FF"/>
                </a:solidFill>
              </a:rPr>
              <a:t>种</a:t>
            </a:r>
            <a:r>
              <a:rPr lang="zh-CN" altLang="en-US" sz="2200" smtClean="0"/>
              <a:t>邮票可以贴出邮资的最大连续邮资区间是</a:t>
            </a:r>
            <a:r>
              <a:rPr lang="en-US" altLang="zh-CN" sz="2200" smtClean="0">
                <a:solidFill>
                  <a:srgbClr val="0000FF"/>
                </a:solidFill>
              </a:rPr>
              <a:t>1</a:t>
            </a:r>
            <a:r>
              <a:rPr lang="zh-CN" altLang="en-US" sz="2200" smtClean="0">
                <a:solidFill>
                  <a:srgbClr val="0000FF"/>
                </a:solidFill>
              </a:rPr>
              <a:t>到</a:t>
            </a:r>
            <a:r>
              <a:rPr lang="en-US" altLang="zh-CN" sz="2200" smtClean="0">
                <a:solidFill>
                  <a:srgbClr val="0000FF"/>
                </a:solidFill>
              </a:rPr>
              <a:t>70</a:t>
            </a:r>
            <a:r>
              <a:rPr lang="zh-CN" altLang="en-US" sz="2200" smtClean="0"/>
              <a:t>。</a:t>
            </a:r>
            <a:endParaRPr lang="en-US" altLang="zh-CN" sz="2200" smtClean="0"/>
          </a:p>
          <a:p>
            <a:pPr lvl="3"/>
            <a:r>
              <a:rPr lang="en-US" altLang="zh-CN" sz="2000" smtClean="0"/>
              <a:t>70=32+32+3+3</a:t>
            </a:r>
            <a:endParaRPr lang="en-US" altLang="zh-CN" sz="2000" smtClean="0"/>
          </a:p>
          <a:p>
            <a:pPr lvl="3"/>
            <a:r>
              <a:rPr lang="en-US" altLang="zh-CN" sz="2000" smtClean="0"/>
              <a:t>69=32+22+15</a:t>
            </a:r>
            <a:endParaRPr lang="en-US" altLang="zh-CN" sz="2000" smtClean="0"/>
          </a:p>
          <a:p>
            <a:pPr lvl="3"/>
            <a:r>
              <a:rPr lang="en-US" altLang="zh-CN" sz="2000" smtClean="0"/>
              <a:t>……</a:t>
            </a:r>
            <a:endParaRPr lang="zh-CN" altLang="en-US" smtClean="0"/>
          </a:p>
        </p:txBody>
      </p:sp>
      <p:pic>
        <p:nvPicPr>
          <p:cNvPr id="67588" name="Picture 2" descr="D:\Temp\Temporary Internet Files\Content.IE5\0CU2I1O4\MCj03439570000[1].wm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75" y="4500563"/>
            <a:ext cx="2435225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连续邮资问题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问题分析</a:t>
            </a:r>
            <a:endParaRPr lang="zh-CN" altLang="en-US" smtClean="0"/>
          </a:p>
          <a:p>
            <a:pPr lvl="1"/>
            <a:r>
              <a:rPr lang="zh-CN" altLang="en-US" smtClean="0"/>
              <a:t>解向量</a:t>
            </a:r>
            <a:endParaRPr lang="en-US" altLang="zh-CN" smtClean="0"/>
          </a:p>
          <a:p>
            <a:pPr lvl="2"/>
            <a:r>
              <a:rPr lang="zh-CN" altLang="en-US" smtClean="0"/>
              <a:t>用</a:t>
            </a:r>
            <a:r>
              <a:rPr lang="en-US" altLang="zh-CN" smtClean="0">
                <a:solidFill>
                  <a:srgbClr val="0000FF"/>
                </a:solidFill>
              </a:rPr>
              <a:t>n</a:t>
            </a:r>
            <a:r>
              <a:rPr lang="zh-CN" altLang="en-US" smtClean="0"/>
              <a:t>元组</a:t>
            </a:r>
            <a:r>
              <a:rPr lang="en-US" altLang="zh-CN" smtClean="0">
                <a:solidFill>
                  <a:srgbClr val="0000FF"/>
                </a:solidFill>
              </a:rPr>
              <a:t>x[1:n]</a:t>
            </a:r>
            <a:r>
              <a:rPr lang="zh-CN" altLang="en-US" smtClean="0"/>
              <a:t>表示</a:t>
            </a:r>
            <a:r>
              <a:rPr lang="en-US" altLang="zh-CN" smtClean="0">
                <a:solidFill>
                  <a:srgbClr val="0000FF"/>
                </a:solidFill>
              </a:rPr>
              <a:t>n</a:t>
            </a:r>
            <a:r>
              <a:rPr lang="zh-CN" altLang="en-US" smtClean="0"/>
              <a:t>种不同的</a:t>
            </a:r>
            <a:r>
              <a:rPr lang="zh-CN" altLang="en-US" smtClean="0">
                <a:solidFill>
                  <a:srgbClr val="0000FF"/>
                </a:solidFill>
              </a:rPr>
              <a:t>邮票面值</a:t>
            </a:r>
            <a:r>
              <a:rPr lang="zh-CN" altLang="en-US" smtClean="0"/>
              <a:t>，并约定它们</a:t>
            </a:r>
            <a:r>
              <a:rPr lang="zh-CN" altLang="en-US" smtClean="0">
                <a:solidFill>
                  <a:srgbClr val="0000FF"/>
                </a:solidFill>
              </a:rPr>
              <a:t>从小到大</a:t>
            </a:r>
            <a:r>
              <a:rPr lang="zh-CN" altLang="en-US" smtClean="0"/>
              <a:t>排列。</a:t>
            </a:r>
            <a:r>
              <a:rPr lang="en-US" altLang="zh-CN" smtClean="0">
                <a:solidFill>
                  <a:srgbClr val="0000FF"/>
                </a:solidFill>
              </a:rPr>
              <a:t>x[1]=1</a:t>
            </a:r>
            <a:r>
              <a:rPr lang="zh-CN" altLang="en-US" smtClean="0"/>
              <a:t>是惟一的选择，此时最大连续邮资空间为</a:t>
            </a:r>
            <a:r>
              <a:rPr lang="en-US" altLang="zh-CN" smtClean="0">
                <a:solidFill>
                  <a:srgbClr val="0000FF"/>
                </a:solidFill>
              </a:rPr>
              <a:t>[1:m]</a:t>
            </a:r>
            <a:r>
              <a:rPr lang="zh-CN" altLang="en-US" smtClean="0"/>
              <a:t>；</a:t>
            </a:r>
            <a:r>
              <a:rPr lang="en-US" altLang="zh-CN" smtClean="0">
                <a:solidFill>
                  <a:srgbClr val="0000FF"/>
                </a:solidFill>
              </a:rPr>
              <a:t>x[2]</a:t>
            </a:r>
            <a:r>
              <a:rPr lang="zh-CN" altLang="en-US" smtClean="0"/>
              <a:t>的可取值范围是</a:t>
            </a:r>
            <a:r>
              <a:rPr lang="en-US" altLang="zh-CN" smtClean="0">
                <a:solidFill>
                  <a:srgbClr val="0000FF"/>
                </a:solidFill>
              </a:rPr>
              <a:t>[2:m+1]</a:t>
            </a:r>
            <a:r>
              <a:rPr lang="zh-CN" altLang="en-US" smtClean="0"/>
              <a:t>。</a:t>
            </a:r>
            <a:endParaRPr lang="zh-CN" altLang="en-US" smtClean="0"/>
          </a:p>
          <a:p>
            <a:pPr lvl="1"/>
            <a:r>
              <a:rPr lang="zh-CN" altLang="en-US" smtClean="0"/>
              <a:t>可行性约束函数</a:t>
            </a:r>
            <a:endParaRPr lang="en-US" altLang="zh-CN" smtClean="0"/>
          </a:p>
          <a:p>
            <a:pPr lvl="2"/>
            <a:r>
              <a:rPr lang="zh-CN" altLang="en-US" smtClean="0"/>
              <a:t>一般情况下，已选定</a:t>
            </a:r>
            <a:r>
              <a:rPr lang="en-US" altLang="zh-CN" smtClean="0">
                <a:solidFill>
                  <a:srgbClr val="0000FF"/>
                </a:solidFill>
              </a:rPr>
              <a:t>x[1:i-1]</a:t>
            </a:r>
            <a:r>
              <a:rPr lang="zh-CN" altLang="en-US" smtClean="0"/>
              <a:t>，最大连续邮资区间是</a:t>
            </a:r>
            <a:r>
              <a:rPr lang="en-US" altLang="zh-CN" smtClean="0">
                <a:solidFill>
                  <a:srgbClr val="0000FF"/>
                </a:solidFill>
              </a:rPr>
              <a:t>[1:r]</a:t>
            </a:r>
            <a:r>
              <a:rPr lang="zh-CN" altLang="en-US" smtClean="0"/>
              <a:t>，接下来</a:t>
            </a:r>
            <a:r>
              <a:rPr lang="en-US" altLang="zh-CN" smtClean="0">
                <a:solidFill>
                  <a:srgbClr val="0000FF"/>
                </a:solidFill>
              </a:rPr>
              <a:t>x[i]</a:t>
            </a:r>
            <a:r>
              <a:rPr lang="zh-CN" altLang="en-US" smtClean="0"/>
              <a:t>的可取值范围是</a:t>
            </a:r>
            <a:r>
              <a:rPr lang="en-US" altLang="zh-CN" smtClean="0">
                <a:solidFill>
                  <a:srgbClr val="0000FF"/>
                </a:solidFill>
              </a:rPr>
              <a:t>[x[i-1]+1:r+1]</a:t>
            </a:r>
            <a:r>
              <a:rPr lang="zh-CN" altLang="en-US" smtClean="0"/>
              <a:t>。</a:t>
            </a:r>
            <a:endParaRPr lang="zh-CN" altLang="en-US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>
          <a:xfrm>
            <a:off x="609600" y="142875"/>
            <a:ext cx="8305800" cy="682625"/>
          </a:xfrm>
        </p:spPr>
        <p:txBody>
          <a:bodyPr/>
          <a:lstStyle/>
          <a:p>
            <a:r>
              <a:rPr lang="zh-CN" altLang="en-US" dirty="0" smtClean="0"/>
              <a:t>连续邮资问题</a:t>
            </a:r>
            <a:endParaRPr lang="zh-CN" altLang="en-US" dirty="0" smtClean="0"/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mtClean="0"/>
          </a:p>
        </p:txBody>
      </p:sp>
      <p:grpSp>
        <p:nvGrpSpPr>
          <p:cNvPr id="5" name="组合 5"/>
          <p:cNvGrpSpPr/>
          <p:nvPr/>
        </p:nvGrpSpPr>
        <p:grpSpPr bwMode="auto">
          <a:xfrm>
            <a:off x="571500" y="61913"/>
            <a:ext cx="8501063" cy="6423025"/>
            <a:chOff x="642910" y="0"/>
            <a:chExt cx="8501090" cy="6422482"/>
          </a:xfrm>
        </p:grpSpPr>
        <p:sp>
          <p:nvSpPr>
            <p:cNvPr id="4" name="Text Box 6"/>
            <p:cNvSpPr txBox="1">
              <a:spLocks noChangeArrowheads="1"/>
            </p:cNvSpPr>
            <p:nvPr/>
          </p:nvSpPr>
          <p:spPr bwMode="auto">
            <a:xfrm>
              <a:off x="642910" y="928670"/>
              <a:ext cx="8215370" cy="5493812"/>
            </a:xfrm>
            <a:prstGeom prst="rect">
              <a:avLst/>
            </a:prstGeom>
            <a:solidFill>
              <a:srgbClr val="CCFF99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如何确定</a:t>
              </a:r>
              <a:r>
                <a:rPr lang="en-US" altLang="zh-CN" sz="24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r</a:t>
              </a:r>
              <a:r>
                <a:rPr lang="zh-CN" altLang="en-US" sz="24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的值？</a:t>
              </a:r>
              <a:endParaRPr lang="zh-CN" altLang="en-US" sz="2400" b="1" dirty="0">
                <a:solidFill>
                  <a:srgbClr val="0000FF"/>
                </a:solidFill>
                <a:ea typeface="宋体" panose="02010600030101010101" pitchFamily="2" charset="-122"/>
              </a:endParaRP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计算</a:t>
              </a:r>
              <a:r>
                <a:rPr lang="en-US" altLang="zh-CN" sz="2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X[1:i]</a:t>
              </a:r>
              <a:r>
                <a:rPr lang="zh-CN" altLang="en-US" sz="2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的最大连续邮资区间在本算法中被频繁使用到，因此势必要找到一个高效的方法。考虑到直接递归的求解复杂度太高，我们不妨尝试计算用不超过</a:t>
              </a:r>
              <a:r>
                <a:rPr lang="en-US" altLang="zh-CN" sz="2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m</a:t>
              </a:r>
              <a:r>
                <a:rPr lang="zh-CN" altLang="en-US" sz="2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张面值为</a:t>
              </a:r>
              <a:r>
                <a:rPr lang="en-US" altLang="zh-CN" sz="2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x[1:i]</a:t>
              </a:r>
              <a:r>
                <a:rPr lang="zh-CN" altLang="en-US" sz="2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的邮票贴出邮资</a:t>
              </a:r>
              <a:r>
                <a:rPr lang="en-US" altLang="zh-CN" sz="2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k</a:t>
              </a:r>
              <a:r>
                <a:rPr lang="zh-CN" altLang="en-US" sz="2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所需的最少邮票数</a:t>
              </a:r>
              <a:r>
                <a:rPr lang="en-US" altLang="zh-CN" sz="2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y[k]</a:t>
              </a:r>
              <a:r>
                <a:rPr lang="zh-CN" altLang="en-US" sz="2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。通过</a:t>
              </a:r>
              <a:r>
                <a:rPr lang="en-US" altLang="zh-CN" sz="2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y[k]</a:t>
              </a:r>
              <a:r>
                <a:rPr lang="zh-CN" altLang="en-US" sz="2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可以很快推出</a:t>
              </a:r>
              <a:r>
                <a:rPr lang="en-US" altLang="zh-CN" sz="2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r</a:t>
              </a:r>
              <a:r>
                <a:rPr lang="zh-CN" altLang="en-US" sz="2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的值。</a:t>
              </a:r>
              <a:endPara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事实上，</a:t>
              </a:r>
              <a:r>
                <a:rPr lang="en-US" altLang="zh-CN" sz="2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y[k]</a:t>
              </a:r>
              <a:r>
                <a:rPr lang="zh-CN" altLang="en-US" sz="2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可以通过递推在</a:t>
              </a:r>
              <a:r>
                <a:rPr lang="en-US" altLang="zh-CN" sz="2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O(n)</a:t>
              </a:r>
              <a:r>
                <a:rPr lang="zh-CN" altLang="en-US" sz="22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时间内解决：</a:t>
              </a:r>
              <a:endParaRPr lang="zh-CN" altLang="en-US" sz="22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for (</a:t>
              </a:r>
              <a:r>
                <a:rPr lang="en-US" altLang="zh-CN" sz="2000" b="1" dirty="0" err="1">
                  <a:solidFill>
                    <a:schemeClr val="tx1"/>
                  </a:solidFill>
                  <a:ea typeface="宋体" panose="02010600030101010101" pitchFamily="2" charset="-122"/>
                </a:rPr>
                <a:t>int</a:t>
              </a:r>
              <a:r>
                <a:rPr lang="en-US" altLang="zh-CN" sz="20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 j=0; j&lt;= x[i-2]*(m-1);j++)</a:t>
              </a:r>
              <a:endPara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        if </a:t>
              </a:r>
              <a:r>
                <a:rPr lang="en-US" altLang="zh-CN" sz="20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(y[j]&lt;m)</a:t>
              </a:r>
              <a:endPara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          for </a:t>
              </a:r>
              <a:r>
                <a:rPr lang="en-US" altLang="zh-CN" sz="20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sz="2000" b="1" dirty="0" err="1">
                  <a:solidFill>
                    <a:schemeClr val="tx1"/>
                  </a:solidFill>
                  <a:ea typeface="宋体" panose="02010600030101010101" pitchFamily="2" charset="-122"/>
                </a:rPr>
                <a:t>int</a:t>
              </a:r>
              <a:r>
                <a:rPr lang="en-US" altLang="zh-CN" sz="20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 k=1;k&lt;=m-y[j];k++)</a:t>
              </a:r>
              <a:endPara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            if(y[j</a:t>
              </a:r>
              <a:r>
                <a:rPr lang="en-US" altLang="zh-CN" sz="20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]+k&lt;y[</a:t>
              </a:r>
              <a:r>
                <a:rPr lang="en-US" altLang="zh-CN" sz="2000" b="1" dirty="0" err="1">
                  <a:solidFill>
                    <a:schemeClr val="tx1"/>
                  </a:solidFill>
                  <a:ea typeface="宋体" panose="02010600030101010101" pitchFamily="2" charset="-122"/>
                </a:rPr>
                <a:t>j+x</a:t>
              </a:r>
              <a:r>
                <a:rPr lang="en-US" altLang="zh-CN" sz="20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[i-1]*k])y[</a:t>
              </a:r>
              <a:r>
                <a:rPr lang="en-US" altLang="zh-CN" sz="2000" b="1" dirty="0" err="1">
                  <a:solidFill>
                    <a:schemeClr val="tx1"/>
                  </a:solidFill>
                  <a:ea typeface="宋体" panose="02010600030101010101" pitchFamily="2" charset="-122"/>
                </a:rPr>
                <a:t>j+x</a:t>
              </a:r>
              <a:r>
                <a:rPr lang="en-US" altLang="zh-CN" sz="20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[i-1]*k]=y[j]+k;</a:t>
              </a:r>
              <a:endPara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      while </a:t>
              </a:r>
              <a:r>
                <a:rPr lang="en-US" altLang="zh-CN" sz="20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(y[r]&lt;</a:t>
              </a:r>
              <a:r>
                <a:rPr lang="en-US" altLang="zh-CN" sz="2000" b="1" dirty="0" err="1">
                  <a:solidFill>
                    <a:schemeClr val="tx1"/>
                  </a:solidFill>
                  <a:ea typeface="宋体" panose="02010600030101010101" pitchFamily="2" charset="-122"/>
                </a:rPr>
                <a:t>maxint</a:t>
              </a:r>
              <a:r>
                <a:rPr lang="en-US" altLang="zh-CN" sz="2000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) r++;</a:t>
              </a:r>
              <a:endPara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pic>
          <p:nvPicPr>
            <p:cNvPr id="69640" name="Picture 2" descr="D:\Temp\Temporary Internet Files\Content.IE5\NX19AAQ6\MCj03843380000[1].wmf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330" y="0"/>
              <a:ext cx="2071670" cy="171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ends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YaheiHHLD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/>
      <a:bodyPr vert="horz" wrap="square" lIns="91440" tIns="45720" rIns="91440" bIns="45720" numCol="1" rtlCol="0" anchor="ctr" anchorCtr="0" compatLnSpc="1"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sz="2000" b="1" dirty="0" smtClean="0">
            <a:solidFill>
              <a:schemeClr val="bg1"/>
            </a:solidFill>
            <a:ea typeface="YaHei Consolas" pitchFamily="49" charset="-122"/>
            <a:cs typeface="Times New Roman" panose="02020603050405020304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 实践教学参考题目</Template>
  <TotalTime>0</TotalTime>
  <Words>16159</Words>
  <Application>WPS 演示</Application>
  <PresentationFormat>全屏显示(4:3)</PresentationFormat>
  <Paragraphs>2067</Paragraphs>
  <Slides>74</Slides>
  <Notes>1</Notes>
  <HiddenSlides>3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105" baseType="lpstr">
      <vt:lpstr>Arial</vt:lpstr>
      <vt:lpstr>宋体</vt:lpstr>
      <vt:lpstr>Wingdings</vt:lpstr>
      <vt:lpstr>Consolas</vt:lpstr>
      <vt:lpstr>微软雅黑</vt:lpstr>
      <vt:lpstr>YaHei Consolas</vt:lpstr>
      <vt:lpstr>Times New Roman</vt:lpstr>
      <vt:lpstr>Tahoma</vt:lpstr>
      <vt:lpstr>华文中宋</vt:lpstr>
      <vt:lpstr>仿宋_GB2312</vt:lpstr>
      <vt:lpstr>仿宋</vt:lpstr>
      <vt:lpstr>Arial Unicode MS</vt:lpstr>
      <vt:lpstr>Calibri</vt:lpstr>
      <vt:lpstr>楷体_GB2312</vt:lpstr>
      <vt:lpstr>新宋体</vt:lpstr>
      <vt:lpstr>华文行楷</vt:lpstr>
      <vt:lpstr>楷体_GB2312</vt:lpstr>
      <vt:lpstr>Verdana</vt:lpstr>
      <vt:lpstr>隶书</vt:lpstr>
      <vt:lpstr>幼圆</vt:lpstr>
      <vt:lpstr>黑体</vt:lpstr>
      <vt:lpstr>Century Schoolbook</vt:lpstr>
      <vt:lpstr>Symbol</vt:lpstr>
      <vt:lpstr>Times New Roman</vt:lpstr>
      <vt:lpstr>Calibri</vt:lpstr>
      <vt:lpstr>Blends</vt:lpstr>
      <vt:lpstr>默认设计模板</vt:lpstr>
      <vt:lpstr>1_默认设计模板</vt:lpstr>
      <vt:lpstr>2_默认设计模板</vt:lpstr>
      <vt:lpstr>Equation.3</vt:lpstr>
      <vt:lpstr>Equation.3</vt:lpstr>
      <vt:lpstr>第六章 回溯法</vt:lpstr>
      <vt:lpstr>本章主要内容</vt:lpstr>
      <vt:lpstr>学习要点</vt:lpstr>
      <vt:lpstr>引言</vt:lpstr>
      <vt:lpstr>引言</vt:lpstr>
      <vt:lpstr>引言</vt:lpstr>
      <vt:lpstr>6.1 回溯法的算法框架</vt:lpstr>
      <vt:lpstr>6.1 回溯法的算法框架</vt:lpstr>
      <vt:lpstr>6.1 回溯法的算法框架</vt:lpstr>
      <vt:lpstr>7.1 回溯法的算法框架</vt:lpstr>
      <vt:lpstr>6.1 回溯法的算法框架</vt:lpstr>
      <vt:lpstr>6.1 回溯法的算法框架</vt:lpstr>
      <vt:lpstr>6.1 回溯法的算法框架</vt:lpstr>
      <vt:lpstr>6.1 回溯法的算法框架</vt:lpstr>
      <vt:lpstr>6.1 回溯法的算法框架</vt:lpstr>
      <vt:lpstr>6.1 回溯法的算法框架</vt:lpstr>
      <vt:lpstr>6.1 回溯法的算法框架</vt:lpstr>
      <vt:lpstr>6.1 回溯法的算法框架</vt:lpstr>
      <vt:lpstr>6.1 回溯法的算法框架</vt:lpstr>
      <vt:lpstr>6.1 回溯法的算法框架</vt:lpstr>
      <vt:lpstr>6.1 回溯法的算法框架</vt:lpstr>
      <vt:lpstr>6.1 回溯法的算法框架</vt:lpstr>
      <vt:lpstr>PowerPoint 演示文稿</vt:lpstr>
      <vt:lpstr>6.1 回溯法的算法框架</vt:lpstr>
      <vt:lpstr>6.1 回溯法的算法框架</vt:lpstr>
      <vt:lpstr>6.1 回溯法的算法框架</vt:lpstr>
      <vt:lpstr>回顾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6.1 回溯法的算法框架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 经典应用——装载问题</vt:lpstr>
      <vt:lpstr>装载问题</vt:lpstr>
      <vt:lpstr>装载问题</vt:lpstr>
      <vt:lpstr>装载问题</vt:lpstr>
      <vt:lpstr>装载问题</vt:lpstr>
      <vt:lpstr>装载问题</vt:lpstr>
      <vt:lpstr>装载问题</vt:lpstr>
      <vt:lpstr>装载问题</vt:lpstr>
      <vt:lpstr>装载问题</vt:lpstr>
      <vt:lpstr>PowerPoint 演示文稿</vt:lpstr>
      <vt:lpstr>PowerPoint 演示文稿</vt:lpstr>
      <vt:lpstr>PowerPoint 演示文稿</vt:lpstr>
      <vt:lpstr>装载问题</vt:lpstr>
      <vt:lpstr>经典应用——批处理作业调度</vt:lpstr>
      <vt:lpstr>批处理作业调度</vt:lpstr>
      <vt:lpstr>算法思路: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图的m着色问题</vt:lpstr>
      <vt:lpstr>图的m着色问题</vt:lpstr>
      <vt:lpstr>图的m着色问题</vt:lpstr>
      <vt:lpstr>图的m着色问题</vt:lpstr>
      <vt:lpstr>图的m着色问题</vt:lpstr>
      <vt:lpstr>图的m着色问题</vt:lpstr>
      <vt:lpstr>回溯法效率分析</vt:lpstr>
      <vt:lpstr>回溯法效率分析</vt:lpstr>
      <vt:lpstr>回溯法效率分析</vt:lpstr>
      <vt:lpstr>连续邮资问题</vt:lpstr>
      <vt:lpstr>连续邮资问题</vt:lpstr>
      <vt:lpstr>连续邮资问题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回溯法</dc:title>
  <dc:creator>Administrator</dc:creator>
  <cp:lastModifiedBy>lenovo</cp:lastModifiedBy>
  <cp:revision>339</cp:revision>
  <dcterms:created xsi:type="dcterms:W3CDTF">2009-05-30T14:16:00Z</dcterms:created>
  <dcterms:modified xsi:type="dcterms:W3CDTF">2019-05-30T15:12:33Z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