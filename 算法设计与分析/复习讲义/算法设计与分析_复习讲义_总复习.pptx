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524" y="-11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F5FA7F0E-0DE5-4DB8-B236-5BFCDB216B1A}" type="datetimeFigureOut">
              <a:rPr lang="zh-CN" altLang="en-US" smtClean="0"/>
              <a:pPr/>
              <a:t>2016/5/31</a:t>
            </a:fld>
            <a:endParaRPr lang="zh-CN" alt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zh-CN" alt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F46B7D5-4D88-40C9-A0CB-32B309D7A678}" type="slidenum">
              <a:rPr lang="zh-CN" altLang="en-US" smtClean="0"/>
              <a:pPr/>
              <a:t>‹#›</a:t>
            </a:fld>
            <a:endParaRPr lang="zh-CN" alt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F46B7D5-4D88-40C9-A0CB-32B309D7A678}" type="slidenum">
              <a:rPr lang="zh-CN" altLang="en-US" smtClean="0"/>
              <a:pPr/>
              <a:t>‹#›</a:t>
            </a:fld>
            <a:endParaRPr lang="zh-CN" altLang="en-US"/>
          </a:p>
        </p:txBody>
      </p:sp>
      <p:sp>
        <p:nvSpPr>
          <p:cNvPr id="11" name="Title 10"/>
          <p:cNvSpPr>
            <a:spLocks noGrp="1"/>
          </p:cNvSpPr>
          <p:nvPr>
            <p:ph type="title"/>
          </p:nvPr>
        </p:nvSpPr>
        <p:spPr/>
        <p:txBody>
          <a:bodyPr/>
          <a:lstStyle/>
          <a:p>
            <a:r>
              <a:rPr lang="zh-CN" altLang="en-US" smtClean="0"/>
              <a:t>单击此处编辑母版标题样式</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F46B7D5-4D88-40C9-A0CB-32B309D7A678}"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F46B7D5-4D88-40C9-A0CB-32B309D7A678}" type="slidenum">
              <a:rPr lang="zh-CN" altLang="en-US" smtClean="0"/>
              <a:pPr/>
              <a:t>‹#›</a:t>
            </a:fld>
            <a:endParaRPr lang="zh-CN" altLang="en-US"/>
          </a:p>
        </p:txBody>
      </p:sp>
      <p:sp>
        <p:nvSpPr>
          <p:cNvPr id="12" name="Title 11"/>
          <p:cNvSpPr>
            <a:spLocks noGrp="1"/>
          </p:cNvSpPr>
          <p:nvPr>
            <p:ph type="title"/>
          </p:nvPr>
        </p:nvSpPr>
        <p:spPr/>
        <p:txBody>
          <a:bodyPr/>
          <a:lstStyle>
            <a:lvl1pPr>
              <a:defRPr>
                <a:solidFill>
                  <a:schemeClr val="tx2"/>
                </a:solidFill>
              </a:defRPr>
            </a:lvl1pPr>
          </a:lstStyle>
          <a:p>
            <a:r>
              <a:rPr lang="zh-CN" altLang="en-US" smtClean="0"/>
              <a:t>单击此处编辑母版标题样式</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F46B7D5-4D88-40C9-A0CB-32B309D7A678}" type="slidenum">
              <a:rPr lang="zh-CN" altLang="en-US" smtClean="0"/>
              <a:pPr/>
              <a:t>‹#›</a:t>
            </a:fld>
            <a:endParaRPr lang="zh-CN" alt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F46B7D5-4D88-40C9-A0CB-32B309D7A678}" type="slidenum">
              <a:rPr lang="zh-CN" altLang="en-US" smtClean="0"/>
              <a:pPr/>
              <a:t>‹#›</a:t>
            </a:fld>
            <a:endParaRPr lang="zh-CN" alt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F46B7D5-4D88-40C9-A0CB-32B309D7A678}"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zh-CN" altLang="en-US" smtClean="0"/>
              <a:t>单击此处编辑母版标题样式</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F46B7D5-4D88-40C9-A0CB-32B309D7A678}"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zh-CN" altLang="en-US" smtClean="0"/>
              <a:t>单击此处编辑母版标题样式</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F46B7D5-4D88-40C9-A0CB-32B309D7A678}"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F46B7D5-4D88-40C9-A0CB-32B309D7A678}" type="slidenum">
              <a:rPr lang="zh-CN" altLang="en-US" smtClean="0"/>
              <a:pPr/>
              <a:t>‹#›</a:t>
            </a:fld>
            <a:endParaRPr lang="zh-CN" alt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F5FA7F0E-0DE5-4DB8-B236-5BFCDB216B1A}" type="datetimeFigureOut">
              <a:rPr lang="zh-CN" altLang="en-US" smtClean="0"/>
              <a:pPr/>
              <a:t>2016/5/31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F46B7D5-4D88-40C9-A0CB-32B309D7A678}" type="slidenum">
              <a:rPr lang="zh-CN" altLang="en-US" smtClean="0"/>
              <a:pPr/>
              <a:t>‹#›</a:t>
            </a:fld>
            <a:endParaRPr lang="zh-CN" alt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F5FA7F0E-0DE5-4DB8-B236-5BFCDB216B1A}" type="datetimeFigureOut">
              <a:rPr lang="zh-CN" altLang="en-US" smtClean="0"/>
              <a:pPr/>
              <a:t>2016/5/31</a:t>
            </a:fld>
            <a:endParaRPr lang="zh-CN" alt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2F46B7D5-4D88-40C9-A0CB-32B309D7A67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000" dirty="0" smtClean="0">
                <a:latin typeface="华文中宋" panose="02010600040101010101" pitchFamily="2" charset="-122"/>
                <a:ea typeface="华文中宋" panose="02010600040101010101" pitchFamily="2" charset="-122"/>
              </a:rPr>
              <a:t>总  复  习</a:t>
            </a:r>
            <a:endParaRPr lang="zh-CN" altLang="en-US" sz="6000" dirty="0">
              <a:latin typeface="华文中宋" panose="02010600040101010101" pitchFamily="2" charset="-122"/>
              <a:ea typeface="华文中宋" panose="02010600040101010101" pitchFamily="2" charset="-122"/>
            </a:endParaRP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xmlns="" val="16514463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lnSpc>
                <a:spcPct val="120000"/>
              </a:lnSpc>
              <a:spcBef>
                <a:spcPct val="0"/>
              </a:spcBef>
              <a:buClr>
                <a:srgbClr val="660033"/>
              </a:buClr>
              <a:buSzPct val="80000"/>
              <a:buFont typeface="Wingdings" pitchFamily="2" charset="2"/>
              <a:buChar char="Ø"/>
            </a:pPr>
            <a:r>
              <a:rPr lang="zh-CN" altLang="en-US" b="1" dirty="0" smtClean="0"/>
              <a:t>算法定义：算法是</a:t>
            </a:r>
            <a:r>
              <a:rPr kumimoji="1" lang="zh-CN" altLang="en-US" b="1" dirty="0" smtClean="0"/>
              <a:t>问题求解的有效策略</a:t>
            </a:r>
            <a:r>
              <a:rPr kumimoji="1" lang="en-US" altLang="zh-CN" b="1" dirty="0" smtClean="0"/>
              <a:t>.</a:t>
            </a:r>
            <a:r>
              <a:rPr lang="zh-CN" altLang="en-US" b="1" dirty="0" smtClean="0"/>
              <a:t>是解某一特定问题的一组有穷规则的集合。</a:t>
            </a:r>
          </a:p>
          <a:p>
            <a:pPr>
              <a:lnSpc>
                <a:spcPct val="120000"/>
              </a:lnSpc>
              <a:spcBef>
                <a:spcPct val="0"/>
              </a:spcBef>
              <a:buClr>
                <a:srgbClr val="660033"/>
              </a:buClr>
              <a:buSzPct val="80000"/>
              <a:buFont typeface="Wingdings" pitchFamily="2" charset="2"/>
              <a:buChar char="Ø"/>
            </a:pPr>
            <a:r>
              <a:rPr lang="zh-CN" altLang="en-US" b="1" dirty="0" smtClean="0"/>
              <a:t>算法特征 ：</a:t>
            </a:r>
          </a:p>
          <a:p>
            <a:pPr>
              <a:lnSpc>
                <a:spcPct val="120000"/>
              </a:lnSpc>
              <a:spcBef>
                <a:spcPct val="0"/>
              </a:spcBef>
              <a:buClr>
                <a:srgbClr val="660033"/>
              </a:buClr>
              <a:buSzPct val="80000"/>
              <a:buNone/>
            </a:pPr>
            <a:r>
              <a:rPr lang="zh-CN" altLang="en-US" b="1" dirty="0" smtClean="0"/>
              <a:t>   有限性、确定性、输入、输出、能行性</a:t>
            </a:r>
            <a:endParaRPr lang="en-US" altLang="zh-CN" b="1" dirty="0" smtClean="0"/>
          </a:p>
          <a:p>
            <a:pPr>
              <a:buFont typeface="Wingdings" panose="05000000000000000000" pitchFamily="2" charset="2"/>
              <a:buChar char="Ø"/>
            </a:pPr>
            <a:r>
              <a:rPr lang="zh-CN" altLang="en-US" b="1" dirty="0"/>
              <a:t>算法复杂性：算法运行所需要的计算机资源的量</a:t>
            </a:r>
          </a:p>
          <a:p>
            <a:pPr lvl="1"/>
            <a:r>
              <a:rPr lang="zh-CN" altLang="en-US" dirty="0" smtClean="0"/>
              <a:t>时间复杂性：需要时间资源的量</a:t>
            </a:r>
          </a:p>
          <a:p>
            <a:pPr lvl="1"/>
            <a:r>
              <a:rPr lang="zh-CN" altLang="en-US" dirty="0" smtClean="0"/>
              <a:t>空间复杂性：需要空间资源的量</a:t>
            </a:r>
          </a:p>
          <a:p>
            <a:pPr>
              <a:lnSpc>
                <a:spcPct val="120000"/>
              </a:lnSpc>
              <a:spcBef>
                <a:spcPct val="0"/>
              </a:spcBef>
              <a:buClr>
                <a:srgbClr val="660033"/>
              </a:buClr>
              <a:buSzPct val="80000"/>
              <a:buNone/>
            </a:pPr>
            <a:endParaRPr lang="zh-CN" altLang="en-US" b="1" dirty="0" smtClean="0"/>
          </a:p>
          <a:p>
            <a:endParaRPr lang="zh-CN" altLang="en-US" dirty="0"/>
          </a:p>
        </p:txBody>
      </p:sp>
      <p:sp>
        <p:nvSpPr>
          <p:cNvPr id="2" name="标题 1"/>
          <p:cNvSpPr>
            <a:spLocks noGrp="1"/>
          </p:cNvSpPr>
          <p:nvPr>
            <p:ph type="title"/>
          </p:nvPr>
        </p:nvSpPr>
        <p:spPr/>
        <p:txBody>
          <a:bodyPr/>
          <a:lstStyle/>
          <a:p>
            <a:r>
              <a:rPr lang="zh-CN" altLang="en-US" dirty="0" smtClean="0"/>
              <a:t>第一章 基础知识</a:t>
            </a:r>
            <a:endParaRPr lang="zh-CN" altLang="en-US" dirty="0"/>
          </a:p>
        </p:txBody>
      </p:sp>
    </p:spTree>
    <p:extLst>
      <p:ext uri="{BB962C8B-B14F-4D97-AF65-F5344CB8AC3E}">
        <p14:creationId xmlns:p14="http://schemas.microsoft.com/office/powerpoint/2010/main" xmlns="" val="2002898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132856"/>
            <a:ext cx="8229600" cy="4320480"/>
          </a:xfrm>
        </p:spPr>
        <p:txBody>
          <a:bodyPr>
            <a:normAutofit/>
          </a:bodyPr>
          <a:lstStyle/>
          <a:p>
            <a:pPr algn="just">
              <a:buClr>
                <a:schemeClr val="tx1"/>
              </a:buClr>
              <a:buFont typeface="Wingdings" pitchFamily="2" charset="2"/>
              <a:buChar char="Ø"/>
            </a:pPr>
            <a:r>
              <a:rPr lang="en-US" altLang="zh-CN" b="1" dirty="0" smtClean="0">
                <a:latin typeface="楷体_GB2312" pitchFamily="49" charset="-122"/>
                <a:ea typeface="楷体_GB2312" pitchFamily="49" charset="-122"/>
              </a:rPr>
              <a:t>1</a:t>
            </a:r>
            <a:r>
              <a:rPr lang="zh-CN" altLang="en-US" b="1" dirty="0" smtClean="0">
                <a:latin typeface="楷体_GB2312" pitchFamily="49" charset="-122"/>
                <a:ea typeface="楷体_GB2312" pitchFamily="49" charset="-122"/>
              </a:rPr>
              <a:t>、递归的概念</a:t>
            </a:r>
            <a:endParaRPr lang="en-US" altLang="zh-CN" b="1" dirty="0" smtClean="0">
              <a:latin typeface="楷体_GB2312" pitchFamily="49" charset="-122"/>
              <a:ea typeface="楷体_GB2312" pitchFamily="49" charset="-122"/>
            </a:endParaRPr>
          </a:p>
          <a:p>
            <a:pPr lvl="1" algn="just">
              <a:buClr>
                <a:schemeClr val="tx1"/>
              </a:buClr>
              <a:buFont typeface="Wingdings" pitchFamily="2" charset="2"/>
              <a:buChar char="Ø"/>
            </a:pPr>
            <a:r>
              <a:rPr kumimoji="1" lang="zh-CN" altLang="en-US" b="1" dirty="0">
                <a:latin typeface="Times New Roman" pitchFamily="18" charset="0"/>
                <a:ea typeface="楷体_GB2312" pitchFamily="49" charset="-122"/>
              </a:rPr>
              <a:t>一个递归模型是由</a:t>
            </a:r>
            <a:r>
              <a:rPr kumimoji="1" lang="zh-CN" altLang="en-US" b="1" dirty="0">
                <a:solidFill>
                  <a:srgbClr val="FF0000"/>
                </a:solidFill>
                <a:latin typeface="Times New Roman" pitchFamily="18" charset="0"/>
                <a:ea typeface="楷体_GB2312" pitchFamily="49" charset="-122"/>
              </a:rPr>
              <a:t>递归边界</a:t>
            </a:r>
            <a:r>
              <a:rPr kumimoji="1" lang="zh-CN" altLang="en-US" b="1" dirty="0">
                <a:latin typeface="Times New Roman" pitchFamily="18" charset="0"/>
                <a:ea typeface="楷体_GB2312" pitchFamily="49" charset="-122"/>
              </a:rPr>
              <a:t>和</a:t>
            </a:r>
            <a:r>
              <a:rPr kumimoji="1" lang="zh-CN" altLang="en-US" b="1" dirty="0">
                <a:solidFill>
                  <a:srgbClr val="FF0000"/>
                </a:solidFill>
                <a:latin typeface="Times New Roman" pitchFamily="18" charset="0"/>
                <a:ea typeface="楷体_GB2312" pitchFamily="49" charset="-122"/>
              </a:rPr>
              <a:t>递归体</a:t>
            </a:r>
            <a:r>
              <a:rPr kumimoji="1" lang="zh-CN" altLang="en-US" b="1" dirty="0">
                <a:latin typeface="Times New Roman" pitchFamily="18" charset="0"/>
                <a:ea typeface="楷体_GB2312" pitchFamily="49" charset="-122"/>
              </a:rPr>
              <a:t>两部分组成</a:t>
            </a:r>
            <a:r>
              <a:rPr kumimoji="1" lang="en-US" altLang="zh-CN" b="1" dirty="0">
                <a:latin typeface="Times New Roman" pitchFamily="18" charset="0"/>
                <a:ea typeface="楷体_GB2312" pitchFamily="49" charset="-122"/>
              </a:rPr>
              <a:t>,</a:t>
            </a:r>
            <a:r>
              <a:rPr kumimoji="1" lang="zh-CN" altLang="en-US" b="1" dirty="0">
                <a:latin typeface="Times New Roman" pitchFamily="18" charset="0"/>
                <a:ea typeface="楷体_GB2312" pitchFamily="49" charset="-122"/>
              </a:rPr>
              <a:t>前者确定递归到何时结束</a:t>
            </a:r>
            <a:r>
              <a:rPr kumimoji="1" lang="en-US" altLang="zh-CN" b="1" dirty="0">
                <a:latin typeface="Times New Roman" pitchFamily="18" charset="0"/>
                <a:ea typeface="楷体_GB2312" pitchFamily="49" charset="-122"/>
              </a:rPr>
              <a:t>,</a:t>
            </a:r>
            <a:r>
              <a:rPr kumimoji="1" lang="zh-CN" altLang="en-US" b="1" dirty="0">
                <a:latin typeface="Times New Roman" pitchFamily="18" charset="0"/>
                <a:ea typeface="楷体_GB2312" pitchFamily="49" charset="-122"/>
              </a:rPr>
              <a:t>后者确定递归求解时的递推关系</a:t>
            </a:r>
            <a:r>
              <a:rPr kumimoji="1" lang="zh-CN" altLang="en-US" b="1" dirty="0" smtClean="0">
                <a:latin typeface="Times New Roman" pitchFamily="18" charset="0"/>
                <a:ea typeface="楷体_GB2312" pitchFamily="49" charset="-122"/>
              </a:rPr>
              <a:t>。</a:t>
            </a:r>
            <a:endParaRPr lang="zh-CN" altLang="en-US" b="1" dirty="0" smtClean="0">
              <a:latin typeface="楷体_GB2312" pitchFamily="49" charset="-122"/>
              <a:ea typeface="楷体_GB2312" pitchFamily="49" charset="-122"/>
            </a:endParaRPr>
          </a:p>
          <a:p>
            <a:pPr algn="just">
              <a:buClr>
                <a:schemeClr val="tx1"/>
              </a:buClr>
              <a:buFont typeface="Wingdings" pitchFamily="2" charset="2"/>
              <a:buChar char="Ø"/>
            </a:pPr>
            <a:r>
              <a:rPr lang="en-US" altLang="zh-CN" b="1" dirty="0" smtClean="0">
                <a:solidFill>
                  <a:srgbClr val="080808"/>
                </a:solidFill>
                <a:latin typeface="楷体_GB2312" pitchFamily="49" charset="-122"/>
                <a:ea typeface="楷体_GB2312" pitchFamily="49" charset="-122"/>
              </a:rPr>
              <a:t>2</a:t>
            </a:r>
            <a:r>
              <a:rPr lang="zh-CN" altLang="en-US" b="1" dirty="0" smtClean="0">
                <a:solidFill>
                  <a:srgbClr val="080808"/>
                </a:solidFill>
                <a:latin typeface="楷体_GB2312" pitchFamily="49" charset="-122"/>
                <a:ea typeface="楷体_GB2312" pitchFamily="49" charset="-122"/>
              </a:rPr>
              <a:t>、递归算法的设计方法</a:t>
            </a:r>
            <a:endParaRPr lang="en-US" altLang="zh-CN" b="1" dirty="0" smtClean="0">
              <a:solidFill>
                <a:srgbClr val="080808"/>
              </a:solidFill>
              <a:latin typeface="楷体_GB2312" pitchFamily="49" charset="-122"/>
              <a:ea typeface="楷体_GB2312" pitchFamily="49" charset="-122"/>
            </a:endParaRPr>
          </a:p>
          <a:p>
            <a:pPr lvl="1" algn="just">
              <a:buClr>
                <a:schemeClr val="tx1"/>
              </a:buClr>
              <a:buFont typeface="Wingdings" pitchFamily="2" charset="2"/>
              <a:buChar char="Ø"/>
            </a:pPr>
            <a:r>
              <a:rPr lang="zh-CN" altLang="en-US" b="1" dirty="0" smtClean="0">
                <a:solidFill>
                  <a:srgbClr val="080808"/>
                </a:solidFill>
                <a:latin typeface="楷体_GB2312" pitchFamily="49" charset="-122"/>
                <a:ea typeface="楷体_GB2312" pitchFamily="49" charset="-122"/>
              </a:rPr>
              <a:t>典型例子：阶乘、汉诺塔、费布那切数列等</a:t>
            </a:r>
          </a:p>
          <a:p>
            <a:pPr algn="just">
              <a:buClr>
                <a:schemeClr val="tx1"/>
              </a:buClr>
              <a:buFont typeface="Wingdings" pitchFamily="2" charset="2"/>
              <a:buChar char="Ø"/>
            </a:pPr>
            <a:r>
              <a:rPr lang="en-US" altLang="zh-CN" b="1" dirty="0" smtClean="0">
                <a:solidFill>
                  <a:srgbClr val="080808"/>
                </a:solidFill>
                <a:latin typeface="楷体_GB2312" pitchFamily="49" charset="-122"/>
                <a:ea typeface="楷体_GB2312" pitchFamily="49" charset="-122"/>
              </a:rPr>
              <a:t>3</a:t>
            </a:r>
            <a:r>
              <a:rPr lang="zh-CN" altLang="en-US" b="1" dirty="0" smtClean="0">
                <a:solidFill>
                  <a:srgbClr val="080808"/>
                </a:solidFill>
                <a:latin typeface="楷体_GB2312" pitchFamily="49" charset="-122"/>
                <a:ea typeface="楷体_GB2312" pitchFamily="49" charset="-122"/>
              </a:rPr>
              <a:t>、递归算法的执行过程</a:t>
            </a:r>
          </a:p>
          <a:p>
            <a:pPr algn="just">
              <a:buClr>
                <a:schemeClr val="tx1"/>
              </a:buClr>
              <a:buFont typeface="Wingdings" pitchFamily="2" charset="2"/>
              <a:buChar char="Ø"/>
            </a:pPr>
            <a:r>
              <a:rPr lang="en-US" altLang="zh-CN" b="1" dirty="0" smtClean="0">
                <a:solidFill>
                  <a:srgbClr val="080808"/>
                </a:solidFill>
                <a:latin typeface="楷体_GB2312" pitchFamily="49" charset="-122"/>
                <a:ea typeface="楷体_GB2312" pitchFamily="49" charset="-122"/>
              </a:rPr>
              <a:t>4</a:t>
            </a:r>
            <a:r>
              <a:rPr lang="zh-CN" altLang="en-US" b="1" dirty="0" smtClean="0">
                <a:solidFill>
                  <a:srgbClr val="080808"/>
                </a:solidFill>
                <a:latin typeface="楷体_GB2312" pitchFamily="49" charset="-122"/>
                <a:ea typeface="楷体_GB2312" pitchFamily="49" charset="-122"/>
              </a:rPr>
              <a:t>、递归算法的效率分析</a:t>
            </a:r>
            <a:endParaRPr lang="en-US" altLang="zh-CN" b="1" dirty="0" smtClean="0">
              <a:solidFill>
                <a:srgbClr val="080808"/>
              </a:solidFill>
              <a:latin typeface="楷体_GB2312" pitchFamily="49" charset="-122"/>
              <a:ea typeface="楷体_GB2312" pitchFamily="49" charset="-122"/>
            </a:endParaRPr>
          </a:p>
          <a:p>
            <a:pPr lvl="1" algn="just">
              <a:buClr>
                <a:schemeClr val="tx1"/>
              </a:buClr>
              <a:buFont typeface="Wingdings" pitchFamily="2" charset="2"/>
              <a:buChar char="Ø"/>
            </a:pPr>
            <a:r>
              <a:rPr lang="zh-CN" altLang="en-US" b="1" dirty="0" smtClean="0">
                <a:solidFill>
                  <a:srgbClr val="080808"/>
                </a:solidFill>
                <a:latin typeface="楷体_GB2312" pitchFamily="49" charset="-122"/>
                <a:ea typeface="楷体_GB2312" pitchFamily="49" charset="-122"/>
              </a:rPr>
              <a:t>解递归方程</a:t>
            </a:r>
            <a:endParaRPr lang="en-US" altLang="zh-CN" b="1" dirty="0" smtClean="0">
              <a:solidFill>
                <a:srgbClr val="080808"/>
              </a:solidFill>
              <a:latin typeface="楷体_GB2312" pitchFamily="49" charset="-122"/>
              <a:ea typeface="楷体_GB2312" pitchFamily="49" charset="-122"/>
            </a:endParaRPr>
          </a:p>
          <a:p>
            <a:endParaRPr lang="zh-CN" altLang="en-US" dirty="0"/>
          </a:p>
        </p:txBody>
      </p:sp>
      <p:sp>
        <p:nvSpPr>
          <p:cNvPr id="2" name="标题 1"/>
          <p:cNvSpPr>
            <a:spLocks noGrp="1"/>
          </p:cNvSpPr>
          <p:nvPr>
            <p:ph type="title"/>
          </p:nvPr>
        </p:nvSpPr>
        <p:spPr/>
        <p:txBody>
          <a:bodyPr/>
          <a:lstStyle/>
          <a:p>
            <a:r>
              <a:rPr lang="zh-CN" altLang="en-US" dirty="0" smtClean="0"/>
              <a:t>第二章 递归</a:t>
            </a:r>
            <a:endParaRPr lang="zh-CN" altLang="en-US" dirty="0"/>
          </a:p>
        </p:txBody>
      </p:sp>
    </p:spTree>
    <p:extLst>
      <p:ext uri="{BB962C8B-B14F-4D97-AF65-F5344CB8AC3E}">
        <p14:creationId xmlns:p14="http://schemas.microsoft.com/office/powerpoint/2010/main" xmlns="" val="22388276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060848"/>
            <a:ext cx="8229600" cy="4320480"/>
          </a:xfrm>
        </p:spPr>
        <p:txBody>
          <a:bodyPr>
            <a:normAutofit fontScale="92500" lnSpcReduction="10000"/>
          </a:bodyPr>
          <a:lstStyle/>
          <a:p>
            <a:pPr algn="just">
              <a:buFont typeface="Wingdings" pitchFamily="2" charset="2"/>
              <a:buNone/>
              <a:defRPr/>
            </a:pPr>
            <a:r>
              <a:rPr lang="en-US" altLang="zh-CN" b="1" dirty="0">
                <a:latin typeface="宋体" pitchFamily="2" charset="-122"/>
              </a:rPr>
              <a:t>1 </a:t>
            </a:r>
            <a:r>
              <a:rPr lang="zh-CN" altLang="en-US" b="1" dirty="0">
                <a:latin typeface="宋体" pitchFamily="2" charset="-122"/>
              </a:rPr>
              <a:t>分治算法基本</a:t>
            </a:r>
            <a:r>
              <a:rPr lang="zh-CN" altLang="en-US" b="1" dirty="0" smtClean="0">
                <a:latin typeface="宋体" pitchFamily="2" charset="-122"/>
              </a:rPr>
              <a:t>思想</a:t>
            </a:r>
            <a:endParaRPr lang="en-US" altLang="zh-CN" b="1" dirty="0" smtClean="0">
              <a:latin typeface="宋体" pitchFamily="2" charset="-122"/>
            </a:endParaRPr>
          </a:p>
          <a:p>
            <a:pPr marL="971550" lvl="1" indent="-514350" algn="just" fontAlgn="base">
              <a:spcBef>
                <a:spcPct val="50000"/>
              </a:spcBef>
              <a:spcAft>
                <a:spcPct val="0"/>
              </a:spcAft>
              <a:buAutoNum type="arabicParenBoth"/>
            </a:pPr>
            <a:r>
              <a:rPr kumimoji="1" lang="zh-CN" altLang="en-US" dirty="0" smtClean="0">
                <a:solidFill>
                  <a:srgbClr val="000000"/>
                </a:solidFill>
                <a:latin typeface="Times New Roman" pitchFamily="18" charset="0"/>
                <a:ea typeface="宋体" pitchFamily="2" charset="-122"/>
              </a:rPr>
              <a:t>划分</a:t>
            </a:r>
            <a:r>
              <a:rPr kumimoji="1" lang="en-US" altLang="zh-CN" dirty="0" smtClean="0">
                <a:solidFill>
                  <a:srgbClr val="000000"/>
                </a:solidFill>
                <a:latin typeface="Times New Roman" pitchFamily="18" charset="0"/>
                <a:ea typeface="宋体" pitchFamily="2" charset="-122"/>
              </a:rPr>
              <a:t>(divide)</a:t>
            </a:r>
            <a:r>
              <a:rPr kumimoji="1" lang="zh-CN" altLang="en-US" dirty="0" smtClean="0">
                <a:solidFill>
                  <a:srgbClr val="000000"/>
                </a:solidFill>
                <a:latin typeface="Times New Roman" pitchFamily="18" charset="0"/>
                <a:ea typeface="宋体" pitchFamily="2" charset="-122"/>
              </a:rPr>
              <a:t>         </a:t>
            </a:r>
            <a:endParaRPr kumimoji="1" lang="en-US" altLang="zh-CN" dirty="0" smtClean="0">
              <a:solidFill>
                <a:srgbClr val="000000"/>
              </a:solidFill>
              <a:latin typeface="Times New Roman" pitchFamily="18" charset="0"/>
              <a:ea typeface="宋体" pitchFamily="2" charset="-122"/>
            </a:endParaRPr>
          </a:p>
          <a:p>
            <a:pPr marL="457200" lvl="1" indent="0" algn="just" fontAlgn="base">
              <a:spcBef>
                <a:spcPct val="50000"/>
              </a:spcBef>
              <a:spcAft>
                <a:spcPct val="0"/>
              </a:spcAft>
              <a:buNone/>
            </a:pPr>
            <a:r>
              <a:rPr kumimoji="1" lang="en-US" altLang="zh-CN" dirty="0" smtClean="0">
                <a:solidFill>
                  <a:srgbClr val="000000"/>
                </a:solidFill>
                <a:latin typeface="Times New Roman" pitchFamily="18" charset="0"/>
                <a:ea typeface="宋体" pitchFamily="2" charset="-122"/>
              </a:rPr>
              <a:t>(2) </a:t>
            </a:r>
            <a:r>
              <a:rPr kumimoji="1" lang="zh-CN" altLang="en-US" dirty="0" smtClean="0">
                <a:solidFill>
                  <a:srgbClr val="000000"/>
                </a:solidFill>
                <a:latin typeface="Times New Roman" pitchFamily="18" charset="0"/>
                <a:ea typeface="宋体" pitchFamily="2" charset="-122"/>
              </a:rPr>
              <a:t>解决</a:t>
            </a:r>
            <a:r>
              <a:rPr kumimoji="1" lang="en-US" altLang="zh-CN" dirty="0" smtClean="0">
                <a:solidFill>
                  <a:srgbClr val="000000"/>
                </a:solidFill>
                <a:latin typeface="Times New Roman" pitchFamily="18" charset="0"/>
                <a:ea typeface="宋体" pitchFamily="2" charset="-122"/>
              </a:rPr>
              <a:t>(conquer)</a:t>
            </a:r>
            <a:r>
              <a:rPr kumimoji="1" lang="zh-CN" altLang="en-US" dirty="0" smtClean="0">
                <a:solidFill>
                  <a:srgbClr val="000000"/>
                </a:solidFill>
                <a:latin typeface="Times New Roman" pitchFamily="18" charset="0"/>
                <a:ea typeface="宋体" pitchFamily="2" charset="-122"/>
              </a:rPr>
              <a:t>          </a:t>
            </a:r>
            <a:endParaRPr kumimoji="1" lang="en-US" altLang="zh-CN" dirty="0" smtClean="0">
              <a:solidFill>
                <a:srgbClr val="000000"/>
              </a:solidFill>
              <a:latin typeface="Times New Roman" pitchFamily="18" charset="0"/>
              <a:ea typeface="宋体" pitchFamily="2" charset="-122"/>
            </a:endParaRPr>
          </a:p>
          <a:p>
            <a:pPr marL="457200" lvl="1" indent="0" algn="just" fontAlgn="base">
              <a:spcBef>
                <a:spcPct val="50000"/>
              </a:spcBef>
              <a:spcAft>
                <a:spcPct val="0"/>
              </a:spcAft>
              <a:buNone/>
            </a:pPr>
            <a:r>
              <a:rPr kumimoji="1" lang="en-US" altLang="zh-CN" dirty="0" smtClean="0">
                <a:solidFill>
                  <a:srgbClr val="000000"/>
                </a:solidFill>
                <a:latin typeface="Times New Roman" pitchFamily="18" charset="0"/>
                <a:ea typeface="宋体" pitchFamily="2" charset="-122"/>
              </a:rPr>
              <a:t>(3) </a:t>
            </a:r>
            <a:r>
              <a:rPr kumimoji="1" lang="zh-CN" altLang="en-US" dirty="0" smtClean="0">
                <a:solidFill>
                  <a:srgbClr val="000000"/>
                </a:solidFill>
                <a:latin typeface="Times New Roman" pitchFamily="18" charset="0"/>
                <a:ea typeface="宋体" pitchFamily="2" charset="-122"/>
              </a:rPr>
              <a:t>合并</a:t>
            </a:r>
            <a:r>
              <a:rPr kumimoji="1" lang="en-US" altLang="zh-CN" dirty="0" smtClean="0">
                <a:solidFill>
                  <a:srgbClr val="000000"/>
                </a:solidFill>
                <a:latin typeface="Times New Roman" pitchFamily="18" charset="0"/>
                <a:ea typeface="宋体" pitchFamily="2" charset="-122"/>
              </a:rPr>
              <a:t>(combine)</a:t>
            </a:r>
          </a:p>
          <a:p>
            <a:pPr>
              <a:buNone/>
              <a:defRPr/>
            </a:pPr>
            <a:r>
              <a:rPr lang="zh-CN" altLang="en-US" sz="2400" b="1" dirty="0">
                <a:effectLst>
                  <a:outerShdw blurRad="38100" dist="38100" dir="2700000" algn="tl">
                    <a:srgbClr val="C0C0C0"/>
                  </a:outerShdw>
                </a:effectLst>
                <a:ea typeface="黑体" pitchFamily="2" charset="-122"/>
              </a:rPr>
              <a:t>分治法所能解决的问题一般具有以下几个特征：</a:t>
            </a:r>
          </a:p>
          <a:p>
            <a:pPr>
              <a:defRPr/>
            </a:pPr>
            <a:r>
              <a:rPr lang="zh-CN" altLang="en-US" sz="2400" b="1" dirty="0">
                <a:ea typeface="楷体_GB2312" pitchFamily="49" charset="-122"/>
              </a:rPr>
              <a:t>该问题的规模缩小到一定的程度就可以容易地解决；</a:t>
            </a:r>
            <a:endParaRPr lang="zh-CN" altLang="en-US" sz="2400" dirty="0">
              <a:ea typeface="楷体_GB2312" pitchFamily="49" charset="-122"/>
            </a:endParaRPr>
          </a:p>
          <a:p>
            <a:pPr>
              <a:defRPr/>
            </a:pPr>
            <a:r>
              <a:rPr lang="zh-CN" altLang="en-US" sz="2400" b="1" dirty="0">
                <a:ea typeface="楷体_GB2312" pitchFamily="49" charset="-122"/>
              </a:rPr>
              <a:t>该问题可以分解为若干个规模较小的相同问题，即该问题具有</a:t>
            </a:r>
            <a:r>
              <a:rPr lang="zh-CN" altLang="en-US" sz="2400" b="1" dirty="0">
                <a:ea typeface="黑体" pitchFamily="2" charset="-122"/>
              </a:rPr>
              <a:t>最优子结构性质</a:t>
            </a:r>
          </a:p>
          <a:p>
            <a:pPr>
              <a:defRPr/>
            </a:pPr>
            <a:r>
              <a:rPr lang="zh-CN" altLang="en-US" sz="2400" b="1" dirty="0">
                <a:ea typeface="楷体_GB2312" pitchFamily="49" charset="-122"/>
              </a:rPr>
              <a:t>利用该问题分解出的子问题的解可以合并为该问题的解；</a:t>
            </a:r>
          </a:p>
          <a:p>
            <a:pPr>
              <a:defRPr/>
            </a:pPr>
            <a:r>
              <a:rPr lang="zh-CN" altLang="en-US" sz="2400" b="1" dirty="0">
                <a:ea typeface="楷体_GB2312" pitchFamily="49" charset="-122"/>
              </a:rPr>
              <a:t>该问题所分解出的各个子问题是相互独立的，即子问题之间不包含公共的子问题。 </a:t>
            </a:r>
            <a:endParaRPr lang="zh-CN" altLang="en-US" b="1" dirty="0">
              <a:latin typeface="宋体" pitchFamily="2" charset="-122"/>
            </a:endParaRPr>
          </a:p>
          <a:p>
            <a:endParaRPr lang="zh-CN" altLang="en-US" dirty="0"/>
          </a:p>
        </p:txBody>
      </p:sp>
      <p:sp>
        <p:nvSpPr>
          <p:cNvPr id="2" name="标题 1"/>
          <p:cNvSpPr>
            <a:spLocks noGrp="1"/>
          </p:cNvSpPr>
          <p:nvPr>
            <p:ph type="title"/>
          </p:nvPr>
        </p:nvSpPr>
        <p:spPr>
          <a:xfrm>
            <a:off x="395536" y="404664"/>
            <a:ext cx="8229600" cy="864096"/>
          </a:xfrm>
        </p:spPr>
        <p:txBody>
          <a:bodyPr/>
          <a:lstStyle/>
          <a:p>
            <a:r>
              <a:rPr lang="zh-CN" altLang="en-US" dirty="0" smtClean="0"/>
              <a:t>第三章 分治法</a:t>
            </a:r>
            <a:endParaRPr lang="zh-CN" altLang="en-US" dirty="0"/>
          </a:p>
        </p:txBody>
      </p:sp>
    </p:spTree>
    <p:extLst>
      <p:ext uri="{BB962C8B-B14F-4D97-AF65-F5344CB8AC3E}">
        <p14:creationId xmlns:p14="http://schemas.microsoft.com/office/powerpoint/2010/main" xmlns="" val="35857426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4857403"/>
          </a:xfrm>
        </p:spPr>
        <p:txBody>
          <a:bodyPr/>
          <a:lstStyle/>
          <a:p>
            <a:r>
              <a:rPr lang="en-US" altLang="zh-CN" sz="4000" b="1" dirty="0" smtClean="0">
                <a:latin typeface="宋体" pitchFamily="2" charset="-122"/>
              </a:rPr>
              <a:t>2 </a:t>
            </a:r>
            <a:r>
              <a:rPr lang="zh-CN" altLang="en-US" sz="4000" b="1" dirty="0" smtClean="0">
                <a:latin typeface="宋体" pitchFamily="2" charset="-122"/>
              </a:rPr>
              <a:t>典型实例</a:t>
            </a:r>
            <a:endParaRPr lang="en-US" altLang="zh-CN" sz="4000" b="1" dirty="0" smtClean="0">
              <a:latin typeface="宋体" pitchFamily="2" charset="-122"/>
            </a:endParaRPr>
          </a:p>
          <a:p>
            <a:pPr lvl="1"/>
            <a:r>
              <a:rPr lang="zh-CN" altLang="en-US" sz="3600" b="1" dirty="0">
                <a:latin typeface="宋体" pitchFamily="2" charset="-122"/>
              </a:rPr>
              <a:t>折半</a:t>
            </a:r>
            <a:r>
              <a:rPr lang="zh-CN" altLang="en-US" sz="3600" b="1" dirty="0" smtClean="0">
                <a:latin typeface="宋体" pitchFamily="2" charset="-122"/>
              </a:rPr>
              <a:t>查找</a:t>
            </a:r>
            <a:endParaRPr lang="en-US" altLang="zh-CN" sz="3600" b="1" dirty="0" smtClean="0">
              <a:latin typeface="宋体" pitchFamily="2" charset="-122"/>
            </a:endParaRPr>
          </a:p>
          <a:p>
            <a:pPr lvl="1"/>
            <a:r>
              <a:rPr lang="zh-CN" altLang="en-US" sz="3600" b="1" dirty="0">
                <a:latin typeface="宋体" pitchFamily="2" charset="-122"/>
              </a:rPr>
              <a:t>合并</a:t>
            </a:r>
            <a:r>
              <a:rPr lang="zh-CN" altLang="en-US" sz="3600" b="1" dirty="0" smtClean="0">
                <a:latin typeface="宋体" pitchFamily="2" charset="-122"/>
              </a:rPr>
              <a:t>排序</a:t>
            </a:r>
            <a:endParaRPr lang="en-US" altLang="zh-CN" sz="3600" b="1" dirty="0" smtClean="0">
              <a:latin typeface="宋体" pitchFamily="2" charset="-122"/>
            </a:endParaRPr>
          </a:p>
          <a:p>
            <a:pPr lvl="1"/>
            <a:r>
              <a:rPr lang="zh-CN" altLang="en-US" sz="3600" b="1" dirty="0">
                <a:latin typeface="宋体" pitchFamily="2" charset="-122"/>
              </a:rPr>
              <a:t>快速</a:t>
            </a:r>
            <a:r>
              <a:rPr lang="zh-CN" altLang="en-US" sz="3600" b="1" dirty="0" smtClean="0">
                <a:latin typeface="宋体" pitchFamily="2" charset="-122"/>
              </a:rPr>
              <a:t>排序</a:t>
            </a:r>
            <a:endParaRPr lang="en-US" altLang="zh-CN" sz="3600" b="1" dirty="0" smtClean="0">
              <a:latin typeface="宋体" pitchFamily="2" charset="-122"/>
            </a:endParaRPr>
          </a:p>
          <a:p>
            <a:pPr lvl="1"/>
            <a:r>
              <a:rPr lang="zh-CN" altLang="en-US" sz="3600" b="1" dirty="0" smtClean="0">
                <a:latin typeface="宋体" pitchFamily="2" charset="-122"/>
              </a:rPr>
              <a:t>找最大值和最小值</a:t>
            </a:r>
          </a:p>
          <a:p>
            <a:endParaRPr lang="zh-CN" altLang="en-US" dirty="0"/>
          </a:p>
        </p:txBody>
      </p:sp>
    </p:spTree>
    <p:extLst>
      <p:ext uri="{BB962C8B-B14F-4D97-AF65-F5344CB8AC3E}">
        <p14:creationId xmlns:p14="http://schemas.microsoft.com/office/powerpoint/2010/main" xmlns="" val="9378834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916832"/>
            <a:ext cx="8229600" cy="4713387"/>
          </a:xfrm>
        </p:spPr>
        <p:txBody>
          <a:bodyPr>
            <a:normAutofit/>
          </a:bodyPr>
          <a:lstStyle/>
          <a:p>
            <a:r>
              <a:rPr lang="zh-CN" altLang="en-US" sz="4000" dirty="0" smtClean="0"/>
              <a:t>最优化问题数学模型</a:t>
            </a:r>
            <a:r>
              <a:rPr lang="zh-CN" altLang="en-US" sz="4000" dirty="0" smtClean="0"/>
              <a:t>描述：</a:t>
            </a:r>
            <a:endParaRPr lang="en-US" altLang="zh-CN" sz="4000" dirty="0" smtClean="0"/>
          </a:p>
          <a:p>
            <a:pPr lvl="1"/>
            <a:r>
              <a:rPr lang="zh-CN" altLang="en-US" sz="3200" dirty="0" smtClean="0"/>
              <a:t>目标函数、约束条件、可行解、最优解</a:t>
            </a:r>
            <a:endParaRPr lang="en-US" altLang="zh-CN" sz="3200" dirty="0" smtClean="0"/>
          </a:p>
          <a:p>
            <a:r>
              <a:rPr lang="zh-CN" altLang="en-US" sz="4000" dirty="0" smtClean="0"/>
              <a:t>贪心算法的设计要素：</a:t>
            </a:r>
            <a:endParaRPr lang="en-US" altLang="zh-CN" sz="4000" dirty="0" smtClean="0"/>
          </a:p>
          <a:p>
            <a:pPr lvl="1"/>
            <a:r>
              <a:rPr lang="zh-CN" altLang="en-US" sz="3200" dirty="0" smtClean="0">
                <a:latin typeface="Times New Roman" pitchFamily="18" charset="0"/>
                <a:ea typeface="华文中宋" pitchFamily="2" charset="-122"/>
              </a:rPr>
              <a:t>最优子结构性质</a:t>
            </a:r>
          </a:p>
          <a:p>
            <a:pPr lvl="1"/>
            <a:r>
              <a:rPr lang="zh-CN" altLang="en-US" sz="3200" dirty="0" smtClean="0">
                <a:latin typeface="Times New Roman" pitchFamily="18" charset="0"/>
                <a:ea typeface="华文中宋" pitchFamily="2" charset="-122"/>
              </a:rPr>
              <a:t>贪心选择性质</a:t>
            </a:r>
          </a:p>
          <a:p>
            <a:r>
              <a:rPr lang="zh-CN" altLang="en-US" sz="4000" dirty="0" smtClean="0">
                <a:ea typeface="宋体" charset="-122"/>
              </a:rPr>
              <a:t>贪心法的正确性问题</a:t>
            </a:r>
            <a:endParaRPr lang="en-US" altLang="zh-CN" sz="4000" dirty="0" smtClean="0"/>
          </a:p>
          <a:p>
            <a:pPr lvl="1"/>
            <a:endParaRPr lang="zh-CN" altLang="en-US" sz="3600" dirty="0"/>
          </a:p>
        </p:txBody>
      </p:sp>
      <p:sp>
        <p:nvSpPr>
          <p:cNvPr id="2" name="标题 1"/>
          <p:cNvSpPr>
            <a:spLocks noGrp="1"/>
          </p:cNvSpPr>
          <p:nvPr>
            <p:ph type="title"/>
          </p:nvPr>
        </p:nvSpPr>
        <p:spPr>
          <a:xfrm>
            <a:off x="395536" y="404664"/>
            <a:ext cx="8229600" cy="1143000"/>
          </a:xfrm>
        </p:spPr>
        <p:txBody>
          <a:bodyPr/>
          <a:lstStyle/>
          <a:p>
            <a:r>
              <a:rPr lang="zh-CN" altLang="en-US" dirty="0" smtClean="0"/>
              <a:t>第四章 贪心策略</a:t>
            </a:r>
            <a:endParaRPr lang="zh-CN" altLang="en-US" dirty="0"/>
          </a:p>
        </p:txBody>
      </p:sp>
    </p:spTree>
    <p:extLst>
      <p:ext uri="{BB962C8B-B14F-4D97-AF65-F5344CB8AC3E}">
        <p14:creationId xmlns:p14="http://schemas.microsoft.com/office/powerpoint/2010/main" xmlns="" val="19705327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sz="4000" dirty="0" smtClean="0"/>
              <a:t>活动安排问题</a:t>
            </a:r>
            <a:endParaRPr lang="en-US" altLang="zh-CN" sz="4000" dirty="0" smtClean="0"/>
          </a:p>
          <a:p>
            <a:r>
              <a:rPr lang="zh-CN" altLang="en-US" sz="4000" dirty="0"/>
              <a:t>背包</a:t>
            </a:r>
            <a:r>
              <a:rPr lang="zh-CN" altLang="en-US" sz="4000" dirty="0" smtClean="0"/>
              <a:t>问题</a:t>
            </a:r>
            <a:endParaRPr lang="en-US" altLang="zh-CN" sz="4000" dirty="0" smtClean="0"/>
          </a:p>
          <a:p>
            <a:r>
              <a:rPr lang="zh-CN" altLang="en-US" sz="4000" dirty="0"/>
              <a:t>最优</a:t>
            </a:r>
            <a:r>
              <a:rPr lang="zh-CN" altLang="en-US" sz="4000" dirty="0" smtClean="0"/>
              <a:t>装载问题</a:t>
            </a:r>
            <a:endParaRPr lang="en-US" altLang="zh-CN" sz="4000" dirty="0" smtClean="0"/>
          </a:p>
          <a:p>
            <a:r>
              <a:rPr lang="zh-CN" altLang="en-US" sz="3600" dirty="0" smtClean="0"/>
              <a:t>最小生成树</a:t>
            </a:r>
            <a:r>
              <a:rPr lang="zh-CN" altLang="en-US" sz="3600" dirty="0" smtClean="0"/>
              <a:t>、最短路径、哈夫曼编码</a:t>
            </a:r>
            <a:endParaRPr lang="zh-CN" altLang="en-US" sz="3600" dirty="0"/>
          </a:p>
        </p:txBody>
      </p:sp>
      <p:sp>
        <p:nvSpPr>
          <p:cNvPr id="2" name="标题 1"/>
          <p:cNvSpPr>
            <a:spLocks noGrp="1"/>
          </p:cNvSpPr>
          <p:nvPr>
            <p:ph type="title"/>
          </p:nvPr>
        </p:nvSpPr>
        <p:spPr/>
        <p:txBody>
          <a:bodyPr/>
          <a:lstStyle/>
          <a:p>
            <a:r>
              <a:rPr lang="zh-CN" altLang="en-US" dirty="0" smtClean="0"/>
              <a:t>贪心法应用实例</a:t>
            </a:r>
            <a:endParaRPr lang="zh-CN" altLang="en-US" dirty="0"/>
          </a:p>
        </p:txBody>
      </p:sp>
    </p:spTree>
    <p:extLst>
      <p:ext uri="{BB962C8B-B14F-4D97-AF65-F5344CB8AC3E}">
        <p14:creationId xmlns:p14="http://schemas.microsoft.com/office/powerpoint/2010/main" xmlns="" val="42637275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132856"/>
            <a:ext cx="8229600" cy="3993307"/>
          </a:xfrm>
        </p:spPr>
        <p:txBody>
          <a:bodyPr>
            <a:normAutofit fontScale="92500" lnSpcReduction="20000"/>
          </a:bodyPr>
          <a:lstStyle/>
          <a:p>
            <a:r>
              <a:rPr lang="zh-CN" altLang="zh-CN" sz="2600" dirty="0" smtClean="0">
                <a:solidFill>
                  <a:srgbClr val="000066"/>
                </a:solidFill>
                <a:latin typeface="Times New Roman" pitchFamily="18" charset="0"/>
                <a:ea typeface="楷体_GB2312" pitchFamily="49" charset="-122"/>
              </a:rPr>
              <a:t>动态规划方法的关键在于正确地写出基本的递推关系式和恰当的边界条件</a:t>
            </a:r>
            <a:r>
              <a:rPr lang="zh-CN" altLang="en-US" sz="2600" dirty="0" smtClean="0">
                <a:solidFill>
                  <a:srgbClr val="000066"/>
                </a:solidFill>
                <a:latin typeface="Times New Roman" pitchFamily="18" charset="0"/>
                <a:ea typeface="楷体_GB2312" pitchFamily="49" charset="-122"/>
              </a:rPr>
              <a:t>。</a:t>
            </a:r>
            <a:endParaRPr lang="en-US" altLang="zh-CN" sz="2600" dirty="0" smtClean="0">
              <a:solidFill>
                <a:srgbClr val="000066"/>
              </a:solidFill>
              <a:latin typeface="Times New Roman" pitchFamily="18" charset="0"/>
              <a:ea typeface="楷体_GB2312" pitchFamily="49" charset="-122"/>
            </a:endParaRPr>
          </a:p>
          <a:p>
            <a:r>
              <a:rPr lang="zh-CN" altLang="en-US" sz="2600" dirty="0" smtClean="0">
                <a:effectLst>
                  <a:outerShdw blurRad="38100" dist="38100" dir="2700000" algn="tl">
                    <a:srgbClr val="C0C0C0"/>
                  </a:outerShdw>
                </a:effectLst>
                <a:ea typeface="黑体" pitchFamily="2" charset="-122"/>
              </a:rPr>
              <a:t>动态规划算法的基本要素</a:t>
            </a:r>
            <a:endParaRPr lang="ja-JP" altLang="en-US" sz="2600" dirty="0" smtClean="0">
              <a:effectLst>
                <a:outerShdw blurRad="38100" dist="38100" dir="2700000" algn="tl">
                  <a:srgbClr val="C0C0C0"/>
                </a:outerShdw>
              </a:effectLst>
              <a:ea typeface="黑体" pitchFamily="2" charset="-122"/>
            </a:endParaRPr>
          </a:p>
          <a:p>
            <a:pPr lvl="1"/>
            <a:r>
              <a:rPr lang="zh-CN" altLang="en-US" sz="2600" dirty="0" smtClean="0">
                <a:effectLst>
                  <a:outerShdw blurRad="38100" dist="38100" dir="2700000" algn="tl">
                    <a:srgbClr val="C0C0C0"/>
                  </a:outerShdw>
                </a:effectLst>
                <a:latin typeface="黑体" pitchFamily="2" charset="-122"/>
                <a:ea typeface="黑体" pitchFamily="2" charset="-122"/>
              </a:rPr>
              <a:t>最优子结构</a:t>
            </a:r>
            <a:endParaRPr lang="en-US" altLang="zh-CN" sz="2600" dirty="0" smtClean="0">
              <a:effectLst>
                <a:outerShdw blurRad="38100" dist="38100" dir="2700000" algn="tl">
                  <a:srgbClr val="C0C0C0"/>
                </a:outerShdw>
              </a:effectLst>
              <a:latin typeface="黑体" pitchFamily="2" charset="-122"/>
              <a:ea typeface="黑体" pitchFamily="2" charset="-122"/>
            </a:endParaRPr>
          </a:p>
          <a:p>
            <a:pPr lvl="1"/>
            <a:r>
              <a:rPr lang="zh-CN" altLang="en-US" sz="2600" dirty="0" smtClean="0">
                <a:effectLst>
                  <a:outerShdw blurRad="38100" dist="38100" dir="2700000" algn="tl">
                    <a:srgbClr val="C0C0C0"/>
                  </a:outerShdw>
                </a:effectLst>
                <a:latin typeface="黑体" pitchFamily="2" charset="-122"/>
                <a:ea typeface="黑体" pitchFamily="2" charset="-122"/>
              </a:rPr>
              <a:t>重叠子问题</a:t>
            </a:r>
          </a:p>
          <a:p>
            <a:pPr lvl="1"/>
            <a:r>
              <a:rPr lang="zh-CN" altLang="en-US" sz="2600" dirty="0" smtClean="0">
                <a:effectLst>
                  <a:outerShdw blurRad="38100" dist="38100" dir="2700000" algn="tl">
                    <a:srgbClr val="C0C0C0"/>
                  </a:outerShdw>
                </a:effectLst>
                <a:latin typeface="黑体" pitchFamily="2" charset="-122"/>
                <a:ea typeface="黑体" pitchFamily="2" charset="-122"/>
              </a:rPr>
              <a:t>备忘录方法</a:t>
            </a:r>
          </a:p>
          <a:p>
            <a:r>
              <a:rPr lang="zh-CN" altLang="en-US" sz="2600" dirty="0" smtClean="0">
                <a:effectLst>
                  <a:outerShdw blurRad="38100" dist="38100" dir="2700000" algn="tl">
                    <a:srgbClr val="C0C0C0"/>
                  </a:outerShdw>
                </a:effectLst>
                <a:ea typeface="黑体" pitchFamily="2" charset="-122"/>
              </a:rPr>
              <a:t>动态规划基本步骤</a:t>
            </a:r>
            <a:endParaRPr lang="en-US" altLang="zh-CN" sz="2600" dirty="0" smtClean="0">
              <a:effectLst>
                <a:outerShdw blurRad="38100" dist="38100" dir="2700000" algn="tl">
                  <a:srgbClr val="C0C0C0"/>
                </a:outerShdw>
              </a:effectLst>
              <a:ea typeface="黑体" pitchFamily="2" charset="-122"/>
            </a:endParaRPr>
          </a:p>
          <a:p>
            <a:pPr lvl="1">
              <a:defRPr/>
            </a:pPr>
            <a:r>
              <a:rPr lang="zh-CN" altLang="en-US" sz="2600" dirty="0">
                <a:solidFill>
                  <a:srgbClr val="000000"/>
                </a:solidFill>
                <a:latin typeface="楷体_GB2312" pitchFamily="49" charset="-122"/>
                <a:ea typeface="楷体_GB2312" pitchFamily="49" charset="-122"/>
                <a:cs typeface="Times New Roman" pitchFamily="18" charset="0"/>
              </a:rPr>
              <a:t>找出最优解的性质，并刻划其结构特征。</a:t>
            </a:r>
          </a:p>
          <a:p>
            <a:pPr lvl="1">
              <a:defRPr/>
            </a:pPr>
            <a:r>
              <a:rPr lang="zh-CN" altLang="en-US" sz="2600" dirty="0">
                <a:ea typeface="楷体_GB2312" pitchFamily="49" charset="-122"/>
                <a:cs typeface="Times New Roman" pitchFamily="18" charset="0"/>
              </a:rPr>
              <a:t>递归地定义最优值。</a:t>
            </a:r>
          </a:p>
          <a:p>
            <a:pPr lvl="1">
              <a:defRPr/>
            </a:pPr>
            <a:r>
              <a:rPr lang="zh-CN" altLang="en-US" sz="2600" dirty="0">
                <a:ea typeface="楷体_GB2312" pitchFamily="49" charset="-122"/>
                <a:cs typeface="Times New Roman" pitchFamily="18" charset="0"/>
              </a:rPr>
              <a:t>以自底向上的方式计算出最优值。</a:t>
            </a:r>
          </a:p>
          <a:p>
            <a:pPr lvl="1">
              <a:defRPr/>
            </a:pPr>
            <a:r>
              <a:rPr lang="zh-CN" altLang="en-US" sz="2600" dirty="0">
                <a:ea typeface="楷体_GB2312" pitchFamily="49" charset="-122"/>
                <a:cs typeface="Times New Roman" pitchFamily="18" charset="0"/>
              </a:rPr>
              <a:t>根据计算最优值时得到的信息，构造最优解。</a:t>
            </a:r>
          </a:p>
          <a:p>
            <a:pPr lvl="1"/>
            <a:endParaRPr lang="zh-CN" altLang="en-US" dirty="0"/>
          </a:p>
        </p:txBody>
      </p:sp>
      <p:sp>
        <p:nvSpPr>
          <p:cNvPr id="2" name="标题 1"/>
          <p:cNvSpPr>
            <a:spLocks noGrp="1"/>
          </p:cNvSpPr>
          <p:nvPr>
            <p:ph type="title"/>
          </p:nvPr>
        </p:nvSpPr>
        <p:spPr>
          <a:xfrm>
            <a:off x="539552" y="692696"/>
            <a:ext cx="8229600" cy="885139"/>
          </a:xfrm>
        </p:spPr>
        <p:txBody>
          <a:bodyPr/>
          <a:lstStyle/>
          <a:p>
            <a:r>
              <a:rPr lang="zh-CN" altLang="en-US" dirty="0" smtClean="0"/>
              <a:t>动态规划</a:t>
            </a:r>
            <a:endParaRPr lang="zh-CN" altLang="en-US" dirty="0"/>
          </a:p>
        </p:txBody>
      </p:sp>
    </p:spTree>
    <p:extLst>
      <p:ext uri="{BB962C8B-B14F-4D97-AF65-F5344CB8AC3E}">
        <p14:creationId xmlns:p14="http://schemas.microsoft.com/office/powerpoint/2010/main" xmlns="" val="21779515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sz="4000" dirty="0"/>
              <a:t>多段</a:t>
            </a:r>
            <a:r>
              <a:rPr lang="zh-CN" altLang="en-US" sz="4000" dirty="0" smtClean="0"/>
              <a:t>图最短路径</a:t>
            </a:r>
            <a:endParaRPr lang="en-US" altLang="zh-CN" sz="4000" dirty="0" smtClean="0"/>
          </a:p>
          <a:p>
            <a:r>
              <a:rPr lang="en-US" altLang="zh-CN" sz="4000" dirty="0" smtClean="0"/>
              <a:t>0-1</a:t>
            </a:r>
            <a:r>
              <a:rPr lang="zh-CN" altLang="en-US" sz="4000" dirty="0" smtClean="0"/>
              <a:t>背包</a:t>
            </a:r>
            <a:endParaRPr lang="en-US" altLang="zh-CN" sz="4000" dirty="0" smtClean="0"/>
          </a:p>
          <a:p>
            <a:r>
              <a:rPr lang="zh-CN" altLang="en-US" sz="4000" dirty="0"/>
              <a:t>投资</a:t>
            </a:r>
            <a:r>
              <a:rPr lang="zh-CN" altLang="en-US" sz="4000" dirty="0" smtClean="0"/>
              <a:t>分配</a:t>
            </a:r>
            <a:endParaRPr lang="en-US" altLang="zh-CN" sz="4000" dirty="0" smtClean="0"/>
          </a:p>
          <a:p>
            <a:r>
              <a:rPr lang="zh-CN" altLang="en-US" sz="4000" dirty="0"/>
              <a:t>最</a:t>
            </a:r>
            <a:r>
              <a:rPr lang="zh-CN" altLang="en-US" sz="4000" dirty="0" smtClean="0"/>
              <a:t>长公共子</a:t>
            </a:r>
            <a:r>
              <a:rPr lang="zh-CN" altLang="en-US" sz="4000" dirty="0" smtClean="0"/>
              <a:t>序列</a:t>
            </a:r>
            <a:endParaRPr lang="en-US" altLang="zh-CN" sz="4000" dirty="0" smtClean="0"/>
          </a:p>
        </p:txBody>
      </p:sp>
      <p:sp>
        <p:nvSpPr>
          <p:cNvPr id="2" name="标题 1"/>
          <p:cNvSpPr>
            <a:spLocks noGrp="1"/>
          </p:cNvSpPr>
          <p:nvPr>
            <p:ph type="title"/>
          </p:nvPr>
        </p:nvSpPr>
        <p:spPr/>
        <p:txBody>
          <a:bodyPr/>
          <a:lstStyle/>
          <a:p>
            <a:r>
              <a:rPr lang="zh-CN" altLang="en-US" dirty="0" smtClean="0"/>
              <a:t>动态规划应用实例</a:t>
            </a:r>
            <a:endParaRPr lang="zh-CN" altLang="en-US" dirty="0"/>
          </a:p>
        </p:txBody>
      </p:sp>
    </p:spTree>
    <p:extLst>
      <p:ext uri="{BB962C8B-B14F-4D97-AF65-F5344CB8AC3E}">
        <p14:creationId xmlns:p14="http://schemas.microsoft.com/office/powerpoint/2010/main" xmlns="" val="2120949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lnSpcReduction="10000"/>
          </a:bodyPr>
          <a:lstStyle/>
          <a:p>
            <a:pPr marL="342900" lvl="1" indent="-342900">
              <a:buFont typeface="Arial" panose="020B0604020202020204" pitchFamily="34" charset="0"/>
              <a:buChar char="•"/>
            </a:pPr>
            <a:r>
              <a:rPr lang="zh-CN" altLang="en-US" dirty="0" smtClean="0"/>
              <a:t>回溯法在问题的</a:t>
            </a:r>
            <a:r>
              <a:rPr lang="zh-CN" altLang="en-US" dirty="0" smtClean="0">
                <a:solidFill>
                  <a:srgbClr val="FF0000"/>
                </a:solidFill>
              </a:rPr>
              <a:t>解空间树</a:t>
            </a:r>
            <a:r>
              <a:rPr lang="zh-CN" altLang="en-US" dirty="0" smtClean="0"/>
              <a:t>中，按</a:t>
            </a:r>
            <a:r>
              <a:rPr lang="zh-CN" altLang="en-US" dirty="0" smtClean="0">
                <a:solidFill>
                  <a:srgbClr val="FF0000"/>
                </a:solidFill>
                <a:effectLst>
                  <a:outerShdw blurRad="38100" dist="38100" dir="2700000" algn="tl">
                    <a:srgbClr val="000000">
                      <a:alpha val="43137"/>
                    </a:srgbClr>
                  </a:outerShdw>
                </a:effectLst>
              </a:rPr>
              <a:t>深度优先</a:t>
            </a:r>
            <a:r>
              <a:rPr lang="zh-CN" altLang="en-US" dirty="0" smtClean="0"/>
              <a:t>策略，从</a:t>
            </a:r>
            <a:r>
              <a:rPr lang="zh-CN" altLang="en-US" dirty="0" smtClean="0">
                <a:solidFill>
                  <a:srgbClr val="FF0000"/>
                </a:solidFill>
              </a:rPr>
              <a:t>根结点</a:t>
            </a:r>
            <a:r>
              <a:rPr lang="zh-CN" altLang="en-US" dirty="0" smtClean="0"/>
              <a:t>出发搜索解空间树。</a:t>
            </a:r>
            <a:endParaRPr lang="en-US" altLang="zh-CN" dirty="0" smtClean="0"/>
          </a:p>
          <a:p>
            <a:r>
              <a:rPr lang="zh-CN" altLang="en-US" dirty="0" smtClean="0"/>
              <a:t>回溯法的基本步骤</a:t>
            </a:r>
          </a:p>
          <a:p>
            <a:pPr lvl="1"/>
            <a:r>
              <a:rPr lang="en-US" altLang="zh-CN" dirty="0" smtClean="0"/>
              <a:t>(1)</a:t>
            </a:r>
            <a:r>
              <a:rPr lang="zh-CN" altLang="en-US" dirty="0" smtClean="0"/>
              <a:t>针对所给问题，</a:t>
            </a:r>
            <a:r>
              <a:rPr lang="zh-CN" altLang="en-US" dirty="0" smtClean="0">
                <a:solidFill>
                  <a:srgbClr val="0000FF"/>
                </a:solidFill>
              </a:rPr>
              <a:t>定义</a:t>
            </a:r>
            <a:r>
              <a:rPr lang="zh-CN" altLang="en-US" dirty="0" smtClean="0"/>
              <a:t>问题的</a:t>
            </a:r>
            <a:r>
              <a:rPr lang="zh-CN" altLang="en-US" dirty="0" smtClean="0">
                <a:solidFill>
                  <a:srgbClr val="0000FF"/>
                </a:solidFill>
              </a:rPr>
              <a:t>解空间</a:t>
            </a:r>
            <a:r>
              <a:rPr lang="zh-CN" altLang="en-US" dirty="0" smtClean="0"/>
              <a:t>；</a:t>
            </a:r>
          </a:p>
          <a:p>
            <a:pPr lvl="1"/>
            <a:r>
              <a:rPr lang="en-US" altLang="zh-CN" dirty="0" smtClean="0"/>
              <a:t>(2)</a:t>
            </a:r>
            <a:r>
              <a:rPr lang="zh-CN" altLang="en-US" dirty="0" smtClean="0">
                <a:solidFill>
                  <a:srgbClr val="0000FF"/>
                </a:solidFill>
              </a:rPr>
              <a:t>确定</a:t>
            </a:r>
            <a:r>
              <a:rPr lang="zh-CN" altLang="en-US" dirty="0" smtClean="0"/>
              <a:t>易于搜索的</a:t>
            </a:r>
            <a:r>
              <a:rPr lang="zh-CN" altLang="en-US" dirty="0" smtClean="0">
                <a:solidFill>
                  <a:srgbClr val="0000FF"/>
                </a:solidFill>
              </a:rPr>
              <a:t>解空间结构</a:t>
            </a:r>
            <a:r>
              <a:rPr lang="zh-CN" altLang="en-US" dirty="0" smtClean="0"/>
              <a:t>；</a:t>
            </a:r>
          </a:p>
          <a:p>
            <a:pPr lvl="1"/>
            <a:r>
              <a:rPr lang="en-US" altLang="zh-CN" dirty="0" smtClean="0"/>
              <a:t>(3)</a:t>
            </a:r>
            <a:r>
              <a:rPr lang="zh-CN" altLang="en-US" dirty="0" smtClean="0"/>
              <a:t>以</a:t>
            </a:r>
            <a:r>
              <a:rPr lang="zh-CN" altLang="en-US" b="1" dirty="0" smtClean="0">
                <a:solidFill>
                  <a:srgbClr val="0000FF"/>
                </a:solidFill>
              </a:rPr>
              <a:t>深度优先</a:t>
            </a:r>
            <a:r>
              <a:rPr lang="zh-CN" altLang="en-US" dirty="0" smtClean="0"/>
              <a:t>方式</a:t>
            </a:r>
            <a:r>
              <a:rPr lang="zh-CN" altLang="en-US" dirty="0" smtClean="0">
                <a:solidFill>
                  <a:srgbClr val="0000FF"/>
                </a:solidFill>
              </a:rPr>
              <a:t>搜索解空间</a:t>
            </a:r>
            <a:r>
              <a:rPr lang="zh-CN" altLang="en-US" dirty="0" smtClean="0"/>
              <a:t>，并在搜索过程中用</a:t>
            </a:r>
            <a:r>
              <a:rPr lang="zh-CN" altLang="en-US" dirty="0" smtClean="0">
                <a:solidFill>
                  <a:srgbClr val="0000FF"/>
                </a:solidFill>
              </a:rPr>
              <a:t>剪枝函数</a:t>
            </a:r>
            <a:r>
              <a:rPr lang="zh-CN" altLang="en-US" dirty="0" smtClean="0"/>
              <a:t>避免无效搜索。</a:t>
            </a:r>
            <a:endParaRPr lang="en-US" altLang="zh-CN" dirty="0" smtClean="0"/>
          </a:p>
          <a:p>
            <a:r>
              <a:rPr lang="zh-CN" altLang="en-US" dirty="0" smtClean="0"/>
              <a:t>常用剪枝函数</a:t>
            </a:r>
          </a:p>
          <a:p>
            <a:pPr lvl="1"/>
            <a:r>
              <a:rPr lang="zh-CN" altLang="en-US" dirty="0" smtClean="0"/>
              <a:t>用</a:t>
            </a:r>
            <a:r>
              <a:rPr lang="zh-CN" altLang="en-US" dirty="0" smtClean="0">
                <a:solidFill>
                  <a:srgbClr val="0000FF"/>
                </a:solidFill>
              </a:rPr>
              <a:t>约束函数</a:t>
            </a:r>
            <a:r>
              <a:rPr lang="zh-CN" altLang="en-US" dirty="0" smtClean="0"/>
              <a:t>在</a:t>
            </a:r>
            <a:r>
              <a:rPr lang="zh-CN" altLang="en-US" dirty="0" smtClean="0">
                <a:solidFill>
                  <a:srgbClr val="0000FF"/>
                </a:solidFill>
              </a:rPr>
              <a:t>扩展结点</a:t>
            </a:r>
            <a:r>
              <a:rPr lang="zh-CN" altLang="en-US" dirty="0" smtClean="0"/>
              <a:t>处剪去</a:t>
            </a:r>
            <a:r>
              <a:rPr lang="zh-CN" altLang="en-US" dirty="0" smtClean="0">
                <a:solidFill>
                  <a:srgbClr val="0000FF"/>
                </a:solidFill>
              </a:rPr>
              <a:t>不满足约束</a:t>
            </a:r>
            <a:r>
              <a:rPr lang="zh-CN" altLang="en-US" dirty="0" smtClean="0"/>
              <a:t>的子树；</a:t>
            </a:r>
          </a:p>
          <a:p>
            <a:pPr lvl="1"/>
            <a:r>
              <a:rPr lang="zh-CN" altLang="en-US" dirty="0" smtClean="0"/>
              <a:t>用</a:t>
            </a:r>
            <a:r>
              <a:rPr lang="zh-CN" altLang="en-US" dirty="0" smtClean="0">
                <a:solidFill>
                  <a:srgbClr val="0000FF"/>
                </a:solidFill>
              </a:rPr>
              <a:t>限界函数</a:t>
            </a:r>
            <a:r>
              <a:rPr lang="zh-CN" altLang="en-US" dirty="0" smtClean="0"/>
              <a:t>剪去</a:t>
            </a:r>
            <a:r>
              <a:rPr lang="zh-CN" altLang="en-US" dirty="0" smtClean="0">
                <a:solidFill>
                  <a:srgbClr val="0000FF"/>
                </a:solidFill>
              </a:rPr>
              <a:t>得不到最优解</a:t>
            </a:r>
            <a:r>
              <a:rPr lang="zh-CN" altLang="en-US" dirty="0" smtClean="0"/>
              <a:t>的子树。</a:t>
            </a:r>
          </a:p>
          <a:p>
            <a:endParaRPr lang="zh-CN" altLang="en-US" dirty="0" smtClean="0"/>
          </a:p>
          <a:p>
            <a:endParaRPr lang="zh-CN" altLang="en-US" dirty="0"/>
          </a:p>
        </p:txBody>
      </p:sp>
      <p:sp>
        <p:nvSpPr>
          <p:cNvPr id="2" name="标题 1"/>
          <p:cNvSpPr>
            <a:spLocks noGrp="1"/>
          </p:cNvSpPr>
          <p:nvPr>
            <p:ph type="title"/>
          </p:nvPr>
        </p:nvSpPr>
        <p:spPr/>
        <p:txBody>
          <a:bodyPr/>
          <a:lstStyle/>
          <a:p>
            <a:r>
              <a:rPr lang="zh-CN" altLang="en-US" dirty="0" smtClean="0"/>
              <a:t>回溯法</a:t>
            </a:r>
            <a:endParaRPr lang="zh-CN" altLang="en-US" dirty="0"/>
          </a:p>
        </p:txBody>
      </p:sp>
    </p:spTree>
    <p:extLst>
      <p:ext uri="{BB962C8B-B14F-4D97-AF65-F5344CB8AC3E}">
        <p14:creationId xmlns:p14="http://schemas.microsoft.com/office/powerpoint/2010/main" xmlns="" val="27049473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009531"/>
          </a:xfrm>
        </p:spPr>
        <p:txBody>
          <a:bodyPr/>
          <a:lstStyle/>
          <a:p>
            <a:pPr marL="342900" lvl="2" indent="-342900"/>
            <a:r>
              <a:rPr lang="zh-CN" altLang="en-US" sz="3200" dirty="0"/>
              <a:t>用回溯法解题的一个显著特征是在搜索过程中</a:t>
            </a:r>
            <a:r>
              <a:rPr lang="zh-CN" altLang="en-US" sz="3200" b="1" dirty="0"/>
              <a:t>动态</a:t>
            </a:r>
            <a:r>
              <a:rPr lang="zh-CN" altLang="en-US" sz="3200" dirty="0"/>
              <a:t>产生问题的解空间。在任何时刻，算法</a:t>
            </a:r>
            <a:r>
              <a:rPr lang="zh-CN" altLang="en-US" sz="3200" b="1" dirty="0"/>
              <a:t>只保存从根结点到当前扩展结点的路径</a:t>
            </a:r>
            <a:r>
              <a:rPr lang="zh-CN" altLang="en-US" sz="3200" dirty="0"/>
              <a:t>。</a:t>
            </a:r>
            <a:endParaRPr lang="en-US" altLang="zh-CN" sz="3200" dirty="0"/>
          </a:p>
          <a:p>
            <a:r>
              <a:rPr lang="zh-CN" altLang="en-US" sz="3000" dirty="0" smtClean="0"/>
              <a:t>解空间树</a:t>
            </a:r>
            <a:endParaRPr lang="en-US" altLang="zh-CN" sz="3000" dirty="0" smtClean="0"/>
          </a:p>
          <a:p>
            <a:pPr lvl="1"/>
            <a:r>
              <a:rPr lang="zh-CN" altLang="en-US" sz="2800" dirty="0" smtClean="0"/>
              <a:t>子集</a:t>
            </a:r>
            <a:r>
              <a:rPr lang="zh-CN" altLang="en-US" sz="2800" dirty="0" smtClean="0"/>
              <a:t>树通常有</a:t>
            </a:r>
            <a:r>
              <a:rPr lang="en-US" altLang="zh-CN" sz="2800" b="1" dirty="0" smtClean="0">
                <a:solidFill>
                  <a:srgbClr val="0000FF"/>
                </a:solidFill>
              </a:rPr>
              <a:t>2</a:t>
            </a:r>
            <a:r>
              <a:rPr lang="en-US" altLang="zh-CN" sz="2800" b="1" baseline="30000" dirty="0" smtClean="0">
                <a:solidFill>
                  <a:srgbClr val="0000FF"/>
                </a:solidFill>
              </a:rPr>
              <a:t>n</a:t>
            </a:r>
            <a:r>
              <a:rPr lang="zh-CN" altLang="en-US" sz="2800" dirty="0" smtClean="0"/>
              <a:t>个叶结点，结点总数为</a:t>
            </a:r>
            <a:r>
              <a:rPr lang="en-US" altLang="zh-CN" sz="2800" b="1" dirty="0" smtClean="0">
                <a:solidFill>
                  <a:srgbClr val="0000FF"/>
                </a:solidFill>
              </a:rPr>
              <a:t>2</a:t>
            </a:r>
            <a:r>
              <a:rPr lang="en-US" altLang="zh-CN" sz="2800" b="1" baseline="30000" dirty="0" smtClean="0">
                <a:solidFill>
                  <a:srgbClr val="0000FF"/>
                </a:solidFill>
              </a:rPr>
              <a:t>n+1</a:t>
            </a:r>
            <a:r>
              <a:rPr lang="en-US" altLang="zh-CN" sz="2800" b="1" dirty="0" smtClean="0">
                <a:solidFill>
                  <a:srgbClr val="0000FF"/>
                </a:solidFill>
              </a:rPr>
              <a:t>-1</a:t>
            </a:r>
            <a:r>
              <a:rPr lang="zh-CN" altLang="en-US" sz="2800" dirty="0" smtClean="0"/>
              <a:t>。需</a:t>
            </a:r>
            <a:r>
              <a:rPr lang="en-US" altLang="zh-CN" sz="2800" dirty="0" smtClean="0">
                <a:solidFill>
                  <a:srgbClr val="0000FF"/>
                </a:solidFill>
              </a:rPr>
              <a:t>Ω(2</a:t>
            </a:r>
            <a:r>
              <a:rPr lang="en-US" altLang="zh-CN" sz="2800" baseline="30000" dirty="0" smtClean="0">
                <a:solidFill>
                  <a:srgbClr val="0000FF"/>
                </a:solidFill>
              </a:rPr>
              <a:t>n</a:t>
            </a:r>
            <a:r>
              <a:rPr lang="en-US" altLang="zh-CN" sz="2800" dirty="0" smtClean="0">
                <a:solidFill>
                  <a:srgbClr val="0000FF"/>
                </a:solidFill>
              </a:rPr>
              <a:t>)</a:t>
            </a:r>
            <a:r>
              <a:rPr lang="zh-CN" altLang="en-US" sz="2800" dirty="0" smtClean="0"/>
              <a:t>计算时间。</a:t>
            </a:r>
            <a:endParaRPr lang="en-US" altLang="zh-CN" sz="2800" dirty="0" smtClean="0"/>
          </a:p>
          <a:p>
            <a:pPr lvl="1"/>
            <a:r>
              <a:rPr lang="zh-CN" altLang="en-US" sz="2800" dirty="0" smtClean="0"/>
              <a:t>排列树通常有</a:t>
            </a:r>
            <a:r>
              <a:rPr lang="en-US" altLang="zh-CN" sz="2800" dirty="0" smtClean="0">
                <a:solidFill>
                  <a:srgbClr val="0000FF"/>
                </a:solidFill>
              </a:rPr>
              <a:t>n!</a:t>
            </a:r>
            <a:r>
              <a:rPr lang="zh-CN" altLang="en-US" sz="2800" dirty="0" smtClean="0"/>
              <a:t>个叶结点。因此遍历排列树需要</a:t>
            </a:r>
            <a:r>
              <a:rPr lang="en-US" altLang="zh-CN" sz="2800" dirty="0" smtClean="0">
                <a:solidFill>
                  <a:srgbClr val="0000FF"/>
                </a:solidFill>
              </a:rPr>
              <a:t>Ω(n!)</a:t>
            </a:r>
            <a:r>
              <a:rPr lang="zh-CN" altLang="en-US" sz="2800" dirty="0" smtClean="0"/>
              <a:t>计算时间</a:t>
            </a:r>
            <a:r>
              <a:rPr lang="zh-CN" altLang="en-US" sz="2800" dirty="0" smtClean="0"/>
              <a:t>。</a:t>
            </a:r>
            <a:endParaRPr lang="en-US" altLang="zh-CN" sz="2800" dirty="0" smtClean="0"/>
          </a:p>
          <a:p>
            <a:pPr lvl="1"/>
            <a:r>
              <a:rPr lang="zh-CN" altLang="en-US" sz="2800" dirty="0" smtClean="0"/>
              <a:t>满</a:t>
            </a:r>
            <a:r>
              <a:rPr lang="en-US" altLang="zh-CN" sz="2800" dirty="0" smtClean="0"/>
              <a:t>m</a:t>
            </a:r>
            <a:r>
              <a:rPr lang="zh-CN" altLang="en-US" sz="2800" dirty="0" smtClean="0"/>
              <a:t>叉树</a:t>
            </a:r>
            <a:r>
              <a:rPr lang="zh-CN" altLang="en-US" sz="2800" dirty="0" smtClean="0"/>
              <a:t>通常</a:t>
            </a:r>
            <a:r>
              <a:rPr lang="zh-CN" altLang="en-US" sz="2800" dirty="0" smtClean="0"/>
              <a:t>有</a:t>
            </a:r>
            <a:r>
              <a:rPr lang="en-US" altLang="zh-CN" sz="2800" b="1" dirty="0" err="1" smtClean="0">
                <a:solidFill>
                  <a:srgbClr val="0000FF"/>
                </a:solidFill>
              </a:rPr>
              <a:t>m</a:t>
            </a:r>
            <a:r>
              <a:rPr lang="en-US" altLang="zh-CN" sz="2800" b="1" baseline="30000" dirty="0" err="1" smtClean="0">
                <a:solidFill>
                  <a:srgbClr val="0000FF"/>
                </a:solidFill>
              </a:rPr>
              <a:t>n</a:t>
            </a:r>
            <a:r>
              <a:rPr lang="zh-CN" altLang="en-US" sz="2800" dirty="0" smtClean="0"/>
              <a:t>个叶结点</a:t>
            </a:r>
            <a:r>
              <a:rPr lang="zh-CN" altLang="en-US" sz="2800" dirty="0" smtClean="0"/>
              <a:t>，需</a:t>
            </a:r>
            <a:r>
              <a:rPr lang="en-US" altLang="zh-CN" sz="2800" dirty="0" smtClean="0">
                <a:solidFill>
                  <a:srgbClr val="0000FF"/>
                </a:solidFill>
              </a:rPr>
              <a:t>Ω(</a:t>
            </a:r>
            <a:r>
              <a:rPr lang="en-US" altLang="zh-CN" sz="2800" dirty="0" err="1" smtClean="0">
                <a:solidFill>
                  <a:srgbClr val="0000FF"/>
                </a:solidFill>
              </a:rPr>
              <a:t>m</a:t>
            </a:r>
            <a:r>
              <a:rPr lang="en-US" altLang="zh-CN" sz="2800" baseline="30000" dirty="0" err="1" smtClean="0">
                <a:solidFill>
                  <a:srgbClr val="0000FF"/>
                </a:solidFill>
              </a:rPr>
              <a:t>n</a:t>
            </a:r>
            <a:r>
              <a:rPr lang="en-US" altLang="zh-CN" sz="2800" dirty="0" smtClean="0">
                <a:solidFill>
                  <a:srgbClr val="0000FF"/>
                </a:solidFill>
              </a:rPr>
              <a:t>)</a:t>
            </a:r>
            <a:r>
              <a:rPr lang="zh-CN" altLang="en-US" sz="2800" dirty="0" smtClean="0"/>
              <a:t>计算时间。</a:t>
            </a:r>
            <a:endParaRPr lang="en-US" altLang="zh-CN" sz="2800" dirty="0" smtClean="0"/>
          </a:p>
          <a:p>
            <a:pPr lvl="1"/>
            <a:endParaRPr lang="en-US" altLang="zh-CN" dirty="0" smtClean="0"/>
          </a:p>
          <a:p>
            <a:endParaRPr lang="zh-CN" altLang="en-US" dirty="0"/>
          </a:p>
        </p:txBody>
      </p:sp>
    </p:spTree>
    <p:extLst>
      <p:ext uri="{BB962C8B-B14F-4D97-AF65-F5344CB8AC3E}">
        <p14:creationId xmlns:p14="http://schemas.microsoft.com/office/powerpoint/2010/main" xmlns="" val="13406644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lnSpcReduction="10000"/>
          </a:bodyPr>
          <a:lstStyle/>
          <a:p>
            <a:r>
              <a:rPr lang="en-US" altLang="zh-CN" sz="4000" dirty="0" smtClean="0"/>
              <a:t>0-1</a:t>
            </a:r>
            <a:r>
              <a:rPr lang="zh-CN" altLang="en-US" sz="4000" dirty="0" smtClean="0"/>
              <a:t>背包问题</a:t>
            </a:r>
            <a:endParaRPr lang="en-US" altLang="zh-CN" sz="4000" dirty="0" smtClean="0"/>
          </a:p>
          <a:p>
            <a:r>
              <a:rPr lang="zh-CN" altLang="en-US" sz="4000" dirty="0" smtClean="0"/>
              <a:t>装载问题</a:t>
            </a:r>
            <a:endParaRPr lang="en-US" altLang="zh-CN" sz="4000" dirty="0" smtClean="0"/>
          </a:p>
          <a:p>
            <a:r>
              <a:rPr lang="zh-CN" altLang="en-US" sz="4000" dirty="0" smtClean="0"/>
              <a:t>旅行</a:t>
            </a:r>
            <a:r>
              <a:rPr lang="zh-CN" altLang="en-US" sz="4000" dirty="0"/>
              <a:t>商</a:t>
            </a:r>
            <a:r>
              <a:rPr lang="zh-CN" altLang="en-US" sz="4000" dirty="0" smtClean="0"/>
              <a:t>问题</a:t>
            </a:r>
            <a:endParaRPr lang="en-US" altLang="zh-CN" sz="4000" dirty="0" smtClean="0"/>
          </a:p>
          <a:p>
            <a:r>
              <a:rPr lang="zh-CN" altLang="en-US" sz="4000" dirty="0" smtClean="0"/>
              <a:t>批处理作业调度问题</a:t>
            </a:r>
            <a:endParaRPr lang="en-US" altLang="zh-CN" sz="4000" dirty="0" smtClean="0"/>
          </a:p>
          <a:p>
            <a:r>
              <a:rPr lang="en-US" altLang="zh-CN" sz="4000" dirty="0" smtClean="0"/>
              <a:t>N</a:t>
            </a:r>
            <a:r>
              <a:rPr lang="zh-CN" altLang="en-US" sz="4000" dirty="0" smtClean="0"/>
              <a:t>皇后问题</a:t>
            </a:r>
            <a:endParaRPr lang="en-US" altLang="zh-CN" sz="4000" dirty="0" smtClean="0"/>
          </a:p>
          <a:p>
            <a:r>
              <a:rPr lang="zh-CN" altLang="en-US" sz="4000" dirty="0" smtClean="0"/>
              <a:t>图</a:t>
            </a:r>
            <a:r>
              <a:rPr lang="zh-CN" altLang="en-US" sz="4000" dirty="0" smtClean="0"/>
              <a:t>的</a:t>
            </a:r>
            <a:r>
              <a:rPr lang="en-US" altLang="zh-CN" sz="4000" dirty="0" smtClean="0"/>
              <a:t>M</a:t>
            </a:r>
            <a:r>
              <a:rPr lang="zh-CN" altLang="en-US" sz="4000" dirty="0" smtClean="0"/>
              <a:t>着色问题</a:t>
            </a:r>
            <a:endParaRPr lang="zh-CN" altLang="en-US" sz="4000" dirty="0"/>
          </a:p>
        </p:txBody>
      </p:sp>
      <p:sp>
        <p:nvSpPr>
          <p:cNvPr id="2" name="标题 1"/>
          <p:cNvSpPr>
            <a:spLocks noGrp="1"/>
          </p:cNvSpPr>
          <p:nvPr>
            <p:ph type="title"/>
          </p:nvPr>
        </p:nvSpPr>
        <p:spPr/>
        <p:txBody>
          <a:bodyPr/>
          <a:lstStyle/>
          <a:p>
            <a:r>
              <a:rPr lang="zh-CN" altLang="en-US" dirty="0" smtClean="0"/>
              <a:t>回溯法应用实例</a:t>
            </a:r>
            <a:endParaRPr lang="zh-CN" altLang="en-US" dirty="0"/>
          </a:p>
        </p:txBody>
      </p:sp>
    </p:spTree>
    <p:extLst>
      <p:ext uri="{BB962C8B-B14F-4D97-AF65-F5344CB8AC3E}">
        <p14:creationId xmlns:p14="http://schemas.microsoft.com/office/powerpoint/2010/main" xmlns="" val="39941491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9247" y="2000241"/>
            <a:ext cx="7745505" cy="4125922"/>
          </a:xfrm>
        </p:spPr>
        <p:txBody>
          <a:bodyPr/>
          <a:lstStyle/>
          <a:p>
            <a:r>
              <a:rPr lang="zh-CN" altLang="en-US" dirty="0" smtClean="0"/>
              <a:t>分类（根据活结点表的维护方式）</a:t>
            </a:r>
          </a:p>
          <a:p>
            <a:pPr lvl="1"/>
            <a:r>
              <a:rPr lang="zh-CN" altLang="en-US" dirty="0" smtClean="0"/>
              <a:t>队列式分支限界法</a:t>
            </a:r>
          </a:p>
          <a:p>
            <a:pPr lvl="1"/>
            <a:r>
              <a:rPr lang="zh-CN" altLang="en-US" dirty="0" smtClean="0"/>
              <a:t>优先队列式分支限界法</a:t>
            </a:r>
          </a:p>
          <a:p>
            <a:pPr marL="342900" lvl="1" indent="-342900">
              <a:buClr>
                <a:schemeClr val="folHlink"/>
              </a:buClr>
              <a:buFont typeface="Wingdings 2" pitchFamily="18" charset="2"/>
              <a:buChar char="¡"/>
            </a:pPr>
            <a:r>
              <a:rPr lang="zh-CN" altLang="en-US" sz="3200" dirty="0" smtClean="0"/>
              <a:t>分支限界法的一般解题步骤为：</a:t>
            </a:r>
          </a:p>
          <a:p>
            <a:pPr lvl="1"/>
            <a:r>
              <a:rPr lang="zh-CN" altLang="en-US" b="1" dirty="0" smtClean="0"/>
              <a:t>定义问题的解空间</a:t>
            </a:r>
          </a:p>
          <a:p>
            <a:pPr lvl="1"/>
            <a:r>
              <a:rPr lang="zh-CN" altLang="en-US" b="1" dirty="0" smtClean="0"/>
              <a:t>确定问题的解空间组织结构（树或图）</a:t>
            </a:r>
          </a:p>
          <a:p>
            <a:pPr lvl="1"/>
            <a:r>
              <a:rPr lang="zh-CN" altLang="en-US" b="1" dirty="0" smtClean="0"/>
              <a:t>搜索解空间。搜索前要定义判断标准（约束函数或限界函数），如果选用优先队列式分支限界法，则必须确定优先级。</a:t>
            </a:r>
            <a:endParaRPr lang="zh-CN" altLang="en-US" dirty="0" smtClean="0"/>
          </a:p>
          <a:p>
            <a:endParaRPr lang="zh-CN" altLang="en-US" dirty="0"/>
          </a:p>
        </p:txBody>
      </p:sp>
      <p:sp>
        <p:nvSpPr>
          <p:cNvPr id="3" name="标题 2"/>
          <p:cNvSpPr>
            <a:spLocks noGrp="1"/>
          </p:cNvSpPr>
          <p:nvPr>
            <p:ph type="title"/>
          </p:nvPr>
        </p:nvSpPr>
        <p:spPr/>
        <p:txBody>
          <a:bodyPr/>
          <a:lstStyle/>
          <a:p>
            <a:r>
              <a:rPr lang="zh-CN" altLang="en-US" dirty="0" smtClean="0"/>
              <a:t>分支</a:t>
            </a:r>
            <a:r>
              <a:rPr lang="zh-CN" altLang="en-US" dirty="0" smtClean="0"/>
              <a:t>限界法</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sz="4000" dirty="0" smtClean="0"/>
              <a:t>0-1</a:t>
            </a:r>
            <a:r>
              <a:rPr lang="zh-CN" altLang="en-US" sz="4000" dirty="0" smtClean="0"/>
              <a:t>背包问题</a:t>
            </a:r>
            <a:endParaRPr lang="en-US" altLang="zh-CN" sz="4000" dirty="0" smtClean="0"/>
          </a:p>
          <a:p>
            <a:r>
              <a:rPr lang="zh-CN" altLang="en-US" sz="4000" dirty="0" smtClean="0"/>
              <a:t>旅行</a:t>
            </a:r>
            <a:r>
              <a:rPr lang="zh-CN" altLang="en-US" sz="4000" dirty="0"/>
              <a:t>商</a:t>
            </a:r>
            <a:r>
              <a:rPr lang="zh-CN" altLang="en-US" sz="4000" dirty="0" smtClean="0"/>
              <a:t>问题</a:t>
            </a:r>
            <a:endParaRPr lang="en-US" altLang="zh-CN" sz="4000" dirty="0" smtClean="0"/>
          </a:p>
          <a:p>
            <a:r>
              <a:rPr lang="zh-CN" altLang="en-US" sz="4000" dirty="0" smtClean="0"/>
              <a:t>布线问题</a:t>
            </a:r>
            <a:endParaRPr lang="zh-CN" altLang="en-US" sz="4000" dirty="0"/>
          </a:p>
        </p:txBody>
      </p:sp>
      <p:sp>
        <p:nvSpPr>
          <p:cNvPr id="2" name="标题 1"/>
          <p:cNvSpPr>
            <a:spLocks noGrp="1"/>
          </p:cNvSpPr>
          <p:nvPr>
            <p:ph type="title"/>
          </p:nvPr>
        </p:nvSpPr>
        <p:spPr/>
        <p:txBody>
          <a:bodyPr/>
          <a:lstStyle/>
          <a:p>
            <a:r>
              <a:rPr lang="zh-CN" altLang="en-US" dirty="0" smtClean="0"/>
              <a:t>分支限界法</a:t>
            </a:r>
            <a:r>
              <a:rPr lang="zh-CN" altLang="en-US" dirty="0" smtClean="0"/>
              <a:t>应用实例</a:t>
            </a:r>
            <a:endParaRPr lang="zh-CN" altLang="en-US" dirty="0"/>
          </a:p>
        </p:txBody>
      </p:sp>
    </p:spTree>
    <p:extLst>
      <p:ext uri="{BB962C8B-B14F-4D97-AF65-F5344CB8AC3E}">
        <p14:creationId xmlns:p14="http://schemas.microsoft.com/office/powerpoint/2010/main" xmlns="" val="399414913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精装书">
  <a:themeElements>
    <a:clrScheme name="精装书">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精装书">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精装书">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64</TotalTime>
  <Words>742</Words>
  <Application>Microsoft Office PowerPoint</Application>
  <PresentationFormat>全屏显示(4:3)</PresentationFormat>
  <Paragraphs>92</Paragraphs>
  <Slides>14</Slides>
  <Notes>0</Notes>
  <HiddenSlides>0</HiddenSlides>
  <MMClips>0</MMClips>
  <ScaleCrop>false</ScaleCrop>
  <HeadingPairs>
    <vt:vector size="4" baseType="variant">
      <vt:variant>
        <vt:lpstr>主题</vt:lpstr>
      </vt:variant>
      <vt:variant>
        <vt:i4>1</vt:i4>
      </vt:variant>
      <vt:variant>
        <vt:lpstr>幻灯片标题</vt:lpstr>
      </vt:variant>
      <vt:variant>
        <vt:i4>14</vt:i4>
      </vt:variant>
    </vt:vector>
  </HeadingPairs>
  <TitlesOfParts>
    <vt:vector size="15" baseType="lpstr">
      <vt:lpstr>精装书</vt:lpstr>
      <vt:lpstr>总  复  习</vt:lpstr>
      <vt:lpstr>第一章 基础知识</vt:lpstr>
      <vt:lpstr>第二章 递归</vt:lpstr>
      <vt:lpstr>第三章 分治法</vt:lpstr>
      <vt:lpstr>幻灯片 5</vt:lpstr>
      <vt:lpstr>第四章 贪心策略</vt:lpstr>
      <vt:lpstr>贪心法应用实例</vt:lpstr>
      <vt:lpstr>动态规划</vt:lpstr>
      <vt:lpstr>动态规划应用实例</vt:lpstr>
      <vt:lpstr>回溯法</vt:lpstr>
      <vt:lpstr>幻灯片 11</vt:lpstr>
      <vt:lpstr>回溯法应用实例</vt:lpstr>
      <vt:lpstr>分支限界法</vt:lpstr>
      <vt:lpstr>分支限界法应用实例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总  复  习</dc:title>
  <dc:creator>ad</dc:creator>
  <cp:lastModifiedBy>Lenovo</cp:lastModifiedBy>
  <cp:revision>7</cp:revision>
  <dcterms:created xsi:type="dcterms:W3CDTF">2015-06-18T02:22:04Z</dcterms:created>
  <dcterms:modified xsi:type="dcterms:W3CDTF">2016-05-31T07:34:26Z</dcterms:modified>
</cp:coreProperties>
</file>