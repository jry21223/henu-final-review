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9" r:id="rId5"/>
    <p:sldId id="275" r:id="rId6"/>
    <p:sldId id="260" r:id="rId7"/>
    <p:sldId id="270" r:id="rId8"/>
    <p:sldId id="267" r:id="rId9"/>
    <p:sldId id="273" r:id="rId10"/>
    <p:sldId id="276" r:id="rId11"/>
    <p:sldId id="274" r:id="rId12"/>
    <p:sldId id="277" r:id="rId13"/>
    <p:sldId id="261" r:id="rId14"/>
    <p:sldId id="272" r:id="rId15"/>
    <p:sldId id="264" r:id="rId16"/>
    <p:sldId id="263" r:id="rId17"/>
    <p:sldId id="271" r:id="rId18"/>
    <p:sldId id="278" r:id="rId19"/>
    <p:sldId id="268" r:id="rId20"/>
    <p:sldId id="265" r:id="rId21"/>
    <p:sldId id="26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2" autoAdjust="0"/>
    <p:restoredTop sz="88905" autoAdjust="0"/>
  </p:normalViewPr>
  <p:slideViewPr>
    <p:cSldViewPr snapToGrid="0">
      <p:cViewPr varScale="1">
        <p:scale>
          <a:sx n="80" d="100"/>
          <a:sy n="80" d="100"/>
        </p:scale>
        <p:origin x="118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BD25-5BB0-4970-9BC8-A867E97BBE06}" type="datetimeFigureOut">
              <a:rPr lang="zh-CN" altLang="en-US" smtClean="0"/>
              <a:t>2021/5/16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87C1-8720-44BC-97C4-3E56FDE22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4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胡克定律，曾译为虎克定律，是力学弹性理论中的一条基本定律，表述为：固体材料受力之后，材料中的应力与应变（单位变形量）之间成线性关系。满足胡克定律的材料称为线弹性或胡克型（英文</a:t>
            </a:r>
            <a:r>
              <a:rPr lang="en-US" altLang="zh-CN" dirty="0" err="1" smtClean="0"/>
              <a:t>Hookean</a:t>
            </a:r>
            <a:r>
              <a:rPr lang="zh-CN" altLang="en-US" dirty="0" smtClean="0"/>
              <a:t>）材料。</a:t>
            </a:r>
            <a:endParaRPr lang="en-US" altLang="zh-CN" dirty="0" smtClean="0"/>
          </a:p>
          <a:p>
            <a:r>
              <a:rPr lang="zh-CN" altLang="en-US" dirty="0" smtClean="0"/>
              <a:t>胡克定律由</a:t>
            </a:r>
            <a:r>
              <a:rPr lang="en-US" altLang="zh-CN" dirty="0" smtClean="0"/>
              <a:t>R.</a:t>
            </a:r>
            <a:r>
              <a:rPr lang="zh-CN" altLang="en-US" dirty="0" smtClean="0"/>
              <a:t>胡克于</a:t>
            </a:r>
            <a:r>
              <a:rPr lang="en-US" altLang="zh-CN" dirty="0" smtClean="0"/>
              <a:t>1678</a:t>
            </a:r>
            <a:r>
              <a:rPr lang="zh-CN" altLang="en-US" dirty="0" smtClean="0"/>
              <a:t>年提出，表达式为</a:t>
            </a:r>
            <a:r>
              <a:rPr lang="en-US" altLang="zh-CN" dirty="0" smtClean="0"/>
              <a:t>F=-</a:t>
            </a:r>
            <a:r>
              <a:rPr lang="en-US" altLang="zh-CN" dirty="0" err="1" smtClean="0"/>
              <a:t>k·x</a:t>
            </a:r>
            <a:r>
              <a:rPr lang="zh-CN" altLang="en-US" dirty="0" smtClean="0"/>
              <a:t>或△</a:t>
            </a:r>
            <a:r>
              <a:rPr lang="en-US" altLang="zh-CN" dirty="0" smtClean="0"/>
              <a:t>F=-</a:t>
            </a:r>
            <a:r>
              <a:rPr lang="en-US" altLang="zh-CN" dirty="0" err="1" smtClean="0"/>
              <a:t>k·Δx</a:t>
            </a:r>
            <a:r>
              <a:rPr lang="zh-CN" altLang="en-US" dirty="0" smtClean="0"/>
              <a:t>，其中</a:t>
            </a:r>
            <a:r>
              <a:rPr lang="en-US" altLang="zh-CN" dirty="0" smtClean="0"/>
              <a:t>k</a:t>
            </a:r>
            <a:r>
              <a:rPr lang="zh-CN" altLang="en-US" dirty="0" smtClean="0"/>
              <a:t>是常数，是物体的劲度系数（倔强系数）（弹性系数）。在国际单位制中，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的单位是牛，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的单位是米，它是形变量（弹性形变），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的单位是牛</a:t>
            </a:r>
            <a:r>
              <a:rPr lang="en-US" altLang="zh-CN" dirty="0" smtClean="0"/>
              <a:t>/</a:t>
            </a:r>
            <a:r>
              <a:rPr lang="zh-CN" altLang="en-US" dirty="0" smtClean="0"/>
              <a:t>米。劲度系数在数值上等于弹簧伸长（或缩短）单位长度时的弹力。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F16E5-AA14-4893-9889-6F733FB9C8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59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氢离子和氢氧根离子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液体能否导电，主要看里面有没有自有移动的离子，也就是带正或负电荷的微粒。水是极弱的电解质，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会电离出极少量的氢离子（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H+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）和氢氧根离子（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OH-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），所以纯净水是有极弱的导电性的，可以视为绝缘体。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 smtClean="0"/>
              <a:t>纯水指的是不含杂质的</a:t>
            </a:r>
            <a:r>
              <a:rPr lang="en-US" altLang="zh-CN" dirty="0" smtClean="0"/>
              <a:t>H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O</a:t>
            </a:r>
            <a:r>
              <a:rPr lang="zh-CN" altLang="en-US" dirty="0" smtClean="0"/>
              <a:t>。从学术角度讲，纯水又名高纯水，是指化学纯度极高的水，其主要应用在生物、 化学化工、冶金、宇航、电力等领域，但其对水质纯度要求相当高，所以一般应用最普遍的还是电子工业。例如电力系统所用的纯水，要求各杂质含量低达到“微克</a:t>
            </a:r>
            <a:r>
              <a:rPr lang="en-US" altLang="zh-CN" dirty="0" smtClean="0"/>
              <a:t>/</a:t>
            </a:r>
            <a:r>
              <a:rPr lang="zh-CN" altLang="en-US" dirty="0" smtClean="0"/>
              <a:t>升”级。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D38D4-6B1A-48D7-A409-F437ECF837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95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F16E5-AA14-4893-9889-6F733FB9C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777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SOI</a:t>
            </a:r>
            <a:r>
              <a:rPr lang="zh-CN" altLang="en-US" dirty="0" smtClean="0"/>
              <a:t>是硅晶体管结构在绝缘体之上的意思，原理就是在</a:t>
            </a:r>
            <a:r>
              <a:rPr lang="en-US" altLang="zh-CN" dirty="0" smtClean="0"/>
              <a:t>Silicon</a:t>
            </a:r>
            <a:r>
              <a:rPr lang="zh-CN" altLang="en-US" dirty="0" smtClean="0"/>
              <a:t>（硅）晶体管之间，加入绝缘体物质，可使两者之间的寄生电容比原来的少上一倍。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473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200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403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超导体（英文名：</a:t>
            </a:r>
            <a:r>
              <a:rPr lang="en-US" altLang="zh-CN" dirty="0" smtClean="0"/>
              <a:t>superconductor</a:t>
            </a:r>
            <a:r>
              <a:rPr lang="zh-CN" altLang="en-US" dirty="0" smtClean="0"/>
              <a:t>），又称为超导材料，指在某一温度下，电阻为零的导体。在实验中，若导体电阻的测量值低于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-25</a:t>
            </a:r>
            <a:r>
              <a:rPr lang="en-US" altLang="zh-CN" dirty="0" smtClean="0"/>
              <a:t>Ω</a:t>
            </a:r>
            <a:r>
              <a:rPr lang="zh-CN" altLang="en-US" dirty="0" smtClean="0"/>
              <a:t>，可以认为电阻为零。 超导体不仅具有零电阻的特性，另一个重要特征是完全抗磁性，完全抗磁性又称迈斯纳效应，“抗磁性”指在磁场强度低于临界值的情况下，磁力线无法穿过超导体。完全抗磁性的原因是，超导体表面能够产生一个无损耗的抗磁超导电流，这一电流产生的磁场，抵消了超导体内部的磁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D38D4-6B1A-48D7-A409-F437ECF8374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92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C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CF16E5-AA14-4893-9889-6F733FB9C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77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8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5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5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7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9F43E-6A00-409D-9E79-CE23F37409A4}" type="datetimeFigureOut">
              <a:rPr lang="zh-CN" altLang="en-US" smtClean="0"/>
              <a:pPr/>
              <a:t>2021/5/16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8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image" Target="../media/image6.pn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image" Target="../media/image6.pn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8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tags" Target="../tags/tag6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tags" Target="../tags/tag67.xml"/><Relationship Id="rId17" Type="http://schemas.openxmlformats.org/officeDocument/2006/relationships/tags" Target="../tags/tag72.xml"/><Relationship Id="rId2" Type="http://schemas.openxmlformats.org/officeDocument/2006/relationships/tags" Target="../tags/tag57.xml"/><Relationship Id="rId16" Type="http://schemas.openxmlformats.org/officeDocument/2006/relationships/tags" Target="../tags/tag71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5" Type="http://schemas.openxmlformats.org/officeDocument/2006/relationships/tags" Target="../tags/tag60.xml"/><Relationship Id="rId15" Type="http://schemas.openxmlformats.org/officeDocument/2006/relationships/tags" Target="../tags/tag70.xml"/><Relationship Id="rId10" Type="http://schemas.openxmlformats.org/officeDocument/2006/relationships/tags" Target="../tags/tag65.xml"/><Relationship Id="rId19" Type="http://schemas.openxmlformats.org/officeDocument/2006/relationships/image" Target="../media/image8.tmp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1741" y="3780698"/>
            <a:ext cx="8429392" cy="3112532"/>
            <a:chOff x="8806" y="3780698"/>
            <a:chExt cx="6322044" cy="3112532"/>
          </a:xfrm>
        </p:grpSpPr>
        <p:pic>
          <p:nvPicPr>
            <p:cNvPr id="20" name="Picture 3" descr="gia12141_18_10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311" b="6455"/>
            <a:stretch/>
          </p:blipFill>
          <p:spPr bwMode="auto">
            <a:xfrm>
              <a:off x="52751" y="3780698"/>
              <a:ext cx="6278099" cy="2725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8806" y="6523898"/>
              <a:ext cx="4300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钨丝                                       荧光灯                               二极管</a:t>
              </a:r>
              <a:endParaRPr lang="zh-CN" altLang="en-US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441715" y="150203"/>
            <a:ext cx="3894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0070C0"/>
                </a:solidFill>
              </a:rPr>
              <a:t>18.4 </a:t>
            </a:r>
            <a:r>
              <a:rPr lang="zh-CN" altLang="en-US" sz="3600" b="1" dirty="0" smtClean="0">
                <a:solidFill>
                  <a:srgbClr val="0070C0"/>
                </a:solidFill>
              </a:rPr>
              <a:t>电阻与电阻率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6517" y="646331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/>
              <a:t>1. </a:t>
            </a:r>
            <a:r>
              <a:rPr lang="zh-CN" altLang="en-US" sz="3200" b="1" dirty="0" smtClean="0"/>
              <a:t>电阻</a:t>
            </a:r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6891" y="1287562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欧姆定律</a:t>
            </a:r>
            <a:endParaRPr lang="zh-CN" altLang="en-US" sz="32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486313"/>
              </p:ext>
            </p:extLst>
          </p:nvPr>
        </p:nvGraphicFramePr>
        <p:xfrm>
          <a:off x="2539070" y="1275315"/>
          <a:ext cx="1451700" cy="508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Equation" r:id="rId5" imgW="507960" imgH="177480" progId="Equation.DSMT4">
                  <p:embed/>
                </p:oleObj>
              </mc:Choice>
              <mc:Fallback>
                <p:oleObj name="Equation" r:id="rId5" imgW="5079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070" y="1275315"/>
                        <a:ext cx="1451700" cy="5080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30016" y="1198571"/>
            <a:ext cx="5955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欧姆定律不是物理学中的普适定律。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7415" y="2501965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电阻定义</a:t>
            </a:r>
            <a:endParaRPr lang="zh-CN" altLang="en-US" sz="32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181834"/>
              </p:ext>
            </p:extLst>
          </p:nvPr>
        </p:nvGraphicFramePr>
        <p:xfrm>
          <a:off x="2495885" y="2302759"/>
          <a:ext cx="1271396" cy="93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Equation" r:id="rId7" imgW="533160" imgH="393480" progId="Equation.DSMT4">
                  <p:embed/>
                </p:oleObj>
              </mc:Choice>
              <mc:Fallback>
                <p:oleObj name="Equation" r:id="rId7" imgW="533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885" y="2302759"/>
                        <a:ext cx="1271396" cy="938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418995" y="2563516"/>
            <a:ext cx="5638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电阻的单位：欧姆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Ω=1V/A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369149" y="1937351"/>
            <a:ext cx="3762496" cy="588601"/>
            <a:chOff x="4256959" y="725045"/>
            <a:chExt cx="2879381" cy="588601"/>
          </a:xfrm>
        </p:grpSpPr>
        <p:sp>
          <p:nvSpPr>
            <p:cNvPr id="15" name="圆角矩形 14"/>
            <p:cNvSpPr/>
            <p:nvPr/>
          </p:nvSpPr>
          <p:spPr>
            <a:xfrm>
              <a:off x="4302988" y="725045"/>
              <a:ext cx="2833352" cy="588601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256959" y="790426"/>
              <a:ext cx="20734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与胡克定律类似</a:t>
              </a:r>
              <a:endParaRPr lang="zh-CN" altLang="en-US" sz="2800" b="1" dirty="0"/>
            </a:p>
          </p:txBody>
        </p:sp>
      </p:grpSp>
      <p:sp>
        <p:nvSpPr>
          <p:cNvPr id="19" name="下箭头 18"/>
          <p:cNvSpPr/>
          <p:nvPr/>
        </p:nvSpPr>
        <p:spPr>
          <a:xfrm>
            <a:off x="6955180" y="1593252"/>
            <a:ext cx="542357" cy="292388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596726" y="4249842"/>
            <a:ext cx="3575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注意：一个欧姆导体，无论导体两</a:t>
            </a:r>
            <a:r>
              <a:rPr lang="zh-CN" altLang="en-US" sz="2400" b="1" dirty="0"/>
              <a:t>端</a:t>
            </a:r>
            <a:r>
              <a:rPr lang="zh-CN" altLang="en-US" sz="2400" b="1" dirty="0" smtClean="0"/>
              <a:t>的电势差如何变化，电阻都是恒定的。</a:t>
            </a:r>
            <a:endParaRPr lang="zh-CN" altLang="en-US" sz="2400" b="1" dirty="0"/>
          </a:p>
        </p:txBody>
      </p:sp>
      <p:cxnSp>
        <p:nvCxnSpPr>
          <p:cNvPr id="23" name="肘形连接符 22"/>
          <p:cNvCxnSpPr>
            <a:endCxn id="24" idx="1"/>
          </p:cNvCxnSpPr>
          <p:nvPr/>
        </p:nvCxnSpPr>
        <p:spPr>
          <a:xfrm>
            <a:off x="3809996" y="3033347"/>
            <a:ext cx="4684933" cy="5823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8494929" y="3172079"/>
            <a:ext cx="3368811" cy="968188"/>
            <a:chOff x="9809534" y="3275393"/>
            <a:chExt cx="2769161" cy="968188"/>
          </a:xfrm>
        </p:grpSpPr>
        <p:sp>
          <p:nvSpPr>
            <p:cNvPr id="26" name="圆角矩形 25"/>
            <p:cNvSpPr/>
            <p:nvPr/>
          </p:nvSpPr>
          <p:spPr>
            <a:xfrm>
              <a:off x="9840503" y="3275393"/>
              <a:ext cx="2599520" cy="968188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809534" y="3303485"/>
              <a:ext cx="27691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/>
                <a:t>适用于欧姆导体和非欧姆导体。</a:t>
              </a:r>
              <a:endParaRPr lang="zh-CN" altLang="en-US" sz="2400" b="1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704274" y="5714939"/>
            <a:ext cx="3467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smtClean="0"/>
              <a:t>欧姆导体电流与电势差之间的关系曲线是线性的。</a:t>
            </a:r>
            <a:endParaRPr lang="zh-CN" altLang="en-US" sz="2200" b="1"/>
          </a:p>
        </p:txBody>
      </p:sp>
    </p:spTree>
    <p:extLst>
      <p:ext uri="{BB962C8B-B14F-4D97-AF65-F5344CB8AC3E}">
        <p14:creationId xmlns:p14="http://schemas.microsoft.com/office/powerpoint/2010/main" val="42822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7631" y="292164"/>
            <a:ext cx="4066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2. 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电阻率（</a:t>
            </a:r>
            <a:r>
              <a:rPr lang="el-GR" altLang="zh-CN" sz="3200" b="1" i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ρ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）</a:t>
            </a:r>
            <a:endParaRPr lang="zh-CN" altLang="en-US" sz="3200" b="1" i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012" y="197698"/>
            <a:ext cx="1456672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317632" y="1122831"/>
            <a:ext cx="981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电阻率是某一材料在某一温度下的特征参数。单位：</a:t>
            </a:r>
            <a:r>
              <a:rPr lang="en-US" altLang="zh-CN" sz="2800" b="1" dirty="0" smtClean="0"/>
              <a:t> </a:t>
            </a:r>
            <a:r>
              <a:rPr lang="en-US" altLang="zh-CN" sz="2800" b="1" dirty="0" err="1" smtClean="0"/>
              <a:t>Ω·m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45" y="2222625"/>
            <a:ext cx="7112492" cy="444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7537940" y="1734726"/>
            <a:ext cx="45388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/>
              <a:t>        </a:t>
            </a:r>
            <a:r>
              <a:rPr lang="zh-CN" altLang="en-US" sz="2800" b="1" dirty="0" smtClean="0"/>
              <a:t>良导体的电阻率很小，纯的半导体的电阻率很大。绝缘体的电阻率非常大（约为导体的</a:t>
            </a:r>
            <a:r>
              <a:rPr lang="en-US" altLang="zh-CN" sz="2800" b="1" dirty="0" smtClean="0"/>
              <a:t>10</a:t>
            </a:r>
            <a:r>
              <a:rPr lang="en-US" altLang="zh-CN" sz="2800" b="1" baseline="30000" dirty="0" smtClean="0"/>
              <a:t>20</a:t>
            </a:r>
            <a:r>
              <a:rPr lang="zh-CN" altLang="en-US" sz="2800" b="1" dirty="0" smtClean="0"/>
              <a:t>倍。）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90385"/>
              </p:ext>
            </p:extLst>
          </p:nvPr>
        </p:nvGraphicFramePr>
        <p:xfrm>
          <a:off x="7935913" y="4606925"/>
          <a:ext cx="36417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Equation" r:id="rId5" imgW="1028520" imgH="228600" progId="Equation.DSMT4">
                  <p:embed/>
                </p:oleObj>
              </mc:Choice>
              <mc:Fallback>
                <p:oleObj name="Equation" r:id="rId5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4606925"/>
                        <a:ext cx="364172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7927731" y="5321545"/>
          <a:ext cx="3841117" cy="1017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7" imgW="1295280" imgH="457200" progId="Equation.DSMT4">
                  <p:embed/>
                </p:oleObj>
              </mc:Choice>
              <mc:Fallback>
                <p:oleObj name="Equation" r:id="rId7" imgW="1295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7731" y="5321545"/>
                        <a:ext cx="3841117" cy="1017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396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429" y="751562"/>
            <a:ext cx="105886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FF"/>
                </a:solidFill>
              </a:rPr>
              <a:t>检测题  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18.4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为什么在数据表中查到的是物质的电阻率（某一温度下），而不是此物质的电阻？</a:t>
            </a:r>
            <a:endParaRPr lang="zh-CN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84548" y="3507289"/>
            <a:ext cx="10989501" cy="1311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电阻率反映了材料的固有属性，与尺寸和形状无关。材料电阻的大小由其尺寸和形状决定。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408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71531" y="1628800"/>
            <a:ext cx="883298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在给定温度下，导线在直流时的电阻只决定于（    ）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A</a:t>
            </a:r>
            <a:r>
              <a:rPr lang="zh-CN" altLang="en-US" sz="2800" b="1" dirty="0" smtClean="0"/>
              <a:t> 、导线两端的电压。               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B</a:t>
            </a:r>
            <a:r>
              <a:rPr lang="zh-CN" altLang="en-US" sz="2800" b="1" dirty="0" smtClean="0"/>
              <a:t>、电阻率、长度和电压。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C</a:t>
            </a:r>
            <a:r>
              <a:rPr lang="zh-CN" altLang="en-US" sz="2800" b="1" dirty="0" smtClean="0"/>
              <a:t> 、电阻率、长度和横截面积。       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D</a:t>
            </a:r>
            <a:r>
              <a:rPr lang="zh-CN" altLang="en-US" sz="2800" b="1" dirty="0" smtClean="0"/>
              <a:t>、电压、长度和横截面积。</a:t>
            </a:r>
            <a:endParaRPr lang="zh-CN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19404" y="51098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99"/>
                </a:solidFill>
              </a:rPr>
              <a:t>单项选择题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97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在给定温度下，导线在直流时的电阻只决定于（    ）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/>
              <a:t>导线两端的电压。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电阻率、长度和电压。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/>
              <a:t>电阻率、长度和横截面积。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电压、长度和横截面积。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770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9622" y="597209"/>
            <a:ext cx="3953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99"/>
                </a:solidFill>
              </a:rPr>
              <a:t>3. </a:t>
            </a:r>
            <a:r>
              <a:rPr lang="zh-CN" altLang="en-US" sz="3200" b="1" dirty="0" smtClean="0">
                <a:solidFill>
                  <a:srgbClr val="000099"/>
                </a:solidFill>
              </a:rPr>
              <a:t>水的电阻率</a:t>
            </a:r>
            <a:endParaRPr lang="zh-CN" altLang="en-US" sz="3200" b="1" i="1" dirty="0">
              <a:solidFill>
                <a:srgbClr val="00009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9622" y="1470192"/>
            <a:ext cx="8773295" cy="279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水的电阻率主要取决于水中离子的浓度。纯水中只包含自耦电离</a:t>
            </a:r>
            <a:r>
              <a:rPr lang="en-US" altLang="zh-CN" sz="2400" b="1" dirty="0" smtClean="0"/>
              <a:t>(H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O ↔H</a:t>
            </a:r>
            <a:r>
              <a:rPr lang="en-US" altLang="zh-CN" sz="2400" b="1" baseline="30000" dirty="0" smtClean="0"/>
              <a:t>+</a:t>
            </a:r>
            <a:r>
              <a:rPr lang="en-US" altLang="zh-CN" sz="2400" b="1" dirty="0" smtClean="0"/>
              <a:t> + OH</a:t>
            </a:r>
            <a:r>
              <a:rPr lang="en-US" altLang="zh-CN" sz="2400" b="1" baseline="30000" dirty="0" smtClean="0"/>
              <a:t>−</a:t>
            </a:r>
            <a:r>
              <a:rPr lang="en-US" altLang="zh-CN" sz="2400" b="1" dirty="0" smtClean="0"/>
              <a:t> )</a:t>
            </a:r>
            <a:r>
              <a:rPr lang="zh-CN" altLang="en-US" sz="2400" b="1" dirty="0" smtClean="0"/>
              <a:t>产生的离子。因此纯水是一种绝缘体。</a:t>
            </a:r>
            <a:r>
              <a:rPr lang="en-US" altLang="zh-CN" sz="2400" b="1" dirty="0" smtClean="0"/>
              <a:t>20</a:t>
            </a:r>
            <a:r>
              <a:rPr lang="zh-CN" altLang="en-US" sz="2400" b="1" dirty="0" smtClean="0"/>
              <a:t>度时其理论上的最大电阻率约为</a:t>
            </a:r>
            <a:r>
              <a:rPr lang="en-US" altLang="zh-CN" sz="2400" b="1" dirty="0" smtClean="0"/>
              <a:t>2.5</a:t>
            </a:r>
            <a:r>
              <a:rPr lang="en-US" altLang="zh-CN" sz="2400" b="1" dirty="0"/>
              <a:t>×</a:t>
            </a:r>
            <a:r>
              <a:rPr lang="en-US" altLang="zh-CN" sz="2400" b="1" dirty="0" smtClean="0"/>
              <a:t>   10</a:t>
            </a:r>
            <a:r>
              <a:rPr lang="en-US" altLang="zh-CN" sz="2400" b="1" baseline="30000" dirty="0" smtClean="0"/>
              <a:t>5</a:t>
            </a:r>
            <a:r>
              <a:rPr lang="zh-CN" altLang="en-US" sz="2400" b="1" dirty="0" smtClean="0"/>
              <a:t> </a:t>
            </a:r>
            <a:r>
              <a:rPr lang="en-US" altLang="zh-CN" sz="2400" b="1" dirty="0" err="1" smtClean="0"/>
              <a:t>Ω·m</a:t>
            </a:r>
            <a:r>
              <a:rPr lang="zh-CN" altLang="en-US" sz="2400" b="1" dirty="0" smtClean="0"/>
              <a:t>。水是一种很好的溶剂，即使少量的矿物质在水中，也能很大程度地降低其电阻率。如：自来水的电阻率（</a:t>
            </a:r>
            <a:r>
              <a:rPr lang="en-US" altLang="zh-CN" sz="2400" b="1" dirty="0" smtClean="0"/>
              <a:t> 10</a:t>
            </a:r>
            <a:r>
              <a:rPr lang="en-US" altLang="zh-CN" sz="2400" b="1" baseline="30000" dirty="0" smtClean="0"/>
              <a:t>-1 </a:t>
            </a:r>
            <a:r>
              <a:rPr lang="en-US" altLang="zh-CN" sz="2400" b="1" dirty="0" smtClean="0"/>
              <a:t>- 10</a:t>
            </a:r>
            <a:r>
              <a:rPr lang="en-US" altLang="zh-CN" sz="2400" b="1" baseline="30000" dirty="0" smtClean="0"/>
              <a:t>2 </a:t>
            </a:r>
            <a:r>
              <a:rPr lang="en-US" altLang="zh-CN" sz="2400" b="1" dirty="0" err="1" smtClean="0"/>
              <a:t>Ω·m</a:t>
            </a:r>
            <a:r>
              <a:rPr lang="en-US" altLang="zh-CN" sz="2400" b="1" dirty="0" smtClean="0"/>
              <a:t> </a:t>
            </a:r>
            <a:r>
              <a:rPr lang="zh-CN" altLang="en-US" sz="2400" b="1" dirty="0" smtClean="0"/>
              <a:t>）</a:t>
            </a:r>
            <a:endParaRPr lang="en-US" altLang="zh-CN" sz="2400" b="1" baseline="30000" dirty="0" smtClean="0"/>
          </a:p>
        </p:txBody>
      </p:sp>
    </p:spTree>
    <p:extLst>
      <p:ext uri="{BB962C8B-B14F-4D97-AF65-F5344CB8AC3E}">
        <p14:creationId xmlns:p14="http://schemas.microsoft.com/office/powerpoint/2010/main" val="301569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08100" y="836712"/>
            <a:ext cx="978213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以下每幅图分别表示不同电器原件两端的电压（</a:t>
            </a:r>
            <a:r>
              <a:rPr lang="en-US" altLang="zh-CN" sz="2800" b="1" dirty="0"/>
              <a:t>V</a:t>
            </a:r>
            <a:r>
              <a:rPr lang="zh-CN" altLang="en-US" sz="2800" b="1" dirty="0"/>
              <a:t>）随其中电流（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）变化的关系曲线。哪幅图是欧姆导体的关系曲线？（  ）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2351584" y="2598279"/>
            <a:ext cx="1859280" cy="1028700"/>
            <a:chOff x="0" y="99060"/>
            <a:chExt cx="1394460" cy="1028700"/>
          </a:xfrm>
        </p:grpSpPr>
        <p:cxnSp>
          <p:nvCxnSpPr>
            <p:cNvPr id="66" name="直接箭头连接符 65"/>
            <p:cNvCxnSpPr/>
            <p:nvPr/>
          </p:nvCxnSpPr>
          <p:spPr>
            <a:xfrm>
              <a:off x="441960" y="815340"/>
              <a:ext cx="76962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V="1">
              <a:off x="441960" y="99060"/>
              <a:ext cx="0" cy="7162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V="1">
              <a:off x="441960" y="274320"/>
              <a:ext cx="624840" cy="541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36928"/>
            <p:cNvSpPr txBox="1"/>
            <p:nvPr/>
          </p:nvSpPr>
          <p:spPr>
            <a:xfrm>
              <a:off x="1021080" y="891540"/>
              <a:ext cx="373380" cy="23622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>
                  <a:effectLst/>
                  <a:ea typeface="宋体"/>
                  <a:cs typeface="Times New Roman"/>
                </a:rPr>
                <a:t>I</a:t>
              </a:r>
              <a:endParaRPr lang="zh-CN" sz="1050" kern="100">
                <a:effectLst/>
                <a:ea typeface="宋体"/>
                <a:cs typeface="Times New Roman"/>
              </a:endParaRPr>
            </a:p>
          </p:txBody>
        </p:sp>
        <p:sp>
          <p:nvSpPr>
            <p:cNvPr id="70" name="文本框 36929"/>
            <p:cNvSpPr txBox="1"/>
            <p:nvPr/>
          </p:nvSpPr>
          <p:spPr>
            <a:xfrm>
              <a:off x="0" y="99060"/>
              <a:ext cx="373380" cy="236220"/>
            </a:xfrm>
            <a:prstGeom prst="rect">
              <a:avLst/>
            </a:prstGeom>
            <a:solidFill>
              <a:sysClr val="window" lastClr="FFFFFF"/>
            </a:solidFill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050" kern="100">
                  <a:effectLst/>
                  <a:latin typeface="Calibri"/>
                  <a:ea typeface="宋体"/>
                  <a:cs typeface="Times New Roman"/>
                </a:rPr>
                <a:t>V</a:t>
              </a:r>
              <a:endParaRPr lang="zh-CN" sz="1050" kern="100">
                <a:effectLst/>
                <a:latin typeface="Calibri"/>
                <a:ea typeface="宋体"/>
                <a:cs typeface="Times New Roman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065940" y="2475264"/>
            <a:ext cx="2174240" cy="1379220"/>
            <a:chOff x="0" y="0"/>
            <a:chExt cx="1630680" cy="1322070"/>
          </a:xfrm>
        </p:grpSpPr>
        <p:grpSp>
          <p:nvGrpSpPr>
            <p:cNvPr id="72" name="组合 71"/>
            <p:cNvGrpSpPr/>
            <p:nvPr/>
          </p:nvGrpSpPr>
          <p:grpSpPr>
            <a:xfrm>
              <a:off x="0" y="0"/>
              <a:ext cx="1630680" cy="1028700"/>
              <a:chOff x="0" y="60960"/>
              <a:chExt cx="1630680" cy="1028700"/>
            </a:xfrm>
          </p:grpSpPr>
          <p:cxnSp>
            <p:nvCxnSpPr>
              <p:cNvPr id="74" name="直接箭头连接符 73"/>
              <p:cNvCxnSpPr/>
              <p:nvPr/>
            </p:nvCxnSpPr>
            <p:spPr>
              <a:xfrm>
                <a:off x="441960" y="815340"/>
                <a:ext cx="815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75" name="直接箭头连接符 74"/>
              <p:cNvCxnSpPr/>
              <p:nvPr/>
            </p:nvCxnSpPr>
            <p:spPr>
              <a:xfrm flipV="1">
                <a:off x="441960" y="121920"/>
                <a:ext cx="0" cy="69342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76" name="文本框 36935"/>
              <p:cNvSpPr txBox="1"/>
              <p:nvPr/>
            </p:nvSpPr>
            <p:spPr>
              <a:xfrm>
                <a:off x="1257300" y="85344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I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  <p:sp>
            <p:nvSpPr>
              <p:cNvPr id="77" name="文本框 36936"/>
              <p:cNvSpPr txBox="1"/>
              <p:nvPr/>
            </p:nvSpPr>
            <p:spPr>
              <a:xfrm>
                <a:off x="0" y="6096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V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</p:grpSp>
        <p:sp>
          <p:nvSpPr>
            <p:cNvPr id="73" name="弧形 72"/>
            <p:cNvSpPr/>
            <p:nvPr/>
          </p:nvSpPr>
          <p:spPr>
            <a:xfrm rot="18393989">
              <a:off x="312420" y="320040"/>
              <a:ext cx="1188720" cy="815340"/>
            </a:xfrm>
            <a:prstGeom prst="arc">
              <a:avLst>
                <a:gd name="adj1" fmla="val 13929813"/>
                <a:gd name="adj2" fmla="val 20069513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2366824" y="4157672"/>
            <a:ext cx="2174240" cy="1482089"/>
            <a:chOff x="0" y="-392556"/>
            <a:chExt cx="1630680" cy="1421256"/>
          </a:xfrm>
        </p:grpSpPr>
        <p:grpSp>
          <p:nvGrpSpPr>
            <p:cNvPr id="79" name="组合 78"/>
            <p:cNvGrpSpPr/>
            <p:nvPr/>
          </p:nvGrpSpPr>
          <p:grpSpPr>
            <a:xfrm>
              <a:off x="0" y="0"/>
              <a:ext cx="1630680" cy="1028700"/>
              <a:chOff x="0" y="60960"/>
              <a:chExt cx="1630680" cy="1028700"/>
            </a:xfrm>
          </p:grpSpPr>
          <p:cxnSp>
            <p:nvCxnSpPr>
              <p:cNvPr id="81" name="直接箭头连接符 80"/>
              <p:cNvCxnSpPr/>
              <p:nvPr/>
            </p:nvCxnSpPr>
            <p:spPr>
              <a:xfrm>
                <a:off x="441960" y="815340"/>
                <a:ext cx="815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82" name="直接箭头连接符 81"/>
              <p:cNvCxnSpPr/>
              <p:nvPr/>
            </p:nvCxnSpPr>
            <p:spPr>
              <a:xfrm flipV="1">
                <a:off x="441960" y="121920"/>
                <a:ext cx="0" cy="69342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83" name="文本框 36943"/>
              <p:cNvSpPr txBox="1"/>
              <p:nvPr/>
            </p:nvSpPr>
            <p:spPr>
              <a:xfrm>
                <a:off x="1257300" y="85344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I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  <p:sp>
            <p:nvSpPr>
              <p:cNvPr id="84" name="文本框 36944"/>
              <p:cNvSpPr txBox="1"/>
              <p:nvPr/>
            </p:nvSpPr>
            <p:spPr>
              <a:xfrm>
                <a:off x="0" y="6096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V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</p:grpSp>
        <p:sp>
          <p:nvSpPr>
            <p:cNvPr id="80" name="弧形 79"/>
            <p:cNvSpPr/>
            <p:nvPr/>
          </p:nvSpPr>
          <p:spPr>
            <a:xfrm rot="7241882">
              <a:off x="-99060" y="-205866"/>
              <a:ext cx="1188720" cy="815340"/>
            </a:xfrm>
            <a:prstGeom prst="arc">
              <a:avLst>
                <a:gd name="adj1" fmla="val 13929813"/>
                <a:gd name="adj2" fmla="val 20069513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6162036" y="4431173"/>
            <a:ext cx="2225887" cy="1194435"/>
            <a:chOff x="0" y="-116474"/>
            <a:chExt cx="1669871" cy="1145174"/>
          </a:xfrm>
        </p:grpSpPr>
        <p:grpSp>
          <p:nvGrpSpPr>
            <p:cNvPr id="86" name="组合 85"/>
            <p:cNvGrpSpPr/>
            <p:nvPr/>
          </p:nvGrpSpPr>
          <p:grpSpPr>
            <a:xfrm>
              <a:off x="0" y="0"/>
              <a:ext cx="1630680" cy="1028700"/>
              <a:chOff x="0" y="60960"/>
              <a:chExt cx="1630680" cy="1028700"/>
            </a:xfrm>
          </p:grpSpPr>
          <p:cxnSp>
            <p:nvCxnSpPr>
              <p:cNvPr id="88" name="直接箭头连接符 87"/>
              <p:cNvCxnSpPr/>
              <p:nvPr/>
            </p:nvCxnSpPr>
            <p:spPr>
              <a:xfrm>
                <a:off x="441960" y="815340"/>
                <a:ext cx="81534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89" name="直接箭头连接符 88"/>
              <p:cNvCxnSpPr/>
              <p:nvPr/>
            </p:nvCxnSpPr>
            <p:spPr>
              <a:xfrm flipV="1">
                <a:off x="441960" y="121920"/>
                <a:ext cx="0" cy="69342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90" name="文本框 36997"/>
              <p:cNvSpPr txBox="1"/>
              <p:nvPr/>
            </p:nvSpPr>
            <p:spPr>
              <a:xfrm>
                <a:off x="1257300" y="85344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I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  <p:sp>
            <p:nvSpPr>
              <p:cNvPr id="91" name="文本框 36998"/>
              <p:cNvSpPr txBox="1"/>
              <p:nvPr/>
            </p:nvSpPr>
            <p:spPr>
              <a:xfrm>
                <a:off x="0" y="60960"/>
                <a:ext cx="373380" cy="23622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050" kern="100">
                    <a:effectLst/>
                    <a:latin typeface="Calibri"/>
                    <a:ea typeface="宋体"/>
                    <a:cs typeface="Times New Roman"/>
                  </a:rPr>
                  <a:t>V</a:t>
                </a:r>
                <a:endParaRPr lang="zh-CN" sz="1050" kern="100">
                  <a:effectLst/>
                  <a:latin typeface="Calibri"/>
                  <a:ea typeface="宋体"/>
                  <a:cs typeface="Times New Roman"/>
                </a:endParaRPr>
              </a:p>
            </p:txBody>
          </p:sp>
        </p:grpSp>
        <p:sp>
          <p:nvSpPr>
            <p:cNvPr id="87" name="弧形 86"/>
            <p:cNvSpPr/>
            <p:nvPr/>
          </p:nvSpPr>
          <p:spPr>
            <a:xfrm rot="12993989">
              <a:off x="429765" y="-116474"/>
              <a:ext cx="1240106" cy="781555"/>
            </a:xfrm>
            <a:prstGeom prst="arc">
              <a:avLst>
                <a:gd name="adj1" fmla="val 14662792"/>
                <a:gd name="adj2" fmla="val 19600225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864664" y="3636449"/>
            <a:ext cx="729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                                                    B</a:t>
            </a:r>
            <a:endParaRPr lang="zh-CN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2762483" y="5733256"/>
            <a:ext cx="729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C                                                   D</a:t>
            </a:r>
            <a:endParaRPr lang="zh-CN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754671" y="24937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99"/>
                </a:solidFill>
              </a:rPr>
              <a:t>单项选择题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43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gia12141_18_1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" r="3711" b="10375"/>
          <a:stretch/>
        </p:blipFill>
        <p:spPr bwMode="auto">
          <a:xfrm>
            <a:off x="357360" y="666145"/>
            <a:ext cx="6062979" cy="474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112807" y="4774708"/>
            <a:ext cx="3556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SOI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silicon on insulator</a:t>
            </a:r>
            <a:r>
              <a:rPr lang="zh-CN" altLang="en-US" b="1" dirty="0" smtClean="0">
                <a:solidFill>
                  <a:srgbClr val="FF0000"/>
                </a:solidFill>
              </a:rPr>
              <a:t>）绝缘体上的硅，它</a:t>
            </a:r>
            <a:r>
              <a:rPr lang="zh-CN" altLang="en-US" b="1" dirty="0">
                <a:solidFill>
                  <a:srgbClr val="FF0000"/>
                </a:solidFill>
              </a:rPr>
              <a:t>的工作温度可高达</a:t>
            </a:r>
            <a:r>
              <a:rPr lang="en-US" altLang="zh-CN" b="1" dirty="0">
                <a:solidFill>
                  <a:srgbClr val="FF0000"/>
                </a:solidFill>
              </a:rPr>
              <a:t>300°C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</a:rPr>
              <a:t>减少芯片过热</a:t>
            </a:r>
            <a:r>
              <a:rPr lang="zh-CN" altLang="en-US" b="1" dirty="0">
                <a:solidFill>
                  <a:srgbClr val="FF0000"/>
                </a:solidFill>
              </a:rPr>
              <a:t>的问题。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82" y="509869"/>
            <a:ext cx="4684126" cy="4180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38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28800" y="1238935"/>
            <a:ext cx="8280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/>
              <a:t>某</a:t>
            </a:r>
            <a:r>
              <a:rPr lang="zh-CN" altLang="en-US" sz="3600" dirty="0"/>
              <a:t>一类型电线的</a:t>
            </a:r>
            <a:r>
              <a:rPr lang="en-US" altLang="zh-CN" sz="3600" dirty="0"/>
              <a:t>100</a:t>
            </a:r>
            <a:r>
              <a:rPr lang="zh-CN" altLang="en-US" sz="3600" dirty="0"/>
              <a:t>米电阻为</a:t>
            </a:r>
            <a:r>
              <a:rPr lang="en-US" altLang="zh-CN" sz="3600" dirty="0" smtClean="0"/>
              <a:t>7.2</a:t>
            </a:r>
            <a:r>
              <a:rPr lang="en-US" altLang="zh-CN" sz="3600" dirty="0">
                <a:sym typeface="Symbol"/>
              </a:rPr>
              <a:t></a:t>
            </a:r>
            <a:r>
              <a:rPr lang="zh-CN" altLang="en-US" sz="3600" dirty="0" smtClean="0"/>
              <a:t>。</a:t>
            </a:r>
            <a:r>
              <a:rPr lang="zh-CN" altLang="en-US" sz="3600" dirty="0"/>
              <a:t>这根电线</a:t>
            </a:r>
            <a:r>
              <a:rPr lang="en-US" altLang="zh-CN" sz="3600" dirty="0"/>
              <a:t>2.5</a:t>
            </a:r>
            <a:r>
              <a:rPr lang="zh-CN" altLang="en-US" sz="3600" dirty="0"/>
              <a:t>米的电阻是多少</a:t>
            </a:r>
            <a:r>
              <a:rPr lang="zh-CN" altLang="en-US" sz="3600" dirty="0" smtClean="0"/>
              <a:t>？</a:t>
            </a:r>
            <a:endParaRPr lang="en-US" altLang="zh-CN" sz="3600" dirty="0" smtClean="0"/>
          </a:p>
          <a:p>
            <a:r>
              <a:rPr lang="en-US" altLang="zh-CN" sz="3600" dirty="0" smtClean="0"/>
              <a:t>A</a:t>
            </a:r>
            <a:r>
              <a:rPr lang="zh-CN" altLang="en-US" sz="3600" dirty="0"/>
              <a:t>、 </a:t>
            </a:r>
            <a:r>
              <a:rPr lang="en-US" altLang="zh-CN" sz="3600" dirty="0" smtClean="0"/>
              <a:t>18</a:t>
            </a:r>
            <a:r>
              <a:rPr lang="en-US" altLang="zh-CN" sz="3600" dirty="0">
                <a:sym typeface="Symbol"/>
              </a:rPr>
              <a:t></a:t>
            </a:r>
            <a:r>
              <a:rPr lang="en-US" altLang="zh-CN" sz="3600" dirty="0" smtClean="0"/>
              <a:t></a:t>
            </a:r>
          </a:p>
          <a:p>
            <a:r>
              <a:rPr lang="en-US" altLang="zh-CN" sz="3600" dirty="0" smtClean="0"/>
              <a:t>B</a:t>
            </a:r>
            <a:r>
              <a:rPr lang="zh-CN" altLang="en-US" sz="3600" dirty="0"/>
              <a:t>、 </a:t>
            </a:r>
            <a:r>
              <a:rPr lang="en-US" altLang="zh-CN" sz="3600" dirty="0" smtClean="0"/>
              <a:t>1.8</a:t>
            </a:r>
            <a:r>
              <a:rPr lang="en-US" altLang="zh-CN" sz="3600" dirty="0">
                <a:sym typeface="Symbol"/>
              </a:rPr>
              <a:t></a:t>
            </a:r>
            <a:r>
              <a:rPr lang="en-US" altLang="zh-CN" sz="3600" dirty="0" smtClean="0"/>
              <a:t></a:t>
            </a:r>
          </a:p>
          <a:p>
            <a:r>
              <a:rPr lang="en-US" altLang="zh-CN" sz="3600" dirty="0" smtClean="0"/>
              <a:t>C</a:t>
            </a:r>
            <a:r>
              <a:rPr lang="zh-CN" altLang="en-US" sz="3600" dirty="0"/>
              <a:t>、 </a:t>
            </a:r>
            <a:r>
              <a:rPr lang="en-US" altLang="zh-CN" sz="3600" dirty="0" smtClean="0"/>
              <a:t>0.18</a:t>
            </a:r>
            <a:r>
              <a:rPr lang="en-US" altLang="zh-CN" sz="3600" dirty="0">
                <a:sym typeface="Symbol"/>
              </a:rPr>
              <a:t></a:t>
            </a:r>
            <a:r>
              <a:rPr lang="en-US" altLang="zh-CN" sz="3600" dirty="0" smtClean="0"/>
              <a:t></a:t>
            </a:r>
          </a:p>
          <a:p>
            <a:r>
              <a:rPr lang="en-US" altLang="zh-CN" sz="3600" dirty="0" smtClean="0"/>
              <a:t>D</a:t>
            </a:r>
            <a:r>
              <a:rPr lang="zh-CN" altLang="en-US" sz="3600" dirty="0"/>
              <a:t>、 </a:t>
            </a:r>
            <a:r>
              <a:rPr lang="en-US" altLang="zh-CN" sz="3600" dirty="0" smtClean="0"/>
              <a:t>3.0</a:t>
            </a:r>
            <a:r>
              <a:rPr lang="en-US" altLang="zh-CN" sz="3600" dirty="0">
                <a:sym typeface="Symbol"/>
              </a:rPr>
              <a:t></a:t>
            </a:r>
            <a:r>
              <a:rPr lang="en-US" altLang="zh-CN" sz="3600" dirty="0" smtClean="0"/>
              <a:t></a:t>
            </a:r>
          </a:p>
          <a:p>
            <a:r>
              <a:rPr lang="en-US" altLang="zh-CN" sz="3600" dirty="0" smtClean="0"/>
              <a:t>E</a:t>
            </a:r>
            <a:r>
              <a:rPr lang="zh-CN" altLang="en-US" sz="3600" dirty="0"/>
              <a:t>、 </a:t>
            </a:r>
            <a:r>
              <a:rPr lang="en-US" altLang="zh-CN" sz="3600" dirty="0" smtClean="0"/>
              <a:t>0.30</a:t>
            </a:r>
            <a:r>
              <a:rPr lang="en-US" altLang="zh-CN" sz="3600" dirty="0">
                <a:sym typeface="Symbol"/>
              </a:rPr>
              <a:t></a:t>
            </a:r>
            <a:r>
              <a:rPr lang="en-US" altLang="zh-CN" sz="3600" dirty="0" smtClean="0"/>
              <a:t></a:t>
            </a:r>
            <a:endParaRPr lang="zh-CN" alt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27671" y="38907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99"/>
                </a:solidFill>
              </a:rPr>
              <a:t>单项选择题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12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44883" y="492919"/>
            <a:ext cx="10885905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dirty="0"/>
              <a:t>某一类型电线的</a:t>
            </a:r>
            <a:r>
              <a:rPr lang="en-US" altLang="zh-CN" sz="3200" dirty="0"/>
              <a:t>100</a:t>
            </a:r>
            <a:r>
              <a:rPr lang="zh-CN" altLang="en-US" sz="3200" dirty="0"/>
              <a:t>米电阻为</a:t>
            </a:r>
            <a:r>
              <a:rPr lang="en-US" altLang="zh-CN" sz="3200" dirty="0"/>
              <a:t>7.2</a:t>
            </a:r>
            <a:r>
              <a:rPr lang="en-US" altLang="zh-CN" sz="3200" dirty="0">
                <a:sym typeface="Symbol"/>
              </a:rPr>
              <a:t></a:t>
            </a:r>
            <a:r>
              <a:rPr lang="zh-CN" altLang="en-US" sz="3200" dirty="0"/>
              <a:t>。这根电线</a:t>
            </a:r>
            <a:r>
              <a:rPr lang="en-US" altLang="zh-CN" sz="3200" dirty="0"/>
              <a:t>2.5</a:t>
            </a:r>
            <a:r>
              <a:rPr lang="zh-CN" altLang="en-US" sz="3200" dirty="0"/>
              <a:t>米的电阻是多少？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18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1.8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0.18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3.0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0.30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78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498600" y="1227237"/>
            <a:ext cx="8940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/>
              <a:t>导线</a:t>
            </a:r>
            <a:r>
              <a:rPr lang="zh-CN" altLang="en-US" sz="3200" dirty="0"/>
              <a:t>长度的电阻为</a:t>
            </a:r>
            <a:r>
              <a:rPr lang="en-US" altLang="zh-CN" sz="3200" dirty="0" smtClean="0"/>
              <a:t>18.0</a:t>
            </a:r>
            <a:r>
              <a:rPr lang="en-US" altLang="zh-CN" sz="3200" dirty="0">
                <a:sym typeface="Symbol"/>
              </a:rPr>
              <a:t></a:t>
            </a:r>
            <a:r>
              <a:rPr lang="zh-CN" altLang="en-US" sz="3200" dirty="0" smtClean="0"/>
              <a:t>。</a:t>
            </a:r>
            <a:r>
              <a:rPr lang="zh-CN" altLang="en-US" sz="3200" dirty="0"/>
              <a:t>当导线均匀拉伸到原来长度的三倍时</a:t>
            </a:r>
            <a:r>
              <a:rPr lang="zh-CN" altLang="en-US" sz="3200" dirty="0" smtClean="0"/>
              <a:t>，则电阻为？</a:t>
            </a:r>
            <a:endParaRPr lang="zh-CN" altLang="en-US" sz="3200" dirty="0"/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、 </a:t>
            </a:r>
            <a:r>
              <a:rPr lang="en-US" altLang="zh-CN" sz="3200" dirty="0" smtClean="0"/>
              <a:t>162</a:t>
            </a:r>
            <a:r>
              <a:rPr lang="en-US" altLang="zh-CN" sz="3200" dirty="0">
                <a:sym typeface="Symbol"/>
              </a:rPr>
              <a:t></a:t>
            </a:r>
            <a:endParaRPr lang="en-US" altLang="zh-CN" sz="3200" dirty="0"/>
          </a:p>
          <a:p>
            <a:r>
              <a:rPr lang="en-US" altLang="zh-CN" sz="3200" dirty="0"/>
              <a:t>B</a:t>
            </a:r>
            <a:r>
              <a:rPr lang="zh-CN" altLang="en-US" sz="3200" dirty="0"/>
              <a:t>、 </a:t>
            </a:r>
            <a:r>
              <a:rPr lang="en-US" altLang="zh-CN" sz="3200" dirty="0" smtClean="0"/>
              <a:t>54.0</a:t>
            </a:r>
            <a:r>
              <a:rPr lang="en-US" altLang="zh-CN" sz="3200" dirty="0">
                <a:sym typeface="Symbol"/>
              </a:rPr>
              <a:t></a:t>
            </a:r>
            <a:endParaRPr lang="en-US" altLang="zh-CN" sz="3200" dirty="0"/>
          </a:p>
          <a:p>
            <a:r>
              <a:rPr lang="en-US" altLang="zh-CN" sz="3200" dirty="0"/>
              <a:t>C</a:t>
            </a:r>
            <a:r>
              <a:rPr lang="zh-CN" altLang="en-US" sz="3200" dirty="0"/>
              <a:t>、 </a:t>
            </a:r>
            <a:r>
              <a:rPr lang="en-US" altLang="zh-CN" sz="3200" dirty="0" smtClean="0"/>
              <a:t>18.0</a:t>
            </a:r>
            <a:r>
              <a:rPr lang="en-US" altLang="zh-CN" sz="3200" dirty="0">
                <a:sym typeface="Symbol"/>
              </a:rPr>
              <a:t></a:t>
            </a:r>
            <a:endParaRPr lang="en-US" altLang="zh-CN" sz="3200" dirty="0"/>
          </a:p>
          <a:p>
            <a:r>
              <a:rPr lang="en-US" altLang="zh-CN" sz="3200" dirty="0"/>
              <a:t>D</a:t>
            </a:r>
            <a:r>
              <a:rPr lang="zh-CN" altLang="en-US" sz="3200" dirty="0"/>
              <a:t>、 </a:t>
            </a:r>
            <a:r>
              <a:rPr lang="en-US" altLang="zh-CN" sz="3200" dirty="0" smtClean="0"/>
              <a:t>6.00</a:t>
            </a:r>
            <a:r>
              <a:rPr lang="en-US" altLang="zh-CN" sz="3200" dirty="0">
                <a:sym typeface="Symbol"/>
              </a:rPr>
              <a:t></a:t>
            </a:r>
            <a:endParaRPr lang="en-US" altLang="zh-CN" sz="3200" dirty="0"/>
          </a:p>
          <a:p>
            <a:r>
              <a:rPr lang="en-US" altLang="zh-CN" sz="3200" dirty="0"/>
              <a:t>E</a:t>
            </a:r>
            <a:r>
              <a:rPr lang="zh-CN" altLang="en-US" sz="3200" dirty="0"/>
              <a:t>、 </a:t>
            </a:r>
            <a:r>
              <a:rPr lang="en-US" altLang="zh-CN" sz="3200" dirty="0" smtClean="0"/>
              <a:t>2.00</a:t>
            </a:r>
            <a:r>
              <a:rPr lang="en-US" altLang="zh-CN" sz="3200" dirty="0">
                <a:sym typeface="Symbol"/>
              </a:rPr>
              <a:t></a:t>
            </a:r>
            <a:endParaRPr lang="en-US" altLang="zh-C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627671" y="389078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99"/>
                </a:solidFill>
              </a:rPr>
              <a:t>单项选择题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09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导线长度的电阻为</a:t>
            </a:r>
            <a:r>
              <a:rPr lang="en-US" altLang="zh-CN" sz="2800" dirty="0"/>
              <a:t>18.0</a:t>
            </a:r>
            <a:r>
              <a:rPr lang="en-US" altLang="zh-CN" sz="2800" dirty="0">
                <a:sym typeface="Symbol"/>
              </a:rPr>
              <a:t></a:t>
            </a:r>
            <a:r>
              <a:rPr lang="zh-CN" altLang="en-US" sz="2800" dirty="0"/>
              <a:t>。当导线均匀拉伸到原来长度的三倍时，则电阻为？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162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54.0</a:t>
            </a:r>
            <a:r>
              <a:rPr lang="en-US" altLang="zh-CN" sz="2800" dirty="0">
                <a:sym typeface="Symbol"/>
              </a:rPr>
              <a:t></a:t>
            </a:r>
            <a:endParaRPr lang="en-US" altLang="zh-CN" sz="2800" dirty="0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18.0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6.00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2.00</a:t>
            </a:r>
            <a:r>
              <a:rPr lang="en-US" altLang="zh-CN" sz="2800" dirty="0">
                <a:sym typeface="Symbol"/>
              </a:rPr>
              <a:t>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496" y="2996952"/>
            <a:ext cx="1942229" cy="88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3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" y="125915"/>
            <a:ext cx="6963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4.</a:t>
            </a:r>
            <a:r>
              <a:rPr lang="zh-CN" altLang="en-US" sz="3200" b="1" dirty="0" smtClean="0"/>
              <a:t>电阻率和温度的关系</a:t>
            </a:r>
            <a:endParaRPr lang="zh-CN" altLang="en-US" sz="3200" b="1" i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027" y="2067083"/>
            <a:ext cx="3454445" cy="57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250876" y="897532"/>
            <a:ext cx="116749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/>
              <a:t>决定金属电阻率的两个因素：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单位体积内的传导电子的数量</a:t>
            </a:r>
            <a:r>
              <a:rPr lang="zh-CN" altLang="en-US" sz="2800" dirty="0" smtClean="0"/>
              <a:t>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电子与离子间的碰撞频率</a:t>
            </a:r>
            <a:r>
              <a:rPr lang="zh-CN" altLang="en-US" sz="2800" dirty="0" smtClean="0"/>
              <a:t>（对温度的变化非常敏感）。</a:t>
            </a:r>
            <a:endParaRPr lang="en-US" altLang="zh-CN" sz="2800" dirty="0" smtClean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498175"/>
              </p:ext>
            </p:extLst>
          </p:nvPr>
        </p:nvGraphicFramePr>
        <p:xfrm>
          <a:off x="8085676" y="1983919"/>
          <a:ext cx="384016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5" imgW="1295400" imgH="457200" progId="Equation.DSMT4">
                  <p:embed/>
                </p:oleObj>
              </mc:Choice>
              <mc:Fallback>
                <p:oleObj name="Equation" r:id="rId5" imgW="12954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676" y="1983919"/>
                        <a:ext cx="3840163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98797" y="4013548"/>
            <a:ext cx="113270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电阻率不取决于材料的大小或形状，但它确实取决于温度</a:t>
            </a:r>
            <a:r>
              <a:rPr lang="zh-CN" altLang="en-US" sz="2800" dirty="0" smtClean="0"/>
              <a:t>。温度</a:t>
            </a:r>
            <a:r>
              <a:rPr lang="zh-CN" altLang="en-US" sz="2800" dirty="0"/>
              <a:t>越高，内能越大；离子振动幅度越大。作为一个结果，电子与离子碰撞更频繁。两次碰撞之间加速的时间越短，它们获得的漂移速度就越小；因此，对于给定的电场，电流就越小。因此，随着金属温度的升高，其电阻率增加。</a:t>
            </a:r>
          </a:p>
        </p:txBody>
      </p:sp>
      <p:sp>
        <p:nvSpPr>
          <p:cNvPr id="7" name="矩形 6"/>
          <p:cNvSpPr/>
          <p:nvPr/>
        </p:nvSpPr>
        <p:spPr>
          <a:xfrm>
            <a:off x="927847" y="3193466"/>
            <a:ext cx="9681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这里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l-GR" altLang="zh-CN" sz="2800" b="1" dirty="0">
                <a:solidFill>
                  <a:srgbClr val="FF0000"/>
                </a:solidFill>
              </a:rPr>
              <a:t>ρ</a:t>
            </a:r>
            <a:r>
              <a:rPr lang="el-GR" altLang="zh-CN" sz="2800" b="1" baseline="-25000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是温度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时的电阻率，</a:t>
            </a:r>
            <a:r>
              <a:rPr lang="el-GR" altLang="zh-CN" sz="2800" b="1" dirty="0">
                <a:solidFill>
                  <a:srgbClr val="FF0000"/>
                </a:solidFill>
              </a:rPr>
              <a:t>ρ</a:t>
            </a:r>
            <a:r>
              <a:rPr lang="zh-CN" altLang="en-US" sz="2800" b="1" dirty="0">
                <a:solidFill>
                  <a:srgbClr val="FF0000"/>
                </a:solidFill>
              </a:rPr>
              <a:t>是温度</a:t>
            </a:r>
            <a:r>
              <a:rPr lang="en-US" altLang="zh-CN" sz="2800" b="1" dirty="0">
                <a:solidFill>
                  <a:srgbClr val="FF0000"/>
                </a:solidFill>
              </a:rPr>
              <a:t>T=T0+</a:t>
            </a:r>
            <a:r>
              <a:rPr lang="el-GR" altLang="zh-CN" sz="2800" b="1" dirty="0">
                <a:solidFill>
                  <a:srgbClr val="FF0000"/>
                </a:solidFill>
              </a:rPr>
              <a:t>Δ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</a:rPr>
              <a:t>时的电阻率。</a:t>
            </a:r>
          </a:p>
        </p:txBody>
      </p:sp>
    </p:spTree>
    <p:extLst>
      <p:ext uri="{BB962C8B-B14F-4D97-AF65-F5344CB8AC3E}">
        <p14:creationId xmlns:p14="http://schemas.microsoft.com/office/powerpoint/2010/main" val="328018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"/>
          <p:cNvSpPr txBox="1"/>
          <p:nvPr/>
        </p:nvSpPr>
        <p:spPr>
          <a:xfrm>
            <a:off x="253058" y="1312647"/>
            <a:ext cx="6818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5. </a:t>
            </a:r>
            <a:r>
              <a:rPr lang="zh-CN" altLang="en-US" sz="3200" b="1" dirty="0" smtClean="0"/>
              <a:t>应用：电阻温度计</a:t>
            </a:r>
            <a:endParaRPr lang="zh-CN" altLang="en-US" sz="3200" b="1" dirty="0"/>
          </a:p>
        </p:txBody>
      </p:sp>
      <p:sp>
        <p:nvSpPr>
          <p:cNvPr id="3" name="文本框 9"/>
          <p:cNvSpPr txBox="1"/>
          <p:nvPr/>
        </p:nvSpPr>
        <p:spPr>
          <a:xfrm>
            <a:off x="317744" y="1875278"/>
            <a:ext cx="11674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/>
              <a:t>利用材料电阻率随温度变化的性质而制作的测量温度的装置。</a:t>
            </a:r>
            <a:endParaRPr lang="en-US" altLang="zh-CN" sz="2800" dirty="0" smtClean="0"/>
          </a:p>
        </p:txBody>
      </p:sp>
      <p:sp>
        <p:nvSpPr>
          <p:cNvPr id="4" name="文本框 10"/>
          <p:cNvSpPr txBox="1"/>
          <p:nvPr/>
        </p:nvSpPr>
        <p:spPr>
          <a:xfrm>
            <a:off x="253058" y="2571773"/>
            <a:ext cx="9435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6. </a:t>
            </a:r>
            <a:r>
              <a:rPr lang="zh-CN" altLang="en-US" sz="3200" b="1" dirty="0" smtClean="0"/>
              <a:t>半导体（</a:t>
            </a:r>
            <a:r>
              <a:rPr lang="en-US" altLang="zh-CN" sz="3200" dirty="0"/>
              <a:t>semiconductor</a:t>
            </a:r>
            <a:r>
              <a:rPr lang="zh-CN" altLang="en-US" sz="3200" b="1" dirty="0" smtClean="0"/>
              <a:t>）</a:t>
            </a:r>
            <a:r>
              <a:rPr lang="en-US" altLang="zh-CN" sz="3200" b="1" dirty="0" smtClean="0"/>
              <a:t>: </a:t>
            </a:r>
            <a:r>
              <a:rPr lang="el-GR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endParaRPr lang="zh-CN" altLang="en-US" sz="3200" b="1" i="1" dirty="0"/>
          </a:p>
        </p:txBody>
      </p:sp>
      <p:sp>
        <p:nvSpPr>
          <p:cNvPr id="5" name="文本框 11"/>
          <p:cNvSpPr txBox="1"/>
          <p:nvPr/>
        </p:nvSpPr>
        <p:spPr>
          <a:xfrm>
            <a:off x="204807" y="3171714"/>
            <a:ext cx="11788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7. </a:t>
            </a:r>
            <a:r>
              <a:rPr lang="zh-CN" altLang="en-US" sz="3200" b="1" dirty="0" smtClean="0"/>
              <a:t>水</a:t>
            </a:r>
            <a:r>
              <a:rPr lang="en-US" altLang="zh-CN" sz="3200" b="1" dirty="0" smtClean="0"/>
              <a:t>: </a:t>
            </a:r>
            <a:r>
              <a:rPr lang="zh-CN" altLang="en-US" sz="3200" dirty="0" smtClean="0"/>
              <a:t>纯水的电阻率温度系数</a:t>
            </a:r>
            <a:r>
              <a:rPr lang="el-GR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 smtClean="0"/>
              <a:t>在室温下也是负数。</a:t>
            </a:r>
            <a:endParaRPr lang="zh-CN" altLang="en-US" sz="3200" i="1" dirty="0"/>
          </a:p>
        </p:txBody>
      </p:sp>
      <p:sp>
        <p:nvSpPr>
          <p:cNvPr id="6" name="文本框 11"/>
          <p:cNvSpPr txBox="1"/>
          <p:nvPr/>
        </p:nvSpPr>
        <p:spPr>
          <a:xfrm>
            <a:off x="204807" y="3909299"/>
            <a:ext cx="11788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8. </a:t>
            </a:r>
            <a:r>
              <a:rPr lang="zh-CN" altLang="en-US" sz="3200" b="1" dirty="0" smtClean="0"/>
              <a:t>超导体（</a:t>
            </a:r>
            <a:r>
              <a:rPr lang="en-US" altLang="zh-CN" sz="3200" dirty="0"/>
              <a:t>superconductor</a:t>
            </a:r>
            <a:r>
              <a:rPr lang="zh-CN" altLang="en-US" sz="3200" b="1" dirty="0" smtClean="0"/>
              <a:t>）</a:t>
            </a:r>
            <a:r>
              <a:rPr lang="en-US" altLang="zh-CN" sz="3200" b="1" dirty="0" smtClean="0"/>
              <a:t>:</a:t>
            </a:r>
            <a:r>
              <a:rPr lang="zh-CN" altLang="en-US" sz="3200" b="1" dirty="0" smtClean="0"/>
              <a:t>低温下，</a:t>
            </a:r>
            <a:r>
              <a:rPr lang="en-US" altLang="zh-CN" sz="3200" b="1" dirty="0" smtClean="0"/>
              <a:t>ρ=0</a:t>
            </a:r>
            <a:endParaRPr lang="zh-CN" altLang="en-US" sz="3200" i="1" dirty="0"/>
          </a:p>
        </p:txBody>
      </p:sp>
      <p:sp>
        <p:nvSpPr>
          <p:cNvPr id="7" name="矩形 6"/>
          <p:cNvSpPr/>
          <p:nvPr/>
        </p:nvSpPr>
        <p:spPr>
          <a:xfrm>
            <a:off x="733652" y="4475874"/>
            <a:ext cx="7725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超导材料，指在某一温度下，电阻为零的导体。</a:t>
            </a:r>
          </a:p>
        </p:txBody>
      </p:sp>
    </p:spTree>
    <p:extLst>
      <p:ext uri="{BB962C8B-B14F-4D97-AF65-F5344CB8AC3E}">
        <p14:creationId xmlns:p14="http://schemas.microsoft.com/office/powerpoint/2010/main" val="297447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39" y="287813"/>
            <a:ext cx="1118276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0000FF"/>
                </a:solidFill>
                <a:latin typeface="+mn-ea"/>
              </a:rPr>
              <a:t>例 </a:t>
            </a:r>
            <a:r>
              <a:rPr lang="en-US" altLang="zh-CN" sz="3200" b="1" dirty="0" smtClean="0">
                <a:solidFill>
                  <a:srgbClr val="0000FF"/>
                </a:solidFill>
                <a:latin typeface="+mn-ea"/>
              </a:rPr>
              <a:t>18.2  </a:t>
            </a:r>
            <a:r>
              <a:rPr lang="zh-CN" altLang="en-US" sz="3200" b="1" dirty="0" smtClean="0">
                <a:solidFill>
                  <a:srgbClr val="0000FF"/>
                </a:solidFill>
                <a:latin typeface="+mn-ea"/>
              </a:rPr>
              <a:t>电阻随温度的变化关系</a:t>
            </a:r>
            <a:endParaRPr lang="en-US" altLang="zh-CN" sz="32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n-ea"/>
              </a:rPr>
              <a:t>烤面包机中镍铬合金加热元件在加热到炽热（</a:t>
            </a:r>
            <a:r>
              <a:rPr lang="en-US" altLang="zh-CN" sz="2800" b="1" dirty="0" smtClean="0">
                <a:latin typeface="+mn-ea"/>
              </a:rPr>
              <a:t>1200</a:t>
            </a:r>
            <a:r>
              <a:rPr lang="zh-CN" altLang="en-US" sz="2800" b="1" dirty="0" smtClean="0">
                <a:latin typeface="+mn-ea"/>
              </a:rPr>
              <a:t>℃）的时候，其电阻为</a:t>
            </a:r>
            <a:r>
              <a:rPr lang="en-US" altLang="zh-CN" sz="2800" b="1" dirty="0" smtClean="0">
                <a:latin typeface="+mn-ea"/>
              </a:rPr>
              <a:t>12.0 Ω</a:t>
            </a:r>
            <a:r>
              <a:rPr lang="zh-CN" altLang="en-US" sz="2800" b="1" dirty="0" smtClean="0">
                <a:latin typeface="+mn-ea"/>
              </a:rPr>
              <a:t>，求它在室温（</a:t>
            </a:r>
            <a:r>
              <a:rPr lang="en-US" altLang="zh-CN" sz="2800" b="1" dirty="0" smtClean="0">
                <a:latin typeface="+mn-ea"/>
              </a:rPr>
              <a:t>20</a:t>
            </a:r>
            <a:r>
              <a:rPr lang="zh-CN" altLang="en-US" sz="2800" b="1" dirty="0">
                <a:latin typeface="+mn-ea"/>
              </a:rPr>
              <a:t> ℃ </a:t>
            </a:r>
            <a:r>
              <a:rPr lang="zh-CN" altLang="en-US" sz="2800" b="1" dirty="0" smtClean="0">
                <a:latin typeface="+mn-ea"/>
              </a:rPr>
              <a:t>）时的电阻为多少？忽略元件的长度和直径随温度的</a:t>
            </a:r>
            <a:r>
              <a:rPr lang="zh-CN" altLang="en-US" sz="2800" b="1" smtClean="0">
                <a:latin typeface="+mn-ea"/>
              </a:rPr>
              <a:t>变化。</a:t>
            </a:r>
            <a:endParaRPr lang="en-US" altLang="zh-CN" sz="2800" b="1" dirty="0">
              <a:latin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227" y="3210357"/>
            <a:ext cx="3454445" cy="57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308" y="3015415"/>
            <a:ext cx="1089854" cy="87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227424"/>
              </p:ext>
            </p:extLst>
          </p:nvPr>
        </p:nvGraphicFramePr>
        <p:xfrm>
          <a:off x="1709123" y="4344987"/>
          <a:ext cx="3796651" cy="1388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Equation" r:id="rId5" imgW="1180800" imgH="431640" progId="Equation.DSMT4">
                  <p:embed/>
                </p:oleObj>
              </mc:Choice>
              <mc:Fallback>
                <p:oleObj name="Equation" r:id="rId5" imgW="1180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9123" y="4344987"/>
                        <a:ext cx="3796651" cy="1388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023006"/>
              </p:ext>
            </p:extLst>
          </p:nvPr>
        </p:nvGraphicFramePr>
        <p:xfrm>
          <a:off x="6443324" y="4381500"/>
          <a:ext cx="2733675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3" name="Equation" r:id="rId7" imgW="850680" imgH="393480" progId="Equation.DSMT4">
                  <p:embed/>
                </p:oleObj>
              </mc:Choice>
              <mc:Fallback>
                <p:oleObj name="Equation" r:id="rId7" imgW="850680" imgH="3934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324" y="4381500"/>
                        <a:ext cx="2733675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28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736" y="3848310"/>
            <a:ext cx="6120265" cy="3009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06063" y="78871"/>
            <a:ext cx="4868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10.</a:t>
            </a:r>
            <a:r>
              <a:rPr lang="zh-CN" altLang="en-US" sz="3200" b="1" dirty="0" smtClean="0"/>
              <a:t>电阻器</a:t>
            </a:r>
            <a:endParaRPr lang="zh-CN" altLang="en-US" sz="3200" b="1" i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0"/>
          <a:stretch/>
        </p:blipFill>
        <p:spPr bwMode="auto">
          <a:xfrm>
            <a:off x="9719971" y="0"/>
            <a:ext cx="1839007" cy="3766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206063" y="712210"/>
            <a:ext cx="941858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电阻器是一种具有确定电阻值的电路元件。</a:t>
            </a:r>
            <a:endParaRPr lang="en-US" altLang="zh-CN" sz="2800" b="1" dirty="0" smtClean="0"/>
          </a:p>
        </p:txBody>
      </p:sp>
      <p:sp>
        <p:nvSpPr>
          <p:cNvPr id="10" name="文本框 9"/>
          <p:cNvSpPr txBox="1"/>
          <p:nvPr/>
        </p:nvSpPr>
        <p:spPr>
          <a:xfrm>
            <a:off x="288124" y="1609510"/>
            <a:ext cx="868002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电阻器电压和电流的关系：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15" y="157136"/>
            <a:ext cx="15240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组合 21"/>
          <p:cNvGrpSpPr/>
          <p:nvPr/>
        </p:nvGrpSpPr>
        <p:grpSpPr>
          <a:xfrm>
            <a:off x="206061" y="2420521"/>
            <a:ext cx="11975475" cy="4199174"/>
            <a:chOff x="206062" y="2668268"/>
            <a:chExt cx="11975474" cy="4199174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1271" y="3857751"/>
              <a:ext cx="6120265" cy="3009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文本框 14"/>
            <p:cNvSpPr txBox="1"/>
            <p:nvPr/>
          </p:nvSpPr>
          <p:spPr>
            <a:xfrm>
              <a:off x="206062" y="2668268"/>
              <a:ext cx="48682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 smtClean="0"/>
                <a:t>11.</a:t>
              </a:r>
              <a:r>
                <a:rPr lang="zh-CN" altLang="en-US" sz="3200" b="1" dirty="0" smtClean="0"/>
                <a:t>电池的内阻</a:t>
              </a:r>
              <a:endParaRPr lang="zh-CN" altLang="en-US" sz="3200" b="1" i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2206" y="3130531"/>
            <a:ext cx="6954591" cy="1169551"/>
            <a:chOff x="206062" y="3454439"/>
            <a:chExt cx="6954591" cy="1169551"/>
          </a:xfrm>
        </p:grpSpPr>
        <p:sp>
          <p:nvSpPr>
            <p:cNvPr id="16" name="文本框 15"/>
            <p:cNvSpPr txBox="1"/>
            <p:nvPr/>
          </p:nvSpPr>
          <p:spPr>
            <a:xfrm>
              <a:off x="206062" y="3454439"/>
              <a:ext cx="695459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800" b="1" dirty="0" smtClean="0"/>
                <a:t>虚线中</a:t>
              </a:r>
              <a:r>
                <a:rPr lang="en-US" altLang="zh-CN" sz="2800" b="1" i="1" dirty="0" smtClean="0"/>
                <a:t>r</a:t>
              </a:r>
              <a:r>
                <a:rPr lang="zh-CN" altLang="en-US" sz="2800" b="1" dirty="0" smtClean="0"/>
                <a:t>表示电池的内阻。电池符号表示             一个理想电源。</a:t>
              </a:r>
              <a:endParaRPr lang="en-US" altLang="zh-CN" sz="2800" b="1" dirty="0" smtClean="0"/>
            </a:p>
          </p:txBody>
        </p:sp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4026" y="4062446"/>
              <a:ext cx="1000125" cy="41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0" name="文本框 19"/>
          <p:cNvSpPr txBox="1"/>
          <p:nvPr/>
        </p:nvSpPr>
        <p:spPr>
          <a:xfrm>
            <a:off x="273713" y="4520108"/>
            <a:ext cx="56667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路端电压（</a:t>
            </a:r>
            <a:r>
              <a:rPr lang="en-US" altLang="zh-CN" sz="2800" b="1" dirty="0" smtClean="0"/>
              <a:t>V</a:t>
            </a:r>
            <a:r>
              <a:rPr lang="zh-CN" altLang="en-US" sz="2800" b="1" dirty="0" smtClean="0"/>
              <a:t>）</a:t>
            </a:r>
            <a:r>
              <a:rPr lang="en-US" altLang="zh-CN" sz="2800" b="1" dirty="0" smtClean="0"/>
              <a:t>: </a:t>
            </a:r>
            <a:r>
              <a:rPr lang="zh-CN" altLang="en-US" sz="2800" b="1" dirty="0" smtClean="0"/>
              <a:t>电源两极之间的电势差。</a:t>
            </a:r>
            <a:endParaRPr lang="en-US" altLang="zh-CN" sz="2800" b="1" dirty="0" smtClean="0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95" y="5689660"/>
            <a:ext cx="15525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354" y="5606603"/>
            <a:ext cx="1768941" cy="53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609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03445" y="1429792"/>
            <a:ext cx="883298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/>
              <a:t>以下</a:t>
            </a:r>
            <a:r>
              <a:rPr lang="zh-CN" altLang="en-US" sz="3200" b="1" dirty="0"/>
              <a:t>哪个量等于电池的电动势（  ）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A</a:t>
            </a:r>
            <a:r>
              <a:rPr lang="zh-CN" altLang="en-US" sz="3200" b="1" dirty="0"/>
              <a:t>．电池储存的化学能。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B</a:t>
            </a:r>
            <a:r>
              <a:rPr lang="zh-CN" altLang="en-US" sz="3200" b="1" dirty="0"/>
              <a:t>．</a:t>
            </a:r>
            <a:r>
              <a:rPr lang="zh-CN" altLang="en-US" sz="3200" b="1" dirty="0" smtClean="0"/>
              <a:t>电池储存的化学能除以电池的净电量。</a:t>
            </a:r>
            <a:endParaRPr lang="zh-CN" altLang="en-US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C</a:t>
            </a:r>
            <a:r>
              <a:rPr lang="zh-CN" altLang="en-US" sz="3200" b="1" dirty="0"/>
              <a:t>．没有电流时电池的路端电压。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D</a:t>
            </a:r>
            <a:r>
              <a:rPr lang="zh-CN" altLang="en-US" sz="3200" b="1" dirty="0"/>
              <a:t>．电池能抽运的电量</a:t>
            </a:r>
            <a:r>
              <a:rPr lang="zh-CN" altLang="en-US" sz="3200" b="1" dirty="0" smtClean="0"/>
              <a:t>。</a:t>
            </a:r>
            <a:endParaRPr lang="zh-CN" alt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54670" y="414478"/>
            <a:ext cx="2958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000099"/>
                </a:solidFill>
              </a:rPr>
              <a:t>单项选择题</a:t>
            </a:r>
            <a:endParaRPr lang="zh-CN" altLang="en-US" sz="3200" b="1">
              <a:solidFill>
                <a:srgbClr val="000099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48395" y="2780929"/>
            <a:ext cx="107433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V=</a:t>
            </a:r>
            <a:r>
              <a:rPr lang="el-GR" altLang="zh-CN" sz="2800" b="1" dirty="0"/>
              <a:t>ε-</a:t>
            </a:r>
            <a:r>
              <a:rPr lang="en-US" altLang="zh-CN" sz="2800" b="1" dirty="0" err="1"/>
              <a:t>Ir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36221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以下哪个量等于电池的电动势（  ）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电池储存的化学能。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电池储存的化学能除以电池的净电量。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没有电流时电池的路端电压。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电池能抽运的电量。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8395" y="2780929"/>
            <a:ext cx="107433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V=</a:t>
            </a:r>
            <a:r>
              <a:rPr lang="el-GR" altLang="zh-CN" sz="2800" b="1" dirty="0"/>
              <a:t>ε-</a:t>
            </a:r>
            <a:r>
              <a:rPr lang="en-US" altLang="zh-CN" sz="2800" b="1" dirty="0" err="1"/>
              <a:t>Ir</a:t>
            </a:r>
            <a:endParaRPr lang="en-US" altLang="zh-CN" sz="2800" b="1" dirty="0"/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230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3250" y="353874"/>
            <a:ext cx="105029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宋体"/>
              </a:rPr>
              <a:t>练习题：</a:t>
            </a:r>
            <a:r>
              <a:rPr lang="en-US" altLang="zh-CN" sz="3200" b="1" dirty="0">
                <a:solidFill>
                  <a:srgbClr val="0000FF"/>
                </a:solidFill>
                <a:latin typeface="宋体"/>
              </a:rPr>
              <a:t>18.3 </a:t>
            </a:r>
            <a:r>
              <a:rPr lang="zh-CN" altLang="en-US" sz="3200" b="1" dirty="0">
                <a:solidFill>
                  <a:srgbClr val="0000FF"/>
                </a:solidFill>
                <a:latin typeface="宋体"/>
              </a:rPr>
              <a:t>钟表内电池的路端电压</a:t>
            </a:r>
            <a:endParaRPr lang="en-US" altLang="zh-CN" sz="3200" b="1" dirty="0">
              <a:solidFill>
                <a:srgbClr val="0000FF"/>
              </a:solidFill>
              <a:latin typeface="宋体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prstClr val="black"/>
                </a:solidFill>
                <a:latin typeface="宋体"/>
              </a:rPr>
              <a:t>钟表内的碱性</a:t>
            </a:r>
            <a:r>
              <a:rPr lang="en-US" altLang="zh-CN" sz="2800" b="1" dirty="0">
                <a:solidFill>
                  <a:prstClr val="black"/>
                </a:solidFill>
                <a:latin typeface="宋体"/>
              </a:rPr>
              <a:t>D</a:t>
            </a:r>
            <a:r>
              <a:rPr lang="zh-CN" altLang="en-US" sz="2800" b="1" dirty="0">
                <a:solidFill>
                  <a:prstClr val="black"/>
                </a:solidFill>
                <a:latin typeface="宋体"/>
              </a:rPr>
              <a:t>型电池（</a:t>
            </a:r>
            <a:r>
              <a:rPr lang="en-US" altLang="zh-CN" sz="2800" b="1" dirty="0">
                <a:solidFill>
                  <a:prstClr val="black"/>
                </a:solidFill>
                <a:latin typeface="宋体"/>
              </a:rPr>
              <a:t>1.500V</a:t>
            </a:r>
            <a:r>
              <a:rPr lang="zh-CN" altLang="en-US" sz="2800" b="1" dirty="0">
                <a:solidFill>
                  <a:prstClr val="black"/>
                </a:solidFill>
                <a:latin typeface="宋体"/>
              </a:rPr>
              <a:t>电动势，</a:t>
            </a:r>
            <a:r>
              <a:rPr lang="en-US" altLang="zh-CN" sz="2800" b="1" dirty="0">
                <a:solidFill>
                  <a:prstClr val="black"/>
                </a:solidFill>
                <a:latin typeface="宋体"/>
              </a:rPr>
              <a:t>0.100Ω</a:t>
            </a:r>
            <a:r>
              <a:rPr lang="zh-CN" altLang="en-US" sz="2800" b="1" dirty="0">
                <a:solidFill>
                  <a:prstClr val="black"/>
                </a:solidFill>
                <a:latin typeface="宋体"/>
              </a:rPr>
              <a:t>内阻）能提供的电流为</a:t>
            </a:r>
            <a:r>
              <a:rPr lang="en-US" altLang="zh-CN" sz="2800" b="1" dirty="0">
                <a:solidFill>
                  <a:prstClr val="black"/>
                </a:solidFill>
                <a:latin typeface="宋体"/>
              </a:rPr>
              <a:t>50.0mA</a:t>
            </a:r>
            <a:r>
              <a:rPr lang="zh-CN" altLang="en-US" sz="2800" b="1" dirty="0">
                <a:solidFill>
                  <a:prstClr val="black"/>
                </a:solidFill>
                <a:latin typeface="宋体"/>
              </a:rPr>
              <a:t>。求这个电池的路端电压为多少？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2477532"/>
            <a:ext cx="261931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214574"/>
              </p:ext>
            </p:extLst>
          </p:nvPr>
        </p:nvGraphicFramePr>
        <p:xfrm>
          <a:off x="3784891" y="2591832"/>
          <a:ext cx="6682921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Equation" r:id="rId4" imgW="1765080" imgH="177480" progId="Equation.DSMT4">
                  <p:embed/>
                </p:oleObj>
              </mc:Choice>
              <mc:Fallback>
                <p:oleObj name="Equation" r:id="rId4" imgW="17650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84891" y="2591832"/>
                        <a:ext cx="6682921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8102" y="3472696"/>
            <a:ext cx="909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由于电流很小，电池的路端电压接近于电动势</a:t>
            </a:r>
            <a:r>
              <a:rPr lang="en-US" altLang="zh-CN" sz="2800" b="1" dirty="0" smtClean="0"/>
              <a:t>1.5V.</a:t>
            </a:r>
            <a:endParaRPr lang="zh-CN" alt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33450" y="4197002"/>
            <a:ext cx="374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FF0000"/>
                </a:solidFill>
              </a:rPr>
              <a:t>如果电流很大呢？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3450" y="4818891"/>
            <a:ext cx="554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所能提供的最大电流为多少？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3450" y="5656590"/>
            <a:ext cx="326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当路端电压为零时</a:t>
            </a:r>
            <a:r>
              <a:rPr lang="en-US" altLang="zh-CN" sz="2800" b="1" dirty="0" smtClean="0"/>
              <a:t>:</a:t>
            </a:r>
            <a:endParaRPr lang="zh-CN" altLang="en-US" sz="28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046197"/>
              </p:ext>
            </p:extLst>
          </p:nvPr>
        </p:nvGraphicFramePr>
        <p:xfrm>
          <a:off x="4832350" y="5656590"/>
          <a:ext cx="2658090" cy="905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6" imgW="1155600" imgH="393480" progId="Equation.DSMT4">
                  <p:embed/>
                </p:oleObj>
              </mc:Choice>
              <mc:Fallback>
                <p:oleObj name="Equation" r:id="rId6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32350" y="5656590"/>
                        <a:ext cx="2658090" cy="905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40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6063" y="78871"/>
            <a:ext cx="6581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例</a:t>
            </a:r>
            <a:r>
              <a:rPr lang="en-US" altLang="zh-CN" sz="2800" dirty="0" smtClean="0"/>
              <a:t>18.3  </a:t>
            </a:r>
            <a:r>
              <a:rPr lang="zh-CN" altLang="en-US" sz="2800" dirty="0" smtClean="0"/>
              <a:t>用</a:t>
            </a:r>
            <a:r>
              <a:rPr lang="zh-CN" altLang="en-US" sz="2800" dirty="0"/>
              <a:t>手电筒电池起动</a:t>
            </a:r>
            <a:r>
              <a:rPr lang="zh-CN" altLang="en-US" sz="2800" dirty="0" smtClean="0"/>
              <a:t>汽车</a:t>
            </a:r>
            <a:endParaRPr lang="zh-CN" altLang="en-US" sz="2800" i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3031" y="663648"/>
            <a:ext cx="644778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/>
              <a:t>格雷厄姆</a:t>
            </a:r>
            <a:r>
              <a:rPr lang="zh-CN" altLang="en-US" sz="2800" dirty="0" smtClean="0"/>
              <a:t>用</a:t>
            </a:r>
            <a:r>
              <a:rPr lang="en-US" altLang="zh-CN" sz="2800" dirty="0"/>
              <a:t>8</a:t>
            </a:r>
            <a:r>
              <a:rPr lang="zh-CN" altLang="en-US" sz="2800" dirty="0"/>
              <a:t>个</a:t>
            </a:r>
            <a:r>
              <a:rPr lang="en-US" altLang="zh-CN" sz="2800" dirty="0"/>
              <a:t>1.5V</a:t>
            </a:r>
            <a:r>
              <a:rPr lang="zh-CN" altLang="en-US" sz="2800" dirty="0"/>
              <a:t>的干电池串联成</a:t>
            </a:r>
            <a:r>
              <a:rPr lang="en-US" altLang="zh-CN" sz="2800" dirty="0"/>
              <a:t>12V</a:t>
            </a:r>
            <a:r>
              <a:rPr lang="zh-CN" altLang="en-US" sz="2800" dirty="0"/>
              <a:t>的电池组，代替汽车的电瓶，这个计划能不能实现呢</a:t>
            </a:r>
            <a:r>
              <a:rPr lang="zh-CN" altLang="en-US" sz="2800" dirty="0" smtClean="0"/>
              <a:t>？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103031" y="2388283"/>
            <a:ext cx="6447785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 smtClean="0"/>
              <a:t>讨论格雷厄姆的方案是否可行。每节电池的电动势为</a:t>
            </a:r>
            <a:r>
              <a:rPr lang="en-US" altLang="zh-CN" sz="2800" dirty="0" smtClean="0"/>
              <a:t>1.50V</a:t>
            </a:r>
            <a:r>
              <a:rPr lang="zh-CN" altLang="en-US" sz="2800" dirty="0" smtClean="0"/>
              <a:t>，内阻为</a:t>
            </a:r>
            <a:r>
              <a:rPr lang="en-US" altLang="zh-CN" sz="2800" dirty="0" smtClean="0"/>
              <a:t>0.10Ω</a:t>
            </a:r>
            <a:r>
              <a:rPr lang="zh-CN" altLang="en-US" sz="2800" dirty="0" smtClean="0"/>
              <a:t>。（起动汽车马达的电流通常要求达到几百安培，但是流过手电筒内灯泡的电流通常小于</a:t>
            </a:r>
            <a:r>
              <a:rPr lang="en-US" altLang="zh-CN" sz="2800" dirty="0" smtClean="0"/>
              <a:t>1A</a:t>
            </a:r>
            <a:r>
              <a:rPr lang="zh-CN" altLang="en-US" sz="2800" dirty="0" smtClean="0"/>
              <a:t>。）</a:t>
            </a:r>
            <a:endParaRPr lang="en-US" altLang="zh-CN" sz="2800" dirty="0" smtClean="0"/>
          </a:p>
        </p:txBody>
      </p:sp>
      <p:pic>
        <p:nvPicPr>
          <p:cNvPr id="8" name="Picture 4" descr="gia12141_co_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479" y="78870"/>
            <a:ext cx="5506524" cy="6686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293" y="5173661"/>
            <a:ext cx="2228712" cy="669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52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3342" y="2490074"/>
            <a:ext cx="9840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 smtClean="0"/>
              <a:t>作业：</a:t>
            </a:r>
            <a:r>
              <a:rPr lang="en-US" altLang="zh-CN" sz="3600" b="1" dirty="0" smtClean="0"/>
              <a:t>95</a:t>
            </a:r>
            <a:r>
              <a:rPr lang="zh-CN" altLang="en-US" sz="3600" b="1" dirty="0" smtClean="0"/>
              <a:t>页计算题</a:t>
            </a:r>
            <a:r>
              <a:rPr lang="en-US" altLang="zh-CN" sz="3600" b="1" dirty="0" smtClean="0"/>
              <a:t>12</a:t>
            </a:r>
            <a:r>
              <a:rPr lang="zh-CN" altLang="en-US" sz="3600" b="1" dirty="0" smtClean="0"/>
              <a:t>，计算题</a:t>
            </a:r>
            <a:r>
              <a:rPr lang="en-US" altLang="zh-CN" sz="3600" b="1" dirty="0" smtClean="0"/>
              <a:t>17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7133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1680</Words>
  <Application>Microsoft Office PowerPoint</Application>
  <PresentationFormat>宽屏</PresentationFormat>
  <Paragraphs>161</Paragraphs>
  <Slides>21</Slides>
  <Notes>9</Notes>
  <HiddenSlides>4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Microsoft Yahei</vt:lpstr>
      <vt:lpstr>黑体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hsl</cp:lastModifiedBy>
  <cp:revision>143</cp:revision>
  <dcterms:created xsi:type="dcterms:W3CDTF">2017-10-22T09:48:47Z</dcterms:created>
  <dcterms:modified xsi:type="dcterms:W3CDTF">2021-05-16T10:04:04Z</dcterms:modified>
</cp:coreProperties>
</file>