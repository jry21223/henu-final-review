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9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0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88" r:id="rId2"/>
    <p:sldId id="289" r:id="rId3"/>
    <p:sldId id="291" r:id="rId4"/>
    <p:sldId id="296" r:id="rId5"/>
    <p:sldId id="257" r:id="rId6"/>
    <p:sldId id="258" r:id="rId7"/>
    <p:sldId id="259" r:id="rId8"/>
    <p:sldId id="300" r:id="rId9"/>
    <p:sldId id="301" r:id="rId10"/>
    <p:sldId id="309" r:id="rId11"/>
    <p:sldId id="313" r:id="rId12"/>
    <p:sldId id="302" r:id="rId13"/>
    <p:sldId id="305" r:id="rId14"/>
    <p:sldId id="306" r:id="rId15"/>
    <p:sldId id="303" r:id="rId16"/>
    <p:sldId id="314" r:id="rId17"/>
    <p:sldId id="308" r:id="rId18"/>
    <p:sldId id="315" r:id="rId19"/>
    <p:sldId id="310" r:id="rId20"/>
    <p:sldId id="316" r:id="rId21"/>
    <p:sldId id="304" r:id="rId22"/>
    <p:sldId id="283" r:id="rId23"/>
    <p:sldId id="293" r:id="rId24"/>
    <p:sldId id="312" r:id="rId25"/>
    <p:sldId id="317" r:id="rId26"/>
    <p:sldId id="285" r:id="rId27"/>
    <p:sldId id="262" r:id="rId28"/>
    <p:sldId id="307" r:id="rId29"/>
    <p:sldId id="263" r:id="rId30"/>
    <p:sldId id="292" r:id="rId31"/>
    <p:sldId id="311" r:id="rId32"/>
    <p:sldId id="318" r:id="rId33"/>
    <p:sldId id="264" r:id="rId34"/>
    <p:sldId id="295" r:id="rId35"/>
    <p:sldId id="299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8" autoAdjust="0"/>
    <p:restoredTop sz="92582" autoAdjust="0"/>
  </p:normalViewPr>
  <p:slideViewPr>
    <p:cSldViewPr>
      <p:cViewPr varScale="1">
        <p:scale>
          <a:sx n="84" d="100"/>
          <a:sy n="84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5.emf"/><Relationship Id="rId7" Type="http://schemas.openxmlformats.org/officeDocument/2006/relationships/image" Target="../media/image30.w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AC050-5693-486D-AC9D-1646EB487D8C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2E4B3-1797-4B93-803E-14CE052D055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635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46DB6-F46C-44D0-A623-7C3490551DC2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84DDF-8EC0-499A-ACAC-C11FE40AEB9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3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称平面曲线</a:t>
            </a:r>
            <a:r>
              <a:rPr lang="en-US" altLang="zh-CN" dirty="0" smtClean="0"/>
              <a:t>L*</a:t>
            </a:r>
            <a:r>
              <a:rPr lang="zh-CN" altLang="en-US" dirty="0" smtClean="0"/>
              <a:t>为函数</a:t>
            </a:r>
            <a:r>
              <a:rPr lang="en-US" altLang="zh-CN" dirty="0" smtClean="0"/>
              <a:t>z=f(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的等值线。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05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951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电势与电场强度的积分关系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027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12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梯度是一个向量，它的方向是函数在一点变化率最快的方向，而它的模就是函数沿这个方向的变化率。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174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02C6878-34A0-4D3A-835C-D08A8DB14613}" type="datetime1">
              <a:rPr lang="zh-CN" altLang="en-US" sz="1200" b="0" smtClean="0"/>
              <a:pPr/>
              <a:t>2021/4/19</a:t>
            </a:fld>
            <a:endParaRPr lang="en-US" altLang="zh-CN" sz="1200" b="0" smtClean="0"/>
          </a:p>
        </p:txBody>
      </p:sp>
      <p:sp>
        <p:nvSpPr>
          <p:cNvPr id="1699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07694159-AF01-4EA9-AE30-18480FBA7628}" type="slidenum">
              <a:rPr lang="en-US" altLang="zh-CN" sz="1200" b="0" smtClean="0"/>
              <a:pPr/>
              <a:t>13</a:t>
            </a:fld>
            <a:endParaRPr lang="en-US" altLang="zh-CN" sz="1200" b="0" smtClean="0"/>
          </a:p>
        </p:txBody>
      </p:sp>
      <p:sp>
        <p:nvSpPr>
          <p:cNvPr id="169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5746CA4D-0F41-4E13-B97D-EE057028AD63}" type="datetime1">
              <a:rPr lang="zh-CN" altLang="en-US" sz="1200" b="0" smtClean="0"/>
              <a:pPr/>
              <a:t>2021/4/19</a:t>
            </a:fld>
            <a:endParaRPr lang="en-US" altLang="zh-CN" sz="1200" b="0" smtClean="0"/>
          </a:p>
        </p:txBody>
      </p:sp>
      <p:sp>
        <p:nvSpPr>
          <p:cNvPr id="17101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84B0F0EC-E5AC-4ABA-920E-0C4A0B71292E}" type="slidenum">
              <a:rPr lang="en-US" altLang="zh-CN" sz="1200" b="0" smtClean="0"/>
              <a:pPr/>
              <a:t>14</a:t>
            </a:fld>
            <a:endParaRPr lang="en-US" altLang="zh-CN" sz="1200" b="0" smtClean="0"/>
          </a:p>
        </p:txBody>
      </p:sp>
      <p:sp>
        <p:nvSpPr>
          <p:cNvPr id="1710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因为电势是标量，一般说来标量计算比较简便，在求得电势分布后，只需进行空间导数运算便可算出电场强度的各个分量，这样就可以避免较复杂的矢量运算。</a:t>
            </a:r>
            <a:endParaRPr lang="en-US" altLang="zh-CN" dirty="0" smtClean="0"/>
          </a:p>
          <a:p>
            <a:r>
              <a:rPr lang="zh-CN" altLang="en-US" dirty="0" smtClean="0"/>
              <a:t>电势沿某一方向上的空间变化率，沿着电场线的反方向变化率最大，即某一点该处等势面的法线方向。</a:t>
            </a:r>
          </a:p>
          <a:p>
            <a:pPr eaLnBrk="1" hangingPunct="1"/>
            <a:endParaRPr lang="zh-CN" altLang="zh-CN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答案：</a:t>
            </a:r>
            <a:r>
              <a:rPr lang="en-US" altLang="zh-CN" smtClean="0"/>
              <a:t>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09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smtClean="0"/>
              <a:t>答案</a:t>
            </a:r>
            <a:r>
              <a:rPr lang="en-US" altLang="zh-CN" sz="1200" smtClean="0"/>
              <a:t>B</a:t>
            </a:r>
            <a:endParaRPr lang="zh-CN" alt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09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smtClean="0"/>
              <a:t>答案：</a:t>
            </a:r>
            <a:r>
              <a:rPr lang="en-US" altLang="zh-CN" sz="1200" smtClean="0"/>
              <a:t>D</a:t>
            </a:r>
            <a:endParaRPr lang="zh-CN" alt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09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99A7E87-99DD-4A38-857E-AFB4B1977BEE}" type="datetime1">
              <a:rPr lang="zh-CN" altLang="en-US" sz="1200" b="0" smtClean="0"/>
              <a:pPr/>
              <a:t>2021/4/19</a:t>
            </a:fld>
            <a:endParaRPr lang="en-US" altLang="zh-CN" sz="1200" b="0" smtClean="0"/>
          </a:p>
        </p:txBody>
      </p:sp>
      <p:sp>
        <p:nvSpPr>
          <p:cNvPr id="1720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9DDEF4E1-E1A6-4E54-A8E8-FD312822A911}" type="slidenum">
              <a:rPr lang="en-US" altLang="zh-CN" sz="1200" b="0" smtClean="0"/>
              <a:pPr/>
              <a:t>21</a:t>
            </a:fld>
            <a:endParaRPr lang="en-US" altLang="zh-CN" sz="1200" b="0" smtClean="0"/>
          </a:p>
        </p:txBody>
      </p:sp>
      <p:sp>
        <p:nvSpPr>
          <p:cNvPr id="172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smtClean="0"/>
              <a:t>答案：</a:t>
            </a:r>
            <a:r>
              <a:rPr lang="en-US" altLang="zh-CN" sz="1200" smtClean="0"/>
              <a:t>B</a:t>
            </a:r>
            <a:endParaRPr lang="zh-CN" alt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09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电场线由电势高的地方指向电势低的地方</a:t>
            </a:r>
            <a:r>
              <a:rPr lang="en-US" altLang="zh-CN" dirty="0" smtClean="0"/>
              <a:t>ABEDC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920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沿着电场方向移动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212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电荷面密度和曲率半径成反比，即曲率半径愈小（或曲率愈大），电荷面密度愈大。当两球相距不远时，两球所带电荷的相互影响不能忽略，这时每个球都不能看作是孤立导体，两球表面上的电荷分布也不再均匀。于是，同一球面上各处的曲率虽相等，而电荷面密度却不再相同。因此，电荷面密度与曲率成反比仅对孤立导体成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313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smtClean="0"/>
              <a:t>答案：</a:t>
            </a:r>
            <a:r>
              <a:rPr lang="en-US" altLang="zh-CN" sz="1200" smtClean="0"/>
              <a:t>BD</a:t>
            </a:r>
            <a:endParaRPr lang="zh-CN" alt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84DDF-8EC0-499A-ACAC-C11FE40AEB93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0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01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56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357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66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4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58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14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4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69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01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FD80F-8266-48C3-8D79-D3F88AF8D60A}" type="datetimeFigureOut">
              <a:rPr lang="zh-CN" altLang="en-US" smtClean="0"/>
              <a:pPr/>
              <a:t>2021/4/19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F2039-776C-422C-9CE4-D18D671FA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5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20" Type="http://schemas.openxmlformats.org/officeDocument/2006/relationships/image" Target="../media/image18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5.wmf"/><Relationship Id="rId19" Type="http://schemas.openxmlformats.org/officeDocument/2006/relationships/image" Target="../media/image20.png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0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5.e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4.e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3.emf"/><Relationship Id="rId14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2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7.wmf"/><Relationship Id="rId5" Type="http://schemas.openxmlformats.org/officeDocument/2006/relationships/image" Target="../media/image23.e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3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6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0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0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20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1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9.emf"/><Relationship Id="rId14" Type="http://schemas.openxmlformats.org/officeDocument/2006/relationships/oleObject" Target="../embeddings/oleObject3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image" Target="../media/image20.tmp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49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16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1.wmf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5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20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60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338" y="-53016"/>
            <a:ext cx="4490332" cy="664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/>
              <a:t>1. 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电势能：电场中的能量。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338" y="452832"/>
            <a:ext cx="34131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/>
              <a:t>2. 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势能与做功的关系</a:t>
            </a:r>
            <a:endParaRPr lang="en-US" altLang="zh-CN" sz="2800" dirty="0" smtClean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317112"/>
              </p:ext>
            </p:extLst>
          </p:nvPr>
        </p:nvGraphicFramePr>
        <p:xfrm>
          <a:off x="3652873" y="607166"/>
          <a:ext cx="1905593" cy="565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09" name="Equation" r:id="rId3" imgW="812447" imgH="241195" progId="Equation.DSMT4">
                  <p:embed/>
                </p:oleObj>
              </mc:Choice>
              <mc:Fallback>
                <p:oleObj name="Equation" r:id="rId3" imgW="812447" imgH="241195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73" y="607166"/>
                        <a:ext cx="1905593" cy="5657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92458" y="192674"/>
            <a:ext cx="3518912" cy="9435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电场力做正功，电势能减小；</a:t>
            </a:r>
            <a:endParaRPr lang="en-US" altLang="zh-CN" sz="2000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itchFamily="49" charset="-122"/>
                <a:ea typeface="黑体" pitchFamily="49" charset="-122"/>
              </a:rPr>
              <a:t>电场</a:t>
            </a:r>
            <a:r>
              <a:rPr lang="zh-CN" altLang="en-US" sz="2000" dirty="0" smtClean="0">
                <a:latin typeface="黑体" pitchFamily="49" charset="-122"/>
                <a:ea typeface="黑体" pitchFamily="49" charset="-122"/>
              </a:rPr>
              <a:t>力做负功，电势能增加。</a:t>
            </a:r>
            <a:endParaRPr lang="zh-CN" altLang="en-US" sz="20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43880" y="6171502"/>
            <a:ext cx="3316215" cy="523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5" rIns="91429" bIns="45715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kumimoji="0" lang="en-US" altLang="zh-CN" sz="2800" dirty="0" smtClean="0">
                <a:latin typeface="黑体" pitchFamily="49" charset="-122"/>
                <a:ea typeface="黑体" pitchFamily="49" charset="-122"/>
              </a:rPr>
              <a:t>5.</a:t>
            </a:r>
            <a:r>
              <a:rPr kumimoji="0" lang="zh-CN" altLang="en-US" sz="2800" dirty="0" smtClean="0">
                <a:latin typeface="黑体" pitchFamily="49" charset="-122"/>
                <a:ea typeface="黑体" pitchFamily="49" charset="-122"/>
              </a:rPr>
              <a:t>多电荷的电势能</a:t>
            </a:r>
            <a:endParaRPr kumimoji="0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207781"/>
              </p:ext>
            </p:extLst>
          </p:nvPr>
        </p:nvGraphicFramePr>
        <p:xfrm>
          <a:off x="3460095" y="5947264"/>
          <a:ext cx="33305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10" name="Equation" r:id="rId5" imgW="1663700" imgH="431800" progId="Equation.DSMT4">
                  <p:embed/>
                </p:oleObj>
              </mc:Choice>
              <mc:Fallback>
                <p:oleObj name="Equation" r:id="rId5" imgW="1663700" imgH="431800" progId="Equation.DSMT4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095" y="5947264"/>
                        <a:ext cx="3330575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74969" y="3749529"/>
            <a:ext cx="846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一般取无穷远处电势能为零，则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4788024" y="3652991"/>
            <a:ext cx="37444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sz="2800" dirty="0" smtClean="0">
                <a:solidFill>
                  <a:srgbClr val="FF0000"/>
                </a:solidFill>
              </a:rPr>
              <a:t>=U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M</a:t>
            </a:r>
            <a:r>
              <a:rPr lang="en-US" altLang="zh-CN" sz="2800" dirty="0" smtClean="0">
                <a:solidFill>
                  <a:srgbClr val="FF0000"/>
                </a:solidFill>
              </a:rPr>
              <a:t>- U</a:t>
            </a:r>
            <a:r>
              <a:rPr lang="en-US" altLang="zh-CN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zh-CN" sz="2800" dirty="0" smtClean="0">
                <a:solidFill>
                  <a:srgbClr val="FF0000"/>
                </a:solidFill>
              </a:rPr>
              <a:t> =W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zh-CN" altLang="en-US" sz="2800" baseline="-250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4969" y="4228860"/>
            <a:ext cx="8461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即：电荷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 smtClean="0">
                <a:solidFill>
                  <a:srgbClr val="FF0000"/>
                </a:solidFill>
              </a:rPr>
              <a:t>在电场中某一点的电势能在数值上等于</a:t>
            </a:r>
            <a:r>
              <a:rPr lang="zh-CN" altLang="en-US" sz="2400" dirty="0">
                <a:solidFill>
                  <a:srgbClr val="FF0000"/>
                </a:solidFill>
              </a:rPr>
              <a:t>将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 smtClean="0">
                <a:solidFill>
                  <a:srgbClr val="FF0000"/>
                </a:solidFill>
              </a:rPr>
              <a:t>从该点移到无穷远处电场力所做的功。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4132" y="1325530"/>
            <a:ext cx="6804248" cy="523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5" rIns="91429" bIns="45715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kumimoji="0" lang="en-US" altLang="zh-CN" sz="2800" dirty="0" smtClean="0">
                <a:latin typeface="黑体" pitchFamily="49" charset="-122"/>
                <a:ea typeface="黑体" pitchFamily="49" charset="-122"/>
              </a:rPr>
              <a:t>3.</a:t>
            </a:r>
            <a:r>
              <a:rPr kumimoji="0" lang="zh-CN" altLang="en-US" sz="2800" dirty="0" smtClean="0">
                <a:latin typeface="黑体" pitchFamily="49" charset="-122"/>
                <a:ea typeface="黑体" pitchFamily="49" charset="-122"/>
              </a:rPr>
              <a:t>电势能的基本性质</a:t>
            </a:r>
            <a:endParaRPr kumimoji="0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56959" y="1961790"/>
            <a:ext cx="7992888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电势能只与物体的位置有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关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，与路径无关。</a:t>
            </a:r>
            <a:endParaRPr lang="en-US" altLang="zh-CN" sz="2400" b="1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84132" y="2521559"/>
            <a:ext cx="7992888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zh-CN" altLang="en-US" sz="2400" dirty="0" smtClean="0">
                <a:latin typeface="黑体" pitchFamily="49" charset="-122"/>
                <a:ea typeface="黑体" pitchFamily="49" charset="-122"/>
              </a:rPr>
              <a:t>电势能的差值有物理意义，零电势的选取是任意的。电势能的值受零点的影响。</a:t>
            </a:r>
            <a:endParaRPr lang="en-US" altLang="zh-CN" sz="2400" dirty="0" smtClean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356775" y="5244523"/>
            <a:ext cx="3729730" cy="793750"/>
            <a:chOff x="4463988" y="5504009"/>
            <a:chExt cx="3729730" cy="793750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8052987"/>
                </p:ext>
              </p:extLst>
            </p:nvPr>
          </p:nvGraphicFramePr>
          <p:xfrm>
            <a:off x="4463988" y="5504009"/>
            <a:ext cx="1500188" cy="793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11" name="Equation" r:id="rId7" imgW="748975" imgH="393529" progId="Equation.DSMT4">
                    <p:embed/>
                  </p:oleObj>
                </mc:Choice>
                <mc:Fallback>
                  <p:oleObj name="Equation" r:id="rId7" imgW="748975" imgH="393529" progId="Equation.DSMT4">
                    <p:embed/>
                    <p:pic>
                      <p:nvPicPr>
                        <p:cNvPr id="0" name="Picture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3988" y="5504009"/>
                          <a:ext cx="1500188" cy="793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8"/>
            <p:cNvSpPr txBox="1"/>
            <p:nvPr/>
          </p:nvSpPr>
          <p:spPr>
            <a:xfrm>
              <a:off x="6029343" y="5639556"/>
              <a:ext cx="21643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latin typeface="Times New Roman" pitchFamily="18" charset="0"/>
                  <a:cs typeface="Times New Roman" pitchFamily="18" charset="0"/>
                </a:rPr>
                <a:t>（</a:t>
              </a:r>
              <a:r>
                <a:rPr lang="en-US" altLang="zh-CN" sz="2000" dirty="0" smtClean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000" baseline="-25000" dirty="0">
                  <a:latin typeface="Times New Roman" pitchFamily="18" charset="0"/>
                  <a:cs typeface="Times New Roman" pitchFamily="18" charset="0"/>
                </a:rPr>
                <a:t>E</a:t>
              </a:r>
              <a:r>
                <a:rPr lang="en-US" altLang="zh-CN" sz="2000" baseline="-25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000" dirty="0" smtClean="0">
                  <a:latin typeface="Times New Roman" pitchFamily="18" charset="0"/>
                  <a:cs typeface="Times New Roman" pitchFamily="18" charset="0"/>
                </a:rPr>
                <a:t>= 0 </a:t>
              </a:r>
              <a:r>
                <a:rPr lang="zh-CN" altLang="en-US" sz="2000" dirty="0" smtClean="0">
                  <a:latin typeface="Times New Roman" pitchFamily="18" charset="0"/>
                  <a:cs typeface="Times New Roman" pitchFamily="18" charset="0"/>
                </a:rPr>
                <a:t>，</a:t>
              </a:r>
              <a:r>
                <a:rPr lang="en-US" altLang="zh-CN" sz="2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zh-CN" altLang="en-US" sz="2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2000" dirty="0" smtClean="0">
                  <a:latin typeface="Times New Roman" pitchFamily="18" charset="0"/>
                  <a:cs typeface="Times New Roman" pitchFamily="18" charset="0"/>
                </a:rPr>
                <a:t>=∞</a:t>
              </a:r>
              <a:r>
                <a:rPr lang="zh-CN" altLang="en-US" sz="2000" dirty="0" smtClean="0">
                  <a:latin typeface="Times New Roman" pitchFamily="18" charset="0"/>
                  <a:cs typeface="Times New Roman" pitchFamily="18" charset="0"/>
                </a:rPr>
                <a:t>）</a:t>
              </a:r>
              <a:endParaRPr lang="zh-CN" alt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126328" y="5384949"/>
            <a:ext cx="4373664" cy="523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5" rIns="91429" bIns="45715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r>
              <a:rPr kumimoji="0" lang="en-US" altLang="zh-CN" sz="2800" dirty="0" smtClean="0">
                <a:latin typeface="黑体" pitchFamily="49" charset="-122"/>
                <a:ea typeface="黑体" pitchFamily="49" charset="-122"/>
              </a:rPr>
              <a:t>4.</a:t>
            </a:r>
            <a:r>
              <a:rPr kumimoji="0" lang="zh-CN" altLang="en-US" sz="2800" dirty="0" smtClean="0">
                <a:latin typeface="黑体" pitchFamily="49" charset="-122"/>
                <a:ea typeface="黑体" pitchFamily="49" charset="-122"/>
              </a:rPr>
              <a:t>两个点电荷间的电势能</a:t>
            </a:r>
            <a:endParaRPr kumimoji="0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933509" y="1198799"/>
            <a:ext cx="4150688" cy="1150081"/>
            <a:chOff x="4933509" y="1198799"/>
            <a:chExt cx="4150688" cy="1150081"/>
          </a:xfrm>
        </p:grpSpPr>
        <p:sp>
          <p:nvSpPr>
            <p:cNvPr id="21" name="圆角矩形 20"/>
            <p:cNvSpPr/>
            <p:nvPr/>
          </p:nvSpPr>
          <p:spPr>
            <a:xfrm>
              <a:off x="4933509" y="1198799"/>
              <a:ext cx="4125610" cy="903094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2"/>
            <p:cNvSpPr>
              <a:spLocks noChangeArrowheads="1"/>
            </p:cNvSpPr>
            <p:nvPr/>
          </p:nvSpPr>
          <p:spPr bwMode="auto">
            <a:xfrm>
              <a:off x="4959757" y="1218492"/>
              <a:ext cx="4124440" cy="831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571500" defTabSz="7620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defTabSz="7620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714500" defTabSz="7620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286000" defTabSz="7620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zh-CN" altLang="en-US" sz="2000" dirty="0" smtClean="0">
                  <a:latin typeface="+mn-ea"/>
                  <a:ea typeface="+mn-ea"/>
                </a:rPr>
                <a:t>静电场的环路定理：静电场中场强沿任意闭合环路的线积分恒等于零</a:t>
              </a:r>
              <a:r>
                <a:rPr lang="en-US" altLang="zh-CN" sz="2800" dirty="0" smtClean="0">
                  <a:latin typeface="黑体" pitchFamily="49" charset="-122"/>
                  <a:ea typeface="黑体" pitchFamily="49" charset="-122"/>
                </a:rPr>
                <a:t>. </a:t>
              </a:r>
            </a:p>
          </p:txBody>
        </p:sp>
        <p:sp>
          <p:nvSpPr>
            <p:cNvPr id="24" name="直角上箭头 23"/>
            <p:cNvSpPr/>
            <p:nvPr/>
          </p:nvSpPr>
          <p:spPr>
            <a:xfrm>
              <a:off x="6372200" y="2091408"/>
              <a:ext cx="418470" cy="257472"/>
            </a:xfrm>
            <a:prstGeom prst="bentUp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04664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电势：单位正电荷的电势能</a:t>
            </a:r>
            <a:endParaRPr lang="zh-CN" altLang="en-US" sz="28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504001"/>
              </p:ext>
            </p:extLst>
          </p:nvPr>
        </p:nvGraphicFramePr>
        <p:xfrm>
          <a:off x="2794463" y="1091621"/>
          <a:ext cx="1187469" cy="98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3" name="Equation" r:id="rId3" imgW="508000" imgH="419100" progId="Equation.DSMT4">
                  <p:embed/>
                </p:oleObj>
              </mc:Choice>
              <mc:Fallback>
                <p:oleObj name="Equation" r:id="rId3" imgW="508000" imgH="419100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463" y="1091621"/>
                        <a:ext cx="1187469" cy="9800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540752" y="1052738"/>
            <a:ext cx="2008755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： </a:t>
            </a:r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zh-CN" altLang="en-US" sz="2800" dirty="0" smtClean="0">
                <a:latin typeface="Times New Roman" pitchFamily="18" charset="0"/>
                <a:cs typeface="Times New Roman" pitchFamily="18" charset="0"/>
              </a:rPr>
              <a:t>伏特</a:t>
            </a:r>
            <a:endParaRPr lang="en-US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CN" sz="2800" dirty="0" smtClean="0">
                <a:latin typeface="Times New Roman" pitchFamily="18" charset="0"/>
                <a:cs typeface="Times New Roman" pitchFamily="18" charset="0"/>
              </a:rPr>
              <a:t>1V = 1J/C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5496" y="20412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标量，没有方向</a:t>
            </a:r>
            <a:endParaRPr lang="zh-CN" altLang="en-US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285293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点电荷的电势</a:t>
            </a:r>
            <a:endParaRPr lang="zh-CN" altLang="en-US" sz="28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965001"/>
              </p:ext>
            </p:extLst>
          </p:nvPr>
        </p:nvGraphicFramePr>
        <p:xfrm>
          <a:off x="2987824" y="3356992"/>
          <a:ext cx="1731136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4" name="Equation" r:id="rId5" imgW="533169" imgH="393529" progId="Equation.DSMT4">
                  <p:embed/>
                </p:oleObj>
              </mc:Choice>
              <mc:Fallback>
                <p:oleObj name="Equation" r:id="rId5" imgW="533169" imgH="393529" progId="Equation.DSMT4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356992"/>
                        <a:ext cx="1731136" cy="936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03648" y="3501008"/>
            <a:ext cx="1107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电势：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9632" y="436617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电势叠加：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514019"/>
              </p:ext>
            </p:extLst>
          </p:nvPr>
        </p:nvGraphicFramePr>
        <p:xfrm>
          <a:off x="1475656" y="5167830"/>
          <a:ext cx="4104456" cy="872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5" name="公式" r:id="rId7" imgW="3324960" imgH="686880" progId="Equation.3">
                  <p:embed/>
                </p:oleObj>
              </mc:Choice>
              <mc:Fallback>
                <p:oleObj name="公式" r:id="rId7" imgW="3324960" imgH="68688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5167830"/>
                        <a:ext cx="4104456" cy="8725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5918911" y="4051920"/>
            <a:ext cx="2671763" cy="2201083"/>
            <a:chOff x="5918911" y="4051920"/>
            <a:chExt cx="2671763" cy="2201083"/>
          </a:xfrm>
        </p:grpSpPr>
        <p:grpSp>
          <p:nvGrpSpPr>
            <p:cNvPr id="12" name="Group 5"/>
            <p:cNvGrpSpPr>
              <a:grpSpLocks/>
            </p:cNvGrpSpPr>
            <p:nvPr/>
          </p:nvGrpSpPr>
          <p:grpSpPr bwMode="auto">
            <a:xfrm>
              <a:off x="8028699" y="5795803"/>
              <a:ext cx="561975" cy="457200"/>
              <a:chOff x="4560" y="1841"/>
              <a:chExt cx="354" cy="288"/>
            </a:xfrm>
          </p:grpSpPr>
          <p:sp>
            <p:nvSpPr>
              <p:cNvPr id="33" name="Oval 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4" name="Rectangle 7"/>
              <p:cNvSpPr>
                <a:spLocks noChangeArrowheads="1"/>
              </p:cNvSpPr>
              <p:nvPr/>
            </p:nvSpPr>
            <p:spPr bwMode="auto">
              <a:xfrm>
                <a:off x="4631" y="1841"/>
                <a:ext cx="2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/>
                  <a:t>q</a:t>
                </a:r>
                <a:r>
                  <a:rPr kumimoji="1" lang="en-US" altLang="zh-CN" sz="2400" i="1" baseline="-25000"/>
                  <a:t>n</a:t>
                </a:r>
              </a:p>
            </p:txBody>
          </p:sp>
        </p:grpSp>
        <p:grpSp>
          <p:nvGrpSpPr>
            <p:cNvPr id="13" name="Group 8"/>
            <p:cNvGrpSpPr>
              <a:grpSpLocks/>
            </p:cNvGrpSpPr>
            <p:nvPr/>
          </p:nvGrpSpPr>
          <p:grpSpPr bwMode="auto">
            <a:xfrm>
              <a:off x="5918911" y="4703603"/>
              <a:ext cx="509588" cy="457200"/>
              <a:chOff x="3231" y="1153"/>
              <a:chExt cx="321" cy="288"/>
            </a:xfrm>
          </p:grpSpPr>
          <p:sp>
            <p:nvSpPr>
              <p:cNvPr id="31" name="Oval 9"/>
              <p:cNvSpPr>
                <a:spLocks noChangeArrowheads="1"/>
              </p:cNvSpPr>
              <p:nvPr/>
            </p:nvSpPr>
            <p:spPr bwMode="auto">
              <a:xfrm>
                <a:off x="3456" y="1261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2" name="Rectangle 10"/>
              <p:cNvSpPr>
                <a:spLocks noChangeArrowheads="1"/>
              </p:cNvSpPr>
              <p:nvPr/>
            </p:nvSpPr>
            <p:spPr bwMode="auto">
              <a:xfrm>
                <a:off x="3231" y="1153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/>
                  <a:t>q</a:t>
                </a:r>
                <a:r>
                  <a:rPr kumimoji="1" lang="en-US" altLang="zh-CN" sz="2400" baseline="-25000"/>
                  <a:t>1</a:t>
                </a:r>
                <a:endParaRPr kumimoji="1" lang="en-US" altLang="zh-CN" sz="2400" b="0" baseline="-25000"/>
              </a:p>
            </p:txBody>
          </p:sp>
        </p:grpSp>
        <p:grpSp>
          <p:nvGrpSpPr>
            <p:cNvPr id="14" name="Group 11"/>
            <p:cNvGrpSpPr>
              <a:grpSpLocks/>
            </p:cNvGrpSpPr>
            <p:nvPr/>
          </p:nvGrpSpPr>
          <p:grpSpPr bwMode="auto">
            <a:xfrm>
              <a:off x="6395161" y="5464016"/>
              <a:ext cx="438150" cy="533400"/>
              <a:chOff x="3531" y="1632"/>
              <a:chExt cx="276" cy="336"/>
            </a:xfrm>
          </p:grpSpPr>
          <p:sp>
            <p:nvSpPr>
              <p:cNvPr id="29" name="Oval 12"/>
              <p:cNvSpPr>
                <a:spLocks noChangeArrowheads="1"/>
              </p:cNvSpPr>
              <p:nvPr/>
            </p:nvSpPr>
            <p:spPr bwMode="auto">
              <a:xfrm>
                <a:off x="3648" y="1632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0" name="Rectangle 13"/>
              <p:cNvSpPr>
                <a:spLocks noChangeArrowheads="1"/>
              </p:cNvSpPr>
              <p:nvPr/>
            </p:nvSpPr>
            <p:spPr bwMode="auto">
              <a:xfrm>
                <a:off x="3531" y="1680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/>
                  <a:t>q</a:t>
                </a:r>
                <a:r>
                  <a:rPr kumimoji="1" lang="en-US" altLang="zh-CN" sz="2400" baseline="-25000"/>
                  <a:t>2</a:t>
                </a:r>
                <a:endParaRPr kumimoji="1" lang="en-US" altLang="zh-CN" sz="2400" b="0" baseline="-25000"/>
              </a:p>
            </p:txBody>
          </p:sp>
        </p:grpSp>
        <p:grpSp>
          <p:nvGrpSpPr>
            <p:cNvPr id="15" name="Group 14"/>
            <p:cNvGrpSpPr>
              <a:grpSpLocks/>
            </p:cNvGrpSpPr>
            <p:nvPr/>
          </p:nvGrpSpPr>
          <p:grpSpPr bwMode="auto">
            <a:xfrm>
              <a:off x="7114299" y="5692616"/>
              <a:ext cx="438150" cy="533400"/>
              <a:chOff x="3984" y="1776"/>
              <a:chExt cx="276" cy="336"/>
            </a:xfrm>
          </p:grpSpPr>
          <p:sp>
            <p:nvSpPr>
              <p:cNvPr id="27" name="Oval 15"/>
              <p:cNvSpPr>
                <a:spLocks noChangeArrowheads="1"/>
              </p:cNvSpPr>
              <p:nvPr/>
            </p:nvSpPr>
            <p:spPr bwMode="auto">
              <a:xfrm>
                <a:off x="4080" y="1776"/>
                <a:ext cx="96" cy="9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8" name="Rectangle 16"/>
              <p:cNvSpPr>
                <a:spLocks noChangeArrowheads="1"/>
              </p:cNvSpPr>
              <p:nvPr/>
            </p:nvSpPr>
            <p:spPr bwMode="auto">
              <a:xfrm>
                <a:off x="3984" y="1824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/>
                  <a:t>q</a:t>
                </a:r>
                <a:r>
                  <a:rPr kumimoji="1" lang="en-US" altLang="zh-CN" sz="2400" baseline="-25000"/>
                  <a:t>3</a:t>
                </a:r>
              </a:p>
            </p:txBody>
          </p:sp>
        </p:grp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7571184" y="4051920"/>
              <a:ext cx="457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400" i="1" dirty="0"/>
                <a:t>P</a:t>
              </a:r>
              <a:endParaRPr kumimoji="1" lang="en-US" altLang="zh-CN" sz="2400" b="0" i="1" dirty="0"/>
            </a:p>
          </p:txBody>
        </p:sp>
        <p:grpSp>
          <p:nvGrpSpPr>
            <p:cNvPr id="17" name="Group 20"/>
            <p:cNvGrpSpPr>
              <a:grpSpLocks/>
            </p:cNvGrpSpPr>
            <p:nvPr/>
          </p:nvGrpSpPr>
          <p:grpSpPr bwMode="auto">
            <a:xfrm>
              <a:off x="6452311" y="4340066"/>
              <a:ext cx="1676400" cy="1504950"/>
              <a:chOff x="3600" y="1164"/>
              <a:chExt cx="1056" cy="948"/>
            </a:xfrm>
          </p:grpSpPr>
          <p:sp>
            <p:nvSpPr>
              <p:cNvPr id="19" name="Line 21"/>
              <p:cNvSpPr>
                <a:spLocks noChangeShapeType="1"/>
              </p:cNvSpPr>
              <p:nvPr/>
            </p:nvSpPr>
            <p:spPr bwMode="auto">
              <a:xfrm flipV="1">
                <a:off x="3600" y="1296"/>
                <a:ext cx="912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22"/>
              <p:cNvSpPr>
                <a:spLocks noChangeShapeType="1"/>
              </p:cNvSpPr>
              <p:nvPr/>
            </p:nvSpPr>
            <p:spPr bwMode="auto">
              <a:xfrm flipV="1">
                <a:off x="3744" y="1296"/>
                <a:ext cx="768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23"/>
              <p:cNvSpPr>
                <a:spLocks noChangeShapeType="1"/>
              </p:cNvSpPr>
              <p:nvPr/>
            </p:nvSpPr>
            <p:spPr bwMode="auto">
              <a:xfrm flipV="1">
                <a:off x="4176" y="1296"/>
                <a:ext cx="336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4"/>
              <p:cNvSpPr>
                <a:spLocks noChangeShapeType="1"/>
              </p:cNvSpPr>
              <p:nvPr/>
            </p:nvSpPr>
            <p:spPr bwMode="auto">
              <a:xfrm flipH="1" flipV="1">
                <a:off x="4512" y="1296"/>
                <a:ext cx="96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Rectangle 25"/>
              <p:cNvSpPr>
                <a:spLocks noChangeArrowheads="1"/>
              </p:cNvSpPr>
              <p:nvPr/>
            </p:nvSpPr>
            <p:spPr bwMode="auto">
              <a:xfrm>
                <a:off x="3865" y="1164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/>
                  <a:t>r</a:t>
                </a:r>
                <a:r>
                  <a:rPr kumimoji="1" lang="en-US" altLang="zh-CN" sz="2400" baseline="-25000"/>
                  <a:t>1</a:t>
                </a:r>
                <a:endParaRPr kumimoji="1" lang="en-US" altLang="zh-CN" sz="2400" b="0" baseline="-25000"/>
              </a:p>
            </p:txBody>
          </p:sp>
          <p:sp>
            <p:nvSpPr>
              <p:cNvPr id="24" name="Rectangle 26"/>
              <p:cNvSpPr>
                <a:spLocks noChangeArrowheads="1"/>
              </p:cNvSpPr>
              <p:nvPr/>
            </p:nvSpPr>
            <p:spPr bwMode="auto">
              <a:xfrm>
                <a:off x="3792" y="1440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/>
                  <a:t>r</a:t>
                </a:r>
                <a:r>
                  <a:rPr kumimoji="1" lang="en-US" altLang="zh-CN" sz="2400" baseline="-25000"/>
                  <a:t>2</a:t>
                </a:r>
                <a:endParaRPr kumimoji="1" lang="en-US" altLang="zh-CN" sz="2400" b="0" baseline="-25000"/>
              </a:p>
            </p:txBody>
          </p:sp>
          <p:sp>
            <p:nvSpPr>
              <p:cNvPr id="25" name="Rectangle 27"/>
              <p:cNvSpPr>
                <a:spLocks noChangeArrowheads="1"/>
              </p:cNvSpPr>
              <p:nvPr/>
            </p:nvSpPr>
            <p:spPr bwMode="auto">
              <a:xfrm>
                <a:off x="4080" y="153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i="1" dirty="0"/>
                  <a:t>r</a:t>
                </a:r>
                <a:r>
                  <a:rPr kumimoji="1" lang="en-US" altLang="zh-CN" sz="2400" baseline="-25000" dirty="0"/>
                  <a:t>3</a:t>
                </a:r>
                <a:endParaRPr kumimoji="1" lang="en-US" altLang="zh-CN" sz="2400" b="0" baseline="-25000" dirty="0"/>
              </a:p>
            </p:txBody>
          </p:sp>
          <p:sp>
            <p:nvSpPr>
              <p:cNvPr id="26" name="Rectangle 28"/>
              <p:cNvSpPr>
                <a:spLocks noChangeArrowheads="1"/>
              </p:cNvSpPr>
              <p:nvPr/>
            </p:nvSpPr>
            <p:spPr bwMode="auto">
              <a:xfrm>
                <a:off x="4368" y="163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i="1"/>
                  <a:t>r</a:t>
                </a:r>
                <a:r>
                  <a:rPr kumimoji="1" lang="en-US" altLang="zh-CN" sz="2400" i="1" baseline="-25000"/>
                  <a:t>n</a:t>
                </a:r>
                <a:endParaRPr kumimoji="1" lang="en-US" altLang="zh-CN" sz="2400" b="0" i="1" baseline="-25000"/>
              </a:p>
            </p:txBody>
          </p:sp>
        </p:grp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7815887" y="4465729"/>
              <a:ext cx="188496" cy="201778"/>
            </a:xfrm>
            <a:prstGeom prst="ellipse">
              <a:avLst/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/>
          <p:cNvSpPr txBox="1"/>
          <p:nvPr/>
        </p:nvSpPr>
        <p:spPr>
          <a:xfrm>
            <a:off x="1691680" y="352295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762000">
              <a:spcBef>
                <a:spcPts val="1400"/>
              </a:spcBef>
              <a:defRPr sz="1800"/>
            </a:pPr>
            <a:r>
              <a:rPr lang="en-US" altLang="zh-CN" sz="320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§17.3  </a:t>
            </a:r>
            <a:r>
              <a:rPr lang="zh-CN" altLang="en-US" sz="3200" dirty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电场与电势的关系</a:t>
            </a:r>
            <a:endParaRPr lang="zh-CN" altLang="en-US" sz="3200" dirty="0">
              <a:solidFill>
                <a:srgbClr val="FF0000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pic>
        <p:nvPicPr>
          <p:cNvPr id="1112" name="Picture 88" descr="C:\Users\Administrator\Desktop\01300000168747121103392911385.jpg"/>
          <p:cNvPicPr>
            <a:picLocks noChangeAspect="1" noChangeArrowheads="1"/>
          </p:cNvPicPr>
          <p:nvPr/>
        </p:nvPicPr>
        <p:blipFill>
          <a:blip r:embed="rId3" cstate="print"/>
          <a:srcRect t="14152"/>
          <a:stretch>
            <a:fillRect/>
          </a:stretch>
        </p:blipFill>
        <p:spPr bwMode="auto">
          <a:xfrm>
            <a:off x="8883" y="1794476"/>
            <a:ext cx="4237342" cy="3546307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308931"/>
            <a:ext cx="4788024" cy="2636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545497" y="113369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等高线图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4867902" y="5229200"/>
            <a:ext cx="376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17.17 </a:t>
            </a:r>
            <a:r>
              <a:rPr lang="zh-CN" altLang="en-US" dirty="0" smtClean="0"/>
              <a:t>用英尺标识等高线的地形图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390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76" y="22495"/>
            <a:ext cx="9001000" cy="6835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20072" y="1912267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类似于电偶极子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496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214" y="2924944"/>
            <a:ext cx="3972786" cy="3362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9489" y="169364"/>
            <a:ext cx="2808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kumimoji="1" lang="en-US" altLang="zh-CN" sz="2800" dirty="0" smtClean="0">
                <a:latin typeface="黑体" pitchFamily="49" charset="-122"/>
                <a:ea typeface="黑体" pitchFamily="49" charset="-122"/>
              </a:rPr>
              <a:t>1</a:t>
            </a:r>
            <a:r>
              <a:rPr kumimoji="1" lang="en-US" altLang="zh-CN" sz="2800" dirty="0">
                <a:latin typeface="黑体" pitchFamily="49" charset="-122"/>
                <a:ea typeface="黑体" pitchFamily="49" charset="-122"/>
              </a:rPr>
              <a:t>.</a:t>
            </a:r>
            <a:r>
              <a:rPr kumimoji="1" lang="zh-CN" altLang="en-US" sz="2800" dirty="0" smtClean="0">
                <a:latin typeface="黑体" pitchFamily="49" charset="-122"/>
                <a:ea typeface="黑体" pitchFamily="49" charset="-122"/>
              </a:rPr>
              <a:t>等势面</a:t>
            </a:r>
            <a:endParaRPr kumimoji="1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52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157890"/>
              </p:ext>
            </p:extLst>
          </p:nvPr>
        </p:nvGraphicFramePr>
        <p:xfrm>
          <a:off x="2374079" y="1967323"/>
          <a:ext cx="23034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" name="Equation" r:id="rId5" imgW="825142" imgH="215806" progId="Equation.DSMT4">
                  <p:embed/>
                </p:oleObj>
              </mc:Choice>
              <mc:Fallback>
                <p:oleObj name="Equation" r:id="rId5" imgW="825142" imgH="215806" progId="Equation.DSMT4">
                  <p:embed/>
                  <p:pic>
                    <p:nvPicPr>
                      <p:cNvPr id="0" name="Picture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079" y="1967323"/>
                        <a:ext cx="23034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4"/>
          <p:cNvSpPr txBox="1">
            <a:spLocks noChangeArrowheads="1"/>
          </p:cNvSpPr>
          <p:nvPr/>
        </p:nvSpPr>
        <p:spPr bwMode="auto">
          <a:xfrm>
            <a:off x="137103" y="3427960"/>
            <a:ext cx="5472112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defTabSz="7620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defTabSz="7620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defTabSz="7620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defTabSz="7620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约定：</a:t>
            </a:r>
            <a:r>
              <a:rPr kumimoji="1" lang="zh-CN" altLang="en-US" dirty="0">
                <a:latin typeface="黑体" pitchFamily="49" charset="-122"/>
                <a:ea typeface="黑体" pitchFamily="49" charset="-122"/>
              </a:rPr>
              <a:t>相邻等势面的电势差为常量，可以得到一系列的等势面</a:t>
            </a:r>
          </a:p>
        </p:txBody>
      </p:sp>
      <p:sp>
        <p:nvSpPr>
          <p:cNvPr id="54" name="Rectangle 55"/>
          <p:cNvSpPr>
            <a:spLocks noChangeArrowheads="1"/>
          </p:cNvSpPr>
          <p:nvPr/>
        </p:nvSpPr>
        <p:spPr bwMode="auto">
          <a:xfrm>
            <a:off x="149659" y="791633"/>
            <a:ext cx="5486400" cy="105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dirty="0">
                <a:latin typeface="黑体" pitchFamily="49" charset="-122"/>
                <a:ea typeface="黑体" pitchFamily="49" charset="-122"/>
              </a:rPr>
              <a:t>将电势相等的场点连成连续的曲面</a:t>
            </a:r>
            <a:r>
              <a:rPr kumimoji="1" lang="en-US" altLang="zh-CN" sz="2800" dirty="0">
                <a:latin typeface="黑体" pitchFamily="49" charset="-122"/>
                <a:ea typeface="黑体" pitchFamily="49" charset="-122"/>
              </a:rPr>
              <a:t>——</a:t>
            </a:r>
            <a:r>
              <a:rPr kumimoji="1" lang="zh-CN" altLang="en-US" sz="2800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等势面</a:t>
            </a:r>
          </a:p>
        </p:txBody>
      </p:sp>
      <p:sp>
        <p:nvSpPr>
          <p:cNvPr id="55" name="Rectangle 56"/>
          <p:cNvSpPr>
            <a:spLocks noChangeArrowheads="1"/>
          </p:cNvSpPr>
          <p:nvPr/>
        </p:nvSpPr>
        <p:spPr bwMode="auto">
          <a:xfrm>
            <a:off x="362744" y="1955935"/>
            <a:ext cx="403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kumimoji="1" lang="zh-CN" altLang="en-US" sz="2800" dirty="0">
                <a:latin typeface="黑体" pitchFamily="49" charset="-122"/>
                <a:ea typeface="黑体" pitchFamily="49" charset="-122"/>
              </a:rPr>
              <a:t>满足方程：</a:t>
            </a:r>
          </a:p>
        </p:txBody>
      </p:sp>
      <p:graphicFrame>
        <p:nvGraphicFramePr>
          <p:cNvPr id="1111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441256"/>
              </p:ext>
            </p:extLst>
          </p:nvPr>
        </p:nvGraphicFramePr>
        <p:xfrm>
          <a:off x="3466254" y="5269244"/>
          <a:ext cx="173196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" name="Equation" r:id="rId7" imgW="533169" imgH="393529" progId="Equation.DSMT4">
                  <p:embed/>
                </p:oleObj>
              </mc:Choice>
              <mc:Fallback>
                <p:oleObj name="Equation" r:id="rId7" imgW="533169" imgH="393529" progId="Equation.DSMT4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254" y="5269244"/>
                        <a:ext cx="1731963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441364" y="6403609"/>
            <a:ext cx="3390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图</a:t>
            </a:r>
            <a:r>
              <a:rPr lang="en-US" altLang="zh-CN" sz="2000" dirty="0" smtClean="0"/>
              <a:t>17.19 </a:t>
            </a:r>
            <a:r>
              <a:rPr lang="zh-CN" altLang="en-US" sz="2000" dirty="0" smtClean="0"/>
              <a:t>正电荷附近的等势面</a:t>
            </a:r>
            <a:endParaRPr lang="zh-CN" altLang="en-US" sz="2000" dirty="0"/>
          </a:p>
        </p:txBody>
      </p:sp>
      <p:pic>
        <p:nvPicPr>
          <p:cNvPr id="1250" name="Picture 22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433" y="0"/>
            <a:ext cx="3683079" cy="2690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51" name="Picture 22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16" y="4531479"/>
            <a:ext cx="3198525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545899" y="2721644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电势是空间位置坐标的函数</a:t>
            </a:r>
          </a:p>
        </p:txBody>
      </p:sp>
    </p:spTree>
    <p:extLst>
      <p:ext uri="{BB962C8B-B14F-4D97-AF65-F5344CB8AC3E}">
        <p14:creationId xmlns:p14="http://schemas.microsoft.com/office/powerpoint/2010/main" val="410390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7" name="Rectangle 3"/>
          <p:cNvSpPr>
            <a:spLocks noChangeArrowheads="1"/>
          </p:cNvSpPr>
          <p:nvPr/>
        </p:nvSpPr>
        <p:spPr bwMode="auto">
          <a:xfrm>
            <a:off x="497796" y="187557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defTabSz="762000" eaLnBrk="0" hangingPunct="0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en-US" altLang="zh-CN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等势面的性质</a:t>
            </a:r>
          </a:p>
        </p:txBody>
      </p:sp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395288" y="856020"/>
            <a:ext cx="7315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b="0" dirty="0">
                <a:latin typeface="黑体" pitchFamily="49" charset="-122"/>
                <a:ea typeface="黑体" pitchFamily="49" charset="-122"/>
              </a:rPr>
              <a:t>1. </a:t>
            </a:r>
            <a:r>
              <a:rPr kumimoji="1" lang="zh-CN" altLang="en-US" b="0" dirty="0">
                <a:latin typeface="黑体" pitchFamily="49" charset="-122"/>
                <a:ea typeface="黑体" pitchFamily="49" charset="-122"/>
              </a:rPr>
              <a:t>电荷沿等势面移动，</a:t>
            </a:r>
            <a:r>
              <a:rPr kumimoji="1" lang="zh-CN" altLang="en-US" b="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电场力不做功。</a:t>
            </a:r>
            <a:endParaRPr kumimoji="1" lang="zh-CN" altLang="en-US" b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7030" name="Text Box 6"/>
          <p:cNvSpPr txBox="1">
            <a:spLocks noChangeArrowheads="1"/>
          </p:cNvSpPr>
          <p:nvPr/>
        </p:nvSpPr>
        <p:spPr bwMode="auto">
          <a:xfrm>
            <a:off x="378655" y="2222992"/>
            <a:ext cx="6048375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b="0" dirty="0">
                <a:latin typeface="黑体" pitchFamily="49" charset="-122"/>
                <a:ea typeface="黑体" pitchFamily="49" charset="-122"/>
              </a:rPr>
              <a:t>2. </a:t>
            </a:r>
            <a:r>
              <a:rPr kumimoji="1" lang="zh-CN" altLang="en-US" b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电场强度与</a:t>
            </a:r>
            <a:r>
              <a:rPr kumimoji="1" lang="zh-CN" altLang="en-US" b="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等势面处处正交。</a:t>
            </a:r>
            <a:endParaRPr kumimoji="1" lang="zh-CN" altLang="en-US" b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7040" name="Text Box 16"/>
          <p:cNvSpPr txBox="1">
            <a:spLocks noChangeArrowheads="1"/>
          </p:cNvSpPr>
          <p:nvPr/>
        </p:nvSpPr>
        <p:spPr bwMode="auto">
          <a:xfrm>
            <a:off x="395288" y="4762279"/>
            <a:ext cx="83534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b="0" dirty="0">
                <a:latin typeface="黑体" pitchFamily="49" charset="-122"/>
                <a:ea typeface="黑体" pitchFamily="49" charset="-122"/>
              </a:rPr>
              <a:t>3. </a:t>
            </a:r>
            <a:r>
              <a:rPr kumimoji="1" lang="zh-CN" altLang="en-US" b="0" dirty="0">
                <a:latin typeface="黑体" pitchFamily="49" charset="-122"/>
                <a:ea typeface="黑体" pitchFamily="49" charset="-122"/>
              </a:rPr>
              <a:t>等势面密集处场强量值大，稀疏处场强量值小。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126735" y="493561"/>
            <a:ext cx="2913062" cy="3021013"/>
            <a:chOff x="6227763" y="765175"/>
            <a:chExt cx="2913062" cy="3021013"/>
          </a:xfrm>
        </p:grpSpPr>
        <p:sp>
          <p:nvSpPr>
            <p:cNvPr id="75788" name="Oval 20"/>
            <p:cNvSpPr>
              <a:spLocks noChangeArrowheads="1"/>
            </p:cNvSpPr>
            <p:nvPr/>
          </p:nvSpPr>
          <p:spPr bwMode="auto">
            <a:xfrm>
              <a:off x="7593013" y="2165350"/>
              <a:ext cx="176212" cy="184150"/>
            </a:xfrm>
            <a:prstGeom prst="ellipse">
              <a:avLst/>
            </a:prstGeom>
            <a:gradFill rotWithShape="0">
              <a:gsLst>
                <a:gs pos="0">
                  <a:srgbClr val="CCFF99"/>
                </a:gs>
                <a:gs pos="100000">
                  <a:srgbClr val="5E7647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5789" name="Group 21"/>
            <p:cNvGrpSpPr>
              <a:grpSpLocks/>
            </p:cNvGrpSpPr>
            <p:nvPr/>
          </p:nvGrpSpPr>
          <p:grpSpPr bwMode="auto">
            <a:xfrm>
              <a:off x="6624638" y="1247775"/>
              <a:ext cx="2046287" cy="2017713"/>
              <a:chOff x="3360" y="1920"/>
              <a:chExt cx="1680" cy="1584"/>
            </a:xfrm>
          </p:grpSpPr>
          <p:sp>
            <p:nvSpPr>
              <p:cNvPr id="75805" name="Oval 22"/>
              <p:cNvSpPr>
                <a:spLocks noChangeArrowheads="1"/>
              </p:cNvSpPr>
              <p:nvPr/>
            </p:nvSpPr>
            <p:spPr bwMode="auto">
              <a:xfrm>
                <a:off x="4080" y="2592"/>
                <a:ext cx="240" cy="240"/>
              </a:xfrm>
              <a:prstGeom prst="ellipse">
                <a:avLst/>
              </a:prstGeom>
              <a:noFill/>
              <a:ln w="38100" cap="rnd">
                <a:solidFill>
                  <a:schemeClr val="accent2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5806" name="Group 23"/>
              <p:cNvGrpSpPr>
                <a:grpSpLocks/>
              </p:cNvGrpSpPr>
              <p:nvPr/>
            </p:nvGrpSpPr>
            <p:grpSpPr bwMode="auto">
              <a:xfrm>
                <a:off x="3360" y="1920"/>
                <a:ext cx="1680" cy="1584"/>
                <a:chOff x="3360" y="1920"/>
                <a:chExt cx="1680" cy="1584"/>
              </a:xfrm>
            </p:grpSpPr>
            <p:sp>
              <p:nvSpPr>
                <p:cNvPr id="75807" name="Oval 24"/>
                <p:cNvSpPr>
                  <a:spLocks noChangeArrowheads="1"/>
                </p:cNvSpPr>
                <p:nvPr/>
              </p:nvSpPr>
              <p:spPr bwMode="auto">
                <a:xfrm>
                  <a:off x="3696" y="2256"/>
                  <a:ext cx="1008" cy="912"/>
                </a:xfrm>
                <a:prstGeom prst="ellipse">
                  <a:avLst/>
                </a:prstGeom>
                <a:noFill/>
                <a:ln w="38100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808" name="Oval 25"/>
                <p:cNvSpPr>
                  <a:spLocks noChangeArrowheads="1"/>
                </p:cNvSpPr>
                <p:nvPr/>
              </p:nvSpPr>
              <p:spPr bwMode="auto">
                <a:xfrm>
                  <a:off x="4032" y="2544"/>
                  <a:ext cx="336" cy="336"/>
                </a:xfrm>
                <a:prstGeom prst="ellipse">
                  <a:avLst/>
                </a:prstGeom>
                <a:noFill/>
                <a:ln w="38100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809" name="Oval 26"/>
                <p:cNvSpPr>
                  <a:spLocks noChangeArrowheads="1"/>
                </p:cNvSpPr>
                <p:nvPr/>
              </p:nvSpPr>
              <p:spPr bwMode="auto">
                <a:xfrm>
                  <a:off x="3936" y="2448"/>
                  <a:ext cx="528" cy="528"/>
                </a:xfrm>
                <a:prstGeom prst="ellipse">
                  <a:avLst/>
                </a:prstGeom>
                <a:noFill/>
                <a:ln w="38100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810" name="Oval 27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720" cy="720"/>
                </a:xfrm>
                <a:prstGeom prst="ellipse">
                  <a:avLst/>
                </a:prstGeom>
                <a:noFill/>
                <a:ln w="38100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811" name="Oval 28"/>
                <p:cNvSpPr>
                  <a:spLocks noChangeArrowheads="1"/>
                </p:cNvSpPr>
                <p:nvPr/>
              </p:nvSpPr>
              <p:spPr bwMode="auto">
                <a:xfrm>
                  <a:off x="3552" y="2112"/>
                  <a:ext cx="1296" cy="1200"/>
                </a:xfrm>
                <a:prstGeom prst="ellipse">
                  <a:avLst/>
                </a:prstGeom>
                <a:noFill/>
                <a:ln w="38100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812" name="Oval 29"/>
                <p:cNvSpPr>
                  <a:spLocks noChangeArrowheads="1"/>
                </p:cNvSpPr>
                <p:nvPr/>
              </p:nvSpPr>
              <p:spPr bwMode="auto">
                <a:xfrm>
                  <a:off x="3360" y="1920"/>
                  <a:ext cx="1680" cy="1584"/>
                </a:xfrm>
                <a:prstGeom prst="ellipse">
                  <a:avLst/>
                </a:prstGeom>
                <a:noFill/>
                <a:ln w="38100" cap="rnd">
                  <a:solidFill>
                    <a:schemeClr val="accent2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57054" name="Group 30"/>
            <p:cNvGrpSpPr>
              <a:grpSpLocks/>
            </p:cNvGrpSpPr>
            <p:nvPr/>
          </p:nvGrpSpPr>
          <p:grpSpPr bwMode="auto">
            <a:xfrm>
              <a:off x="6227763" y="765175"/>
              <a:ext cx="2913062" cy="3021013"/>
              <a:chOff x="2608" y="768"/>
              <a:chExt cx="1952" cy="1976"/>
            </a:xfrm>
          </p:grpSpPr>
          <p:sp>
            <p:nvSpPr>
              <p:cNvPr id="75793" name="Line 31"/>
              <p:cNvSpPr>
                <a:spLocks noChangeShapeType="1"/>
              </p:cNvSpPr>
              <p:nvPr/>
            </p:nvSpPr>
            <p:spPr bwMode="auto">
              <a:xfrm>
                <a:off x="3698" y="1768"/>
                <a:ext cx="86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794" name="Line 32"/>
              <p:cNvSpPr>
                <a:spLocks noChangeShapeType="1"/>
              </p:cNvSpPr>
              <p:nvPr/>
            </p:nvSpPr>
            <p:spPr bwMode="auto">
              <a:xfrm flipH="1">
                <a:off x="2608" y="1768"/>
                <a:ext cx="86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795" name="Line 33"/>
              <p:cNvSpPr>
                <a:spLocks noChangeShapeType="1"/>
              </p:cNvSpPr>
              <p:nvPr/>
            </p:nvSpPr>
            <p:spPr bwMode="auto">
              <a:xfrm rot="5400000" flipV="1">
                <a:off x="3141" y="2303"/>
                <a:ext cx="880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796" name="Line 34"/>
              <p:cNvSpPr>
                <a:spLocks noChangeShapeType="1"/>
              </p:cNvSpPr>
              <p:nvPr/>
            </p:nvSpPr>
            <p:spPr bwMode="auto">
              <a:xfrm rot="-5400000">
                <a:off x="3141" y="1207"/>
                <a:ext cx="880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797" name="Line 35"/>
              <p:cNvSpPr>
                <a:spLocks noChangeShapeType="1"/>
              </p:cNvSpPr>
              <p:nvPr/>
            </p:nvSpPr>
            <p:spPr bwMode="auto">
              <a:xfrm rot="-3678787">
                <a:off x="3416" y="1287"/>
                <a:ext cx="880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798" name="Line 36"/>
              <p:cNvSpPr>
                <a:spLocks noChangeShapeType="1"/>
              </p:cNvSpPr>
              <p:nvPr/>
            </p:nvSpPr>
            <p:spPr bwMode="auto">
              <a:xfrm rot="-1586902">
                <a:off x="3620" y="1528"/>
                <a:ext cx="862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799" name="Line 37"/>
              <p:cNvSpPr>
                <a:spLocks noChangeShapeType="1"/>
              </p:cNvSpPr>
              <p:nvPr/>
            </p:nvSpPr>
            <p:spPr bwMode="auto">
              <a:xfrm rot="7121214">
                <a:off x="2866" y="2247"/>
                <a:ext cx="880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800" name="Line 38"/>
              <p:cNvSpPr>
                <a:spLocks noChangeShapeType="1"/>
              </p:cNvSpPr>
              <p:nvPr/>
            </p:nvSpPr>
            <p:spPr bwMode="auto">
              <a:xfrm rot="-1586902">
                <a:off x="2679" y="2008"/>
                <a:ext cx="862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801" name="Line 39"/>
              <p:cNvSpPr>
                <a:spLocks noChangeShapeType="1"/>
              </p:cNvSpPr>
              <p:nvPr/>
            </p:nvSpPr>
            <p:spPr bwMode="auto">
              <a:xfrm rot="3540255" flipV="1">
                <a:off x="3424" y="2215"/>
                <a:ext cx="880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802" name="Line 40"/>
              <p:cNvSpPr>
                <a:spLocks noChangeShapeType="1"/>
              </p:cNvSpPr>
              <p:nvPr/>
            </p:nvSpPr>
            <p:spPr bwMode="auto">
              <a:xfrm rot="1729673" flipV="1">
                <a:off x="3620" y="2008"/>
                <a:ext cx="862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803" name="Line 41"/>
              <p:cNvSpPr>
                <a:spLocks noChangeShapeType="1"/>
              </p:cNvSpPr>
              <p:nvPr/>
            </p:nvSpPr>
            <p:spPr bwMode="auto">
              <a:xfrm rot="1729673" flipV="1">
                <a:off x="2662" y="1496"/>
                <a:ext cx="862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804" name="Line 42"/>
              <p:cNvSpPr>
                <a:spLocks noChangeShapeType="1"/>
              </p:cNvSpPr>
              <p:nvPr/>
            </p:nvSpPr>
            <p:spPr bwMode="auto">
              <a:xfrm rot="3540255" flipV="1">
                <a:off x="2866" y="1287"/>
                <a:ext cx="880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954088" y="3155950"/>
            <a:ext cx="3658508" cy="1378541"/>
            <a:chOff x="986517" y="3219361"/>
            <a:chExt cx="3658508" cy="137854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7031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21925495"/>
                    </p:ext>
                  </p:extLst>
                </p:nvPr>
              </p:nvGraphicFramePr>
              <p:xfrm>
                <a:off x="986517" y="3219361"/>
                <a:ext cx="2606675" cy="488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873" name="Equation" r:id="rId3" imgW="1257120" imgH="228600" progId="Equation.DSMT4">
                        <p:embed/>
                      </p:oleObj>
                    </mc:Choice>
                    <mc:Fallback>
                      <p:oleObj name="Equation" r:id="rId3" imgW="1257120" imgH="228600" progId="Equation.DSMT4">
                        <p:embed/>
                        <p:pic>
                          <p:nvPicPr>
                            <p:cNvPr id="0" name="Picture 2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86517" y="3219361"/>
                              <a:ext cx="2606675" cy="488950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57031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921925495"/>
                    </p:ext>
                  </p:extLst>
                </p:nvPr>
              </p:nvGraphicFramePr>
              <p:xfrm>
                <a:off x="986517" y="3219361"/>
                <a:ext cx="2606675" cy="4889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723" name="Equation" r:id="rId5" imgW="1257120" imgH="228600" progId="Equation.DSMT4">
                        <p:embed/>
                      </p:oleObj>
                    </mc:Choice>
                    <mc:Fallback>
                      <p:oleObj name="Equation" r:id="rId5" imgW="1257120" imgH="228600" progId="Equation.DSMT4">
                        <p:embed/>
                        <p:pic>
                          <p:nvPicPr>
                            <p:cNvPr id="0" name="Picture 2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86517" y="3219361"/>
                              <a:ext cx="2606675" cy="488950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57033" name="Object 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28181224"/>
                    </p:ext>
                  </p:extLst>
                </p:nvPr>
              </p:nvGraphicFramePr>
              <p:xfrm>
                <a:off x="1942192" y="3986124"/>
                <a:ext cx="1599262" cy="4423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874" name="Equation" r:id="rId7" imgW="774360" imgH="203040" progId="Equation.DSMT4">
                        <p:embed/>
                      </p:oleObj>
                    </mc:Choice>
                    <mc:Fallback>
                      <p:oleObj name="Equation" r:id="rId7" imgW="774360" imgH="203040" progId="Equation.DSMT4">
                        <p:embed/>
                        <p:pic>
                          <p:nvPicPr>
                            <p:cNvPr id="0" name="Picture 2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42192" y="3986124"/>
                              <a:ext cx="1599262" cy="442391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57033" name="Object 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28181224"/>
                    </p:ext>
                  </p:extLst>
                </p:nvPr>
              </p:nvGraphicFramePr>
              <p:xfrm>
                <a:off x="1942192" y="3986124"/>
                <a:ext cx="1599262" cy="44239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724" name="Equation" r:id="rId9" imgW="774360" imgH="203040" progId="Equation.DSMT4">
                        <p:embed/>
                      </p:oleObj>
                    </mc:Choice>
                    <mc:Fallback>
                      <p:oleObj name="Equation" r:id="rId9" imgW="774360" imgH="203040" progId="Equation.DSMT4">
                        <p:embed/>
                        <p:pic>
                          <p:nvPicPr>
                            <p:cNvPr id="0" name="Picture 2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942192" y="3986124"/>
                              <a:ext cx="1599262" cy="442391"/>
                            </a:xfrm>
                            <a:prstGeom prst="rect">
                              <a:avLst/>
                            </a:prstGeom>
                            <a:noFill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257067" name="AutoShape 43"/>
            <p:cNvSpPr>
              <a:spLocks noChangeArrowheads="1"/>
            </p:cNvSpPr>
            <p:nvPr/>
          </p:nvSpPr>
          <p:spPr bwMode="auto">
            <a:xfrm>
              <a:off x="1043608" y="4093469"/>
              <a:ext cx="576263" cy="144463"/>
            </a:xfrm>
            <a:prstGeom prst="rightArrow">
              <a:avLst>
                <a:gd name="adj1" fmla="val 50000"/>
                <a:gd name="adj2" fmla="val 9972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/>
                <p:cNvSpPr/>
                <p:nvPr/>
              </p:nvSpPr>
              <p:spPr>
                <a:xfrm>
                  <a:off x="3668049" y="3877961"/>
                  <a:ext cx="976976" cy="71994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/>
                          </a:rPr>
                          <m:t>θ</m:t>
                        </m:r>
                        <m:r>
                          <a:rPr lang="en-US" altLang="zh-CN" sz="240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8049" y="3877961"/>
                  <a:ext cx="976976" cy="719941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526299" y="1489429"/>
                <a:ext cx="26767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/>
                        </a:rPr>
                        <m:t>𝑊</m:t>
                      </m:r>
                      <m:r>
                        <a:rPr lang="en-US" altLang="zh-CN" sz="2800">
                          <a:latin typeface="Cambria Math"/>
                        </a:rPr>
                        <m:t>=</m:t>
                      </m:r>
                      <m:r>
                        <a:rPr lang="en-US" altLang="zh-CN" sz="2800" i="1">
                          <a:latin typeface="Cambria Math"/>
                        </a:rPr>
                        <m:t>−</m:t>
                      </m:r>
                      <m:r>
                        <a:rPr lang="en-US" altLang="zh-CN" sz="2800" i="1">
                          <a:latin typeface="Cambria Math"/>
                        </a:rPr>
                        <m:t>𝑞</m:t>
                      </m:r>
                      <m:r>
                        <a:rPr lang="en-US" altLang="zh-CN" sz="2800" i="1">
                          <a:latin typeface="Cambria Math"/>
                        </a:rPr>
                        <m:t>∆</m:t>
                      </m:r>
                      <m:r>
                        <a:rPr lang="en-US" altLang="zh-CN" sz="2800" i="1">
                          <a:latin typeface="Cambria Math"/>
                        </a:rPr>
                        <m:t>𝑉</m:t>
                      </m:r>
                      <m:r>
                        <a:rPr lang="en-US" altLang="zh-CN" sz="280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99" y="1489429"/>
                <a:ext cx="2676758" cy="523220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627428"/>
              </p:ext>
            </p:extLst>
          </p:nvPr>
        </p:nvGraphicFramePr>
        <p:xfrm>
          <a:off x="5130800" y="2781300"/>
          <a:ext cx="914400" cy="21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" name="Equation" r:id="rId21" imgW="914400" imgH="211680" progId="Equation.DSMT4">
                  <p:embed/>
                </p:oleObj>
              </mc:Choice>
              <mc:Fallback>
                <p:oleObj name="Equation" r:id="rId21" imgW="914400" imgH="211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30800" y="2781300"/>
                        <a:ext cx="914400" cy="211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921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8497" y="519110"/>
            <a:ext cx="664797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z="2800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电场线总是指向电势降落最快的方向；</a:t>
            </a:r>
            <a:endParaRPr lang="en-US" altLang="zh-CN" sz="2800" dirty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电场线由电势高的地方指向电势低的地方</a:t>
            </a:r>
            <a:endParaRPr lang="zh-CN" altLang="en-US" sz="2800" b="1" dirty="0">
              <a:solidFill>
                <a:srgbClr val="FF0000"/>
              </a:solidFill>
              <a:latin typeface="Times New Roman" pitchFamily="18" charset="0"/>
              <a:ea typeface="Arial Unicode MS" pitchFamily="34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4537" y="1904105"/>
            <a:ext cx="35934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例如单位正电荷沿着电场线的方向由</a:t>
            </a: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点移动到</a:t>
            </a:r>
            <a:r>
              <a:rPr lang="en-US" altLang="zh-CN" sz="2800" dirty="0" smtClean="0">
                <a:latin typeface="黑体" pitchFamily="49" charset="-122"/>
                <a:ea typeface="黑体" pitchFamily="49" charset="-122"/>
              </a:rPr>
              <a:t>b</a:t>
            </a: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点，电势的变化：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34537" y="3573016"/>
                <a:ext cx="3960440" cy="93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altLang="zh-CN" sz="2400">
                          <a:latin typeface="Cambria Math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limLoc m:val="subSup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/>
                            </a:rPr>
                            <m:t>𝑏</m:t>
                          </m:r>
                        </m:sup>
                        <m:e>
                          <m:acc>
                            <m:accPr>
                              <m:chr m:val="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/>
                                </a:rPr>
                                <m:t>𝐸</m:t>
                              </m:r>
                            </m:e>
                          </m:acc>
                        </m:e>
                      </m:nary>
                      <m:r>
                        <a:rPr lang="en-US" altLang="zh-CN" sz="2400" i="1">
                          <a:latin typeface="Cambria Math"/>
                        </a:rPr>
                        <m:t>∙</m:t>
                      </m:r>
                      <m:r>
                        <a:rPr lang="en-US" altLang="zh-CN" sz="2400" i="1">
                          <a:latin typeface="Cambria Math"/>
                        </a:rPr>
                        <m:t>𝑑</m:t>
                      </m:r>
                      <m:acc>
                        <m:accPr>
                          <m:chr m:val="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𝑙</m:t>
                          </m:r>
                        </m:e>
                      </m:acc>
                      <m:r>
                        <a:rPr lang="en-US" altLang="zh-CN" sz="2400" i="1"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37" y="3573016"/>
                <a:ext cx="3960440" cy="93698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5148064" y="2274587"/>
            <a:ext cx="3608702" cy="3306691"/>
            <a:chOff x="5148064" y="2274587"/>
            <a:chExt cx="3608702" cy="3306691"/>
          </a:xfrm>
        </p:grpSpPr>
        <p:pic>
          <p:nvPicPr>
            <p:cNvPr id="4813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2274587"/>
              <a:ext cx="3608702" cy="3238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文本框 1"/>
            <p:cNvSpPr txBox="1"/>
            <p:nvPr/>
          </p:nvSpPr>
          <p:spPr>
            <a:xfrm>
              <a:off x="6084168" y="5157192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rgbClr val="FF0000"/>
                  </a:solidFill>
                </a:rPr>
                <a:t>a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808399" y="5181168"/>
              <a:ext cx="2880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smtClean="0">
                  <a:solidFill>
                    <a:srgbClr val="FF0000"/>
                  </a:solidFill>
                </a:rPr>
                <a:t>b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05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83568" y="548680"/>
            <a:ext cx="7208009" cy="4517355"/>
            <a:chOff x="683568" y="548680"/>
            <a:chExt cx="7208009" cy="4517355"/>
          </a:xfrm>
        </p:grpSpPr>
        <p:grpSp>
          <p:nvGrpSpPr>
            <p:cNvPr id="3" name="组合 2"/>
            <p:cNvGrpSpPr/>
            <p:nvPr/>
          </p:nvGrpSpPr>
          <p:grpSpPr>
            <a:xfrm>
              <a:off x="683568" y="548680"/>
              <a:ext cx="7208009" cy="4517355"/>
              <a:chOff x="683568" y="548680"/>
              <a:chExt cx="7208009" cy="4517355"/>
            </a:xfrm>
          </p:grpSpPr>
          <p:pic>
            <p:nvPicPr>
              <p:cNvPr id="49154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3568" y="548680"/>
                <a:ext cx="7208009" cy="45173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" name="TextBox 1"/>
              <p:cNvSpPr txBox="1"/>
              <p:nvPr/>
            </p:nvSpPr>
            <p:spPr>
              <a:xfrm>
                <a:off x="1806416" y="2204864"/>
                <a:ext cx="3600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smtClean="0">
                    <a:solidFill>
                      <a:srgbClr val="C00000"/>
                    </a:solidFill>
                  </a:rPr>
                  <a:t>面</a:t>
                </a:r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7092280" y="171649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0000CC"/>
                  </a:solidFill>
                </a:rPr>
                <a:t>线</a:t>
              </a:r>
              <a:endParaRPr lang="zh-CN" altLang="en-US" sz="2400" b="1">
                <a:solidFill>
                  <a:srgbClr val="0000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14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76672"/>
            <a:ext cx="7929562" cy="5013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52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3041" y="1167516"/>
            <a:ext cx="864095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真空中某静电场区域的电场线是疏密均匀、方向相同的平行直线，则在该区域内电场强度</a:t>
            </a:r>
            <a:r>
              <a:rPr lang="en-US" altLang="zh-CN" sz="2800" b="1" i="1" dirty="0" smtClean="0"/>
              <a:t>E</a:t>
            </a:r>
            <a:r>
              <a:rPr lang="zh-CN" altLang="en-US" sz="2800" b="1" dirty="0" smtClean="0"/>
              <a:t>和电势</a:t>
            </a:r>
            <a:r>
              <a:rPr lang="en-US" altLang="zh-CN" sz="2800" b="1" i="1" dirty="0" smtClean="0"/>
              <a:t>V</a:t>
            </a:r>
            <a:r>
              <a:rPr lang="zh-CN" altLang="en-US" sz="2800" b="1" dirty="0" smtClean="0"/>
              <a:t>是。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A. </a:t>
            </a:r>
            <a:r>
              <a:rPr lang="zh-CN" altLang="en-US" sz="2800" b="1" dirty="0" smtClean="0"/>
              <a:t>都是常量。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B. </a:t>
            </a:r>
            <a:r>
              <a:rPr lang="zh-CN" altLang="en-US" sz="2800" b="1" dirty="0" smtClean="0"/>
              <a:t>都不是常量。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C. </a:t>
            </a:r>
            <a:r>
              <a:rPr lang="en-US" altLang="zh-CN" sz="2800" b="1" i="1" dirty="0" smtClean="0"/>
              <a:t>E</a:t>
            </a:r>
            <a:r>
              <a:rPr lang="zh-CN" altLang="en-US" sz="2800" b="1" dirty="0" smtClean="0"/>
              <a:t>是常量，</a:t>
            </a:r>
            <a:r>
              <a:rPr lang="en-US" altLang="zh-CN" sz="2800" b="1" i="1" dirty="0" smtClean="0"/>
              <a:t>V</a:t>
            </a:r>
            <a:r>
              <a:rPr lang="zh-CN" altLang="en-US" sz="2800" b="1" dirty="0" smtClean="0"/>
              <a:t>不是常量。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D. </a:t>
            </a:r>
            <a:r>
              <a:rPr lang="en-US" altLang="zh-CN" sz="2800" b="1" i="1" dirty="0" smtClean="0"/>
              <a:t>V</a:t>
            </a:r>
            <a:r>
              <a:rPr lang="zh-CN" altLang="en-US" sz="2800" b="1" dirty="0" smtClean="0"/>
              <a:t>是常量，</a:t>
            </a:r>
            <a:r>
              <a:rPr lang="en-US" altLang="zh-CN" sz="2800" b="1" i="1" dirty="0" smtClean="0"/>
              <a:t>E</a:t>
            </a:r>
            <a:r>
              <a:rPr lang="zh-CN" altLang="en-US" sz="2800" b="1" dirty="0" smtClean="0"/>
              <a:t>不是常量。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endParaRPr lang="zh-CN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62068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CC"/>
                </a:solidFill>
              </a:rPr>
              <a:t>单项选择题：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6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8566472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/>
              <a:t>真空中某静电场区域的电场线是疏密均匀、方向相同的平行直线，则在该区域内电场强度</a:t>
            </a:r>
            <a:r>
              <a:rPr lang="en-US" altLang="zh-CN" sz="2800" b="1" i="1" dirty="0"/>
              <a:t>E</a:t>
            </a:r>
            <a:r>
              <a:rPr lang="zh-CN" altLang="en-US" sz="2800" b="1" dirty="0"/>
              <a:t>和电势</a:t>
            </a:r>
            <a:r>
              <a:rPr lang="en-US" altLang="zh-CN" sz="2800" b="1" i="1" dirty="0"/>
              <a:t>V</a:t>
            </a:r>
            <a:r>
              <a:rPr lang="zh-CN" altLang="en-US" sz="2800" b="1" dirty="0" smtClean="0"/>
              <a:t>是？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都是常量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都不是常量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1" dirty="0"/>
              <a:t>E</a:t>
            </a:r>
            <a:r>
              <a:rPr lang="zh-CN" altLang="en-US" sz="2400" b="1" dirty="0"/>
              <a:t>是常量，</a:t>
            </a:r>
            <a:r>
              <a:rPr lang="en-US" altLang="zh-CN" sz="2400" b="1" i="1" dirty="0"/>
              <a:t>V</a:t>
            </a:r>
            <a:r>
              <a:rPr lang="zh-CN" altLang="en-US" sz="2400" b="1" dirty="0"/>
              <a:t>不是常量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i="1" dirty="0"/>
              <a:t>V</a:t>
            </a:r>
            <a:r>
              <a:rPr lang="zh-CN" altLang="en-US" sz="2400" b="1" dirty="0"/>
              <a:t>是常量，</a:t>
            </a:r>
            <a:r>
              <a:rPr lang="en-US" altLang="zh-CN" sz="2400" b="1" i="1" dirty="0"/>
              <a:t>E</a:t>
            </a:r>
            <a:r>
              <a:rPr lang="zh-CN" altLang="en-US" sz="2400" b="1" dirty="0"/>
              <a:t>不是常量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659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9496" y="260648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CC"/>
                </a:solidFill>
              </a:rPr>
              <a:t>电场强度和电势的关系：</a:t>
            </a:r>
            <a:endParaRPr lang="en-US" altLang="zh-CN" sz="2800" b="1" dirty="0" smtClean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4730" y="1052736"/>
            <a:ext cx="4357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积分</a:t>
            </a:r>
            <a:r>
              <a:rPr lang="zh-CN" altLang="en-US" sz="2800" b="1" smtClean="0">
                <a:solidFill>
                  <a:srgbClr val="FF0000"/>
                </a:solidFill>
              </a:rPr>
              <a:t>关系式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4730" y="2635748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微分</a:t>
            </a:r>
            <a:r>
              <a:rPr lang="zh-CN" altLang="en-US" sz="2800" b="1" smtClean="0">
                <a:solidFill>
                  <a:srgbClr val="FF0000"/>
                </a:solidFill>
              </a:rPr>
              <a:t>关系式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466315"/>
              </p:ext>
            </p:extLst>
          </p:nvPr>
        </p:nvGraphicFramePr>
        <p:xfrm>
          <a:off x="1764361" y="1575956"/>
          <a:ext cx="220662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95" name="Equation" r:id="rId4" imgW="863280" imgH="330120" progId="Equation.DSMT4">
                  <p:embed/>
                </p:oleObj>
              </mc:Choice>
              <mc:Fallback>
                <p:oleObj name="Equation" r:id="rId4" imgW="863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4361" y="1575956"/>
                        <a:ext cx="2206625" cy="842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87093"/>
              </p:ext>
            </p:extLst>
          </p:nvPr>
        </p:nvGraphicFramePr>
        <p:xfrm>
          <a:off x="4459965" y="1772816"/>
          <a:ext cx="792088" cy="44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96" name="Equation" r:id="rId6" imgW="406080" imgH="228600" progId="Equation.DSMT4">
                  <p:embed/>
                </p:oleObj>
              </mc:Choice>
              <mc:Fallback>
                <p:oleObj name="Equation" r:id="rId6" imgW="406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59965" y="1772816"/>
                        <a:ext cx="792088" cy="44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1520" y="4983184"/>
            <a:ext cx="84321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梯度是一个向量，它的方向是函数在一点变化率最快的方向，而它的模就是函数沿这个方向的变化率。</a:t>
            </a:r>
          </a:p>
        </p:txBody>
      </p:sp>
      <p:grpSp>
        <p:nvGrpSpPr>
          <p:cNvPr id="13" name="Group 64"/>
          <p:cNvGrpSpPr>
            <a:grpSpLocks/>
          </p:cNvGrpSpPr>
          <p:nvPr/>
        </p:nvGrpSpPr>
        <p:grpSpPr bwMode="auto">
          <a:xfrm>
            <a:off x="5697712" y="2054382"/>
            <a:ext cx="2513441" cy="2471071"/>
            <a:chOff x="4085" y="527"/>
            <a:chExt cx="1584" cy="1616"/>
          </a:xfrm>
        </p:grpSpPr>
        <p:grpSp>
          <p:nvGrpSpPr>
            <p:cNvPr id="14" name="Group 33"/>
            <p:cNvGrpSpPr>
              <a:grpSpLocks/>
            </p:cNvGrpSpPr>
            <p:nvPr/>
          </p:nvGrpSpPr>
          <p:grpSpPr bwMode="auto">
            <a:xfrm>
              <a:off x="4085" y="800"/>
              <a:ext cx="1584" cy="1343"/>
              <a:chOff x="3984" y="913"/>
              <a:chExt cx="1584" cy="1343"/>
            </a:xfrm>
          </p:grpSpPr>
          <p:sp>
            <p:nvSpPr>
              <p:cNvPr id="28" name="Arc 34"/>
              <p:cNvSpPr>
                <a:spLocks/>
              </p:cNvSpPr>
              <p:nvPr/>
            </p:nvSpPr>
            <p:spPr bwMode="auto">
              <a:xfrm>
                <a:off x="3984" y="913"/>
                <a:ext cx="1152" cy="1056"/>
              </a:xfrm>
              <a:custGeom>
                <a:avLst/>
                <a:gdLst>
                  <a:gd name="T0" fmla="*/ 0 w 21600"/>
                  <a:gd name="T1" fmla="*/ 0 h 21600"/>
                  <a:gd name="T2" fmla="*/ 3 w 21600"/>
                  <a:gd name="T3" fmla="*/ 3 h 21600"/>
                  <a:gd name="T4" fmla="*/ 0 w 21600"/>
                  <a:gd name="T5" fmla="*/ 3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Arc 35"/>
              <p:cNvSpPr>
                <a:spLocks/>
              </p:cNvSpPr>
              <p:nvPr/>
            </p:nvSpPr>
            <p:spPr bwMode="auto">
              <a:xfrm>
                <a:off x="3984" y="1249"/>
                <a:ext cx="816" cy="720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Rectangle 36"/>
              <p:cNvSpPr>
                <a:spLocks noChangeArrowheads="1"/>
              </p:cNvSpPr>
              <p:nvPr/>
            </p:nvSpPr>
            <p:spPr bwMode="auto">
              <a:xfrm>
                <a:off x="4608" y="1905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i="1" smtClean="0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endParaRPr kumimoji="1" lang="en-US" altLang="zh-CN" sz="2400" b="0" i="1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" name="Rectangle 37"/>
              <p:cNvSpPr>
                <a:spLocks noChangeArrowheads="1"/>
              </p:cNvSpPr>
              <p:nvPr/>
            </p:nvSpPr>
            <p:spPr bwMode="auto">
              <a:xfrm>
                <a:off x="4928" y="1968"/>
                <a:ext cx="6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kumimoji="1" lang="en-US" altLang="zh-CN" sz="2400" i="1" smtClean="0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smtClean="0">
                    <a:solidFill>
                      <a:schemeClr val="accent2"/>
                    </a:solidFill>
                    <a:latin typeface="Times New Roman" pitchFamily="18" charset="0"/>
                  </a:rPr>
                  <a:t>+d</a:t>
                </a:r>
                <a:r>
                  <a:rPr kumimoji="1" lang="en-US" altLang="zh-CN" sz="2400" i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endParaRPr kumimoji="1" lang="en-US" altLang="zh-CN" sz="2400" b="0" i="1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15" name="Group 38"/>
            <p:cNvGrpSpPr>
              <a:grpSpLocks/>
            </p:cNvGrpSpPr>
            <p:nvPr/>
          </p:nvGrpSpPr>
          <p:grpSpPr bwMode="auto">
            <a:xfrm>
              <a:off x="4649" y="527"/>
              <a:ext cx="489" cy="820"/>
              <a:chOff x="4608" y="572"/>
              <a:chExt cx="489" cy="820"/>
            </a:xfrm>
          </p:grpSpPr>
          <p:sp>
            <p:nvSpPr>
              <p:cNvPr id="26" name="Line 39"/>
              <p:cNvSpPr>
                <a:spLocks noChangeShapeType="1"/>
              </p:cNvSpPr>
              <p:nvPr/>
            </p:nvSpPr>
            <p:spPr bwMode="auto">
              <a:xfrm flipV="1">
                <a:off x="4608" y="960"/>
                <a:ext cx="432" cy="432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7" name="Object 40"/>
              <p:cNvGraphicFramePr>
                <a:graphicFrameLocks noChangeAspect="1"/>
              </p:cNvGraphicFramePr>
              <p:nvPr/>
            </p:nvGraphicFramePr>
            <p:xfrm>
              <a:off x="4761" y="572"/>
              <a:ext cx="336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697" name="公式" r:id="rId8" imgW="137268" imgH="190428" progId="Equation.3">
                      <p:embed/>
                    </p:oleObj>
                  </mc:Choice>
                  <mc:Fallback>
                    <p:oleObj name="公式" r:id="rId8" imgW="137268" imgH="19042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1" y="572"/>
                            <a:ext cx="336" cy="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hlink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" name="Line 42"/>
            <p:cNvSpPr>
              <a:spLocks noChangeShapeType="1"/>
            </p:cNvSpPr>
            <p:nvPr/>
          </p:nvSpPr>
          <p:spPr bwMode="auto">
            <a:xfrm flipV="1">
              <a:off x="4649" y="1312"/>
              <a:ext cx="444" cy="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5093" y="108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i="1">
                  <a:solidFill>
                    <a:schemeClr val="accent2"/>
                  </a:solidFill>
                  <a:latin typeface="Times New Roman" pitchFamily="18" charset="0"/>
                </a:rPr>
                <a:t>b</a:t>
              </a:r>
              <a:endParaRPr kumimoji="1" lang="en-US" altLang="zh-CN" b="0" i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4421" y="113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i="1">
                  <a:solidFill>
                    <a:schemeClr val="accent2"/>
                  </a:solidFill>
                  <a:latin typeface="Times New Roman" pitchFamily="18" charset="0"/>
                </a:rPr>
                <a:t>a</a:t>
              </a:r>
              <a:endParaRPr kumimoji="1" lang="en-US" altLang="zh-CN" b="0" i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9" name="Object 45"/>
            <p:cNvGraphicFramePr>
              <a:graphicFrameLocks noChangeAspect="1"/>
            </p:cNvGraphicFramePr>
            <p:nvPr/>
          </p:nvGraphicFramePr>
          <p:xfrm>
            <a:off x="4853" y="136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98" name="公式" r:id="rId10" imgW="175314" imgH="175332" progId="Equation.3">
                    <p:embed/>
                  </p:oleObj>
                </mc:Choice>
                <mc:Fallback>
                  <p:oleObj name="公式" r:id="rId10" imgW="175314" imgH="17533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36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46"/>
            <p:cNvGrpSpPr>
              <a:grpSpLocks/>
            </p:cNvGrpSpPr>
            <p:nvPr/>
          </p:nvGrpSpPr>
          <p:grpSpPr bwMode="auto">
            <a:xfrm>
              <a:off x="4085" y="1328"/>
              <a:ext cx="576" cy="432"/>
              <a:chOff x="3984" y="1440"/>
              <a:chExt cx="576" cy="432"/>
            </a:xfrm>
          </p:grpSpPr>
          <p:sp>
            <p:nvSpPr>
              <p:cNvPr id="24" name="Line 47"/>
              <p:cNvSpPr>
                <a:spLocks noChangeShapeType="1"/>
              </p:cNvSpPr>
              <p:nvPr/>
            </p:nvSpPr>
            <p:spPr bwMode="auto">
              <a:xfrm flipH="1">
                <a:off x="4224" y="1440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5" name="Object 48"/>
              <p:cNvGraphicFramePr>
                <a:graphicFrameLocks noChangeAspect="1"/>
              </p:cNvGraphicFramePr>
              <p:nvPr/>
            </p:nvGraphicFramePr>
            <p:xfrm>
              <a:off x="3984" y="1584"/>
              <a:ext cx="229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699" name="公式" r:id="rId12" imgW="129486" imgH="167568" progId="Equation.3">
                      <p:embed/>
                    </p:oleObj>
                  </mc:Choice>
                  <mc:Fallback>
                    <p:oleObj name="公式" r:id="rId12" imgW="129486" imgH="16756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1584"/>
                            <a:ext cx="229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7C8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1" name="Group 49"/>
            <p:cNvGrpSpPr>
              <a:grpSpLocks/>
            </p:cNvGrpSpPr>
            <p:nvPr/>
          </p:nvGrpSpPr>
          <p:grpSpPr bwMode="auto">
            <a:xfrm>
              <a:off x="4517" y="1328"/>
              <a:ext cx="278" cy="305"/>
              <a:chOff x="3264" y="1872"/>
              <a:chExt cx="240" cy="305"/>
            </a:xfrm>
          </p:grpSpPr>
          <p:sp>
            <p:nvSpPr>
              <p:cNvPr id="22" name="Arc 50"/>
              <p:cNvSpPr>
                <a:spLocks/>
              </p:cNvSpPr>
              <p:nvPr/>
            </p:nvSpPr>
            <p:spPr bwMode="auto">
              <a:xfrm flipV="1">
                <a:off x="3312" y="1872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Rectangle 51"/>
              <p:cNvSpPr>
                <a:spLocks noChangeArrowheads="1"/>
              </p:cNvSpPr>
              <p:nvPr/>
            </p:nvSpPr>
            <p:spPr bwMode="auto">
              <a:xfrm>
                <a:off x="3264" y="1889"/>
                <a:ext cx="18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i="1">
                    <a:solidFill>
                      <a:schemeClr val="accent2"/>
                    </a:solidFill>
                    <a:latin typeface="Times New Roman" pitchFamily="18" charset="0"/>
                    <a:sym typeface="Symbol" pitchFamily="18" charset="2"/>
                  </a:rPr>
                  <a:t></a:t>
                </a:r>
              </a:p>
            </p:txBody>
          </p:sp>
        </p:grpSp>
      </p:grpSp>
      <p:grpSp>
        <p:nvGrpSpPr>
          <p:cNvPr id="12" name="组合 11"/>
          <p:cNvGrpSpPr/>
          <p:nvPr/>
        </p:nvGrpSpPr>
        <p:grpSpPr>
          <a:xfrm>
            <a:off x="1259632" y="3181212"/>
            <a:ext cx="3992421" cy="1223962"/>
            <a:chOff x="1259632" y="3181212"/>
            <a:chExt cx="3992421" cy="1223962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0460972"/>
                </p:ext>
              </p:extLst>
            </p:nvPr>
          </p:nvGraphicFramePr>
          <p:xfrm>
            <a:off x="1259632" y="3181212"/>
            <a:ext cx="3992421" cy="1223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00" name="Equation" r:id="rId14" imgW="1434960" imgH="482400" progId="Equation.DSMT4">
                    <p:embed/>
                  </p:oleObj>
                </mc:Choice>
                <mc:Fallback>
                  <p:oleObj name="Equation" r:id="rId14" imgW="143496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259632" y="3181212"/>
                          <a:ext cx="3992421" cy="12239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连接符 9"/>
            <p:cNvCxnSpPr/>
            <p:nvPr/>
          </p:nvCxnSpPr>
          <p:spPr>
            <a:xfrm>
              <a:off x="3851920" y="3499408"/>
              <a:ext cx="119066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664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8D92BBF-128F-41ED-93CE-B2897A50FFC7}" type="datetime1">
              <a:rPr lang="zh-CN" altLang="en-US" sz="1400" b="0" smtClean="0">
                <a:solidFill>
                  <a:schemeClr val="bg2"/>
                </a:solidFill>
              </a:rPr>
              <a:pPr/>
              <a:t>2021/4/19</a:t>
            </a:fld>
            <a:endParaRPr lang="en-US" altLang="zh-CN" sz="1400" b="0" smtClean="0">
              <a:solidFill>
                <a:schemeClr val="bg2"/>
              </a:solidFill>
            </a:endParaRPr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404048" y="241313"/>
            <a:ext cx="4800600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defTabSz="762000">
              <a:spcBef>
                <a:spcPct val="50000"/>
              </a:spcBef>
            </a:pPr>
            <a:r>
              <a:rPr kumimoji="1" lang="zh-CN" altLang="en-US" sz="2800" b="1" smtClean="0">
                <a:solidFill>
                  <a:srgbClr val="FF0000"/>
                </a:solidFill>
                <a:latin typeface="宋体" pitchFamily="2" charset="-122"/>
              </a:rPr>
              <a:t>电场强度</a:t>
            </a:r>
            <a:r>
              <a:rPr kumimoji="1" lang="zh-CN" altLang="en-US" sz="2800" b="1">
                <a:solidFill>
                  <a:srgbClr val="FF0000"/>
                </a:solidFill>
                <a:latin typeface="宋体" pitchFamily="2" charset="-122"/>
              </a:rPr>
              <a:t>与电势</a:t>
            </a:r>
            <a:r>
              <a:rPr kumimoji="1" lang="zh-CN" altLang="en-US" sz="2800" b="1" smtClean="0">
                <a:solidFill>
                  <a:srgbClr val="FF0000"/>
                </a:solidFill>
                <a:latin typeface="宋体" pitchFamily="2" charset="-122"/>
              </a:rPr>
              <a:t>的微分关系</a:t>
            </a:r>
            <a:endParaRPr kumimoji="1" lang="zh-CN" altLang="en-US" sz="2800" b="1">
              <a:solidFill>
                <a:srgbClr val="FF0000"/>
              </a:solidFill>
              <a:latin typeface="宋体" pitchFamily="2" charset="-122"/>
            </a:endParaRPr>
          </a:p>
        </p:txBody>
      </p:sp>
      <p:grpSp>
        <p:nvGrpSpPr>
          <p:cNvPr id="65540" name="Group 64"/>
          <p:cNvGrpSpPr>
            <a:grpSpLocks/>
          </p:cNvGrpSpPr>
          <p:nvPr/>
        </p:nvGrpSpPr>
        <p:grpSpPr bwMode="auto">
          <a:xfrm>
            <a:off x="6372225" y="476250"/>
            <a:ext cx="2514600" cy="2565400"/>
            <a:chOff x="4085" y="527"/>
            <a:chExt cx="1584" cy="1616"/>
          </a:xfrm>
        </p:grpSpPr>
        <p:grpSp>
          <p:nvGrpSpPr>
            <p:cNvPr id="65549" name="Group 33"/>
            <p:cNvGrpSpPr>
              <a:grpSpLocks/>
            </p:cNvGrpSpPr>
            <p:nvPr/>
          </p:nvGrpSpPr>
          <p:grpSpPr bwMode="auto">
            <a:xfrm>
              <a:off x="4085" y="800"/>
              <a:ext cx="1584" cy="1343"/>
              <a:chOff x="3984" y="913"/>
              <a:chExt cx="1584" cy="1343"/>
            </a:xfrm>
          </p:grpSpPr>
          <p:sp>
            <p:nvSpPr>
              <p:cNvPr id="65563" name="Arc 34"/>
              <p:cNvSpPr>
                <a:spLocks/>
              </p:cNvSpPr>
              <p:nvPr/>
            </p:nvSpPr>
            <p:spPr bwMode="auto">
              <a:xfrm>
                <a:off x="3984" y="913"/>
                <a:ext cx="1152" cy="1056"/>
              </a:xfrm>
              <a:custGeom>
                <a:avLst/>
                <a:gdLst>
                  <a:gd name="T0" fmla="*/ 0 w 21600"/>
                  <a:gd name="T1" fmla="*/ 0 h 21600"/>
                  <a:gd name="T2" fmla="*/ 3 w 21600"/>
                  <a:gd name="T3" fmla="*/ 3 h 21600"/>
                  <a:gd name="T4" fmla="*/ 0 w 21600"/>
                  <a:gd name="T5" fmla="*/ 3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4" name="Arc 35"/>
              <p:cNvSpPr>
                <a:spLocks/>
              </p:cNvSpPr>
              <p:nvPr/>
            </p:nvSpPr>
            <p:spPr bwMode="auto">
              <a:xfrm>
                <a:off x="3984" y="1249"/>
                <a:ext cx="816" cy="720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1 h 21600"/>
                  <a:gd name="T4" fmla="*/ 0 w 21600"/>
                  <a:gd name="T5" fmla="*/ 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65" name="Rectangle 36"/>
              <p:cNvSpPr>
                <a:spLocks noChangeArrowheads="1"/>
              </p:cNvSpPr>
              <p:nvPr/>
            </p:nvSpPr>
            <p:spPr bwMode="auto">
              <a:xfrm>
                <a:off x="4608" y="1905"/>
                <a:ext cx="205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i="1" smtClean="0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endParaRPr kumimoji="1" lang="en-US" altLang="zh-CN" sz="2400" b="0" i="1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5566" name="Rectangle 37"/>
              <p:cNvSpPr>
                <a:spLocks noChangeArrowheads="1"/>
              </p:cNvSpPr>
              <p:nvPr/>
            </p:nvSpPr>
            <p:spPr bwMode="auto">
              <a:xfrm>
                <a:off x="4928" y="1968"/>
                <a:ext cx="6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kumimoji="1" lang="en-US" altLang="zh-CN" sz="2400" i="1" dirty="0" err="1" smtClean="0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sz="2400" dirty="0" err="1" smtClean="0">
                    <a:solidFill>
                      <a:schemeClr val="accent2"/>
                    </a:solidFill>
                    <a:latin typeface="Times New Roman" pitchFamily="18" charset="0"/>
                  </a:rPr>
                  <a:t>+d</a:t>
                </a:r>
                <a:r>
                  <a:rPr kumimoji="1" lang="en-US" altLang="zh-CN" sz="2400" i="1" dirty="0" err="1">
                    <a:solidFill>
                      <a:schemeClr val="accent2"/>
                    </a:solidFill>
                    <a:latin typeface="Times New Roman" pitchFamily="18" charset="0"/>
                  </a:rPr>
                  <a:t>V</a:t>
                </a:r>
                <a:endParaRPr kumimoji="1" lang="en-US" altLang="zh-CN" sz="2400" b="0" i="1" dirty="0">
                  <a:solidFill>
                    <a:schemeClr val="accent2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65550" name="Group 38"/>
            <p:cNvGrpSpPr>
              <a:grpSpLocks/>
            </p:cNvGrpSpPr>
            <p:nvPr/>
          </p:nvGrpSpPr>
          <p:grpSpPr bwMode="auto">
            <a:xfrm>
              <a:off x="4649" y="527"/>
              <a:ext cx="489" cy="820"/>
              <a:chOff x="4608" y="572"/>
              <a:chExt cx="489" cy="820"/>
            </a:xfrm>
          </p:grpSpPr>
          <p:sp>
            <p:nvSpPr>
              <p:cNvPr id="65561" name="Line 39"/>
              <p:cNvSpPr>
                <a:spLocks noChangeShapeType="1"/>
              </p:cNvSpPr>
              <p:nvPr/>
            </p:nvSpPr>
            <p:spPr bwMode="auto">
              <a:xfrm flipV="1">
                <a:off x="4608" y="960"/>
                <a:ext cx="432" cy="432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5562" name="Object 40"/>
              <p:cNvGraphicFramePr>
                <a:graphicFrameLocks noChangeAspect="1"/>
              </p:cNvGraphicFramePr>
              <p:nvPr/>
            </p:nvGraphicFramePr>
            <p:xfrm>
              <a:off x="4761" y="572"/>
              <a:ext cx="336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994" name="公式" r:id="rId4" imgW="137268" imgH="190428" progId="Equation.3">
                      <p:embed/>
                    </p:oleObj>
                  </mc:Choice>
                  <mc:Fallback>
                    <p:oleObj name="公式" r:id="rId4" imgW="137268" imgH="19042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61" y="572"/>
                            <a:ext cx="336" cy="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hlink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5551" name="Line 42"/>
            <p:cNvSpPr>
              <a:spLocks noChangeShapeType="1"/>
            </p:cNvSpPr>
            <p:nvPr/>
          </p:nvSpPr>
          <p:spPr bwMode="auto">
            <a:xfrm flipV="1">
              <a:off x="4649" y="1312"/>
              <a:ext cx="444" cy="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52" name="Rectangle 43"/>
            <p:cNvSpPr>
              <a:spLocks noChangeArrowheads="1"/>
            </p:cNvSpPr>
            <p:nvPr/>
          </p:nvSpPr>
          <p:spPr bwMode="auto">
            <a:xfrm>
              <a:off x="5093" y="108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i="1">
                  <a:solidFill>
                    <a:schemeClr val="accent2"/>
                  </a:solidFill>
                  <a:latin typeface="Times New Roman" pitchFamily="18" charset="0"/>
                </a:rPr>
                <a:t>b</a:t>
              </a:r>
              <a:endParaRPr kumimoji="1" lang="en-US" altLang="zh-CN" b="0" i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65553" name="Rectangle 44"/>
            <p:cNvSpPr>
              <a:spLocks noChangeArrowheads="1"/>
            </p:cNvSpPr>
            <p:nvPr/>
          </p:nvSpPr>
          <p:spPr bwMode="auto">
            <a:xfrm>
              <a:off x="4421" y="113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i="1">
                  <a:solidFill>
                    <a:schemeClr val="accent2"/>
                  </a:solidFill>
                  <a:latin typeface="Times New Roman" pitchFamily="18" charset="0"/>
                </a:rPr>
                <a:t>a</a:t>
              </a:r>
              <a:endParaRPr kumimoji="1" lang="en-US" altLang="zh-CN" b="0" i="1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65554" name="Object 45"/>
            <p:cNvGraphicFramePr>
              <a:graphicFrameLocks noChangeAspect="1"/>
            </p:cNvGraphicFramePr>
            <p:nvPr/>
          </p:nvGraphicFramePr>
          <p:xfrm>
            <a:off x="4853" y="136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995" name="公式" r:id="rId6" imgW="175314" imgH="175332" progId="Equation.3">
                    <p:embed/>
                  </p:oleObj>
                </mc:Choice>
                <mc:Fallback>
                  <p:oleObj name="公式" r:id="rId6" imgW="175314" imgH="17533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3" y="136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5555" name="Group 46"/>
            <p:cNvGrpSpPr>
              <a:grpSpLocks/>
            </p:cNvGrpSpPr>
            <p:nvPr/>
          </p:nvGrpSpPr>
          <p:grpSpPr bwMode="auto">
            <a:xfrm>
              <a:off x="4085" y="1328"/>
              <a:ext cx="576" cy="432"/>
              <a:chOff x="3984" y="1440"/>
              <a:chExt cx="576" cy="432"/>
            </a:xfrm>
          </p:grpSpPr>
          <p:sp>
            <p:nvSpPr>
              <p:cNvPr id="65559" name="Line 47"/>
              <p:cNvSpPr>
                <a:spLocks noChangeShapeType="1"/>
              </p:cNvSpPr>
              <p:nvPr/>
            </p:nvSpPr>
            <p:spPr bwMode="auto">
              <a:xfrm flipH="1">
                <a:off x="4224" y="1440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5560" name="Object 48"/>
              <p:cNvGraphicFramePr>
                <a:graphicFrameLocks noChangeAspect="1"/>
              </p:cNvGraphicFramePr>
              <p:nvPr/>
            </p:nvGraphicFramePr>
            <p:xfrm>
              <a:off x="3984" y="1584"/>
              <a:ext cx="229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996" name="公式" r:id="rId8" imgW="129486" imgH="167568" progId="Equation.3">
                      <p:embed/>
                    </p:oleObj>
                  </mc:Choice>
                  <mc:Fallback>
                    <p:oleObj name="公式" r:id="rId8" imgW="129486" imgH="16756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1584"/>
                            <a:ext cx="229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7C8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CC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5556" name="Group 49"/>
            <p:cNvGrpSpPr>
              <a:grpSpLocks/>
            </p:cNvGrpSpPr>
            <p:nvPr/>
          </p:nvGrpSpPr>
          <p:grpSpPr bwMode="auto">
            <a:xfrm>
              <a:off x="4517" y="1328"/>
              <a:ext cx="278" cy="305"/>
              <a:chOff x="3264" y="1872"/>
              <a:chExt cx="240" cy="305"/>
            </a:xfrm>
          </p:grpSpPr>
          <p:sp>
            <p:nvSpPr>
              <p:cNvPr id="65557" name="Arc 50"/>
              <p:cNvSpPr>
                <a:spLocks/>
              </p:cNvSpPr>
              <p:nvPr/>
            </p:nvSpPr>
            <p:spPr bwMode="auto">
              <a:xfrm flipV="1">
                <a:off x="3312" y="1872"/>
                <a:ext cx="192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558" name="Rectangle 51"/>
              <p:cNvSpPr>
                <a:spLocks noChangeArrowheads="1"/>
              </p:cNvSpPr>
              <p:nvPr/>
            </p:nvSpPr>
            <p:spPr bwMode="auto">
              <a:xfrm>
                <a:off x="3264" y="1889"/>
                <a:ext cx="18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2400" i="1">
                    <a:solidFill>
                      <a:schemeClr val="accent2"/>
                    </a:solidFill>
                    <a:latin typeface="Times New Roman" pitchFamily="18" charset="0"/>
                    <a:sym typeface="Symbol" pitchFamily="18" charset="2"/>
                  </a:rPr>
                  <a:t></a:t>
                </a:r>
              </a:p>
            </p:txBody>
          </p:sp>
        </p:grpSp>
      </p:grpSp>
      <p:graphicFrame>
        <p:nvGraphicFramePr>
          <p:cNvPr id="1194036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572837"/>
              </p:ext>
            </p:extLst>
          </p:nvPr>
        </p:nvGraphicFramePr>
        <p:xfrm>
          <a:off x="1035050" y="2540000"/>
          <a:ext cx="534987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97" name="Equation" r:id="rId10" imgW="2184120" imgH="279360" progId="Equation.DSMT4">
                  <p:embed/>
                </p:oleObj>
              </mc:Choice>
              <mc:Fallback>
                <p:oleObj name="Equation" r:id="rId10" imgW="2184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2540000"/>
                        <a:ext cx="534987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403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298245"/>
              </p:ext>
            </p:extLst>
          </p:nvPr>
        </p:nvGraphicFramePr>
        <p:xfrm>
          <a:off x="911225" y="3455988"/>
          <a:ext cx="300196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98" name="Equation" r:id="rId12" imgW="1066680" imgH="203040" progId="Equation.DSMT4">
                  <p:embed/>
                </p:oleObj>
              </mc:Choice>
              <mc:Fallback>
                <p:oleObj name="Equation" r:id="rId12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3455988"/>
                        <a:ext cx="3001963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4038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329868"/>
              </p:ext>
            </p:extLst>
          </p:nvPr>
        </p:nvGraphicFramePr>
        <p:xfrm>
          <a:off x="877888" y="4035425"/>
          <a:ext cx="34290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99" name="Equation" r:id="rId14" imgW="1257120" imgH="393480" progId="Equation.DSMT4">
                  <p:embed/>
                </p:oleObj>
              </mc:Choice>
              <mc:Fallback>
                <p:oleObj name="Equation" r:id="rId14" imgW="1257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035425"/>
                        <a:ext cx="342900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4040" name="Text Box 56"/>
          <p:cNvSpPr txBox="1">
            <a:spLocks noChangeArrowheads="1"/>
          </p:cNvSpPr>
          <p:nvPr/>
        </p:nvSpPr>
        <p:spPr bwMode="auto">
          <a:xfrm>
            <a:off x="250825" y="5229225"/>
            <a:ext cx="842486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结论</a:t>
            </a:r>
            <a:r>
              <a:rPr kumimoji="1"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：</a:t>
            </a:r>
            <a:r>
              <a:rPr kumimoji="1" lang="zh-CN" altLang="en-US" sz="2400" b="1" dirty="0" smtClean="0">
                <a:latin typeface="Times New Roman" pitchFamily="18" charset="0"/>
              </a:rPr>
              <a:t>电场强度在任</a:t>
            </a:r>
            <a:r>
              <a:rPr kumimoji="1" lang="zh-CN" altLang="en-US" sz="2400" b="1" dirty="0">
                <a:latin typeface="Times New Roman" pitchFamily="18" charset="0"/>
              </a:rPr>
              <a:t>一方向的分量</a:t>
            </a:r>
            <a:r>
              <a:rPr kumimoji="1" lang="zh-CN" altLang="en-US" sz="2400" b="1" dirty="0" smtClean="0">
                <a:latin typeface="Times New Roman" pitchFamily="18" charset="0"/>
              </a:rPr>
              <a:t>等于该方向电势变化</a:t>
            </a:r>
            <a:r>
              <a:rPr kumimoji="1" lang="zh-CN" altLang="en-US" sz="2400" b="1" dirty="0">
                <a:latin typeface="Times New Roman" pitchFamily="18" charset="0"/>
              </a:rPr>
              <a:t>率</a:t>
            </a:r>
            <a:r>
              <a:rPr kumimoji="1" lang="zh-CN" altLang="en-US" sz="2400" b="1" dirty="0" smtClean="0">
                <a:latin typeface="Times New Roman" pitchFamily="18" charset="0"/>
              </a:rPr>
              <a:t>的</a:t>
            </a:r>
            <a:r>
              <a:rPr kumimoji="1" lang="zh-CN" altLang="en-US" sz="2400" b="1" dirty="0">
                <a:latin typeface="Times New Roman" pitchFamily="18" charset="0"/>
              </a:rPr>
              <a:t>负值。</a:t>
            </a:r>
          </a:p>
        </p:txBody>
      </p:sp>
      <p:graphicFrame>
        <p:nvGraphicFramePr>
          <p:cNvPr id="1194041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90150"/>
              </p:ext>
            </p:extLst>
          </p:nvPr>
        </p:nvGraphicFramePr>
        <p:xfrm>
          <a:off x="5110163" y="4037013"/>
          <a:ext cx="1874837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00" name="Equation" r:id="rId16" imgW="685800" imgH="393480" progId="Equation.DSMT4">
                  <p:embed/>
                </p:oleObj>
              </mc:Choice>
              <mc:Fallback>
                <p:oleObj name="Equation" r:id="rId16" imgW="685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4037013"/>
                        <a:ext cx="1874837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323850" y="765175"/>
            <a:ext cx="5832475" cy="1800226"/>
            <a:chOff x="204" y="482"/>
            <a:chExt cx="3674" cy="1134"/>
          </a:xfrm>
        </p:grpSpPr>
        <p:sp>
          <p:nvSpPr>
            <p:cNvPr id="65547" name="Text Box 59"/>
            <p:cNvSpPr txBox="1">
              <a:spLocks noChangeArrowheads="1"/>
            </p:cNvSpPr>
            <p:nvPr/>
          </p:nvSpPr>
          <p:spPr bwMode="auto">
            <a:xfrm>
              <a:off x="204" y="482"/>
              <a:ext cx="3674" cy="1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dirty="0">
                  <a:latin typeface="Times New Roman" pitchFamily="18" charset="0"/>
                </a:rPr>
                <a:t>    </a:t>
              </a:r>
              <a:r>
                <a:rPr lang="zh-CN" altLang="en-US" dirty="0">
                  <a:latin typeface="Times New Roman" pitchFamily="18" charset="0"/>
                </a:rPr>
                <a:t>电势分别</a:t>
              </a:r>
              <a:r>
                <a:rPr lang="zh-CN" altLang="en-US" dirty="0" smtClean="0">
                  <a:latin typeface="Times New Roman" pitchFamily="18" charset="0"/>
                </a:rPr>
                <a:t>为</a:t>
              </a:r>
              <a:r>
                <a:rPr lang="en-US" altLang="zh-CN" i="1" dirty="0" smtClean="0">
                  <a:latin typeface="Times New Roman" pitchFamily="18" charset="0"/>
                </a:rPr>
                <a:t>V</a:t>
              </a:r>
              <a:r>
                <a:rPr lang="zh-CN" altLang="en-US" dirty="0" smtClean="0">
                  <a:latin typeface="Times New Roman" pitchFamily="18" charset="0"/>
                </a:rPr>
                <a:t>和</a:t>
              </a:r>
              <a:r>
                <a:rPr lang="en-US" altLang="zh-CN" i="1" dirty="0" err="1" smtClean="0">
                  <a:latin typeface="Times New Roman" pitchFamily="18" charset="0"/>
                </a:rPr>
                <a:t>V</a:t>
              </a:r>
              <a:r>
                <a:rPr lang="en-US" altLang="zh-CN" dirty="0" err="1" smtClean="0">
                  <a:latin typeface="Times New Roman" pitchFamily="18" charset="0"/>
                </a:rPr>
                <a:t>+d</a:t>
              </a:r>
              <a:r>
                <a:rPr lang="en-US" altLang="zh-CN" i="1" dirty="0" err="1" smtClean="0">
                  <a:latin typeface="Times New Roman" pitchFamily="18" charset="0"/>
                </a:rPr>
                <a:t>V</a:t>
              </a:r>
              <a:r>
                <a:rPr lang="zh-CN" altLang="en-US" dirty="0" smtClean="0">
                  <a:latin typeface="Times New Roman" pitchFamily="18" charset="0"/>
                </a:rPr>
                <a:t>的</a:t>
              </a:r>
              <a:r>
                <a:rPr lang="zh-CN" altLang="en-US" dirty="0">
                  <a:latin typeface="Times New Roman" pitchFamily="18" charset="0"/>
                </a:rPr>
                <a:t>邻近等势面，    为等势面</a:t>
              </a:r>
              <a:r>
                <a:rPr lang="zh-CN" altLang="en-US" dirty="0" smtClean="0">
                  <a:latin typeface="Times New Roman" pitchFamily="18" charset="0"/>
                </a:rPr>
                <a:t>法线方向</a:t>
              </a:r>
              <a:r>
                <a:rPr lang="zh-CN" altLang="en-US" dirty="0">
                  <a:latin typeface="Times New Roman" pitchFamily="18" charset="0"/>
                </a:rPr>
                <a:t>且指向电势升高的方向，如有正的试验电荷从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zh-CN" altLang="en-US" dirty="0">
                  <a:latin typeface="Times New Roman" pitchFamily="18" charset="0"/>
                </a:rPr>
                <a:t>点移到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zh-CN" altLang="en-US" dirty="0">
                  <a:latin typeface="Times New Roman" pitchFamily="18" charset="0"/>
                </a:rPr>
                <a:t>点，则电场力做功：</a:t>
              </a:r>
              <a:endParaRPr kumimoji="1" lang="zh-CN" altLang="en-US" dirty="0">
                <a:latin typeface="Times New Roman" pitchFamily="18" charset="0"/>
              </a:endParaRPr>
            </a:p>
          </p:txBody>
        </p:sp>
        <p:graphicFrame>
          <p:nvGraphicFramePr>
            <p:cNvPr id="65548" name="Object 62"/>
            <p:cNvGraphicFramePr>
              <a:graphicFrameLocks noChangeAspect="1"/>
            </p:cNvGraphicFramePr>
            <p:nvPr/>
          </p:nvGraphicFramePr>
          <p:xfrm>
            <a:off x="629" y="709"/>
            <a:ext cx="301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001" name="公式" r:id="rId18" imgW="137268" imgH="190428" progId="Equation.3">
                    <p:embed/>
                  </p:oleObj>
                </mc:Choice>
                <mc:Fallback>
                  <p:oleObj name="公式" r:id="rId18" imgW="137268" imgH="19042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" y="709"/>
                          <a:ext cx="301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/>
          <p:cNvSpPr txBox="1"/>
          <p:nvPr/>
        </p:nvSpPr>
        <p:spPr>
          <a:xfrm>
            <a:off x="7048103" y="1258372"/>
            <a:ext cx="43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dn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238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119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19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19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9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19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404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2" name="Group 20"/>
          <p:cNvGrpSpPr>
            <a:grpSpLocks/>
          </p:cNvGrpSpPr>
          <p:nvPr/>
        </p:nvGrpSpPr>
        <p:grpSpPr bwMode="auto">
          <a:xfrm>
            <a:off x="971600" y="221456"/>
            <a:ext cx="6640512" cy="974726"/>
            <a:chOff x="557" y="233"/>
            <a:chExt cx="4183" cy="614"/>
          </a:xfrm>
        </p:grpSpPr>
        <p:sp>
          <p:nvSpPr>
            <p:cNvPr id="1195019" name="Text Box 11"/>
            <p:cNvSpPr txBox="1">
              <a:spLocks noChangeArrowheads="1"/>
            </p:cNvSpPr>
            <p:nvPr/>
          </p:nvSpPr>
          <p:spPr bwMode="auto">
            <a:xfrm>
              <a:off x="1202" y="346"/>
              <a:ext cx="272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宋体" pitchFamily="2" charset="-122"/>
                </a:rPr>
                <a:t>称电势梯度矢量，记为</a:t>
              </a:r>
              <a:endParaRPr kumimoji="1" lang="zh-CN" altLang="en-US" sz="2400" b="1" dirty="0">
                <a:latin typeface="宋体" pitchFamily="2" charset="-122"/>
              </a:endParaRPr>
            </a:p>
          </p:txBody>
        </p:sp>
        <p:graphicFrame>
          <p:nvGraphicFramePr>
            <p:cNvPr id="6657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9651858"/>
                </p:ext>
              </p:extLst>
            </p:nvPr>
          </p:nvGraphicFramePr>
          <p:xfrm>
            <a:off x="557" y="233"/>
            <a:ext cx="610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43" name="Equation" r:id="rId4" imgW="393480" imgH="393480" progId="Equation.DSMT4">
                    <p:embed/>
                  </p:oleObj>
                </mc:Choice>
                <mc:Fallback>
                  <p:oleObj name="Equation" r:id="rId4" imgW="39348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233"/>
                          <a:ext cx="610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4416505"/>
                </p:ext>
              </p:extLst>
            </p:nvPr>
          </p:nvGraphicFramePr>
          <p:xfrm>
            <a:off x="3515" y="370"/>
            <a:ext cx="122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44" name="Equation" r:id="rId6" imgW="838080" imgH="215640" progId="Equation.DSMT4">
                    <p:embed/>
                  </p:oleObj>
                </mc:Choice>
                <mc:Fallback>
                  <p:oleObj name="Equation" r:id="rId6" imgW="8380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70"/>
                          <a:ext cx="1225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95022" name="Text Box 14"/>
          <p:cNvSpPr txBox="1">
            <a:spLocks noChangeArrowheads="1"/>
          </p:cNvSpPr>
          <p:nvPr/>
        </p:nvSpPr>
        <p:spPr bwMode="auto">
          <a:xfrm>
            <a:off x="250823" y="1074170"/>
            <a:ext cx="842486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CC"/>
                </a:solidFill>
                <a:latin typeface="Times New Roman" pitchFamily="18" charset="0"/>
              </a:rPr>
              <a:t>    </a:t>
            </a:r>
            <a:r>
              <a:rPr kumimoji="1" lang="zh-CN" altLang="en-US" dirty="0" smtClean="0">
                <a:solidFill>
                  <a:srgbClr val="0000CC"/>
                </a:solidFill>
                <a:latin typeface="Times New Roman" pitchFamily="18" charset="0"/>
              </a:rPr>
              <a:t>电场中某点的电势梯度矢量，在方向上与电势在该点处空间变化率最大的方向相同，和</a:t>
            </a:r>
            <a:r>
              <a:rPr kumimoji="1" lang="en-US" altLang="zh-CN" dirty="0" smtClean="0">
                <a:solidFill>
                  <a:srgbClr val="0000CC"/>
                </a:solidFill>
                <a:latin typeface="Times New Roman" pitchFamily="18" charset="0"/>
              </a:rPr>
              <a:t>E</a:t>
            </a:r>
            <a:r>
              <a:rPr kumimoji="1" lang="zh-CN" altLang="en-US" dirty="0" smtClean="0">
                <a:solidFill>
                  <a:srgbClr val="0000CC"/>
                </a:solidFill>
                <a:latin typeface="Times New Roman" pitchFamily="18" charset="0"/>
              </a:rPr>
              <a:t>反向，大小等于该方向上的电势空间变化率。</a:t>
            </a:r>
            <a:endParaRPr kumimoji="1" lang="zh-CN" altLang="en-US" dirty="0">
              <a:solidFill>
                <a:srgbClr val="0000CC"/>
              </a:solidFill>
              <a:latin typeface="Times New Roman" pitchFamily="18" charset="0"/>
            </a:endParaRPr>
          </a:p>
        </p:txBody>
      </p:sp>
      <p:graphicFrame>
        <p:nvGraphicFramePr>
          <p:cNvPr id="11950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035360"/>
              </p:ext>
            </p:extLst>
          </p:nvPr>
        </p:nvGraphicFramePr>
        <p:xfrm>
          <a:off x="1078706" y="2659220"/>
          <a:ext cx="338455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45" name="Equation" r:id="rId8" imgW="1257120" imgH="228600" progId="Equation.DSMT4">
                  <p:embed/>
                </p:oleObj>
              </mc:Choice>
              <mc:Fallback>
                <p:oleObj name="Equation" r:id="rId8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706" y="2659220"/>
                        <a:ext cx="3384550" cy="668337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000000"/>
                                </a:gs>
                                <a:gs pos="20000">
                                  <a:srgbClr val="000040"/>
                                </a:gs>
                                <a:gs pos="50000">
                                  <a:srgbClr val="400040"/>
                                </a:gs>
                                <a:gs pos="75000">
                                  <a:srgbClr val="8F0040"/>
                                </a:gs>
                                <a:gs pos="89999">
                                  <a:srgbClr val="F27300"/>
                                </a:gs>
                                <a:gs pos="100000">
                                  <a:srgbClr val="FFBF00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69937" y="3259385"/>
            <a:ext cx="7451725" cy="1116013"/>
            <a:chOff x="384" y="2429"/>
            <a:chExt cx="4694" cy="703"/>
          </a:xfrm>
        </p:grpSpPr>
        <p:sp>
          <p:nvSpPr>
            <p:cNvPr id="1195025" name="Text Box 17"/>
            <p:cNvSpPr txBox="1">
              <a:spLocks noChangeArrowheads="1"/>
            </p:cNvSpPr>
            <p:nvPr/>
          </p:nvSpPr>
          <p:spPr bwMode="auto">
            <a:xfrm>
              <a:off x="384" y="2592"/>
              <a:ext cx="134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矢量式：</a:t>
              </a:r>
              <a:endParaRPr kumimoji="1" lang="zh-CN" altLang="en-US" sz="2400" b="0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6656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9850278"/>
                </p:ext>
              </p:extLst>
            </p:nvPr>
          </p:nvGraphicFramePr>
          <p:xfrm>
            <a:off x="1546" y="2429"/>
            <a:ext cx="3532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746" name="Equation" r:id="rId10" imgW="2197080" imgH="419040" progId="Equation.DSMT4">
                    <p:embed/>
                  </p:oleObj>
                </mc:Choice>
                <mc:Fallback>
                  <p:oleObj name="Equation" r:id="rId10" imgW="219708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6" y="2429"/>
                          <a:ext cx="3532" cy="7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950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726786"/>
              </p:ext>
            </p:extLst>
          </p:nvPr>
        </p:nvGraphicFramePr>
        <p:xfrm>
          <a:off x="585787" y="4725144"/>
          <a:ext cx="7754937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47" name="Equation" r:id="rId12" imgW="2831760" imgH="419040" progId="Equation.DSMT4">
                  <p:embed/>
                </p:oleObj>
              </mc:Choice>
              <mc:Fallback>
                <p:oleObj name="Equation" r:id="rId12" imgW="28317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" y="4725144"/>
                        <a:ext cx="7754937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9937" y="6151735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在直角坐标系中，电势是空间坐标的函数</a:t>
            </a:r>
            <a:r>
              <a:rPr lang="en-US" altLang="zh-CN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V(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x,y,z</a:t>
            </a:r>
            <a:r>
              <a:rPr lang="en-US" altLang="zh-CN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400" b="1" dirty="0" smtClean="0">
                <a:solidFill>
                  <a:srgbClr val="0000CC"/>
                </a:solidFill>
                <a:latin typeface="黑体" pitchFamily="49" charset="-122"/>
                <a:ea typeface="黑体" pitchFamily="49" charset="-122"/>
              </a:rPr>
              <a:t>。</a:t>
            </a:r>
            <a:endParaRPr lang="zh-CN" altLang="en-US" sz="2400" b="1" dirty="0">
              <a:solidFill>
                <a:srgbClr val="0000CC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6995" y="2397610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SI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单位：伏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/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米  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V/m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88024" y="2859275"/>
            <a:ext cx="316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电场强度</a:t>
            </a:r>
            <a:r>
              <a:rPr lang="zh-CN" altLang="en-US" sz="20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也常用这一单位。</a:t>
            </a:r>
          </a:p>
        </p:txBody>
      </p:sp>
    </p:spTree>
    <p:extLst>
      <p:ext uri="{BB962C8B-B14F-4D97-AF65-F5344CB8AC3E}">
        <p14:creationId xmlns:p14="http://schemas.microsoft.com/office/powerpoint/2010/main" val="300652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19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19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19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502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1484784"/>
            <a:ext cx="73448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在静电场中，有关静电场的电场强度与电势之间的关系，下列说法中正确的是：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A.</a:t>
            </a:r>
            <a:r>
              <a:rPr lang="zh-CN" altLang="en-US" sz="2800" b="1" dirty="0" smtClean="0"/>
              <a:t>场强</a:t>
            </a:r>
            <a:r>
              <a:rPr lang="zh-CN" altLang="en-US" sz="2800" b="1" dirty="0"/>
              <a:t>大的地方电势一定高。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B. </a:t>
            </a:r>
            <a:r>
              <a:rPr lang="zh-CN" altLang="en-US" sz="2800" b="1" dirty="0"/>
              <a:t>场强相等的各点电势一定相等。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C. </a:t>
            </a:r>
            <a:r>
              <a:rPr lang="zh-CN" altLang="en-US" sz="2800" b="1" dirty="0"/>
              <a:t>场强为零的点电势必定是零。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D. </a:t>
            </a:r>
            <a:r>
              <a:rPr lang="zh-CN" altLang="en-US" sz="2800" b="1" dirty="0"/>
              <a:t>场强为零的点电势不一定为零。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62068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CC"/>
                </a:solidFill>
              </a:rPr>
              <a:t>单项选择题：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43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67544" y="635000"/>
            <a:ext cx="842493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在静电场中，有关静电场的电场强度与电势之间的关系，下列说法中正确的是：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场强大的地方电势一定</a:t>
            </a:r>
            <a:r>
              <a:rPr lang="zh-CN" altLang="en-US" sz="2400" b="1" dirty="0" smtClean="0"/>
              <a:t>高</a:t>
            </a:r>
            <a:endParaRPr lang="zh-CN" altLang="en-US" sz="2400" b="1" dirty="0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场强相等的各点电势一定相等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场强为零的点电势必定是零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场强为零的点电势不一定为零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16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1521768"/>
            <a:ext cx="8172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在均匀电场中各点，下列诸物理量中：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(1) </a:t>
            </a:r>
            <a:r>
              <a:rPr lang="zh-CN" altLang="zh-CN" sz="2800" b="1" dirty="0"/>
              <a:t>电场强度、</a:t>
            </a:r>
            <a:r>
              <a:rPr lang="en-US" altLang="zh-CN" sz="2800" b="1" dirty="0"/>
              <a:t>(2) </a:t>
            </a:r>
            <a:r>
              <a:rPr lang="zh-CN" altLang="zh-CN" sz="2800" b="1" dirty="0"/>
              <a:t>电势、</a:t>
            </a:r>
            <a:r>
              <a:rPr lang="en-US" altLang="zh-CN" sz="2800" b="1" dirty="0"/>
              <a:t>(3) </a:t>
            </a:r>
            <a:r>
              <a:rPr lang="zh-CN" altLang="zh-CN" sz="2800" b="1" dirty="0"/>
              <a:t>电势梯度，哪是相等的</a:t>
            </a:r>
            <a:r>
              <a:rPr lang="en-US" altLang="zh-CN" sz="2800" b="1" dirty="0"/>
              <a:t>? </a:t>
            </a:r>
            <a:endParaRPr lang="zh-CN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A.</a:t>
            </a:r>
            <a:r>
              <a:rPr lang="zh-CN" altLang="zh-CN" sz="2800" b="1" dirty="0"/>
              <a:t>只有</a:t>
            </a:r>
            <a:r>
              <a:rPr lang="en-US" altLang="zh-CN" sz="2800" b="1" dirty="0"/>
              <a:t>  (1) </a:t>
            </a:r>
            <a:r>
              <a:rPr lang="zh-CN" altLang="zh-CN" sz="2800" b="1" dirty="0"/>
              <a:t>相等。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B.(1)</a:t>
            </a:r>
            <a:r>
              <a:rPr lang="zh-CN" altLang="zh-CN" sz="2800" b="1" dirty="0"/>
              <a:t>、</a:t>
            </a:r>
            <a:r>
              <a:rPr lang="en-US" altLang="zh-CN" sz="2800" b="1" dirty="0"/>
              <a:t>(3) </a:t>
            </a:r>
            <a:r>
              <a:rPr lang="zh-CN" altLang="zh-CN" sz="2800" b="1" dirty="0"/>
              <a:t>相等。</a:t>
            </a:r>
            <a:r>
              <a:rPr lang="en-US" altLang="zh-CN" sz="2800" b="1" dirty="0"/>
              <a:t>     </a:t>
            </a:r>
            <a:endParaRPr lang="zh-CN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C.(1)</a:t>
            </a:r>
            <a:r>
              <a:rPr lang="zh-CN" altLang="zh-CN" sz="2800" b="1" dirty="0"/>
              <a:t>、</a:t>
            </a:r>
            <a:r>
              <a:rPr lang="en-US" altLang="zh-CN" sz="2800" b="1" dirty="0"/>
              <a:t>(2) </a:t>
            </a:r>
            <a:r>
              <a:rPr lang="zh-CN" altLang="zh-CN" sz="2800" b="1" dirty="0"/>
              <a:t>相等。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D.(2)</a:t>
            </a:r>
            <a:r>
              <a:rPr lang="zh-CN" altLang="zh-CN" sz="2800" b="1" dirty="0"/>
              <a:t>、</a:t>
            </a:r>
            <a:r>
              <a:rPr lang="en-US" altLang="zh-CN" sz="2800" b="1" dirty="0"/>
              <a:t>(3) </a:t>
            </a:r>
            <a:r>
              <a:rPr lang="zh-CN" altLang="zh-CN" sz="2800" b="1" dirty="0"/>
              <a:t>相等</a:t>
            </a:r>
            <a:r>
              <a:rPr lang="zh-CN" altLang="zh-CN" sz="2800" b="1" dirty="0" smtClean="0"/>
              <a:t>。</a:t>
            </a:r>
            <a:endParaRPr lang="zh-CN" altLang="zh-C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62068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CC"/>
                </a:solidFill>
              </a:rPr>
              <a:t>单项选择题：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82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863848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在均匀电场中各点，下列诸物理量中：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(1) </a:t>
            </a:r>
            <a:r>
              <a:rPr lang="zh-CN" altLang="zh-CN" sz="2800" b="1" dirty="0"/>
              <a:t>电场强度、</a:t>
            </a:r>
            <a:r>
              <a:rPr lang="en-US" altLang="zh-CN" sz="2800" b="1" dirty="0"/>
              <a:t>(2) </a:t>
            </a:r>
            <a:r>
              <a:rPr lang="zh-CN" altLang="zh-CN" sz="2800" b="1" dirty="0"/>
              <a:t>电势、</a:t>
            </a:r>
            <a:r>
              <a:rPr lang="en-US" altLang="zh-CN" sz="2800" b="1" dirty="0"/>
              <a:t>(3) </a:t>
            </a:r>
            <a:r>
              <a:rPr lang="zh-CN" altLang="zh-CN" sz="2800" b="1" dirty="0"/>
              <a:t>电势梯度，哪是相等的</a:t>
            </a:r>
            <a:r>
              <a:rPr lang="en-US" altLang="zh-CN" sz="2800" b="1" dirty="0"/>
              <a:t>? </a:t>
            </a:r>
            <a:endParaRPr lang="zh-CN" altLang="zh-CN" sz="2800" b="1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只有</a:t>
            </a:r>
            <a:r>
              <a:rPr lang="en-US" altLang="zh-CN" sz="2400" b="1" dirty="0"/>
              <a:t>  (1) </a:t>
            </a:r>
            <a:r>
              <a:rPr lang="zh-CN" altLang="zh-CN" sz="2400" b="1" dirty="0"/>
              <a:t>相等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 smtClean="0"/>
              <a:t>(</a:t>
            </a:r>
            <a:r>
              <a:rPr lang="en-US" altLang="zh-CN" sz="2400" b="1" dirty="0"/>
              <a:t>1)</a:t>
            </a:r>
            <a:r>
              <a:rPr lang="zh-CN" altLang="zh-CN" sz="2400" b="1" dirty="0"/>
              <a:t>、</a:t>
            </a:r>
            <a:r>
              <a:rPr lang="en-US" altLang="zh-CN" sz="2400" b="1" dirty="0"/>
              <a:t>(3) </a:t>
            </a:r>
            <a:r>
              <a:rPr lang="zh-CN" altLang="zh-CN" sz="2400" b="1" dirty="0"/>
              <a:t>相等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 smtClean="0"/>
              <a:t>(</a:t>
            </a:r>
            <a:r>
              <a:rPr lang="en-US" altLang="zh-CN" sz="2400" b="1" dirty="0"/>
              <a:t>1)</a:t>
            </a:r>
            <a:r>
              <a:rPr lang="zh-CN" altLang="zh-CN" sz="2400" b="1" dirty="0"/>
              <a:t>、</a:t>
            </a:r>
            <a:r>
              <a:rPr lang="en-US" altLang="zh-CN" sz="2400" b="1" dirty="0"/>
              <a:t>(2) </a:t>
            </a:r>
            <a:r>
              <a:rPr lang="zh-CN" altLang="zh-CN" sz="2400" b="1" dirty="0"/>
              <a:t>相等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 smtClean="0"/>
              <a:t>(</a:t>
            </a:r>
            <a:r>
              <a:rPr lang="en-US" altLang="zh-CN" sz="2400" b="1" dirty="0"/>
              <a:t>2)</a:t>
            </a:r>
            <a:r>
              <a:rPr lang="zh-CN" altLang="zh-CN" sz="2400" b="1" dirty="0"/>
              <a:t>、</a:t>
            </a:r>
            <a:r>
              <a:rPr lang="en-US" altLang="zh-CN" sz="2400" b="1" dirty="0"/>
              <a:t>(3) </a:t>
            </a:r>
            <a:r>
              <a:rPr lang="zh-CN" altLang="zh-CN" sz="2400" b="1" dirty="0"/>
              <a:t>相等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362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734" y="1412776"/>
            <a:ext cx="72728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在用电场线形象描述静电场的表述中，电场线方向就是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A.</a:t>
            </a:r>
            <a:r>
              <a:rPr lang="zh-CN" altLang="zh-CN" sz="2800" b="1" dirty="0"/>
              <a:t>电势能减小的方向。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B.</a:t>
            </a:r>
            <a:r>
              <a:rPr lang="zh-CN" altLang="zh-CN" sz="2800" b="1" dirty="0"/>
              <a:t>正电荷在电场中的运动方向。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C.</a:t>
            </a:r>
            <a:r>
              <a:rPr lang="zh-CN" altLang="zh-CN" sz="2800" b="1" dirty="0"/>
              <a:t>负电荷在电场中的运动方向。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D.</a:t>
            </a:r>
            <a:r>
              <a:rPr lang="zh-CN" altLang="zh-CN" sz="2800" b="1" dirty="0"/>
              <a:t>电势减小最快的方向</a:t>
            </a:r>
            <a:r>
              <a:rPr lang="zh-CN" altLang="zh-CN" sz="2800" b="1" dirty="0" smtClean="0"/>
              <a:t>。</a:t>
            </a:r>
            <a:endParaRPr lang="zh-CN" altLang="zh-C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62068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CC"/>
                </a:solidFill>
              </a:rPr>
              <a:t>单项选择题：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9552" y="635000"/>
            <a:ext cx="8208912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dirty="0"/>
              <a:t>在用电场线形象描述静电场的表述中，电场线方向就是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电势能减小的方向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正电荷在电场中的运动方向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负电荷在电场中的运动方向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电势减小最快的方向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790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D7622062-A2CC-4587-82AD-6A743B2670F3}" type="datetime1">
              <a:rPr lang="zh-CN" altLang="en-US" sz="1400" b="0" smtClean="0">
                <a:solidFill>
                  <a:schemeClr val="bg2"/>
                </a:solidFill>
              </a:rPr>
              <a:pPr/>
              <a:t>2021/4/19</a:t>
            </a:fld>
            <a:endParaRPr lang="en-US" altLang="zh-CN" sz="1400" b="0" smtClean="0">
              <a:solidFill>
                <a:schemeClr val="bg2"/>
              </a:solidFill>
            </a:endParaRP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611188" y="1196975"/>
            <a:ext cx="4524375" cy="1109663"/>
            <a:chOff x="385" y="790"/>
            <a:chExt cx="2850" cy="699"/>
          </a:xfrm>
        </p:grpSpPr>
        <p:sp>
          <p:nvSpPr>
            <p:cNvPr id="67610" name="Text Box 57"/>
            <p:cNvSpPr txBox="1">
              <a:spLocks noChangeArrowheads="1"/>
            </p:cNvSpPr>
            <p:nvPr/>
          </p:nvSpPr>
          <p:spPr bwMode="auto">
            <a:xfrm>
              <a:off x="793" y="799"/>
              <a:ext cx="2442" cy="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35000"/>
                </a:spcBef>
              </a:pPr>
              <a:r>
                <a:rPr kumimoji="1" lang="zh-CN" altLang="en-US" dirty="0">
                  <a:latin typeface="宋体" pitchFamily="2" charset="-122"/>
                </a:rPr>
                <a:t>在圆环上取点电荷   </a:t>
              </a:r>
              <a:r>
                <a:rPr kumimoji="1" lang="en-US" altLang="zh-CN" dirty="0">
                  <a:latin typeface="宋体" pitchFamily="2" charset="-122"/>
                </a:rPr>
                <a:t>,</a:t>
              </a:r>
            </a:p>
            <a:p>
              <a:pPr eaLnBrk="1" hangingPunct="1">
                <a:spcBef>
                  <a:spcPct val="35000"/>
                </a:spcBef>
              </a:pPr>
              <a:r>
                <a:rPr kumimoji="1" lang="zh-CN" altLang="en-US" dirty="0">
                  <a:latin typeface="宋体" pitchFamily="2" charset="-122"/>
                </a:rPr>
                <a:t>令</a:t>
              </a:r>
            </a:p>
          </p:txBody>
        </p:sp>
        <p:graphicFrame>
          <p:nvGraphicFramePr>
            <p:cNvPr id="67611" name="Object 58"/>
            <p:cNvGraphicFramePr>
              <a:graphicFrameLocks noChangeAspect="1"/>
            </p:cNvGraphicFramePr>
            <p:nvPr/>
          </p:nvGraphicFramePr>
          <p:xfrm>
            <a:off x="2632" y="845"/>
            <a:ext cx="384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96" name="公式" r:id="rId4" imgW="203024" imgH="203024" progId="Equation.3">
                    <p:embed/>
                  </p:oleObj>
                </mc:Choice>
                <mc:Fallback>
                  <p:oleObj name="公式" r:id="rId4" imgW="203024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2" y="845"/>
                          <a:ext cx="384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612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3875739"/>
                </p:ext>
              </p:extLst>
            </p:nvPr>
          </p:nvGraphicFramePr>
          <p:xfrm>
            <a:off x="1202" y="1213"/>
            <a:ext cx="5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97" name="Equation" r:id="rId6" imgW="431640" imgH="228600" progId="Equation.DSMT4">
                    <p:embed/>
                  </p:oleObj>
                </mc:Choice>
                <mc:Fallback>
                  <p:oleObj name="Equation" r:id="rId6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1213"/>
                          <a:ext cx="5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613" name="Text Box 60"/>
            <p:cNvSpPr txBox="1">
              <a:spLocks noChangeArrowheads="1"/>
            </p:cNvSpPr>
            <p:nvPr/>
          </p:nvSpPr>
          <p:spPr bwMode="auto">
            <a:xfrm>
              <a:off x="385" y="790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35000"/>
                </a:spcBef>
              </a:pPr>
              <a:r>
                <a:rPr kumimoji="1" lang="zh-CN" altLang="en-US">
                  <a:solidFill>
                    <a:srgbClr val="0000CC"/>
                  </a:solidFill>
                  <a:latin typeface="宋体" pitchFamily="2" charset="-122"/>
                </a:rPr>
                <a:t>解：</a:t>
              </a:r>
            </a:p>
          </p:txBody>
        </p:sp>
      </p:grpSp>
      <p:grpSp>
        <p:nvGrpSpPr>
          <p:cNvPr id="67588" name="Group 81"/>
          <p:cNvGrpSpPr>
            <a:grpSpLocks/>
          </p:cNvGrpSpPr>
          <p:nvPr/>
        </p:nvGrpSpPr>
        <p:grpSpPr bwMode="auto">
          <a:xfrm>
            <a:off x="5246688" y="1341438"/>
            <a:ext cx="3232150" cy="1981200"/>
            <a:chOff x="3305" y="1097"/>
            <a:chExt cx="2036" cy="1248"/>
          </a:xfrm>
        </p:grpSpPr>
        <p:sp>
          <p:nvSpPr>
            <p:cNvPr id="67598" name="Line 61"/>
            <p:cNvSpPr>
              <a:spLocks noChangeShapeType="1"/>
            </p:cNvSpPr>
            <p:nvPr/>
          </p:nvSpPr>
          <p:spPr bwMode="auto">
            <a:xfrm>
              <a:off x="3545" y="1721"/>
              <a:ext cx="1776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9" name="Line 62"/>
            <p:cNvSpPr>
              <a:spLocks noChangeShapeType="1"/>
            </p:cNvSpPr>
            <p:nvPr/>
          </p:nvSpPr>
          <p:spPr bwMode="auto">
            <a:xfrm flipV="1">
              <a:off x="3545" y="1193"/>
              <a:ext cx="0" cy="52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0" name="AutoShape 63"/>
            <p:cNvSpPr>
              <a:spLocks noChangeArrowheads="1"/>
            </p:cNvSpPr>
            <p:nvPr/>
          </p:nvSpPr>
          <p:spPr bwMode="auto">
            <a:xfrm>
              <a:off x="3305" y="1097"/>
              <a:ext cx="480" cy="12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67 h 21600"/>
                <a:gd name="T26" fmla="*/ 18450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388" y="10800"/>
                  </a:moveTo>
                  <a:cubicBezTo>
                    <a:pt x="1388" y="15998"/>
                    <a:pt x="5602" y="20212"/>
                    <a:pt x="10800" y="20212"/>
                  </a:cubicBezTo>
                  <a:cubicBezTo>
                    <a:pt x="15998" y="20212"/>
                    <a:pt x="20212" y="15998"/>
                    <a:pt x="20212" y="10800"/>
                  </a:cubicBezTo>
                  <a:cubicBezTo>
                    <a:pt x="20212" y="5602"/>
                    <a:pt x="15998" y="1388"/>
                    <a:pt x="10800" y="1388"/>
                  </a:cubicBezTo>
                  <a:cubicBezTo>
                    <a:pt x="5602" y="1388"/>
                    <a:pt x="1388" y="5602"/>
                    <a:pt x="1388" y="1080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1" name="Rectangle 64"/>
            <p:cNvSpPr>
              <a:spLocks noChangeArrowheads="1"/>
            </p:cNvSpPr>
            <p:nvPr/>
          </p:nvSpPr>
          <p:spPr bwMode="auto">
            <a:xfrm>
              <a:off x="4632" y="1434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i="1">
                  <a:latin typeface="Times New Roman" pitchFamily="18" charset="0"/>
                </a:rPr>
                <a:t>P</a:t>
              </a:r>
              <a:endParaRPr kumimoji="1" lang="en-US" altLang="zh-CN" sz="2400" b="0" i="1">
                <a:latin typeface="Times New Roman" pitchFamily="18" charset="0"/>
              </a:endParaRPr>
            </a:p>
          </p:txBody>
        </p:sp>
        <p:sp>
          <p:nvSpPr>
            <p:cNvPr id="67602" name="Rectangle 65"/>
            <p:cNvSpPr>
              <a:spLocks noChangeArrowheads="1"/>
            </p:cNvSpPr>
            <p:nvPr/>
          </p:nvSpPr>
          <p:spPr bwMode="auto">
            <a:xfrm>
              <a:off x="5129" y="143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i="1">
                  <a:latin typeface="Times New Roman" pitchFamily="18" charset="0"/>
                </a:rPr>
                <a:t>x</a:t>
              </a:r>
              <a:endParaRPr kumimoji="1" lang="en-US" altLang="zh-CN" sz="2400" b="0" i="1">
                <a:latin typeface="Times New Roman" pitchFamily="18" charset="0"/>
              </a:endParaRPr>
            </a:p>
          </p:txBody>
        </p:sp>
        <p:sp>
          <p:nvSpPr>
            <p:cNvPr id="67603" name="Rectangle 66"/>
            <p:cNvSpPr>
              <a:spLocks noChangeArrowheads="1"/>
            </p:cNvSpPr>
            <p:nvPr/>
          </p:nvSpPr>
          <p:spPr bwMode="auto">
            <a:xfrm>
              <a:off x="4025" y="176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i="1">
                  <a:latin typeface="Times New Roman" pitchFamily="18" charset="0"/>
                </a:rPr>
                <a:t>x</a:t>
              </a:r>
              <a:endParaRPr kumimoji="1" lang="en-US" altLang="zh-CN" sz="2400" b="0" i="1">
                <a:latin typeface="Times New Roman" pitchFamily="18" charset="0"/>
              </a:endParaRPr>
            </a:p>
          </p:txBody>
        </p:sp>
        <p:sp>
          <p:nvSpPr>
            <p:cNvPr id="67604" name="Rectangle 67"/>
            <p:cNvSpPr>
              <a:spLocks noChangeArrowheads="1"/>
            </p:cNvSpPr>
            <p:nvPr/>
          </p:nvSpPr>
          <p:spPr bwMode="auto">
            <a:xfrm>
              <a:off x="3353" y="130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b="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67605" name="Oval 68"/>
            <p:cNvSpPr>
              <a:spLocks noChangeArrowheads="1"/>
            </p:cNvSpPr>
            <p:nvPr/>
          </p:nvSpPr>
          <p:spPr bwMode="auto">
            <a:xfrm>
              <a:off x="4681" y="1707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grpSp>
          <p:nvGrpSpPr>
            <p:cNvPr id="67606" name="Group 69"/>
            <p:cNvGrpSpPr>
              <a:grpSpLocks/>
            </p:cNvGrpSpPr>
            <p:nvPr/>
          </p:nvGrpSpPr>
          <p:grpSpPr bwMode="auto">
            <a:xfrm>
              <a:off x="3545" y="1721"/>
              <a:ext cx="1152" cy="192"/>
              <a:chOff x="3456" y="1584"/>
              <a:chExt cx="1152" cy="192"/>
            </a:xfrm>
          </p:grpSpPr>
          <p:sp>
            <p:nvSpPr>
              <p:cNvPr id="67607" name="Line 70"/>
              <p:cNvSpPr>
                <a:spLocks noChangeShapeType="1"/>
              </p:cNvSpPr>
              <p:nvPr/>
            </p:nvSpPr>
            <p:spPr bwMode="auto">
              <a:xfrm>
                <a:off x="3456" y="15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608" name="Line 71"/>
              <p:cNvSpPr>
                <a:spLocks noChangeShapeType="1"/>
              </p:cNvSpPr>
              <p:nvPr/>
            </p:nvSpPr>
            <p:spPr bwMode="auto">
              <a:xfrm>
                <a:off x="4608" y="158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609" name="Line 72"/>
              <p:cNvSpPr>
                <a:spLocks noChangeShapeType="1"/>
              </p:cNvSpPr>
              <p:nvPr/>
            </p:nvSpPr>
            <p:spPr bwMode="auto">
              <a:xfrm>
                <a:off x="3456" y="168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 type="triangle" w="med" len="lg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73"/>
          <p:cNvGrpSpPr>
            <a:grpSpLocks/>
          </p:cNvGrpSpPr>
          <p:nvPr/>
        </p:nvGrpSpPr>
        <p:grpSpPr bwMode="auto">
          <a:xfrm>
            <a:off x="5580063" y="1341438"/>
            <a:ext cx="1828800" cy="990600"/>
            <a:chOff x="3456" y="960"/>
            <a:chExt cx="1152" cy="624"/>
          </a:xfrm>
        </p:grpSpPr>
        <p:sp>
          <p:nvSpPr>
            <p:cNvPr id="67595" name="Rectangle 74"/>
            <p:cNvSpPr>
              <a:spLocks noChangeArrowheads="1"/>
            </p:cNvSpPr>
            <p:nvPr/>
          </p:nvSpPr>
          <p:spPr bwMode="auto">
            <a:xfrm>
              <a:off x="3456" y="960"/>
              <a:ext cx="48" cy="96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67596" name="Line 75"/>
            <p:cNvSpPr>
              <a:spLocks noChangeShapeType="1"/>
            </p:cNvSpPr>
            <p:nvPr/>
          </p:nvSpPr>
          <p:spPr bwMode="auto">
            <a:xfrm>
              <a:off x="3504" y="1008"/>
              <a:ext cx="1104" cy="576"/>
            </a:xfrm>
            <a:prstGeom prst="line">
              <a:avLst/>
            </a:prstGeom>
            <a:noFill/>
            <a:ln w="9525" cap="rnd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597" name="Rectangle 76"/>
            <p:cNvSpPr>
              <a:spLocks noChangeArrowheads="1"/>
            </p:cNvSpPr>
            <p:nvPr/>
          </p:nvSpPr>
          <p:spPr bwMode="auto">
            <a:xfrm>
              <a:off x="4176" y="110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2400" i="1">
                  <a:latin typeface="Times New Roman" pitchFamily="18" charset="0"/>
                </a:rPr>
                <a:t>r</a:t>
              </a:r>
              <a:endParaRPr kumimoji="1" lang="en-US" altLang="zh-CN" sz="2400" b="0" i="1">
                <a:latin typeface="Times New Roman" pitchFamily="18" charset="0"/>
              </a:endParaRPr>
            </a:p>
          </p:txBody>
        </p:sp>
      </p:grpSp>
      <p:graphicFrame>
        <p:nvGraphicFramePr>
          <p:cNvPr id="1185869" name="Object 77"/>
          <p:cNvGraphicFramePr>
            <a:graphicFrameLocks noChangeAspect="1"/>
          </p:cNvGraphicFramePr>
          <p:nvPr/>
        </p:nvGraphicFramePr>
        <p:xfrm>
          <a:off x="971550" y="2246313"/>
          <a:ext cx="2881313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98" name="公式" r:id="rId8" imgW="1165806" imgH="403932" progId="Equation.3">
                  <p:embed/>
                </p:oleObj>
              </mc:Choice>
              <mc:Fallback>
                <p:oleObj name="公式" r:id="rId8" imgW="1165806" imgH="40393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46313"/>
                        <a:ext cx="2881313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70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56188"/>
              </p:ext>
            </p:extLst>
          </p:nvPr>
        </p:nvGraphicFramePr>
        <p:xfrm>
          <a:off x="960438" y="3081338"/>
          <a:ext cx="36163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99" name="Equation" r:id="rId10" imgW="1485720" imgH="431640" progId="Equation.DSMT4">
                  <p:embed/>
                </p:oleObj>
              </mc:Choice>
              <mc:Fallback>
                <p:oleObj name="Equation" r:id="rId10" imgW="1485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3081338"/>
                        <a:ext cx="361632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5872" name="Text Box 80"/>
          <p:cNvSpPr txBox="1">
            <a:spLocks noChangeArrowheads="1"/>
          </p:cNvSpPr>
          <p:nvPr/>
        </p:nvSpPr>
        <p:spPr bwMode="auto">
          <a:xfrm>
            <a:off x="250825" y="116632"/>
            <a:ext cx="8713788" cy="1095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  </a:t>
            </a:r>
            <a:r>
              <a:rPr kumimoji="1" lang="zh-CN" alt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例</a:t>
            </a:r>
            <a:r>
              <a:rPr kumimoji="1" lang="en-US" altLang="zh-CN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 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</a:rPr>
              <a:t>均匀带电圆环，带电量为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+mn-ea"/>
              </a:rPr>
              <a:t>q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</a:rPr>
              <a:t>，半径为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+mn-ea"/>
              </a:rPr>
              <a:t>a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</a:rPr>
              <a:t>，求轴线上任意一点的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+mn-ea"/>
              </a:rPr>
              <a:t>P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</a:rPr>
              <a:t>电势和电场强度。</a:t>
            </a:r>
          </a:p>
        </p:txBody>
      </p:sp>
      <p:graphicFrame>
        <p:nvGraphicFramePr>
          <p:cNvPr id="1185875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206763"/>
              </p:ext>
            </p:extLst>
          </p:nvPr>
        </p:nvGraphicFramePr>
        <p:xfrm>
          <a:off x="1062038" y="4149080"/>
          <a:ext cx="7196137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00" name="Equation" r:id="rId12" imgW="3162240" imgH="457200" progId="Equation.DSMT4">
                  <p:embed/>
                </p:oleObj>
              </mc:Choice>
              <mc:Fallback>
                <p:oleObj name="Equation" r:id="rId12" imgW="3162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4149080"/>
                        <a:ext cx="7196137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5876" name="Object 8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018385"/>
              </p:ext>
            </p:extLst>
          </p:nvPr>
        </p:nvGraphicFramePr>
        <p:xfrm>
          <a:off x="3214688" y="5365750"/>
          <a:ext cx="4941887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01" name="Equation" r:id="rId14" imgW="2120760" imgH="431640" progId="Equation.DSMT4">
                  <p:embed/>
                </p:oleObj>
              </mc:Choice>
              <mc:Fallback>
                <p:oleObj name="Equation" r:id="rId14" imgW="2120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5365750"/>
                        <a:ext cx="4941887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2929" y="5472287"/>
            <a:ext cx="2809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电势仅为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的函数，所以</a:t>
            </a:r>
            <a:r>
              <a:rPr lang="en-US" altLang="zh-CN" sz="2000" dirty="0" err="1" smtClean="0"/>
              <a:t>Ey</a:t>
            </a:r>
            <a:r>
              <a:rPr lang="en-US" altLang="zh-CN" sz="2000" dirty="0" smtClean="0"/>
              <a:t>=</a:t>
            </a:r>
            <a:r>
              <a:rPr lang="en-US" altLang="zh-CN" sz="2000" dirty="0" err="1" smtClean="0"/>
              <a:t>Ez</a:t>
            </a:r>
            <a:r>
              <a:rPr lang="en-US" altLang="zh-CN" sz="2000" dirty="0" smtClean="0"/>
              <a:t>=0,</a:t>
            </a:r>
            <a:r>
              <a:rPr lang="zh-CN" altLang="en-US" sz="2000" dirty="0" smtClean="0"/>
              <a:t>场强方向必沿着</a:t>
            </a:r>
            <a:r>
              <a:rPr lang="en-US" altLang="zh-CN" sz="2000" dirty="0" smtClean="0"/>
              <a:t>x</a:t>
            </a:r>
            <a:r>
              <a:rPr lang="zh-CN" altLang="en-US" sz="2000" dirty="0" smtClean="0"/>
              <a:t>轴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092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" dur="500"/>
                                        <p:tgtEl>
                                          <p:spTgt spid="118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18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18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118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068069" y="988556"/>
            <a:ext cx="30718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空间某点由其他点处电荷引起的特性。</a:t>
            </a:r>
            <a:endParaRPr lang="zh-CN" altLang="en-US" sz="2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8084" y="991627"/>
            <a:ext cx="3837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dirty="0" smtClean="0">
                <a:latin typeface="宋体" pitchFamily="2" charset="-122"/>
                <a:ea typeface="宋体" pitchFamily="2" charset="-122"/>
              </a:rPr>
              <a:t>处于空间某点的电荷由于与其他点的电荷相互作用而具有的特性。</a:t>
            </a:r>
            <a:endParaRPr lang="zh-CN" altLang="en-US" sz="2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2851" y="188640"/>
            <a:ext cx="3954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762000">
              <a:spcBef>
                <a:spcPts val="1400"/>
              </a:spcBef>
              <a:defRPr sz="1800"/>
            </a:pPr>
            <a:r>
              <a:rPr lang="zh-CN" altLang="en-US" sz="28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（</a:t>
            </a:r>
            <a:r>
              <a:rPr lang="en-US" altLang="zh-CN" sz="28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2</a:t>
            </a:r>
            <a:r>
              <a:rPr lang="zh-CN" altLang="en-US" sz="28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）电场</a:t>
            </a:r>
            <a:r>
              <a:rPr lang="zh-CN" altLang="en-US" sz="2800" dirty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与电势的关系</a:t>
            </a:r>
            <a:endParaRPr lang="zh-CN" altLang="en-US" sz="2800" dirty="0">
              <a:solidFill>
                <a:srgbClr val="FF0000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741266" y="2188885"/>
            <a:ext cx="6939480" cy="3904411"/>
            <a:chOff x="639977" y="2616578"/>
            <a:chExt cx="7678515" cy="4108866"/>
          </a:xfrm>
        </p:grpSpPr>
        <p:sp>
          <p:nvSpPr>
            <p:cNvPr id="5" name="圆角矩形 4"/>
            <p:cNvSpPr/>
            <p:nvPr/>
          </p:nvSpPr>
          <p:spPr>
            <a:xfrm>
              <a:off x="1801597" y="5285284"/>
              <a:ext cx="2592288" cy="144016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763688" y="2620988"/>
              <a:ext cx="2592288" cy="144016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2" name="Object 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41086964"/>
                </p:ext>
              </p:extLst>
            </p:nvPr>
          </p:nvGraphicFramePr>
          <p:xfrm>
            <a:off x="2123728" y="3310417"/>
            <a:ext cx="1733550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15" name="Equation" r:id="rId3" imgW="495085" imgH="228501" progId="Equation.DSMT4">
                    <p:embed/>
                  </p:oleObj>
                </mc:Choice>
                <mc:Fallback>
                  <p:oleObj name="Equation" r:id="rId3" imgW="495085" imgH="228501" progId="Equation.DSMT4">
                    <p:embed/>
                    <p:pic>
                      <p:nvPicPr>
                        <p:cNvPr id="0" name="Picture 1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3310417"/>
                          <a:ext cx="1733550" cy="685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699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2985402"/>
                </p:ext>
              </p:extLst>
            </p:nvPr>
          </p:nvGraphicFramePr>
          <p:xfrm>
            <a:off x="2191095" y="5955060"/>
            <a:ext cx="1737473" cy="682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16" name="Equation" r:id="rId5" imgW="583947" imgH="228501" progId="Equation.DSMT4">
                    <p:embed/>
                  </p:oleObj>
                </mc:Choice>
                <mc:Fallback>
                  <p:oleObj name="Equation" r:id="rId5" imgW="583947" imgH="228501" progId="Equation.DSMT4">
                    <p:embed/>
                    <p:pic>
                      <p:nvPicPr>
                        <p:cNvPr id="0" name="Picture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1095" y="5955060"/>
                          <a:ext cx="1737473" cy="682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圆角矩形 5"/>
            <p:cNvSpPr/>
            <p:nvPr/>
          </p:nvSpPr>
          <p:spPr>
            <a:xfrm>
              <a:off x="5580112" y="2705735"/>
              <a:ext cx="2592288" cy="144016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580112" y="5285284"/>
              <a:ext cx="2592288" cy="144016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89855" y="2616578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latin typeface="黑体" pitchFamily="49" charset="-122"/>
                  <a:ea typeface="黑体" pitchFamily="49" charset="-122"/>
                </a:rPr>
                <a:t>电场力</a:t>
              </a:r>
              <a:endParaRPr lang="zh-CN" altLang="en-US" sz="3200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89855" y="5285284"/>
              <a:ext cx="1415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latin typeface="黑体" pitchFamily="49" charset="-122"/>
                  <a:ea typeface="黑体" pitchFamily="49" charset="-122"/>
                </a:rPr>
                <a:t>电势能</a:t>
              </a:r>
              <a:endParaRPr lang="zh-CN" altLang="en-US" sz="3200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0152" y="2705735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latin typeface="黑体" pitchFamily="49" charset="-122"/>
                  <a:ea typeface="黑体" pitchFamily="49" charset="-122"/>
                </a:rPr>
                <a:t>电场强度</a:t>
              </a:r>
              <a:endParaRPr lang="zh-CN" altLang="en-US" sz="3200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3554" y="5276573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latin typeface="黑体" pitchFamily="49" charset="-122"/>
                  <a:ea typeface="黑体" pitchFamily="49" charset="-122"/>
                </a:rPr>
                <a:t>电势</a:t>
              </a:r>
              <a:endParaRPr lang="zh-CN" altLang="en-US" sz="3200" dirty="0">
                <a:latin typeface="黑体" pitchFamily="49" charset="-122"/>
                <a:ea typeface="黑体" pitchFamily="49" charset="-122"/>
              </a:endParaRPr>
            </a:p>
          </p:txBody>
        </p:sp>
        <p:graphicFrame>
          <p:nvGraphicFramePr>
            <p:cNvPr id="12" name="对象 1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48144443"/>
                </p:ext>
              </p:extLst>
            </p:nvPr>
          </p:nvGraphicFramePr>
          <p:xfrm>
            <a:off x="6585769" y="3482331"/>
            <a:ext cx="53340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17" name="Equation" r:id="rId7" imgW="152334" imgH="190417" progId="Equation.DSMT4">
                    <p:embed/>
                  </p:oleObj>
                </mc:Choice>
                <mc:Fallback>
                  <p:oleObj name="Equation" r:id="rId7" imgW="152334" imgH="190417" progId="Equation.DSMT4">
                    <p:embed/>
                    <p:pic>
                      <p:nvPicPr>
                        <p:cNvPr id="0" name="Picture 1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5769" y="3482331"/>
                          <a:ext cx="533400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699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7590444"/>
                </p:ext>
              </p:extLst>
            </p:nvPr>
          </p:nvGraphicFramePr>
          <p:xfrm>
            <a:off x="6627003" y="6077372"/>
            <a:ext cx="452438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18" name="Equation" r:id="rId9" imgW="152268" imgH="164957" progId="Equation.DSMT4">
                    <p:embed/>
                  </p:oleObj>
                </mc:Choice>
                <mc:Fallback>
                  <p:oleObj name="Equation" r:id="rId9" imgW="152268" imgH="164957" progId="Equation.DSMT4">
                    <p:embed/>
                    <p:pic>
                      <p:nvPicPr>
                        <p:cNvPr id="0" name="Picture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7003" y="6077372"/>
                          <a:ext cx="452438" cy="492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右箭头 13"/>
            <p:cNvSpPr/>
            <p:nvPr/>
          </p:nvSpPr>
          <p:spPr>
            <a:xfrm>
              <a:off x="4499992" y="3290510"/>
              <a:ext cx="1008112" cy="266582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右箭头 14"/>
            <p:cNvSpPr/>
            <p:nvPr/>
          </p:nvSpPr>
          <p:spPr>
            <a:xfrm>
              <a:off x="4512024" y="5872073"/>
              <a:ext cx="1008112" cy="266582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下箭头 15"/>
            <p:cNvSpPr/>
            <p:nvPr/>
          </p:nvSpPr>
          <p:spPr>
            <a:xfrm flipV="1">
              <a:off x="2411760" y="4285883"/>
              <a:ext cx="253933" cy="927393"/>
            </a:xfrm>
            <a:prstGeom prst="down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下箭头 16"/>
            <p:cNvSpPr/>
            <p:nvPr/>
          </p:nvSpPr>
          <p:spPr>
            <a:xfrm flipV="1">
              <a:off x="6300192" y="4277172"/>
              <a:ext cx="253933" cy="927393"/>
            </a:xfrm>
            <a:prstGeom prst="down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9977" y="3102649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矢量</a:t>
              </a:r>
              <a:endParaRPr lang="zh-CN" altLang="en-US" sz="32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7780" y="5712976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rgbClr val="FF0000"/>
                  </a:solidFill>
                  <a:latin typeface="黑体" pitchFamily="49" charset="-122"/>
                  <a:ea typeface="黑体" pitchFamily="49" charset="-122"/>
                </a:rPr>
                <a:t>标量</a:t>
              </a:r>
              <a:endParaRPr lang="zh-CN" altLang="en-US" sz="32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61057" y="3639552"/>
              <a:ext cx="847048" cy="74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黑体" pitchFamily="49" charset="-122"/>
                  <a:ea typeface="黑体" pitchFamily="49" charset="-122"/>
                </a:rPr>
                <a:t>单位电荷</a:t>
              </a:r>
              <a:endParaRPr lang="zh-CN" altLang="en-US" sz="2000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580524" y="5000636"/>
              <a:ext cx="847048" cy="74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黑体" pitchFamily="49" charset="-122"/>
                  <a:ea typeface="黑体" pitchFamily="49" charset="-122"/>
                </a:rPr>
                <a:t>单位电荷</a:t>
              </a:r>
              <a:endParaRPr lang="zh-CN" altLang="en-US" sz="2000" dirty="0">
                <a:latin typeface="黑体" pitchFamily="49" charset="-122"/>
                <a:ea typeface="黑体" pitchFamily="49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881313" y="4378127"/>
              <a:ext cx="1478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/>
                <a:t>负梯度</a:t>
              </a:r>
              <a:endParaRPr lang="zh-CN" altLang="en-US" sz="2400" b="1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40423" y="4470549"/>
              <a:ext cx="1478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/>
                <a:t>负梯度</a:t>
              </a:r>
              <a:endParaRPr lang="zh-CN" altLang="en-US" sz="2400" b="1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403648" y="6237312"/>
            <a:ext cx="6480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电势能和电势都是可移动电荷</a:t>
            </a:r>
            <a:r>
              <a:rPr lang="en-US" altLang="zh-CN" sz="2400" b="1" dirty="0" smtClean="0"/>
              <a:t>q</a:t>
            </a:r>
            <a:r>
              <a:rPr lang="zh-CN" altLang="en-US" sz="2400" b="1" dirty="0" smtClean="0"/>
              <a:t>的空间位置函数。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2854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947100"/>
            <a:ext cx="6175400" cy="4821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964941" y="6021288"/>
            <a:ext cx="7364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图</a:t>
            </a:r>
            <a:r>
              <a:rPr lang="en-US" altLang="zh-CN" sz="2400" dirty="0" smtClean="0"/>
              <a:t>17.20 </a:t>
            </a:r>
            <a:r>
              <a:rPr lang="zh-CN" altLang="en-US" sz="2400" dirty="0" smtClean="0"/>
              <a:t>两个点电荷产生电场中的一组电场线及等势面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80020" y="213994"/>
            <a:ext cx="4490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00CC"/>
                </a:solidFill>
              </a:rPr>
              <a:t>2. 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两个点电荷电场的等势面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0020" y="1772816"/>
            <a:ext cx="1699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除了两个电荷之间正中的那个等势面是平面外，其他等势面都是包围其中一个电荷的封闭曲面。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215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1484784"/>
            <a:ext cx="75608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图中哪两点最像是具有相同的电势？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A.   A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D</a:t>
            </a:r>
            <a:r>
              <a:rPr lang="zh-CN" altLang="zh-CN" sz="2800" b="1" dirty="0" smtClean="0"/>
              <a:t> 。</a:t>
            </a:r>
            <a:endParaRPr lang="zh-CN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B. </a:t>
            </a:r>
            <a:r>
              <a:rPr lang="en-US" altLang="zh-CN" sz="2800" b="1" dirty="0" smtClean="0"/>
              <a:t>  B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C</a:t>
            </a:r>
            <a:r>
              <a:rPr lang="zh-CN" altLang="zh-CN" sz="2800" b="1" dirty="0" smtClean="0"/>
              <a:t> </a:t>
            </a:r>
            <a:r>
              <a:rPr lang="zh-CN" altLang="zh-CN" sz="2800" b="1" dirty="0"/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C. </a:t>
            </a:r>
            <a:r>
              <a:rPr lang="en-US" altLang="zh-CN" sz="2800" b="1" dirty="0" smtClean="0"/>
              <a:t>  B</a:t>
            </a:r>
            <a:r>
              <a:rPr lang="zh-CN" altLang="en-US" sz="2800" b="1" dirty="0" smtClean="0"/>
              <a:t>和</a:t>
            </a:r>
            <a:r>
              <a:rPr lang="en-US" altLang="zh-CN" sz="2800" b="1" dirty="0"/>
              <a:t>D</a:t>
            </a:r>
            <a:r>
              <a:rPr lang="zh-CN" altLang="zh-CN" sz="2800" b="1" dirty="0"/>
              <a:t> 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D</a:t>
            </a:r>
            <a:r>
              <a:rPr lang="en-US" altLang="zh-CN" sz="2800" b="1" dirty="0" smtClean="0"/>
              <a:t>.   A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C</a:t>
            </a:r>
            <a:r>
              <a:rPr lang="zh-CN" altLang="zh-CN" sz="2800" b="1" dirty="0" smtClean="0"/>
              <a:t> 。</a:t>
            </a:r>
            <a:endParaRPr lang="zh-CN" altLang="zh-C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62068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CC"/>
                </a:solidFill>
              </a:rPr>
              <a:t>单项选择题：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498705"/>
            <a:ext cx="2672129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3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242" y="2498818"/>
            <a:ext cx="2921127" cy="178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92921" y="5358407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等势面处处垂直于电场线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3722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图中哪两点最像是具有相同的电势？</a:t>
            </a:r>
            <a:endParaRPr lang="en-US" altLang="zh-CN" sz="2800" b="1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A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B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B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 smtClean="0"/>
              <a:t> 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563111"/>
            <a:ext cx="3267098" cy="20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991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组合 98"/>
          <p:cNvGrpSpPr/>
          <p:nvPr/>
        </p:nvGrpSpPr>
        <p:grpSpPr>
          <a:xfrm>
            <a:off x="684601" y="1288105"/>
            <a:ext cx="6643689" cy="4552906"/>
            <a:chOff x="755576" y="924030"/>
            <a:chExt cx="6643689" cy="4552906"/>
          </a:xfrm>
        </p:grpSpPr>
        <p:grpSp>
          <p:nvGrpSpPr>
            <p:cNvPr id="52" name="Group 477"/>
            <p:cNvGrpSpPr/>
            <p:nvPr/>
          </p:nvGrpSpPr>
          <p:grpSpPr>
            <a:xfrm>
              <a:off x="755576" y="924030"/>
              <a:ext cx="6643689" cy="4552906"/>
              <a:chOff x="0" y="0"/>
              <a:chExt cx="6643688" cy="4552905"/>
            </a:xfrm>
          </p:grpSpPr>
          <p:sp>
            <p:nvSpPr>
              <p:cNvPr id="53" name="Shape 436"/>
              <p:cNvSpPr/>
              <p:nvPr/>
            </p:nvSpPr>
            <p:spPr>
              <a:xfrm>
                <a:off x="2227185" y="1722481"/>
                <a:ext cx="2208915" cy="3822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5" extrusionOk="0">
                    <a:moveTo>
                      <a:pt x="0" y="21595"/>
                    </a:moveTo>
                    <a:cubicBezTo>
                      <a:pt x="3214" y="7575"/>
                      <a:pt x="7117" y="-5"/>
                      <a:pt x="11128" y="0"/>
                    </a:cubicBezTo>
                    <a:cubicBezTo>
                      <a:pt x="14864" y="0"/>
                      <a:pt x="18514" y="6575"/>
                      <a:pt x="21600" y="1887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54" name="Shape 437"/>
              <p:cNvSpPr/>
              <p:nvPr/>
            </p:nvSpPr>
            <p:spPr>
              <a:xfrm>
                <a:off x="1724446" y="1169401"/>
                <a:ext cx="306335" cy="8617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2604" y="17083"/>
                      <a:pt x="5063" y="9540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55" name="Shape 438"/>
              <p:cNvSpPr/>
              <p:nvPr/>
            </p:nvSpPr>
            <p:spPr>
              <a:xfrm rot="10800000">
                <a:off x="2858593" y="2270297"/>
                <a:ext cx="1728819" cy="1464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3" extrusionOk="0">
                    <a:moveTo>
                      <a:pt x="0" y="21593"/>
                    </a:moveTo>
                    <a:cubicBezTo>
                      <a:pt x="4274" y="7454"/>
                      <a:pt x="9140" y="-7"/>
                      <a:pt x="14097" y="0"/>
                    </a:cubicBezTo>
                    <a:cubicBezTo>
                      <a:pt x="16633" y="0"/>
                      <a:pt x="19157" y="1953"/>
                      <a:pt x="21600" y="5799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56" name="Shape 439"/>
              <p:cNvSpPr/>
              <p:nvPr/>
            </p:nvSpPr>
            <p:spPr>
              <a:xfrm>
                <a:off x="2239984" y="2300089"/>
                <a:ext cx="2378396" cy="22528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98" y="0"/>
                    </a:moveTo>
                    <a:cubicBezTo>
                      <a:pt x="21599" y="127"/>
                      <a:pt x="21600" y="253"/>
                      <a:pt x="21600" y="381"/>
                    </a:cubicBezTo>
                    <a:cubicBezTo>
                      <a:pt x="21600" y="12100"/>
                      <a:pt x="16496" y="21600"/>
                      <a:pt x="10200" y="21600"/>
                    </a:cubicBezTo>
                    <a:cubicBezTo>
                      <a:pt x="5879" y="21600"/>
                      <a:pt x="1930" y="17055"/>
                      <a:pt x="0" y="986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57" name="Shape 440"/>
              <p:cNvSpPr/>
              <p:nvPr/>
            </p:nvSpPr>
            <p:spPr>
              <a:xfrm>
                <a:off x="4615769" y="367836"/>
                <a:ext cx="1214407" cy="16825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9569"/>
                      <a:pt x="13016" y="18152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58" name="Shape 441"/>
              <p:cNvSpPr/>
              <p:nvPr/>
            </p:nvSpPr>
            <p:spPr>
              <a:xfrm rot="10800000">
                <a:off x="4650806" y="2272140"/>
                <a:ext cx="1214773" cy="19124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10344" y="17799"/>
                      <a:pt x="2222" y="9678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59" name="Shape 442"/>
              <p:cNvSpPr/>
              <p:nvPr/>
            </p:nvSpPr>
            <p:spPr>
              <a:xfrm>
                <a:off x="4553537" y="0"/>
                <a:ext cx="463126" cy="2044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9796"/>
                      <a:pt x="12901" y="18496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0" name="Shape 443"/>
              <p:cNvSpPr/>
              <p:nvPr/>
            </p:nvSpPr>
            <p:spPr>
              <a:xfrm rot="10800000">
                <a:off x="4608462" y="2317915"/>
                <a:ext cx="477406" cy="2060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8756" y="18668"/>
                      <a:pt x="0" y="9912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1" name="Shape 444"/>
              <p:cNvSpPr/>
              <p:nvPr/>
            </p:nvSpPr>
            <p:spPr>
              <a:xfrm>
                <a:off x="4677698" y="2152363"/>
                <a:ext cx="1965991" cy="1"/>
              </a:xfrm>
              <a:prstGeom prst="line">
                <a:avLst/>
              </a:prstGeom>
              <a:noFill/>
              <a:ln w="28575" cap="flat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62" name="Shape 445"/>
              <p:cNvSpPr/>
              <p:nvPr/>
            </p:nvSpPr>
            <p:spPr>
              <a:xfrm rot="10800000">
                <a:off x="2707472" y="2325806"/>
                <a:ext cx="1850178" cy="334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4" extrusionOk="0">
                    <a:moveTo>
                      <a:pt x="0" y="21594"/>
                    </a:moveTo>
                    <a:cubicBezTo>
                      <a:pt x="3746" y="7525"/>
                      <a:pt x="8177" y="-6"/>
                      <a:pt x="12714" y="0"/>
                    </a:cubicBezTo>
                    <a:cubicBezTo>
                      <a:pt x="15769" y="0"/>
                      <a:pt x="18791" y="3409"/>
                      <a:pt x="21600" y="10033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3" name="Shape 446"/>
              <p:cNvSpPr/>
              <p:nvPr/>
            </p:nvSpPr>
            <p:spPr>
              <a:xfrm>
                <a:off x="2102987" y="0"/>
                <a:ext cx="2484322" cy="19736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2" y="21600"/>
                    </a:moveTo>
                    <a:cubicBezTo>
                      <a:pt x="7" y="21170"/>
                      <a:pt x="0" y="20740"/>
                      <a:pt x="0" y="20310"/>
                    </a:cubicBezTo>
                    <a:cubicBezTo>
                      <a:pt x="0" y="9092"/>
                      <a:pt x="4835" y="0"/>
                      <a:pt x="10800" y="0"/>
                    </a:cubicBezTo>
                    <a:cubicBezTo>
                      <a:pt x="16764" y="0"/>
                      <a:pt x="21600" y="9092"/>
                      <a:pt x="21600" y="20310"/>
                    </a:cubicBezTo>
                    <a:cubicBezTo>
                      <a:pt x="21600" y="20497"/>
                      <a:pt x="21598" y="20684"/>
                      <a:pt x="21595" y="2087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4" name="Shape 447"/>
              <p:cNvSpPr/>
              <p:nvPr/>
            </p:nvSpPr>
            <p:spPr>
              <a:xfrm>
                <a:off x="2189140" y="0"/>
                <a:ext cx="2393932" cy="19011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0" y="13137"/>
                    </a:moveTo>
                    <a:cubicBezTo>
                      <a:pt x="1712" y="5196"/>
                      <a:pt x="5823" y="-1"/>
                      <a:pt x="10391" y="0"/>
                    </a:cubicBezTo>
                    <a:cubicBezTo>
                      <a:pt x="16581" y="0"/>
                      <a:pt x="21600" y="9410"/>
                      <a:pt x="21600" y="21019"/>
                    </a:cubicBezTo>
                    <a:cubicBezTo>
                      <a:pt x="21600" y="21213"/>
                      <a:pt x="21598" y="21406"/>
                      <a:pt x="21595" y="21599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5" name="Shape 448"/>
              <p:cNvSpPr/>
              <p:nvPr/>
            </p:nvSpPr>
            <p:spPr>
              <a:xfrm>
                <a:off x="2262582" y="1969183"/>
                <a:ext cx="2145258" cy="1444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3" extrusionOk="0">
                    <a:moveTo>
                      <a:pt x="0" y="21593"/>
                    </a:moveTo>
                    <a:cubicBezTo>
                      <a:pt x="3337" y="7448"/>
                      <a:pt x="7132" y="-7"/>
                      <a:pt x="10995" y="0"/>
                    </a:cubicBezTo>
                    <a:cubicBezTo>
                      <a:pt x="14706" y="0"/>
                      <a:pt x="18357" y="6874"/>
                      <a:pt x="21600" y="19983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6" name="Shape 449"/>
              <p:cNvSpPr/>
              <p:nvPr/>
            </p:nvSpPr>
            <p:spPr>
              <a:xfrm rot="10800000">
                <a:off x="2333200" y="2273988"/>
                <a:ext cx="538629" cy="1103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7567" y="4702"/>
                      <a:pt x="14837" y="11966"/>
                      <a:pt x="2160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67" name="Shape 450"/>
              <p:cNvSpPr/>
              <p:nvPr/>
            </p:nvSpPr>
            <p:spPr>
              <a:xfrm>
                <a:off x="1898196" y="1967706"/>
                <a:ext cx="406757" cy="3693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009900"/>
                  </a:gs>
                  <a:gs pos="100000">
                    <a:srgbClr val="004700"/>
                  </a:gs>
                </a:gsLst>
                <a:path path="circle">
                  <a:fillToRect l="37721" t="-19636" r="62278" b="119636"/>
                </a:path>
              </a:gradFill>
              <a:ln w="28575" cap="flat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 defTabSz="914400">
                  <a:lnSpc>
                    <a:spcPct val="100000"/>
                  </a:lnSpc>
                  <a:spcBef>
                    <a:spcPts val="0"/>
                  </a:spcBef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68" name="Shape 451"/>
              <p:cNvSpPr/>
              <p:nvPr/>
            </p:nvSpPr>
            <p:spPr>
              <a:xfrm>
                <a:off x="2033782" y="2152363"/>
                <a:ext cx="135586" cy="1"/>
              </a:xfrm>
              <a:prstGeom prst="line">
                <a:avLst/>
              </a:prstGeom>
              <a:noFill/>
              <a:ln w="28575" cap="flat">
                <a:solidFill>
                  <a:srgbClr val="FFFF66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69" name="Shape 452"/>
              <p:cNvSpPr/>
              <p:nvPr/>
            </p:nvSpPr>
            <p:spPr>
              <a:xfrm rot="10800000">
                <a:off x="2296479" y="2279815"/>
                <a:ext cx="480347" cy="2699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7739" y="5146"/>
                      <a:pt x="15016" y="12426"/>
                      <a:pt x="2160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0" name="Shape 453"/>
              <p:cNvSpPr/>
              <p:nvPr/>
            </p:nvSpPr>
            <p:spPr>
              <a:xfrm>
                <a:off x="2734217" y="1722481"/>
                <a:ext cx="1701882" cy="3340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4" extrusionOk="0">
                    <a:moveTo>
                      <a:pt x="0" y="6598"/>
                    </a:moveTo>
                    <a:cubicBezTo>
                      <a:pt x="2529" y="2226"/>
                      <a:pt x="5181" y="-6"/>
                      <a:pt x="7851" y="0"/>
                    </a:cubicBezTo>
                    <a:cubicBezTo>
                      <a:pt x="12756" y="0"/>
                      <a:pt x="17548" y="7524"/>
                      <a:pt x="21600" y="21594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1" name="Shape 454"/>
              <p:cNvSpPr/>
              <p:nvPr/>
            </p:nvSpPr>
            <p:spPr>
              <a:xfrm>
                <a:off x="2752667" y="1969183"/>
                <a:ext cx="1670707" cy="1336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2" extrusionOk="0">
                    <a:moveTo>
                      <a:pt x="0" y="6379"/>
                    </a:moveTo>
                    <a:cubicBezTo>
                      <a:pt x="2513" y="2145"/>
                      <a:pt x="5111" y="-8"/>
                      <a:pt x="7722" y="0"/>
                    </a:cubicBezTo>
                    <a:cubicBezTo>
                      <a:pt x="12578" y="0"/>
                      <a:pt x="17355" y="7428"/>
                      <a:pt x="21600" y="21592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2" name="Shape 455"/>
              <p:cNvSpPr/>
              <p:nvPr/>
            </p:nvSpPr>
            <p:spPr>
              <a:xfrm>
                <a:off x="2247046" y="1292599"/>
                <a:ext cx="2189081" cy="7162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8" extrusionOk="0">
                    <a:moveTo>
                      <a:pt x="0" y="20921"/>
                    </a:moveTo>
                    <a:cubicBezTo>
                      <a:pt x="2381" y="7860"/>
                      <a:pt x="6415" y="-2"/>
                      <a:pt x="10740" y="0"/>
                    </a:cubicBezTo>
                    <a:cubicBezTo>
                      <a:pt x="15143" y="0"/>
                      <a:pt x="19240" y="8146"/>
                      <a:pt x="21600" y="21598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3" name="Shape 456"/>
              <p:cNvSpPr/>
              <p:nvPr/>
            </p:nvSpPr>
            <p:spPr>
              <a:xfrm rot="10800000">
                <a:off x="2247046" y="2325537"/>
                <a:ext cx="518437" cy="5418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8773" y="4823"/>
                      <a:pt x="16239" y="12288"/>
                      <a:pt x="2160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4" name="Shape 457"/>
              <p:cNvSpPr/>
              <p:nvPr/>
            </p:nvSpPr>
            <p:spPr>
              <a:xfrm>
                <a:off x="2581773" y="1292599"/>
                <a:ext cx="1854353" cy="7162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8" extrusionOk="0">
                    <a:moveTo>
                      <a:pt x="0" y="7804"/>
                    </a:moveTo>
                    <a:cubicBezTo>
                      <a:pt x="2536" y="2713"/>
                      <a:pt x="5514" y="-2"/>
                      <a:pt x="8561" y="0"/>
                    </a:cubicBezTo>
                    <a:cubicBezTo>
                      <a:pt x="13847" y="0"/>
                      <a:pt x="18767" y="8146"/>
                      <a:pt x="21600" y="21598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5" name="Shape 458"/>
              <p:cNvSpPr/>
              <p:nvPr/>
            </p:nvSpPr>
            <p:spPr>
              <a:xfrm rot="10800000">
                <a:off x="2707472" y="2350714"/>
                <a:ext cx="1910972" cy="73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8" extrusionOk="0">
                    <a:moveTo>
                      <a:pt x="0" y="21598"/>
                    </a:moveTo>
                    <a:cubicBezTo>
                      <a:pt x="2819" y="8170"/>
                      <a:pt x="7791" y="-2"/>
                      <a:pt x="13144" y="0"/>
                    </a:cubicBezTo>
                    <a:cubicBezTo>
                      <a:pt x="16147" y="0"/>
                      <a:pt x="19086" y="2581"/>
                      <a:pt x="21600" y="7428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6" name="Shape 459"/>
              <p:cNvSpPr/>
              <p:nvPr/>
            </p:nvSpPr>
            <p:spPr>
              <a:xfrm>
                <a:off x="2129821" y="676583"/>
                <a:ext cx="2378396" cy="129782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0" y="21599"/>
                    </a:moveTo>
                    <a:cubicBezTo>
                      <a:pt x="1566" y="8690"/>
                      <a:pt x="5922" y="-1"/>
                      <a:pt x="10824" y="0"/>
                    </a:cubicBezTo>
                    <a:cubicBezTo>
                      <a:pt x="15672" y="0"/>
                      <a:pt x="19992" y="8507"/>
                      <a:pt x="21600" y="21218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7" name="Shape 460"/>
              <p:cNvSpPr/>
              <p:nvPr/>
            </p:nvSpPr>
            <p:spPr>
              <a:xfrm rot="11160000">
                <a:off x="2131637" y="2287296"/>
                <a:ext cx="302201" cy="7783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0028" y="6076"/>
                      <a:pt x="17437" y="13483"/>
                      <a:pt x="2160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8" name="Shape 461"/>
              <p:cNvSpPr/>
              <p:nvPr/>
            </p:nvSpPr>
            <p:spPr>
              <a:xfrm>
                <a:off x="2101574" y="2337020"/>
                <a:ext cx="2508333" cy="22129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464"/>
                    </a:moveTo>
                    <a:cubicBezTo>
                      <a:pt x="21473" y="12209"/>
                      <a:pt x="16676" y="21599"/>
                      <a:pt x="10801" y="21600"/>
                    </a:cubicBezTo>
                    <a:cubicBezTo>
                      <a:pt x="4836" y="21600"/>
                      <a:pt x="0" y="11929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79" name="Shape 462"/>
              <p:cNvSpPr/>
              <p:nvPr/>
            </p:nvSpPr>
            <p:spPr>
              <a:xfrm rot="10800000">
                <a:off x="1638355" y="2337120"/>
                <a:ext cx="383767" cy="10300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7000" y="10206"/>
                      <a:pt x="9270" y="17936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80" name="Shape 463"/>
              <p:cNvSpPr/>
              <p:nvPr/>
            </p:nvSpPr>
            <p:spPr>
              <a:xfrm>
                <a:off x="1617139" y="0"/>
                <a:ext cx="115845" cy="12053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7520" y="15219"/>
                      <a:pt x="0" y="7697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81" name="Shape 464"/>
              <p:cNvSpPr/>
              <p:nvPr/>
            </p:nvSpPr>
            <p:spPr>
              <a:xfrm rot="10800000">
                <a:off x="967564" y="2215993"/>
                <a:ext cx="930723" cy="2319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4854" y="13379"/>
                      <a:pt x="7492" y="20744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82" name="Shape 465"/>
              <p:cNvSpPr/>
              <p:nvPr/>
            </p:nvSpPr>
            <p:spPr>
              <a:xfrm>
                <a:off x="2304953" y="2152363"/>
                <a:ext cx="2102987" cy="1"/>
              </a:xfrm>
              <a:prstGeom prst="line">
                <a:avLst/>
              </a:prstGeom>
              <a:noFill/>
              <a:ln w="28575" cap="flat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83" name="Shape 466"/>
              <p:cNvSpPr/>
              <p:nvPr/>
            </p:nvSpPr>
            <p:spPr>
              <a:xfrm>
                <a:off x="813512" y="2152363"/>
                <a:ext cx="1016892" cy="1"/>
              </a:xfrm>
              <a:prstGeom prst="line">
                <a:avLst/>
              </a:prstGeom>
              <a:noFill/>
              <a:ln w="28575" cap="flat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84" name="Shape 467"/>
              <p:cNvSpPr/>
              <p:nvPr/>
            </p:nvSpPr>
            <p:spPr>
              <a:xfrm>
                <a:off x="0" y="2152363"/>
                <a:ext cx="813512" cy="1"/>
              </a:xfrm>
              <a:prstGeom prst="line">
                <a:avLst/>
              </a:prstGeom>
              <a:noFill/>
              <a:ln w="28575" cap="flat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85" name="Shape 468"/>
              <p:cNvSpPr/>
              <p:nvPr/>
            </p:nvSpPr>
            <p:spPr>
              <a:xfrm rot="10800000">
                <a:off x="1118674" y="2251459"/>
                <a:ext cx="786077" cy="698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5709" y="9561"/>
                      <a:pt x="8304" y="16966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86" name="Shape 469"/>
              <p:cNvSpPr/>
              <p:nvPr/>
            </p:nvSpPr>
            <p:spPr>
              <a:xfrm>
                <a:off x="2410820" y="676583"/>
                <a:ext cx="2097398" cy="12749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0" y="9829"/>
                    </a:moveTo>
                    <a:cubicBezTo>
                      <a:pt x="2449" y="3547"/>
                      <a:pt x="5817" y="-1"/>
                      <a:pt x="9337" y="0"/>
                    </a:cubicBezTo>
                    <a:cubicBezTo>
                      <a:pt x="14854" y="0"/>
                      <a:pt x="19771" y="8659"/>
                      <a:pt x="21600" y="21599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headEnd type="stealth" w="med" len="med"/>
                <a:tailEnd type="stealth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87" name="Shape 470"/>
              <p:cNvSpPr/>
              <p:nvPr/>
            </p:nvSpPr>
            <p:spPr>
              <a:xfrm>
                <a:off x="2847294" y="2152363"/>
                <a:ext cx="1560646" cy="1"/>
              </a:xfrm>
              <a:prstGeom prst="line">
                <a:avLst/>
              </a:prstGeom>
              <a:noFill/>
              <a:ln w="28575" cap="flat">
                <a:solidFill>
                  <a:srgbClr val="CC3300"/>
                </a:solidFill>
                <a:prstDash val="solid"/>
                <a:round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lnSpc>
                    <a:spcPct val="100000"/>
                  </a:lnSpc>
                  <a:spcBef>
                    <a:spcPts val="0"/>
                  </a:spcBef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 dirty="0"/>
              </a:p>
            </p:txBody>
          </p:sp>
          <p:sp>
            <p:nvSpPr>
              <p:cNvPr id="88" name="Shape 471"/>
              <p:cNvSpPr/>
              <p:nvPr/>
            </p:nvSpPr>
            <p:spPr>
              <a:xfrm rot="10800000">
                <a:off x="90390" y="2450769"/>
                <a:ext cx="886785" cy="569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5546" y="9766"/>
                      <a:pt x="8151" y="17160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89" name="Shape 472"/>
              <p:cNvSpPr/>
              <p:nvPr/>
            </p:nvSpPr>
            <p:spPr>
              <a:xfrm rot="10800000">
                <a:off x="710411" y="2916105"/>
                <a:ext cx="417550" cy="11193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17803" y="8080"/>
                      <a:pt x="10376" y="15507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90" name="Shape 473"/>
              <p:cNvSpPr/>
              <p:nvPr/>
            </p:nvSpPr>
            <p:spPr>
              <a:xfrm rot="10800000">
                <a:off x="1536635" y="3344509"/>
                <a:ext cx="92745" cy="10887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7590"/>
                      <a:pt x="14144" y="15046"/>
                      <a:pt x="0" y="21600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91" name="Shape 474"/>
              <p:cNvSpPr/>
              <p:nvPr/>
            </p:nvSpPr>
            <p:spPr>
              <a:xfrm rot="10800000">
                <a:off x="2372745" y="2375810"/>
                <a:ext cx="2221686" cy="13143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0" y="21599"/>
                    </a:moveTo>
                    <a:cubicBezTo>
                      <a:pt x="1701" y="8716"/>
                      <a:pt x="6563" y="-1"/>
                      <a:pt x="12047" y="0"/>
                    </a:cubicBezTo>
                    <a:cubicBezTo>
                      <a:pt x="15710" y="0"/>
                      <a:pt x="19193" y="3918"/>
                      <a:pt x="21600" y="10742"/>
                    </a:cubicBezTo>
                  </a:path>
                </a:pathLst>
              </a:custGeom>
              <a:noFill/>
              <a:ln w="28575" cap="rnd">
                <a:solidFill>
                  <a:srgbClr val="CC3300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914400">
                  <a:lnSpc>
                    <a:spcPct val="100000"/>
                  </a:lnSpc>
                  <a:spcBef>
                    <a:spcPts val="0"/>
                  </a:spcBef>
                </a:pPr>
                <a:endParaRPr/>
              </a:p>
            </p:txBody>
          </p:sp>
          <p:sp>
            <p:nvSpPr>
              <p:cNvPr id="92" name="Shape 475"/>
              <p:cNvSpPr/>
              <p:nvPr/>
            </p:nvSpPr>
            <p:spPr>
              <a:xfrm>
                <a:off x="4423476" y="1972137"/>
                <a:ext cx="372861" cy="3589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CC0066"/>
                  </a:gs>
                  <a:gs pos="100000">
                    <a:srgbClr val="5E002F"/>
                  </a:gs>
                </a:gsLst>
                <a:path path="circle">
                  <a:fillToRect l="37721" t="-19636" r="62278" b="119636"/>
                </a:path>
              </a:gradFill>
              <a:ln w="28575" cap="flat">
                <a:solidFill>
                  <a:srgbClr val="CC33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 defTabSz="914400">
                  <a:lnSpc>
                    <a:spcPct val="100000"/>
                  </a:lnSpc>
                  <a:spcBef>
                    <a:spcPts val="0"/>
                  </a:spcBef>
                  <a:defRPr>
                    <a:latin typeface="Arial"/>
                    <a:ea typeface="Arial"/>
                    <a:cs typeface="Arial"/>
                    <a:sym typeface="Arial"/>
                  </a:defRPr>
                </a:pPr>
                <a:endParaRPr/>
              </a:p>
            </p:txBody>
          </p:sp>
          <p:sp>
            <p:nvSpPr>
              <p:cNvPr id="93" name="Shape 476"/>
              <p:cNvSpPr/>
              <p:nvPr/>
            </p:nvSpPr>
            <p:spPr>
              <a:xfrm>
                <a:off x="4379693" y="1817025"/>
                <a:ext cx="408169" cy="6254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037" tIns="46037" rIns="46037" bIns="46037" numCol="1" anchor="t">
                <a:spAutoFit/>
              </a:bodyPr>
              <a:lstStyle>
                <a:lvl1pPr algn="ctr">
                  <a:defRPr sz="3600">
                    <a:solidFill>
                      <a:srgbClr val="FFFF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defRPr>
                </a:lvl1pPr>
              </a:lstStyle>
              <a:p>
                <a:pPr lvl="0">
                  <a:defRPr sz="1800">
                    <a:solidFill>
                      <a:srgbClr val="000000"/>
                    </a:solidFill>
                  </a:defRPr>
                </a:pPr>
                <a:r>
                  <a:rPr sz="3600">
                    <a:solidFill>
                      <a:srgbClr val="FFFF00"/>
                    </a:solidFill>
                  </a:rPr>
                  <a:t>+</a:t>
                </a:r>
              </a:p>
            </p:txBody>
          </p:sp>
        </p:grpSp>
        <p:sp>
          <p:nvSpPr>
            <p:cNvPr id="47" name="椭圆 46"/>
            <p:cNvSpPr/>
            <p:nvPr/>
          </p:nvSpPr>
          <p:spPr>
            <a:xfrm>
              <a:off x="4816786" y="3025714"/>
              <a:ext cx="115254" cy="115254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48" name="椭圆 47"/>
            <p:cNvSpPr/>
            <p:nvPr/>
          </p:nvSpPr>
          <p:spPr>
            <a:xfrm>
              <a:off x="4499992" y="2636912"/>
              <a:ext cx="115254" cy="115254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3707904" y="2996952"/>
              <a:ext cx="115254" cy="115254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3707904" y="3601778"/>
              <a:ext cx="115254" cy="115254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3707904" y="4249850"/>
              <a:ext cx="115254" cy="115254"/>
            </a:xfrm>
            <a:prstGeom prst="ellipse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817554" y="311517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A</a:t>
              </a:r>
              <a:endParaRPr lang="zh-CN" altLang="en-US" b="1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460396" y="2277179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B</a:t>
              </a:r>
              <a:endParaRPr lang="zh-CN" altLang="en-US" b="1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583875" y="270632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C</a:t>
              </a:r>
              <a:endParaRPr lang="zh-CN" altLang="en-US" b="1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854218" y="3446976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D</a:t>
              </a:r>
              <a:endParaRPr lang="zh-CN" altLang="en-US" b="1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54218" y="40876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/>
                <a:t>E</a:t>
              </a:r>
              <a:endParaRPr lang="zh-CN" altLang="en-US" b="1" dirty="0"/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1023296" y="404664"/>
            <a:ext cx="5724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例题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：电势从高到低的顺序？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0647" y="6070246"/>
            <a:ext cx="5873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电场线由电势高的地方指向电势低的地方</a:t>
            </a:r>
          </a:p>
        </p:txBody>
      </p:sp>
    </p:spTree>
    <p:extLst>
      <p:ext uri="{BB962C8B-B14F-4D97-AF65-F5344CB8AC3E}">
        <p14:creationId xmlns:p14="http://schemas.microsoft.com/office/powerpoint/2010/main" val="17648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858" y="291759"/>
            <a:ext cx="4493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762000">
              <a:spcBef>
                <a:spcPts val="1400"/>
              </a:spcBef>
              <a:defRPr sz="1800"/>
            </a:pPr>
            <a:r>
              <a:rPr lang="zh-CN" altLang="en-US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（</a:t>
            </a:r>
            <a:r>
              <a:rPr lang="en-US" altLang="zh-CN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3</a:t>
            </a:r>
            <a:r>
              <a:rPr lang="zh-CN" altLang="en-US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）匀强电场中的电势</a:t>
            </a:r>
            <a:endParaRPr lang="zh-CN" altLang="en-US" sz="3200" dirty="0">
              <a:solidFill>
                <a:srgbClr val="FF0000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032328"/>
              </p:ext>
            </p:extLst>
          </p:nvPr>
        </p:nvGraphicFramePr>
        <p:xfrm>
          <a:off x="2543414" y="1443762"/>
          <a:ext cx="2854325" cy="6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8" name="Equation" r:id="rId4" imgW="1041120" imgH="228600" progId="Equation.DSMT4">
                  <p:embed/>
                </p:oleObj>
              </mc:Choice>
              <mc:Fallback>
                <p:oleObj name="Equation" r:id="rId4" imgW="1041120" imgH="228600" progId="Equation.DSMT4">
                  <p:embed/>
                  <p:pic>
                    <p:nvPicPr>
                      <p:cNvPr id="0" name="Picture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414" y="1443762"/>
                        <a:ext cx="2854325" cy="6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236609"/>
              </p:ext>
            </p:extLst>
          </p:nvPr>
        </p:nvGraphicFramePr>
        <p:xfrm>
          <a:off x="2416862" y="2499742"/>
          <a:ext cx="34813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59" name="Equation" r:id="rId6" imgW="1269720" imgH="228600" progId="Equation.DSMT4">
                  <p:embed/>
                </p:oleObj>
              </mc:Choice>
              <mc:Fallback>
                <p:oleObj name="Equation" r:id="rId6" imgW="1269720" imgH="228600" progId="Equation.DSMT4">
                  <p:embed/>
                  <p:pic>
                    <p:nvPicPr>
                      <p:cNvPr id="0" name="Picture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862" y="2499742"/>
                        <a:ext cx="3481387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524627"/>
              </p:ext>
            </p:extLst>
          </p:nvPr>
        </p:nvGraphicFramePr>
        <p:xfrm>
          <a:off x="2386251" y="3333659"/>
          <a:ext cx="316865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0" name="Equation" r:id="rId8" imgW="1155600" imgH="419040" progId="Equation.DSMT4">
                  <p:embed/>
                </p:oleObj>
              </mc:Choice>
              <mc:Fallback>
                <p:oleObj name="Equation" r:id="rId8" imgW="1155600" imgH="419040" progId="Equation.DSMT4">
                  <p:embed/>
                  <p:pic>
                    <p:nvPicPr>
                      <p:cNvPr id="0" name="Picture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251" y="3333659"/>
                        <a:ext cx="3168650" cy="1187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783" y="569869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en-US" altLang="zh-CN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E</a:t>
            </a:r>
            <a:r>
              <a:rPr lang="zh-CN" altLang="en-US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的量纲</a:t>
            </a:r>
            <a:endParaRPr lang="zh-CN" altLang="en-US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1599" y="148569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电场力做功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1598" y="258053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电势能变化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598" y="365641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电势变化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849661"/>
              </p:ext>
            </p:extLst>
          </p:nvPr>
        </p:nvGraphicFramePr>
        <p:xfrm>
          <a:off x="2432741" y="4506351"/>
          <a:ext cx="1776412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" name="Equation" r:id="rId10" imgW="647419" imgH="393529" progId="Equation.DSMT4">
                  <p:embed/>
                </p:oleObj>
              </mc:Choice>
              <mc:Fallback>
                <p:oleObj name="Equation" r:id="rId10" imgW="647419" imgH="393529" progId="Equation.DSMT4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741" y="4506351"/>
                        <a:ext cx="1776412" cy="1116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699792" y="5747451"/>
            <a:ext cx="2250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1N/C = 1V/m</a:t>
            </a:r>
            <a:endParaRPr lang="zh-CN" altLang="en-US" sz="28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22" y="3284984"/>
            <a:ext cx="2643017" cy="222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5230515" y="5639729"/>
            <a:ext cx="399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17.21 </a:t>
            </a:r>
            <a:r>
              <a:rPr lang="zh-CN" altLang="en-US" dirty="0" smtClean="0"/>
              <a:t>均匀电场中的电场线和等势面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67736" y="2118871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匀强电场中的等势面为垂直于电场线的等间距的平面。</a:t>
            </a:r>
            <a:endParaRPr lang="zh-CN" altLang="en-US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0"/>
            <a:ext cx="2421016" cy="2172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74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353182"/>
            <a:ext cx="7848872" cy="1957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检测题</a:t>
            </a:r>
            <a:r>
              <a:rPr lang="en-US" altLang="zh-CN" sz="2800" b="1" dirty="0" smtClean="0"/>
              <a:t>17.3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 smtClean="0"/>
              <a:t>相邻等势面对应的电势差为</a:t>
            </a:r>
            <a:r>
              <a:rPr lang="en-US" altLang="zh-CN" sz="2800" b="1" dirty="0" smtClean="0"/>
              <a:t>1.0V</a:t>
            </a:r>
            <a:r>
              <a:rPr lang="zh-CN" altLang="en-US" sz="2800" b="1" dirty="0" smtClean="0"/>
              <a:t>。如果电场的大小为</a:t>
            </a:r>
            <a:r>
              <a:rPr lang="en-US" altLang="zh-CN" sz="2800" b="1" dirty="0" smtClean="0"/>
              <a:t>25N/C=25V/m</a:t>
            </a:r>
            <a:r>
              <a:rPr lang="zh-CN" altLang="en-US" sz="2800" b="1" dirty="0" smtClean="0"/>
              <a:t>，相邻等势面的间距为多少？</a:t>
            </a:r>
            <a:endParaRPr lang="zh-CN" altLang="en-US" sz="28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564904"/>
            <a:ext cx="3479857" cy="2923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179685"/>
              </p:ext>
            </p:extLst>
          </p:nvPr>
        </p:nvGraphicFramePr>
        <p:xfrm>
          <a:off x="395536" y="2852936"/>
          <a:ext cx="4989458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8" name="Equation" r:id="rId4" imgW="2273040" imgH="393480" progId="Equation.DSMT4">
                  <p:embed/>
                </p:oleObj>
              </mc:Choice>
              <mc:Fallback>
                <p:oleObj name="Equation" r:id="rId4" imgW="2273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2852936"/>
                        <a:ext cx="4989458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927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395536" y="1844824"/>
            <a:ext cx="8281614" cy="1284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en-US" altLang="zh-CN" dirty="0" smtClean="0"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dirty="0" smtClean="0">
                <a:latin typeface="+mn-ea"/>
                <a:ea typeface="+mn-ea"/>
              </a:rPr>
              <a:t>静电平衡下的导体</a:t>
            </a:r>
            <a:r>
              <a:rPr kumimoji="1" lang="zh-CN" altLang="en-US" dirty="0">
                <a:latin typeface="+mn-ea"/>
                <a:ea typeface="+mn-ea"/>
              </a:rPr>
              <a:t>内部和导体表面处处电势相等，整个导体是个等势体，导体表面成为等势面。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84" y="836712"/>
            <a:ext cx="3595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762000">
              <a:spcBef>
                <a:spcPts val="1400"/>
              </a:spcBef>
              <a:defRPr sz="1800"/>
            </a:pPr>
            <a:r>
              <a:rPr lang="zh-CN" altLang="en-US" sz="2800" b="1" dirty="0" smtClean="0">
                <a:solidFill>
                  <a:srgbClr val="0000CC"/>
                </a:solidFill>
                <a:latin typeface="SimHei"/>
                <a:ea typeface="SimHei"/>
                <a:cs typeface="SimHei"/>
                <a:sym typeface="SimHei"/>
              </a:rPr>
              <a:t>（</a:t>
            </a:r>
            <a:r>
              <a:rPr lang="en-US" altLang="zh-CN" sz="2800" b="1" dirty="0" smtClean="0">
                <a:solidFill>
                  <a:srgbClr val="0000CC"/>
                </a:solidFill>
                <a:latin typeface="SimHei"/>
                <a:ea typeface="SimHei"/>
                <a:cs typeface="SimHei"/>
                <a:sym typeface="SimHei"/>
              </a:rPr>
              <a:t>4</a:t>
            </a:r>
            <a:r>
              <a:rPr lang="zh-CN" altLang="en-US" sz="2800" b="1" dirty="0" smtClean="0">
                <a:solidFill>
                  <a:srgbClr val="0000CC"/>
                </a:solidFill>
                <a:latin typeface="SimHei"/>
                <a:ea typeface="SimHei"/>
                <a:cs typeface="SimHei"/>
                <a:sym typeface="SimHei"/>
              </a:rPr>
              <a:t>）导体内部的电势</a:t>
            </a:r>
            <a:endParaRPr lang="zh-CN" altLang="en-US" sz="2800" b="1" dirty="0">
              <a:solidFill>
                <a:srgbClr val="0000CC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</p:spTree>
    <p:extLst>
      <p:ext uri="{BB962C8B-B14F-4D97-AF65-F5344CB8AC3E}">
        <p14:creationId xmlns:p14="http://schemas.microsoft.com/office/powerpoint/2010/main" val="207602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06364" y="1627361"/>
            <a:ext cx="8425262" cy="41044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23774" y="260648"/>
            <a:ext cx="81280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特例：</a:t>
            </a:r>
            <a:r>
              <a:rPr kumimoji="1" lang="zh-CN" altLang="en-US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相距很远</a:t>
            </a:r>
            <a:r>
              <a:rPr kumimoji="1" lang="zh-CN" altLang="en-US" dirty="0">
                <a:latin typeface="楷体" pitchFamily="49" charset="-122"/>
                <a:ea typeface="楷体" pitchFamily="49" charset="-122"/>
              </a:rPr>
              <a:t>的大小导体球用导线相连接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8389" y="3208289"/>
            <a:ext cx="252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dirty="0">
                <a:latin typeface="楷体" pitchFamily="49" charset="-122"/>
                <a:ea typeface="楷体" pitchFamily="49" charset="-122"/>
              </a:rPr>
              <a:t>电势相等：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407285"/>
              </p:ext>
            </p:extLst>
          </p:nvPr>
        </p:nvGraphicFramePr>
        <p:xfrm>
          <a:off x="506289" y="3839812"/>
          <a:ext cx="2409824" cy="1036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88" name="公式" r:id="rId4" imgW="1002865" imgH="431613" progId="Equation.3">
                  <p:embed/>
                </p:oleObj>
              </mc:Choice>
              <mc:Fallback>
                <p:oleObj name="公式" r:id="rId4" imgW="1002865" imgH="431613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89" y="3839812"/>
                        <a:ext cx="2409824" cy="10369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165445"/>
              </p:ext>
            </p:extLst>
          </p:nvPr>
        </p:nvGraphicFramePr>
        <p:xfrm>
          <a:off x="3046413" y="4560888"/>
          <a:ext cx="4430712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89" name="Equation" r:id="rId6" imgW="1854000" imgH="469800" progId="Equation.DSMT4">
                  <p:embed/>
                </p:oleObj>
              </mc:Choice>
              <mc:Fallback>
                <p:oleObj name="Equation" r:id="rId6" imgW="1854000" imgH="46980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4560888"/>
                        <a:ext cx="4430712" cy="1123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909638" y="1779351"/>
            <a:ext cx="5832475" cy="2247900"/>
            <a:chOff x="975" y="663"/>
            <a:chExt cx="3674" cy="1416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1020" y="981"/>
              <a:ext cx="952" cy="953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Oval 9"/>
            <p:cNvSpPr>
              <a:spLocks noChangeArrowheads="1"/>
            </p:cNvSpPr>
            <p:nvPr/>
          </p:nvSpPr>
          <p:spPr bwMode="auto">
            <a:xfrm>
              <a:off x="3969" y="1298"/>
              <a:ext cx="409" cy="408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5400000" scaled="1"/>
            </a:gra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1980" y="1428"/>
              <a:ext cx="855" cy="651"/>
            </a:xfrm>
            <a:custGeom>
              <a:avLst/>
              <a:gdLst>
                <a:gd name="T0" fmla="*/ 0 w 855"/>
                <a:gd name="T1" fmla="*/ 0 h 651"/>
                <a:gd name="T2" fmla="*/ 81 w 855"/>
                <a:gd name="T3" fmla="*/ 27 h 651"/>
                <a:gd name="T4" fmla="*/ 108 w 855"/>
                <a:gd name="T5" fmla="*/ 90 h 651"/>
                <a:gd name="T6" fmla="*/ 225 w 855"/>
                <a:gd name="T7" fmla="*/ 288 h 651"/>
                <a:gd name="T8" fmla="*/ 351 w 855"/>
                <a:gd name="T9" fmla="*/ 405 h 651"/>
                <a:gd name="T10" fmla="*/ 405 w 855"/>
                <a:gd name="T11" fmla="*/ 441 h 651"/>
                <a:gd name="T12" fmla="*/ 450 w 855"/>
                <a:gd name="T13" fmla="*/ 486 h 651"/>
                <a:gd name="T14" fmla="*/ 468 w 855"/>
                <a:gd name="T15" fmla="*/ 540 h 651"/>
                <a:gd name="T16" fmla="*/ 639 w 855"/>
                <a:gd name="T17" fmla="*/ 648 h 651"/>
                <a:gd name="T18" fmla="*/ 855 w 855"/>
                <a:gd name="T19" fmla="*/ 648 h 6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55" h="651">
                  <a:moveTo>
                    <a:pt x="0" y="0"/>
                  </a:moveTo>
                  <a:cubicBezTo>
                    <a:pt x="26" y="4"/>
                    <a:pt x="62" y="3"/>
                    <a:pt x="81" y="27"/>
                  </a:cubicBezTo>
                  <a:cubicBezTo>
                    <a:pt x="95" y="45"/>
                    <a:pt x="96" y="71"/>
                    <a:pt x="108" y="90"/>
                  </a:cubicBezTo>
                  <a:cubicBezTo>
                    <a:pt x="151" y="159"/>
                    <a:pt x="199" y="211"/>
                    <a:pt x="225" y="288"/>
                  </a:cubicBezTo>
                  <a:cubicBezTo>
                    <a:pt x="243" y="343"/>
                    <a:pt x="306" y="378"/>
                    <a:pt x="351" y="405"/>
                  </a:cubicBezTo>
                  <a:cubicBezTo>
                    <a:pt x="370" y="416"/>
                    <a:pt x="405" y="441"/>
                    <a:pt x="405" y="441"/>
                  </a:cubicBezTo>
                  <a:cubicBezTo>
                    <a:pt x="417" y="459"/>
                    <a:pt x="439" y="468"/>
                    <a:pt x="450" y="486"/>
                  </a:cubicBezTo>
                  <a:cubicBezTo>
                    <a:pt x="460" y="502"/>
                    <a:pt x="462" y="522"/>
                    <a:pt x="468" y="540"/>
                  </a:cubicBezTo>
                  <a:cubicBezTo>
                    <a:pt x="490" y="605"/>
                    <a:pt x="574" y="646"/>
                    <a:pt x="639" y="648"/>
                  </a:cubicBezTo>
                  <a:cubicBezTo>
                    <a:pt x="711" y="651"/>
                    <a:pt x="783" y="648"/>
                    <a:pt x="855" y="6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2835" y="1979"/>
              <a:ext cx="5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3438" y="1428"/>
              <a:ext cx="540" cy="531"/>
            </a:xfrm>
            <a:custGeom>
              <a:avLst/>
              <a:gdLst>
                <a:gd name="T0" fmla="*/ 0 w 540"/>
                <a:gd name="T1" fmla="*/ 531 h 531"/>
                <a:gd name="T2" fmla="*/ 63 w 540"/>
                <a:gd name="T3" fmla="*/ 522 h 531"/>
                <a:gd name="T4" fmla="*/ 117 w 540"/>
                <a:gd name="T5" fmla="*/ 504 h 531"/>
                <a:gd name="T6" fmla="*/ 189 w 540"/>
                <a:gd name="T7" fmla="*/ 423 h 531"/>
                <a:gd name="T8" fmla="*/ 198 w 540"/>
                <a:gd name="T9" fmla="*/ 396 h 531"/>
                <a:gd name="T10" fmla="*/ 216 w 540"/>
                <a:gd name="T11" fmla="*/ 369 h 531"/>
                <a:gd name="T12" fmla="*/ 252 w 540"/>
                <a:gd name="T13" fmla="*/ 288 h 531"/>
                <a:gd name="T14" fmla="*/ 288 w 540"/>
                <a:gd name="T15" fmla="*/ 153 h 531"/>
                <a:gd name="T16" fmla="*/ 324 w 540"/>
                <a:gd name="T17" fmla="*/ 63 h 531"/>
                <a:gd name="T18" fmla="*/ 468 w 540"/>
                <a:gd name="T19" fmla="*/ 0 h 531"/>
                <a:gd name="T20" fmla="*/ 540 w 540"/>
                <a:gd name="T21" fmla="*/ 9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0" h="531">
                  <a:moveTo>
                    <a:pt x="0" y="531"/>
                  </a:moveTo>
                  <a:cubicBezTo>
                    <a:pt x="21" y="528"/>
                    <a:pt x="42" y="527"/>
                    <a:pt x="63" y="522"/>
                  </a:cubicBezTo>
                  <a:cubicBezTo>
                    <a:pt x="81" y="518"/>
                    <a:pt x="117" y="504"/>
                    <a:pt x="117" y="504"/>
                  </a:cubicBezTo>
                  <a:cubicBezTo>
                    <a:pt x="143" y="478"/>
                    <a:pt x="163" y="449"/>
                    <a:pt x="189" y="423"/>
                  </a:cubicBezTo>
                  <a:cubicBezTo>
                    <a:pt x="192" y="414"/>
                    <a:pt x="194" y="404"/>
                    <a:pt x="198" y="396"/>
                  </a:cubicBezTo>
                  <a:cubicBezTo>
                    <a:pt x="203" y="386"/>
                    <a:pt x="212" y="379"/>
                    <a:pt x="216" y="369"/>
                  </a:cubicBezTo>
                  <a:cubicBezTo>
                    <a:pt x="259" y="273"/>
                    <a:pt x="211" y="349"/>
                    <a:pt x="252" y="288"/>
                  </a:cubicBezTo>
                  <a:cubicBezTo>
                    <a:pt x="261" y="241"/>
                    <a:pt x="273" y="199"/>
                    <a:pt x="288" y="153"/>
                  </a:cubicBezTo>
                  <a:cubicBezTo>
                    <a:pt x="298" y="124"/>
                    <a:pt x="299" y="85"/>
                    <a:pt x="324" y="63"/>
                  </a:cubicBezTo>
                  <a:cubicBezTo>
                    <a:pt x="367" y="25"/>
                    <a:pt x="415" y="13"/>
                    <a:pt x="468" y="0"/>
                  </a:cubicBezTo>
                  <a:cubicBezTo>
                    <a:pt x="492" y="3"/>
                    <a:pt x="540" y="9"/>
                    <a:pt x="540" y="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111" y="663"/>
              <a:ext cx="108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 i="1"/>
                <a:t>Q</a:t>
              </a:r>
              <a:r>
                <a:rPr kumimoji="1" lang="en-US" altLang="zh-CN" sz="2600"/>
                <a:t>,</a:t>
              </a:r>
              <a:r>
                <a:rPr kumimoji="1" lang="en-US" altLang="zh-CN" sz="2600" i="1"/>
                <a:t>R</a:t>
              </a:r>
              <a:r>
                <a:rPr kumimoji="1" lang="en-US" altLang="zh-CN" sz="2600"/>
                <a:t>,</a:t>
              </a:r>
              <a:r>
                <a:rPr kumimoji="1" lang="en-US" altLang="zh-CN" sz="2600" i="1">
                  <a:sym typeface="Symbol" pitchFamily="18" charset="2"/>
                </a:rPr>
                <a:t></a:t>
              </a:r>
              <a:r>
                <a:rPr kumimoji="1" lang="en-US" altLang="zh-CN" sz="2600" baseline="-25000">
                  <a:sym typeface="Symbol" pitchFamily="18" charset="2"/>
                </a:rPr>
                <a:t>1</a:t>
              </a:r>
              <a:endParaRPr kumimoji="1" lang="en-US" altLang="zh-CN" sz="2600">
                <a:sym typeface="Symbol" pitchFamily="18" charset="2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3833" y="935"/>
              <a:ext cx="81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 i="1"/>
                <a:t>q</a:t>
              </a:r>
              <a:r>
                <a:rPr kumimoji="1" lang="en-US" altLang="zh-CN" sz="2600"/>
                <a:t>,</a:t>
              </a:r>
              <a:r>
                <a:rPr kumimoji="1" lang="en-US" altLang="zh-CN" sz="2600" i="1"/>
                <a:t>r</a:t>
              </a:r>
              <a:r>
                <a:rPr kumimoji="1" lang="en-US" altLang="zh-CN" sz="2600"/>
                <a:t>,</a:t>
              </a:r>
              <a:r>
                <a:rPr kumimoji="1" lang="en-US" altLang="zh-CN" sz="2600" i="1">
                  <a:sym typeface="Symbol" pitchFamily="18" charset="2"/>
                </a:rPr>
                <a:t></a:t>
              </a:r>
              <a:r>
                <a:rPr kumimoji="1" lang="en-US" altLang="zh-CN" sz="2600" baseline="-25000">
                  <a:sym typeface="Symbol" pitchFamily="18" charset="2"/>
                </a:rPr>
                <a:t>2</a:t>
              </a:r>
              <a:endParaRPr kumimoji="1" lang="en-US" altLang="zh-CN" sz="2600">
                <a:sym typeface="Symbol" pitchFamily="18" charset="2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338" y="890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975" y="1117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 dirty="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383" y="1706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746" y="1525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1701" y="1072"/>
              <a:ext cx="317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 dirty="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3923" y="1253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4077" y="1181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3923" y="1434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4197" y="1308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4105" y="1480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1066" y="1525"/>
              <a:ext cx="22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60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046036" y="837985"/>
            <a:ext cx="6657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求两球电荷面密度和曲率半径关系</a:t>
            </a:r>
            <a:endParaRPr lang="zh-CN" alt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6886694" y="3565289"/>
            <a:ext cx="1753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小球电荷面密度大，大球电荷面密度小。</a:t>
            </a:r>
            <a:endParaRPr lang="zh-CN" altLang="en-US" sz="2000" b="1" dirty="0"/>
          </a:p>
        </p:txBody>
      </p:sp>
      <p:sp>
        <p:nvSpPr>
          <p:cNvPr id="28" name="矩形 27"/>
          <p:cNvSpPr/>
          <p:nvPr/>
        </p:nvSpPr>
        <p:spPr>
          <a:xfrm>
            <a:off x="5341949" y="5841209"/>
            <a:ext cx="35397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小球和大球所带电荷量不同。</a:t>
            </a:r>
            <a:endParaRPr lang="zh-CN" alt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664944" y="5854873"/>
            <a:ext cx="4502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大球和小球所带的电荷量相同吗？</a:t>
            </a:r>
            <a:endParaRPr lang="zh-CN" altLang="en-US" sz="2400" b="1" dirty="0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497402"/>
              </p:ext>
            </p:extLst>
          </p:nvPr>
        </p:nvGraphicFramePr>
        <p:xfrm>
          <a:off x="1273108" y="4892364"/>
          <a:ext cx="960380" cy="772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90" name="Equation" r:id="rId8" imgW="520560" imgH="419040" progId="Equation.DSMT4">
                  <p:embed/>
                </p:oleObj>
              </mc:Choice>
              <mc:Fallback>
                <p:oleObj name="Equation" r:id="rId8" imgW="520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73108" y="4892364"/>
                        <a:ext cx="960380" cy="772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08403" y="6316538"/>
            <a:ext cx="7780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曲率半径越小（曲率越大），电荷面密度越大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  <p:bldP spid="28" grpId="0"/>
      <p:bldP spid="29" grpId="0"/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44573"/>
            <a:ext cx="84969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/>
              <a:t>两个不同半径的实心金属球彼此远离，将它们用一根细金属线连接。在其中一个金属球上放一些电荷，达到静电平衡后将金属线移开。以下哪些量对两个金属球来说是相等的？</a:t>
            </a:r>
            <a:endParaRPr lang="en-US" altLang="zh-CN" sz="2800" b="1" dirty="0" smtClean="0"/>
          </a:p>
          <a:p>
            <a:pPr>
              <a:lnSpc>
                <a:spcPct val="150000"/>
              </a:lnSpc>
            </a:pPr>
            <a:r>
              <a:rPr lang="en-US" altLang="zh-CN" sz="2800" b="1" dirty="0" smtClean="0"/>
              <a:t>A.</a:t>
            </a:r>
            <a:r>
              <a:rPr lang="zh-CN" altLang="en-US" sz="2800" b="1" dirty="0" smtClean="0"/>
              <a:t>每个球上所带电荷</a:t>
            </a:r>
            <a:r>
              <a:rPr lang="zh-CN" altLang="zh-CN" sz="2800" b="1" dirty="0" smtClean="0"/>
              <a:t> 。</a:t>
            </a:r>
            <a:endParaRPr lang="zh-CN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B</a:t>
            </a:r>
            <a:r>
              <a:rPr lang="en-US" altLang="zh-CN" sz="2800" b="1" dirty="0" smtClean="0"/>
              <a:t>.</a:t>
            </a:r>
            <a:r>
              <a:rPr lang="zh-CN" altLang="en-US" sz="2800" b="1" dirty="0" smtClean="0"/>
              <a:t>两个金属球内离开球心相同距离处的电场</a:t>
            </a:r>
            <a:r>
              <a:rPr lang="zh-CN" altLang="zh-CN" sz="2800" b="1" dirty="0" smtClean="0"/>
              <a:t> 。</a:t>
            </a:r>
            <a:endParaRPr lang="zh-CN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C</a:t>
            </a:r>
            <a:r>
              <a:rPr lang="en-US" altLang="zh-CN" sz="2800" b="1" dirty="0" smtClean="0"/>
              <a:t>.</a:t>
            </a:r>
            <a:r>
              <a:rPr lang="zh-CN" altLang="en-US" sz="2800" b="1" dirty="0" smtClean="0"/>
              <a:t>两个金属球外紧邻表面处电场</a:t>
            </a:r>
            <a:r>
              <a:rPr lang="zh-CN" altLang="zh-CN" sz="2800" b="1" dirty="0" smtClean="0"/>
              <a:t>。</a:t>
            </a:r>
            <a:endParaRPr lang="zh-CN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D</a:t>
            </a:r>
            <a:r>
              <a:rPr lang="en-US" altLang="zh-CN" sz="2800" b="1" dirty="0" smtClean="0"/>
              <a:t>.</a:t>
            </a:r>
            <a:r>
              <a:rPr lang="zh-CN" altLang="en-US" sz="2800" b="1" dirty="0" smtClean="0"/>
              <a:t>两个金属球表面的电势</a:t>
            </a:r>
            <a:r>
              <a:rPr lang="zh-CN" altLang="zh-CN" sz="2800" b="1" dirty="0" smtClean="0"/>
              <a:t>。</a:t>
            </a:r>
            <a:endParaRPr lang="zh-CN" altLang="zh-C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620688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solidFill>
                  <a:srgbClr val="0000CC"/>
                </a:solidFill>
              </a:rPr>
              <a:t>多项选择题：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591278"/>
              </p:ext>
            </p:extLst>
          </p:nvPr>
        </p:nvGraphicFramePr>
        <p:xfrm>
          <a:off x="5988050" y="5084763"/>
          <a:ext cx="14890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4" name="Equation" r:id="rId4" imgW="634680" imgH="228600" progId="Equation.DSMT4">
                  <p:embed/>
                </p:oleObj>
              </mc:Choice>
              <mc:Fallback>
                <p:oleObj name="Equation" r:id="rId4" imgW="634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88050" y="5084763"/>
                        <a:ext cx="1489075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357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9552" y="817880"/>
            <a:ext cx="8208912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两个不同半径的实心金属球彼此远离，将它们用一根细金属线连接。在其中一个金属球上放一些电荷，达到静电平衡后将金属线移开。以下哪些量对两个金属球来说是相等的？</a:t>
            </a:r>
            <a:endParaRPr lang="en-US" altLang="zh-CN" sz="2400" b="1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每个球上所带电荷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两个金属球内离开球心相同距离处的电场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两个金属球外紧邻表面处电场</a:t>
            </a:r>
            <a:r>
              <a:rPr lang="zh-CN" altLang="zh-CN" sz="2400" b="1" dirty="0"/>
              <a:t>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两个金属球表面的电势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850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237" y="326880"/>
            <a:ext cx="57246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762000">
              <a:spcBef>
                <a:spcPts val="1400"/>
              </a:spcBef>
              <a:defRPr sz="1800"/>
            </a:pPr>
            <a:r>
              <a:rPr lang="en-US" altLang="zh-CN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§17.4  </a:t>
            </a:r>
            <a:r>
              <a:rPr lang="zh-CN" altLang="en-US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运动</a:t>
            </a:r>
            <a:r>
              <a:rPr lang="zh-CN" altLang="en-US" sz="3200" dirty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电荷的</a:t>
            </a:r>
            <a:r>
              <a:rPr lang="zh-CN" altLang="en-US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能量守恒</a:t>
            </a:r>
            <a:r>
              <a:rPr lang="en-US" altLang="zh-CN" sz="3200" dirty="0" smtClean="0">
                <a:solidFill>
                  <a:srgbClr val="0000FF"/>
                </a:solidFill>
                <a:latin typeface="SimHei"/>
                <a:ea typeface="SimHei"/>
                <a:cs typeface="SimHei"/>
                <a:sym typeface="SimHei"/>
              </a:rPr>
              <a:t>*</a:t>
            </a:r>
            <a:endParaRPr lang="zh-CN" altLang="en-US" sz="3200" dirty="0">
              <a:solidFill>
                <a:srgbClr val="FF0000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1412775"/>
            <a:ext cx="77768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 smtClean="0">
                <a:latin typeface="黑体" pitchFamily="49" charset="-122"/>
                <a:ea typeface="黑体" pitchFamily="49" charset="-122"/>
              </a:rPr>
              <a:t>如果没有其他外力作用，点电荷在电场中运动，其动能和电势能的和不变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943267"/>
              </p:ext>
            </p:extLst>
          </p:nvPr>
        </p:nvGraphicFramePr>
        <p:xfrm>
          <a:off x="1743174" y="3284984"/>
          <a:ext cx="508158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1" name="Equation" r:id="rId3" imgW="1854200" imgH="241300" progId="Equation.DSMT4">
                  <p:embed/>
                </p:oleObj>
              </mc:Choice>
              <mc:Fallback>
                <p:oleObj name="Equation" r:id="rId3" imgW="1854200" imgH="24130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174" y="3284984"/>
                        <a:ext cx="5081587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1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5410944" cy="994122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例 </a:t>
            </a:r>
            <a:r>
              <a:rPr lang="en-US" altLang="zh-CN" sz="3200" dirty="0" smtClean="0">
                <a:latin typeface="黑体" pitchFamily="49" charset="-122"/>
                <a:ea typeface="黑体" pitchFamily="49" charset="-122"/>
              </a:rPr>
              <a:t>17.8  CRT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</a:rPr>
              <a:t>中的电子枪*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182762"/>
                <a:ext cx="8229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zh-CN" altLang="en-US" sz="2600" dirty="0" smtClean="0">
                    <a:latin typeface="黑体" pitchFamily="49" charset="-122"/>
                    <a:ea typeface="黑体" pitchFamily="49" charset="-122"/>
                  </a:rPr>
                  <a:t>在电子枪中，由于阳极电势高于阴极，因此电子在从阴极运动到阳极过程中将被加速（见图</a:t>
                </a:r>
                <a:r>
                  <a:rPr lang="en-US" altLang="zh-CN" sz="2600" dirty="0" smtClean="0">
                    <a:latin typeface="黑体" pitchFamily="49" charset="-122"/>
                    <a:ea typeface="黑体" pitchFamily="49" charset="-122"/>
                  </a:rPr>
                  <a:t>16.25</a:t>
                </a:r>
                <a:r>
                  <a:rPr lang="zh-CN" altLang="en-US" sz="2600" dirty="0" smtClean="0">
                    <a:latin typeface="黑体" pitchFamily="49" charset="-122"/>
                    <a:ea typeface="黑体" pitchFamily="49" charset="-122"/>
                  </a:rPr>
                  <a:t>）。如果阴极和阳极间电势差为</a:t>
                </a:r>
                <a:r>
                  <a:rPr lang="en-US" altLang="zh-CN" sz="2600" dirty="0" smtClean="0">
                    <a:latin typeface="黑体" pitchFamily="49" charset="-122"/>
                    <a:ea typeface="黑体" pitchFamily="49" charset="-122"/>
                  </a:rPr>
                  <a:t>12kv</a:t>
                </a:r>
                <a:r>
                  <a:rPr lang="zh-CN" altLang="en-US" sz="2600" dirty="0" smtClean="0">
                    <a:latin typeface="黑体" pitchFamily="49" charset="-122"/>
                    <a:ea typeface="黑体" pitchFamily="49" charset="-122"/>
                  </a:rPr>
                  <a:t>，电子到达阳极时具有多大的速率？假设电子离开阳极时的初始动能可忽略不计。</a:t>
                </a:r>
                <a:endParaRPr lang="en-US" altLang="zh-CN" sz="2600" dirty="0" smtClean="0">
                  <a:latin typeface="黑体" pitchFamily="49" charset="-122"/>
                  <a:ea typeface="黑体" pitchFamily="49" charset="-122"/>
                </a:endParaRPr>
              </a:p>
              <a:p>
                <a:r>
                  <a:rPr lang="zh-CN" altLang="en-US" sz="2800" dirty="0" smtClean="0">
                    <a:latin typeface="黑体" pitchFamily="49" charset="-122"/>
                    <a:ea typeface="黑体" pitchFamily="49" charset="-122"/>
                  </a:rPr>
                  <a:t>能量守恒</a:t>
                </a:r>
                <a:endParaRPr lang="en-US" altLang="zh-CN" sz="2800" dirty="0" smtClean="0">
                  <a:latin typeface="黑体" pitchFamily="49" charset="-122"/>
                  <a:ea typeface="黑体" pitchFamily="49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 smtClean="0"/>
                  <a:t>=0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/>
                      </a:rPr>
                      <m:t>         </m:t>
                    </m:r>
                    <m:r>
                      <a:rPr lang="en-US" altLang="zh-CN">
                        <a:latin typeface="Cambria Math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>
                        <a:latin typeface="Cambria Math"/>
                      </a:rPr>
                      <m:t>U</m:t>
                    </m:r>
                    <m:r>
                      <a:rPr lang="en-US" altLang="zh-CN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/>
                      </a:rPr>
                      <m:t>𝑚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 smtClean="0"/>
                  <a:t>= -</a:t>
                </a:r>
                <a:r>
                  <a:rPr lang="en-US" altLang="zh-CN" i="1" dirty="0" smtClean="0"/>
                  <a:t>q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∆</m:t>
                    </m:r>
                    <m:r>
                      <a:rPr lang="en-US" altLang="zh-CN" b="0" i="1" smtClean="0">
                        <a:latin typeface="Cambria Math"/>
                      </a:rPr>
                      <m:t>𝑉</m:t>
                    </m:r>
                  </m:oMath>
                </a14:m>
                <a:endParaRPr lang="zh-CN" altLang="zh-CN" i="1" dirty="0"/>
              </a:p>
              <a:p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182762"/>
                <a:ext cx="8229600" cy="4525963"/>
              </a:xfrm>
              <a:blipFill>
                <a:blip r:embed="rId2"/>
                <a:stretch>
                  <a:fillRect l="-1185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5724128" y="3861048"/>
            <a:ext cx="26277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电子的末速率只依赖于阴极阳极间的电势差，而和阴极阳极间的距离无关。</a:t>
            </a:r>
          </a:p>
        </p:txBody>
      </p:sp>
    </p:spTree>
    <p:extLst>
      <p:ext uri="{BB962C8B-B14F-4D97-AF65-F5344CB8AC3E}">
        <p14:creationId xmlns:p14="http://schemas.microsoft.com/office/powerpoint/2010/main" val="346687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1484784"/>
            <a:ext cx="6768752" cy="2448272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b="1" dirty="0" smtClean="0"/>
              <a:t>练习：</a:t>
            </a:r>
            <a:r>
              <a:rPr lang="en-US" altLang="zh-CN" sz="4000" b="1" dirty="0" smtClean="0"/>
              <a:t/>
            </a:r>
            <a:br>
              <a:rPr lang="en-US" altLang="zh-CN" sz="4000" b="1" dirty="0" smtClean="0"/>
            </a:br>
            <a:r>
              <a:rPr lang="en-US" altLang="zh-CN" sz="4000" b="1" dirty="0" smtClean="0"/>
              <a:t>59</a:t>
            </a:r>
            <a:r>
              <a:rPr lang="zh-CN" altLang="en-US" sz="4000" b="1" dirty="0"/>
              <a:t>页，</a:t>
            </a:r>
            <a:r>
              <a:rPr lang="en-US" altLang="zh-CN" sz="4000" b="1" dirty="0" smtClean="0"/>
              <a:t>60</a:t>
            </a:r>
            <a:r>
              <a:rPr lang="zh-CN" altLang="en-US" sz="4000" b="1" dirty="0" smtClean="0"/>
              <a:t>页</a:t>
            </a:r>
            <a:r>
              <a:rPr lang="en-US" altLang="zh-CN" sz="4000" b="1" dirty="0" smtClean="0"/>
              <a:t/>
            </a:r>
            <a:br>
              <a:rPr lang="en-US" altLang="zh-CN" sz="4000" b="1" dirty="0" smtClean="0"/>
            </a:br>
            <a:r>
              <a:rPr lang="en-US" altLang="zh-CN" sz="4000" b="1" dirty="0" smtClean="0"/>
              <a:t>18</a:t>
            </a:r>
            <a:r>
              <a:rPr lang="zh-CN" altLang="en-US" sz="4000" b="1" dirty="0" smtClean="0"/>
              <a:t>、</a:t>
            </a:r>
            <a:r>
              <a:rPr lang="en-US" altLang="zh-CN" sz="4000" b="1" dirty="0" smtClean="0"/>
              <a:t>21</a:t>
            </a:r>
            <a:r>
              <a:rPr lang="zh-CN" altLang="en-US" sz="4000" b="1" dirty="0" smtClean="0"/>
              <a:t>、</a:t>
            </a:r>
            <a:r>
              <a:rPr lang="en-US" altLang="zh-CN" sz="4000" b="1" dirty="0" smtClean="0"/>
              <a:t>22</a:t>
            </a:r>
            <a:r>
              <a:rPr lang="zh-CN" altLang="en-US" sz="4000" b="1" dirty="0" smtClean="0"/>
              <a:t>题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73759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2878</TotalTime>
  <Words>2218</Words>
  <Application>Microsoft Office PowerPoint</Application>
  <PresentationFormat>全屏显示(4:3)</PresentationFormat>
  <Paragraphs>301</Paragraphs>
  <Slides>35</Slides>
  <Notes>16</Notes>
  <HiddenSlides>7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 Unicode MS</vt:lpstr>
      <vt:lpstr>Microsoft Yahei</vt:lpstr>
      <vt:lpstr>黑体</vt:lpstr>
      <vt:lpstr>黑体</vt:lpstr>
      <vt:lpstr>楷体</vt:lpstr>
      <vt:lpstr>宋体</vt:lpstr>
      <vt:lpstr>Arial</vt:lpstr>
      <vt:lpstr>Bookman Old Style</vt:lpstr>
      <vt:lpstr>Calibri</vt:lpstr>
      <vt:lpstr>Cambria Math</vt:lpstr>
      <vt:lpstr>Helvetica</vt:lpstr>
      <vt:lpstr>Symbol</vt:lpstr>
      <vt:lpstr>Times New Roman</vt:lpstr>
      <vt:lpstr>Wingdings</vt:lpstr>
      <vt:lpstr>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17.8  CRT中的电子枪*</vt:lpstr>
      <vt:lpstr>练习： 59页，60页 18、21、22题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大学物理学</dc:title>
  <dc:creator>微软用户</dc:creator>
  <cp:lastModifiedBy>hsl</cp:lastModifiedBy>
  <cp:revision>192</cp:revision>
  <cp:lastPrinted>2016-10-19T00:48:23Z</cp:lastPrinted>
  <dcterms:created xsi:type="dcterms:W3CDTF">2015-10-08T09:22:11Z</dcterms:created>
  <dcterms:modified xsi:type="dcterms:W3CDTF">2021-04-19T16:16:28Z</dcterms:modified>
</cp:coreProperties>
</file>