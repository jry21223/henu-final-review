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0" r:id="rId2"/>
    <p:sldId id="285" r:id="rId3"/>
    <p:sldId id="259" r:id="rId4"/>
    <p:sldId id="290" r:id="rId5"/>
    <p:sldId id="291" r:id="rId6"/>
    <p:sldId id="286" r:id="rId7"/>
    <p:sldId id="282" r:id="rId8"/>
    <p:sldId id="262" r:id="rId9"/>
    <p:sldId id="267" r:id="rId10"/>
    <p:sldId id="268" r:id="rId11"/>
    <p:sldId id="287" r:id="rId12"/>
    <p:sldId id="283" r:id="rId13"/>
    <p:sldId id="278" r:id="rId14"/>
    <p:sldId id="284" r:id="rId15"/>
    <p:sldId id="292" r:id="rId16"/>
    <p:sldId id="288" r:id="rId17"/>
    <p:sldId id="269" r:id="rId18"/>
    <p:sldId id="270" r:id="rId19"/>
    <p:sldId id="271" r:id="rId20"/>
    <p:sldId id="272" r:id="rId21"/>
    <p:sldId id="289" r:id="rId22"/>
    <p:sldId id="261" r:id="rId23"/>
    <p:sldId id="273" r:id="rId24"/>
    <p:sldId id="277" r:id="rId25"/>
    <p:sldId id="275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43" autoAdjust="0"/>
    <p:restoredTop sz="91864" autoAdjust="0"/>
  </p:normalViewPr>
  <p:slideViewPr>
    <p:cSldViewPr snapToGrid="0">
      <p:cViewPr varScale="1">
        <p:scale>
          <a:sx n="83" d="100"/>
          <a:sy n="83" d="100"/>
        </p:scale>
        <p:origin x="102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wmf"/><Relationship Id="rId1" Type="http://schemas.openxmlformats.org/officeDocument/2006/relationships/image" Target="../media/image36.emf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4" Type="http://schemas.openxmlformats.org/officeDocument/2006/relationships/image" Target="../media/image47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50.emf"/><Relationship Id="rId7" Type="http://schemas.openxmlformats.org/officeDocument/2006/relationships/image" Target="../media/image54.emf"/><Relationship Id="rId2" Type="http://schemas.openxmlformats.org/officeDocument/2006/relationships/image" Target="../media/image49.emf"/><Relationship Id="rId1" Type="http://schemas.openxmlformats.org/officeDocument/2006/relationships/image" Target="../media/image48.emf"/><Relationship Id="rId6" Type="http://schemas.openxmlformats.org/officeDocument/2006/relationships/image" Target="../media/image53.emf"/><Relationship Id="rId5" Type="http://schemas.openxmlformats.org/officeDocument/2006/relationships/image" Target="../media/image52.emf"/><Relationship Id="rId4" Type="http://schemas.openxmlformats.org/officeDocument/2006/relationships/image" Target="../media/image5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A8BD25-5BB0-4970-9BC8-A867E97BBE06}" type="datetimeFigureOut">
              <a:rPr lang="zh-CN" altLang="en-US" smtClean="0"/>
              <a:t>2021/6/14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C87C1-8720-44BC-97C4-3E56FDE221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846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7230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恒定电流产生的磁场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54B92A-7347-4227-AF9D-98D955ED552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998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恒定电流产生的磁场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54B92A-7347-4227-AF9D-98D955ED552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998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54B92A-7347-4227-AF9D-98D955ED552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712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03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C87C1-8720-44BC-97C4-3E56FDE2211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008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过</a:t>
            </a:r>
            <a:r>
              <a:rPr lang="en-US" altLang="zh-CN" dirty="0" smtClean="0"/>
              <a:t>P</a:t>
            </a:r>
            <a:r>
              <a:rPr lang="zh-CN" altLang="en-US" dirty="0" smtClean="0"/>
              <a:t>点取一半径为</a:t>
            </a:r>
            <a:r>
              <a:rPr lang="en-US" altLang="zh-CN" dirty="0" smtClean="0"/>
              <a:t>r</a:t>
            </a:r>
            <a:r>
              <a:rPr lang="zh-CN" altLang="en-US" dirty="0" smtClean="0"/>
              <a:t>的磁感应线为积分路径。由于线上任一点的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的量值相等，方向与该点的</a:t>
            </a:r>
            <a:r>
              <a:rPr lang="en-US" altLang="zh-CN" dirty="0" smtClean="0"/>
              <a:t>dl</a:t>
            </a:r>
            <a:r>
              <a:rPr lang="zh-CN" altLang="en-US" dirty="0" smtClean="0"/>
              <a:t>方向一致。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54B92A-7347-4227-AF9D-98D955ED552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934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54B92A-7347-4227-AF9D-98D955ED552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6866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线段</a:t>
            </a:r>
            <a:r>
              <a:rPr lang="en-US" altLang="zh-CN" dirty="0" err="1" smtClean="0"/>
              <a:t>bc</a:t>
            </a:r>
            <a:r>
              <a:rPr lang="zh-CN" altLang="en-US" dirty="0" smtClean="0"/>
              <a:t>和</a:t>
            </a:r>
            <a:r>
              <a:rPr lang="en-US" altLang="zh-CN" dirty="0" smtClean="0"/>
              <a:t>ad</a:t>
            </a:r>
            <a:r>
              <a:rPr lang="zh-CN" altLang="en-US" dirty="0" smtClean="0"/>
              <a:t>与</a:t>
            </a:r>
            <a:r>
              <a:rPr lang="en-US" altLang="zh-CN" dirty="0" smtClean="0"/>
              <a:t>B</a:t>
            </a:r>
            <a:r>
              <a:rPr lang="zh-CN" altLang="en-US" baseline="0" dirty="0" smtClean="0"/>
              <a:t>垂直，所以</a:t>
            </a:r>
            <a:r>
              <a:rPr lang="en-US" altLang="zh-CN" baseline="0" dirty="0" err="1" smtClean="0"/>
              <a:t>B.dl</a:t>
            </a:r>
            <a:r>
              <a:rPr lang="en-US" altLang="zh-CN" baseline="0" dirty="0" smtClean="0"/>
              <a:t>=0</a:t>
            </a:r>
            <a:r>
              <a:rPr lang="zh-CN" altLang="en-US" baseline="0" dirty="0" smtClean="0"/>
              <a:t>；线段</a:t>
            </a:r>
            <a:r>
              <a:rPr lang="en-US" altLang="zh-CN" baseline="0" dirty="0" err="1" smtClean="0"/>
              <a:t>ab</a:t>
            </a:r>
            <a:r>
              <a:rPr lang="zh-CN" altLang="en-US" baseline="0" dirty="0" smtClean="0"/>
              <a:t>上各点</a:t>
            </a:r>
            <a:r>
              <a:rPr lang="en-US" altLang="zh-CN" baseline="0" dirty="0" smtClean="0"/>
              <a:t>B</a:t>
            </a:r>
            <a:r>
              <a:rPr lang="zh-CN" altLang="en-US" baseline="0" dirty="0" smtClean="0"/>
              <a:t>大小相等，方向都与积分路径</a:t>
            </a:r>
            <a:r>
              <a:rPr lang="en-US" altLang="zh-CN" baseline="0" dirty="0" smtClean="0"/>
              <a:t>dl</a:t>
            </a:r>
            <a:r>
              <a:rPr lang="zh-CN" altLang="en-US" baseline="0" dirty="0" smtClean="0"/>
              <a:t>一致。</a:t>
            </a:r>
            <a:endParaRPr lang="en-US" altLang="zh-CN" baseline="0" dirty="0" smtClean="0"/>
          </a:p>
          <a:p>
            <a:r>
              <a:rPr lang="zh-CN" altLang="en-US" baseline="0" dirty="0" smtClean="0"/>
              <a:t>通电螺线管外部的磁场等于零并非真正为零，是因为磁场足够小，接近于零，只有无限长的通电螺线管外部的磁场才等于零。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54B92A-7347-4227-AF9D-98D955ED552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779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如果环上的线圈绕得很紧密，则磁场几乎全部集中在螺绕环内，环外磁场接近于零。</a:t>
            </a:r>
            <a:endParaRPr lang="en-US" altLang="zh-CN" dirty="0" smtClean="0"/>
          </a:p>
          <a:p>
            <a:r>
              <a:rPr lang="zh-CN" altLang="en-US" dirty="0" smtClean="0"/>
              <a:t>由于对称性的缘故，环内磁场的磁感应线都是一些同心圆，圆心在通过环心且垂直于环面的直线上。在同一条磁感应线上各点磁感应强度的量值相等，方向处处沿圆的切线方向，并和环面平行。</a:t>
            </a:r>
            <a:endParaRPr lang="en-US" altLang="zh-CN" dirty="0" smtClean="0"/>
          </a:p>
          <a:p>
            <a:r>
              <a:rPr lang="zh-CN" altLang="en-US" dirty="0" smtClean="0"/>
              <a:t>为了计算管内某一点</a:t>
            </a:r>
            <a:r>
              <a:rPr lang="en-US" altLang="zh-CN" dirty="0" smtClean="0"/>
              <a:t>P</a:t>
            </a:r>
            <a:r>
              <a:rPr lang="zh-CN" altLang="en-US" dirty="0" smtClean="0"/>
              <a:t>的磁感应强度，可选择通过</a:t>
            </a:r>
            <a:r>
              <a:rPr lang="en-US" altLang="zh-CN" dirty="0" smtClean="0"/>
              <a:t>P</a:t>
            </a:r>
            <a:r>
              <a:rPr lang="zh-CN" altLang="en-US" dirty="0" smtClean="0"/>
              <a:t>点的磁感应线</a:t>
            </a:r>
            <a:r>
              <a:rPr lang="en-US" altLang="zh-CN" dirty="0" smtClean="0"/>
              <a:t>L</a:t>
            </a:r>
            <a:r>
              <a:rPr lang="zh-CN" altLang="en-US" dirty="0" smtClean="0"/>
              <a:t>作为积分回路，由于线上任一点的磁感应强度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的量值相等，方向都与</a:t>
            </a:r>
            <a:r>
              <a:rPr lang="en-US" altLang="zh-CN" dirty="0" smtClean="0"/>
              <a:t>dl</a:t>
            </a:r>
            <a:r>
              <a:rPr lang="zh-CN" altLang="en-US" dirty="0" smtClean="0"/>
              <a:t>同向，故得</a:t>
            </a:r>
            <a:r>
              <a:rPr lang="en-US" altLang="zh-CN" dirty="0" smtClean="0"/>
              <a:t>B</a:t>
            </a:r>
            <a:r>
              <a:rPr lang="zh-CN" altLang="en-US" dirty="0" smtClean="0"/>
              <a:t>矢量的环流。</a:t>
            </a:r>
            <a:endParaRPr lang="en-US" altLang="zh-CN" dirty="0" smtClean="0"/>
          </a:p>
          <a:p>
            <a:r>
              <a:rPr lang="zh-CN" altLang="en-US" dirty="0" smtClean="0"/>
              <a:t>当环形螺线管的截面积很小，管的孔径比环的平均半径</a:t>
            </a:r>
            <a:r>
              <a:rPr lang="en-US" altLang="zh-CN" dirty="0" smtClean="0"/>
              <a:t>r</a:t>
            </a:r>
            <a:r>
              <a:rPr lang="zh-CN" altLang="en-US" dirty="0" smtClean="0"/>
              <a:t>小得多时，管内各点的磁场强弱实际上相同，因而可以取圆环平均长度为</a:t>
            </a:r>
            <a:r>
              <a:rPr lang="en-US" altLang="zh-CN" dirty="0" smtClean="0"/>
              <a:t>l=2πr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54B92A-7347-4227-AF9D-98D955ED552E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983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887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78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350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859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36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0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6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76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55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84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F43E-6A00-409D-9E79-CE23F37409A4}" type="datetimeFigureOut">
              <a:rPr lang="zh-CN" altLang="en-US" smtClean="0"/>
              <a:pPr/>
              <a:t>2021/6/14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17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9F43E-6A00-409D-9E79-CE23F37409A4}" type="datetimeFigureOut">
              <a:rPr lang="zh-CN" altLang="en-US" smtClean="0"/>
              <a:pPr/>
              <a:t>2021/6/14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FD4FE-A112-4FD9-972C-EC47903A514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830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5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1.e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6.emf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3.png"/><Relationship Id="rId5" Type="http://schemas.openxmlformats.org/officeDocument/2006/relationships/image" Target="../media/image21.wmf"/><Relationship Id="rId4" Type="http://schemas.openxmlformats.org/officeDocument/2006/relationships/oleObject" Target="../embeddings/oleObject9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tags" Target="../tags/tag35.xml"/><Relationship Id="rId3" Type="http://schemas.openxmlformats.org/officeDocument/2006/relationships/tags" Target="../tags/tag20.xml"/><Relationship Id="rId21" Type="http://schemas.openxmlformats.org/officeDocument/2006/relationships/image" Target="../media/image26.wmf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tags" Target="../tags/tag36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Relationship Id="rId22" Type="http://schemas.openxmlformats.org/officeDocument/2006/relationships/image" Target="../media/image5.tm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28.emf"/><Relationship Id="rId10" Type="http://schemas.openxmlformats.org/officeDocument/2006/relationships/image" Target="../media/image31.jpeg"/><Relationship Id="rId4" Type="http://schemas.openxmlformats.org/officeDocument/2006/relationships/oleObject" Target="../embeddings/oleObject12.bin"/><Relationship Id="rId9" Type="http://schemas.openxmlformats.org/officeDocument/2006/relationships/image" Target="../media/image3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31.jpeg"/><Relationship Id="rId5" Type="http://schemas.openxmlformats.org/officeDocument/2006/relationships/image" Target="../media/image32.emf"/><Relationship Id="rId10" Type="http://schemas.openxmlformats.org/officeDocument/2006/relationships/image" Target="../media/image35.jpeg"/><Relationship Id="rId4" Type="http://schemas.openxmlformats.org/officeDocument/2006/relationships/oleObject" Target="../embeddings/oleObject15.bin"/><Relationship Id="rId9" Type="http://schemas.openxmlformats.org/officeDocument/2006/relationships/image" Target="../media/image34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oleObject" Target="../embeddings/oleObject22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7.wmf"/><Relationship Id="rId12" Type="http://schemas.openxmlformats.org/officeDocument/2006/relationships/image" Target="../media/image4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39.emf"/><Relationship Id="rId5" Type="http://schemas.openxmlformats.org/officeDocument/2006/relationships/image" Target="../media/image36.e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38.emf"/><Relationship Id="rId14" Type="http://schemas.openxmlformats.org/officeDocument/2006/relationships/image" Target="../media/image40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42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47.e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2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52.emf"/><Relationship Id="rId18" Type="http://schemas.openxmlformats.org/officeDocument/2006/relationships/image" Target="../media/image56.jpeg"/><Relationship Id="rId3" Type="http://schemas.openxmlformats.org/officeDocument/2006/relationships/notesSlide" Target="../notesSlides/notesSlide10.xml"/><Relationship Id="rId21" Type="http://schemas.openxmlformats.org/officeDocument/2006/relationships/image" Target="../media/image57.jpeg"/><Relationship Id="rId7" Type="http://schemas.openxmlformats.org/officeDocument/2006/relationships/image" Target="../media/image49.e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5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4.bin"/><Relationship Id="rId20" Type="http://schemas.openxmlformats.org/officeDocument/2006/relationships/image" Target="../media/image55.wmf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51.emf"/><Relationship Id="rId5" Type="http://schemas.openxmlformats.org/officeDocument/2006/relationships/image" Target="../media/image48.emf"/><Relationship Id="rId15" Type="http://schemas.openxmlformats.org/officeDocument/2006/relationships/image" Target="../media/image53.emf"/><Relationship Id="rId10" Type="http://schemas.openxmlformats.org/officeDocument/2006/relationships/oleObject" Target="../embeddings/oleObject31.bin"/><Relationship Id="rId19" Type="http://schemas.openxmlformats.org/officeDocument/2006/relationships/oleObject" Target="../embeddings/oleObject35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50.emf"/><Relationship Id="rId14" Type="http://schemas.openxmlformats.org/officeDocument/2006/relationships/oleObject" Target="../embeddings/oleObject33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58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49" y="899348"/>
            <a:ext cx="11681884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983755" y="432434"/>
            <a:ext cx="22082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P147</a:t>
            </a:r>
            <a:endParaRPr lang="zh-CN" altLang="en-US" sz="2400" dirty="0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43934" y="88900"/>
            <a:ext cx="1051348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762000">
              <a:spcBef>
                <a:spcPts val="1400"/>
              </a:spcBef>
              <a:defRPr sz="1800"/>
            </a:pPr>
            <a:r>
              <a:rPr lang="en-US" altLang="zh-CN" sz="3200" dirty="0" smtClean="0">
                <a:latin typeface="黑体" pitchFamily="49" charset="-122"/>
                <a:ea typeface="黑体" pitchFamily="49" charset="-122"/>
                <a:cs typeface="SimHei"/>
                <a:sym typeface="SimHei"/>
              </a:rPr>
              <a:t>§19.9  </a:t>
            </a:r>
            <a:r>
              <a:rPr lang="zh-CN" altLang="en-US" sz="3200" dirty="0">
                <a:latin typeface="黑体" pitchFamily="49" charset="-122"/>
                <a:ea typeface="黑体" pitchFamily="49" charset="-122"/>
                <a:cs typeface="SimHei"/>
                <a:sym typeface="SimHei"/>
              </a:rPr>
              <a:t>安培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  <a:cs typeface="SimHei"/>
                <a:sym typeface="SimHei"/>
              </a:rPr>
              <a:t>定理</a:t>
            </a:r>
            <a:endParaRPr lang="en-US" altLang="zh-CN" sz="3200" dirty="0">
              <a:latin typeface="黑体" pitchFamily="49" charset="-122"/>
              <a:ea typeface="黑体" pitchFamily="49" charset="-122"/>
              <a:cs typeface="SimHei"/>
              <a:sym typeface="Sim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13005" y="2941593"/>
            <a:ext cx="33363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B</a:t>
            </a:r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599038" y="4589161"/>
            <a:ext cx="33363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B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13004" y="5532394"/>
            <a:ext cx="33363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B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398168" y="1126442"/>
            <a:ext cx="33363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68420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4" y="122816"/>
            <a:ext cx="11718926" cy="6489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016527" y="137222"/>
            <a:ext cx="1174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FF0000"/>
                </a:solidFill>
              </a:rPr>
              <a:t>P147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81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8" name="Text Box 2"/>
          <p:cNvSpPr txBox="1">
            <a:spLocks noChangeArrowheads="1"/>
          </p:cNvSpPr>
          <p:nvPr/>
        </p:nvSpPr>
        <p:spPr bwMode="auto">
          <a:xfrm>
            <a:off x="239350" y="548680"/>
            <a:ext cx="10166484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800" b="1" dirty="0" smtClean="0">
                <a:latin typeface="+mn-ea"/>
                <a:ea typeface="+mn-ea"/>
                <a:cs typeface="Times New Roman" pitchFamily="18" charset="0"/>
              </a:rPr>
              <a:t>说明</a:t>
            </a:r>
            <a:endParaRPr kumimoji="1" lang="en-US" altLang="zh-CN" sz="2800" b="1" dirty="0" smtClean="0">
              <a:latin typeface="+mn-ea"/>
              <a:ea typeface="+mn-ea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kumimoji="1" lang="zh-CN" altLang="en-US" sz="2800" b="1" dirty="0" smtClean="0">
              <a:latin typeface="+mn-ea"/>
              <a:ea typeface="+mn-ea"/>
              <a:cs typeface="Times New Roman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Char char="•"/>
              <a:defRPr/>
            </a:pPr>
            <a:r>
              <a:rPr kumimoji="1" lang="zh-CN" altLang="en-US" sz="2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规定</a:t>
            </a:r>
            <a:r>
              <a:rPr kumimoji="1" lang="en-US" altLang="zh-CN" sz="2800" i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1" lang="zh-CN" altLang="en-US" sz="2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的方向垂直于闭合曲面向外</a:t>
            </a:r>
            <a:endParaRPr kumimoji="1" lang="en-US" altLang="zh-CN" sz="28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Char char="•"/>
              <a:defRPr/>
            </a:pPr>
            <a:endParaRPr kumimoji="1" lang="zh-CN" altLang="en-US" sz="28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从曲面内穿出时，磁通量为正 </a:t>
            </a:r>
            <a:r>
              <a:rPr kumimoji="1" lang="en-US" altLang="zh-CN" sz="2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1" lang="en-US" altLang="zh-CN" sz="2800" i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θ</a:t>
            </a:r>
            <a:r>
              <a:rPr kumimoji="1" lang="zh-CN" altLang="en-US" sz="2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＜</a:t>
            </a:r>
            <a:r>
              <a:rPr kumimoji="1" lang="en-US" altLang="zh-CN" sz="2800" i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π</a:t>
            </a:r>
            <a:r>
              <a:rPr kumimoji="1" lang="en-US" altLang="zh-CN" sz="2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/2, </a:t>
            </a:r>
            <a:r>
              <a:rPr kumimoji="1" lang="en-US" altLang="zh-CN" sz="2800" dirty="0" err="1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cos</a:t>
            </a:r>
            <a:r>
              <a:rPr kumimoji="1" lang="en-US" altLang="zh-CN" sz="2800" i="1" dirty="0" err="1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θ</a:t>
            </a:r>
            <a:r>
              <a:rPr kumimoji="1" lang="zh-CN" altLang="en-US" sz="2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＞</a:t>
            </a:r>
            <a:r>
              <a:rPr kumimoji="1" lang="en-US" altLang="zh-CN" sz="2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0)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从曲面外穿入时，磁通量为负 </a:t>
            </a:r>
            <a:r>
              <a:rPr kumimoji="1" lang="en-US" altLang="zh-CN" sz="2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kumimoji="1" lang="en-US" altLang="zh-CN" sz="2800" i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θ</a:t>
            </a:r>
            <a:r>
              <a:rPr kumimoji="1" lang="en-US" altLang="zh-CN" sz="2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&gt;</a:t>
            </a:r>
            <a:r>
              <a:rPr kumimoji="1" lang="en-US" altLang="zh-CN" sz="2800" i="1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π</a:t>
            </a:r>
            <a:r>
              <a:rPr kumimoji="1" lang="en-US" altLang="zh-CN" sz="2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/2, </a:t>
            </a:r>
            <a:r>
              <a:rPr kumimoji="1" lang="en-US" altLang="zh-CN" sz="2800" dirty="0" err="1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cos</a:t>
            </a:r>
            <a:r>
              <a:rPr kumimoji="1" lang="en-US" altLang="zh-CN" sz="2800" i="1" dirty="0" err="1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θ</a:t>
            </a:r>
            <a:r>
              <a:rPr kumimoji="1" lang="en-US" altLang="zh-CN" sz="2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&lt;0)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kumimoji="1" lang="en-US" altLang="zh-CN" sz="28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Char char="•"/>
              <a:defRPr/>
            </a:pPr>
            <a:r>
              <a:rPr kumimoji="1" lang="zh-CN" altLang="en-US" sz="2800" dirty="0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穿过曲面磁通量可直观地理解为穿过该面的磁感应线条数</a:t>
            </a:r>
            <a:endParaRPr kumimoji="1" lang="en-US" altLang="zh-CN" sz="28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ClrTx/>
              <a:buSzTx/>
              <a:buFontTx/>
              <a:buChar char="•"/>
              <a:defRPr/>
            </a:pPr>
            <a:endParaRPr kumimoji="1" lang="zh-CN" altLang="en-US" sz="2800" dirty="0" smtClean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583" y="333375"/>
            <a:ext cx="2984500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676237" y="179348"/>
            <a:ext cx="518984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4237718"/>
              </p:ext>
            </p:extLst>
          </p:nvPr>
        </p:nvGraphicFramePr>
        <p:xfrm>
          <a:off x="10763763" y="125214"/>
          <a:ext cx="320247" cy="416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1" name="Equation" r:id="rId4" imgW="126720" imgH="164880" progId="Equation.DSMT4">
                  <p:embed/>
                </p:oleObj>
              </mc:Choice>
              <mc:Fallback>
                <p:oleObj name="Equation" r:id="rId4" imgW="12672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763763" y="125214"/>
                        <a:ext cx="320247" cy="4163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9967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i="1" dirty="0" smtClean="0">
                <a:solidFill>
                  <a:srgbClr val="0070C0"/>
                </a:solidFill>
              </a:rPr>
              <a:t>单项选择题</a:t>
            </a:r>
            <a:endParaRPr lang="zh-CN" altLang="en-US" sz="4000" b="1" i="1" dirty="0">
              <a:solidFill>
                <a:srgbClr val="0070C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200" dirty="0"/>
              <a:t>半径为</a:t>
            </a:r>
            <a:r>
              <a:rPr lang="en-US" altLang="zh-CN" sz="3200" dirty="0" smtClean="0"/>
              <a:t>1.1cm</a:t>
            </a:r>
            <a:r>
              <a:rPr lang="zh-CN" altLang="en-US" sz="3200" dirty="0"/>
              <a:t>的螺线管在其中心产生的磁场为</a:t>
            </a:r>
            <a:r>
              <a:rPr lang="en-US" altLang="zh-CN" sz="3200" dirty="0" smtClean="0"/>
              <a:t>0.28T</a:t>
            </a:r>
            <a:r>
              <a:rPr lang="zh-CN" altLang="en-US" sz="3200" dirty="0" smtClean="0"/>
              <a:t>。</a:t>
            </a:r>
            <a:r>
              <a:rPr lang="zh-CN" altLang="en-US" sz="3200" dirty="0"/>
              <a:t>通过螺线管中心的磁通量是多少</a:t>
            </a:r>
            <a:r>
              <a:rPr lang="zh-CN" altLang="en-US" sz="3200" dirty="0" smtClean="0"/>
              <a:t>？</a:t>
            </a:r>
            <a:endParaRPr lang="en-US" altLang="zh-CN" sz="3200" dirty="0" smtClean="0"/>
          </a:p>
          <a:p>
            <a:pPr marL="0" indent="0">
              <a:buNone/>
            </a:pPr>
            <a:r>
              <a:rPr lang="en-US" altLang="zh-CN" sz="3200" dirty="0"/>
              <a:t>A.  1.1 </a:t>
            </a:r>
            <a:r>
              <a:rPr lang="en-US" altLang="zh-CN" sz="3200" dirty="0">
                <a:sym typeface="Symbol"/>
              </a:rPr>
              <a:t></a:t>
            </a:r>
            <a:r>
              <a:rPr lang="en-US" altLang="zh-CN" sz="3200" dirty="0"/>
              <a:t> 10</a:t>
            </a:r>
            <a:r>
              <a:rPr lang="en-US" altLang="zh-CN" sz="3200" baseline="30000" dirty="0"/>
              <a:t>-4</a:t>
            </a:r>
            <a:r>
              <a:rPr lang="en-US" altLang="zh-CN" sz="3200" dirty="0"/>
              <a:t> T·m</a:t>
            </a:r>
            <a:r>
              <a:rPr lang="en-US" altLang="zh-CN" sz="3200" baseline="30000" dirty="0"/>
              <a:t>2</a:t>
            </a:r>
            <a:r>
              <a:rPr lang="en-US" altLang="zh-CN" sz="3200" dirty="0"/>
              <a:t> </a:t>
            </a:r>
            <a:br>
              <a:rPr lang="en-US" altLang="zh-CN" sz="3200" dirty="0"/>
            </a:br>
            <a:r>
              <a:rPr lang="en-US" altLang="zh-CN" sz="3200" dirty="0"/>
              <a:t>B.  2.2 </a:t>
            </a:r>
            <a:r>
              <a:rPr lang="en-US" altLang="zh-CN" sz="3200" dirty="0">
                <a:sym typeface="Symbol"/>
              </a:rPr>
              <a:t></a:t>
            </a:r>
            <a:r>
              <a:rPr lang="en-US" altLang="zh-CN" sz="3200" dirty="0"/>
              <a:t> 10</a:t>
            </a:r>
            <a:r>
              <a:rPr lang="en-US" altLang="zh-CN" sz="3200" baseline="30000" dirty="0"/>
              <a:t>-4</a:t>
            </a:r>
            <a:r>
              <a:rPr lang="en-US" altLang="zh-CN" sz="3200" dirty="0"/>
              <a:t> T·m</a:t>
            </a:r>
            <a:r>
              <a:rPr lang="en-US" altLang="zh-CN" sz="3200" baseline="30000" dirty="0"/>
              <a:t>2</a:t>
            </a:r>
            <a:r>
              <a:rPr lang="en-US" altLang="zh-CN" sz="3200" dirty="0"/>
              <a:t> </a:t>
            </a:r>
            <a:br>
              <a:rPr lang="en-US" altLang="zh-CN" sz="3200" dirty="0"/>
            </a:br>
            <a:r>
              <a:rPr lang="en-US" altLang="zh-CN" sz="3200" dirty="0"/>
              <a:t>C.  3.3 </a:t>
            </a:r>
            <a:r>
              <a:rPr lang="en-US" altLang="zh-CN" sz="3200" dirty="0">
                <a:sym typeface="Symbol"/>
              </a:rPr>
              <a:t></a:t>
            </a:r>
            <a:r>
              <a:rPr lang="en-US" altLang="zh-CN" sz="3200" dirty="0"/>
              <a:t> 10</a:t>
            </a:r>
            <a:r>
              <a:rPr lang="en-US" altLang="zh-CN" sz="3200" baseline="30000" dirty="0"/>
              <a:t>-3</a:t>
            </a:r>
            <a:r>
              <a:rPr lang="en-US" altLang="zh-CN" sz="3200" dirty="0"/>
              <a:t> T·m</a:t>
            </a:r>
            <a:r>
              <a:rPr lang="en-US" altLang="zh-CN" sz="3200" baseline="30000" dirty="0"/>
              <a:t>2</a:t>
            </a:r>
            <a:r>
              <a:rPr lang="en-US" altLang="zh-CN" sz="3200" dirty="0"/>
              <a:t> </a:t>
            </a:r>
            <a:br>
              <a:rPr lang="en-US" altLang="zh-CN" sz="3200" dirty="0"/>
            </a:br>
            <a:r>
              <a:rPr lang="en-US" altLang="zh-CN" sz="3200" dirty="0"/>
              <a:t>D.  2.2 </a:t>
            </a:r>
            <a:r>
              <a:rPr lang="en-US" altLang="zh-CN" sz="3200" dirty="0">
                <a:sym typeface="Symbol"/>
              </a:rPr>
              <a:t></a:t>
            </a:r>
            <a:r>
              <a:rPr lang="en-US" altLang="zh-CN" sz="3200" dirty="0"/>
              <a:t> 10</a:t>
            </a:r>
            <a:r>
              <a:rPr lang="en-US" altLang="zh-CN" sz="3200" baseline="30000" dirty="0"/>
              <a:t>-3</a:t>
            </a:r>
            <a:r>
              <a:rPr lang="en-US" altLang="zh-CN" sz="3200" dirty="0"/>
              <a:t> T·m</a:t>
            </a:r>
            <a:r>
              <a:rPr lang="en-US" altLang="zh-CN" sz="3200" baseline="30000" dirty="0"/>
              <a:t>2</a:t>
            </a:r>
            <a:r>
              <a:rPr lang="en-US" altLang="zh-CN" sz="3200" dirty="0"/>
              <a:t> </a:t>
            </a:r>
            <a:br>
              <a:rPr lang="en-US" altLang="zh-CN" sz="3200" dirty="0"/>
            </a:b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10980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b="1" dirty="0"/>
              <a:t>半径为</a:t>
            </a:r>
            <a:r>
              <a:rPr lang="en-US" altLang="zh-CN" sz="2800" b="1" dirty="0"/>
              <a:t>1.1cm</a:t>
            </a:r>
            <a:r>
              <a:rPr lang="zh-CN" altLang="en-US" sz="2800" b="1" dirty="0"/>
              <a:t>的螺线管在其中心产生的磁场为</a:t>
            </a:r>
            <a:r>
              <a:rPr lang="en-US" altLang="zh-CN" sz="2800" b="1" dirty="0"/>
              <a:t>0.28T</a:t>
            </a:r>
            <a:r>
              <a:rPr lang="zh-CN" altLang="en-US" sz="2800" b="1" dirty="0"/>
              <a:t>。通过螺线管中心的磁通量是多少？</a:t>
            </a:r>
            <a:endParaRPr lang="en-US" altLang="zh-CN" sz="2800" b="1" dirty="0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1.1 </a:t>
            </a:r>
            <a:r>
              <a:rPr lang="en-US" altLang="zh-CN" sz="2800" dirty="0">
                <a:sym typeface="Symbol"/>
              </a:rPr>
              <a:t></a:t>
            </a:r>
            <a:r>
              <a:rPr lang="en-US" altLang="zh-CN" sz="2800" dirty="0"/>
              <a:t> 10</a:t>
            </a:r>
            <a:r>
              <a:rPr lang="en-US" altLang="zh-CN" sz="2800" baseline="30000" dirty="0"/>
              <a:t>-4</a:t>
            </a:r>
            <a:r>
              <a:rPr lang="en-US" altLang="zh-CN" sz="2800" dirty="0"/>
              <a:t> T·m</a:t>
            </a:r>
            <a:r>
              <a:rPr lang="en-US" altLang="zh-CN" sz="2800" baseline="30000" dirty="0"/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2.2 </a:t>
            </a:r>
            <a:r>
              <a:rPr lang="en-US" altLang="zh-CN" sz="2800" dirty="0">
                <a:sym typeface="Symbol"/>
              </a:rPr>
              <a:t></a:t>
            </a:r>
            <a:r>
              <a:rPr lang="en-US" altLang="zh-CN" sz="2800" dirty="0"/>
              <a:t> 10</a:t>
            </a:r>
            <a:r>
              <a:rPr lang="en-US" altLang="zh-CN" sz="2800" baseline="30000" dirty="0"/>
              <a:t>-4</a:t>
            </a:r>
            <a:r>
              <a:rPr lang="en-US" altLang="zh-CN" sz="2800" dirty="0"/>
              <a:t> T·m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3.3 </a:t>
            </a:r>
            <a:r>
              <a:rPr lang="en-US" altLang="zh-CN" sz="2800" dirty="0">
                <a:sym typeface="Symbol"/>
              </a:rPr>
              <a:t></a:t>
            </a:r>
            <a:r>
              <a:rPr lang="en-US" altLang="zh-CN" sz="2800" dirty="0"/>
              <a:t> 10</a:t>
            </a:r>
            <a:r>
              <a:rPr lang="en-US" altLang="zh-CN" sz="2800" baseline="30000" dirty="0"/>
              <a:t>-3</a:t>
            </a:r>
            <a:r>
              <a:rPr lang="en-US" altLang="zh-CN" sz="2800" dirty="0"/>
              <a:t> T·m</a:t>
            </a:r>
            <a:r>
              <a:rPr lang="en-US" altLang="zh-CN" sz="2800" baseline="30000" dirty="0"/>
              <a:t>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 2.2 </a:t>
            </a:r>
            <a:r>
              <a:rPr lang="en-US" altLang="zh-CN" sz="2800" dirty="0">
                <a:sym typeface="Symbol"/>
              </a:rPr>
              <a:t></a:t>
            </a:r>
            <a:r>
              <a:rPr lang="en-US" altLang="zh-CN" sz="2800" dirty="0"/>
              <a:t> 10</a:t>
            </a:r>
            <a:r>
              <a:rPr lang="en-US" altLang="zh-CN" sz="2800" baseline="30000" dirty="0"/>
              <a:t>-3</a:t>
            </a:r>
            <a:r>
              <a:rPr lang="en-US" altLang="zh-CN" sz="2800" dirty="0"/>
              <a:t> T·m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0799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Text Box 2"/>
          <p:cNvSpPr txBox="1">
            <a:spLocks noChangeArrowheads="1"/>
          </p:cNvSpPr>
          <p:nvPr/>
        </p:nvSpPr>
        <p:spPr bwMode="auto">
          <a:xfrm>
            <a:off x="143934" y="101600"/>
            <a:ext cx="1051348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762000">
              <a:spcBef>
                <a:spcPts val="1400"/>
              </a:spcBef>
              <a:defRPr sz="1800"/>
            </a:pPr>
            <a:r>
              <a:rPr lang="en-US" altLang="zh-CN" sz="3200" b="1" dirty="0" smtClean="0">
                <a:latin typeface="黑体" pitchFamily="49" charset="-122"/>
                <a:ea typeface="黑体" pitchFamily="49" charset="-122"/>
                <a:cs typeface="SimHei"/>
                <a:sym typeface="SimHei"/>
              </a:rPr>
              <a:t>§19.9  </a:t>
            </a:r>
            <a:r>
              <a:rPr lang="zh-CN" altLang="en-US" sz="3200" b="1" dirty="0">
                <a:latin typeface="黑体" pitchFamily="49" charset="-122"/>
                <a:ea typeface="黑体" pitchFamily="49" charset="-122"/>
                <a:cs typeface="SimHei"/>
                <a:sym typeface="SimHei"/>
              </a:rPr>
              <a:t>安培</a:t>
            </a:r>
            <a:r>
              <a:rPr lang="zh-CN" altLang="en-US" sz="3200" b="1" dirty="0" smtClean="0">
                <a:latin typeface="黑体" pitchFamily="49" charset="-122"/>
                <a:ea typeface="黑体" pitchFamily="49" charset="-122"/>
                <a:cs typeface="SimHei"/>
                <a:sym typeface="SimHei"/>
              </a:rPr>
              <a:t>定理</a:t>
            </a:r>
            <a:endParaRPr lang="en-US" altLang="zh-CN" sz="3200" b="1" dirty="0">
              <a:latin typeface="黑体" pitchFamily="49" charset="-122"/>
              <a:ea typeface="黑体" pitchFamily="49" charset="-122"/>
              <a:cs typeface="SimHei"/>
              <a:sym typeface="SimHei"/>
            </a:endParaRPr>
          </a:p>
        </p:txBody>
      </p:sp>
      <p:sp>
        <p:nvSpPr>
          <p:cNvPr id="198659" name="Text Box 3"/>
          <p:cNvSpPr txBox="1">
            <a:spLocks noChangeArrowheads="1"/>
          </p:cNvSpPr>
          <p:nvPr/>
        </p:nvSpPr>
        <p:spPr bwMode="auto">
          <a:xfrm>
            <a:off x="143934" y="817005"/>
            <a:ext cx="691303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00"/>
                </a:solidFill>
                <a:latin typeface="+mn-ea"/>
                <a:cs typeface="Heiti SC Light"/>
              </a:rPr>
              <a:t>一、恒定磁场的高斯定理</a:t>
            </a:r>
          </a:p>
        </p:txBody>
      </p:sp>
      <p:sp>
        <p:nvSpPr>
          <p:cNvPr id="198660" name="Text Box 4"/>
          <p:cNvSpPr txBox="1">
            <a:spLocks noChangeArrowheads="1"/>
          </p:cNvSpPr>
          <p:nvPr/>
        </p:nvSpPr>
        <p:spPr bwMode="auto">
          <a:xfrm>
            <a:off x="1068366" y="5505360"/>
            <a:ext cx="11092501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FontTx/>
              <a:buBlip>
                <a:blip r:embed="rId4"/>
              </a:buBlip>
            </a:pPr>
            <a:r>
              <a:rPr kumimoji="1" lang="en-US" altLang="zh-CN" sz="2800" b="1" dirty="0" smtClean="0">
                <a:solidFill>
                  <a:srgbClr val="FF0000"/>
                </a:solidFill>
                <a:latin typeface="+mn-ea"/>
                <a:cs typeface="Heiti SC Light"/>
              </a:rPr>
              <a:t>  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+mn-ea"/>
                <a:cs typeface="Heiti SC Light"/>
              </a:rPr>
              <a:t>表明穿过任意闭合曲面</a:t>
            </a:r>
            <a:r>
              <a:rPr kumimoji="1" lang="en-US" altLang="zh-CN" sz="28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+mn-ea"/>
                <a:cs typeface="Heiti SC Light"/>
              </a:rPr>
              <a:t>的总磁通必然为零，说明磁场是无源场。</a:t>
            </a:r>
          </a:p>
        </p:txBody>
      </p:sp>
      <p:sp>
        <p:nvSpPr>
          <p:cNvPr id="198661" name="Rectangle 5"/>
          <p:cNvSpPr>
            <a:spLocks noChangeArrowheads="1"/>
          </p:cNvSpPr>
          <p:nvPr/>
        </p:nvSpPr>
        <p:spPr bwMode="auto">
          <a:xfrm>
            <a:off x="527050" y="1479551"/>
            <a:ext cx="11455683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00"/>
                </a:solidFill>
                <a:latin typeface="+mn-ea"/>
                <a:cs typeface="Heiti SC Light"/>
              </a:rPr>
              <a:t>    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+mn-ea"/>
                <a:cs typeface="Heiti SC Light"/>
              </a:rPr>
              <a:t>由磁感应线的闭合性可知，对任意闭合曲面，穿入的磁感应线条数与穿出的磁感应线条数相同，因此，通过任何闭合曲面的磁通量为零。</a:t>
            </a:r>
          </a:p>
        </p:txBody>
      </p:sp>
      <p:graphicFrame>
        <p:nvGraphicFramePr>
          <p:cNvPr id="1986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253632"/>
              </p:ext>
            </p:extLst>
          </p:nvPr>
        </p:nvGraphicFramePr>
        <p:xfrm>
          <a:off x="1435100" y="2761166"/>
          <a:ext cx="2401888" cy="666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7" name="Equation" r:id="rId5" imgW="799920" imgH="291960" progId="Equation.DSMT4">
                  <p:embed/>
                </p:oleObj>
              </mc:Choice>
              <mc:Fallback>
                <p:oleObj name="Equation" r:id="rId5" imgW="7999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5100" y="2761166"/>
                        <a:ext cx="2401888" cy="6662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663" name="Text Box 7"/>
          <p:cNvSpPr txBox="1">
            <a:spLocks noChangeArrowheads="1"/>
          </p:cNvSpPr>
          <p:nvPr/>
        </p:nvSpPr>
        <p:spPr bwMode="auto">
          <a:xfrm>
            <a:off x="4913243" y="2755206"/>
            <a:ext cx="518371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Heiti SC Light"/>
              </a:rPr>
              <a:t>恒定磁场的高斯定理</a:t>
            </a:r>
          </a:p>
        </p:txBody>
      </p:sp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664" y="2755206"/>
            <a:ext cx="2927337" cy="1636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31" name="Picture 1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061" y="3717382"/>
            <a:ext cx="7084492" cy="1711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64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Text Box 2"/>
          <p:cNvSpPr txBox="1">
            <a:spLocks noChangeArrowheads="1"/>
          </p:cNvSpPr>
          <p:nvPr/>
        </p:nvSpPr>
        <p:spPr bwMode="auto">
          <a:xfrm>
            <a:off x="143934" y="101600"/>
            <a:ext cx="1051348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defTabSz="762000">
              <a:spcBef>
                <a:spcPts val="1400"/>
              </a:spcBef>
              <a:defRPr sz="1800"/>
            </a:pPr>
            <a:r>
              <a:rPr lang="en-US" altLang="zh-CN" sz="3200" dirty="0" smtClean="0">
                <a:latin typeface="黑体" pitchFamily="49" charset="-122"/>
                <a:ea typeface="黑体" pitchFamily="49" charset="-122"/>
                <a:cs typeface="SimHei"/>
                <a:sym typeface="SimHei"/>
              </a:rPr>
              <a:t>§19.9  </a:t>
            </a:r>
            <a:r>
              <a:rPr lang="zh-CN" altLang="en-US" sz="3200" dirty="0">
                <a:latin typeface="黑体" pitchFamily="49" charset="-122"/>
                <a:ea typeface="黑体" pitchFamily="49" charset="-122"/>
                <a:cs typeface="SimHei"/>
                <a:sym typeface="SimHei"/>
              </a:rPr>
              <a:t>安培</a:t>
            </a:r>
            <a:r>
              <a:rPr lang="zh-CN" altLang="en-US" sz="3200" dirty="0" smtClean="0">
                <a:latin typeface="黑体" pitchFamily="49" charset="-122"/>
                <a:ea typeface="黑体" pitchFamily="49" charset="-122"/>
                <a:cs typeface="SimHei"/>
                <a:sym typeface="SimHei"/>
              </a:rPr>
              <a:t>定理</a:t>
            </a:r>
            <a:endParaRPr lang="en-US" altLang="zh-CN" sz="3200" dirty="0">
              <a:latin typeface="黑体" pitchFamily="49" charset="-122"/>
              <a:ea typeface="黑体" pitchFamily="49" charset="-122"/>
              <a:cs typeface="SimHei"/>
              <a:sym typeface="SimHei"/>
            </a:endParaRPr>
          </a:p>
        </p:txBody>
      </p:sp>
      <p:pic>
        <p:nvPicPr>
          <p:cNvPr id="16419" name="Picture 3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19" y="836712"/>
            <a:ext cx="11707284" cy="537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52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12" name="Text Box 8"/>
          <p:cNvSpPr txBox="1">
            <a:spLocks noChangeArrowheads="1"/>
          </p:cNvSpPr>
          <p:nvPr/>
        </p:nvSpPr>
        <p:spPr bwMode="auto">
          <a:xfrm>
            <a:off x="143934" y="115888"/>
            <a:ext cx="6144684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二、安培环路定理</a:t>
            </a:r>
          </a:p>
        </p:txBody>
      </p:sp>
      <p:graphicFrame>
        <p:nvGraphicFramePr>
          <p:cNvPr id="20071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757938"/>
              </p:ext>
            </p:extLst>
          </p:nvPr>
        </p:nvGraphicFramePr>
        <p:xfrm>
          <a:off x="3600452" y="620714"/>
          <a:ext cx="2112433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6" name="公式" r:id="rId4" imgW="913680" imgH="623160" progId="Equations">
                  <p:embed/>
                </p:oleObj>
              </mc:Choice>
              <mc:Fallback>
                <p:oleObj name="公式" r:id="rId4" imgW="913680" imgH="62316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2" y="620714"/>
                        <a:ext cx="2112433" cy="1049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0714" name="Group 10"/>
          <p:cNvGrpSpPr>
            <a:grpSpLocks/>
          </p:cNvGrpSpPr>
          <p:nvPr/>
        </p:nvGrpSpPr>
        <p:grpSpPr bwMode="auto">
          <a:xfrm>
            <a:off x="1102784" y="808038"/>
            <a:ext cx="3139016" cy="533400"/>
            <a:chOff x="730" y="609"/>
            <a:chExt cx="1483" cy="336"/>
          </a:xfrm>
        </p:grpSpPr>
        <p:graphicFrame>
          <p:nvGraphicFramePr>
            <p:cNvPr id="200715" name="Object 11"/>
            <p:cNvGraphicFramePr>
              <a:graphicFrameLocks noChangeAspect="1"/>
            </p:cNvGraphicFramePr>
            <p:nvPr/>
          </p:nvGraphicFramePr>
          <p:xfrm>
            <a:off x="730" y="609"/>
            <a:ext cx="243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27" name="公式" r:id="rId6" imgW="215640" imgH="305280" progId="Equations">
                    <p:embed/>
                  </p:oleObj>
                </mc:Choice>
                <mc:Fallback>
                  <p:oleObj name="公式" r:id="rId6" imgW="215640" imgH="305280" progId="Equations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0" y="609"/>
                          <a:ext cx="243" cy="3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0716" name="Text Box 12"/>
            <p:cNvSpPr txBox="1">
              <a:spLocks noChangeArrowheads="1"/>
            </p:cNvSpPr>
            <p:nvPr/>
          </p:nvSpPr>
          <p:spPr bwMode="auto">
            <a:xfrm>
              <a:off x="930" y="618"/>
              <a:ext cx="128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 dirty="0" smtClean="0">
                  <a:solidFill>
                    <a:srgbClr val="0000FF"/>
                  </a:solidFill>
                  <a:latin typeface="黑体" pitchFamily="49" charset="-122"/>
                  <a:ea typeface="黑体" pitchFamily="49" charset="-122"/>
                  <a:cs typeface="Heiti SC Light"/>
                </a:rPr>
                <a:t>的环流：</a:t>
              </a:r>
            </a:p>
          </p:txBody>
        </p:sp>
      </p:grpSp>
      <p:sp>
        <p:nvSpPr>
          <p:cNvPr id="200718" name="Text Box 14"/>
          <p:cNvSpPr txBox="1">
            <a:spLocks noChangeArrowheads="1"/>
          </p:cNvSpPr>
          <p:nvPr/>
        </p:nvSpPr>
        <p:spPr bwMode="auto">
          <a:xfrm>
            <a:off x="527051" y="1698625"/>
            <a:ext cx="8064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特例：无限长直载流导线的磁场</a:t>
            </a:r>
          </a:p>
        </p:txBody>
      </p:sp>
      <p:pic>
        <p:nvPicPr>
          <p:cNvPr id="200731" name="Picture 27" descr="图11-4-1a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2745" y="451182"/>
            <a:ext cx="3158067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806018" y="375444"/>
            <a:ext cx="4239016" cy="828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FF0000"/>
                </a:solidFill>
              </a:rPr>
              <a:t>在真空中恒定电流的磁场内，磁感应强度</a:t>
            </a:r>
            <a:r>
              <a:rPr lang="en-US" altLang="zh-CN" sz="2000" b="1" dirty="0">
                <a:solidFill>
                  <a:srgbClr val="FF0000"/>
                </a:solidFill>
              </a:rPr>
              <a:t>B</a:t>
            </a:r>
            <a:r>
              <a:rPr lang="zh-CN" altLang="en-US" sz="2000" b="1" dirty="0">
                <a:solidFill>
                  <a:srgbClr val="FF0000"/>
                </a:solidFill>
              </a:rPr>
              <a:t>沿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任意闭合路径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L </a:t>
            </a:r>
            <a:r>
              <a:rPr lang="zh-CN" altLang="en-US" sz="2000" b="1" dirty="0">
                <a:solidFill>
                  <a:srgbClr val="FF0000"/>
                </a:solidFill>
              </a:rPr>
              <a:t>的线积分</a:t>
            </a:r>
          </a:p>
        </p:txBody>
      </p:sp>
      <p:sp>
        <p:nvSpPr>
          <p:cNvPr id="3" name="矩形 2"/>
          <p:cNvSpPr/>
          <p:nvPr/>
        </p:nvSpPr>
        <p:spPr>
          <a:xfrm>
            <a:off x="527051" y="2612504"/>
            <a:ext cx="8712784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800" b="1" dirty="0"/>
              <a:t>对于安培定理，我们把磁感应强度平行于路径的分量（或沿闭合曲线上的点的切向分量）乘以路径的长度。正如通量那样，如果磁感应强度的分量不是恒定的，那么我们把路径分成许多段（每段的长为△</a:t>
            </a:r>
            <a:r>
              <a:rPr lang="en-US" altLang="zh-CN" sz="2800" b="1" dirty="0"/>
              <a:t>L</a:t>
            </a:r>
            <a:r>
              <a:rPr lang="zh-CN" altLang="en-US" sz="2800" b="1" dirty="0"/>
              <a:t>）并对乘积求和，这个量称为</a:t>
            </a:r>
            <a:r>
              <a:rPr lang="zh-CN" altLang="en-US" sz="2800" b="1" dirty="0">
                <a:solidFill>
                  <a:srgbClr val="FF0000"/>
                </a:solidFill>
              </a:rPr>
              <a:t>环流</a:t>
            </a:r>
            <a:r>
              <a:rPr lang="zh-CN" altLang="en-US" sz="2800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10226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8" name="Text Box 10"/>
          <p:cNvSpPr txBox="1">
            <a:spLocks noChangeArrowheads="1"/>
          </p:cNvSpPr>
          <p:nvPr/>
        </p:nvSpPr>
        <p:spPr bwMode="auto">
          <a:xfrm>
            <a:off x="624417" y="260350"/>
            <a:ext cx="10854267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 cmpd="thinThick">
                <a:solidFill>
                  <a:srgbClr val="FF99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              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在真空中的恒定磁场内，磁感应强度</a:t>
            </a:r>
            <a:r>
              <a:rPr kumimoji="1" lang="en-US" altLang="zh-CN"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B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矢量沿任何闭合曲线</a:t>
            </a:r>
            <a:r>
              <a:rPr kumimoji="1" lang="en-US" altLang="zh-CN"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L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的环流等于穿过闭合曲线回路所有传导电流的代数和的</a:t>
            </a:r>
            <a:r>
              <a:rPr kumimoji="1" lang="zh-CN" altLang="en-US"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</a:t>
            </a:r>
            <a:r>
              <a:rPr kumimoji="1" lang="en-US" altLang="zh-CN" sz="2800" b="1" baseline="-25000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0</a:t>
            </a:r>
            <a:r>
              <a:rPr kumimoji="1" lang="zh-CN" altLang="zh-CN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倍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  <a:sym typeface="Symbol" pitchFamily="18" charset="2"/>
              </a:rPr>
              <a:t>。</a:t>
            </a:r>
          </a:p>
        </p:txBody>
      </p:sp>
      <p:sp>
        <p:nvSpPr>
          <p:cNvPr id="206851" name="Text Box 3"/>
          <p:cNvSpPr txBox="1">
            <a:spLocks noChangeArrowheads="1"/>
          </p:cNvSpPr>
          <p:nvPr/>
        </p:nvSpPr>
        <p:spPr bwMode="auto">
          <a:xfrm>
            <a:off x="578908" y="4997227"/>
            <a:ext cx="11330516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2. 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式中的电流是指闭合曲线所包围并穿过的电流，不包括闭合曲线以外的电流。</a:t>
            </a:r>
            <a:endParaRPr kumimoji="1" lang="zh-CN" altLang="en-US" sz="2400" dirty="0" smtClean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Heiti SC Light"/>
            </a:endParaRPr>
          </a:p>
        </p:txBody>
      </p:sp>
      <p:sp>
        <p:nvSpPr>
          <p:cNvPr id="206853" name="AutoShape 5"/>
          <p:cNvSpPr>
            <a:spLocks noChangeArrowheads="1"/>
          </p:cNvSpPr>
          <p:nvPr/>
        </p:nvSpPr>
        <p:spPr bwMode="auto">
          <a:xfrm>
            <a:off x="624417" y="2524275"/>
            <a:ext cx="1919816" cy="865188"/>
          </a:xfrm>
          <a:prstGeom prst="horizontalScrol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讨论</a:t>
            </a:r>
          </a:p>
        </p:txBody>
      </p:sp>
      <p:graphicFrame>
        <p:nvGraphicFramePr>
          <p:cNvPr id="2068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7721922"/>
              </p:ext>
            </p:extLst>
          </p:nvPr>
        </p:nvGraphicFramePr>
        <p:xfrm>
          <a:off x="3428944" y="1716388"/>
          <a:ext cx="4032249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6" name="公式" r:id="rId3" imgW="1764000" imgH="597960" progId="Equations">
                  <p:embed/>
                </p:oleObj>
              </mc:Choice>
              <mc:Fallback>
                <p:oleObj name="公式" r:id="rId3" imgW="1764000" imgH="59796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8944" y="1716388"/>
                        <a:ext cx="4032249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189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55" name="Text Box 7"/>
          <p:cNvSpPr txBox="1">
            <a:spLocks noChangeArrowheads="1"/>
          </p:cNvSpPr>
          <p:nvPr/>
        </p:nvSpPr>
        <p:spPr bwMode="auto">
          <a:xfrm>
            <a:off x="578908" y="3422372"/>
            <a:ext cx="10945284" cy="1574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1. 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静电场的环路定理说明静电场是无旋场，保守力场，并引入电势这个物理量来描述静电场；由于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B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矢量环流并不恒等于零，所以通常磁场是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Heiti SC Light"/>
              </a:rPr>
              <a:t>有旋</a:t>
            </a:r>
            <a:r>
              <a:rPr kumimoji="1" lang="zh-CN" altLang="en-US" sz="2800" b="1" dirty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Heiti SC Light"/>
              </a:rPr>
              <a:t>场，非保守场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Heiti SC Light"/>
              </a:rPr>
              <a:t>、一般不引入标量势的概念描述磁场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。</a:t>
            </a:r>
            <a:endParaRPr kumimoji="1" lang="zh-CN" altLang="en-US" sz="2800" b="1" dirty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Heiti SC Light"/>
            </a:endParaRPr>
          </a:p>
        </p:txBody>
      </p:sp>
      <p:sp>
        <p:nvSpPr>
          <p:cNvPr id="206856" name="Rectangle 8"/>
          <p:cNvSpPr>
            <a:spLocks noChangeArrowheads="1"/>
          </p:cNvSpPr>
          <p:nvPr/>
        </p:nvSpPr>
        <p:spPr bwMode="auto">
          <a:xfrm>
            <a:off x="623392" y="260649"/>
            <a:ext cx="4510616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FF"/>
                </a:solidFill>
                <a:latin typeface="黑体" pitchFamily="49" charset="-122"/>
                <a:ea typeface="黑体" pitchFamily="49" charset="-122"/>
                <a:cs typeface="Heiti SC Light"/>
              </a:rPr>
              <a:t>安培环路定理：</a:t>
            </a:r>
          </a:p>
        </p:txBody>
      </p:sp>
      <p:pic>
        <p:nvPicPr>
          <p:cNvPr id="8" name="Picture 15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6"/>
          <a:stretch/>
        </p:blipFill>
        <p:spPr bwMode="auto">
          <a:xfrm>
            <a:off x="5745892" y="5542879"/>
            <a:ext cx="5266152" cy="11616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640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5" name="Text Box 3"/>
          <p:cNvSpPr txBox="1">
            <a:spLocks noChangeArrowheads="1"/>
          </p:cNvSpPr>
          <p:nvPr/>
        </p:nvSpPr>
        <p:spPr bwMode="auto">
          <a:xfrm>
            <a:off x="624417" y="1484313"/>
            <a:ext cx="528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4. 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电流的符号规定：</a:t>
            </a:r>
          </a:p>
        </p:txBody>
      </p:sp>
      <p:sp>
        <p:nvSpPr>
          <p:cNvPr id="207876" name="Text Box 4"/>
          <p:cNvSpPr txBox="1">
            <a:spLocks noChangeArrowheads="1"/>
          </p:cNvSpPr>
          <p:nvPr/>
        </p:nvSpPr>
        <p:spPr bwMode="auto">
          <a:xfrm>
            <a:off x="814917" y="2060576"/>
            <a:ext cx="6299200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当电流方向与积分路径的绕行方向构成右手螺旋关系时电流为正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,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反之为负。</a:t>
            </a:r>
          </a:p>
        </p:txBody>
      </p:sp>
      <p:graphicFrame>
        <p:nvGraphicFramePr>
          <p:cNvPr id="20789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71051"/>
              </p:ext>
            </p:extLst>
          </p:nvPr>
        </p:nvGraphicFramePr>
        <p:xfrm>
          <a:off x="3793067" y="3733801"/>
          <a:ext cx="7871884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4" name="Equation" r:id="rId3" imgW="3515040" imgH="661320" progId="Equation.DSMT4">
                  <p:embed/>
                </p:oleObj>
              </mc:Choice>
              <mc:Fallback>
                <p:oleObj name="Equation" r:id="rId3" imgW="3515040" imgH="66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3067" y="3733801"/>
                        <a:ext cx="7871884" cy="1135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96" name="Text Box 24"/>
          <p:cNvSpPr txBox="1">
            <a:spLocks noChangeArrowheads="1"/>
          </p:cNvSpPr>
          <p:nvPr/>
        </p:nvSpPr>
        <p:spPr bwMode="auto">
          <a:xfrm>
            <a:off x="624417" y="4953430"/>
            <a:ext cx="8737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5. 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同一电流与闭合回路</a:t>
            </a:r>
            <a:r>
              <a:rPr kumimoji="1" lang="en-US" altLang="zh-CN" sz="2800" b="1" i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N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次链套时：</a:t>
            </a:r>
          </a:p>
        </p:txBody>
      </p:sp>
      <p:graphicFrame>
        <p:nvGraphicFramePr>
          <p:cNvPr id="207897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585164"/>
              </p:ext>
            </p:extLst>
          </p:nvPr>
        </p:nvGraphicFramePr>
        <p:xfrm>
          <a:off x="911712" y="5639830"/>
          <a:ext cx="3551767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5" name="公式" r:id="rId5" imgW="1548360" imgH="661320" progId="Equations">
                  <p:embed/>
                </p:oleObj>
              </mc:Choice>
              <mc:Fallback>
                <p:oleObj name="公式" r:id="rId5" imgW="1548360" imgH="66132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712" y="5639830"/>
                        <a:ext cx="3551767" cy="1155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98" name="Text Box 26"/>
          <p:cNvSpPr txBox="1">
            <a:spLocks noChangeArrowheads="1"/>
          </p:cNvSpPr>
          <p:nvPr/>
        </p:nvSpPr>
        <p:spPr bwMode="auto">
          <a:xfrm>
            <a:off x="814918" y="3860801"/>
            <a:ext cx="3456516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如右图所示：</a:t>
            </a:r>
          </a:p>
        </p:txBody>
      </p:sp>
      <p:sp>
        <p:nvSpPr>
          <p:cNvPr id="207899" name="Text Box 27"/>
          <p:cNvSpPr txBox="1">
            <a:spLocks noChangeArrowheads="1"/>
          </p:cNvSpPr>
          <p:nvPr/>
        </p:nvSpPr>
        <p:spPr bwMode="auto">
          <a:xfrm>
            <a:off x="704061" y="297526"/>
            <a:ext cx="10668000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3. 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式中的磁感应强度</a:t>
            </a:r>
            <a:r>
              <a:rPr kumimoji="1" lang="en-US" altLang="zh-CN"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B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是闭合曲线内外所有电流产生的磁感应强度。</a:t>
            </a:r>
            <a:endParaRPr kumimoji="1" lang="zh-CN" altLang="en-US" sz="2400" b="1" dirty="0" smtClean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Heiti SC Light"/>
            </a:endParaRPr>
          </a:p>
        </p:txBody>
      </p:sp>
      <p:grpSp>
        <p:nvGrpSpPr>
          <p:cNvPr id="207922" name="Group 50"/>
          <p:cNvGrpSpPr>
            <a:grpSpLocks/>
          </p:cNvGrpSpPr>
          <p:nvPr/>
        </p:nvGrpSpPr>
        <p:grpSpPr bwMode="auto">
          <a:xfrm>
            <a:off x="7025217" y="762000"/>
            <a:ext cx="4790016" cy="2960688"/>
            <a:chOff x="3319" y="480"/>
            <a:chExt cx="2263" cy="1865"/>
          </a:xfrm>
        </p:grpSpPr>
        <p:sp>
          <p:nvSpPr>
            <p:cNvPr id="207900" name="Oval 28"/>
            <p:cNvSpPr>
              <a:spLocks noChangeArrowheads="1"/>
            </p:cNvSpPr>
            <p:nvPr/>
          </p:nvSpPr>
          <p:spPr bwMode="auto">
            <a:xfrm>
              <a:off x="3878" y="845"/>
              <a:ext cx="1452" cy="817"/>
            </a:xfrm>
            <a:prstGeom prst="ellipse">
              <a:avLst/>
            </a:prstGeom>
            <a:noFill/>
            <a:ln w="571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endParaRPr>
            </a:p>
          </p:txBody>
        </p:sp>
        <p:sp>
          <p:nvSpPr>
            <p:cNvPr id="207901" name="Freeform 29"/>
            <p:cNvSpPr>
              <a:spLocks/>
            </p:cNvSpPr>
            <p:nvPr/>
          </p:nvSpPr>
          <p:spPr bwMode="auto">
            <a:xfrm>
              <a:off x="3787" y="618"/>
              <a:ext cx="363" cy="544"/>
            </a:xfrm>
            <a:custGeom>
              <a:avLst/>
              <a:gdLst>
                <a:gd name="T0" fmla="*/ 0 w 363"/>
                <a:gd name="T1" fmla="*/ 8 h 597"/>
                <a:gd name="T2" fmla="*/ 227 w 363"/>
                <a:gd name="T3" fmla="*/ 98 h 597"/>
                <a:gd name="T4" fmla="*/ 363 w 363"/>
                <a:gd name="T5" fmla="*/ 597 h 5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63" h="597">
                  <a:moveTo>
                    <a:pt x="0" y="8"/>
                  </a:moveTo>
                  <a:cubicBezTo>
                    <a:pt x="83" y="4"/>
                    <a:pt x="166" y="0"/>
                    <a:pt x="227" y="98"/>
                  </a:cubicBezTo>
                  <a:cubicBezTo>
                    <a:pt x="288" y="196"/>
                    <a:pt x="340" y="514"/>
                    <a:pt x="363" y="597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endParaRPr>
            </a:p>
          </p:txBody>
        </p:sp>
        <p:sp>
          <p:nvSpPr>
            <p:cNvPr id="207904" name="Freeform 32"/>
            <p:cNvSpPr>
              <a:spLocks/>
            </p:cNvSpPr>
            <p:nvPr/>
          </p:nvSpPr>
          <p:spPr bwMode="auto">
            <a:xfrm>
              <a:off x="3799" y="1618"/>
              <a:ext cx="602" cy="631"/>
            </a:xfrm>
            <a:custGeom>
              <a:avLst/>
              <a:gdLst>
                <a:gd name="T0" fmla="*/ 576 w 602"/>
                <a:gd name="T1" fmla="*/ 0 h 631"/>
                <a:gd name="T2" fmla="*/ 398 w 602"/>
                <a:gd name="T3" fmla="*/ 480 h 631"/>
                <a:gd name="T4" fmla="*/ 370 w 602"/>
                <a:gd name="T5" fmla="*/ 508 h 631"/>
                <a:gd name="T6" fmla="*/ 288 w 602"/>
                <a:gd name="T7" fmla="*/ 535 h 631"/>
                <a:gd name="T8" fmla="*/ 41 w 602"/>
                <a:gd name="T9" fmla="*/ 617 h 631"/>
                <a:gd name="T10" fmla="*/ 0 w 602"/>
                <a:gd name="T11" fmla="*/ 631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2" h="631">
                  <a:moveTo>
                    <a:pt x="576" y="0"/>
                  </a:moveTo>
                  <a:cubicBezTo>
                    <a:pt x="525" y="150"/>
                    <a:pt x="602" y="415"/>
                    <a:pt x="398" y="480"/>
                  </a:cubicBezTo>
                  <a:cubicBezTo>
                    <a:pt x="389" y="489"/>
                    <a:pt x="382" y="502"/>
                    <a:pt x="370" y="508"/>
                  </a:cubicBezTo>
                  <a:cubicBezTo>
                    <a:pt x="344" y="521"/>
                    <a:pt x="288" y="535"/>
                    <a:pt x="288" y="535"/>
                  </a:cubicBezTo>
                  <a:cubicBezTo>
                    <a:pt x="228" y="595"/>
                    <a:pt x="122" y="604"/>
                    <a:pt x="41" y="617"/>
                  </a:cubicBezTo>
                  <a:cubicBezTo>
                    <a:pt x="27" y="622"/>
                    <a:pt x="0" y="631"/>
                    <a:pt x="0" y="631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endParaRPr>
            </a:p>
          </p:txBody>
        </p:sp>
        <p:sp>
          <p:nvSpPr>
            <p:cNvPr id="207905" name="Freeform 33"/>
            <p:cNvSpPr>
              <a:spLocks/>
            </p:cNvSpPr>
            <p:nvPr/>
          </p:nvSpPr>
          <p:spPr bwMode="auto">
            <a:xfrm>
              <a:off x="4155" y="1138"/>
              <a:ext cx="192" cy="549"/>
            </a:xfrm>
            <a:custGeom>
              <a:avLst/>
              <a:gdLst>
                <a:gd name="T0" fmla="*/ 0 w 192"/>
                <a:gd name="T1" fmla="*/ 0 h 549"/>
                <a:gd name="T2" fmla="*/ 83 w 192"/>
                <a:gd name="T3" fmla="*/ 261 h 549"/>
                <a:gd name="T4" fmla="*/ 110 w 192"/>
                <a:gd name="T5" fmla="*/ 302 h 549"/>
                <a:gd name="T6" fmla="*/ 151 w 192"/>
                <a:gd name="T7" fmla="*/ 371 h 549"/>
                <a:gd name="T8" fmla="*/ 192 w 192"/>
                <a:gd name="T9" fmla="*/ 549 h 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549">
                  <a:moveTo>
                    <a:pt x="0" y="0"/>
                  </a:moveTo>
                  <a:cubicBezTo>
                    <a:pt x="22" y="88"/>
                    <a:pt x="54" y="175"/>
                    <a:pt x="83" y="261"/>
                  </a:cubicBezTo>
                  <a:cubicBezTo>
                    <a:pt x="88" y="276"/>
                    <a:pt x="103" y="287"/>
                    <a:pt x="110" y="302"/>
                  </a:cubicBezTo>
                  <a:cubicBezTo>
                    <a:pt x="146" y="373"/>
                    <a:pt x="98" y="316"/>
                    <a:pt x="151" y="371"/>
                  </a:cubicBezTo>
                  <a:cubicBezTo>
                    <a:pt x="175" y="442"/>
                    <a:pt x="192" y="478"/>
                    <a:pt x="192" y="549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endParaRPr>
            </a:p>
          </p:txBody>
        </p:sp>
        <p:sp>
          <p:nvSpPr>
            <p:cNvPr id="207906" name="Freeform 34"/>
            <p:cNvSpPr>
              <a:spLocks/>
            </p:cNvSpPr>
            <p:nvPr/>
          </p:nvSpPr>
          <p:spPr bwMode="auto">
            <a:xfrm>
              <a:off x="4649" y="1616"/>
              <a:ext cx="237" cy="704"/>
            </a:xfrm>
            <a:custGeom>
              <a:avLst/>
              <a:gdLst>
                <a:gd name="T0" fmla="*/ 18 w 237"/>
                <a:gd name="T1" fmla="*/ 704 h 704"/>
                <a:gd name="T2" fmla="*/ 73 w 237"/>
                <a:gd name="T3" fmla="*/ 649 h 704"/>
                <a:gd name="T4" fmla="*/ 141 w 237"/>
                <a:gd name="T5" fmla="*/ 567 h 704"/>
                <a:gd name="T6" fmla="*/ 183 w 237"/>
                <a:gd name="T7" fmla="*/ 484 h 704"/>
                <a:gd name="T8" fmla="*/ 210 w 237"/>
                <a:gd name="T9" fmla="*/ 443 h 704"/>
                <a:gd name="T10" fmla="*/ 237 w 237"/>
                <a:gd name="T11" fmla="*/ 361 h 704"/>
                <a:gd name="T12" fmla="*/ 224 w 237"/>
                <a:gd name="T13" fmla="*/ 87 h 704"/>
                <a:gd name="T14" fmla="*/ 183 w 237"/>
                <a:gd name="T15" fmla="*/ 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7" h="704">
                  <a:moveTo>
                    <a:pt x="18" y="704"/>
                  </a:moveTo>
                  <a:cubicBezTo>
                    <a:pt x="36" y="686"/>
                    <a:pt x="55" y="667"/>
                    <a:pt x="73" y="649"/>
                  </a:cubicBezTo>
                  <a:cubicBezTo>
                    <a:pt x="211" y="511"/>
                    <a:pt x="0" y="660"/>
                    <a:pt x="141" y="567"/>
                  </a:cubicBezTo>
                  <a:cubicBezTo>
                    <a:pt x="215" y="459"/>
                    <a:pt x="130" y="591"/>
                    <a:pt x="183" y="484"/>
                  </a:cubicBezTo>
                  <a:cubicBezTo>
                    <a:pt x="190" y="469"/>
                    <a:pt x="203" y="458"/>
                    <a:pt x="210" y="443"/>
                  </a:cubicBezTo>
                  <a:cubicBezTo>
                    <a:pt x="222" y="417"/>
                    <a:pt x="237" y="361"/>
                    <a:pt x="237" y="361"/>
                  </a:cubicBezTo>
                  <a:cubicBezTo>
                    <a:pt x="233" y="270"/>
                    <a:pt x="234" y="178"/>
                    <a:pt x="224" y="87"/>
                  </a:cubicBezTo>
                  <a:cubicBezTo>
                    <a:pt x="214" y="0"/>
                    <a:pt x="222" y="4"/>
                    <a:pt x="183" y="4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endParaRPr>
            </a:p>
          </p:txBody>
        </p:sp>
        <p:sp>
          <p:nvSpPr>
            <p:cNvPr id="207907" name="Freeform 35"/>
            <p:cNvSpPr>
              <a:spLocks/>
            </p:cNvSpPr>
            <p:nvPr/>
          </p:nvSpPr>
          <p:spPr bwMode="auto">
            <a:xfrm>
              <a:off x="4869" y="1234"/>
              <a:ext cx="150" cy="412"/>
            </a:xfrm>
            <a:custGeom>
              <a:avLst/>
              <a:gdLst>
                <a:gd name="T0" fmla="*/ 0 w 150"/>
                <a:gd name="T1" fmla="*/ 412 h 412"/>
                <a:gd name="T2" fmla="*/ 13 w 150"/>
                <a:gd name="T3" fmla="*/ 192 h 412"/>
                <a:gd name="T4" fmla="*/ 150 w 150"/>
                <a:gd name="T5" fmla="*/ 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" h="412">
                  <a:moveTo>
                    <a:pt x="0" y="412"/>
                  </a:moveTo>
                  <a:cubicBezTo>
                    <a:pt x="4" y="339"/>
                    <a:pt x="3" y="265"/>
                    <a:pt x="13" y="192"/>
                  </a:cubicBezTo>
                  <a:cubicBezTo>
                    <a:pt x="28" y="83"/>
                    <a:pt x="86" y="69"/>
                    <a:pt x="150" y="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endParaRPr>
            </a:p>
          </p:txBody>
        </p:sp>
        <p:sp>
          <p:nvSpPr>
            <p:cNvPr id="207908" name="Freeform 36"/>
            <p:cNvSpPr>
              <a:spLocks/>
            </p:cNvSpPr>
            <p:nvPr/>
          </p:nvSpPr>
          <p:spPr bwMode="auto">
            <a:xfrm>
              <a:off x="5019" y="480"/>
              <a:ext cx="563" cy="754"/>
            </a:xfrm>
            <a:custGeom>
              <a:avLst/>
              <a:gdLst>
                <a:gd name="T0" fmla="*/ 0 w 563"/>
                <a:gd name="T1" fmla="*/ 754 h 754"/>
                <a:gd name="T2" fmla="*/ 165 w 563"/>
                <a:gd name="T3" fmla="*/ 631 h 754"/>
                <a:gd name="T4" fmla="*/ 247 w 563"/>
                <a:gd name="T5" fmla="*/ 603 h 754"/>
                <a:gd name="T6" fmla="*/ 316 w 563"/>
                <a:gd name="T7" fmla="*/ 562 h 754"/>
                <a:gd name="T8" fmla="*/ 412 w 563"/>
                <a:gd name="T9" fmla="*/ 453 h 754"/>
                <a:gd name="T10" fmla="*/ 453 w 563"/>
                <a:gd name="T11" fmla="*/ 329 h 754"/>
                <a:gd name="T12" fmla="*/ 467 w 563"/>
                <a:gd name="T13" fmla="*/ 288 h 754"/>
                <a:gd name="T14" fmla="*/ 480 w 563"/>
                <a:gd name="T15" fmla="*/ 247 h 754"/>
                <a:gd name="T16" fmla="*/ 508 w 563"/>
                <a:gd name="T17" fmla="*/ 82 h 754"/>
                <a:gd name="T18" fmla="*/ 563 w 563"/>
                <a:gd name="T19" fmla="*/ 0 h 7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3" h="754">
                  <a:moveTo>
                    <a:pt x="0" y="754"/>
                  </a:moveTo>
                  <a:cubicBezTo>
                    <a:pt x="57" y="697"/>
                    <a:pt x="92" y="663"/>
                    <a:pt x="165" y="631"/>
                  </a:cubicBezTo>
                  <a:cubicBezTo>
                    <a:pt x="191" y="619"/>
                    <a:pt x="247" y="603"/>
                    <a:pt x="247" y="603"/>
                  </a:cubicBezTo>
                  <a:cubicBezTo>
                    <a:pt x="339" y="514"/>
                    <a:pt x="203" y="638"/>
                    <a:pt x="316" y="562"/>
                  </a:cubicBezTo>
                  <a:cubicBezTo>
                    <a:pt x="357" y="535"/>
                    <a:pt x="377" y="487"/>
                    <a:pt x="412" y="453"/>
                  </a:cubicBezTo>
                  <a:cubicBezTo>
                    <a:pt x="443" y="356"/>
                    <a:pt x="430" y="398"/>
                    <a:pt x="453" y="329"/>
                  </a:cubicBezTo>
                  <a:cubicBezTo>
                    <a:pt x="458" y="315"/>
                    <a:pt x="462" y="302"/>
                    <a:pt x="467" y="288"/>
                  </a:cubicBezTo>
                  <a:cubicBezTo>
                    <a:pt x="471" y="274"/>
                    <a:pt x="480" y="247"/>
                    <a:pt x="480" y="247"/>
                  </a:cubicBezTo>
                  <a:cubicBezTo>
                    <a:pt x="482" y="232"/>
                    <a:pt x="499" y="107"/>
                    <a:pt x="508" y="82"/>
                  </a:cubicBezTo>
                  <a:cubicBezTo>
                    <a:pt x="520" y="50"/>
                    <a:pt x="563" y="32"/>
                    <a:pt x="563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endParaRPr>
            </a:p>
          </p:txBody>
        </p:sp>
        <p:sp>
          <p:nvSpPr>
            <p:cNvPr id="207909" name="Freeform 37"/>
            <p:cNvSpPr>
              <a:spLocks/>
            </p:cNvSpPr>
            <p:nvPr/>
          </p:nvSpPr>
          <p:spPr bwMode="auto">
            <a:xfrm>
              <a:off x="4499" y="527"/>
              <a:ext cx="178" cy="740"/>
            </a:xfrm>
            <a:custGeom>
              <a:avLst/>
              <a:gdLst>
                <a:gd name="T0" fmla="*/ 178 w 178"/>
                <a:gd name="T1" fmla="*/ 0 h 740"/>
                <a:gd name="T2" fmla="*/ 123 w 178"/>
                <a:gd name="T3" fmla="*/ 68 h 740"/>
                <a:gd name="T4" fmla="*/ 82 w 178"/>
                <a:gd name="T5" fmla="*/ 233 h 740"/>
                <a:gd name="T6" fmla="*/ 0 w 178"/>
                <a:gd name="T7" fmla="*/ 740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8" h="740">
                  <a:moveTo>
                    <a:pt x="178" y="0"/>
                  </a:moveTo>
                  <a:cubicBezTo>
                    <a:pt x="162" y="24"/>
                    <a:pt x="138" y="43"/>
                    <a:pt x="123" y="68"/>
                  </a:cubicBezTo>
                  <a:cubicBezTo>
                    <a:pt x="95" y="114"/>
                    <a:pt x="97" y="182"/>
                    <a:pt x="82" y="233"/>
                  </a:cubicBezTo>
                  <a:cubicBezTo>
                    <a:pt x="29" y="410"/>
                    <a:pt x="0" y="553"/>
                    <a:pt x="0" y="74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endParaRPr>
            </a:p>
          </p:txBody>
        </p:sp>
        <p:sp>
          <p:nvSpPr>
            <p:cNvPr id="207910" name="Freeform 38"/>
            <p:cNvSpPr>
              <a:spLocks/>
            </p:cNvSpPr>
            <p:nvPr/>
          </p:nvSpPr>
          <p:spPr bwMode="auto">
            <a:xfrm>
              <a:off x="4498" y="1248"/>
              <a:ext cx="69" cy="425"/>
            </a:xfrm>
            <a:custGeom>
              <a:avLst/>
              <a:gdLst>
                <a:gd name="T0" fmla="*/ 0 w 69"/>
                <a:gd name="T1" fmla="*/ 0 h 425"/>
                <a:gd name="T2" fmla="*/ 69 w 69"/>
                <a:gd name="T3" fmla="*/ 110 h 425"/>
                <a:gd name="T4" fmla="*/ 55 w 69"/>
                <a:gd name="T5" fmla="*/ 425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" h="425">
                  <a:moveTo>
                    <a:pt x="0" y="0"/>
                  </a:moveTo>
                  <a:cubicBezTo>
                    <a:pt x="27" y="40"/>
                    <a:pt x="35" y="76"/>
                    <a:pt x="69" y="110"/>
                  </a:cubicBezTo>
                  <a:cubicBezTo>
                    <a:pt x="55" y="407"/>
                    <a:pt x="55" y="302"/>
                    <a:pt x="55" y="425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endParaRPr>
            </a:p>
          </p:txBody>
        </p:sp>
        <p:sp>
          <p:nvSpPr>
            <p:cNvPr id="207911" name="Freeform 39"/>
            <p:cNvSpPr>
              <a:spLocks/>
            </p:cNvSpPr>
            <p:nvPr/>
          </p:nvSpPr>
          <p:spPr bwMode="auto">
            <a:xfrm>
              <a:off x="4383" y="1659"/>
              <a:ext cx="238" cy="686"/>
            </a:xfrm>
            <a:custGeom>
              <a:avLst/>
              <a:gdLst>
                <a:gd name="T0" fmla="*/ 184 w 238"/>
                <a:gd name="T1" fmla="*/ 0 h 686"/>
                <a:gd name="T2" fmla="*/ 88 w 238"/>
                <a:gd name="T3" fmla="*/ 522 h 686"/>
                <a:gd name="T4" fmla="*/ 6 w 238"/>
                <a:gd name="T5" fmla="*/ 618 h 686"/>
                <a:gd name="T6" fmla="*/ 6 w 238"/>
                <a:gd name="T7" fmla="*/ 686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8" h="686">
                  <a:moveTo>
                    <a:pt x="184" y="0"/>
                  </a:moveTo>
                  <a:cubicBezTo>
                    <a:pt x="238" y="162"/>
                    <a:pt x="140" y="366"/>
                    <a:pt x="88" y="522"/>
                  </a:cubicBezTo>
                  <a:cubicBezTo>
                    <a:pt x="77" y="554"/>
                    <a:pt x="15" y="585"/>
                    <a:pt x="6" y="618"/>
                  </a:cubicBezTo>
                  <a:cubicBezTo>
                    <a:pt x="0" y="640"/>
                    <a:pt x="6" y="663"/>
                    <a:pt x="6" y="686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endParaRPr>
            </a:p>
          </p:txBody>
        </p:sp>
        <p:sp>
          <p:nvSpPr>
            <p:cNvPr id="207913" name="Freeform 41"/>
            <p:cNvSpPr>
              <a:spLocks/>
            </p:cNvSpPr>
            <p:nvPr/>
          </p:nvSpPr>
          <p:spPr bwMode="auto">
            <a:xfrm>
              <a:off x="3319" y="672"/>
              <a:ext cx="452" cy="1563"/>
            </a:xfrm>
            <a:custGeom>
              <a:avLst/>
              <a:gdLst>
                <a:gd name="T0" fmla="*/ 0 w 452"/>
                <a:gd name="T1" fmla="*/ 0 h 1563"/>
                <a:gd name="T2" fmla="*/ 82 w 452"/>
                <a:gd name="T3" fmla="*/ 27 h 1563"/>
                <a:gd name="T4" fmla="*/ 123 w 452"/>
                <a:gd name="T5" fmla="*/ 41 h 1563"/>
                <a:gd name="T6" fmla="*/ 192 w 452"/>
                <a:gd name="T7" fmla="*/ 96 h 1563"/>
                <a:gd name="T8" fmla="*/ 247 w 452"/>
                <a:gd name="T9" fmla="*/ 165 h 1563"/>
                <a:gd name="T10" fmla="*/ 356 w 452"/>
                <a:gd name="T11" fmla="*/ 535 h 1563"/>
                <a:gd name="T12" fmla="*/ 398 w 452"/>
                <a:gd name="T13" fmla="*/ 631 h 1563"/>
                <a:gd name="T14" fmla="*/ 452 w 452"/>
                <a:gd name="T15" fmla="*/ 837 h 1563"/>
                <a:gd name="T16" fmla="*/ 439 w 452"/>
                <a:gd name="T17" fmla="*/ 1070 h 1563"/>
                <a:gd name="T18" fmla="*/ 411 w 452"/>
                <a:gd name="T19" fmla="*/ 1111 h 1563"/>
                <a:gd name="T20" fmla="*/ 398 w 452"/>
                <a:gd name="T21" fmla="*/ 1152 h 1563"/>
                <a:gd name="T22" fmla="*/ 315 w 452"/>
                <a:gd name="T23" fmla="*/ 1234 h 1563"/>
                <a:gd name="T24" fmla="*/ 233 w 452"/>
                <a:gd name="T25" fmla="*/ 1344 h 1563"/>
                <a:gd name="T26" fmla="*/ 137 w 452"/>
                <a:gd name="T27" fmla="*/ 1495 h 1563"/>
                <a:gd name="T28" fmla="*/ 110 w 452"/>
                <a:gd name="T29" fmla="*/ 1536 h 1563"/>
                <a:gd name="T30" fmla="*/ 68 w 452"/>
                <a:gd name="T31" fmla="*/ 1563 h 1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52" h="1563">
                  <a:moveTo>
                    <a:pt x="0" y="0"/>
                  </a:moveTo>
                  <a:cubicBezTo>
                    <a:pt x="27" y="9"/>
                    <a:pt x="55" y="18"/>
                    <a:pt x="82" y="27"/>
                  </a:cubicBezTo>
                  <a:cubicBezTo>
                    <a:pt x="96" y="32"/>
                    <a:pt x="123" y="41"/>
                    <a:pt x="123" y="41"/>
                  </a:cubicBezTo>
                  <a:cubicBezTo>
                    <a:pt x="144" y="62"/>
                    <a:pt x="171" y="75"/>
                    <a:pt x="192" y="96"/>
                  </a:cubicBezTo>
                  <a:cubicBezTo>
                    <a:pt x="213" y="117"/>
                    <a:pt x="226" y="144"/>
                    <a:pt x="247" y="165"/>
                  </a:cubicBezTo>
                  <a:cubicBezTo>
                    <a:pt x="287" y="286"/>
                    <a:pt x="312" y="416"/>
                    <a:pt x="356" y="535"/>
                  </a:cubicBezTo>
                  <a:cubicBezTo>
                    <a:pt x="385" y="612"/>
                    <a:pt x="381" y="564"/>
                    <a:pt x="398" y="631"/>
                  </a:cubicBezTo>
                  <a:cubicBezTo>
                    <a:pt x="415" y="700"/>
                    <a:pt x="431" y="769"/>
                    <a:pt x="452" y="837"/>
                  </a:cubicBezTo>
                  <a:cubicBezTo>
                    <a:pt x="448" y="915"/>
                    <a:pt x="451" y="993"/>
                    <a:pt x="439" y="1070"/>
                  </a:cubicBezTo>
                  <a:cubicBezTo>
                    <a:pt x="437" y="1086"/>
                    <a:pt x="418" y="1096"/>
                    <a:pt x="411" y="1111"/>
                  </a:cubicBezTo>
                  <a:cubicBezTo>
                    <a:pt x="405" y="1124"/>
                    <a:pt x="406" y="1140"/>
                    <a:pt x="398" y="1152"/>
                  </a:cubicBezTo>
                  <a:cubicBezTo>
                    <a:pt x="376" y="1184"/>
                    <a:pt x="336" y="1202"/>
                    <a:pt x="315" y="1234"/>
                  </a:cubicBezTo>
                  <a:cubicBezTo>
                    <a:pt x="283" y="1282"/>
                    <a:pt x="282" y="1311"/>
                    <a:pt x="233" y="1344"/>
                  </a:cubicBezTo>
                  <a:cubicBezTo>
                    <a:pt x="212" y="1405"/>
                    <a:pt x="175" y="1447"/>
                    <a:pt x="137" y="1495"/>
                  </a:cubicBezTo>
                  <a:cubicBezTo>
                    <a:pt x="127" y="1508"/>
                    <a:pt x="122" y="1525"/>
                    <a:pt x="110" y="1536"/>
                  </a:cubicBezTo>
                  <a:cubicBezTo>
                    <a:pt x="98" y="1548"/>
                    <a:pt x="68" y="1563"/>
                    <a:pt x="68" y="1563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endParaRPr>
            </a:p>
          </p:txBody>
        </p:sp>
        <p:sp>
          <p:nvSpPr>
            <p:cNvPr id="207914" name="Line 42"/>
            <p:cNvSpPr>
              <a:spLocks noChangeShapeType="1"/>
            </p:cNvSpPr>
            <p:nvPr/>
          </p:nvSpPr>
          <p:spPr bwMode="auto">
            <a:xfrm>
              <a:off x="3665" y="1117"/>
              <a:ext cx="45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endParaRPr>
            </a:p>
          </p:txBody>
        </p:sp>
        <p:sp>
          <p:nvSpPr>
            <p:cNvPr id="207915" name="Text Box 43"/>
            <p:cNvSpPr txBox="1">
              <a:spLocks noChangeArrowheads="1"/>
            </p:cNvSpPr>
            <p:nvPr/>
          </p:nvSpPr>
          <p:spPr bwMode="auto">
            <a:xfrm>
              <a:off x="3470" y="1071"/>
              <a:ext cx="23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i="1" smtClean="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cs typeface="Heiti SC Light"/>
                </a:rPr>
                <a:t>I</a:t>
              </a:r>
              <a:r>
                <a:rPr lang="en-US" altLang="zh-CN" sz="2800" b="1" baseline="-25000" smtClean="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cs typeface="Heiti SC Light"/>
                </a:rPr>
                <a:t>4</a:t>
              </a:r>
              <a:endParaRPr lang="en-US" altLang="zh-CN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endParaRPr>
            </a:p>
          </p:txBody>
        </p:sp>
        <p:sp>
          <p:nvSpPr>
            <p:cNvPr id="207917" name="Text Box 45"/>
            <p:cNvSpPr txBox="1">
              <a:spLocks noChangeArrowheads="1"/>
            </p:cNvSpPr>
            <p:nvPr/>
          </p:nvSpPr>
          <p:spPr bwMode="auto">
            <a:xfrm>
              <a:off x="3969" y="1117"/>
              <a:ext cx="23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i="1" smtClean="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cs typeface="Heiti SC Light"/>
                </a:rPr>
                <a:t>I</a:t>
              </a:r>
              <a:r>
                <a:rPr lang="en-US" altLang="zh-CN" sz="2800" b="1" baseline="-25000" smtClean="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cs typeface="Heiti SC Light"/>
                </a:rPr>
                <a:t>3</a:t>
              </a:r>
              <a:endParaRPr lang="en-US" altLang="zh-CN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endParaRPr>
            </a:p>
          </p:txBody>
        </p:sp>
        <p:sp>
          <p:nvSpPr>
            <p:cNvPr id="207918" name="Text Box 46"/>
            <p:cNvSpPr txBox="1">
              <a:spLocks noChangeArrowheads="1"/>
            </p:cNvSpPr>
            <p:nvPr/>
          </p:nvSpPr>
          <p:spPr bwMode="auto">
            <a:xfrm>
              <a:off x="4513" y="935"/>
              <a:ext cx="23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i="1" smtClean="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cs typeface="Heiti SC Light"/>
                </a:rPr>
                <a:t>I</a:t>
              </a:r>
              <a:r>
                <a:rPr lang="en-US" altLang="zh-CN" sz="2800" b="1" baseline="-25000" smtClean="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cs typeface="Heiti SC Light"/>
                </a:rPr>
                <a:t>1</a:t>
              </a:r>
              <a:endParaRPr lang="en-US" altLang="zh-CN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endParaRPr>
            </a:p>
          </p:txBody>
        </p:sp>
        <p:sp>
          <p:nvSpPr>
            <p:cNvPr id="207919" name="Text Box 47"/>
            <p:cNvSpPr txBox="1">
              <a:spLocks noChangeArrowheads="1"/>
            </p:cNvSpPr>
            <p:nvPr/>
          </p:nvSpPr>
          <p:spPr bwMode="auto">
            <a:xfrm>
              <a:off x="4967" y="1117"/>
              <a:ext cx="23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i="1" smtClean="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cs typeface="Heiti SC Light"/>
                </a:rPr>
                <a:t>I</a:t>
              </a:r>
              <a:r>
                <a:rPr lang="en-US" altLang="zh-CN" sz="2800" b="1" baseline="-25000" smtClean="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cs typeface="Heiti SC Light"/>
                </a:rPr>
                <a:t>2</a:t>
              </a:r>
              <a:endParaRPr lang="en-US" altLang="zh-CN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endParaRPr>
            </a:p>
          </p:txBody>
        </p:sp>
        <p:sp>
          <p:nvSpPr>
            <p:cNvPr id="207920" name="Line 48"/>
            <p:cNvSpPr>
              <a:spLocks noChangeShapeType="1"/>
            </p:cNvSpPr>
            <p:nvPr/>
          </p:nvSpPr>
          <p:spPr bwMode="auto">
            <a:xfrm flipV="1">
              <a:off x="4921" y="1525"/>
              <a:ext cx="227" cy="9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endParaRPr>
            </a:p>
          </p:txBody>
        </p:sp>
        <p:graphicFrame>
          <p:nvGraphicFramePr>
            <p:cNvPr id="207921" name="Object 49"/>
            <p:cNvGraphicFramePr>
              <a:graphicFrameLocks noChangeAspect="1"/>
            </p:cNvGraphicFramePr>
            <p:nvPr/>
          </p:nvGraphicFramePr>
          <p:xfrm>
            <a:off x="4967" y="1570"/>
            <a:ext cx="231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6" name="公式" r:id="rId7" imgW="139639" imgH="203112" progId="Equations">
                    <p:embed/>
                  </p:oleObj>
                </mc:Choice>
                <mc:Fallback>
                  <p:oleObj name="公式" r:id="rId7" imgW="139639" imgH="203112" progId="Equations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7" y="1570"/>
                          <a:ext cx="231" cy="3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1663" name="Picture 15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650" y="5250185"/>
            <a:ext cx="5848350" cy="1343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53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836" y="1470453"/>
            <a:ext cx="11016206" cy="4201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61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5140" y="229202"/>
            <a:ext cx="10515600" cy="635772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solidFill>
                  <a:srgbClr val="0070C0"/>
                </a:solidFill>
              </a:rPr>
              <a:t>例</a:t>
            </a:r>
            <a:r>
              <a:rPr lang="en-US" altLang="zh-CN" sz="3600" b="1" dirty="0" smtClean="0">
                <a:solidFill>
                  <a:srgbClr val="0070C0"/>
                </a:solidFill>
              </a:rPr>
              <a:t>19.9</a:t>
            </a:r>
            <a:endParaRPr lang="zh-CN" altLang="en-US" sz="3600" b="1" dirty="0">
              <a:solidFill>
                <a:srgbClr val="0070C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1702" y="1124465"/>
            <a:ext cx="10515600" cy="4768293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/>
              <a:t>长直导线的磁场</a:t>
            </a:r>
          </a:p>
          <a:p>
            <a:pPr marL="0" indent="0">
              <a:buNone/>
            </a:pPr>
            <a:r>
              <a:rPr lang="zh-CN" altLang="en-US" b="1" dirty="0"/>
              <a:t>利用安培定理证明长直导线的磁感应强度</a:t>
            </a:r>
            <a:r>
              <a:rPr lang="zh-CN" altLang="en-US" b="1" dirty="0" smtClean="0"/>
              <a:t>为</a:t>
            </a:r>
            <a:endParaRPr lang="zh-CN" altLang="en-US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8607501"/>
              </p:ext>
            </p:extLst>
          </p:nvPr>
        </p:nvGraphicFramePr>
        <p:xfrm>
          <a:off x="7807907" y="1580101"/>
          <a:ext cx="2817653" cy="5606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2" name="Equation" r:id="rId4" imgW="1180800" imgH="241200" progId="Equation.DSMT4">
                  <p:embed/>
                </p:oleObj>
              </mc:Choice>
              <mc:Fallback>
                <p:oleObj name="Equation" r:id="rId4" imgW="11808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807907" y="1580101"/>
                        <a:ext cx="2817653" cy="5606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5395" y="2310714"/>
            <a:ext cx="2842311" cy="4182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860855" y="2553893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/>
              <a:t>选择</a:t>
            </a:r>
            <a:r>
              <a:rPr lang="zh-CN" altLang="en-US" sz="2400" dirty="0" smtClean="0"/>
              <a:t>一个</a:t>
            </a:r>
            <a:r>
              <a:rPr lang="zh-CN" altLang="en-US" sz="2400" dirty="0"/>
              <a:t>环绕磁感应线的闭合</a:t>
            </a:r>
            <a:r>
              <a:rPr lang="zh-CN" altLang="en-US" sz="2400" dirty="0" smtClean="0"/>
              <a:t>路径。</a:t>
            </a:r>
            <a:r>
              <a:rPr lang="zh-CN" altLang="en-US" sz="2400" dirty="0"/>
              <a:t>磁场处处与</a:t>
            </a:r>
            <a:r>
              <a:rPr lang="zh-CN" altLang="en-US" sz="2400" dirty="0" smtClean="0"/>
              <a:t>磁感应线相切</a:t>
            </a:r>
            <a:r>
              <a:rPr lang="zh-CN" altLang="en-US" sz="2400" dirty="0"/>
              <a:t>，因而与该路经相切；</a:t>
            </a:r>
            <a:r>
              <a:rPr lang="zh-CN" altLang="en-US" sz="2400" dirty="0" smtClean="0"/>
              <a:t>没有垂直</a:t>
            </a:r>
            <a:r>
              <a:rPr lang="zh-CN" altLang="en-US" sz="2400" dirty="0"/>
              <a:t>分量。至导线的距离均为</a:t>
            </a:r>
            <a:r>
              <a:rPr lang="en-US" altLang="zh-CN" sz="2400" dirty="0" smtClean="0"/>
              <a:t>r</a:t>
            </a:r>
            <a:r>
              <a:rPr lang="zh-CN" altLang="en-US" sz="2400" dirty="0" smtClean="0"/>
              <a:t>处</a:t>
            </a:r>
            <a:r>
              <a:rPr lang="zh-CN" altLang="en-US" sz="2400" dirty="0"/>
              <a:t>的磁场也一定大小相同。</a:t>
            </a:r>
          </a:p>
          <a:p>
            <a:r>
              <a:rPr lang="zh-CN" altLang="en-US" sz="2400" dirty="0" smtClean="0"/>
              <a:t>解</a:t>
            </a:r>
            <a:r>
              <a:rPr lang="en-US" altLang="zh-CN" sz="2400" dirty="0" smtClean="0"/>
              <a:t>:</a:t>
            </a:r>
            <a:r>
              <a:rPr lang="zh-CN" altLang="en-US" sz="2400" dirty="0" smtClean="0"/>
              <a:t>由于</a:t>
            </a:r>
            <a:r>
              <a:rPr lang="zh-CN" altLang="en-US" sz="2400" dirty="0"/>
              <a:t>该磁场没有垂直</a:t>
            </a:r>
            <a:r>
              <a:rPr lang="zh-CN" altLang="en-US" sz="2400" dirty="0" smtClean="0"/>
              <a:t>于此</a:t>
            </a:r>
            <a:r>
              <a:rPr lang="zh-CN" altLang="en-US" sz="2400" dirty="0"/>
              <a:t>路径的分量</a:t>
            </a:r>
            <a:r>
              <a:rPr lang="zh-CN" altLang="en-US" sz="2400" dirty="0" smtClean="0"/>
              <a:t>，</a:t>
            </a:r>
            <a:r>
              <a:rPr lang="en-US" altLang="zh-CN" sz="2400" i="1" dirty="0" smtClean="0"/>
              <a:t>B</a:t>
            </a:r>
            <a:r>
              <a:rPr lang="zh-CN" altLang="en-US" sz="2400" baseline="-25000" dirty="0" smtClean="0"/>
              <a:t>∥</a:t>
            </a:r>
            <a:r>
              <a:rPr lang="zh-CN" altLang="en-US" sz="2400" dirty="0" smtClean="0"/>
              <a:t> </a:t>
            </a:r>
            <a:r>
              <a:rPr lang="en-US" altLang="zh-CN" sz="2400" dirty="0"/>
              <a:t>= </a:t>
            </a:r>
            <a:r>
              <a:rPr lang="en-US" altLang="zh-CN" sz="2400" i="1" dirty="0"/>
              <a:t>B</a:t>
            </a:r>
            <a:r>
              <a:rPr lang="zh-CN" altLang="en-US" sz="2400" dirty="0"/>
              <a:t>。在此</a:t>
            </a:r>
            <a:r>
              <a:rPr lang="zh-CN" altLang="en-US" sz="2400" dirty="0" smtClean="0"/>
              <a:t>圆形</a:t>
            </a:r>
            <a:r>
              <a:rPr lang="zh-CN" altLang="en-US" sz="2400" dirty="0"/>
              <a:t>路径上，</a:t>
            </a:r>
            <a:r>
              <a:rPr lang="en-US" altLang="zh-CN" sz="2400" i="1" dirty="0"/>
              <a:t>B </a:t>
            </a:r>
            <a:r>
              <a:rPr lang="zh-CN" altLang="en-US" sz="2400" dirty="0"/>
              <a:t>是常数，所以</a:t>
            </a:r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环流 </a:t>
            </a:r>
            <a:endParaRPr lang="zh-CN" altLang="en-US" sz="2400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694420"/>
              </p:ext>
            </p:extLst>
          </p:nvPr>
        </p:nvGraphicFramePr>
        <p:xfrm>
          <a:off x="1735950" y="5092373"/>
          <a:ext cx="2381957" cy="508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3" name="Equation" r:id="rId7" imgW="1130040" imgH="241200" progId="Equation.DSMT4">
                  <p:embed/>
                </p:oleObj>
              </mc:Choice>
              <mc:Fallback>
                <p:oleObj name="Equation" r:id="rId7" imgW="11300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35950" y="5092373"/>
                        <a:ext cx="2381957" cy="5085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8966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98" y="656254"/>
            <a:ext cx="8264897" cy="401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269566"/>
              </p:ext>
            </p:extLst>
          </p:nvPr>
        </p:nvGraphicFramePr>
        <p:xfrm>
          <a:off x="2639987" y="5175796"/>
          <a:ext cx="5689563" cy="665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1" name="Equation" r:id="rId4" imgW="2171520" imgH="253800" progId="Equation.DSMT4">
                  <p:embed/>
                </p:oleObj>
              </mc:Choice>
              <mc:Fallback>
                <p:oleObj name="Equation" r:id="rId4" imgW="21715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39987" y="5175796"/>
                        <a:ext cx="5689563" cy="6654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9027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844" y="30334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b="1" dirty="0" smtClean="0">
                <a:solidFill>
                  <a:srgbClr val="0070C0"/>
                </a:solidFill>
              </a:rPr>
              <a:t>单项选择题</a:t>
            </a:r>
            <a:endParaRPr lang="zh-CN" altLang="en-US" sz="3600" b="1" dirty="0">
              <a:solidFill>
                <a:srgbClr val="0070C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94022"/>
            <a:ext cx="10515600" cy="458294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所</a:t>
            </a:r>
            <a:r>
              <a:rPr lang="zh-CN" altLang="en-US" dirty="0"/>
              <a:t>示路径</a:t>
            </a:r>
            <a:r>
              <a:rPr lang="zh-CN" altLang="en-US" dirty="0" smtClean="0"/>
              <a:t>的环流。</a:t>
            </a: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840628" y="1697768"/>
            <a:ext cx="6096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4000" dirty="0"/>
              <a:t>A.  -(4 A)</a:t>
            </a:r>
            <a:r>
              <a:rPr lang="en-US" altLang="zh-CN" sz="4000" dirty="0">
                <a:sym typeface="Symbol"/>
              </a:rPr>
              <a:t></a:t>
            </a:r>
            <a:r>
              <a:rPr lang="en-US" altLang="zh-CN" sz="4000" baseline="-25000" dirty="0"/>
              <a:t>0</a:t>
            </a:r>
            <a:r>
              <a:rPr lang="en-US" altLang="zh-CN" sz="4000" dirty="0"/>
              <a:t> </a:t>
            </a:r>
            <a:br>
              <a:rPr lang="en-US" altLang="zh-CN" sz="4000" dirty="0"/>
            </a:br>
            <a:r>
              <a:rPr lang="en-US" altLang="zh-CN" sz="4000" dirty="0"/>
              <a:t>B.  (4 A)</a:t>
            </a:r>
            <a:r>
              <a:rPr lang="en-US" altLang="zh-CN" sz="4000" dirty="0">
                <a:sym typeface="Symbol"/>
              </a:rPr>
              <a:t></a:t>
            </a:r>
            <a:r>
              <a:rPr lang="en-US" altLang="zh-CN" sz="4000" baseline="-25000" dirty="0"/>
              <a:t>0</a:t>
            </a:r>
            <a:r>
              <a:rPr lang="en-US" altLang="zh-CN" sz="4000" dirty="0"/>
              <a:t> </a:t>
            </a:r>
            <a:br>
              <a:rPr lang="en-US" altLang="zh-CN" sz="4000" dirty="0"/>
            </a:br>
            <a:r>
              <a:rPr lang="en-US" altLang="zh-CN" sz="4000" dirty="0"/>
              <a:t>C.  -(28 A)</a:t>
            </a:r>
            <a:r>
              <a:rPr lang="en-US" altLang="zh-CN" sz="4000" dirty="0">
                <a:sym typeface="Symbol"/>
              </a:rPr>
              <a:t></a:t>
            </a:r>
            <a:r>
              <a:rPr lang="en-US" altLang="zh-CN" sz="4000" baseline="-25000" dirty="0"/>
              <a:t>0</a:t>
            </a:r>
            <a:r>
              <a:rPr lang="en-US" altLang="zh-CN" sz="4000" dirty="0"/>
              <a:t> </a:t>
            </a:r>
            <a:br>
              <a:rPr lang="en-US" altLang="zh-CN" sz="4000" dirty="0"/>
            </a:br>
            <a:r>
              <a:rPr lang="en-US" altLang="zh-CN" sz="4000" dirty="0"/>
              <a:t>D.  (28 A)</a:t>
            </a:r>
            <a:r>
              <a:rPr lang="en-US" altLang="zh-CN" sz="4000" dirty="0">
                <a:sym typeface="Symbol"/>
              </a:rPr>
              <a:t></a:t>
            </a:r>
            <a:r>
              <a:rPr lang="en-US" altLang="zh-CN" sz="4000" baseline="-25000" dirty="0"/>
              <a:t>0</a:t>
            </a:r>
            <a:r>
              <a:rPr lang="en-US" altLang="zh-CN" sz="4000" dirty="0"/>
              <a:t> </a:t>
            </a:r>
            <a:br>
              <a:rPr lang="en-US" altLang="zh-CN" sz="4000" dirty="0"/>
            </a:br>
            <a:r>
              <a:rPr lang="en-US" altLang="zh-CN" sz="4000" dirty="0"/>
              <a:t>E.  </a:t>
            </a:r>
            <a:r>
              <a:rPr lang="en-US" altLang="zh-CN" sz="4000" dirty="0" smtClean="0"/>
              <a:t>(</a:t>
            </a:r>
            <a:r>
              <a:rPr lang="en-US" altLang="zh-CN" sz="4000" dirty="0"/>
              <a:t>7 A)</a:t>
            </a:r>
            <a:r>
              <a:rPr lang="en-US" altLang="zh-CN" sz="4000" dirty="0">
                <a:sym typeface="Symbol"/>
              </a:rPr>
              <a:t></a:t>
            </a:r>
            <a:r>
              <a:rPr lang="en-US" altLang="zh-CN" sz="4000" baseline="-25000" dirty="0"/>
              <a:t>0</a:t>
            </a:r>
            <a:r>
              <a:rPr lang="en-US" altLang="zh-CN" sz="4000" dirty="0"/>
              <a:t> </a:t>
            </a:r>
            <a:endParaRPr lang="zh-CN" altLang="zh-CN" sz="4000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48" y="2744654"/>
            <a:ext cx="3349246" cy="2574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7755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409700" y="409341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/>
              <a:t>所示路径的环流。</a:t>
            </a:r>
            <a:endParaRPr lang="en-US" altLang="zh-CN" sz="2800" dirty="0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-(4 A)</a:t>
            </a:r>
            <a:r>
              <a:rPr lang="en-US" altLang="zh-CN" sz="2800" dirty="0">
                <a:sym typeface="Symbol"/>
              </a:rPr>
              <a:t></a:t>
            </a:r>
            <a:r>
              <a:rPr lang="en-US" altLang="zh-CN" sz="2800" baseline="-25000" dirty="0"/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(4 A)</a:t>
            </a:r>
            <a:r>
              <a:rPr lang="en-US" altLang="zh-CN" sz="2800" dirty="0">
                <a:sym typeface="Symbol"/>
              </a:rPr>
              <a:t>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-(28 A)</a:t>
            </a:r>
            <a:r>
              <a:rPr lang="en-US" altLang="zh-CN" sz="2800" dirty="0">
                <a:sym typeface="Symbol"/>
              </a:rPr>
              <a:t></a:t>
            </a:r>
            <a:r>
              <a:rPr lang="en-US" altLang="zh-CN" sz="2800" baseline="-25000" dirty="0"/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(28 A)</a:t>
            </a:r>
            <a:r>
              <a:rPr lang="en-US" altLang="zh-CN" sz="2800" dirty="0">
                <a:sym typeface="Symbol"/>
              </a:rPr>
              <a:t>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9077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271366"/>
            <a:ext cx="3349246" cy="2574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文本框 21"/>
          <p:cNvSpPr txBox="1"/>
          <p:nvPr>
            <p:custDataLst>
              <p:tags r:id="rId12"/>
            </p:custDataLst>
          </p:nvPr>
        </p:nvSpPr>
        <p:spPr>
          <a:xfrm>
            <a:off x="2438400" y="55292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800" dirty="0"/>
              <a:t>(7 A)</a:t>
            </a:r>
            <a:r>
              <a:rPr lang="en-US" altLang="zh-CN" sz="2800" dirty="0">
                <a:sym typeface="Symbol"/>
              </a:rPr>
              <a:t></a:t>
            </a:r>
            <a:r>
              <a:rPr lang="en-US" altLang="zh-CN" sz="2800" baseline="-25000" dirty="0"/>
              <a:t>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3" name="椭圆 22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55935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324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96" y="251680"/>
            <a:ext cx="11022227" cy="6158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0409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9" name="Text Box 3"/>
          <p:cNvSpPr txBox="1">
            <a:spLocks noChangeArrowheads="1"/>
          </p:cNvSpPr>
          <p:nvPr/>
        </p:nvSpPr>
        <p:spPr bwMode="auto">
          <a:xfrm>
            <a:off x="143934" y="205674"/>
            <a:ext cx="748876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二、安培环路定理的应用</a:t>
            </a:r>
          </a:p>
        </p:txBody>
      </p:sp>
      <p:sp>
        <p:nvSpPr>
          <p:cNvPr id="208907" name="Text Box 11"/>
          <p:cNvSpPr txBox="1">
            <a:spLocks noChangeArrowheads="1"/>
          </p:cNvSpPr>
          <p:nvPr/>
        </p:nvSpPr>
        <p:spPr bwMode="auto">
          <a:xfrm>
            <a:off x="379423" y="1196752"/>
            <a:ext cx="9144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99"/>
                </a:solidFill>
                <a:latin typeface="黑体" pitchFamily="49" charset="-122"/>
                <a:ea typeface="黑体" pitchFamily="49" charset="-122"/>
                <a:cs typeface="Heiti SC Light"/>
              </a:rPr>
              <a:t>1. </a:t>
            </a:r>
            <a:r>
              <a:rPr kumimoji="1" lang="zh-CN" altLang="en-US" sz="2800" b="1" dirty="0" smtClean="0">
                <a:solidFill>
                  <a:srgbClr val="000099"/>
                </a:solidFill>
                <a:latin typeface="黑体" pitchFamily="49" charset="-122"/>
                <a:ea typeface="黑体" pitchFamily="49" charset="-122"/>
                <a:cs typeface="Heiti SC Light"/>
              </a:rPr>
              <a:t>无限长载流圆柱形导体的磁场分布</a:t>
            </a:r>
            <a:endParaRPr kumimoji="1" lang="zh-CN" altLang="en-US" sz="2400" b="1" dirty="0" smtClean="0">
              <a:solidFill>
                <a:srgbClr val="000099"/>
              </a:solidFill>
              <a:latin typeface="黑体" pitchFamily="49" charset="-122"/>
              <a:ea typeface="黑体" pitchFamily="49" charset="-122"/>
              <a:cs typeface="Heiti SC Light"/>
            </a:endParaRPr>
          </a:p>
        </p:txBody>
      </p:sp>
      <p:sp>
        <p:nvSpPr>
          <p:cNvPr id="208912" name="Text Box 16"/>
          <p:cNvSpPr txBox="1">
            <a:spLocks noChangeArrowheads="1"/>
          </p:cNvSpPr>
          <p:nvPr/>
        </p:nvSpPr>
        <p:spPr bwMode="auto">
          <a:xfrm>
            <a:off x="814917" y="2952751"/>
            <a:ext cx="5856816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（</a:t>
            </a:r>
            <a:r>
              <a:rPr kumimoji="1" lang="en-US" altLang="zh-CN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1</a:t>
            </a:r>
            <a:r>
              <a:rPr kumimoji="1" lang="zh-CN" altLang="en-US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）圆柱外的磁场：</a:t>
            </a:r>
            <a:endParaRPr kumimoji="1" lang="zh-CN" altLang="en-US" sz="2800" smtClean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Heiti SC Light"/>
            </a:endParaRPr>
          </a:p>
        </p:txBody>
      </p:sp>
      <p:graphicFrame>
        <p:nvGraphicFramePr>
          <p:cNvPr id="2089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524119"/>
              </p:ext>
            </p:extLst>
          </p:nvPr>
        </p:nvGraphicFramePr>
        <p:xfrm>
          <a:off x="1701800" y="3833814"/>
          <a:ext cx="5420784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3" name="公式" r:id="rId4" imgW="2360520" imgH="470520" progId="Equations">
                  <p:embed/>
                </p:oleObj>
              </mc:Choice>
              <mc:Fallback>
                <p:oleObj name="公式" r:id="rId4" imgW="2360520" imgH="47052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800" y="3833814"/>
                        <a:ext cx="5420784" cy="83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891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280599"/>
              </p:ext>
            </p:extLst>
          </p:nvPr>
        </p:nvGraphicFramePr>
        <p:xfrm>
          <a:off x="2447595" y="5028407"/>
          <a:ext cx="3361267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4" name="公式" r:id="rId6" imgW="1167480" imgH="648720" progId="Equations">
                  <p:embed/>
                </p:oleObj>
              </mc:Choice>
              <mc:Fallback>
                <p:oleObj name="公式" r:id="rId6" imgW="1167480" imgH="64872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595" y="5028407"/>
                        <a:ext cx="3361267" cy="117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15" name="Text Box 19"/>
          <p:cNvSpPr txBox="1">
            <a:spLocks noChangeArrowheads="1"/>
          </p:cNvSpPr>
          <p:nvPr/>
        </p:nvSpPr>
        <p:spPr bwMode="auto">
          <a:xfrm>
            <a:off x="1049681" y="1820332"/>
            <a:ext cx="7152217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分析：电流呈轴对称分布，磁场对圆柱形轴线具有对称性。</a:t>
            </a:r>
          </a:p>
        </p:txBody>
      </p:sp>
      <p:sp>
        <p:nvSpPr>
          <p:cNvPr id="208916" name="AutoShape 20"/>
          <p:cNvSpPr>
            <a:spLocks noChangeArrowheads="1"/>
          </p:cNvSpPr>
          <p:nvPr/>
        </p:nvSpPr>
        <p:spPr bwMode="auto">
          <a:xfrm>
            <a:off x="1390651" y="5473701"/>
            <a:ext cx="768349" cy="144463"/>
          </a:xfrm>
          <a:prstGeom prst="rightArrow">
            <a:avLst>
              <a:gd name="adj1" fmla="val 50000"/>
              <a:gd name="adj2" fmla="val 9972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smtClean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Heiti SC Light"/>
            </a:endParaRPr>
          </a:p>
        </p:txBody>
      </p:sp>
      <p:graphicFrame>
        <p:nvGraphicFramePr>
          <p:cNvPr id="208917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9880498"/>
              </p:ext>
            </p:extLst>
          </p:nvPr>
        </p:nvGraphicFramePr>
        <p:xfrm>
          <a:off x="5807969" y="5337176"/>
          <a:ext cx="19939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5" name="公式" r:id="rId8" imgW="457002" imgH="203112" progId="Equations">
                  <p:embed/>
                </p:oleObj>
              </mc:Choice>
              <mc:Fallback>
                <p:oleObj name="公式" r:id="rId8" imgW="457002" imgH="203112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7969" y="5337176"/>
                        <a:ext cx="199390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8922" name="Picture 26" descr="图11-5-1a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4257" y="188640"/>
            <a:ext cx="2728383" cy="432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22900" y="4540235"/>
            <a:ext cx="36484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过</a:t>
            </a:r>
            <a:r>
              <a:rPr lang="en-US" altLang="zh-CN" sz="2000" b="1" dirty="0"/>
              <a:t>P</a:t>
            </a:r>
            <a:r>
              <a:rPr lang="zh-CN" altLang="en-US" sz="2000" b="1" dirty="0"/>
              <a:t>点取一半径为</a:t>
            </a:r>
            <a:r>
              <a:rPr lang="en-US" altLang="zh-CN" sz="2000" b="1" dirty="0"/>
              <a:t>r</a:t>
            </a:r>
            <a:r>
              <a:rPr lang="zh-CN" altLang="en-US" sz="2000" b="1" dirty="0"/>
              <a:t>的磁感应线为积分路径。由于线上任一点的</a:t>
            </a:r>
            <a:r>
              <a:rPr lang="en-US" altLang="zh-CN" sz="2000" b="1" dirty="0"/>
              <a:t>B</a:t>
            </a:r>
            <a:r>
              <a:rPr lang="zh-CN" altLang="en-US" sz="2000" b="1" dirty="0"/>
              <a:t>的量值相等，方向与该点的</a:t>
            </a:r>
            <a:r>
              <a:rPr lang="en-US" altLang="zh-CN" sz="2000" b="1" dirty="0"/>
              <a:t>dl</a:t>
            </a:r>
            <a:r>
              <a:rPr lang="zh-CN" altLang="en-US" sz="2000" b="1" dirty="0"/>
              <a:t>方向一致。</a:t>
            </a:r>
          </a:p>
        </p:txBody>
      </p:sp>
    </p:spTree>
    <p:extLst>
      <p:ext uri="{BB962C8B-B14F-4D97-AF65-F5344CB8AC3E}">
        <p14:creationId xmlns:p14="http://schemas.microsoft.com/office/powerpoint/2010/main" val="1150243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3" name="Text Box 3"/>
          <p:cNvSpPr txBox="1">
            <a:spLocks noChangeArrowheads="1"/>
          </p:cNvSpPr>
          <p:nvPr/>
        </p:nvSpPr>
        <p:spPr bwMode="auto">
          <a:xfrm>
            <a:off x="719666" y="404813"/>
            <a:ext cx="6242051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（</a:t>
            </a:r>
            <a:r>
              <a:rPr kumimoji="1" lang="en-US" altLang="zh-CN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2</a:t>
            </a:r>
            <a:r>
              <a:rPr kumimoji="1" lang="zh-CN" altLang="en-US" sz="2800" b="1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）圆柱内的磁场：</a:t>
            </a:r>
            <a:endParaRPr kumimoji="1" lang="zh-CN" altLang="en-US" sz="2800" smtClean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Heiti SC Light"/>
            </a:endParaRPr>
          </a:p>
        </p:txBody>
      </p:sp>
      <p:graphicFrame>
        <p:nvGraphicFramePr>
          <p:cNvPr id="2099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68386"/>
              </p:ext>
            </p:extLst>
          </p:nvPr>
        </p:nvGraphicFramePr>
        <p:xfrm>
          <a:off x="1382184" y="1160463"/>
          <a:ext cx="5010149" cy="207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7" name="公式" r:id="rId4" imgW="2423880" imgH="1259280" progId="Equations">
                  <p:embed/>
                </p:oleObj>
              </mc:Choice>
              <mc:Fallback>
                <p:oleObj name="公式" r:id="rId4" imgW="2423880" imgH="125928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2184" y="1160463"/>
                        <a:ext cx="5010149" cy="2078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281071"/>
              </p:ext>
            </p:extLst>
          </p:nvPr>
        </p:nvGraphicFramePr>
        <p:xfrm>
          <a:off x="2639485" y="3357564"/>
          <a:ext cx="3168649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8" name="公式" r:id="rId6" imgW="1345320" imgH="661320" progId="Equations">
                  <p:embed/>
                </p:oleObj>
              </mc:Choice>
              <mc:Fallback>
                <p:oleObj name="公式" r:id="rId6" imgW="1345320" imgH="66132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485" y="3357564"/>
                        <a:ext cx="3168649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52" name="AutoShape 32"/>
          <p:cNvSpPr>
            <a:spLocks noChangeArrowheads="1"/>
          </p:cNvSpPr>
          <p:nvPr/>
        </p:nvSpPr>
        <p:spPr bwMode="auto">
          <a:xfrm>
            <a:off x="1390651" y="3789363"/>
            <a:ext cx="768349" cy="144462"/>
          </a:xfrm>
          <a:prstGeom prst="rightArrow">
            <a:avLst>
              <a:gd name="adj1" fmla="val 50000"/>
              <a:gd name="adj2" fmla="val 9972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smtClean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Heiti SC Light"/>
            </a:endParaRPr>
          </a:p>
        </p:txBody>
      </p:sp>
      <p:sp>
        <p:nvSpPr>
          <p:cNvPr id="209953" name="Text Box 33"/>
          <p:cNvSpPr txBox="1">
            <a:spLocks noChangeArrowheads="1"/>
          </p:cNvSpPr>
          <p:nvPr/>
        </p:nvSpPr>
        <p:spPr bwMode="auto">
          <a:xfrm>
            <a:off x="912284" y="4724401"/>
            <a:ext cx="5952067" cy="1057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8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思考：若电流</a:t>
            </a:r>
            <a:r>
              <a:rPr lang="en-US" altLang="zh-CN" sz="2800" b="1" i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I </a:t>
            </a:r>
            <a:r>
              <a:rPr lang="zh-CN" altLang="en-US" sz="28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沿圆柱的表面流动，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圆柱内外的磁场分布又如何？</a:t>
            </a:r>
          </a:p>
        </p:txBody>
      </p:sp>
      <p:graphicFrame>
        <p:nvGraphicFramePr>
          <p:cNvPr id="209954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201471"/>
              </p:ext>
            </p:extLst>
          </p:nvPr>
        </p:nvGraphicFramePr>
        <p:xfrm>
          <a:off x="5903384" y="3644901"/>
          <a:ext cx="1691216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69" name="公式" r:id="rId8" imgW="457002" imgH="203112" progId="Equations">
                  <p:embed/>
                </p:oleObj>
              </mc:Choice>
              <mc:Fallback>
                <p:oleObj name="公式" r:id="rId8" imgW="457002" imgH="203112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3384" y="3644901"/>
                        <a:ext cx="1691216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9959" name="Picture 39" descr="图11-5-1c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717" y="4717772"/>
            <a:ext cx="4607983" cy="212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960" name="Picture 40" descr="图11-5-1a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1" y="0"/>
            <a:ext cx="2730500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768351" y="5837377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b="1" dirty="0"/>
              <a:t>当电流均匀分布在圆柱形导线表面层时，则穿过积分回路的电流为零，所以柱内任一点的磁感应强度为零。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3595" y="4218958"/>
            <a:ext cx="36484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过圆柱内</a:t>
            </a:r>
            <a:r>
              <a:rPr lang="en-US" altLang="zh-CN" sz="2000" b="1" dirty="0" smtClean="0"/>
              <a:t>Q</a:t>
            </a:r>
            <a:r>
              <a:rPr lang="zh-CN" altLang="en-US" sz="2000" b="1" dirty="0" smtClean="0"/>
              <a:t>点到轴的垂直距离为</a:t>
            </a:r>
            <a:r>
              <a:rPr lang="en-US" altLang="zh-CN" sz="2000" b="1" dirty="0" smtClean="0"/>
              <a:t>r,</a:t>
            </a:r>
            <a:r>
              <a:rPr lang="zh-CN" altLang="en-US" sz="2000" b="1" dirty="0" smtClean="0"/>
              <a:t>以</a:t>
            </a:r>
            <a:r>
              <a:rPr lang="en-US" altLang="zh-CN" sz="2000" b="1" dirty="0" smtClean="0"/>
              <a:t>r</a:t>
            </a:r>
            <a:r>
              <a:rPr lang="zh-CN" altLang="en-US" sz="2000" b="1" dirty="0" smtClean="0"/>
              <a:t>为半径做一圆。线</a:t>
            </a:r>
            <a:r>
              <a:rPr lang="zh-CN" altLang="en-US" sz="2000" b="1" dirty="0"/>
              <a:t>上任一点的</a:t>
            </a:r>
            <a:r>
              <a:rPr lang="en-US" altLang="zh-CN" sz="2000" b="1" dirty="0"/>
              <a:t>B</a:t>
            </a:r>
            <a:r>
              <a:rPr lang="zh-CN" altLang="en-US" sz="2000" b="1" dirty="0"/>
              <a:t>的量值相等，方向与该点的</a:t>
            </a:r>
            <a:r>
              <a:rPr lang="en-US" altLang="zh-CN" sz="2000" b="1" dirty="0"/>
              <a:t>dl</a:t>
            </a:r>
            <a:r>
              <a:rPr lang="zh-CN" altLang="en-US" sz="2000" b="1" dirty="0"/>
              <a:t>方向一致。</a:t>
            </a:r>
          </a:p>
        </p:txBody>
      </p:sp>
    </p:spTree>
    <p:extLst>
      <p:ext uri="{BB962C8B-B14F-4D97-AF65-F5344CB8AC3E}">
        <p14:creationId xmlns:p14="http://schemas.microsoft.com/office/powerpoint/2010/main" val="91722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53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8" name="Text Box 4"/>
          <p:cNvSpPr txBox="1">
            <a:spLocks noChangeArrowheads="1"/>
          </p:cNvSpPr>
          <p:nvPr/>
        </p:nvSpPr>
        <p:spPr bwMode="auto">
          <a:xfrm>
            <a:off x="527051" y="115888"/>
            <a:ext cx="923078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99"/>
                </a:solidFill>
                <a:latin typeface="黑体" pitchFamily="49" charset="-122"/>
                <a:ea typeface="黑体" pitchFamily="49" charset="-122"/>
                <a:cs typeface="Heiti SC Light"/>
              </a:rPr>
              <a:t>2. </a:t>
            </a:r>
            <a:r>
              <a:rPr kumimoji="1" lang="zh-CN" altLang="en-US" sz="2800" b="1" dirty="0" smtClean="0">
                <a:solidFill>
                  <a:srgbClr val="000099"/>
                </a:solidFill>
                <a:latin typeface="黑体" pitchFamily="49" charset="-122"/>
                <a:ea typeface="黑体" pitchFamily="49" charset="-122"/>
                <a:cs typeface="Heiti SC Light"/>
              </a:rPr>
              <a:t>长直螺线管内的磁感应强度</a:t>
            </a:r>
            <a:r>
              <a:rPr kumimoji="1" lang="en-US" altLang="zh-CN" sz="2800" b="1" dirty="0" smtClean="0">
                <a:solidFill>
                  <a:srgbClr val="000099"/>
                </a:solidFill>
                <a:latin typeface="黑体" pitchFamily="49" charset="-122"/>
                <a:ea typeface="黑体" pitchFamily="49" charset="-122"/>
                <a:cs typeface="Heiti SC Light"/>
              </a:rPr>
              <a:t>(</a:t>
            </a:r>
            <a:r>
              <a:rPr kumimoji="1" lang="en-US" altLang="zh-CN" sz="2800" b="1" i="1" dirty="0" smtClean="0">
                <a:solidFill>
                  <a:srgbClr val="000099"/>
                </a:solidFill>
                <a:latin typeface="黑体" pitchFamily="49" charset="-122"/>
                <a:ea typeface="黑体" pitchFamily="49" charset="-122"/>
                <a:cs typeface="Heiti SC Light"/>
              </a:rPr>
              <a:t> </a:t>
            </a:r>
            <a:r>
              <a:rPr kumimoji="1" lang="en-US" altLang="zh-CN" sz="2800" b="1" i="1" dirty="0" smtClean="0">
                <a:solidFill>
                  <a:srgbClr val="000099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</a:t>
            </a:r>
            <a:r>
              <a:rPr kumimoji="1" lang="zh-CN" altLang="en-US" sz="2800" b="1" dirty="0" smtClean="0">
                <a:solidFill>
                  <a:srgbClr val="000099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1" lang="en-US" altLang="zh-CN" sz="2800" b="1" i="1" dirty="0" smtClean="0">
                <a:solidFill>
                  <a:srgbClr val="000099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kumimoji="1" lang="en-US" altLang="zh-CN" sz="2800" b="1" dirty="0" smtClean="0">
                <a:solidFill>
                  <a:srgbClr val="000099"/>
                </a:solidFill>
                <a:latin typeface="黑体" pitchFamily="49" charset="-122"/>
                <a:ea typeface="黑体" pitchFamily="49" charset="-122"/>
                <a:cs typeface="Heiti SC Light"/>
              </a:rPr>
              <a:t> )</a:t>
            </a:r>
            <a:endParaRPr kumimoji="1" lang="en-US" altLang="zh-CN" sz="2400" dirty="0" smtClean="0">
              <a:solidFill>
                <a:srgbClr val="000099"/>
              </a:solidFill>
              <a:latin typeface="黑体" pitchFamily="49" charset="-122"/>
              <a:ea typeface="黑体" pitchFamily="49" charset="-122"/>
              <a:cs typeface="Heiti SC Light"/>
            </a:endParaRPr>
          </a:p>
        </p:txBody>
      </p:sp>
      <p:graphicFrame>
        <p:nvGraphicFramePr>
          <p:cNvPr id="2109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237405"/>
              </p:ext>
            </p:extLst>
          </p:nvPr>
        </p:nvGraphicFramePr>
        <p:xfrm>
          <a:off x="431800" y="5157788"/>
          <a:ext cx="4847167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33" name="公式" r:id="rId4" imgW="2296800" imgH="585000" progId="Equations">
                  <p:embed/>
                </p:oleObj>
              </mc:Choice>
              <mc:Fallback>
                <p:oleObj name="公式" r:id="rId4" imgW="2296800" imgH="58500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800" y="5157788"/>
                        <a:ext cx="4847167" cy="93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289518"/>
              </p:ext>
            </p:extLst>
          </p:nvPr>
        </p:nvGraphicFramePr>
        <p:xfrm>
          <a:off x="3503084" y="2852739"/>
          <a:ext cx="2252133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34" name="公式" r:id="rId6" imgW="660400" imgH="228600" progId="Equations">
                  <p:embed/>
                </p:oleObj>
              </mc:Choice>
              <mc:Fallback>
                <p:oleObj name="公式" r:id="rId6" imgW="660400" imgH="22860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084" y="2852739"/>
                        <a:ext cx="2252133" cy="585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2" name="Text Box 8"/>
          <p:cNvSpPr txBox="1">
            <a:spLocks noChangeArrowheads="1"/>
          </p:cNvSpPr>
          <p:nvPr/>
        </p:nvSpPr>
        <p:spPr bwMode="auto">
          <a:xfrm>
            <a:off x="431801" y="549276"/>
            <a:ext cx="11470217" cy="1076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分析：由电流分布的对称性，管内磁场平行于轴线方向，且管内同</a:t>
            </a:r>
            <a:r>
              <a:rPr kumimoji="1" lang="zh-CN" altLang="en-US"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一磁感线上</a:t>
            </a:r>
            <a:r>
              <a:rPr kumimoji="1" lang="en-US" altLang="zh-CN" sz="28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B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相等；螺线管密绕，管外磁场近似为零。</a:t>
            </a:r>
          </a:p>
        </p:txBody>
      </p:sp>
      <p:sp>
        <p:nvSpPr>
          <p:cNvPr id="210953" name="Rectangle 9"/>
          <p:cNvSpPr>
            <a:spLocks noChangeArrowheads="1"/>
          </p:cNvSpPr>
          <p:nvPr/>
        </p:nvSpPr>
        <p:spPr bwMode="auto">
          <a:xfrm>
            <a:off x="431800" y="2838451"/>
            <a:ext cx="4705351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选择闭合回路</a:t>
            </a:r>
          </a:p>
        </p:txBody>
      </p:sp>
      <p:graphicFrame>
        <p:nvGraphicFramePr>
          <p:cNvPr id="21096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0996096"/>
              </p:ext>
            </p:extLst>
          </p:nvPr>
        </p:nvGraphicFramePr>
        <p:xfrm>
          <a:off x="6383867" y="5300664"/>
          <a:ext cx="153670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35" name="公式" r:id="rId8" imgW="748800" imgH="330840" progId="Equations">
                  <p:embed/>
                </p:oleObj>
              </mc:Choice>
              <mc:Fallback>
                <p:oleObj name="公式" r:id="rId8" imgW="748800" imgH="33084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867" y="5300664"/>
                        <a:ext cx="1536700" cy="554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021" name="AutoShape 77"/>
          <p:cNvSpPr>
            <a:spLocks noChangeArrowheads="1"/>
          </p:cNvSpPr>
          <p:nvPr/>
        </p:nvSpPr>
        <p:spPr bwMode="auto">
          <a:xfrm>
            <a:off x="1200151" y="6259513"/>
            <a:ext cx="768349" cy="144462"/>
          </a:xfrm>
          <a:prstGeom prst="rightArrow">
            <a:avLst>
              <a:gd name="adj1" fmla="val 50000"/>
              <a:gd name="adj2" fmla="val 9972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smtClean="0">
              <a:solidFill>
                <a:srgbClr val="000000"/>
              </a:solidFill>
              <a:latin typeface="Heiti SC Light"/>
              <a:ea typeface="Heiti SC Light"/>
              <a:cs typeface="Heiti SC Light"/>
            </a:endParaRPr>
          </a:p>
        </p:txBody>
      </p:sp>
      <p:graphicFrame>
        <p:nvGraphicFramePr>
          <p:cNvPr id="211024" name="Object 80"/>
          <p:cNvGraphicFramePr>
            <a:graphicFrameLocks noChangeAspect="1"/>
          </p:cNvGraphicFramePr>
          <p:nvPr/>
        </p:nvGraphicFramePr>
        <p:xfrm>
          <a:off x="2544234" y="6127750"/>
          <a:ext cx="3071284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36" name="公式" r:id="rId10" imgW="1446840" imgH="330840" progId="Equations">
                  <p:embed/>
                </p:oleObj>
              </mc:Choice>
              <mc:Fallback>
                <p:oleObj name="公式" r:id="rId10" imgW="1446840" imgH="33084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234" y="6127750"/>
                        <a:ext cx="3071284" cy="57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1026" name="Picture 82" descr="T8-25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73238"/>
            <a:ext cx="5664200" cy="178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109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988732"/>
              </p:ext>
            </p:extLst>
          </p:nvPr>
        </p:nvGraphicFramePr>
        <p:xfrm>
          <a:off x="446617" y="3463925"/>
          <a:ext cx="10642600" cy="167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37" name="公式" r:id="rId13" imgW="4898520" imgH="1004760" progId="Equations">
                  <p:embed/>
                </p:oleObj>
              </mc:Choice>
              <mc:Fallback>
                <p:oleObj name="公式" r:id="rId13" imgW="4898520" imgH="100476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617" y="3463925"/>
                        <a:ext cx="10642600" cy="167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86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700684"/>
              </p:ext>
            </p:extLst>
          </p:nvPr>
        </p:nvGraphicFramePr>
        <p:xfrm>
          <a:off x="3251201" y="661988"/>
          <a:ext cx="4188884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3" name="公式" r:id="rId3" imgW="1725840" imgH="623160" progId="Equations">
                  <p:embed/>
                </p:oleObj>
              </mc:Choice>
              <mc:Fallback>
                <p:oleObj name="公式" r:id="rId3" imgW="1725840" imgH="62316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1201" y="661988"/>
                        <a:ext cx="4188884" cy="1149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65" name="Text Box 5"/>
          <p:cNvSpPr txBox="1">
            <a:spLocks noChangeArrowheads="1"/>
          </p:cNvSpPr>
          <p:nvPr/>
        </p:nvSpPr>
        <p:spPr bwMode="auto">
          <a:xfrm>
            <a:off x="624418" y="2411413"/>
            <a:ext cx="10771716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长直螺线管内为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匀强磁场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，方向平行于轴线，且与电流绕向构成右手螺旋关系。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592277" y="899428"/>
            <a:ext cx="2592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其中</a:t>
            </a:r>
            <a:r>
              <a:rPr lang="en-US" altLang="zh-CN" sz="2800" b="1" dirty="0" smtClean="0"/>
              <a:t>n</a:t>
            </a:r>
            <a:r>
              <a:rPr lang="zh-CN" altLang="en-US" sz="2800" b="1" dirty="0" smtClean="0"/>
              <a:t>为单位长度的匝数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5885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599" y="398463"/>
            <a:ext cx="9531109" cy="584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50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96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2436632"/>
              </p:ext>
            </p:extLst>
          </p:nvPr>
        </p:nvGraphicFramePr>
        <p:xfrm>
          <a:off x="6602213" y="1191441"/>
          <a:ext cx="4039926" cy="117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2" name="Equation" r:id="rId3" imgW="1244520" imgH="482400" progId="Equation.DSMT4">
                  <p:embed/>
                </p:oleObj>
              </mc:Choice>
              <mc:Fallback>
                <p:oleObj name="Equation" r:id="rId3" imgW="12445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2213" y="1191441"/>
                        <a:ext cx="4039926" cy="117318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86" name="Text Box 6"/>
          <p:cNvSpPr txBox="1">
            <a:spLocks noChangeArrowheads="1"/>
          </p:cNvSpPr>
          <p:nvPr/>
        </p:nvSpPr>
        <p:spPr bwMode="auto">
          <a:xfrm>
            <a:off x="6746145" y="5076397"/>
            <a:ext cx="441536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静电场是有源场</a:t>
            </a:r>
          </a:p>
        </p:txBody>
      </p:sp>
      <p:sp>
        <p:nvSpPr>
          <p:cNvPr id="199687" name="Text Box 7"/>
          <p:cNvSpPr txBox="1">
            <a:spLocks noChangeArrowheads="1"/>
          </p:cNvSpPr>
          <p:nvPr/>
        </p:nvSpPr>
        <p:spPr bwMode="auto">
          <a:xfrm>
            <a:off x="862542" y="4464844"/>
            <a:ext cx="4993216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恒定磁场是无源场</a:t>
            </a:r>
          </a:p>
        </p:txBody>
      </p:sp>
      <p:sp>
        <p:nvSpPr>
          <p:cNvPr id="199688" name="Text Box 8"/>
          <p:cNvSpPr txBox="1">
            <a:spLocks noChangeArrowheads="1"/>
          </p:cNvSpPr>
          <p:nvPr/>
        </p:nvSpPr>
        <p:spPr bwMode="auto">
          <a:xfrm>
            <a:off x="719667" y="5084763"/>
            <a:ext cx="662516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 </a:t>
            </a:r>
            <a:r>
              <a:rPr kumimoji="1" lang="zh-CN" altLang="en-US" sz="28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原因：自然界无磁单极</a:t>
            </a:r>
            <a:endParaRPr kumimoji="1" lang="zh-CN" altLang="en-US" sz="2400" dirty="0" smtClean="0">
              <a:solidFill>
                <a:srgbClr val="FF0000"/>
              </a:solidFill>
              <a:latin typeface="黑体" pitchFamily="49" charset="-122"/>
              <a:ea typeface="黑体" pitchFamily="49" charset="-122"/>
              <a:cs typeface="Heiti SC Light"/>
            </a:endParaRPr>
          </a:p>
        </p:txBody>
      </p:sp>
      <p:sp>
        <p:nvSpPr>
          <p:cNvPr id="199689" name="Rectangle 9"/>
          <p:cNvSpPr>
            <a:spLocks noChangeArrowheads="1"/>
          </p:cNvSpPr>
          <p:nvPr/>
        </p:nvSpPr>
        <p:spPr bwMode="auto">
          <a:xfrm>
            <a:off x="814917" y="700689"/>
            <a:ext cx="508846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恒定磁场的高斯定理</a:t>
            </a:r>
          </a:p>
        </p:txBody>
      </p:sp>
      <p:sp>
        <p:nvSpPr>
          <p:cNvPr id="199690" name="Rectangle 10"/>
          <p:cNvSpPr>
            <a:spLocks noChangeArrowheads="1"/>
          </p:cNvSpPr>
          <p:nvPr/>
        </p:nvSpPr>
        <p:spPr bwMode="auto">
          <a:xfrm>
            <a:off x="6602213" y="672329"/>
            <a:ext cx="470323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cs typeface="Heiti SC Light"/>
              </a:rPr>
              <a:t>静电场的高斯定理</a:t>
            </a:r>
          </a:p>
        </p:txBody>
      </p:sp>
      <p:graphicFrame>
        <p:nvGraphicFramePr>
          <p:cNvPr id="19969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0674417"/>
              </p:ext>
            </p:extLst>
          </p:nvPr>
        </p:nvGraphicFramePr>
        <p:xfrm>
          <a:off x="1075860" y="1355725"/>
          <a:ext cx="3316717" cy="771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3" name="Equation" r:id="rId5" imgW="952200" imgH="291960" progId="Equation.DSMT4">
                  <p:embed/>
                </p:oleObj>
              </mc:Choice>
              <mc:Fallback>
                <p:oleObj name="Equation" r:id="rId5" imgW="9522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860" y="1355725"/>
                        <a:ext cx="3316717" cy="771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9693" name="Group 13"/>
          <p:cNvGrpSpPr>
            <a:grpSpLocks/>
          </p:cNvGrpSpPr>
          <p:nvPr/>
        </p:nvGrpSpPr>
        <p:grpSpPr bwMode="auto">
          <a:xfrm>
            <a:off x="461378" y="3837844"/>
            <a:ext cx="4449233" cy="946150"/>
            <a:chOff x="385" y="1925"/>
            <a:chExt cx="1859" cy="596"/>
          </a:xfrm>
        </p:grpSpPr>
        <p:graphicFrame>
          <p:nvGraphicFramePr>
            <p:cNvPr id="199685" name="Object 5"/>
            <p:cNvGraphicFramePr>
              <a:graphicFrameLocks noChangeAspect="1"/>
            </p:cNvGraphicFramePr>
            <p:nvPr/>
          </p:nvGraphicFramePr>
          <p:xfrm>
            <a:off x="521" y="1933"/>
            <a:ext cx="220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24" name="公式" r:id="rId7" imgW="241200" imgH="330840" progId="Equations">
                    <p:embed/>
                  </p:oleObj>
                </mc:Choice>
                <mc:Fallback>
                  <p:oleObj name="公式" r:id="rId7" imgW="241200" imgH="330840" progId="Equations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1933"/>
                          <a:ext cx="220" cy="2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9692" name="Text Box 12"/>
            <p:cNvSpPr txBox="1">
              <a:spLocks noChangeArrowheads="1"/>
            </p:cNvSpPr>
            <p:nvPr/>
          </p:nvSpPr>
          <p:spPr bwMode="auto">
            <a:xfrm>
              <a:off x="385" y="1925"/>
              <a:ext cx="1859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dirty="0" smtClean="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cs typeface="Heiti SC Light"/>
                </a:rPr>
                <a:t>    </a:t>
              </a:r>
              <a:r>
                <a:rPr lang="zh-CN" altLang="en-US" sz="2800" dirty="0" smtClean="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cs typeface="Heiti SC Light"/>
                </a:rPr>
                <a:t>线：无头无尾闭合线</a:t>
              </a:r>
            </a:p>
          </p:txBody>
        </p:sp>
      </p:grpSp>
      <p:grpSp>
        <p:nvGrpSpPr>
          <p:cNvPr id="199695" name="Group 15"/>
          <p:cNvGrpSpPr>
            <a:grpSpLocks/>
          </p:cNvGrpSpPr>
          <p:nvPr/>
        </p:nvGrpSpPr>
        <p:grpSpPr bwMode="auto">
          <a:xfrm>
            <a:off x="6803296" y="3822207"/>
            <a:ext cx="4948078" cy="953663"/>
            <a:chOff x="3952" y="2000"/>
            <a:chExt cx="2068" cy="630"/>
          </a:xfrm>
        </p:grpSpPr>
        <p:graphicFrame>
          <p:nvGraphicFramePr>
            <p:cNvPr id="199684" name="Object 4"/>
            <p:cNvGraphicFramePr>
              <a:graphicFrameLocks noChangeAspect="1"/>
            </p:cNvGraphicFramePr>
            <p:nvPr/>
          </p:nvGraphicFramePr>
          <p:xfrm>
            <a:off x="3952" y="2005"/>
            <a:ext cx="215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25" name="公式" r:id="rId9" imgW="241200" imgH="330840" progId="Equations">
                    <p:embed/>
                  </p:oleObj>
                </mc:Choice>
                <mc:Fallback>
                  <p:oleObj name="公式" r:id="rId9" imgW="241200" imgH="330840" progId="Equations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2" y="2005"/>
                          <a:ext cx="215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9694" name="Text Box 14"/>
            <p:cNvSpPr txBox="1">
              <a:spLocks noChangeArrowheads="1"/>
            </p:cNvSpPr>
            <p:nvPr/>
          </p:nvSpPr>
          <p:spPr bwMode="auto">
            <a:xfrm>
              <a:off x="4103" y="2000"/>
              <a:ext cx="1917" cy="6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dirty="0" smtClean="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cs typeface="Heiti SC Light"/>
                </a:rPr>
                <a:t>线：</a:t>
              </a:r>
              <a:r>
                <a:rPr lang="zh-CN" altLang="en-US" sz="2800" dirty="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cs typeface="Heiti SC Light"/>
                </a:rPr>
                <a:t>起始</a:t>
              </a:r>
              <a:r>
                <a:rPr lang="zh-CN" altLang="en-US" sz="2800" dirty="0" smtClean="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cs typeface="Heiti SC Light"/>
                </a:rPr>
                <a:t>于正电荷，终止于负电荷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814917" y="2448790"/>
            <a:ext cx="40956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+mn-ea"/>
                <a:cs typeface="Heiti SC Light"/>
              </a:rPr>
              <a:t>穿过任意闭合曲面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800" b="1" dirty="0">
                <a:solidFill>
                  <a:srgbClr val="FF0000"/>
                </a:solidFill>
                <a:latin typeface="+mn-ea"/>
                <a:cs typeface="Heiti SC Light"/>
              </a:rPr>
              <a:t>的总磁通量必然为零</a:t>
            </a:r>
            <a:endParaRPr lang="zh-CN" altLang="en-US" sz="2800" dirty="0"/>
          </a:p>
        </p:txBody>
      </p:sp>
      <p:sp>
        <p:nvSpPr>
          <p:cNvPr id="17" name="矩形 16"/>
          <p:cNvSpPr/>
          <p:nvPr/>
        </p:nvSpPr>
        <p:spPr>
          <a:xfrm>
            <a:off x="6746145" y="2233345"/>
            <a:ext cx="409569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+mn-ea"/>
                <a:cs typeface="Heiti SC Light"/>
              </a:rPr>
              <a:t>穿过任意闭合曲面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zh-CN" altLang="en-US" sz="2800" b="1" dirty="0" smtClean="0">
                <a:solidFill>
                  <a:srgbClr val="FF0000"/>
                </a:solidFill>
                <a:latin typeface="+mn-ea"/>
                <a:cs typeface="Heiti SC Light"/>
              </a:rPr>
              <a:t>的电通量和其所包围的净电荷成正比。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47565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5" name="Rectangle 3"/>
          <p:cNvSpPr>
            <a:spLocks noChangeArrowheads="1"/>
          </p:cNvSpPr>
          <p:nvPr/>
        </p:nvSpPr>
        <p:spPr bwMode="auto">
          <a:xfrm>
            <a:off x="670981" y="669484"/>
            <a:ext cx="11298103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/>
              <a:t>由于对称性的缘故，环内磁场的磁感应线都是一些同心圆，圆心在通过环心且垂直于环面的直线上。在同一条磁感应线上各点磁感应强度的量值相等，方向处处沿圆的切线方向，并和环面平行</a:t>
            </a:r>
            <a:r>
              <a:rPr lang="zh-CN" altLang="en-US" sz="2000" b="1" dirty="0" smtClean="0"/>
              <a:t>。选过</a:t>
            </a:r>
            <a:r>
              <a:rPr lang="en-US" altLang="zh-CN" sz="2000" b="1" dirty="0" smtClean="0"/>
              <a:t>P</a:t>
            </a:r>
            <a:r>
              <a:rPr lang="zh-CN" altLang="en-US" sz="2000" b="1" dirty="0" smtClean="0"/>
              <a:t>点磁感应线</a:t>
            </a:r>
            <a:r>
              <a:rPr lang="en-US" altLang="zh-CN" sz="2000" b="1" dirty="0" smtClean="0"/>
              <a:t>L</a:t>
            </a:r>
            <a:r>
              <a:rPr lang="zh-CN" altLang="en-US" sz="2000" b="1" dirty="0" smtClean="0"/>
              <a:t>做为积分回路。</a:t>
            </a:r>
            <a:endParaRPr lang="en-US" altLang="zh-CN" sz="2000" b="1" dirty="0"/>
          </a:p>
        </p:txBody>
      </p:sp>
      <p:sp>
        <p:nvSpPr>
          <p:cNvPr id="212996" name="Rectangle 4"/>
          <p:cNvSpPr>
            <a:spLocks noChangeArrowheads="1"/>
          </p:cNvSpPr>
          <p:nvPr/>
        </p:nvSpPr>
        <p:spPr bwMode="auto">
          <a:xfrm>
            <a:off x="670984" y="108933"/>
            <a:ext cx="102523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 smtClean="0">
                <a:solidFill>
                  <a:srgbClr val="000099"/>
                </a:solidFill>
                <a:latin typeface="黑体" pitchFamily="49" charset="-122"/>
                <a:ea typeface="黑体" pitchFamily="49" charset="-122"/>
                <a:cs typeface="Heiti SC Light"/>
              </a:rPr>
              <a:t>3.</a:t>
            </a:r>
            <a:r>
              <a:rPr kumimoji="1" lang="zh-CN" altLang="en-US" sz="2800" b="1" dirty="0" smtClean="0">
                <a:solidFill>
                  <a:srgbClr val="000099"/>
                </a:solidFill>
                <a:latin typeface="黑体" pitchFamily="49" charset="-122"/>
                <a:ea typeface="黑体" pitchFamily="49" charset="-122"/>
                <a:cs typeface="Heiti SC Light"/>
              </a:rPr>
              <a:t>求螺线环内的磁感应强度。设环上线圈的总匝数为</a:t>
            </a:r>
            <a:r>
              <a:rPr kumimoji="1" lang="en-US" altLang="zh-CN" sz="2800" b="1" i="1" dirty="0" smtClean="0">
                <a:solidFill>
                  <a:srgbClr val="000099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kumimoji="1" lang="zh-CN" altLang="en-US" sz="2800" b="1" dirty="0" smtClean="0">
                <a:solidFill>
                  <a:srgbClr val="000099"/>
                </a:solidFill>
                <a:latin typeface="黑体" pitchFamily="49" charset="-122"/>
                <a:ea typeface="黑体" pitchFamily="49" charset="-122"/>
                <a:cs typeface="Heiti SC Light"/>
              </a:rPr>
              <a:t>，电流为</a:t>
            </a:r>
            <a:r>
              <a:rPr kumimoji="1" lang="en-US" altLang="zh-CN" sz="2800" b="1" i="1" dirty="0" smtClean="0">
                <a:solidFill>
                  <a:srgbClr val="000099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I</a:t>
            </a:r>
            <a:r>
              <a:rPr kumimoji="1" lang="zh-CN" altLang="en-US" sz="2800" b="1" dirty="0" smtClean="0">
                <a:solidFill>
                  <a:srgbClr val="000099"/>
                </a:solidFill>
                <a:latin typeface="黑体" pitchFamily="49" charset="-122"/>
                <a:ea typeface="黑体" pitchFamily="49" charset="-122"/>
                <a:cs typeface="Heiti SC Light"/>
              </a:rPr>
              <a:t>。</a:t>
            </a:r>
          </a:p>
        </p:txBody>
      </p:sp>
      <p:graphicFrame>
        <p:nvGraphicFramePr>
          <p:cNvPr id="2129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68536"/>
              </p:ext>
            </p:extLst>
          </p:nvPr>
        </p:nvGraphicFramePr>
        <p:xfrm>
          <a:off x="814917" y="2338389"/>
          <a:ext cx="422486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4" name="Equation" r:id="rId4" imgW="1802160" imgH="470520" progId="Equations">
                  <p:embed/>
                </p:oleObj>
              </mc:Choice>
              <mc:Fallback>
                <p:oleObj name="Equation" r:id="rId4" imgW="1802160" imgH="47052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917" y="2338389"/>
                        <a:ext cx="4224867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390814"/>
              </p:ext>
            </p:extLst>
          </p:nvPr>
        </p:nvGraphicFramePr>
        <p:xfrm>
          <a:off x="3119968" y="3240088"/>
          <a:ext cx="1919817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5" name="公式" r:id="rId6" imgW="812160" imgH="279720" progId="Equations">
                  <p:embed/>
                </p:oleObj>
              </mc:Choice>
              <mc:Fallback>
                <p:oleObj name="公式" r:id="rId6" imgW="812160" imgH="27972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9968" y="3240088"/>
                        <a:ext cx="1919817" cy="519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9289918"/>
              </p:ext>
            </p:extLst>
          </p:nvPr>
        </p:nvGraphicFramePr>
        <p:xfrm>
          <a:off x="3119967" y="3887788"/>
          <a:ext cx="201506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6" name="Equation" r:id="rId8" imgW="812160" imgH="369000" progId="Equations">
                  <p:embed/>
                </p:oleObj>
              </mc:Choice>
              <mc:Fallback>
                <p:oleObj name="Equation" r:id="rId8" imgW="812160" imgH="36900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9967" y="3887788"/>
                        <a:ext cx="2015067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0701633"/>
              </p:ext>
            </p:extLst>
          </p:nvPr>
        </p:nvGraphicFramePr>
        <p:xfrm>
          <a:off x="1126067" y="4760913"/>
          <a:ext cx="2448984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7" name="公式" r:id="rId10" imgW="1065960" imgH="648720" progId="Equations">
                  <p:embed/>
                </p:oleObj>
              </mc:Choice>
              <mc:Fallback>
                <p:oleObj name="公式" r:id="rId10" imgW="1065960" imgH="64872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6067" y="4760913"/>
                        <a:ext cx="2448984" cy="1116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764691"/>
              </p:ext>
            </p:extLst>
          </p:nvPr>
        </p:nvGraphicFramePr>
        <p:xfrm>
          <a:off x="6191252" y="5229225"/>
          <a:ext cx="2305049" cy="66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8" name="Equation" r:id="rId12" imgW="977040" imgH="369000" progId="Equations">
                  <p:embed/>
                </p:oleObj>
              </mc:Choice>
              <mc:Fallback>
                <p:oleObj name="Equation" r:id="rId12" imgW="977040" imgH="36900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2" y="5229225"/>
                        <a:ext cx="2305049" cy="661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203" name="Object 2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169141"/>
              </p:ext>
            </p:extLst>
          </p:nvPr>
        </p:nvGraphicFramePr>
        <p:xfrm>
          <a:off x="1055159" y="1739676"/>
          <a:ext cx="2112433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99" name="Equation" r:id="rId14" imgW="913680" imgH="343440" progId="Equations">
                  <p:embed/>
                </p:oleObj>
              </mc:Choice>
              <mc:Fallback>
                <p:oleObj name="Equation" r:id="rId14" imgW="913680" imgH="34344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159" y="1739676"/>
                        <a:ext cx="2112433" cy="611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204" name="AutoShape 212"/>
          <p:cNvSpPr>
            <a:spLocks noChangeArrowheads="1"/>
          </p:cNvSpPr>
          <p:nvPr/>
        </p:nvSpPr>
        <p:spPr bwMode="auto">
          <a:xfrm>
            <a:off x="3790952" y="5432426"/>
            <a:ext cx="2112433" cy="144463"/>
          </a:xfrm>
          <a:prstGeom prst="rightArrow">
            <a:avLst>
              <a:gd name="adj1" fmla="val 50000"/>
              <a:gd name="adj2" fmla="val 2741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800" b="1" smtClean="0">
              <a:solidFill>
                <a:srgbClr val="000000"/>
              </a:solidFill>
              <a:latin typeface="黑体" pitchFamily="49" charset="-122"/>
              <a:ea typeface="黑体" pitchFamily="49" charset="-122"/>
            </a:endParaRPr>
          </a:p>
        </p:txBody>
      </p:sp>
      <p:graphicFrame>
        <p:nvGraphicFramePr>
          <p:cNvPr id="213205" name="Object 2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3014574"/>
              </p:ext>
            </p:extLst>
          </p:nvPr>
        </p:nvGraphicFramePr>
        <p:xfrm>
          <a:off x="3695701" y="4830763"/>
          <a:ext cx="2688167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00" name="Equation" r:id="rId16" imgW="1129320" imgH="343440" progId="Equations">
                  <p:embed/>
                </p:oleObj>
              </mc:Choice>
              <mc:Fallback>
                <p:oleObj name="Equation" r:id="rId16" imgW="1129320" imgH="343440" progId="Equations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01" y="4830763"/>
                        <a:ext cx="2688167" cy="620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206" name="Text Box 214"/>
          <p:cNvSpPr txBox="1">
            <a:spLocks noChangeArrowheads="1"/>
          </p:cNvSpPr>
          <p:nvPr/>
        </p:nvSpPr>
        <p:spPr bwMode="auto">
          <a:xfrm>
            <a:off x="1295400" y="6021388"/>
            <a:ext cx="3744384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环外： </a:t>
            </a:r>
            <a:r>
              <a:rPr kumimoji="1" lang="en-US" altLang="zh-CN" sz="2800" b="1" i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B </a:t>
            </a:r>
            <a:r>
              <a:rPr kumimoji="1" lang="en-US" altLang="zh-CN" sz="2800" b="1" dirty="0" smtClean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= 0</a:t>
            </a:r>
          </a:p>
        </p:txBody>
      </p:sp>
      <p:pic>
        <p:nvPicPr>
          <p:cNvPr id="213210" name="Picture 218" descr="图11-5-3b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0026" y="1732756"/>
            <a:ext cx="4037594" cy="3052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组合 15"/>
          <p:cNvGrpSpPr/>
          <p:nvPr/>
        </p:nvGrpSpPr>
        <p:grpSpPr>
          <a:xfrm>
            <a:off x="8766975" y="5157192"/>
            <a:ext cx="3425025" cy="954107"/>
            <a:chOff x="6408044" y="5157192"/>
            <a:chExt cx="2735956" cy="954107"/>
          </a:xfrm>
        </p:grpSpPr>
        <p:sp>
          <p:nvSpPr>
            <p:cNvPr id="213207" name="Text Box 215"/>
            <p:cNvSpPr txBox="1">
              <a:spLocks noChangeArrowheads="1"/>
            </p:cNvSpPr>
            <p:nvPr/>
          </p:nvSpPr>
          <p:spPr bwMode="auto">
            <a:xfrm>
              <a:off x="6408044" y="5157192"/>
              <a:ext cx="2735956" cy="954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dirty="0" smtClean="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sym typeface="MT Extra" pitchFamily="18" charset="2"/>
                </a:rPr>
                <a:t>  </a:t>
              </a:r>
              <a:r>
                <a:rPr lang="zh-CN" altLang="en-US" sz="2800" b="1" dirty="0" smtClean="0">
                  <a:solidFill>
                    <a:srgbClr val="000000"/>
                  </a:solidFill>
                  <a:latin typeface="黑体" pitchFamily="49" charset="-122"/>
                  <a:ea typeface="黑体" pitchFamily="49" charset="-122"/>
                  <a:sym typeface="MT Extra" pitchFamily="18" charset="2"/>
                </a:rPr>
                <a:t>的方向与电流成右手螺旋关系</a:t>
              </a:r>
              <a:endParaRPr kumimoji="1" lang="zh-CN" altLang="en-US" sz="2800" dirty="0" smtClean="0">
                <a:solidFill>
                  <a:srgbClr val="000000"/>
                </a:solidFill>
                <a:latin typeface="黑体" pitchFamily="49" charset="-122"/>
                <a:ea typeface="黑体" pitchFamily="49" charset="-122"/>
                <a:sym typeface="MT Extra" pitchFamily="18" charset="2"/>
              </a:endParaRPr>
            </a:p>
          </p:txBody>
        </p:sp>
        <p:graphicFrame>
          <p:nvGraphicFramePr>
            <p:cNvPr id="15" name="对象 14"/>
            <p:cNvGraphicFramePr>
              <a:graphicFrameLocks noChangeAspect="1"/>
            </p:cNvGraphicFramePr>
            <p:nvPr/>
          </p:nvGraphicFramePr>
          <p:xfrm>
            <a:off x="6516216" y="5229200"/>
            <a:ext cx="324036" cy="4320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201" name="Equation" r:id="rId19" imgW="152280" imgH="203040" progId="Equation.DSMT4">
                    <p:embed/>
                  </p:oleObj>
                </mc:Choice>
                <mc:Fallback>
                  <p:oleObj name="Equation" r:id="rId19" imgW="1522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6216" y="5229200"/>
                          <a:ext cx="324036" cy="4320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TextBox 1"/>
          <p:cNvSpPr txBox="1"/>
          <p:nvPr/>
        </p:nvSpPr>
        <p:spPr>
          <a:xfrm>
            <a:off x="5519936" y="5865445"/>
            <a:ext cx="2880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式</a:t>
            </a:r>
            <a:r>
              <a:rPr lang="zh-CN" altLang="en-US" sz="2400" b="1" dirty="0" smtClean="0"/>
              <a:t>中</a:t>
            </a:r>
            <a:r>
              <a:rPr lang="en-US" altLang="zh-CN" sz="2400" b="1" dirty="0" smtClean="0"/>
              <a:t>n</a:t>
            </a:r>
            <a:r>
              <a:rPr lang="zh-CN" altLang="en-US" sz="2400" b="1" dirty="0" smtClean="0"/>
              <a:t>为螺绕环单位长度上的匝数</a:t>
            </a:r>
            <a:endParaRPr lang="zh-CN" altLang="en-US" sz="24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623" y="2039938"/>
            <a:ext cx="20955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2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23579" y="208395"/>
            <a:ext cx="48526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000099"/>
                </a:solidFill>
              </a:rPr>
              <a:t>高斯定理与和安培定理的比较</a:t>
            </a:r>
            <a:endParaRPr lang="zh-CN" altLang="en-US" sz="2800" b="1" dirty="0">
              <a:solidFill>
                <a:srgbClr val="000099"/>
              </a:solidFill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8041747"/>
              </p:ext>
            </p:extLst>
          </p:nvPr>
        </p:nvGraphicFramePr>
        <p:xfrm>
          <a:off x="1104963" y="915171"/>
          <a:ext cx="9663121" cy="56981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4" name="文档" r:id="rId3" imgW="5417337" imgH="3193966" progId="Word.Document.12">
                  <p:embed/>
                </p:oleObj>
              </mc:Choice>
              <mc:Fallback>
                <p:oleObj name="文档" r:id="rId3" imgW="5417337" imgH="31939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4963" y="915171"/>
                        <a:ext cx="9663121" cy="56981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3984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95518" y="1853536"/>
            <a:ext cx="61981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作业：</a:t>
            </a:r>
            <a:r>
              <a:rPr lang="en-US" altLang="zh-CN" sz="3200" b="1" dirty="0" smtClean="0"/>
              <a:t>136</a:t>
            </a:r>
            <a:r>
              <a:rPr lang="zh-CN" altLang="en-US" sz="3200" b="1" dirty="0" smtClean="0"/>
              <a:t>页</a:t>
            </a:r>
            <a:r>
              <a:rPr lang="en-US" altLang="zh-CN" sz="3200" b="1" dirty="0" smtClean="0"/>
              <a:t>45</a:t>
            </a:r>
            <a:r>
              <a:rPr lang="zh-CN" altLang="en-US" sz="3200" b="1" dirty="0" smtClean="0"/>
              <a:t>题，</a:t>
            </a:r>
            <a:r>
              <a:rPr lang="en-US" altLang="zh-CN" sz="3200" b="1" dirty="0" smtClean="0"/>
              <a:t>46</a:t>
            </a:r>
            <a:r>
              <a:rPr lang="zh-CN" altLang="en-US" sz="3200" b="1" dirty="0" smtClean="0"/>
              <a:t>题（</a:t>
            </a:r>
            <a:r>
              <a:rPr lang="en-US" altLang="zh-CN" sz="3200" b="1" dirty="0" smtClean="0"/>
              <a:t>c</a:t>
            </a:r>
            <a:r>
              <a:rPr lang="zh-CN" altLang="en-US" sz="3200" b="1" dirty="0" smtClean="0"/>
              <a:t>不做）</a:t>
            </a:r>
            <a:endParaRPr lang="en-US" altLang="zh-CN" sz="3200" b="1" dirty="0" smtClean="0"/>
          </a:p>
          <a:p>
            <a:r>
              <a:rPr lang="en-US" altLang="zh-CN" sz="3200" b="1" dirty="0"/>
              <a:t> </a:t>
            </a:r>
            <a:r>
              <a:rPr lang="en-US" altLang="zh-CN" sz="3200" b="1" dirty="0" smtClean="0"/>
              <a:t>             137</a:t>
            </a:r>
            <a:r>
              <a:rPr lang="zh-CN" altLang="en-US" sz="3200" b="1" dirty="0" smtClean="0"/>
              <a:t>页</a:t>
            </a:r>
            <a:r>
              <a:rPr lang="en-US" altLang="zh-CN" sz="3200" b="1" dirty="0" smtClean="0"/>
              <a:t>58</a:t>
            </a:r>
            <a:r>
              <a:rPr lang="zh-CN" altLang="en-US" sz="3200" b="1" dirty="0" smtClean="0"/>
              <a:t>题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2840</TotalTime>
  <Words>1464</Words>
  <Application>Microsoft Office PowerPoint</Application>
  <PresentationFormat>宽屏</PresentationFormat>
  <Paragraphs>131</Paragraphs>
  <Slides>25</Slides>
  <Notes>10</Notes>
  <HiddenSlides>2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25</vt:i4>
      </vt:variant>
    </vt:vector>
  </HeadingPairs>
  <TitlesOfParts>
    <vt:vector size="40" baseType="lpstr">
      <vt:lpstr>Heiti SC Light</vt:lpstr>
      <vt:lpstr>Microsoft Yahei</vt:lpstr>
      <vt:lpstr>黑体</vt:lpstr>
      <vt:lpstr>黑体</vt:lpstr>
      <vt:lpstr>宋体</vt:lpstr>
      <vt:lpstr>Arial</vt:lpstr>
      <vt:lpstr>Calibri</vt:lpstr>
      <vt:lpstr>Calibri Light</vt:lpstr>
      <vt:lpstr>MT Extra</vt:lpstr>
      <vt:lpstr>Symbol</vt:lpstr>
      <vt:lpstr>Times New Roman</vt:lpstr>
      <vt:lpstr>Office 主题</vt:lpstr>
      <vt:lpstr>Equation</vt:lpstr>
      <vt:lpstr>公式</vt:lpstr>
      <vt:lpstr>文档</vt:lpstr>
      <vt:lpstr>PowerPoint 演示文稿</vt:lpstr>
      <vt:lpstr>PowerPoint 演示文稿</vt:lpstr>
      <vt:lpstr>PowerPoint 演示文稿</vt:lpstr>
      <vt:lpstr>单项选择题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例19.9</vt:lpstr>
      <vt:lpstr>PowerPoint 演示文稿</vt:lpstr>
      <vt:lpstr>单项选择题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Www.SangSan.Cn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桑三博客</dc:creator>
  <cp:lastModifiedBy>hsl</cp:lastModifiedBy>
  <cp:revision>188</cp:revision>
  <dcterms:created xsi:type="dcterms:W3CDTF">2017-10-22T09:48:47Z</dcterms:created>
  <dcterms:modified xsi:type="dcterms:W3CDTF">2021-06-14T10:13:21Z</dcterms:modified>
</cp:coreProperties>
</file>