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8" r:id="rId2"/>
    <p:sldId id="259" r:id="rId3"/>
    <p:sldId id="260" r:id="rId4"/>
    <p:sldId id="261" r:id="rId5"/>
    <p:sldId id="262" r:id="rId6"/>
    <p:sldId id="267" r:id="rId7"/>
    <p:sldId id="281" r:id="rId8"/>
    <p:sldId id="268" r:id="rId9"/>
    <p:sldId id="269" r:id="rId10"/>
    <p:sldId id="270" r:id="rId11"/>
    <p:sldId id="271" r:id="rId12"/>
    <p:sldId id="274" r:id="rId13"/>
    <p:sldId id="272" r:id="rId14"/>
    <p:sldId id="280" r:id="rId15"/>
    <p:sldId id="27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95" autoAdjust="0"/>
  </p:normalViewPr>
  <p:slideViewPr>
    <p:cSldViewPr snapToGrid="0">
      <p:cViewPr varScale="1">
        <p:scale>
          <a:sx n="73" d="100"/>
          <a:sy n="73" d="100"/>
        </p:scale>
        <p:origin x="-111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12" Type="http://schemas.openxmlformats.org/officeDocument/2006/relationships/image" Target="../media/image33.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11" Type="http://schemas.openxmlformats.org/officeDocument/2006/relationships/image" Target="../media/image32.wmf"/><Relationship Id="rId5" Type="http://schemas.openxmlformats.org/officeDocument/2006/relationships/image" Target="../media/image27.wmf"/><Relationship Id="rId10" Type="http://schemas.openxmlformats.org/officeDocument/2006/relationships/image" Target="../media/image31.wmf"/><Relationship Id="rId4" Type="http://schemas.openxmlformats.org/officeDocument/2006/relationships/image" Target="../media/image26.wmf"/><Relationship Id="rId9"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2020/5/21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1</a:t>
            </a:fld>
            <a:endParaRPr lang="zh-CN" altLang="en-US"/>
          </a:p>
        </p:txBody>
      </p:sp>
    </p:spTree>
    <p:extLst>
      <p:ext uri="{BB962C8B-B14F-4D97-AF65-F5344CB8AC3E}">
        <p14:creationId xmlns:p14="http://schemas.microsoft.com/office/powerpoint/2010/main" val="1354250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负电</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2</a:t>
            </a:fld>
            <a:endParaRPr lang="zh-CN" altLang="en-US"/>
          </a:p>
        </p:txBody>
      </p:sp>
    </p:spTree>
    <p:extLst>
      <p:ext uri="{BB962C8B-B14F-4D97-AF65-F5344CB8AC3E}">
        <p14:creationId xmlns:p14="http://schemas.microsoft.com/office/powerpoint/2010/main" val="1474920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太阳风暴的周期大约为</a:t>
            </a:r>
            <a:r>
              <a:rPr lang="en-US" altLang="zh-CN" dirty="0" smtClean="0"/>
              <a:t>11</a:t>
            </a:r>
            <a:r>
              <a:rPr lang="zh-CN" altLang="en-US" dirty="0" smtClean="0"/>
              <a:t>年。</a:t>
            </a:r>
            <a:endParaRPr lang="en-US" altLang="zh-CN" dirty="0" smtClean="0"/>
          </a:p>
          <a:p>
            <a:r>
              <a:rPr lang="zh-CN" altLang="en-US" dirty="0" smtClean="0"/>
              <a:t>范艾伦辐射带，指在地球附近的近层宇宙空间中包围着地球的高能粒子辐射带，主要由地磁场中捕获的高达几兆电子伏的电子以及高达几百兆电子伏的质子组成，其中只有很少百分比像</a:t>
            </a:r>
            <a:r>
              <a:rPr lang="en-US" altLang="zh-CN" dirty="0" smtClean="0"/>
              <a:t>O+</a:t>
            </a:r>
            <a:r>
              <a:rPr lang="zh-CN" altLang="en-US" dirty="0" smtClean="0"/>
              <a:t>这样的重粒子。范艾伦辐射带分为内外两层，内外层之间存在范艾伦带缝，缝中辐射很少。范艾伦辐射带将地球包围在中间。范艾伦带内的高能粒子对载人空间飞行器、卫星等都有一定危害，其内外带之间的缝隙则是辐射较少的安全地带。</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3</a:t>
            </a:fld>
            <a:endParaRPr lang="zh-CN" altLang="en-US"/>
          </a:p>
        </p:txBody>
      </p:sp>
    </p:spTree>
    <p:extLst>
      <p:ext uri="{BB962C8B-B14F-4D97-AF65-F5344CB8AC3E}">
        <p14:creationId xmlns:p14="http://schemas.microsoft.com/office/powerpoint/2010/main" val="60778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磁聚焦广泛应用于电真空器件中对电子束的聚焦。例如显像管中电子束磁聚焦。</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4</a:t>
            </a:fld>
            <a:endParaRPr lang="zh-CN" altLang="en-US"/>
          </a:p>
        </p:txBody>
      </p:sp>
    </p:spTree>
    <p:extLst>
      <p:ext uri="{BB962C8B-B14F-4D97-AF65-F5344CB8AC3E}">
        <p14:creationId xmlns:p14="http://schemas.microsoft.com/office/powerpoint/2010/main" val="3990721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动态平衡是物质系统在不断运动和变化情况下的宏观平衡。</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6</a:t>
            </a:fld>
            <a:endParaRPr lang="zh-CN" altLang="en-US"/>
          </a:p>
        </p:txBody>
      </p:sp>
    </p:spTree>
    <p:extLst>
      <p:ext uri="{BB962C8B-B14F-4D97-AF65-F5344CB8AC3E}">
        <p14:creationId xmlns:p14="http://schemas.microsoft.com/office/powerpoint/2010/main" val="249783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11</a:t>
            </a:fld>
            <a:endParaRPr lang="zh-CN" altLang="en-US"/>
          </a:p>
        </p:txBody>
      </p:sp>
    </p:spTree>
    <p:extLst>
      <p:ext uri="{BB962C8B-B14F-4D97-AF65-F5344CB8AC3E}">
        <p14:creationId xmlns:p14="http://schemas.microsoft.com/office/powerpoint/2010/main" val="1360449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14</a:t>
            </a:fld>
            <a:endParaRPr lang="zh-CN" altLang="en-US"/>
          </a:p>
        </p:txBody>
      </p:sp>
    </p:spTree>
    <p:extLst>
      <p:ext uri="{BB962C8B-B14F-4D97-AF65-F5344CB8AC3E}">
        <p14:creationId xmlns:p14="http://schemas.microsoft.com/office/powerpoint/2010/main" val="1772381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2020/5/21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2.wmf"/><Relationship Id="rId12"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1.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w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wmf"/><Relationship Id="rId5" Type="http://schemas.openxmlformats.org/officeDocument/2006/relationships/oleObject" Target="../embeddings/oleObject5.bin"/><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4.w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w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20.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5.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16.bin"/><Relationship Id="rId18" Type="http://schemas.openxmlformats.org/officeDocument/2006/relationships/image" Target="../media/image30.wmf"/><Relationship Id="rId26" Type="http://schemas.openxmlformats.org/officeDocument/2006/relationships/image" Target="../media/image33.wmf"/><Relationship Id="rId3" Type="http://schemas.openxmlformats.org/officeDocument/2006/relationships/oleObject" Target="../embeddings/oleObject11.bin"/><Relationship Id="rId21" Type="http://schemas.openxmlformats.org/officeDocument/2006/relationships/oleObject" Target="../embeddings/oleObject20.bin"/><Relationship Id="rId7" Type="http://schemas.openxmlformats.org/officeDocument/2006/relationships/oleObject" Target="../embeddings/oleObject13.bin"/><Relationship Id="rId12" Type="http://schemas.openxmlformats.org/officeDocument/2006/relationships/image" Target="../media/image27.wmf"/><Relationship Id="rId17" Type="http://schemas.openxmlformats.org/officeDocument/2006/relationships/oleObject" Target="../embeddings/oleObject18.bin"/><Relationship Id="rId25"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29.wmf"/><Relationship Id="rId20" Type="http://schemas.openxmlformats.org/officeDocument/2006/relationships/image" Target="../media/image21.wmf"/><Relationship Id="rId1" Type="http://schemas.openxmlformats.org/officeDocument/2006/relationships/vmlDrawing" Target="../drawings/vmlDrawing6.vml"/><Relationship Id="rId6" Type="http://schemas.openxmlformats.org/officeDocument/2006/relationships/image" Target="../media/image24.wmf"/><Relationship Id="rId11" Type="http://schemas.openxmlformats.org/officeDocument/2006/relationships/oleObject" Target="../embeddings/oleObject15.bin"/><Relationship Id="rId24" Type="http://schemas.openxmlformats.org/officeDocument/2006/relationships/image" Target="../media/image32.wmf"/><Relationship Id="rId5" Type="http://schemas.openxmlformats.org/officeDocument/2006/relationships/oleObject" Target="../embeddings/oleObject12.bin"/><Relationship Id="rId15" Type="http://schemas.openxmlformats.org/officeDocument/2006/relationships/oleObject" Target="../embeddings/oleObject17.bin"/><Relationship Id="rId23" Type="http://schemas.openxmlformats.org/officeDocument/2006/relationships/oleObject" Target="../embeddings/oleObject21.bin"/><Relationship Id="rId10" Type="http://schemas.openxmlformats.org/officeDocument/2006/relationships/image" Target="../media/image26.wmf"/><Relationship Id="rId19" Type="http://schemas.openxmlformats.org/officeDocument/2006/relationships/oleObject" Target="../embeddings/oleObject19.bin"/><Relationship Id="rId4" Type="http://schemas.openxmlformats.org/officeDocument/2006/relationships/image" Target="../media/image23.wmf"/><Relationship Id="rId9" Type="http://schemas.openxmlformats.org/officeDocument/2006/relationships/oleObject" Target="../embeddings/oleObject14.bin"/><Relationship Id="rId14" Type="http://schemas.openxmlformats.org/officeDocument/2006/relationships/image" Target="../media/image28.wmf"/><Relationship Id="rId22" Type="http://schemas.openxmlformats.org/officeDocument/2006/relationships/image" Target="../media/image31.wmf"/></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262434" y="866586"/>
            <a:ext cx="6853767"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smtClean="0">
                <a:latin typeface="黑体" pitchFamily="49" charset="-122"/>
                <a:ea typeface="黑体" pitchFamily="49" charset="-122"/>
              </a:rPr>
              <a:t>速度</a:t>
            </a:r>
            <a:r>
              <a:rPr kumimoji="1" lang="zh-CN" altLang="en-US" sz="2800" dirty="0">
                <a:latin typeface="黑体" pitchFamily="49" charset="-122"/>
                <a:ea typeface="黑体" pitchFamily="49" charset="-122"/>
              </a:rPr>
              <a:t>方向与磁场方向有夹角</a:t>
            </a:r>
          </a:p>
        </p:txBody>
      </p:sp>
      <p:sp>
        <p:nvSpPr>
          <p:cNvPr id="65539" name="Text Box 3"/>
          <p:cNvSpPr txBox="1">
            <a:spLocks noChangeArrowheads="1"/>
          </p:cNvSpPr>
          <p:nvPr/>
        </p:nvSpPr>
        <p:spPr bwMode="auto">
          <a:xfrm>
            <a:off x="497914" y="1494465"/>
            <a:ext cx="5198533" cy="83317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zh-CN" altLang="en-US" sz="2400" dirty="0">
                <a:latin typeface="+mn-ea"/>
                <a:ea typeface="+mn-ea"/>
              </a:rPr>
              <a:t>把速度分解成平行于磁场的分量与垂直于磁场的分量</a:t>
            </a:r>
          </a:p>
        </p:txBody>
      </p:sp>
      <p:graphicFrame>
        <p:nvGraphicFramePr>
          <p:cNvPr id="65540" name="Object 4"/>
          <p:cNvGraphicFramePr>
            <a:graphicFrameLocks noChangeAspect="1"/>
          </p:cNvGraphicFramePr>
          <p:nvPr>
            <p:extLst>
              <p:ext uri="{D42A27DB-BD31-4B8C-83A1-F6EECF244321}">
                <p14:modId xmlns:p14="http://schemas.microsoft.com/office/powerpoint/2010/main" val="1981698472"/>
              </p:ext>
            </p:extLst>
          </p:nvPr>
        </p:nvGraphicFramePr>
        <p:xfrm>
          <a:off x="842400" y="2300868"/>
          <a:ext cx="3050117" cy="1239837"/>
        </p:xfrm>
        <a:graphic>
          <a:graphicData uri="http://schemas.openxmlformats.org/presentationml/2006/ole">
            <mc:AlternateContent xmlns:mc="http://schemas.openxmlformats.org/markup-compatibility/2006">
              <mc:Choice xmlns:v="urn:schemas-microsoft-com:vml" Requires="v">
                <p:oleObj spid="_x0000_s12518" name="Equation" r:id="rId4" imgW="825500" imgH="482600" progId="Equation.DSMT4">
                  <p:embed/>
                </p:oleObj>
              </mc:Choice>
              <mc:Fallback>
                <p:oleObj name="Equation" r:id="rId4" imgW="825500" imgH="482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400" y="2300868"/>
                        <a:ext cx="3050117" cy="1239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3013" name="Text Box 5"/>
          <p:cNvSpPr txBox="1">
            <a:spLocks noChangeArrowheads="1"/>
          </p:cNvSpPr>
          <p:nvPr/>
        </p:nvSpPr>
        <p:spPr bwMode="auto">
          <a:xfrm>
            <a:off x="497913" y="3520828"/>
            <a:ext cx="10176933" cy="13509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lvl="1" eaLnBrk="1" hangingPunct="1">
              <a:spcBef>
                <a:spcPct val="20000"/>
              </a:spcBef>
            </a:pPr>
            <a:r>
              <a:rPr kumimoji="1" lang="zh-CN" altLang="en-US" sz="2400" dirty="0">
                <a:latin typeface="+mn-ea"/>
                <a:ea typeface="+mn-ea"/>
              </a:rPr>
              <a:t>平行于磁场的方向： </a:t>
            </a:r>
            <a:r>
              <a:rPr kumimoji="1" lang="en-US" altLang="zh-CN" sz="2400" i="1" dirty="0">
                <a:latin typeface="Times New Roman" panose="02020603050405020304" pitchFamily="18" charset="0"/>
                <a:ea typeface="+mn-ea"/>
                <a:cs typeface="Times New Roman" panose="02020603050405020304" pitchFamily="18" charset="0"/>
              </a:rPr>
              <a:t>F</a:t>
            </a:r>
            <a:r>
              <a:rPr kumimoji="1" lang="en-US" altLang="zh-CN" sz="2400" baseline="-25000" dirty="0" smtClean="0">
                <a:latin typeface="Times New Roman" panose="02020603050405020304" pitchFamily="18" charset="0"/>
                <a:ea typeface="+mn-ea"/>
                <a:cs typeface="Times New Roman" panose="02020603050405020304" pitchFamily="18" charset="0"/>
              </a:rPr>
              <a:t>// </a:t>
            </a:r>
            <a:r>
              <a:rPr kumimoji="1" lang="en-US" altLang="zh-CN" sz="2400" dirty="0" smtClean="0">
                <a:latin typeface="Times New Roman" panose="02020603050405020304" pitchFamily="18" charset="0"/>
                <a:ea typeface="+mn-ea"/>
                <a:cs typeface="Times New Roman" panose="02020603050405020304" pitchFamily="18" charset="0"/>
              </a:rPr>
              <a:t>= 0 </a:t>
            </a:r>
            <a:r>
              <a:rPr kumimoji="1" lang="zh-CN" altLang="en-US" sz="2400" dirty="0">
                <a:latin typeface="+mn-ea"/>
                <a:ea typeface="+mn-ea"/>
              </a:rPr>
              <a:t>，</a:t>
            </a:r>
            <a:r>
              <a:rPr kumimoji="1" lang="en-US" altLang="zh-CN" sz="2400" dirty="0">
                <a:latin typeface="+mn-ea"/>
                <a:ea typeface="+mn-ea"/>
              </a:rPr>
              <a:t>		</a:t>
            </a:r>
            <a:r>
              <a:rPr kumimoji="1" lang="zh-CN" altLang="en-US" sz="2400" dirty="0">
                <a:latin typeface="+mn-ea"/>
                <a:ea typeface="+mn-ea"/>
              </a:rPr>
              <a:t>匀速直线运动</a:t>
            </a:r>
          </a:p>
          <a:p>
            <a:pPr lvl="1" eaLnBrk="1" hangingPunct="1">
              <a:spcBef>
                <a:spcPct val="20000"/>
              </a:spcBef>
            </a:pPr>
            <a:r>
              <a:rPr kumimoji="1" lang="zh-CN" altLang="en-US" sz="2400" dirty="0">
                <a:latin typeface="+mn-ea"/>
                <a:ea typeface="+mn-ea"/>
              </a:rPr>
              <a:t>垂直于磁场的方向： </a:t>
            </a:r>
            <a:r>
              <a:rPr kumimoji="1" lang="en-US" altLang="zh-CN" sz="2400" i="1" dirty="0">
                <a:latin typeface="Times New Roman" panose="02020603050405020304" pitchFamily="18" charset="0"/>
                <a:ea typeface="+mn-ea"/>
                <a:cs typeface="Times New Roman" panose="02020603050405020304" pitchFamily="18" charset="0"/>
              </a:rPr>
              <a:t>F</a:t>
            </a:r>
            <a:r>
              <a:rPr kumimoji="1" lang="en-US" altLang="zh-CN" sz="2400" baseline="-25000" dirty="0">
                <a:latin typeface="Times New Roman" panose="02020603050405020304" pitchFamily="18" charset="0"/>
                <a:ea typeface="+mn-ea"/>
                <a:cs typeface="Times New Roman" panose="02020603050405020304" pitchFamily="18" charset="0"/>
              </a:rPr>
              <a:t>⊥</a:t>
            </a:r>
            <a:r>
              <a:rPr kumimoji="1" lang="en-US" altLang="zh-CN" sz="2400" i="1" dirty="0" smtClean="0">
                <a:latin typeface="Times New Roman" panose="02020603050405020304" pitchFamily="18" charset="0"/>
                <a:ea typeface="+mn-ea"/>
                <a:cs typeface="Times New Roman" panose="02020603050405020304" pitchFamily="18" charset="0"/>
              </a:rPr>
              <a:t>= </a:t>
            </a:r>
            <a:r>
              <a:rPr kumimoji="1" lang="en-US" altLang="zh-CN" sz="2400" i="1" dirty="0" err="1" smtClean="0">
                <a:latin typeface="Times New Roman" panose="02020603050405020304" pitchFamily="18" charset="0"/>
                <a:ea typeface="+mn-ea"/>
                <a:cs typeface="Times New Roman" panose="02020603050405020304" pitchFamily="18" charset="0"/>
              </a:rPr>
              <a:t>qvB</a:t>
            </a:r>
            <a:r>
              <a:rPr kumimoji="1" lang="en-US" altLang="zh-CN" sz="2400" dirty="0" err="1" smtClean="0">
                <a:latin typeface="Times New Roman" panose="02020603050405020304" pitchFamily="18" charset="0"/>
                <a:ea typeface="+mn-ea"/>
                <a:cs typeface="Times New Roman" panose="02020603050405020304" pitchFamily="18" charset="0"/>
              </a:rPr>
              <a:t>sin</a:t>
            </a:r>
            <a:r>
              <a:rPr kumimoji="1" lang="en-US" altLang="zh-CN" sz="2400" i="1" dirty="0" err="1" smtClean="0">
                <a:latin typeface="Times New Roman" panose="02020603050405020304" pitchFamily="18" charset="0"/>
                <a:ea typeface="+mn-ea"/>
                <a:cs typeface="Times New Roman" panose="02020603050405020304" pitchFamily="18" charset="0"/>
              </a:rPr>
              <a:t>θ</a:t>
            </a:r>
            <a:r>
              <a:rPr kumimoji="1" lang="zh-CN" altLang="en-US" sz="2400" dirty="0">
                <a:latin typeface="+mn-ea"/>
                <a:ea typeface="+mn-ea"/>
              </a:rPr>
              <a:t>，</a:t>
            </a:r>
            <a:r>
              <a:rPr kumimoji="1" lang="en-US" altLang="zh-CN" sz="2400" dirty="0">
                <a:latin typeface="+mn-ea"/>
                <a:ea typeface="+mn-ea"/>
              </a:rPr>
              <a:t>	</a:t>
            </a:r>
            <a:r>
              <a:rPr kumimoji="1" lang="zh-CN" altLang="en-US" sz="2400" dirty="0">
                <a:latin typeface="+mn-ea"/>
                <a:ea typeface="+mn-ea"/>
              </a:rPr>
              <a:t>匀速圆周运动</a:t>
            </a:r>
          </a:p>
          <a:p>
            <a:pPr eaLnBrk="1" hangingPunct="1">
              <a:spcBef>
                <a:spcPct val="20000"/>
              </a:spcBef>
            </a:pPr>
            <a:r>
              <a:rPr kumimoji="1" lang="zh-CN" altLang="en-US" sz="2400" dirty="0">
                <a:latin typeface="+mn-ea"/>
                <a:ea typeface="+mn-ea"/>
              </a:rPr>
              <a:t>粒子作螺旋线向前运动，轨迹是螺旋线。</a:t>
            </a:r>
          </a:p>
        </p:txBody>
      </p:sp>
      <p:sp>
        <p:nvSpPr>
          <p:cNvPr id="683015" name="Text Box 7"/>
          <p:cNvSpPr txBox="1">
            <a:spLocks noChangeArrowheads="1"/>
          </p:cNvSpPr>
          <p:nvPr/>
        </p:nvSpPr>
        <p:spPr bwMode="auto">
          <a:xfrm>
            <a:off x="1085010" y="5236969"/>
            <a:ext cx="1419276"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400" dirty="0">
                <a:latin typeface="+mn-ea"/>
                <a:ea typeface="+mn-ea"/>
              </a:rPr>
              <a:t>回旋半径</a:t>
            </a:r>
          </a:p>
        </p:txBody>
      </p:sp>
      <p:graphicFrame>
        <p:nvGraphicFramePr>
          <p:cNvPr id="683016" name="Object 8"/>
          <p:cNvGraphicFramePr>
            <a:graphicFrameLocks noChangeAspect="1"/>
          </p:cNvGraphicFramePr>
          <p:nvPr>
            <p:extLst>
              <p:ext uri="{D42A27DB-BD31-4B8C-83A1-F6EECF244321}">
                <p14:modId xmlns:p14="http://schemas.microsoft.com/office/powerpoint/2010/main" val="3418733005"/>
              </p:ext>
            </p:extLst>
          </p:nvPr>
        </p:nvGraphicFramePr>
        <p:xfrm>
          <a:off x="3215680" y="4840391"/>
          <a:ext cx="3420533" cy="860425"/>
        </p:xfrm>
        <a:graphic>
          <a:graphicData uri="http://schemas.openxmlformats.org/presentationml/2006/ole">
            <mc:AlternateContent xmlns:mc="http://schemas.openxmlformats.org/markup-compatibility/2006">
              <mc:Choice xmlns:v="urn:schemas-microsoft-com:vml" Requires="v">
                <p:oleObj spid="_x0000_s12519" name="Equation" r:id="rId6" imgW="1244600" imgH="419100" progId="Equation.DSMT4">
                  <p:embed/>
                </p:oleObj>
              </mc:Choice>
              <mc:Fallback>
                <p:oleObj name="Equation" r:id="rId6" imgW="1244600" imgH="4191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5680" y="4840391"/>
                        <a:ext cx="3420533" cy="8604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3017" name="Text Box 9"/>
          <p:cNvSpPr txBox="1">
            <a:spLocks noChangeArrowheads="1"/>
          </p:cNvSpPr>
          <p:nvPr/>
        </p:nvSpPr>
        <p:spPr bwMode="auto">
          <a:xfrm>
            <a:off x="1229083" y="6052891"/>
            <a:ext cx="1419276"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400" dirty="0">
                <a:latin typeface="+mn-ea"/>
                <a:ea typeface="+mn-ea"/>
              </a:rPr>
              <a:t>回旋周期</a:t>
            </a:r>
          </a:p>
        </p:txBody>
      </p:sp>
      <p:graphicFrame>
        <p:nvGraphicFramePr>
          <p:cNvPr id="683018" name="Object 10"/>
          <p:cNvGraphicFramePr>
            <a:graphicFrameLocks noChangeAspect="1"/>
          </p:cNvGraphicFramePr>
          <p:nvPr>
            <p:extLst>
              <p:ext uri="{D42A27DB-BD31-4B8C-83A1-F6EECF244321}">
                <p14:modId xmlns:p14="http://schemas.microsoft.com/office/powerpoint/2010/main" val="812149566"/>
              </p:ext>
            </p:extLst>
          </p:nvPr>
        </p:nvGraphicFramePr>
        <p:xfrm>
          <a:off x="3407702" y="5769252"/>
          <a:ext cx="3086100" cy="931863"/>
        </p:xfrm>
        <a:graphic>
          <a:graphicData uri="http://schemas.openxmlformats.org/presentationml/2006/ole">
            <mc:AlternateContent xmlns:mc="http://schemas.openxmlformats.org/markup-compatibility/2006">
              <mc:Choice xmlns:v="urn:schemas-microsoft-com:vml" Requires="v">
                <p:oleObj spid="_x0000_s12520" name="Equation" r:id="rId8" imgW="1066800" imgH="431800" progId="Equation.DSMT4">
                  <p:embed/>
                </p:oleObj>
              </mc:Choice>
              <mc:Fallback>
                <p:oleObj name="Equation" r:id="rId8" imgW="1066800" imgH="431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07702" y="5769252"/>
                        <a:ext cx="3086100" cy="9318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3019" name="Text Box 11"/>
          <p:cNvSpPr txBox="1">
            <a:spLocks noChangeArrowheads="1"/>
          </p:cNvSpPr>
          <p:nvPr/>
        </p:nvSpPr>
        <p:spPr bwMode="auto">
          <a:xfrm>
            <a:off x="6972522" y="4990379"/>
            <a:ext cx="5219477"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400" dirty="0">
                <a:latin typeface="+mn-ea"/>
                <a:ea typeface="+mn-ea"/>
              </a:rPr>
              <a:t>螺距</a:t>
            </a:r>
            <a:r>
              <a:rPr kumimoji="1" lang="en-US" altLang="zh-CN" sz="2400" dirty="0">
                <a:latin typeface="+mn-ea"/>
                <a:ea typeface="+mn-ea"/>
              </a:rPr>
              <a:t>——</a:t>
            </a:r>
            <a:r>
              <a:rPr kumimoji="1" lang="zh-CN" altLang="en-US" sz="2400" dirty="0">
                <a:latin typeface="+mn-ea"/>
                <a:ea typeface="+mn-ea"/>
              </a:rPr>
              <a:t>粒子回转一周所前进的距离</a:t>
            </a:r>
          </a:p>
        </p:txBody>
      </p:sp>
      <p:graphicFrame>
        <p:nvGraphicFramePr>
          <p:cNvPr id="683020" name="Object 12"/>
          <p:cNvGraphicFramePr>
            <a:graphicFrameLocks noChangeAspect="1"/>
          </p:cNvGraphicFramePr>
          <p:nvPr>
            <p:extLst>
              <p:ext uri="{D42A27DB-BD31-4B8C-83A1-F6EECF244321}">
                <p14:modId xmlns:p14="http://schemas.microsoft.com/office/powerpoint/2010/main" val="826357258"/>
              </p:ext>
            </p:extLst>
          </p:nvPr>
        </p:nvGraphicFramePr>
        <p:xfrm>
          <a:off x="7116201" y="5691848"/>
          <a:ext cx="4449233" cy="1006475"/>
        </p:xfrm>
        <a:graphic>
          <a:graphicData uri="http://schemas.openxmlformats.org/presentationml/2006/ole">
            <mc:AlternateContent xmlns:mc="http://schemas.openxmlformats.org/markup-compatibility/2006">
              <mc:Choice xmlns:v="urn:schemas-microsoft-com:vml" Requires="v">
                <p:oleObj spid="_x0000_s12521" name="Equation" r:id="rId10" imgW="1384200" imgH="419040" progId="Equation.DSMT4">
                  <p:embed/>
                </p:oleObj>
              </mc:Choice>
              <mc:Fallback>
                <p:oleObj name="Equation" r:id="rId10" imgW="1384200" imgH="4190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6201" y="5691848"/>
                        <a:ext cx="4449233" cy="10064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3021" name="Line 13"/>
          <p:cNvSpPr>
            <a:spLocks noChangeShapeType="1"/>
          </p:cNvSpPr>
          <p:nvPr/>
        </p:nvSpPr>
        <p:spPr bwMode="auto">
          <a:xfrm flipH="1">
            <a:off x="6966062" y="4950823"/>
            <a:ext cx="6461" cy="1846704"/>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黑体" pitchFamily="49" charset="-122"/>
              <a:ea typeface="黑体" pitchFamily="49" charset="-122"/>
            </a:endParaRPr>
          </a:p>
        </p:txBody>
      </p:sp>
      <p:pic>
        <p:nvPicPr>
          <p:cNvPr id="65549" name="Picture 20"/>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770143" y="1503302"/>
            <a:ext cx="62103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11925" y="36246"/>
            <a:ext cx="12432704" cy="584775"/>
          </a:xfrm>
          <a:prstGeom prst="rect">
            <a:avLst/>
          </a:prstGeom>
        </p:spPr>
        <p:txBody>
          <a:bodyPr wrap="square">
            <a:spAutoFit/>
          </a:bodyPr>
          <a:lstStyle/>
          <a:p>
            <a:pPr lvl="0" defTabSz="762000">
              <a:spcBef>
                <a:spcPts val="1400"/>
              </a:spcBef>
              <a:defRPr sz="1800"/>
            </a:pPr>
            <a:r>
              <a:rPr lang="en-US" altLang="zh-CN" sz="3200" b="1" dirty="0">
                <a:latin typeface="黑体" pitchFamily="49" charset="-122"/>
                <a:ea typeface="黑体" pitchFamily="49" charset="-122"/>
                <a:cs typeface="SimHei"/>
                <a:sym typeface="SimHei"/>
              </a:rPr>
              <a:t>§19.4</a:t>
            </a:r>
            <a:r>
              <a:rPr lang="zh-CN" altLang="en-US" sz="3200" b="1" dirty="0">
                <a:latin typeface="黑体" pitchFamily="49" charset="-122"/>
                <a:ea typeface="黑体" pitchFamily="49" charset="-122"/>
                <a:cs typeface="SimHei"/>
                <a:sym typeface="SimHei"/>
              </a:rPr>
              <a:t> </a:t>
            </a:r>
            <a:r>
              <a:rPr lang="zh-CN" altLang="en-US" sz="3200" b="1" dirty="0" smtClean="0">
                <a:latin typeface="黑体" pitchFamily="49" charset="-122"/>
                <a:ea typeface="黑体" pitchFamily="49" charset="-122"/>
                <a:cs typeface="SimHei"/>
                <a:sym typeface="SimHei"/>
              </a:rPr>
              <a:t>带电粒子</a:t>
            </a:r>
            <a:r>
              <a:rPr lang="zh-CN" altLang="en-US" sz="3200" b="1" dirty="0">
                <a:latin typeface="黑体" pitchFamily="49" charset="-122"/>
                <a:ea typeface="黑体" pitchFamily="49" charset="-122"/>
                <a:cs typeface="SimHei"/>
                <a:sym typeface="SimHei"/>
              </a:rPr>
              <a:t>在匀强磁场中的运动：一般情况</a:t>
            </a:r>
          </a:p>
        </p:txBody>
      </p:sp>
    </p:spTree>
    <p:extLst>
      <p:ext uri="{BB962C8B-B14F-4D97-AF65-F5344CB8AC3E}">
        <p14:creationId xmlns:p14="http://schemas.microsoft.com/office/powerpoint/2010/main" val="40059202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4" cstate="print"/>
          <a:srcRect t="2444" b="10891"/>
          <a:stretch/>
        </p:blipFill>
        <p:spPr>
          <a:xfrm>
            <a:off x="1202885" y="13646"/>
            <a:ext cx="9324603" cy="3274532"/>
          </a:xfrm>
          <a:prstGeom prst="rect">
            <a:avLst/>
          </a:prstGeom>
        </p:spPr>
      </p:pic>
      <p:sp>
        <p:nvSpPr>
          <p:cNvPr id="3" name="文本框 2"/>
          <p:cNvSpPr txBox="1"/>
          <p:nvPr/>
        </p:nvSpPr>
        <p:spPr>
          <a:xfrm>
            <a:off x="475158" y="3490476"/>
            <a:ext cx="11049657" cy="1015663"/>
          </a:xfrm>
          <a:prstGeom prst="rect">
            <a:avLst/>
          </a:prstGeom>
          <a:noFill/>
        </p:spPr>
        <p:txBody>
          <a:bodyPr wrap="square" rtlCol="0">
            <a:spAutoFit/>
          </a:bodyPr>
          <a:lstStyle/>
          <a:p>
            <a:pPr>
              <a:lnSpc>
                <a:spcPct val="125000"/>
              </a:lnSpc>
            </a:pPr>
            <a:r>
              <a:rPr lang="zh-CN" altLang="en-US" sz="2400" b="1" dirty="0" smtClean="0"/>
              <a:t>图</a:t>
            </a:r>
            <a:r>
              <a:rPr lang="en-US" altLang="zh-CN" sz="2400" b="1" dirty="0" smtClean="0"/>
              <a:t>19.19  a</a:t>
            </a:r>
            <a:r>
              <a:rPr lang="zh-CN" altLang="en-US" sz="2400" b="1" dirty="0" smtClean="0"/>
              <a:t>）带电粒子在</a:t>
            </a:r>
            <a:r>
              <a:rPr lang="zh-CN" altLang="en-US" sz="2400" b="1" dirty="0" smtClean="0">
                <a:solidFill>
                  <a:srgbClr val="FF0000"/>
                </a:solidFill>
              </a:rPr>
              <a:t>匀强磁场中</a:t>
            </a:r>
            <a:r>
              <a:rPr lang="zh-CN" altLang="en-US" sz="2400" b="1" dirty="0" smtClean="0"/>
              <a:t>的螺旋运动。</a:t>
            </a:r>
            <a:r>
              <a:rPr lang="en-US" altLang="zh-CN" sz="2400" b="1" dirty="0" smtClean="0"/>
              <a:t>B</a:t>
            </a:r>
            <a:r>
              <a:rPr lang="zh-CN" altLang="en-US" sz="2400" b="1" dirty="0" smtClean="0"/>
              <a:t>）带电粒子沿大气上空磁感应线</a:t>
            </a:r>
            <a:r>
              <a:rPr lang="zh-CN" altLang="en-US" sz="2400" b="1" smtClean="0"/>
              <a:t>来回螺旋运动（</a:t>
            </a:r>
            <a:r>
              <a:rPr lang="zh-CN" altLang="en-US" sz="2400" b="1" smtClean="0">
                <a:solidFill>
                  <a:srgbClr val="FF0000"/>
                </a:solidFill>
              </a:rPr>
              <a:t>非匀强磁场</a:t>
            </a:r>
            <a:r>
              <a:rPr lang="zh-CN" altLang="en-US" sz="2400" b="1" smtClean="0"/>
              <a:t>）</a:t>
            </a:r>
            <a:endParaRPr lang="zh-CN" altLang="en-US" sz="2400" b="1" dirty="0"/>
          </a:p>
        </p:txBody>
      </p:sp>
      <p:sp>
        <p:nvSpPr>
          <p:cNvPr id="4" name="文本框 3"/>
          <p:cNvSpPr txBox="1"/>
          <p:nvPr/>
        </p:nvSpPr>
        <p:spPr>
          <a:xfrm>
            <a:off x="475158" y="5593468"/>
            <a:ext cx="11381480" cy="523220"/>
          </a:xfrm>
          <a:prstGeom prst="rect">
            <a:avLst/>
          </a:prstGeom>
          <a:noFill/>
        </p:spPr>
        <p:txBody>
          <a:bodyPr wrap="square" rtlCol="0">
            <a:spAutoFit/>
          </a:bodyPr>
          <a:lstStyle/>
          <a:p>
            <a:r>
              <a:rPr lang="zh-CN" altLang="en-US" sz="2800" smtClean="0"/>
              <a:t> </a:t>
            </a:r>
            <a:r>
              <a:rPr lang="zh-CN" altLang="en-US" sz="2800" b="1" dirty="0" smtClean="0"/>
              <a:t>一个粒子的螺旋运动如图</a:t>
            </a:r>
            <a:r>
              <a:rPr lang="en-US" altLang="zh-CN" sz="2800" b="1" dirty="0" smtClean="0"/>
              <a:t>19.19 a</a:t>
            </a:r>
            <a:r>
              <a:rPr lang="zh-CN" altLang="en-US" sz="2800" b="1" dirty="0" smtClean="0"/>
              <a:t>）所示。</a:t>
            </a:r>
            <a:r>
              <a:rPr lang="zh-CN" altLang="en-US" sz="2800" b="1" dirty="0" smtClean="0">
                <a:solidFill>
                  <a:srgbClr val="FF0000"/>
                </a:solidFill>
              </a:rPr>
              <a:t>该粒子是带正电还是带负电？</a:t>
            </a:r>
            <a:endParaRPr lang="zh-CN" altLang="en-US" sz="2800" b="1" dirty="0">
              <a:solidFill>
                <a:srgbClr val="FF0000"/>
              </a:solidFill>
            </a:endParaRPr>
          </a:p>
        </p:txBody>
      </p:sp>
      <p:pic>
        <p:nvPicPr>
          <p:cNvPr id="6" name="图片 5"/>
          <p:cNvPicPr>
            <a:picLocks noChangeAspect="1"/>
          </p:cNvPicPr>
          <p:nvPr/>
        </p:nvPicPr>
        <p:blipFill rotWithShape="1">
          <a:blip r:embed="rId4" cstate="print"/>
          <a:srcRect l="7660" t="141031" r="-7660" b="-51460"/>
          <a:stretch/>
        </p:blipFill>
        <p:spPr>
          <a:xfrm>
            <a:off x="1337685" y="2908586"/>
            <a:ext cx="9324603" cy="394041"/>
          </a:xfrm>
          <a:prstGeom prst="rect">
            <a:avLst/>
          </a:prstGeom>
        </p:spPr>
      </p:pic>
      <p:pic>
        <p:nvPicPr>
          <p:cNvPr id="7" name="图片 6"/>
          <p:cNvPicPr>
            <a:picLocks noChangeAspect="1"/>
          </p:cNvPicPr>
          <p:nvPr/>
        </p:nvPicPr>
        <p:blipFill rotWithShape="1">
          <a:blip r:embed="rId4" cstate="print"/>
          <a:srcRect t="95040"/>
          <a:stretch/>
        </p:blipFill>
        <p:spPr>
          <a:xfrm>
            <a:off x="1068085" y="3293721"/>
            <a:ext cx="9324603" cy="187435"/>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484098098"/>
              </p:ext>
            </p:extLst>
          </p:nvPr>
        </p:nvGraphicFramePr>
        <p:xfrm>
          <a:off x="2309853" y="4506139"/>
          <a:ext cx="3420533" cy="860425"/>
        </p:xfrm>
        <a:graphic>
          <a:graphicData uri="http://schemas.openxmlformats.org/presentationml/2006/ole">
            <mc:AlternateContent xmlns:mc="http://schemas.openxmlformats.org/markup-compatibility/2006">
              <mc:Choice xmlns:v="urn:schemas-microsoft-com:vml" Requires="v">
                <p:oleObj spid="_x0000_s13374" name="Equation" r:id="rId5" imgW="1244600" imgH="419100" progId="Equation.DSMT4">
                  <p:embed/>
                </p:oleObj>
              </mc:Choice>
              <mc:Fallback>
                <p:oleObj name="Equation" r:id="rId5" imgW="1244600" imgH="4191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9853" y="4506139"/>
                        <a:ext cx="3420533" cy="8604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Box 8"/>
          <p:cNvSpPr txBox="1"/>
          <p:nvPr/>
        </p:nvSpPr>
        <p:spPr>
          <a:xfrm>
            <a:off x="6447532" y="4506139"/>
            <a:ext cx="3552395" cy="830997"/>
          </a:xfrm>
          <a:prstGeom prst="rect">
            <a:avLst/>
          </a:prstGeom>
          <a:noFill/>
        </p:spPr>
        <p:txBody>
          <a:bodyPr wrap="square" rtlCol="0">
            <a:spAutoFit/>
          </a:bodyPr>
          <a:lstStyle/>
          <a:p>
            <a:r>
              <a:rPr lang="zh-CN" altLang="en-US" sz="2400" b="1" dirty="0" smtClean="0"/>
              <a:t>两极附近</a:t>
            </a:r>
            <a:r>
              <a:rPr lang="en-US" altLang="zh-CN" sz="2400" b="1" dirty="0" smtClean="0"/>
              <a:t>V</a:t>
            </a:r>
            <a:r>
              <a:rPr lang="zh-CN" altLang="en-US" sz="2400" b="1" baseline="-25000" dirty="0" smtClean="0"/>
              <a:t>⊥</a:t>
            </a:r>
            <a:r>
              <a:rPr lang="zh-CN" altLang="en-US" sz="2400" b="1" smtClean="0"/>
              <a:t>减小，</a:t>
            </a:r>
            <a:r>
              <a:rPr lang="en-US" altLang="zh-CN" sz="2400" b="1" smtClean="0"/>
              <a:t>B</a:t>
            </a:r>
            <a:r>
              <a:rPr lang="zh-CN" altLang="en-US" sz="2400" b="1" smtClean="0"/>
              <a:t>增大</a:t>
            </a:r>
            <a:r>
              <a:rPr lang="en-US" altLang="zh-CN" sz="2400" b="1" smtClean="0"/>
              <a:t>,</a:t>
            </a:r>
            <a:r>
              <a:rPr lang="zh-CN" altLang="en-US" sz="2400" b="1" smtClean="0"/>
              <a:t>螺旋</a:t>
            </a:r>
            <a:r>
              <a:rPr lang="zh-CN" altLang="en-US" sz="2400" b="1" dirty="0" smtClean="0"/>
              <a:t>半径减小</a:t>
            </a:r>
            <a:endParaRPr lang="zh-CN" altLang="en-US" sz="2400" b="1" dirty="0"/>
          </a:p>
        </p:txBody>
      </p:sp>
    </p:spTree>
    <p:extLst>
      <p:ext uri="{BB962C8B-B14F-4D97-AF65-F5344CB8AC3E}">
        <p14:creationId xmlns:p14="http://schemas.microsoft.com/office/powerpoint/2010/main" val="2547847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3"/>
          <p:cNvSpPr txBox="1">
            <a:spLocks noChangeArrowheads="1"/>
          </p:cNvSpPr>
          <p:nvPr/>
        </p:nvSpPr>
        <p:spPr bwMode="auto">
          <a:xfrm>
            <a:off x="176450" y="5439167"/>
            <a:ext cx="11680190" cy="101784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nSpc>
                <a:spcPct val="125000"/>
              </a:lnSpc>
            </a:pPr>
            <a:r>
              <a:rPr kumimoji="1" lang="en-US" altLang="zh-CN" sz="2400" b="0" dirty="0" smtClean="0">
                <a:latin typeface="+mn-ea"/>
                <a:ea typeface="+mn-ea"/>
              </a:rPr>
              <a:t>    </a:t>
            </a:r>
            <a:r>
              <a:rPr kumimoji="1" lang="en-US" altLang="zh-CN" sz="2400" dirty="0" smtClean="0">
                <a:latin typeface="+mn-ea"/>
                <a:ea typeface="+mn-ea"/>
              </a:rPr>
              <a:t>1958</a:t>
            </a:r>
            <a:r>
              <a:rPr kumimoji="1" lang="zh-CN" altLang="en-US" sz="2400" dirty="0">
                <a:latin typeface="+mn-ea"/>
                <a:ea typeface="+mn-ea"/>
              </a:rPr>
              <a:t>年，探索者一号卫星在外层空间</a:t>
            </a:r>
            <a:r>
              <a:rPr kumimoji="1" lang="zh-CN" altLang="en-US" sz="2400">
                <a:latin typeface="+mn-ea"/>
                <a:ea typeface="+mn-ea"/>
              </a:rPr>
              <a:t>发现</a:t>
            </a:r>
            <a:r>
              <a:rPr kumimoji="1" lang="zh-CN" altLang="en-US" sz="2400" smtClean="0">
                <a:latin typeface="+mn-ea"/>
                <a:ea typeface="+mn-ea"/>
              </a:rPr>
              <a:t>被地磁场</a:t>
            </a:r>
            <a:r>
              <a:rPr kumimoji="1" lang="zh-CN" altLang="en-US" sz="2400" dirty="0">
                <a:latin typeface="+mn-ea"/>
                <a:ea typeface="+mn-ea"/>
              </a:rPr>
              <a:t>俘获的来自</a:t>
            </a:r>
            <a:r>
              <a:rPr kumimoji="1" lang="zh-CN" altLang="en-US" sz="2400" dirty="0" smtClean="0">
                <a:latin typeface="+mn-ea"/>
                <a:ea typeface="+mn-ea"/>
              </a:rPr>
              <a:t>宇宙射线（带电粒子）和</a:t>
            </a:r>
            <a:r>
              <a:rPr kumimoji="1" lang="zh-CN" altLang="en-US" sz="2400" dirty="0">
                <a:latin typeface="+mn-ea"/>
                <a:ea typeface="+mn-ea"/>
              </a:rPr>
              <a:t>太阳风的质子层和电子层</a:t>
            </a:r>
            <a:r>
              <a:rPr kumimoji="1" lang="en-US" altLang="zh-CN" sz="2400" dirty="0" smtClean="0">
                <a:latin typeface="+mn-ea"/>
                <a:ea typeface="+mn-ea"/>
              </a:rPr>
              <a:t>——</a:t>
            </a:r>
            <a:r>
              <a:rPr kumimoji="1" lang="zh-CN" altLang="en-US" sz="2400" dirty="0" smtClean="0">
                <a:latin typeface="+mn-ea"/>
                <a:ea typeface="+mn-ea"/>
              </a:rPr>
              <a:t>范艾伦（</a:t>
            </a:r>
            <a:r>
              <a:rPr kumimoji="1" lang="en-US" altLang="zh-CN" sz="2400" dirty="0">
                <a:solidFill>
                  <a:srgbClr val="FF3300"/>
                </a:solidFill>
                <a:latin typeface="+mn-ea"/>
              </a:rPr>
              <a:t> Van Allen </a:t>
            </a:r>
            <a:r>
              <a:rPr kumimoji="1" lang="zh-CN" altLang="en-US" sz="2400" dirty="0" smtClean="0">
                <a:latin typeface="+mn-ea"/>
                <a:ea typeface="+mn-ea"/>
              </a:rPr>
              <a:t>）</a:t>
            </a:r>
            <a:r>
              <a:rPr kumimoji="1" lang="zh-CN" altLang="en-US" sz="2400" dirty="0" smtClean="0">
                <a:solidFill>
                  <a:srgbClr val="FF3300"/>
                </a:solidFill>
                <a:latin typeface="+mn-ea"/>
                <a:ea typeface="+mn-ea"/>
              </a:rPr>
              <a:t>辐射带</a:t>
            </a:r>
            <a:endParaRPr kumimoji="1" lang="zh-CN" altLang="en-US" sz="2400" dirty="0">
              <a:latin typeface="+mn-ea"/>
              <a:ea typeface="+mn-ea"/>
            </a:endParaRPr>
          </a:p>
        </p:txBody>
      </p:sp>
      <p:pic>
        <p:nvPicPr>
          <p:cNvPr id="6758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14" y="836713"/>
            <a:ext cx="11815135" cy="46494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4"/>
          <p:cNvSpPr txBox="1"/>
          <p:nvPr/>
        </p:nvSpPr>
        <p:spPr>
          <a:xfrm>
            <a:off x="143339" y="188640"/>
            <a:ext cx="11713301" cy="523220"/>
          </a:xfrm>
          <a:prstGeom prst="rect">
            <a:avLst/>
          </a:prstGeom>
          <a:noFill/>
        </p:spPr>
        <p:txBody>
          <a:bodyPr wrap="square" rtlCol="0">
            <a:spAutoFit/>
          </a:bodyPr>
          <a:lstStyle/>
          <a:p>
            <a:r>
              <a:rPr lang="zh-CN" altLang="en-US" sz="2800" b="1" dirty="0" smtClean="0"/>
              <a:t>应用：地球、木星和土星上的极光</a:t>
            </a:r>
            <a:endParaRPr lang="zh-CN" altLang="en-US" sz="2800" b="1" dirty="0"/>
          </a:p>
        </p:txBody>
      </p:sp>
    </p:spTree>
    <p:extLst>
      <p:ext uri="{BB962C8B-B14F-4D97-AF65-F5344CB8AC3E}">
        <p14:creationId xmlns:p14="http://schemas.microsoft.com/office/powerpoint/2010/main" val="218364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4034" name="Group 2"/>
          <p:cNvGrpSpPr>
            <a:grpSpLocks/>
          </p:cNvGrpSpPr>
          <p:nvPr/>
        </p:nvGrpSpPr>
        <p:grpSpPr bwMode="auto">
          <a:xfrm>
            <a:off x="518117" y="4301753"/>
            <a:ext cx="4546901" cy="1728791"/>
            <a:chOff x="1349" y="786"/>
            <a:chExt cx="2251" cy="1088"/>
          </a:xfrm>
        </p:grpSpPr>
        <p:sp>
          <p:nvSpPr>
            <p:cNvPr id="66648" name="Freeform 3"/>
            <p:cNvSpPr>
              <a:spLocks/>
            </p:cNvSpPr>
            <p:nvPr/>
          </p:nvSpPr>
          <p:spPr bwMode="auto">
            <a:xfrm>
              <a:off x="1536" y="928"/>
              <a:ext cx="1815" cy="565"/>
            </a:xfrm>
            <a:custGeom>
              <a:avLst/>
              <a:gdLst>
                <a:gd name="T0" fmla="*/ 0 w 1815"/>
                <a:gd name="T1" fmla="*/ 292 h 565"/>
                <a:gd name="T2" fmla="*/ 439 w 1815"/>
                <a:gd name="T3" fmla="*/ 38 h 565"/>
                <a:gd name="T4" fmla="*/ 1332 w 1815"/>
                <a:gd name="T5" fmla="*/ 521 h 565"/>
                <a:gd name="T6" fmla="*/ 1815 w 1815"/>
                <a:gd name="T7" fmla="*/ 301 h 5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5" h="565">
                  <a:moveTo>
                    <a:pt x="0" y="292"/>
                  </a:moveTo>
                  <a:cubicBezTo>
                    <a:pt x="73" y="250"/>
                    <a:pt x="217" y="0"/>
                    <a:pt x="439" y="38"/>
                  </a:cubicBezTo>
                  <a:cubicBezTo>
                    <a:pt x="661" y="76"/>
                    <a:pt x="1103" y="477"/>
                    <a:pt x="1332" y="521"/>
                  </a:cubicBezTo>
                  <a:cubicBezTo>
                    <a:pt x="1561" y="565"/>
                    <a:pt x="1714" y="347"/>
                    <a:pt x="1815" y="301"/>
                  </a:cubicBezTo>
                </a:path>
              </a:pathLst>
            </a:custGeom>
            <a:noFill/>
            <a:ln w="41275">
              <a:solidFill>
                <a:srgbClr val="8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49" name="Freeform 4"/>
            <p:cNvSpPr>
              <a:spLocks/>
            </p:cNvSpPr>
            <p:nvPr/>
          </p:nvSpPr>
          <p:spPr bwMode="auto">
            <a:xfrm>
              <a:off x="1488" y="939"/>
              <a:ext cx="1877" cy="617"/>
            </a:xfrm>
            <a:custGeom>
              <a:avLst/>
              <a:gdLst>
                <a:gd name="T0" fmla="*/ 0 w 1877"/>
                <a:gd name="T1" fmla="*/ 259 h 617"/>
                <a:gd name="T2" fmla="*/ 824 w 1877"/>
                <a:gd name="T3" fmla="*/ 583 h 617"/>
                <a:gd name="T4" fmla="*/ 1482 w 1877"/>
                <a:gd name="T5" fmla="*/ 56 h 617"/>
                <a:gd name="T6" fmla="*/ 1877 w 1877"/>
                <a:gd name="T7" fmla="*/ 246 h 6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77" h="617">
                  <a:moveTo>
                    <a:pt x="0" y="259"/>
                  </a:moveTo>
                  <a:cubicBezTo>
                    <a:pt x="137" y="313"/>
                    <a:pt x="577" y="617"/>
                    <a:pt x="824" y="583"/>
                  </a:cubicBezTo>
                  <a:cubicBezTo>
                    <a:pt x="1071" y="549"/>
                    <a:pt x="1306" y="112"/>
                    <a:pt x="1482" y="56"/>
                  </a:cubicBezTo>
                  <a:cubicBezTo>
                    <a:pt x="1658" y="0"/>
                    <a:pt x="1795" y="207"/>
                    <a:pt x="1877" y="246"/>
                  </a:cubicBezTo>
                </a:path>
              </a:pathLst>
            </a:custGeom>
            <a:noFill/>
            <a:ln w="412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0" name="Line 5"/>
            <p:cNvSpPr>
              <a:spLocks noChangeShapeType="1"/>
            </p:cNvSpPr>
            <p:nvPr/>
          </p:nvSpPr>
          <p:spPr bwMode="auto">
            <a:xfrm>
              <a:off x="1349" y="1200"/>
              <a:ext cx="2251" cy="0"/>
            </a:xfrm>
            <a:prstGeom prst="line">
              <a:avLst/>
            </a:prstGeom>
            <a:noFill/>
            <a:ln w="44450">
              <a:solidFill>
                <a:srgbClr val="FF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1" name="Freeform 6"/>
            <p:cNvSpPr>
              <a:spLocks/>
            </p:cNvSpPr>
            <p:nvPr/>
          </p:nvSpPr>
          <p:spPr bwMode="auto">
            <a:xfrm>
              <a:off x="1536" y="1188"/>
              <a:ext cx="1877" cy="290"/>
            </a:xfrm>
            <a:custGeom>
              <a:avLst/>
              <a:gdLst>
                <a:gd name="T0" fmla="*/ 0 w 1877"/>
                <a:gd name="T1" fmla="*/ 13 h 290"/>
                <a:gd name="T2" fmla="*/ 498 w 1877"/>
                <a:gd name="T3" fmla="*/ 100 h 290"/>
                <a:gd name="T4" fmla="*/ 1171 w 1877"/>
                <a:gd name="T5" fmla="*/ 290 h 290"/>
                <a:gd name="T6" fmla="*/ 1581 w 1877"/>
                <a:gd name="T7" fmla="*/ 100 h 290"/>
                <a:gd name="T8" fmla="*/ 1877 w 1877"/>
                <a:gd name="T9" fmla="*/ 0 h 2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7" h="290">
                  <a:moveTo>
                    <a:pt x="0" y="13"/>
                  </a:moveTo>
                  <a:cubicBezTo>
                    <a:pt x="83" y="27"/>
                    <a:pt x="303" y="54"/>
                    <a:pt x="498" y="100"/>
                  </a:cubicBezTo>
                  <a:cubicBezTo>
                    <a:pt x="693" y="146"/>
                    <a:pt x="991" y="290"/>
                    <a:pt x="1171" y="290"/>
                  </a:cubicBezTo>
                  <a:cubicBezTo>
                    <a:pt x="1351" y="290"/>
                    <a:pt x="1463" y="148"/>
                    <a:pt x="1581" y="100"/>
                  </a:cubicBezTo>
                  <a:cubicBezTo>
                    <a:pt x="1699" y="52"/>
                    <a:pt x="1815" y="21"/>
                    <a:pt x="1877" y="0"/>
                  </a:cubicBezTo>
                </a:path>
              </a:pathLst>
            </a:custGeom>
            <a:noFill/>
            <a:ln w="412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2" name="Line 7"/>
            <p:cNvSpPr>
              <a:spLocks noChangeShapeType="1"/>
            </p:cNvSpPr>
            <p:nvPr/>
          </p:nvSpPr>
          <p:spPr bwMode="auto">
            <a:xfrm>
              <a:off x="1536" y="1200"/>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3" name="Line 8"/>
            <p:cNvSpPr>
              <a:spLocks noChangeShapeType="1"/>
            </p:cNvSpPr>
            <p:nvPr/>
          </p:nvSpPr>
          <p:spPr bwMode="auto">
            <a:xfrm>
              <a:off x="3393" y="1185"/>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4" name="Line 9"/>
            <p:cNvSpPr>
              <a:spLocks noChangeShapeType="1"/>
            </p:cNvSpPr>
            <p:nvPr/>
          </p:nvSpPr>
          <p:spPr bwMode="auto">
            <a:xfrm>
              <a:off x="2544" y="1680"/>
              <a:ext cx="864"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5" name="Freeform 10"/>
            <p:cNvSpPr>
              <a:spLocks/>
            </p:cNvSpPr>
            <p:nvPr/>
          </p:nvSpPr>
          <p:spPr bwMode="auto">
            <a:xfrm>
              <a:off x="1536" y="1681"/>
              <a:ext cx="644" cy="2"/>
            </a:xfrm>
            <a:custGeom>
              <a:avLst/>
              <a:gdLst>
                <a:gd name="T0" fmla="*/ 644 w 644"/>
                <a:gd name="T1" fmla="*/ 2 h 2"/>
                <a:gd name="T2" fmla="*/ 0 w 644"/>
                <a:gd name="T3" fmla="*/ 0 h 2"/>
                <a:gd name="T4" fmla="*/ 0 60000 65536"/>
                <a:gd name="T5" fmla="*/ 0 60000 65536"/>
              </a:gdLst>
              <a:ahLst/>
              <a:cxnLst>
                <a:cxn ang="T4">
                  <a:pos x="T0" y="T1"/>
                </a:cxn>
                <a:cxn ang="T5">
                  <a:pos x="T2" y="T3"/>
                </a:cxn>
              </a:cxnLst>
              <a:rect l="0" t="0" r="r" b="b"/>
              <a:pathLst>
                <a:path w="644" h="2">
                  <a:moveTo>
                    <a:pt x="644" y="2"/>
                  </a:moveTo>
                  <a:lnTo>
                    <a:pt x="0" y="0"/>
                  </a:lnTo>
                </a:path>
              </a:pathLst>
            </a:custGeom>
            <a:noFill/>
            <a:ln w="9525">
              <a:solidFill>
                <a:schemeClr val="tx1"/>
              </a:solidFill>
              <a:round/>
              <a:headEnd type="none" w="med" len="med"/>
              <a:tailEnd type="arrow"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56" name="Text Box 11"/>
            <p:cNvSpPr txBox="1">
              <a:spLocks noChangeArrowheads="1"/>
            </p:cNvSpPr>
            <p:nvPr/>
          </p:nvSpPr>
          <p:spPr bwMode="auto">
            <a:xfrm>
              <a:off x="2246" y="1545"/>
              <a:ext cx="18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800" b="0" i="1">
                  <a:latin typeface="黑体" pitchFamily="49" charset="-122"/>
                  <a:ea typeface="黑体" pitchFamily="49" charset="-122"/>
                </a:rPr>
                <a:t>h</a:t>
              </a:r>
              <a:endParaRPr kumimoji="1" lang="en-US" altLang="zh-CN" sz="2400" b="0">
                <a:latin typeface="黑体" pitchFamily="49" charset="-122"/>
                <a:ea typeface="黑体" pitchFamily="49" charset="-122"/>
              </a:endParaRPr>
            </a:p>
          </p:txBody>
        </p:sp>
        <p:sp>
          <p:nvSpPr>
            <p:cNvPr id="66657" name="Text Box 12"/>
            <p:cNvSpPr txBox="1">
              <a:spLocks noChangeArrowheads="1"/>
            </p:cNvSpPr>
            <p:nvPr/>
          </p:nvSpPr>
          <p:spPr bwMode="auto">
            <a:xfrm>
              <a:off x="3324" y="786"/>
              <a:ext cx="19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200" i="1">
                  <a:latin typeface="黑体" pitchFamily="49" charset="-122"/>
                  <a:ea typeface="黑体" pitchFamily="49" charset="-122"/>
                </a:rPr>
                <a:t>B</a:t>
              </a:r>
              <a:endParaRPr kumimoji="1" lang="en-US" altLang="zh-CN" sz="2400" b="0">
                <a:latin typeface="黑体" pitchFamily="49" charset="-122"/>
                <a:ea typeface="黑体" pitchFamily="49" charset="-122"/>
              </a:endParaRPr>
            </a:p>
          </p:txBody>
        </p:sp>
      </p:grpSp>
      <p:sp>
        <p:nvSpPr>
          <p:cNvPr id="66565" name="Text Box 39"/>
          <p:cNvSpPr txBox="1">
            <a:spLocks noChangeArrowheads="1"/>
          </p:cNvSpPr>
          <p:nvPr/>
        </p:nvSpPr>
        <p:spPr bwMode="auto">
          <a:xfrm>
            <a:off x="578611" y="2639132"/>
            <a:ext cx="11384873" cy="11717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just" eaLnBrk="1" hangingPunct="1">
              <a:lnSpc>
                <a:spcPct val="125000"/>
              </a:lnSpc>
              <a:spcBef>
                <a:spcPct val="20000"/>
              </a:spcBef>
            </a:pPr>
            <a:r>
              <a:rPr kumimoji="1" lang="zh-CN" altLang="en-US" sz="2800" dirty="0" smtClean="0">
                <a:latin typeface="Times New Roman" panose="02020603050405020304" pitchFamily="18" charset="0"/>
                <a:ea typeface="+mn-ea"/>
                <a:cs typeface="Times New Roman" panose="02020603050405020304" pitchFamily="18" charset="0"/>
              </a:rPr>
              <a:t>螺距</a:t>
            </a:r>
            <a:r>
              <a:rPr kumimoji="1" lang="en-US" altLang="zh-CN" sz="2800" i="1" dirty="0" smtClean="0">
                <a:latin typeface="Times New Roman" panose="02020603050405020304" pitchFamily="18" charset="0"/>
                <a:ea typeface="+mn-ea"/>
                <a:cs typeface="Times New Roman" panose="02020603050405020304" pitchFamily="18" charset="0"/>
              </a:rPr>
              <a:t>h</a:t>
            </a:r>
            <a:r>
              <a:rPr kumimoji="1" lang="zh-CN" altLang="en-US" sz="2800" dirty="0" smtClean="0">
                <a:latin typeface="Times New Roman" panose="02020603050405020304" pitchFamily="18" charset="0"/>
                <a:ea typeface="+mn-ea"/>
                <a:cs typeface="Times New Roman" panose="02020603050405020304" pitchFamily="18" charset="0"/>
              </a:rPr>
              <a:t>与</a:t>
            </a:r>
            <a:r>
              <a:rPr kumimoji="1" lang="en-US" altLang="zh-CN" sz="2800" i="1" dirty="0">
                <a:latin typeface="Times New Roman" panose="02020603050405020304" pitchFamily="18" charset="0"/>
                <a:ea typeface="+mn-ea"/>
                <a:cs typeface="Times New Roman" panose="02020603050405020304" pitchFamily="18" charset="0"/>
              </a:rPr>
              <a:t>v</a:t>
            </a:r>
            <a:r>
              <a:rPr kumimoji="1" lang="en-US" altLang="zh-CN" sz="2800" baseline="-25000" dirty="0">
                <a:latin typeface="Times New Roman" panose="02020603050405020304" pitchFamily="18" charset="0"/>
                <a:ea typeface="+mn-ea"/>
                <a:cs typeface="Times New Roman" panose="02020603050405020304" pitchFamily="18" charset="0"/>
              </a:rPr>
              <a:t>⊥</a:t>
            </a:r>
            <a:r>
              <a:rPr kumimoji="1" lang="zh-CN" altLang="en-US" sz="2800" dirty="0">
                <a:latin typeface="Times New Roman" panose="02020603050405020304" pitchFamily="18" charset="0"/>
                <a:ea typeface="+mn-ea"/>
                <a:cs typeface="Times New Roman" panose="02020603050405020304" pitchFamily="18" charset="0"/>
              </a:rPr>
              <a:t>无关，只与</a:t>
            </a:r>
            <a:r>
              <a:rPr kumimoji="1" lang="en-US" altLang="zh-CN" sz="2800" i="1" dirty="0">
                <a:latin typeface="Times New Roman" panose="02020603050405020304" pitchFamily="18" charset="0"/>
                <a:ea typeface="+mn-ea"/>
                <a:cs typeface="Times New Roman" panose="02020603050405020304" pitchFamily="18" charset="0"/>
              </a:rPr>
              <a:t>v</a:t>
            </a:r>
            <a:r>
              <a:rPr kumimoji="1" lang="en-US" altLang="zh-CN" sz="2800" baseline="-25000" dirty="0">
                <a:latin typeface="Times New Roman" panose="02020603050405020304" pitchFamily="18" charset="0"/>
                <a:ea typeface="+mn-ea"/>
                <a:cs typeface="Times New Roman" panose="02020603050405020304" pitchFamily="18" charset="0"/>
              </a:rPr>
              <a:t>//</a:t>
            </a:r>
            <a:r>
              <a:rPr kumimoji="1" lang="zh-CN" altLang="en-US" sz="2800" dirty="0">
                <a:latin typeface="Times New Roman" panose="02020603050405020304" pitchFamily="18" charset="0"/>
                <a:ea typeface="+mn-ea"/>
                <a:cs typeface="Times New Roman" panose="02020603050405020304" pitchFamily="18" charset="0"/>
              </a:rPr>
              <a:t>成正比，若各粒子的</a:t>
            </a:r>
            <a:r>
              <a:rPr kumimoji="1" lang="en-US" altLang="zh-CN" sz="2800" i="1" dirty="0">
                <a:latin typeface="Times New Roman" panose="02020603050405020304" pitchFamily="18" charset="0"/>
                <a:ea typeface="+mn-ea"/>
                <a:cs typeface="Times New Roman" panose="02020603050405020304" pitchFamily="18" charset="0"/>
              </a:rPr>
              <a:t>v</a:t>
            </a:r>
            <a:r>
              <a:rPr kumimoji="1" lang="en-US" altLang="zh-CN" sz="2800" baseline="-25000" dirty="0">
                <a:latin typeface="Times New Roman" panose="02020603050405020304" pitchFamily="18" charset="0"/>
                <a:ea typeface="+mn-ea"/>
                <a:cs typeface="Times New Roman" panose="02020603050405020304" pitchFamily="18" charset="0"/>
              </a:rPr>
              <a:t>//</a:t>
            </a:r>
            <a:r>
              <a:rPr kumimoji="1" lang="zh-CN" altLang="en-US" sz="2800" dirty="0">
                <a:latin typeface="Times New Roman" panose="02020603050405020304" pitchFamily="18" charset="0"/>
                <a:ea typeface="+mn-ea"/>
                <a:cs typeface="Times New Roman" panose="02020603050405020304" pitchFamily="18" charset="0"/>
              </a:rPr>
              <a:t>相同，则其螺距是相同的，每转一周粒子都相交于一点，利用这个原理，可实现</a:t>
            </a:r>
            <a:r>
              <a:rPr kumimoji="1" lang="zh-CN" altLang="en-US" sz="2800" dirty="0">
                <a:solidFill>
                  <a:srgbClr val="FF3300"/>
                </a:solidFill>
                <a:latin typeface="Times New Roman" panose="02020603050405020304" pitchFamily="18" charset="0"/>
                <a:ea typeface="+mn-ea"/>
                <a:cs typeface="Times New Roman" panose="02020603050405020304" pitchFamily="18" charset="0"/>
              </a:rPr>
              <a:t>磁聚焦</a:t>
            </a:r>
            <a:r>
              <a:rPr kumimoji="1" lang="zh-CN" altLang="en-US" sz="2800" dirty="0">
                <a:latin typeface="Times New Roman" panose="02020603050405020304" pitchFamily="18" charset="0"/>
                <a:ea typeface="+mn-ea"/>
                <a:cs typeface="Times New Roman" panose="02020603050405020304" pitchFamily="18" charset="0"/>
              </a:rPr>
              <a:t>。</a:t>
            </a:r>
          </a:p>
        </p:txBody>
      </p:sp>
      <p:grpSp>
        <p:nvGrpSpPr>
          <p:cNvPr id="684072" name="Group 40"/>
          <p:cNvGrpSpPr>
            <a:grpSpLocks/>
          </p:cNvGrpSpPr>
          <p:nvPr/>
        </p:nvGrpSpPr>
        <p:grpSpPr bwMode="auto">
          <a:xfrm>
            <a:off x="5336538" y="4064527"/>
            <a:ext cx="6786103" cy="1823481"/>
            <a:chOff x="1167" y="1452"/>
            <a:chExt cx="3580" cy="1185"/>
          </a:xfrm>
        </p:grpSpPr>
        <p:sp>
          <p:nvSpPr>
            <p:cNvPr id="66567" name="Rectangle 41"/>
            <p:cNvSpPr>
              <a:spLocks noChangeArrowheads="1"/>
            </p:cNvSpPr>
            <p:nvPr/>
          </p:nvSpPr>
          <p:spPr bwMode="auto">
            <a:xfrm>
              <a:off x="2803" y="1583"/>
              <a:ext cx="1924" cy="899"/>
            </a:xfrm>
            <a:prstGeom prst="rect">
              <a:avLst/>
            </a:prstGeom>
            <a:solidFill>
              <a:srgbClr val="FBDEFE"/>
            </a:solidFill>
            <a:ln w="28575">
              <a:solidFill>
                <a:srgbClr val="CC00FF"/>
              </a:solidFill>
              <a:miter lim="800000"/>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68" name="Oval 42"/>
            <p:cNvSpPr>
              <a:spLocks noChangeArrowheads="1"/>
            </p:cNvSpPr>
            <p:nvPr/>
          </p:nvSpPr>
          <p:spPr bwMode="auto">
            <a:xfrm>
              <a:off x="2793"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69" name="Oval 43"/>
            <p:cNvSpPr>
              <a:spLocks noChangeArrowheads="1"/>
            </p:cNvSpPr>
            <p:nvPr/>
          </p:nvSpPr>
          <p:spPr bwMode="auto">
            <a:xfrm>
              <a:off x="2843"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70" name="Oval 44"/>
            <p:cNvSpPr>
              <a:spLocks noChangeArrowheads="1"/>
            </p:cNvSpPr>
            <p:nvPr/>
          </p:nvSpPr>
          <p:spPr bwMode="auto">
            <a:xfrm>
              <a:off x="2958"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71" name="Oval 45"/>
            <p:cNvSpPr>
              <a:spLocks noChangeArrowheads="1"/>
            </p:cNvSpPr>
            <p:nvPr/>
          </p:nvSpPr>
          <p:spPr bwMode="auto">
            <a:xfrm>
              <a:off x="3008"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72" name="Oval 46"/>
            <p:cNvSpPr>
              <a:spLocks noChangeArrowheads="1"/>
            </p:cNvSpPr>
            <p:nvPr/>
          </p:nvSpPr>
          <p:spPr bwMode="auto">
            <a:xfrm>
              <a:off x="3123"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73" name="Oval 47"/>
            <p:cNvSpPr>
              <a:spLocks noChangeArrowheads="1"/>
            </p:cNvSpPr>
            <p:nvPr/>
          </p:nvSpPr>
          <p:spPr bwMode="auto">
            <a:xfrm>
              <a:off x="3173"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74" name="Oval 48"/>
            <p:cNvSpPr>
              <a:spLocks noChangeArrowheads="1"/>
            </p:cNvSpPr>
            <p:nvPr/>
          </p:nvSpPr>
          <p:spPr bwMode="auto">
            <a:xfrm>
              <a:off x="3289"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75" name="Oval 49"/>
            <p:cNvSpPr>
              <a:spLocks noChangeArrowheads="1"/>
            </p:cNvSpPr>
            <p:nvPr/>
          </p:nvSpPr>
          <p:spPr bwMode="auto">
            <a:xfrm>
              <a:off x="3339"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76" name="Oval 50"/>
            <p:cNvSpPr>
              <a:spLocks noChangeArrowheads="1"/>
            </p:cNvSpPr>
            <p:nvPr/>
          </p:nvSpPr>
          <p:spPr bwMode="auto">
            <a:xfrm>
              <a:off x="3454"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77" name="Oval 51"/>
            <p:cNvSpPr>
              <a:spLocks noChangeArrowheads="1"/>
            </p:cNvSpPr>
            <p:nvPr/>
          </p:nvSpPr>
          <p:spPr bwMode="auto">
            <a:xfrm>
              <a:off x="3504"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78" name="Oval 52"/>
            <p:cNvSpPr>
              <a:spLocks noChangeArrowheads="1"/>
            </p:cNvSpPr>
            <p:nvPr/>
          </p:nvSpPr>
          <p:spPr bwMode="auto">
            <a:xfrm>
              <a:off x="3620"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79" name="Oval 53"/>
            <p:cNvSpPr>
              <a:spLocks noChangeArrowheads="1"/>
            </p:cNvSpPr>
            <p:nvPr/>
          </p:nvSpPr>
          <p:spPr bwMode="auto">
            <a:xfrm>
              <a:off x="3670"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80" name="Oval 54"/>
            <p:cNvSpPr>
              <a:spLocks noChangeArrowheads="1"/>
            </p:cNvSpPr>
            <p:nvPr/>
          </p:nvSpPr>
          <p:spPr bwMode="auto">
            <a:xfrm>
              <a:off x="3785"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81" name="Oval 55"/>
            <p:cNvSpPr>
              <a:spLocks noChangeArrowheads="1"/>
            </p:cNvSpPr>
            <p:nvPr/>
          </p:nvSpPr>
          <p:spPr bwMode="auto">
            <a:xfrm>
              <a:off x="3835"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82" name="Oval 56"/>
            <p:cNvSpPr>
              <a:spLocks noChangeArrowheads="1"/>
            </p:cNvSpPr>
            <p:nvPr/>
          </p:nvSpPr>
          <p:spPr bwMode="auto">
            <a:xfrm>
              <a:off x="3951"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83" name="Oval 57"/>
            <p:cNvSpPr>
              <a:spLocks noChangeArrowheads="1"/>
            </p:cNvSpPr>
            <p:nvPr/>
          </p:nvSpPr>
          <p:spPr bwMode="auto">
            <a:xfrm>
              <a:off x="4001"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84" name="Oval 58"/>
            <p:cNvSpPr>
              <a:spLocks noChangeArrowheads="1"/>
            </p:cNvSpPr>
            <p:nvPr/>
          </p:nvSpPr>
          <p:spPr bwMode="auto">
            <a:xfrm>
              <a:off x="4116"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85" name="Oval 59"/>
            <p:cNvSpPr>
              <a:spLocks noChangeArrowheads="1"/>
            </p:cNvSpPr>
            <p:nvPr/>
          </p:nvSpPr>
          <p:spPr bwMode="auto">
            <a:xfrm>
              <a:off x="4166"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86" name="Oval 60"/>
            <p:cNvSpPr>
              <a:spLocks noChangeArrowheads="1"/>
            </p:cNvSpPr>
            <p:nvPr/>
          </p:nvSpPr>
          <p:spPr bwMode="auto">
            <a:xfrm>
              <a:off x="4282"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87" name="Oval 61"/>
            <p:cNvSpPr>
              <a:spLocks noChangeArrowheads="1"/>
            </p:cNvSpPr>
            <p:nvPr/>
          </p:nvSpPr>
          <p:spPr bwMode="auto">
            <a:xfrm>
              <a:off x="4332"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88" name="Oval 62"/>
            <p:cNvSpPr>
              <a:spLocks noChangeArrowheads="1"/>
            </p:cNvSpPr>
            <p:nvPr/>
          </p:nvSpPr>
          <p:spPr bwMode="auto">
            <a:xfrm>
              <a:off x="4447"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89" name="Oval 63"/>
            <p:cNvSpPr>
              <a:spLocks noChangeArrowheads="1"/>
            </p:cNvSpPr>
            <p:nvPr/>
          </p:nvSpPr>
          <p:spPr bwMode="auto">
            <a:xfrm>
              <a:off x="4497"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90" name="Oval 64"/>
            <p:cNvSpPr>
              <a:spLocks noChangeArrowheads="1"/>
            </p:cNvSpPr>
            <p:nvPr/>
          </p:nvSpPr>
          <p:spPr bwMode="auto">
            <a:xfrm>
              <a:off x="4613" y="1452"/>
              <a:ext cx="134" cy="134"/>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lang="zh-CN" altLang="en-US">
                <a:latin typeface="黑体" pitchFamily="49" charset="-122"/>
                <a:ea typeface="黑体" pitchFamily="49" charset="-122"/>
              </a:endParaRPr>
            </a:p>
          </p:txBody>
        </p:sp>
        <p:sp>
          <p:nvSpPr>
            <p:cNvPr id="66591" name="Oval 65"/>
            <p:cNvSpPr>
              <a:spLocks noChangeArrowheads="1"/>
            </p:cNvSpPr>
            <p:nvPr/>
          </p:nvSpPr>
          <p:spPr bwMode="auto">
            <a:xfrm>
              <a:off x="4663" y="1502"/>
              <a:ext cx="34" cy="34"/>
            </a:xfrm>
            <a:prstGeom prst="ellipse">
              <a:avLst/>
            </a:prstGeom>
            <a:solidFill>
              <a:schemeClr val="tx2"/>
            </a:solidFill>
            <a:ln w="19050">
              <a:solidFill>
                <a:srgbClr val="CC00FF"/>
              </a:solidFill>
              <a:round/>
              <a:headEnd/>
              <a:tailEnd type="none" w="med" len="lg"/>
            </a:ln>
          </p:spPr>
          <p:txBody>
            <a:bodyPr wrap="none" anchor="ctr"/>
            <a:lstStyle/>
            <a:p>
              <a:pPr eaLnBrk="1" hangingPunct="1"/>
              <a:endParaRPr lang="zh-CN" altLang="en-US">
                <a:latin typeface="黑体" pitchFamily="49" charset="-122"/>
                <a:ea typeface="黑体" pitchFamily="49" charset="-122"/>
              </a:endParaRPr>
            </a:p>
          </p:txBody>
        </p:sp>
        <p:sp>
          <p:nvSpPr>
            <p:cNvPr id="66592" name="Oval 66"/>
            <p:cNvSpPr>
              <a:spLocks noChangeArrowheads="1"/>
            </p:cNvSpPr>
            <p:nvPr/>
          </p:nvSpPr>
          <p:spPr bwMode="auto">
            <a:xfrm>
              <a:off x="2792"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3" name="Oval 67"/>
            <p:cNvSpPr>
              <a:spLocks noChangeArrowheads="1"/>
            </p:cNvSpPr>
            <p:nvPr/>
          </p:nvSpPr>
          <p:spPr bwMode="auto">
            <a:xfrm>
              <a:off x="2970"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4" name="Oval 68"/>
            <p:cNvSpPr>
              <a:spLocks noChangeArrowheads="1"/>
            </p:cNvSpPr>
            <p:nvPr/>
          </p:nvSpPr>
          <p:spPr bwMode="auto">
            <a:xfrm>
              <a:off x="3148"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5" name="Oval 69"/>
            <p:cNvSpPr>
              <a:spLocks noChangeArrowheads="1"/>
            </p:cNvSpPr>
            <p:nvPr/>
          </p:nvSpPr>
          <p:spPr bwMode="auto">
            <a:xfrm>
              <a:off x="3326"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6" name="Oval 70"/>
            <p:cNvSpPr>
              <a:spLocks noChangeArrowheads="1"/>
            </p:cNvSpPr>
            <p:nvPr/>
          </p:nvSpPr>
          <p:spPr bwMode="auto">
            <a:xfrm>
              <a:off x="3504"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7" name="Oval 71"/>
            <p:cNvSpPr>
              <a:spLocks noChangeArrowheads="1"/>
            </p:cNvSpPr>
            <p:nvPr/>
          </p:nvSpPr>
          <p:spPr bwMode="auto">
            <a:xfrm>
              <a:off x="3682"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8" name="Oval 72"/>
            <p:cNvSpPr>
              <a:spLocks noChangeArrowheads="1"/>
            </p:cNvSpPr>
            <p:nvPr/>
          </p:nvSpPr>
          <p:spPr bwMode="auto">
            <a:xfrm>
              <a:off x="3860"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599" name="Oval 73"/>
            <p:cNvSpPr>
              <a:spLocks noChangeArrowheads="1"/>
            </p:cNvSpPr>
            <p:nvPr/>
          </p:nvSpPr>
          <p:spPr bwMode="auto">
            <a:xfrm>
              <a:off x="4038"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600" name="Oval 74"/>
            <p:cNvSpPr>
              <a:spLocks noChangeArrowheads="1"/>
            </p:cNvSpPr>
            <p:nvPr/>
          </p:nvSpPr>
          <p:spPr bwMode="auto">
            <a:xfrm>
              <a:off x="4216"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601" name="Oval 75"/>
            <p:cNvSpPr>
              <a:spLocks noChangeArrowheads="1"/>
            </p:cNvSpPr>
            <p:nvPr/>
          </p:nvSpPr>
          <p:spPr bwMode="auto">
            <a:xfrm>
              <a:off x="4394"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602" name="Oval 76"/>
            <p:cNvSpPr>
              <a:spLocks noChangeArrowheads="1"/>
            </p:cNvSpPr>
            <p:nvPr/>
          </p:nvSpPr>
          <p:spPr bwMode="auto">
            <a:xfrm>
              <a:off x="4572" y="2492"/>
              <a:ext cx="145" cy="145"/>
            </a:xfrm>
            <a:prstGeom prst="ellipse">
              <a:avLst/>
            </a:prstGeom>
            <a:noFill/>
            <a:ln w="19050">
              <a:solidFill>
                <a:srgbClr val="CC00FF"/>
              </a:solidFill>
              <a:round/>
              <a:headEnd/>
              <a:tailEnd type="none" w="med" len="lg"/>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lnSpc>
                  <a:spcPct val="80000"/>
                </a:lnSpc>
              </a:pPr>
              <a:r>
                <a:rPr kumimoji="1" lang="en-US" altLang="zh-CN" sz="2000">
                  <a:solidFill>
                    <a:srgbClr val="CC00FF"/>
                  </a:solidFill>
                  <a:latin typeface="黑体" pitchFamily="49" charset="-122"/>
                  <a:ea typeface="黑体" pitchFamily="49" charset="-122"/>
                  <a:sym typeface="Symbol" pitchFamily="18" charset="2"/>
                </a:rPr>
                <a:t></a:t>
              </a:r>
              <a:endParaRPr kumimoji="1" lang="en-US" altLang="zh-CN" sz="2800">
                <a:solidFill>
                  <a:srgbClr val="CC00FF"/>
                </a:solidFill>
                <a:latin typeface="黑体" pitchFamily="49" charset="-122"/>
                <a:ea typeface="黑体" pitchFamily="49" charset="-122"/>
              </a:endParaRPr>
            </a:p>
          </p:txBody>
        </p:sp>
        <p:sp>
          <p:nvSpPr>
            <p:cNvPr id="66603" name="Freeform 77"/>
            <p:cNvSpPr>
              <a:spLocks/>
            </p:cNvSpPr>
            <p:nvPr/>
          </p:nvSpPr>
          <p:spPr bwMode="auto">
            <a:xfrm>
              <a:off x="2803" y="1840"/>
              <a:ext cx="1904" cy="372"/>
            </a:xfrm>
            <a:custGeom>
              <a:avLst/>
              <a:gdLst>
                <a:gd name="T0" fmla="*/ 0 w 1904"/>
                <a:gd name="T1" fmla="*/ 165 h 372"/>
                <a:gd name="T2" fmla="*/ 414 w 1904"/>
                <a:gd name="T3" fmla="*/ 82 h 372"/>
                <a:gd name="T4" fmla="*/ 890 w 1904"/>
                <a:gd name="T5" fmla="*/ 0 h 372"/>
                <a:gd name="T6" fmla="*/ 1211 w 1904"/>
                <a:gd name="T7" fmla="*/ 31 h 372"/>
                <a:gd name="T8" fmla="*/ 1531 w 1904"/>
                <a:gd name="T9" fmla="*/ 124 h 372"/>
                <a:gd name="T10" fmla="*/ 1904 w 1904"/>
                <a:gd name="T11" fmla="*/ 186 h 372"/>
                <a:gd name="T12" fmla="*/ 1655 w 1904"/>
                <a:gd name="T13" fmla="*/ 289 h 372"/>
                <a:gd name="T14" fmla="*/ 1045 w 1904"/>
                <a:gd name="T15" fmla="*/ 372 h 372"/>
                <a:gd name="T16" fmla="*/ 662 w 1904"/>
                <a:gd name="T17" fmla="*/ 362 h 372"/>
                <a:gd name="T18" fmla="*/ 290 w 1904"/>
                <a:gd name="T19" fmla="*/ 279 h 372"/>
                <a:gd name="T20" fmla="*/ 0 w 1904"/>
                <a:gd name="T21" fmla="*/ 165 h 3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4" h="372">
                  <a:moveTo>
                    <a:pt x="0" y="165"/>
                  </a:moveTo>
                  <a:lnTo>
                    <a:pt x="414" y="82"/>
                  </a:lnTo>
                  <a:lnTo>
                    <a:pt x="890" y="0"/>
                  </a:lnTo>
                  <a:lnTo>
                    <a:pt x="1211" y="31"/>
                  </a:lnTo>
                  <a:lnTo>
                    <a:pt x="1531" y="124"/>
                  </a:lnTo>
                  <a:lnTo>
                    <a:pt x="1904" y="186"/>
                  </a:lnTo>
                  <a:lnTo>
                    <a:pt x="1655" y="289"/>
                  </a:lnTo>
                  <a:lnTo>
                    <a:pt x="1045" y="372"/>
                  </a:lnTo>
                  <a:lnTo>
                    <a:pt x="662" y="362"/>
                  </a:lnTo>
                  <a:lnTo>
                    <a:pt x="290" y="279"/>
                  </a:lnTo>
                  <a:lnTo>
                    <a:pt x="0" y="165"/>
                  </a:lnTo>
                  <a:close/>
                </a:path>
              </a:pathLst>
            </a:custGeom>
            <a:gradFill rotWithShape="0">
              <a:gsLst>
                <a:gs pos="0">
                  <a:srgbClr val="4D0808"/>
                </a:gs>
                <a:gs pos="30000">
                  <a:srgbClr val="FF0300"/>
                </a:gs>
                <a:gs pos="55000">
                  <a:srgbClr val="FF7A00"/>
                </a:gs>
                <a:gs pos="100000">
                  <a:srgbClr val="FFF200"/>
                </a:gs>
              </a:gsLst>
              <a:lin ang="0" scaled="1"/>
            </a:gradFill>
            <a:ln w="19050" cap="flat" cmpd="sng">
              <a:solidFill>
                <a:schemeClr val="tx1"/>
              </a:solidFill>
              <a:prstDash val="solid"/>
              <a:round/>
              <a:headEnd type="none" w="med" len="med"/>
              <a:tailEnd type="none" w="med" len="lg"/>
            </a:ln>
          </p:spPr>
          <p:txBody>
            <a:bodyPr wrap="none" anchor="ctr"/>
            <a:lstStyle/>
            <a:p>
              <a:endParaRPr lang="zh-CN" altLang="en-US">
                <a:latin typeface="黑体" pitchFamily="49" charset="-122"/>
                <a:ea typeface="黑体" pitchFamily="49" charset="-122"/>
              </a:endParaRPr>
            </a:p>
          </p:txBody>
        </p:sp>
        <p:sp>
          <p:nvSpPr>
            <p:cNvPr id="66604" name="Freeform 78"/>
            <p:cNvSpPr>
              <a:spLocks/>
            </p:cNvSpPr>
            <p:nvPr/>
          </p:nvSpPr>
          <p:spPr bwMode="auto">
            <a:xfrm>
              <a:off x="2803" y="1845"/>
              <a:ext cx="1925" cy="183"/>
            </a:xfrm>
            <a:custGeom>
              <a:avLst/>
              <a:gdLst>
                <a:gd name="T0" fmla="*/ 0 w 1925"/>
                <a:gd name="T1" fmla="*/ 171 h 183"/>
                <a:gd name="T2" fmla="*/ 528 w 1925"/>
                <a:gd name="T3" fmla="*/ 57 h 183"/>
                <a:gd name="T4" fmla="*/ 880 w 1925"/>
                <a:gd name="T5" fmla="*/ 5 h 183"/>
                <a:gd name="T6" fmla="*/ 1221 w 1925"/>
                <a:gd name="T7" fmla="*/ 26 h 183"/>
                <a:gd name="T8" fmla="*/ 1552 w 1925"/>
                <a:gd name="T9" fmla="*/ 129 h 183"/>
                <a:gd name="T10" fmla="*/ 1841 w 1925"/>
                <a:gd name="T11" fmla="*/ 175 h 183"/>
                <a:gd name="T12" fmla="*/ 1925 w 1925"/>
                <a:gd name="T13" fmla="*/ 175 h 1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5" h="183">
                  <a:moveTo>
                    <a:pt x="0" y="171"/>
                  </a:moveTo>
                  <a:cubicBezTo>
                    <a:pt x="191" y="128"/>
                    <a:pt x="382" y="85"/>
                    <a:pt x="528" y="57"/>
                  </a:cubicBezTo>
                  <a:cubicBezTo>
                    <a:pt x="674" y="29"/>
                    <a:pt x="765" y="10"/>
                    <a:pt x="880" y="5"/>
                  </a:cubicBezTo>
                  <a:cubicBezTo>
                    <a:pt x="995" y="0"/>
                    <a:pt x="1109" y="5"/>
                    <a:pt x="1221" y="26"/>
                  </a:cubicBezTo>
                  <a:cubicBezTo>
                    <a:pt x="1333" y="47"/>
                    <a:pt x="1449" y="104"/>
                    <a:pt x="1552" y="129"/>
                  </a:cubicBezTo>
                  <a:cubicBezTo>
                    <a:pt x="1655" y="154"/>
                    <a:pt x="1779" y="167"/>
                    <a:pt x="1841" y="175"/>
                  </a:cubicBezTo>
                  <a:cubicBezTo>
                    <a:pt x="1903" y="183"/>
                    <a:pt x="1908" y="175"/>
                    <a:pt x="1925" y="175"/>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05" name="Freeform 79"/>
            <p:cNvSpPr>
              <a:spLocks/>
            </p:cNvSpPr>
            <p:nvPr/>
          </p:nvSpPr>
          <p:spPr bwMode="auto">
            <a:xfrm>
              <a:off x="2814" y="1917"/>
              <a:ext cx="1913" cy="121"/>
            </a:xfrm>
            <a:custGeom>
              <a:avLst/>
              <a:gdLst>
                <a:gd name="T0" fmla="*/ 0 w 1913"/>
                <a:gd name="T1" fmla="*/ 99 h 121"/>
                <a:gd name="T2" fmla="*/ 703 w 1913"/>
                <a:gd name="T3" fmla="*/ 16 h 121"/>
                <a:gd name="T4" fmla="*/ 900 w 1913"/>
                <a:gd name="T5" fmla="*/ 5 h 121"/>
                <a:gd name="T6" fmla="*/ 1210 w 1913"/>
                <a:gd name="T7" fmla="*/ 37 h 121"/>
                <a:gd name="T8" fmla="*/ 1500 w 1913"/>
                <a:gd name="T9" fmla="*/ 109 h 121"/>
                <a:gd name="T10" fmla="*/ 1841 w 1913"/>
                <a:gd name="T11" fmla="*/ 109 h 121"/>
                <a:gd name="T12" fmla="*/ 1913 w 1913"/>
                <a:gd name="T13" fmla="*/ 88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3" h="121">
                  <a:moveTo>
                    <a:pt x="0" y="99"/>
                  </a:moveTo>
                  <a:cubicBezTo>
                    <a:pt x="117" y="85"/>
                    <a:pt x="553" y="32"/>
                    <a:pt x="703" y="16"/>
                  </a:cubicBezTo>
                  <a:cubicBezTo>
                    <a:pt x="853" y="0"/>
                    <a:pt x="816" y="2"/>
                    <a:pt x="900" y="5"/>
                  </a:cubicBezTo>
                  <a:cubicBezTo>
                    <a:pt x="984" y="8"/>
                    <a:pt x="1110" y="20"/>
                    <a:pt x="1210" y="37"/>
                  </a:cubicBezTo>
                  <a:cubicBezTo>
                    <a:pt x="1310" y="54"/>
                    <a:pt x="1395" y="97"/>
                    <a:pt x="1500" y="109"/>
                  </a:cubicBezTo>
                  <a:cubicBezTo>
                    <a:pt x="1605" y="121"/>
                    <a:pt x="1772" y="112"/>
                    <a:pt x="1841" y="109"/>
                  </a:cubicBezTo>
                  <a:cubicBezTo>
                    <a:pt x="1910" y="106"/>
                    <a:pt x="1898" y="93"/>
                    <a:pt x="1913" y="88"/>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06" name="Freeform 80"/>
            <p:cNvSpPr>
              <a:spLocks/>
            </p:cNvSpPr>
            <p:nvPr/>
          </p:nvSpPr>
          <p:spPr bwMode="auto">
            <a:xfrm>
              <a:off x="2814" y="1989"/>
              <a:ext cx="1913" cy="49"/>
            </a:xfrm>
            <a:custGeom>
              <a:avLst/>
              <a:gdLst>
                <a:gd name="T0" fmla="*/ 0 w 1913"/>
                <a:gd name="T1" fmla="*/ 0 h 121"/>
                <a:gd name="T2" fmla="*/ 703 w 1913"/>
                <a:gd name="T3" fmla="*/ 0 h 121"/>
                <a:gd name="T4" fmla="*/ 900 w 1913"/>
                <a:gd name="T5" fmla="*/ 0 h 121"/>
                <a:gd name="T6" fmla="*/ 1210 w 1913"/>
                <a:gd name="T7" fmla="*/ 0 h 121"/>
                <a:gd name="T8" fmla="*/ 1500 w 1913"/>
                <a:gd name="T9" fmla="*/ 0 h 121"/>
                <a:gd name="T10" fmla="*/ 1841 w 1913"/>
                <a:gd name="T11" fmla="*/ 0 h 121"/>
                <a:gd name="T12" fmla="*/ 1913 w 1913"/>
                <a:gd name="T13" fmla="*/ 0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3" h="121">
                  <a:moveTo>
                    <a:pt x="0" y="99"/>
                  </a:moveTo>
                  <a:cubicBezTo>
                    <a:pt x="117" y="85"/>
                    <a:pt x="553" y="32"/>
                    <a:pt x="703" y="16"/>
                  </a:cubicBezTo>
                  <a:cubicBezTo>
                    <a:pt x="853" y="0"/>
                    <a:pt x="816" y="2"/>
                    <a:pt x="900" y="5"/>
                  </a:cubicBezTo>
                  <a:cubicBezTo>
                    <a:pt x="984" y="8"/>
                    <a:pt x="1110" y="20"/>
                    <a:pt x="1210" y="37"/>
                  </a:cubicBezTo>
                  <a:cubicBezTo>
                    <a:pt x="1310" y="54"/>
                    <a:pt x="1395" y="97"/>
                    <a:pt x="1500" y="109"/>
                  </a:cubicBezTo>
                  <a:cubicBezTo>
                    <a:pt x="1605" y="121"/>
                    <a:pt x="1772" y="112"/>
                    <a:pt x="1841" y="109"/>
                  </a:cubicBezTo>
                  <a:cubicBezTo>
                    <a:pt x="1910" y="106"/>
                    <a:pt x="1898" y="93"/>
                    <a:pt x="1913" y="88"/>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07" name="Freeform 81"/>
            <p:cNvSpPr>
              <a:spLocks/>
            </p:cNvSpPr>
            <p:nvPr/>
          </p:nvSpPr>
          <p:spPr bwMode="auto">
            <a:xfrm>
              <a:off x="2803" y="2026"/>
              <a:ext cx="1919" cy="133"/>
            </a:xfrm>
            <a:custGeom>
              <a:avLst/>
              <a:gdLst>
                <a:gd name="T0" fmla="*/ 0 w 1919"/>
                <a:gd name="T1" fmla="*/ 12 h 133"/>
                <a:gd name="T2" fmla="*/ 528 w 1919"/>
                <a:gd name="T3" fmla="*/ 85 h 133"/>
                <a:gd name="T4" fmla="*/ 880 w 1919"/>
                <a:gd name="T5" fmla="*/ 118 h 133"/>
                <a:gd name="T6" fmla="*/ 1211 w 1919"/>
                <a:gd name="T7" fmla="*/ 124 h 133"/>
                <a:gd name="T8" fmla="*/ 1573 w 1919"/>
                <a:gd name="T9" fmla="*/ 62 h 133"/>
                <a:gd name="T10" fmla="*/ 1842 w 1919"/>
                <a:gd name="T11" fmla="*/ 25 h 133"/>
                <a:gd name="T12" fmla="*/ 1919 w 1919"/>
                <a:gd name="T13" fmla="*/ 0 h 1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9" h="133">
                  <a:moveTo>
                    <a:pt x="0" y="12"/>
                  </a:moveTo>
                  <a:cubicBezTo>
                    <a:pt x="191" y="39"/>
                    <a:pt x="382" y="67"/>
                    <a:pt x="528" y="85"/>
                  </a:cubicBezTo>
                  <a:cubicBezTo>
                    <a:pt x="674" y="103"/>
                    <a:pt x="766" y="112"/>
                    <a:pt x="880" y="118"/>
                  </a:cubicBezTo>
                  <a:cubicBezTo>
                    <a:pt x="994" y="124"/>
                    <a:pt x="1096" y="133"/>
                    <a:pt x="1211" y="124"/>
                  </a:cubicBezTo>
                  <a:cubicBezTo>
                    <a:pt x="1326" y="115"/>
                    <a:pt x="1468" y="78"/>
                    <a:pt x="1573" y="62"/>
                  </a:cubicBezTo>
                  <a:cubicBezTo>
                    <a:pt x="1678" y="46"/>
                    <a:pt x="1784" y="35"/>
                    <a:pt x="1842" y="25"/>
                  </a:cubicBezTo>
                  <a:cubicBezTo>
                    <a:pt x="1900" y="15"/>
                    <a:pt x="1903" y="5"/>
                    <a:pt x="1919" y="0"/>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08" name="Freeform 82"/>
            <p:cNvSpPr>
              <a:spLocks/>
            </p:cNvSpPr>
            <p:nvPr/>
          </p:nvSpPr>
          <p:spPr bwMode="auto">
            <a:xfrm>
              <a:off x="2814" y="1989"/>
              <a:ext cx="1913" cy="49"/>
            </a:xfrm>
            <a:custGeom>
              <a:avLst/>
              <a:gdLst>
                <a:gd name="T0" fmla="*/ 0 w 1913"/>
                <a:gd name="T1" fmla="*/ 0 h 121"/>
                <a:gd name="T2" fmla="*/ 703 w 1913"/>
                <a:gd name="T3" fmla="*/ 0 h 121"/>
                <a:gd name="T4" fmla="*/ 900 w 1913"/>
                <a:gd name="T5" fmla="*/ 0 h 121"/>
                <a:gd name="T6" fmla="*/ 1210 w 1913"/>
                <a:gd name="T7" fmla="*/ 0 h 121"/>
                <a:gd name="T8" fmla="*/ 1500 w 1913"/>
                <a:gd name="T9" fmla="*/ 0 h 121"/>
                <a:gd name="T10" fmla="*/ 1841 w 1913"/>
                <a:gd name="T11" fmla="*/ 0 h 121"/>
                <a:gd name="T12" fmla="*/ 1913 w 1913"/>
                <a:gd name="T13" fmla="*/ 0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3" h="121">
                  <a:moveTo>
                    <a:pt x="0" y="99"/>
                  </a:moveTo>
                  <a:cubicBezTo>
                    <a:pt x="117" y="85"/>
                    <a:pt x="553" y="32"/>
                    <a:pt x="703" y="16"/>
                  </a:cubicBezTo>
                  <a:cubicBezTo>
                    <a:pt x="853" y="0"/>
                    <a:pt x="816" y="2"/>
                    <a:pt x="900" y="5"/>
                  </a:cubicBezTo>
                  <a:cubicBezTo>
                    <a:pt x="984" y="8"/>
                    <a:pt x="1110" y="20"/>
                    <a:pt x="1210" y="37"/>
                  </a:cubicBezTo>
                  <a:cubicBezTo>
                    <a:pt x="1310" y="54"/>
                    <a:pt x="1395" y="97"/>
                    <a:pt x="1500" y="109"/>
                  </a:cubicBezTo>
                  <a:cubicBezTo>
                    <a:pt x="1605" y="121"/>
                    <a:pt x="1772" y="112"/>
                    <a:pt x="1841" y="109"/>
                  </a:cubicBezTo>
                  <a:cubicBezTo>
                    <a:pt x="1910" y="106"/>
                    <a:pt x="1898" y="93"/>
                    <a:pt x="1913" y="88"/>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09" name="Freeform 83"/>
            <p:cNvSpPr>
              <a:spLocks/>
            </p:cNvSpPr>
            <p:nvPr/>
          </p:nvSpPr>
          <p:spPr bwMode="auto">
            <a:xfrm>
              <a:off x="2814" y="2014"/>
              <a:ext cx="1905" cy="76"/>
            </a:xfrm>
            <a:custGeom>
              <a:avLst/>
              <a:gdLst>
                <a:gd name="T0" fmla="*/ 0 w 1905"/>
                <a:gd name="T1" fmla="*/ 12 h 76"/>
                <a:gd name="T2" fmla="*/ 734 w 1905"/>
                <a:gd name="T3" fmla="*/ 53 h 76"/>
                <a:gd name="T4" fmla="*/ 962 w 1905"/>
                <a:gd name="T5" fmla="*/ 64 h 76"/>
                <a:gd name="T6" fmla="*/ 1210 w 1905"/>
                <a:gd name="T7" fmla="*/ 74 h 76"/>
                <a:gd name="T8" fmla="*/ 1520 w 1905"/>
                <a:gd name="T9" fmla="*/ 53 h 76"/>
                <a:gd name="T10" fmla="*/ 1841 w 1905"/>
                <a:gd name="T11" fmla="*/ 6 h 76"/>
                <a:gd name="T12" fmla="*/ 1902 w 1905"/>
                <a:gd name="T13" fmla="*/ 18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05" h="76">
                  <a:moveTo>
                    <a:pt x="0" y="12"/>
                  </a:moveTo>
                  <a:cubicBezTo>
                    <a:pt x="122" y="19"/>
                    <a:pt x="574" y="44"/>
                    <a:pt x="734" y="53"/>
                  </a:cubicBezTo>
                  <a:cubicBezTo>
                    <a:pt x="894" y="62"/>
                    <a:pt x="883" y="60"/>
                    <a:pt x="962" y="64"/>
                  </a:cubicBezTo>
                  <a:cubicBezTo>
                    <a:pt x="1041" y="68"/>
                    <a:pt x="1117" y="76"/>
                    <a:pt x="1210" y="74"/>
                  </a:cubicBezTo>
                  <a:cubicBezTo>
                    <a:pt x="1303" y="72"/>
                    <a:pt x="1415" y="64"/>
                    <a:pt x="1520" y="53"/>
                  </a:cubicBezTo>
                  <a:cubicBezTo>
                    <a:pt x="1625" y="42"/>
                    <a:pt x="1777" y="12"/>
                    <a:pt x="1841" y="6"/>
                  </a:cubicBezTo>
                  <a:cubicBezTo>
                    <a:pt x="1905" y="0"/>
                    <a:pt x="1889" y="16"/>
                    <a:pt x="1902" y="18"/>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0" name="Freeform 84"/>
            <p:cNvSpPr>
              <a:spLocks/>
            </p:cNvSpPr>
            <p:nvPr/>
          </p:nvSpPr>
          <p:spPr bwMode="auto">
            <a:xfrm>
              <a:off x="2803" y="1996"/>
              <a:ext cx="1934" cy="210"/>
            </a:xfrm>
            <a:custGeom>
              <a:avLst/>
              <a:gdLst>
                <a:gd name="T0" fmla="*/ 0 w 1955"/>
                <a:gd name="T1" fmla="*/ 31 h 210"/>
                <a:gd name="T2" fmla="*/ 539 w 1955"/>
                <a:gd name="T3" fmla="*/ 186 h 210"/>
                <a:gd name="T4" fmla="*/ 853 w 1955"/>
                <a:gd name="T5" fmla="*/ 175 h 210"/>
                <a:gd name="T6" fmla="*/ 1139 w 1955"/>
                <a:gd name="T7" fmla="*/ 103 h 210"/>
                <a:gd name="T8" fmla="*/ 1354 w 1955"/>
                <a:gd name="T9" fmla="*/ 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5" h="210">
                  <a:moveTo>
                    <a:pt x="0" y="31"/>
                  </a:moveTo>
                  <a:cubicBezTo>
                    <a:pt x="285" y="96"/>
                    <a:pt x="571" y="162"/>
                    <a:pt x="776" y="186"/>
                  </a:cubicBezTo>
                  <a:cubicBezTo>
                    <a:pt x="981" y="210"/>
                    <a:pt x="1086" y="189"/>
                    <a:pt x="1231" y="175"/>
                  </a:cubicBezTo>
                  <a:cubicBezTo>
                    <a:pt x="1376" y="161"/>
                    <a:pt x="1524" y="132"/>
                    <a:pt x="1645" y="103"/>
                  </a:cubicBezTo>
                  <a:cubicBezTo>
                    <a:pt x="1766" y="74"/>
                    <a:pt x="1860" y="37"/>
                    <a:pt x="1955" y="0"/>
                  </a:cubicBezTo>
                </a:path>
              </a:pathLst>
            </a:custGeom>
            <a:noFill/>
            <a:ln w="1905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1" name="Freeform 85"/>
            <p:cNvSpPr>
              <a:spLocks/>
            </p:cNvSpPr>
            <p:nvPr/>
          </p:nvSpPr>
          <p:spPr bwMode="auto">
            <a:xfrm>
              <a:off x="2561" y="1749"/>
              <a:ext cx="134" cy="238"/>
            </a:xfrm>
            <a:custGeom>
              <a:avLst/>
              <a:gdLst>
                <a:gd name="T0" fmla="*/ 134 w 134"/>
                <a:gd name="T1" fmla="*/ 0 h 238"/>
                <a:gd name="T2" fmla="*/ 0 w 134"/>
                <a:gd name="T3" fmla="*/ 0 h 238"/>
                <a:gd name="T4" fmla="*/ 0 w 134"/>
                <a:gd name="T5" fmla="*/ 238 h 238"/>
                <a:gd name="T6" fmla="*/ 0 60000 65536"/>
                <a:gd name="T7" fmla="*/ 0 60000 65536"/>
                <a:gd name="T8" fmla="*/ 0 60000 65536"/>
              </a:gdLst>
              <a:ahLst/>
              <a:cxnLst>
                <a:cxn ang="T6">
                  <a:pos x="T0" y="T1"/>
                </a:cxn>
                <a:cxn ang="T7">
                  <a:pos x="T2" y="T3"/>
                </a:cxn>
                <a:cxn ang="T8">
                  <a:pos x="T4" y="T5"/>
                </a:cxn>
              </a:cxnLst>
              <a:rect l="0" t="0" r="r" b="b"/>
              <a:pathLst>
                <a:path w="134" h="238">
                  <a:moveTo>
                    <a:pt x="134" y="0"/>
                  </a:moveTo>
                  <a:lnTo>
                    <a:pt x="0" y="0"/>
                  </a:lnTo>
                  <a:lnTo>
                    <a:pt x="0" y="238"/>
                  </a:lnTo>
                </a:path>
              </a:pathLst>
            </a:custGeom>
            <a:noFill/>
            <a:ln w="3810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2" name="Line 86"/>
            <p:cNvSpPr>
              <a:spLocks noChangeShapeType="1"/>
            </p:cNvSpPr>
            <p:nvPr/>
          </p:nvSpPr>
          <p:spPr bwMode="auto">
            <a:xfrm flipH="1">
              <a:off x="1696" y="2017"/>
              <a:ext cx="1118" cy="0"/>
            </a:xfrm>
            <a:prstGeom prst="line">
              <a:avLst/>
            </a:prstGeom>
            <a:noFill/>
            <a:ln w="57150">
              <a:solidFill>
                <a:srgbClr val="FF9933"/>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13" name="Freeform 87"/>
            <p:cNvSpPr>
              <a:spLocks/>
            </p:cNvSpPr>
            <p:nvPr/>
          </p:nvSpPr>
          <p:spPr bwMode="auto">
            <a:xfrm>
              <a:off x="2250" y="1749"/>
              <a:ext cx="134" cy="238"/>
            </a:xfrm>
            <a:custGeom>
              <a:avLst/>
              <a:gdLst>
                <a:gd name="T0" fmla="*/ 134 w 134"/>
                <a:gd name="T1" fmla="*/ 0 h 238"/>
                <a:gd name="T2" fmla="*/ 0 w 134"/>
                <a:gd name="T3" fmla="*/ 0 h 238"/>
                <a:gd name="T4" fmla="*/ 0 w 134"/>
                <a:gd name="T5" fmla="*/ 238 h 238"/>
                <a:gd name="T6" fmla="*/ 0 60000 65536"/>
                <a:gd name="T7" fmla="*/ 0 60000 65536"/>
                <a:gd name="T8" fmla="*/ 0 60000 65536"/>
              </a:gdLst>
              <a:ahLst/>
              <a:cxnLst>
                <a:cxn ang="T6">
                  <a:pos x="T0" y="T1"/>
                </a:cxn>
                <a:cxn ang="T7">
                  <a:pos x="T2" y="T3"/>
                </a:cxn>
                <a:cxn ang="T8">
                  <a:pos x="T4" y="T5"/>
                </a:cxn>
              </a:cxnLst>
              <a:rect l="0" t="0" r="r" b="b"/>
              <a:pathLst>
                <a:path w="134" h="238">
                  <a:moveTo>
                    <a:pt x="134" y="0"/>
                  </a:moveTo>
                  <a:lnTo>
                    <a:pt x="0" y="0"/>
                  </a:lnTo>
                  <a:lnTo>
                    <a:pt x="0" y="238"/>
                  </a:lnTo>
                </a:path>
              </a:pathLst>
            </a:custGeom>
            <a:noFill/>
            <a:ln w="3810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4" name="Freeform 88"/>
            <p:cNvSpPr>
              <a:spLocks/>
            </p:cNvSpPr>
            <p:nvPr/>
          </p:nvSpPr>
          <p:spPr bwMode="auto">
            <a:xfrm flipV="1">
              <a:off x="2561" y="2044"/>
              <a:ext cx="134" cy="238"/>
            </a:xfrm>
            <a:custGeom>
              <a:avLst/>
              <a:gdLst>
                <a:gd name="T0" fmla="*/ 134 w 134"/>
                <a:gd name="T1" fmla="*/ 0 h 238"/>
                <a:gd name="T2" fmla="*/ 0 w 134"/>
                <a:gd name="T3" fmla="*/ 0 h 238"/>
                <a:gd name="T4" fmla="*/ 0 w 134"/>
                <a:gd name="T5" fmla="*/ 238 h 238"/>
                <a:gd name="T6" fmla="*/ 0 60000 65536"/>
                <a:gd name="T7" fmla="*/ 0 60000 65536"/>
                <a:gd name="T8" fmla="*/ 0 60000 65536"/>
              </a:gdLst>
              <a:ahLst/>
              <a:cxnLst>
                <a:cxn ang="T6">
                  <a:pos x="T0" y="T1"/>
                </a:cxn>
                <a:cxn ang="T7">
                  <a:pos x="T2" y="T3"/>
                </a:cxn>
                <a:cxn ang="T8">
                  <a:pos x="T4" y="T5"/>
                </a:cxn>
              </a:cxnLst>
              <a:rect l="0" t="0" r="r" b="b"/>
              <a:pathLst>
                <a:path w="134" h="238">
                  <a:moveTo>
                    <a:pt x="134" y="0"/>
                  </a:moveTo>
                  <a:lnTo>
                    <a:pt x="0" y="0"/>
                  </a:lnTo>
                  <a:lnTo>
                    <a:pt x="0" y="238"/>
                  </a:lnTo>
                </a:path>
              </a:pathLst>
            </a:custGeom>
            <a:noFill/>
            <a:ln w="3810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5" name="Freeform 89"/>
            <p:cNvSpPr>
              <a:spLocks/>
            </p:cNvSpPr>
            <p:nvPr/>
          </p:nvSpPr>
          <p:spPr bwMode="auto">
            <a:xfrm flipV="1">
              <a:off x="2250" y="2044"/>
              <a:ext cx="134" cy="238"/>
            </a:xfrm>
            <a:custGeom>
              <a:avLst/>
              <a:gdLst>
                <a:gd name="T0" fmla="*/ 134 w 134"/>
                <a:gd name="T1" fmla="*/ 0 h 238"/>
                <a:gd name="T2" fmla="*/ 0 w 134"/>
                <a:gd name="T3" fmla="*/ 0 h 238"/>
                <a:gd name="T4" fmla="*/ 0 w 134"/>
                <a:gd name="T5" fmla="*/ 238 h 238"/>
                <a:gd name="T6" fmla="*/ 0 60000 65536"/>
                <a:gd name="T7" fmla="*/ 0 60000 65536"/>
                <a:gd name="T8" fmla="*/ 0 60000 65536"/>
              </a:gdLst>
              <a:ahLst/>
              <a:cxnLst>
                <a:cxn ang="T6">
                  <a:pos x="T0" y="T1"/>
                </a:cxn>
                <a:cxn ang="T7">
                  <a:pos x="T2" y="T3"/>
                </a:cxn>
                <a:cxn ang="T8">
                  <a:pos x="T4" y="T5"/>
                </a:cxn>
              </a:cxnLst>
              <a:rect l="0" t="0" r="r" b="b"/>
              <a:pathLst>
                <a:path w="134" h="238">
                  <a:moveTo>
                    <a:pt x="134" y="0"/>
                  </a:moveTo>
                  <a:lnTo>
                    <a:pt x="0" y="0"/>
                  </a:lnTo>
                  <a:lnTo>
                    <a:pt x="0" y="238"/>
                  </a:lnTo>
                </a:path>
              </a:pathLst>
            </a:custGeom>
            <a:noFill/>
            <a:ln w="38100"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sp>
          <p:nvSpPr>
            <p:cNvPr id="66616" name="Line 90"/>
            <p:cNvSpPr>
              <a:spLocks noChangeShapeType="1"/>
            </p:cNvSpPr>
            <p:nvPr/>
          </p:nvSpPr>
          <p:spPr bwMode="auto">
            <a:xfrm>
              <a:off x="1167" y="1883"/>
              <a:ext cx="528" cy="1"/>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17" name="Line 91"/>
            <p:cNvSpPr>
              <a:spLocks noChangeShapeType="1"/>
            </p:cNvSpPr>
            <p:nvPr/>
          </p:nvSpPr>
          <p:spPr bwMode="auto">
            <a:xfrm>
              <a:off x="1167" y="2120"/>
              <a:ext cx="528" cy="1"/>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18" name="Freeform 92"/>
            <p:cNvSpPr>
              <a:spLocks/>
            </p:cNvSpPr>
            <p:nvPr/>
          </p:nvSpPr>
          <p:spPr bwMode="auto">
            <a:xfrm rot="16200000" flipH="1">
              <a:off x="1542" y="1939"/>
              <a:ext cx="236" cy="103"/>
            </a:xfrm>
            <a:custGeom>
              <a:avLst/>
              <a:gdLst>
                <a:gd name="T0" fmla="*/ 0 w 1456"/>
                <a:gd name="T1" fmla="*/ 0 h 774"/>
                <a:gd name="T2" fmla="*/ 0 w 1456"/>
                <a:gd name="T3" fmla="*/ 0 h 774"/>
                <a:gd name="T4" fmla="*/ 0 w 1456"/>
                <a:gd name="T5" fmla="*/ 0 h 774"/>
                <a:gd name="T6" fmla="*/ 0 w 1456"/>
                <a:gd name="T7" fmla="*/ 0 h 774"/>
                <a:gd name="T8" fmla="*/ 0 w 1456"/>
                <a:gd name="T9" fmla="*/ 0 h 774"/>
                <a:gd name="T10" fmla="*/ 0 w 1456"/>
                <a:gd name="T11" fmla="*/ 0 h 774"/>
                <a:gd name="T12" fmla="*/ 0 w 1456"/>
                <a:gd name="T13" fmla="*/ 0 h 774"/>
                <a:gd name="T14" fmla="*/ 0 w 1456"/>
                <a:gd name="T15" fmla="*/ 0 h 774"/>
                <a:gd name="T16" fmla="*/ 0 w 1456"/>
                <a:gd name="T17" fmla="*/ 0 h 774"/>
                <a:gd name="T18" fmla="*/ 0 w 1456"/>
                <a:gd name="T19" fmla="*/ 0 h 774"/>
                <a:gd name="T20" fmla="*/ 0 w 1456"/>
                <a:gd name="T21" fmla="*/ 0 h 774"/>
                <a:gd name="T22" fmla="*/ 0 w 1456"/>
                <a:gd name="T23" fmla="*/ 0 h 774"/>
                <a:gd name="T24" fmla="*/ 0 w 1456"/>
                <a:gd name="T25" fmla="*/ 0 h 774"/>
                <a:gd name="T26" fmla="*/ 0 w 1456"/>
                <a:gd name="T27" fmla="*/ 0 h 774"/>
                <a:gd name="T28" fmla="*/ 0 w 1456"/>
                <a:gd name="T29" fmla="*/ 0 h 774"/>
                <a:gd name="T30" fmla="*/ 0 w 1456"/>
                <a:gd name="T31" fmla="*/ 0 h 774"/>
                <a:gd name="T32" fmla="*/ 0 w 1456"/>
                <a:gd name="T33" fmla="*/ 0 h 774"/>
                <a:gd name="T34" fmla="*/ 0 w 1456"/>
                <a:gd name="T35" fmla="*/ 0 h 774"/>
                <a:gd name="T36" fmla="*/ 0 w 1456"/>
                <a:gd name="T37" fmla="*/ 0 h 774"/>
                <a:gd name="T38" fmla="*/ 0 w 1456"/>
                <a:gd name="T39" fmla="*/ 0 h 774"/>
                <a:gd name="T40" fmla="*/ 0 w 1456"/>
                <a:gd name="T41" fmla="*/ 0 h 774"/>
                <a:gd name="T42" fmla="*/ 0 w 1456"/>
                <a:gd name="T43" fmla="*/ 0 h 774"/>
                <a:gd name="T44" fmla="*/ 0 w 1456"/>
                <a:gd name="T45" fmla="*/ 0 h 774"/>
                <a:gd name="T46" fmla="*/ 0 w 1456"/>
                <a:gd name="T47" fmla="*/ 0 h 774"/>
                <a:gd name="T48" fmla="*/ 0 w 1456"/>
                <a:gd name="T49" fmla="*/ 0 h 774"/>
                <a:gd name="T50" fmla="*/ 0 w 1456"/>
                <a:gd name="T51" fmla="*/ 0 h 774"/>
                <a:gd name="T52" fmla="*/ 0 w 1456"/>
                <a:gd name="T53" fmla="*/ 0 h 774"/>
                <a:gd name="T54" fmla="*/ 0 w 1456"/>
                <a:gd name="T55" fmla="*/ 0 h 774"/>
                <a:gd name="T56" fmla="*/ 0 w 1456"/>
                <a:gd name="T57" fmla="*/ 0 h 774"/>
                <a:gd name="T58" fmla="*/ 0 w 1456"/>
                <a:gd name="T59" fmla="*/ 0 h 774"/>
                <a:gd name="T60" fmla="*/ 0 w 1456"/>
                <a:gd name="T61" fmla="*/ 0 h 774"/>
                <a:gd name="T62" fmla="*/ 0 w 1456"/>
                <a:gd name="T63" fmla="*/ 0 h 774"/>
                <a:gd name="T64" fmla="*/ 0 w 1456"/>
                <a:gd name="T65" fmla="*/ 0 h 7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56" h="774">
                  <a:moveTo>
                    <a:pt x="0" y="380"/>
                  </a:moveTo>
                  <a:cubicBezTo>
                    <a:pt x="15" y="412"/>
                    <a:pt x="59" y="521"/>
                    <a:pt x="90" y="572"/>
                  </a:cubicBezTo>
                  <a:cubicBezTo>
                    <a:pt x="121" y="623"/>
                    <a:pt x="145" y="657"/>
                    <a:pt x="186" y="686"/>
                  </a:cubicBezTo>
                  <a:cubicBezTo>
                    <a:pt x="227" y="715"/>
                    <a:pt x="286" y="749"/>
                    <a:pt x="335" y="747"/>
                  </a:cubicBezTo>
                  <a:cubicBezTo>
                    <a:pt x="384" y="745"/>
                    <a:pt x="443" y="713"/>
                    <a:pt x="481" y="676"/>
                  </a:cubicBezTo>
                  <a:cubicBezTo>
                    <a:pt x="519" y="639"/>
                    <a:pt x="548" y="592"/>
                    <a:pt x="562" y="525"/>
                  </a:cubicBezTo>
                  <a:cubicBezTo>
                    <a:pt x="576" y="458"/>
                    <a:pt x="577" y="346"/>
                    <a:pt x="568" y="273"/>
                  </a:cubicBezTo>
                  <a:cubicBezTo>
                    <a:pt x="559" y="200"/>
                    <a:pt x="537" y="124"/>
                    <a:pt x="506" y="85"/>
                  </a:cubicBezTo>
                  <a:cubicBezTo>
                    <a:pt x="475" y="46"/>
                    <a:pt x="422" y="38"/>
                    <a:pt x="382" y="39"/>
                  </a:cubicBezTo>
                  <a:cubicBezTo>
                    <a:pt x="342" y="40"/>
                    <a:pt x="293" y="54"/>
                    <a:pt x="268" y="93"/>
                  </a:cubicBezTo>
                  <a:cubicBezTo>
                    <a:pt x="243" y="132"/>
                    <a:pt x="226" y="198"/>
                    <a:pt x="230" y="275"/>
                  </a:cubicBezTo>
                  <a:cubicBezTo>
                    <a:pt x="234" y="352"/>
                    <a:pt x="254" y="483"/>
                    <a:pt x="294" y="556"/>
                  </a:cubicBezTo>
                  <a:cubicBezTo>
                    <a:pt x="334" y="630"/>
                    <a:pt x="404" y="681"/>
                    <a:pt x="473" y="716"/>
                  </a:cubicBezTo>
                  <a:cubicBezTo>
                    <a:pt x="542" y="750"/>
                    <a:pt x="638" y="768"/>
                    <a:pt x="708" y="762"/>
                  </a:cubicBezTo>
                  <a:cubicBezTo>
                    <a:pt x="778" y="757"/>
                    <a:pt x="848" y="728"/>
                    <a:pt x="894" y="686"/>
                  </a:cubicBezTo>
                  <a:cubicBezTo>
                    <a:pt x="940" y="644"/>
                    <a:pt x="970" y="583"/>
                    <a:pt x="984" y="511"/>
                  </a:cubicBezTo>
                  <a:cubicBezTo>
                    <a:pt x="998" y="439"/>
                    <a:pt x="991" y="326"/>
                    <a:pt x="976" y="251"/>
                  </a:cubicBezTo>
                  <a:cubicBezTo>
                    <a:pt x="961" y="176"/>
                    <a:pt x="928" y="100"/>
                    <a:pt x="895" y="63"/>
                  </a:cubicBezTo>
                  <a:cubicBezTo>
                    <a:pt x="862" y="26"/>
                    <a:pt x="816" y="19"/>
                    <a:pt x="778" y="27"/>
                  </a:cubicBezTo>
                  <a:cubicBezTo>
                    <a:pt x="740" y="35"/>
                    <a:pt x="688" y="62"/>
                    <a:pt x="668" y="110"/>
                  </a:cubicBezTo>
                  <a:cubicBezTo>
                    <a:pt x="648" y="158"/>
                    <a:pt x="647" y="238"/>
                    <a:pt x="658" y="315"/>
                  </a:cubicBezTo>
                  <a:cubicBezTo>
                    <a:pt x="669" y="392"/>
                    <a:pt x="698" y="506"/>
                    <a:pt x="736" y="573"/>
                  </a:cubicBezTo>
                  <a:cubicBezTo>
                    <a:pt x="774" y="640"/>
                    <a:pt x="826" y="686"/>
                    <a:pt x="888" y="718"/>
                  </a:cubicBezTo>
                  <a:cubicBezTo>
                    <a:pt x="950" y="750"/>
                    <a:pt x="1037" y="774"/>
                    <a:pt x="1110" y="763"/>
                  </a:cubicBezTo>
                  <a:cubicBezTo>
                    <a:pt x="1183" y="752"/>
                    <a:pt x="1276" y="716"/>
                    <a:pt x="1325" y="652"/>
                  </a:cubicBezTo>
                  <a:cubicBezTo>
                    <a:pt x="1374" y="588"/>
                    <a:pt x="1393" y="462"/>
                    <a:pt x="1402" y="381"/>
                  </a:cubicBezTo>
                  <a:cubicBezTo>
                    <a:pt x="1411" y="300"/>
                    <a:pt x="1400" y="225"/>
                    <a:pt x="1378" y="165"/>
                  </a:cubicBezTo>
                  <a:cubicBezTo>
                    <a:pt x="1356" y="105"/>
                    <a:pt x="1310" y="42"/>
                    <a:pt x="1270" y="21"/>
                  </a:cubicBezTo>
                  <a:cubicBezTo>
                    <a:pt x="1230" y="0"/>
                    <a:pt x="1174" y="13"/>
                    <a:pt x="1139" y="41"/>
                  </a:cubicBezTo>
                  <a:cubicBezTo>
                    <a:pt x="1104" y="69"/>
                    <a:pt x="1067" y="123"/>
                    <a:pt x="1057" y="189"/>
                  </a:cubicBezTo>
                  <a:cubicBezTo>
                    <a:pt x="1047" y="255"/>
                    <a:pt x="1052" y="361"/>
                    <a:pt x="1081" y="440"/>
                  </a:cubicBezTo>
                  <a:cubicBezTo>
                    <a:pt x="1111" y="519"/>
                    <a:pt x="1174" y="607"/>
                    <a:pt x="1236" y="660"/>
                  </a:cubicBezTo>
                  <a:cubicBezTo>
                    <a:pt x="1298" y="713"/>
                    <a:pt x="1410" y="739"/>
                    <a:pt x="1456" y="759"/>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6619" name="Line 93"/>
            <p:cNvSpPr>
              <a:spLocks noChangeShapeType="1"/>
            </p:cNvSpPr>
            <p:nvPr/>
          </p:nvSpPr>
          <p:spPr bwMode="auto">
            <a:xfrm>
              <a:off x="2069" y="1728"/>
              <a:ext cx="0" cy="569"/>
            </a:xfrm>
            <a:prstGeom prst="line">
              <a:avLst/>
            </a:prstGeom>
            <a:noFill/>
            <a:ln w="38100">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20" name="Line 94"/>
            <p:cNvSpPr>
              <a:spLocks noChangeShapeType="1"/>
            </p:cNvSpPr>
            <p:nvPr/>
          </p:nvSpPr>
          <p:spPr bwMode="auto">
            <a:xfrm>
              <a:off x="1893" y="2297"/>
              <a:ext cx="165" cy="0"/>
            </a:xfrm>
            <a:prstGeom prst="line">
              <a:avLst/>
            </a:prstGeom>
            <a:noFill/>
            <a:ln w="38100">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21" name="Line 95"/>
            <p:cNvSpPr>
              <a:spLocks noChangeShapeType="1"/>
            </p:cNvSpPr>
            <p:nvPr/>
          </p:nvSpPr>
          <p:spPr bwMode="auto">
            <a:xfrm>
              <a:off x="1883" y="2204"/>
              <a:ext cx="0" cy="196"/>
            </a:xfrm>
            <a:prstGeom prst="line">
              <a:avLst/>
            </a:prstGeom>
            <a:noFill/>
            <a:ln w="38100">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22" name="Line 96"/>
            <p:cNvSpPr>
              <a:spLocks noChangeShapeType="1"/>
            </p:cNvSpPr>
            <p:nvPr/>
          </p:nvSpPr>
          <p:spPr bwMode="auto">
            <a:xfrm>
              <a:off x="1811" y="2235"/>
              <a:ext cx="0" cy="134"/>
            </a:xfrm>
            <a:prstGeom prst="line">
              <a:avLst/>
            </a:prstGeom>
            <a:noFill/>
            <a:ln w="38100">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latin typeface="黑体" pitchFamily="49" charset="-122"/>
                <a:ea typeface="黑体" pitchFamily="49" charset="-122"/>
              </a:endParaRPr>
            </a:p>
          </p:txBody>
        </p:sp>
        <p:sp>
          <p:nvSpPr>
            <p:cNvPr id="66623" name="Freeform 97"/>
            <p:cNvSpPr>
              <a:spLocks/>
            </p:cNvSpPr>
            <p:nvPr/>
          </p:nvSpPr>
          <p:spPr bwMode="auto">
            <a:xfrm>
              <a:off x="1407" y="2120"/>
              <a:ext cx="403" cy="176"/>
            </a:xfrm>
            <a:custGeom>
              <a:avLst/>
              <a:gdLst>
                <a:gd name="T0" fmla="*/ 403 w 403"/>
                <a:gd name="T1" fmla="*/ 176 h 176"/>
                <a:gd name="T2" fmla="*/ 0 w 403"/>
                <a:gd name="T3" fmla="*/ 176 h 176"/>
                <a:gd name="T4" fmla="*/ 0 w 403"/>
                <a:gd name="T5" fmla="*/ 0 h 176"/>
                <a:gd name="T6" fmla="*/ 0 60000 65536"/>
                <a:gd name="T7" fmla="*/ 0 60000 65536"/>
                <a:gd name="T8" fmla="*/ 0 60000 65536"/>
              </a:gdLst>
              <a:ahLst/>
              <a:cxnLst>
                <a:cxn ang="T6">
                  <a:pos x="T0" y="T1"/>
                </a:cxn>
                <a:cxn ang="T7">
                  <a:pos x="T2" y="T3"/>
                </a:cxn>
                <a:cxn ang="T8">
                  <a:pos x="T4" y="T5"/>
                </a:cxn>
              </a:cxnLst>
              <a:rect l="0" t="0" r="r" b="b"/>
              <a:pathLst>
                <a:path w="403" h="176">
                  <a:moveTo>
                    <a:pt x="403" y="176"/>
                  </a:moveTo>
                  <a:lnTo>
                    <a:pt x="0" y="176"/>
                  </a:lnTo>
                  <a:lnTo>
                    <a:pt x="0" y="0"/>
                  </a:lnTo>
                </a:path>
              </a:pathLst>
            </a:custGeom>
            <a:noFill/>
            <a:ln w="28575" cap="flat" cmpd="sng">
              <a:solidFill>
                <a:schemeClr val="tx1"/>
              </a:solidFill>
              <a:prstDash val="solid"/>
              <a:round/>
              <a:headEnd type="none" w="med" len="med"/>
              <a:tailEnd type="none"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黑体" pitchFamily="49" charset="-122"/>
                <a:ea typeface="黑体" pitchFamily="49" charset="-122"/>
              </a:endParaRPr>
            </a:p>
          </p:txBody>
        </p:sp>
      </p:grpSp>
      <p:sp>
        <p:nvSpPr>
          <p:cNvPr id="98" name="Text Box 11"/>
          <p:cNvSpPr txBox="1">
            <a:spLocks noChangeArrowheads="1"/>
          </p:cNvSpPr>
          <p:nvPr/>
        </p:nvSpPr>
        <p:spPr bwMode="auto">
          <a:xfrm>
            <a:off x="1481760" y="1680853"/>
            <a:ext cx="1389467"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b="0" dirty="0" smtClean="0">
                <a:solidFill>
                  <a:srgbClr val="FF3300"/>
                </a:solidFill>
                <a:latin typeface="黑体" pitchFamily="49" charset="-122"/>
                <a:ea typeface="黑体" pitchFamily="49" charset="-122"/>
              </a:rPr>
              <a:t>螺距</a:t>
            </a:r>
            <a:endParaRPr kumimoji="1" lang="zh-CN" altLang="en-US" sz="2800" b="0" dirty="0">
              <a:latin typeface="黑体" pitchFamily="49" charset="-122"/>
              <a:ea typeface="黑体" pitchFamily="49" charset="-122"/>
            </a:endParaRPr>
          </a:p>
        </p:txBody>
      </p:sp>
      <p:graphicFrame>
        <p:nvGraphicFramePr>
          <p:cNvPr id="99" name="Object 12"/>
          <p:cNvGraphicFramePr>
            <a:graphicFrameLocks noChangeAspect="1"/>
          </p:cNvGraphicFramePr>
          <p:nvPr>
            <p:extLst>
              <p:ext uri="{D42A27DB-BD31-4B8C-83A1-F6EECF244321}">
                <p14:modId xmlns:p14="http://schemas.microsoft.com/office/powerpoint/2010/main" val="3194463981"/>
              </p:ext>
            </p:extLst>
          </p:nvPr>
        </p:nvGraphicFramePr>
        <p:xfrm>
          <a:off x="3310438" y="1365615"/>
          <a:ext cx="4449233" cy="1006475"/>
        </p:xfrm>
        <a:graphic>
          <a:graphicData uri="http://schemas.openxmlformats.org/presentationml/2006/ole">
            <mc:AlternateContent xmlns:mc="http://schemas.openxmlformats.org/markup-compatibility/2006">
              <mc:Choice xmlns:v="urn:schemas-microsoft-com:vml" Requires="v">
                <p:oleObj spid="_x0000_s14454" name="Equation" r:id="rId4" imgW="1384200" imgH="419040" progId="Equation.DSMT4">
                  <p:embed/>
                </p:oleObj>
              </mc:Choice>
              <mc:Fallback>
                <p:oleObj name="Equation" r:id="rId4" imgW="1384200" imgH="419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0438" y="1365615"/>
                        <a:ext cx="4449233" cy="10064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 name="Text Box 9"/>
          <p:cNvSpPr txBox="1">
            <a:spLocks noChangeArrowheads="1"/>
          </p:cNvSpPr>
          <p:nvPr/>
        </p:nvSpPr>
        <p:spPr bwMode="auto">
          <a:xfrm>
            <a:off x="1418439" y="225954"/>
            <a:ext cx="1618048"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b="0" dirty="0">
                <a:solidFill>
                  <a:srgbClr val="FF3300"/>
                </a:solidFill>
                <a:latin typeface="黑体" pitchFamily="49" charset="-122"/>
                <a:ea typeface="黑体" pitchFamily="49" charset="-122"/>
              </a:rPr>
              <a:t>回旋周期</a:t>
            </a:r>
          </a:p>
        </p:txBody>
      </p:sp>
      <p:graphicFrame>
        <p:nvGraphicFramePr>
          <p:cNvPr id="101" name="Object 10"/>
          <p:cNvGraphicFramePr>
            <a:graphicFrameLocks noChangeAspect="1"/>
          </p:cNvGraphicFramePr>
          <p:nvPr>
            <p:extLst>
              <p:ext uri="{D42A27DB-BD31-4B8C-83A1-F6EECF244321}">
                <p14:modId xmlns:p14="http://schemas.microsoft.com/office/powerpoint/2010/main" val="3674548891"/>
              </p:ext>
            </p:extLst>
          </p:nvPr>
        </p:nvGraphicFramePr>
        <p:xfrm>
          <a:off x="4194075" y="175631"/>
          <a:ext cx="3086100" cy="931863"/>
        </p:xfrm>
        <a:graphic>
          <a:graphicData uri="http://schemas.openxmlformats.org/presentationml/2006/ole">
            <mc:AlternateContent xmlns:mc="http://schemas.openxmlformats.org/markup-compatibility/2006">
              <mc:Choice xmlns:v="urn:schemas-microsoft-com:vml" Requires="v">
                <p:oleObj spid="_x0000_s14455" name="Equation" r:id="rId6" imgW="1066800" imgH="431800" progId="Equation.DSMT4">
                  <p:embed/>
                </p:oleObj>
              </mc:Choice>
              <mc:Fallback>
                <p:oleObj name="Equation" r:id="rId6" imgW="1066800" imgH="431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4075" y="175631"/>
                        <a:ext cx="3086100" cy="9318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245106" y="6093296"/>
            <a:ext cx="10622675" cy="461665"/>
          </a:xfrm>
          <a:prstGeom prst="rect">
            <a:avLst/>
          </a:prstGeom>
          <a:noFill/>
        </p:spPr>
        <p:txBody>
          <a:bodyPr wrap="square" rtlCol="0">
            <a:spAutoFit/>
          </a:bodyPr>
          <a:lstStyle/>
          <a:p>
            <a:r>
              <a:rPr lang="zh-CN" altLang="en-US" sz="2400" b="1" dirty="0">
                <a:solidFill>
                  <a:srgbClr val="FF0000"/>
                </a:solidFill>
              </a:rPr>
              <a:t>磁聚焦广泛应用于电真空器件中对电子束的聚焦。例如显像管中电子束磁聚焦。</a:t>
            </a:r>
          </a:p>
        </p:txBody>
      </p:sp>
    </p:spTree>
    <p:extLst>
      <p:ext uri="{BB962C8B-B14F-4D97-AF65-F5344CB8AC3E}">
        <p14:creationId xmlns:p14="http://schemas.microsoft.com/office/powerpoint/2010/main" val="3533852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88" y="812756"/>
            <a:ext cx="11236304"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05632" y="260648"/>
            <a:ext cx="6834517" cy="523220"/>
          </a:xfrm>
          <a:prstGeom prst="rect">
            <a:avLst/>
          </a:prstGeom>
          <a:noFill/>
        </p:spPr>
        <p:txBody>
          <a:bodyPr wrap="square" rtlCol="0">
            <a:spAutoFit/>
          </a:bodyPr>
          <a:lstStyle/>
          <a:p>
            <a:r>
              <a:rPr lang="zh-CN" altLang="en-US" sz="2800" b="1" dirty="0" smtClean="0"/>
              <a:t>带电粒子在非均匀磁场中运动*</a:t>
            </a:r>
            <a:endParaRPr lang="zh-CN" altLang="en-US" sz="2800" b="1" dirty="0"/>
          </a:p>
        </p:txBody>
      </p:sp>
      <p:sp>
        <p:nvSpPr>
          <p:cNvPr id="3" name="TextBox 2"/>
          <p:cNvSpPr txBox="1"/>
          <p:nvPr/>
        </p:nvSpPr>
        <p:spPr>
          <a:xfrm>
            <a:off x="605632" y="2999645"/>
            <a:ext cx="10657184" cy="1708160"/>
          </a:xfrm>
          <a:prstGeom prst="rect">
            <a:avLst/>
          </a:prstGeom>
          <a:noFill/>
        </p:spPr>
        <p:txBody>
          <a:bodyPr wrap="square" rtlCol="0">
            <a:spAutoFit/>
          </a:bodyPr>
          <a:lstStyle/>
          <a:p>
            <a:pPr>
              <a:lnSpc>
                <a:spcPct val="125000"/>
              </a:lnSpc>
            </a:pPr>
            <a:r>
              <a:rPr lang="zh-CN" altLang="en-US" sz="2000" dirty="0" smtClean="0"/>
              <a:t>          螺旋半径</a:t>
            </a:r>
            <a:r>
              <a:rPr lang="en-US" altLang="zh-CN" sz="2000" dirty="0" smtClean="0"/>
              <a:t>R</a:t>
            </a:r>
            <a:r>
              <a:rPr lang="zh-CN" altLang="en-US" sz="2000" dirty="0" smtClean="0"/>
              <a:t>与</a:t>
            </a:r>
            <a:r>
              <a:rPr lang="zh-CN" altLang="en-US" sz="2400" dirty="0" smtClean="0"/>
              <a:t>磁感应强度</a:t>
            </a:r>
            <a:r>
              <a:rPr lang="en-US" altLang="zh-CN" sz="2000" dirty="0" smtClean="0"/>
              <a:t>B</a:t>
            </a:r>
            <a:r>
              <a:rPr lang="zh-CN" altLang="en-US" sz="2000" dirty="0" smtClean="0"/>
              <a:t>成反比，所以当带电粒子在非均匀磁场中向磁场较强的方向运动时，螺旋线的半径将随着磁感强度的增加而不断的减小。同时，此带电粒子在非均匀磁场中受到的洛伦兹力总有一指向磁场较弱的方向的分力，此分力阻止带电粒子向磁场较强的方向运动。这样有可能使粒子沿磁场方向的速度逐渐减小到零，从而迫使粒子掉向反转运动。</a:t>
            </a:r>
            <a:endParaRPr lang="zh-CN" altLang="en-US" sz="2000" dirty="0"/>
          </a:p>
        </p:txBody>
      </p:sp>
      <p:sp>
        <p:nvSpPr>
          <p:cNvPr id="5" name="TextBox 4"/>
          <p:cNvSpPr txBox="1"/>
          <p:nvPr/>
        </p:nvSpPr>
        <p:spPr>
          <a:xfrm>
            <a:off x="554667" y="4941168"/>
            <a:ext cx="10656192" cy="1200329"/>
          </a:xfrm>
          <a:prstGeom prst="rect">
            <a:avLst/>
          </a:prstGeom>
          <a:noFill/>
        </p:spPr>
        <p:txBody>
          <a:bodyPr wrap="square" rtlCol="0">
            <a:spAutoFit/>
          </a:bodyPr>
          <a:lstStyle/>
          <a:p>
            <a:r>
              <a:rPr lang="zh-CN" altLang="en-US" sz="2400" dirty="0" smtClean="0"/>
              <a:t>         </a:t>
            </a:r>
            <a:r>
              <a:rPr lang="zh-CN" altLang="en-US" sz="2400" b="1" dirty="0" smtClean="0">
                <a:solidFill>
                  <a:srgbClr val="FF0000"/>
                </a:solidFill>
              </a:rPr>
              <a:t>两端较强的磁场对带电粒子的运动起着阻塞的作用，它能迫使带电粒子局限在一定的范围内运动。由于带电粒子在两端处的这种运动好像光线遇到镜面发生反射一样，所以这种装置称为磁镜。</a:t>
            </a:r>
            <a:endParaRPr lang="zh-CN" altLang="en-US" sz="2400" b="1" dirty="0">
              <a:solidFill>
                <a:srgbClr val="FF000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62421827"/>
              </p:ext>
            </p:extLst>
          </p:nvPr>
        </p:nvGraphicFramePr>
        <p:xfrm>
          <a:off x="8345744" y="260649"/>
          <a:ext cx="2865115" cy="720711"/>
        </p:xfrm>
        <a:graphic>
          <a:graphicData uri="http://schemas.openxmlformats.org/presentationml/2006/ole">
            <mc:AlternateContent xmlns:mc="http://schemas.openxmlformats.org/markup-compatibility/2006">
              <mc:Choice xmlns:v="urn:schemas-microsoft-com:vml" Requires="v">
                <p:oleObj spid="_x0000_s15420" name="Equation" r:id="rId4" imgW="1244600" imgH="419100" progId="Equation.DSMT4">
                  <p:embed/>
                </p:oleObj>
              </mc:Choice>
              <mc:Fallback>
                <p:oleObj name="Equation" r:id="rId4" imgW="12446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5744" y="260649"/>
                        <a:ext cx="2865115" cy="72071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45889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360" y="120716"/>
            <a:ext cx="10988169" cy="584775"/>
          </a:xfrm>
          <a:prstGeom prst="rect">
            <a:avLst/>
          </a:prstGeom>
        </p:spPr>
        <p:txBody>
          <a:bodyPr wrap="square">
            <a:spAutoFit/>
          </a:bodyPr>
          <a:lstStyle/>
          <a:p>
            <a:pPr defTabSz="762000">
              <a:spcBef>
                <a:spcPts val="1400"/>
              </a:spcBef>
              <a:defRPr sz="1800"/>
            </a:pPr>
            <a:r>
              <a:rPr lang="en-US" altLang="zh-CN" sz="3200" b="1" dirty="0">
                <a:solidFill>
                  <a:srgbClr val="000099"/>
                </a:solidFill>
                <a:latin typeface="黑体" pitchFamily="49" charset="-122"/>
                <a:ea typeface="黑体" pitchFamily="49" charset="-122"/>
                <a:cs typeface="SimHei"/>
                <a:sym typeface="SimHei"/>
              </a:rPr>
              <a:t>§19.5  </a:t>
            </a:r>
            <a:r>
              <a:rPr lang="zh-CN" altLang="en-US" sz="3200" b="1" dirty="0">
                <a:solidFill>
                  <a:srgbClr val="000099"/>
                </a:solidFill>
                <a:latin typeface="黑体" pitchFamily="49" charset="-122"/>
                <a:ea typeface="黑体" pitchFamily="49" charset="-122"/>
                <a:cs typeface="SimHei"/>
                <a:sym typeface="SimHei"/>
              </a:rPr>
              <a:t>在相互垂直的电场和磁场中的带电粒</a:t>
            </a:r>
            <a:r>
              <a:rPr lang="zh-CN" altLang="en-US" sz="3200" b="1" dirty="0">
                <a:solidFill>
                  <a:srgbClr val="000099"/>
                </a:solidFill>
                <a:latin typeface="+mn-ea"/>
                <a:cs typeface="SimHei"/>
                <a:sym typeface="SimHei"/>
              </a:rPr>
              <a:t>子</a:t>
            </a:r>
          </a:p>
        </p:txBody>
      </p:sp>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5867" y="1774834"/>
            <a:ext cx="24511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0095" y="1408614"/>
            <a:ext cx="5234377" cy="398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58000"/>
          <a:stretch/>
        </p:blipFill>
        <p:spPr bwMode="auto">
          <a:xfrm>
            <a:off x="1487488" y="3789040"/>
            <a:ext cx="3454400"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238577" y="730543"/>
            <a:ext cx="9970136" cy="1169551"/>
          </a:xfrm>
          <a:prstGeom prst="rect">
            <a:avLst/>
          </a:prstGeom>
          <a:noFill/>
        </p:spPr>
        <p:txBody>
          <a:bodyPr wrap="square" rtlCol="0">
            <a:spAutoFit/>
          </a:bodyPr>
          <a:lstStyle/>
          <a:p>
            <a:pPr>
              <a:lnSpc>
                <a:spcPct val="125000"/>
              </a:lnSpc>
            </a:pPr>
            <a:r>
              <a:rPr lang="zh-CN" altLang="en-US" sz="2800" dirty="0" smtClean="0"/>
              <a:t>        </a:t>
            </a:r>
            <a:r>
              <a:rPr lang="zh-CN" altLang="en-US" sz="2800" b="1" dirty="0" smtClean="0"/>
              <a:t>一个带电粒子在电场和磁场都存在的空间区域内运动，则粒子所受到的电磁力</a:t>
            </a:r>
            <a:endParaRPr lang="zh-CN" altLang="en-US" sz="2800" b="1" dirty="0"/>
          </a:p>
        </p:txBody>
      </p:sp>
      <p:sp>
        <p:nvSpPr>
          <p:cNvPr id="7" name="文本框 6"/>
          <p:cNvSpPr txBox="1"/>
          <p:nvPr/>
        </p:nvSpPr>
        <p:spPr>
          <a:xfrm>
            <a:off x="1" y="2474475"/>
            <a:ext cx="7536160" cy="1169551"/>
          </a:xfrm>
          <a:prstGeom prst="rect">
            <a:avLst/>
          </a:prstGeom>
          <a:noFill/>
        </p:spPr>
        <p:txBody>
          <a:bodyPr wrap="square" rtlCol="0">
            <a:spAutoFit/>
          </a:bodyPr>
          <a:lstStyle/>
          <a:p>
            <a:pPr>
              <a:lnSpc>
                <a:spcPct val="125000"/>
              </a:lnSpc>
            </a:pPr>
            <a:r>
              <a:rPr lang="zh-CN" altLang="en-US" sz="2800" b="1" dirty="0" smtClean="0">
                <a:solidFill>
                  <a:srgbClr val="FF0000"/>
                </a:solidFill>
              </a:rPr>
              <a:t>带电粒子的速度垂直于这两个场，</a:t>
            </a:r>
            <a:r>
              <a:rPr lang="zh-CN" altLang="en-US" sz="2800" b="1" dirty="0" smtClean="0"/>
              <a:t>当合力为零时：</a:t>
            </a:r>
            <a:endParaRPr lang="zh-CN" altLang="en-US" sz="2800" b="1" dirty="0"/>
          </a:p>
        </p:txBody>
      </p:sp>
      <p:pic>
        <p:nvPicPr>
          <p:cNvPr id="9"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41671" y="5790189"/>
            <a:ext cx="11811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组合 10"/>
          <p:cNvGrpSpPr/>
          <p:nvPr/>
        </p:nvGrpSpPr>
        <p:grpSpPr>
          <a:xfrm>
            <a:off x="719560" y="5175540"/>
            <a:ext cx="4025875" cy="523220"/>
            <a:chOff x="380293" y="5156327"/>
            <a:chExt cx="3019406" cy="523220"/>
          </a:xfrm>
        </p:grpSpPr>
        <p:pic>
          <p:nvPicPr>
            <p:cNvPr id="8"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1824" y="5156327"/>
              <a:ext cx="20478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9"/>
            <p:cNvSpPr txBox="1"/>
            <p:nvPr/>
          </p:nvSpPr>
          <p:spPr>
            <a:xfrm>
              <a:off x="380293" y="5156327"/>
              <a:ext cx="740828" cy="523220"/>
            </a:xfrm>
            <a:prstGeom prst="rect">
              <a:avLst/>
            </a:prstGeom>
            <a:noFill/>
          </p:spPr>
          <p:txBody>
            <a:bodyPr wrap="none" rtlCol="0">
              <a:spAutoFit/>
            </a:bodyPr>
            <a:lstStyle/>
            <a:p>
              <a:r>
                <a:rPr lang="zh-CN" altLang="en-US" sz="2800" b="1" dirty="0" smtClean="0"/>
                <a:t>则有 </a:t>
              </a:r>
              <a:endParaRPr lang="zh-CN" altLang="en-US" sz="2800" b="1" dirty="0"/>
            </a:p>
          </p:txBody>
        </p:sp>
      </p:grpSp>
      <p:grpSp>
        <p:nvGrpSpPr>
          <p:cNvPr id="14" name="组合 13"/>
          <p:cNvGrpSpPr/>
          <p:nvPr/>
        </p:nvGrpSpPr>
        <p:grpSpPr>
          <a:xfrm>
            <a:off x="760365" y="4437112"/>
            <a:ext cx="4181523" cy="558816"/>
            <a:chOff x="570274" y="4437112"/>
            <a:chExt cx="3136142" cy="558816"/>
          </a:xfrm>
        </p:grpSpPr>
        <p:sp>
          <p:nvSpPr>
            <p:cNvPr id="12" name="文本框 11"/>
            <p:cNvSpPr txBox="1"/>
            <p:nvPr/>
          </p:nvSpPr>
          <p:spPr>
            <a:xfrm>
              <a:off x="570274" y="4472708"/>
              <a:ext cx="409006" cy="523220"/>
            </a:xfrm>
            <a:prstGeom prst="rect">
              <a:avLst/>
            </a:prstGeom>
            <a:noFill/>
          </p:spPr>
          <p:txBody>
            <a:bodyPr wrap="none" rtlCol="0">
              <a:spAutoFit/>
            </a:bodyPr>
            <a:lstStyle/>
            <a:p>
              <a:r>
                <a:rPr lang="zh-CN" altLang="en-US" sz="2800" b="1" dirty="0" smtClean="0"/>
                <a:t>即</a:t>
              </a:r>
              <a:endParaRPr lang="zh-CN" altLang="en-US" sz="2800" b="1" dirty="0"/>
            </a:p>
          </p:txBody>
        </p:sp>
        <p:pic>
          <p:nvPicPr>
            <p:cNvPr id="13" name="Picture 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3999"/>
            <a:stretch/>
          </p:blipFill>
          <p:spPr bwMode="auto">
            <a:xfrm>
              <a:off x="1115616" y="4437112"/>
              <a:ext cx="2590800" cy="55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3" name="组合 22"/>
          <p:cNvGrpSpPr/>
          <p:nvPr/>
        </p:nvGrpSpPr>
        <p:grpSpPr>
          <a:xfrm>
            <a:off x="4024315" y="5864097"/>
            <a:ext cx="7023692" cy="630942"/>
            <a:chOff x="2915816" y="5642265"/>
            <a:chExt cx="5267769" cy="630942"/>
          </a:xfrm>
        </p:grpSpPr>
        <p:sp>
          <p:nvSpPr>
            <p:cNvPr id="15" name="文本框 14"/>
            <p:cNvSpPr txBox="1"/>
            <p:nvPr/>
          </p:nvSpPr>
          <p:spPr>
            <a:xfrm>
              <a:off x="2915816" y="5642265"/>
              <a:ext cx="5267769" cy="630942"/>
            </a:xfrm>
            <a:prstGeom prst="rect">
              <a:avLst/>
            </a:prstGeom>
            <a:noFill/>
          </p:spPr>
          <p:txBody>
            <a:bodyPr wrap="square" rtlCol="0">
              <a:spAutoFit/>
            </a:bodyPr>
            <a:lstStyle/>
            <a:p>
              <a:pPr>
                <a:lnSpc>
                  <a:spcPct val="125000"/>
                </a:lnSpc>
              </a:pPr>
              <a:r>
                <a:rPr lang="zh-CN" altLang="en-US" sz="2800" b="1" dirty="0" smtClean="0"/>
                <a:t>且        的方向与            的方向相同。</a:t>
              </a:r>
              <a:endParaRPr lang="zh-CN" altLang="en-US" sz="2800" b="1" dirty="0"/>
            </a:p>
          </p:txBody>
        </p:sp>
        <p:pic>
          <p:nvPicPr>
            <p:cNvPr id="17" name="Picture 3"/>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615" t="11497" r="52804" b="-4068"/>
            <a:stretch/>
          </p:blipFill>
          <p:spPr bwMode="auto">
            <a:xfrm>
              <a:off x="3276636" y="5741712"/>
              <a:ext cx="360040"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图片 21"/>
            <p:cNvPicPr>
              <a:picLocks noChangeAspect="1"/>
            </p:cNvPicPr>
            <p:nvPr/>
          </p:nvPicPr>
          <p:blipFill>
            <a:blip r:embed="rId8" cstate="print"/>
            <a:stretch>
              <a:fillRect/>
            </a:stretch>
          </p:blipFill>
          <p:spPr>
            <a:xfrm>
              <a:off x="4932658" y="5749996"/>
              <a:ext cx="904875" cy="428625"/>
            </a:xfrm>
            <a:prstGeom prst="rect">
              <a:avLst/>
            </a:prstGeom>
          </p:spPr>
        </p:pic>
      </p:grpSp>
    </p:spTree>
    <p:extLst>
      <p:ext uri="{BB962C8B-B14F-4D97-AF65-F5344CB8AC3E}">
        <p14:creationId xmlns:p14="http://schemas.microsoft.com/office/powerpoint/2010/main" val="2085919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检测题</a:t>
            </a:r>
            <a:r>
              <a:rPr lang="en-US" altLang="zh-CN" dirty="0" smtClean="0"/>
              <a:t>19.5</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3200" dirty="0"/>
              <a:t>一个电子在电场向东和磁场向北的区域中向上直行。（</a:t>
            </a:r>
            <a:r>
              <a:rPr lang="en-US" altLang="zh-CN" sz="3200" dirty="0"/>
              <a:t>a</a:t>
            </a:r>
            <a:r>
              <a:rPr lang="zh-CN" altLang="en-US" sz="3200" dirty="0"/>
              <a:t>）该电子受到的</a:t>
            </a:r>
            <a:r>
              <a:rPr lang="zh-CN" altLang="en-US" sz="3200" dirty="0" smtClean="0"/>
              <a:t>电场力</a:t>
            </a:r>
            <a:r>
              <a:rPr lang="zh-CN" altLang="en-US" sz="3200" dirty="0"/>
              <a:t>沿什么方向？（</a:t>
            </a:r>
            <a:r>
              <a:rPr lang="en-US" altLang="zh-CN" sz="3200" dirty="0"/>
              <a:t>b</a:t>
            </a:r>
            <a:r>
              <a:rPr lang="zh-CN" altLang="en-US" sz="3200" dirty="0"/>
              <a:t>）该电子受到的磁力沿什么方向？</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4900" y="3254210"/>
            <a:ext cx="3609272" cy="2745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612900" y="4000500"/>
            <a:ext cx="2857500" cy="954107"/>
          </a:xfrm>
          <a:prstGeom prst="rect">
            <a:avLst/>
          </a:prstGeom>
          <a:noFill/>
        </p:spPr>
        <p:txBody>
          <a:bodyPr wrap="square" rtlCol="0">
            <a:spAutoFit/>
          </a:bodyPr>
          <a:lstStyle/>
          <a:p>
            <a:r>
              <a:rPr lang="zh-CN" altLang="en-US" sz="2800" b="1" dirty="0" smtClean="0">
                <a:solidFill>
                  <a:srgbClr val="FF0000"/>
                </a:solidFill>
              </a:rPr>
              <a:t>（</a:t>
            </a:r>
            <a:r>
              <a:rPr lang="en-US" altLang="zh-CN" sz="2800" b="1" dirty="0" smtClean="0">
                <a:solidFill>
                  <a:srgbClr val="FF0000"/>
                </a:solidFill>
              </a:rPr>
              <a:t>a</a:t>
            </a:r>
            <a:r>
              <a:rPr lang="zh-CN" altLang="en-US" sz="2800" b="1" dirty="0" smtClean="0">
                <a:solidFill>
                  <a:srgbClr val="FF0000"/>
                </a:solidFill>
              </a:rPr>
              <a:t>）向西</a:t>
            </a:r>
            <a:endParaRPr lang="en-US" altLang="zh-CN" sz="2800" b="1" dirty="0" smtClean="0">
              <a:solidFill>
                <a:srgbClr val="FF0000"/>
              </a:solidFill>
            </a:endParaRPr>
          </a:p>
          <a:p>
            <a:r>
              <a:rPr lang="zh-CN" altLang="en-US" sz="2800" b="1" dirty="0" smtClean="0">
                <a:solidFill>
                  <a:srgbClr val="FF0000"/>
                </a:solidFill>
              </a:rPr>
              <a:t>（</a:t>
            </a:r>
            <a:r>
              <a:rPr lang="en-US" altLang="zh-CN" sz="2800" b="1" dirty="0" smtClean="0">
                <a:solidFill>
                  <a:srgbClr val="FF0000"/>
                </a:solidFill>
              </a:rPr>
              <a:t>b</a:t>
            </a:r>
            <a:r>
              <a:rPr lang="zh-CN" altLang="en-US" sz="2800" b="1" dirty="0" smtClean="0">
                <a:solidFill>
                  <a:srgbClr val="FF0000"/>
                </a:solidFill>
              </a:rPr>
              <a:t>）向</a:t>
            </a:r>
            <a:r>
              <a:rPr lang="zh-CN" altLang="en-US" sz="2800" b="1" dirty="0">
                <a:solidFill>
                  <a:srgbClr val="FF0000"/>
                </a:solidFill>
              </a:rPr>
              <a:t>东</a:t>
            </a:r>
          </a:p>
        </p:txBody>
      </p:sp>
    </p:spTree>
    <p:extLst>
      <p:ext uri="{BB962C8B-B14F-4D97-AF65-F5344CB8AC3E}">
        <p14:creationId xmlns:p14="http://schemas.microsoft.com/office/powerpoint/2010/main" val="38293086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9_2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6466"/>
          <a:stretch/>
        </p:blipFill>
        <p:spPr bwMode="auto">
          <a:xfrm>
            <a:off x="1679508" y="1515087"/>
            <a:ext cx="8287477"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442102" y="116632"/>
            <a:ext cx="3252814" cy="523220"/>
          </a:xfrm>
          <a:prstGeom prst="rect">
            <a:avLst/>
          </a:prstGeom>
          <a:noFill/>
        </p:spPr>
        <p:txBody>
          <a:bodyPr wrap="none" rtlCol="0">
            <a:spAutoFit/>
          </a:bodyPr>
          <a:lstStyle/>
          <a:p>
            <a:r>
              <a:rPr lang="zh-CN" altLang="en-US" sz="2800" b="1" dirty="0" smtClean="0"/>
              <a:t>应用</a:t>
            </a:r>
            <a:r>
              <a:rPr lang="en-US" altLang="zh-CN" sz="2800" b="1" dirty="0" smtClean="0"/>
              <a:t>1</a:t>
            </a:r>
            <a:r>
              <a:rPr lang="zh-CN" altLang="en-US" sz="2800" b="1" dirty="0" smtClean="0"/>
              <a:t>：速度选择器</a:t>
            </a:r>
            <a:endParaRPr lang="zh-CN" altLang="en-US" sz="2800" b="1" dirty="0"/>
          </a:p>
        </p:txBody>
      </p:sp>
      <p:sp>
        <p:nvSpPr>
          <p:cNvPr id="4" name="文本框 3"/>
          <p:cNvSpPr txBox="1"/>
          <p:nvPr/>
        </p:nvSpPr>
        <p:spPr>
          <a:xfrm>
            <a:off x="277194" y="849480"/>
            <a:ext cx="9621545" cy="523220"/>
          </a:xfrm>
          <a:prstGeom prst="rect">
            <a:avLst/>
          </a:prstGeom>
          <a:noFill/>
        </p:spPr>
        <p:txBody>
          <a:bodyPr wrap="none" rtlCol="0">
            <a:spAutoFit/>
          </a:bodyPr>
          <a:lstStyle/>
          <a:p>
            <a:r>
              <a:rPr lang="zh-CN" altLang="en-US" sz="2800" b="1" dirty="0" smtClean="0"/>
              <a:t>使速度非常接近 </a:t>
            </a:r>
            <a:r>
              <a:rPr lang="en-US" altLang="zh-CN" sz="2800" b="1" i="1" dirty="0" smtClean="0">
                <a:latin typeface="Times New Roman" panose="02020603050405020304" pitchFamily="18" charset="0"/>
                <a:cs typeface="Times New Roman" panose="02020603050405020304" pitchFamily="18" charset="0"/>
              </a:rPr>
              <a:t>v </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E</a:t>
            </a:r>
            <a:r>
              <a:rPr lang="en-US" altLang="zh-CN" sz="2800" b="1" baseline="-25000" dirty="0" smtClean="0">
                <a:latin typeface="Times New Roman" panose="02020603050405020304" pitchFamily="18" charset="0"/>
                <a:cs typeface="Times New Roman" panose="02020603050405020304" pitchFamily="18" charset="0"/>
              </a:rPr>
              <a:t>1</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B</a:t>
            </a:r>
            <a:r>
              <a:rPr lang="en-US" altLang="zh-CN" sz="2800" b="1" baseline="-25000" dirty="0" smtClean="0">
                <a:latin typeface="Times New Roman" panose="02020603050405020304" pitchFamily="18" charset="0"/>
                <a:cs typeface="Times New Roman" panose="02020603050405020304" pitchFamily="18" charset="0"/>
              </a:rPr>
              <a:t>1 </a:t>
            </a:r>
            <a:r>
              <a:rPr lang="zh-CN" altLang="en-US" sz="2800" b="1" dirty="0" smtClean="0"/>
              <a:t>的离子能够进入质谱仪的磁场区。</a:t>
            </a:r>
            <a:endParaRPr lang="zh-CN" altLang="en-US" sz="2800" b="1" dirty="0"/>
          </a:p>
        </p:txBody>
      </p:sp>
      <p:sp>
        <p:nvSpPr>
          <p:cNvPr id="5" name="文本框 4"/>
          <p:cNvSpPr txBox="1"/>
          <p:nvPr/>
        </p:nvSpPr>
        <p:spPr>
          <a:xfrm>
            <a:off x="2474896" y="5229201"/>
            <a:ext cx="5048177" cy="461665"/>
          </a:xfrm>
          <a:prstGeom prst="rect">
            <a:avLst/>
          </a:prstGeom>
          <a:noFill/>
        </p:spPr>
        <p:txBody>
          <a:bodyPr wrap="none" rtlCol="0">
            <a:spAutoFit/>
          </a:bodyPr>
          <a:lstStyle/>
          <a:p>
            <a:r>
              <a:rPr lang="zh-CN" altLang="en-US" sz="2400" b="1" dirty="0" smtClean="0"/>
              <a:t>图</a:t>
            </a:r>
            <a:r>
              <a:rPr lang="en-US" altLang="zh-CN" sz="2400" b="1" dirty="0" smtClean="0"/>
              <a:t>19.21  </a:t>
            </a:r>
            <a:r>
              <a:rPr lang="zh-CN" altLang="en-US" sz="2400" b="1" dirty="0" smtClean="0"/>
              <a:t>质谱仪中使用了速度选择器</a:t>
            </a:r>
            <a:endParaRPr lang="zh-CN" altLang="en-US" sz="2400" b="1" dirty="0"/>
          </a:p>
        </p:txBody>
      </p:sp>
      <mc:AlternateContent xmlns:mc="http://schemas.openxmlformats.org/markup-compatibility/2006" xmlns:a14="http://schemas.microsoft.com/office/drawing/2010/main">
        <mc:Choice Requires="a14">
          <p:sp>
            <p:nvSpPr>
              <p:cNvPr id="6" name="TextBox 5"/>
              <p:cNvSpPr txBox="1"/>
              <p:nvPr/>
            </p:nvSpPr>
            <p:spPr>
              <a:xfrm>
                <a:off x="4292425" y="5782136"/>
                <a:ext cx="1947513" cy="7877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𝑅</m:t>
                      </m:r>
                      <m:r>
                        <a:rPr lang="en-US" altLang="zh-CN" sz="2400" b="0" i="1" smtClean="0">
                          <a:latin typeface="Cambria Math"/>
                        </a:rPr>
                        <m:t>=</m:t>
                      </m:r>
                      <m:f>
                        <m:fPr>
                          <m:ctrlPr>
                            <a:rPr lang="en-US" altLang="zh-CN" sz="2400" b="0" i="1" smtClean="0">
                              <a:latin typeface="Cambria Math"/>
                            </a:rPr>
                          </m:ctrlPr>
                        </m:fPr>
                        <m:num>
                          <m:r>
                            <a:rPr lang="en-US" altLang="zh-CN" sz="2400" b="0" i="1" smtClean="0">
                              <a:latin typeface="Cambria Math"/>
                            </a:rPr>
                            <m:t>𝑚𝑣</m:t>
                          </m:r>
                        </m:num>
                        <m:den>
                          <m:r>
                            <a:rPr lang="en-US" altLang="zh-CN" sz="2400" b="0" i="1" smtClean="0">
                              <a:latin typeface="Cambria Math"/>
                            </a:rPr>
                            <m:t>𝑞</m:t>
                          </m:r>
                          <m:sSub>
                            <m:sSubPr>
                              <m:ctrlPr>
                                <a:rPr lang="en-US" altLang="zh-CN" sz="2400" b="0" i="1" smtClean="0">
                                  <a:latin typeface="Cambria Math"/>
                                </a:rPr>
                              </m:ctrlPr>
                            </m:sSubPr>
                            <m:e>
                              <m:r>
                                <a:rPr lang="en-US" altLang="zh-CN" sz="2400" b="0" i="1" smtClean="0">
                                  <a:latin typeface="Cambria Math"/>
                                </a:rPr>
                                <m:t>𝐵</m:t>
                              </m:r>
                            </m:e>
                            <m:sub>
                              <m:r>
                                <a:rPr lang="en-US" altLang="zh-CN" sz="2400" b="0" i="1" smtClean="0">
                                  <a:latin typeface="Cambria Math"/>
                                </a:rPr>
                                <m:t>2</m:t>
                              </m:r>
                            </m:sub>
                          </m:sSub>
                        </m:den>
                      </m:f>
                    </m:oMath>
                  </m:oMathPara>
                </a14:m>
                <a:endParaRPr lang="zh-CN" alt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3219318" y="5782136"/>
                <a:ext cx="1460635" cy="787716"/>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278687" y="5763757"/>
                <a:ext cx="2688299" cy="755271"/>
              </a:xfrm>
              <a:prstGeom prst="rect">
                <a:avLst/>
              </a:prstGeom>
              <a:noFill/>
            </p:spPr>
            <p:txBody>
              <a:bodyPr wrap="square" rtlCol="0">
                <a:spAutoFit/>
              </a:bodyPr>
              <a:lstStyle/>
              <a:p>
                <a14:m>
                  <m:oMath xmlns:m="http://schemas.openxmlformats.org/officeDocument/2006/math">
                    <m:f>
                      <m:fPr>
                        <m:ctrlPr>
                          <a:rPr lang="en-US" altLang="zh-CN" sz="2800" i="1" smtClean="0">
                            <a:latin typeface="Cambria Math"/>
                          </a:rPr>
                        </m:ctrlPr>
                      </m:fPr>
                      <m:num>
                        <m:r>
                          <a:rPr lang="en-US" altLang="zh-CN" sz="2800" b="0" i="1" smtClean="0">
                            <a:latin typeface="Cambria Math"/>
                          </a:rPr>
                          <m:t>𝑞</m:t>
                        </m:r>
                      </m:num>
                      <m:den>
                        <m:r>
                          <a:rPr lang="en-US" altLang="zh-CN" sz="2800" b="0" i="1" smtClean="0">
                            <a:latin typeface="Cambria Math"/>
                          </a:rPr>
                          <m:t>𝑚</m:t>
                        </m:r>
                      </m:den>
                    </m:f>
                  </m:oMath>
                </a14:m>
                <a:r>
                  <a:rPr lang="en-US" altLang="zh-CN" sz="2800" dirty="0" smtClean="0"/>
                  <a:t> = </a:t>
                </a:r>
                <a14:m>
                  <m:oMath xmlns:m="http://schemas.openxmlformats.org/officeDocument/2006/math">
                    <m:f>
                      <m:fPr>
                        <m:ctrlPr>
                          <a:rPr lang="en-US" altLang="zh-CN" sz="2800" i="1" dirty="0" smtClean="0">
                            <a:latin typeface="Cambria Math"/>
                          </a:rPr>
                        </m:ctrlPr>
                      </m:fPr>
                      <m:num>
                        <m:sSub>
                          <m:sSubPr>
                            <m:ctrlPr>
                              <a:rPr lang="en-US" altLang="zh-CN" sz="2800" i="1" dirty="0" smtClean="0">
                                <a:latin typeface="Cambria Math"/>
                              </a:rPr>
                            </m:ctrlPr>
                          </m:sSubPr>
                          <m:e>
                            <m:r>
                              <a:rPr lang="en-US" altLang="zh-CN" sz="2800" b="0" i="1" dirty="0" smtClean="0">
                                <a:latin typeface="Cambria Math"/>
                              </a:rPr>
                              <m:t>𝐸</m:t>
                            </m:r>
                          </m:e>
                          <m:sub>
                            <m:r>
                              <a:rPr lang="en-US" altLang="zh-CN" sz="2800" b="0" i="1" dirty="0" smtClean="0">
                                <a:latin typeface="Cambria Math"/>
                              </a:rPr>
                              <m:t>1</m:t>
                            </m:r>
                          </m:sub>
                        </m:sSub>
                      </m:num>
                      <m:den>
                        <m:r>
                          <a:rPr lang="en-US" altLang="zh-CN" sz="2800" b="0" i="1" dirty="0" smtClean="0">
                            <a:latin typeface="Cambria Math"/>
                          </a:rPr>
                          <m:t>𝑅</m:t>
                        </m:r>
                        <m:sSub>
                          <m:sSubPr>
                            <m:ctrlPr>
                              <a:rPr lang="en-US" altLang="zh-CN" sz="2800" i="1" dirty="0" smtClean="0">
                                <a:latin typeface="Cambria Math"/>
                              </a:rPr>
                            </m:ctrlPr>
                          </m:sSubPr>
                          <m:e>
                            <m:r>
                              <a:rPr lang="en-US" altLang="zh-CN" sz="2800" b="0" i="1" dirty="0" smtClean="0">
                                <a:latin typeface="Cambria Math"/>
                              </a:rPr>
                              <m:t>𝐵</m:t>
                            </m:r>
                          </m:e>
                          <m:sub>
                            <m:r>
                              <a:rPr lang="en-US" altLang="zh-CN" sz="2800" b="0" i="1" dirty="0" smtClean="0">
                                <a:latin typeface="Cambria Math"/>
                              </a:rPr>
                              <m:t>1</m:t>
                            </m:r>
                          </m:sub>
                        </m:sSub>
                        <m:sSub>
                          <m:sSubPr>
                            <m:ctrlPr>
                              <a:rPr lang="en-US" altLang="zh-CN" sz="2800" i="1" dirty="0" smtClean="0">
                                <a:latin typeface="Cambria Math"/>
                              </a:rPr>
                            </m:ctrlPr>
                          </m:sSubPr>
                          <m:e>
                            <m:r>
                              <a:rPr lang="en-US" altLang="zh-CN" sz="2800" b="0" i="1" dirty="0" smtClean="0">
                                <a:latin typeface="Cambria Math"/>
                              </a:rPr>
                              <m:t>𝐵</m:t>
                            </m:r>
                          </m:e>
                          <m:sub>
                            <m:r>
                              <a:rPr lang="en-US" altLang="zh-CN" sz="2800" b="0" i="1" dirty="0" smtClean="0">
                                <a:latin typeface="Cambria Math"/>
                              </a:rPr>
                              <m:t>2</m:t>
                            </m:r>
                          </m:sub>
                        </m:sSub>
                      </m:den>
                    </m:f>
                  </m:oMath>
                </a14:m>
                <a:endParaRPr lang="zh-CN" alt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5459015" y="5763756"/>
                <a:ext cx="2016224" cy="755271"/>
              </a:xfrm>
              <a:prstGeom prst="rect">
                <a:avLst/>
              </a:prstGeom>
              <a:blipFill rotWithShape="1">
                <a:blip r:embed="rId4"/>
                <a:stretch>
                  <a:fillRect b="-4032"/>
                </a:stretch>
              </a:blipFill>
            </p:spPr>
            <p:txBody>
              <a:bodyPr/>
              <a:lstStyle/>
              <a:p>
                <a:r>
                  <a:rPr lang="zh-CN" altLang="en-US">
                    <a:noFill/>
                  </a:rPr>
                  <a:t> </a:t>
                </a:r>
              </a:p>
            </p:txBody>
          </p:sp>
        </mc:Fallback>
      </mc:AlternateContent>
      <p:sp>
        <p:nvSpPr>
          <p:cNvPr id="8" name="TextBox 7"/>
          <p:cNvSpPr txBox="1"/>
          <p:nvPr/>
        </p:nvSpPr>
        <p:spPr>
          <a:xfrm>
            <a:off x="1870713" y="5914384"/>
            <a:ext cx="1824203" cy="523220"/>
          </a:xfrm>
          <a:prstGeom prst="rect">
            <a:avLst/>
          </a:prstGeom>
          <a:noFill/>
        </p:spPr>
        <p:txBody>
          <a:bodyPr wrap="square" rtlCol="0">
            <a:spAutoFit/>
          </a:bodyPr>
          <a:lstStyle/>
          <a:p>
            <a:r>
              <a:rPr lang="zh-CN" altLang="en-US" sz="2800" b="1" dirty="0"/>
              <a:t>荷</a:t>
            </a:r>
            <a:r>
              <a:rPr lang="zh-CN" altLang="en-US" sz="2800" b="1" dirty="0" smtClean="0"/>
              <a:t>质比：</a:t>
            </a:r>
            <a:endParaRPr lang="zh-CN" altLang="en-US" sz="2800" b="1" dirty="0"/>
          </a:p>
        </p:txBody>
      </p:sp>
    </p:spTree>
    <p:extLst>
      <p:ext uri="{BB962C8B-B14F-4D97-AF65-F5344CB8AC3E}">
        <p14:creationId xmlns:p14="http://schemas.microsoft.com/office/powerpoint/2010/main" val="39779635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92" y="116632"/>
            <a:ext cx="7234673" cy="523220"/>
          </a:xfrm>
          <a:prstGeom prst="rect">
            <a:avLst/>
          </a:prstGeom>
          <a:noFill/>
        </p:spPr>
        <p:txBody>
          <a:bodyPr wrap="none" rtlCol="0">
            <a:spAutoFit/>
          </a:bodyPr>
          <a:lstStyle/>
          <a:p>
            <a:r>
              <a:rPr lang="zh-CN" altLang="en-US" sz="2800" b="1" dirty="0" smtClean="0"/>
              <a:t>速度选择器可以确定带电粒子的荷质比</a:t>
            </a:r>
            <a:r>
              <a:rPr lang="en-US" altLang="zh-CN" sz="2800" b="1" i="1" dirty="0" smtClean="0">
                <a:latin typeface="Times New Roman" panose="02020603050405020304" pitchFamily="18" charset="0"/>
                <a:cs typeface="Times New Roman" panose="02020603050405020304" pitchFamily="18" charset="0"/>
              </a:rPr>
              <a:t>q</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m</a:t>
            </a:r>
            <a:r>
              <a:rPr lang="zh-CN" altLang="en-US" sz="2800" b="1" dirty="0" smtClean="0"/>
              <a:t>。</a:t>
            </a:r>
            <a:endParaRPr lang="zh-CN" altLang="en-US" sz="2800" b="1" dirty="0"/>
          </a:p>
        </p:txBody>
      </p:sp>
      <p:sp>
        <p:nvSpPr>
          <p:cNvPr id="4" name="矩形 3"/>
          <p:cNvSpPr/>
          <p:nvPr/>
        </p:nvSpPr>
        <p:spPr>
          <a:xfrm>
            <a:off x="335360" y="750594"/>
            <a:ext cx="1769972" cy="523220"/>
          </a:xfrm>
          <a:prstGeom prst="rect">
            <a:avLst/>
          </a:prstGeom>
        </p:spPr>
        <p:txBody>
          <a:bodyPr wrap="none">
            <a:spAutoFit/>
          </a:bodyPr>
          <a:lstStyle/>
          <a:p>
            <a:r>
              <a:rPr lang="en-US" altLang="zh-CN" sz="2800" dirty="0">
                <a:latin typeface="Times New Roman" panose="02020603050405020304" pitchFamily="18" charset="0"/>
                <a:cs typeface="Times New Roman" panose="02020603050405020304" pitchFamily="18" charset="0"/>
              </a:rPr>
              <a:t>Δ</a:t>
            </a:r>
            <a:r>
              <a:rPr lang="en-US" altLang="zh-CN" sz="2800" i="1" dirty="0">
                <a:latin typeface="Times New Roman" panose="02020603050405020304" pitchFamily="18" charset="0"/>
                <a:cs typeface="Times New Roman" panose="02020603050405020304" pitchFamily="18" charset="0"/>
              </a:rPr>
              <a:t>U </a:t>
            </a:r>
            <a:r>
              <a:rPr lang="en-US" altLang="zh-CN" sz="2800" dirty="0">
                <a:latin typeface="Times New Roman" panose="02020603050405020304" pitchFamily="18" charset="0"/>
                <a:cs typeface="Times New Roman" panose="02020603050405020304" pitchFamily="18" charset="0"/>
              </a:rPr>
              <a:t>= </a:t>
            </a:r>
            <a:r>
              <a:rPr lang="en-US" altLang="zh-CN" sz="2800" i="1" dirty="0" err="1">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rPr>
              <a:t>Δ</a:t>
            </a:r>
            <a:r>
              <a:rPr lang="en-US" altLang="zh-CN" sz="2800" i="1" dirty="0" err="1">
                <a:latin typeface="Times New Roman" panose="02020603050405020304" pitchFamily="18" charset="0"/>
                <a:cs typeface="Times New Roman" panose="02020603050405020304" pitchFamily="18" charset="0"/>
              </a:rPr>
              <a:t>V</a:t>
            </a:r>
            <a:r>
              <a:rPr lang="en-US" altLang="zh-CN" sz="2800" i="1"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7701" y="787656"/>
            <a:ext cx="34798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623392" y="2632176"/>
            <a:ext cx="10287000" cy="4021783"/>
            <a:chOff x="467544" y="2632175"/>
            <a:chExt cx="7715250" cy="4021783"/>
          </a:xfrm>
        </p:grpSpPr>
        <p:pic>
          <p:nvPicPr>
            <p:cNvPr id="2" name="图片 1"/>
            <p:cNvPicPr>
              <a:picLocks noChangeAspect="1"/>
            </p:cNvPicPr>
            <p:nvPr/>
          </p:nvPicPr>
          <p:blipFill>
            <a:blip r:embed="rId3" cstate="print"/>
            <a:stretch>
              <a:fillRect/>
            </a:stretch>
          </p:blipFill>
          <p:spPr>
            <a:xfrm>
              <a:off x="467544" y="2632175"/>
              <a:ext cx="7715250" cy="3790950"/>
            </a:xfrm>
            <a:prstGeom prst="rect">
              <a:avLst/>
            </a:prstGeom>
          </p:spPr>
        </p:pic>
        <p:sp>
          <p:nvSpPr>
            <p:cNvPr id="6" name="文本框 5"/>
            <p:cNvSpPr txBox="1"/>
            <p:nvPr/>
          </p:nvSpPr>
          <p:spPr>
            <a:xfrm>
              <a:off x="1691680" y="6192293"/>
              <a:ext cx="3786133" cy="461665"/>
            </a:xfrm>
            <a:prstGeom prst="rect">
              <a:avLst/>
            </a:prstGeom>
            <a:noFill/>
          </p:spPr>
          <p:txBody>
            <a:bodyPr wrap="none" rtlCol="0">
              <a:spAutoFit/>
            </a:bodyPr>
            <a:lstStyle/>
            <a:p>
              <a:r>
                <a:rPr lang="zh-CN" altLang="en-US" sz="2400" b="1" dirty="0" smtClean="0"/>
                <a:t>图</a:t>
              </a:r>
              <a:r>
                <a:rPr lang="en-US" altLang="zh-CN" sz="2400" b="1" dirty="0" smtClean="0"/>
                <a:t>19.22  </a:t>
              </a:r>
              <a:r>
                <a:rPr lang="zh-CN" altLang="en-US" sz="2400" b="1" dirty="0" smtClean="0"/>
                <a:t>测量电子荷质比的现代装置</a:t>
              </a:r>
              <a:endParaRPr lang="zh-CN" altLang="en-US" sz="2400" b="1" dirty="0"/>
            </a:p>
          </p:txBody>
        </p:sp>
      </p:grpSp>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2225" y="659779"/>
            <a:ext cx="11811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94216" y="1582144"/>
            <a:ext cx="11662424" cy="1169551"/>
          </a:xfrm>
          <a:prstGeom prst="rect">
            <a:avLst/>
          </a:prstGeom>
          <a:noFill/>
        </p:spPr>
        <p:txBody>
          <a:bodyPr wrap="square" rtlCol="0">
            <a:spAutoFit/>
          </a:bodyPr>
          <a:lstStyle/>
          <a:p>
            <a:pPr>
              <a:lnSpc>
                <a:spcPct val="125000"/>
              </a:lnSpc>
            </a:pPr>
            <a:r>
              <a:rPr lang="en-US" altLang="zh-CN" sz="2800" b="1" dirty="0" smtClean="0"/>
              <a:t>       1897</a:t>
            </a:r>
            <a:r>
              <a:rPr lang="zh-CN" altLang="en-US" sz="2800" b="1" dirty="0" smtClean="0"/>
              <a:t>年英国物理学家汤姆逊用这种技术证明了“阴极射线”是带负电荷的粒子流，这些粒子都具有相同的荷质比。</a:t>
            </a:r>
            <a:endParaRPr lang="zh-CN" altLang="en-US" sz="2800" b="1" dirty="0"/>
          </a:p>
        </p:txBody>
      </p:sp>
    </p:spTree>
    <p:extLst>
      <p:ext uri="{BB962C8B-B14F-4D97-AF65-F5344CB8AC3E}">
        <p14:creationId xmlns:p14="http://schemas.microsoft.com/office/powerpoint/2010/main" val="3278672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1775521" y="1303198"/>
            <a:ext cx="7340548" cy="3737811"/>
          </a:xfrm>
          <a:prstGeom prst="rect">
            <a:avLst/>
          </a:prstGeom>
        </p:spPr>
      </p:pic>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6070" y="1762616"/>
            <a:ext cx="2326453" cy="201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77670" y="146789"/>
            <a:ext cx="3613490" cy="523220"/>
          </a:xfrm>
          <a:prstGeom prst="rect">
            <a:avLst/>
          </a:prstGeom>
          <a:noFill/>
        </p:spPr>
        <p:txBody>
          <a:bodyPr wrap="none" rtlCol="0">
            <a:spAutoFit/>
          </a:bodyPr>
          <a:lstStyle/>
          <a:p>
            <a:r>
              <a:rPr lang="zh-CN" altLang="en-US" sz="2800" b="1" dirty="0" smtClean="0">
                <a:solidFill>
                  <a:srgbClr val="000099"/>
                </a:solidFill>
              </a:rPr>
              <a:t>应用</a:t>
            </a:r>
            <a:r>
              <a:rPr lang="en-US" altLang="zh-CN" sz="2800" b="1" dirty="0" smtClean="0">
                <a:solidFill>
                  <a:srgbClr val="000099"/>
                </a:solidFill>
              </a:rPr>
              <a:t>2</a:t>
            </a:r>
            <a:r>
              <a:rPr lang="zh-CN" altLang="en-US" sz="2800" b="1" dirty="0" smtClean="0">
                <a:solidFill>
                  <a:srgbClr val="000099"/>
                </a:solidFill>
              </a:rPr>
              <a:t>：电磁血流量计</a:t>
            </a:r>
            <a:endParaRPr lang="zh-CN" altLang="en-US" sz="2800" b="1" dirty="0">
              <a:solidFill>
                <a:srgbClr val="000099"/>
              </a:solidFill>
            </a:endParaRPr>
          </a:p>
        </p:txBody>
      </p:sp>
      <p:sp>
        <p:nvSpPr>
          <p:cNvPr id="5" name="文本框 4"/>
          <p:cNvSpPr txBox="1"/>
          <p:nvPr/>
        </p:nvSpPr>
        <p:spPr>
          <a:xfrm>
            <a:off x="291623" y="670009"/>
            <a:ext cx="7300396" cy="461665"/>
          </a:xfrm>
          <a:prstGeom prst="rect">
            <a:avLst/>
          </a:prstGeom>
          <a:noFill/>
        </p:spPr>
        <p:txBody>
          <a:bodyPr wrap="none" rtlCol="0">
            <a:spAutoFit/>
          </a:bodyPr>
          <a:lstStyle/>
          <a:p>
            <a:r>
              <a:rPr lang="zh-CN" altLang="en-US" sz="2400" b="1" dirty="0" smtClean="0"/>
              <a:t>电磁流量计用于测量心血管手术时主动脉血流速度。</a:t>
            </a:r>
            <a:endParaRPr lang="zh-CN" altLang="en-US" sz="2400" b="1" dirty="0"/>
          </a:p>
        </p:txBody>
      </p:sp>
      <p:sp>
        <p:nvSpPr>
          <p:cNvPr id="6" name="文本框 5"/>
          <p:cNvSpPr txBox="1"/>
          <p:nvPr/>
        </p:nvSpPr>
        <p:spPr>
          <a:xfrm>
            <a:off x="128893" y="5445225"/>
            <a:ext cx="12192000" cy="1092607"/>
          </a:xfrm>
          <a:prstGeom prst="rect">
            <a:avLst/>
          </a:prstGeom>
          <a:noFill/>
        </p:spPr>
        <p:txBody>
          <a:bodyPr wrap="square" rtlCol="0">
            <a:spAutoFit/>
          </a:bodyPr>
          <a:lstStyle/>
          <a:p>
            <a:pPr>
              <a:lnSpc>
                <a:spcPct val="125000"/>
              </a:lnSpc>
            </a:pPr>
            <a:r>
              <a:rPr lang="zh-CN" altLang="en-US" sz="2800" dirty="0" smtClean="0"/>
              <a:t>     </a:t>
            </a:r>
            <a:r>
              <a:rPr lang="zh-CN" altLang="en-US" sz="2400" b="1" dirty="0" smtClean="0"/>
              <a:t>通过测量电场和磁场的大小，我们可以确定血液流动的速度。该血流量计的一大优点是，不用在动脉中插入任何东西。</a:t>
            </a:r>
            <a:endParaRPr lang="zh-CN" altLang="en-US" sz="2400" b="1" dirty="0"/>
          </a:p>
        </p:txBody>
      </p:sp>
      <p:sp>
        <p:nvSpPr>
          <p:cNvPr id="7" name="文本框 6"/>
          <p:cNvSpPr txBox="1"/>
          <p:nvPr/>
        </p:nvSpPr>
        <p:spPr>
          <a:xfrm>
            <a:off x="2471936" y="4958298"/>
            <a:ext cx="7248128" cy="630942"/>
          </a:xfrm>
          <a:prstGeom prst="rect">
            <a:avLst/>
          </a:prstGeom>
          <a:noFill/>
        </p:spPr>
        <p:txBody>
          <a:bodyPr wrap="square" rtlCol="0">
            <a:spAutoFit/>
          </a:bodyPr>
          <a:lstStyle/>
          <a:p>
            <a:pPr>
              <a:lnSpc>
                <a:spcPct val="125000"/>
              </a:lnSpc>
            </a:pPr>
            <a:r>
              <a:rPr lang="zh-CN" altLang="en-US" sz="2800" dirty="0" smtClean="0"/>
              <a:t>     </a:t>
            </a:r>
            <a:r>
              <a:rPr lang="zh-CN" altLang="en-US" sz="2400" dirty="0" smtClean="0"/>
              <a:t>图</a:t>
            </a:r>
            <a:r>
              <a:rPr lang="en-US" altLang="zh-CN" sz="2400" dirty="0" smtClean="0"/>
              <a:t>19.23 </a:t>
            </a:r>
            <a:r>
              <a:rPr lang="zh-CN" altLang="en-US" sz="2400" dirty="0" smtClean="0"/>
              <a:t>电磁血流量计的基本原理。</a:t>
            </a:r>
            <a:endParaRPr lang="zh-CN" altLang="en-US" sz="2400" dirty="0"/>
          </a:p>
        </p:txBody>
      </p:sp>
      <p:sp>
        <p:nvSpPr>
          <p:cNvPr id="8" name="TextBox 7"/>
          <p:cNvSpPr txBox="1"/>
          <p:nvPr/>
        </p:nvSpPr>
        <p:spPr>
          <a:xfrm>
            <a:off x="9175174" y="4072717"/>
            <a:ext cx="2208245" cy="584775"/>
          </a:xfrm>
          <a:prstGeom prst="rect">
            <a:avLst/>
          </a:prstGeom>
          <a:noFill/>
        </p:spPr>
        <p:txBody>
          <a:bodyPr wrap="square" rtlCol="0">
            <a:spAutoFit/>
          </a:bodyPr>
          <a:lstStyle/>
          <a:p>
            <a:r>
              <a:rPr lang="zh-CN" altLang="en-US" sz="1400" dirty="0" smtClean="0"/>
              <a:t>△</a:t>
            </a:r>
            <a:r>
              <a:rPr lang="en-US" altLang="zh-CN" sz="3200" dirty="0" smtClean="0"/>
              <a:t>v=Ed</a:t>
            </a:r>
            <a:endParaRPr lang="zh-CN" altLang="en-US" sz="3200" dirty="0"/>
          </a:p>
        </p:txBody>
      </p:sp>
      <p:sp>
        <p:nvSpPr>
          <p:cNvPr id="9" name="TextBox 8"/>
          <p:cNvSpPr txBox="1"/>
          <p:nvPr/>
        </p:nvSpPr>
        <p:spPr>
          <a:xfrm>
            <a:off x="128893" y="1408673"/>
            <a:ext cx="2112235" cy="707886"/>
          </a:xfrm>
          <a:prstGeom prst="rect">
            <a:avLst/>
          </a:prstGeom>
          <a:noFill/>
        </p:spPr>
        <p:txBody>
          <a:bodyPr wrap="square" rtlCol="0">
            <a:spAutoFit/>
          </a:bodyPr>
          <a:lstStyle/>
          <a:p>
            <a:r>
              <a:rPr lang="zh-CN" altLang="en-US" sz="2000" b="1" dirty="0" smtClean="0"/>
              <a:t>在垂直于血液流动方向加上磁场</a:t>
            </a:r>
            <a:endParaRPr lang="zh-CN" altLang="en-US" sz="2000" b="1" dirty="0"/>
          </a:p>
        </p:txBody>
      </p:sp>
      <p:sp>
        <p:nvSpPr>
          <p:cNvPr id="10" name="TextBox 9"/>
          <p:cNvSpPr txBox="1"/>
          <p:nvPr/>
        </p:nvSpPr>
        <p:spPr>
          <a:xfrm>
            <a:off x="77911" y="3273092"/>
            <a:ext cx="2163217" cy="400110"/>
          </a:xfrm>
          <a:prstGeom prst="rect">
            <a:avLst/>
          </a:prstGeom>
          <a:noFill/>
        </p:spPr>
        <p:txBody>
          <a:bodyPr wrap="square" rtlCol="0">
            <a:spAutoFit/>
          </a:bodyPr>
          <a:lstStyle/>
          <a:p>
            <a:r>
              <a:rPr lang="zh-CN" altLang="en-US" sz="2000" b="1" dirty="0" smtClean="0"/>
              <a:t>血液中含有离子</a:t>
            </a:r>
            <a:endParaRPr lang="zh-CN" altLang="en-US" sz="2000" b="1" dirty="0"/>
          </a:p>
        </p:txBody>
      </p:sp>
    </p:spTree>
    <p:extLst>
      <p:ext uri="{BB962C8B-B14F-4D97-AF65-F5344CB8AC3E}">
        <p14:creationId xmlns:p14="http://schemas.microsoft.com/office/powerpoint/2010/main" val="1255091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351977" y="114750"/>
            <a:ext cx="28889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zh-CN" altLang="en-US" sz="2800" dirty="0" smtClean="0">
                <a:latin typeface="Times New Roman" pitchFamily="18" charset="0"/>
                <a:ea typeface="黑体" pitchFamily="49" charset="-122"/>
                <a:cs typeface="Times New Roman" pitchFamily="18" charset="0"/>
              </a:rPr>
              <a:t>应用</a:t>
            </a:r>
            <a:r>
              <a:rPr kumimoji="1" lang="en-US" altLang="zh-CN" sz="2800" dirty="0" smtClean="0">
                <a:latin typeface="Times New Roman" pitchFamily="18" charset="0"/>
                <a:ea typeface="黑体" pitchFamily="49" charset="-122"/>
                <a:cs typeface="Times New Roman" pitchFamily="18" charset="0"/>
              </a:rPr>
              <a:t>3</a:t>
            </a:r>
            <a:r>
              <a:rPr kumimoji="1" lang="zh-CN" altLang="en-US" sz="2800" dirty="0" smtClean="0">
                <a:latin typeface="Times New Roman" pitchFamily="18" charset="0"/>
                <a:ea typeface="黑体" pitchFamily="49" charset="-122"/>
                <a:cs typeface="Times New Roman" pitchFamily="18" charset="0"/>
              </a:rPr>
              <a:t>：霍耳效应</a:t>
            </a:r>
            <a:endParaRPr kumimoji="1" lang="zh-CN" altLang="en-US" sz="2800" dirty="0">
              <a:latin typeface="Times New Roman" pitchFamily="18" charset="0"/>
              <a:ea typeface="黑体" pitchFamily="49" charset="-122"/>
              <a:cs typeface="Times New Roman" pitchFamily="18" charset="0"/>
            </a:endParaRPr>
          </a:p>
        </p:txBody>
      </p:sp>
      <p:sp>
        <p:nvSpPr>
          <p:cNvPr id="76803" name="Text Box 3"/>
          <p:cNvSpPr txBox="1">
            <a:spLocks noChangeArrowheads="1"/>
          </p:cNvSpPr>
          <p:nvPr/>
        </p:nvSpPr>
        <p:spPr bwMode="auto">
          <a:xfrm>
            <a:off x="478367" y="895351"/>
            <a:ext cx="4944533" cy="2150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pPr>
            <a:r>
              <a:rPr kumimoji="1" lang="en-US" altLang="zh-CN" sz="2200" dirty="0">
                <a:latin typeface="+mn-ea"/>
                <a:ea typeface="+mn-ea"/>
                <a:cs typeface="Times New Roman" pitchFamily="18" charset="0"/>
              </a:rPr>
              <a:t>1879</a:t>
            </a:r>
            <a:r>
              <a:rPr kumimoji="1" lang="zh-CN" altLang="en-US" sz="2200" dirty="0">
                <a:latin typeface="+mn-ea"/>
                <a:ea typeface="+mn-ea"/>
                <a:cs typeface="Times New Roman" pitchFamily="18" charset="0"/>
              </a:rPr>
              <a:t>年霍耳发现载流导体放在磁场中，如果</a:t>
            </a:r>
            <a:r>
              <a:rPr kumimoji="1" lang="zh-CN" altLang="en-US" sz="2200" dirty="0">
                <a:solidFill>
                  <a:srgbClr val="0000CC"/>
                </a:solidFill>
                <a:latin typeface="+mn-ea"/>
                <a:ea typeface="+mn-ea"/>
                <a:cs typeface="Times New Roman" pitchFamily="18" charset="0"/>
              </a:rPr>
              <a:t>磁场方向与电流方向垂直</a:t>
            </a:r>
            <a:r>
              <a:rPr kumimoji="1" lang="zh-CN" altLang="en-US" sz="2200" dirty="0">
                <a:latin typeface="+mn-ea"/>
                <a:ea typeface="+mn-ea"/>
                <a:cs typeface="Times New Roman" pitchFamily="18" charset="0"/>
              </a:rPr>
              <a:t>，则</a:t>
            </a:r>
            <a:r>
              <a:rPr kumimoji="1" lang="zh-CN" altLang="en-US" sz="2200" dirty="0">
                <a:solidFill>
                  <a:srgbClr val="0000CC"/>
                </a:solidFill>
                <a:latin typeface="+mn-ea"/>
                <a:ea typeface="+mn-ea"/>
                <a:cs typeface="Times New Roman" pitchFamily="18" charset="0"/>
              </a:rPr>
              <a:t>在与磁场和电流二者垂直的方向上</a:t>
            </a:r>
            <a:r>
              <a:rPr kumimoji="1" lang="zh-CN" altLang="en-US" sz="2200" dirty="0">
                <a:latin typeface="+mn-ea"/>
                <a:ea typeface="+mn-ea"/>
                <a:cs typeface="Times New Roman" pitchFamily="18" charset="0"/>
              </a:rPr>
              <a:t>出现横向电势差，这一现象称之为</a:t>
            </a:r>
            <a:r>
              <a:rPr kumimoji="1" lang="zh-CN" altLang="en-US" sz="2200" dirty="0">
                <a:solidFill>
                  <a:srgbClr val="FF3300"/>
                </a:solidFill>
                <a:latin typeface="+mn-ea"/>
                <a:ea typeface="+mn-ea"/>
                <a:cs typeface="Times New Roman" pitchFamily="18" charset="0"/>
              </a:rPr>
              <a:t>霍耳效应</a:t>
            </a:r>
            <a:r>
              <a:rPr kumimoji="1" lang="zh-CN" altLang="en-US" sz="2200" dirty="0">
                <a:latin typeface="+mn-ea"/>
                <a:ea typeface="+mn-ea"/>
                <a:cs typeface="Times New Roman" pitchFamily="18" charset="0"/>
              </a:rPr>
              <a:t>。相应的电势差称为</a:t>
            </a:r>
            <a:r>
              <a:rPr kumimoji="1" lang="zh-CN" altLang="en-US" sz="2200" dirty="0">
                <a:solidFill>
                  <a:srgbClr val="FF3300"/>
                </a:solidFill>
                <a:latin typeface="+mn-ea"/>
                <a:ea typeface="+mn-ea"/>
                <a:cs typeface="Times New Roman" pitchFamily="18" charset="0"/>
              </a:rPr>
              <a:t>霍耳电压</a:t>
            </a:r>
            <a:r>
              <a:rPr kumimoji="1" lang="zh-CN" altLang="en-US" sz="2200" dirty="0">
                <a:latin typeface="+mn-ea"/>
                <a:ea typeface="+mn-ea"/>
                <a:cs typeface="Times New Roman" pitchFamily="18" charset="0"/>
              </a:rPr>
              <a:t>。</a:t>
            </a:r>
          </a:p>
        </p:txBody>
      </p:sp>
      <p:sp>
        <p:nvSpPr>
          <p:cNvPr id="76804" name="Text Box 4"/>
          <p:cNvSpPr txBox="1">
            <a:spLocks noChangeArrowheads="1"/>
          </p:cNvSpPr>
          <p:nvPr/>
        </p:nvSpPr>
        <p:spPr bwMode="auto">
          <a:xfrm>
            <a:off x="304801" y="533401"/>
            <a:ext cx="91082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buFontTx/>
              <a:buChar char="•"/>
            </a:pPr>
            <a:r>
              <a:rPr kumimoji="1" lang="zh-CN" altLang="en-US" sz="2400">
                <a:solidFill>
                  <a:srgbClr val="FF3300"/>
                </a:solidFill>
                <a:latin typeface="Times New Roman" pitchFamily="18" charset="0"/>
                <a:ea typeface="黑体" pitchFamily="49" charset="-122"/>
                <a:cs typeface="Times New Roman" pitchFamily="18" charset="0"/>
              </a:rPr>
              <a:t>现象</a:t>
            </a:r>
            <a:endParaRPr kumimoji="1" lang="zh-CN" altLang="en-US" sz="2400">
              <a:latin typeface="Times New Roman" pitchFamily="18" charset="0"/>
              <a:ea typeface="黑体" pitchFamily="49" charset="-122"/>
              <a:cs typeface="Times New Roman" pitchFamily="18" charset="0"/>
            </a:endParaRPr>
          </a:p>
        </p:txBody>
      </p:sp>
      <p:sp>
        <p:nvSpPr>
          <p:cNvPr id="697349" name="Text Box 5"/>
          <p:cNvSpPr txBox="1">
            <a:spLocks noChangeArrowheads="1"/>
          </p:cNvSpPr>
          <p:nvPr/>
        </p:nvSpPr>
        <p:spPr bwMode="auto">
          <a:xfrm>
            <a:off x="0" y="3505200"/>
            <a:ext cx="152958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buFontTx/>
              <a:buChar char="•"/>
            </a:pPr>
            <a:r>
              <a:rPr kumimoji="1" lang="zh-CN" altLang="en-US" sz="2400">
                <a:solidFill>
                  <a:srgbClr val="FF3300"/>
                </a:solidFill>
                <a:latin typeface="Times New Roman" pitchFamily="18" charset="0"/>
                <a:ea typeface="黑体" pitchFamily="49" charset="-122"/>
                <a:cs typeface="Times New Roman" pitchFamily="18" charset="0"/>
                <a:sym typeface="Symbol" pitchFamily="18" charset="2"/>
              </a:rPr>
              <a:t>实验规律</a:t>
            </a:r>
            <a:endParaRPr kumimoji="1" lang="zh-CN" altLang="en-US" sz="2400">
              <a:latin typeface="Times New Roman" pitchFamily="18" charset="0"/>
              <a:ea typeface="黑体" pitchFamily="49" charset="-122"/>
              <a:cs typeface="Times New Roman" pitchFamily="18" charset="0"/>
            </a:endParaRPr>
          </a:p>
        </p:txBody>
      </p:sp>
      <p:sp>
        <p:nvSpPr>
          <p:cNvPr id="697350" name="Text Box 6"/>
          <p:cNvSpPr txBox="1">
            <a:spLocks noChangeArrowheads="1"/>
          </p:cNvSpPr>
          <p:nvPr/>
        </p:nvSpPr>
        <p:spPr bwMode="auto">
          <a:xfrm>
            <a:off x="7101417" y="3569500"/>
            <a:ext cx="5080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pPr>
            <a:r>
              <a:rPr kumimoji="1" lang="zh-CN" altLang="en-US" sz="2400" dirty="0">
                <a:latin typeface="Times New Roman" panose="02020603050405020304" pitchFamily="18" charset="0"/>
                <a:ea typeface="+mn-ea"/>
                <a:cs typeface="Times New Roman" panose="02020603050405020304" pitchFamily="18" charset="0"/>
              </a:rPr>
              <a:t>在磁场不太强时，霍耳</a:t>
            </a:r>
            <a:r>
              <a:rPr kumimoji="1" lang="zh-CN" altLang="en-US" sz="2400" dirty="0" smtClean="0">
                <a:latin typeface="Times New Roman" panose="02020603050405020304" pitchFamily="18" charset="0"/>
                <a:ea typeface="+mn-ea"/>
                <a:cs typeface="Times New Roman" panose="02020603050405020304" pitchFamily="18" charset="0"/>
              </a:rPr>
              <a:t>电压 </a:t>
            </a:r>
            <a:r>
              <a:rPr kumimoji="1" lang="en-US" altLang="zh-CN" sz="2400" i="1" dirty="0" smtClean="0">
                <a:latin typeface="Times New Roman" panose="02020603050405020304" pitchFamily="18" charset="0"/>
                <a:ea typeface="+mn-ea"/>
                <a:cs typeface="Times New Roman" panose="02020603050405020304" pitchFamily="18" charset="0"/>
              </a:rPr>
              <a:t>V</a:t>
            </a:r>
            <a:r>
              <a:rPr kumimoji="1" lang="en-US" altLang="zh-CN" sz="2400" baseline="-25000" dirty="0" smtClean="0">
                <a:latin typeface="Times New Roman" panose="02020603050405020304" pitchFamily="18" charset="0"/>
                <a:ea typeface="+mn-ea"/>
                <a:cs typeface="Times New Roman" panose="02020603050405020304" pitchFamily="18" charset="0"/>
              </a:rPr>
              <a:t>H</a:t>
            </a:r>
            <a:r>
              <a:rPr kumimoji="1" lang="zh-CN" altLang="en-US" sz="2400" dirty="0" smtClean="0">
                <a:latin typeface="Times New Roman" panose="02020603050405020304" pitchFamily="18" charset="0"/>
                <a:ea typeface="+mn-ea"/>
                <a:cs typeface="Times New Roman" panose="02020603050405020304" pitchFamily="18" charset="0"/>
              </a:rPr>
              <a:t>与电流 </a:t>
            </a:r>
            <a:r>
              <a:rPr kumimoji="1" lang="en-US" altLang="zh-CN" sz="2400" i="1" dirty="0" smtClean="0">
                <a:latin typeface="Times New Roman" panose="02020603050405020304" pitchFamily="18" charset="0"/>
                <a:ea typeface="+mn-ea"/>
                <a:cs typeface="Times New Roman" panose="02020603050405020304" pitchFamily="18" charset="0"/>
              </a:rPr>
              <a:t>I </a:t>
            </a:r>
            <a:r>
              <a:rPr kumimoji="1" lang="zh-CN" altLang="en-US" sz="2400" dirty="0" smtClean="0">
                <a:latin typeface="Times New Roman" panose="02020603050405020304" pitchFamily="18" charset="0"/>
                <a:ea typeface="+mn-ea"/>
                <a:cs typeface="Times New Roman" panose="02020603050405020304" pitchFamily="18" charset="0"/>
              </a:rPr>
              <a:t>和磁感应强度 </a:t>
            </a:r>
            <a:r>
              <a:rPr kumimoji="1" lang="en-US" altLang="zh-CN" sz="2400" i="1" dirty="0" smtClean="0">
                <a:latin typeface="Times New Roman" panose="02020603050405020304" pitchFamily="18" charset="0"/>
                <a:ea typeface="+mn-ea"/>
                <a:cs typeface="Times New Roman" panose="02020603050405020304" pitchFamily="18" charset="0"/>
              </a:rPr>
              <a:t>B </a:t>
            </a:r>
            <a:r>
              <a:rPr kumimoji="1" lang="zh-CN" altLang="en-US" sz="2400" dirty="0" smtClean="0">
                <a:latin typeface="Times New Roman" panose="02020603050405020304" pitchFamily="18" charset="0"/>
                <a:ea typeface="+mn-ea"/>
                <a:cs typeface="Times New Roman" panose="02020603050405020304" pitchFamily="18" charset="0"/>
              </a:rPr>
              <a:t>成正比</a:t>
            </a:r>
            <a:r>
              <a:rPr kumimoji="1" lang="zh-CN" altLang="en-US" sz="2400" dirty="0">
                <a:latin typeface="Times New Roman" panose="02020603050405020304" pitchFamily="18" charset="0"/>
                <a:ea typeface="+mn-ea"/>
                <a:cs typeface="Times New Roman" panose="02020603050405020304" pitchFamily="18" charset="0"/>
              </a:rPr>
              <a:t>，而与导电板的</a:t>
            </a:r>
            <a:r>
              <a:rPr kumimoji="1" lang="zh-CN" altLang="en-US" sz="2400" dirty="0" smtClean="0">
                <a:latin typeface="Times New Roman" panose="02020603050405020304" pitchFamily="18" charset="0"/>
                <a:ea typeface="+mn-ea"/>
                <a:cs typeface="Times New Roman" panose="02020603050405020304" pitchFamily="18" charset="0"/>
              </a:rPr>
              <a:t>厚度</a:t>
            </a:r>
            <a:r>
              <a:rPr kumimoji="1" lang="en-US" altLang="zh-CN" sz="2400" dirty="0" smtClean="0">
                <a:latin typeface="Times New Roman" panose="02020603050405020304" pitchFamily="18" charset="0"/>
                <a:ea typeface="+mn-ea"/>
                <a:cs typeface="Times New Roman" panose="02020603050405020304" pitchFamily="18" charset="0"/>
              </a:rPr>
              <a:t>t </a:t>
            </a:r>
            <a:r>
              <a:rPr kumimoji="1" lang="zh-CN" altLang="en-US" sz="2400" dirty="0">
                <a:latin typeface="Times New Roman" panose="02020603050405020304" pitchFamily="18" charset="0"/>
                <a:ea typeface="+mn-ea"/>
                <a:cs typeface="Times New Roman" panose="02020603050405020304" pitchFamily="18" charset="0"/>
              </a:rPr>
              <a:t>成反比</a:t>
            </a:r>
          </a:p>
        </p:txBody>
      </p:sp>
      <p:graphicFrame>
        <p:nvGraphicFramePr>
          <p:cNvPr id="697351" name="Object 7"/>
          <p:cNvGraphicFramePr>
            <a:graphicFrameLocks noChangeAspect="1"/>
          </p:cNvGraphicFramePr>
          <p:nvPr>
            <p:extLst>
              <p:ext uri="{D42A27DB-BD31-4B8C-83A1-F6EECF244321}">
                <p14:modId xmlns:p14="http://schemas.microsoft.com/office/powerpoint/2010/main" val="3977406573"/>
              </p:ext>
            </p:extLst>
          </p:nvPr>
        </p:nvGraphicFramePr>
        <p:xfrm>
          <a:off x="8404225" y="5229225"/>
          <a:ext cx="1608138" cy="847725"/>
        </p:xfrm>
        <a:graphic>
          <a:graphicData uri="http://schemas.openxmlformats.org/presentationml/2006/ole">
            <mc:AlternateContent xmlns:mc="http://schemas.openxmlformats.org/markup-compatibility/2006">
              <mc:Choice xmlns:v="urn:schemas-microsoft-com:vml" Requires="v">
                <p:oleObj spid="_x0000_s16545" name="Equation" r:id="rId4" imgW="558720" imgH="393480" progId="Equation.DSMT4">
                  <p:embed/>
                </p:oleObj>
              </mc:Choice>
              <mc:Fallback>
                <p:oleObj name="Equation" r:id="rId4" imgW="558720" imgH="393480" progId="Equation.DSMT4">
                  <p:embed/>
                  <p:pic>
                    <p:nvPicPr>
                      <p:cNvPr id="0" name=""/>
                      <p:cNvPicPr>
                        <a:picLocks noChangeAspect="1" noChangeArrowheads="1"/>
                      </p:cNvPicPr>
                      <p:nvPr/>
                    </p:nvPicPr>
                    <p:blipFill>
                      <a:blip r:embed="rId5"/>
                      <a:srcRect/>
                      <a:stretch>
                        <a:fillRect/>
                      </a:stretch>
                    </p:blipFill>
                    <p:spPr bwMode="auto">
                      <a:xfrm>
                        <a:off x="8404225" y="5229225"/>
                        <a:ext cx="1608138" cy="8477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97352" name="Group 8"/>
          <p:cNvGrpSpPr>
            <a:grpSpLocks/>
          </p:cNvGrpSpPr>
          <p:nvPr/>
        </p:nvGrpSpPr>
        <p:grpSpPr bwMode="auto">
          <a:xfrm>
            <a:off x="239184" y="3284539"/>
            <a:ext cx="6612467" cy="3584575"/>
            <a:chOff x="60" y="1200"/>
            <a:chExt cx="3124" cy="2258"/>
          </a:xfrm>
        </p:grpSpPr>
        <p:grpSp>
          <p:nvGrpSpPr>
            <p:cNvPr id="76830" name="Group 9"/>
            <p:cNvGrpSpPr>
              <a:grpSpLocks/>
            </p:cNvGrpSpPr>
            <p:nvPr/>
          </p:nvGrpSpPr>
          <p:grpSpPr bwMode="auto">
            <a:xfrm>
              <a:off x="60" y="1200"/>
              <a:ext cx="2820" cy="2258"/>
              <a:chOff x="2700" y="528"/>
              <a:chExt cx="2820" cy="2258"/>
            </a:xfrm>
          </p:grpSpPr>
          <p:sp>
            <p:nvSpPr>
              <p:cNvPr id="76842" name="Line 10"/>
              <p:cNvSpPr>
                <a:spLocks noChangeShapeType="1"/>
              </p:cNvSpPr>
              <p:nvPr/>
            </p:nvSpPr>
            <p:spPr bwMode="auto">
              <a:xfrm flipH="1">
                <a:off x="4464" y="624"/>
                <a:ext cx="912" cy="864"/>
              </a:xfrm>
              <a:prstGeom prst="line">
                <a:avLst/>
              </a:prstGeom>
              <a:noFill/>
              <a:ln w="76200">
                <a:solidFill>
                  <a:srgbClr val="0000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43" name="AutoShape 11"/>
              <p:cNvSpPr>
                <a:spLocks noChangeArrowheads="1"/>
              </p:cNvSpPr>
              <p:nvPr/>
            </p:nvSpPr>
            <p:spPr bwMode="auto">
              <a:xfrm>
                <a:off x="3024" y="978"/>
                <a:ext cx="2496" cy="1584"/>
              </a:xfrm>
              <a:prstGeom prst="cube">
                <a:avLst>
                  <a:gd name="adj" fmla="val 23611"/>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endParaRPr kumimoji="1" lang="zh-CN" altLang="zh-CN" sz="2400">
                  <a:latin typeface="Times New Roman" pitchFamily="18" charset="0"/>
                  <a:ea typeface="黑体" pitchFamily="49" charset="-122"/>
                  <a:cs typeface="Times New Roman" pitchFamily="18" charset="0"/>
                </a:endParaRPr>
              </a:p>
            </p:txBody>
          </p:sp>
          <p:sp>
            <p:nvSpPr>
              <p:cNvPr id="76844" name="AutoShape 12"/>
              <p:cNvSpPr>
                <a:spLocks noChangeArrowheads="1"/>
              </p:cNvSpPr>
              <p:nvPr/>
            </p:nvSpPr>
            <p:spPr bwMode="auto">
              <a:xfrm>
                <a:off x="3720" y="1110"/>
                <a:ext cx="1056" cy="96"/>
              </a:xfrm>
              <a:prstGeom prst="leftArrow">
                <a:avLst>
                  <a:gd name="adj1" fmla="val 50000"/>
                  <a:gd name="adj2" fmla="val 27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45" name="Text Box 13"/>
              <p:cNvSpPr txBox="1">
                <a:spLocks noChangeArrowheads="1"/>
              </p:cNvSpPr>
              <p:nvPr/>
            </p:nvSpPr>
            <p:spPr bwMode="auto">
              <a:xfrm>
                <a:off x="3468" y="936"/>
                <a:ext cx="172"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600" i="1">
                    <a:solidFill>
                      <a:srgbClr val="FFFF00"/>
                    </a:solidFill>
                    <a:latin typeface="Times New Roman" pitchFamily="18" charset="0"/>
                    <a:ea typeface="黑体" pitchFamily="49" charset="-122"/>
                    <a:cs typeface="Times New Roman" pitchFamily="18" charset="0"/>
                  </a:rPr>
                  <a:t>I</a:t>
                </a:r>
              </a:p>
            </p:txBody>
          </p:sp>
          <p:sp>
            <p:nvSpPr>
              <p:cNvPr id="76846" name="Oval 14"/>
              <p:cNvSpPr>
                <a:spLocks noChangeArrowheads="1"/>
              </p:cNvSpPr>
              <p:nvPr/>
            </p:nvSpPr>
            <p:spPr bwMode="auto">
              <a:xfrm>
                <a:off x="4060" y="182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47" name="Text Box 15"/>
              <p:cNvSpPr txBox="1">
                <a:spLocks noChangeArrowheads="1"/>
              </p:cNvSpPr>
              <p:nvPr/>
            </p:nvSpPr>
            <p:spPr bwMode="auto">
              <a:xfrm>
                <a:off x="4015" y="174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48" name="Oval 16"/>
              <p:cNvSpPr>
                <a:spLocks noChangeArrowheads="1"/>
              </p:cNvSpPr>
              <p:nvPr/>
            </p:nvSpPr>
            <p:spPr bwMode="auto">
              <a:xfrm>
                <a:off x="3645" y="182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49" name="Text Box 17"/>
              <p:cNvSpPr txBox="1">
                <a:spLocks noChangeArrowheads="1"/>
              </p:cNvSpPr>
              <p:nvPr/>
            </p:nvSpPr>
            <p:spPr bwMode="auto">
              <a:xfrm>
                <a:off x="3600" y="174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50" name="Oval 18"/>
              <p:cNvSpPr>
                <a:spLocks noChangeArrowheads="1"/>
              </p:cNvSpPr>
              <p:nvPr/>
            </p:nvSpPr>
            <p:spPr bwMode="auto">
              <a:xfrm>
                <a:off x="4476" y="182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51" name="Text Box 19"/>
              <p:cNvSpPr txBox="1">
                <a:spLocks noChangeArrowheads="1"/>
              </p:cNvSpPr>
              <p:nvPr/>
            </p:nvSpPr>
            <p:spPr bwMode="auto">
              <a:xfrm>
                <a:off x="4431" y="174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52" name="Oval 20"/>
              <p:cNvSpPr>
                <a:spLocks noChangeArrowheads="1"/>
              </p:cNvSpPr>
              <p:nvPr/>
            </p:nvSpPr>
            <p:spPr bwMode="auto">
              <a:xfrm>
                <a:off x="4956" y="182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53" name="Text Box 21"/>
              <p:cNvSpPr txBox="1">
                <a:spLocks noChangeArrowheads="1"/>
              </p:cNvSpPr>
              <p:nvPr/>
            </p:nvSpPr>
            <p:spPr bwMode="auto">
              <a:xfrm>
                <a:off x="4911" y="174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54" name="Oval 22"/>
              <p:cNvSpPr>
                <a:spLocks noChangeArrowheads="1"/>
              </p:cNvSpPr>
              <p:nvPr/>
            </p:nvSpPr>
            <p:spPr bwMode="auto">
              <a:xfrm>
                <a:off x="3165" y="182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55" name="Text Box 23"/>
              <p:cNvSpPr txBox="1">
                <a:spLocks noChangeArrowheads="1"/>
              </p:cNvSpPr>
              <p:nvPr/>
            </p:nvSpPr>
            <p:spPr bwMode="auto">
              <a:xfrm>
                <a:off x="3120" y="174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56" name="Oval 24"/>
              <p:cNvSpPr>
                <a:spLocks noChangeArrowheads="1"/>
              </p:cNvSpPr>
              <p:nvPr/>
            </p:nvSpPr>
            <p:spPr bwMode="auto">
              <a:xfrm>
                <a:off x="4060" y="158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57" name="Text Box 25"/>
              <p:cNvSpPr txBox="1">
                <a:spLocks noChangeArrowheads="1"/>
              </p:cNvSpPr>
              <p:nvPr/>
            </p:nvSpPr>
            <p:spPr bwMode="auto">
              <a:xfrm>
                <a:off x="4015" y="150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58" name="Oval 26"/>
              <p:cNvSpPr>
                <a:spLocks noChangeArrowheads="1"/>
              </p:cNvSpPr>
              <p:nvPr/>
            </p:nvSpPr>
            <p:spPr bwMode="auto">
              <a:xfrm>
                <a:off x="3645" y="158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59" name="Text Box 27"/>
              <p:cNvSpPr txBox="1">
                <a:spLocks noChangeArrowheads="1"/>
              </p:cNvSpPr>
              <p:nvPr/>
            </p:nvSpPr>
            <p:spPr bwMode="auto">
              <a:xfrm>
                <a:off x="3600" y="150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60" name="Oval 28"/>
              <p:cNvSpPr>
                <a:spLocks noChangeArrowheads="1"/>
              </p:cNvSpPr>
              <p:nvPr/>
            </p:nvSpPr>
            <p:spPr bwMode="auto">
              <a:xfrm>
                <a:off x="4476" y="158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61" name="Text Box 29"/>
              <p:cNvSpPr txBox="1">
                <a:spLocks noChangeArrowheads="1"/>
              </p:cNvSpPr>
              <p:nvPr/>
            </p:nvSpPr>
            <p:spPr bwMode="auto">
              <a:xfrm>
                <a:off x="4431" y="150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62" name="Oval 30"/>
              <p:cNvSpPr>
                <a:spLocks noChangeArrowheads="1"/>
              </p:cNvSpPr>
              <p:nvPr/>
            </p:nvSpPr>
            <p:spPr bwMode="auto">
              <a:xfrm>
                <a:off x="4956" y="158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63" name="Text Box 31"/>
              <p:cNvSpPr txBox="1">
                <a:spLocks noChangeArrowheads="1"/>
              </p:cNvSpPr>
              <p:nvPr/>
            </p:nvSpPr>
            <p:spPr bwMode="auto">
              <a:xfrm>
                <a:off x="4911" y="150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64" name="Oval 32"/>
              <p:cNvSpPr>
                <a:spLocks noChangeArrowheads="1"/>
              </p:cNvSpPr>
              <p:nvPr/>
            </p:nvSpPr>
            <p:spPr bwMode="auto">
              <a:xfrm>
                <a:off x="3165" y="158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65" name="Text Box 33"/>
              <p:cNvSpPr txBox="1">
                <a:spLocks noChangeArrowheads="1"/>
              </p:cNvSpPr>
              <p:nvPr/>
            </p:nvSpPr>
            <p:spPr bwMode="auto">
              <a:xfrm>
                <a:off x="3120" y="150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66" name="Oval 34"/>
              <p:cNvSpPr>
                <a:spLocks noChangeArrowheads="1"/>
              </p:cNvSpPr>
              <p:nvPr/>
            </p:nvSpPr>
            <p:spPr bwMode="auto">
              <a:xfrm>
                <a:off x="4060" y="206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67" name="Text Box 35"/>
              <p:cNvSpPr txBox="1">
                <a:spLocks noChangeArrowheads="1"/>
              </p:cNvSpPr>
              <p:nvPr/>
            </p:nvSpPr>
            <p:spPr bwMode="auto">
              <a:xfrm>
                <a:off x="4015" y="198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68" name="Oval 36"/>
              <p:cNvSpPr>
                <a:spLocks noChangeArrowheads="1"/>
              </p:cNvSpPr>
              <p:nvPr/>
            </p:nvSpPr>
            <p:spPr bwMode="auto">
              <a:xfrm>
                <a:off x="3645" y="206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69" name="Text Box 37"/>
              <p:cNvSpPr txBox="1">
                <a:spLocks noChangeArrowheads="1"/>
              </p:cNvSpPr>
              <p:nvPr/>
            </p:nvSpPr>
            <p:spPr bwMode="auto">
              <a:xfrm>
                <a:off x="3600" y="198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70" name="Oval 38"/>
              <p:cNvSpPr>
                <a:spLocks noChangeArrowheads="1"/>
              </p:cNvSpPr>
              <p:nvPr/>
            </p:nvSpPr>
            <p:spPr bwMode="auto">
              <a:xfrm>
                <a:off x="4476" y="206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71" name="Text Box 39"/>
              <p:cNvSpPr txBox="1">
                <a:spLocks noChangeArrowheads="1"/>
              </p:cNvSpPr>
              <p:nvPr/>
            </p:nvSpPr>
            <p:spPr bwMode="auto">
              <a:xfrm>
                <a:off x="4431" y="198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72" name="Oval 40"/>
              <p:cNvSpPr>
                <a:spLocks noChangeArrowheads="1"/>
              </p:cNvSpPr>
              <p:nvPr/>
            </p:nvSpPr>
            <p:spPr bwMode="auto">
              <a:xfrm>
                <a:off x="4956" y="206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73" name="Text Box 41"/>
              <p:cNvSpPr txBox="1">
                <a:spLocks noChangeArrowheads="1"/>
              </p:cNvSpPr>
              <p:nvPr/>
            </p:nvSpPr>
            <p:spPr bwMode="auto">
              <a:xfrm>
                <a:off x="4911" y="198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74" name="Oval 42"/>
              <p:cNvSpPr>
                <a:spLocks noChangeArrowheads="1"/>
              </p:cNvSpPr>
              <p:nvPr/>
            </p:nvSpPr>
            <p:spPr bwMode="auto">
              <a:xfrm>
                <a:off x="3165" y="2062"/>
                <a:ext cx="136" cy="1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75" name="Text Box 43"/>
              <p:cNvSpPr txBox="1">
                <a:spLocks noChangeArrowheads="1"/>
              </p:cNvSpPr>
              <p:nvPr/>
            </p:nvSpPr>
            <p:spPr bwMode="auto">
              <a:xfrm>
                <a:off x="3120" y="1986"/>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ea typeface="黑体" pitchFamily="49" charset="-122"/>
                    <a:cs typeface="Times New Roman" pitchFamily="18" charset="0"/>
                  </a:rPr>
                  <a:t>+</a:t>
                </a:r>
              </a:p>
            </p:txBody>
          </p:sp>
          <p:sp>
            <p:nvSpPr>
              <p:cNvPr id="76876" name="Oval 44"/>
              <p:cNvSpPr>
                <a:spLocks noChangeArrowheads="1"/>
              </p:cNvSpPr>
              <p:nvPr/>
            </p:nvSpPr>
            <p:spPr bwMode="auto">
              <a:xfrm>
                <a:off x="3405" y="1726"/>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77" name="Text Box 45"/>
              <p:cNvSpPr txBox="1">
                <a:spLocks noChangeArrowheads="1"/>
              </p:cNvSpPr>
              <p:nvPr/>
            </p:nvSpPr>
            <p:spPr bwMode="auto">
              <a:xfrm>
                <a:off x="3360" y="1554"/>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78" name="Oval 46"/>
              <p:cNvSpPr>
                <a:spLocks noChangeArrowheads="1"/>
              </p:cNvSpPr>
              <p:nvPr/>
            </p:nvSpPr>
            <p:spPr bwMode="auto">
              <a:xfrm>
                <a:off x="3865" y="1726"/>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79" name="Text Box 47"/>
              <p:cNvSpPr txBox="1">
                <a:spLocks noChangeArrowheads="1"/>
              </p:cNvSpPr>
              <p:nvPr/>
            </p:nvSpPr>
            <p:spPr bwMode="auto">
              <a:xfrm>
                <a:off x="3820" y="1554"/>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80" name="Oval 48"/>
              <p:cNvSpPr>
                <a:spLocks noChangeArrowheads="1"/>
              </p:cNvSpPr>
              <p:nvPr/>
            </p:nvSpPr>
            <p:spPr bwMode="auto">
              <a:xfrm>
                <a:off x="4269" y="1726"/>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81" name="Text Box 49"/>
              <p:cNvSpPr txBox="1">
                <a:spLocks noChangeArrowheads="1"/>
              </p:cNvSpPr>
              <p:nvPr/>
            </p:nvSpPr>
            <p:spPr bwMode="auto">
              <a:xfrm>
                <a:off x="4224" y="1554"/>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82" name="Oval 50"/>
              <p:cNvSpPr>
                <a:spLocks noChangeArrowheads="1"/>
              </p:cNvSpPr>
              <p:nvPr/>
            </p:nvSpPr>
            <p:spPr bwMode="auto">
              <a:xfrm>
                <a:off x="4729" y="1726"/>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83" name="Text Box 51"/>
              <p:cNvSpPr txBox="1">
                <a:spLocks noChangeArrowheads="1"/>
              </p:cNvSpPr>
              <p:nvPr/>
            </p:nvSpPr>
            <p:spPr bwMode="auto">
              <a:xfrm>
                <a:off x="4684" y="1554"/>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84" name="Oval 52"/>
              <p:cNvSpPr>
                <a:spLocks noChangeArrowheads="1"/>
              </p:cNvSpPr>
              <p:nvPr/>
            </p:nvSpPr>
            <p:spPr bwMode="auto">
              <a:xfrm>
                <a:off x="3405" y="1994"/>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85" name="Text Box 53"/>
              <p:cNvSpPr txBox="1">
                <a:spLocks noChangeArrowheads="1"/>
              </p:cNvSpPr>
              <p:nvPr/>
            </p:nvSpPr>
            <p:spPr bwMode="auto">
              <a:xfrm>
                <a:off x="3360" y="1822"/>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86" name="Oval 54"/>
              <p:cNvSpPr>
                <a:spLocks noChangeArrowheads="1"/>
              </p:cNvSpPr>
              <p:nvPr/>
            </p:nvSpPr>
            <p:spPr bwMode="auto">
              <a:xfrm>
                <a:off x="3865" y="1994"/>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87" name="Text Box 55"/>
              <p:cNvSpPr txBox="1">
                <a:spLocks noChangeArrowheads="1"/>
              </p:cNvSpPr>
              <p:nvPr/>
            </p:nvSpPr>
            <p:spPr bwMode="auto">
              <a:xfrm>
                <a:off x="3820" y="1822"/>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88" name="Oval 56"/>
              <p:cNvSpPr>
                <a:spLocks noChangeArrowheads="1"/>
              </p:cNvSpPr>
              <p:nvPr/>
            </p:nvSpPr>
            <p:spPr bwMode="auto">
              <a:xfrm>
                <a:off x="4269" y="1994"/>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89" name="Text Box 57"/>
              <p:cNvSpPr txBox="1">
                <a:spLocks noChangeArrowheads="1"/>
              </p:cNvSpPr>
              <p:nvPr/>
            </p:nvSpPr>
            <p:spPr bwMode="auto">
              <a:xfrm>
                <a:off x="4224" y="1822"/>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90" name="Oval 58"/>
              <p:cNvSpPr>
                <a:spLocks noChangeArrowheads="1"/>
              </p:cNvSpPr>
              <p:nvPr/>
            </p:nvSpPr>
            <p:spPr bwMode="auto">
              <a:xfrm>
                <a:off x="4729" y="1994"/>
                <a:ext cx="136" cy="136"/>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91" name="Text Box 59"/>
              <p:cNvSpPr txBox="1">
                <a:spLocks noChangeArrowheads="1"/>
              </p:cNvSpPr>
              <p:nvPr/>
            </p:nvSpPr>
            <p:spPr bwMode="auto">
              <a:xfrm>
                <a:off x="4684" y="1822"/>
                <a:ext cx="160" cy="2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400">
                    <a:solidFill>
                      <a:srgbClr val="000099"/>
                    </a:solidFill>
                    <a:latin typeface="Times New Roman" pitchFamily="18" charset="0"/>
                    <a:ea typeface="黑体" pitchFamily="49" charset="-122"/>
                    <a:cs typeface="Times New Roman" pitchFamily="18" charset="0"/>
                  </a:rPr>
                  <a:t>_</a:t>
                </a:r>
              </a:p>
            </p:txBody>
          </p:sp>
          <p:sp>
            <p:nvSpPr>
              <p:cNvPr id="76892" name="Text Box 60"/>
              <p:cNvSpPr txBox="1">
                <a:spLocks noChangeArrowheads="1"/>
              </p:cNvSpPr>
              <p:nvPr/>
            </p:nvSpPr>
            <p:spPr bwMode="auto">
              <a:xfrm>
                <a:off x="3492"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3" name="Text Box 61"/>
              <p:cNvSpPr txBox="1">
                <a:spLocks noChangeArrowheads="1"/>
              </p:cNvSpPr>
              <p:nvPr/>
            </p:nvSpPr>
            <p:spPr bwMode="auto">
              <a:xfrm>
                <a:off x="3816"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4" name="Text Box 62"/>
              <p:cNvSpPr txBox="1">
                <a:spLocks noChangeArrowheads="1"/>
              </p:cNvSpPr>
              <p:nvPr/>
            </p:nvSpPr>
            <p:spPr bwMode="auto">
              <a:xfrm>
                <a:off x="4141"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5" name="Text Box 63"/>
              <p:cNvSpPr txBox="1">
                <a:spLocks noChangeArrowheads="1"/>
              </p:cNvSpPr>
              <p:nvPr/>
            </p:nvSpPr>
            <p:spPr bwMode="auto">
              <a:xfrm>
                <a:off x="4465"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6" name="Text Box 64"/>
              <p:cNvSpPr txBox="1">
                <a:spLocks noChangeArrowheads="1"/>
              </p:cNvSpPr>
              <p:nvPr/>
            </p:nvSpPr>
            <p:spPr bwMode="auto">
              <a:xfrm>
                <a:off x="4790"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7" name="Text Box 65"/>
              <p:cNvSpPr txBox="1">
                <a:spLocks noChangeArrowheads="1"/>
              </p:cNvSpPr>
              <p:nvPr/>
            </p:nvSpPr>
            <p:spPr bwMode="auto">
              <a:xfrm>
                <a:off x="3168" y="1236"/>
                <a:ext cx="225" cy="4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4000">
                    <a:solidFill>
                      <a:srgbClr val="FF0000"/>
                    </a:solidFill>
                    <a:latin typeface="Times New Roman" pitchFamily="18" charset="0"/>
                    <a:ea typeface="黑体" pitchFamily="49" charset="-122"/>
                    <a:cs typeface="Times New Roman" pitchFamily="18" charset="0"/>
                  </a:rPr>
                  <a:t>+</a:t>
                </a:r>
              </a:p>
            </p:txBody>
          </p:sp>
          <p:sp>
            <p:nvSpPr>
              <p:cNvPr id="76898" name="Text Box 66"/>
              <p:cNvSpPr txBox="1">
                <a:spLocks noChangeArrowheads="1"/>
              </p:cNvSpPr>
              <p:nvPr/>
            </p:nvSpPr>
            <p:spPr bwMode="auto">
              <a:xfrm>
                <a:off x="3024" y="2088"/>
                <a:ext cx="1553" cy="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6600">
                    <a:solidFill>
                      <a:srgbClr val="FF0000"/>
                    </a:solidFill>
                    <a:latin typeface="Times New Roman" pitchFamily="18" charset="0"/>
                    <a:ea typeface="黑体" pitchFamily="49" charset="-122"/>
                    <a:cs typeface="Times New Roman" pitchFamily="18" charset="0"/>
                  </a:rPr>
                  <a:t>-  -  -  -  -</a:t>
                </a:r>
              </a:p>
            </p:txBody>
          </p:sp>
          <p:sp>
            <p:nvSpPr>
              <p:cNvPr id="76899" name="AutoShape 67"/>
              <p:cNvSpPr>
                <a:spLocks noChangeArrowheads="1"/>
              </p:cNvSpPr>
              <p:nvPr/>
            </p:nvSpPr>
            <p:spPr bwMode="auto">
              <a:xfrm>
                <a:off x="3043" y="1458"/>
                <a:ext cx="96" cy="816"/>
              </a:xfrm>
              <a:prstGeom prst="downArrow">
                <a:avLst>
                  <a:gd name="adj1" fmla="val 50000"/>
                  <a:gd name="adj2" fmla="val 212500"/>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900" name="Line 68"/>
              <p:cNvSpPr>
                <a:spLocks noChangeShapeType="1"/>
              </p:cNvSpPr>
              <p:nvPr/>
            </p:nvSpPr>
            <p:spPr bwMode="auto">
              <a:xfrm flipH="1">
                <a:off x="3371" y="2004"/>
                <a:ext cx="661" cy="631"/>
              </a:xfrm>
              <a:prstGeom prst="line">
                <a:avLst/>
              </a:prstGeom>
              <a:noFill/>
              <a:ln w="762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pSp>
            <p:nvGrpSpPr>
              <p:cNvPr id="76901" name="Group 69"/>
              <p:cNvGrpSpPr>
                <a:grpSpLocks/>
              </p:cNvGrpSpPr>
              <p:nvPr/>
            </p:nvGrpSpPr>
            <p:grpSpPr bwMode="auto">
              <a:xfrm>
                <a:off x="2700" y="1680"/>
                <a:ext cx="480" cy="365"/>
                <a:chOff x="2496" y="2112"/>
                <a:chExt cx="480" cy="365"/>
              </a:xfrm>
            </p:grpSpPr>
            <p:sp>
              <p:nvSpPr>
                <p:cNvPr id="76905" name="Text Box 70"/>
                <p:cNvSpPr txBox="1">
                  <a:spLocks noChangeArrowheads="1"/>
                </p:cNvSpPr>
                <p:nvPr/>
              </p:nvSpPr>
              <p:spPr bwMode="auto">
                <a:xfrm>
                  <a:off x="2496" y="2112"/>
                  <a:ext cx="48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3200" i="1">
                      <a:solidFill>
                        <a:srgbClr val="FF0000"/>
                      </a:solidFill>
                      <a:latin typeface="Times New Roman" pitchFamily="18" charset="0"/>
                      <a:ea typeface="黑体" pitchFamily="49" charset="-122"/>
                      <a:cs typeface="Times New Roman" pitchFamily="18" charset="0"/>
                    </a:rPr>
                    <a:t>E</a:t>
                  </a:r>
                </a:p>
              </p:txBody>
            </p:sp>
            <p:sp>
              <p:nvSpPr>
                <p:cNvPr id="76906" name="Line 71"/>
                <p:cNvSpPr>
                  <a:spLocks noChangeShapeType="1"/>
                </p:cNvSpPr>
                <p:nvPr/>
              </p:nvSpPr>
              <p:spPr bwMode="auto">
                <a:xfrm>
                  <a:off x="2592" y="2172"/>
                  <a:ext cx="144" cy="0"/>
                </a:xfrm>
                <a:prstGeom prst="line">
                  <a:avLst/>
                </a:prstGeom>
                <a:noFill/>
                <a:ln w="12700">
                  <a:solidFill>
                    <a:srgbClr val="FF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pSp>
          <p:grpSp>
            <p:nvGrpSpPr>
              <p:cNvPr id="76902" name="Group 72"/>
              <p:cNvGrpSpPr>
                <a:grpSpLocks/>
              </p:cNvGrpSpPr>
              <p:nvPr/>
            </p:nvGrpSpPr>
            <p:grpSpPr bwMode="auto">
              <a:xfrm>
                <a:off x="4896" y="528"/>
                <a:ext cx="336" cy="365"/>
                <a:chOff x="4896" y="528"/>
                <a:chExt cx="336" cy="365"/>
              </a:xfrm>
            </p:grpSpPr>
            <p:sp>
              <p:nvSpPr>
                <p:cNvPr id="76903" name="Text Box 73"/>
                <p:cNvSpPr txBox="1">
                  <a:spLocks noChangeArrowheads="1"/>
                </p:cNvSpPr>
                <p:nvPr/>
              </p:nvSpPr>
              <p:spPr bwMode="auto">
                <a:xfrm>
                  <a:off x="4896" y="52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3200" i="1">
                      <a:solidFill>
                        <a:srgbClr val="0000FF"/>
                      </a:solidFill>
                      <a:latin typeface="Times New Roman" pitchFamily="18" charset="0"/>
                      <a:ea typeface="黑体" pitchFamily="49" charset="-122"/>
                      <a:cs typeface="Times New Roman" pitchFamily="18" charset="0"/>
                    </a:rPr>
                    <a:t>B</a:t>
                  </a:r>
                </a:p>
              </p:txBody>
            </p:sp>
            <p:sp>
              <p:nvSpPr>
                <p:cNvPr id="76904" name="Line 74"/>
                <p:cNvSpPr>
                  <a:spLocks noChangeShapeType="1"/>
                </p:cNvSpPr>
                <p:nvPr/>
              </p:nvSpPr>
              <p:spPr bwMode="auto">
                <a:xfrm>
                  <a:off x="4980" y="588"/>
                  <a:ext cx="144" cy="0"/>
                </a:xfrm>
                <a:prstGeom prst="line">
                  <a:avLst/>
                </a:prstGeom>
                <a:noFill/>
                <a:ln w="12700">
                  <a:solidFill>
                    <a:srgbClr val="0000FF"/>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pSp>
        </p:grpSp>
        <p:grpSp>
          <p:nvGrpSpPr>
            <p:cNvPr id="76831" name="Group 75"/>
            <p:cNvGrpSpPr>
              <a:grpSpLocks/>
            </p:cNvGrpSpPr>
            <p:nvPr/>
          </p:nvGrpSpPr>
          <p:grpSpPr bwMode="auto">
            <a:xfrm>
              <a:off x="2892" y="1644"/>
              <a:ext cx="292" cy="1196"/>
              <a:chOff x="5468" y="1972"/>
              <a:chExt cx="292" cy="1196"/>
            </a:xfrm>
          </p:grpSpPr>
          <p:sp>
            <p:nvSpPr>
              <p:cNvPr id="76837" name="Freeform 76"/>
              <p:cNvSpPr>
                <a:spLocks/>
              </p:cNvSpPr>
              <p:nvPr/>
            </p:nvSpPr>
            <p:spPr bwMode="auto">
              <a:xfrm>
                <a:off x="5476" y="1972"/>
                <a:ext cx="284" cy="1"/>
              </a:xfrm>
              <a:custGeom>
                <a:avLst/>
                <a:gdLst>
                  <a:gd name="T0" fmla="*/ 0 w 284"/>
                  <a:gd name="T1" fmla="*/ 0 h 1"/>
                  <a:gd name="T2" fmla="*/ 284 w 284"/>
                  <a:gd name="T3" fmla="*/ 0 h 1"/>
                  <a:gd name="T4" fmla="*/ 0 60000 65536"/>
                  <a:gd name="T5" fmla="*/ 0 60000 65536"/>
                </a:gdLst>
                <a:ahLst/>
                <a:cxnLst>
                  <a:cxn ang="T4">
                    <a:pos x="T0" y="T1"/>
                  </a:cxn>
                  <a:cxn ang="T5">
                    <a:pos x="T2" y="T3"/>
                  </a:cxn>
                </a:cxnLst>
                <a:rect l="0" t="0" r="r" b="b"/>
                <a:pathLst>
                  <a:path w="284" h="1">
                    <a:moveTo>
                      <a:pt x="0" y="0"/>
                    </a:moveTo>
                    <a:lnTo>
                      <a:pt x="284" y="0"/>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38" name="Line 77"/>
              <p:cNvSpPr>
                <a:spLocks noChangeShapeType="1"/>
              </p:cNvSpPr>
              <p:nvPr/>
            </p:nvSpPr>
            <p:spPr bwMode="auto">
              <a:xfrm>
                <a:off x="5468" y="316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39" name="Freeform 78"/>
              <p:cNvSpPr>
                <a:spLocks/>
              </p:cNvSpPr>
              <p:nvPr/>
            </p:nvSpPr>
            <p:spPr bwMode="auto">
              <a:xfrm>
                <a:off x="5612" y="1984"/>
                <a:ext cx="1" cy="320"/>
              </a:xfrm>
              <a:custGeom>
                <a:avLst/>
                <a:gdLst>
                  <a:gd name="T0" fmla="*/ 0 w 1"/>
                  <a:gd name="T1" fmla="*/ 0 h 320"/>
                  <a:gd name="T2" fmla="*/ 1 w 1"/>
                  <a:gd name="T3" fmla="*/ 320 h 320"/>
                  <a:gd name="T4" fmla="*/ 0 60000 65536"/>
                  <a:gd name="T5" fmla="*/ 0 60000 65536"/>
                </a:gdLst>
                <a:ahLst/>
                <a:cxnLst>
                  <a:cxn ang="T4">
                    <a:pos x="T0" y="T1"/>
                  </a:cxn>
                  <a:cxn ang="T5">
                    <a:pos x="T2" y="T3"/>
                  </a:cxn>
                </a:cxnLst>
                <a:rect l="0" t="0" r="r" b="b"/>
                <a:pathLst>
                  <a:path w="1" h="320">
                    <a:moveTo>
                      <a:pt x="0" y="0"/>
                    </a:moveTo>
                    <a:lnTo>
                      <a:pt x="1" y="320"/>
                    </a:lnTo>
                  </a:path>
                </a:pathLst>
              </a:custGeom>
              <a:noFill/>
              <a:ln w="9525" cap="flat" cmpd="sng">
                <a:solidFill>
                  <a:schemeClr val="tx1"/>
                </a:solidFill>
                <a:prstDash val="solid"/>
                <a:round/>
                <a:headEnd type="arrow"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40" name="Line 79"/>
              <p:cNvSpPr>
                <a:spLocks noChangeShapeType="1"/>
              </p:cNvSpPr>
              <p:nvPr/>
            </p:nvSpPr>
            <p:spPr bwMode="auto">
              <a:xfrm>
                <a:off x="5612" y="2832"/>
                <a:ext cx="0" cy="33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41" name="Text Box 80"/>
              <p:cNvSpPr txBox="1">
                <a:spLocks noChangeArrowheads="1"/>
              </p:cNvSpPr>
              <p:nvPr/>
            </p:nvSpPr>
            <p:spPr bwMode="auto">
              <a:xfrm>
                <a:off x="5468" y="2352"/>
                <a:ext cx="20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800" i="1" dirty="0" smtClean="0">
                    <a:latin typeface="Times New Roman" pitchFamily="18" charset="0"/>
                    <a:ea typeface="黑体" pitchFamily="49" charset="-122"/>
                    <a:cs typeface="Times New Roman" pitchFamily="18" charset="0"/>
                  </a:rPr>
                  <a:t>w</a:t>
                </a:r>
                <a:endParaRPr kumimoji="1" lang="en-US" altLang="zh-CN" sz="2800" i="1" dirty="0">
                  <a:latin typeface="Times New Roman" pitchFamily="18" charset="0"/>
                  <a:ea typeface="黑体" pitchFamily="49" charset="-122"/>
                  <a:cs typeface="Times New Roman" pitchFamily="18" charset="0"/>
                </a:endParaRPr>
              </a:p>
            </p:txBody>
          </p:sp>
        </p:grpSp>
        <p:grpSp>
          <p:nvGrpSpPr>
            <p:cNvPr id="76832" name="Group 81"/>
            <p:cNvGrpSpPr>
              <a:grpSpLocks/>
            </p:cNvGrpSpPr>
            <p:nvPr/>
          </p:nvGrpSpPr>
          <p:grpSpPr bwMode="auto">
            <a:xfrm>
              <a:off x="2496" y="2856"/>
              <a:ext cx="384" cy="575"/>
              <a:chOff x="5084" y="3168"/>
              <a:chExt cx="384" cy="575"/>
            </a:xfrm>
          </p:grpSpPr>
          <p:sp>
            <p:nvSpPr>
              <p:cNvPr id="76833" name="Line 82"/>
              <p:cNvSpPr>
                <a:spLocks noChangeShapeType="1"/>
              </p:cNvSpPr>
              <p:nvPr/>
            </p:nvSpPr>
            <p:spPr bwMode="auto">
              <a:xfrm>
                <a:off x="5468" y="3168"/>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34" name="Line 83"/>
              <p:cNvSpPr>
                <a:spLocks noChangeShapeType="1"/>
              </p:cNvSpPr>
              <p:nvPr/>
            </p:nvSpPr>
            <p:spPr bwMode="auto">
              <a:xfrm>
                <a:off x="5084" y="3552"/>
                <a:ext cx="2" cy="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35" name="Freeform 84"/>
              <p:cNvSpPr>
                <a:spLocks/>
              </p:cNvSpPr>
              <p:nvPr/>
            </p:nvSpPr>
            <p:spPr bwMode="auto">
              <a:xfrm>
                <a:off x="5088" y="3270"/>
                <a:ext cx="380" cy="376"/>
              </a:xfrm>
              <a:custGeom>
                <a:avLst/>
                <a:gdLst>
                  <a:gd name="T0" fmla="*/ 380 w 380"/>
                  <a:gd name="T1" fmla="*/ 0 h 376"/>
                  <a:gd name="T2" fmla="*/ 0 w 380"/>
                  <a:gd name="T3" fmla="*/ 376 h 376"/>
                  <a:gd name="T4" fmla="*/ 0 60000 65536"/>
                  <a:gd name="T5" fmla="*/ 0 60000 65536"/>
                </a:gdLst>
                <a:ahLst/>
                <a:cxnLst>
                  <a:cxn ang="T4">
                    <a:pos x="T0" y="T1"/>
                  </a:cxn>
                  <a:cxn ang="T5">
                    <a:pos x="T2" y="T3"/>
                  </a:cxn>
                </a:cxnLst>
                <a:rect l="0" t="0" r="r" b="b"/>
                <a:pathLst>
                  <a:path w="380" h="376">
                    <a:moveTo>
                      <a:pt x="380" y="0"/>
                    </a:moveTo>
                    <a:lnTo>
                      <a:pt x="0" y="376"/>
                    </a:lnTo>
                  </a:path>
                </a:pathLst>
              </a:custGeom>
              <a:noFill/>
              <a:ln w="9525" cap="flat" cmpd="sng">
                <a:solidFill>
                  <a:schemeClr val="tx1"/>
                </a:solidFill>
                <a:prstDash val="solid"/>
                <a:round/>
                <a:headEnd type="arrow"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36" name="Text Box 85"/>
              <p:cNvSpPr txBox="1">
                <a:spLocks noChangeArrowheads="1"/>
              </p:cNvSpPr>
              <p:nvPr/>
            </p:nvSpPr>
            <p:spPr bwMode="auto">
              <a:xfrm>
                <a:off x="5228" y="3413"/>
                <a:ext cx="13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2800" i="1" dirty="0" smtClean="0">
                    <a:latin typeface="Times New Roman" pitchFamily="18" charset="0"/>
                    <a:ea typeface="黑体" pitchFamily="49" charset="-122"/>
                    <a:cs typeface="Times New Roman" pitchFamily="18" charset="0"/>
                  </a:rPr>
                  <a:t>t</a:t>
                </a:r>
                <a:endParaRPr kumimoji="1" lang="en-US" altLang="zh-CN" sz="2800" i="1" dirty="0">
                  <a:latin typeface="Times New Roman" pitchFamily="18" charset="0"/>
                  <a:ea typeface="黑体" pitchFamily="49" charset="-122"/>
                  <a:cs typeface="Times New Roman" pitchFamily="18" charset="0"/>
                </a:endParaRPr>
              </a:p>
            </p:txBody>
          </p:sp>
        </p:grpSp>
      </p:grpSp>
      <p:sp>
        <p:nvSpPr>
          <p:cNvPr id="76809" name="Line 87"/>
          <p:cNvSpPr>
            <a:spLocks noChangeShapeType="1"/>
          </p:cNvSpPr>
          <p:nvPr/>
        </p:nvSpPr>
        <p:spPr bwMode="auto">
          <a:xfrm flipH="1">
            <a:off x="5897033" y="2051050"/>
            <a:ext cx="1204384" cy="0"/>
          </a:xfrm>
          <a:prstGeom prst="line">
            <a:avLst/>
          </a:prstGeom>
          <a:noFill/>
          <a:ln w="38100">
            <a:solidFill>
              <a:srgbClr val="FF00FF"/>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0" name="AutoShape 88"/>
          <p:cNvSpPr>
            <a:spLocks noChangeArrowheads="1"/>
          </p:cNvSpPr>
          <p:nvPr/>
        </p:nvSpPr>
        <p:spPr bwMode="auto">
          <a:xfrm>
            <a:off x="6752167" y="1262064"/>
            <a:ext cx="3699933" cy="1527175"/>
          </a:xfrm>
          <a:prstGeom prst="cube">
            <a:avLst>
              <a:gd name="adj" fmla="val 36903"/>
            </a:avLst>
          </a:prstGeom>
          <a:solidFill>
            <a:srgbClr val="FFE8D1"/>
          </a:solid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6811" name="Line 89"/>
          <p:cNvSpPr>
            <a:spLocks noChangeShapeType="1"/>
          </p:cNvSpPr>
          <p:nvPr/>
        </p:nvSpPr>
        <p:spPr bwMode="auto">
          <a:xfrm>
            <a:off x="7520517" y="1262064"/>
            <a:ext cx="0" cy="985837"/>
          </a:xfrm>
          <a:prstGeom prst="line">
            <a:avLst/>
          </a:prstGeom>
          <a:noFill/>
          <a:ln w="19050">
            <a:solidFill>
              <a:srgbClr val="3333FF"/>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2" name="Line 90"/>
          <p:cNvSpPr>
            <a:spLocks noChangeShapeType="1"/>
          </p:cNvSpPr>
          <p:nvPr/>
        </p:nvSpPr>
        <p:spPr bwMode="auto">
          <a:xfrm flipV="1">
            <a:off x="6752168" y="2214564"/>
            <a:ext cx="766233" cy="574675"/>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3" name="Line 91"/>
          <p:cNvSpPr>
            <a:spLocks noChangeShapeType="1"/>
          </p:cNvSpPr>
          <p:nvPr/>
        </p:nvSpPr>
        <p:spPr bwMode="auto">
          <a:xfrm>
            <a:off x="7539567" y="2214563"/>
            <a:ext cx="291253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4" name="Freeform 92"/>
          <p:cNvSpPr>
            <a:spLocks/>
          </p:cNvSpPr>
          <p:nvPr/>
        </p:nvSpPr>
        <p:spPr bwMode="auto">
          <a:xfrm>
            <a:off x="5793317" y="1047751"/>
            <a:ext cx="2783416" cy="493713"/>
          </a:xfrm>
          <a:custGeom>
            <a:avLst/>
            <a:gdLst>
              <a:gd name="T0" fmla="*/ 2147483647 w 1180"/>
              <a:gd name="T1" fmla="*/ 2147483647 h 476"/>
              <a:gd name="T2" fmla="*/ 2147483647 w 1180"/>
              <a:gd name="T3" fmla="*/ 0 h 476"/>
              <a:gd name="T4" fmla="*/ 0 w 1180"/>
              <a:gd name="T5" fmla="*/ 0 h 476"/>
              <a:gd name="T6" fmla="*/ 0 60000 65536"/>
              <a:gd name="T7" fmla="*/ 0 60000 65536"/>
              <a:gd name="T8" fmla="*/ 0 60000 65536"/>
            </a:gdLst>
            <a:ahLst/>
            <a:cxnLst>
              <a:cxn ang="T6">
                <a:pos x="T0" y="T1"/>
              </a:cxn>
              <a:cxn ang="T7">
                <a:pos x="T2" y="T3"/>
              </a:cxn>
              <a:cxn ang="T8">
                <a:pos x="T4" y="T5"/>
              </a:cxn>
            </a:cxnLst>
            <a:rect l="0" t="0" r="r" b="b"/>
            <a:pathLst>
              <a:path w="1180" h="476">
                <a:moveTo>
                  <a:pt x="1180" y="476"/>
                </a:moveTo>
                <a:lnTo>
                  <a:pt x="1180" y="0"/>
                </a:lnTo>
                <a:lnTo>
                  <a:pt x="0" y="0"/>
                </a:lnTo>
              </a:path>
            </a:pathLst>
          </a:custGeom>
          <a:noFill/>
          <a:ln w="28575" cap="flat" cmpd="sng">
            <a:solidFill>
              <a:srgbClr val="FF0000"/>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5" name="Freeform 93"/>
          <p:cNvSpPr>
            <a:spLocks/>
          </p:cNvSpPr>
          <p:nvPr/>
        </p:nvSpPr>
        <p:spPr bwMode="auto">
          <a:xfrm flipV="1">
            <a:off x="5793317" y="2789238"/>
            <a:ext cx="2783416" cy="493712"/>
          </a:xfrm>
          <a:custGeom>
            <a:avLst/>
            <a:gdLst>
              <a:gd name="T0" fmla="*/ 2147483647 w 1180"/>
              <a:gd name="T1" fmla="*/ 2147483647 h 476"/>
              <a:gd name="T2" fmla="*/ 2147483647 w 1180"/>
              <a:gd name="T3" fmla="*/ 0 h 476"/>
              <a:gd name="T4" fmla="*/ 0 w 1180"/>
              <a:gd name="T5" fmla="*/ 0 h 476"/>
              <a:gd name="T6" fmla="*/ 0 60000 65536"/>
              <a:gd name="T7" fmla="*/ 0 60000 65536"/>
              <a:gd name="T8" fmla="*/ 0 60000 65536"/>
            </a:gdLst>
            <a:ahLst/>
            <a:cxnLst>
              <a:cxn ang="T6">
                <a:pos x="T0" y="T1"/>
              </a:cxn>
              <a:cxn ang="T7">
                <a:pos x="T2" y="T3"/>
              </a:cxn>
              <a:cxn ang="T8">
                <a:pos x="T4" y="T5"/>
              </a:cxn>
            </a:cxnLst>
            <a:rect l="0" t="0" r="r" b="b"/>
            <a:pathLst>
              <a:path w="1180" h="476">
                <a:moveTo>
                  <a:pt x="1180" y="476"/>
                </a:moveTo>
                <a:lnTo>
                  <a:pt x="1180" y="0"/>
                </a:lnTo>
                <a:lnTo>
                  <a:pt x="0" y="0"/>
                </a:lnTo>
              </a:path>
            </a:pathLst>
          </a:custGeom>
          <a:noFill/>
          <a:ln w="28575" cap="flat" cmpd="sng">
            <a:solidFill>
              <a:srgbClr val="FF0000"/>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6" name="Line 94"/>
          <p:cNvSpPr>
            <a:spLocks noChangeShapeType="1"/>
          </p:cNvSpPr>
          <p:nvPr/>
        </p:nvSpPr>
        <p:spPr bwMode="auto">
          <a:xfrm>
            <a:off x="10102851" y="2051050"/>
            <a:ext cx="1157816" cy="0"/>
          </a:xfrm>
          <a:prstGeom prst="line">
            <a:avLst/>
          </a:prstGeom>
          <a:noFill/>
          <a:ln w="38100">
            <a:solidFill>
              <a:srgbClr val="FF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7" name="Line 95"/>
          <p:cNvSpPr>
            <a:spLocks noChangeShapeType="1"/>
          </p:cNvSpPr>
          <p:nvPr/>
        </p:nvSpPr>
        <p:spPr bwMode="auto">
          <a:xfrm flipH="1">
            <a:off x="6182785" y="2789238"/>
            <a:ext cx="569383" cy="0"/>
          </a:xfrm>
          <a:prstGeom prst="line">
            <a:avLst/>
          </a:prstGeom>
          <a:noFill/>
          <a:ln w="19050">
            <a:solidFill>
              <a:srgbClr val="3333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8" name="Line 96"/>
          <p:cNvSpPr>
            <a:spLocks noChangeShapeType="1"/>
          </p:cNvSpPr>
          <p:nvPr/>
        </p:nvSpPr>
        <p:spPr bwMode="auto">
          <a:xfrm flipH="1">
            <a:off x="6182785" y="1819275"/>
            <a:ext cx="569383" cy="0"/>
          </a:xfrm>
          <a:prstGeom prst="line">
            <a:avLst/>
          </a:prstGeom>
          <a:noFill/>
          <a:ln w="19050">
            <a:solidFill>
              <a:srgbClr val="3333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19" name="Line 97"/>
          <p:cNvSpPr>
            <a:spLocks noChangeShapeType="1"/>
          </p:cNvSpPr>
          <p:nvPr/>
        </p:nvSpPr>
        <p:spPr bwMode="auto">
          <a:xfrm flipH="1">
            <a:off x="6925733" y="1260475"/>
            <a:ext cx="569384" cy="0"/>
          </a:xfrm>
          <a:prstGeom prst="line">
            <a:avLst/>
          </a:prstGeom>
          <a:noFill/>
          <a:ln w="19050">
            <a:solidFill>
              <a:srgbClr val="3333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20" name="Line 98"/>
          <p:cNvSpPr>
            <a:spLocks noChangeShapeType="1"/>
          </p:cNvSpPr>
          <p:nvPr/>
        </p:nvSpPr>
        <p:spPr bwMode="auto">
          <a:xfrm flipV="1">
            <a:off x="6485467" y="1260476"/>
            <a:ext cx="742951" cy="557213"/>
          </a:xfrm>
          <a:prstGeom prst="line">
            <a:avLst/>
          </a:prstGeom>
          <a:noFill/>
          <a:ln w="19050">
            <a:solidFill>
              <a:srgbClr val="3333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21" name="Line 99"/>
          <p:cNvSpPr>
            <a:spLocks noChangeShapeType="1"/>
          </p:cNvSpPr>
          <p:nvPr/>
        </p:nvSpPr>
        <p:spPr bwMode="auto">
          <a:xfrm>
            <a:off x="6510867" y="1836739"/>
            <a:ext cx="0" cy="936625"/>
          </a:xfrm>
          <a:prstGeom prst="line">
            <a:avLst/>
          </a:prstGeom>
          <a:noFill/>
          <a:ln w="19050">
            <a:solidFill>
              <a:srgbClr val="3333F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22" name="Text Box 100"/>
          <p:cNvSpPr txBox="1">
            <a:spLocks noChangeArrowheads="1"/>
          </p:cNvSpPr>
          <p:nvPr/>
        </p:nvSpPr>
        <p:spPr bwMode="auto">
          <a:xfrm>
            <a:off x="6489700" y="1196975"/>
            <a:ext cx="63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3333FF"/>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400" b="0" i="1" dirty="0" smtClean="0">
                <a:solidFill>
                  <a:srgbClr val="3333FF"/>
                </a:solidFill>
                <a:latin typeface="Times New Roman" pitchFamily="18" charset="0"/>
                <a:ea typeface="黑体" pitchFamily="49" charset="-122"/>
                <a:cs typeface="Times New Roman" pitchFamily="18" charset="0"/>
              </a:rPr>
              <a:t>t</a:t>
            </a:r>
            <a:endParaRPr kumimoji="1" lang="en-US" altLang="zh-CN" sz="2400" b="0" i="1" dirty="0">
              <a:solidFill>
                <a:srgbClr val="3333FF"/>
              </a:solidFill>
              <a:latin typeface="Times New Roman" pitchFamily="18" charset="0"/>
              <a:ea typeface="黑体" pitchFamily="49" charset="-122"/>
              <a:cs typeface="Times New Roman" pitchFamily="18" charset="0"/>
            </a:endParaRPr>
          </a:p>
        </p:txBody>
      </p:sp>
      <p:sp>
        <p:nvSpPr>
          <p:cNvPr id="76823" name="Text Box 101"/>
          <p:cNvSpPr txBox="1">
            <a:spLocks noChangeArrowheads="1"/>
          </p:cNvSpPr>
          <p:nvPr/>
        </p:nvSpPr>
        <p:spPr bwMode="auto">
          <a:xfrm>
            <a:off x="6076951" y="2035175"/>
            <a:ext cx="63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400" b="0" i="1" dirty="0" smtClean="0">
                <a:solidFill>
                  <a:srgbClr val="3333FF"/>
                </a:solidFill>
                <a:latin typeface="Times New Roman" pitchFamily="18" charset="0"/>
                <a:ea typeface="黑体" pitchFamily="49" charset="-122"/>
                <a:cs typeface="Times New Roman" pitchFamily="18" charset="0"/>
              </a:rPr>
              <a:t>w</a:t>
            </a:r>
            <a:endParaRPr kumimoji="1" lang="en-US" altLang="zh-CN" sz="2400" b="0" i="1" dirty="0">
              <a:solidFill>
                <a:srgbClr val="3333FF"/>
              </a:solidFill>
              <a:latin typeface="Times New Roman" pitchFamily="18" charset="0"/>
              <a:ea typeface="黑体" pitchFamily="49" charset="-122"/>
              <a:cs typeface="Times New Roman" pitchFamily="18" charset="0"/>
            </a:endParaRPr>
          </a:p>
        </p:txBody>
      </p:sp>
      <p:sp>
        <p:nvSpPr>
          <p:cNvPr id="76824" name="Line 102"/>
          <p:cNvSpPr>
            <a:spLocks noChangeShapeType="1"/>
          </p:cNvSpPr>
          <p:nvPr/>
        </p:nvSpPr>
        <p:spPr bwMode="auto">
          <a:xfrm>
            <a:off x="6030384" y="1063625"/>
            <a:ext cx="0" cy="2217738"/>
          </a:xfrm>
          <a:prstGeom prst="line">
            <a:avLst/>
          </a:prstGeom>
          <a:noFill/>
          <a:ln w="28575">
            <a:solidFill>
              <a:srgbClr val="FF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25" name="Text Box 103"/>
          <p:cNvSpPr txBox="1">
            <a:spLocks noChangeArrowheads="1"/>
          </p:cNvSpPr>
          <p:nvPr/>
        </p:nvSpPr>
        <p:spPr bwMode="auto">
          <a:xfrm>
            <a:off x="5310719" y="1835150"/>
            <a:ext cx="6582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spcBef>
                <a:spcPct val="50000"/>
              </a:spcBef>
            </a:pPr>
            <a:r>
              <a:rPr kumimoji="1" lang="en-US" altLang="zh-CN" i="1" dirty="0">
                <a:latin typeface="Times New Roman" panose="02020603050405020304" pitchFamily="18" charset="0"/>
                <a:cs typeface="Times New Roman" panose="02020603050405020304" pitchFamily="18" charset="0"/>
              </a:rPr>
              <a:t>V</a:t>
            </a:r>
            <a:r>
              <a:rPr kumimoji="1" lang="en-US" altLang="zh-CN" baseline="-25000" dirty="0">
                <a:latin typeface="Times New Roman" panose="02020603050405020304" pitchFamily="18" charset="0"/>
                <a:cs typeface="Times New Roman" panose="02020603050405020304" pitchFamily="18" charset="0"/>
              </a:rPr>
              <a:t>H</a:t>
            </a:r>
            <a:endParaRPr kumimoji="1" lang="en-US" altLang="zh-CN" b="0" i="1" baseline="-75000" dirty="0">
              <a:solidFill>
                <a:srgbClr val="FF0000"/>
              </a:solidFill>
              <a:latin typeface="Times New Roman" pitchFamily="18" charset="0"/>
              <a:ea typeface="黑体" pitchFamily="49" charset="-122"/>
              <a:cs typeface="Times New Roman" pitchFamily="18" charset="0"/>
            </a:endParaRPr>
          </a:p>
        </p:txBody>
      </p:sp>
      <p:sp>
        <p:nvSpPr>
          <p:cNvPr id="76826" name="Text Box 104"/>
          <p:cNvSpPr txBox="1">
            <a:spLocks noChangeArrowheads="1"/>
          </p:cNvSpPr>
          <p:nvPr/>
        </p:nvSpPr>
        <p:spPr bwMode="auto">
          <a:xfrm>
            <a:off x="11182351" y="1835150"/>
            <a:ext cx="48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FF"/>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400" b="0" i="1">
                <a:solidFill>
                  <a:srgbClr val="FF00FF"/>
                </a:solidFill>
                <a:latin typeface="Times New Roman" pitchFamily="18" charset="0"/>
                <a:ea typeface="黑体" pitchFamily="49" charset="-122"/>
                <a:cs typeface="Times New Roman" pitchFamily="18" charset="0"/>
              </a:rPr>
              <a:t>I</a:t>
            </a:r>
          </a:p>
        </p:txBody>
      </p:sp>
      <p:sp>
        <p:nvSpPr>
          <p:cNvPr id="76827" name="Line 105"/>
          <p:cNvSpPr>
            <a:spLocks noChangeShapeType="1"/>
          </p:cNvSpPr>
          <p:nvPr/>
        </p:nvSpPr>
        <p:spPr bwMode="auto">
          <a:xfrm flipV="1">
            <a:off x="6908801" y="2214564"/>
            <a:ext cx="1401233" cy="822325"/>
          </a:xfrm>
          <a:prstGeom prst="line">
            <a:avLst/>
          </a:prstGeom>
          <a:noFill/>
          <a:ln w="38100">
            <a:solidFill>
              <a:srgbClr val="3333FF"/>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6828" name="Line 106"/>
          <p:cNvSpPr>
            <a:spLocks noChangeShapeType="1"/>
          </p:cNvSpPr>
          <p:nvPr/>
        </p:nvSpPr>
        <p:spPr bwMode="auto">
          <a:xfrm flipV="1">
            <a:off x="9681633" y="720726"/>
            <a:ext cx="924984" cy="542925"/>
          </a:xfrm>
          <a:prstGeom prst="line">
            <a:avLst/>
          </a:prstGeom>
          <a:noFill/>
          <a:ln w="28575">
            <a:solidFill>
              <a:srgbClr val="3333FF"/>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aphicFrame>
        <p:nvGraphicFramePr>
          <p:cNvPr id="76829" name="对象 107"/>
          <p:cNvGraphicFramePr>
            <a:graphicFrameLocks noChangeAspect="1"/>
          </p:cNvGraphicFramePr>
          <p:nvPr/>
        </p:nvGraphicFramePr>
        <p:xfrm>
          <a:off x="10513484" y="361950"/>
          <a:ext cx="762000" cy="763588"/>
        </p:xfrm>
        <a:graphic>
          <a:graphicData uri="http://schemas.openxmlformats.org/presentationml/2006/ole">
            <mc:AlternateContent xmlns:mc="http://schemas.openxmlformats.org/markup-compatibility/2006">
              <mc:Choice xmlns:v="urn:schemas-microsoft-com:vml" Requires="v">
                <p:oleObj spid="_x0000_s16546" name="Equation" r:id="rId6" imgW="152268" imgH="203024" progId="Equation.DSMT4">
                  <p:embed/>
                </p:oleObj>
              </mc:Choice>
              <mc:Fallback>
                <p:oleObj name="Equation" r:id="rId6" imgW="152268" imgH="20302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13484" y="361950"/>
                        <a:ext cx="762000"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6250518" y="6379647"/>
            <a:ext cx="977900" cy="369332"/>
          </a:xfrm>
          <a:prstGeom prst="rect">
            <a:avLst/>
          </a:prstGeom>
          <a:noFill/>
        </p:spPr>
        <p:txBody>
          <a:bodyPr wrap="square" rtlCol="0">
            <a:spAutoFit/>
          </a:bodyPr>
          <a:lstStyle/>
          <a:p>
            <a:r>
              <a:rPr lang="zh-CN" altLang="en-US" dirty="0"/>
              <a:t>厚度</a:t>
            </a:r>
          </a:p>
        </p:txBody>
      </p:sp>
      <p:sp>
        <p:nvSpPr>
          <p:cNvPr id="3" name="TextBox 2"/>
          <p:cNvSpPr txBox="1"/>
          <p:nvPr/>
        </p:nvSpPr>
        <p:spPr>
          <a:xfrm>
            <a:off x="6301135" y="5033725"/>
            <a:ext cx="876664" cy="369332"/>
          </a:xfrm>
          <a:prstGeom prst="rect">
            <a:avLst/>
          </a:prstGeom>
          <a:noFill/>
        </p:spPr>
        <p:txBody>
          <a:bodyPr wrap="square" rtlCol="0">
            <a:spAutoFit/>
          </a:bodyPr>
          <a:lstStyle/>
          <a:p>
            <a:r>
              <a:rPr lang="zh-CN" altLang="en-US" dirty="0" smtClean="0"/>
              <a:t>宽度</a:t>
            </a:r>
            <a:endParaRPr lang="zh-CN" altLang="en-US" dirty="0"/>
          </a:p>
        </p:txBody>
      </p:sp>
      <p:sp>
        <p:nvSpPr>
          <p:cNvPr id="5" name="TextBox 4"/>
          <p:cNvSpPr txBox="1"/>
          <p:nvPr/>
        </p:nvSpPr>
        <p:spPr>
          <a:xfrm>
            <a:off x="2339139" y="3436939"/>
            <a:ext cx="2338696" cy="461665"/>
          </a:xfrm>
          <a:prstGeom prst="rect">
            <a:avLst/>
          </a:prstGeom>
          <a:noFill/>
        </p:spPr>
        <p:txBody>
          <a:bodyPr wrap="square" rtlCol="0">
            <a:spAutoFit/>
          </a:bodyPr>
          <a:lstStyle/>
          <a:p>
            <a:r>
              <a:rPr lang="zh-CN" altLang="en-US" sz="2400" dirty="0" smtClean="0"/>
              <a:t>该图载流子？</a:t>
            </a:r>
            <a:endParaRPr lang="zh-CN" altLang="en-US" sz="2400" dirty="0"/>
          </a:p>
        </p:txBody>
      </p:sp>
    </p:spTree>
    <p:extLst>
      <p:ext uri="{BB962C8B-B14F-4D97-AF65-F5344CB8AC3E}">
        <p14:creationId xmlns:p14="http://schemas.microsoft.com/office/powerpoint/2010/main" val="2953439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935" y="3199786"/>
            <a:ext cx="8806127" cy="2145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94297" y="18298"/>
            <a:ext cx="3122971" cy="523220"/>
          </a:xfrm>
          <a:prstGeom prst="rect">
            <a:avLst/>
          </a:prstGeom>
          <a:noFill/>
        </p:spPr>
        <p:txBody>
          <a:bodyPr wrap="none" rtlCol="0">
            <a:spAutoFit/>
          </a:bodyPr>
          <a:lstStyle/>
          <a:p>
            <a:r>
              <a:rPr lang="zh-CN" altLang="en-US" sz="2800" b="1" dirty="0" smtClean="0"/>
              <a:t>例</a:t>
            </a:r>
            <a:r>
              <a:rPr lang="en-US" altLang="zh-CN" sz="2800" b="1" dirty="0" smtClean="0"/>
              <a:t>19.5      </a:t>
            </a:r>
            <a:r>
              <a:rPr lang="zh-CN" altLang="en-US" sz="2800" b="1" dirty="0" smtClean="0"/>
              <a:t>霍尔效应</a:t>
            </a:r>
            <a:endParaRPr lang="zh-CN" altLang="en-US" sz="2800" b="1" dirty="0"/>
          </a:p>
        </p:txBody>
      </p:sp>
      <p:sp>
        <p:nvSpPr>
          <p:cNvPr id="4" name="文本框 3"/>
          <p:cNvSpPr txBox="1"/>
          <p:nvPr/>
        </p:nvSpPr>
        <p:spPr>
          <a:xfrm>
            <a:off x="227935" y="541518"/>
            <a:ext cx="11917847" cy="2785378"/>
          </a:xfrm>
          <a:prstGeom prst="rect">
            <a:avLst/>
          </a:prstGeom>
          <a:noFill/>
        </p:spPr>
        <p:txBody>
          <a:bodyPr wrap="square" rtlCol="0">
            <a:spAutoFit/>
          </a:bodyPr>
          <a:lstStyle/>
          <a:p>
            <a:pPr>
              <a:lnSpc>
                <a:spcPct val="125000"/>
              </a:lnSpc>
            </a:pPr>
            <a:r>
              <a:rPr lang="zh-CN" altLang="en-US" sz="2800" b="1" dirty="0" smtClean="0">
                <a:latin typeface="+mn-ea"/>
              </a:rPr>
              <a:t>    一个半导体平板的厚度 </a:t>
            </a:r>
            <a:r>
              <a:rPr lang="en-US" altLang="zh-CN" sz="2800" b="1" i="1" dirty="0" smtClean="0">
                <a:latin typeface="Times New Roman" panose="02020603050405020304" pitchFamily="18" charset="0"/>
                <a:cs typeface="Times New Roman" panose="02020603050405020304" pitchFamily="18" charset="0"/>
              </a:rPr>
              <a:t>t </a:t>
            </a:r>
            <a:r>
              <a:rPr lang="en-US" altLang="zh-CN" sz="2800" b="1" dirty="0" smtClean="0">
                <a:latin typeface="Times New Roman" panose="02020603050405020304" pitchFamily="18" charset="0"/>
                <a:cs typeface="Times New Roman" panose="02020603050405020304" pitchFamily="18" charset="0"/>
              </a:rPr>
              <a:t>= 0.50 mm</a:t>
            </a:r>
            <a:r>
              <a:rPr lang="zh-CN" altLang="en-US" sz="2800" b="1" dirty="0" smtClean="0">
                <a:latin typeface="Times New Roman" panose="02020603050405020304" pitchFamily="18" charset="0"/>
                <a:cs typeface="Times New Roman" panose="02020603050405020304" pitchFamily="18" charset="0"/>
              </a:rPr>
              <a:t>、宽度 </a:t>
            </a:r>
            <a:r>
              <a:rPr lang="en-US" altLang="zh-CN" sz="2800" b="1" i="1" dirty="0" smtClean="0">
                <a:latin typeface="Times New Roman" panose="02020603050405020304" pitchFamily="18" charset="0"/>
                <a:cs typeface="Times New Roman" panose="02020603050405020304" pitchFamily="18" charset="0"/>
              </a:rPr>
              <a:t>w </a:t>
            </a:r>
            <a:r>
              <a:rPr lang="en-US" altLang="zh-CN" sz="2800" b="1" dirty="0" smtClean="0">
                <a:latin typeface="Times New Roman" panose="02020603050405020304" pitchFamily="18" charset="0"/>
                <a:cs typeface="Times New Roman" panose="02020603050405020304" pitchFamily="18" charset="0"/>
              </a:rPr>
              <a:t>= 1.0 cm</a:t>
            </a:r>
            <a:r>
              <a:rPr lang="zh-CN" altLang="en-US" sz="2800" b="1" dirty="0" smtClean="0">
                <a:latin typeface="Times New Roman" panose="02020603050405020304" pitchFamily="18" charset="0"/>
                <a:cs typeface="Times New Roman" panose="02020603050405020304" pitchFamily="18" charset="0"/>
              </a:rPr>
              <a:t>和长度 </a:t>
            </a:r>
            <a:r>
              <a:rPr lang="en-US" altLang="zh-CN" sz="2800" b="1" i="1" dirty="0" smtClean="0">
                <a:latin typeface="Times New Roman" panose="02020603050405020304" pitchFamily="18" charset="0"/>
                <a:cs typeface="Times New Roman" panose="02020603050405020304" pitchFamily="18" charset="0"/>
              </a:rPr>
              <a:t>L </a:t>
            </a:r>
            <a:r>
              <a:rPr lang="en-US" altLang="zh-CN" sz="2800" b="1" dirty="0" smtClean="0">
                <a:latin typeface="Times New Roman" panose="02020603050405020304" pitchFamily="18" charset="0"/>
                <a:cs typeface="Times New Roman" panose="02020603050405020304" pitchFamily="18" charset="0"/>
              </a:rPr>
              <a:t>= 30.0 cm</a:t>
            </a:r>
            <a:r>
              <a:rPr lang="zh-CN" altLang="en-US"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I</a:t>
            </a:r>
            <a:r>
              <a:rPr lang="en-US" altLang="zh-CN" sz="2800" b="1" dirty="0" smtClean="0">
                <a:latin typeface="Times New Roman" panose="02020603050405020304" pitchFamily="18" charset="0"/>
                <a:cs typeface="Times New Roman" panose="02020603050405020304" pitchFamily="18" charset="0"/>
              </a:rPr>
              <a:t> = 2.0 A </a:t>
            </a:r>
            <a:r>
              <a:rPr lang="zh-CN" altLang="en-US" sz="2800" b="1" dirty="0" smtClean="0">
                <a:latin typeface="Times New Roman" panose="02020603050405020304" pitchFamily="18" charset="0"/>
                <a:cs typeface="Times New Roman" panose="02020603050405020304" pitchFamily="18" charset="0"/>
              </a:rPr>
              <a:t>的电流沿其长度方向向右流动。</a:t>
            </a:r>
            <a:r>
              <a:rPr lang="en-US" altLang="zh-CN" sz="2800" b="1" i="1" dirty="0" smtClean="0">
                <a:latin typeface="Times New Roman" panose="02020603050405020304" pitchFamily="18" charset="0"/>
                <a:cs typeface="Times New Roman" panose="02020603050405020304" pitchFamily="18" charset="0"/>
              </a:rPr>
              <a:t>B</a:t>
            </a:r>
            <a:r>
              <a:rPr lang="en-US" altLang="zh-CN" sz="2800" b="1" dirty="0" smtClean="0">
                <a:latin typeface="Times New Roman" panose="02020603050405020304" pitchFamily="18" charset="0"/>
                <a:cs typeface="Times New Roman" panose="02020603050405020304" pitchFamily="18" charset="0"/>
              </a:rPr>
              <a:t> = 0.25 T </a:t>
            </a:r>
            <a:r>
              <a:rPr lang="zh-CN" altLang="en-US" sz="2800" b="1" dirty="0" smtClean="0">
                <a:latin typeface="Times New Roman" panose="02020603050405020304" pitchFamily="18" charset="0"/>
                <a:cs typeface="Times New Roman" panose="02020603050405020304" pitchFamily="18" charset="0"/>
              </a:rPr>
              <a:t>的磁场指入页面，且垂直于板平面。假定载流子是电子，每立方米有 </a:t>
            </a:r>
            <a:r>
              <a:rPr lang="en-US" altLang="zh-CN" sz="2800" b="1" dirty="0" smtClean="0">
                <a:latin typeface="Times New Roman" panose="02020603050405020304" pitchFamily="18" charset="0"/>
                <a:cs typeface="Times New Roman" panose="02020603050405020304" pitchFamily="18" charset="0"/>
              </a:rPr>
              <a:t>7.0</a:t>
            </a:r>
            <a:r>
              <a:rPr lang="en-US" altLang="zh-CN" sz="2800" b="1" dirty="0" smtClean="0"/>
              <a:t>×10</a:t>
            </a:r>
            <a:r>
              <a:rPr lang="en-US" altLang="zh-CN" sz="2800" b="1" baseline="30000" dirty="0" smtClean="0"/>
              <a:t>24 </a:t>
            </a:r>
            <a:r>
              <a:rPr lang="zh-CN" altLang="en-US" sz="2800" b="1" dirty="0" smtClean="0"/>
              <a:t>个移动电子。（</a:t>
            </a:r>
            <a:r>
              <a:rPr lang="en-US" altLang="zh-CN" sz="2800" b="1" dirty="0" smtClean="0"/>
              <a:t>a</a:t>
            </a:r>
            <a:r>
              <a:rPr lang="zh-CN" altLang="en-US" sz="2800" b="1" dirty="0" smtClean="0"/>
              <a:t>）板的横向霍尔效应的大小是多少？（</a:t>
            </a:r>
            <a:r>
              <a:rPr lang="en-US" altLang="zh-CN" sz="2800" b="1" dirty="0" smtClean="0"/>
              <a:t>b</a:t>
            </a:r>
            <a:r>
              <a:rPr lang="zh-CN" altLang="en-US" sz="2800" b="1" dirty="0" smtClean="0"/>
              <a:t>）哪一边（顶部或底部）电势较高？</a:t>
            </a:r>
            <a:endParaRPr lang="zh-CN" altLang="en-US" sz="2800" b="1" dirty="0">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9475588" y="3071018"/>
            <a:ext cx="2208245" cy="2946277"/>
            <a:chOff x="9475588" y="3071018"/>
            <a:chExt cx="2208245" cy="2946277"/>
          </a:xfrm>
        </p:grpSpPr>
        <mc:AlternateContent xmlns:mc="http://schemas.openxmlformats.org/markup-compatibility/2006" xmlns:a14="http://schemas.microsoft.com/office/drawing/2010/main">
          <mc:Choice Requires="a14">
            <p:sp>
              <p:nvSpPr>
                <p:cNvPr id="5" name="TextBox 4"/>
                <p:cNvSpPr txBox="1"/>
                <p:nvPr/>
              </p:nvSpPr>
              <p:spPr>
                <a:xfrm>
                  <a:off x="9475588" y="3071018"/>
                  <a:ext cx="220824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𝐼</m:t>
                        </m:r>
                        <m:r>
                          <a:rPr lang="en-US" altLang="zh-CN" sz="2400" b="0" i="1" smtClean="0">
                            <a:latin typeface="Cambria Math"/>
                          </a:rPr>
                          <m:t>=</m:t>
                        </m:r>
                        <m:r>
                          <a:rPr lang="en-US" altLang="zh-CN" sz="2400" b="0" i="1" smtClean="0">
                            <a:latin typeface="Cambria Math"/>
                          </a:rPr>
                          <m:t>𝑛𝑒𝐴</m:t>
                        </m:r>
                        <m:sSub>
                          <m:sSubPr>
                            <m:ctrlPr>
                              <a:rPr lang="en-US" altLang="zh-CN" sz="2400" b="0" i="1" smtClean="0">
                                <a:latin typeface="Cambria Math"/>
                              </a:rPr>
                            </m:ctrlPr>
                          </m:sSubPr>
                          <m:e>
                            <m:r>
                              <a:rPr lang="en-US" altLang="zh-CN" sz="2400" b="0" i="1" smtClean="0">
                                <a:latin typeface="Cambria Math"/>
                              </a:rPr>
                              <m:t>𝑣</m:t>
                            </m:r>
                          </m:e>
                          <m:sub>
                            <m:r>
                              <a:rPr lang="en-US" altLang="zh-CN" sz="2400" b="0" i="1" smtClean="0">
                                <a:latin typeface="Cambria Math"/>
                              </a:rPr>
                              <m:t>𝐷</m:t>
                            </m:r>
                          </m:sub>
                        </m:sSub>
                      </m:oMath>
                    </m:oMathPara>
                  </a14:m>
                  <a:endParaRPr lang="zh-CN" alt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9475588" y="3071018"/>
                  <a:ext cx="2208245" cy="46166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9574938" y="3605144"/>
                  <a:ext cx="182420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𝐴</m:t>
                        </m:r>
                        <m:r>
                          <a:rPr lang="en-US" altLang="zh-CN" sz="2400" b="0" i="1" smtClean="0">
                            <a:latin typeface="Cambria Math"/>
                          </a:rPr>
                          <m:t>=</m:t>
                        </m:r>
                        <m:r>
                          <a:rPr lang="en-US" altLang="zh-CN" sz="2400" b="0" i="1" smtClean="0">
                            <a:latin typeface="Cambria Math"/>
                          </a:rPr>
                          <m:t>𝑤𝑡</m:t>
                        </m:r>
                      </m:oMath>
                    </m:oMathPara>
                  </a14:m>
                  <a:endParaRPr lang="zh-CN" alt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9574938" y="3605144"/>
                  <a:ext cx="1824203" cy="4616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862970" y="4075482"/>
                  <a:ext cx="1536171" cy="614848"/>
                </a:xfrm>
                <a:prstGeom prst="rect">
                  <a:avLst/>
                </a:prstGeom>
                <a:noFill/>
              </p:spPr>
              <p:txBody>
                <a:bodyPr wrap="square" rtlCol="0">
                  <a:spAutoFit/>
                </a:bodyPr>
                <a:lstStyle/>
                <a:p>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𝑣</m:t>
                          </m:r>
                        </m:e>
                        <m:sub>
                          <m:r>
                            <a:rPr lang="en-US" altLang="zh-CN" sz="2400" b="0" i="1" smtClean="0">
                              <a:latin typeface="Cambria Math"/>
                            </a:rPr>
                            <m:t>𝐷</m:t>
                          </m:r>
                        </m:sub>
                      </m:sSub>
                    </m:oMath>
                  </a14:m>
                  <a:r>
                    <a:rPr lang="zh-CN" altLang="en-US" sz="2400" dirty="0" smtClean="0"/>
                    <a:t> </a:t>
                  </a:r>
                  <a:r>
                    <a:rPr lang="en-US" altLang="zh-CN" sz="2400" dirty="0" smtClean="0"/>
                    <a:t>= </a:t>
                  </a:r>
                  <a14:m>
                    <m:oMath xmlns:m="http://schemas.openxmlformats.org/officeDocument/2006/math">
                      <m:f>
                        <m:fPr>
                          <m:ctrlPr>
                            <a:rPr lang="en-US" altLang="zh-CN" sz="2400" i="1" smtClean="0">
                              <a:latin typeface="Cambria Math"/>
                            </a:rPr>
                          </m:ctrlPr>
                        </m:fPr>
                        <m:num>
                          <m:r>
                            <a:rPr lang="en-US" altLang="zh-CN" sz="2400" b="0" i="1" smtClean="0">
                              <a:latin typeface="Cambria Math"/>
                            </a:rPr>
                            <m:t>𝐸</m:t>
                          </m:r>
                        </m:num>
                        <m:den>
                          <m:r>
                            <a:rPr lang="en-US" altLang="zh-CN" sz="2400" b="0" i="1" smtClean="0">
                              <a:latin typeface="Cambria Math"/>
                            </a:rPr>
                            <m:t>𝐵</m:t>
                          </m:r>
                        </m:den>
                      </m:f>
                    </m:oMath>
                  </a14:m>
                  <a:endParaRPr lang="zh-CN" alt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9862970" y="4075482"/>
                  <a:ext cx="1536171" cy="614848"/>
                </a:xfrm>
                <a:prstGeom prst="rect">
                  <a:avLst/>
                </a:prstGeom>
                <a:blipFill rotWithShape="1">
                  <a:blip r:embed="rId5"/>
                  <a:stretch>
                    <a:fillRect b="-11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9718955" y="4788142"/>
                  <a:ext cx="1824203" cy="461665"/>
                </a:xfrm>
                <a:prstGeom prst="rect">
                  <a:avLst/>
                </a:prstGeom>
                <a:noFill/>
              </p:spPr>
              <p:txBody>
                <a:bodyPr wrap="square" rtlCol="0">
                  <a:spAutoFit/>
                </a:bodyPr>
                <a:lstStyle/>
                <a:p>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𝑉</m:t>
                          </m:r>
                        </m:e>
                        <m:sub>
                          <m:r>
                            <a:rPr lang="en-US" altLang="zh-CN" sz="2400" b="0" i="1" smtClean="0">
                              <a:latin typeface="Cambria Math"/>
                            </a:rPr>
                            <m:t>𝐻</m:t>
                          </m:r>
                        </m:sub>
                      </m:sSub>
                    </m:oMath>
                  </a14:m>
                  <a:r>
                    <a:rPr lang="zh-CN" altLang="en-US" sz="2400" dirty="0" smtClean="0"/>
                    <a:t> </a:t>
                  </a:r>
                  <a:r>
                    <a:rPr lang="en-US" altLang="zh-CN" sz="2400" dirty="0" smtClean="0"/>
                    <a:t>= </a:t>
                  </a:r>
                  <a14:m>
                    <m:oMath xmlns:m="http://schemas.openxmlformats.org/officeDocument/2006/math">
                      <m:r>
                        <a:rPr lang="en-US" altLang="zh-CN" sz="2400" b="0" i="1" smtClean="0">
                          <a:latin typeface="Cambria Math"/>
                        </a:rPr>
                        <m:t>𝐸𝑤</m:t>
                      </m:r>
                    </m:oMath>
                  </a14:m>
                  <a:endParaRPr lang="zh-CN" alt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9718955" y="4788142"/>
                  <a:ext cx="1824203" cy="461665"/>
                </a:xfrm>
                <a:prstGeom prst="rect">
                  <a:avLst/>
                </a:prstGeom>
                <a:blipFill rotWithShape="1">
                  <a:blip r:embed="rId6"/>
                  <a:stretch>
                    <a:fillRect l="-667"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9763620" y="5400459"/>
                  <a:ext cx="1920213" cy="616836"/>
                </a:xfrm>
                <a:prstGeom prst="rect">
                  <a:avLst/>
                </a:prstGeom>
                <a:noFill/>
              </p:spPr>
              <p:txBody>
                <a:bodyPr wrap="square" rtlCol="0">
                  <a:spAutoFit/>
                </a:bodyPr>
                <a:lstStyle/>
                <a:p>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𝑉</m:t>
                          </m:r>
                        </m:e>
                        <m:sub>
                          <m:r>
                            <a:rPr lang="en-US" altLang="zh-CN" sz="2400" b="0" i="1" smtClean="0">
                              <a:latin typeface="Cambria Math"/>
                            </a:rPr>
                            <m:t>𝐻</m:t>
                          </m:r>
                        </m:sub>
                      </m:sSub>
                    </m:oMath>
                  </a14:m>
                  <a:r>
                    <a:rPr lang="zh-CN" altLang="en-US" sz="2400" dirty="0" smtClean="0"/>
                    <a:t> </a:t>
                  </a:r>
                  <a:r>
                    <a:rPr lang="en-US" altLang="zh-CN" sz="2400" dirty="0" smtClean="0"/>
                    <a:t>= </a:t>
                  </a:r>
                  <a14:m>
                    <m:oMath xmlns:m="http://schemas.openxmlformats.org/officeDocument/2006/math">
                      <m:f>
                        <m:fPr>
                          <m:ctrlPr>
                            <a:rPr lang="en-US" altLang="zh-CN" sz="2400" i="1" smtClean="0">
                              <a:latin typeface="Cambria Math"/>
                            </a:rPr>
                          </m:ctrlPr>
                        </m:fPr>
                        <m:num>
                          <m:r>
                            <a:rPr lang="en-US" altLang="zh-CN" sz="2400" b="0" i="1" smtClean="0">
                              <a:latin typeface="Cambria Math"/>
                            </a:rPr>
                            <m:t>𝐵𝐼</m:t>
                          </m:r>
                        </m:num>
                        <m:den>
                          <m:r>
                            <a:rPr lang="en-US" altLang="zh-CN" sz="2400" b="0" i="1" smtClean="0">
                              <a:latin typeface="Cambria Math"/>
                            </a:rPr>
                            <m:t>𝑛𝑒𝑡</m:t>
                          </m:r>
                        </m:den>
                      </m:f>
                    </m:oMath>
                  </a14:m>
                  <a:endParaRPr lang="zh-CN" alt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9763620" y="5400459"/>
                  <a:ext cx="1920213" cy="616836"/>
                </a:xfrm>
                <a:prstGeom prst="rect">
                  <a:avLst/>
                </a:prstGeom>
                <a:blipFill rotWithShape="1">
                  <a:blip r:embed="rId7"/>
                  <a:stretch>
                    <a:fillRect b="-9901"/>
                  </a:stretch>
                </a:blipFill>
              </p:spPr>
              <p:txBody>
                <a:bodyPr/>
                <a:lstStyle/>
                <a:p>
                  <a:r>
                    <a:rPr lang="zh-CN" altLang="en-US">
                      <a:noFill/>
                    </a:rPr>
                    <a:t> </a:t>
                  </a:r>
                </a:p>
              </p:txBody>
            </p:sp>
          </mc:Fallback>
        </mc:AlternateContent>
      </p:grpSp>
      <p:sp>
        <p:nvSpPr>
          <p:cNvPr id="10" name="TextBox 9"/>
          <p:cNvSpPr txBox="1"/>
          <p:nvPr/>
        </p:nvSpPr>
        <p:spPr>
          <a:xfrm>
            <a:off x="370547" y="6038154"/>
            <a:ext cx="8663515" cy="523220"/>
          </a:xfrm>
          <a:prstGeom prst="rect">
            <a:avLst/>
          </a:prstGeom>
          <a:noFill/>
        </p:spPr>
        <p:txBody>
          <a:bodyPr wrap="square" rtlCol="0">
            <a:spAutoFit/>
          </a:bodyPr>
          <a:lstStyle/>
          <a:p>
            <a:r>
              <a:rPr lang="zh-CN" altLang="en-US" sz="2800" b="1" dirty="0" smtClean="0">
                <a:solidFill>
                  <a:srgbClr val="FF0000"/>
                </a:solidFill>
              </a:rPr>
              <a:t>载流子是空穴，霍尔电压将有什么不同？</a:t>
            </a:r>
            <a:endParaRPr lang="zh-CN" altLang="en-US" sz="2800" b="1" dirty="0">
              <a:solidFill>
                <a:srgbClr val="FF0000"/>
              </a:solidFill>
            </a:endParaRPr>
          </a:p>
        </p:txBody>
      </p:sp>
      <p:sp>
        <p:nvSpPr>
          <p:cNvPr id="12" name="TextBox 11"/>
          <p:cNvSpPr txBox="1"/>
          <p:nvPr/>
        </p:nvSpPr>
        <p:spPr>
          <a:xfrm>
            <a:off x="370547" y="5386026"/>
            <a:ext cx="4489552" cy="523220"/>
          </a:xfrm>
          <a:prstGeom prst="rect">
            <a:avLst/>
          </a:prstGeom>
          <a:noFill/>
        </p:spPr>
        <p:txBody>
          <a:bodyPr wrap="square" rtlCol="0">
            <a:spAutoFit/>
          </a:bodyPr>
          <a:lstStyle/>
          <a:p>
            <a:r>
              <a:rPr lang="zh-CN" altLang="en-US" sz="2800" b="1" dirty="0" smtClean="0">
                <a:solidFill>
                  <a:srgbClr val="FF0000"/>
                </a:solidFill>
              </a:rPr>
              <a:t>（</a:t>
            </a:r>
            <a:r>
              <a:rPr lang="en-US" altLang="zh-CN" sz="2800" b="1" dirty="0" smtClean="0">
                <a:solidFill>
                  <a:srgbClr val="FF0000"/>
                </a:solidFill>
              </a:rPr>
              <a:t>b</a:t>
            </a:r>
            <a:r>
              <a:rPr lang="zh-CN" altLang="en-US" sz="2800" b="1" dirty="0" smtClean="0">
                <a:solidFill>
                  <a:srgbClr val="FF0000"/>
                </a:solidFill>
              </a:rPr>
              <a:t>）下板的电势较高。</a:t>
            </a:r>
            <a:endParaRPr lang="zh-CN" altLang="en-US" sz="2800" b="1" dirty="0">
              <a:solidFill>
                <a:srgbClr val="FF0000"/>
              </a:solidFill>
            </a:endParaRPr>
          </a:p>
        </p:txBody>
      </p:sp>
      <p:sp>
        <p:nvSpPr>
          <p:cNvPr id="13" name="TextBox 12"/>
          <p:cNvSpPr txBox="1"/>
          <p:nvPr/>
        </p:nvSpPr>
        <p:spPr>
          <a:xfrm>
            <a:off x="7296377" y="6055482"/>
            <a:ext cx="2566593" cy="707886"/>
          </a:xfrm>
          <a:prstGeom prst="rect">
            <a:avLst/>
          </a:prstGeom>
          <a:noFill/>
        </p:spPr>
        <p:txBody>
          <a:bodyPr wrap="square" rtlCol="0">
            <a:spAutoFit/>
          </a:bodyPr>
          <a:lstStyle/>
          <a:p>
            <a:r>
              <a:rPr lang="zh-CN" altLang="en-US" sz="2000" b="1" dirty="0" smtClean="0">
                <a:solidFill>
                  <a:srgbClr val="FF0000"/>
                </a:solidFill>
              </a:rPr>
              <a:t>相同大小的霍尔电压，但极性相反。</a:t>
            </a:r>
            <a:endParaRPr lang="zh-CN" altLang="en-US" sz="2000" b="1" dirty="0">
              <a:solidFill>
                <a:srgbClr val="FF0000"/>
              </a:solidFill>
            </a:endParaRPr>
          </a:p>
        </p:txBody>
      </p:sp>
    </p:spTree>
    <p:extLst>
      <p:ext uri="{BB962C8B-B14F-4D97-AF65-F5344CB8AC3E}">
        <p14:creationId xmlns:p14="http://schemas.microsoft.com/office/powerpoint/2010/main" val="2067482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Line 2"/>
          <p:cNvSpPr>
            <a:spLocks noChangeShapeType="1"/>
          </p:cNvSpPr>
          <p:nvPr/>
        </p:nvSpPr>
        <p:spPr bwMode="auto">
          <a:xfrm>
            <a:off x="9491134" y="4368800"/>
            <a:ext cx="2461684" cy="0"/>
          </a:xfrm>
          <a:prstGeom prst="line">
            <a:avLst/>
          </a:prstGeom>
          <a:noFill/>
          <a:ln w="412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698371" name="Line 3"/>
          <p:cNvSpPr>
            <a:spLocks noChangeShapeType="1"/>
          </p:cNvSpPr>
          <p:nvPr/>
        </p:nvSpPr>
        <p:spPr bwMode="auto">
          <a:xfrm flipV="1">
            <a:off x="9491133" y="2997200"/>
            <a:ext cx="0" cy="1371600"/>
          </a:xfrm>
          <a:prstGeom prst="line">
            <a:avLst/>
          </a:prstGeom>
          <a:noFill/>
          <a:ln w="412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698372" name="Line 4"/>
          <p:cNvSpPr>
            <a:spLocks noChangeShapeType="1"/>
          </p:cNvSpPr>
          <p:nvPr/>
        </p:nvSpPr>
        <p:spPr bwMode="auto">
          <a:xfrm flipV="1">
            <a:off x="9592733" y="3302000"/>
            <a:ext cx="1930400" cy="9906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aphicFrame>
        <p:nvGraphicFramePr>
          <p:cNvPr id="698374" name="Object 6"/>
          <p:cNvGraphicFramePr>
            <a:graphicFrameLocks noChangeAspect="1"/>
          </p:cNvGraphicFramePr>
          <p:nvPr/>
        </p:nvGraphicFramePr>
        <p:xfrm>
          <a:off x="11495618" y="3975101"/>
          <a:ext cx="334433" cy="276225"/>
        </p:xfrm>
        <a:graphic>
          <a:graphicData uri="http://schemas.openxmlformats.org/presentationml/2006/ole">
            <mc:AlternateContent xmlns:mc="http://schemas.openxmlformats.org/markup-compatibility/2006">
              <mc:Choice xmlns:v="urn:schemas-microsoft-com:vml" Requires="v">
                <p:oleObj spid="_x0000_s18094" name="Equation" r:id="rId3" imgW="152268" imgH="164957" progId="Equation.DSMT4">
                  <p:embed/>
                </p:oleObj>
              </mc:Choice>
              <mc:Fallback>
                <p:oleObj name="Equation" r:id="rId3" imgW="152268" imgH="16495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5618" y="3975101"/>
                        <a:ext cx="33443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31" name="Text Box 7"/>
          <p:cNvSpPr txBox="1">
            <a:spLocks noChangeArrowheads="1"/>
          </p:cNvSpPr>
          <p:nvPr/>
        </p:nvSpPr>
        <p:spPr bwMode="auto">
          <a:xfrm>
            <a:off x="431800" y="746126"/>
            <a:ext cx="6705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zh-CN" altLang="en-US" sz="2400" dirty="0">
                <a:latin typeface="+mn-ea"/>
                <a:ea typeface="+mn-ea"/>
                <a:cs typeface="Times New Roman" pitchFamily="18" charset="0"/>
              </a:rPr>
              <a:t>假设载流子是负电荷，定向</a:t>
            </a:r>
            <a:r>
              <a:rPr kumimoji="1" lang="zh-CN" altLang="en-US" sz="2400" dirty="0">
                <a:solidFill>
                  <a:srgbClr val="0000FF"/>
                </a:solidFill>
                <a:latin typeface="+mn-ea"/>
                <a:ea typeface="+mn-ea"/>
                <a:cs typeface="Times New Roman" pitchFamily="18" charset="0"/>
              </a:rPr>
              <a:t>漂移速度为</a:t>
            </a:r>
            <a:r>
              <a:rPr kumimoji="1" lang="en-US" altLang="zh-CN" sz="3200" i="1" dirty="0" err="1" smtClean="0">
                <a:solidFill>
                  <a:srgbClr val="0000FF"/>
                </a:solidFill>
                <a:latin typeface="Times New Roman" panose="02020603050405020304" pitchFamily="18" charset="0"/>
                <a:ea typeface="+mn-ea"/>
                <a:cs typeface="Times New Roman" panose="02020603050405020304" pitchFamily="18" charset="0"/>
              </a:rPr>
              <a:t>v</a:t>
            </a:r>
            <a:r>
              <a:rPr kumimoji="1" lang="en-US" altLang="zh-CN" sz="3200" baseline="-25000" dirty="0" err="1" smtClean="0">
                <a:solidFill>
                  <a:srgbClr val="0000FF"/>
                </a:solidFill>
                <a:latin typeface="Times New Roman" panose="02020603050405020304" pitchFamily="18" charset="0"/>
                <a:ea typeface="+mn-ea"/>
                <a:cs typeface="Times New Roman" panose="02020603050405020304" pitchFamily="18" charset="0"/>
              </a:rPr>
              <a:t>D</a:t>
            </a:r>
            <a:r>
              <a:rPr kumimoji="1" lang="zh-CN" altLang="en-US" sz="2400" dirty="0" smtClean="0">
                <a:solidFill>
                  <a:srgbClr val="0000FF"/>
                </a:solidFill>
                <a:latin typeface="+mn-ea"/>
                <a:ea typeface="+mn-ea"/>
                <a:cs typeface="Times New Roman" pitchFamily="18" charset="0"/>
              </a:rPr>
              <a:t>与</a:t>
            </a:r>
            <a:r>
              <a:rPr kumimoji="1" lang="zh-CN" altLang="en-US" sz="2400" dirty="0">
                <a:solidFill>
                  <a:srgbClr val="0000FF"/>
                </a:solidFill>
                <a:latin typeface="+mn-ea"/>
                <a:ea typeface="+mn-ea"/>
                <a:cs typeface="Times New Roman" pitchFamily="18" charset="0"/>
              </a:rPr>
              <a:t>电流反向</a:t>
            </a:r>
            <a:r>
              <a:rPr kumimoji="1" lang="zh-CN" altLang="en-US" sz="2400" dirty="0">
                <a:latin typeface="+mn-ea"/>
                <a:ea typeface="+mn-ea"/>
                <a:cs typeface="Times New Roman" pitchFamily="18" charset="0"/>
              </a:rPr>
              <a:t>，磁场中的洛仑兹力使载流子运动，形成</a:t>
            </a:r>
            <a:r>
              <a:rPr kumimoji="1" lang="zh-CN" altLang="en-US" sz="2400" dirty="0">
                <a:solidFill>
                  <a:srgbClr val="FF3300"/>
                </a:solidFill>
                <a:latin typeface="+mn-ea"/>
                <a:ea typeface="+mn-ea"/>
                <a:cs typeface="Times New Roman" pitchFamily="18" charset="0"/>
              </a:rPr>
              <a:t>霍耳电场</a:t>
            </a:r>
            <a:r>
              <a:rPr kumimoji="1" lang="zh-CN" altLang="en-US" sz="2400" dirty="0">
                <a:latin typeface="+mn-ea"/>
                <a:ea typeface="+mn-ea"/>
                <a:cs typeface="Times New Roman" pitchFamily="18" charset="0"/>
              </a:rPr>
              <a:t>。</a:t>
            </a:r>
          </a:p>
        </p:txBody>
      </p:sp>
      <p:sp>
        <p:nvSpPr>
          <p:cNvPr id="698376" name="Text Box 8"/>
          <p:cNvSpPr txBox="1">
            <a:spLocks noChangeArrowheads="1"/>
          </p:cNvSpPr>
          <p:nvPr/>
        </p:nvSpPr>
        <p:spPr bwMode="auto">
          <a:xfrm>
            <a:off x="431801" y="2205038"/>
            <a:ext cx="6913033"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zh-CN" altLang="en-US" sz="2400" dirty="0">
                <a:latin typeface="+mn-ea"/>
                <a:ea typeface="+mn-ea"/>
                <a:cs typeface="Times New Roman" pitchFamily="18" charset="0"/>
              </a:rPr>
              <a:t>电场力与洛仑兹力平衡时电子的漂移达到动态平衡，从而形成横向电势差。</a:t>
            </a:r>
          </a:p>
        </p:txBody>
      </p:sp>
      <p:graphicFrame>
        <p:nvGraphicFramePr>
          <p:cNvPr id="698378" name="Object 10"/>
          <p:cNvGraphicFramePr>
            <a:graphicFrameLocks noChangeAspect="1"/>
          </p:cNvGraphicFramePr>
          <p:nvPr>
            <p:extLst>
              <p:ext uri="{D42A27DB-BD31-4B8C-83A1-F6EECF244321}">
                <p14:modId xmlns:p14="http://schemas.microsoft.com/office/powerpoint/2010/main" val="2342452682"/>
              </p:ext>
            </p:extLst>
          </p:nvPr>
        </p:nvGraphicFramePr>
        <p:xfrm>
          <a:off x="603251" y="3035300"/>
          <a:ext cx="2709333" cy="590550"/>
        </p:xfrm>
        <a:graphic>
          <a:graphicData uri="http://schemas.openxmlformats.org/presentationml/2006/ole">
            <mc:AlternateContent xmlns:mc="http://schemas.openxmlformats.org/markup-compatibility/2006">
              <mc:Choice xmlns:v="urn:schemas-microsoft-com:vml" Requires="v">
                <p:oleObj spid="_x0000_s18095" name="Equation" r:id="rId5" imgW="787320" imgH="228600" progId="Equation.DSMT4">
                  <p:embed/>
                </p:oleObj>
              </mc:Choice>
              <mc:Fallback>
                <p:oleObj name="Equation" r:id="rId5" imgW="78732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251" y="3035300"/>
                        <a:ext cx="2709333" cy="590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8379" name="Object 11"/>
          <p:cNvGraphicFramePr>
            <a:graphicFrameLocks noChangeAspect="1"/>
          </p:cNvGraphicFramePr>
          <p:nvPr>
            <p:extLst>
              <p:ext uri="{D42A27DB-BD31-4B8C-83A1-F6EECF244321}">
                <p14:modId xmlns:p14="http://schemas.microsoft.com/office/powerpoint/2010/main" val="3080612277"/>
              </p:ext>
            </p:extLst>
          </p:nvPr>
        </p:nvGraphicFramePr>
        <p:xfrm>
          <a:off x="4059767" y="3057525"/>
          <a:ext cx="1917700" cy="554038"/>
        </p:xfrm>
        <a:graphic>
          <a:graphicData uri="http://schemas.openxmlformats.org/presentationml/2006/ole">
            <mc:AlternateContent xmlns:mc="http://schemas.openxmlformats.org/markup-compatibility/2006">
              <mc:Choice xmlns:v="urn:schemas-microsoft-com:vml" Requires="v">
                <p:oleObj spid="_x0000_s18096" name="Equation" r:id="rId7" imgW="596880" imgH="228600" progId="Equation.DSMT4">
                  <p:embed/>
                </p:oleObj>
              </mc:Choice>
              <mc:Fallback>
                <p:oleObj name="Equation" r:id="rId7" imgW="59688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9767" y="3057525"/>
                        <a:ext cx="1917700" cy="5540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8380" name="Object 12"/>
          <p:cNvGraphicFramePr>
            <a:graphicFrameLocks noChangeAspect="1"/>
          </p:cNvGraphicFramePr>
          <p:nvPr>
            <p:extLst>
              <p:ext uri="{D42A27DB-BD31-4B8C-83A1-F6EECF244321}">
                <p14:modId xmlns:p14="http://schemas.microsoft.com/office/powerpoint/2010/main" val="3131956315"/>
              </p:ext>
            </p:extLst>
          </p:nvPr>
        </p:nvGraphicFramePr>
        <p:xfrm>
          <a:off x="3544888" y="3933825"/>
          <a:ext cx="2571750" cy="550863"/>
        </p:xfrm>
        <a:graphic>
          <a:graphicData uri="http://schemas.openxmlformats.org/presentationml/2006/ole">
            <mc:AlternateContent xmlns:mc="http://schemas.openxmlformats.org/markup-compatibility/2006">
              <mc:Choice xmlns:v="urn:schemas-microsoft-com:vml" Requires="v">
                <p:oleObj spid="_x0000_s18097" name="Equation" r:id="rId9" imgW="799920" imgH="228600" progId="Equation.DSMT4">
                  <p:embed/>
                </p:oleObj>
              </mc:Choice>
              <mc:Fallback>
                <p:oleObj name="Equation" r:id="rId9" imgW="799920" imgH="228600" progId="Equation.DSMT4">
                  <p:embed/>
                  <p:pic>
                    <p:nvPicPr>
                      <p:cNvPr id="0" name=""/>
                      <p:cNvPicPr>
                        <a:picLocks noChangeAspect="1" noChangeArrowheads="1"/>
                      </p:cNvPicPr>
                      <p:nvPr/>
                    </p:nvPicPr>
                    <p:blipFill>
                      <a:blip r:embed="rId10"/>
                      <a:srcRect/>
                      <a:stretch>
                        <a:fillRect/>
                      </a:stretch>
                    </p:blipFill>
                    <p:spPr bwMode="auto">
                      <a:xfrm>
                        <a:off x="3544888" y="3933825"/>
                        <a:ext cx="2571750" cy="5508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8381" name="Object 13"/>
          <p:cNvGraphicFramePr>
            <a:graphicFrameLocks noChangeAspect="1"/>
          </p:cNvGraphicFramePr>
          <p:nvPr>
            <p:extLst>
              <p:ext uri="{D42A27DB-BD31-4B8C-83A1-F6EECF244321}">
                <p14:modId xmlns:p14="http://schemas.microsoft.com/office/powerpoint/2010/main" val="1983515110"/>
              </p:ext>
            </p:extLst>
          </p:nvPr>
        </p:nvGraphicFramePr>
        <p:xfrm>
          <a:off x="3644900" y="4365625"/>
          <a:ext cx="2159000" cy="1027113"/>
        </p:xfrm>
        <a:graphic>
          <a:graphicData uri="http://schemas.openxmlformats.org/presentationml/2006/ole">
            <mc:AlternateContent xmlns:mc="http://schemas.openxmlformats.org/markup-compatibility/2006">
              <mc:Choice xmlns:v="urn:schemas-microsoft-com:vml" Requires="v">
                <p:oleObj spid="_x0000_s18098" name="Equation" r:id="rId11" imgW="660240" imgH="419040" progId="Equation.DSMT4">
                  <p:embed/>
                </p:oleObj>
              </mc:Choice>
              <mc:Fallback>
                <p:oleObj name="Equation" r:id="rId11" imgW="660240" imgH="419040" progId="Equation.DSMT4">
                  <p:embed/>
                  <p:pic>
                    <p:nvPicPr>
                      <p:cNvPr id="0" name=""/>
                      <p:cNvPicPr>
                        <a:picLocks noChangeAspect="1" noChangeArrowheads="1"/>
                      </p:cNvPicPr>
                      <p:nvPr/>
                    </p:nvPicPr>
                    <p:blipFill>
                      <a:blip r:embed="rId12"/>
                      <a:srcRect/>
                      <a:stretch>
                        <a:fillRect/>
                      </a:stretch>
                    </p:blipFill>
                    <p:spPr bwMode="auto">
                      <a:xfrm>
                        <a:off x="3644900" y="4365625"/>
                        <a:ext cx="2159000" cy="102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8382" name="Object 14"/>
          <p:cNvGraphicFramePr>
            <a:graphicFrameLocks noChangeAspect="1"/>
          </p:cNvGraphicFramePr>
          <p:nvPr>
            <p:extLst>
              <p:ext uri="{D42A27DB-BD31-4B8C-83A1-F6EECF244321}">
                <p14:modId xmlns:p14="http://schemas.microsoft.com/office/powerpoint/2010/main" val="1005993641"/>
              </p:ext>
            </p:extLst>
          </p:nvPr>
        </p:nvGraphicFramePr>
        <p:xfrm>
          <a:off x="7005638" y="4273550"/>
          <a:ext cx="1689100" cy="890588"/>
        </p:xfrm>
        <a:graphic>
          <a:graphicData uri="http://schemas.openxmlformats.org/presentationml/2006/ole">
            <mc:AlternateContent xmlns:mc="http://schemas.openxmlformats.org/markup-compatibility/2006">
              <mc:Choice xmlns:v="urn:schemas-microsoft-com:vml" Requires="v">
                <p:oleObj spid="_x0000_s18099" name="Equation" r:id="rId13" imgW="558720" imgH="393480" progId="Equation.DSMT4">
                  <p:embed/>
                </p:oleObj>
              </mc:Choice>
              <mc:Fallback>
                <p:oleObj name="Equation" r:id="rId13" imgW="558720" imgH="393480" progId="Equation.DSMT4">
                  <p:embed/>
                  <p:pic>
                    <p:nvPicPr>
                      <p:cNvPr id="0" name=""/>
                      <p:cNvPicPr>
                        <a:picLocks noChangeAspect="1" noChangeArrowheads="1"/>
                      </p:cNvPicPr>
                      <p:nvPr/>
                    </p:nvPicPr>
                    <p:blipFill>
                      <a:blip r:embed="rId14"/>
                      <a:srcRect/>
                      <a:stretch>
                        <a:fillRect/>
                      </a:stretch>
                    </p:blipFill>
                    <p:spPr bwMode="auto">
                      <a:xfrm>
                        <a:off x="7005638" y="4273550"/>
                        <a:ext cx="1689100" cy="8905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8383" name="Line 15"/>
          <p:cNvSpPr>
            <a:spLocks noChangeShapeType="1"/>
          </p:cNvSpPr>
          <p:nvPr/>
        </p:nvSpPr>
        <p:spPr bwMode="auto">
          <a:xfrm>
            <a:off x="6136218" y="4244975"/>
            <a:ext cx="641349" cy="304800"/>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698384" name="Line 16"/>
          <p:cNvSpPr>
            <a:spLocks noChangeShapeType="1"/>
          </p:cNvSpPr>
          <p:nvPr/>
        </p:nvSpPr>
        <p:spPr bwMode="auto">
          <a:xfrm flipV="1">
            <a:off x="6136217" y="4724401"/>
            <a:ext cx="558800" cy="309563"/>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graphicFrame>
        <p:nvGraphicFramePr>
          <p:cNvPr id="698385" name="Object 17"/>
          <p:cNvGraphicFramePr>
            <a:graphicFrameLocks noChangeAspect="1"/>
          </p:cNvGraphicFramePr>
          <p:nvPr>
            <p:extLst>
              <p:ext uri="{D42A27DB-BD31-4B8C-83A1-F6EECF244321}">
                <p14:modId xmlns:p14="http://schemas.microsoft.com/office/powerpoint/2010/main" val="2505632366"/>
              </p:ext>
            </p:extLst>
          </p:nvPr>
        </p:nvGraphicFramePr>
        <p:xfrm>
          <a:off x="2751138" y="5370513"/>
          <a:ext cx="1390650" cy="769937"/>
        </p:xfrm>
        <a:graphic>
          <a:graphicData uri="http://schemas.openxmlformats.org/presentationml/2006/ole">
            <mc:AlternateContent xmlns:mc="http://schemas.openxmlformats.org/markup-compatibility/2006">
              <mc:Choice xmlns:v="urn:schemas-microsoft-com:vml" Requires="v">
                <p:oleObj spid="_x0000_s18100" name="Equation" r:id="rId15" imgW="533160" imgH="393480" progId="Equation.DSMT4">
                  <p:embed/>
                </p:oleObj>
              </mc:Choice>
              <mc:Fallback>
                <p:oleObj name="Equation" r:id="rId15" imgW="533160" imgH="393480" progId="Equation.DSMT4">
                  <p:embed/>
                  <p:pic>
                    <p:nvPicPr>
                      <p:cNvPr id="0" name=""/>
                      <p:cNvPicPr>
                        <a:picLocks noChangeAspect="1" noChangeArrowheads="1"/>
                      </p:cNvPicPr>
                      <p:nvPr/>
                    </p:nvPicPr>
                    <p:blipFill>
                      <a:blip r:embed="rId16"/>
                      <a:srcRect/>
                      <a:stretch>
                        <a:fillRect/>
                      </a:stretch>
                    </p:blipFill>
                    <p:spPr bwMode="auto">
                      <a:xfrm>
                        <a:off x="2751138" y="5370513"/>
                        <a:ext cx="1390650" cy="7699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8386" name="Object 18"/>
          <p:cNvGraphicFramePr>
            <a:graphicFrameLocks noChangeAspect="1"/>
          </p:cNvGraphicFramePr>
          <p:nvPr>
            <p:extLst>
              <p:ext uri="{D42A27DB-BD31-4B8C-83A1-F6EECF244321}">
                <p14:modId xmlns:p14="http://schemas.microsoft.com/office/powerpoint/2010/main" val="1245701305"/>
              </p:ext>
            </p:extLst>
          </p:nvPr>
        </p:nvGraphicFramePr>
        <p:xfrm>
          <a:off x="8339667" y="5318126"/>
          <a:ext cx="2118784" cy="847725"/>
        </p:xfrm>
        <a:graphic>
          <a:graphicData uri="http://schemas.openxmlformats.org/presentationml/2006/ole">
            <mc:AlternateContent xmlns:mc="http://schemas.openxmlformats.org/markup-compatibility/2006">
              <mc:Choice xmlns:v="urn:schemas-microsoft-com:vml" Requires="v">
                <p:oleObj spid="_x0000_s18101" name="Equation" r:id="rId17" imgW="736560" imgH="393480" progId="Equation.DSMT4">
                  <p:embed/>
                </p:oleObj>
              </mc:Choice>
              <mc:Fallback>
                <p:oleObj name="Equation" r:id="rId17" imgW="736560" imgH="393480" progId="Equation.DSMT4">
                  <p:embed/>
                  <p:pic>
                    <p:nvPicPr>
                      <p:cNvPr id="0" name=""/>
                      <p:cNvPicPr>
                        <a:picLocks noChangeAspect="1" noChangeArrowheads="1"/>
                      </p:cNvPicPr>
                      <p:nvPr/>
                    </p:nvPicPr>
                    <p:blipFill>
                      <a:blip r:embed="rId18"/>
                      <a:srcRect/>
                      <a:stretch>
                        <a:fillRect/>
                      </a:stretch>
                    </p:blipFill>
                    <p:spPr bwMode="auto">
                      <a:xfrm>
                        <a:off x="8339667" y="5318126"/>
                        <a:ext cx="2118784" cy="8477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8387" name="Line 19"/>
          <p:cNvSpPr>
            <a:spLocks noChangeShapeType="1"/>
          </p:cNvSpPr>
          <p:nvPr/>
        </p:nvSpPr>
        <p:spPr bwMode="auto">
          <a:xfrm>
            <a:off x="4320118" y="5805488"/>
            <a:ext cx="3750733" cy="0"/>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698388" name="Text Box 20"/>
          <p:cNvSpPr txBox="1">
            <a:spLocks noChangeArrowheads="1"/>
          </p:cNvSpPr>
          <p:nvPr/>
        </p:nvSpPr>
        <p:spPr bwMode="auto">
          <a:xfrm>
            <a:off x="719667" y="5445125"/>
            <a:ext cx="2015067"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400">
                <a:solidFill>
                  <a:srgbClr val="0000FF"/>
                </a:solidFill>
                <a:latin typeface="Times New Roman" pitchFamily="18" charset="0"/>
                <a:ea typeface="黑体" pitchFamily="49" charset="-122"/>
                <a:cs typeface="Times New Roman" pitchFamily="18" charset="0"/>
              </a:rPr>
              <a:t>霍耳系数</a:t>
            </a:r>
          </a:p>
        </p:txBody>
      </p:sp>
      <p:sp>
        <p:nvSpPr>
          <p:cNvPr id="77845" name="Text Box 37"/>
          <p:cNvSpPr txBox="1">
            <a:spLocks noChangeArrowheads="1"/>
          </p:cNvSpPr>
          <p:nvPr/>
        </p:nvSpPr>
        <p:spPr bwMode="auto">
          <a:xfrm>
            <a:off x="431800" y="161350"/>
            <a:ext cx="3281668"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buFontTx/>
              <a:buChar char="•"/>
            </a:pPr>
            <a:r>
              <a:rPr kumimoji="1" lang="zh-CN" altLang="en-US" sz="2400" dirty="0">
                <a:solidFill>
                  <a:srgbClr val="FF3300"/>
                </a:solidFill>
                <a:latin typeface="Times New Roman" pitchFamily="18" charset="0"/>
                <a:ea typeface="黑体" pitchFamily="49" charset="-122"/>
                <a:cs typeface="Times New Roman" pitchFamily="18" charset="0"/>
                <a:sym typeface="Symbol" pitchFamily="18" charset="2"/>
              </a:rPr>
              <a:t>霍耳效应的经典</a:t>
            </a:r>
            <a:r>
              <a:rPr kumimoji="1" lang="zh-CN" altLang="en-US" sz="2400" dirty="0" smtClean="0">
                <a:solidFill>
                  <a:srgbClr val="FF3300"/>
                </a:solidFill>
                <a:latin typeface="Times New Roman" pitchFamily="18" charset="0"/>
                <a:ea typeface="黑体" pitchFamily="49" charset="-122"/>
                <a:cs typeface="Times New Roman" pitchFamily="18" charset="0"/>
                <a:sym typeface="Symbol" pitchFamily="18" charset="2"/>
              </a:rPr>
              <a:t>解释</a:t>
            </a:r>
            <a:r>
              <a:rPr kumimoji="1" lang="zh-CN" altLang="en-US" sz="3200" dirty="0" smtClean="0">
                <a:solidFill>
                  <a:srgbClr val="FF3300"/>
                </a:solidFill>
                <a:latin typeface="Times New Roman" pitchFamily="18" charset="0"/>
                <a:ea typeface="黑体" pitchFamily="49" charset="-122"/>
                <a:cs typeface="Times New Roman" pitchFamily="18" charset="0"/>
                <a:sym typeface="Symbol" pitchFamily="18" charset="2"/>
              </a:rPr>
              <a:t>*</a:t>
            </a:r>
            <a:endParaRPr kumimoji="1" lang="zh-CN" altLang="en-US" sz="3200" dirty="0">
              <a:latin typeface="Times New Roman" pitchFamily="18" charset="0"/>
              <a:ea typeface="黑体" pitchFamily="49" charset="-122"/>
              <a:cs typeface="Times New Roman" pitchFamily="18" charset="0"/>
            </a:endParaRPr>
          </a:p>
        </p:txBody>
      </p:sp>
      <p:sp>
        <p:nvSpPr>
          <p:cNvPr id="40" name="Line 15"/>
          <p:cNvSpPr>
            <a:spLocks noChangeShapeType="1"/>
          </p:cNvSpPr>
          <p:nvPr/>
        </p:nvSpPr>
        <p:spPr bwMode="auto">
          <a:xfrm flipV="1">
            <a:off x="3119967" y="4797425"/>
            <a:ext cx="412751" cy="0"/>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41" name="Line 15"/>
          <p:cNvSpPr>
            <a:spLocks noChangeShapeType="1"/>
          </p:cNvSpPr>
          <p:nvPr/>
        </p:nvSpPr>
        <p:spPr bwMode="auto">
          <a:xfrm flipV="1">
            <a:off x="3481918" y="3348038"/>
            <a:ext cx="501649" cy="0"/>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42" name="Line 15"/>
          <p:cNvSpPr>
            <a:spLocks noChangeShapeType="1"/>
          </p:cNvSpPr>
          <p:nvPr/>
        </p:nvSpPr>
        <p:spPr bwMode="auto">
          <a:xfrm>
            <a:off x="4751917" y="3573463"/>
            <a:ext cx="0" cy="360362"/>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grpSp>
        <p:nvGrpSpPr>
          <p:cNvPr id="77849" name="组合 1"/>
          <p:cNvGrpSpPr>
            <a:grpSpLocks/>
          </p:cNvGrpSpPr>
          <p:nvPr/>
        </p:nvGrpSpPr>
        <p:grpSpPr bwMode="auto">
          <a:xfrm>
            <a:off x="7139518" y="300039"/>
            <a:ext cx="5005916" cy="2196445"/>
            <a:chOff x="5354638" y="300038"/>
            <a:chExt cx="3754437" cy="2196445"/>
          </a:xfrm>
        </p:grpSpPr>
        <p:sp>
          <p:nvSpPr>
            <p:cNvPr id="77850" name="Rectangle 22"/>
            <p:cNvSpPr>
              <a:spLocks noChangeArrowheads="1"/>
            </p:cNvSpPr>
            <p:nvPr/>
          </p:nvSpPr>
          <p:spPr bwMode="auto">
            <a:xfrm>
              <a:off x="5813425" y="808038"/>
              <a:ext cx="2249487" cy="1198562"/>
            </a:xfrm>
            <a:prstGeom prst="rect">
              <a:avLst/>
            </a:prstGeom>
            <a:solidFill>
              <a:srgbClr val="FFE8D1"/>
            </a:solidFill>
            <a:ln w="1905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7851" name="Line 23"/>
            <p:cNvSpPr>
              <a:spLocks noChangeShapeType="1"/>
            </p:cNvSpPr>
            <p:nvPr/>
          </p:nvSpPr>
          <p:spPr bwMode="auto">
            <a:xfrm>
              <a:off x="5354638" y="1406525"/>
              <a:ext cx="458787" cy="0"/>
            </a:xfrm>
            <a:prstGeom prst="line">
              <a:avLst/>
            </a:prstGeom>
            <a:noFill/>
            <a:ln w="28575">
              <a:solidFill>
                <a:srgbClr val="FF00FF"/>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7852" name="Line 24"/>
            <p:cNvSpPr>
              <a:spLocks noChangeShapeType="1"/>
            </p:cNvSpPr>
            <p:nvPr/>
          </p:nvSpPr>
          <p:spPr bwMode="auto">
            <a:xfrm>
              <a:off x="8080375" y="1397000"/>
              <a:ext cx="558800" cy="0"/>
            </a:xfrm>
            <a:prstGeom prst="line">
              <a:avLst/>
            </a:prstGeom>
            <a:noFill/>
            <a:ln w="28575">
              <a:solidFill>
                <a:srgbClr val="FF00FF"/>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7853" name="Oval 25"/>
            <p:cNvSpPr>
              <a:spLocks noChangeArrowheads="1"/>
            </p:cNvSpPr>
            <p:nvPr/>
          </p:nvSpPr>
          <p:spPr bwMode="auto">
            <a:xfrm>
              <a:off x="6053138" y="1265238"/>
              <a:ext cx="296862" cy="296862"/>
            </a:xfrm>
            <a:prstGeom prst="ellipse">
              <a:avLst/>
            </a:prstGeom>
            <a:solidFill>
              <a:schemeClr val="bg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60000"/>
                </a:lnSpc>
              </a:pPr>
              <a:r>
                <a:rPr kumimoji="1" lang="en-US" altLang="zh-CN" sz="2800" b="0">
                  <a:latin typeface="Times New Roman" pitchFamily="18" charset="0"/>
                  <a:ea typeface="黑体" pitchFamily="49" charset="-122"/>
                  <a:cs typeface="Times New Roman" pitchFamily="18" charset="0"/>
                  <a:sym typeface="Symbol" pitchFamily="18" charset="2"/>
                </a:rPr>
                <a:t></a:t>
              </a:r>
              <a:endParaRPr kumimoji="1" lang="en-US" altLang="zh-CN" sz="2800" b="0">
                <a:latin typeface="Times New Roman" pitchFamily="18" charset="0"/>
                <a:ea typeface="黑体" pitchFamily="49" charset="-122"/>
                <a:cs typeface="Times New Roman" pitchFamily="18" charset="0"/>
              </a:endParaRPr>
            </a:p>
          </p:txBody>
        </p:sp>
        <p:sp>
          <p:nvSpPr>
            <p:cNvPr id="77854" name="Oval 26"/>
            <p:cNvSpPr>
              <a:spLocks noChangeArrowheads="1"/>
            </p:cNvSpPr>
            <p:nvPr/>
          </p:nvSpPr>
          <p:spPr bwMode="auto">
            <a:xfrm>
              <a:off x="7062788" y="1265238"/>
              <a:ext cx="296862" cy="296862"/>
            </a:xfrm>
            <a:prstGeom prst="ellipse">
              <a:avLst/>
            </a:prstGeom>
            <a:solidFill>
              <a:schemeClr val="bg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80000"/>
                </a:lnSpc>
              </a:pPr>
              <a:r>
                <a:rPr kumimoji="1" lang="en-US" altLang="zh-CN" sz="2800" b="0">
                  <a:latin typeface="Times New Roman" pitchFamily="18" charset="0"/>
                  <a:ea typeface="黑体" pitchFamily="49" charset="-122"/>
                  <a:cs typeface="Times New Roman" pitchFamily="18" charset="0"/>
                </a:rPr>
                <a:t>–</a:t>
              </a:r>
            </a:p>
          </p:txBody>
        </p:sp>
        <p:sp>
          <p:nvSpPr>
            <p:cNvPr id="77855" name="Rectangle 28"/>
            <p:cNvSpPr>
              <a:spLocks noChangeArrowheads="1"/>
            </p:cNvSpPr>
            <p:nvPr/>
          </p:nvSpPr>
          <p:spPr bwMode="auto">
            <a:xfrm>
              <a:off x="5888038" y="300038"/>
              <a:ext cx="14850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sz="2800">
                  <a:solidFill>
                    <a:srgbClr val="3333FF"/>
                  </a:solidFill>
                  <a:latin typeface="Times New Roman" pitchFamily="18" charset="0"/>
                  <a:ea typeface="黑体" pitchFamily="49" charset="-122"/>
                  <a:cs typeface="Times New Roman" pitchFamily="18" charset="0"/>
                </a:rPr>
                <a:t>–       –       –</a:t>
              </a:r>
            </a:p>
          </p:txBody>
        </p:sp>
        <p:sp>
          <p:nvSpPr>
            <p:cNvPr id="77856" name="Rectangle 29"/>
            <p:cNvSpPr>
              <a:spLocks noChangeArrowheads="1"/>
            </p:cNvSpPr>
            <p:nvPr/>
          </p:nvSpPr>
          <p:spPr bwMode="auto">
            <a:xfrm>
              <a:off x="5888038" y="1973263"/>
              <a:ext cx="15355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sz="2800">
                  <a:solidFill>
                    <a:srgbClr val="3333FF"/>
                  </a:solidFill>
                  <a:latin typeface="Times New Roman" pitchFamily="18" charset="0"/>
                  <a:ea typeface="黑体" pitchFamily="49" charset="-122"/>
                  <a:cs typeface="Times New Roman" pitchFamily="18" charset="0"/>
                </a:rPr>
                <a:t>+       +       +</a:t>
              </a:r>
            </a:p>
          </p:txBody>
        </p:sp>
        <p:sp>
          <p:nvSpPr>
            <p:cNvPr id="77857" name="Line 30"/>
            <p:cNvSpPr>
              <a:spLocks noChangeShapeType="1"/>
            </p:cNvSpPr>
            <p:nvPr/>
          </p:nvSpPr>
          <p:spPr bwMode="auto">
            <a:xfrm flipH="1">
              <a:off x="6670675" y="1414463"/>
              <a:ext cx="395287" cy="0"/>
            </a:xfrm>
            <a:prstGeom prst="line">
              <a:avLst/>
            </a:prstGeom>
            <a:noFill/>
            <a:ln w="28575">
              <a:solidFill>
                <a:srgbClr val="3333FF"/>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7858" name="Line 31"/>
            <p:cNvSpPr>
              <a:spLocks noChangeShapeType="1"/>
            </p:cNvSpPr>
            <p:nvPr/>
          </p:nvSpPr>
          <p:spPr bwMode="auto">
            <a:xfrm rot="5400000" flipH="1">
              <a:off x="7048500" y="1084263"/>
              <a:ext cx="361950" cy="0"/>
            </a:xfrm>
            <a:prstGeom prst="line">
              <a:avLst/>
            </a:prstGeom>
            <a:noFill/>
            <a:ln w="28575">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7859" name="Line 32"/>
            <p:cNvSpPr>
              <a:spLocks noChangeShapeType="1"/>
            </p:cNvSpPr>
            <p:nvPr/>
          </p:nvSpPr>
          <p:spPr bwMode="auto">
            <a:xfrm rot="5400000" flipH="1">
              <a:off x="7164388" y="1282700"/>
              <a:ext cx="723900" cy="0"/>
            </a:xfrm>
            <a:prstGeom prst="line">
              <a:avLst/>
            </a:prstGeom>
            <a:noFill/>
            <a:ln w="28575">
              <a:solidFill>
                <a:srgbClr val="3333FF"/>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7860" name="Text Box 35"/>
            <p:cNvSpPr txBox="1">
              <a:spLocks noChangeArrowheads="1"/>
            </p:cNvSpPr>
            <p:nvPr/>
          </p:nvSpPr>
          <p:spPr bwMode="auto">
            <a:xfrm>
              <a:off x="8632825" y="1181100"/>
              <a:ext cx="476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FF"/>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400" b="0" i="1">
                  <a:solidFill>
                    <a:srgbClr val="FF00FF"/>
                  </a:solidFill>
                  <a:latin typeface="Times New Roman" pitchFamily="18" charset="0"/>
                  <a:ea typeface="黑体" pitchFamily="49" charset="-122"/>
                  <a:cs typeface="Times New Roman" pitchFamily="18" charset="0"/>
                </a:rPr>
                <a:t>I</a:t>
              </a:r>
            </a:p>
          </p:txBody>
        </p:sp>
        <p:graphicFrame>
          <p:nvGraphicFramePr>
            <p:cNvPr id="77861" name="对象 42"/>
            <p:cNvGraphicFramePr>
              <a:graphicFrameLocks noChangeAspect="1"/>
            </p:cNvGraphicFramePr>
            <p:nvPr/>
          </p:nvGraphicFramePr>
          <p:xfrm>
            <a:off x="5962626" y="739800"/>
            <a:ext cx="450726" cy="600968"/>
          </p:xfrm>
          <a:graphic>
            <a:graphicData uri="http://schemas.openxmlformats.org/presentationml/2006/ole">
              <mc:AlternateContent xmlns:mc="http://schemas.openxmlformats.org/markup-compatibility/2006">
                <mc:Choice xmlns:v="urn:schemas-microsoft-com:vml" Requires="v">
                  <p:oleObj spid="_x0000_s18102" name="Equation" r:id="rId19" imgW="152268" imgH="203024" progId="Equation.DSMT4">
                    <p:embed/>
                  </p:oleObj>
                </mc:Choice>
                <mc:Fallback>
                  <p:oleObj name="Equation" r:id="rId19" imgW="152268" imgH="203024"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62626" y="739800"/>
                          <a:ext cx="450726" cy="6009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62" name="对象 43"/>
            <p:cNvGraphicFramePr>
              <a:graphicFrameLocks noChangeAspect="1"/>
            </p:cNvGraphicFramePr>
            <p:nvPr/>
          </p:nvGraphicFramePr>
          <p:xfrm>
            <a:off x="6775439" y="806829"/>
            <a:ext cx="404824" cy="605947"/>
          </p:xfrm>
          <a:graphic>
            <a:graphicData uri="http://schemas.openxmlformats.org/presentationml/2006/ole">
              <mc:AlternateContent xmlns:mc="http://schemas.openxmlformats.org/markup-compatibility/2006">
                <mc:Choice xmlns:v="urn:schemas-microsoft-com:vml" Requires="v">
                  <p:oleObj spid="_x0000_s18103" name="Equation" r:id="rId21" imgW="152334" imgH="228501" progId="Equation.DSMT4">
                    <p:embed/>
                  </p:oleObj>
                </mc:Choice>
                <mc:Fallback>
                  <p:oleObj name="Equation" r:id="rId21" imgW="152334" imgH="228501"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75439" y="806829"/>
                          <a:ext cx="404824" cy="6059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63" name="对象 44"/>
            <p:cNvGraphicFramePr>
              <a:graphicFrameLocks noChangeAspect="1"/>
            </p:cNvGraphicFramePr>
            <p:nvPr/>
          </p:nvGraphicFramePr>
          <p:xfrm>
            <a:off x="6570663" y="1354138"/>
            <a:ext cx="488950" cy="676275"/>
          </p:xfrm>
          <a:graphic>
            <a:graphicData uri="http://schemas.openxmlformats.org/presentationml/2006/ole">
              <mc:AlternateContent xmlns:mc="http://schemas.openxmlformats.org/markup-compatibility/2006">
                <mc:Choice xmlns:v="urn:schemas-microsoft-com:vml" Requires="v">
                  <p:oleObj spid="_x0000_s18104" name="Equation" r:id="rId23" imgW="165028" imgH="228501" progId="Equation.DSMT4">
                    <p:embed/>
                  </p:oleObj>
                </mc:Choice>
                <mc:Fallback>
                  <p:oleObj name="Equation" r:id="rId23" imgW="165028" imgH="228501"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570663" y="1354138"/>
                          <a:ext cx="48895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64" name="对象 45"/>
            <p:cNvGraphicFramePr>
              <a:graphicFrameLocks noChangeAspect="1"/>
            </p:cNvGraphicFramePr>
            <p:nvPr/>
          </p:nvGraphicFramePr>
          <p:xfrm>
            <a:off x="7500939" y="1138239"/>
            <a:ext cx="638697" cy="673100"/>
          </p:xfrm>
          <a:graphic>
            <a:graphicData uri="http://schemas.openxmlformats.org/presentationml/2006/ole">
              <mc:AlternateContent xmlns:mc="http://schemas.openxmlformats.org/markup-compatibility/2006">
                <mc:Choice xmlns:v="urn:schemas-microsoft-com:vml" Requires="v">
                  <p:oleObj spid="_x0000_s18105" name="Equation" r:id="rId25" imgW="228600" imgH="241300" progId="Equation.DSMT4">
                    <p:embed/>
                  </p:oleObj>
                </mc:Choice>
                <mc:Fallback>
                  <p:oleObj name="Equation" r:id="rId25" imgW="228600" imgH="24130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500939" y="1138239"/>
                          <a:ext cx="63869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3" name="Text Box 103"/>
          <p:cNvSpPr txBox="1">
            <a:spLocks noChangeArrowheads="1"/>
          </p:cNvSpPr>
          <p:nvPr/>
        </p:nvSpPr>
        <p:spPr bwMode="auto">
          <a:xfrm>
            <a:off x="9705976" y="3035300"/>
            <a:ext cx="6582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spcBef>
                <a:spcPct val="50000"/>
              </a:spcBef>
            </a:pPr>
            <a:r>
              <a:rPr kumimoji="1" lang="en-US" altLang="zh-CN" i="1" dirty="0">
                <a:latin typeface="Times New Roman" panose="02020603050405020304" pitchFamily="18" charset="0"/>
                <a:cs typeface="Times New Roman" panose="02020603050405020304" pitchFamily="18" charset="0"/>
              </a:rPr>
              <a:t>V</a:t>
            </a:r>
            <a:r>
              <a:rPr kumimoji="1" lang="en-US" altLang="zh-CN" baseline="-25000" dirty="0">
                <a:latin typeface="Times New Roman" panose="02020603050405020304" pitchFamily="18" charset="0"/>
                <a:cs typeface="Times New Roman" panose="02020603050405020304" pitchFamily="18" charset="0"/>
              </a:rPr>
              <a:t>H</a:t>
            </a:r>
            <a:endParaRPr kumimoji="1" lang="en-US" altLang="zh-CN" b="0" i="1" baseline="-75000" dirty="0">
              <a:solidFill>
                <a:srgbClr val="FF0000"/>
              </a:solidFill>
              <a:latin typeface="Times New Roman" pitchFamily="18" charset="0"/>
              <a:ea typeface="黑体" pitchFamily="49" charset="-122"/>
              <a:cs typeface="Times New Roman" pitchFamily="18" charset="0"/>
            </a:endParaRPr>
          </a:p>
        </p:txBody>
      </p:sp>
      <p:sp>
        <p:nvSpPr>
          <p:cNvPr id="2" name="TextBox 1"/>
          <p:cNvSpPr txBox="1"/>
          <p:nvPr/>
        </p:nvSpPr>
        <p:spPr>
          <a:xfrm>
            <a:off x="8466667" y="6174502"/>
            <a:ext cx="1766359" cy="461665"/>
          </a:xfrm>
          <a:prstGeom prst="rect">
            <a:avLst/>
          </a:prstGeom>
          <a:noFill/>
        </p:spPr>
        <p:txBody>
          <a:bodyPr wrap="square" rtlCol="0">
            <a:spAutoFit/>
          </a:bodyPr>
          <a:lstStyle/>
          <a:p>
            <a:r>
              <a:rPr lang="en-US" altLang="zh-CN" sz="2400" dirty="0" smtClean="0"/>
              <a:t>t</a:t>
            </a:r>
            <a:r>
              <a:rPr lang="zh-CN" altLang="en-US" sz="2400" dirty="0" smtClean="0"/>
              <a:t>为厚度</a:t>
            </a:r>
            <a:endParaRPr lang="zh-CN" altLang="en-US" sz="2400" dirty="0"/>
          </a:p>
        </p:txBody>
      </p:sp>
      <p:sp>
        <p:nvSpPr>
          <p:cNvPr id="3" name="TextBox 2"/>
          <p:cNvSpPr txBox="1"/>
          <p:nvPr/>
        </p:nvSpPr>
        <p:spPr>
          <a:xfrm>
            <a:off x="3784600" y="6174501"/>
            <a:ext cx="3655483" cy="400110"/>
          </a:xfrm>
          <a:prstGeom prst="rect">
            <a:avLst/>
          </a:prstGeom>
          <a:noFill/>
        </p:spPr>
        <p:txBody>
          <a:bodyPr wrap="square" rtlCol="0">
            <a:spAutoFit/>
          </a:bodyPr>
          <a:lstStyle/>
          <a:p>
            <a:r>
              <a:rPr lang="zh-CN" altLang="en-US" sz="2000" dirty="0" smtClean="0"/>
              <a:t>霍尔电压与宽度无关</a:t>
            </a:r>
            <a:endParaRPr lang="zh-CN" altLang="en-US" sz="2000" dirty="0"/>
          </a:p>
        </p:txBody>
      </p:sp>
    </p:spTree>
    <p:extLst>
      <p:ext uri="{BB962C8B-B14F-4D97-AF65-F5344CB8AC3E}">
        <p14:creationId xmlns:p14="http://schemas.microsoft.com/office/powerpoint/2010/main" val="3194845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8071" y="1049194"/>
            <a:ext cx="9306838" cy="5262979"/>
          </a:xfrm>
          <a:prstGeom prst="rect">
            <a:avLst/>
          </a:prstGeom>
          <a:noFill/>
        </p:spPr>
        <p:txBody>
          <a:bodyPr wrap="square" rtlCol="0">
            <a:spAutoFit/>
          </a:bodyPr>
          <a:lstStyle/>
          <a:p>
            <a:pPr>
              <a:lnSpc>
                <a:spcPct val="150000"/>
              </a:lnSpc>
            </a:pPr>
            <a:r>
              <a:rPr lang="zh-CN" altLang="en-US" sz="2800" b="1" dirty="0" smtClean="0">
                <a:solidFill>
                  <a:srgbClr val="000099"/>
                </a:solidFill>
              </a:rPr>
              <a:t>霍尔效应的应用：</a:t>
            </a:r>
            <a:endParaRPr lang="en-US" altLang="zh-CN" sz="2800" b="1" dirty="0" smtClean="0">
              <a:solidFill>
                <a:srgbClr val="000099"/>
              </a:solidFill>
            </a:endParaRPr>
          </a:p>
          <a:p>
            <a:pPr>
              <a:lnSpc>
                <a:spcPct val="150000"/>
              </a:lnSpc>
            </a:pPr>
            <a:r>
              <a:rPr lang="zh-CN" altLang="en-US" sz="2800" b="1" dirty="0" smtClean="0"/>
              <a:t>（</a:t>
            </a:r>
            <a:r>
              <a:rPr lang="en-US" altLang="zh-CN" sz="2800" b="1" dirty="0" smtClean="0"/>
              <a:t>1</a:t>
            </a:r>
            <a:r>
              <a:rPr lang="zh-CN" altLang="en-US" sz="2800" b="1" dirty="0" smtClean="0"/>
              <a:t>）根据霍尔电压的极性，可以判断导体或半导体中载流子的极性，例如半导体中是电子导电还是空穴导电；</a:t>
            </a:r>
            <a:endParaRPr lang="en-US" altLang="zh-CN" sz="2800" b="1" dirty="0" smtClean="0"/>
          </a:p>
          <a:p>
            <a:pPr>
              <a:lnSpc>
                <a:spcPct val="150000"/>
              </a:lnSpc>
            </a:pPr>
            <a:r>
              <a:rPr lang="zh-CN" altLang="en-US" sz="2800" b="1" dirty="0" smtClean="0"/>
              <a:t>（</a:t>
            </a:r>
            <a:r>
              <a:rPr lang="en-US" altLang="zh-CN" sz="2800" b="1" dirty="0" smtClean="0"/>
              <a:t>2</a:t>
            </a:r>
            <a:r>
              <a:rPr lang="zh-CN" altLang="en-US" sz="2800" b="1" dirty="0" smtClean="0"/>
              <a:t>）测量磁感应强度，是目前测量磁场常用的而且比较精确的方法</a:t>
            </a:r>
            <a:r>
              <a:rPr lang="zh-CN" altLang="en-US" sz="2800" b="1" dirty="0"/>
              <a:t>。对于一个已知霍尔系数的</a:t>
            </a:r>
            <a:r>
              <a:rPr lang="zh-CN" altLang="en-US" sz="2800" b="1" dirty="0" smtClean="0"/>
              <a:t>导体，通过</a:t>
            </a:r>
            <a:r>
              <a:rPr lang="zh-CN" altLang="en-US" sz="2800" b="1" dirty="0"/>
              <a:t>一个已知方向、大小的电流</a:t>
            </a:r>
            <a:r>
              <a:rPr lang="en-US" altLang="zh-CN" sz="2800" b="1" dirty="0"/>
              <a:t>,</a:t>
            </a:r>
            <a:r>
              <a:rPr lang="zh-CN" altLang="en-US" sz="2800" b="1" dirty="0"/>
              <a:t>同时测出该导体两侧的霍尔电势差的方向与大小</a:t>
            </a:r>
            <a:r>
              <a:rPr lang="en-US" altLang="zh-CN" sz="2800" b="1" dirty="0"/>
              <a:t>,</a:t>
            </a:r>
            <a:r>
              <a:rPr lang="zh-CN" altLang="en-US" sz="2800" b="1" dirty="0"/>
              <a:t>就可以得出该导体所处磁场的方向和</a:t>
            </a:r>
            <a:r>
              <a:rPr lang="zh-CN" altLang="en-US" sz="2800" b="1" dirty="0" smtClean="0"/>
              <a:t>大小</a:t>
            </a:r>
            <a:r>
              <a:rPr lang="zh-CN" altLang="en-US" sz="2800" b="1" dirty="0"/>
              <a:t>。</a:t>
            </a:r>
            <a:endParaRPr lang="en-US" altLang="zh-CN" sz="2800" b="1" dirty="0"/>
          </a:p>
          <a:p>
            <a:pPr>
              <a:lnSpc>
                <a:spcPct val="150000"/>
              </a:lnSpc>
            </a:pPr>
            <a:endParaRPr lang="zh-CN" altLang="en-US" sz="2800" b="1" dirty="0"/>
          </a:p>
        </p:txBody>
      </p:sp>
      <mc:AlternateContent xmlns:mc="http://schemas.openxmlformats.org/markup-compatibility/2006" xmlns:a14="http://schemas.microsoft.com/office/drawing/2010/main">
        <mc:Choice Requires="a14">
          <p:sp>
            <p:nvSpPr>
              <p:cNvPr id="4" name="TextBox 3"/>
              <p:cNvSpPr txBox="1"/>
              <p:nvPr/>
            </p:nvSpPr>
            <p:spPr>
              <a:xfrm>
                <a:off x="7530645" y="742516"/>
                <a:ext cx="2578555" cy="791692"/>
              </a:xfrm>
              <a:prstGeom prst="rect">
                <a:avLst/>
              </a:prstGeom>
              <a:noFill/>
              <a:ln>
                <a:solidFill>
                  <a:srgbClr val="FF0000"/>
                </a:solidFill>
              </a:ln>
            </p:spPr>
            <p:txBody>
              <a:bodyPr wrap="square" rtlCol="0">
                <a:spAutoFit/>
              </a:bodyPr>
              <a:lstStyle/>
              <a:p>
                <a14:m>
                  <m:oMath xmlns:m="http://schemas.openxmlformats.org/officeDocument/2006/math">
                    <m:sSub>
                      <m:sSubPr>
                        <m:ctrlPr>
                          <a:rPr lang="en-US" altLang="zh-CN" sz="3200" i="1" smtClean="0">
                            <a:latin typeface="Cambria Math"/>
                          </a:rPr>
                        </m:ctrlPr>
                      </m:sSubPr>
                      <m:e>
                        <m:r>
                          <a:rPr lang="en-US" altLang="zh-CN" sz="3200" b="0" i="1" smtClean="0">
                            <a:latin typeface="Cambria Math"/>
                          </a:rPr>
                          <m:t>𝑉</m:t>
                        </m:r>
                      </m:e>
                      <m:sub>
                        <m:r>
                          <a:rPr lang="en-US" altLang="zh-CN" sz="3200" b="0" i="1" smtClean="0">
                            <a:latin typeface="Cambria Math"/>
                          </a:rPr>
                          <m:t>𝐻</m:t>
                        </m:r>
                      </m:sub>
                    </m:sSub>
                  </m:oMath>
                </a14:m>
                <a:r>
                  <a:rPr lang="zh-CN" altLang="en-US" sz="3200" dirty="0" smtClean="0"/>
                  <a:t> </a:t>
                </a:r>
                <a:r>
                  <a:rPr lang="en-US" altLang="zh-CN" sz="3200" dirty="0" smtClean="0"/>
                  <a:t>= </a:t>
                </a:r>
                <a14:m>
                  <m:oMath xmlns:m="http://schemas.openxmlformats.org/officeDocument/2006/math">
                    <m:f>
                      <m:fPr>
                        <m:ctrlPr>
                          <a:rPr lang="en-US" altLang="zh-CN" sz="3200" i="1" smtClean="0">
                            <a:latin typeface="Cambria Math"/>
                          </a:rPr>
                        </m:ctrlPr>
                      </m:fPr>
                      <m:num>
                        <m:r>
                          <a:rPr lang="en-US" altLang="zh-CN" sz="3200" b="0" i="1" smtClean="0">
                            <a:latin typeface="Cambria Math"/>
                          </a:rPr>
                          <m:t>𝐵𝐼</m:t>
                        </m:r>
                      </m:num>
                      <m:den>
                        <m:r>
                          <a:rPr lang="en-US" altLang="zh-CN" sz="3200" b="0" i="1" smtClean="0">
                            <a:latin typeface="Cambria Math"/>
                          </a:rPr>
                          <m:t>𝑛𝑒𝑡</m:t>
                        </m:r>
                      </m:den>
                    </m:f>
                  </m:oMath>
                </a14:m>
                <a:endParaRPr lang="zh-CN" altLang="en-US" sz="3200" dirty="0"/>
              </a:p>
            </p:txBody>
          </p:sp>
        </mc:Choice>
        <mc:Fallback xmlns="">
          <p:sp>
            <p:nvSpPr>
              <p:cNvPr id="4" name="TextBox 3"/>
              <p:cNvSpPr txBox="1">
                <a:spLocks noRot="1" noChangeAspect="1" noMove="1" noResize="1" noEditPoints="1" noAdjustHandles="1" noChangeArrowheads="1" noChangeShapeType="1" noTextEdit="1"/>
              </p:cNvSpPr>
              <p:nvPr/>
            </p:nvSpPr>
            <p:spPr>
              <a:xfrm>
                <a:off x="7530645" y="742516"/>
                <a:ext cx="2578555" cy="791692"/>
              </a:xfrm>
              <a:prstGeom prst="rect">
                <a:avLst/>
              </a:prstGeom>
              <a:blipFill rotWithShape="1">
                <a:blip r:embed="rId3"/>
                <a:stretch>
                  <a:fillRect b="-11364"/>
                </a:stretch>
              </a:blipFill>
              <a:ln>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789905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2735627" y="980728"/>
            <a:ext cx="6432715" cy="93610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 name="TextBox 1"/>
          <p:cNvSpPr txBox="1"/>
          <p:nvPr/>
        </p:nvSpPr>
        <p:spPr>
          <a:xfrm>
            <a:off x="2927649" y="1268761"/>
            <a:ext cx="3286477" cy="584775"/>
          </a:xfrm>
          <a:prstGeom prst="rect">
            <a:avLst/>
          </a:prstGeom>
          <a:noFill/>
        </p:spPr>
        <p:txBody>
          <a:bodyPr wrap="none" rtlCol="0">
            <a:spAutoFit/>
          </a:bodyPr>
          <a:lstStyle/>
          <a:p>
            <a:r>
              <a:rPr lang="zh-CN" altLang="en-US" sz="3200" b="1" dirty="0" smtClean="0"/>
              <a:t>作业：</a:t>
            </a:r>
            <a:r>
              <a:rPr lang="en-US" altLang="zh-CN" sz="3200" b="1" dirty="0" smtClean="0"/>
              <a:t>134</a:t>
            </a:r>
            <a:r>
              <a:rPr lang="zh-CN" altLang="en-US" sz="3200" b="1" dirty="0" smtClean="0"/>
              <a:t>页</a:t>
            </a:r>
            <a:r>
              <a:rPr lang="en-US" altLang="zh-CN" sz="3200" b="1" dirty="0" smtClean="0"/>
              <a:t>21</a:t>
            </a:r>
            <a:r>
              <a:rPr lang="zh-CN" altLang="en-US" sz="3200" b="1" dirty="0" smtClean="0"/>
              <a:t>题</a:t>
            </a:r>
            <a:endParaRPr lang="zh-CN" altLang="en-US" sz="3200" b="1" dirty="0"/>
          </a:p>
        </p:txBody>
      </p:sp>
      <p:pic>
        <p:nvPicPr>
          <p:cNvPr id="3" name="Picture 5"/>
          <p:cNvPicPr>
            <a:picLocks noChangeAspect="1" noChangeArrowheads="1"/>
          </p:cNvPicPr>
          <p:nvPr/>
        </p:nvPicPr>
        <p:blipFill>
          <a:blip r:embed="rId2" cstate="print"/>
          <a:srcRect/>
          <a:stretch>
            <a:fillRect/>
          </a:stretch>
        </p:blipFill>
        <p:spPr bwMode="auto">
          <a:xfrm>
            <a:off x="6768075" y="1988840"/>
            <a:ext cx="2868084" cy="29527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2391</TotalTime>
  <Words>1337</Words>
  <Application>Microsoft Office PowerPoint</Application>
  <PresentationFormat>自定义</PresentationFormat>
  <Paragraphs>147</Paragraphs>
  <Slides>15</Slides>
  <Notes>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17" baseType="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检测题19.5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179</cp:revision>
  <dcterms:created xsi:type="dcterms:W3CDTF">2017-10-22T09:48:47Z</dcterms:created>
  <dcterms:modified xsi:type="dcterms:W3CDTF">2020-05-21T14:05:20Z</dcterms:modified>
</cp:coreProperties>
</file>