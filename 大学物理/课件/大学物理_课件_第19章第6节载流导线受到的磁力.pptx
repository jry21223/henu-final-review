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8" r:id="rId2"/>
    <p:sldId id="259" r:id="rId3"/>
    <p:sldId id="280" r:id="rId4"/>
    <p:sldId id="260" r:id="rId5"/>
    <p:sldId id="261" r:id="rId6"/>
    <p:sldId id="273" r:id="rId7"/>
    <p:sldId id="265" r:id="rId8"/>
    <p:sldId id="267" r:id="rId9"/>
    <p:sldId id="264" r:id="rId10"/>
    <p:sldId id="268" r:id="rId11"/>
    <p:sldId id="277" r:id="rId12"/>
    <p:sldId id="269"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982" autoAdjust="0"/>
    <p:restoredTop sz="89911" autoAdjust="0"/>
  </p:normalViewPr>
  <p:slideViewPr>
    <p:cSldViewPr snapToGrid="0">
      <p:cViewPr varScale="1">
        <p:scale>
          <a:sx n="81" d="100"/>
          <a:sy n="81" d="100"/>
        </p:scale>
        <p:origin x="1080" y="9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image" Target="../media/image1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DA8BD25-5BB0-4970-9BC8-A867E97BBE06}" type="datetimeFigureOut">
              <a:rPr lang="zh-CN" altLang="en-US" smtClean="0"/>
              <a:t>2021/5/31</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0AC87C1-8720-44BC-97C4-3E56FDE22118}" type="slidenum">
              <a:rPr lang="zh-CN" altLang="en-US" smtClean="0"/>
              <a:t>‹#›</a:t>
            </a:fld>
            <a:endParaRPr lang="zh-CN" altLang="en-US"/>
          </a:p>
        </p:txBody>
      </p:sp>
    </p:spTree>
    <p:extLst>
      <p:ext uri="{BB962C8B-B14F-4D97-AF65-F5344CB8AC3E}">
        <p14:creationId xmlns:p14="http://schemas.microsoft.com/office/powerpoint/2010/main" val="41758466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入页面</a:t>
            </a:r>
            <a:endParaRPr lang="zh-CN" altLang="en-US" dirty="0"/>
          </a:p>
        </p:txBody>
      </p:sp>
      <p:sp>
        <p:nvSpPr>
          <p:cNvPr id="4" name="灯片编号占位符 3"/>
          <p:cNvSpPr>
            <a:spLocks noGrp="1"/>
          </p:cNvSpPr>
          <p:nvPr>
            <p:ph type="sldNum" sz="quarter" idx="10"/>
          </p:nvPr>
        </p:nvSpPr>
        <p:spPr/>
        <p:txBody>
          <a:bodyPr/>
          <a:lstStyle/>
          <a:p>
            <a:fld id="{2A54C025-A62B-4050-9D76-A73F73645549}" type="slidenum">
              <a:rPr lang="zh-CN" altLang="en-US" smtClean="0"/>
              <a:pPr/>
              <a:t>5</a:t>
            </a:fld>
            <a:endParaRPr lang="zh-CN" altLang="en-US"/>
          </a:p>
        </p:txBody>
      </p:sp>
    </p:spTree>
    <p:extLst>
      <p:ext uri="{BB962C8B-B14F-4D97-AF65-F5344CB8AC3E}">
        <p14:creationId xmlns:p14="http://schemas.microsoft.com/office/powerpoint/2010/main" val="6732448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磁悬浮列车如何悬浮呢？</a:t>
            </a:r>
            <a:endParaRPr lang="en-US" altLang="zh-CN" dirty="0" smtClean="0"/>
          </a:p>
          <a:p>
            <a:r>
              <a:rPr lang="zh-CN" altLang="en-US" dirty="0" smtClean="0"/>
              <a:t>磁悬浮列车底部的强力磁铁使铝轨道产生排斥力，因为铝不具有磁性，所以磁铁对铝制轨道没有作用力，但是铝轨道在运动的磁场中时（例如当铝盘在磁铁产生的磁场中转到时，会因为铝盘切割磁力线而产生感应电流）从而产生磁场，这个磁场与磁铁的磁场方向相反，因而磁铁对铝轨道产生很强的推力，在相互排斥的作用下，磁悬浮列车可被抬高</a:t>
            </a:r>
            <a:r>
              <a:rPr lang="en-US" altLang="zh-CN" dirty="0" smtClean="0"/>
              <a:t>15cm</a:t>
            </a:r>
            <a:r>
              <a:rPr lang="zh-CN" altLang="en-US" dirty="0" smtClean="0"/>
              <a:t>。</a:t>
            </a:r>
            <a:endParaRPr lang="en-US" altLang="zh-CN" dirty="0" smtClean="0"/>
          </a:p>
          <a:p>
            <a:r>
              <a:rPr lang="zh-CN" altLang="en-US" dirty="0" smtClean="0"/>
              <a:t>磁悬浮列车如何前进呢？</a:t>
            </a:r>
            <a:endParaRPr lang="en-US" altLang="zh-CN" dirty="0" smtClean="0"/>
          </a:p>
          <a:p>
            <a:r>
              <a:rPr lang="zh-CN" altLang="en-US" dirty="0" smtClean="0"/>
              <a:t>轨道上交替的磁场跟列车互动产生的吸引力和推动力，使漂浮的磁悬浮列车以时速四百八十公里前进。</a:t>
            </a:r>
            <a:endParaRPr lang="zh-CN" altLang="en-US" dirty="0"/>
          </a:p>
        </p:txBody>
      </p:sp>
      <p:sp>
        <p:nvSpPr>
          <p:cNvPr id="4" name="灯片编号占位符 3"/>
          <p:cNvSpPr>
            <a:spLocks noGrp="1"/>
          </p:cNvSpPr>
          <p:nvPr>
            <p:ph type="sldNum" sz="quarter" idx="10"/>
          </p:nvPr>
        </p:nvSpPr>
        <p:spPr/>
        <p:txBody>
          <a:bodyPr/>
          <a:lstStyle/>
          <a:p>
            <a:fld id="{2A54C025-A62B-4050-9D76-A73F73645549}" type="slidenum">
              <a:rPr lang="zh-CN" altLang="en-US" smtClean="0"/>
              <a:pPr/>
              <a:t>7</a:t>
            </a:fld>
            <a:endParaRPr lang="zh-CN" altLang="en-US"/>
          </a:p>
        </p:txBody>
      </p:sp>
    </p:spTree>
    <p:extLst>
      <p:ext uri="{BB962C8B-B14F-4D97-AF65-F5344CB8AC3E}">
        <p14:creationId xmlns:p14="http://schemas.microsoft.com/office/powerpoint/2010/main" val="39641786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0AC87C1-8720-44BC-97C4-3E56FDE22118}" type="slidenum">
              <a:rPr lang="zh-CN" altLang="en-US" smtClean="0"/>
              <a:t>11</a:t>
            </a:fld>
            <a:endParaRPr lang="zh-CN" altLang="en-US"/>
          </a:p>
        </p:txBody>
      </p:sp>
    </p:spTree>
    <p:extLst>
      <p:ext uri="{BB962C8B-B14F-4D97-AF65-F5344CB8AC3E}">
        <p14:creationId xmlns:p14="http://schemas.microsoft.com/office/powerpoint/2010/main" val="5360893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C389F43E-6A00-409D-9E79-CE23F37409A4}" type="datetimeFigureOut">
              <a:rPr lang="zh-CN" altLang="en-US" smtClean="0"/>
              <a:pPr/>
              <a:t>2021/5/31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8808874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389F43E-6A00-409D-9E79-CE23F37409A4}" type="datetimeFigureOut">
              <a:rPr lang="zh-CN" altLang="en-US" smtClean="0"/>
              <a:pPr/>
              <a:t>2021/5/31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29167859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C389F43E-6A00-409D-9E79-CE23F37409A4}" type="datetimeFigureOut">
              <a:rPr lang="zh-CN" altLang="en-US" smtClean="0"/>
              <a:pPr/>
              <a:t>2021/5/31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25303501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C389F43E-6A00-409D-9E79-CE23F37409A4}" type="datetimeFigureOut">
              <a:rPr lang="zh-CN" altLang="en-US" smtClean="0"/>
              <a:pPr/>
              <a:t>2021/5/31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20708593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C389F43E-6A00-409D-9E79-CE23F37409A4}" type="datetimeFigureOut">
              <a:rPr lang="zh-CN" altLang="en-US" smtClean="0"/>
              <a:pPr/>
              <a:t>2021/5/31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40873647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C389F43E-6A00-409D-9E79-CE23F37409A4}" type="datetimeFigureOut">
              <a:rPr lang="zh-CN" altLang="en-US" smtClean="0"/>
              <a:pPr/>
              <a:t>2021/5/31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2246052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389F43E-6A00-409D-9E79-CE23F37409A4}" type="datetimeFigureOut">
              <a:rPr lang="zh-CN" altLang="en-US" smtClean="0"/>
              <a:pPr/>
              <a:t>2021/5/31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47769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C389F43E-6A00-409D-9E79-CE23F37409A4}" type="datetimeFigureOut">
              <a:rPr lang="zh-CN" altLang="en-US" smtClean="0"/>
              <a:pPr/>
              <a:t>2021/5/31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30547608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C389F43E-6A00-409D-9E79-CE23F37409A4}" type="datetimeFigureOut">
              <a:rPr lang="zh-CN" altLang="en-US" smtClean="0"/>
              <a:pPr/>
              <a:t>2021/5/31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26945556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389F43E-6A00-409D-9E79-CE23F37409A4}" type="datetimeFigureOut">
              <a:rPr lang="zh-CN" altLang="en-US" smtClean="0"/>
              <a:pPr/>
              <a:t>2021/5/31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39418436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389F43E-6A00-409D-9E79-CE23F37409A4}" type="datetimeFigureOut">
              <a:rPr lang="zh-CN" altLang="en-US" smtClean="0"/>
              <a:pPr/>
              <a:t>2021/5/31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42321700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89F43E-6A00-409D-9E79-CE23F37409A4}" type="datetimeFigureOut">
              <a:rPr lang="zh-CN" altLang="en-US" smtClean="0"/>
              <a:pPr/>
              <a:t>2021/5/31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7358308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2000"/>
    </mc:Choice>
    <mc:Fallback xmlns="">
      <p:transition spd="slow"/>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2.jpe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7.xml"/><Relationship Id="rId5" Type="http://schemas.openxmlformats.org/officeDocument/2006/relationships/image" Target="../media/image16.jpe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18.emf"/><Relationship Id="rId5" Type="http://schemas.openxmlformats.org/officeDocument/2006/relationships/oleObject" Target="../embeddings/oleObject2.bin"/><Relationship Id="rId4" Type="http://schemas.openxmlformats.org/officeDocument/2006/relationships/image" Target="../media/image17.emf"/><Relationship Id="rId9" Type="http://schemas.openxmlformats.org/officeDocument/2006/relationships/image" Target="../media/image20.jpeg"/></Relationships>
</file>

<file path=ppt/slides/_rels/slide1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51763" y="1882005"/>
            <a:ext cx="3840237" cy="34811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框 2"/>
          <p:cNvSpPr txBox="1"/>
          <p:nvPr/>
        </p:nvSpPr>
        <p:spPr>
          <a:xfrm>
            <a:off x="-2174" y="1864856"/>
            <a:ext cx="8498441" cy="1708160"/>
          </a:xfrm>
          <a:prstGeom prst="rect">
            <a:avLst/>
          </a:prstGeom>
          <a:noFill/>
        </p:spPr>
        <p:txBody>
          <a:bodyPr wrap="square" rtlCol="0">
            <a:spAutoFit/>
          </a:bodyPr>
          <a:lstStyle/>
          <a:p>
            <a:pPr algn="just">
              <a:lnSpc>
                <a:spcPct val="125000"/>
              </a:lnSpc>
            </a:pPr>
            <a:r>
              <a:rPr lang="zh-CN" altLang="en-US" sz="2800" dirty="0" smtClean="0"/>
              <a:t> </a:t>
            </a:r>
            <a:r>
              <a:rPr lang="zh-CN" altLang="en-US" sz="2800" b="1" dirty="0" smtClean="0"/>
              <a:t>设在匀强磁场</a:t>
            </a:r>
            <a:r>
              <a:rPr lang="en-US" altLang="zh-CN" sz="2800" b="1" i="1" dirty="0" smtClean="0">
                <a:latin typeface="Times New Roman" panose="02020603050405020304" pitchFamily="18" charset="0"/>
                <a:cs typeface="Times New Roman" panose="02020603050405020304" pitchFamily="18" charset="0"/>
              </a:rPr>
              <a:t>B</a:t>
            </a:r>
            <a:r>
              <a:rPr lang="zh-CN" altLang="en-US" sz="2800" b="1" dirty="0" smtClean="0">
                <a:latin typeface="Times New Roman" panose="02020603050405020304" pitchFamily="18" charset="0"/>
                <a:cs typeface="Times New Roman" panose="02020603050405020304" pitchFamily="18" charset="0"/>
              </a:rPr>
              <a:t>中，一段长度为</a:t>
            </a:r>
            <a:r>
              <a:rPr lang="en-US" altLang="zh-CN" sz="2800" b="1" i="1" dirty="0" smtClean="0">
                <a:latin typeface="Times New Roman" panose="02020603050405020304" pitchFamily="18" charset="0"/>
                <a:cs typeface="Times New Roman" panose="02020603050405020304" pitchFamily="18" charset="0"/>
              </a:rPr>
              <a:t>L</a:t>
            </a:r>
            <a:r>
              <a:rPr lang="zh-CN" altLang="en-US" sz="2800" b="1" dirty="0" smtClean="0">
                <a:latin typeface="Times New Roman" panose="02020603050405020304" pitchFamily="18" charset="0"/>
                <a:cs typeface="Times New Roman" panose="02020603050405020304" pitchFamily="18" charset="0"/>
              </a:rPr>
              <a:t>的直导线通有电流</a:t>
            </a:r>
            <a:r>
              <a:rPr lang="en-US" altLang="zh-CN" sz="2800" b="1" i="1" dirty="0" smtClean="0">
                <a:latin typeface="Times New Roman" panose="02020603050405020304" pitchFamily="18" charset="0"/>
                <a:cs typeface="Times New Roman" panose="02020603050405020304" pitchFamily="18" charset="0"/>
              </a:rPr>
              <a:t>I</a:t>
            </a:r>
            <a:r>
              <a:rPr lang="zh-CN" altLang="en-US" sz="2800" b="1" dirty="0" smtClean="0">
                <a:latin typeface="Times New Roman" panose="02020603050405020304" pitchFamily="18" charset="0"/>
                <a:cs typeface="Times New Roman" panose="02020603050405020304" pitchFamily="18" charset="0"/>
              </a:rPr>
              <a:t>，运动的载流子带有电荷</a:t>
            </a:r>
            <a:r>
              <a:rPr lang="en-US" altLang="zh-CN" sz="2800" b="1" i="1" dirty="0" smtClean="0">
                <a:latin typeface="Times New Roman" panose="02020603050405020304" pitchFamily="18" charset="0"/>
                <a:cs typeface="Times New Roman" panose="02020603050405020304" pitchFamily="18" charset="0"/>
              </a:rPr>
              <a:t>q</a:t>
            </a:r>
            <a:r>
              <a:rPr lang="zh-CN" altLang="en-US" sz="2800" b="1" dirty="0" smtClean="0"/>
              <a:t>。每个电荷受到</a:t>
            </a:r>
            <a:r>
              <a:rPr lang="zh-CN" altLang="en-US" sz="2800" b="1" dirty="0"/>
              <a:t>的平均</a:t>
            </a:r>
            <a:r>
              <a:rPr lang="zh-CN" altLang="en-US" sz="2800" b="1" dirty="0" smtClean="0"/>
              <a:t>洛伦兹力为</a:t>
            </a:r>
            <a:endParaRPr lang="zh-CN" altLang="en-US" sz="2800" b="1" dirty="0"/>
          </a:p>
        </p:txBody>
      </p:sp>
      <p:pic>
        <p:nvPicPr>
          <p:cNvPr id="4"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63819" y="1185234"/>
            <a:ext cx="2621525" cy="5875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31637" y="3655408"/>
            <a:ext cx="3264363" cy="637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文本框 5"/>
          <p:cNvSpPr txBox="1"/>
          <p:nvPr/>
        </p:nvSpPr>
        <p:spPr>
          <a:xfrm>
            <a:off x="3322622" y="16749"/>
            <a:ext cx="5338321" cy="584775"/>
          </a:xfrm>
          <a:prstGeom prst="rect">
            <a:avLst/>
          </a:prstGeom>
          <a:noFill/>
        </p:spPr>
        <p:txBody>
          <a:bodyPr wrap="none" rtlCol="0">
            <a:spAutoFit/>
          </a:bodyPr>
          <a:lstStyle/>
          <a:p>
            <a:r>
              <a:rPr lang="en-US" altLang="zh-CN" sz="3200" b="1" dirty="0">
                <a:solidFill>
                  <a:srgbClr val="000099"/>
                </a:solidFill>
                <a:latin typeface="黑体" pitchFamily="49" charset="-122"/>
                <a:ea typeface="黑体" pitchFamily="49" charset="-122"/>
                <a:cs typeface="SimHei"/>
                <a:sym typeface="SimHei"/>
              </a:rPr>
              <a:t>§</a:t>
            </a:r>
            <a:r>
              <a:rPr lang="en-US" altLang="zh-CN" sz="3200" b="1" dirty="0" smtClean="0">
                <a:solidFill>
                  <a:srgbClr val="000099"/>
                </a:solidFill>
                <a:latin typeface="黑体" pitchFamily="49" charset="-122"/>
                <a:ea typeface="黑体" pitchFamily="49" charset="-122"/>
                <a:cs typeface="SimHei"/>
                <a:sym typeface="SimHei"/>
              </a:rPr>
              <a:t>19.6 </a:t>
            </a:r>
            <a:r>
              <a:rPr lang="zh-CN" altLang="en-US" sz="3200" b="1" dirty="0" smtClean="0">
                <a:solidFill>
                  <a:srgbClr val="000099"/>
                </a:solidFill>
                <a:latin typeface="黑体" pitchFamily="49" charset="-122"/>
                <a:ea typeface="黑体" pitchFamily="49" charset="-122"/>
              </a:rPr>
              <a:t>载流导线受到的磁力</a:t>
            </a:r>
            <a:endParaRPr lang="zh-CN" altLang="en-US" sz="3200" b="1" dirty="0">
              <a:solidFill>
                <a:srgbClr val="000099"/>
              </a:solidFill>
              <a:latin typeface="黑体" pitchFamily="49" charset="-122"/>
              <a:ea typeface="黑体" pitchFamily="49" charset="-122"/>
            </a:endParaRPr>
          </a:p>
        </p:txBody>
      </p:sp>
      <p:sp>
        <p:nvSpPr>
          <p:cNvPr id="7" name="文本框 6"/>
          <p:cNvSpPr txBox="1"/>
          <p:nvPr/>
        </p:nvSpPr>
        <p:spPr>
          <a:xfrm>
            <a:off x="965300" y="1177588"/>
            <a:ext cx="2348720" cy="523220"/>
          </a:xfrm>
          <a:prstGeom prst="rect">
            <a:avLst/>
          </a:prstGeom>
          <a:noFill/>
        </p:spPr>
        <p:txBody>
          <a:bodyPr wrap="none" rtlCol="0">
            <a:spAutoFit/>
          </a:bodyPr>
          <a:lstStyle/>
          <a:p>
            <a:r>
              <a:rPr lang="zh-CN" altLang="en-US" sz="2800" b="1" dirty="0" smtClean="0"/>
              <a:t>洛伦兹力公式</a:t>
            </a:r>
            <a:endParaRPr lang="zh-CN" altLang="en-US" sz="2800" b="1" dirty="0"/>
          </a:p>
        </p:txBody>
      </p:sp>
      <p:pic>
        <p:nvPicPr>
          <p:cNvPr id="9"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831637" y="4869161"/>
            <a:ext cx="2792723" cy="5966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6"/>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924227" y="6148027"/>
            <a:ext cx="6123336" cy="5856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文本框 10"/>
          <p:cNvSpPr txBox="1"/>
          <p:nvPr/>
        </p:nvSpPr>
        <p:spPr>
          <a:xfrm>
            <a:off x="143339" y="4345940"/>
            <a:ext cx="4152099" cy="523220"/>
          </a:xfrm>
          <a:prstGeom prst="rect">
            <a:avLst/>
          </a:prstGeom>
          <a:noFill/>
        </p:spPr>
        <p:txBody>
          <a:bodyPr wrap="none" rtlCol="0">
            <a:spAutoFit/>
          </a:bodyPr>
          <a:lstStyle/>
          <a:p>
            <a:r>
              <a:rPr lang="zh-CN" altLang="en-US" sz="2800" b="1" dirty="0" smtClean="0"/>
              <a:t>电流与漂移速度的关系为</a:t>
            </a:r>
            <a:endParaRPr lang="zh-CN" altLang="en-US" sz="2800" b="1" dirty="0"/>
          </a:p>
        </p:txBody>
      </p:sp>
      <p:sp>
        <p:nvSpPr>
          <p:cNvPr id="12" name="文本框 11"/>
          <p:cNvSpPr txBox="1"/>
          <p:nvPr/>
        </p:nvSpPr>
        <p:spPr>
          <a:xfrm>
            <a:off x="-38032" y="5476191"/>
            <a:ext cx="9159880" cy="523220"/>
          </a:xfrm>
          <a:prstGeom prst="rect">
            <a:avLst/>
          </a:prstGeom>
          <a:noFill/>
        </p:spPr>
        <p:txBody>
          <a:bodyPr wrap="none" rtlCol="0">
            <a:spAutoFit/>
          </a:bodyPr>
          <a:lstStyle/>
          <a:p>
            <a:r>
              <a:rPr lang="zh-CN" altLang="en-US" sz="2800" b="1" dirty="0" smtClean="0"/>
              <a:t>长为</a:t>
            </a:r>
            <a:r>
              <a:rPr lang="en-US" altLang="zh-CN" sz="2800" b="1" i="1" dirty="0" smtClean="0">
                <a:latin typeface="Times New Roman" panose="02020603050405020304" pitchFamily="18" charset="0"/>
                <a:cs typeface="Times New Roman" panose="02020603050405020304" pitchFamily="18" charset="0"/>
              </a:rPr>
              <a:t>L</a:t>
            </a:r>
            <a:r>
              <a:rPr lang="zh-CN" altLang="en-US" sz="2800" b="1" dirty="0" smtClean="0">
                <a:latin typeface="Times New Roman" panose="02020603050405020304" pitchFamily="18" charset="0"/>
                <a:cs typeface="Times New Roman" panose="02020603050405020304" pitchFamily="18" charset="0"/>
              </a:rPr>
              <a:t>，横截面积为</a:t>
            </a:r>
            <a:r>
              <a:rPr lang="en-US" altLang="zh-CN" sz="2800" b="1" i="1" dirty="0" smtClean="0">
                <a:latin typeface="Times New Roman" panose="02020603050405020304" pitchFamily="18" charset="0"/>
                <a:cs typeface="Times New Roman" panose="02020603050405020304" pitchFamily="18" charset="0"/>
              </a:rPr>
              <a:t>A</a:t>
            </a:r>
            <a:r>
              <a:rPr lang="zh-CN" altLang="en-US" sz="2800" b="1" dirty="0" smtClean="0">
                <a:latin typeface="Times New Roman" panose="02020603050405020304" pitchFamily="18" charset="0"/>
                <a:cs typeface="Times New Roman" panose="02020603050405020304" pitchFamily="18" charset="0"/>
              </a:rPr>
              <a:t>的</a:t>
            </a:r>
            <a:r>
              <a:rPr lang="zh-CN" altLang="en-US" sz="2800" b="1" dirty="0" smtClean="0"/>
              <a:t>导线内的载流子数目为：</a:t>
            </a:r>
            <a:r>
              <a:rPr lang="en-US" altLang="zh-CN" sz="2800" b="1" i="1" dirty="0" smtClean="0">
                <a:latin typeface="Times New Roman" panose="02020603050405020304" pitchFamily="18" charset="0"/>
                <a:cs typeface="Times New Roman" panose="02020603050405020304" pitchFamily="18" charset="0"/>
              </a:rPr>
              <a:t>N </a:t>
            </a:r>
            <a:r>
              <a:rPr lang="en-US" altLang="zh-CN" sz="2800" b="1" dirty="0" smtClean="0">
                <a:latin typeface="Times New Roman" panose="02020603050405020304" pitchFamily="18" charset="0"/>
                <a:cs typeface="Times New Roman" panose="02020603050405020304" pitchFamily="18" charset="0"/>
              </a:rPr>
              <a:t>= </a:t>
            </a:r>
            <a:r>
              <a:rPr lang="en-US" altLang="zh-CN" sz="2800" b="1" i="1" dirty="0" err="1" smtClean="0">
                <a:latin typeface="Times New Roman" panose="02020603050405020304" pitchFamily="18" charset="0"/>
                <a:cs typeface="Times New Roman" panose="02020603050405020304" pitchFamily="18" charset="0"/>
              </a:rPr>
              <a:t>nLA</a:t>
            </a:r>
            <a:endParaRPr lang="zh-CN" altLang="en-US" sz="2800" b="1" i="1" dirty="0">
              <a:latin typeface="Times New Roman" panose="02020603050405020304" pitchFamily="18" charset="0"/>
              <a:cs typeface="Times New Roman" panose="02020603050405020304" pitchFamily="18" charset="0"/>
            </a:endParaRPr>
          </a:p>
        </p:txBody>
      </p:sp>
      <p:sp>
        <p:nvSpPr>
          <p:cNvPr id="13" name="文本框 12"/>
          <p:cNvSpPr txBox="1"/>
          <p:nvPr/>
        </p:nvSpPr>
        <p:spPr>
          <a:xfrm>
            <a:off x="189613" y="6157853"/>
            <a:ext cx="3791423" cy="523220"/>
          </a:xfrm>
          <a:prstGeom prst="rect">
            <a:avLst/>
          </a:prstGeom>
          <a:noFill/>
        </p:spPr>
        <p:txBody>
          <a:bodyPr wrap="none" rtlCol="0">
            <a:spAutoFit/>
          </a:bodyPr>
          <a:lstStyle/>
          <a:p>
            <a:r>
              <a:rPr lang="zh-CN" altLang="en-US" sz="2800" b="1" dirty="0" smtClean="0"/>
              <a:t>导线受到的总磁力为：</a:t>
            </a:r>
            <a:endParaRPr lang="zh-CN" altLang="en-US" sz="2800" b="1" dirty="0"/>
          </a:p>
        </p:txBody>
      </p:sp>
      <p:sp>
        <p:nvSpPr>
          <p:cNvPr id="14" name="文本框 13"/>
          <p:cNvSpPr txBox="1"/>
          <p:nvPr/>
        </p:nvSpPr>
        <p:spPr>
          <a:xfrm>
            <a:off x="143623" y="601524"/>
            <a:ext cx="3791423" cy="523220"/>
          </a:xfrm>
          <a:prstGeom prst="rect">
            <a:avLst/>
          </a:prstGeom>
          <a:noFill/>
        </p:spPr>
        <p:txBody>
          <a:bodyPr wrap="none" rtlCol="0">
            <a:spAutoFit/>
          </a:bodyPr>
          <a:lstStyle/>
          <a:p>
            <a:r>
              <a:rPr lang="zh-CN" altLang="en-US" sz="2800" b="1" dirty="0" smtClean="0">
                <a:latin typeface="黑体" pitchFamily="49" charset="-122"/>
                <a:ea typeface="黑体" pitchFamily="49" charset="-122"/>
              </a:rPr>
              <a:t>一、直导线所受的磁力</a:t>
            </a:r>
            <a:endParaRPr lang="zh-CN" altLang="en-US" sz="2800" b="1" dirty="0">
              <a:latin typeface="黑体" pitchFamily="49" charset="-122"/>
              <a:ea typeface="黑体" pitchFamily="49" charset="-122"/>
            </a:endParaRPr>
          </a:p>
        </p:txBody>
      </p:sp>
    </p:spTree>
    <p:extLst>
      <p:ext uri="{BB962C8B-B14F-4D97-AF65-F5344CB8AC3E}">
        <p14:creationId xmlns:p14="http://schemas.microsoft.com/office/powerpoint/2010/main" val="26300878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07353" y="1586330"/>
            <a:ext cx="2612796" cy="471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框 2"/>
          <p:cNvSpPr txBox="1"/>
          <p:nvPr/>
        </p:nvSpPr>
        <p:spPr>
          <a:xfrm>
            <a:off x="431371" y="1534270"/>
            <a:ext cx="4512774" cy="523220"/>
          </a:xfrm>
          <a:prstGeom prst="rect">
            <a:avLst/>
          </a:prstGeom>
          <a:noFill/>
        </p:spPr>
        <p:txBody>
          <a:bodyPr wrap="none" rtlCol="0">
            <a:spAutoFit/>
          </a:bodyPr>
          <a:lstStyle/>
          <a:p>
            <a:r>
              <a:rPr lang="zh-CN" altLang="en-US" sz="2800" b="1" dirty="0" smtClean="0">
                <a:solidFill>
                  <a:srgbClr val="FF0000"/>
                </a:solidFill>
              </a:rPr>
              <a:t>载流直导线受到的磁力为：</a:t>
            </a:r>
            <a:endParaRPr lang="zh-CN" altLang="en-US" sz="2800" b="1" dirty="0">
              <a:solidFill>
                <a:srgbClr val="FF0000"/>
              </a:solidFill>
            </a:endParaRPr>
          </a:p>
        </p:txBody>
      </p:sp>
      <p:pic>
        <p:nvPicPr>
          <p:cNvPr id="4"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55329" y="2260393"/>
            <a:ext cx="599138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文本框 4"/>
          <p:cNvSpPr txBox="1"/>
          <p:nvPr/>
        </p:nvSpPr>
        <p:spPr>
          <a:xfrm>
            <a:off x="539881" y="2233233"/>
            <a:ext cx="3070071" cy="523220"/>
          </a:xfrm>
          <a:prstGeom prst="rect">
            <a:avLst/>
          </a:prstGeom>
          <a:noFill/>
        </p:spPr>
        <p:txBody>
          <a:bodyPr wrap="none" rtlCol="0">
            <a:spAutoFit/>
          </a:bodyPr>
          <a:lstStyle/>
          <a:p>
            <a:r>
              <a:rPr lang="zh-CN" altLang="en-US" sz="2800" b="1" dirty="0" smtClean="0"/>
              <a:t>该磁力的大小为：</a:t>
            </a:r>
            <a:endParaRPr lang="zh-CN" altLang="en-US" sz="2800" b="1" dirty="0"/>
          </a:p>
        </p:txBody>
      </p:sp>
      <p:sp>
        <p:nvSpPr>
          <p:cNvPr id="11" name="Text Box 41"/>
          <p:cNvSpPr txBox="1">
            <a:spLocks noChangeArrowheads="1"/>
          </p:cNvSpPr>
          <p:nvPr/>
        </p:nvSpPr>
        <p:spPr bwMode="auto">
          <a:xfrm>
            <a:off x="883394" y="4103189"/>
            <a:ext cx="1084791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dirty="0" smtClean="0">
                <a:solidFill>
                  <a:srgbClr val="000000"/>
                </a:solidFill>
                <a:latin typeface="+mn-ea"/>
                <a:cs typeface="Times New Roman" pitchFamily="18" charset="0"/>
              </a:rPr>
              <a:t>磁场对载流导线（电流）的作用力</a:t>
            </a:r>
            <a:r>
              <a:rPr kumimoji="1" lang="en-US" altLang="zh-CN" sz="2800" b="1" dirty="0" smtClean="0">
                <a:solidFill>
                  <a:srgbClr val="000000"/>
                </a:solidFill>
                <a:latin typeface="+mn-ea"/>
                <a:cs typeface="Times New Roman" pitchFamily="18" charset="0"/>
              </a:rPr>
              <a:t>----</a:t>
            </a:r>
            <a:r>
              <a:rPr kumimoji="1" lang="zh-CN" altLang="en-US" sz="2800" b="1" dirty="0" smtClean="0">
                <a:solidFill>
                  <a:srgbClr val="0000FF"/>
                </a:solidFill>
                <a:latin typeface="+mn-ea"/>
                <a:cs typeface="Times New Roman" pitchFamily="18" charset="0"/>
              </a:rPr>
              <a:t>安培力</a:t>
            </a:r>
            <a:r>
              <a:rPr kumimoji="1" lang="zh-CN" altLang="en-US" sz="2800" b="1" dirty="0" smtClean="0">
                <a:solidFill>
                  <a:srgbClr val="000000"/>
                </a:solidFill>
                <a:latin typeface="+mn-ea"/>
                <a:cs typeface="Times New Roman" pitchFamily="18" charset="0"/>
              </a:rPr>
              <a:t> </a:t>
            </a:r>
            <a:r>
              <a:rPr kumimoji="1" lang="zh-CN" altLang="en-US" sz="2800" b="1" dirty="0">
                <a:solidFill>
                  <a:srgbClr val="000000"/>
                </a:solidFill>
                <a:latin typeface="+mn-ea"/>
                <a:cs typeface="Times New Roman" pitchFamily="18" charset="0"/>
              </a:rPr>
              <a:t>。</a:t>
            </a:r>
            <a:endParaRPr kumimoji="1" lang="zh-CN" altLang="en-US" sz="2800" b="1" dirty="0" smtClean="0">
              <a:solidFill>
                <a:srgbClr val="000000"/>
              </a:solidFill>
              <a:latin typeface="+mn-ea"/>
              <a:cs typeface="Times New Roman" pitchFamily="18" charset="0"/>
            </a:endParaRPr>
          </a:p>
        </p:txBody>
      </p:sp>
      <p:pic>
        <p:nvPicPr>
          <p:cNvPr id="13" name="Picture 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95732" y="90001"/>
            <a:ext cx="6123336" cy="5856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文本框 13"/>
          <p:cNvSpPr txBox="1"/>
          <p:nvPr/>
        </p:nvSpPr>
        <p:spPr>
          <a:xfrm>
            <a:off x="61118" y="159203"/>
            <a:ext cx="3791423" cy="523220"/>
          </a:xfrm>
          <a:prstGeom prst="rect">
            <a:avLst/>
          </a:prstGeom>
          <a:noFill/>
        </p:spPr>
        <p:txBody>
          <a:bodyPr wrap="none" rtlCol="0">
            <a:spAutoFit/>
          </a:bodyPr>
          <a:lstStyle/>
          <a:p>
            <a:r>
              <a:rPr lang="zh-CN" altLang="en-US" sz="2800" b="1" dirty="0"/>
              <a:t>导线受到的总磁力为：</a:t>
            </a:r>
          </a:p>
        </p:txBody>
      </p:sp>
      <p:grpSp>
        <p:nvGrpSpPr>
          <p:cNvPr id="15" name="组合 14"/>
          <p:cNvGrpSpPr/>
          <p:nvPr/>
        </p:nvGrpSpPr>
        <p:grpSpPr>
          <a:xfrm>
            <a:off x="662675" y="958172"/>
            <a:ext cx="5604419" cy="596627"/>
            <a:chOff x="802468" y="1162759"/>
            <a:chExt cx="4203314" cy="596627"/>
          </a:xfrm>
        </p:grpSpPr>
        <p:pic>
          <p:nvPicPr>
            <p:cNvPr id="12"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68007" y="1162759"/>
              <a:ext cx="2094542" cy="5966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文本框 8"/>
            <p:cNvSpPr txBox="1"/>
            <p:nvPr/>
          </p:nvSpPr>
          <p:spPr>
            <a:xfrm>
              <a:off x="802468" y="1178057"/>
              <a:ext cx="4203314" cy="523220"/>
            </a:xfrm>
            <a:prstGeom prst="rect">
              <a:avLst/>
            </a:prstGeom>
            <a:noFill/>
          </p:spPr>
          <p:txBody>
            <a:bodyPr wrap="none" rtlCol="0">
              <a:spAutoFit/>
            </a:bodyPr>
            <a:lstStyle/>
            <a:p>
              <a:r>
                <a:rPr lang="zh-CN" altLang="en-US" sz="2800" b="1" dirty="0" smtClean="0"/>
                <a:t>将                               代入上式可得：</a:t>
              </a:r>
              <a:endParaRPr lang="zh-CN" altLang="en-US" sz="2800" b="1" dirty="0"/>
            </a:p>
          </p:txBody>
        </p:sp>
      </p:grpSp>
      <p:sp>
        <p:nvSpPr>
          <p:cNvPr id="6" name="TextBox 5"/>
          <p:cNvSpPr txBox="1"/>
          <p:nvPr/>
        </p:nvSpPr>
        <p:spPr>
          <a:xfrm>
            <a:off x="815415" y="3227785"/>
            <a:ext cx="9712438" cy="523220"/>
          </a:xfrm>
          <a:prstGeom prst="rect">
            <a:avLst/>
          </a:prstGeom>
          <a:noFill/>
        </p:spPr>
        <p:txBody>
          <a:bodyPr wrap="square" rtlCol="0">
            <a:spAutoFit/>
          </a:bodyPr>
          <a:lstStyle/>
          <a:p>
            <a:r>
              <a:rPr lang="zh-CN" altLang="en-US" sz="2800" b="1" dirty="0" smtClean="0"/>
              <a:t>长度矢量</a:t>
            </a:r>
            <a:r>
              <a:rPr lang="en-US" altLang="zh-CN" sz="2800" b="1" dirty="0" smtClean="0"/>
              <a:t>L</a:t>
            </a:r>
            <a:r>
              <a:rPr lang="zh-CN" altLang="en-US" sz="2800" b="1" dirty="0" smtClean="0"/>
              <a:t>为沿电流方向的一个矢量且大小等于导线的长度。</a:t>
            </a:r>
            <a:endParaRPr lang="zh-CN" altLang="en-US" sz="2800" b="1" dirty="0"/>
          </a:p>
        </p:txBody>
      </p:sp>
      <p:sp>
        <p:nvSpPr>
          <p:cNvPr id="7" name="TextBox 6"/>
          <p:cNvSpPr txBox="1"/>
          <p:nvPr/>
        </p:nvSpPr>
        <p:spPr>
          <a:xfrm>
            <a:off x="926785" y="4869160"/>
            <a:ext cx="9601067" cy="523220"/>
          </a:xfrm>
          <a:prstGeom prst="rect">
            <a:avLst/>
          </a:prstGeom>
          <a:noFill/>
        </p:spPr>
        <p:txBody>
          <a:bodyPr wrap="square" rtlCol="0">
            <a:spAutoFit/>
          </a:bodyPr>
          <a:lstStyle/>
          <a:p>
            <a:r>
              <a:rPr lang="zh-CN" altLang="en-US" sz="2800" b="1" dirty="0" smtClean="0"/>
              <a:t>磁场对运动电荷作用的磁场力叫做</a:t>
            </a:r>
            <a:r>
              <a:rPr lang="zh-CN" altLang="en-US" sz="2800" b="1" dirty="0" smtClean="0">
                <a:solidFill>
                  <a:srgbClr val="0000FF"/>
                </a:solidFill>
              </a:rPr>
              <a:t>洛伦兹力</a:t>
            </a:r>
            <a:endParaRPr lang="zh-CN" altLang="en-US" sz="2800" b="1" dirty="0">
              <a:solidFill>
                <a:srgbClr val="0000FF"/>
              </a:solidFill>
            </a:endParaRPr>
          </a:p>
        </p:txBody>
      </p:sp>
      <p:sp>
        <p:nvSpPr>
          <p:cNvPr id="8" name="TextBox 7"/>
          <p:cNvSpPr txBox="1"/>
          <p:nvPr/>
        </p:nvSpPr>
        <p:spPr>
          <a:xfrm>
            <a:off x="8563644" y="3874983"/>
            <a:ext cx="3437855" cy="975523"/>
          </a:xfrm>
          <a:prstGeom prst="rect">
            <a:avLst/>
          </a:prstGeom>
          <a:noFill/>
        </p:spPr>
        <p:txBody>
          <a:bodyPr wrap="square" rtlCol="0">
            <a:spAutoFit/>
          </a:bodyPr>
          <a:lstStyle/>
          <a:p>
            <a:pPr>
              <a:lnSpc>
                <a:spcPct val="125000"/>
              </a:lnSpc>
            </a:pPr>
            <a:r>
              <a:rPr lang="en-US" altLang="zh-CN" sz="2400" b="1" dirty="0" smtClean="0">
                <a:solidFill>
                  <a:srgbClr val="FF0000"/>
                </a:solidFill>
              </a:rPr>
              <a:t>P119	</a:t>
            </a:r>
            <a:r>
              <a:rPr lang="zh-CN" altLang="en-US" sz="2400" b="1" dirty="0" smtClean="0">
                <a:solidFill>
                  <a:srgbClr val="FF0000"/>
                </a:solidFill>
              </a:rPr>
              <a:t>解题技巧：求作用在载流直导线上磁力</a:t>
            </a:r>
            <a:endParaRPr lang="zh-CN" altLang="en-US" sz="2400" b="1" dirty="0">
              <a:solidFill>
                <a:srgbClr val="FF0000"/>
              </a:solidFill>
            </a:endParaRPr>
          </a:p>
        </p:txBody>
      </p:sp>
    </p:spTree>
    <p:extLst>
      <p:ext uri="{BB962C8B-B14F-4D97-AF65-F5344CB8AC3E}">
        <p14:creationId xmlns:p14="http://schemas.microsoft.com/office/powerpoint/2010/main" val="18583609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600" dirty="0" smtClean="0"/>
              <a:t>检测题</a:t>
            </a:r>
            <a:r>
              <a:rPr lang="en-US" altLang="zh-CN" sz="3600" dirty="0" smtClean="0"/>
              <a:t>19.6</a:t>
            </a:r>
            <a:endParaRPr lang="zh-CN" altLang="en-US" sz="3600" dirty="0"/>
          </a:p>
        </p:txBody>
      </p:sp>
      <p:sp>
        <p:nvSpPr>
          <p:cNvPr id="3" name="内容占位符 2"/>
          <p:cNvSpPr>
            <a:spLocks noGrp="1"/>
          </p:cNvSpPr>
          <p:nvPr>
            <p:ph idx="1"/>
          </p:nvPr>
        </p:nvSpPr>
        <p:spPr>
          <a:xfrm>
            <a:off x="838200" y="1690688"/>
            <a:ext cx="10515600" cy="4351338"/>
          </a:xfrm>
        </p:spPr>
        <p:txBody>
          <a:bodyPr>
            <a:normAutofit/>
          </a:bodyPr>
          <a:lstStyle/>
          <a:p>
            <a:pPr marL="0" indent="0">
              <a:buNone/>
            </a:pPr>
            <a:r>
              <a:rPr lang="zh-CN" altLang="en-US" sz="3200" dirty="0"/>
              <a:t>假设图</a:t>
            </a:r>
            <a:r>
              <a:rPr lang="en-US" altLang="zh-CN" sz="3200" dirty="0"/>
              <a:t>19.26 </a:t>
            </a:r>
            <a:r>
              <a:rPr lang="zh-CN" altLang="en-US" sz="3200" dirty="0"/>
              <a:t>中的磁场向右（在页面所在的平面上）而不是指入页面。</a:t>
            </a:r>
            <a:r>
              <a:rPr lang="zh-CN" altLang="en-US" sz="3200" dirty="0" smtClean="0"/>
              <a:t>导线所</a:t>
            </a:r>
            <a:r>
              <a:rPr lang="zh-CN" altLang="en-US" sz="3200" dirty="0"/>
              <a:t>受的磁力是什么方向？</a:t>
            </a:r>
          </a:p>
        </p:txBody>
      </p:sp>
      <p:pic>
        <p:nvPicPr>
          <p:cNvPr id="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80771" y="2852508"/>
            <a:ext cx="3840237" cy="34811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1653436" y="4008329"/>
            <a:ext cx="2818356" cy="584775"/>
          </a:xfrm>
          <a:prstGeom prst="rect">
            <a:avLst/>
          </a:prstGeom>
          <a:noFill/>
        </p:spPr>
        <p:txBody>
          <a:bodyPr wrap="square" rtlCol="0">
            <a:spAutoFit/>
          </a:bodyPr>
          <a:lstStyle/>
          <a:p>
            <a:r>
              <a:rPr lang="zh-CN" altLang="en-US" sz="3200" b="1" dirty="0" smtClean="0">
                <a:solidFill>
                  <a:srgbClr val="FF0000"/>
                </a:solidFill>
              </a:rPr>
              <a:t>指入页面</a:t>
            </a:r>
            <a:endParaRPr lang="zh-CN" altLang="en-US" sz="3200" b="1" dirty="0">
              <a:solidFill>
                <a:srgbClr val="FF0000"/>
              </a:solidFill>
            </a:endParaRPr>
          </a:p>
        </p:txBody>
      </p:sp>
    </p:spTree>
    <p:extLst>
      <p:ext uri="{BB962C8B-B14F-4D97-AF65-F5344CB8AC3E}">
        <p14:creationId xmlns:p14="http://schemas.microsoft.com/office/powerpoint/2010/main" val="35213843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49485" y="116632"/>
            <a:ext cx="4697120" cy="523220"/>
          </a:xfrm>
          <a:prstGeom prst="rect">
            <a:avLst/>
          </a:prstGeom>
          <a:noFill/>
        </p:spPr>
        <p:txBody>
          <a:bodyPr wrap="none" rtlCol="0">
            <a:spAutoFit/>
          </a:bodyPr>
          <a:lstStyle/>
          <a:p>
            <a:r>
              <a:rPr lang="zh-CN" altLang="en-US" sz="2800" b="1" dirty="0" smtClean="0">
                <a:latin typeface="黑体" pitchFamily="49" charset="-122"/>
                <a:ea typeface="黑体" pitchFamily="49" charset="-122"/>
              </a:rPr>
              <a:t>例</a:t>
            </a:r>
            <a:r>
              <a:rPr lang="en-US" altLang="zh-CN" sz="2800" b="1" dirty="0" smtClean="0">
                <a:latin typeface="黑体" pitchFamily="49" charset="-122"/>
                <a:ea typeface="黑体" pitchFamily="49" charset="-122"/>
              </a:rPr>
              <a:t>19.6 </a:t>
            </a:r>
            <a:r>
              <a:rPr lang="zh-CN" altLang="en-US" sz="2800" b="1" dirty="0" smtClean="0">
                <a:latin typeface="黑体" pitchFamily="49" charset="-122"/>
                <a:ea typeface="黑体" pitchFamily="49" charset="-122"/>
              </a:rPr>
              <a:t>输电线所受的磁力：</a:t>
            </a:r>
            <a:endParaRPr lang="zh-CN" altLang="en-US" sz="2800" b="1" dirty="0">
              <a:latin typeface="黑体" pitchFamily="49" charset="-122"/>
              <a:ea typeface="黑体" pitchFamily="49" charset="-122"/>
            </a:endParaRPr>
          </a:p>
        </p:txBody>
      </p:sp>
      <p:sp>
        <p:nvSpPr>
          <p:cNvPr id="7" name="文本框 6"/>
          <p:cNvSpPr txBox="1"/>
          <p:nvPr/>
        </p:nvSpPr>
        <p:spPr>
          <a:xfrm>
            <a:off x="246272" y="645069"/>
            <a:ext cx="11983105" cy="1169551"/>
          </a:xfrm>
          <a:prstGeom prst="rect">
            <a:avLst/>
          </a:prstGeom>
          <a:noFill/>
        </p:spPr>
        <p:txBody>
          <a:bodyPr wrap="square" rtlCol="0">
            <a:spAutoFit/>
          </a:bodyPr>
          <a:lstStyle/>
          <a:p>
            <a:pPr>
              <a:lnSpc>
                <a:spcPct val="125000"/>
              </a:lnSpc>
            </a:pPr>
            <a:r>
              <a:rPr lang="zh-CN" altLang="en-US" sz="2800" dirty="0" smtClean="0">
                <a:latin typeface="Times New Roman" panose="02020603050405020304" pitchFamily="18" charset="0"/>
                <a:cs typeface="Times New Roman" panose="02020603050405020304" pitchFamily="18" charset="0"/>
              </a:rPr>
              <a:t>       </a:t>
            </a:r>
            <a:r>
              <a:rPr lang="zh-CN" altLang="en-US" sz="2800" b="1" dirty="0" smtClean="0">
                <a:latin typeface="Times New Roman" panose="02020603050405020304" pitchFamily="18" charset="0"/>
                <a:cs typeface="Times New Roman" panose="02020603050405020304" pitchFamily="18" charset="0"/>
              </a:rPr>
              <a:t>一条</a:t>
            </a:r>
            <a:r>
              <a:rPr lang="en-US" altLang="zh-CN" sz="2800" b="1" dirty="0" smtClean="0">
                <a:latin typeface="Times New Roman" panose="02020603050405020304" pitchFamily="18" charset="0"/>
                <a:cs typeface="Times New Roman" panose="02020603050405020304" pitchFamily="18" charset="0"/>
              </a:rPr>
              <a:t>125 m</a:t>
            </a:r>
            <a:r>
              <a:rPr lang="zh-CN" altLang="en-US" sz="2800" b="1" dirty="0" smtClean="0">
                <a:latin typeface="Times New Roman" panose="02020603050405020304" pitchFamily="18" charset="0"/>
                <a:cs typeface="Times New Roman" panose="02020603050405020304" pitchFamily="18" charset="0"/>
              </a:rPr>
              <a:t>长的输电线水平放置并通以</a:t>
            </a:r>
            <a:r>
              <a:rPr lang="en-US" altLang="zh-CN" sz="2800" b="1" dirty="0" smtClean="0">
                <a:latin typeface="Times New Roman" panose="02020603050405020304" pitchFamily="18" charset="0"/>
                <a:cs typeface="Times New Roman" panose="02020603050405020304" pitchFamily="18" charset="0"/>
              </a:rPr>
              <a:t>2500 A</a:t>
            </a:r>
            <a:r>
              <a:rPr lang="zh-CN" altLang="en-US" sz="2800" b="1" dirty="0" smtClean="0">
                <a:latin typeface="Times New Roman" panose="02020603050405020304" pitchFamily="18" charset="0"/>
                <a:cs typeface="Times New Roman" panose="02020603050405020304" pitchFamily="18" charset="0"/>
              </a:rPr>
              <a:t>向南的电流。此处地磁场为</a:t>
            </a:r>
            <a:r>
              <a:rPr lang="en-US" altLang="zh-CN" sz="2800" b="1" dirty="0" smtClean="0">
                <a:latin typeface="Times New Roman" panose="02020603050405020304" pitchFamily="18" charset="0"/>
                <a:cs typeface="Times New Roman" panose="02020603050405020304" pitchFamily="18" charset="0"/>
              </a:rPr>
              <a:t>0.052 T </a:t>
            </a:r>
            <a:r>
              <a:rPr lang="zh-CN" altLang="en-US" sz="2800" b="1" dirty="0" smtClean="0">
                <a:latin typeface="Times New Roman" panose="02020603050405020304" pitchFamily="18" charset="0"/>
                <a:cs typeface="Times New Roman" panose="02020603050405020304" pitchFamily="18" charset="0"/>
              </a:rPr>
              <a:t>向北且水平偏下</a:t>
            </a:r>
            <a:r>
              <a:rPr lang="en-US" altLang="zh-CN" sz="2800" b="1" dirty="0" smtClean="0">
                <a:latin typeface="Times New Roman" panose="02020603050405020304" pitchFamily="18" charset="0"/>
                <a:cs typeface="Times New Roman" panose="02020603050405020304" pitchFamily="18" charset="0"/>
              </a:rPr>
              <a:t>62 </a:t>
            </a:r>
            <a:r>
              <a:rPr lang="zh-CN" altLang="en-US" sz="2800" b="1" dirty="0" smtClean="0">
                <a:latin typeface="Times New Roman" panose="02020603050405020304" pitchFamily="18" charset="0"/>
                <a:cs typeface="Times New Roman" panose="02020603050405020304" pitchFamily="18" charset="0"/>
              </a:rPr>
              <a:t>℃</a:t>
            </a:r>
            <a:r>
              <a:rPr lang="en-US" altLang="zh-CN" sz="2800" b="1" dirty="0" smtClean="0">
                <a:latin typeface="Times New Roman" panose="02020603050405020304" pitchFamily="18" charset="0"/>
                <a:cs typeface="Times New Roman" panose="02020603050405020304" pitchFamily="18" charset="0"/>
              </a:rPr>
              <a:t> </a:t>
            </a:r>
            <a:r>
              <a:rPr lang="zh-CN" altLang="en-US" sz="2800" b="1" dirty="0" smtClean="0">
                <a:latin typeface="Times New Roman" panose="02020603050405020304" pitchFamily="18" charset="0"/>
                <a:cs typeface="Times New Roman" panose="02020603050405020304" pitchFamily="18" charset="0"/>
              </a:rPr>
              <a:t>。求对该输电线的磁力。</a:t>
            </a:r>
            <a:endParaRPr lang="zh-CN" altLang="en-US" sz="2800" b="1" dirty="0">
              <a:latin typeface="Times New Roman" panose="02020603050405020304" pitchFamily="18" charset="0"/>
              <a:cs typeface="Times New Roman" panose="02020603050405020304" pitchFamily="18" charset="0"/>
            </a:endParaRPr>
          </a:p>
        </p:txBody>
      </p:sp>
      <p:grpSp>
        <p:nvGrpSpPr>
          <p:cNvPr id="15" name="组合 14"/>
          <p:cNvGrpSpPr/>
          <p:nvPr/>
        </p:nvGrpSpPr>
        <p:grpSpPr>
          <a:xfrm>
            <a:off x="431371" y="2492896"/>
            <a:ext cx="4858908" cy="3846041"/>
            <a:chOff x="323528" y="2492896"/>
            <a:chExt cx="3644181" cy="3846041"/>
          </a:xfrm>
        </p:grpSpPr>
        <p:pic>
          <p:nvPicPr>
            <p:cNvPr id="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7544" y="2492896"/>
              <a:ext cx="3500165" cy="28318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文本框 8"/>
            <p:cNvSpPr txBox="1"/>
            <p:nvPr/>
          </p:nvSpPr>
          <p:spPr>
            <a:xfrm>
              <a:off x="323528" y="5877272"/>
              <a:ext cx="2806298" cy="461665"/>
            </a:xfrm>
            <a:prstGeom prst="rect">
              <a:avLst/>
            </a:prstGeom>
            <a:noFill/>
          </p:spPr>
          <p:txBody>
            <a:bodyPr wrap="none" rtlCol="0">
              <a:spAutoFit/>
            </a:bodyPr>
            <a:lstStyle/>
            <a:p>
              <a:r>
                <a:rPr lang="zh-CN" altLang="en-US" sz="2400" b="1" dirty="0" smtClean="0"/>
                <a:t>图</a:t>
              </a:r>
              <a:r>
                <a:rPr lang="en-US" altLang="zh-CN" sz="2400" b="1" dirty="0" smtClean="0"/>
                <a:t>19.27 </a:t>
              </a:r>
              <a:r>
                <a:rPr lang="zh-CN" altLang="en-US" sz="2400" b="1" dirty="0" smtClean="0"/>
                <a:t>电线与磁感应强度</a:t>
              </a:r>
              <a:endParaRPr lang="zh-CN" altLang="en-US" sz="2400" b="1" dirty="0"/>
            </a:p>
          </p:txBody>
        </p:sp>
      </p:grpSp>
      <p:grpSp>
        <p:nvGrpSpPr>
          <p:cNvPr id="14" name="组合 13"/>
          <p:cNvGrpSpPr/>
          <p:nvPr/>
        </p:nvGrpSpPr>
        <p:grpSpPr>
          <a:xfrm>
            <a:off x="6384032" y="2180649"/>
            <a:ext cx="5183392" cy="4383604"/>
            <a:chOff x="4788024" y="2180649"/>
            <a:chExt cx="3887544" cy="4383604"/>
          </a:xfrm>
        </p:grpSpPr>
        <p:pic>
          <p:nvPicPr>
            <p:cNvPr id="10" name="图片 9"/>
            <p:cNvPicPr>
              <a:picLocks noChangeAspect="1"/>
            </p:cNvPicPr>
            <p:nvPr/>
          </p:nvPicPr>
          <p:blipFill>
            <a:blip r:embed="rId3" cstate="print"/>
            <a:stretch>
              <a:fillRect/>
            </a:stretch>
          </p:blipFill>
          <p:spPr>
            <a:xfrm>
              <a:off x="4932040" y="2180649"/>
              <a:ext cx="3743528" cy="3456383"/>
            </a:xfrm>
            <a:prstGeom prst="rect">
              <a:avLst/>
            </a:prstGeom>
          </p:spPr>
        </p:pic>
        <p:sp>
          <p:nvSpPr>
            <p:cNvPr id="13" name="文本框 12"/>
            <p:cNvSpPr txBox="1"/>
            <p:nvPr/>
          </p:nvSpPr>
          <p:spPr>
            <a:xfrm>
              <a:off x="4788024" y="5733256"/>
              <a:ext cx="2892860" cy="830997"/>
            </a:xfrm>
            <a:prstGeom prst="rect">
              <a:avLst/>
            </a:prstGeom>
            <a:noFill/>
          </p:spPr>
          <p:txBody>
            <a:bodyPr wrap="none" rtlCol="0">
              <a:spAutoFit/>
            </a:bodyPr>
            <a:lstStyle/>
            <a:p>
              <a:r>
                <a:rPr lang="zh-CN" altLang="en-US" sz="2400" b="1" dirty="0" smtClean="0"/>
                <a:t>图</a:t>
              </a:r>
              <a:r>
                <a:rPr lang="en-US" altLang="zh-CN" sz="2400" b="1" dirty="0" smtClean="0"/>
                <a:t>19.28 </a:t>
              </a:r>
              <a:r>
                <a:rPr lang="zh-CN" altLang="en-US" sz="2400" b="1" dirty="0" smtClean="0"/>
                <a:t>三个矢量</a:t>
              </a:r>
              <a:r>
                <a:rPr lang="en-US" altLang="zh-CN" sz="2400" b="1" i="1" dirty="0" smtClean="0">
                  <a:latin typeface="Times New Roman" panose="02020603050405020304" pitchFamily="18" charset="0"/>
                  <a:cs typeface="Times New Roman" panose="02020603050405020304" pitchFamily="18" charset="0"/>
                </a:rPr>
                <a:t>F</a:t>
              </a:r>
              <a:r>
                <a:rPr lang="en-US" altLang="zh-CN" sz="2400" b="1" baseline="-25000" dirty="0" smtClean="0">
                  <a:latin typeface="Times New Roman" panose="02020603050405020304" pitchFamily="18" charset="0"/>
                  <a:cs typeface="Times New Roman" panose="02020603050405020304" pitchFamily="18" charset="0"/>
                </a:rPr>
                <a:t>B</a:t>
              </a:r>
              <a:r>
                <a:rPr lang="zh-CN" altLang="en-US"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L</a:t>
              </a:r>
              <a:r>
                <a:rPr lang="zh-CN" altLang="en-US" sz="2400" b="1" dirty="0" smtClean="0">
                  <a:latin typeface="Times New Roman" panose="02020603050405020304" pitchFamily="18" charset="0"/>
                  <a:cs typeface="Times New Roman" panose="02020603050405020304" pitchFamily="18" charset="0"/>
                </a:rPr>
                <a:t>、</a:t>
              </a:r>
              <a:r>
                <a:rPr lang="en-US" altLang="zh-CN" sz="2400" b="1" i="1" dirty="0" smtClean="0">
                  <a:latin typeface="Times New Roman" panose="02020603050405020304" pitchFamily="18" charset="0"/>
                  <a:cs typeface="Times New Roman" panose="02020603050405020304" pitchFamily="18" charset="0"/>
                </a:rPr>
                <a:t>B</a:t>
              </a:r>
            </a:p>
            <a:p>
              <a:r>
                <a:rPr lang="en-US" altLang="zh-CN" sz="2400" b="1" i="1" dirty="0">
                  <a:latin typeface="Times New Roman" panose="02020603050405020304" pitchFamily="18" charset="0"/>
                  <a:cs typeface="Times New Roman" panose="02020603050405020304" pitchFamily="18" charset="0"/>
                </a:rPr>
                <a:t> </a:t>
              </a:r>
              <a:r>
                <a:rPr lang="en-US" altLang="zh-CN" sz="2400" b="1" i="1" dirty="0" smtClean="0">
                  <a:latin typeface="Times New Roman" panose="02020603050405020304" pitchFamily="18" charset="0"/>
                  <a:cs typeface="Times New Roman" panose="02020603050405020304" pitchFamily="18" charset="0"/>
                </a:rPr>
                <a:t>             </a:t>
              </a:r>
              <a:r>
                <a:rPr lang="zh-CN" altLang="en-US" sz="2400" b="1" dirty="0" smtClean="0"/>
                <a:t>之间的关系</a:t>
              </a:r>
              <a:endParaRPr lang="zh-CN" altLang="en-US" sz="2400" b="1" dirty="0"/>
            </a:p>
          </p:txBody>
        </p:sp>
      </p:grpSp>
    </p:spTree>
    <p:extLst>
      <p:ext uri="{BB962C8B-B14F-4D97-AF65-F5344CB8AC3E}">
        <p14:creationId xmlns:p14="http://schemas.microsoft.com/office/powerpoint/2010/main" val="24800286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7692" y="231428"/>
            <a:ext cx="10657184" cy="2308324"/>
          </a:xfrm>
          <a:prstGeom prst="rect">
            <a:avLst/>
          </a:prstGeom>
          <a:noFill/>
        </p:spPr>
        <p:txBody>
          <a:bodyPr wrap="square" rtlCol="0">
            <a:spAutoFit/>
          </a:bodyPr>
          <a:lstStyle/>
          <a:p>
            <a:pPr>
              <a:lnSpc>
                <a:spcPct val="150000"/>
              </a:lnSpc>
            </a:pPr>
            <a:r>
              <a:rPr lang="en-US" altLang="zh-CN" sz="3200" b="1" dirty="0" smtClean="0"/>
              <a:t>120</a:t>
            </a:r>
            <a:r>
              <a:rPr lang="zh-CN" altLang="en-US" sz="3200" b="1" dirty="0" smtClean="0"/>
              <a:t>页  练习题</a:t>
            </a:r>
            <a:r>
              <a:rPr lang="en-US" altLang="zh-CN" sz="3200" b="1" dirty="0" smtClean="0"/>
              <a:t>19.6  </a:t>
            </a:r>
            <a:r>
              <a:rPr lang="zh-CN" altLang="en-US" sz="3200" b="1" dirty="0" smtClean="0"/>
              <a:t>载流导线受到的磁力</a:t>
            </a:r>
            <a:endParaRPr lang="en-US" altLang="zh-CN" sz="3200" b="1" dirty="0" smtClean="0"/>
          </a:p>
          <a:p>
            <a:pPr indent="457200">
              <a:lnSpc>
                <a:spcPct val="150000"/>
              </a:lnSpc>
            </a:pPr>
            <a:r>
              <a:rPr lang="zh-CN" altLang="en-US" sz="3200" b="1" dirty="0"/>
              <a:t>一</a:t>
            </a:r>
            <a:r>
              <a:rPr lang="zh-CN" altLang="en-US" sz="3200" b="1" dirty="0" smtClean="0"/>
              <a:t>个竖直的导线通有</a:t>
            </a:r>
            <a:r>
              <a:rPr lang="en-US" altLang="zh-CN" sz="3200" b="1" dirty="0" smtClean="0"/>
              <a:t>10.0A</a:t>
            </a:r>
            <a:r>
              <a:rPr lang="zh-CN" altLang="en-US" sz="3200" b="1" dirty="0" smtClean="0"/>
              <a:t>向上的电流。如果磁场与例</a:t>
            </a:r>
            <a:r>
              <a:rPr lang="en-US" altLang="zh-CN" sz="3200" b="1" dirty="0" smtClean="0"/>
              <a:t>19.6</a:t>
            </a:r>
            <a:r>
              <a:rPr lang="zh-CN" altLang="en-US" sz="3200" b="1" dirty="0" smtClean="0"/>
              <a:t>相同，则电线上的磁力是什么方向？</a:t>
            </a:r>
            <a:endParaRPr lang="zh-CN" altLang="en-US" sz="3200" b="1" dirty="0"/>
          </a:p>
        </p:txBody>
      </p:sp>
      <p:grpSp>
        <p:nvGrpSpPr>
          <p:cNvPr id="3" name="组合 2"/>
          <p:cNvGrpSpPr/>
          <p:nvPr/>
        </p:nvGrpSpPr>
        <p:grpSpPr>
          <a:xfrm>
            <a:off x="952071" y="2539752"/>
            <a:ext cx="4445429" cy="3734048"/>
            <a:chOff x="323528" y="2492896"/>
            <a:chExt cx="3644181" cy="3846041"/>
          </a:xfrm>
        </p:grpSpPr>
        <p:pic>
          <p:nvPicPr>
            <p:cNvPr id="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7544" y="2492896"/>
              <a:ext cx="3500165" cy="28318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文本框 8"/>
            <p:cNvSpPr txBox="1"/>
            <p:nvPr/>
          </p:nvSpPr>
          <p:spPr>
            <a:xfrm>
              <a:off x="323528" y="5877272"/>
              <a:ext cx="2806298" cy="461665"/>
            </a:xfrm>
            <a:prstGeom prst="rect">
              <a:avLst/>
            </a:prstGeom>
            <a:noFill/>
          </p:spPr>
          <p:txBody>
            <a:bodyPr wrap="none" rtlCol="0">
              <a:spAutoFit/>
            </a:bodyPr>
            <a:lstStyle/>
            <a:p>
              <a:r>
                <a:rPr lang="zh-CN" altLang="en-US" sz="2400" b="1" dirty="0" smtClean="0"/>
                <a:t>图</a:t>
              </a:r>
              <a:r>
                <a:rPr lang="en-US" altLang="zh-CN" sz="2400" b="1" dirty="0" smtClean="0"/>
                <a:t>19.27 </a:t>
              </a:r>
              <a:r>
                <a:rPr lang="zh-CN" altLang="en-US" sz="2400" b="1" dirty="0" smtClean="0"/>
                <a:t>电线与磁感应强度</a:t>
              </a:r>
              <a:endParaRPr lang="zh-CN" altLang="en-US" sz="2400" b="1" dirty="0"/>
            </a:p>
          </p:txBody>
        </p:sp>
      </p:grpSp>
      <p:sp>
        <p:nvSpPr>
          <p:cNvPr id="6" name="TextBox 5"/>
          <p:cNvSpPr txBox="1"/>
          <p:nvPr/>
        </p:nvSpPr>
        <p:spPr>
          <a:xfrm>
            <a:off x="7226300" y="3200400"/>
            <a:ext cx="1892300" cy="523220"/>
          </a:xfrm>
          <a:prstGeom prst="rect">
            <a:avLst/>
          </a:prstGeom>
          <a:noFill/>
        </p:spPr>
        <p:txBody>
          <a:bodyPr wrap="square" rtlCol="0">
            <a:spAutoFit/>
          </a:bodyPr>
          <a:lstStyle/>
          <a:p>
            <a:r>
              <a:rPr lang="zh-CN" altLang="en-US" sz="2800" b="1" dirty="0" smtClean="0">
                <a:solidFill>
                  <a:srgbClr val="FF0000"/>
                </a:solidFill>
              </a:rPr>
              <a:t>指入页面</a:t>
            </a:r>
            <a:endParaRPr lang="zh-CN" altLang="en-US" sz="2800" b="1" dirty="0">
              <a:solidFill>
                <a:srgbClr val="FF0000"/>
              </a:solidFill>
            </a:endParaRPr>
          </a:p>
        </p:txBody>
      </p:sp>
    </p:spTree>
    <p:extLst>
      <p:ext uri="{BB962C8B-B14F-4D97-AF65-F5344CB8AC3E}">
        <p14:creationId xmlns:p14="http://schemas.microsoft.com/office/powerpoint/2010/main" val="5367466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12944"/>
          <a:stretch/>
        </p:blipFill>
        <p:spPr bwMode="auto">
          <a:xfrm>
            <a:off x="88143" y="150312"/>
            <a:ext cx="11680319" cy="4922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249236" y="3860800"/>
            <a:ext cx="1262064" cy="707886"/>
          </a:xfrm>
          <a:prstGeom prst="rect">
            <a:avLst/>
          </a:prstGeom>
          <a:noFill/>
        </p:spPr>
        <p:txBody>
          <a:bodyPr wrap="square" rtlCol="0">
            <a:spAutoFit/>
          </a:bodyPr>
          <a:lstStyle/>
          <a:p>
            <a:r>
              <a:rPr lang="zh-CN" altLang="en-US" sz="2000" smtClean="0"/>
              <a:t>线段的矢量积分</a:t>
            </a:r>
            <a:endParaRPr lang="zh-CN" altLang="en-US" sz="2000"/>
          </a:p>
        </p:txBody>
      </p:sp>
      <p:sp>
        <p:nvSpPr>
          <p:cNvPr id="4" name="TextBox 3"/>
          <p:cNvSpPr txBox="1"/>
          <p:nvPr/>
        </p:nvSpPr>
        <p:spPr>
          <a:xfrm>
            <a:off x="588868" y="5067794"/>
            <a:ext cx="11179594" cy="1015663"/>
          </a:xfrm>
          <a:prstGeom prst="rect">
            <a:avLst/>
          </a:prstGeom>
          <a:noFill/>
        </p:spPr>
        <p:txBody>
          <a:bodyPr wrap="square" rtlCol="0">
            <a:spAutoFit/>
          </a:bodyPr>
          <a:lstStyle/>
          <a:p>
            <a:pPr>
              <a:lnSpc>
                <a:spcPct val="125000"/>
              </a:lnSpc>
            </a:pPr>
            <a:r>
              <a:rPr lang="zh-CN" altLang="en-US" sz="2400" b="1" dirty="0">
                <a:solidFill>
                  <a:srgbClr val="FF0000"/>
                </a:solidFill>
              </a:rPr>
              <a:t>一</a:t>
            </a:r>
            <a:r>
              <a:rPr lang="zh-CN" altLang="en-US" sz="2400" b="1" dirty="0" smtClean="0">
                <a:solidFill>
                  <a:srgbClr val="FF0000"/>
                </a:solidFill>
              </a:rPr>
              <a:t>个任意弯曲的载流导线放在均匀磁场中所受到的磁场力</a:t>
            </a:r>
            <a:r>
              <a:rPr lang="en-US" altLang="zh-CN" sz="2400" b="1" dirty="0" smtClean="0">
                <a:solidFill>
                  <a:srgbClr val="FF0000"/>
                </a:solidFill>
              </a:rPr>
              <a:t>,</a:t>
            </a:r>
            <a:r>
              <a:rPr lang="zh-CN" altLang="en-US" sz="2400" b="1" dirty="0" smtClean="0">
                <a:solidFill>
                  <a:srgbClr val="FF0000"/>
                </a:solidFill>
              </a:rPr>
              <a:t>等效于弯曲导线起点到终端的一段长直载等量电流导线在磁场中所受的力。</a:t>
            </a:r>
            <a:endParaRPr lang="zh-CN" altLang="en-US" sz="2400" b="1" dirty="0">
              <a:solidFill>
                <a:srgbClr val="FF0000"/>
              </a:solidFill>
            </a:endParaRPr>
          </a:p>
        </p:txBody>
      </p:sp>
      <p:sp>
        <p:nvSpPr>
          <p:cNvPr id="5" name="TextBox 4"/>
          <p:cNvSpPr txBox="1"/>
          <p:nvPr/>
        </p:nvSpPr>
        <p:spPr>
          <a:xfrm>
            <a:off x="726656" y="6182987"/>
            <a:ext cx="9960242" cy="461665"/>
          </a:xfrm>
          <a:prstGeom prst="rect">
            <a:avLst/>
          </a:prstGeom>
          <a:noFill/>
        </p:spPr>
        <p:txBody>
          <a:bodyPr wrap="square" rtlCol="0">
            <a:spAutoFit/>
          </a:bodyPr>
          <a:lstStyle/>
          <a:p>
            <a:r>
              <a:rPr lang="zh-CN" altLang="en-US" sz="2400" b="1" dirty="0" smtClean="0">
                <a:solidFill>
                  <a:srgbClr val="FF0000"/>
                </a:solidFill>
              </a:rPr>
              <a:t>若构成一闭合回路，均匀磁场中的闭合载流回路整体上不受磁力。</a:t>
            </a:r>
            <a:endParaRPr lang="zh-CN" altLang="en-US" sz="2400" b="1" dirty="0">
              <a:solidFill>
                <a:srgbClr val="FF0000"/>
              </a:solidFill>
            </a:endParaRPr>
          </a:p>
        </p:txBody>
      </p:sp>
    </p:spTree>
    <p:extLst>
      <p:ext uri="{BB962C8B-B14F-4D97-AF65-F5344CB8AC3E}">
        <p14:creationId xmlns:p14="http://schemas.microsoft.com/office/powerpoint/2010/main" val="38966338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1205" name="Text Box 5"/>
          <p:cNvSpPr txBox="1">
            <a:spLocks noChangeArrowheads="1"/>
          </p:cNvSpPr>
          <p:nvPr/>
        </p:nvSpPr>
        <p:spPr bwMode="auto">
          <a:xfrm>
            <a:off x="0" y="1"/>
            <a:ext cx="3937000" cy="525403"/>
          </a:xfrm>
          <a:prstGeom prst="rect">
            <a:avLst/>
          </a:prstGeom>
          <a:noFill/>
          <a:ln w="9525">
            <a:noFill/>
            <a:miter lim="800000"/>
            <a:headEnd/>
            <a:tailEnd/>
          </a:ln>
          <a:effectLst/>
        </p:spPr>
        <p:txBody>
          <a:bodyPr lIns="93605" tIns="46801" rIns="93605" bIns="46801">
            <a:spAutoFit/>
          </a:bodyPr>
          <a:lstStyle/>
          <a:p>
            <a:pPr algn="just" defTabSz="936625"/>
            <a:r>
              <a:rPr kumimoji="1" lang="zh-CN" altLang="en-US" sz="2800" b="1" dirty="0">
                <a:solidFill>
                  <a:srgbClr val="CC0000"/>
                </a:solidFill>
                <a:latin typeface="黑体" pitchFamily="49" charset="-122"/>
                <a:ea typeface="黑体" pitchFamily="49" charset="-122"/>
              </a:rPr>
              <a:t>安培力应用</a:t>
            </a:r>
          </a:p>
        </p:txBody>
      </p:sp>
      <p:sp>
        <p:nvSpPr>
          <p:cNvPr id="691206" name="Text Box 6"/>
          <p:cNvSpPr txBox="1">
            <a:spLocks noChangeArrowheads="1"/>
          </p:cNvSpPr>
          <p:nvPr/>
        </p:nvSpPr>
        <p:spPr bwMode="auto">
          <a:xfrm>
            <a:off x="239350" y="548680"/>
            <a:ext cx="5856817" cy="4680387"/>
          </a:xfrm>
          <a:prstGeom prst="rect">
            <a:avLst/>
          </a:prstGeom>
          <a:noFill/>
          <a:ln w="9525">
            <a:noFill/>
            <a:miter lim="800000"/>
            <a:headEnd/>
            <a:tailEnd/>
          </a:ln>
          <a:effectLst/>
        </p:spPr>
        <p:txBody>
          <a:bodyPr lIns="93605" tIns="46801" rIns="93605" bIns="46801">
            <a:spAutoFit/>
          </a:bodyPr>
          <a:lstStyle/>
          <a:p>
            <a:pPr algn="just" defTabSz="936625"/>
            <a:r>
              <a:rPr kumimoji="1" lang="en-US" altLang="zh-CN" sz="2800" b="1" dirty="0">
                <a:solidFill>
                  <a:schemeClr val="accent2"/>
                </a:solidFill>
                <a:latin typeface="宋体" charset="-122"/>
              </a:rPr>
              <a:t>    </a:t>
            </a:r>
            <a:r>
              <a:rPr kumimoji="1" lang="zh-CN" altLang="en-US" sz="2700" b="1" dirty="0">
                <a:solidFill>
                  <a:schemeClr val="accent2"/>
                </a:solidFill>
                <a:latin typeface="宋体" charset="-122"/>
              </a:rPr>
              <a:t>磁悬浮列车</a:t>
            </a:r>
            <a:r>
              <a:rPr kumimoji="1" lang="zh-CN" altLang="en-US" sz="2700" b="1" dirty="0">
                <a:latin typeface="宋体" charset="-122"/>
              </a:rPr>
              <a:t>车厢下部装有电磁铁，当电磁铁通电被钢轨吸引时就悬浮。列车上还安装一系列极性不变的电磁铁，钢轨内侧装有两排推进线圈，线圈通有交变电流，总使</a:t>
            </a:r>
            <a:r>
              <a:rPr kumimoji="1" lang="zh-CN" altLang="en-US" sz="2700" b="1" dirty="0">
                <a:solidFill>
                  <a:srgbClr val="FF0000"/>
                </a:solidFill>
                <a:latin typeface="宋体" charset="-122"/>
              </a:rPr>
              <a:t>前方线圈对列车磁体产生吸引力，后方线圈对列车产</a:t>
            </a:r>
            <a:r>
              <a:rPr kumimoji="1" lang="zh-CN" altLang="en-US" sz="2700" b="1" dirty="0" smtClean="0">
                <a:solidFill>
                  <a:srgbClr val="FF0000"/>
                </a:solidFill>
                <a:latin typeface="宋体" charset="-122"/>
              </a:rPr>
              <a:t>生排斥力</a:t>
            </a:r>
            <a:r>
              <a:rPr kumimoji="1" lang="zh-CN" altLang="en-US" sz="2700" b="1" dirty="0" smtClean="0">
                <a:latin typeface="宋体" charset="-122"/>
              </a:rPr>
              <a:t>，这一推一吸的合力便驱使列车高速前进。强大的磁力可使列车悬浮</a:t>
            </a:r>
            <a:r>
              <a:rPr kumimoji="1" lang="en-US" altLang="zh-CN" sz="2700" b="1" dirty="0" smtClean="0">
                <a:latin typeface="Times New Roman" pitchFamily="18" charset="0"/>
              </a:rPr>
              <a:t>1</a:t>
            </a:r>
            <a:r>
              <a:rPr kumimoji="1" lang="zh-CN" altLang="zh-CN" sz="2700" b="1" dirty="0" smtClean="0">
                <a:latin typeface="Times New Roman" pitchFamily="18" charset="0"/>
              </a:rPr>
              <a:t>～</a:t>
            </a:r>
            <a:r>
              <a:rPr kumimoji="1" lang="en-US" altLang="zh-CN" sz="2700" b="1" dirty="0" smtClean="0">
                <a:latin typeface="Times New Roman" pitchFamily="18" charset="0"/>
              </a:rPr>
              <a:t>10cm</a:t>
            </a:r>
            <a:r>
              <a:rPr kumimoji="1" lang="zh-CN" altLang="en-US" sz="2700" b="1" dirty="0" smtClean="0">
                <a:latin typeface="宋体" charset="-122"/>
              </a:rPr>
              <a:t>，与轨道脱离接触，消除了列车运行时与轨道的摩擦阻力，使列车速度可达</a:t>
            </a:r>
            <a:r>
              <a:rPr kumimoji="1" lang="en-US" altLang="zh-CN" sz="2700" b="1" dirty="0" smtClean="0">
                <a:latin typeface="宋体" charset="-122"/>
              </a:rPr>
              <a:t>400</a:t>
            </a:r>
            <a:r>
              <a:rPr kumimoji="1" lang="en-US" altLang="zh-CN" sz="2700" b="1" dirty="0" smtClean="0">
                <a:latin typeface="Times New Roman" pitchFamily="18" charset="0"/>
              </a:rPr>
              <a:t>km/h</a:t>
            </a:r>
            <a:r>
              <a:rPr kumimoji="1" lang="zh-CN" altLang="en-US" sz="2700" b="1" dirty="0" smtClean="0">
                <a:latin typeface="Times New Roman" pitchFamily="18" charset="0"/>
              </a:rPr>
              <a:t>。</a:t>
            </a:r>
            <a:endParaRPr kumimoji="1" lang="zh-CN" altLang="en-US" sz="2800" b="1" dirty="0">
              <a:latin typeface="宋体" charset="-122"/>
            </a:endParaRPr>
          </a:p>
        </p:txBody>
      </p:sp>
      <p:grpSp>
        <p:nvGrpSpPr>
          <p:cNvPr id="2" name="Group 10"/>
          <p:cNvGrpSpPr>
            <a:grpSpLocks/>
          </p:cNvGrpSpPr>
          <p:nvPr/>
        </p:nvGrpSpPr>
        <p:grpSpPr bwMode="auto">
          <a:xfrm>
            <a:off x="8351573" y="3933056"/>
            <a:ext cx="3840427" cy="2924944"/>
            <a:chOff x="1791" y="1207"/>
            <a:chExt cx="2223" cy="1906"/>
          </a:xfrm>
        </p:grpSpPr>
        <p:pic>
          <p:nvPicPr>
            <p:cNvPr id="691208" name="Picture 8" descr="磁悬浮列车原理１"/>
            <p:cNvPicPr>
              <a:picLocks noChangeAspect="1" noChangeArrowheads="1"/>
            </p:cNvPicPr>
            <p:nvPr/>
          </p:nvPicPr>
          <p:blipFill>
            <a:blip r:embed="rId3" cstate="print"/>
            <a:srcRect b="1955"/>
            <a:stretch>
              <a:fillRect/>
            </a:stretch>
          </p:blipFill>
          <p:spPr bwMode="auto">
            <a:xfrm>
              <a:off x="1791" y="1207"/>
              <a:ext cx="2220" cy="1906"/>
            </a:xfrm>
            <a:prstGeom prst="rect">
              <a:avLst/>
            </a:prstGeom>
            <a:noFill/>
          </p:spPr>
        </p:pic>
        <p:sp>
          <p:nvSpPr>
            <p:cNvPr id="691209" name="Rectangle 9"/>
            <p:cNvSpPr>
              <a:spLocks noChangeArrowheads="1"/>
            </p:cNvSpPr>
            <p:nvPr/>
          </p:nvSpPr>
          <p:spPr bwMode="auto">
            <a:xfrm>
              <a:off x="3470" y="2931"/>
              <a:ext cx="544" cy="182"/>
            </a:xfrm>
            <a:prstGeom prst="rect">
              <a:avLst/>
            </a:prstGeom>
            <a:solidFill>
              <a:srgbClr val="FFFFFF"/>
            </a:solidFill>
            <a:ln w="25400">
              <a:solidFill>
                <a:srgbClr val="FFFFFF"/>
              </a:solidFill>
              <a:miter lim="800000"/>
              <a:headEnd/>
              <a:tailEnd/>
            </a:ln>
            <a:effectLst/>
          </p:spPr>
          <p:txBody>
            <a:bodyPr wrap="none" anchor="ctr"/>
            <a:lstStyle/>
            <a:p>
              <a:endParaRPr lang="zh-CN" altLang="en-US"/>
            </a:p>
          </p:txBody>
        </p:sp>
      </p:grpSp>
      <p:grpSp>
        <p:nvGrpSpPr>
          <p:cNvPr id="8" name="Group 12"/>
          <p:cNvGrpSpPr>
            <a:grpSpLocks/>
          </p:cNvGrpSpPr>
          <p:nvPr/>
        </p:nvGrpSpPr>
        <p:grpSpPr bwMode="auto">
          <a:xfrm>
            <a:off x="6288021" y="92883"/>
            <a:ext cx="5807968" cy="3694613"/>
            <a:chOff x="204" y="1344"/>
            <a:chExt cx="2767" cy="2439"/>
          </a:xfrm>
        </p:grpSpPr>
        <p:pic>
          <p:nvPicPr>
            <p:cNvPr id="9" name="Picture 5" descr="磁悬浮列车原理2"/>
            <p:cNvPicPr>
              <a:picLocks noChangeAspect="1" noChangeArrowheads="1"/>
            </p:cNvPicPr>
            <p:nvPr/>
          </p:nvPicPr>
          <p:blipFill>
            <a:blip r:embed="rId4" cstate="print"/>
            <a:srcRect/>
            <a:stretch>
              <a:fillRect/>
            </a:stretch>
          </p:blipFill>
          <p:spPr bwMode="auto">
            <a:xfrm>
              <a:off x="204" y="1344"/>
              <a:ext cx="2767" cy="2132"/>
            </a:xfrm>
            <a:prstGeom prst="rect">
              <a:avLst/>
            </a:prstGeom>
            <a:noFill/>
          </p:spPr>
        </p:pic>
        <p:sp>
          <p:nvSpPr>
            <p:cNvPr id="10" name="Text Box 10"/>
            <p:cNvSpPr txBox="1">
              <a:spLocks noChangeArrowheads="1"/>
            </p:cNvSpPr>
            <p:nvPr/>
          </p:nvSpPr>
          <p:spPr bwMode="auto">
            <a:xfrm>
              <a:off x="906" y="3436"/>
              <a:ext cx="2042" cy="347"/>
            </a:xfrm>
            <a:prstGeom prst="rect">
              <a:avLst/>
            </a:prstGeom>
            <a:noFill/>
            <a:ln w="9525">
              <a:noFill/>
              <a:miter lim="800000"/>
              <a:headEnd/>
              <a:tailEnd/>
            </a:ln>
            <a:effectLst/>
          </p:spPr>
          <p:txBody>
            <a:bodyPr lIns="93605" tIns="46801" rIns="93605" bIns="46801">
              <a:spAutoFit/>
            </a:bodyPr>
            <a:lstStyle/>
            <a:p>
              <a:pPr algn="just" defTabSz="936625"/>
              <a:r>
                <a:rPr kumimoji="1" lang="zh-CN" altLang="en-US" sz="2400" b="1" dirty="0">
                  <a:latin typeface="宋体" charset="-122"/>
                </a:rPr>
                <a:t>电磁驱动力原理图</a:t>
              </a:r>
              <a:r>
                <a:rPr kumimoji="1" lang="zh-CN" altLang="en-US" sz="2800" b="1" dirty="0">
                  <a:latin typeface="宋体" charset="-122"/>
                </a:rPr>
                <a:t> </a:t>
              </a:r>
            </a:p>
          </p:txBody>
        </p:sp>
      </p:gr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3253" name="Picture 5" descr="上海磁悬浮列车2"/>
          <p:cNvPicPr>
            <a:picLocks noChangeAspect="1" noChangeArrowheads="1"/>
          </p:cNvPicPr>
          <p:nvPr/>
        </p:nvPicPr>
        <p:blipFill>
          <a:blip r:embed="rId2" cstate="print"/>
          <a:srcRect/>
          <a:stretch>
            <a:fillRect/>
          </a:stretch>
        </p:blipFill>
        <p:spPr bwMode="auto">
          <a:xfrm>
            <a:off x="624417" y="188914"/>
            <a:ext cx="4993216" cy="2809875"/>
          </a:xfrm>
          <a:prstGeom prst="rect">
            <a:avLst/>
          </a:prstGeom>
          <a:noFill/>
        </p:spPr>
      </p:pic>
      <p:pic>
        <p:nvPicPr>
          <p:cNvPr id="693254" name="Picture 6" descr="上海磁悬浮列车1"/>
          <p:cNvPicPr>
            <a:picLocks noChangeAspect="1" noChangeArrowheads="1"/>
          </p:cNvPicPr>
          <p:nvPr/>
        </p:nvPicPr>
        <p:blipFill>
          <a:blip r:embed="rId3" cstate="print"/>
          <a:srcRect/>
          <a:stretch>
            <a:fillRect/>
          </a:stretch>
        </p:blipFill>
        <p:spPr bwMode="auto">
          <a:xfrm>
            <a:off x="6000751" y="188914"/>
            <a:ext cx="5808133" cy="2752725"/>
          </a:xfrm>
          <a:prstGeom prst="rect">
            <a:avLst/>
          </a:prstGeom>
          <a:noFill/>
        </p:spPr>
      </p:pic>
      <p:pic>
        <p:nvPicPr>
          <p:cNvPr id="693255" name="Picture 7" descr="cifu01-"/>
          <p:cNvPicPr>
            <a:picLocks noChangeAspect="1" noChangeArrowheads="1"/>
          </p:cNvPicPr>
          <p:nvPr/>
        </p:nvPicPr>
        <p:blipFill>
          <a:blip r:embed="rId4" cstate="print"/>
          <a:srcRect/>
          <a:stretch>
            <a:fillRect/>
          </a:stretch>
        </p:blipFill>
        <p:spPr bwMode="auto">
          <a:xfrm>
            <a:off x="239184" y="3605213"/>
            <a:ext cx="5664200" cy="2641600"/>
          </a:xfrm>
          <a:prstGeom prst="rect">
            <a:avLst/>
          </a:prstGeom>
          <a:noFill/>
        </p:spPr>
      </p:pic>
      <p:pic>
        <p:nvPicPr>
          <p:cNvPr id="693256" name="Picture 8" descr="cifu4"/>
          <p:cNvPicPr>
            <a:picLocks noChangeAspect="1" noChangeArrowheads="1"/>
          </p:cNvPicPr>
          <p:nvPr/>
        </p:nvPicPr>
        <p:blipFill>
          <a:blip r:embed="rId5" cstate="print"/>
          <a:srcRect/>
          <a:stretch>
            <a:fillRect/>
          </a:stretch>
        </p:blipFill>
        <p:spPr bwMode="auto">
          <a:xfrm>
            <a:off x="7152217" y="3716339"/>
            <a:ext cx="4445000" cy="2505075"/>
          </a:xfrm>
          <a:prstGeom prst="rect">
            <a:avLst/>
          </a:prstGeom>
          <a:noFill/>
        </p:spPr>
      </p:pic>
      <p:sp>
        <p:nvSpPr>
          <p:cNvPr id="693257" name="AutoShape 9"/>
          <p:cNvSpPr>
            <a:spLocks noChangeArrowheads="1"/>
          </p:cNvSpPr>
          <p:nvPr/>
        </p:nvSpPr>
        <p:spPr bwMode="auto">
          <a:xfrm>
            <a:off x="4656667" y="2565401"/>
            <a:ext cx="3551767" cy="1584325"/>
          </a:xfrm>
          <a:prstGeom prst="star8">
            <a:avLst>
              <a:gd name="adj" fmla="val 38250"/>
            </a:avLst>
          </a:prstGeom>
          <a:gradFill rotWithShape="1">
            <a:gsLst>
              <a:gs pos="0">
                <a:srgbClr val="FF0066"/>
              </a:gs>
              <a:gs pos="50000">
                <a:schemeClr val="accent1"/>
              </a:gs>
              <a:gs pos="100000">
                <a:srgbClr val="FF0066"/>
              </a:gs>
            </a:gsLst>
            <a:lin ang="5400000" scaled="1"/>
          </a:gradFill>
          <a:ln w="25400">
            <a:noFill/>
            <a:miter lim="800000"/>
            <a:headEnd/>
            <a:tailEnd/>
          </a:ln>
          <a:effectLst/>
        </p:spPr>
        <p:txBody>
          <a:bodyPr wrap="none" anchor="ctr"/>
          <a:lstStyle/>
          <a:p>
            <a:pPr algn="ctr" eaLnBrk="0" hangingPunct="0"/>
            <a:r>
              <a:rPr lang="zh-CN" altLang="en-US" sz="2800" b="1">
                <a:solidFill>
                  <a:schemeClr val="accent2"/>
                </a:solidFill>
                <a:ea typeface="华文行楷" pitchFamily="2" charset="-122"/>
              </a:rPr>
              <a:t>上海磁悬浮列车</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693257"/>
                                        </p:tgtEl>
                                        <p:attrNameLst>
                                          <p:attrName>style.visibility</p:attrName>
                                        </p:attrNameLst>
                                      </p:cBhvr>
                                      <p:to>
                                        <p:strVal val="visible"/>
                                      </p:to>
                                    </p:set>
                                    <p:anim calcmode="lin" valueType="num">
                                      <p:cBhvr>
                                        <p:cTn id="7" dur="1000" fill="hold"/>
                                        <p:tgtEl>
                                          <p:spTgt spid="693257"/>
                                        </p:tgtEl>
                                        <p:attrNameLst>
                                          <p:attrName>ppt_w</p:attrName>
                                        </p:attrNameLst>
                                      </p:cBhvr>
                                      <p:tavLst>
                                        <p:tav tm="0">
                                          <p:val>
                                            <p:fltVal val="0"/>
                                          </p:val>
                                        </p:tav>
                                        <p:tav tm="100000">
                                          <p:val>
                                            <p:strVal val="#ppt_w"/>
                                          </p:val>
                                        </p:tav>
                                      </p:tavLst>
                                    </p:anim>
                                    <p:anim calcmode="lin" valueType="num">
                                      <p:cBhvr>
                                        <p:cTn id="8" dur="1000" fill="hold"/>
                                        <p:tgtEl>
                                          <p:spTgt spid="693257"/>
                                        </p:tgtEl>
                                        <p:attrNameLst>
                                          <p:attrName>ppt_h</p:attrName>
                                        </p:attrNameLst>
                                      </p:cBhvr>
                                      <p:tavLst>
                                        <p:tav tm="0">
                                          <p:val>
                                            <p:fltVal val="0"/>
                                          </p:val>
                                        </p:tav>
                                        <p:tav tm="100000">
                                          <p:val>
                                            <p:strVal val="#ppt_h"/>
                                          </p:val>
                                        </p:tav>
                                      </p:tavLst>
                                    </p:anim>
                                    <p:anim calcmode="lin" valueType="num">
                                      <p:cBhvr>
                                        <p:cTn id="9" dur="1000" fill="hold"/>
                                        <p:tgtEl>
                                          <p:spTgt spid="693257"/>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693257"/>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15" presetClass="entr" presetSubtype="0" fill="hold" nodeType="clickEffect">
                                  <p:stCondLst>
                                    <p:cond delay="0"/>
                                  </p:stCondLst>
                                  <p:childTnLst>
                                    <p:set>
                                      <p:cBhvr>
                                        <p:cTn id="14" dur="1" fill="hold">
                                          <p:stCondLst>
                                            <p:cond delay="0"/>
                                          </p:stCondLst>
                                        </p:cTn>
                                        <p:tgtEl>
                                          <p:spTgt spid="693253"/>
                                        </p:tgtEl>
                                        <p:attrNameLst>
                                          <p:attrName>style.visibility</p:attrName>
                                        </p:attrNameLst>
                                      </p:cBhvr>
                                      <p:to>
                                        <p:strVal val="visible"/>
                                      </p:to>
                                    </p:set>
                                    <p:anim calcmode="lin" valueType="num">
                                      <p:cBhvr>
                                        <p:cTn id="15" dur="1000" fill="hold"/>
                                        <p:tgtEl>
                                          <p:spTgt spid="693253"/>
                                        </p:tgtEl>
                                        <p:attrNameLst>
                                          <p:attrName>ppt_w</p:attrName>
                                        </p:attrNameLst>
                                      </p:cBhvr>
                                      <p:tavLst>
                                        <p:tav tm="0">
                                          <p:val>
                                            <p:fltVal val="0"/>
                                          </p:val>
                                        </p:tav>
                                        <p:tav tm="100000">
                                          <p:val>
                                            <p:strVal val="#ppt_w"/>
                                          </p:val>
                                        </p:tav>
                                      </p:tavLst>
                                    </p:anim>
                                    <p:anim calcmode="lin" valueType="num">
                                      <p:cBhvr>
                                        <p:cTn id="16" dur="1000" fill="hold"/>
                                        <p:tgtEl>
                                          <p:spTgt spid="693253"/>
                                        </p:tgtEl>
                                        <p:attrNameLst>
                                          <p:attrName>ppt_h</p:attrName>
                                        </p:attrNameLst>
                                      </p:cBhvr>
                                      <p:tavLst>
                                        <p:tav tm="0">
                                          <p:val>
                                            <p:fltVal val="0"/>
                                          </p:val>
                                        </p:tav>
                                        <p:tav tm="100000">
                                          <p:val>
                                            <p:strVal val="#ppt_h"/>
                                          </p:val>
                                        </p:tav>
                                      </p:tavLst>
                                    </p:anim>
                                    <p:anim calcmode="lin" valueType="num">
                                      <p:cBhvr>
                                        <p:cTn id="17" dur="1000" fill="hold"/>
                                        <p:tgtEl>
                                          <p:spTgt spid="693253"/>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693253"/>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p:stCondLst>
                        <p:cond delay="indefinite"/>
                      </p:stCondLst>
                      <p:childTnLst>
                        <p:par>
                          <p:cTn id="20" fill="hold">
                            <p:stCondLst>
                              <p:cond delay="0"/>
                            </p:stCondLst>
                            <p:childTnLst>
                              <p:par>
                                <p:cTn id="21" presetID="18" presetClass="entr" presetSubtype="12" fill="hold" nodeType="clickEffect">
                                  <p:stCondLst>
                                    <p:cond delay="0"/>
                                  </p:stCondLst>
                                  <p:childTnLst>
                                    <p:set>
                                      <p:cBhvr>
                                        <p:cTn id="22" dur="1" fill="hold">
                                          <p:stCondLst>
                                            <p:cond delay="0"/>
                                          </p:stCondLst>
                                        </p:cTn>
                                        <p:tgtEl>
                                          <p:spTgt spid="693254"/>
                                        </p:tgtEl>
                                        <p:attrNameLst>
                                          <p:attrName>style.visibility</p:attrName>
                                        </p:attrNameLst>
                                      </p:cBhvr>
                                      <p:to>
                                        <p:strVal val="visible"/>
                                      </p:to>
                                    </p:set>
                                    <p:animEffect transition="in" filter="strips(downLeft)">
                                      <p:cBhvr>
                                        <p:cTn id="23" dur="500"/>
                                        <p:tgtEl>
                                          <p:spTgt spid="693254"/>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nodeType="clickEffect">
                                  <p:stCondLst>
                                    <p:cond delay="0"/>
                                  </p:stCondLst>
                                  <p:childTnLst>
                                    <p:set>
                                      <p:cBhvr>
                                        <p:cTn id="27" dur="1" fill="hold">
                                          <p:stCondLst>
                                            <p:cond delay="0"/>
                                          </p:stCondLst>
                                        </p:cTn>
                                        <p:tgtEl>
                                          <p:spTgt spid="693255"/>
                                        </p:tgtEl>
                                        <p:attrNameLst>
                                          <p:attrName>style.visibility</p:attrName>
                                        </p:attrNameLst>
                                      </p:cBhvr>
                                      <p:to>
                                        <p:strVal val="visible"/>
                                      </p:to>
                                    </p:set>
                                    <p:animEffect transition="in" filter="randombar(horizontal)">
                                      <p:cBhvr>
                                        <p:cTn id="28" dur="500"/>
                                        <p:tgtEl>
                                          <p:spTgt spid="693255"/>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1" fill="hold">
                                          <p:stCondLst>
                                            <p:cond delay="0"/>
                                          </p:stCondLst>
                                        </p:cTn>
                                        <p:tgtEl>
                                          <p:spTgt spid="693256"/>
                                        </p:tgtEl>
                                        <p:attrNameLst>
                                          <p:attrName>style.visibility</p:attrName>
                                        </p:attrNameLst>
                                      </p:cBhvr>
                                      <p:to>
                                        <p:strVal val="visible"/>
                                      </p:to>
                                    </p:set>
                                    <p:animEffect transition="in" filter="dissolve">
                                      <p:cBhvr>
                                        <p:cTn id="33" dur="500"/>
                                        <p:tgtEl>
                                          <p:spTgt spid="6932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325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431801" y="3029347"/>
            <a:ext cx="8832851" cy="2672953"/>
            <a:chOff x="431800" y="3780632"/>
            <a:chExt cx="8832851" cy="2672953"/>
          </a:xfrm>
        </p:grpSpPr>
        <p:graphicFrame>
          <p:nvGraphicFramePr>
            <p:cNvPr id="111620" name="Object 4"/>
            <p:cNvGraphicFramePr>
              <a:graphicFrameLocks noChangeAspect="1"/>
            </p:cNvGraphicFramePr>
            <p:nvPr>
              <p:extLst>
                <p:ext uri="{D42A27DB-BD31-4B8C-83A1-F6EECF244321}">
                  <p14:modId xmlns:p14="http://schemas.microsoft.com/office/powerpoint/2010/main" val="1969878150"/>
                </p:ext>
              </p:extLst>
            </p:nvPr>
          </p:nvGraphicFramePr>
          <p:xfrm>
            <a:off x="1488018" y="4419206"/>
            <a:ext cx="2524912" cy="522683"/>
          </p:xfrm>
          <a:graphic>
            <a:graphicData uri="http://schemas.openxmlformats.org/presentationml/2006/ole">
              <mc:AlternateContent xmlns:mc="http://schemas.openxmlformats.org/markup-compatibility/2006">
                <mc:Choice xmlns:v="urn:schemas-microsoft-com:vml" Requires="v">
                  <p:oleObj spid="_x0000_s14527" name="公式" r:id="rId3" imgW="1065960" imgH="279720" progId="Equation.3">
                    <p:embed/>
                  </p:oleObj>
                </mc:Choice>
                <mc:Fallback>
                  <p:oleObj name="公式" r:id="rId3" imgW="1065960" imgH="27972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8018" y="4419206"/>
                          <a:ext cx="2524912" cy="522683"/>
                        </a:xfrm>
                        <a:prstGeom prst="rect">
                          <a:avLst/>
                        </a:prstGeom>
                        <a:noFill/>
                        <a:ln>
                          <a:noFill/>
                        </a:ln>
                        <a:effectLst/>
                        <a:extLst/>
                      </p:spPr>
                    </p:pic>
                  </p:oleObj>
                </mc:Fallback>
              </mc:AlternateContent>
            </a:graphicData>
          </a:graphic>
        </p:graphicFrame>
        <p:graphicFrame>
          <p:nvGraphicFramePr>
            <p:cNvPr id="111621" name="Object 5"/>
            <p:cNvGraphicFramePr>
              <a:graphicFrameLocks noChangeAspect="1"/>
            </p:cNvGraphicFramePr>
            <p:nvPr>
              <p:extLst>
                <p:ext uri="{D42A27DB-BD31-4B8C-83A1-F6EECF244321}">
                  <p14:modId xmlns:p14="http://schemas.microsoft.com/office/powerpoint/2010/main" val="3594652587"/>
                </p:ext>
              </p:extLst>
            </p:nvPr>
          </p:nvGraphicFramePr>
          <p:xfrm>
            <a:off x="4751918" y="5084764"/>
            <a:ext cx="2461681" cy="521475"/>
          </p:xfrm>
          <a:graphic>
            <a:graphicData uri="http://schemas.openxmlformats.org/presentationml/2006/ole">
              <mc:AlternateContent xmlns:mc="http://schemas.openxmlformats.org/markup-compatibility/2006">
                <mc:Choice xmlns:v="urn:schemas-microsoft-com:vml" Requires="v">
                  <p:oleObj spid="_x0000_s14528" name="Equation" r:id="rId5" imgW="1193040" imgH="330840" progId="Equation.DSMT4">
                    <p:embed/>
                  </p:oleObj>
                </mc:Choice>
                <mc:Fallback>
                  <p:oleObj name="Equation" r:id="rId5" imgW="1193040" imgH="33084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51918" y="5084764"/>
                          <a:ext cx="2461681" cy="521475"/>
                        </a:xfrm>
                        <a:prstGeom prst="rect">
                          <a:avLst/>
                        </a:prstGeom>
                        <a:noFill/>
                        <a:ln>
                          <a:noFill/>
                        </a:ln>
                        <a:effectLst/>
                        <a:extLst/>
                      </p:spPr>
                    </p:pic>
                  </p:oleObj>
                </mc:Fallback>
              </mc:AlternateContent>
            </a:graphicData>
          </a:graphic>
        </p:graphicFrame>
        <p:graphicFrame>
          <p:nvGraphicFramePr>
            <p:cNvPr id="111625" name="Object 9"/>
            <p:cNvGraphicFramePr>
              <a:graphicFrameLocks noChangeAspect="1"/>
            </p:cNvGraphicFramePr>
            <p:nvPr>
              <p:extLst>
                <p:ext uri="{D42A27DB-BD31-4B8C-83A1-F6EECF244321}">
                  <p14:modId xmlns:p14="http://schemas.microsoft.com/office/powerpoint/2010/main" val="1354519655"/>
                </p:ext>
              </p:extLst>
            </p:nvPr>
          </p:nvGraphicFramePr>
          <p:xfrm>
            <a:off x="3407833" y="5516564"/>
            <a:ext cx="1796665" cy="937021"/>
          </p:xfrm>
          <a:graphic>
            <a:graphicData uri="http://schemas.openxmlformats.org/presentationml/2006/ole">
              <mc:AlternateContent xmlns:mc="http://schemas.openxmlformats.org/markup-compatibility/2006">
                <mc:Choice xmlns:v="urn:schemas-microsoft-com:vml" Requires="v">
                  <p:oleObj spid="_x0000_s14529" name="公式" r:id="rId7" imgW="939240" imgH="648720" progId="Equation.3">
                    <p:embed/>
                  </p:oleObj>
                </mc:Choice>
                <mc:Fallback>
                  <p:oleObj name="公式" r:id="rId7" imgW="939240" imgH="64872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07833" y="5516564"/>
                          <a:ext cx="1796665" cy="937021"/>
                        </a:xfrm>
                        <a:prstGeom prst="rect">
                          <a:avLst/>
                        </a:prstGeom>
                        <a:noFill/>
                        <a:ln>
                          <a:noFill/>
                        </a:ln>
                        <a:effectLst/>
                        <a:extLst/>
                      </p:spPr>
                    </p:pic>
                  </p:oleObj>
                </mc:Fallback>
              </mc:AlternateContent>
            </a:graphicData>
          </a:graphic>
        </p:graphicFrame>
        <p:sp>
          <p:nvSpPr>
            <p:cNvPr id="111626" name="Rectangle 10"/>
            <p:cNvSpPr>
              <a:spLocks noChangeArrowheads="1"/>
            </p:cNvSpPr>
            <p:nvPr/>
          </p:nvSpPr>
          <p:spPr bwMode="auto">
            <a:xfrm>
              <a:off x="624417" y="5661026"/>
              <a:ext cx="5892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fontAlgn="base">
                <a:spcBef>
                  <a:spcPct val="0"/>
                </a:spcBef>
                <a:spcAft>
                  <a:spcPct val="0"/>
                </a:spcAft>
              </a:pPr>
              <a:r>
                <a:rPr kumimoji="1" lang="zh-CN" altLang="en-US" sz="2800" b="1" dirty="0" smtClean="0">
                  <a:latin typeface="+mn-ea"/>
                </a:rPr>
                <a:t>待测磁场：</a:t>
              </a:r>
            </a:p>
          </p:txBody>
        </p:sp>
        <p:sp>
          <p:nvSpPr>
            <p:cNvPr id="111627" name="Rectangle 11"/>
            <p:cNvSpPr>
              <a:spLocks noChangeArrowheads="1"/>
            </p:cNvSpPr>
            <p:nvPr/>
          </p:nvSpPr>
          <p:spPr bwMode="auto">
            <a:xfrm>
              <a:off x="1488018" y="3846513"/>
              <a:ext cx="777663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dirty="0" smtClean="0">
                  <a:latin typeface="+mn-ea"/>
                </a:rPr>
                <a:t>线圈的底边上受到安培力为 </a:t>
              </a:r>
            </a:p>
          </p:txBody>
        </p:sp>
        <p:sp>
          <p:nvSpPr>
            <p:cNvPr id="111628" name="Rectangle 12"/>
            <p:cNvSpPr>
              <a:spLocks noChangeArrowheads="1"/>
            </p:cNvSpPr>
            <p:nvPr/>
          </p:nvSpPr>
          <p:spPr bwMode="auto">
            <a:xfrm>
              <a:off x="4656667" y="4422776"/>
              <a:ext cx="32639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dirty="0" smtClean="0">
                  <a:latin typeface="+mn-ea"/>
                </a:rPr>
                <a:t>方向向上</a:t>
              </a:r>
            </a:p>
          </p:txBody>
        </p:sp>
        <p:sp>
          <p:nvSpPr>
            <p:cNvPr id="111629" name="Text Box 13"/>
            <p:cNvSpPr txBox="1">
              <a:spLocks noChangeArrowheads="1"/>
            </p:cNvSpPr>
            <p:nvPr/>
          </p:nvSpPr>
          <p:spPr bwMode="auto">
            <a:xfrm>
              <a:off x="431800" y="3780632"/>
              <a:ext cx="1371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2800" dirty="0" smtClean="0">
                  <a:latin typeface="黑体" pitchFamily="49" charset="-122"/>
                  <a:ea typeface="黑体" pitchFamily="49" charset="-122"/>
                </a:rPr>
                <a:t>解：</a:t>
              </a:r>
            </a:p>
          </p:txBody>
        </p:sp>
        <p:sp>
          <p:nvSpPr>
            <p:cNvPr id="111630" name="Rectangle 14"/>
            <p:cNvSpPr>
              <a:spLocks noChangeArrowheads="1"/>
            </p:cNvSpPr>
            <p:nvPr/>
          </p:nvSpPr>
          <p:spPr bwMode="auto">
            <a:xfrm>
              <a:off x="624417" y="5013326"/>
              <a:ext cx="508846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dirty="0" smtClean="0">
                  <a:latin typeface="+mn-ea"/>
                  <a:cs typeface="Times New Roman" panose="02020603050405020304" pitchFamily="18" charset="0"/>
                </a:rPr>
                <a:t>天平恢复平衡时：</a:t>
              </a:r>
            </a:p>
          </p:txBody>
        </p:sp>
      </p:grpSp>
      <p:sp>
        <p:nvSpPr>
          <p:cNvPr id="111854" name="Rectangle 238"/>
          <p:cNvSpPr>
            <a:spLocks noChangeArrowheads="1"/>
          </p:cNvSpPr>
          <p:nvPr/>
        </p:nvSpPr>
        <p:spPr bwMode="auto">
          <a:xfrm>
            <a:off x="431801" y="115888"/>
            <a:ext cx="6913033"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fontAlgn="base">
              <a:lnSpc>
                <a:spcPct val="120000"/>
              </a:lnSpc>
              <a:spcBef>
                <a:spcPct val="0"/>
              </a:spcBef>
              <a:spcAft>
                <a:spcPct val="0"/>
              </a:spcAft>
            </a:pPr>
            <a:r>
              <a:rPr kumimoji="1" lang="zh-CN" altLang="en-US" sz="2800" b="1" dirty="0" smtClean="0">
                <a:latin typeface="Times New Roman" panose="02020603050405020304" pitchFamily="18" charset="0"/>
                <a:cs typeface="Times New Roman" panose="02020603050405020304" pitchFamily="18" charset="0"/>
              </a:rPr>
              <a:t>例</a:t>
            </a:r>
            <a:r>
              <a:rPr kumimoji="1" lang="en-US" altLang="zh-CN" sz="2800" b="1" dirty="0" smtClean="0">
                <a:latin typeface="Times New Roman" panose="02020603050405020304" pitchFamily="18" charset="0"/>
                <a:cs typeface="Times New Roman" panose="02020603050405020304" pitchFamily="18" charset="0"/>
              </a:rPr>
              <a:t> </a:t>
            </a:r>
            <a:r>
              <a:rPr kumimoji="1" lang="zh-CN" altLang="en-US" sz="2800" b="1" dirty="0" smtClean="0">
                <a:latin typeface="Times New Roman" panose="02020603050405020304" pitchFamily="18" charset="0"/>
                <a:cs typeface="Times New Roman" panose="02020603050405020304" pitchFamily="18" charset="0"/>
              </a:rPr>
              <a:t>测定磁感应强度的实验装置</a:t>
            </a:r>
            <a:r>
              <a:rPr kumimoji="1" lang="en-US" altLang="zh-CN" sz="2800" b="1" dirty="0" smtClean="0">
                <a:latin typeface="Times New Roman" panose="02020603050405020304" pitchFamily="18" charset="0"/>
                <a:cs typeface="Times New Roman" panose="02020603050405020304" pitchFamily="18" charset="0"/>
              </a:rPr>
              <a:t>——</a:t>
            </a:r>
            <a:r>
              <a:rPr kumimoji="1" lang="zh-CN" altLang="en-US" sz="2800" b="1" dirty="0" smtClean="0">
                <a:solidFill>
                  <a:srgbClr val="FF0000"/>
                </a:solidFill>
                <a:latin typeface="Times New Roman" panose="02020603050405020304" pitchFamily="18" charset="0"/>
                <a:cs typeface="Times New Roman" panose="02020603050405020304" pitchFamily="18" charset="0"/>
              </a:rPr>
              <a:t>磁秤</a:t>
            </a:r>
            <a:r>
              <a:rPr kumimoji="1" lang="zh-CN" altLang="en-US" sz="2800" b="1" dirty="0" smtClean="0">
                <a:latin typeface="Times New Roman" panose="02020603050405020304" pitchFamily="18" charset="0"/>
                <a:cs typeface="Times New Roman" panose="02020603050405020304" pitchFamily="18" charset="0"/>
              </a:rPr>
              <a:t>，矩形线圈宽为</a:t>
            </a:r>
            <a:r>
              <a:rPr kumimoji="1" lang="en-US" altLang="zh-CN" sz="2800" b="1" i="1" dirty="0" smtClean="0">
                <a:latin typeface="Times New Roman" panose="02020603050405020304" pitchFamily="18" charset="0"/>
                <a:cs typeface="Times New Roman" panose="02020603050405020304" pitchFamily="18" charset="0"/>
              </a:rPr>
              <a:t>b</a:t>
            </a:r>
            <a:r>
              <a:rPr kumimoji="1" lang="zh-CN" altLang="en-US" sz="2800" b="1" dirty="0" smtClean="0">
                <a:latin typeface="Times New Roman" panose="02020603050405020304" pitchFamily="18" charset="0"/>
                <a:cs typeface="Times New Roman" panose="02020603050405020304" pitchFamily="18" charset="0"/>
              </a:rPr>
              <a:t>，长为</a:t>
            </a:r>
            <a:r>
              <a:rPr kumimoji="1" lang="en-US" altLang="zh-CN" sz="2800" b="1" i="1" dirty="0" smtClean="0">
                <a:latin typeface="Times New Roman" panose="02020603050405020304" pitchFamily="18" charset="0"/>
                <a:cs typeface="Times New Roman" panose="02020603050405020304" pitchFamily="18" charset="0"/>
              </a:rPr>
              <a:t>l</a:t>
            </a:r>
            <a:r>
              <a:rPr kumimoji="1" lang="zh-CN" altLang="en-US" sz="2800" b="1" dirty="0" smtClean="0">
                <a:latin typeface="Times New Roman" panose="02020603050405020304" pitchFamily="18" charset="0"/>
                <a:cs typeface="Times New Roman" panose="02020603050405020304" pitchFamily="18" charset="0"/>
              </a:rPr>
              <a:t>，共有</a:t>
            </a:r>
            <a:r>
              <a:rPr kumimoji="1" lang="en-US" altLang="zh-CN" sz="2800" b="1" i="1" dirty="0" smtClean="0">
                <a:latin typeface="Times New Roman" panose="02020603050405020304" pitchFamily="18" charset="0"/>
                <a:cs typeface="Times New Roman" panose="02020603050405020304" pitchFamily="18" charset="0"/>
              </a:rPr>
              <a:t>N</a:t>
            </a:r>
            <a:r>
              <a:rPr kumimoji="1" lang="zh-CN" altLang="en-US" sz="2800" b="1" dirty="0" smtClean="0">
                <a:latin typeface="Times New Roman" panose="02020603050405020304" pitchFamily="18" charset="0"/>
                <a:cs typeface="Times New Roman" panose="02020603050405020304" pitchFamily="18" charset="0"/>
              </a:rPr>
              <a:t>匝，线圈的下端放在待测的均匀磁场中，当线圈中通有电流</a:t>
            </a:r>
            <a:r>
              <a:rPr kumimoji="1" lang="en-US" altLang="zh-CN" sz="2800" b="1" i="1" dirty="0" smtClean="0">
                <a:latin typeface="Times New Roman" panose="02020603050405020304" pitchFamily="18" charset="0"/>
                <a:cs typeface="Times New Roman" panose="02020603050405020304" pitchFamily="18" charset="0"/>
              </a:rPr>
              <a:t>I</a:t>
            </a:r>
            <a:r>
              <a:rPr kumimoji="1" lang="zh-CN" altLang="en-US" sz="2800" b="1" dirty="0" smtClean="0">
                <a:latin typeface="Times New Roman" panose="02020603050405020304" pitchFamily="18" charset="0"/>
                <a:cs typeface="Times New Roman" panose="02020603050405020304" pitchFamily="18" charset="0"/>
              </a:rPr>
              <a:t>时，调节砝码</a:t>
            </a:r>
            <a:r>
              <a:rPr kumimoji="1" lang="en-US" altLang="zh-CN" sz="2800" b="1" i="1" dirty="0" smtClean="0">
                <a:latin typeface="Times New Roman" panose="02020603050405020304" pitchFamily="18" charset="0"/>
                <a:cs typeface="Times New Roman" panose="02020603050405020304" pitchFamily="18" charset="0"/>
              </a:rPr>
              <a:t>m</a:t>
            </a:r>
            <a:r>
              <a:rPr kumimoji="1" lang="zh-CN" altLang="en-US" sz="2800" b="1" dirty="0" smtClean="0">
                <a:latin typeface="Times New Roman" panose="02020603050405020304" pitchFamily="18" charset="0"/>
                <a:cs typeface="Times New Roman" panose="02020603050405020304" pitchFamily="18" charset="0"/>
              </a:rPr>
              <a:t>使两臂达到平衡。求待测磁场的磁感应强度。</a:t>
            </a:r>
          </a:p>
        </p:txBody>
      </p:sp>
      <p:pic>
        <p:nvPicPr>
          <p:cNvPr id="111857" name="Picture 241" descr="8"/>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535333" y="404814"/>
            <a:ext cx="4286251" cy="59769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046085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6" name="Picture 6" descr="http://p2.so.qhimgs1.com/bdr/_240_/t01c36aab76d6a149f2.jpg"/>
          <p:cNvPicPr>
            <a:picLocks noChangeAspect="1" noChangeArrowheads="1"/>
          </p:cNvPicPr>
          <p:nvPr/>
        </p:nvPicPr>
        <p:blipFill>
          <a:blip r:embed="rId2" cstate="print"/>
          <a:srcRect/>
          <a:stretch>
            <a:fillRect/>
          </a:stretch>
        </p:blipFill>
        <p:spPr bwMode="auto">
          <a:xfrm>
            <a:off x="6667504" y="2996952"/>
            <a:ext cx="5431016" cy="3503882"/>
          </a:xfrm>
          <a:prstGeom prst="rect">
            <a:avLst/>
          </a:prstGeom>
          <a:noFill/>
        </p:spPr>
      </p:pic>
      <p:sp>
        <p:nvSpPr>
          <p:cNvPr id="2" name="Text Box 5"/>
          <p:cNvSpPr txBox="1">
            <a:spLocks noChangeArrowheads="1"/>
          </p:cNvSpPr>
          <p:nvPr/>
        </p:nvSpPr>
        <p:spPr bwMode="auto">
          <a:xfrm>
            <a:off x="0" y="116632"/>
            <a:ext cx="5519936" cy="1636285"/>
          </a:xfrm>
          <a:prstGeom prst="rect">
            <a:avLst/>
          </a:prstGeom>
          <a:noFill/>
          <a:ln w="9525">
            <a:noFill/>
            <a:miter lim="800000"/>
            <a:headEnd/>
            <a:tailEnd/>
          </a:ln>
          <a:effectLst/>
        </p:spPr>
        <p:txBody>
          <a:bodyPr wrap="square" lIns="93605" tIns="46801" rIns="93605" bIns="46801">
            <a:spAutoFit/>
          </a:bodyPr>
          <a:lstStyle/>
          <a:p>
            <a:pPr algn="just" defTabSz="936625">
              <a:lnSpc>
                <a:spcPct val="125000"/>
              </a:lnSpc>
            </a:pPr>
            <a:r>
              <a:rPr kumimoji="1" lang="zh-CN" altLang="en-US" sz="2800" b="1" dirty="0">
                <a:solidFill>
                  <a:srgbClr val="CC0000"/>
                </a:solidFill>
                <a:latin typeface="黑体" pitchFamily="49" charset="-122"/>
                <a:ea typeface="黑体" pitchFamily="49" charset="-122"/>
              </a:rPr>
              <a:t>安培</a:t>
            </a:r>
            <a:r>
              <a:rPr kumimoji="1" lang="zh-CN" altLang="en-US" sz="2800" b="1" dirty="0" smtClean="0">
                <a:solidFill>
                  <a:srgbClr val="CC0000"/>
                </a:solidFill>
                <a:latin typeface="黑体" pitchFamily="49" charset="-122"/>
                <a:ea typeface="黑体" pitchFamily="49" charset="-122"/>
              </a:rPr>
              <a:t>力在军事上的应用</a:t>
            </a:r>
            <a:endParaRPr kumimoji="1" lang="en-US" altLang="zh-CN" sz="2800" b="1" dirty="0" smtClean="0">
              <a:solidFill>
                <a:srgbClr val="CC0000"/>
              </a:solidFill>
              <a:latin typeface="黑体" pitchFamily="49" charset="-122"/>
              <a:ea typeface="黑体" pitchFamily="49" charset="-122"/>
            </a:endParaRPr>
          </a:p>
          <a:p>
            <a:pPr algn="just" defTabSz="936625">
              <a:lnSpc>
                <a:spcPct val="125000"/>
              </a:lnSpc>
            </a:pPr>
            <a:r>
              <a:rPr kumimoji="1" lang="en-US" altLang="zh-CN" sz="2800" b="1" dirty="0" smtClean="0">
                <a:solidFill>
                  <a:srgbClr val="CC0000"/>
                </a:solidFill>
                <a:latin typeface="黑体" pitchFamily="49" charset="-122"/>
                <a:ea typeface="黑体" pitchFamily="49" charset="-122"/>
              </a:rPr>
              <a:t>---</a:t>
            </a:r>
            <a:r>
              <a:rPr kumimoji="1" lang="zh-CN" altLang="en-US" sz="2800" b="1" dirty="0" smtClean="0">
                <a:solidFill>
                  <a:srgbClr val="CC0000"/>
                </a:solidFill>
                <a:latin typeface="黑体" pitchFamily="49" charset="-122"/>
                <a:ea typeface="黑体" pitchFamily="49" charset="-122"/>
              </a:rPr>
              <a:t>电磁轨道炮、航母的电磁弹射飞机升空等。</a:t>
            </a:r>
            <a:endParaRPr kumimoji="1" lang="zh-CN" altLang="en-US" sz="2800" b="1" dirty="0">
              <a:solidFill>
                <a:srgbClr val="CC0000"/>
              </a:solidFill>
              <a:latin typeface="黑体" pitchFamily="49" charset="-122"/>
              <a:ea typeface="黑体" pitchFamily="49" charset="-122"/>
            </a:endParaRPr>
          </a:p>
        </p:txBody>
      </p:sp>
      <p:sp>
        <p:nvSpPr>
          <p:cNvPr id="3" name="Text Box 5"/>
          <p:cNvSpPr txBox="1">
            <a:spLocks noChangeArrowheads="1"/>
          </p:cNvSpPr>
          <p:nvPr/>
        </p:nvSpPr>
        <p:spPr bwMode="auto">
          <a:xfrm>
            <a:off x="0" y="2051110"/>
            <a:ext cx="6672064" cy="4295666"/>
          </a:xfrm>
          <a:prstGeom prst="rect">
            <a:avLst/>
          </a:prstGeom>
          <a:noFill/>
          <a:ln w="9525">
            <a:noFill/>
            <a:miter lim="800000"/>
            <a:headEnd/>
            <a:tailEnd/>
          </a:ln>
          <a:effectLst/>
        </p:spPr>
        <p:txBody>
          <a:bodyPr wrap="square" lIns="93605" tIns="46801" rIns="93605" bIns="46801">
            <a:spAutoFit/>
          </a:bodyPr>
          <a:lstStyle/>
          <a:p>
            <a:pPr algn="just" defTabSz="936625"/>
            <a:r>
              <a:rPr kumimoji="1" lang="zh-CN" altLang="en-US" sz="2800" b="1" dirty="0" smtClean="0">
                <a:latin typeface="黑体" pitchFamily="49" charset="-122"/>
                <a:ea typeface="黑体" pitchFamily="49" charset="-122"/>
              </a:rPr>
              <a:t>电磁轨道炮的工作原理：</a:t>
            </a:r>
            <a:endParaRPr kumimoji="1" lang="en-US" altLang="zh-CN" sz="2800" b="1" dirty="0" smtClean="0">
              <a:latin typeface="黑体" pitchFamily="49" charset="-122"/>
              <a:ea typeface="黑体" pitchFamily="49" charset="-122"/>
            </a:endParaRPr>
          </a:p>
          <a:p>
            <a:pPr algn="just" defTabSz="936625">
              <a:lnSpc>
                <a:spcPct val="125000"/>
              </a:lnSpc>
            </a:pPr>
            <a:r>
              <a:rPr kumimoji="1" lang="zh-CN" altLang="en-US" sz="2800" dirty="0" smtClean="0">
                <a:latin typeface="黑体" pitchFamily="49" charset="-122"/>
                <a:ea typeface="黑体" pitchFamily="49" charset="-122"/>
              </a:rPr>
              <a:t>在两块平行扁平长直导轨之间，有一炮弹，强大的电流从一块导轨流入，经过炮弹从另一块导轨流出，电流产生的磁场使通有电流的炮弹在安培力作用下被加速，以很大的速度射出（目前已知的速度可达</a:t>
            </a:r>
            <a:r>
              <a:rPr kumimoji="1" lang="en-US" altLang="zh-CN" sz="2800" dirty="0" smtClean="0">
                <a:latin typeface="黑体" pitchFamily="49" charset="-122"/>
                <a:ea typeface="黑体" pitchFamily="49" charset="-122"/>
              </a:rPr>
              <a:t>2380m/s</a:t>
            </a:r>
            <a:r>
              <a:rPr kumimoji="1" lang="zh-CN" altLang="en-US" sz="2800" dirty="0" smtClean="0">
                <a:latin typeface="黑体" pitchFamily="49" charset="-122"/>
                <a:ea typeface="黑体" pitchFamily="49" charset="-122"/>
              </a:rPr>
              <a:t>，约</a:t>
            </a:r>
            <a:r>
              <a:rPr kumimoji="1" lang="en-US" altLang="zh-CN" sz="2800" dirty="0" smtClean="0">
                <a:latin typeface="黑体" pitchFamily="49" charset="-122"/>
                <a:ea typeface="黑体" pitchFamily="49" charset="-122"/>
              </a:rPr>
              <a:t>7</a:t>
            </a:r>
            <a:r>
              <a:rPr kumimoji="1" lang="zh-CN" altLang="en-US" sz="2800" dirty="0" smtClean="0">
                <a:latin typeface="黑体" pitchFamily="49" charset="-122"/>
                <a:ea typeface="黑体" pitchFamily="49" charset="-122"/>
              </a:rPr>
              <a:t>倍音速）。电磁炮的炮弹可小</a:t>
            </a:r>
            <a:r>
              <a:rPr kumimoji="1" lang="zh-CN" altLang="en-US" sz="2800" smtClean="0">
                <a:latin typeface="黑体" pitchFamily="49" charset="-122"/>
                <a:ea typeface="黑体" pitchFamily="49" charset="-122"/>
              </a:rPr>
              <a:t>到</a:t>
            </a:r>
            <a:r>
              <a:rPr kumimoji="1" lang="zh-CN" altLang="en-US" sz="2800" smtClean="0">
                <a:latin typeface="黑体" pitchFamily="49" charset="-122"/>
                <a:ea typeface="黑体" pitchFamily="49" charset="-122"/>
              </a:rPr>
              <a:t>几克大</a:t>
            </a:r>
            <a:r>
              <a:rPr kumimoji="1" lang="zh-CN" altLang="en-US" sz="2800" dirty="0" smtClean="0">
                <a:latin typeface="黑体" pitchFamily="49" charset="-122"/>
                <a:ea typeface="黑体" pitchFamily="49" charset="-122"/>
              </a:rPr>
              <a:t>到几吨，其威力很大。</a:t>
            </a:r>
            <a:endParaRPr kumimoji="1" lang="zh-CN" altLang="en-US" sz="2800" dirty="0">
              <a:latin typeface="黑体" pitchFamily="49" charset="-122"/>
              <a:ea typeface="黑体" pitchFamily="49" charset="-122"/>
            </a:endParaRPr>
          </a:p>
        </p:txBody>
      </p:sp>
      <p:pic>
        <p:nvPicPr>
          <p:cNvPr id="51204" name="Picture 4" descr="http://p1.so.qhmsg.com/bdr/_240_/t01d90bd7a81d7a45e6.jpg"/>
          <p:cNvPicPr>
            <a:picLocks noChangeAspect="1" noChangeArrowheads="1"/>
          </p:cNvPicPr>
          <p:nvPr/>
        </p:nvPicPr>
        <p:blipFill>
          <a:blip r:embed="rId3" cstate="print"/>
          <a:srcRect/>
          <a:stretch>
            <a:fillRect/>
          </a:stretch>
        </p:blipFill>
        <p:spPr bwMode="auto">
          <a:xfrm>
            <a:off x="5903979" y="0"/>
            <a:ext cx="6107592" cy="2492896"/>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in)">
                                      <p:cBhvr>
                                        <p:cTn id="7" dur="500"/>
                                        <p:tgtEl>
                                          <p:spTgt spid="3"/>
                                        </p:tgtEl>
                                      </p:cBhvr>
                                    </p:animEffect>
                                  </p:childTnLst>
                                </p:cTn>
                              </p:par>
                              <p:par>
                                <p:cTn id="8" presetID="4" presetClass="entr" presetSubtype="16" fill="hold" nodeType="withEffect">
                                  <p:stCondLst>
                                    <p:cond delay="0"/>
                                  </p:stCondLst>
                                  <p:childTnLst>
                                    <p:set>
                                      <p:cBhvr>
                                        <p:cTn id="9" dur="1" fill="hold">
                                          <p:stCondLst>
                                            <p:cond delay="0"/>
                                          </p:stCondLst>
                                        </p:cTn>
                                        <p:tgtEl>
                                          <p:spTgt spid="51206"/>
                                        </p:tgtEl>
                                        <p:attrNameLst>
                                          <p:attrName>style.visibility</p:attrName>
                                        </p:attrNameLst>
                                      </p:cBhvr>
                                      <p:to>
                                        <p:strVal val="visible"/>
                                      </p:to>
                                    </p:set>
                                    <p:animEffect transition="in" filter="box(in)">
                                      <p:cBhvr>
                                        <p:cTn id="10" dur="500"/>
                                        <p:tgtEl>
                                          <p:spTgt spid="512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7687" y="1464976"/>
            <a:ext cx="8857923" cy="36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480805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99456" y="2275132"/>
            <a:ext cx="9793088" cy="646331"/>
          </a:xfrm>
          <a:prstGeom prst="rect">
            <a:avLst/>
          </a:prstGeom>
          <a:noFill/>
        </p:spPr>
        <p:txBody>
          <a:bodyPr wrap="square" rtlCol="0">
            <a:spAutoFit/>
          </a:bodyPr>
          <a:lstStyle/>
          <a:p>
            <a:r>
              <a:rPr lang="zh-CN" altLang="en-US" sz="3600" b="1" dirty="0" smtClean="0"/>
              <a:t>作业：</a:t>
            </a:r>
            <a:r>
              <a:rPr lang="en-US" altLang="zh-CN" sz="3600" b="1" dirty="0" smtClean="0"/>
              <a:t>135</a:t>
            </a:r>
            <a:r>
              <a:rPr lang="zh-CN" altLang="en-US" sz="3600" b="1" dirty="0" smtClean="0"/>
              <a:t>页计算题</a:t>
            </a:r>
            <a:r>
              <a:rPr lang="en-US" altLang="zh-CN" sz="3600" b="1" dirty="0" smtClean="0"/>
              <a:t>26</a:t>
            </a:r>
            <a:r>
              <a:rPr lang="zh-CN" altLang="en-US" sz="3600" b="1" dirty="0" smtClean="0"/>
              <a:t>，计算题</a:t>
            </a:r>
            <a:r>
              <a:rPr lang="en-US" altLang="zh-CN" sz="3600" b="1" dirty="0" smtClean="0"/>
              <a:t>27</a:t>
            </a:r>
            <a:endParaRPr lang="zh-CN" altLang="en-US" sz="3600" b="1" dirty="0"/>
          </a:p>
        </p:txBody>
      </p:sp>
    </p:spTree>
    <p:extLst>
      <p:ext uri="{BB962C8B-B14F-4D97-AF65-F5344CB8AC3E}">
        <p14:creationId xmlns:p14="http://schemas.microsoft.com/office/powerpoint/2010/main" val="42015397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2312</TotalTime>
  <Words>837</Words>
  <Application>Microsoft Office PowerPoint</Application>
  <PresentationFormat>宽屏</PresentationFormat>
  <Paragraphs>53</Paragraphs>
  <Slides>12</Slides>
  <Notes>3</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2</vt:i4>
      </vt:variant>
      <vt:variant>
        <vt:lpstr>幻灯片标题</vt:lpstr>
      </vt:variant>
      <vt:variant>
        <vt:i4>12</vt:i4>
      </vt:variant>
    </vt:vector>
  </HeadingPairs>
  <TitlesOfParts>
    <vt:vector size="23" baseType="lpstr">
      <vt:lpstr>黑体</vt:lpstr>
      <vt:lpstr>黑体</vt:lpstr>
      <vt:lpstr>华文行楷</vt:lpstr>
      <vt:lpstr>宋体</vt:lpstr>
      <vt:lpstr>Arial</vt:lpstr>
      <vt:lpstr>Calibri</vt:lpstr>
      <vt:lpstr>Calibri Light</vt:lpstr>
      <vt:lpstr>Times New Roman</vt:lpstr>
      <vt:lpstr>Office 主题</vt:lpstr>
      <vt:lpstr>公式</vt:lpstr>
      <vt:lpstr>Equation</vt:lpstr>
      <vt:lpstr>PowerPoint 演示文稿</vt:lpstr>
      <vt:lpstr>PowerPoint 演示文稿</vt:lpstr>
      <vt:lpstr>检测题19.6</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Www.SangSan.Cn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桑三博客</dc:creator>
  <cp:lastModifiedBy>hsl</cp:lastModifiedBy>
  <cp:revision>178</cp:revision>
  <dcterms:created xsi:type="dcterms:W3CDTF">2017-10-22T09:48:47Z</dcterms:created>
  <dcterms:modified xsi:type="dcterms:W3CDTF">2021-05-31T15:55:44Z</dcterms:modified>
</cp:coreProperties>
</file>