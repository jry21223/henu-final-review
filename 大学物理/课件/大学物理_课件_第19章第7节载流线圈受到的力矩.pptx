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2.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74" r:id="rId2"/>
    <p:sldId id="276" r:id="rId3"/>
    <p:sldId id="275" r:id="rId4"/>
    <p:sldId id="277" r:id="rId5"/>
    <p:sldId id="258" r:id="rId6"/>
    <p:sldId id="259" r:id="rId7"/>
    <p:sldId id="260" r:id="rId8"/>
    <p:sldId id="261" r:id="rId9"/>
    <p:sldId id="269" r:id="rId10"/>
    <p:sldId id="272" r:id="rId11"/>
    <p:sldId id="278" r:id="rId12"/>
    <p:sldId id="262" r:id="rId13"/>
    <p:sldId id="270" r:id="rId14"/>
    <p:sldId id="273" r:id="rId15"/>
    <p:sldId id="263" r:id="rId16"/>
    <p:sldId id="264" r:id="rId17"/>
    <p:sldId id="271" r:id="rId18"/>
    <p:sldId id="266" r:id="rId19"/>
    <p:sldId id="267" r:id="rId20"/>
    <p:sldId id="268"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14" autoAdjust="0"/>
    <p:restoredTop sz="93175" autoAdjust="0"/>
  </p:normalViewPr>
  <p:slideViewPr>
    <p:cSldViewPr snapToGrid="0">
      <p:cViewPr varScale="1">
        <p:scale>
          <a:sx n="84" d="100"/>
          <a:sy n="84" d="100"/>
        </p:scale>
        <p:origin x="882"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DA8BD25-5BB0-4970-9BC8-A867E97BBE06}" type="datetimeFigureOut">
              <a:rPr lang="zh-CN" altLang="en-US" smtClean="0"/>
              <a:t>2021/6/6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AC87C1-8720-44BC-97C4-3E56FDE22118}" type="slidenum">
              <a:rPr lang="zh-CN" altLang="en-US" smtClean="0"/>
              <a:t>‹#›</a:t>
            </a:fld>
            <a:endParaRPr lang="zh-CN" altLang="en-US"/>
          </a:p>
        </p:txBody>
      </p:sp>
    </p:spTree>
    <p:extLst>
      <p:ext uri="{BB962C8B-B14F-4D97-AF65-F5344CB8AC3E}">
        <p14:creationId xmlns:p14="http://schemas.microsoft.com/office/powerpoint/2010/main" val="4175846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答案：</a:t>
            </a:r>
            <a:r>
              <a:rPr lang="en-US" altLang="zh-CN" smtClean="0"/>
              <a:t>B</a:t>
            </a:r>
            <a:endParaRPr lang="zh-CN" altLang="en-US"/>
          </a:p>
        </p:txBody>
      </p:sp>
      <p:sp>
        <p:nvSpPr>
          <p:cNvPr id="4" name="灯片编号占位符 3"/>
          <p:cNvSpPr>
            <a:spLocks noGrp="1"/>
          </p:cNvSpPr>
          <p:nvPr>
            <p:ph type="sldNum" sz="quarter" idx="10"/>
          </p:nvPr>
        </p:nvSpPr>
        <p:spPr/>
        <p:txBody>
          <a:bodyPr/>
          <a:lstStyle/>
          <a:p>
            <a:fld id="{E0AC87C1-8720-44BC-97C4-3E56FDE22118}" type="slidenum">
              <a:rPr lang="zh-CN" altLang="en-US" smtClean="0"/>
              <a:t>1</a:t>
            </a:fld>
            <a:endParaRPr lang="zh-CN" altLang="en-US"/>
          </a:p>
        </p:txBody>
      </p:sp>
    </p:spTree>
    <p:extLst>
      <p:ext uri="{BB962C8B-B14F-4D97-AF65-F5344CB8AC3E}">
        <p14:creationId xmlns:p14="http://schemas.microsoft.com/office/powerpoint/2010/main" val="1050869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答案：</a:t>
            </a:r>
            <a:r>
              <a:rPr lang="en-US" altLang="zh-CN" dirty="0" smtClean="0"/>
              <a:t>D</a:t>
            </a:r>
            <a:endParaRPr lang="zh-CN" altLang="en-US" dirty="0"/>
          </a:p>
        </p:txBody>
      </p:sp>
      <p:sp>
        <p:nvSpPr>
          <p:cNvPr id="4" name="灯片编号占位符 3"/>
          <p:cNvSpPr>
            <a:spLocks noGrp="1"/>
          </p:cNvSpPr>
          <p:nvPr>
            <p:ph type="sldNum" sz="quarter" idx="10"/>
          </p:nvPr>
        </p:nvSpPr>
        <p:spPr/>
        <p:txBody>
          <a:bodyPr/>
          <a:lstStyle/>
          <a:p>
            <a:fld id="{E0AC87C1-8720-44BC-97C4-3E56FDE22118}" type="slidenum">
              <a:rPr lang="zh-CN" altLang="en-US" smtClean="0"/>
              <a:t>3</a:t>
            </a:fld>
            <a:endParaRPr lang="zh-CN" altLang="en-US"/>
          </a:p>
        </p:txBody>
      </p:sp>
    </p:spTree>
    <p:extLst>
      <p:ext uri="{BB962C8B-B14F-4D97-AF65-F5344CB8AC3E}">
        <p14:creationId xmlns:p14="http://schemas.microsoft.com/office/powerpoint/2010/main" val="1050869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侧视图</a:t>
            </a:r>
            <a:endParaRPr lang="zh-CN" altLang="en-US" dirty="0"/>
          </a:p>
        </p:txBody>
      </p:sp>
      <p:sp>
        <p:nvSpPr>
          <p:cNvPr id="4" name="灯片编号占位符 3"/>
          <p:cNvSpPr>
            <a:spLocks noGrp="1"/>
          </p:cNvSpPr>
          <p:nvPr>
            <p:ph type="sldNum" sz="quarter" idx="10"/>
          </p:nvPr>
        </p:nvSpPr>
        <p:spPr/>
        <p:txBody>
          <a:bodyPr/>
          <a:lstStyle/>
          <a:p>
            <a:fld id="{2A54C025-A62B-4050-9D76-A73F73645549}" type="slidenum">
              <a:rPr lang="zh-CN" altLang="en-US" smtClean="0"/>
              <a:pPr/>
              <a:t>5</a:t>
            </a:fld>
            <a:endParaRPr lang="zh-CN" altLang="en-US"/>
          </a:p>
        </p:txBody>
      </p:sp>
    </p:spTree>
    <p:extLst>
      <p:ext uri="{BB962C8B-B14F-4D97-AF65-F5344CB8AC3E}">
        <p14:creationId xmlns:p14="http://schemas.microsoft.com/office/powerpoint/2010/main" val="26025034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答案：</a:t>
            </a:r>
            <a:r>
              <a:rPr lang="en-US" altLang="zh-CN" smtClean="0"/>
              <a:t>B</a:t>
            </a:r>
          </a:p>
          <a:p>
            <a:endParaRPr lang="zh-CN" altLang="en-US"/>
          </a:p>
        </p:txBody>
      </p:sp>
      <p:sp>
        <p:nvSpPr>
          <p:cNvPr id="4" name="灯片编号占位符 3"/>
          <p:cNvSpPr>
            <a:spLocks noGrp="1"/>
          </p:cNvSpPr>
          <p:nvPr>
            <p:ph type="sldNum" sz="quarter" idx="10"/>
          </p:nvPr>
        </p:nvSpPr>
        <p:spPr/>
        <p:txBody>
          <a:bodyPr/>
          <a:lstStyle/>
          <a:p>
            <a:fld id="{8CC4EDF3-2375-48BC-A71B-83087F5C8CDD}" type="slidenum">
              <a:rPr lang="zh-CN" altLang="en-US" smtClean="0"/>
              <a:t>10</a:t>
            </a:fld>
            <a:endParaRPr lang="zh-CN" altLang="en-US"/>
          </a:p>
        </p:txBody>
      </p:sp>
    </p:spTree>
    <p:extLst>
      <p:ext uri="{BB962C8B-B14F-4D97-AF65-F5344CB8AC3E}">
        <p14:creationId xmlns:p14="http://schemas.microsoft.com/office/powerpoint/2010/main" val="1431021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2021/6/6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8808874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2021/6/6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9167859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2021/6/6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5303501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2021/6/6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0708593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C389F43E-6A00-409D-9E79-CE23F37409A4}" type="datetimeFigureOut">
              <a:rPr lang="zh-CN" altLang="en-US" smtClean="0"/>
              <a:pPr/>
              <a:t>2021/6/6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0873647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C389F43E-6A00-409D-9E79-CE23F37409A4}" type="datetimeFigureOut">
              <a:rPr lang="zh-CN" altLang="en-US" smtClean="0"/>
              <a:pPr/>
              <a:t>2021/6/6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246052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389F43E-6A00-409D-9E79-CE23F37409A4}" type="datetimeFigureOut">
              <a:rPr lang="zh-CN" altLang="en-US" smtClean="0"/>
              <a:pPr/>
              <a:t>2021/6/6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7769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2021/6/6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30547608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2021/6/6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6945556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2021/6/6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39418436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2021/6/6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2321700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89F43E-6A00-409D-9E79-CE23F37409A4}" type="datetimeFigureOut">
              <a:rPr lang="zh-CN" altLang="en-US" smtClean="0"/>
              <a:pPr/>
              <a:t>2021/6/6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735830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image" Target="../media/image2.tmp"/><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tags" Target="../tags/tag32.xml"/><Relationship Id="rId18" Type="http://schemas.openxmlformats.org/officeDocument/2006/relationships/tags" Target="../tags/tag37.xml"/><Relationship Id="rId3" Type="http://schemas.openxmlformats.org/officeDocument/2006/relationships/tags" Target="../tags/tag22.xml"/><Relationship Id="rId21" Type="http://schemas.openxmlformats.org/officeDocument/2006/relationships/image" Target="../media/image2.tmp"/><Relationship Id="rId7" Type="http://schemas.openxmlformats.org/officeDocument/2006/relationships/tags" Target="../tags/tag26.xml"/><Relationship Id="rId12" Type="http://schemas.openxmlformats.org/officeDocument/2006/relationships/tags" Target="../tags/tag31.xml"/><Relationship Id="rId17" Type="http://schemas.openxmlformats.org/officeDocument/2006/relationships/tags" Target="../tags/tag36.xml"/><Relationship Id="rId2" Type="http://schemas.openxmlformats.org/officeDocument/2006/relationships/tags" Target="../tags/tag21.xml"/><Relationship Id="rId16" Type="http://schemas.openxmlformats.org/officeDocument/2006/relationships/tags" Target="../tags/tag35.xml"/><Relationship Id="rId20" Type="http://schemas.openxmlformats.org/officeDocument/2006/relationships/slideLayout" Target="../slideLayouts/slideLayout7.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5" Type="http://schemas.openxmlformats.org/officeDocument/2006/relationships/tags" Target="../tags/tag24.xml"/><Relationship Id="rId15" Type="http://schemas.openxmlformats.org/officeDocument/2006/relationships/tags" Target="../tags/tag34.xml"/><Relationship Id="rId10" Type="http://schemas.openxmlformats.org/officeDocument/2006/relationships/tags" Target="../tags/tag29.xml"/><Relationship Id="rId19" Type="http://schemas.openxmlformats.org/officeDocument/2006/relationships/tags" Target="../tags/tag38.xml"/><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tags" Target="../tags/tag3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tags" Target="../tags/tag46.xml"/><Relationship Id="rId13" Type="http://schemas.openxmlformats.org/officeDocument/2006/relationships/tags" Target="../tags/tag51.xml"/><Relationship Id="rId18" Type="http://schemas.openxmlformats.org/officeDocument/2006/relationships/slideLayout" Target="../slideLayouts/slideLayout7.xml"/><Relationship Id="rId3" Type="http://schemas.openxmlformats.org/officeDocument/2006/relationships/tags" Target="../tags/tag41.xml"/><Relationship Id="rId7" Type="http://schemas.openxmlformats.org/officeDocument/2006/relationships/tags" Target="../tags/tag45.xml"/><Relationship Id="rId12" Type="http://schemas.openxmlformats.org/officeDocument/2006/relationships/tags" Target="../tags/tag50.xml"/><Relationship Id="rId17" Type="http://schemas.openxmlformats.org/officeDocument/2006/relationships/tags" Target="../tags/tag55.xml"/><Relationship Id="rId2" Type="http://schemas.openxmlformats.org/officeDocument/2006/relationships/tags" Target="../tags/tag40.xml"/><Relationship Id="rId16" Type="http://schemas.openxmlformats.org/officeDocument/2006/relationships/tags" Target="../tags/tag54.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tags" Target="../tags/tag49.xml"/><Relationship Id="rId5" Type="http://schemas.openxmlformats.org/officeDocument/2006/relationships/tags" Target="../tags/tag43.xml"/><Relationship Id="rId15" Type="http://schemas.openxmlformats.org/officeDocument/2006/relationships/tags" Target="../tags/tag53.xml"/><Relationship Id="rId10" Type="http://schemas.openxmlformats.org/officeDocument/2006/relationships/tags" Target="../tags/tag48.xml"/><Relationship Id="rId19" Type="http://schemas.openxmlformats.org/officeDocument/2006/relationships/image" Target="../media/image2.tmp"/><Relationship Id="rId4" Type="http://schemas.openxmlformats.org/officeDocument/2006/relationships/tags" Target="../tags/tag42.xml"/><Relationship Id="rId9" Type="http://schemas.openxmlformats.org/officeDocument/2006/relationships/tags" Target="../tags/tag47.xml"/><Relationship Id="rId14" Type="http://schemas.openxmlformats.org/officeDocument/2006/relationships/tags" Target="../tags/tag5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812800" y="546100"/>
            <a:ext cx="3505200" cy="584775"/>
          </a:xfrm>
          <a:prstGeom prst="rect">
            <a:avLst/>
          </a:prstGeom>
          <a:noFill/>
        </p:spPr>
        <p:txBody>
          <a:bodyPr wrap="square" rtlCol="0">
            <a:spAutoFit/>
          </a:bodyPr>
          <a:lstStyle/>
          <a:p>
            <a:r>
              <a:rPr lang="zh-CN" altLang="en-US" sz="3200" b="1" smtClean="0">
                <a:solidFill>
                  <a:srgbClr val="000099"/>
                </a:solidFill>
              </a:rPr>
              <a:t>单项选择题</a:t>
            </a:r>
            <a:endParaRPr lang="zh-CN" altLang="en-US" sz="3200" b="1">
              <a:solidFill>
                <a:srgbClr val="000099"/>
              </a:solidFill>
            </a:endParaRPr>
          </a:p>
        </p:txBody>
      </p:sp>
      <p:sp>
        <p:nvSpPr>
          <p:cNvPr id="3" name="矩形 2"/>
          <p:cNvSpPr/>
          <p:nvPr/>
        </p:nvSpPr>
        <p:spPr>
          <a:xfrm>
            <a:off x="1676748" y="1485497"/>
            <a:ext cx="9093200" cy="3862596"/>
          </a:xfrm>
          <a:prstGeom prst="rect">
            <a:avLst/>
          </a:prstGeom>
        </p:spPr>
        <p:txBody>
          <a:bodyPr wrap="square">
            <a:spAutoFit/>
          </a:bodyPr>
          <a:lstStyle/>
          <a:p>
            <a:pPr>
              <a:lnSpc>
                <a:spcPct val="125000"/>
              </a:lnSpc>
            </a:pPr>
            <a:r>
              <a:rPr lang="zh-CN" altLang="zh-CN" sz="2800" b="1" dirty="0"/>
              <a:t>在离子速度选择器中，当离子速度是选择器设置值的两倍时，磁力</a:t>
            </a:r>
            <a:r>
              <a:rPr lang="en-US" altLang="zh-CN" sz="2800" b="1" dirty="0"/>
              <a:t>F</a:t>
            </a:r>
            <a:r>
              <a:rPr lang="en-US" altLang="zh-CN" sz="2800" b="1" baseline="-25000" dirty="0"/>
              <a:t>M</a:t>
            </a:r>
            <a:r>
              <a:rPr lang="zh-CN" altLang="zh-CN" sz="2800" b="1" dirty="0"/>
              <a:t>和电场</a:t>
            </a:r>
            <a:r>
              <a:rPr lang="en-US" altLang="zh-CN" sz="2800" b="1" dirty="0"/>
              <a:t>F</a:t>
            </a:r>
            <a:r>
              <a:rPr lang="en-US" altLang="zh-CN" sz="2800" b="1" baseline="-25000" dirty="0"/>
              <a:t>E</a:t>
            </a:r>
            <a:r>
              <a:rPr lang="zh-CN" altLang="zh-CN" sz="2800" b="1" dirty="0"/>
              <a:t>如何比较？</a:t>
            </a:r>
            <a:r>
              <a:rPr lang="en-US" altLang="zh-CN" sz="2800" b="1" dirty="0"/>
              <a:t/>
            </a:r>
            <a:br>
              <a:rPr lang="en-US" altLang="zh-CN" sz="2800" b="1" dirty="0"/>
            </a:br>
            <a:r>
              <a:rPr lang="en-US" altLang="zh-CN" sz="2800" b="1" dirty="0"/>
              <a:t>A.  F</a:t>
            </a:r>
            <a:r>
              <a:rPr lang="en-US" altLang="zh-CN" sz="2800" b="1" baseline="-25000" dirty="0"/>
              <a:t>M</a:t>
            </a:r>
            <a:r>
              <a:rPr lang="en-US" altLang="zh-CN" sz="2800" b="1" dirty="0"/>
              <a:t> = 4 F</a:t>
            </a:r>
            <a:r>
              <a:rPr lang="en-US" altLang="zh-CN" sz="2800" b="1" baseline="-25000" dirty="0"/>
              <a:t>E</a:t>
            </a:r>
            <a:r>
              <a:rPr lang="en-US" altLang="zh-CN" sz="2800" b="1" dirty="0"/>
              <a:t> </a:t>
            </a:r>
            <a:br>
              <a:rPr lang="en-US" altLang="zh-CN" sz="2800" b="1" dirty="0"/>
            </a:br>
            <a:r>
              <a:rPr lang="en-US" altLang="zh-CN" sz="2800" b="1" dirty="0"/>
              <a:t>B.  F</a:t>
            </a:r>
            <a:r>
              <a:rPr lang="en-US" altLang="zh-CN" sz="2800" b="1" baseline="-25000" dirty="0"/>
              <a:t>M</a:t>
            </a:r>
            <a:r>
              <a:rPr lang="en-US" altLang="zh-CN" sz="2800" b="1" dirty="0"/>
              <a:t> = 2 F</a:t>
            </a:r>
            <a:r>
              <a:rPr lang="en-US" altLang="zh-CN" sz="2800" b="1" baseline="-25000" dirty="0"/>
              <a:t>E</a:t>
            </a:r>
            <a:r>
              <a:rPr lang="en-US" altLang="zh-CN" sz="2800" b="1" dirty="0"/>
              <a:t> </a:t>
            </a:r>
            <a:br>
              <a:rPr lang="en-US" altLang="zh-CN" sz="2800" b="1" dirty="0"/>
            </a:br>
            <a:r>
              <a:rPr lang="en-US" altLang="zh-CN" sz="2800" b="1" dirty="0"/>
              <a:t>C.  F</a:t>
            </a:r>
            <a:r>
              <a:rPr lang="en-US" altLang="zh-CN" sz="2800" b="1" baseline="-25000" dirty="0"/>
              <a:t>M</a:t>
            </a:r>
            <a:r>
              <a:rPr lang="en-US" altLang="zh-CN" sz="2800" b="1" dirty="0"/>
              <a:t> = F</a:t>
            </a:r>
            <a:r>
              <a:rPr lang="en-US" altLang="zh-CN" sz="2800" b="1" baseline="-25000" dirty="0"/>
              <a:t>E</a:t>
            </a:r>
            <a:r>
              <a:rPr lang="en-US" altLang="zh-CN" sz="2800" b="1" dirty="0"/>
              <a:t>/2 </a:t>
            </a:r>
            <a:br>
              <a:rPr lang="en-US" altLang="zh-CN" sz="2800" b="1" dirty="0"/>
            </a:br>
            <a:r>
              <a:rPr lang="en-US" altLang="zh-CN" sz="2800" b="1" dirty="0"/>
              <a:t>D.  F</a:t>
            </a:r>
            <a:r>
              <a:rPr lang="en-US" altLang="zh-CN" sz="2800" b="1" baseline="-25000" dirty="0"/>
              <a:t>M</a:t>
            </a:r>
            <a:r>
              <a:rPr lang="en-US" altLang="zh-CN" sz="2800" b="1" dirty="0"/>
              <a:t> = F</a:t>
            </a:r>
            <a:r>
              <a:rPr lang="en-US" altLang="zh-CN" sz="2800" b="1" baseline="-25000" dirty="0"/>
              <a:t>E</a:t>
            </a:r>
            <a:r>
              <a:rPr lang="en-US" altLang="zh-CN" sz="2800" b="1" dirty="0"/>
              <a:t>/4 </a:t>
            </a:r>
            <a:br>
              <a:rPr lang="en-US" altLang="zh-CN" sz="2800" b="1" dirty="0"/>
            </a:br>
            <a:r>
              <a:rPr lang="en-US" altLang="zh-CN" sz="2800" b="1" dirty="0"/>
              <a:t>E.  F</a:t>
            </a:r>
            <a:r>
              <a:rPr lang="en-US" altLang="zh-CN" sz="2800" b="1" baseline="-25000" dirty="0"/>
              <a:t>M</a:t>
            </a:r>
            <a:r>
              <a:rPr lang="en-US" altLang="zh-CN" sz="2800" b="1" dirty="0"/>
              <a:t> = 1.414 F</a:t>
            </a:r>
            <a:r>
              <a:rPr lang="en-US" altLang="zh-CN" sz="2800" b="1" baseline="-25000" dirty="0"/>
              <a:t>E</a:t>
            </a:r>
            <a:r>
              <a:rPr lang="en-US" altLang="zh-CN" sz="2800" b="1" dirty="0"/>
              <a:t> </a:t>
            </a:r>
            <a:endParaRPr lang="zh-CN" altLang="zh-CN" sz="2800" b="1" dirty="0"/>
          </a:p>
        </p:txBody>
      </p:sp>
      <p:pic>
        <p:nvPicPr>
          <p:cNvPr id="4"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3151" y="2957637"/>
            <a:ext cx="1181100"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269233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zh-CN" sz="2800" b="1" dirty="0"/>
              <a:t>在离子速度选择器中，当离子速度是选择器设置值的两倍时，磁力</a:t>
            </a:r>
            <a:r>
              <a:rPr lang="en-US" altLang="zh-CN" sz="2800" b="1" dirty="0"/>
              <a:t>F</a:t>
            </a:r>
            <a:r>
              <a:rPr lang="en-US" altLang="zh-CN" sz="2800" b="1" baseline="-25000" dirty="0"/>
              <a:t>M</a:t>
            </a:r>
            <a:r>
              <a:rPr lang="zh-CN" altLang="zh-CN" sz="2800" b="1" dirty="0"/>
              <a:t>和电场</a:t>
            </a:r>
            <a:r>
              <a:rPr lang="en-US" altLang="zh-CN" sz="2800" b="1" dirty="0"/>
              <a:t>F</a:t>
            </a:r>
            <a:r>
              <a:rPr lang="en-US" altLang="zh-CN" sz="2800" b="1" baseline="-25000" dirty="0"/>
              <a:t>E</a:t>
            </a:r>
            <a:r>
              <a:rPr lang="zh-CN" altLang="zh-CN" sz="2800" b="1" dirty="0"/>
              <a:t>如何比较？</a:t>
            </a:r>
            <a:r>
              <a:rPr lang="en-US" altLang="zh-CN" sz="2800" b="1" dirty="0"/>
              <a:t/>
            </a:r>
            <a:br>
              <a:rPr lang="en-US" altLang="zh-CN" sz="2800" b="1" dirty="0"/>
            </a:b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1946910" y="2283143"/>
            <a:ext cx="8534400" cy="642938"/>
          </a:xfrm>
          <a:prstGeom prst="rect">
            <a:avLst/>
          </a:prstGeom>
          <a:noFill/>
        </p:spPr>
        <p:txBody>
          <a:bodyPr vert="horz" rtlCol="0" anchor="ctr" anchorCtr="0">
            <a:noAutofit/>
          </a:bodyPr>
          <a:lstStyle/>
          <a:p>
            <a:r>
              <a:rPr lang="en-US" altLang="zh-CN" sz="2400" b="1" dirty="0"/>
              <a:t>F</a:t>
            </a:r>
            <a:r>
              <a:rPr lang="en-US" altLang="zh-CN" sz="2400" b="1" baseline="-25000" dirty="0"/>
              <a:t>M</a:t>
            </a:r>
            <a:r>
              <a:rPr lang="en-US" altLang="zh-CN" sz="2400" b="1" dirty="0"/>
              <a:t> = 4 F</a:t>
            </a:r>
            <a:r>
              <a:rPr lang="en-US" altLang="zh-CN" sz="2400" b="1" baseline="-25000" dirty="0"/>
              <a:t>E</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946910" y="2968943"/>
            <a:ext cx="8534400" cy="642938"/>
          </a:xfrm>
          <a:prstGeom prst="rect">
            <a:avLst/>
          </a:prstGeom>
          <a:noFill/>
        </p:spPr>
        <p:txBody>
          <a:bodyPr vert="horz" rtlCol="0" anchor="ctr" anchorCtr="0">
            <a:noAutofit/>
          </a:bodyPr>
          <a:lstStyle/>
          <a:p>
            <a:r>
              <a:rPr lang="en-US" altLang="zh-CN" sz="2400" b="1" dirty="0"/>
              <a:t> F</a:t>
            </a:r>
            <a:r>
              <a:rPr lang="en-US" altLang="zh-CN" sz="2400" b="1" baseline="-25000" dirty="0"/>
              <a:t>M</a:t>
            </a:r>
            <a:r>
              <a:rPr lang="en-US" altLang="zh-CN" sz="2400" b="1" dirty="0"/>
              <a:t> = 2 F</a:t>
            </a:r>
            <a:r>
              <a:rPr lang="en-US" altLang="zh-CN" sz="2400" b="1" baseline="-25000" dirty="0"/>
              <a:t>E</a:t>
            </a:r>
            <a:r>
              <a:rPr lang="en-US" altLang="zh-CN" sz="2400" b="1" dirty="0"/>
              <a:t>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946910" y="3654743"/>
            <a:ext cx="8534400" cy="642938"/>
          </a:xfrm>
          <a:prstGeom prst="rect">
            <a:avLst/>
          </a:prstGeom>
          <a:noFill/>
        </p:spPr>
        <p:txBody>
          <a:bodyPr vert="horz" rtlCol="0" anchor="ctr" anchorCtr="0">
            <a:noAutofit/>
          </a:bodyPr>
          <a:lstStyle/>
          <a:p>
            <a:r>
              <a:rPr lang="en-US" altLang="zh-CN" sz="2400" b="1" dirty="0"/>
              <a:t>F</a:t>
            </a:r>
            <a:r>
              <a:rPr lang="en-US" altLang="zh-CN" sz="2400" b="1" baseline="-25000" dirty="0"/>
              <a:t>M</a:t>
            </a:r>
            <a:r>
              <a:rPr lang="en-US" altLang="zh-CN" sz="2400" b="1" dirty="0"/>
              <a:t> = F</a:t>
            </a:r>
            <a:r>
              <a:rPr lang="en-US" altLang="zh-CN" sz="2400" b="1" baseline="-25000" dirty="0"/>
              <a:t>E</a:t>
            </a:r>
            <a:r>
              <a:rPr lang="en-US" altLang="zh-CN" sz="2400" b="1" dirty="0"/>
              <a:t>/2</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946910" y="4340543"/>
            <a:ext cx="8534400" cy="642938"/>
          </a:xfrm>
          <a:prstGeom prst="rect">
            <a:avLst/>
          </a:prstGeom>
          <a:noFill/>
        </p:spPr>
        <p:txBody>
          <a:bodyPr vert="horz" rtlCol="0" anchor="ctr" anchorCtr="0">
            <a:noAutofit/>
          </a:bodyPr>
          <a:lstStyle/>
          <a:p>
            <a:r>
              <a:rPr lang="en-US" altLang="zh-CN" sz="2400" b="1" dirty="0"/>
              <a:t>F</a:t>
            </a:r>
            <a:r>
              <a:rPr lang="en-US" altLang="zh-CN" sz="2400" b="1" baseline="-25000" dirty="0"/>
              <a:t>M</a:t>
            </a:r>
            <a:r>
              <a:rPr lang="en-US" altLang="zh-CN" sz="2400" b="1" dirty="0"/>
              <a:t> = F</a:t>
            </a:r>
            <a:r>
              <a:rPr lang="en-US" altLang="zh-CN" sz="2400" b="1" baseline="-25000" dirty="0"/>
              <a:t>E</a:t>
            </a:r>
            <a:r>
              <a:rPr lang="en-US" altLang="zh-CN" sz="2400" b="1" dirty="0"/>
              <a:t>/4</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7"/>
            </p:custDataLst>
          </p:nvPr>
        </p:nvSpPr>
        <p:spPr>
          <a:xfrm>
            <a:off x="1080135" y="234743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1080135" y="303323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1080135" y="371903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1080135" y="440483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9" name="文本框 18"/>
          <p:cNvSpPr txBox="1"/>
          <p:nvPr>
            <p:custDataLst>
              <p:tags r:id="rId12"/>
            </p:custDataLst>
          </p:nvPr>
        </p:nvSpPr>
        <p:spPr>
          <a:xfrm>
            <a:off x="1946910" y="5026343"/>
            <a:ext cx="8534400" cy="642938"/>
          </a:xfrm>
          <a:prstGeom prst="rect">
            <a:avLst/>
          </a:prstGeom>
          <a:noFill/>
        </p:spPr>
        <p:txBody>
          <a:bodyPr vert="horz" rtlCol="0" anchor="ctr" anchorCtr="0">
            <a:noAutofit/>
          </a:bodyPr>
          <a:lstStyle/>
          <a:p>
            <a:r>
              <a:rPr lang="en-US" altLang="zh-CN" sz="2400" b="1" dirty="0"/>
              <a:t>F</a:t>
            </a:r>
            <a:r>
              <a:rPr lang="en-US" altLang="zh-CN" sz="2400" b="1" baseline="-25000" dirty="0"/>
              <a:t>M</a:t>
            </a:r>
            <a:r>
              <a:rPr lang="en-US" altLang="zh-CN" sz="2400" b="1" dirty="0"/>
              <a:t> = 1.414 F</a:t>
            </a:r>
            <a:r>
              <a:rPr lang="en-US" altLang="zh-CN" sz="2400" b="1" baseline="-25000" dirty="0"/>
              <a:t>E</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0" name="椭圆 19"/>
          <p:cNvSpPr>
            <a:spLocks noChangeAspect="1"/>
          </p:cNvSpPr>
          <p:nvPr>
            <p:custDataLst>
              <p:tags r:id="rId13"/>
            </p:custDataLst>
          </p:nvPr>
        </p:nvSpPr>
        <p:spPr>
          <a:xfrm>
            <a:off x="1080135" y="509063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E</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7" name="组合 16"/>
          <p:cNvGrpSpPr/>
          <p:nvPr>
            <p:custDataLst>
              <p:tags r:id="rId14"/>
            </p:custDataLst>
          </p:nvPr>
        </p:nvGrpSpPr>
        <p:grpSpPr>
          <a:xfrm>
            <a:off x="0" y="0"/>
            <a:ext cx="12192000" cy="635000"/>
            <a:chOff x="0" y="0"/>
            <a:chExt cx="12192000" cy="635000"/>
          </a:xfrm>
        </p:grpSpPr>
        <p:sp>
          <p:nvSpPr>
            <p:cNvPr id="13" name="TitleBackground"/>
            <p:cNvSpPr/>
            <p:nvPr>
              <p:custDataLst>
                <p:tags r:id="rId1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8"/>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TipText"/>
            <p:cNvSpPr txBox="1"/>
            <p:nvPr>
              <p:custDataLst>
                <p:tags r:id="rId19"/>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15"/>
            </p:custDataLst>
          </p:nvPr>
        </p:nvPicPr>
        <p:blipFill>
          <a:blip r:embed="rId2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7513697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812800" y="546100"/>
            <a:ext cx="3505200" cy="584775"/>
          </a:xfrm>
          <a:prstGeom prst="rect">
            <a:avLst/>
          </a:prstGeom>
          <a:noFill/>
        </p:spPr>
        <p:txBody>
          <a:bodyPr wrap="square" rtlCol="0">
            <a:spAutoFit/>
          </a:bodyPr>
          <a:lstStyle/>
          <a:p>
            <a:r>
              <a:rPr lang="zh-CN" altLang="en-US" sz="3200" b="1" smtClean="0">
                <a:solidFill>
                  <a:srgbClr val="000099"/>
                </a:solidFill>
              </a:rPr>
              <a:t>单项选择题</a:t>
            </a:r>
            <a:endParaRPr lang="zh-CN" altLang="en-US" sz="3200" b="1">
              <a:solidFill>
                <a:srgbClr val="000099"/>
              </a:solidFill>
            </a:endParaRPr>
          </a:p>
        </p:txBody>
      </p:sp>
      <p:sp>
        <p:nvSpPr>
          <p:cNvPr id="3" name="矩形 2"/>
          <p:cNvSpPr/>
          <p:nvPr/>
        </p:nvSpPr>
        <p:spPr>
          <a:xfrm>
            <a:off x="1585607" y="1549801"/>
            <a:ext cx="8016657" cy="3862596"/>
          </a:xfrm>
          <a:prstGeom prst="rect">
            <a:avLst/>
          </a:prstGeom>
        </p:spPr>
        <p:txBody>
          <a:bodyPr wrap="square">
            <a:spAutoFit/>
          </a:bodyPr>
          <a:lstStyle/>
          <a:p>
            <a:pPr>
              <a:lnSpc>
                <a:spcPct val="125000"/>
              </a:lnSpc>
            </a:pPr>
            <a:r>
              <a:rPr lang="zh-CN" altLang="en-US" sz="2800" b="1" dirty="0"/>
              <a:t>如果电荷载流子是正的而不是负的，在测量霍尔电压时会有什么不同</a:t>
            </a:r>
            <a:r>
              <a:rPr lang="zh-CN" altLang="en-US" sz="2800" b="1" dirty="0" smtClean="0"/>
              <a:t>？</a:t>
            </a:r>
            <a:endParaRPr lang="en-US" altLang="zh-CN" sz="2800" b="1" dirty="0" smtClean="0"/>
          </a:p>
          <a:p>
            <a:pPr>
              <a:lnSpc>
                <a:spcPct val="125000"/>
              </a:lnSpc>
            </a:pPr>
            <a:r>
              <a:rPr lang="en-US" altLang="zh-CN" sz="2800" b="1" dirty="0" smtClean="0"/>
              <a:t>A</a:t>
            </a:r>
            <a:r>
              <a:rPr lang="zh-CN" altLang="en-US" sz="2800" b="1" dirty="0"/>
              <a:t>、 没有区别</a:t>
            </a:r>
            <a:r>
              <a:rPr lang="zh-CN" altLang="en-US" sz="2800" b="1" dirty="0" smtClean="0"/>
              <a:t>。</a:t>
            </a:r>
            <a:endParaRPr lang="en-US" altLang="zh-CN" sz="2800" b="1" dirty="0" smtClean="0"/>
          </a:p>
          <a:p>
            <a:pPr>
              <a:lnSpc>
                <a:spcPct val="125000"/>
              </a:lnSpc>
            </a:pPr>
            <a:r>
              <a:rPr lang="en-US" altLang="zh-CN" sz="2800" b="1" dirty="0" smtClean="0"/>
              <a:t>B</a:t>
            </a:r>
            <a:r>
              <a:rPr lang="zh-CN" altLang="en-US" sz="2800" b="1" dirty="0"/>
              <a:t>、 正电荷载流子的霍尔电压应为两倍</a:t>
            </a:r>
            <a:r>
              <a:rPr lang="zh-CN" altLang="en-US" sz="2800" b="1" dirty="0" smtClean="0"/>
              <a:t>。</a:t>
            </a:r>
            <a:endParaRPr lang="en-US" altLang="zh-CN" sz="2800" b="1" dirty="0" smtClean="0"/>
          </a:p>
          <a:p>
            <a:pPr>
              <a:lnSpc>
                <a:spcPct val="125000"/>
              </a:lnSpc>
            </a:pPr>
            <a:r>
              <a:rPr lang="en-US" altLang="zh-CN" sz="2800" b="1" dirty="0" smtClean="0"/>
              <a:t>C</a:t>
            </a:r>
            <a:r>
              <a:rPr lang="zh-CN" altLang="en-US" sz="2800" b="1" dirty="0"/>
              <a:t>、 负电荷载流子的霍尔电压将加倍</a:t>
            </a:r>
            <a:r>
              <a:rPr lang="zh-CN" altLang="en-US" sz="2800" b="1" dirty="0" smtClean="0"/>
              <a:t>。</a:t>
            </a:r>
            <a:endParaRPr lang="en-US" altLang="zh-CN" sz="2800" b="1" dirty="0" smtClean="0"/>
          </a:p>
          <a:p>
            <a:pPr>
              <a:lnSpc>
                <a:spcPct val="125000"/>
              </a:lnSpc>
            </a:pPr>
            <a:r>
              <a:rPr lang="en-US" altLang="zh-CN" sz="2800" b="1" dirty="0" smtClean="0"/>
              <a:t>D</a:t>
            </a:r>
            <a:r>
              <a:rPr lang="zh-CN" altLang="en-US" sz="2800" b="1" dirty="0"/>
              <a:t>、 电压的极性将反转</a:t>
            </a:r>
            <a:r>
              <a:rPr lang="zh-CN" altLang="en-US" sz="2800" b="1" dirty="0" smtClean="0"/>
              <a:t>。</a:t>
            </a:r>
            <a:endParaRPr lang="en-US" altLang="zh-CN" sz="2800" b="1" dirty="0" smtClean="0"/>
          </a:p>
          <a:p>
            <a:pPr>
              <a:lnSpc>
                <a:spcPct val="125000"/>
              </a:lnSpc>
            </a:pPr>
            <a:r>
              <a:rPr lang="en-US" altLang="zh-CN" sz="2800" b="1" dirty="0" smtClean="0"/>
              <a:t>E</a:t>
            </a:r>
            <a:r>
              <a:rPr lang="zh-CN" altLang="en-US" sz="2800" b="1" dirty="0"/>
              <a:t>、 不能测量正电荷载流子的霍尔电压。</a:t>
            </a:r>
            <a:endParaRPr lang="zh-CN" altLang="zh-CN" sz="2800" b="1" dirty="0"/>
          </a:p>
        </p:txBody>
      </p:sp>
      <mc:AlternateContent xmlns:mc="http://schemas.openxmlformats.org/markup-compatibility/2006" xmlns:a14="http://schemas.microsoft.com/office/drawing/2010/main">
        <mc:Choice Requires="a14">
          <p:sp>
            <p:nvSpPr>
              <p:cNvPr id="4" name="TextBox 3"/>
              <p:cNvSpPr txBox="1"/>
              <p:nvPr/>
            </p:nvSpPr>
            <p:spPr>
              <a:xfrm>
                <a:off x="9763620" y="5292175"/>
                <a:ext cx="1920213" cy="879087"/>
              </a:xfrm>
              <a:prstGeom prst="rect">
                <a:avLst/>
              </a:prstGeom>
              <a:noFill/>
            </p:spPr>
            <p:txBody>
              <a:bodyPr wrap="square" rtlCol="0">
                <a:spAutoFit/>
              </a:bodyPr>
              <a:lstStyle/>
              <a:p>
                <a14:m>
                  <m:oMath xmlns:m="http://schemas.openxmlformats.org/officeDocument/2006/math">
                    <m:sSub>
                      <m:sSubPr>
                        <m:ctrlPr>
                          <a:rPr lang="en-US" altLang="zh-CN" sz="3600" i="1" smtClean="0">
                            <a:latin typeface="Cambria Math" panose="02040503050406030204" pitchFamily="18" charset="0"/>
                          </a:rPr>
                        </m:ctrlPr>
                      </m:sSubPr>
                      <m:e>
                        <m:r>
                          <a:rPr lang="en-US" altLang="zh-CN" sz="3600" b="0" i="1" smtClean="0">
                            <a:latin typeface="Cambria Math"/>
                          </a:rPr>
                          <m:t>𝑉</m:t>
                        </m:r>
                      </m:e>
                      <m:sub>
                        <m:r>
                          <a:rPr lang="en-US" altLang="zh-CN" sz="3600" b="0" i="1" smtClean="0">
                            <a:latin typeface="Cambria Math"/>
                          </a:rPr>
                          <m:t>𝐻</m:t>
                        </m:r>
                      </m:sub>
                    </m:sSub>
                  </m:oMath>
                </a14:m>
                <a:r>
                  <a:rPr lang="zh-CN" altLang="en-US" sz="3600" dirty="0" smtClean="0"/>
                  <a:t> </a:t>
                </a:r>
                <a:r>
                  <a:rPr lang="en-US" altLang="zh-CN" sz="3600" dirty="0" smtClean="0"/>
                  <a:t>= </a:t>
                </a:r>
                <a14:m>
                  <m:oMath xmlns:m="http://schemas.openxmlformats.org/officeDocument/2006/math">
                    <m:f>
                      <m:fPr>
                        <m:ctrlPr>
                          <a:rPr lang="en-US" altLang="zh-CN" sz="3600" i="1" smtClean="0">
                            <a:latin typeface="Cambria Math" panose="02040503050406030204" pitchFamily="18" charset="0"/>
                          </a:rPr>
                        </m:ctrlPr>
                      </m:fPr>
                      <m:num>
                        <m:r>
                          <a:rPr lang="en-US" altLang="zh-CN" sz="3600" b="0" i="1" smtClean="0">
                            <a:latin typeface="Cambria Math"/>
                          </a:rPr>
                          <m:t>𝐵𝐼</m:t>
                        </m:r>
                      </m:num>
                      <m:den>
                        <m:r>
                          <a:rPr lang="en-US" altLang="zh-CN" sz="3600" b="0" i="1" smtClean="0">
                            <a:latin typeface="Cambria Math"/>
                          </a:rPr>
                          <m:t>𝑛𝑒𝑡</m:t>
                        </m:r>
                      </m:den>
                    </m:f>
                  </m:oMath>
                </a14:m>
                <a:endParaRPr lang="zh-CN" altLang="en-US" sz="3600" dirty="0"/>
              </a:p>
            </p:txBody>
          </p:sp>
        </mc:Choice>
        <mc:Fallback xmlns="">
          <p:sp>
            <p:nvSpPr>
              <p:cNvPr id="4" name="TextBox 3"/>
              <p:cNvSpPr txBox="1">
                <a:spLocks noRot="1" noChangeAspect="1" noMove="1" noResize="1" noEditPoints="1" noAdjustHandles="1" noChangeArrowheads="1" noChangeShapeType="1" noTextEdit="1"/>
              </p:cNvSpPr>
              <p:nvPr/>
            </p:nvSpPr>
            <p:spPr>
              <a:xfrm>
                <a:off x="9763620" y="5292175"/>
                <a:ext cx="1920213" cy="879087"/>
              </a:xfrm>
              <a:prstGeom prst="rect">
                <a:avLst/>
              </a:prstGeom>
              <a:blipFill rotWithShape="1">
                <a:blip r:embed="rId3"/>
                <a:stretch>
                  <a:fillRect b="-1319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3420799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pPr>
              <a:lnSpc>
                <a:spcPct val="125000"/>
              </a:lnSpc>
            </a:pPr>
            <a:r>
              <a:rPr lang="zh-CN" altLang="en-US" sz="2800" b="1" dirty="0"/>
              <a:t>如果电荷载流子是正的而不是负的，在测量霍尔电压时会有什么不同？</a:t>
            </a:r>
            <a:endParaRPr lang="en-US" altLang="zh-CN" sz="2800" b="1" dirty="0"/>
          </a:p>
        </p:txBody>
      </p:sp>
      <p:sp>
        <p:nvSpPr>
          <p:cNvPr id="4" name="文本框 3"/>
          <p:cNvSpPr txBox="1"/>
          <p:nvPr>
            <p:custDataLst>
              <p:tags r:id="rId3"/>
            </p:custDataLst>
          </p:nvPr>
        </p:nvSpPr>
        <p:spPr>
          <a:xfrm>
            <a:off x="2026920" y="2511743"/>
            <a:ext cx="8534400" cy="642938"/>
          </a:xfrm>
          <a:prstGeom prst="rect">
            <a:avLst/>
          </a:prstGeom>
          <a:noFill/>
        </p:spPr>
        <p:txBody>
          <a:bodyPr vert="horz" rtlCol="0" anchor="ctr" anchorCtr="0">
            <a:noAutofit/>
          </a:bodyPr>
          <a:lstStyle/>
          <a:p>
            <a:pPr>
              <a:lnSpc>
                <a:spcPct val="125000"/>
              </a:lnSpc>
            </a:pPr>
            <a:r>
              <a:rPr lang="zh-CN" altLang="en-US" sz="2400" b="1" dirty="0"/>
              <a:t>没有区别。</a:t>
            </a:r>
            <a:endParaRPr lang="en-US" altLang="zh-CN" sz="2400" b="1" dirty="0"/>
          </a:p>
        </p:txBody>
      </p:sp>
      <p:sp>
        <p:nvSpPr>
          <p:cNvPr id="5" name="文本框 4"/>
          <p:cNvSpPr txBox="1"/>
          <p:nvPr>
            <p:custDataLst>
              <p:tags r:id="rId4"/>
            </p:custDataLst>
          </p:nvPr>
        </p:nvSpPr>
        <p:spPr>
          <a:xfrm>
            <a:off x="2026920" y="3197543"/>
            <a:ext cx="8534400" cy="642938"/>
          </a:xfrm>
          <a:prstGeom prst="rect">
            <a:avLst/>
          </a:prstGeom>
          <a:noFill/>
        </p:spPr>
        <p:txBody>
          <a:bodyPr vert="horz" rtlCol="0" anchor="ctr" anchorCtr="0">
            <a:noAutofit/>
          </a:bodyPr>
          <a:lstStyle/>
          <a:p>
            <a:pPr>
              <a:lnSpc>
                <a:spcPct val="125000"/>
              </a:lnSpc>
            </a:pPr>
            <a:r>
              <a:rPr lang="zh-CN" altLang="en-US" sz="2400" b="1" dirty="0"/>
              <a:t>正电荷载流子的霍尔电压应为两倍。</a:t>
            </a:r>
            <a:endParaRPr lang="en-US" altLang="zh-CN" sz="2400" b="1" dirty="0"/>
          </a:p>
        </p:txBody>
      </p:sp>
      <p:sp>
        <p:nvSpPr>
          <p:cNvPr id="6" name="文本框 5"/>
          <p:cNvSpPr txBox="1"/>
          <p:nvPr>
            <p:custDataLst>
              <p:tags r:id="rId5"/>
            </p:custDataLst>
          </p:nvPr>
        </p:nvSpPr>
        <p:spPr>
          <a:xfrm>
            <a:off x="2026920" y="3883343"/>
            <a:ext cx="8534400" cy="642938"/>
          </a:xfrm>
          <a:prstGeom prst="rect">
            <a:avLst/>
          </a:prstGeom>
          <a:noFill/>
        </p:spPr>
        <p:txBody>
          <a:bodyPr vert="horz" rtlCol="0" anchor="ctr" anchorCtr="0">
            <a:noAutofit/>
          </a:bodyPr>
          <a:lstStyle/>
          <a:p>
            <a:pPr>
              <a:lnSpc>
                <a:spcPct val="125000"/>
              </a:lnSpc>
            </a:pPr>
            <a:r>
              <a:rPr lang="zh-CN" altLang="en-US" sz="2400" b="1" dirty="0"/>
              <a:t>负电荷载流子的霍尔电压将加倍。</a:t>
            </a:r>
            <a:endParaRPr lang="en-US" altLang="zh-CN" sz="2400" b="1" dirty="0"/>
          </a:p>
        </p:txBody>
      </p:sp>
      <p:sp>
        <p:nvSpPr>
          <p:cNvPr id="7" name="文本框 6"/>
          <p:cNvSpPr txBox="1"/>
          <p:nvPr>
            <p:custDataLst>
              <p:tags r:id="rId6"/>
            </p:custDataLst>
          </p:nvPr>
        </p:nvSpPr>
        <p:spPr>
          <a:xfrm>
            <a:off x="2026920" y="4569143"/>
            <a:ext cx="8534400" cy="642938"/>
          </a:xfrm>
          <a:prstGeom prst="rect">
            <a:avLst/>
          </a:prstGeom>
          <a:noFill/>
        </p:spPr>
        <p:txBody>
          <a:bodyPr vert="horz" rtlCol="0" anchor="ctr" anchorCtr="0">
            <a:noAutofit/>
          </a:bodyPr>
          <a:lstStyle/>
          <a:p>
            <a:pPr>
              <a:lnSpc>
                <a:spcPct val="125000"/>
              </a:lnSpc>
            </a:pPr>
            <a:r>
              <a:rPr lang="zh-CN" altLang="en-US" sz="2400" b="1" dirty="0"/>
              <a:t>电压的极性将反转。</a:t>
            </a:r>
            <a:endParaRPr lang="en-US" altLang="zh-CN" sz="2400" b="1" dirty="0"/>
          </a:p>
        </p:txBody>
      </p:sp>
      <p:sp>
        <p:nvSpPr>
          <p:cNvPr id="8" name="椭圆 7"/>
          <p:cNvSpPr>
            <a:spLocks noChangeAspect="1"/>
          </p:cNvSpPr>
          <p:nvPr>
            <p:custDataLst>
              <p:tags r:id="rId7"/>
            </p:custDataLst>
          </p:nvPr>
        </p:nvSpPr>
        <p:spPr>
          <a:xfrm>
            <a:off x="1160145" y="257603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1160145" y="326183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1160145" y="394763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1160145" y="463343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9" name="文本框 18"/>
          <p:cNvSpPr txBox="1"/>
          <p:nvPr>
            <p:custDataLst>
              <p:tags r:id="rId12"/>
            </p:custDataLst>
          </p:nvPr>
        </p:nvSpPr>
        <p:spPr>
          <a:xfrm>
            <a:off x="2026920" y="5254943"/>
            <a:ext cx="8534400" cy="642938"/>
          </a:xfrm>
          <a:prstGeom prst="rect">
            <a:avLst/>
          </a:prstGeom>
          <a:noFill/>
        </p:spPr>
        <p:txBody>
          <a:bodyPr vert="horz" rtlCol="0" anchor="ctr" anchorCtr="0">
            <a:noAutofit/>
          </a:bodyPr>
          <a:lstStyle/>
          <a:p>
            <a:pPr>
              <a:lnSpc>
                <a:spcPct val="125000"/>
              </a:lnSpc>
            </a:pPr>
            <a:r>
              <a:rPr lang="zh-CN" altLang="en-US" sz="2400" b="1" dirty="0"/>
              <a:t>不能测量正电荷载流子的霍尔电压。</a:t>
            </a:r>
            <a:endParaRPr lang="zh-CN" altLang="zh-CN" sz="2400" b="1" dirty="0"/>
          </a:p>
        </p:txBody>
      </p:sp>
      <p:sp>
        <p:nvSpPr>
          <p:cNvPr id="20" name="椭圆 19"/>
          <p:cNvSpPr>
            <a:spLocks noChangeAspect="1"/>
          </p:cNvSpPr>
          <p:nvPr>
            <p:custDataLst>
              <p:tags r:id="rId13"/>
            </p:custDataLst>
          </p:nvPr>
        </p:nvSpPr>
        <p:spPr>
          <a:xfrm>
            <a:off x="1160145" y="531923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E</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7" name="组合 16"/>
          <p:cNvGrpSpPr/>
          <p:nvPr>
            <p:custDataLst>
              <p:tags r:id="rId14"/>
            </p:custDataLst>
          </p:nvPr>
        </p:nvGrpSpPr>
        <p:grpSpPr>
          <a:xfrm>
            <a:off x="0" y="0"/>
            <a:ext cx="12192000" cy="635000"/>
            <a:chOff x="0" y="0"/>
            <a:chExt cx="12192000" cy="635000"/>
          </a:xfrm>
        </p:grpSpPr>
        <p:sp>
          <p:nvSpPr>
            <p:cNvPr id="13" name="TitleBackground"/>
            <p:cNvSpPr/>
            <p:nvPr>
              <p:custDataLst>
                <p:tags r:id="rId1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8"/>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TipText"/>
            <p:cNvSpPr txBox="1"/>
            <p:nvPr>
              <p:custDataLst>
                <p:tags r:id="rId19"/>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15"/>
            </p:custDataLst>
          </p:nvPr>
        </p:nvPicPr>
        <p:blipFill>
          <a:blip r:embed="rId2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40309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5787" y="1979449"/>
            <a:ext cx="284480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 name="组合 7"/>
          <p:cNvGrpSpPr/>
          <p:nvPr/>
        </p:nvGrpSpPr>
        <p:grpSpPr>
          <a:xfrm>
            <a:off x="357498" y="2458934"/>
            <a:ext cx="11567802" cy="4074596"/>
            <a:chOff x="96674" y="2458934"/>
            <a:chExt cx="9036496" cy="3904492"/>
          </a:xfrm>
        </p:grpSpPr>
        <p:pic>
          <p:nvPicPr>
            <p:cNvPr id="2" name="图片 1"/>
            <p:cNvPicPr>
              <a:picLocks noChangeAspect="1"/>
            </p:cNvPicPr>
            <p:nvPr/>
          </p:nvPicPr>
          <p:blipFill rotWithShape="1">
            <a:blip r:embed="rId4" cstate="print"/>
            <a:srcRect l="1016"/>
            <a:stretch/>
          </p:blipFill>
          <p:spPr>
            <a:xfrm>
              <a:off x="96674" y="2458934"/>
              <a:ext cx="9036496" cy="3006928"/>
            </a:xfrm>
            <a:prstGeom prst="rect">
              <a:avLst/>
            </a:prstGeom>
          </p:spPr>
        </p:pic>
        <p:sp>
          <p:nvSpPr>
            <p:cNvPr id="4" name="文本框 3"/>
            <p:cNvSpPr txBox="1"/>
            <p:nvPr/>
          </p:nvSpPr>
          <p:spPr>
            <a:xfrm>
              <a:off x="130840" y="5390164"/>
              <a:ext cx="8407073" cy="973262"/>
            </a:xfrm>
            <a:prstGeom prst="rect">
              <a:avLst/>
            </a:prstGeom>
            <a:noFill/>
          </p:spPr>
          <p:txBody>
            <a:bodyPr wrap="square" rtlCol="0">
              <a:spAutoFit/>
            </a:bodyPr>
            <a:lstStyle/>
            <a:p>
              <a:pPr>
                <a:lnSpc>
                  <a:spcPct val="125000"/>
                </a:lnSpc>
              </a:pPr>
              <a:r>
                <a:rPr lang="zh-CN" altLang="en-US" sz="2400" b="1" dirty="0" smtClean="0"/>
                <a:t>图</a:t>
              </a:r>
              <a:r>
                <a:rPr lang="en-US" altLang="zh-CN" sz="2400" b="1" dirty="0" smtClean="0"/>
                <a:t>19.29  a</a:t>
              </a:r>
              <a:r>
                <a:rPr lang="zh-CN" altLang="en-US" sz="2400" b="1" dirty="0" smtClean="0"/>
                <a:t>）在匀强磁场中的矩形线圈。</a:t>
              </a:r>
              <a:r>
                <a:rPr lang="en-US" altLang="zh-CN" sz="2400" b="1" dirty="0" smtClean="0"/>
                <a:t>b</a:t>
              </a:r>
              <a:r>
                <a:rPr lang="zh-CN" altLang="en-US" sz="2400" b="1" dirty="0" smtClean="0"/>
                <a:t>）同一线圈在磁场中转动后的俯视图。</a:t>
              </a:r>
              <a:endParaRPr lang="en-US" altLang="zh-CN" sz="2400" b="1" dirty="0" smtClean="0"/>
            </a:p>
            <a:p>
              <a:pPr>
                <a:lnSpc>
                  <a:spcPct val="125000"/>
                </a:lnSpc>
              </a:pPr>
              <a:r>
                <a:rPr lang="en-US" altLang="zh-CN" sz="2400" b="1" dirty="0" smtClean="0"/>
                <a:t>c</a:t>
              </a:r>
              <a:r>
                <a:rPr lang="zh-CN" altLang="en-US" sz="2400" b="1" dirty="0" smtClean="0"/>
                <a:t>）使用右手螺旋法则来选择垂直方向。由此测量</a:t>
              </a:r>
              <a:r>
                <a:rPr lang="en-US" altLang="zh-CN" sz="2400" b="1" dirty="0" smtClean="0"/>
                <a:t>θ.</a:t>
              </a:r>
              <a:endParaRPr lang="zh-CN" altLang="en-US" sz="2400" b="1" dirty="0"/>
            </a:p>
          </p:txBody>
        </p:sp>
      </p:grpSp>
      <p:sp>
        <p:nvSpPr>
          <p:cNvPr id="5" name="Text Box 3"/>
          <p:cNvSpPr txBox="1">
            <a:spLocks noChangeArrowheads="1"/>
          </p:cNvSpPr>
          <p:nvPr/>
        </p:nvSpPr>
        <p:spPr bwMode="auto">
          <a:xfrm>
            <a:off x="2116667" y="36374"/>
            <a:ext cx="85344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762000">
              <a:spcBef>
                <a:spcPts val="1400"/>
              </a:spcBef>
              <a:defRPr sz="1800"/>
            </a:pPr>
            <a:r>
              <a:rPr lang="en-US" altLang="zh-CN" sz="3200" b="1" dirty="0" smtClean="0">
                <a:solidFill>
                  <a:srgbClr val="000099"/>
                </a:solidFill>
                <a:latin typeface="黑体" pitchFamily="49" charset="-122"/>
                <a:ea typeface="黑体" pitchFamily="49" charset="-122"/>
                <a:cs typeface="SimHei"/>
                <a:sym typeface="SimHei"/>
              </a:rPr>
              <a:t>§19.7  </a:t>
            </a:r>
            <a:r>
              <a:rPr lang="zh-CN" altLang="en-US" sz="3200" b="1" dirty="0">
                <a:solidFill>
                  <a:srgbClr val="000099"/>
                </a:solidFill>
                <a:latin typeface="黑体" pitchFamily="49" charset="-122"/>
                <a:ea typeface="黑体" pitchFamily="49" charset="-122"/>
                <a:cs typeface="SimHei"/>
                <a:sym typeface="SimHei"/>
              </a:rPr>
              <a:t>载流线圈受到的力矩</a:t>
            </a:r>
          </a:p>
        </p:txBody>
      </p:sp>
      <p:sp>
        <p:nvSpPr>
          <p:cNvPr id="6" name="文本框 5"/>
          <p:cNvSpPr txBox="1"/>
          <p:nvPr/>
        </p:nvSpPr>
        <p:spPr>
          <a:xfrm>
            <a:off x="135062" y="710166"/>
            <a:ext cx="7414209" cy="523220"/>
          </a:xfrm>
          <a:prstGeom prst="rect">
            <a:avLst/>
          </a:prstGeom>
          <a:noFill/>
        </p:spPr>
        <p:txBody>
          <a:bodyPr wrap="none" rtlCol="0">
            <a:spAutoFit/>
          </a:bodyPr>
          <a:lstStyle/>
          <a:p>
            <a:r>
              <a:rPr lang="zh-CN" altLang="en-US" sz="2800" b="1" dirty="0" smtClean="0">
                <a:latin typeface="Times New Roman" panose="02020603050405020304" pitchFamily="18" charset="0"/>
                <a:cs typeface="Times New Roman" panose="02020603050405020304" pitchFamily="18" charset="0"/>
              </a:rPr>
              <a:t>一个在匀强磁场 </a:t>
            </a:r>
            <a:r>
              <a:rPr lang="en-US" altLang="zh-CN" sz="2800" b="1" i="1" dirty="0" smtClean="0">
                <a:latin typeface="Times New Roman" panose="02020603050405020304" pitchFamily="18" charset="0"/>
                <a:cs typeface="Times New Roman" panose="02020603050405020304" pitchFamily="18" charset="0"/>
              </a:rPr>
              <a:t>B </a:t>
            </a:r>
            <a:r>
              <a:rPr lang="zh-CN" altLang="en-US" sz="2800" b="1" dirty="0" smtClean="0">
                <a:latin typeface="Times New Roman" panose="02020603050405020304" pitchFamily="18" charset="0"/>
                <a:cs typeface="Times New Roman" panose="02020603050405020304" pitchFamily="18" charset="0"/>
              </a:rPr>
              <a:t>中通有电流 </a:t>
            </a:r>
            <a:r>
              <a:rPr lang="en-US" altLang="zh-CN" sz="2800" b="1" i="1" dirty="0" smtClean="0">
                <a:latin typeface="Times New Roman" panose="02020603050405020304" pitchFamily="18" charset="0"/>
                <a:cs typeface="Times New Roman" panose="02020603050405020304" pitchFamily="18" charset="0"/>
              </a:rPr>
              <a:t>I </a:t>
            </a:r>
            <a:r>
              <a:rPr lang="zh-CN" altLang="en-US" sz="2800" b="1" dirty="0" smtClean="0">
                <a:latin typeface="Times New Roman" panose="02020603050405020304" pitchFamily="18" charset="0"/>
                <a:cs typeface="Times New Roman" panose="02020603050405020304" pitchFamily="18" charset="0"/>
              </a:rPr>
              <a:t>的矩形线圈。</a:t>
            </a:r>
            <a:endParaRPr lang="zh-CN" altLang="en-US" sz="2800" b="1"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135062" y="1278431"/>
            <a:ext cx="9198352" cy="523220"/>
          </a:xfrm>
          <a:prstGeom prst="rect">
            <a:avLst/>
          </a:prstGeom>
          <a:noFill/>
        </p:spPr>
        <p:txBody>
          <a:bodyPr wrap="none" rtlCol="0">
            <a:spAutoFit/>
          </a:bodyPr>
          <a:lstStyle/>
          <a:p>
            <a:r>
              <a:rPr lang="zh-CN" altLang="en-US" sz="2800" b="1" dirty="0" smtClean="0">
                <a:latin typeface="Times New Roman" panose="02020603050405020304" pitchFamily="18" charset="0"/>
                <a:cs typeface="Times New Roman" panose="02020603050405020304" pitchFamily="18" charset="0"/>
              </a:rPr>
              <a:t>边</a:t>
            </a:r>
            <a:r>
              <a:rPr lang="en-US" altLang="zh-CN" sz="2800" b="1" dirty="0" smtClean="0">
                <a:latin typeface="Times New Roman" panose="02020603050405020304" pitchFamily="18" charset="0"/>
                <a:cs typeface="Times New Roman" panose="02020603050405020304" pitchFamily="18" charset="0"/>
              </a:rPr>
              <a:t>1</a:t>
            </a:r>
            <a:r>
              <a:rPr lang="zh-CN" altLang="en-US" sz="2800" b="1" dirty="0" smtClean="0">
                <a:latin typeface="Times New Roman" panose="02020603050405020304" pitchFamily="18" charset="0"/>
                <a:cs typeface="Times New Roman" panose="02020603050405020304" pitchFamily="18" charset="0"/>
              </a:rPr>
              <a:t>和边</a:t>
            </a:r>
            <a:r>
              <a:rPr lang="en-US" altLang="zh-CN" sz="2800" b="1" dirty="0" smtClean="0">
                <a:latin typeface="Times New Roman" panose="02020603050405020304" pitchFamily="18" charset="0"/>
                <a:cs typeface="Times New Roman" panose="02020603050405020304" pitchFamily="18" charset="0"/>
              </a:rPr>
              <a:t>3</a:t>
            </a:r>
            <a:r>
              <a:rPr lang="zh-CN" altLang="en-US" sz="2800" b="1" dirty="0" smtClean="0">
                <a:latin typeface="Times New Roman" panose="02020603050405020304" pitchFamily="18" charset="0"/>
                <a:cs typeface="Times New Roman" panose="02020603050405020304" pitchFamily="18" charset="0"/>
              </a:rPr>
              <a:t>不受磁力作用，而边</a:t>
            </a:r>
            <a:r>
              <a:rPr lang="en-US" altLang="zh-CN" sz="2800" b="1" dirty="0" smtClean="0">
                <a:latin typeface="Times New Roman" panose="02020603050405020304" pitchFamily="18" charset="0"/>
                <a:cs typeface="Times New Roman" panose="02020603050405020304" pitchFamily="18" charset="0"/>
              </a:rPr>
              <a:t>2</a:t>
            </a:r>
            <a:r>
              <a:rPr lang="zh-CN" altLang="en-US" sz="2800" b="1" dirty="0" smtClean="0">
                <a:latin typeface="Times New Roman" panose="02020603050405020304" pitchFamily="18" charset="0"/>
                <a:cs typeface="Times New Roman" panose="02020603050405020304" pitchFamily="18" charset="0"/>
              </a:rPr>
              <a:t>和边</a:t>
            </a:r>
            <a:r>
              <a:rPr lang="en-US" altLang="zh-CN" sz="2800" b="1" dirty="0" smtClean="0">
                <a:latin typeface="Times New Roman" panose="02020603050405020304" pitchFamily="18" charset="0"/>
                <a:cs typeface="Times New Roman" panose="02020603050405020304" pitchFamily="18" charset="0"/>
              </a:rPr>
              <a:t>4</a:t>
            </a:r>
            <a:r>
              <a:rPr lang="zh-CN" altLang="en-US" sz="2800" b="1" dirty="0" smtClean="0">
                <a:latin typeface="Times New Roman" panose="02020603050405020304" pitchFamily="18" charset="0"/>
                <a:cs typeface="Times New Roman" panose="02020603050405020304" pitchFamily="18" charset="0"/>
              </a:rPr>
              <a:t>所受的磁力大小为：</a:t>
            </a:r>
            <a:endParaRPr lang="zh-C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84115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3328" y="354221"/>
            <a:ext cx="3791423" cy="523220"/>
          </a:xfrm>
          <a:prstGeom prst="rect">
            <a:avLst/>
          </a:prstGeom>
          <a:noFill/>
        </p:spPr>
        <p:txBody>
          <a:bodyPr wrap="none" rtlCol="0">
            <a:spAutoFit/>
          </a:bodyPr>
          <a:lstStyle/>
          <a:p>
            <a:r>
              <a:rPr lang="zh-CN" altLang="en-US" sz="2800" b="1" dirty="0" smtClean="0">
                <a:latin typeface="Times New Roman" panose="02020603050405020304" pitchFamily="18" charset="0"/>
                <a:cs typeface="Times New Roman" panose="02020603050405020304" pitchFamily="18" charset="0"/>
              </a:rPr>
              <a:t>这两个力的力矩均为：</a:t>
            </a:r>
            <a:endParaRPr lang="zh-CN" altLang="en-US" sz="2800" b="1" dirty="0">
              <a:latin typeface="Times New Roman" panose="02020603050405020304" pitchFamily="18" charset="0"/>
              <a:cs typeface="Times New Roman" panose="02020603050405020304" pitchFamily="18" charset="0"/>
            </a:endParaRPr>
          </a:p>
        </p:txBody>
      </p:sp>
      <p:sp>
        <p:nvSpPr>
          <p:cNvPr id="3" name="文本框 2"/>
          <p:cNvSpPr txBox="1"/>
          <p:nvPr/>
        </p:nvSpPr>
        <p:spPr>
          <a:xfrm>
            <a:off x="1396964" y="908721"/>
            <a:ext cx="5732660" cy="954107"/>
          </a:xfrm>
          <a:prstGeom prst="rect">
            <a:avLst/>
          </a:prstGeom>
          <a:noFill/>
        </p:spPr>
        <p:txBody>
          <a:bodyPr wrap="none" rtlCol="0">
            <a:spAutoFit/>
          </a:bodyPr>
          <a:lstStyle/>
          <a:p>
            <a:r>
              <a:rPr lang="zh-CN" altLang="en-US" sz="2800" b="1" dirty="0" smtClean="0">
                <a:latin typeface="Times New Roman" panose="02020603050405020304" pitchFamily="18" charset="0"/>
                <a:cs typeface="Times New Roman" panose="02020603050405020304" pitchFamily="18" charset="0"/>
              </a:rPr>
              <a:t>力的大小</a:t>
            </a:r>
            <a:r>
              <a:rPr lang="en-US" altLang="zh-CN" sz="2800" b="1" dirty="0"/>
              <a:t>×</a:t>
            </a:r>
            <a:r>
              <a:rPr lang="zh-CN" altLang="en-US" sz="2800" b="1" dirty="0" smtClean="0">
                <a:latin typeface="Times New Roman" panose="02020603050405020304" pitchFamily="18" charset="0"/>
                <a:cs typeface="Times New Roman" panose="02020603050405020304" pitchFamily="18" charset="0"/>
              </a:rPr>
              <a:t>力臂 </a:t>
            </a:r>
            <a:r>
              <a:rPr lang="en-US" altLang="zh-CN" sz="2800" b="1" dirty="0" smtClean="0">
                <a:latin typeface="Times New Roman" panose="02020603050405020304" pitchFamily="18" charset="0"/>
                <a:cs typeface="Times New Roman" panose="02020603050405020304" pitchFamily="18" charset="0"/>
              </a:rPr>
              <a:t>= </a:t>
            </a:r>
            <a:r>
              <a:rPr lang="en-US" altLang="zh-CN" sz="2800" b="1" i="1" dirty="0" smtClean="0">
                <a:latin typeface="Times New Roman" panose="02020603050405020304" pitchFamily="18" charset="0"/>
                <a:cs typeface="Times New Roman" panose="02020603050405020304" pitchFamily="18" charset="0"/>
              </a:rPr>
              <a:t>F</a:t>
            </a:r>
            <a:r>
              <a:rPr lang="en-US" altLang="zh-CN" sz="2800" b="1" dirty="0" smtClean="0"/>
              <a:t>×</a:t>
            </a:r>
            <a:r>
              <a:rPr lang="en-US" altLang="zh-CN" sz="2800" b="1" i="1" dirty="0" smtClean="0">
                <a:latin typeface="Times New Roman" panose="02020603050405020304" pitchFamily="18" charset="0"/>
                <a:cs typeface="Times New Roman" panose="02020603050405020304" pitchFamily="18" charset="0"/>
              </a:rPr>
              <a:t>b</a:t>
            </a:r>
            <a:r>
              <a:rPr lang="en-US" altLang="zh-CN" sz="2800" b="1" dirty="0" smtClean="0">
                <a:latin typeface="Times New Roman" panose="02020603050405020304" pitchFamily="18" charset="0"/>
                <a:cs typeface="Times New Roman" panose="02020603050405020304" pitchFamily="18" charset="0"/>
              </a:rPr>
              <a:t>/2 = </a:t>
            </a:r>
            <a:r>
              <a:rPr lang="en-US" altLang="zh-CN" sz="2800" b="1" i="1" dirty="0" smtClean="0">
                <a:latin typeface="Times New Roman" panose="02020603050405020304" pitchFamily="18" charset="0"/>
                <a:cs typeface="Times New Roman" panose="02020603050405020304" pitchFamily="18" charset="0"/>
              </a:rPr>
              <a:t>IabB</a:t>
            </a:r>
            <a:r>
              <a:rPr lang="en-US" altLang="zh-CN" sz="2800" b="1" dirty="0" smtClean="0">
                <a:latin typeface="Times New Roman" panose="02020603050405020304" pitchFamily="18" charset="0"/>
                <a:cs typeface="Times New Roman" panose="02020603050405020304" pitchFamily="18" charset="0"/>
              </a:rPr>
              <a:t>/2  </a:t>
            </a:r>
          </a:p>
          <a:p>
            <a:r>
              <a:rPr lang="en-US" altLang="zh-CN" sz="2800" b="1" dirty="0" smtClean="0">
                <a:latin typeface="Times New Roman" panose="02020603050405020304" pitchFamily="18" charset="0"/>
                <a:cs typeface="Times New Roman" panose="02020603050405020304" pitchFamily="18" charset="0"/>
              </a:rPr>
              <a:t>       (</a:t>
            </a:r>
            <a:r>
              <a:rPr lang="zh-CN" altLang="en-US" sz="2800" b="1" dirty="0" smtClean="0">
                <a:latin typeface="Times New Roman" panose="02020603050405020304" pitchFamily="18" charset="0"/>
                <a:cs typeface="Times New Roman" panose="02020603050405020304" pitchFamily="18" charset="0"/>
              </a:rPr>
              <a:t>这里</a:t>
            </a:r>
            <a:r>
              <a:rPr lang="en-US" altLang="zh-CN" sz="2800" b="1" dirty="0" smtClean="0"/>
              <a:t>×</a:t>
            </a:r>
            <a:r>
              <a:rPr lang="zh-CN" altLang="en-US" sz="2800" b="1" dirty="0" smtClean="0"/>
              <a:t>仅表示乘积符号）</a:t>
            </a:r>
            <a:endParaRPr lang="zh-CN" altLang="en-US" sz="2800" b="1"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0" y="2001591"/>
            <a:ext cx="9305881" cy="507831"/>
          </a:xfrm>
          <a:prstGeom prst="rect">
            <a:avLst/>
          </a:prstGeom>
          <a:noFill/>
        </p:spPr>
        <p:txBody>
          <a:bodyPr wrap="none" rtlCol="0">
            <a:spAutoFit/>
          </a:bodyPr>
          <a:lstStyle/>
          <a:p>
            <a:r>
              <a:rPr lang="zh-CN" altLang="en-US" sz="2700" b="1" dirty="0" smtClean="0">
                <a:latin typeface="Times New Roman" panose="02020603050405020304" pitchFamily="18" charset="0"/>
                <a:cs typeface="Times New Roman" panose="02020603050405020304" pitchFamily="18" charset="0"/>
              </a:rPr>
              <a:t>则对该线圈的总力矩为</a:t>
            </a:r>
            <a:r>
              <a:rPr lang="el-GR" altLang="zh-CN" sz="2700" b="1" i="1" dirty="0" smtClean="0">
                <a:latin typeface="Times New Roman" panose="02020603050405020304" pitchFamily="18" charset="0"/>
                <a:cs typeface="Times New Roman" panose="02020603050405020304" pitchFamily="18" charset="0"/>
              </a:rPr>
              <a:t>τ</a:t>
            </a:r>
            <a:r>
              <a:rPr lang="en-US" altLang="zh-CN" sz="2700" b="1" i="1" dirty="0" smtClean="0">
                <a:latin typeface="Times New Roman" panose="02020603050405020304" pitchFamily="18" charset="0"/>
                <a:cs typeface="Times New Roman" panose="02020603050405020304" pitchFamily="18" charset="0"/>
              </a:rPr>
              <a:t> </a:t>
            </a:r>
            <a:r>
              <a:rPr lang="en-US" altLang="zh-CN" sz="2700" b="1" dirty="0" smtClean="0">
                <a:latin typeface="Times New Roman" panose="02020603050405020304" pitchFamily="18" charset="0"/>
                <a:cs typeface="Times New Roman" panose="02020603050405020304" pitchFamily="18" charset="0"/>
              </a:rPr>
              <a:t>= </a:t>
            </a:r>
            <a:r>
              <a:rPr lang="en-US" altLang="zh-CN" sz="2700" b="1" i="1" dirty="0" err="1" smtClean="0">
                <a:latin typeface="Times New Roman" panose="02020603050405020304" pitchFamily="18" charset="0"/>
                <a:cs typeface="Times New Roman" panose="02020603050405020304" pitchFamily="18" charset="0"/>
              </a:rPr>
              <a:t>IabB</a:t>
            </a:r>
            <a:r>
              <a:rPr lang="zh-CN" altLang="en-US" sz="2700" b="1" dirty="0" smtClean="0">
                <a:latin typeface="Times New Roman" panose="02020603050405020304" pitchFamily="18" charset="0"/>
                <a:cs typeface="Times New Roman" panose="02020603050405020304" pitchFamily="18" charset="0"/>
              </a:rPr>
              <a:t>。该矩形线圈的面积为</a:t>
            </a:r>
            <a:r>
              <a:rPr lang="en-US" altLang="zh-CN" sz="2700" b="1" i="1" dirty="0" smtClean="0">
                <a:latin typeface="Times New Roman" panose="02020603050405020304" pitchFamily="18" charset="0"/>
                <a:cs typeface="Times New Roman" panose="02020603050405020304" pitchFamily="18" charset="0"/>
              </a:rPr>
              <a:t>A </a:t>
            </a:r>
            <a:r>
              <a:rPr lang="en-US" altLang="zh-CN" sz="2700" b="1" dirty="0" smtClean="0">
                <a:latin typeface="Times New Roman" panose="02020603050405020304" pitchFamily="18" charset="0"/>
                <a:cs typeface="Times New Roman" panose="02020603050405020304" pitchFamily="18" charset="0"/>
              </a:rPr>
              <a:t>= </a:t>
            </a:r>
            <a:r>
              <a:rPr lang="en-US" altLang="zh-CN" sz="2700" b="1" i="1" dirty="0" err="1" smtClean="0">
                <a:latin typeface="Times New Roman" panose="02020603050405020304" pitchFamily="18" charset="0"/>
                <a:cs typeface="Times New Roman" panose="02020603050405020304" pitchFamily="18" charset="0"/>
              </a:rPr>
              <a:t>ab</a:t>
            </a:r>
            <a:endParaRPr lang="zh-CN" altLang="en-US" sz="2700" b="1" i="1" dirty="0">
              <a:latin typeface="Times New Roman" panose="02020603050405020304" pitchFamily="18" charset="0"/>
              <a:cs typeface="Times New Roman" panose="02020603050405020304" pitchFamily="18" charset="0"/>
            </a:endParaRPr>
          </a:p>
        </p:txBody>
      </p:sp>
      <p:sp>
        <p:nvSpPr>
          <p:cNvPr id="5" name="文本框 4"/>
          <p:cNvSpPr txBox="1"/>
          <p:nvPr/>
        </p:nvSpPr>
        <p:spPr>
          <a:xfrm>
            <a:off x="4175787" y="2564904"/>
            <a:ext cx="1705916" cy="523220"/>
          </a:xfrm>
          <a:prstGeom prst="rect">
            <a:avLst/>
          </a:prstGeom>
          <a:noFill/>
        </p:spPr>
        <p:txBody>
          <a:bodyPr wrap="none" rtlCol="0">
            <a:spAutoFit/>
          </a:bodyPr>
          <a:lstStyle/>
          <a:p>
            <a:r>
              <a:rPr lang="zh-CN" altLang="en-US" sz="2800" b="1" dirty="0" smtClean="0">
                <a:latin typeface="Times New Roman" panose="02020603050405020304" pitchFamily="18" charset="0"/>
                <a:cs typeface="Times New Roman" panose="02020603050405020304" pitchFamily="18" charset="0"/>
              </a:rPr>
              <a:t>则</a:t>
            </a:r>
            <a:r>
              <a:rPr lang="el-GR" altLang="zh-CN" sz="2800" b="1" i="1" dirty="0">
                <a:latin typeface="Times New Roman" panose="02020603050405020304" pitchFamily="18" charset="0"/>
                <a:cs typeface="Times New Roman" panose="02020603050405020304" pitchFamily="18" charset="0"/>
              </a:rPr>
              <a:t>τ</a:t>
            </a:r>
            <a:r>
              <a:rPr lang="en-US" altLang="zh-CN" sz="2800" b="1" i="1" dirty="0">
                <a:latin typeface="Times New Roman" panose="02020603050405020304" pitchFamily="18" charset="0"/>
                <a:cs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rPr>
              <a:t>= </a:t>
            </a:r>
            <a:r>
              <a:rPr lang="en-US" altLang="zh-CN" sz="2800" b="1" i="1" dirty="0" smtClean="0">
                <a:latin typeface="Times New Roman" panose="02020603050405020304" pitchFamily="18" charset="0"/>
                <a:cs typeface="Times New Roman" panose="02020603050405020304" pitchFamily="18" charset="0"/>
              </a:rPr>
              <a:t>IAB</a:t>
            </a:r>
            <a:endParaRPr lang="zh-CN" altLang="en-US" sz="2800" b="1" dirty="0">
              <a:latin typeface="Times New Roman" panose="02020603050405020304" pitchFamily="18" charset="0"/>
              <a:cs typeface="Times New Roman" panose="02020603050405020304" pitchFamily="18" charset="0"/>
            </a:endParaRPr>
          </a:p>
        </p:txBody>
      </p:sp>
      <p:sp>
        <p:nvSpPr>
          <p:cNvPr id="6" name="文本框 5"/>
          <p:cNvSpPr txBox="1"/>
          <p:nvPr/>
        </p:nvSpPr>
        <p:spPr>
          <a:xfrm>
            <a:off x="161867" y="3469800"/>
            <a:ext cx="7657866" cy="523220"/>
          </a:xfrm>
          <a:prstGeom prst="rect">
            <a:avLst/>
          </a:prstGeom>
          <a:noFill/>
        </p:spPr>
        <p:txBody>
          <a:bodyPr wrap="none" rtlCol="0">
            <a:spAutoFit/>
          </a:bodyPr>
          <a:lstStyle/>
          <a:p>
            <a:r>
              <a:rPr lang="zh-CN" altLang="en-US" sz="2800" b="1" dirty="0" smtClean="0">
                <a:latin typeface="Times New Roman" panose="02020603050405020304" pitchFamily="18" charset="0"/>
                <a:cs typeface="Times New Roman" panose="02020603050405020304" pitchFamily="18" charset="0"/>
              </a:rPr>
              <a:t>若不是单匝而是</a:t>
            </a:r>
            <a:r>
              <a:rPr lang="en-US" altLang="zh-CN" sz="2800" b="1" dirty="0" smtClean="0">
                <a:latin typeface="Times New Roman" panose="02020603050405020304" pitchFamily="18" charset="0"/>
                <a:cs typeface="Times New Roman" panose="02020603050405020304" pitchFamily="18" charset="0"/>
              </a:rPr>
              <a:t>N</a:t>
            </a:r>
            <a:r>
              <a:rPr lang="zh-CN" altLang="en-US" sz="2800" b="1" dirty="0" smtClean="0">
                <a:latin typeface="Times New Roman" panose="02020603050405020304" pitchFamily="18" charset="0"/>
                <a:cs typeface="Times New Roman" panose="02020603050405020304" pitchFamily="18" charset="0"/>
              </a:rPr>
              <a:t>匝线圈，则对线圈的磁力矩为</a:t>
            </a:r>
            <a:endParaRPr lang="zh-CN" altLang="en-US" sz="2800" b="1"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4175787" y="4149080"/>
            <a:ext cx="1604927" cy="523220"/>
          </a:xfrm>
          <a:prstGeom prst="rect">
            <a:avLst/>
          </a:prstGeom>
          <a:noFill/>
        </p:spPr>
        <p:txBody>
          <a:bodyPr wrap="none" rtlCol="0">
            <a:spAutoFit/>
          </a:bodyPr>
          <a:lstStyle/>
          <a:p>
            <a:r>
              <a:rPr lang="el-GR" altLang="zh-CN" sz="2800" b="1" i="1" dirty="0" smtClean="0">
                <a:latin typeface="Times New Roman" panose="02020603050405020304" pitchFamily="18" charset="0"/>
                <a:cs typeface="Times New Roman" panose="02020603050405020304" pitchFamily="18" charset="0"/>
              </a:rPr>
              <a:t>τ</a:t>
            </a:r>
            <a:r>
              <a:rPr lang="en-US" altLang="zh-CN" sz="2800" b="1" i="1" dirty="0" smtClean="0">
                <a:latin typeface="Times New Roman" panose="02020603050405020304" pitchFamily="18" charset="0"/>
                <a:cs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rPr>
              <a:t>= </a:t>
            </a:r>
            <a:r>
              <a:rPr lang="en-US" altLang="zh-CN" sz="2800" b="1" i="1" dirty="0" smtClean="0">
                <a:latin typeface="Times New Roman" panose="02020603050405020304" pitchFamily="18" charset="0"/>
                <a:cs typeface="Times New Roman" panose="02020603050405020304" pitchFamily="18" charset="0"/>
              </a:rPr>
              <a:t>NIAB</a:t>
            </a:r>
            <a:endParaRPr lang="zh-CN" altLang="en-US" sz="2800" b="1" dirty="0">
              <a:latin typeface="Times New Roman" panose="02020603050405020304" pitchFamily="18" charset="0"/>
              <a:cs typeface="Times New Roman" panose="02020603050405020304" pitchFamily="18" charset="0"/>
            </a:endParaRPr>
          </a:p>
        </p:txBody>
      </p:sp>
      <p:sp>
        <p:nvSpPr>
          <p:cNvPr id="8" name="文本框 7"/>
          <p:cNvSpPr txBox="1"/>
          <p:nvPr/>
        </p:nvSpPr>
        <p:spPr>
          <a:xfrm>
            <a:off x="239349" y="4725144"/>
            <a:ext cx="7037504" cy="523220"/>
          </a:xfrm>
          <a:prstGeom prst="rect">
            <a:avLst/>
          </a:prstGeom>
          <a:noFill/>
        </p:spPr>
        <p:txBody>
          <a:bodyPr wrap="none" rtlCol="0">
            <a:spAutoFit/>
          </a:bodyPr>
          <a:lstStyle/>
          <a:p>
            <a:r>
              <a:rPr lang="zh-CN" altLang="en-US" sz="2800" b="1" dirty="0" smtClean="0">
                <a:latin typeface="Times New Roman" panose="02020603050405020304" pitchFamily="18" charset="0"/>
                <a:cs typeface="Times New Roman" panose="02020603050405020304" pitchFamily="18" charset="0"/>
              </a:rPr>
              <a:t>该式对任意形状的</a:t>
            </a:r>
            <a:r>
              <a:rPr lang="zh-CN" altLang="en-US" sz="2800" b="1" dirty="0" smtClean="0">
                <a:solidFill>
                  <a:srgbClr val="FF0000"/>
                </a:solidFill>
                <a:latin typeface="Times New Roman" panose="02020603050405020304" pitchFamily="18" charset="0"/>
                <a:cs typeface="Times New Roman" panose="02020603050405020304" pitchFamily="18" charset="0"/>
              </a:rPr>
              <a:t>平面回路或线圈</a:t>
            </a:r>
            <a:r>
              <a:rPr lang="zh-CN" altLang="en-US" sz="2800" b="1" dirty="0" smtClean="0">
                <a:latin typeface="Times New Roman" panose="02020603050405020304" pitchFamily="18" charset="0"/>
                <a:cs typeface="Times New Roman" panose="02020603050405020304" pitchFamily="18" charset="0"/>
              </a:rPr>
              <a:t>都成立。</a:t>
            </a:r>
            <a:endParaRPr lang="zh-CN" altLang="en-US" sz="2800" b="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8512108" y="773608"/>
            <a:ext cx="3311591" cy="461665"/>
          </a:xfrm>
          <a:prstGeom prst="rect">
            <a:avLst/>
          </a:prstGeom>
          <a:noFill/>
        </p:spPr>
        <p:txBody>
          <a:bodyPr wrap="square" rtlCol="0">
            <a:spAutoFit/>
          </a:bodyPr>
          <a:lstStyle/>
          <a:p>
            <a:r>
              <a:rPr lang="zh-CN" altLang="en-US" sz="2400" b="1" dirty="0" smtClean="0">
                <a:solidFill>
                  <a:srgbClr val="FF0000"/>
                </a:solidFill>
              </a:rPr>
              <a:t>磁场与回路平面平行时</a:t>
            </a:r>
            <a:endParaRPr lang="zh-CN" altLang="en-US" sz="2400" b="1" dirty="0">
              <a:solidFill>
                <a:srgbClr val="FF0000"/>
              </a:solidFill>
            </a:endParaRP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2933" y="2564904"/>
            <a:ext cx="4042684" cy="3292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35479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3339" y="367498"/>
            <a:ext cx="11856640" cy="523220"/>
          </a:xfrm>
          <a:prstGeom prst="rect">
            <a:avLst/>
          </a:prstGeom>
          <a:noFill/>
        </p:spPr>
        <p:txBody>
          <a:bodyPr wrap="square" rtlCol="0">
            <a:spAutoFit/>
          </a:bodyPr>
          <a:lstStyle/>
          <a:p>
            <a:r>
              <a:rPr lang="zh-CN" altLang="en-US" sz="2800" b="1" dirty="0" smtClean="0">
                <a:latin typeface="Times New Roman" panose="02020603050405020304" pitchFamily="18" charset="0"/>
                <a:cs typeface="Times New Roman" panose="02020603050405020304" pitchFamily="18" charset="0"/>
              </a:rPr>
              <a:t>当磁场与回路平面不平行时，如磁场与该电流回路的垂线之间的夹角为</a:t>
            </a:r>
            <a:r>
              <a:rPr lang="el-GR" altLang="zh-CN" sz="2800" b="1" i="1" dirty="0" smtClean="0">
                <a:latin typeface="Times New Roman" panose="02020603050405020304" pitchFamily="18" charset="0"/>
                <a:cs typeface="Times New Roman" panose="02020603050405020304" pitchFamily="18" charset="0"/>
              </a:rPr>
              <a:t>θ</a:t>
            </a:r>
            <a:r>
              <a:rPr lang="zh-CN" altLang="en-US" sz="2800" b="1" dirty="0" smtClean="0">
                <a:latin typeface="Times New Roman" panose="02020603050405020304" pitchFamily="18" charset="0"/>
                <a:cs typeface="Times New Roman" panose="02020603050405020304" pitchFamily="18" charset="0"/>
              </a:rPr>
              <a:t>时，</a:t>
            </a:r>
            <a:endParaRPr lang="zh-CN" altLang="en-US" b="1" dirty="0">
              <a:latin typeface="Times New Roman" panose="02020603050405020304" pitchFamily="18" charset="0"/>
              <a:cs typeface="Times New Roman" panose="02020603050405020304" pitchFamily="18" charset="0"/>
            </a:endParaRPr>
          </a:p>
        </p:txBody>
      </p:sp>
      <p:sp>
        <p:nvSpPr>
          <p:cNvPr id="3" name="文本框 2"/>
          <p:cNvSpPr txBox="1"/>
          <p:nvPr/>
        </p:nvSpPr>
        <p:spPr>
          <a:xfrm>
            <a:off x="455411" y="1111598"/>
            <a:ext cx="6465231" cy="523220"/>
          </a:xfrm>
          <a:prstGeom prst="rect">
            <a:avLst/>
          </a:prstGeom>
          <a:noFill/>
        </p:spPr>
        <p:txBody>
          <a:bodyPr wrap="none" rtlCol="0">
            <a:spAutoFit/>
          </a:bodyPr>
          <a:lstStyle/>
          <a:p>
            <a:r>
              <a:rPr lang="zh-CN" altLang="en-US" sz="2800" b="1" dirty="0" smtClean="0">
                <a:solidFill>
                  <a:srgbClr val="FF0000"/>
                </a:solidFill>
                <a:latin typeface="Times New Roman" panose="02020603050405020304" pitchFamily="18" charset="0"/>
                <a:cs typeface="Times New Roman" panose="02020603050405020304" pitchFamily="18" charset="0"/>
              </a:rPr>
              <a:t>则对电流回路的力矩为      </a:t>
            </a:r>
            <a:r>
              <a:rPr lang="el-GR" altLang="zh-CN" sz="2800" b="1" i="1" dirty="0" smtClean="0">
                <a:solidFill>
                  <a:srgbClr val="FF0000"/>
                </a:solidFill>
                <a:latin typeface="Times New Roman" panose="02020603050405020304" pitchFamily="18" charset="0"/>
                <a:cs typeface="Times New Roman" panose="02020603050405020304" pitchFamily="18" charset="0"/>
              </a:rPr>
              <a:t>τ</a:t>
            </a:r>
            <a:r>
              <a:rPr lang="en-US" altLang="zh-CN" sz="2800" b="1" i="1" dirty="0" smtClean="0">
                <a:solidFill>
                  <a:srgbClr val="FF0000"/>
                </a:solidFill>
                <a:latin typeface="Times New Roman" panose="02020603050405020304" pitchFamily="18" charset="0"/>
                <a:cs typeface="Times New Roman" panose="02020603050405020304" pitchFamily="18" charset="0"/>
              </a:rPr>
              <a:t> </a:t>
            </a:r>
            <a:r>
              <a:rPr lang="en-US" altLang="zh-CN" sz="2800" b="1" dirty="0" smtClean="0">
                <a:solidFill>
                  <a:srgbClr val="FF0000"/>
                </a:solidFill>
                <a:latin typeface="Times New Roman" panose="02020603050405020304" pitchFamily="18" charset="0"/>
                <a:cs typeface="Times New Roman" panose="02020603050405020304" pitchFamily="18" charset="0"/>
              </a:rPr>
              <a:t>=</a:t>
            </a:r>
            <a:r>
              <a:rPr lang="en-US" altLang="zh-CN" sz="2800" b="1" i="1" dirty="0" smtClean="0">
                <a:solidFill>
                  <a:srgbClr val="FF0000"/>
                </a:solidFill>
                <a:latin typeface="Times New Roman" panose="02020603050405020304" pitchFamily="18" charset="0"/>
                <a:cs typeface="Times New Roman" panose="02020603050405020304" pitchFamily="18" charset="0"/>
              </a:rPr>
              <a:t>N</a:t>
            </a:r>
            <a:r>
              <a:rPr lang="en-US" altLang="zh-CN" sz="2800" b="1" dirty="0" smtClean="0">
                <a:solidFill>
                  <a:srgbClr val="FF0000"/>
                </a:solidFill>
                <a:latin typeface="Times New Roman" panose="02020603050405020304" pitchFamily="18" charset="0"/>
                <a:cs typeface="Times New Roman" panose="02020603050405020304" pitchFamily="18" charset="0"/>
              </a:rPr>
              <a:t> </a:t>
            </a:r>
            <a:r>
              <a:rPr lang="en-US" altLang="zh-CN" sz="2800" b="1" i="1" dirty="0" err="1" smtClean="0">
                <a:solidFill>
                  <a:srgbClr val="FF0000"/>
                </a:solidFill>
                <a:latin typeface="Times New Roman" panose="02020603050405020304" pitchFamily="18" charset="0"/>
                <a:cs typeface="Times New Roman" panose="02020603050405020304" pitchFamily="18" charset="0"/>
              </a:rPr>
              <a:t>IAB</a:t>
            </a:r>
            <a:r>
              <a:rPr lang="en-US" altLang="zh-CN" sz="2800" b="1" dirty="0" err="1" smtClean="0">
                <a:solidFill>
                  <a:srgbClr val="FF0000"/>
                </a:solidFill>
                <a:latin typeface="Times New Roman" panose="02020603050405020304" pitchFamily="18" charset="0"/>
                <a:cs typeface="Times New Roman" panose="02020603050405020304" pitchFamily="18" charset="0"/>
              </a:rPr>
              <a:t>sin</a:t>
            </a:r>
            <a:r>
              <a:rPr lang="el-GR" altLang="zh-CN" sz="2800" b="1" i="1" dirty="0" smtClean="0">
                <a:solidFill>
                  <a:srgbClr val="FF0000"/>
                </a:solidFill>
                <a:latin typeface="Times New Roman" panose="02020603050405020304" pitchFamily="18" charset="0"/>
                <a:cs typeface="Times New Roman" panose="02020603050405020304" pitchFamily="18" charset="0"/>
              </a:rPr>
              <a:t>θ</a:t>
            </a:r>
            <a:r>
              <a:rPr lang="el-GR" altLang="zh-CN" sz="2800" b="1" dirty="0" smtClean="0">
                <a:solidFill>
                  <a:srgbClr val="FF0000"/>
                </a:solidFill>
                <a:latin typeface="Times New Roman" panose="02020603050405020304" pitchFamily="18" charset="0"/>
                <a:cs typeface="Times New Roman" panose="02020603050405020304" pitchFamily="18" charset="0"/>
              </a:rPr>
              <a:t> </a:t>
            </a:r>
            <a:endParaRPr lang="zh-CN" altLang="en-US" sz="2800" b="1" i="1" dirty="0">
              <a:solidFill>
                <a:srgbClr val="FF0000"/>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260307" y="1822748"/>
            <a:ext cx="9798093" cy="523220"/>
          </a:xfrm>
          <a:prstGeom prst="rect">
            <a:avLst/>
          </a:prstGeom>
          <a:noFill/>
        </p:spPr>
        <p:txBody>
          <a:bodyPr wrap="square" rtlCol="0">
            <a:spAutoFit/>
          </a:bodyPr>
          <a:lstStyle/>
          <a:p>
            <a:r>
              <a:rPr lang="zh-CN" altLang="en-US" sz="2800" b="1" dirty="0" smtClean="0">
                <a:latin typeface="Times New Roman" panose="02020603050405020304" pitchFamily="18" charset="0"/>
                <a:cs typeface="Times New Roman" panose="02020603050405020304" pitchFamily="18" charset="0"/>
              </a:rPr>
              <a:t>当</a:t>
            </a:r>
            <a:r>
              <a:rPr lang="el-GR" altLang="zh-CN" sz="2800" b="1" i="1" dirty="0">
                <a:latin typeface="Times New Roman" panose="02020603050405020304" pitchFamily="18" charset="0"/>
                <a:cs typeface="Times New Roman" panose="02020603050405020304" pitchFamily="18" charset="0"/>
              </a:rPr>
              <a:t>θ</a:t>
            </a:r>
            <a:r>
              <a:rPr lang="en-US" altLang="zh-CN" sz="2800" b="1" dirty="0">
                <a:latin typeface="Times New Roman" panose="02020603050405020304" pitchFamily="18" charset="0"/>
                <a:cs typeface="Times New Roman" panose="02020603050405020304" pitchFamily="18" charset="0"/>
              </a:rPr>
              <a:t>=90</a:t>
            </a:r>
            <a:r>
              <a:rPr lang="en-US" altLang="zh-CN" sz="2800" b="1" baseline="30000" dirty="0">
                <a:latin typeface="Times New Roman" panose="02020603050405020304" pitchFamily="18" charset="0"/>
                <a:cs typeface="Times New Roman" panose="02020603050405020304" pitchFamily="18" charset="0"/>
              </a:rPr>
              <a:t>0</a:t>
            </a:r>
            <a:r>
              <a:rPr lang="zh-CN" altLang="en-US" sz="2800" b="1" dirty="0">
                <a:latin typeface="Times New Roman" panose="02020603050405020304" pitchFamily="18" charset="0"/>
                <a:cs typeface="Times New Roman" panose="02020603050405020304" pitchFamily="18" charset="0"/>
              </a:rPr>
              <a:t>或</a:t>
            </a:r>
            <a:r>
              <a:rPr lang="en-US" altLang="zh-CN" sz="2800" b="1" dirty="0" smtClean="0">
                <a:latin typeface="Times New Roman" panose="02020603050405020304" pitchFamily="18" charset="0"/>
                <a:cs typeface="Times New Roman" panose="02020603050405020304" pitchFamily="18" charset="0"/>
              </a:rPr>
              <a:t>270</a:t>
            </a:r>
            <a:r>
              <a:rPr lang="en-US" altLang="zh-CN" sz="2800" b="1" baseline="30000" dirty="0" smtClean="0">
                <a:latin typeface="Times New Roman" panose="02020603050405020304" pitchFamily="18" charset="0"/>
                <a:cs typeface="Times New Roman" panose="02020603050405020304" pitchFamily="18" charset="0"/>
              </a:rPr>
              <a:t>0</a:t>
            </a:r>
            <a:r>
              <a:rPr lang="zh-CN" altLang="en-US" sz="2800" b="1" dirty="0" smtClean="0">
                <a:latin typeface="Times New Roman" panose="02020603050405020304" pitchFamily="18" charset="0"/>
                <a:cs typeface="Times New Roman" panose="02020603050405020304" pitchFamily="18" charset="0"/>
              </a:rPr>
              <a:t>时（即磁场在线圈平面上），力矩的值最大。</a:t>
            </a:r>
            <a:endParaRPr lang="zh-CN" altLang="en-US" sz="2800" b="1" dirty="0">
              <a:latin typeface="Times New Roman" panose="02020603050405020304" pitchFamily="18" charset="0"/>
              <a:cs typeface="Times New Roman" panose="02020603050405020304" pitchFamily="18" charset="0"/>
            </a:endParaRPr>
          </a:p>
        </p:txBody>
      </p:sp>
      <p:sp>
        <p:nvSpPr>
          <p:cNvPr id="5" name="文本框 4"/>
          <p:cNvSpPr txBox="1"/>
          <p:nvPr/>
        </p:nvSpPr>
        <p:spPr>
          <a:xfrm>
            <a:off x="260307" y="2465328"/>
            <a:ext cx="9524267" cy="523220"/>
          </a:xfrm>
          <a:prstGeom prst="rect">
            <a:avLst/>
          </a:prstGeom>
          <a:noFill/>
        </p:spPr>
        <p:txBody>
          <a:bodyPr wrap="square" rtlCol="0">
            <a:spAutoFit/>
          </a:bodyPr>
          <a:lstStyle/>
          <a:p>
            <a:r>
              <a:rPr lang="zh-CN" altLang="en-US" sz="2800" b="1" dirty="0" smtClean="0">
                <a:latin typeface="Times New Roman" panose="02020603050405020304" pitchFamily="18" charset="0"/>
                <a:cs typeface="Times New Roman" panose="02020603050405020304" pitchFamily="18" charset="0"/>
              </a:rPr>
              <a:t>当</a:t>
            </a:r>
            <a:r>
              <a:rPr lang="el-GR" altLang="zh-CN" sz="2800" b="1" i="1" dirty="0">
                <a:latin typeface="Times New Roman" panose="02020603050405020304" pitchFamily="18" charset="0"/>
                <a:cs typeface="Times New Roman" panose="02020603050405020304" pitchFamily="18" charset="0"/>
              </a:rPr>
              <a:t>θ</a:t>
            </a:r>
            <a:r>
              <a:rPr lang="en-US" altLang="zh-CN" sz="2800" b="1" dirty="0" smtClean="0">
                <a:latin typeface="Times New Roman" panose="02020603050405020304" pitchFamily="18" charset="0"/>
                <a:cs typeface="Times New Roman" panose="02020603050405020304" pitchFamily="18" charset="0"/>
              </a:rPr>
              <a:t>=0</a:t>
            </a:r>
            <a:r>
              <a:rPr lang="en-US" altLang="zh-CN" sz="2800" b="1" baseline="30000" dirty="0" smtClean="0">
                <a:latin typeface="Times New Roman" panose="02020603050405020304" pitchFamily="18" charset="0"/>
                <a:cs typeface="Times New Roman" panose="02020603050405020304" pitchFamily="18" charset="0"/>
              </a:rPr>
              <a:t>0</a:t>
            </a:r>
            <a:r>
              <a:rPr lang="zh-CN" altLang="en-US" sz="2800" b="1" dirty="0" smtClean="0">
                <a:latin typeface="Times New Roman" panose="02020603050405020304" pitchFamily="18" charset="0"/>
                <a:cs typeface="Times New Roman" panose="02020603050405020304" pitchFamily="18" charset="0"/>
              </a:rPr>
              <a:t>或</a:t>
            </a:r>
            <a:r>
              <a:rPr lang="en-US" altLang="zh-CN" sz="2800" b="1" dirty="0" smtClean="0">
                <a:latin typeface="Times New Roman" panose="02020603050405020304" pitchFamily="18" charset="0"/>
                <a:cs typeface="Times New Roman" panose="02020603050405020304" pitchFamily="18" charset="0"/>
              </a:rPr>
              <a:t>180</a:t>
            </a:r>
            <a:r>
              <a:rPr lang="en-US" altLang="zh-CN" sz="2800" b="1" baseline="30000" dirty="0" smtClean="0">
                <a:latin typeface="Times New Roman" panose="02020603050405020304" pitchFamily="18" charset="0"/>
                <a:cs typeface="Times New Roman" panose="02020603050405020304" pitchFamily="18" charset="0"/>
              </a:rPr>
              <a:t>0</a:t>
            </a:r>
            <a:r>
              <a:rPr lang="zh-CN" altLang="en-US" sz="2800" b="1" dirty="0" smtClean="0">
                <a:latin typeface="Times New Roman" panose="02020603050405020304" pitchFamily="18" charset="0"/>
                <a:cs typeface="Times New Roman" panose="02020603050405020304" pitchFamily="18" charset="0"/>
              </a:rPr>
              <a:t>时（即磁场与线圈垂直），力矩的值为零。</a:t>
            </a:r>
            <a:endParaRPr lang="zh-CN" altLang="en-US" sz="2800" b="1" dirty="0">
              <a:latin typeface="Times New Roman" panose="02020603050405020304" pitchFamily="18" charset="0"/>
              <a:cs typeface="Times New Roman" panose="02020603050405020304" pitchFamily="18" charset="0"/>
            </a:endParaRPr>
          </a:p>
        </p:txBody>
      </p:sp>
      <p:pic>
        <p:nvPicPr>
          <p:cNvPr id="9" name="图片 8"/>
          <p:cNvPicPr>
            <a:picLocks noChangeAspect="1"/>
          </p:cNvPicPr>
          <p:nvPr/>
        </p:nvPicPr>
        <p:blipFill rotWithShape="1">
          <a:blip r:embed="rId2" cstate="print"/>
          <a:srcRect l="1016"/>
          <a:stretch/>
        </p:blipFill>
        <p:spPr>
          <a:xfrm>
            <a:off x="352479" y="3031848"/>
            <a:ext cx="10696521" cy="2901582"/>
          </a:xfrm>
          <a:prstGeom prst="rect">
            <a:avLst/>
          </a:prstGeom>
        </p:spPr>
      </p:pic>
      <p:sp>
        <p:nvSpPr>
          <p:cNvPr id="8" name="TextBox 7"/>
          <p:cNvSpPr txBox="1"/>
          <p:nvPr/>
        </p:nvSpPr>
        <p:spPr>
          <a:xfrm>
            <a:off x="1117600" y="5872307"/>
            <a:ext cx="9664700" cy="975523"/>
          </a:xfrm>
          <a:prstGeom prst="rect">
            <a:avLst/>
          </a:prstGeom>
          <a:noFill/>
        </p:spPr>
        <p:txBody>
          <a:bodyPr wrap="square" rtlCol="0">
            <a:spAutoFit/>
          </a:bodyPr>
          <a:lstStyle/>
          <a:p>
            <a:pPr>
              <a:lnSpc>
                <a:spcPct val="125000"/>
              </a:lnSpc>
            </a:pPr>
            <a:r>
              <a:rPr lang="zh-CN" altLang="en-US" sz="2400" dirty="0" smtClean="0"/>
              <a:t>当</a:t>
            </a:r>
            <a:r>
              <a:rPr lang="el-GR" altLang="zh-CN" sz="2400" b="1" i="1" dirty="0" smtClean="0">
                <a:latin typeface="Times New Roman" panose="02020603050405020304" pitchFamily="18" charset="0"/>
                <a:cs typeface="Times New Roman" panose="02020603050405020304" pitchFamily="18" charset="0"/>
              </a:rPr>
              <a:t>θ</a:t>
            </a:r>
            <a:r>
              <a:rPr lang="zh-CN" altLang="en-US" sz="2400" b="1" i="1" dirty="0" smtClean="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90</a:t>
            </a:r>
            <a:r>
              <a:rPr lang="en-US" altLang="zh-CN" sz="2400" b="1" baseline="30000" dirty="0" smtClean="0">
                <a:latin typeface="Times New Roman" panose="02020603050405020304" pitchFamily="18" charset="0"/>
                <a:cs typeface="Times New Roman" panose="02020603050405020304" pitchFamily="18" charset="0"/>
              </a:rPr>
              <a:t>0  </a:t>
            </a:r>
            <a:r>
              <a:rPr lang="zh-CN" altLang="en-US" sz="2400" b="1" dirty="0" smtClean="0">
                <a:latin typeface="Times New Roman" panose="02020603050405020304" pitchFamily="18" charset="0"/>
                <a:cs typeface="Times New Roman" panose="02020603050405020304" pitchFamily="18" charset="0"/>
              </a:rPr>
              <a:t>时，对边</a:t>
            </a:r>
            <a:r>
              <a:rPr lang="en-US" altLang="zh-CN" sz="2400" b="1" dirty="0" smtClean="0">
                <a:latin typeface="Times New Roman" panose="02020603050405020304" pitchFamily="18" charset="0"/>
                <a:cs typeface="Times New Roman" panose="02020603050405020304" pitchFamily="18" charset="0"/>
              </a:rPr>
              <a:t>1</a:t>
            </a:r>
            <a:r>
              <a:rPr lang="zh-CN" altLang="en-US" sz="2400" b="1" dirty="0" smtClean="0">
                <a:latin typeface="Times New Roman" panose="02020603050405020304" pitchFamily="18" charset="0"/>
                <a:cs typeface="Times New Roman" panose="02020603050405020304" pitchFamily="18" charset="0"/>
              </a:rPr>
              <a:t>和边</a:t>
            </a:r>
            <a:r>
              <a:rPr lang="en-US" altLang="zh-CN" sz="2400" b="1" dirty="0" smtClean="0">
                <a:latin typeface="Times New Roman" panose="02020603050405020304" pitchFamily="18" charset="0"/>
                <a:cs typeface="Times New Roman" panose="02020603050405020304" pitchFamily="18" charset="0"/>
              </a:rPr>
              <a:t>3</a:t>
            </a:r>
            <a:r>
              <a:rPr lang="zh-CN" altLang="en-US" sz="2400" b="1" dirty="0" smtClean="0">
                <a:latin typeface="Times New Roman" panose="02020603050405020304" pitchFamily="18" charset="0"/>
                <a:cs typeface="Times New Roman" panose="02020603050405020304" pitchFamily="18" charset="0"/>
              </a:rPr>
              <a:t>的磁力不再为零，但它们大小相等、方向相反并作用在同一条线上，因此它们既对合力没贡献也对合力矩没贡献。</a:t>
            </a:r>
            <a:endParaRPr lang="zh-CN" altLang="en-US" sz="2400" dirty="0"/>
          </a:p>
        </p:txBody>
      </p:sp>
      <p:sp>
        <p:nvSpPr>
          <p:cNvPr id="10" name="TextBox 9"/>
          <p:cNvSpPr txBox="1"/>
          <p:nvPr/>
        </p:nvSpPr>
        <p:spPr>
          <a:xfrm>
            <a:off x="9918700" y="2482811"/>
            <a:ext cx="2081279" cy="1015663"/>
          </a:xfrm>
          <a:prstGeom prst="rect">
            <a:avLst/>
          </a:prstGeom>
          <a:noFill/>
        </p:spPr>
        <p:txBody>
          <a:bodyPr wrap="square" rtlCol="0">
            <a:spAutoFit/>
          </a:bodyPr>
          <a:lstStyle/>
          <a:p>
            <a:r>
              <a:rPr lang="zh-CN" altLang="en-US" sz="2000" b="1" smtClean="0">
                <a:solidFill>
                  <a:srgbClr val="FF0000"/>
                </a:solidFill>
              </a:rPr>
              <a:t>角</a:t>
            </a:r>
            <a:r>
              <a:rPr lang="en-US" altLang="zh-CN" sz="2000" b="1" smtClean="0">
                <a:solidFill>
                  <a:srgbClr val="FF0000"/>
                </a:solidFill>
              </a:rPr>
              <a:t>θ</a:t>
            </a:r>
            <a:r>
              <a:rPr lang="zh-CN" altLang="en-US" sz="2000" b="1" smtClean="0">
                <a:solidFill>
                  <a:srgbClr val="FF0000"/>
                </a:solidFill>
              </a:rPr>
              <a:t>是磁场和该电流回路的垂线之间的夹角。</a:t>
            </a:r>
            <a:endParaRPr lang="zh-CN" altLang="en-US" sz="2000" b="1">
              <a:solidFill>
                <a:srgbClr val="FF0000"/>
              </a:solidFill>
            </a:endParaRPr>
          </a:p>
        </p:txBody>
      </p:sp>
    </p:spTree>
    <p:extLst>
      <p:ext uri="{BB962C8B-B14F-4D97-AF65-F5344CB8AC3E}">
        <p14:creationId xmlns:p14="http://schemas.microsoft.com/office/powerpoint/2010/main" val="721649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5360" y="1469484"/>
            <a:ext cx="11617291" cy="2246769"/>
          </a:xfrm>
          <a:prstGeom prst="rect">
            <a:avLst/>
          </a:prstGeom>
          <a:noFill/>
        </p:spPr>
        <p:txBody>
          <a:bodyPr wrap="square" rtlCol="0">
            <a:spAutoFit/>
          </a:bodyPr>
          <a:lstStyle/>
          <a:p>
            <a:pPr indent="457200">
              <a:lnSpc>
                <a:spcPct val="125000"/>
              </a:lnSpc>
            </a:pPr>
            <a:r>
              <a:rPr lang="zh-CN" altLang="en-US" sz="2800" b="1" dirty="0" smtClean="0"/>
              <a:t>有两个转动平衡位置，但它们不是等价的。</a:t>
            </a:r>
            <a:r>
              <a:rPr lang="el-GR" altLang="zh-CN" sz="2800" b="1" i="1" dirty="0">
                <a:latin typeface="Times New Roman" panose="02020603050405020304" pitchFamily="18" charset="0"/>
                <a:cs typeface="Times New Roman" panose="02020603050405020304" pitchFamily="18" charset="0"/>
              </a:rPr>
              <a:t> θ</a:t>
            </a:r>
            <a:r>
              <a:rPr lang="en-US" altLang="zh-CN" sz="2800" b="1" dirty="0" smtClean="0">
                <a:latin typeface="Times New Roman" panose="02020603050405020304" pitchFamily="18" charset="0"/>
                <a:cs typeface="Times New Roman" panose="02020603050405020304" pitchFamily="18" charset="0"/>
              </a:rPr>
              <a:t>=180</a:t>
            </a:r>
            <a:r>
              <a:rPr lang="en-US" altLang="zh-CN" sz="2800" b="1" baseline="30000" dirty="0" smtClean="0">
                <a:latin typeface="Times New Roman" panose="02020603050405020304" pitchFamily="18" charset="0"/>
                <a:cs typeface="Times New Roman" panose="02020603050405020304" pitchFamily="18" charset="0"/>
              </a:rPr>
              <a:t>0</a:t>
            </a:r>
            <a:r>
              <a:rPr lang="zh-CN" altLang="en-US" sz="2800" b="1" dirty="0" smtClean="0">
                <a:latin typeface="Times New Roman" panose="02020603050405020304" pitchFamily="18" charset="0"/>
                <a:cs typeface="Times New Roman" panose="02020603050405020304" pitchFamily="18" charset="0"/>
              </a:rPr>
              <a:t>的位置是一种非稳定的平衡，因为对于角度接近</a:t>
            </a:r>
            <a:r>
              <a:rPr lang="en-US" altLang="zh-CN" sz="2800" b="1" dirty="0" smtClean="0">
                <a:latin typeface="Times New Roman" panose="02020603050405020304" pitchFamily="18" charset="0"/>
                <a:cs typeface="Times New Roman" panose="02020603050405020304" pitchFamily="18" charset="0"/>
              </a:rPr>
              <a:t>180</a:t>
            </a:r>
            <a:r>
              <a:rPr lang="en-US" altLang="zh-CN" sz="2800" b="1" baseline="30000" dirty="0">
                <a:latin typeface="Times New Roman" panose="02020603050405020304" pitchFamily="18" charset="0"/>
                <a:cs typeface="Times New Roman" panose="02020603050405020304" pitchFamily="18" charset="0"/>
              </a:rPr>
              <a:t>0</a:t>
            </a:r>
            <a:r>
              <a:rPr lang="zh-CN" altLang="en-US" sz="2800" b="1" dirty="0" smtClean="0">
                <a:latin typeface="Times New Roman" panose="02020603050405020304" pitchFamily="18" charset="0"/>
                <a:cs typeface="Times New Roman" panose="02020603050405020304" pitchFamily="18" charset="0"/>
              </a:rPr>
              <a:t>时的力矩趋于转动线圈使之远离</a:t>
            </a:r>
            <a:r>
              <a:rPr lang="en-US" altLang="zh-CN" sz="2800" b="1" dirty="0" smtClean="0">
                <a:latin typeface="Times New Roman" panose="02020603050405020304" pitchFamily="18" charset="0"/>
                <a:cs typeface="Times New Roman" panose="02020603050405020304" pitchFamily="18" charset="0"/>
              </a:rPr>
              <a:t>180</a:t>
            </a:r>
            <a:r>
              <a:rPr lang="en-US" altLang="zh-CN" sz="2800" b="1" baseline="30000" dirty="0">
                <a:latin typeface="Times New Roman" panose="02020603050405020304" pitchFamily="18" charset="0"/>
                <a:cs typeface="Times New Roman" panose="02020603050405020304" pitchFamily="18" charset="0"/>
              </a:rPr>
              <a:t>0</a:t>
            </a:r>
            <a:r>
              <a:rPr lang="zh-CN" altLang="en-US" sz="2800" b="1" dirty="0" smtClean="0">
                <a:latin typeface="Times New Roman" panose="02020603050405020304" pitchFamily="18" charset="0"/>
                <a:cs typeface="Times New Roman" panose="02020603050405020304" pitchFamily="18" charset="0"/>
              </a:rPr>
              <a:t>。</a:t>
            </a:r>
            <a:r>
              <a:rPr lang="el-GR" altLang="zh-CN" sz="2800" b="1" i="1" dirty="0">
                <a:latin typeface="Times New Roman" panose="02020603050405020304" pitchFamily="18" charset="0"/>
                <a:cs typeface="Times New Roman" panose="02020603050405020304" pitchFamily="18" charset="0"/>
              </a:rPr>
              <a:t>θ</a:t>
            </a:r>
            <a:r>
              <a:rPr lang="en-US" altLang="zh-CN" sz="2800" b="1" dirty="0" smtClean="0">
                <a:latin typeface="Times New Roman" panose="02020603050405020304" pitchFamily="18" charset="0"/>
                <a:cs typeface="Times New Roman" panose="02020603050405020304" pitchFamily="18" charset="0"/>
              </a:rPr>
              <a:t>=0</a:t>
            </a:r>
            <a:r>
              <a:rPr lang="zh-CN" altLang="en-US" sz="2800" b="1" dirty="0" smtClean="0">
                <a:latin typeface="Times New Roman" panose="02020603050405020304" pitchFamily="18" charset="0"/>
                <a:cs typeface="Times New Roman" panose="02020603050405020304" pitchFamily="18" charset="0"/>
              </a:rPr>
              <a:t>的位置是一个稳定的平衡；对于角度接近</a:t>
            </a:r>
            <a:r>
              <a:rPr lang="en-US" altLang="zh-CN" sz="2800" b="1" dirty="0" smtClean="0">
                <a:latin typeface="Times New Roman" panose="02020603050405020304" pitchFamily="18" charset="0"/>
                <a:cs typeface="Times New Roman" panose="02020603050405020304" pitchFamily="18" charset="0"/>
              </a:rPr>
              <a:t>0</a:t>
            </a:r>
            <a:r>
              <a:rPr lang="en-US" altLang="zh-CN" sz="2800" b="1" baseline="30000" dirty="0">
                <a:latin typeface="Times New Roman" panose="02020603050405020304" pitchFamily="18" charset="0"/>
                <a:cs typeface="Times New Roman" panose="02020603050405020304" pitchFamily="18" charset="0"/>
              </a:rPr>
              <a:t>0</a:t>
            </a:r>
            <a:r>
              <a:rPr lang="zh-CN" altLang="en-US" sz="2800" b="1" dirty="0" smtClean="0">
                <a:latin typeface="Times New Roman" panose="02020603050405020304" pitchFamily="18" charset="0"/>
                <a:cs typeface="Times New Roman" panose="02020603050405020304" pitchFamily="18" charset="0"/>
              </a:rPr>
              <a:t>时的力矩使线圈转回到</a:t>
            </a:r>
            <a:r>
              <a:rPr lang="el-GR" altLang="zh-CN" sz="2800" b="1" i="1" dirty="0">
                <a:latin typeface="Times New Roman" panose="02020603050405020304" pitchFamily="18" charset="0"/>
                <a:cs typeface="Times New Roman" panose="02020603050405020304" pitchFamily="18" charset="0"/>
              </a:rPr>
              <a:t>θ</a:t>
            </a:r>
            <a:r>
              <a:rPr lang="en-US" altLang="zh-CN" sz="2800" b="1" dirty="0" smtClean="0">
                <a:latin typeface="Times New Roman" panose="02020603050405020304" pitchFamily="18" charset="0"/>
                <a:cs typeface="Times New Roman" panose="02020603050405020304" pitchFamily="18" charset="0"/>
              </a:rPr>
              <a:t>=0</a:t>
            </a:r>
            <a:r>
              <a:rPr lang="en-US" altLang="zh-CN" sz="2800" b="1" baseline="30000" dirty="0">
                <a:latin typeface="Times New Roman" panose="02020603050405020304" pitchFamily="18" charset="0"/>
                <a:cs typeface="Times New Roman" panose="02020603050405020304" pitchFamily="18" charset="0"/>
              </a:rPr>
              <a:t>0</a:t>
            </a:r>
            <a:r>
              <a:rPr lang="zh-CN" altLang="en-US" sz="2800" b="1" dirty="0" smtClean="0">
                <a:latin typeface="Times New Roman" panose="02020603050405020304" pitchFamily="18" charset="0"/>
                <a:cs typeface="Times New Roman" panose="02020603050405020304" pitchFamily="18" charset="0"/>
              </a:rPr>
              <a:t>，从而趋于回复平衡。</a:t>
            </a:r>
            <a:endParaRPr lang="zh-CN" altLang="en-US" sz="2800" b="1" dirty="0"/>
          </a:p>
        </p:txBody>
      </p:sp>
      <p:sp>
        <p:nvSpPr>
          <p:cNvPr id="3" name="TextBox 2"/>
          <p:cNvSpPr txBox="1"/>
          <p:nvPr/>
        </p:nvSpPr>
        <p:spPr>
          <a:xfrm>
            <a:off x="671397" y="3725515"/>
            <a:ext cx="10945216" cy="2246769"/>
          </a:xfrm>
          <a:prstGeom prst="rect">
            <a:avLst/>
          </a:prstGeom>
          <a:noFill/>
        </p:spPr>
        <p:txBody>
          <a:bodyPr wrap="square" rtlCol="0">
            <a:spAutoFit/>
          </a:bodyPr>
          <a:lstStyle/>
          <a:p>
            <a:pPr indent="457200">
              <a:lnSpc>
                <a:spcPct val="125000"/>
              </a:lnSpc>
            </a:pPr>
            <a:r>
              <a:rPr lang="zh-CN" altLang="en-US" sz="2800" b="1" dirty="0" smtClean="0">
                <a:solidFill>
                  <a:srgbClr val="FF0000"/>
                </a:solidFill>
              </a:rPr>
              <a:t>平面载流线圈在均匀磁场中任意位置上所受的合力均为零，仅受力矩的作用。</a:t>
            </a:r>
            <a:endParaRPr lang="en-US" altLang="zh-CN" sz="2800" b="1" dirty="0" smtClean="0">
              <a:solidFill>
                <a:srgbClr val="FF0000"/>
              </a:solidFill>
            </a:endParaRPr>
          </a:p>
          <a:p>
            <a:pPr indent="457200">
              <a:lnSpc>
                <a:spcPct val="125000"/>
              </a:lnSpc>
            </a:pPr>
            <a:r>
              <a:rPr lang="zh-CN" altLang="en-US" sz="2800" b="1" dirty="0" smtClean="0"/>
              <a:t>因此在均匀磁场中的平面载流线圈只发生转动，不会发生整个线圈的平动。</a:t>
            </a:r>
            <a:endParaRPr lang="zh-CN" altLang="en-US" sz="2800" b="1" dirty="0"/>
          </a:p>
        </p:txBody>
      </p:sp>
      <p:sp>
        <p:nvSpPr>
          <p:cNvPr id="5" name="矩形 4"/>
          <p:cNvSpPr/>
          <p:nvPr/>
        </p:nvSpPr>
        <p:spPr>
          <a:xfrm>
            <a:off x="1022006" y="833576"/>
            <a:ext cx="7080785" cy="584775"/>
          </a:xfrm>
          <a:prstGeom prst="rect">
            <a:avLst/>
          </a:prstGeom>
        </p:spPr>
        <p:txBody>
          <a:bodyPr wrap="none">
            <a:spAutoFit/>
          </a:bodyPr>
          <a:lstStyle/>
          <a:p>
            <a:r>
              <a:rPr lang="zh-CN" altLang="en-US" sz="3200" b="1" dirty="0">
                <a:solidFill>
                  <a:srgbClr val="000099"/>
                </a:solidFill>
                <a:latin typeface="Times New Roman" panose="02020603050405020304" pitchFamily="18" charset="0"/>
                <a:cs typeface="Times New Roman" panose="02020603050405020304" pitchFamily="18" charset="0"/>
              </a:rPr>
              <a:t>当</a:t>
            </a:r>
            <a:r>
              <a:rPr lang="el-GR" altLang="zh-CN" sz="3200" b="1" i="1" dirty="0">
                <a:solidFill>
                  <a:srgbClr val="000099"/>
                </a:solidFill>
                <a:latin typeface="Times New Roman" panose="02020603050405020304" pitchFamily="18" charset="0"/>
                <a:cs typeface="Times New Roman" panose="02020603050405020304" pitchFamily="18" charset="0"/>
              </a:rPr>
              <a:t>θ</a:t>
            </a:r>
            <a:r>
              <a:rPr lang="en-US" altLang="zh-CN" sz="3200" b="1" dirty="0">
                <a:solidFill>
                  <a:srgbClr val="000099"/>
                </a:solidFill>
                <a:latin typeface="Times New Roman" panose="02020603050405020304" pitchFamily="18" charset="0"/>
                <a:cs typeface="Times New Roman" panose="02020603050405020304" pitchFamily="18" charset="0"/>
              </a:rPr>
              <a:t>=0</a:t>
            </a:r>
            <a:r>
              <a:rPr lang="en-US" altLang="zh-CN" sz="3200" b="1" baseline="30000" dirty="0">
                <a:solidFill>
                  <a:srgbClr val="000099"/>
                </a:solidFill>
                <a:latin typeface="Times New Roman" panose="02020603050405020304" pitchFamily="18" charset="0"/>
                <a:cs typeface="Times New Roman" panose="02020603050405020304" pitchFamily="18" charset="0"/>
              </a:rPr>
              <a:t>0</a:t>
            </a:r>
            <a:r>
              <a:rPr lang="zh-CN" altLang="en-US" sz="3200" b="1" dirty="0">
                <a:solidFill>
                  <a:srgbClr val="000099"/>
                </a:solidFill>
                <a:latin typeface="Times New Roman" panose="02020603050405020304" pitchFamily="18" charset="0"/>
                <a:cs typeface="Times New Roman" panose="02020603050405020304" pitchFamily="18" charset="0"/>
              </a:rPr>
              <a:t>或</a:t>
            </a:r>
            <a:r>
              <a:rPr lang="en-US" altLang="zh-CN" sz="3200" b="1" dirty="0">
                <a:solidFill>
                  <a:srgbClr val="000099"/>
                </a:solidFill>
                <a:latin typeface="Times New Roman" panose="02020603050405020304" pitchFamily="18" charset="0"/>
                <a:cs typeface="Times New Roman" panose="02020603050405020304" pitchFamily="18" charset="0"/>
              </a:rPr>
              <a:t>180</a:t>
            </a:r>
            <a:r>
              <a:rPr lang="en-US" altLang="zh-CN" sz="3200" b="1" baseline="30000" dirty="0">
                <a:solidFill>
                  <a:srgbClr val="000099"/>
                </a:solidFill>
                <a:latin typeface="Times New Roman" panose="02020603050405020304" pitchFamily="18" charset="0"/>
                <a:cs typeface="Times New Roman" panose="02020603050405020304" pitchFamily="18" charset="0"/>
              </a:rPr>
              <a:t>0</a:t>
            </a:r>
            <a:r>
              <a:rPr lang="zh-CN" altLang="en-US" sz="3200" b="1" dirty="0">
                <a:solidFill>
                  <a:srgbClr val="000099"/>
                </a:solidFill>
                <a:latin typeface="Times New Roman" panose="02020603050405020304" pitchFamily="18" charset="0"/>
                <a:cs typeface="Times New Roman" panose="02020603050405020304" pitchFamily="18" charset="0"/>
              </a:rPr>
              <a:t>时（即磁场与线圈垂直</a:t>
            </a:r>
            <a:r>
              <a:rPr lang="zh-CN" altLang="en-US" sz="3200" b="1" dirty="0" smtClean="0">
                <a:solidFill>
                  <a:srgbClr val="000099"/>
                </a:solidFill>
                <a:latin typeface="Times New Roman" panose="02020603050405020304" pitchFamily="18" charset="0"/>
                <a:cs typeface="Times New Roman" panose="02020603050405020304" pitchFamily="18" charset="0"/>
              </a:rPr>
              <a:t>）</a:t>
            </a:r>
            <a:endParaRPr lang="zh-CN" altLang="en-US" sz="3200" dirty="0">
              <a:solidFill>
                <a:srgbClr val="000099"/>
              </a:solidFill>
            </a:endParaRPr>
          </a:p>
        </p:txBody>
      </p:sp>
    </p:spTree>
    <p:extLst>
      <p:ext uri="{BB962C8B-B14F-4D97-AF65-F5344CB8AC3E}">
        <p14:creationId xmlns:p14="http://schemas.microsoft.com/office/powerpoint/2010/main" val="35402131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2933" y="1282204"/>
            <a:ext cx="4042684" cy="3292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444499" y="469900"/>
            <a:ext cx="7311733" cy="3862596"/>
          </a:xfrm>
          <a:prstGeom prst="rect">
            <a:avLst/>
          </a:prstGeom>
          <a:noFill/>
        </p:spPr>
        <p:txBody>
          <a:bodyPr wrap="square" rtlCol="0">
            <a:spAutoFit/>
          </a:bodyPr>
          <a:lstStyle/>
          <a:p>
            <a:pPr>
              <a:lnSpc>
                <a:spcPct val="125000"/>
              </a:lnSpc>
            </a:pPr>
            <a:r>
              <a:rPr lang="zh-CN" altLang="en-US" sz="2800" b="1" dirty="0" smtClean="0">
                <a:solidFill>
                  <a:srgbClr val="000099"/>
                </a:solidFill>
              </a:rPr>
              <a:t>检测题</a:t>
            </a:r>
            <a:r>
              <a:rPr lang="en-US" altLang="zh-CN" sz="2800" b="1" dirty="0" smtClean="0">
                <a:solidFill>
                  <a:srgbClr val="000099"/>
                </a:solidFill>
              </a:rPr>
              <a:t>19.7</a:t>
            </a:r>
          </a:p>
          <a:p>
            <a:pPr>
              <a:lnSpc>
                <a:spcPct val="125000"/>
              </a:lnSpc>
            </a:pPr>
            <a:r>
              <a:rPr lang="zh-CN" altLang="en-US" sz="2800" b="1" dirty="0" smtClean="0"/>
              <a:t>设图</a:t>
            </a:r>
            <a:r>
              <a:rPr lang="en-US" altLang="zh-CN" sz="2800" b="1" dirty="0" smtClean="0"/>
              <a:t>19.29</a:t>
            </a:r>
            <a:r>
              <a:rPr lang="zh-CN" altLang="en-US" sz="2800" b="1" dirty="0" smtClean="0"/>
              <a:t>中的导线线圈在竖直平面上，其导线</a:t>
            </a:r>
            <a:r>
              <a:rPr lang="en-US" altLang="zh-CN" sz="2800" b="1" dirty="0" smtClean="0"/>
              <a:t>2</a:t>
            </a:r>
            <a:r>
              <a:rPr lang="zh-CN" altLang="en-US" sz="2800" b="1" dirty="0" smtClean="0"/>
              <a:t>在顶部而导线</a:t>
            </a:r>
            <a:r>
              <a:rPr lang="en-US" altLang="zh-CN" sz="2800" b="1" dirty="0" smtClean="0"/>
              <a:t>4</a:t>
            </a:r>
            <a:r>
              <a:rPr lang="zh-CN" altLang="en-US" sz="2800" b="1" dirty="0" smtClean="0"/>
              <a:t>在底部。电流仍绕线圈以图中所示的方向流动。（</a:t>
            </a:r>
            <a:r>
              <a:rPr lang="en-US" altLang="zh-CN" sz="2800" b="1" dirty="0" smtClean="0"/>
              <a:t>a</a:t>
            </a:r>
            <a:r>
              <a:rPr lang="zh-CN" altLang="en-US" sz="2800" b="1" dirty="0" smtClean="0"/>
              <a:t>）两根导线所受的磁力是什么方向？（</a:t>
            </a:r>
            <a:r>
              <a:rPr lang="en-US" altLang="zh-CN" sz="2800" b="1" dirty="0" smtClean="0"/>
              <a:t>b</a:t>
            </a:r>
            <a:r>
              <a:rPr lang="zh-CN" altLang="en-US" sz="2800" b="1" dirty="0" smtClean="0"/>
              <a:t>）解释为什么相对于转轴的力矩为零。（</a:t>
            </a:r>
            <a:r>
              <a:rPr lang="en-US" altLang="zh-CN" sz="2800" b="1" dirty="0" smtClean="0"/>
              <a:t>c</a:t>
            </a:r>
            <a:r>
              <a:rPr lang="zh-CN" altLang="en-US" sz="2800" b="1" dirty="0" smtClean="0"/>
              <a:t>）线圈是处于稳定平衡还是非稳定平衡？（</a:t>
            </a:r>
            <a:r>
              <a:rPr lang="en-US" altLang="zh-CN" sz="2800" b="1" dirty="0" smtClean="0"/>
              <a:t>d</a:t>
            </a:r>
            <a:r>
              <a:rPr lang="zh-CN" altLang="en-US" sz="2800" b="1" dirty="0" smtClean="0"/>
              <a:t>）角</a:t>
            </a:r>
            <a:r>
              <a:rPr lang="el-GR" altLang="zh-CN" sz="2800" b="1" i="1" dirty="0" smtClean="0">
                <a:latin typeface="Times New Roman" panose="02020603050405020304" pitchFamily="18" charset="0"/>
                <a:cs typeface="Times New Roman" panose="02020603050405020304" pitchFamily="18" charset="0"/>
              </a:rPr>
              <a:t>θ</a:t>
            </a:r>
            <a:r>
              <a:rPr lang="zh-CN" altLang="en-US" sz="2800" b="1" dirty="0" smtClean="0">
                <a:latin typeface="Times New Roman" panose="02020603050405020304" pitchFamily="18" charset="0"/>
                <a:cs typeface="Times New Roman" panose="02020603050405020304" pitchFamily="18" charset="0"/>
              </a:rPr>
              <a:t>是多少？</a:t>
            </a:r>
            <a:endParaRPr lang="zh-CN" altLang="en-US" sz="2800" b="1" dirty="0"/>
          </a:p>
        </p:txBody>
      </p:sp>
      <p:sp>
        <p:nvSpPr>
          <p:cNvPr id="4" name="TextBox 3"/>
          <p:cNvSpPr txBox="1"/>
          <p:nvPr/>
        </p:nvSpPr>
        <p:spPr>
          <a:xfrm>
            <a:off x="571500" y="4507468"/>
            <a:ext cx="5245100" cy="461665"/>
          </a:xfrm>
          <a:prstGeom prst="rect">
            <a:avLst/>
          </a:prstGeom>
          <a:noFill/>
        </p:spPr>
        <p:txBody>
          <a:bodyPr wrap="square" rtlCol="0">
            <a:spAutoFit/>
          </a:bodyPr>
          <a:lstStyle/>
          <a:p>
            <a:r>
              <a:rPr lang="zh-CN" altLang="en-US" sz="2400" b="1" smtClean="0"/>
              <a:t>（</a:t>
            </a:r>
            <a:r>
              <a:rPr lang="en-US" altLang="zh-CN" sz="2400" b="1" smtClean="0"/>
              <a:t>a</a:t>
            </a:r>
            <a:r>
              <a:rPr lang="zh-CN" altLang="en-US" sz="2400" b="1" smtClean="0"/>
              <a:t>）边</a:t>
            </a:r>
            <a:r>
              <a:rPr lang="en-US" altLang="zh-CN" sz="2400" b="1" smtClean="0"/>
              <a:t>2</a:t>
            </a:r>
            <a:r>
              <a:rPr lang="zh-CN" altLang="en-US" sz="2400" b="1" smtClean="0"/>
              <a:t>和边</a:t>
            </a:r>
            <a:r>
              <a:rPr lang="en-US" altLang="zh-CN" sz="2400" b="1" smtClean="0"/>
              <a:t>4</a:t>
            </a:r>
            <a:r>
              <a:rPr lang="zh-CN" altLang="en-US" sz="2400" b="1" smtClean="0"/>
              <a:t>所受力的方向不变。</a:t>
            </a:r>
            <a:endParaRPr lang="zh-CN" altLang="en-US" sz="2400" b="1"/>
          </a:p>
        </p:txBody>
      </p:sp>
      <p:sp>
        <p:nvSpPr>
          <p:cNvPr id="5" name="TextBox 4"/>
          <p:cNvSpPr txBox="1"/>
          <p:nvPr/>
        </p:nvSpPr>
        <p:spPr>
          <a:xfrm>
            <a:off x="571500" y="5550932"/>
            <a:ext cx="3378200" cy="461665"/>
          </a:xfrm>
          <a:prstGeom prst="rect">
            <a:avLst/>
          </a:prstGeom>
          <a:noFill/>
        </p:spPr>
        <p:txBody>
          <a:bodyPr wrap="square" rtlCol="0">
            <a:spAutoFit/>
          </a:bodyPr>
          <a:lstStyle/>
          <a:p>
            <a:r>
              <a:rPr lang="zh-CN" altLang="en-US" sz="2400" b="1" smtClean="0"/>
              <a:t>（</a:t>
            </a:r>
            <a:r>
              <a:rPr lang="en-US" altLang="zh-CN" sz="2400" b="1" smtClean="0"/>
              <a:t>c</a:t>
            </a:r>
            <a:r>
              <a:rPr lang="zh-CN" altLang="en-US" sz="2400" b="1" smtClean="0"/>
              <a:t>）非稳定平衡状态。</a:t>
            </a:r>
            <a:endParaRPr lang="zh-CN" altLang="en-US" sz="2400" b="1"/>
          </a:p>
        </p:txBody>
      </p:sp>
      <p:sp>
        <p:nvSpPr>
          <p:cNvPr id="6" name="TextBox 5"/>
          <p:cNvSpPr txBox="1"/>
          <p:nvPr/>
        </p:nvSpPr>
        <p:spPr>
          <a:xfrm>
            <a:off x="571500" y="5035034"/>
            <a:ext cx="3378200" cy="461665"/>
          </a:xfrm>
          <a:prstGeom prst="rect">
            <a:avLst/>
          </a:prstGeom>
          <a:noFill/>
        </p:spPr>
        <p:txBody>
          <a:bodyPr wrap="square" rtlCol="0">
            <a:spAutoFit/>
          </a:bodyPr>
          <a:lstStyle/>
          <a:p>
            <a:r>
              <a:rPr lang="zh-CN" altLang="en-US" sz="2400" b="1" smtClean="0"/>
              <a:t>（</a:t>
            </a:r>
            <a:r>
              <a:rPr lang="en-US" altLang="zh-CN" sz="2400" b="1" smtClean="0"/>
              <a:t>b</a:t>
            </a:r>
            <a:r>
              <a:rPr lang="zh-CN" altLang="en-US" sz="2400" b="1" smtClean="0"/>
              <a:t>）力臂为零。</a:t>
            </a:r>
            <a:endParaRPr lang="zh-CN" altLang="en-US" sz="2400" b="1"/>
          </a:p>
        </p:txBody>
      </p:sp>
      <p:sp>
        <p:nvSpPr>
          <p:cNvPr id="7" name="TextBox 6"/>
          <p:cNvSpPr txBox="1"/>
          <p:nvPr/>
        </p:nvSpPr>
        <p:spPr>
          <a:xfrm>
            <a:off x="571500" y="6057900"/>
            <a:ext cx="3378200" cy="461665"/>
          </a:xfrm>
          <a:prstGeom prst="rect">
            <a:avLst/>
          </a:prstGeom>
          <a:noFill/>
        </p:spPr>
        <p:txBody>
          <a:bodyPr wrap="square" rtlCol="0">
            <a:spAutoFit/>
          </a:bodyPr>
          <a:lstStyle/>
          <a:p>
            <a:r>
              <a:rPr lang="zh-CN" altLang="en-US" sz="2400" b="1" smtClean="0"/>
              <a:t>（</a:t>
            </a:r>
            <a:r>
              <a:rPr lang="en-US" altLang="zh-CN" sz="2400" b="1" smtClean="0"/>
              <a:t>d</a:t>
            </a:r>
            <a:r>
              <a:rPr lang="zh-CN" altLang="en-US" sz="2400" b="1" smtClean="0"/>
              <a:t>）</a:t>
            </a:r>
            <a:r>
              <a:rPr lang="en-US" altLang="zh-CN" sz="2400" b="1" smtClean="0"/>
              <a:t>180</a:t>
            </a:r>
            <a:endParaRPr lang="zh-CN" altLang="en-US" sz="2400" b="1"/>
          </a:p>
        </p:txBody>
      </p:sp>
    </p:spTree>
    <p:extLst>
      <p:ext uri="{BB962C8B-B14F-4D97-AF65-F5344CB8AC3E}">
        <p14:creationId xmlns:p14="http://schemas.microsoft.com/office/powerpoint/2010/main" val="41662993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a:xfrm>
            <a:off x="719403" y="1268760"/>
            <a:ext cx="11280576" cy="3323987"/>
          </a:xfrm>
          <a:prstGeom prst="rect">
            <a:avLst/>
          </a:prstGeom>
        </p:spPr>
        <p:txBody>
          <a:bodyPr wrap="square">
            <a:spAutoFit/>
          </a:bodyPr>
          <a:lstStyle/>
          <a:p>
            <a:pPr>
              <a:lnSpc>
                <a:spcPct val="150000"/>
              </a:lnSpc>
            </a:pPr>
            <a:r>
              <a:rPr lang="zh-CN" altLang="en-US" sz="2800" b="1" dirty="0" smtClean="0"/>
              <a:t>平面</a:t>
            </a:r>
            <a:r>
              <a:rPr lang="zh-CN" altLang="en-US" sz="2800" b="1" dirty="0"/>
              <a:t>载流线圈在均匀磁场中，以下说法错误的是（  ）</a:t>
            </a:r>
          </a:p>
          <a:p>
            <a:pPr>
              <a:lnSpc>
                <a:spcPct val="150000"/>
              </a:lnSpc>
            </a:pPr>
            <a:r>
              <a:rPr lang="en-US" altLang="zh-CN" sz="2800" b="1" dirty="0"/>
              <a:t>A</a:t>
            </a:r>
            <a:r>
              <a:rPr lang="zh-CN" altLang="en-US" sz="2800" b="1" dirty="0"/>
              <a:t>．线圈只发生转动不会发生整个线圈的平动。  </a:t>
            </a:r>
          </a:p>
          <a:p>
            <a:pPr>
              <a:lnSpc>
                <a:spcPct val="150000"/>
              </a:lnSpc>
            </a:pPr>
            <a:r>
              <a:rPr lang="en-US" altLang="zh-CN" sz="2800" b="1" dirty="0"/>
              <a:t>B</a:t>
            </a:r>
            <a:r>
              <a:rPr lang="zh-CN" altLang="en-US" sz="2800" b="1" dirty="0"/>
              <a:t>．磁场与线圈平面垂直时，线圈所受合力为零，合力矩不为零。  </a:t>
            </a:r>
          </a:p>
          <a:p>
            <a:pPr>
              <a:lnSpc>
                <a:spcPct val="150000"/>
              </a:lnSpc>
            </a:pPr>
            <a:r>
              <a:rPr lang="en-US" altLang="zh-CN" sz="2800" b="1" dirty="0"/>
              <a:t>C</a:t>
            </a:r>
            <a:r>
              <a:rPr lang="zh-CN" altLang="en-US" sz="2800" b="1" dirty="0"/>
              <a:t>．磁场与线圈平面平行时，合力矩最大。</a:t>
            </a:r>
          </a:p>
          <a:p>
            <a:pPr>
              <a:lnSpc>
                <a:spcPct val="150000"/>
              </a:lnSpc>
            </a:pPr>
            <a:r>
              <a:rPr lang="en-US" altLang="zh-CN" sz="2800" b="1" dirty="0"/>
              <a:t>D</a:t>
            </a:r>
            <a:r>
              <a:rPr lang="zh-CN" altLang="en-US" sz="2800" b="1" dirty="0"/>
              <a:t>．线圈在任意位置上所受的合力均为零</a:t>
            </a:r>
            <a:r>
              <a:rPr lang="zh-CN" altLang="en-US" sz="2800" b="1" dirty="0" smtClean="0"/>
              <a:t>。</a:t>
            </a:r>
            <a:endParaRPr lang="zh-CN" altLang="en-US" sz="2800" b="1" dirty="0"/>
          </a:p>
        </p:txBody>
      </p:sp>
      <p:sp>
        <p:nvSpPr>
          <p:cNvPr id="3" name="TextBox 2"/>
          <p:cNvSpPr txBox="1"/>
          <p:nvPr/>
        </p:nvSpPr>
        <p:spPr>
          <a:xfrm>
            <a:off x="719403" y="404665"/>
            <a:ext cx="3648405" cy="584775"/>
          </a:xfrm>
          <a:prstGeom prst="rect">
            <a:avLst/>
          </a:prstGeom>
          <a:noFill/>
        </p:spPr>
        <p:txBody>
          <a:bodyPr wrap="square" rtlCol="0">
            <a:spAutoFit/>
          </a:bodyPr>
          <a:lstStyle/>
          <a:p>
            <a:r>
              <a:rPr lang="zh-CN" altLang="en-US" sz="3200" b="1" smtClean="0">
                <a:solidFill>
                  <a:srgbClr val="1F035D"/>
                </a:solidFill>
              </a:rPr>
              <a:t>单项选择题：</a:t>
            </a:r>
            <a:endParaRPr lang="zh-CN" altLang="en-US" sz="3200" b="1">
              <a:solidFill>
                <a:srgbClr val="1F035D"/>
              </a:solidFill>
            </a:endParaRPr>
          </a:p>
        </p:txBody>
      </p:sp>
    </p:spTree>
    <p:extLst>
      <p:ext uri="{BB962C8B-B14F-4D97-AF65-F5344CB8AC3E}">
        <p14:creationId xmlns:p14="http://schemas.microsoft.com/office/powerpoint/2010/main" val="352342427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pPr>
              <a:lnSpc>
                <a:spcPct val="150000"/>
              </a:lnSpc>
            </a:pPr>
            <a:r>
              <a:rPr lang="zh-CN" altLang="en-US" sz="2800" b="1" dirty="0"/>
              <a:t>平面载流线圈在均匀磁场中，以下说法错误的是（  ）</a:t>
            </a:r>
            <a:endParaRPr lang="zh-CN" altLang="en-US" sz="2800" b="1" dirty="0"/>
          </a:p>
        </p:txBody>
      </p:sp>
      <p:sp>
        <p:nvSpPr>
          <p:cNvPr id="4" name="文本框 3"/>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400" b="1" dirty="0"/>
              <a:t>线圈只发生转动不会发生整个线圈的平动。</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2438400" y="3643313"/>
            <a:ext cx="8534400" cy="642938"/>
          </a:xfrm>
          <a:prstGeom prst="rect">
            <a:avLst/>
          </a:prstGeom>
          <a:noFill/>
        </p:spPr>
        <p:txBody>
          <a:bodyPr vert="horz" rtlCol="0" anchor="ctr" anchorCtr="0">
            <a:noAutofit/>
          </a:bodyPr>
          <a:lstStyle/>
          <a:p>
            <a:pPr>
              <a:lnSpc>
                <a:spcPct val="150000"/>
              </a:lnSpc>
            </a:pPr>
            <a:r>
              <a:rPr lang="zh-CN" altLang="en-US" sz="2400" b="1" dirty="0"/>
              <a:t>磁场与线圈平面垂直时，线圈所受合力为零，合力矩不为零。  </a:t>
            </a:r>
            <a:endParaRPr lang="zh-CN" altLang="en-US" sz="2400" b="1" dirty="0"/>
          </a:p>
        </p:txBody>
      </p:sp>
      <p:sp>
        <p:nvSpPr>
          <p:cNvPr id="6" name="文本框 5"/>
          <p:cNvSpPr txBox="1"/>
          <p:nvPr>
            <p:custDataLst>
              <p:tags r:id="rId5"/>
            </p:custDataLst>
          </p:nvPr>
        </p:nvSpPr>
        <p:spPr>
          <a:xfrm>
            <a:off x="2438400" y="4500563"/>
            <a:ext cx="8534400" cy="642938"/>
          </a:xfrm>
          <a:prstGeom prst="rect">
            <a:avLst/>
          </a:prstGeom>
          <a:noFill/>
        </p:spPr>
        <p:txBody>
          <a:bodyPr vert="horz" rtlCol="0" anchor="ctr" anchorCtr="0">
            <a:noAutofit/>
          </a:bodyPr>
          <a:lstStyle/>
          <a:p>
            <a:pPr>
              <a:lnSpc>
                <a:spcPct val="150000"/>
              </a:lnSpc>
            </a:pPr>
            <a:r>
              <a:rPr lang="zh-CN" altLang="en-US" sz="2400" b="1" dirty="0"/>
              <a:t>磁场与线圈平面平行时，合力矩最大。</a:t>
            </a:r>
            <a:endParaRPr lang="zh-CN" altLang="en-US" sz="2400" b="1" dirty="0"/>
          </a:p>
        </p:txBody>
      </p:sp>
      <p:sp>
        <p:nvSpPr>
          <p:cNvPr id="7" name="文本框 6"/>
          <p:cNvSpPr txBox="1"/>
          <p:nvPr>
            <p:custDataLst>
              <p:tags r:id="rId6"/>
            </p:custDataLst>
          </p:nvPr>
        </p:nvSpPr>
        <p:spPr>
          <a:xfrm>
            <a:off x="2438400" y="5357813"/>
            <a:ext cx="8534400" cy="642938"/>
          </a:xfrm>
          <a:prstGeom prst="rect">
            <a:avLst/>
          </a:prstGeom>
          <a:noFill/>
        </p:spPr>
        <p:txBody>
          <a:bodyPr vert="horz" rtlCol="0" anchor="ctr" anchorCtr="0">
            <a:noAutofit/>
          </a:bodyPr>
          <a:lstStyle/>
          <a:p>
            <a:pPr>
              <a:lnSpc>
                <a:spcPct val="150000"/>
              </a:lnSpc>
            </a:pPr>
            <a:r>
              <a:rPr lang="zh-CN" altLang="en-US" sz="2400" b="1" dirty="0"/>
              <a:t>线圈在任意位置上所受的合力均为零。</a:t>
            </a:r>
            <a:endParaRPr lang="zh-CN" altLang="en-US" sz="2400" b="1" dirty="0"/>
          </a:p>
        </p:txBody>
      </p:sp>
      <p:sp>
        <p:nvSpPr>
          <p:cNvPr id="8" name="椭圆 7"/>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15716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7" name="组合 16"/>
          <p:cNvGrpSpPr/>
          <p:nvPr>
            <p:custDataLst>
              <p:tags r:id="rId12"/>
            </p:custDataLst>
          </p:nvPr>
        </p:nvGrpSpPr>
        <p:grpSpPr>
          <a:xfrm>
            <a:off x="0" y="0"/>
            <a:ext cx="12192000" cy="635000"/>
            <a:chOff x="0" y="0"/>
            <a:chExt cx="12192000" cy="635000"/>
          </a:xfrm>
        </p:grpSpPr>
        <p:sp>
          <p:nvSpPr>
            <p:cNvPr id="13" name="TitleBackground"/>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2580215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8659" y="238812"/>
            <a:ext cx="11326395" cy="1169551"/>
          </a:xfrm>
          <a:prstGeom prst="rect">
            <a:avLst/>
          </a:prstGeom>
          <a:noFill/>
        </p:spPr>
        <p:txBody>
          <a:bodyPr wrap="square" rtlCol="0">
            <a:spAutoFit/>
          </a:bodyPr>
          <a:lstStyle/>
          <a:p>
            <a:pPr>
              <a:lnSpc>
                <a:spcPct val="125000"/>
              </a:lnSpc>
            </a:pPr>
            <a:r>
              <a:rPr lang="zh-CN" altLang="en-US" sz="2800" b="1" dirty="0" smtClean="0">
                <a:latin typeface="Times New Roman" panose="02020603050405020304" pitchFamily="18" charset="0"/>
                <a:cs typeface="Times New Roman" panose="02020603050405020304" pitchFamily="18" charset="0"/>
              </a:rPr>
              <a:t>在匀强磁场中电流回路所受的力矩类似于在匀强电场中电偶极子所受的力矩。可推得：</a:t>
            </a:r>
            <a:endParaRPr lang="zh-CN" altLang="en-US" sz="2800" b="1" dirty="0">
              <a:latin typeface="Times New Roman" panose="02020603050405020304" pitchFamily="18" charset="0"/>
              <a:cs typeface="Times New Roman" panose="02020603050405020304" pitchFamily="18" charset="0"/>
            </a:endParaRPr>
          </a:p>
        </p:txBody>
      </p:sp>
      <p:sp>
        <p:nvSpPr>
          <p:cNvPr id="3" name="文本框 2"/>
          <p:cNvSpPr txBox="1"/>
          <p:nvPr/>
        </p:nvSpPr>
        <p:spPr>
          <a:xfrm>
            <a:off x="3240584" y="1146753"/>
            <a:ext cx="7056107" cy="523220"/>
          </a:xfrm>
          <a:prstGeom prst="rect">
            <a:avLst/>
          </a:prstGeom>
          <a:noFill/>
        </p:spPr>
        <p:txBody>
          <a:bodyPr wrap="square" rtlCol="0">
            <a:spAutoFit/>
          </a:bodyPr>
          <a:lstStyle/>
          <a:p>
            <a:r>
              <a:rPr lang="zh-CN" altLang="en-US" sz="2800" b="1" dirty="0" smtClean="0">
                <a:solidFill>
                  <a:srgbClr val="FF0000"/>
                </a:solidFill>
                <a:latin typeface="Times New Roman" panose="02020603050405020304" pitchFamily="18" charset="0"/>
                <a:cs typeface="Times New Roman" panose="02020603050405020304" pitchFamily="18" charset="0"/>
              </a:rPr>
              <a:t>一个电流回路是一个磁偶极子。</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393537" y="1807522"/>
            <a:ext cx="10972199" cy="1169551"/>
          </a:xfrm>
          <a:prstGeom prst="rect">
            <a:avLst/>
          </a:prstGeom>
          <a:noFill/>
        </p:spPr>
        <p:txBody>
          <a:bodyPr wrap="square" rtlCol="0">
            <a:spAutoFit/>
          </a:bodyPr>
          <a:lstStyle/>
          <a:p>
            <a:pPr>
              <a:lnSpc>
                <a:spcPct val="125000"/>
              </a:lnSpc>
            </a:pPr>
            <a:r>
              <a:rPr lang="zh-CN" altLang="en-US" sz="2800" dirty="0" smtClean="0">
                <a:latin typeface="Times New Roman" panose="02020603050405020304" pitchFamily="18" charset="0"/>
                <a:cs typeface="Times New Roman" panose="02020603050405020304" pitchFamily="18" charset="0"/>
              </a:rPr>
              <a:t>       </a:t>
            </a:r>
            <a:r>
              <a:rPr lang="zh-CN" altLang="en-US" sz="2800" b="1" dirty="0" smtClean="0">
                <a:latin typeface="Times New Roman" panose="02020603050405020304" pitchFamily="18" charset="0"/>
                <a:cs typeface="Times New Roman" panose="02020603050405020304" pitchFamily="18" charset="0"/>
              </a:rPr>
              <a:t>由右手螺旋法则选定的垂直于回路的方向为磁偶极矩矢量的方向。方向为：从该偶极子的</a:t>
            </a:r>
            <a:r>
              <a:rPr lang="en-US" altLang="zh-CN" sz="2800" b="1" dirty="0" smtClean="0">
                <a:latin typeface="Times New Roman" panose="02020603050405020304" pitchFamily="18" charset="0"/>
                <a:cs typeface="Times New Roman" panose="02020603050405020304" pitchFamily="18" charset="0"/>
              </a:rPr>
              <a:t>S</a:t>
            </a:r>
            <a:r>
              <a:rPr lang="zh-CN" altLang="en-US" sz="2800" b="1" dirty="0" smtClean="0">
                <a:latin typeface="Times New Roman" panose="02020603050405020304" pitchFamily="18" charset="0"/>
                <a:cs typeface="Times New Roman" panose="02020603050405020304" pitchFamily="18" charset="0"/>
              </a:rPr>
              <a:t>极指向其</a:t>
            </a:r>
            <a:r>
              <a:rPr lang="en-US" altLang="zh-CN" sz="2800" b="1" dirty="0" smtClean="0">
                <a:latin typeface="Times New Roman" panose="02020603050405020304" pitchFamily="18" charset="0"/>
                <a:cs typeface="Times New Roman" panose="02020603050405020304" pitchFamily="18" charset="0"/>
              </a:rPr>
              <a:t>N</a:t>
            </a:r>
            <a:r>
              <a:rPr lang="zh-CN" altLang="en-US" sz="2800" b="1" dirty="0" smtClean="0">
                <a:latin typeface="Times New Roman" panose="02020603050405020304" pitchFamily="18" charset="0"/>
                <a:cs typeface="Times New Roman" panose="02020603050405020304" pitchFamily="18" charset="0"/>
              </a:rPr>
              <a:t>极。</a:t>
            </a:r>
            <a:endParaRPr lang="zh-CN" altLang="en-US" sz="2800" b="1" dirty="0">
              <a:latin typeface="Times New Roman" panose="02020603050405020304" pitchFamily="18" charset="0"/>
              <a:cs typeface="Times New Roman" panose="02020603050405020304" pitchFamily="18" charset="0"/>
            </a:endParaRPr>
          </a:p>
        </p:txBody>
      </p:sp>
      <p:sp>
        <p:nvSpPr>
          <p:cNvPr id="5" name="文本框 4"/>
          <p:cNvSpPr txBox="1"/>
          <p:nvPr/>
        </p:nvSpPr>
        <p:spPr>
          <a:xfrm>
            <a:off x="0" y="5415623"/>
            <a:ext cx="12243715" cy="630942"/>
          </a:xfrm>
          <a:prstGeom prst="rect">
            <a:avLst/>
          </a:prstGeom>
          <a:noFill/>
        </p:spPr>
        <p:txBody>
          <a:bodyPr wrap="square" rtlCol="0">
            <a:spAutoFit/>
          </a:bodyPr>
          <a:lstStyle/>
          <a:p>
            <a:pPr>
              <a:lnSpc>
                <a:spcPct val="125000"/>
              </a:lnSpc>
            </a:pPr>
            <a:r>
              <a:rPr lang="zh-CN" altLang="en-US" sz="2800" dirty="0" smtClean="0">
                <a:latin typeface="Times New Roman" panose="02020603050405020304" pitchFamily="18" charset="0"/>
                <a:cs typeface="Times New Roman" panose="02020603050405020304" pitchFamily="18" charset="0"/>
              </a:rPr>
              <a:t>       </a:t>
            </a:r>
            <a:r>
              <a:rPr lang="zh-CN" altLang="en-US" sz="2800" b="1" dirty="0" smtClean="0">
                <a:solidFill>
                  <a:srgbClr val="FF0000"/>
                </a:solidFill>
                <a:latin typeface="Times New Roman" panose="02020603050405020304" pitchFamily="18" charset="0"/>
                <a:cs typeface="Times New Roman" panose="02020603050405020304" pitchFamily="18" charset="0"/>
              </a:rPr>
              <a:t>任何磁偶极子在外磁场中所受的力矩趋于使磁偶极矩与磁场方向一致。</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pic>
        <p:nvPicPr>
          <p:cNvPr id="13" name="图片 12"/>
          <p:cNvPicPr>
            <a:picLocks noChangeAspect="1"/>
          </p:cNvPicPr>
          <p:nvPr/>
        </p:nvPicPr>
        <p:blipFill>
          <a:blip r:embed="rId2" cstate="print"/>
          <a:stretch>
            <a:fillRect/>
          </a:stretch>
        </p:blipFill>
        <p:spPr>
          <a:xfrm>
            <a:off x="4153384" y="2977073"/>
            <a:ext cx="3304795" cy="2371901"/>
          </a:xfrm>
          <a:prstGeom prst="rect">
            <a:avLst/>
          </a:prstGeom>
        </p:spPr>
      </p:pic>
    </p:spTree>
    <p:extLst>
      <p:ext uri="{BB962C8B-B14F-4D97-AF65-F5344CB8AC3E}">
        <p14:creationId xmlns:p14="http://schemas.microsoft.com/office/powerpoint/2010/main" val="14130589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800" y="1046747"/>
            <a:ext cx="6813682" cy="4449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1482" y="1249363"/>
            <a:ext cx="4393514" cy="3468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866272" y="5496511"/>
            <a:ext cx="10720137" cy="830997"/>
          </a:xfrm>
          <a:prstGeom prst="rect">
            <a:avLst/>
          </a:prstGeom>
          <a:noFill/>
        </p:spPr>
        <p:txBody>
          <a:bodyPr wrap="square" rtlCol="0">
            <a:spAutoFit/>
          </a:bodyPr>
          <a:lstStyle/>
          <a:p>
            <a:r>
              <a:rPr lang="zh-CN" altLang="en-US" sz="2400" b="1" dirty="0" smtClean="0">
                <a:solidFill>
                  <a:srgbClr val="0070C0"/>
                </a:solidFill>
              </a:rPr>
              <a:t>电偶极矩矢量是从电偶极子的负电荷指向其正电荷，</a:t>
            </a:r>
            <a:r>
              <a:rPr lang="zh-CN" altLang="en-US" sz="2400" dirty="0"/>
              <a:t>电偶极子在外电场中受力矩作用而旋转，使其电偶极矩转向外电场方向</a:t>
            </a:r>
            <a:r>
              <a:rPr lang="zh-CN" altLang="en-US" sz="2400" dirty="0" smtClean="0"/>
              <a:t>。</a:t>
            </a:r>
            <a:endParaRPr lang="zh-CN" altLang="en-US" sz="2400" b="1" dirty="0">
              <a:solidFill>
                <a:srgbClr val="0070C0"/>
              </a:solidFill>
            </a:endParaRPr>
          </a:p>
        </p:txBody>
      </p:sp>
    </p:spTree>
    <p:extLst>
      <p:ext uri="{BB962C8B-B14F-4D97-AF65-F5344CB8AC3E}">
        <p14:creationId xmlns:p14="http://schemas.microsoft.com/office/powerpoint/2010/main" val="12559388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4941" y="942224"/>
            <a:ext cx="6573753" cy="46067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659436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stretch>
            <a:fillRect/>
          </a:stretch>
        </p:blipFill>
        <p:spPr>
          <a:xfrm>
            <a:off x="-16413" y="625965"/>
            <a:ext cx="11408313" cy="3336566"/>
          </a:xfrm>
          <a:prstGeom prst="rect">
            <a:avLst/>
          </a:prstGeom>
        </p:spPr>
      </p:pic>
      <p:sp>
        <p:nvSpPr>
          <p:cNvPr id="3" name="文本框 2"/>
          <p:cNvSpPr txBox="1"/>
          <p:nvPr/>
        </p:nvSpPr>
        <p:spPr>
          <a:xfrm>
            <a:off x="31971" y="2717"/>
            <a:ext cx="8953500" cy="623248"/>
          </a:xfrm>
          <a:prstGeom prst="rect">
            <a:avLst/>
          </a:prstGeom>
          <a:noFill/>
        </p:spPr>
        <p:txBody>
          <a:bodyPr wrap="square" rtlCol="0">
            <a:spAutoFit/>
          </a:bodyPr>
          <a:lstStyle/>
          <a:p>
            <a:pPr>
              <a:lnSpc>
                <a:spcPct val="125000"/>
              </a:lnSpc>
            </a:pPr>
            <a:r>
              <a:rPr lang="zh-CN" altLang="en-US" sz="3200" b="1" dirty="0" smtClean="0">
                <a:solidFill>
                  <a:srgbClr val="000099"/>
                </a:solidFill>
                <a:latin typeface="黑体" pitchFamily="49" charset="-122"/>
                <a:ea typeface="黑体" pitchFamily="49" charset="-122"/>
              </a:rPr>
              <a:t>电流回路所受的磁力矩的应用</a:t>
            </a:r>
            <a:r>
              <a:rPr lang="en-US" altLang="zh-CN" sz="3200" b="1" dirty="0" smtClean="0">
                <a:solidFill>
                  <a:srgbClr val="000099"/>
                </a:solidFill>
                <a:latin typeface="黑体" pitchFamily="49" charset="-122"/>
                <a:ea typeface="黑体" pitchFamily="49" charset="-122"/>
              </a:rPr>
              <a:t>1</a:t>
            </a:r>
            <a:r>
              <a:rPr lang="zh-CN" altLang="en-US" sz="3200" b="1" dirty="0" smtClean="0">
                <a:solidFill>
                  <a:srgbClr val="000099"/>
                </a:solidFill>
                <a:latin typeface="黑体" pitchFamily="49" charset="-122"/>
                <a:ea typeface="黑体" pitchFamily="49" charset="-122"/>
              </a:rPr>
              <a:t>：电动机</a:t>
            </a:r>
            <a:endParaRPr lang="zh-CN" altLang="en-US" sz="3200" b="1" dirty="0">
              <a:solidFill>
                <a:srgbClr val="000099"/>
              </a:solidFill>
              <a:latin typeface="黑体" pitchFamily="49" charset="-122"/>
              <a:ea typeface="黑体" pitchFamily="49" charset="-122"/>
            </a:endParaRPr>
          </a:p>
        </p:txBody>
      </p:sp>
      <p:sp>
        <p:nvSpPr>
          <p:cNvPr id="4" name="文本框 3"/>
          <p:cNvSpPr txBox="1"/>
          <p:nvPr/>
        </p:nvSpPr>
        <p:spPr>
          <a:xfrm>
            <a:off x="31971" y="3787906"/>
            <a:ext cx="12048661" cy="2800703"/>
          </a:xfrm>
          <a:prstGeom prst="rect">
            <a:avLst/>
          </a:prstGeom>
          <a:noFill/>
        </p:spPr>
        <p:txBody>
          <a:bodyPr wrap="square" rtlCol="0">
            <a:spAutoFit/>
          </a:bodyPr>
          <a:lstStyle/>
          <a:p>
            <a:pPr algn="just">
              <a:lnSpc>
                <a:spcPct val="125000"/>
              </a:lnSpc>
            </a:pPr>
            <a:r>
              <a:rPr lang="zh-CN" altLang="en-US" sz="2400" b="1" dirty="0" smtClean="0">
                <a:latin typeface="Times New Roman" panose="02020603050405020304" pitchFamily="18" charset="0"/>
                <a:cs typeface="Times New Roman" panose="02020603050405020304" pitchFamily="18" charset="0"/>
              </a:rPr>
              <a:t>简单的直流电动机。</a:t>
            </a:r>
            <a:r>
              <a:rPr lang="en-US" altLang="zh-CN" sz="2400" b="1" dirty="0" smtClean="0">
                <a:latin typeface="Times New Roman" panose="02020603050405020304" pitchFamily="18" charset="0"/>
                <a:cs typeface="Times New Roman" panose="02020603050405020304" pitchFamily="18" charset="0"/>
              </a:rPr>
              <a:t>a</a:t>
            </a:r>
            <a:r>
              <a:rPr lang="zh-CN" altLang="en-US" sz="2400" b="1" dirty="0" smtClean="0">
                <a:latin typeface="Times New Roman" panose="02020603050405020304" pitchFamily="18" charset="0"/>
                <a:cs typeface="Times New Roman" panose="02020603050405020304" pitchFamily="18" charset="0"/>
              </a:rPr>
              <a:t>）换向器是在电动机绕组中每旋转</a:t>
            </a:r>
            <a:r>
              <a:rPr lang="en-US" altLang="zh-CN" sz="2400" b="1" dirty="0" smtClean="0">
                <a:latin typeface="Times New Roman" panose="02020603050405020304" pitchFamily="18" charset="0"/>
                <a:cs typeface="Times New Roman" panose="02020603050405020304" pitchFamily="18" charset="0"/>
              </a:rPr>
              <a:t>180</a:t>
            </a:r>
            <a:r>
              <a:rPr lang="en-US" altLang="zh-CN" sz="2400" b="1" baseline="30000" dirty="0" smtClean="0">
                <a:latin typeface="Times New Roman" panose="02020603050405020304" pitchFamily="18" charset="0"/>
                <a:cs typeface="Times New Roman" panose="02020603050405020304" pitchFamily="18" charset="0"/>
              </a:rPr>
              <a:t>0</a:t>
            </a:r>
            <a:r>
              <a:rPr lang="zh-CN" altLang="en-US" sz="2400" b="1" dirty="0" smtClean="0">
                <a:latin typeface="Times New Roman" panose="02020603050405020304" pitchFamily="18" charset="0"/>
                <a:cs typeface="Times New Roman" panose="02020603050405020304" pitchFamily="18" charset="0"/>
              </a:rPr>
              <a:t>使电流反向的一个旋转式开关。从电源至电动机绕组的电连接是在两个导电刷和转轴上的两个导电焊片之间。</a:t>
            </a:r>
            <a:r>
              <a:rPr lang="en-US" altLang="zh-CN" sz="2400" b="1" dirty="0" smtClean="0">
                <a:latin typeface="Times New Roman" panose="02020603050405020304" pitchFamily="18" charset="0"/>
                <a:cs typeface="Times New Roman" panose="02020603050405020304" pitchFamily="18" charset="0"/>
              </a:rPr>
              <a:t>b</a:t>
            </a:r>
            <a:r>
              <a:rPr lang="zh-CN" altLang="en-US" sz="2400" b="1" dirty="0" smtClean="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在</a:t>
            </a:r>
            <a:r>
              <a:rPr lang="zh-CN" altLang="en-US" sz="2400" b="1" dirty="0" smtClean="0">
                <a:latin typeface="Times New Roman" panose="02020603050405020304" pitchFamily="18" charset="0"/>
                <a:cs typeface="Times New Roman" panose="02020603050405020304" pitchFamily="18" charset="0"/>
              </a:rPr>
              <a:t>该位置上，线圈所受的逆时针方向的力矩驱使它远离非稳定的平衡并转向稳定平衡位置。</a:t>
            </a:r>
            <a:r>
              <a:rPr lang="en-US" altLang="zh-CN" sz="2400" b="1" dirty="0" smtClean="0">
                <a:latin typeface="Times New Roman" panose="02020603050405020304" pitchFamily="18" charset="0"/>
                <a:cs typeface="Times New Roman" panose="02020603050405020304" pitchFamily="18" charset="0"/>
              </a:rPr>
              <a:t>c</a:t>
            </a:r>
            <a:r>
              <a:rPr lang="zh-CN" altLang="en-US" sz="2400" b="1" dirty="0" smtClean="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当</a:t>
            </a:r>
            <a:r>
              <a:rPr lang="zh-CN" altLang="en-US" sz="2400" b="1" dirty="0" smtClean="0">
                <a:latin typeface="Times New Roman" panose="02020603050405020304" pitchFamily="18" charset="0"/>
                <a:cs typeface="Times New Roman" panose="02020603050405020304" pitchFamily="18" charset="0"/>
              </a:rPr>
              <a:t>线圈将要接近稳定平衡时，电刷越过换向器的开口处，电流终端线圈所受的力矩为零。</a:t>
            </a:r>
            <a:r>
              <a:rPr lang="en-US" altLang="zh-CN" sz="2400" b="1" dirty="0" smtClean="0">
                <a:latin typeface="Times New Roman" panose="02020603050405020304" pitchFamily="18" charset="0"/>
                <a:cs typeface="Times New Roman" panose="02020603050405020304" pitchFamily="18" charset="0"/>
              </a:rPr>
              <a:t>d</a:t>
            </a:r>
            <a:r>
              <a:rPr lang="zh-CN" altLang="en-US" sz="2400" b="1" dirty="0" smtClean="0">
                <a:latin typeface="Times New Roman" panose="02020603050405020304" pitchFamily="18" charset="0"/>
                <a:cs typeface="Times New Roman" panose="02020603050405020304" pitchFamily="18" charset="0"/>
              </a:rPr>
              <a:t>）当线圈转动稍多一点时，电刷重新连接但绕组中的电流翻转方向了，所以线圈所受的力矩同样是逆时针方向，远离非稳定的平衡并转向稳定平衡位置</a:t>
            </a:r>
            <a:r>
              <a:rPr lang="zh-CN" altLang="en-US" sz="2400" b="1" dirty="0" smtClean="0"/>
              <a:t>。</a:t>
            </a:r>
            <a:endParaRPr lang="zh-CN" altLang="en-US" sz="2400" b="1" baseline="30000" dirty="0"/>
          </a:p>
        </p:txBody>
      </p:sp>
      <p:sp>
        <p:nvSpPr>
          <p:cNvPr id="5" name="TextBox 4"/>
          <p:cNvSpPr txBox="1"/>
          <p:nvPr/>
        </p:nvSpPr>
        <p:spPr>
          <a:xfrm>
            <a:off x="8115300" y="395132"/>
            <a:ext cx="3965332" cy="461665"/>
          </a:xfrm>
          <a:prstGeom prst="rect">
            <a:avLst/>
          </a:prstGeom>
          <a:noFill/>
        </p:spPr>
        <p:txBody>
          <a:bodyPr wrap="square" rtlCol="0">
            <a:spAutoFit/>
          </a:bodyPr>
          <a:lstStyle/>
          <a:p>
            <a:r>
              <a:rPr lang="zh-CN" altLang="en-US" sz="2400" b="1" dirty="0" smtClean="0"/>
              <a:t>电动机把电能转换为机械能。</a:t>
            </a:r>
            <a:endParaRPr lang="zh-CN" altLang="en-US" sz="2400" b="1" dirty="0"/>
          </a:p>
        </p:txBody>
      </p:sp>
    </p:spTree>
    <p:extLst>
      <p:ext uri="{BB962C8B-B14F-4D97-AF65-F5344CB8AC3E}">
        <p14:creationId xmlns:p14="http://schemas.microsoft.com/office/powerpoint/2010/main" val="16261186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stretch>
            <a:fillRect/>
          </a:stretch>
        </p:blipFill>
        <p:spPr>
          <a:xfrm>
            <a:off x="5615947" y="116632"/>
            <a:ext cx="6400800" cy="6477000"/>
          </a:xfrm>
          <a:prstGeom prst="rect">
            <a:avLst/>
          </a:prstGeom>
        </p:spPr>
      </p:pic>
      <p:sp>
        <p:nvSpPr>
          <p:cNvPr id="3" name="文本框 2"/>
          <p:cNvSpPr txBox="1"/>
          <p:nvPr/>
        </p:nvSpPr>
        <p:spPr>
          <a:xfrm>
            <a:off x="154070" y="317992"/>
            <a:ext cx="4304383" cy="1323439"/>
          </a:xfrm>
          <a:prstGeom prst="rect">
            <a:avLst/>
          </a:prstGeom>
          <a:noFill/>
        </p:spPr>
        <p:txBody>
          <a:bodyPr wrap="none" rtlCol="0">
            <a:spAutoFit/>
          </a:bodyPr>
          <a:lstStyle/>
          <a:p>
            <a:pPr>
              <a:lnSpc>
                <a:spcPct val="125000"/>
              </a:lnSpc>
            </a:pPr>
            <a:r>
              <a:rPr lang="zh-CN" altLang="en-US" sz="3200" b="1" dirty="0" smtClean="0">
                <a:latin typeface="黑体" pitchFamily="49" charset="-122"/>
                <a:ea typeface="黑体" pitchFamily="49" charset="-122"/>
              </a:rPr>
              <a:t>电流回路所受的磁力矩</a:t>
            </a:r>
            <a:endParaRPr lang="en-US" altLang="zh-CN" sz="3200" b="1" dirty="0" smtClean="0">
              <a:latin typeface="黑体" pitchFamily="49" charset="-122"/>
              <a:ea typeface="黑体" pitchFamily="49" charset="-122"/>
            </a:endParaRPr>
          </a:p>
          <a:p>
            <a:pPr>
              <a:lnSpc>
                <a:spcPct val="125000"/>
              </a:lnSpc>
            </a:pPr>
            <a:r>
              <a:rPr lang="zh-CN" altLang="en-US" sz="3200" b="1" dirty="0" smtClean="0">
                <a:latin typeface="黑体" pitchFamily="49" charset="-122"/>
                <a:ea typeface="黑体" pitchFamily="49" charset="-122"/>
              </a:rPr>
              <a:t>的应用</a:t>
            </a:r>
            <a:r>
              <a:rPr lang="en-US" altLang="zh-CN" sz="3200" b="1" dirty="0" smtClean="0">
                <a:latin typeface="黑体" pitchFamily="49" charset="-122"/>
                <a:ea typeface="黑体" pitchFamily="49" charset="-122"/>
              </a:rPr>
              <a:t>2</a:t>
            </a:r>
            <a:r>
              <a:rPr lang="zh-CN" altLang="en-US" sz="3200" b="1" dirty="0" smtClean="0">
                <a:latin typeface="黑体" pitchFamily="49" charset="-122"/>
                <a:ea typeface="黑体" pitchFamily="49" charset="-122"/>
              </a:rPr>
              <a:t>：检流计</a:t>
            </a:r>
            <a:r>
              <a:rPr lang="en-US" altLang="zh-CN" sz="3200" b="1" dirty="0" smtClean="0">
                <a:latin typeface="黑体" pitchFamily="49" charset="-122"/>
                <a:ea typeface="黑体" pitchFamily="49" charset="-122"/>
              </a:rPr>
              <a:t>*</a:t>
            </a:r>
            <a:endParaRPr lang="zh-CN" altLang="en-US" sz="3200" b="1" dirty="0">
              <a:latin typeface="黑体" pitchFamily="49" charset="-122"/>
              <a:ea typeface="黑体" pitchFamily="49" charset="-122"/>
            </a:endParaRPr>
          </a:p>
        </p:txBody>
      </p:sp>
      <p:sp>
        <p:nvSpPr>
          <p:cNvPr id="4" name="文本框 3"/>
          <p:cNvSpPr txBox="1"/>
          <p:nvPr/>
        </p:nvSpPr>
        <p:spPr>
          <a:xfrm>
            <a:off x="143339" y="1556792"/>
            <a:ext cx="5760640" cy="4401205"/>
          </a:xfrm>
          <a:prstGeom prst="rect">
            <a:avLst/>
          </a:prstGeom>
          <a:noFill/>
        </p:spPr>
        <p:txBody>
          <a:bodyPr wrap="square" rtlCol="0">
            <a:spAutoFit/>
          </a:bodyPr>
          <a:lstStyle/>
          <a:p>
            <a:pPr>
              <a:lnSpc>
                <a:spcPct val="125000"/>
              </a:lnSpc>
            </a:pPr>
            <a:r>
              <a:rPr lang="zh-CN" altLang="en-US" sz="2800" dirty="0" smtClean="0"/>
              <a:t>        </a:t>
            </a:r>
            <a:r>
              <a:rPr lang="zh-CN" altLang="en-US" sz="2800" b="1" dirty="0"/>
              <a:t>磁铁的形状使磁场始终垂直于导线且大小恒定。力矩与线圈角度无关。游丝提供了一个</a:t>
            </a:r>
            <a:r>
              <a:rPr lang="zh-CN" altLang="en-US" sz="2800" b="1" dirty="0" smtClean="0"/>
              <a:t>正比于线圈角位移的回复力矩。当电流流过线圈时，磁力矩与电流成正比。线圈转动直到弹簧的回复力矩与磁力矩大小相等。因此，线圈中的角位移与线圈中的电流成正比。</a:t>
            </a:r>
            <a:endParaRPr lang="zh-CN" altLang="en-US" sz="2800" b="1" dirty="0"/>
          </a:p>
        </p:txBody>
      </p:sp>
    </p:spTree>
    <p:extLst>
      <p:ext uri="{BB962C8B-B14F-4D97-AF65-F5344CB8AC3E}">
        <p14:creationId xmlns:p14="http://schemas.microsoft.com/office/powerpoint/2010/main" val="31644751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1000" y="172620"/>
            <a:ext cx="7054516" cy="982412"/>
          </a:xfrm>
        </p:spPr>
        <p:txBody>
          <a:bodyPr>
            <a:normAutofit/>
          </a:bodyPr>
          <a:lstStyle/>
          <a:p>
            <a:r>
              <a:rPr lang="zh-CN" altLang="en-US" sz="3200" b="1" dirty="0" smtClean="0"/>
              <a:t>例</a:t>
            </a:r>
            <a:r>
              <a:rPr lang="en-US" altLang="zh-CN" sz="3200" b="1" dirty="0" smtClean="0"/>
              <a:t>19.7  </a:t>
            </a:r>
            <a:r>
              <a:rPr lang="zh-CN" altLang="en-US" sz="3200" b="1" dirty="0" smtClean="0"/>
              <a:t>检流计</a:t>
            </a:r>
            <a:r>
              <a:rPr lang="zh-CN" altLang="en-US" sz="3200" b="1" dirty="0"/>
              <a:t>线圈所受的力和力矩 </a:t>
            </a:r>
          </a:p>
        </p:txBody>
      </p:sp>
      <p:sp>
        <p:nvSpPr>
          <p:cNvPr id="3" name="内容占位符 2"/>
          <p:cNvSpPr>
            <a:spLocks noGrp="1"/>
          </p:cNvSpPr>
          <p:nvPr>
            <p:ph idx="1"/>
          </p:nvPr>
        </p:nvSpPr>
        <p:spPr>
          <a:xfrm>
            <a:off x="429126" y="1452646"/>
            <a:ext cx="5081337" cy="4351338"/>
          </a:xfrm>
        </p:spPr>
        <p:txBody>
          <a:bodyPr/>
          <a:lstStyle/>
          <a:p>
            <a:pPr marL="0" indent="0">
              <a:buNone/>
            </a:pPr>
            <a:r>
              <a:rPr lang="zh-CN" altLang="en-US" b="1" dirty="0"/>
              <a:t>说明</a:t>
            </a:r>
            <a:r>
              <a:rPr lang="zh-CN" altLang="en-US" b="1" dirty="0" smtClean="0"/>
              <a:t>：（</a:t>
            </a:r>
            <a:r>
              <a:rPr lang="en-US" altLang="zh-CN" b="1" dirty="0"/>
              <a:t>a</a:t>
            </a:r>
            <a:r>
              <a:rPr lang="zh-CN" altLang="en-US" b="1" dirty="0"/>
              <a:t>）在图</a:t>
            </a:r>
            <a:r>
              <a:rPr lang="en-US" altLang="zh-CN" b="1" dirty="0"/>
              <a:t>19.31</a:t>
            </a:r>
            <a:r>
              <a:rPr lang="zh-CN" altLang="en-US" b="1" dirty="0"/>
              <a:t>检流计中绕枢轴转动的合磁力为零； （</a:t>
            </a:r>
            <a:r>
              <a:rPr lang="en-US" altLang="zh-CN" b="1" dirty="0"/>
              <a:t>b</a:t>
            </a:r>
            <a:r>
              <a:rPr lang="zh-CN" altLang="en-US" b="1" dirty="0"/>
              <a:t>）有合力矩；并且（</a:t>
            </a:r>
            <a:r>
              <a:rPr lang="en-US" altLang="zh-CN" b="1" dirty="0"/>
              <a:t>c</a:t>
            </a:r>
            <a:r>
              <a:rPr lang="zh-CN" altLang="en-US" b="1" dirty="0"/>
              <a:t>）该力矩是在正确的方向上使指针在 页面所在平面上摆动。（</a:t>
            </a:r>
            <a:r>
              <a:rPr lang="en-US" altLang="zh-CN" b="1" dirty="0"/>
              <a:t>d</a:t>
            </a:r>
            <a:r>
              <a:rPr lang="zh-CN" altLang="en-US" b="1" dirty="0"/>
              <a:t>）确定线圈中的电流需沿哪个方向流动使指针向右摆动。假设在磁极面和铁芯之间的空间中磁 场沿径向，并且大小匀强，而在横过铁心的线圈两边附近磁 场为零。</a:t>
            </a:r>
          </a:p>
          <a:p>
            <a:endParaRPr lang="zh-CN" altLang="en-US" b="1" dirty="0"/>
          </a:p>
        </p:txBody>
      </p:sp>
      <p:pic>
        <p:nvPicPr>
          <p:cNvPr id="4" name="图片 3"/>
          <p:cNvPicPr>
            <a:picLocks noChangeAspect="1"/>
          </p:cNvPicPr>
          <p:nvPr/>
        </p:nvPicPr>
        <p:blipFill>
          <a:blip r:embed="rId2" cstate="print"/>
          <a:stretch>
            <a:fillRect/>
          </a:stretch>
        </p:blipFill>
        <p:spPr>
          <a:xfrm>
            <a:off x="6364705" y="842210"/>
            <a:ext cx="5652042" cy="5751421"/>
          </a:xfrm>
          <a:prstGeom prst="rect">
            <a:avLst/>
          </a:prstGeom>
        </p:spPr>
      </p:pic>
    </p:spTree>
    <p:extLst>
      <p:ext uri="{BB962C8B-B14F-4D97-AF65-F5344CB8AC3E}">
        <p14:creationId xmlns:p14="http://schemas.microsoft.com/office/powerpoint/2010/main" val="29820193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stretch>
            <a:fillRect/>
          </a:stretch>
        </p:blipFill>
        <p:spPr>
          <a:xfrm>
            <a:off x="884859" y="760056"/>
            <a:ext cx="10039328" cy="4438352"/>
          </a:xfrm>
          <a:prstGeom prst="rect">
            <a:avLst/>
          </a:prstGeom>
        </p:spPr>
      </p:pic>
      <p:sp>
        <p:nvSpPr>
          <p:cNvPr id="5" name="文本框 4"/>
          <p:cNvSpPr txBox="1"/>
          <p:nvPr/>
        </p:nvSpPr>
        <p:spPr>
          <a:xfrm>
            <a:off x="340949" y="5198408"/>
            <a:ext cx="11952651" cy="1477328"/>
          </a:xfrm>
          <a:prstGeom prst="rect">
            <a:avLst/>
          </a:prstGeom>
          <a:noFill/>
        </p:spPr>
        <p:txBody>
          <a:bodyPr wrap="square" rtlCol="0">
            <a:spAutoFit/>
          </a:bodyPr>
          <a:lstStyle/>
          <a:p>
            <a:pPr>
              <a:lnSpc>
                <a:spcPct val="125000"/>
              </a:lnSpc>
            </a:pPr>
            <a:r>
              <a:rPr lang="en-US" altLang="zh-CN" sz="2400" b="1" dirty="0" smtClean="0"/>
              <a:t>a</a:t>
            </a:r>
            <a:r>
              <a:rPr lang="zh-CN" altLang="en-US" sz="2400" b="1" dirty="0" smtClean="0"/>
              <a:t>）扬声器简图。来自放大器的变化电流流经一个线圈。该线圈所受的磁力使它与相连的锥形盆移进和移出。</a:t>
            </a:r>
            <a:r>
              <a:rPr lang="en-US" altLang="zh-CN" sz="2400" b="1" dirty="0" smtClean="0"/>
              <a:t>b</a:t>
            </a:r>
            <a:r>
              <a:rPr lang="zh-CN" altLang="en-US" sz="2400" b="1" dirty="0" smtClean="0"/>
              <a:t>）线圈的正视图。</a:t>
            </a:r>
            <a:r>
              <a:rPr lang="zh-CN" altLang="en-US" sz="2400" dirty="0"/>
              <a:t>顺时针方向</a:t>
            </a:r>
            <a:r>
              <a:rPr lang="zh-CN" altLang="en-US" sz="2400" dirty="0" smtClean="0"/>
              <a:t>电流。</a:t>
            </a:r>
            <a:endParaRPr lang="en-US" altLang="zh-CN" sz="2400" b="1" dirty="0" smtClean="0"/>
          </a:p>
          <a:p>
            <a:pPr>
              <a:lnSpc>
                <a:spcPct val="125000"/>
              </a:lnSpc>
            </a:pPr>
            <a:r>
              <a:rPr lang="zh-CN" altLang="en-US" sz="2400" b="1" dirty="0" smtClean="0">
                <a:solidFill>
                  <a:srgbClr val="FF0000"/>
                </a:solidFill>
              </a:rPr>
              <a:t>径向磁场使线圈的每一部分受力在相同方向上</a:t>
            </a:r>
            <a:r>
              <a:rPr lang="zh-CN" altLang="en-US" sz="2400" dirty="0" smtClean="0"/>
              <a:t>。</a:t>
            </a:r>
            <a:endParaRPr lang="zh-CN" altLang="en-US" sz="2400" dirty="0"/>
          </a:p>
        </p:txBody>
      </p:sp>
      <p:sp>
        <p:nvSpPr>
          <p:cNvPr id="4" name="文本框 3"/>
          <p:cNvSpPr txBox="1"/>
          <p:nvPr/>
        </p:nvSpPr>
        <p:spPr>
          <a:xfrm>
            <a:off x="-1" y="0"/>
            <a:ext cx="11809049" cy="623248"/>
          </a:xfrm>
          <a:prstGeom prst="rect">
            <a:avLst/>
          </a:prstGeom>
          <a:noFill/>
        </p:spPr>
        <p:txBody>
          <a:bodyPr wrap="square" rtlCol="0">
            <a:spAutoFit/>
          </a:bodyPr>
          <a:lstStyle/>
          <a:p>
            <a:pPr>
              <a:lnSpc>
                <a:spcPct val="125000"/>
              </a:lnSpc>
            </a:pPr>
            <a:r>
              <a:rPr lang="zh-CN" altLang="en-US" sz="3200" b="1" dirty="0" smtClean="0">
                <a:solidFill>
                  <a:srgbClr val="000099"/>
                </a:solidFill>
                <a:latin typeface="黑体" pitchFamily="49" charset="-122"/>
                <a:ea typeface="黑体" pitchFamily="49" charset="-122"/>
              </a:rPr>
              <a:t>电流回路所受的磁力矩的应用</a:t>
            </a:r>
            <a:r>
              <a:rPr lang="en-US" altLang="zh-CN" sz="3200" b="1" dirty="0" smtClean="0">
                <a:solidFill>
                  <a:srgbClr val="000099"/>
                </a:solidFill>
                <a:latin typeface="黑体" pitchFamily="49" charset="-122"/>
                <a:ea typeface="黑体" pitchFamily="49" charset="-122"/>
              </a:rPr>
              <a:t>3</a:t>
            </a:r>
            <a:r>
              <a:rPr lang="zh-CN" altLang="en-US" sz="3200" b="1" dirty="0" smtClean="0">
                <a:solidFill>
                  <a:srgbClr val="000099"/>
                </a:solidFill>
                <a:latin typeface="黑体" pitchFamily="49" charset="-122"/>
                <a:ea typeface="黑体" pitchFamily="49" charset="-122"/>
              </a:rPr>
              <a:t>：扬声器</a:t>
            </a:r>
            <a:endParaRPr lang="zh-CN" altLang="en-US" sz="3200" b="1" dirty="0">
              <a:solidFill>
                <a:srgbClr val="000099"/>
              </a:solidFill>
              <a:latin typeface="黑体" pitchFamily="49" charset="-122"/>
              <a:ea typeface="黑体" pitchFamily="49" charset="-122"/>
            </a:endParaRPr>
          </a:p>
        </p:txBody>
      </p:sp>
      <p:sp>
        <p:nvSpPr>
          <p:cNvPr id="3" name="TextBox 2"/>
          <p:cNvSpPr txBox="1"/>
          <p:nvPr/>
        </p:nvSpPr>
        <p:spPr>
          <a:xfrm>
            <a:off x="8638673" y="6039852"/>
            <a:ext cx="2093008" cy="461665"/>
          </a:xfrm>
          <a:prstGeom prst="rect">
            <a:avLst/>
          </a:prstGeom>
          <a:noFill/>
        </p:spPr>
        <p:txBody>
          <a:bodyPr wrap="square" rtlCol="0">
            <a:spAutoFit/>
          </a:bodyPr>
          <a:lstStyle/>
          <a:p>
            <a:r>
              <a:rPr lang="zh-CN" altLang="en-US" sz="2400" b="1" dirty="0">
                <a:solidFill>
                  <a:srgbClr val="FF0000"/>
                </a:solidFill>
              </a:rPr>
              <a:t>磁力指出页面</a:t>
            </a:r>
            <a:r>
              <a:rPr lang="zh-CN" altLang="en-US" sz="2400" b="1" dirty="0" smtClean="0">
                <a:solidFill>
                  <a:srgbClr val="FF0000"/>
                </a:solidFill>
              </a:rPr>
              <a:t>。</a:t>
            </a:r>
            <a:endParaRPr lang="zh-CN" altLang="en-US" sz="2400" b="1" dirty="0">
              <a:solidFill>
                <a:srgbClr val="FF0000"/>
              </a:solidFill>
            </a:endParaRPr>
          </a:p>
        </p:txBody>
      </p:sp>
    </p:spTree>
    <p:extLst>
      <p:ext uri="{BB962C8B-B14F-4D97-AF65-F5344CB8AC3E}">
        <p14:creationId xmlns:p14="http://schemas.microsoft.com/office/powerpoint/2010/main" val="41753496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72966"/>
            <a:ext cx="12192000" cy="5912069"/>
          </a:xfrm>
          <a:prstGeom prst="rect">
            <a:avLst/>
          </a:prstGeom>
        </p:spPr>
      </p:pic>
    </p:spTree>
    <p:extLst>
      <p:ext uri="{BB962C8B-B14F-4D97-AF65-F5344CB8AC3E}">
        <p14:creationId xmlns:p14="http://schemas.microsoft.com/office/powerpoint/2010/main" val="15268082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9616" y="2548461"/>
            <a:ext cx="8612584" cy="584775"/>
          </a:xfrm>
          <a:prstGeom prst="rect">
            <a:avLst/>
          </a:prstGeom>
          <a:noFill/>
        </p:spPr>
        <p:txBody>
          <a:bodyPr wrap="square" rtlCol="0">
            <a:spAutoFit/>
          </a:bodyPr>
          <a:lstStyle/>
          <a:p>
            <a:r>
              <a:rPr lang="zh-CN" altLang="en-US" sz="3200" b="1" dirty="0" smtClean="0"/>
              <a:t>作业：</a:t>
            </a:r>
            <a:r>
              <a:rPr lang="en-US" altLang="zh-CN" sz="3200" b="1" dirty="0" smtClean="0"/>
              <a:t>135</a:t>
            </a:r>
            <a:r>
              <a:rPr lang="zh-CN" altLang="en-US" sz="3200" b="1" dirty="0" smtClean="0"/>
              <a:t>页    计算题</a:t>
            </a:r>
            <a:r>
              <a:rPr lang="en-US" altLang="zh-CN" sz="3200" b="1" dirty="0" smtClean="0"/>
              <a:t>31</a:t>
            </a:r>
            <a:r>
              <a:rPr lang="zh-CN" altLang="en-US" sz="3200" b="1" dirty="0" smtClean="0"/>
              <a:t>题（参考第</a:t>
            </a:r>
            <a:r>
              <a:rPr lang="en-US" altLang="zh-CN" sz="3200" b="1" dirty="0" smtClean="0"/>
              <a:t>4</a:t>
            </a:r>
            <a:r>
              <a:rPr lang="zh-CN" altLang="en-US" sz="3200" b="1" dirty="0" smtClean="0"/>
              <a:t>题）</a:t>
            </a:r>
            <a:endParaRPr lang="zh-CN" altLang="en-US" sz="3200" b="1" dirty="0"/>
          </a:p>
        </p:txBody>
      </p:sp>
    </p:spTree>
    <p:extLst>
      <p:ext uri="{BB962C8B-B14F-4D97-AF65-F5344CB8AC3E}">
        <p14:creationId xmlns:p14="http://schemas.microsoft.com/office/powerpoint/2010/main" val="24577464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2236</TotalTime>
  <Words>1557</Words>
  <Application>Microsoft Office PowerPoint</Application>
  <PresentationFormat>宽屏</PresentationFormat>
  <Paragraphs>112</Paragraphs>
  <Slides>20</Slides>
  <Notes>4</Notes>
  <HiddenSlides>3</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Microsoft Yahei</vt:lpstr>
      <vt:lpstr>黑体</vt:lpstr>
      <vt:lpstr>黑体</vt:lpstr>
      <vt:lpstr>宋体</vt:lpstr>
      <vt:lpstr>Arial</vt:lpstr>
      <vt:lpstr>Calibri</vt:lpstr>
      <vt:lpstr>Calibri Light</vt:lpstr>
      <vt:lpstr>Cambria Math</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例19.7  检流计线圈所受的力和力矩 </vt:lpstr>
      <vt:lpstr>PowerPoint 演示文稿</vt:lpstr>
      <vt:lpstr>PowerPoint 演示文稿</vt:lpstr>
      <vt:lpstr>PowerPoint 演示文稿</vt:lpstr>
    </vt:vector>
  </TitlesOfParts>
  <Company>Www.SangSan.Cn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桑三博客</dc:creator>
  <cp:lastModifiedBy>hsl</cp:lastModifiedBy>
  <cp:revision>167</cp:revision>
  <dcterms:created xsi:type="dcterms:W3CDTF">2017-10-22T09:48:47Z</dcterms:created>
  <dcterms:modified xsi:type="dcterms:W3CDTF">2021-06-06T09:21:57Z</dcterms:modified>
</cp:coreProperties>
</file>