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8" r:id="rId2"/>
    <p:sldId id="265" r:id="rId3"/>
    <p:sldId id="259" r:id="rId4"/>
    <p:sldId id="266" r:id="rId5"/>
    <p:sldId id="260" r:id="rId6"/>
    <p:sldId id="261" r:id="rId7"/>
    <p:sldId id="262" r:id="rId8"/>
    <p:sldId id="267" r:id="rId9"/>
    <p:sldId id="269" r:id="rId10"/>
    <p:sldId id="263" r:id="rId11"/>
    <p:sldId id="264" r:id="rId12"/>
    <p:sldId id="270"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775" autoAdjust="0"/>
  </p:normalViewPr>
  <p:slideViewPr>
    <p:cSldViewPr snapToGrid="0">
      <p:cViewPr varScale="1">
        <p:scale>
          <a:sx n="82" d="100"/>
          <a:sy n="82" d="100"/>
        </p:scale>
        <p:origin x="-750"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DA8BD25-5BB0-4970-9BC8-A867E97BBE06}" type="datetimeFigureOut">
              <a:rPr lang="zh-CN" altLang="en-US" smtClean="0"/>
              <a:t>2020/4/28</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0AC87C1-8720-44BC-97C4-3E56FDE22118}" type="slidenum">
              <a:rPr lang="zh-CN" altLang="en-US" smtClean="0"/>
              <a:t>‹#›</a:t>
            </a:fld>
            <a:endParaRPr lang="zh-CN" altLang="en-US"/>
          </a:p>
        </p:txBody>
      </p:sp>
    </p:spTree>
    <p:extLst>
      <p:ext uri="{BB962C8B-B14F-4D97-AF65-F5344CB8AC3E}">
        <p14:creationId xmlns:p14="http://schemas.microsoft.com/office/powerpoint/2010/main" val="41758466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BB9E3550-E756-4B7F-A342-D5005F9BC306}" type="slidenum">
              <a:rPr lang="zh-CN" altLang="en-US" smtClean="0"/>
              <a:t>3</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C389F43E-6A00-409D-9E79-CE23F37409A4}" type="datetimeFigureOut">
              <a:rPr lang="zh-CN" altLang="en-US" smtClean="0"/>
              <a:pPr/>
              <a:t>2020/4/28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8808874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C389F43E-6A00-409D-9E79-CE23F37409A4}" type="datetimeFigureOut">
              <a:rPr lang="zh-CN" altLang="en-US" smtClean="0"/>
              <a:pPr/>
              <a:t>2020/4/28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29167859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C389F43E-6A00-409D-9E79-CE23F37409A4}" type="datetimeFigureOut">
              <a:rPr lang="zh-CN" altLang="en-US" smtClean="0"/>
              <a:pPr/>
              <a:t>2020/4/28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2530350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C389F43E-6A00-409D-9E79-CE23F37409A4}" type="datetimeFigureOut">
              <a:rPr lang="zh-CN" altLang="en-US" smtClean="0"/>
              <a:pPr/>
              <a:t>2020/4/28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20708593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C389F43E-6A00-409D-9E79-CE23F37409A4}" type="datetimeFigureOut">
              <a:rPr lang="zh-CN" altLang="en-US" smtClean="0"/>
              <a:pPr/>
              <a:t>2020/4/28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40873647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C389F43E-6A00-409D-9E79-CE23F37409A4}" type="datetimeFigureOut">
              <a:rPr lang="zh-CN" altLang="en-US" smtClean="0"/>
              <a:pPr/>
              <a:t>2020/4/28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2246052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389F43E-6A00-409D-9E79-CE23F37409A4}" type="datetimeFigureOut">
              <a:rPr lang="zh-CN" altLang="en-US" smtClean="0"/>
              <a:pPr/>
              <a:t>2020/4/28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47769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C389F43E-6A00-409D-9E79-CE23F37409A4}" type="datetimeFigureOut">
              <a:rPr lang="zh-CN" altLang="en-US" smtClean="0"/>
              <a:pPr/>
              <a:t>2020/4/28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3054760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C389F43E-6A00-409D-9E79-CE23F37409A4}" type="datetimeFigureOut">
              <a:rPr lang="zh-CN" altLang="en-US" smtClean="0"/>
              <a:pPr/>
              <a:t>2020/4/28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26945556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C389F43E-6A00-409D-9E79-CE23F37409A4}" type="datetimeFigureOut">
              <a:rPr lang="zh-CN" altLang="en-US" smtClean="0"/>
              <a:pPr/>
              <a:t>2020/4/28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39418436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C389F43E-6A00-409D-9E79-CE23F37409A4}" type="datetimeFigureOut">
              <a:rPr lang="zh-CN" altLang="en-US" smtClean="0"/>
              <a:pPr/>
              <a:t>2020/4/28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42321700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89F43E-6A00-409D-9E79-CE23F37409A4}" type="datetimeFigureOut">
              <a:rPr lang="zh-CN" altLang="en-US" smtClean="0"/>
              <a:pPr/>
              <a:t>2020/4/28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7358308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jpe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 Id="rId9" Type="http://schemas.openxmlformats.org/officeDocument/2006/relationships/image" Target="../media/image4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80305" y="755698"/>
            <a:ext cx="11797049" cy="1246495"/>
          </a:xfrm>
          <a:prstGeom prst="rect">
            <a:avLst/>
          </a:prstGeom>
          <a:noFill/>
        </p:spPr>
        <p:txBody>
          <a:bodyPr wrap="square" rtlCol="0">
            <a:spAutoFit/>
          </a:bodyPr>
          <a:lstStyle/>
          <a:p>
            <a:pPr>
              <a:lnSpc>
                <a:spcPct val="125000"/>
              </a:lnSpc>
            </a:pPr>
            <a:r>
              <a:rPr lang="en-US" altLang="zh-CN" sz="3000" b="1" dirty="0" smtClean="0"/>
              <a:t>1. </a:t>
            </a:r>
            <a:r>
              <a:rPr lang="zh-CN" altLang="en-US" sz="3000" b="1" dirty="0" smtClean="0"/>
              <a:t>基尔霍夫节点电流定律：流入一个节点的所有支路的电流之和等于流出这个节点的所有支路的电流之和。任何一个电的连接点即为节点。</a:t>
            </a:r>
            <a:endParaRPr lang="zh-CN" altLang="en-US" sz="3000" b="1" dirty="0"/>
          </a:p>
        </p:txBody>
      </p:sp>
      <p:pic>
        <p:nvPicPr>
          <p:cNvPr id="4"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363827" y="1917884"/>
            <a:ext cx="2106684" cy="1783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文本框 5"/>
          <p:cNvSpPr txBox="1"/>
          <p:nvPr/>
        </p:nvSpPr>
        <p:spPr>
          <a:xfrm>
            <a:off x="180305" y="47812"/>
            <a:ext cx="4302781" cy="707886"/>
          </a:xfrm>
          <a:prstGeom prst="rect">
            <a:avLst/>
          </a:prstGeom>
          <a:noFill/>
        </p:spPr>
        <p:txBody>
          <a:bodyPr wrap="none" rtlCol="0">
            <a:spAutoFit/>
          </a:bodyPr>
          <a:lstStyle/>
          <a:p>
            <a:r>
              <a:rPr lang="en-US" altLang="zh-CN" sz="4000" b="1" dirty="0" smtClean="0"/>
              <a:t>18.5 </a:t>
            </a:r>
            <a:r>
              <a:rPr lang="zh-CN" altLang="en-US" sz="4000" b="1" dirty="0" smtClean="0"/>
              <a:t>基尔霍夫定律</a:t>
            </a:r>
            <a:endParaRPr lang="zh-CN" altLang="en-US" sz="4000" b="1" dirty="0"/>
          </a:p>
        </p:txBody>
      </p:sp>
      <p:pic>
        <p:nvPicPr>
          <p:cNvPr id="7"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77711" y="1975957"/>
            <a:ext cx="2543175" cy="60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图片 8"/>
          <p:cNvPicPr>
            <a:picLocks noChangeAspect="1"/>
          </p:cNvPicPr>
          <p:nvPr/>
        </p:nvPicPr>
        <p:blipFill rotWithShape="1">
          <a:blip r:embed="rId4" cstate="print"/>
          <a:srcRect b="5434"/>
          <a:stretch/>
        </p:blipFill>
        <p:spPr>
          <a:xfrm>
            <a:off x="9005586" y="4043827"/>
            <a:ext cx="3186415" cy="2610362"/>
          </a:xfrm>
          <a:prstGeom prst="rect">
            <a:avLst/>
          </a:prstGeom>
        </p:spPr>
      </p:pic>
      <p:pic>
        <p:nvPicPr>
          <p:cNvPr id="10"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222088" y="3698836"/>
            <a:ext cx="1747301" cy="600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文本框 10"/>
          <p:cNvSpPr txBox="1"/>
          <p:nvPr/>
        </p:nvSpPr>
        <p:spPr>
          <a:xfrm>
            <a:off x="-1" y="2789805"/>
            <a:ext cx="7951809" cy="1246495"/>
          </a:xfrm>
          <a:prstGeom prst="rect">
            <a:avLst/>
          </a:prstGeom>
          <a:noFill/>
        </p:spPr>
        <p:txBody>
          <a:bodyPr wrap="square" rtlCol="0">
            <a:spAutoFit/>
          </a:bodyPr>
          <a:lstStyle/>
          <a:p>
            <a:pPr>
              <a:lnSpc>
                <a:spcPct val="125000"/>
              </a:lnSpc>
            </a:pPr>
            <a:r>
              <a:rPr lang="en-US" altLang="zh-CN" sz="3000" b="1" dirty="0" smtClean="0"/>
              <a:t>2. </a:t>
            </a:r>
            <a:r>
              <a:rPr lang="zh-CN" altLang="en-US" sz="3000" b="1" dirty="0" smtClean="0"/>
              <a:t>基尔霍夫回路电压</a:t>
            </a:r>
            <a:r>
              <a:rPr lang="zh-CN" altLang="en-US" sz="3000" b="1" dirty="0" smtClean="0"/>
              <a:t>定律</a:t>
            </a:r>
            <a:r>
              <a:rPr lang="en-US" altLang="zh-CN" sz="3000" b="1" dirty="0" smtClean="0"/>
              <a:t>:</a:t>
            </a:r>
            <a:r>
              <a:rPr lang="zh-CN" altLang="en-US" sz="3000" b="1" dirty="0" smtClean="0"/>
              <a:t>沿着电路中的一个回路绕行一周，电势改变的代数和一定为零。</a:t>
            </a:r>
            <a:endParaRPr lang="zh-CN" altLang="en-US" sz="3000" dirty="0"/>
          </a:p>
        </p:txBody>
      </p:sp>
      <p:sp>
        <p:nvSpPr>
          <p:cNvPr id="12" name="文本框 11"/>
          <p:cNvSpPr txBox="1"/>
          <p:nvPr/>
        </p:nvSpPr>
        <p:spPr>
          <a:xfrm>
            <a:off x="386366" y="4466692"/>
            <a:ext cx="8709373" cy="669414"/>
          </a:xfrm>
          <a:prstGeom prst="rect">
            <a:avLst/>
          </a:prstGeom>
          <a:noFill/>
        </p:spPr>
        <p:txBody>
          <a:bodyPr wrap="square" rtlCol="0">
            <a:spAutoFit/>
          </a:bodyPr>
          <a:lstStyle/>
          <a:p>
            <a:pPr>
              <a:lnSpc>
                <a:spcPct val="125000"/>
              </a:lnSpc>
            </a:pPr>
            <a:r>
              <a:rPr lang="zh-CN" altLang="en-US" sz="3000" b="1" dirty="0" smtClean="0"/>
              <a:t>适用于电路中起始和终止于同一点的任何回路。</a:t>
            </a:r>
            <a:endParaRPr lang="zh-CN" altLang="en-US" sz="3000" b="1" dirty="0"/>
          </a:p>
        </p:txBody>
      </p:sp>
      <p:grpSp>
        <p:nvGrpSpPr>
          <p:cNvPr id="5" name="组合 4"/>
          <p:cNvGrpSpPr/>
          <p:nvPr/>
        </p:nvGrpSpPr>
        <p:grpSpPr>
          <a:xfrm>
            <a:off x="573937" y="5783675"/>
            <a:ext cx="7276563" cy="1036254"/>
            <a:chOff x="573935" y="5783675"/>
            <a:chExt cx="7276563" cy="1036254"/>
          </a:xfrm>
        </p:grpSpPr>
        <p:sp>
          <p:nvSpPr>
            <p:cNvPr id="3" name="爆炸形 2 2"/>
            <p:cNvSpPr/>
            <p:nvPr/>
          </p:nvSpPr>
          <p:spPr>
            <a:xfrm>
              <a:off x="573935" y="5783675"/>
              <a:ext cx="7276563" cy="1036254"/>
            </a:xfrm>
            <a:prstGeom prst="irregularSeal2">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2" name="文本框 1"/>
            <p:cNvSpPr txBox="1"/>
            <p:nvPr/>
          </p:nvSpPr>
          <p:spPr>
            <a:xfrm>
              <a:off x="1352282" y="6040192"/>
              <a:ext cx="5357557" cy="523220"/>
            </a:xfrm>
            <a:prstGeom prst="rect">
              <a:avLst/>
            </a:prstGeom>
            <a:noFill/>
          </p:spPr>
          <p:txBody>
            <a:bodyPr wrap="none" rtlCol="0">
              <a:spAutoFit/>
            </a:bodyPr>
            <a:lstStyle/>
            <a:p>
              <a:r>
                <a:rPr lang="zh-CN" altLang="en-US" sz="2800" b="1" dirty="0" smtClean="0"/>
                <a:t>注意电势的升降（即</a:t>
              </a:r>
              <a:r>
                <a:rPr lang="el-GR" altLang="zh-CN" sz="2800" b="1" dirty="0" smtClean="0">
                  <a:latin typeface="Times New Roman" panose="02020603050405020304" pitchFamily="18" charset="0"/>
                  <a:cs typeface="Times New Roman" panose="02020603050405020304" pitchFamily="18" charset="0"/>
                </a:rPr>
                <a:t>Δ</a:t>
              </a:r>
              <a:r>
                <a:rPr lang="en-US" altLang="zh-CN" sz="2800" b="1" dirty="0" smtClean="0">
                  <a:latin typeface="Times New Roman" panose="02020603050405020304" pitchFamily="18" charset="0"/>
                  <a:cs typeface="Times New Roman" panose="02020603050405020304" pitchFamily="18" charset="0"/>
                </a:rPr>
                <a:t>V</a:t>
              </a:r>
              <a:r>
                <a:rPr lang="zh-CN" altLang="en-US" sz="2800" b="1" dirty="0" smtClean="0"/>
                <a:t>的正负）</a:t>
              </a:r>
              <a:endParaRPr lang="zh-CN" altLang="en-US" sz="2800" b="1" dirty="0"/>
            </a:p>
          </p:txBody>
        </p:sp>
      </p:grpSp>
      <p:sp>
        <p:nvSpPr>
          <p:cNvPr id="13" name="TextBox 12"/>
          <p:cNvSpPr txBox="1"/>
          <p:nvPr/>
        </p:nvSpPr>
        <p:spPr>
          <a:xfrm>
            <a:off x="574038" y="5087398"/>
            <a:ext cx="6008915" cy="523220"/>
          </a:xfrm>
          <a:prstGeom prst="rect">
            <a:avLst/>
          </a:prstGeom>
          <a:noFill/>
        </p:spPr>
        <p:txBody>
          <a:bodyPr wrap="square" rtlCol="0">
            <a:spAutoFit/>
          </a:bodyPr>
          <a:lstStyle/>
          <a:p>
            <a:r>
              <a:rPr lang="zh-CN" altLang="en-US" sz="2800" b="1" dirty="0" smtClean="0">
                <a:solidFill>
                  <a:srgbClr val="FF0000"/>
                </a:solidFill>
              </a:rPr>
              <a:t>电势升高是正的，电势降低是负的。</a:t>
            </a:r>
            <a:endParaRPr lang="zh-CN" altLang="en-US" sz="2800" b="1" dirty="0">
              <a:solidFill>
                <a:srgbClr val="FF0000"/>
              </a:solidFill>
            </a:endParaRPr>
          </a:p>
        </p:txBody>
      </p:sp>
    </p:spTree>
    <p:extLst>
      <p:ext uri="{BB962C8B-B14F-4D97-AF65-F5344CB8AC3E}">
        <p14:creationId xmlns:p14="http://schemas.microsoft.com/office/powerpoint/2010/main" val="3499037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6269" y="1401288"/>
            <a:ext cx="7350828" cy="4616648"/>
          </a:xfrm>
          <a:prstGeom prst="rect">
            <a:avLst/>
          </a:prstGeom>
          <a:noFill/>
        </p:spPr>
        <p:txBody>
          <a:bodyPr wrap="square" rtlCol="0">
            <a:spAutoFit/>
          </a:bodyPr>
          <a:lstStyle/>
          <a:p>
            <a:pPr>
              <a:lnSpc>
                <a:spcPct val="150000"/>
              </a:lnSpc>
            </a:pPr>
            <a:r>
              <a:rPr lang="zh-CN" altLang="en-US" sz="2800" b="1" dirty="0" smtClean="0"/>
              <a:t>在运用回路电压定律时要注意符号的正负。当沿着电流方向通过一个电阻器时，电势降落（△</a:t>
            </a:r>
            <a:r>
              <a:rPr lang="en-US" altLang="zh-CN" sz="2800" b="1" dirty="0" smtClean="0"/>
              <a:t>V = -IR</a:t>
            </a:r>
            <a:r>
              <a:rPr lang="zh-CN" altLang="en-US" sz="2800" b="1" dirty="0" smtClean="0"/>
              <a:t>）；当沿着与电流相反的方向（逆流）通过一个电阻器时，电势升高（</a:t>
            </a:r>
            <a:r>
              <a:rPr lang="zh-CN" altLang="en-US" sz="2800" b="1" dirty="0"/>
              <a:t> △</a:t>
            </a:r>
            <a:r>
              <a:rPr lang="en-US" altLang="zh-CN" sz="2800" b="1" dirty="0" smtClean="0"/>
              <a:t>V = +IR </a:t>
            </a:r>
            <a:r>
              <a:rPr lang="zh-CN" altLang="en-US" sz="2800" b="1" dirty="0" smtClean="0"/>
              <a:t>）。对于电源，当从正极向负极方向通过时，电势降落（</a:t>
            </a:r>
            <a:r>
              <a:rPr lang="zh-CN" altLang="en-US" sz="2800" b="1" dirty="0"/>
              <a:t> △</a:t>
            </a:r>
            <a:r>
              <a:rPr lang="en-US" altLang="zh-CN" sz="2800" b="1" dirty="0"/>
              <a:t>V = </a:t>
            </a:r>
            <a:r>
              <a:rPr lang="en-US" altLang="zh-CN" sz="2800" b="1" dirty="0" smtClean="0"/>
              <a:t>-</a:t>
            </a:r>
            <a:r>
              <a:rPr lang="en-US" altLang="zh-CN" sz="2800" b="1" dirty="0"/>
              <a:t>ℰ</a:t>
            </a:r>
            <a:r>
              <a:rPr lang="en-US" altLang="zh-CN" sz="2800" b="1" dirty="0" smtClean="0"/>
              <a:t> </a:t>
            </a:r>
            <a:r>
              <a:rPr lang="zh-CN" altLang="en-US" sz="2800" b="1" dirty="0" smtClean="0"/>
              <a:t>）；当从负极向正极方向通过时，电势升高（</a:t>
            </a:r>
            <a:r>
              <a:rPr lang="zh-CN" altLang="en-US" sz="2800" b="1" dirty="0"/>
              <a:t> △</a:t>
            </a:r>
            <a:r>
              <a:rPr lang="en-US" altLang="zh-CN" sz="2800" b="1" dirty="0"/>
              <a:t>V = +ℰ </a:t>
            </a:r>
            <a:r>
              <a:rPr lang="zh-CN" altLang="en-US" sz="2800" b="1" dirty="0" smtClean="0"/>
              <a:t>） 。</a:t>
            </a:r>
            <a:endParaRPr lang="zh-CN" altLang="en-US" sz="2800" b="1" dirty="0"/>
          </a:p>
        </p:txBody>
      </p:sp>
      <p:sp>
        <p:nvSpPr>
          <p:cNvPr id="3" name="TextBox 2"/>
          <p:cNvSpPr txBox="1"/>
          <p:nvPr/>
        </p:nvSpPr>
        <p:spPr>
          <a:xfrm>
            <a:off x="890649" y="609370"/>
            <a:ext cx="6008915" cy="523220"/>
          </a:xfrm>
          <a:prstGeom prst="rect">
            <a:avLst/>
          </a:prstGeom>
          <a:noFill/>
        </p:spPr>
        <p:txBody>
          <a:bodyPr wrap="square" rtlCol="0">
            <a:spAutoFit/>
          </a:bodyPr>
          <a:lstStyle/>
          <a:p>
            <a:r>
              <a:rPr lang="zh-CN" altLang="en-US" sz="2800" b="1" dirty="0" smtClean="0">
                <a:solidFill>
                  <a:srgbClr val="FF0000"/>
                </a:solidFill>
              </a:rPr>
              <a:t>电势升高是正的，电势降低是负的。</a:t>
            </a:r>
            <a:endParaRPr lang="zh-CN" altLang="en-US" sz="2800" b="1" dirty="0">
              <a:solidFill>
                <a:srgbClr val="FF0000"/>
              </a:solidFill>
            </a:endParaRPr>
          </a:p>
        </p:txBody>
      </p:sp>
      <p:pic>
        <p:nvPicPr>
          <p:cNvPr id="4" name="图片 3"/>
          <p:cNvPicPr>
            <a:picLocks noChangeAspect="1"/>
          </p:cNvPicPr>
          <p:nvPr/>
        </p:nvPicPr>
        <p:blipFill rotWithShape="1">
          <a:blip r:embed="rId2" cstate="print"/>
          <a:srcRect b="5434"/>
          <a:stretch/>
        </p:blipFill>
        <p:spPr>
          <a:xfrm>
            <a:off x="9005586" y="2191276"/>
            <a:ext cx="3186415" cy="2610362"/>
          </a:xfrm>
          <a:prstGeom prst="rect">
            <a:avLst/>
          </a:prstGeom>
        </p:spPr>
      </p:pic>
    </p:spTree>
    <p:extLst>
      <p:ext uri="{BB962C8B-B14F-4D97-AF65-F5344CB8AC3E}">
        <p14:creationId xmlns:p14="http://schemas.microsoft.com/office/powerpoint/2010/main" val="1268839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69944" y="112207"/>
            <a:ext cx="4817344" cy="707886"/>
          </a:xfrm>
          <a:prstGeom prst="rect">
            <a:avLst/>
          </a:prstGeom>
          <a:noFill/>
        </p:spPr>
        <p:txBody>
          <a:bodyPr wrap="none" rtlCol="0">
            <a:spAutoFit/>
          </a:bodyPr>
          <a:lstStyle/>
          <a:p>
            <a:r>
              <a:rPr lang="en-US" altLang="zh-CN" sz="4000" b="1" dirty="0" smtClean="0"/>
              <a:t>18.6 </a:t>
            </a:r>
            <a:r>
              <a:rPr lang="zh-CN" altLang="en-US" sz="4000" b="1" dirty="0" smtClean="0"/>
              <a:t>串联与并联电路</a:t>
            </a:r>
            <a:endParaRPr lang="zh-CN" altLang="en-US" sz="4000" b="1" dirty="0"/>
          </a:p>
        </p:txBody>
      </p:sp>
      <p:sp>
        <p:nvSpPr>
          <p:cNvPr id="5" name="文本框 4"/>
          <p:cNvSpPr txBox="1"/>
          <p:nvPr/>
        </p:nvSpPr>
        <p:spPr>
          <a:xfrm>
            <a:off x="169945" y="923415"/>
            <a:ext cx="4448947" cy="707886"/>
          </a:xfrm>
          <a:prstGeom prst="rect">
            <a:avLst/>
          </a:prstGeom>
          <a:noFill/>
        </p:spPr>
        <p:txBody>
          <a:bodyPr wrap="square" rtlCol="0">
            <a:spAutoFit/>
          </a:bodyPr>
          <a:lstStyle/>
          <a:p>
            <a:pPr>
              <a:lnSpc>
                <a:spcPct val="125000"/>
              </a:lnSpc>
            </a:pPr>
            <a:r>
              <a:rPr lang="en-US" altLang="zh-CN" sz="3200" b="1" dirty="0" smtClean="0"/>
              <a:t>1. </a:t>
            </a:r>
            <a:r>
              <a:rPr lang="zh-CN" altLang="en-US" sz="3200" b="1" dirty="0" smtClean="0"/>
              <a:t>串联电阻器</a:t>
            </a:r>
            <a:endParaRPr lang="zh-CN" altLang="en-US" sz="3200" dirty="0"/>
          </a:p>
        </p:txBody>
      </p:sp>
      <p:pic>
        <p:nvPicPr>
          <p:cNvPr id="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06930" y="1594432"/>
            <a:ext cx="8454593" cy="3424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890649" y="5177642"/>
            <a:ext cx="10509663" cy="1477328"/>
          </a:xfrm>
          <a:prstGeom prst="rect">
            <a:avLst/>
          </a:prstGeom>
          <a:noFill/>
        </p:spPr>
        <p:txBody>
          <a:bodyPr wrap="square" rtlCol="0">
            <a:spAutoFit/>
          </a:bodyPr>
          <a:lstStyle/>
          <a:p>
            <a:pPr>
              <a:lnSpc>
                <a:spcPct val="125000"/>
              </a:lnSpc>
            </a:pPr>
            <a:r>
              <a:rPr lang="zh-CN" altLang="en-US" sz="2400" b="1" dirty="0" smtClean="0"/>
              <a:t>就像水以相同的流量相继通过两道闸门一样，在电路中同样的电流先后流过两个串联电阻器。如△</a:t>
            </a:r>
            <a:r>
              <a:rPr lang="en-US" altLang="zh-CN" sz="2400" b="1" dirty="0" smtClean="0"/>
              <a:t>y</a:t>
            </a:r>
            <a:r>
              <a:rPr lang="en-US" altLang="zh-CN" sz="2400" b="1" baseline="-25000" dirty="0" smtClean="0"/>
              <a:t>1</a:t>
            </a:r>
            <a:r>
              <a:rPr lang="en-US" altLang="zh-CN" sz="2400" b="1" dirty="0" smtClean="0"/>
              <a:t>+</a:t>
            </a:r>
            <a:r>
              <a:rPr lang="zh-CN" altLang="en-US" sz="2400" b="1" dirty="0"/>
              <a:t> </a:t>
            </a:r>
            <a:r>
              <a:rPr lang="zh-CN" altLang="en-US" sz="2400" b="1" dirty="0" smtClean="0"/>
              <a:t>△</a:t>
            </a:r>
            <a:r>
              <a:rPr lang="en-US" altLang="zh-CN" sz="2400" b="1" dirty="0" smtClean="0"/>
              <a:t>y</a:t>
            </a:r>
            <a:r>
              <a:rPr lang="en-US" altLang="zh-CN" sz="2400" b="1" baseline="-25000" dirty="0" smtClean="0"/>
              <a:t>2</a:t>
            </a:r>
            <a:r>
              <a:rPr lang="en-US" altLang="zh-CN" sz="2400" b="1" dirty="0" smtClean="0"/>
              <a:t> = </a:t>
            </a:r>
            <a:r>
              <a:rPr lang="zh-CN" altLang="en-US" sz="2400" b="1" dirty="0" smtClean="0"/>
              <a:t> △</a:t>
            </a:r>
            <a:r>
              <a:rPr lang="en-US" altLang="zh-CN" sz="2400" b="1" dirty="0" smtClean="0"/>
              <a:t>y</a:t>
            </a:r>
            <a:r>
              <a:rPr lang="zh-CN" altLang="en-US" sz="2400" b="1" dirty="0" smtClean="0"/>
              <a:t>，电路中串联电阻器两端的总电势差△</a:t>
            </a:r>
            <a:r>
              <a:rPr lang="en-US" altLang="zh-CN" sz="2400" b="1" dirty="0" smtClean="0"/>
              <a:t>V</a:t>
            </a:r>
            <a:r>
              <a:rPr lang="zh-CN" altLang="en-US" sz="2400" b="1" dirty="0" smtClean="0"/>
              <a:t>等于每个电阻器两端的电势差之和。在此电路中，</a:t>
            </a:r>
            <a:r>
              <a:rPr lang="zh-CN" altLang="en-US" sz="2400" b="1" dirty="0"/>
              <a:t> </a:t>
            </a:r>
            <a:r>
              <a:rPr lang="zh-CN" altLang="en-US" sz="2400" b="1" dirty="0" smtClean="0"/>
              <a:t>△</a:t>
            </a:r>
            <a:r>
              <a:rPr lang="en-US" altLang="zh-CN" sz="2400" b="1" dirty="0" smtClean="0"/>
              <a:t>V</a:t>
            </a:r>
            <a:r>
              <a:rPr lang="en-US" altLang="zh-CN" sz="2400" b="1" baseline="-25000" dirty="0" smtClean="0"/>
              <a:t>1</a:t>
            </a:r>
            <a:r>
              <a:rPr lang="en-US" altLang="zh-CN" sz="2400" b="1" dirty="0"/>
              <a:t>+</a:t>
            </a:r>
            <a:r>
              <a:rPr lang="zh-CN" altLang="en-US" sz="2400" b="1" dirty="0"/>
              <a:t> </a:t>
            </a:r>
            <a:r>
              <a:rPr lang="zh-CN" altLang="en-US" sz="2400" b="1" dirty="0" smtClean="0"/>
              <a:t>△</a:t>
            </a:r>
            <a:r>
              <a:rPr lang="en-US" altLang="zh-CN" sz="2400" b="1" dirty="0" smtClean="0"/>
              <a:t>V</a:t>
            </a:r>
            <a:r>
              <a:rPr lang="en-US" altLang="zh-CN" sz="2400" b="1" baseline="-25000" dirty="0" smtClean="0"/>
              <a:t>2</a:t>
            </a:r>
            <a:r>
              <a:rPr lang="en-US" altLang="zh-CN" sz="2400" b="1" dirty="0" smtClean="0"/>
              <a:t> </a:t>
            </a:r>
            <a:r>
              <a:rPr lang="en-US" altLang="zh-CN" sz="2400" b="1" dirty="0"/>
              <a:t>= </a:t>
            </a:r>
            <a:r>
              <a:rPr lang="zh-CN" altLang="en-US" sz="2400" b="1" dirty="0"/>
              <a:t> </a:t>
            </a:r>
            <a:r>
              <a:rPr lang="en-US" altLang="zh-CN" sz="2400" b="1" dirty="0" smtClean="0"/>
              <a:t>ℰ </a:t>
            </a:r>
            <a:r>
              <a:rPr lang="zh-CN" altLang="en-US" sz="2400" b="1" dirty="0" smtClean="0"/>
              <a:t>。</a:t>
            </a:r>
            <a:endParaRPr lang="zh-CN" altLang="en-US" sz="2400" b="1" dirty="0"/>
          </a:p>
        </p:txBody>
      </p:sp>
      <p:sp>
        <p:nvSpPr>
          <p:cNvPr id="7" name="TextBox 6"/>
          <p:cNvSpPr txBox="1"/>
          <p:nvPr/>
        </p:nvSpPr>
        <p:spPr>
          <a:xfrm>
            <a:off x="3105773" y="1050201"/>
            <a:ext cx="5005073" cy="461665"/>
          </a:xfrm>
          <a:prstGeom prst="rect">
            <a:avLst/>
          </a:prstGeom>
          <a:noFill/>
        </p:spPr>
        <p:txBody>
          <a:bodyPr wrap="square" rtlCol="0">
            <a:spAutoFit/>
          </a:bodyPr>
          <a:lstStyle/>
          <a:p>
            <a:r>
              <a:rPr lang="zh-CN" altLang="en-US" sz="2400" b="1" dirty="0" smtClean="0">
                <a:solidFill>
                  <a:srgbClr val="FF0000"/>
                </a:solidFill>
              </a:rPr>
              <a:t>通过每个电器元件的电流都相等。</a:t>
            </a:r>
            <a:endParaRPr lang="zh-CN" altLang="en-US" sz="2400" b="1" dirty="0">
              <a:solidFill>
                <a:srgbClr val="FF0000"/>
              </a:solidFill>
            </a:endParaRPr>
          </a:p>
        </p:txBody>
      </p:sp>
    </p:spTree>
    <p:extLst>
      <p:ext uri="{BB962C8B-B14F-4D97-AF65-F5344CB8AC3E}">
        <p14:creationId xmlns:p14="http://schemas.microsoft.com/office/powerpoint/2010/main" val="2407019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28081" y="604125"/>
            <a:ext cx="2665611" cy="2229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58821" y="568111"/>
            <a:ext cx="2437341" cy="22655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3" name="组合 12"/>
          <p:cNvGrpSpPr/>
          <p:nvPr/>
        </p:nvGrpSpPr>
        <p:grpSpPr>
          <a:xfrm>
            <a:off x="1368060" y="3103537"/>
            <a:ext cx="9364504" cy="1522404"/>
            <a:chOff x="1368060" y="2761435"/>
            <a:chExt cx="9364504" cy="1522404"/>
          </a:xfrm>
        </p:grpSpPr>
        <p:pic>
          <p:nvPicPr>
            <p:cNvPr id="4"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93801" y="2782114"/>
              <a:ext cx="27908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628081" y="3864739"/>
              <a:ext cx="3552825"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右箭头 5"/>
            <p:cNvSpPr/>
            <p:nvPr/>
          </p:nvSpPr>
          <p:spPr>
            <a:xfrm>
              <a:off x="1991859" y="3896257"/>
              <a:ext cx="389757" cy="371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p:nvGrpSpPr>
          <p:grpSpPr>
            <a:xfrm>
              <a:off x="4651252" y="2761435"/>
              <a:ext cx="2893432" cy="428625"/>
              <a:chOff x="3048731" y="5796834"/>
              <a:chExt cx="2893432" cy="428625"/>
            </a:xfrm>
          </p:grpSpPr>
          <p:pic>
            <p:nvPicPr>
              <p:cNvPr id="8" name="Picture 3"/>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570438" y="5796834"/>
                <a:ext cx="2371725" cy="42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右箭头 8"/>
              <p:cNvSpPr/>
              <p:nvPr/>
            </p:nvSpPr>
            <p:spPr>
              <a:xfrm>
                <a:off x="3048731" y="5825146"/>
                <a:ext cx="389757" cy="371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 name="组合 9"/>
            <p:cNvGrpSpPr/>
            <p:nvPr/>
          </p:nvGrpSpPr>
          <p:grpSpPr>
            <a:xfrm>
              <a:off x="1368060" y="3319483"/>
              <a:ext cx="9364504" cy="525315"/>
              <a:chOff x="-22259" y="6093056"/>
              <a:chExt cx="9508739" cy="485097"/>
            </a:xfrm>
          </p:grpSpPr>
          <p:sp>
            <p:nvSpPr>
              <p:cNvPr id="11" name="文本框 1"/>
              <p:cNvSpPr txBox="1"/>
              <p:nvPr/>
            </p:nvSpPr>
            <p:spPr>
              <a:xfrm>
                <a:off x="-22259" y="6116488"/>
                <a:ext cx="7415813" cy="461665"/>
              </a:xfrm>
              <a:prstGeom prst="rect">
                <a:avLst/>
              </a:prstGeom>
              <a:noFill/>
            </p:spPr>
            <p:txBody>
              <a:bodyPr wrap="none" rtlCol="0">
                <a:spAutoFit/>
              </a:bodyPr>
              <a:lstStyle/>
              <a:p>
                <a:r>
                  <a:rPr lang="zh-CN" altLang="en-US" sz="2400" dirty="0" smtClean="0"/>
                  <a:t>   以一个等效电阻器                          代替两个串联电阻器</a:t>
                </a:r>
                <a:endParaRPr lang="zh-CN" altLang="en-US" sz="2400" dirty="0"/>
              </a:p>
            </p:txBody>
          </p:sp>
          <p:pic>
            <p:nvPicPr>
              <p:cNvPr id="12" name="Picture 3"/>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638631" y="6093056"/>
                <a:ext cx="184784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sp>
        <p:nvSpPr>
          <p:cNvPr id="14" name="TextBox 13"/>
          <p:cNvSpPr txBox="1"/>
          <p:nvPr/>
        </p:nvSpPr>
        <p:spPr>
          <a:xfrm>
            <a:off x="403760" y="154379"/>
            <a:ext cx="2826329" cy="523220"/>
          </a:xfrm>
          <a:prstGeom prst="rect">
            <a:avLst/>
          </a:prstGeom>
          <a:noFill/>
        </p:spPr>
        <p:txBody>
          <a:bodyPr wrap="square" rtlCol="0">
            <a:spAutoFit/>
          </a:bodyPr>
          <a:lstStyle/>
          <a:p>
            <a:r>
              <a:rPr lang="zh-CN" altLang="en-US" sz="2800" b="1" smtClean="0">
                <a:solidFill>
                  <a:srgbClr val="000099"/>
                </a:solidFill>
              </a:rPr>
              <a:t>串联电阻器</a:t>
            </a:r>
            <a:endParaRPr lang="zh-CN" altLang="en-US" sz="2800" b="1">
              <a:solidFill>
                <a:srgbClr val="000099"/>
              </a:solidFill>
            </a:endParaRPr>
          </a:p>
        </p:txBody>
      </p:sp>
      <p:grpSp>
        <p:nvGrpSpPr>
          <p:cNvPr id="15" name="组合 14"/>
          <p:cNvGrpSpPr/>
          <p:nvPr/>
        </p:nvGrpSpPr>
        <p:grpSpPr>
          <a:xfrm>
            <a:off x="173049" y="5092153"/>
            <a:ext cx="11900079" cy="1356148"/>
            <a:chOff x="291922" y="-13056"/>
            <a:chExt cx="11900079" cy="1254812"/>
          </a:xfrm>
        </p:grpSpPr>
        <p:pic>
          <p:nvPicPr>
            <p:cNvPr id="16" name="Picture 2"/>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643322" y="40477"/>
              <a:ext cx="4543425" cy="523875"/>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文本框 4"/>
            <p:cNvSpPr txBox="1"/>
            <p:nvPr/>
          </p:nvSpPr>
          <p:spPr>
            <a:xfrm>
              <a:off x="1006906" y="-13056"/>
              <a:ext cx="5300873" cy="630942"/>
            </a:xfrm>
            <a:prstGeom prst="rect">
              <a:avLst/>
            </a:prstGeom>
            <a:noFill/>
          </p:spPr>
          <p:txBody>
            <a:bodyPr wrap="square" rtlCol="0">
              <a:spAutoFit/>
            </a:bodyPr>
            <a:lstStyle/>
            <a:p>
              <a:pPr>
                <a:lnSpc>
                  <a:spcPct val="125000"/>
                </a:lnSpc>
              </a:pPr>
              <a:r>
                <a:rPr lang="zh-CN" altLang="en-US" sz="2800" b="1" dirty="0" smtClean="0"/>
                <a:t>推广到任意多的电阻器</a:t>
              </a:r>
              <a:r>
                <a:rPr lang="zh-CN" altLang="en-US" sz="2800" b="1" smtClean="0"/>
                <a:t>相串联：</a:t>
              </a:r>
              <a:endParaRPr lang="zh-CN" altLang="en-US" sz="2800" b="1" dirty="0"/>
            </a:p>
          </p:txBody>
        </p:sp>
        <p:sp>
          <p:nvSpPr>
            <p:cNvPr id="18" name="文本框 5"/>
            <p:cNvSpPr txBox="1"/>
            <p:nvPr/>
          </p:nvSpPr>
          <p:spPr>
            <a:xfrm>
              <a:off x="291922" y="657685"/>
              <a:ext cx="11900079" cy="584071"/>
            </a:xfrm>
            <a:prstGeom prst="rect">
              <a:avLst/>
            </a:prstGeom>
            <a:noFill/>
          </p:spPr>
          <p:txBody>
            <a:bodyPr wrap="square" rtlCol="0">
              <a:spAutoFit/>
            </a:bodyPr>
            <a:lstStyle/>
            <a:p>
              <a:pPr>
                <a:lnSpc>
                  <a:spcPct val="125000"/>
                </a:lnSpc>
              </a:pPr>
              <a:r>
                <a:rPr lang="zh-CN" altLang="en-US" sz="2800" b="1" dirty="0" smtClean="0"/>
                <a:t>注意：电阻器串联后的等效电阻比任意一个电阻器的电阻值都大。</a:t>
              </a:r>
              <a:endParaRPr lang="zh-CN" altLang="en-US" sz="2800" b="1" dirty="0"/>
            </a:p>
          </p:txBody>
        </p:sp>
      </p:grpSp>
    </p:spTree>
    <p:extLst>
      <p:ext uri="{BB962C8B-B14F-4D97-AF65-F5344CB8AC3E}">
        <p14:creationId xmlns:p14="http://schemas.microsoft.com/office/powerpoint/2010/main" val="1791894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组合 21"/>
          <p:cNvGrpSpPr/>
          <p:nvPr/>
        </p:nvGrpSpPr>
        <p:grpSpPr>
          <a:xfrm>
            <a:off x="3763109" y="1262110"/>
            <a:ext cx="5703349" cy="2558606"/>
            <a:chOff x="2897747" y="2033408"/>
            <a:chExt cx="5703350" cy="2558606"/>
          </a:xfrm>
        </p:grpSpPr>
        <p:grpSp>
          <p:nvGrpSpPr>
            <p:cNvPr id="7" name="Group 15"/>
            <p:cNvGrpSpPr/>
            <p:nvPr/>
          </p:nvGrpSpPr>
          <p:grpSpPr>
            <a:xfrm>
              <a:off x="2897747" y="2033408"/>
              <a:ext cx="4414837" cy="1876425"/>
              <a:chOff x="2443163" y="2490788"/>
              <a:chExt cx="4414837" cy="1876425"/>
            </a:xfrm>
          </p:grpSpPr>
          <p:pic>
            <p:nvPicPr>
              <p:cNvPr id="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43163" y="2490788"/>
                <a:ext cx="4257675" cy="1876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ectangle 14"/>
              <p:cNvSpPr/>
              <p:nvPr/>
            </p:nvSpPr>
            <p:spPr>
              <a:xfrm>
                <a:off x="6248400" y="2895600"/>
                <a:ext cx="6096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等效</a:t>
                </a:r>
                <a:endParaRPr lang="en-US" dirty="0"/>
              </a:p>
            </p:txBody>
          </p:sp>
        </p:grpSp>
        <p:sp>
          <p:nvSpPr>
            <p:cNvPr id="18" name="文本框 17"/>
            <p:cNvSpPr txBox="1"/>
            <p:nvPr/>
          </p:nvSpPr>
          <p:spPr>
            <a:xfrm>
              <a:off x="5494156" y="4130349"/>
              <a:ext cx="3106941" cy="461665"/>
            </a:xfrm>
            <a:prstGeom prst="rect">
              <a:avLst/>
            </a:prstGeom>
            <a:noFill/>
          </p:spPr>
          <p:txBody>
            <a:bodyPr wrap="none" rtlCol="0">
              <a:spAutoFit/>
            </a:bodyPr>
            <a:lstStyle/>
            <a:p>
              <a:r>
                <a:rPr lang="zh-CN" altLang="en-US" sz="2400" dirty="0" smtClean="0"/>
                <a:t>图</a:t>
              </a:r>
              <a:r>
                <a:rPr lang="en-US" altLang="zh-CN" sz="2400" dirty="0" smtClean="0"/>
                <a:t>18.18 </a:t>
              </a:r>
              <a:r>
                <a:rPr lang="zh-CN" altLang="en-US" sz="2400" dirty="0" smtClean="0"/>
                <a:t>电池串联电路</a:t>
              </a:r>
              <a:endParaRPr lang="zh-CN" altLang="en-US" sz="2400" dirty="0"/>
            </a:p>
          </p:txBody>
        </p:sp>
      </p:grpSp>
      <p:sp>
        <p:nvSpPr>
          <p:cNvPr id="10" name="文本框 9"/>
          <p:cNvSpPr txBox="1"/>
          <p:nvPr/>
        </p:nvSpPr>
        <p:spPr>
          <a:xfrm>
            <a:off x="83127" y="370743"/>
            <a:ext cx="3926032" cy="654410"/>
          </a:xfrm>
          <a:prstGeom prst="rect">
            <a:avLst/>
          </a:prstGeom>
          <a:noFill/>
        </p:spPr>
        <p:txBody>
          <a:bodyPr wrap="square" rtlCol="0">
            <a:spAutoFit/>
          </a:bodyPr>
          <a:lstStyle/>
          <a:p>
            <a:pPr>
              <a:lnSpc>
                <a:spcPct val="125000"/>
              </a:lnSpc>
            </a:pPr>
            <a:r>
              <a:rPr lang="en-US" altLang="zh-CN" sz="3200" b="1" dirty="0" smtClean="0">
                <a:solidFill>
                  <a:srgbClr val="000099"/>
                </a:solidFill>
              </a:rPr>
              <a:t>2. </a:t>
            </a:r>
            <a:r>
              <a:rPr lang="zh-CN" altLang="en-US" sz="3200" b="1" dirty="0" smtClean="0">
                <a:solidFill>
                  <a:srgbClr val="000099"/>
                </a:solidFill>
              </a:rPr>
              <a:t>串联电动势</a:t>
            </a:r>
            <a:endParaRPr lang="zh-CN" altLang="en-US" sz="3200" dirty="0">
              <a:solidFill>
                <a:srgbClr val="000099"/>
              </a:solidFill>
            </a:endParaRPr>
          </a:p>
        </p:txBody>
      </p:sp>
      <p:grpSp>
        <p:nvGrpSpPr>
          <p:cNvPr id="12" name="Group 17"/>
          <p:cNvGrpSpPr/>
          <p:nvPr/>
        </p:nvGrpSpPr>
        <p:grpSpPr>
          <a:xfrm>
            <a:off x="8672183" y="1224934"/>
            <a:ext cx="3373528" cy="1838325"/>
            <a:chOff x="2209800" y="3571875"/>
            <a:chExt cx="3373528" cy="1838325"/>
          </a:xfrm>
        </p:grpSpPr>
        <p:pic>
          <p:nvPicPr>
            <p:cNvPr id="13"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26817"/>
            <a:stretch/>
          </p:blipFill>
          <p:spPr bwMode="auto">
            <a:xfrm>
              <a:off x="2390775" y="3571875"/>
              <a:ext cx="3192553" cy="183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Rectangle 16"/>
            <p:cNvSpPr/>
            <p:nvPr/>
          </p:nvSpPr>
          <p:spPr>
            <a:xfrm>
              <a:off x="2209800" y="5105400"/>
              <a:ext cx="762000" cy="30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 name="组合 20"/>
          <p:cNvGrpSpPr/>
          <p:nvPr/>
        </p:nvGrpSpPr>
        <p:grpSpPr>
          <a:xfrm>
            <a:off x="6979435" y="1654350"/>
            <a:ext cx="1422184" cy="774044"/>
            <a:chOff x="5999885" y="1925255"/>
            <a:chExt cx="1422184" cy="774044"/>
          </a:xfrm>
        </p:grpSpPr>
        <p:sp>
          <p:nvSpPr>
            <p:cNvPr id="15" name="右箭头 14"/>
            <p:cNvSpPr/>
            <p:nvPr/>
          </p:nvSpPr>
          <p:spPr>
            <a:xfrm>
              <a:off x="6159643" y="2383828"/>
              <a:ext cx="1069717" cy="31547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5999885" y="1925255"/>
              <a:ext cx="1422184" cy="461665"/>
            </a:xfrm>
            <a:prstGeom prst="rect">
              <a:avLst/>
            </a:prstGeom>
            <a:noFill/>
          </p:spPr>
          <p:txBody>
            <a:bodyPr wrap="none" rtlCol="0">
              <a:spAutoFit/>
            </a:bodyPr>
            <a:lstStyle/>
            <a:p>
              <a:r>
                <a:rPr lang="zh-CN" altLang="en-US" sz="2400" b="1" dirty="0" smtClean="0"/>
                <a:t>等效电路</a:t>
              </a:r>
              <a:endParaRPr lang="zh-CN" altLang="en-US" sz="2400" b="1" dirty="0"/>
            </a:p>
          </p:txBody>
        </p:sp>
      </p:grpSp>
      <p:grpSp>
        <p:nvGrpSpPr>
          <p:cNvPr id="23" name="组合 22"/>
          <p:cNvGrpSpPr/>
          <p:nvPr/>
        </p:nvGrpSpPr>
        <p:grpSpPr>
          <a:xfrm>
            <a:off x="8035854" y="3771887"/>
            <a:ext cx="3667126" cy="2850801"/>
            <a:chOff x="118429" y="4122666"/>
            <a:chExt cx="3667125" cy="2850801"/>
          </a:xfrm>
        </p:grpSpPr>
        <p:pic>
          <p:nvPicPr>
            <p:cNvPr id="17"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8429" y="4122666"/>
              <a:ext cx="3667125" cy="183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文本框 18"/>
            <p:cNvSpPr txBox="1"/>
            <p:nvPr/>
          </p:nvSpPr>
          <p:spPr>
            <a:xfrm>
              <a:off x="425980" y="6142470"/>
              <a:ext cx="3106940" cy="830997"/>
            </a:xfrm>
            <a:prstGeom prst="rect">
              <a:avLst/>
            </a:prstGeom>
            <a:noFill/>
          </p:spPr>
          <p:txBody>
            <a:bodyPr wrap="none" rtlCol="0">
              <a:spAutoFit/>
            </a:bodyPr>
            <a:lstStyle/>
            <a:p>
              <a:r>
                <a:rPr lang="zh-CN" altLang="en-US" sz="2400" dirty="0" smtClean="0"/>
                <a:t>图</a:t>
              </a:r>
              <a:r>
                <a:rPr lang="en-US" altLang="zh-CN" sz="2400" dirty="0" smtClean="0"/>
                <a:t>18.19 </a:t>
              </a:r>
              <a:r>
                <a:rPr lang="zh-CN" altLang="en-US" sz="2400" dirty="0" smtClean="0"/>
                <a:t>给可充电电池</a:t>
              </a:r>
              <a:endParaRPr lang="en-US" altLang="zh-CN" sz="2400" dirty="0" smtClean="0"/>
            </a:p>
            <a:p>
              <a:r>
                <a:rPr lang="zh-CN" altLang="en-US" sz="2400" dirty="0" smtClean="0"/>
                <a:t>充电的电路</a:t>
              </a:r>
              <a:endParaRPr lang="zh-CN" altLang="en-US" sz="2400" dirty="0"/>
            </a:p>
          </p:txBody>
        </p:sp>
      </p:grpSp>
      <p:sp>
        <p:nvSpPr>
          <p:cNvPr id="20" name="矩形 19"/>
          <p:cNvSpPr/>
          <p:nvPr/>
        </p:nvSpPr>
        <p:spPr>
          <a:xfrm>
            <a:off x="4161075" y="4832900"/>
            <a:ext cx="3874779" cy="584775"/>
          </a:xfrm>
          <a:prstGeom prst="rect">
            <a:avLst/>
          </a:prstGeom>
        </p:spPr>
        <p:txBody>
          <a:bodyPr wrap="none">
            <a:spAutoFit/>
          </a:bodyPr>
          <a:lstStyle/>
          <a:p>
            <a:r>
              <a:rPr lang="zh-CN" altLang="en-US" sz="3200" b="1" dirty="0" smtClean="0"/>
              <a:t>净的电动势为</a:t>
            </a:r>
            <a:r>
              <a:rPr lang="en-US" altLang="zh-CN" sz="3200" b="1" dirty="0" smtClean="0"/>
              <a:t>ℰ</a:t>
            </a:r>
            <a:r>
              <a:rPr lang="en-US" altLang="zh-CN" sz="3200" b="1" baseline="-25000" dirty="0" smtClean="0"/>
              <a:t>1</a:t>
            </a:r>
            <a:r>
              <a:rPr lang="en-US" altLang="zh-CN" sz="3200" b="1" dirty="0" smtClean="0"/>
              <a:t> − ℰ</a:t>
            </a:r>
            <a:r>
              <a:rPr lang="en-US" altLang="zh-CN" sz="3200" b="1" baseline="-25000" dirty="0" smtClean="0"/>
              <a:t>2</a:t>
            </a:r>
            <a:r>
              <a:rPr lang="en-US" altLang="zh-CN" sz="3200" b="1" dirty="0" smtClean="0"/>
              <a:t> </a:t>
            </a:r>
            <a:endParaRPr lang="zh-CN" altLang="en-US" sz="3200" b="1" dirty="0"/>
          </a:p>
        </p:txBody>
      </p:sp>
      <p:grpSp>
        <p:nvGrpSpPr>
          <p:cNvPr id="3" name="组合 2"/>
          <p:cNvGrpSpPr/>
          <p:nvPr/>
        </p:nvGrpSpPr>
        <p:grpSpPr>
          <a:xfrm>
            <a:off x="219809" y="2270658"/>
            <a:ext cx="4439499" cy="1988055"/>
            <a:chOff x="221273" y="2638284"/>
            <a:chExt cx="4439499" cy="1988055"/>
          </a:xfrm>
        </p:grpSpPr>
        <p:sp>
          <p:nvSpPr>
            <p:cNvPr id="11" name="文本框 10"/>
            <p:cNvSpPr txBox="1"/>
            <p:nvPr/>
          </p:nvSpPr>
          <p:spPr>
            <a:xfrm>
              <a:off x="221273" y="2638284"/>
              <a:ext cx="2676475" cy="630942"/>
            </a:xfrm>
            <a:prstGeom prst="rect">
              <a:avLst/>
            </a:prstGeom>
            <a:noFill/>
          </p:spPr>
          <p:txBody>
            <a:bodyPr wrap="square" rtlCol="0">
              <a:spAutoFit/>
            </a:bodyPr>
            <a:lstStyle/>
            <a:p>
              <a:pPr>
                <a:lnSpc>
                  <a:spcPct val="125000"/>
                </a:lnSpc>
              </a:pPr>
              <a:r>
                <a:rPr lang="zh-CN" altLang="en-US" sz="2800" b="1" dirty="0" smtClean="0"/>
                <a:t>电池的串联</a:t>
              </a:r>
              <a:r>
                <a:rPr lang="zh-CN" altLang="en-US" sz="2800" dirty="0" smtClean="0"/>
                <a:t>：</a:t>
              </a:r>
              <a:endParaRPr lang="zh-CN" altLang="en-US" sz="2800" dirty="0"/>
            </a:p>
          </p:txBody>
        </p:sp>
        <p:pic>
          <p:nvPicPr>
            <p:cNvPr id="24" name="Picture 3" descr="gia12141_18_18"/>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8340" r="13381" b="58103"/>
            <a:stretch/>
          </p:blipFill>
          <p:spPr bwMode="auto">
            <a:xfrm>
              <a:off x="335505" y="3154092"/>
              <a:ext cx="4325267" cy="1472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6" name="TextBox 25"/>
          <p:cNvSpPr txBox="1"/>
          <p:nvPr/>
        </p:nvSpPr>
        <p:spPr>
          <a:xfrm>
            <a:off x="4006923" y="5666121"/>
            <a:ext cx="4013860" cy="828304"/>
          </a:xfrm>
          <a:prstGeom prst="rect">
            <a:avLst/>
          </a:prstGeom>
          <a:noFill/>
        </p:spPr>
        <p:txBody>
          <a:bodyPr wrap="square" rtlCol="0">
            <a:spAutoFit/>
          </a:bodyPr>
          <a:lstStyle/>
          <a:p>
            <a:pPr>
              <a:lnSpc>
                <a:spcPct val="125000"/>
              </a:lnSpc>
            </a:pPr>
            <a:r>
              <a:rPr lang="zh-CN" altLang="en-US" sz="2000" b="1" dirty="0" smtClean="0"/>
              <a:t>用于给可充电电池提供能量的电源必须具有较大的电动势</a:t>
            </a:r>
            <a:r>
              <a:rPr lang="en-US" altLang="zh-CN" sz="2000" b="1" dirty="0"/>
              <a:t>ℰ</a:t>
            </a:r>
            <a:r>
              <a:rPr lang="en-US" altLang="zh-CN" sz="2000" b="1" baseline="-25000" dirty="0"/>
              <a:t>1</a:t>
            </a:r>
            <a:r>
              <a:rPr lang="en-US" altLang="zh-CN" sz="2000" b="1" dirty="0"/>
              <a:t> </a:t>
            </a:r>
            <a:r>
              <a:rPr lang="en-US" altLang="zh-CN" sz="2000" b="1" dirty="0" smtClean="0"/>
              <a:t>&gt; ℰ</a:t>
            </a:r>
            <a:r>
              <a:rPr lang="en-US" altLang="zh-CN" sz="2000" b="1" baseline="-25000" dirty="0" smtClean="0"/>
              <a:t>2 </a:t>
            </a:r>
            <a:r>
              <a:rPr lang="en-US" altLang="zh-CN" sz="2000" b="1" dirty="0" smtClean="0"/>
              <a:t> .</a:t>
            </a:r>
            <a:endParaRPr lang="zh-CN" altLang="en-US" sz="2000" b="1" dirty="0"/>
          </a:p>
        </p:txBody>
      </p:sp>
      <p:sp>
        <p:nvSpPr>
          <p:cNvPr id="25" name="TextBox 24"/>
          <p:cNvSpPr txBox="1"/>
          <p:nvPr/>
        </p:nvSpPr>
        <p:spPr>
          <a:xfrm>
            <a:off x="6359518" y="19222"/>
            <a:ext cx="5589584" cy="1107996"/>
          </a:xfrm>
          <a:prstGeom prst="rect">
            <a:avLst/>
          </a:prstGeom>
          <a:noFill/>
        </p:spPr>
        <p:txBody>
          <a:bodyPr wrap="square" rtlCol="0">
            <a:spAutoFit/>
          </a:bodyPr>
          <a:lstStyle/>
          <a:p>
            <a:pPr>
              <a:lnSpc>
                <a:spcPct val="150000"/>
              </a:lnSpc>
            </a:pPr>
            <a:r>
              <a:rPr lang="zh-CN" altLang="en-US" sz="2200" b="1" dirty="0" smtClean="0">
                <a:solidFill>
                  <a:srgbClr val="FF0000"/>
                </a:solidFill>
              </a:rPr>
              <a:t>串联电池的总的电动势等于所有电池电动势的和，所有电池的内阻也相应</a:t>
            </a:r>
            <a:r>
              <a:rPr lang="zh-CN" altLang="en-US" sz="2200" b="1" dirty="0" smtClean="0">
                <a:solidFill>
                  <a:srgbClr val="FF0000"/>
                </a:solidFill>
              </a:rPr>
              <a:t>串联起来</a:t>
            </a:r>
            <a:r>
              <a:rPr lang="zh-CN" altLang="en-US" sz="2200" b="1" dirty="0" smtClean="0">
                <a:solidFill>
                  <a:srgbClr val="FF0000"/>
                </a:solidFill>
              </a:rPr>
              <a:t>了。</a:t>
            </a:r>
            <a:endParaRPr lang="zh-CN" altLang="en-US" sz="2200" b="1" dirty="0">
              <a:solidFill>
                <a:srgbClr val="FF0000"/>
              </a:solidFill>
            </a:endParaRPr>
          </a:p>
        </p:txBody>
      </p:sp>
    </p:spTree>
    <p:extLst>
      <p:ext uri="{BB962C8B-B14F-4D97-AF65-F5344CB8AC3E}">
        <p14:creationId xmlns:p14="http://schemas.microsoft.com/office/powerpoint/2010/main" val="989657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931" y="1204238"/>
            <a:ext cx="3228975" cy="2190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框 2"/>
          <p:cNvSpPr txBox="1"/>
          <p:nvPr/>
        </p:nvSpPr>
        <p:spPr>
          <a:xfrm>
            <a:off x="169944" y="159222"/>
            <a:ext cx="3851071" cy="654410"/>
          </a:xfrm>
          <a:prstGeom prst="rect">
            <a:avLst/>
          </a:prstGeom>
          <a:noFill/>
        </p:spPr>
        <p:txBody>
          <a:bodyPr wrap="square" rtlCol="0">
            <a:spAutoFit/>
          </a:bodyPr>
          <a:lstStyle/>
          <a:p>
            <a:pPr>
              <a:lnSpc>
                <a:spcPct val="125000"/>
              </a:lnSpc>
            </a:pPr>
            <a:r>
              <a:rPr lang="en-US" altLang="zh-CN" sz="3200" b="1" dirty="0" smtClean="0">
                <a:solidFill>
                  <a:srgbClr val="000099"/>
                </a:solidFill>
              </a:rPr>
              <a:t>3. </a:t>
            </a:r>
            <a:r>
              <a:rPr lang="zh-CN" altLang="en-US" sz="3200" b="1" dirty="0" smtClean="0">
                <a:solidFill>
                  <a:srgbClr val="000099"/>
                </a:solidFill>
              </a:rPr>
              <a:t>串联电容器</a:t>
            </a:r>
            <a:endParaRPr lang="zh-CN" altLang="en-US" sz="3200" dirty="0">
              <a:solidFill>
                <a:srgbClr val="000099"/>
              </a:solidFill>
            </a:endParaRPr>
          </a:p>
        </p:txBody>
      </p:sp>
      <p:sp>
        <p:nvSpPr>
          <p:cNvPr id="4" name="文本框 3"/>
          <p:cNvSpPr txBox="1"/>
          <p:nvPr/>
        </p:nvSpPr>
        <p:spPr>
          <a:xfrm>
            <a:off x="3576638" y="159223"/>
            <a:ext cx="8615364" cy="1708160"/>
          </a:xfrm>
          <a:prstGeom prst="rect">
            <a:avLst/>
          </a:prstGeom>
          <a:noFill/>
        </p:spPr>
        <p:txBody>
          <a:bodyPr wrap="square" rtlCol="0">
            <a:spAutoFit/>
          </a:bodyPr>
          <a:lstStyle/>
          <a:p>
            <a:pPr>
              <a:lnSpc>
                <a:spcPct val="125000"/>
              </a:lnSpc>
            </a:pPr>
            <a:r>
              <a:rPr lang="zh-CN" altLang="en-US" sz="2800" b="1" dirty="0" smtClean="0"/>
              <a:t>虽然电荷不能穿过电容器中的电介质从一个极板传输到另外一个极板，但流入一个极板的瞬时电流总是等于流出另一个极板的瞬时电流。</a:t>
            </a:r>
            <a:endParaRPr lang="zh-CN" altLang="en-US" sz="2800" b="1" dirty="0"/>
          </a:p>
        </p:txBody>
      </p:sp>
      <p:pic>
        <p:nvPicPr>
          <p:cNvPr id="5"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42850" y="1845822"/>
            <a:ext cx="2343151"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23725" y="2969508"/>
            <a:ext cx="35814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95666" y="4497478"/>
            <a:ext cx="2714625"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5"/>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319087" y="4485755"/>
            <a:ext cx="2114551" cy="819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ectangle 14"/>
          <p:cNvSpPr/>
          <p:nvPr/>
        </p:nvSpPr>
        <p:spPr>
          <a:xfrm>
            <a:off x="336393" y="3730960"/>
            <a:ext cx="6848475" cy="523220"/>
          </a:xfrm>
          <a:prstGeom prst="rect">
            <a:avLst/>
          </a:prstGeom>
        </p:spPr>
        <p:txBody>
          <a:bodyPr wrap="square">
            <a:spAutoFit/>
          </a:bodyPr>
          <a:lstStyle/>
          <a:p>
            <a:r>
              <a:rPr lang="zh-CN" altLang="en-US" sz="2800" b="1" dirty="0" smtClean="0"/>
              <a:t>等效电容定义为 </a:t>
            </a:r>
            <a:r>
              <a:rPr lang="en-US" sz="2800" b="1" dirty="0" smtClean="0">
                <a:latin typeface="Times New Roman" panose="02020603050405020304" pitchFamily="18" charset="0"/>
                <a:cs typeface="Times New Roman" panose="02020603050405020304" pitchFamily="18" charset="0"/>
              </a:rPr>
              <a:t>ℰ </a:t>
            </a:r>
            <a:r>
              <a:rPr lang="en-US" sz="2800" b="1" dirty="0">
                <a:latin typeface="Times New Roman" panose="02020603050405020304" pitchFamily="18" charset="0"/>
                <a:cs typeface="Times New Roman" panose="02020603050405020304" pitchFamily="18" charset="0"/>
              </a:rPr>
              <a:t>= </a:t>
            </a:r>
            <a:r>
              <a:rPr lang="en-US" sz="2800" b="1" i="1" dirty="0">
                <a:latin typeface="Times New Roman" panose="02020603050405020304" pitchFamily="18" charset="0"/>
                <a:cs typeface="Times New Roman" panose="02020603050405020304" pitchFamily="18" charset="0"/>
              </a:rPr>
              <a:t>Q</a:t>
            </a:r>
            <a:r>
              <a:rPr lang="en-US" sz="2800" b="1" dirty="0">
                <a:latin typeface="Times New Roman" panose="02020603050405020304" pitchFamily="18" charset="0"/>
                <a:cs typeface="Times New Roman" panose="02020603050405020304" pitchFamily="18" charset="0"/>
              </a:rPr>
              <a:t>/ </a:t>
            </a:r>
            <a:r>
              <a:rPr lang="en-US" sz="2800" b="1" i="1" dirty="0" err="1" smtClean="0">
                <a:latin typeface="Times New Roman" panose="02020603050405020304" pitchFamily="18" charset="0"/>
                <a:cs typeface="Times New Roman" panose="02020603050405020304" pitchFamily="18" charset="0"/>
              </a:rPr>
              <a:t>C</a:t>
            </a:r>
            <a:r>
              <a:rPr lang="en-US" sz="2800" b="1" baseline="-25000" dirty="0" err="1" smtClean="0">
                <a:latin typeface="Times New Roman" panose="02020603050405020304" pitchFamily="18" charset="0"/>
                <a:cs typeface="Times New Roman" panose="02020603050405020304" pitchFamily="18" charset="0"/>
              </a:rPr>
              <a:t>eq</a:t>
            </a:r>
            <a:r>
              <a:rPr lang="en-US" sz="2800" b="1" dirty="0" smtClean="0">
                <a:latin typeface="Times New Roman" panose="02020603050405020304" pitchFamily="18" charset="0"/>
                <a:cs typeface="Times New Roman" panose="02020603050405020304" pitchFamily="18" charset="0"/>
              </a:rPr>
              <a:t> </a:t>
            </a:r>
            <a:r>
              <a:rPr lang="en-US" sz="2800" b="1" dirty="0"/>
              <a:t>.</a:t>
            </a:r>
          </a:p>
        </p:txBody>
      </p:sp>
      <p:sp>
        <p:nvSpPr>
          <p:cNvPr id="10" name="文本框 9"/>
          <p:cNvSpPr txBox="1"/>
          <p:nvPr/>
        </p:nvSpPr>
        <p:spPr>
          <a:xfrm>
            <a:off x="3576635" y="2365945"/>
            <a:ext cx="8615365" cy="584071"/>
          </a:xfrm>
          <a:prstGeom prst="rect">
            <a:avLst/>
          </a:prstGeom>
          <a:noFill/>
        </p:spPr>
        <p:txBody>
          <a:bodyPr wrap="square" rtlCol="0">
            <a:spAutoFit/>
          </a:bodyPr>
          <a:lstStyle/>
          <a:p>
            <a:pPr>
              <a:lnSpc>
                <a:spcPct val="125000"/>
              </a:lnSpc>
            </a:pPr>
            <a:r>
              <a:rPr lang="zh-CN" altLang="en-US" sz="2800" b="1" dirty="0" smtClean="0"/>
              <a:t>串联电容器上的电荷</a:t>
            </a:r>
            <a:r>
              <a:rPr lang="en-US" altLang="zh-CN" sz="2800" b="1" i="1" dirty="0" smtClean="0">
                <a:latin typeface="Times New Roman" panose="02020603050405020304" pitchFamily="18" charset="0"/>
                <a:cs typeface="Times New Roman" panose="02020603050405020304" pitchFamily="18" charset="0"/>
              </a:rPr>
              <a:t>Q</a:t>
            </a:r>
            <a:r>
              <a:rPr lang="zh-CN" altLang="en-US" sz="2800" b="1" dirty="0" smtClean="0"/>
              <a:t>是相等的，所以</a:t>
            </a:r>
            <a:endParaRPr lang="zh-CN" altLang="en-US" sz="2800" b="1" dirty="0"/>
          </a:p>
        </p:txBody>
      </p:sp>
      <p:sp>
        <p:nvSpPr>
          <p:cNvPr id="11" name="右箭头 10"/>
          <p:cNvSpPr/>
          <p:nvPr/>
        </p:nvSpPr>
        <p:spPr>
          <a:xfrm>
            <a:off x="3397876" y="4673794"/>
            <a:ext cx="669701" cy="38636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Picture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938094" y="5869535"/>
            <a:ext cx="4829175" cy="790575"/>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文本框 12"/>
          <p:cNvSpPr txBox="1"/>
          <p:nvPr/>
        </p:nvSpPr>
        <p:spPr>
          <a:xfrm>
            <a:off x="242608" y="5990357"/>
            <a:ext cx="5876837" cy="548933"/>
          </a:xfrm>
          <a:prstGeom prst="rect">
            <a:avLst/>
          </a:prstGeom>
          <a:noFill/>
        </p:spPr>
        <p:txBody>
          <a:bodyPr wrap="square" rtlCol="0">
            <a:spAutoFit/>
          </a:bodyPr>
          <a:lstStyle/>
          <a:p>
            <a:pPr>
              <a:lnSpc>
                <a:spcPct val="125000"/>
              </a:lnSpc>
            </a:pPr>
            <a:r>
              <a:rPr lang="zh-CN" altLang="en-US" sz="2600" b="1" dirty="0" smtClean="0"/>
              <a:t>推广到任意多个电容器串联</a:t>
            </a:r>
            <a:endParaRPr lang="zh-CN" altLang="en-US" sz="2600" b="1" dirty="0"/>
          </a:p>
        </p:txBody>
      </p:sp>
      <p:grpSp>
        <p:nvGrpSpPr>
          <p:cNvPr id="16" name="组合 15"/>
          <p:cNvGrpSpPr/>
          <p:nvPr/>
        </p:nvGrpSpPr>
        <p:grpSpPr>
          <a:xfrm>
            <a:off x="7699288" y="3863849"/>
            <a:ext cx="4023785" cy="1904634"/>
            <a:chOff x="7793197" y="3863849"/>
            <a:chExt cx="3599672" cy="1904634"/>
          </a:xfrm>
        </p:grpSpPr>
        <p:sp>
          <p:nvSpPr>
            <p:cNvPr id="14" name="圆角矩形 13"/>
            <p:cNvSpPr/>
            <p:nvPr/>
          </p:nvSpPr>
          <p:spPr>
            <a:xfrm>
              <a:off x="7793197" y="3863849"/>
              <a:ext cx="3369162" cy="1904634"/>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b="1"/>
            </a:p>
          </p:txBody>
        </p:sp>
        <p:sp>
          <p:nvSpPr>
            <p:cNvPr id="15" name="文本框 14"/>
            <p:cNvSpPr txBox="1"/>
            <p:nvPr/>
          </p:nvSpPr>
          <p:spPr>
            <a:xfrm>
              <a:off x="7871773" y="3925901"/>
              <a:ext cx="3521096" cy="1384995"/>
            </a:xfrm>
            <a:prstGeom prst="rect">
              <a:avLst/>
            </a:prstGeom>
            <a:noFill/>
          </p:spPr>
          <p:txBody>
            <a:bodyPr wrap="square" rtlCol="0">
              <a:spAutoFit/>
            </a:bodyPr>
            <a:lstStyle/>
            <a:p>
              <a:r>
                <a:rPr lang="zh-CN" altLang="en-US" sz="2800" b="1" dirty="0" smtClean="0">
                  <a:solidFill>
                    <a:srgbClr val="FF0000"/>
                  </a:solidFill>
                </a:rPr>
                <a:t>注意：等效电容器储存了和每个串联电容器同样多的电荷。</a:t>
              </a:r>
              <a:endParaRPr lang="zh-CN" altLang="en-US" sz="2800" b="1" dirty="0">
                <a:solidFill>
                  <a:srgbClr val="FF0000"/>
                </a:solidFill>
              </a:endParaRPr>
            </a:p>
          </p:txBody>
        </p:sp>
      </p:grpSp>
    </p:spTree>
    <p:extLst>
      <p:ext uri="{BB962C8B-B14F-4D97-AF65-F5344CB8AC3E}">
        <p14:creationId xmlns:p14="http://schemas.microsoft.com/office/powerpoint/2010/main" val="4157875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0" grpId="0"/>
      <p:bldP spid="11" grpId="0" animBg="1"/>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69946" y="27342"/>
            <a:ext cx="4062085" cy="654410"/>
          </a:xfrm>
          <a:prstGeom prst="rect">
            <a:avLst/>
          </a:prstGeom>
          <a:noFill/>
        </p:spPr>
        <p:txBody>
          <a:bodyPr wrap="square" rtlCol="0">
            <a:spAutoFit/>
          </a:bodyPr>
          <a:lstStyle/>
          <a:p>
            <a:pPr>
              <a:lnSpc>
                <a:spcPct val="125000"/>
              </a:lnSpc>
            </a:pPr>
            <a:r>
              <a:rPr lang="en-US" altLang="zh-CN" sz="3200" b="1" dirty="0" smtClean="0">
                <a:solidFill>
                  <a:srgbClr val="000099"/>
                </a:solidFill>
              </a:rPr>
              <a:t>4. </a:t>
            </a:r>
            <a:r>
              <a:rPr lang="zh-CN" altLang="en-US" sz="3200" b="1" dirty="0" smtClean="0">
                <a:solidFill>
                  <a:srgbClr val="000099"/>
                </a:solidFill>
              </a:rPr>
              <a:t>并联电阻器</a:t>
            </a:r>
            <a:endParaRPr lang="zh-CN" altLang="en-US" sz="3200" dirty="0">
              <a:solidFill>
                <a:srgbClr val="000099"/>
              </a:solidFill>
            </a:endParaRPr>
          </a:p>
        </p:txBody>
      </p:sp>
      <p:pic>
        <p:nvPicPr>
          <p:cNvPr id="3"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23572" y="735228"/>
            <a:ext cx="7877564" cy="3120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380009" y="4156364"/>
            <a:ext cx="10616541" cy="1938992"/>
          </a:xfrm>
          <a:prstGeom prst="rect">
            <a:avLst/>
          </a:prstGeom>
          <a:noFill/>
        </p:spPr>
        <p:txBody>
          <a:bodyPr wrap="square" rtlCol="0">
            <a:spAutoFit/>
          </a:bodyPr>
          <a:lstStyle/>
          <a:p>
            <a:pPr>
              <a:lnSpc>
                <a:spcPct val="125000"/>
              </a:lnSpc>
            </a:pPr>
            <a:r>
              <a:rPr lang="zh-CN" altLang="en-US" sz="2400" b="1" dirty="0" smtClean="0"/>
              <a:t>图中水流被分成两个支路，然后再汇聚成一个水流。水在分流前的流量和再次汇聚后的流量相等，并且等于两个支路中水流之和。由于</a:t>
            </a:r>
            <a:r>
              <a:rPr lang="zh-CN" altLang="en-US" sz="2400" b="1" dirty="0" smtClean="0">
                <a:solidFill>
                  <a:srgbClr val="FF0000"/>
                </a:solidFill>
              </a:rPr>
              <a:t>两支流在同一高度处分流又在同一高度处汇聚，因此两支流的高度落差△</a:t>
            </a:r>
            <a:r>
              <a:rPr lang="en-US" altLang="zh-CN" sz="2400" b="1" dirty="0" smtClean="0">
                <a:solidFill>
                  <a:srgbClr val="FF0000"/>
                </a:solidFill>
              </a:rPr>
              <a:t>y</a:t>
            </a:r>
            <a:r>
              <a:rPr lang="zh-CN" altLang="en-US" sz="2400" b="1" dirty="0" smtClean="0">
                <a:solidFill>
                  <a:srgbClr val="FF0000"/>
                </a:solidFill>
              </a:rPr>
              <a:t>相同</a:t>
            </a:r>
            <a:r>
              <a:rPr lang="zh-CN" altLang="en-US" sz="2400" b="1" dirty="0" smtClean="0"/>
              <a:t>。对于两个并联电阻器，电流相加（</a:t>
            </a:r>
            <a:r>
              <a:rPr lang="en-US" altLang="zh-CN" sz="2400" b="1" i="1" dirty="0" smtClean="0"/>
              <a:t>I = I</a:t>
            </a:r>
            <a:r>
              <a:rPr lang="en-US" altLang="zh-CN" sz="2400" b="1" i="1" baseline="-25000" dirty="0" smtClean="0"/>
              <a:t>1</a:t>
            </a:r>
            <a:r>
              <a:rPr lang="en-US" altLang="zh-CN" sz="2400" b="1" i="1" dirty="0" smtClean="0"/>
              <a:t>+I</a:t>
            </a:r>
            <a:r>
              <a:rPr lang="en-US" altLang="zh-CN" sz="2400" b="1" i="1" baseline="-25000" dirty="0" smtClean="0"/>
              <a:t>2</a:t>
            </a:r>
            <a:r>
              <a:rPr lang="zh-CN" altLang="en-US" sz="2400" b="1" dirty="0" smtClean="0"/>
              <a:t>）；电势差相等（</a:t>
            </a:r>
            <a:r>
              <a:rPr lang="zh-CN" altLang="en-US" sz="2400" b="1" dirty="0"/>
              <a:t> △</a:t>
            </a:r>
            <a:r>
              <a:rPr lang="en-US" altLang="zh-CN" sz="2400" b="1" dirty="0" smtClean="0"/>
              <a:t>V</a:t>
            </a:r>
            <a:r>
              <a:rPr lang="en-US" altLang="zh-CN" sz="2400" b="1" baseline="-25000" dirty="0" smtClean="0"/>
              <a:t>1  </a:t>
            </a:r>
            <a:r>
              <a:rPr lang="en-US" altLang="zh-CN" sz="2400" b="1" dirty="0" smtClean="0"/>
              <a:t> = </a:t>
            </a:r>
            <a:r>
              <a:rPr lang="zh-CN" altLang="en-US" sz="2400" b="1" dirty="0" smtClean="0"/>
              <a:t> </a:t>
            </a:r>
            <a:r>
              <a:rPr lang="zh-CN" altLang="en-US" sz="2400" b="1" dirty="0"/>
              <a:t>△</a:t>
            </a:r>
            <a:r>
              <a:rPr lang="en-US" altLang="zh-CN" sz="2400" b="1" dirty="0"/>
              <a:t>V</a:t>
            </a:r>
            <a:r>
              <a:rPr lang="en-US" altLang="zh-CN" sz="2400" b="1" baseline="-25000" dirty="0"/>
              <a:t>2</a:t>
            </a:r>
            <a:r>
              <a:rPr lang="en-US" altLang="zh-CN" sz="2400" b="1" dirty="0"/>
              <a:t> </a:t>
            </a:r>
            <a:r>
              <a:rPr lang="en-US" altLang="zh-CN" sz="2400" b="1" dirty="0" smtClean="0"/>
              <a:t> = </a:t>
            </a:r>
            <a:r>
              <a:rPr lang="zh-CN" altLang="en-US" sz="2400" b="1" dirty="0" smtClean="0"/>
              <a:t> </a:t>
            </a:r>
            <a:r>
              <a:rPr lang="en-US" altLang="zh-CN" sz="2400" b="1" dirty="0"/>
              <a:t>ℰ </a:t>
            </a:r>
            <a:r>
              <a:rPr lang="zh-CN" altLang="en-US" sz="2400" b="1" dirty="0" smtClean="0"/>
              <a:t>）</a:t>
            </a:r>
            <a:endParaRPr lang="zh-CN" altLang="en-US" sz="2400" b="1" dirty="0"/>
          </a:p>
        </p:txBody>
      </p:sp>
    </p:spTree>
    <p:extLst>
      <p:ext uri="{BB962C8B-B14F-4D97-AF65-F5344CB8AC3E}">
        <p14:creationId xmlns:p14="http://schemas.microsoft.com/office/powerpoint/2010/main" val="4044189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69946" y="27342"/>
            <a:ext cx="4062085" cy="654410"/>
          </a:xfrm>
          <a:prstGeom prst="rect">
            <a:avLst/>
          </a:prstGeom>
          <a:noFill/>
        </p:spPr>
        <p:txBody>
          <a:bodyPr wrap="square" rtlCol="0">
            <a:spAutoFit/>
          </a:bodyPr>
          <a:lstStyle/>
          <a:p>
            <a:pPr>
              <a:lnSpc>
                <a:spcPct val="125000"/>
              </a:lnSpc>
            </a:pPr>
            <a:r>
              <a:rPr lang="zh-CN" altLang="en-US" sz="3200" b="1" smtClean="0">
                <a:solidFill>
                  <a:srgbClr val="000099"/>
                </a:solidFill>
              </a:rPr>
              <a:t>并联</a:t>
            </a:r>
            <a:r>
              <a:rPr lang="zh-CN" altLang="en-US" sz="3200" b="1" dirty="0" smtClean="0">
                <a:solidFill>
                  <a:srgbClr val="000099"/>
                </a:solidFill>
              </a:rPr>
              <a:t>电阻器</a:t>
            </a:r>
            <a:endParaRPr lang="zh-CN" altLang="en-US" sz="3200" dirty="0">
              <a:solidFill>
                <a:srgbClr val="000099"/>
              </a:solidFill>
            </a:endParaRPr>
          </a:p>
        </p:txBody>
      </p:sp>
      <p:pic>
        <p:nvPicPr>
          <p:cNvPr id="3"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31614" y="-4222"/>
            <a:ext cx="2962276" cy="3491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4" name="组合 3"/>
          <p:cNvGrpSpPr/>
          <p:nvPr/>
        </p:nvGrpSpPr>
        <p:grpSpPr>
          <a:xfrm>
            <a:off x="508497" y="3487032"/>
            <a:ext cx="11300931" cy="2941845"/>
            <a:chOff x="0" y="3887082"/>
            <a:chExt cx="11300931" cy="2941845"/>
          </a:xfrm>
        </p:grpSpPr>
        <p:pic>
          <p:nvPicPr>
            <p:cNvPr id="5"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3887082"/>
              <a:ext cx="6718981" cy="561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35284" y="3993190"/>
              <a:ext cx="3267075"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0" y="4596442"/>
              <a:ext cx="42005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3"/>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097841" y="4692319"/>
              <a:ext cx="2457451" cy="74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424444" y="4695998"/>
              <a:ext cx="2819400"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右箭头 9"/>
            <p:cNvSpPr/>
            <p:nvPr/>
          </p:nvSpPr>
          <p:spPr>
            <a:xfrm>
              <a:off x="4444815" y="4865382"/>
              <a:ext cx="414557" cy="32962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右箭头 10"/>
            <p:cNvSpPr/>
            <p:nvPr/>
          </p:nvSpPr>
          <p:spPr>
            <a:xfrm>
              <a:off x="7769678" y="4870488"/>
              <a:ext cx="414557" cy="32962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Picture 2"/>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542174" y="6028827"/>
              <a:ext cx="4752975" cy="800100"/>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文本框 17"/>
            <p:cNvSpPr txBox="1"/>
            <p:nvPr/>
          </p:nvSpPr>
          <p:spPr>
            <a:xfrm>
              <a:off x="0" y="5438157"/>
              <a:ext cx="6158963" cy="584071"/>
            </a:xfrm>
            <a:prstGeom prst="rect">
              <a:avLst/>
            </a:prstGeom>
            <a:noFill/>
          </p:spPr>
          <p:txBody>
            <a:bodyPr wrap="square" rtlCol="0">
              <a:spAutoFit/>
            </a:bodyPr>
            <a:lstStyle/>
            <a:p>
              <a:pPr>
                <a:lnSpc>
                  <a:spcPct val="125000"/>
                </a:lnSpc>
              </a:pPr>
              <a:r>
                <a:rPr lang="zh-CN" altLang="en-US" sz="2800" b="1" dirty="0" smtClean="0"/>
                <a:t>推广到任意多个电阻器并联</a:t>
              </a:r>
              <a:endParaRPr lang="zh-CN" altLang="en-US" sz="2800" b="1" dirty="0"/>
            </a:p>
          </p:txBody>
        </p:sp>
        <p:sp>
          <p:nvSpPr>
            <p:cNvPr id="14" name="矩形 13"/>
            <p:cNvSpPr/>
            <p:nvPr/>
          </p:nvSpPr>
          <p:spPr>
            <a:xfrm>
              <a:off x="8920151" y="6167267"/>
              <a:ext cx="2380780" cy="523220"/>
            </a:xfrm>
            <a:prstGeom prst="rect">
              <a:avLst/>
            </a:prstGeom>
          </p:spPr>
          <p:txBody>
            <a:bodyPr wrap="none">
              <a:spAutoFit/>
            </a:bodyPr>
            <a:lstStyle/>
            <a:p>
              <a:r>
                <a:rPr lang="zh-CN" altLang="en-US" sz="2800" b="1" dirty="0" smtClean="0">
                  <a:solidFill>
                    <a:srgbClr val="FF0000"/>
                  </a:solidFill>
                </a:rPr>
                <a:t>注意：</a:t>
              </a:r>
              <a:r>
                <a:rPr lang="en-US" altLang="zh-CN" sz="2800" i="1" dirty="0" err="1" smtClean="0">
                  <a:solidFill>
                    <a:srgbClr val="FF0000"/>
                  </a:solidFill>
                </a:rPr>
                <a:t>R</a:t>
              </a:r>
              <a:r>
                <a:rPr lang="en-US" altLang="zh-CN" sz="2800" baseline="-25000" dirty="0" err="1" smtClean="0">
                  <a:solidFill>
                    <a:srgbClr val="FF0000"/>
                  </a:solidFill>
                </a:rPr>
                <a:t>eq</a:t>
              </a:r>
              <a:r>
                <a:rPr lang="en-US" altLang="zh-CN" sz="2800" dirty="0" smtClean="0">
                  <a:solidFill>
                    <a:srgbClr val="FF0000"/>
                  </a:solidFill>
                </a:rPr>
                <a:t> &lt; </a:t>
              </a:r>
              <a:r>
                <a:rPr lang="en-US" altLang="zh-CN" sz="2800" i="1" dirty="0" err="1" smtClean="0">
                  <a:solidFill>
                    <a:srgbClr val="FF0000"/>
                  </a:solidFill>
                </a:rPr>
                <a:t>R</a:t>
              </a:r>
              <a:r>
                <a:rPr lang="en-US" altLang="zh-CN" sz="2800" i="1" baseline="-25000" dirty="0" err="1" smtClean="0">
                  <a:solidFill>
                    <a:srgbClr val="FF0000"/>
                  </a:solidFill>
                </a:rPr>
                <a:t>i</a:t>
              </a:r>
              <a:r>
                <a:rPr lang="en-US" altLang="zh-CN" sz="2800" i="1" dirty="0" smtClean="0">
                  <a:solidFill>
                    <a:srgbClr val="FF0000"/>
                  </a:solidFill>
                </a:rPr>
                <a:t> </a:t>
              </a:r>
              <a:endParaRPr lang="zh-CN" altLang="en-US" sz="2800" dirty="0">
                <a:solidFill>
                  <a:srgbClr val="FF0000"/>
                </a:solidFill>
              </a:endParaRPr>
            </a:p>
          </p:txBody>
        </p:sp>
      </p:grpSp>
    </p:spTree>
    <p:extLst>
      <p:ext uri="{BB962C8B-B14F-4D97-AF65-F5344CB8AC3E}">
        <p14:creationId xmlns:p14="http://schemas.microsoft.com/office/powerpoint/2010/main" val="1762842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8473" y="901874"/>
            <a:ext cx="10872592" cy="2308324"/>
          </a:xfrm>
          <a:prstGeom prst="rect">
            <a:avLst/>
          </a:prstGeom>
          <a:noFill/>
        </p:spPr>
        <p:txBody>
          <a:bodyPr wrap="square" rtlCol="0">
            <a:spAutoFit/>
          </a:bodyPr>
          <a:lstStyle/>
          <a:p>
            <a:pPr>
              <a:lnSpc>
                <a:spcPct val="200000"/>
              </a:lnSpc>
            </a:pPr>
            <a:r>
              <a:rPr lang="zh-CN" altLang="en-US" sz="3200" b="1" dirty="0" smtClean="0">
                <a:solidFill>
                  <a:srgbClr val="0000FF"/>
                </a:solidFill>
              </a:rPr>
              <a:t>检测题 </a:t>
            </a:r>
            <a:r>
              <a:rPr lang="en-US" altLang="zh-CN" sz="3200" b="1" dirty="0" smtClean="0">
                <a:solidFill>
                  <a:srgbClr val="0000FF"/>
                </a:solidFill>
              </a:rPr>
              <a:t>18.6</a:t>
            </a:r>
          </a:p>
          <a:p>
            <a:pPr>
              <a:lnSpc>
                <a:spcPct val="150000"/>
              </a:lnSpc>
            </a:pPr>
            <a:r>
              <a:rPr lang="zh-CN" altLang="en-US" sz="3200" b="1" dirty="0"/>
              <a:t>两</a:t>
            </a:r>
            <a:r>
              <a:rPr lang="zh-CN" altLang="en-US" sz="3200" b="1" dirty="0" smtClean="0"/>
              <a:t>个相同的电阻器（</a:t>
            </a:r>
            <a:r>
              <a:rPr lang="en-US" altLang="zh-CN" sz="3200" b="1" dirty="0" smtClean="0"/>
              <a:t>R</a:t>
            </a:r>
            <a:r>
              <a:rPr lang="zh-CN" altLang="en-US" sz="3200" b="1" dirty="0" smtClean="0"/>
              <a:t>）并联，其等效电阻是多少？</a:t>
            </a:r>
            <a:endParaRPr lang="en-US" altLang="zh-CN" sz="3200" dirty="0"/>
          </a:p>
          <a:p>
            <a:endParaRPr lang="en-US" altLang="zh-CN" sz="3200" dirty="0" smtClean="0"/>
          </a:p>
        </p:txBody>
      </p:sp>
      <p:sp>
        <p:nvSpPr>
          <p:cNvPr id="3" name="矩形 2"/>
          <p:cNvSpPr/>
          <p:nvPr/>
        </p:nvSpPr>
        <p:spPr>
          <a:xfrm>
            <a:off x="4358023" y="3985944"/>
            <a:ext cx="805029" cy="523220"/>
          </a:xfrm>
          <a:prstGeom prst="rect">
            <a:avLst/>
          </a:prstGeom>
        </p:spPr>
        <p:txBody>
          <a:bodyPr wrap="none">
            <a:spAutoFit/>
          </a:bodyPr>
          <a:lstStyle/>
          <a:p>
            <a:r>
              <a:rPr lang="en-US" altLang="zh-CN" sz="2800" b="1"/>
              <a:t>R/2 </a:t>
            </a:r>
          </a:p>
        </p:txBody>
      </p:sp>
    </p:spTree>
    <p:extLst>
      <p:ext uri="{BB962C8B-B14F-4D97-AF65-F5344CB8AC3E}">
        <p14:creationId xmlns:p14="http://schemas.microsoft.com/office/powerpoint/2010/main" val="3788860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14492" y="1692282"/>
            <a:ext cx="3733800" cy="2219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37423" y="1736698"/>
            <a:ext cx="3609975" cy="2085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本框 3"/>
          <p:cNvSpPr txBox="1"/>
          <p:nvPr/>
        </p:nvSpPr>
        <p:spPr>
          <a:xfrm>
            <a:off x="169945" y="159222"/>
            <a:ext cx="5445408" cy="707886"/>
          </a:xfrm>
          <a:prstGeom prst="rect">
            <a:avLst/>
          </a:prstGeom>
          <a:noFill/>
        </p:spPr>
        <p:txBody>
          <a:bodyPr wrap="square" rtlCol="0">
            <a:spAutoFit/>
          </a:bodyPr>
          <a:lstStyle/>
          <a:p>
            <a:pPr>
              <a:lnSpc>
                <a:spcPct val="125000"/>
              </a:lnSpc>
            </a:pPr>
            <a:r>
              <a:rPr lang="en-US" altLang="zh-CN" sz="3200" b="1" dirty="0" smtClean="0"/>
              <a:t>5. </a:t>
            </a:r>
            <a:r>
              <a:rPr lang="zh-CN" altLang="en-US" sz="3200" b="1" dirty="0" smtClean="0"/>
              <a:t>并联电动势</a:t>
            </a:r>
            <a:endParaRPr lang="zh-CN" altLang="en-US" sz="3200" dirty="0"/>
          </a:p>
        </p:txBody>
      </p:sp>
      <p:sp>
        <p:nvSpPr>
          <p:cNvPr id="5" name="文本框 4"/>
          <p:cNvSpPr txBox="1"/>
          <p:nvPr/>
        </p:nvSpPr>
        <p:spPr>
          <a:xfrm>
            <a:off x="3927248" y="106049"/>
            <a:ext cx="8264752" cy="1015663"/>
          </a:xfrm>
          <a:prstGeom prst="rect">
            <a:avLst/>
          </a:prstGeom>
          <a:noFill/>
        </p:spPr>
        <p:txBody>
          <a:bodyPr wrap="square" rtlCol="0">
            <a:spAutoFit/>
          </a:bodyPr>
          <a:lstStyle/>
          <a:p>
            <a:pPr>
              <a:lnSpc>
                <a:spcPct val="125000"/>
              </a:lnSpc>
            </a:pPr>
            <a:r>
              <a:rPr lang="zh-CN" altLang="en-US" sz="2400" b="1" dirty="0"/>
              <a:t>将</a:t>
            </a:r>
            <a:r>
              <a:rPr lang="zh-CN" altLang="en-US" sz="2400" b="1" dirty="0" smtClean="0"/>
              <a:t>多个</a:t>
            </a:r>
            <a:r>
              <a:rPr lang="zh-CN" altLang="en-US" sz="2400" b="1" dirty="0" smtClean="0">
                <a:solidFill>
                  <a:srgbClr val="FF0000"/>
                </a:solidFill>
              </a:rPr>
              <a:t>具有相同电动势的电源</a:t>
            </a:r>
            <a:r>
              <a:rPr lang="zh-CN" altLang="en-US" sz="2400" b="1" dirty="0" smtClean="0"/>
              <a:t>并联在一起，即将它们的正极连着一起，负极也连在一起。</a:t>
            </a:r>
            <a:endParaRPr lang="zh-CN" altLang="en-US" sz="2400" b="1" dirty="0"/>
          </a:p>
        </p:txBody>
      </p:sp>
      <p:sp>
        <p:nvSpPr>
          <p:cNvPr id="6" name="文本框 5"/>
          <p:cNvSpPr txBox="1"/>
          <p:nvPr/>
        </p:nvSpPr>
        <p:spPr>
          <a:xfrm>
            <a:off x="398523" y="1072662"/>
            <a:ext cx="10386708" cy="584071"/>
          </a:xfrm>
          <a:prstGeom prst="rect">
            <a:avLst/>
          </a:prstGeom>
          <a:noFill/>
        </p:spPr>
        <p:txBody>
          <a:bodyPr wrap="square" rtlCol="0">
            <a:spAutoFit/>
          </a:bodyPr>
          <a:lstStyle/>
          <a:p>
            <a:pPr>
              <a:lnSpc>
                <a:spcPct val="125000"/>
              </a:lnSpc>
            </a:pPr>
            <a:r>
              <a:rPr lang="zh-CN" altLang="en-US" sz="2800" b="1" dirty="0" smtClean="0"/>
              <a:t>优点：降低电源的内阻，以提供更大的电流。</a:t>
            </a:r>
            <a:endParaRPr lang="zh-CN" altLang="en-US" sz="2800" b="1" dirty="0"/>
          </a:p>
        </p:txBody>
      </p:sp>
      <p:sp>
        <p:nvSpPr>
          <p:cNvPr id="7" name="文本框 6"/>
          <p:cNvSpPr txBox="1"/>
          <p:nvPr/>
        </p:nvSpPr>
        <p:spPr>
          <a:xfrm>
            <a:off x="169944" y="4771771"/>
            <a:ext cx="12022056" cy="1708160"/>
          </a:xfrm>
          <a:prstGeom prst="rect">
            <a:avLst/>
          </a:prstGeom>
          <a:noFill/>
        </p:spPr>
        <p:txBody>
          <a:bodyPr wrap="square" rtlCol="0">
            <a:spAutoFit/>
          </a:bodyPr>
          <a:lstStyle/>
          <a:p>
            <a:pPr>
              <a:lnSpc>
                <a:spcPct val="125000"/>
              </a:lnSpc>
            </a:pPr>
            <a:r>
              <a:rPr lang="zh-CN" altLang="en-US" sz="2800" b="1" dirty="0" smtClean="0"/>
              <a:t>注意：不要将不同电动势的电源并联在一起，或者把电源的相反极性并联在一起。否则，将导致两个电池迅速消耗且不能或者只能给电路其他部分提供很小的电流。</a:t>
            </a:r>
            <a:endParaRPr lang="zh-CN" altLang="en-US" sz="2800" b="1" dirty="0"/>
          </a:p>
        </p:txBody>
      </p:sp>
      <p:sp>
        <p:nvSpPr>
          <p:cNvPr id="8" name="文本框 7"/>
          <p:cNvSpPr txBox="1"/>
          <p:nvPr/>
        </p:nvSpPr>
        <p:spPr>
          <a:xfrm>
            <a:off x="1732432" y="3895924"/>
            <a:ext cx="8544744" cy="830997"/>
          </a:xfrm>
          <a:prstGeom prst="rect">
            <a:avLst/>
          </a:prstGeom>
          <a:noFill/>
        </p:spPr>
        <p:txBody>
          <a:bodyPr wrap="square" rtlCol="0">
            <a:spAutoFit/>
          </a:bodyPr>
          <a:lstStyle/>
          <a:p>
            <a:r>
              <a:rPr lang="zh-CN" altLang="en-US" sz="2400" b="1" dirty="0" smtClean="0"/>
              <a:t>图</a:t>
            </a:r>
            <a:r>
              <a:rPr lang="en-US" altLang="zh-CN" sz="2400" b="1" dirty="0" smtClean="0"/>
              <a:t>18.23  a</a:t>
            </a:r>
            <a:r>
              <a:rPr lang="zh-CN" altLang="en-US" sz="2400" b="1" dirty="0" smtClean="0"/>
              <a:t>）两个相同的电池（内阻为</a:t>
            </a:r>
            <a:r>
              <a:rPr lang="en-US" altLang="zh-CN" sz="2400" b="1" dirty="0" smtClean="0"/>
              <a:t>r</a:t>
            </a:r>
            <a:r>
              <a:rPr lang="zh-CN" altLang="en-US" sz="2400" b="1" dirty="0" smtClean="0"/>
              <a:t>）并联。</a:t>
            </a:r>
            <a:r>
              <a:rPr lang="en-US" altLang="zh-CN" sz="2400" b="1" dirty="0" smtClean="0"/>
              <a:t>b</a:t>
            </a:r>
            <a:r>
              <a:rPr lang="zh-CN" altLang="en-US" sz="2400" b="1" dirty="0" smtClean="0"/>
              <a:t>）严禁将电池沿着极性相反的方向并联。</a:t>
            </a:r>
            <a:endParaRPr lang="zh-CN" altLang="en-US" sz="2400" b="1" dirty="0"/>
          </a:p>
        </p:txBody>
      </p:sp>
    </p:spTree>
    <p:extLst>
      <p:ext uri="{BB962C8B-B14F-4D97-AF65-F5344CB8AC3E}">
        <p14:creationId xmlns:p14="http://schemas.microsoft.com/office/powerpoint/2010/main" val="4245712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14"/>
          <p:cNvSpPr txBox="1"/>
          <p:nvPr/>
        </p:nvSpPr>
        <p:spPr>
          <a:xfrm>
            <a:off x="176832" y="967266"/>
            <a:ext cx="4453784" cy="630942"/>
          </a:xfrm>
          <a:prstGeom prst="rect">
            <a:avLst/>
          </a:prstGeom>
          <a:noFill/>
        </p:spPr>
        <p:txBody>
          <a:bodyPr wrap="square" rtlCol="0">
            <a:spAutoFit/>
          </a:bodyPr>
          <a:lstStyle/>
          <a:p>
            <a:pPr>
              <a:lnSpc>
                <a:spcPct val="125000"/>
              </a:lnSpc>
            </a:pPr>
            <a:r>
              <a:rPr lang="zh-CN" altLang="en-US" sz="2800" b="1" dirty="0" smtClean="0"/>
              <a:t>设总的充电电荷为</a:t>
            </a:r>
            <a:r>
              <a:rPr lang="en-US" altLang="zh-CN" sz="2800" b="1" i="1" dirty="0" smtClean="0">
                <a:latin typeface="Times New Roman" panose="02020603050405020304" pitchFamily="18" charset="0"/>
                <a:cs typeface="Times New Roman" panose="02020603050405020304" pitchFamily="18" charset="0"/>
              </a:rPr>
              <a:t>Q</a:t>
            </a:r>
            <a:r>
              <a:rPr lang="zh-CN" altLang="en-US" sz="2800" b="1" dirty="0" smtClean="0"/>
              <a:t>，则</a:t>
            </a:r>
            <a:endParaRPr lang="zh-CN" altLang="en-US" sz="2800" b="1" dirty="0"/>
          </a:p>
        </p:txBody>
      </p:sp>
      <p:sp>
        <p:nvSpPr>
          <p:cNvPr id="4" name="文本框 3"/>
          <p:cNvSpPr txBox="1"/>
          <p:nvPr/>
        </p:nvSpPr>
        <p:spPr>
          <a:xfrm>
            <a:off x="82358" y="69697"/>
            <a:ext cx="4559981" cy="707886"/>
          </a:xfrm>
          <a:prstGeom prst="rect">
            <a:avLst/>
          </a:prstGeom>
          <a:noFill/>
        </p:spPr>
        <p:txBody>
          <a:bodyPr wrap="square" rtlCol="0">
            <a:spAutoFit/>
          </a:bodyPr>
          <a:lstStyle/>
          <a:p>
            <a:pPr>
              <a:lnSpc>
                <a:spcPct val="125000"/>
              </a:lnSpc>
            </a:pPr>
            <a:r>
              <a:rPr lang="en-US" altLang="zh-CN" sz="3200" b="1" dirty="0" smtClean="0"/>
              <a:t>5. </a:t>
            </a:r>
            <a:r>
              <a:rPr lang="zh-CN" altLang="en-US" sz="3200" b="1" dirty="0" smtClean="0"/>
              <a:t>并联电容器</a:t>
            </a:r>
            <a:endParaRPr lang="zh-CN" altLang="en-US" sz="3200" dirty="0"/>
          </a:p>
        </p:txBody>
      </p:sp>
      <p:pic>
        <p:nvPicPr>
          <p:cNvPr id="5"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09693" y="1476225"/>
            <a:ext cx="4738124" cy="1841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70659" y="1545775"/>
            <a:ext cx="3026223" cy="5819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83457" y="2735984"/>
            <a:ext cx="1574219" cy="456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34433" y="3426967"/>
            <a:ext cx="1289483" cy="398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5"/>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754963" y="3964513"/>
            <a:ext cx="7934325"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6"/>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719787" y="4851286"/>
            <a:ext cx="1552575" cy="43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8"/>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303025" y="4823437"/>
            <a:ext cx="2667000"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2"/>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802577" y="6149879"/>
            <a:ext cx="4610100"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文本框 13"/>
          <p:cNvSpPr txBox="1"/>
          <p:nvPr/>
        </p:nvSpPr>
        <p:spPr>
          <a:xfrm>
            <a:off x="4888514" y="0"/>
            <a:ext cx="6998687" cy="1477328"/>
          </a:xfrm>
          <a:prstGeom prst="rect">
            <a:avLst/>
          </a:prstGeom>
          <a:noFill/>
        </p:spPr>
        <p:txBody>
          <a:bodyPr wrap="square" rtlCol="0">
            <a:spAutoFit/>
          </a:bodyPr>
          <a:lstStyle/>
          <a:p>
            <a:pPr>
              <a:lnSpc>
                <a:spcPct val="125000"/>
              </a:lnSpc>
            </a:pPr>
            <a:r>
              <a:rPr lang="zh-CN" altLang="en-US" sz="2400" b="1" dirty="0" smtClean="0"/>
              <a:t>串联的电容器具有相同的电荷，但可能电势差不同。并联的电容器具有相同的电势差，但可能载有不同的电荷。</a:t>
            </a:r>
            <a:endParaRPr lang="zh-CN" altLang="en-US" sz="2400" b="1" dirty="0"/>
          </a:p>
        </p:txBody>
      </p:sp>
      <p:sp>
        <p:nvSpPr>
          <p:cNvPr id="16" name="文本框 15"/>
          <p:cNvSpPr txBox="1"/>
          <p:nvPr/>
        </p:nvSpPr>
        <p:spPr>
          <a:xfrm>
            <a:off x="211074" y="2157021"/>
            <a:ext cx="6673180" cy="630942"/>
          </a:xfrm>
          <a:prstGeom prst="rect">
            <a:avLst/>
          </a:prstGeom>
          <a:noFill/>
        </p:spPr>
        <p:txBody>
          <a:bodyPr wrap="square" rtlCol="0">
            <a:spAutoFit/>
          </a:bodyPr>
          <a:lstStyle/>
          <a:p>
            <a:pPr>
              <a:lnSpc>
                <a:spcPct val="125000"/>
              </a:lnSpc>
            </a:pPr>
            <a:r>
              <a:rPr lang="zh-CN" altLang="en-US" sz="2800" b="1" dirty="0" smtClean="0"/>
              <a:t>电容器两端的电势差与充电电荷的关系为</a:t>
            </a:r>
            <a:endParaRPr lang="zh-CN" altLang="en-US" sz="2800" b="1" dirty="0"/>
          </a:p>
        </p:txBody>
      </p:sp>
      <p:sp>
        <p:nvSpPr>
          <p:cNvPr id="17" name="文本框 16"/>
          <p:cNvSpPr txBox="1"/>
          <p:nvPr/>
        </p:nvSpPr>
        <p:spPr>
          <a:xfrm>
            <a:off x="352334" y="3295205"/>
            <a:ext cx="6329819" cy="630942"/>
          </a:xfrm>
          <a:prstGeom prst="rect">
            <a:avLst/>
          </a:prstGeom>
          <a:noFill/>
        </p:spPr>
        <p:txBody>
          <a:bodyPr wrap="square" rtlCol="0">
            <a:spAutoFit/>
          </a:bodyPr>
          <a:lstStyle/>
          <a:p>
            <a:pPr>
              <a:lnSpc>
                <a:spcPct val="125000"/>
              </a:lnSpc>
            </a:pPr>
            <a:r>
              <a:rPr lang="zh-CN" altLang="en-US" sz="2800" b="1" dirty="0" smtClean="0"/>
              <a:t>对于每一个并联电容器，有</a:t>
            </a:r>
            <a:endParaRPr lang="zh-CN" altLang="en-US" sz="2800" b="1" dirty="0"/>
          </a:p>
        </p:txBody>
      </p:sp>
      <p:sp>
        <p:nvSpPr>
          <p:cNvPr id="18" name="文本框 17"/>
          <p:cNvSpPr txBox="1"/>
          <p:nvPr/>
        </p:nvSpPr>
        <p:spPr>
          <a:xfrm>
            <a:off x="306559" y="5381605"/>
            <a:ext cx="10865533" cy="630942"/>
          </a:xfrm>
          <a:prstGeom prst="rect">
            <a:avLst/>
          </a:prstGeom>
          <a:noFill/>
        </p:spPr>
        <p:txBody>
          <a:bodyPr wrap="square" rtlCol="0">
            <a:spAutoFit/>
          </a:bodyPr>
          <a:lstStyle/>
          <a:p>
            <a:pPr>
              <a:lnSpc>
                <a:spcPct val="125000"/>
              </a:lnSpc>
            </a:pPr>
            <a:r>
              <a:rPr lang="zh-CN" altLang="en-US" sz="2800" b="1" dirty="0" smtClean="0"/>
              <a:t>推广：对</a:t>
            </a:r>
            <a:r>
              <a:rPr lang="en-US" altLang="zh-CN" sz="2800" b="1" i="1" dirty="0" smtClean="0">
                <a:latin typeface="Times New Roman" panose="02020603050405020304" pitchFamily="18" charset="0"/>
                <a:cs typeface="Times New Roman" panose="02020603050405020304" pitchFamily="18" charset="0"/>
              </a:rPr>
              <a:t>N</a:t>
            </a:r>
            <a:r>
              <a:rPr lang="zh-CN" altLang="en-US" sz="2800" b="1" dirty="0" smtClean="0"/>
              <a:t>个电容器并联，其等效电容为</a:t>
            </a:r>
            <a:endParaRPr lang="zh-CN" altLang="en-US" sz="2800" b="1" dirty="0"/>
          </a:p>
        </p:txBody>
      </p:sp>
    </p:spTree>
    <p:extLst>
      <p:ext uri="{BB962C8B-B14F-4D97-AF65-F5344CB8AC3E}">
        <p14:creationId xmlns:p14="http://schemas.microsoft.com/office/powerpoint/2010/main" val="1467500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4" grpId="0"/>
      <p:bldP spid="16" grpId="0"/>
      <p:bldP spid="17" grpId="0"/>
      <p:bldP spid="1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405509" y="2116531"/>
            <a:ext cx="4919094" cy="584775"/>
          </a:xfrm>
          <a:prstGeom prst="rect">
            <a:avLst/>
          </a:prstGeom>
        </p:spPr>
        <p:txBody>
          <a:bodyPr wrap="square">
            <a:spAutoFit/>
          </a:bodyPr>
          <a:lstStyle/>
          <a:p>
            <a:r>
              <a:rPr lang="zh-CN" altLang="en-US" sz="3200" b="1" dirty="0">
                <a:solidFill>
                  <a:srgbClr val="0000FF"/>
                </a:solidFill>
              </a:rPr>
              <a:t>作业：计算题</a:t>
            </a:r>
            <a:r>
              <a:rPr lang="en-US" altLang="zh-CN" sz="3200" b="1" dirty="0">
                <a:solidFill>
                  <a:srgbClr val="0000FF"/>
                </a:solidFill>
              </a:rPr>
              <a:t>95</a:t>
            </a:r>
            <a:r>
              <a:rPr lang="zh-CN" altLang="en-US" sz="3200" b="1" dirty="0">
                <a:solidFill>
                  <a:srgbClr val="0000FF"/>
                </a:solidFill>
              </a:rPr>
              <a:t>页第</a:t>
            </a:r>
            <a:r>
              <a:rPr lang="en-US" altLang="zh-CN" sz="3200" b="1" dirty="0">
                <a:solidFill>
                  <a:srgbClr val="0000FF"/>
                </a:solidFill>
              </a:rPr>
              <a:t>21</a:t>
            </a:r>
            <a:r>
              <a:rPr lang="zh-CN" altLang="en-US" sz="3200" b="1" dirty="0">
                <a:solidFill>
                  <a:srgbClr val="0000FF"/>
                </a:solidFill>
              </a:rPr>
              <a:t>题</a:t>
            </a:r>
          </a:p>
        </p:txBody>
      </p:sp>
    </p:spTree>
    <p:extLst>
      <p:ext uri="{BB962C8B-B14F-4D97-AF65-F5344CB8AC3E}">
        <p14:creationId xmlns:p14="http://schemas.microsoft.com/office/powerpoint/2010/main" val="23728875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2268</TotalTime>
  <Words>816</Words>
  <Application>Microsoft Office PowerPoint</Application>
  <PresentationFormat>自定义</PresentationFormat>
  <Paragraphs>53</Paragraphs>
  <Slides>12</Slides>
  <Notes>1</Notes>
  <HiddenSlides>0</HiddenSlides>
  <MMClips>0</MMClips>
  <ScaleCrop>false</ScaleCrop>
  <HeadingPairs>
    <vt:vector size="4" baseType="variant">
      <vt:variant>
        <vt:lpstr>主题</vt:lpstr>
      </vt:variant>
      <vt:variant>
        <vt:i4>1</vt:i4>
      </vt:variant>
      <vt:variant>
        <vt:lpstr>幻灯片标题</vt:lpstr>
      </vt:variant>
      <vt:variant>
        <vt:i4>12</vt:i4>
      </vt:variant>
    </vt:vector>
  </HeadingPairs>
  <TitlesOfParts>
    <vt:vector size="13" baseType="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Www.SangSan.Cn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桑三博客</dc:creator>
  <cp:lastModifiedBy>hsl</cp:lastModifiedBy>
  <cp:revision>142</cp:revision>
  <dcterms:created xsi:type="dcterms:W3CDTF">2017-10-22T09:48:47Z</dcterms:created>
  <dcterms:modified xsi:type="dcterms:W3CDTF">2020-04-28T16:05:50Z</dcterms:modified>
</cp:coreProperties>
</file>