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70" r:id="rId2"/>
    <p:sldId id="295" r:id="rId3"/>
    <p:sldId id="265" r:id="rId4"/>
    <p:sldId id="266" r:id="rId5"/>
    <p:sldId id="267" r:id="rId6"/>
    <p:sldId id="268" r:id="rId7"/>
    <p:sldId id="272" r:id="rId8"/>
    <p:sldId id="273" r:id="rId9"/>
    <p:sldId id="274" r:id="rId10"/>
    <p:sldId id="276" r:id="rId11"/>
    <p:sldId id="290" r:id="rId12"/>
    <p:sldId id="277" r:id="rId13"/>
    <p:sldId id="287" r:id="rId14"/>
    <p:sldId id="292" r:id="rId15"/>
    <p:sldId id="286" r:id="rId16"/>
    <p:sldId id="282" r:id="rId17"/>
    <p:sldId id="283" r:id="rId18"/>
    <p:sldId id="293" r:id="rId19"/>
    <p:sldId id="294" r:id="rId20"/>
    <p:sldId id="291" r:id="rId21"/>
    <p:sldId id="284" r:id="rId22"/>
    <p:sldId id="285" r:id="rId23"/>
    <p:sldId id="288" r:id="rId24"/>
  </p:sldIdLst>
  <p:sldSz cx="9144000" cy="6858000" type="screen4x3"/>
  <p:notesSz cx="6858000" cy="9947275"/>
  <p:defaultTextStyle>
    <a:lvl1pPr defTabSz="1028700">
      <a:lnSpc>
        <a:spcPct val="120000"/>
      </a:lnSpc>
      <a:spcBef>
        <a:spcPts val="1600"/>
      </a:spcBef>
      <a:defRPr sz="2400">
        <a:latin typeface="Times New Roman"/>
        <a:ea typeface="Times New Roman"/>
        <a:cs typeface="Times New Roman"/>
        <a:sym typeface="Times New Roman"/>
      </a:defRPr>
    </a:lvl1pPr>
    <a:lvl2pPr indent="457200" defTabSz="1028700">
      <a:lnSpc>
        <a:spcPct val="120000"/>
      </a:lnSpc>
      <a:spcBef>
        <a:spcPts val="1600"/>
      </a:spcBef>
      <a:defRPr sz="2400">
        <a:latin typeface="Times New Roman"/>
        <a:ea typeface="Times New Roman"/>
        <a:cs typeface="Times New Roman"/>
        <a:sym typeface="Times New Roman"/>
      </a:defRPr>
    </a:lvl2pPr>
    <a:lvl3pPr indent="914400" defTabSz="1028700">
      <a:lnSpc>
        <a:spcPct val="120000"/>
      </a:lnSpc>
      <a:spcBef>
        <a:spcPts val="1600"/>
      </a:spcBef>
      <a:defRPr sz="2400">
        <a:latin typeface="Times New Roman"/>
        <a:ea typeface="Times New Roman"/>
        <a:cs typeface="Times New Roman"/>
        <a:sym typeface="Times New Roman"/>
      </a:defRPr>
    </a:lvl3pPr>
    <a:lvl4pPr indent="1371600" defTabSz="1028700">
      <a:lnSpc>
        <a:spcPct val="120000"/>
      </a:lnSpc>
      <a:spcBef>
        <a:spcPts val="1600"/>
      </a:spcBef>
      <a:defRPr sz="2400">
        <a:latin typeface="Times New Roman"/>
        <a:ea typeface="Times New Roman"/>
        <a:cs typeface="Times New Roman"/>
        <a:sym typeface="Times New Roman"/>
      </a:defRPr>
    </a:lvl4pPr>
    <a:lvl5pPr indent="1828800" defTabSz="1028700">
      <a:lnSpc>
        <a:spcPct val="120000"/>
      </a:lnSpc>
      <a:spcBef>
        <a:spcPts val="1600"/>
      </a:spcBef>
      <a:defRPr sz="2400">
        <a:latin typeface="Times New Roman"/>
        <a:ea typeface="Times New Roman"/>
        <a:cs typeface="Times New Roman"/>
        <a:sym typeface="Times New Roman"/>
      </a:defRPr>
    </a:lvl5pPr>
    <a:lvl6pPr indent="2286000" defTabSz="1028700">
      <a:lnSpc>
        <a:spcPct val="120000"/>
      </a:lnSpc>
      <a:spcBef>
        <a:spcPts val="1600"/>
      </a:spcBef>
      <a:defRPr sz="2400">
        <a:latin typeface="Times New Roman"/>
        <a:ea typeface="Times New Roman"/>
        <a:cs typeface="Times New Roman"/>
        <a:sym typeface="Times New Roman"/>
      </a:defRPr>
    </a:lvl6pPr>
    <a:lvl7pPr indent="2743200" defTabSz="1028700">
      <a:lnSpc>
        <a:spcPct val="120000"/>
      </a:lnSpc>
      <a:spcBef>
        <a:spcPts val="1600"/>
      </a:spcBef>
      <a:defRPr sz="2400">
        <a:latin typeface="Times New Roman"/>
        <a:ea typeface="Times New Roman"/>
        <a:cs typeface="Times New Roman"/>
        <a:sym typeface="Times New Roman"/>
      </a:defRPr>
    </a:lvl7pPr>
    <a:lvl8pPr indent="3200400" defTabSz="1028700">
      <a:lnSpc>
        <a:spcPct val="120000"/>
      </a:lnSpc>
      <a:spcBef>
        <a:spcPts val="1600"/>
      </a:spcBef>
      <a:defRPr sz="2400">
        <a:latin typeface="Times New Roman"/>
        <a:ea typeface="Times New Roman"/>
        <a:cs typeface="Times New Roman"/>
        <a:sym typeface="Times New Roman"/>
      </a:defRPr>
    </a:lvl8pPr>
    <a:lvl9pPr indent="3657600" defTabSz="1028700">
      <a:lnSpc>
        <a:spcPct val="120000"/>
      </a:lnSpc>
      <a:spcBef>
        <a:spcPts val="1600"/>
      </a:spcBef>
      <a:defRPr sz="2400">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CDDCA"/>
          </a:solidFill>
        </a:fill>
      </a:tcStyle>
    </a:wholeTbl>
    <a:band2H>
      <a:tcTxStyle/>
      <a:tcStyle>
        <a:tcBdr/>
        <a:fill>
          <a:solidFill>
            <a:srgbClr val="F6EF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9900"/>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9900"/>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9900"/>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D5CB"/>
          </a:solidFill>
        </a:fill>
      </a:tcStyle>
    </a:wholeTbl>
    <a:band2H>
      <a:tcTxStyle/>
      <a:tcStyle>
        <a:tcBdr/>
        <a:fill>
          <a:solidFill>
            <a:srgbClr val="E7EBE7"/>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35742A"/>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35742A"/>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35742A"/>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CC9900"/>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CC9900"/>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64" autoAdjust="0"/>
    <p:restoredTop sz="89793" autoAdjust="0"/>
  </p:normalViewPr>
  <p:slideViewPr>
    <p:cSldViewPr>
      <p:cViewPr varScale="1">
        <p:scale>
          <a:sx n="81" d="100"/>
          <a:sy n="81" d="100"/>
        </p:scale>
        <p:origin x="2088" y="66"/>
      </p:cViewPr>
      <p:guideLst>
        <p:guide orient="horz" pos="2160"/>
        <p:guide pos="2880"/>
      </p:guideLst>
    </p:cSldViewPr>
  </p:slideViewPr>
  <p:notesTextViewPr>
    <p:cViewPr>
      <p:scale>
        <a:sx n="1" d="1"/>
        <a:sy n="1" d="1"/>
      </p:scale>
      <p:origin x="0" y="0"/>
    </p:cViewPr>
  </p:notesTextViewPr>
  <p:sorterViewPr>
    <p:cViewPr>
      <p:scale>
        <a:sx n="84" d="100"/>
        <a:sy n="84" d="100"/>
      </p:scale>
      <p:origin x="0" y="47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99091"/>
          </a:xfrm>
          <a:prstGeom prst="rect">
            <a:avLst/>
          </a:prstGeom>
        </p:spPr>
        <p:txBody>
          <a:bodyPr vert="horz" lIns="91440" tIns="45720" rIns="91440" bIns="45720" rtlCol="0"/>
          <a:lstStyle>
            <a:lvl1pPr algn="r">
              <a:defRPr sz="1200"/>
            </a:lvl1pPr>
          </a:lstStyle>
          <a:p>
            <a:fld id="{E71B8C09-FB6D-4ED0-AC47-B88085ACCC4A}" type="datetimeFigureOut">
              <a:rPr lang="zh-CN" altLang="en-US" smtClean="0"/>
              <a:pPr/>
              <a:t>2021/3/8</a:t>
            </a:fld>
            <a:endParaRPr lang="zh-CN" altLang="en-US"/>
          </a:p>
        </p:txBody>
      </p:sp>
      <p:sp>
        <p:nvSpPr>
          <p:cNvPr id="4" name="页脚占位符 3"/>
          <p:cNvSpPr>
            <a:spLocks noGrp="1"/>
          </p:cNvSpPr>
          <p:nvPr>
            <p:ph type="ftr" sz="quarter" idx="2"/>
          </p:nvPr>
        </p:nvSpPr>
        <p:spPr>
          <a:xfrm>
            <a:off x="0" y="9448185"/>
            <a:ext cx="2971800" cy="499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9448185"/>
            <a:ext cx="2971800" cy="499090"/>
          </a:xfrm>
          <a:prstGeom prst="rect">
            <a:avLst/>
          </a:prstGeom>
        </p:spPr>
        <p:txBody>
          <a:bodyPr vert="horz" lIns="91440" tIns="45720" rIns="91440" bIns="45720" rtlCol="0" anchor="b"/>
          <a:lstStyle>
            <a:lvl1pPr algn="r">
              <a:defRPr sz="1200"/>
            </a:lvl1pPr>
          </a:lstStyle>
          <a:p>
            <a:fld id="{65A7B86A-8CF5-4167-8F7A-DFF9ACA7FB18}" type="slidenum">
              <a:rPr lang="zh-CN" altLang="en-US" smtClean="0"/>
              <a:pPr/>
              <a:t>‹#›</a:t>
            </a:fld>
            <a:endParaRPr lang="zh-CN" altLang="en-US"/>
          </a:p>
        </p:txBody>
      </p:sp>
    </p:spTree>
    <p:extLst>
      <p:ext uri="{BB962C8B-B14F-4D97-AF65-F5344CB8AC3E}">
        <p14:creationId xmlns:p14="http://schemas.microsoft.com/office/powerpoint/2010/main" val="27573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hape 16"/>
          <p:cNvSpPr>
            <a:spLocks noGrp="1" noRot="1" noChangeAspect="1"/>
          </p:cNvSpPr>
          <p:nvPr>
            <p:ph type="sldImg"/>
          </p:nvPr>
        </p:nvSpPr>
        <p:spPr>
          <a:xfrm>
            <a:off x="942975" y="746125"/>
            <a:ext cx="4972050" cy="3730625"/>
          </a:xfrm>
          <a:prstGeom prst="rect">
            <a:avLst/>
          </a:prstGeom>
        </p:spPr>
        <p:txBody>
          <a:bodyPr/>
          <a:lstStyle/>
          <a:p>
            <a:pPr lvl="0"/>
            <a:endParaRPr/>
          </a:p>
        </p:txBody>
      </p:sp>
      <p:sp>
        <p:nvSpPr>
          <p:cNvPr id="17" name="Shape 17"/>
          <p:cNvSpPr>
            <a:spLocks noGrp="1"/>
          </p:cNvSpPr>
          <p:nvPr>
            <p:ph type="body" sz="quarter" idx="1"/>
          </p:nvPr>
        </p:nvSpPr>
        <p:spPr>
          <a:xfrm>
            <a:off x="914400" y="4724956"/>
            <a:ext cx="5029200" cy="4476274"/>
          </a:xfrm>
          <a:prstGeom prst="rect">
            <a:avLst/>
          </a:prstGeom>
        </p:spPr>
        <p:txBody>
          <a:bodyPr/>
          <a:lstStyle/>
          <a:p>
            <a:pPr lvl="0"/>
            <a:endParaRPr/>
          </a:p>
        </p:txBody>
      </p:sp>
    </p:spTree>
    <p:extLst>
      <p:ext uri="{BB962C8B-B14F-4D97-AF65-F5344CB8AC3E}">
        <p14:creationId xmlns:p14="http://schemas.microsoft.com/office/powerpoint/2010/main" val="3316841307"/>
      </p:ext>
    </p:extLst>
  </p:cSld>
  <p:clrMap bg1="lt1" tx1="dk1" bg2="lt2" tx2="dk2" accent1="accent1" accent2="accent2" accent3="accent3" accent4="accent4" accent5="accent5" accent6="accent6" hlink="hlink" folHlink="folHlink"/>
  <p:notesStyle>
    <a:lvl1pPr defTabSz="457200">
      <a:lnSpc>
        <a:spcPct val="117999"/>
      </a:lnSpc>
      <a:defRPr sz="2200">
        <a:latin typeface="+mn-lt"/>
        <a:ea typeface="+mn-ea"/>
        <a:cs typeface="+mn-cs"/>
        <a:sym typeface="Helvetica Neue"/>
      </a:defRPr>
    </a:lvl1pPr>
    <a:lvl2pPr indent="228600" defTabSz="457200">
      <a:lnSpc>
        <a:spcPct val="117999"/>
      </a:lnSpc>
      <a:defRPr sz="2200">
        <a:latin typeface="+mn-lt"/>
        <a:ea typeface="+mn-ea"/>
        <a:cs typeface="+mn-cs"/>
        <a:sym typeface="Helvetica Neue"/>
      </a:defRPr>
    </a:lvl2pPr>
    <a:lvl3pPr indent="457200" defTabSz="457200">
      <a:lnSpc>
        <a:spcPct val="117999"/>
      </a:lnSpc>
      <a:defRPr sz="2200">
        <a:latin typeface="+mn-lt"/>
        <a:ea typeface="+mn-ea"/>
        <a:cs typeface="+mn-cs"/>
        <a:sym typeface="Helvetica Neue"/>
      </a:defRPr>
    </a:lvl3pPr>
    <a:lvl4pPr indent="685800" defTabSz="457200">
      <a:lnSpc>
        <a:spcPct val="117999"/>
      </a:lnSpc>
      <a:defRPr sz="2200">
        <a:latin typeface="+mn-lt"/>
        <a:ea typeface="+mn-ea"/>
        <a:cs typeface="+mn-cs"/>
        <a:sym typeface="Helvetica Neue"/>
      </a:defRPr>
    </a:lvl4pPr>
    <a:lvl5pPr indent="914400" defTabSz="457200">
      <a:lnSpc>
        <a:spcPct val="117999"/>
      </a:lnSpc>
      <a:defRPr sz="2200">
        <a:latin typeface="+mn-lt"/>
        <a:ea typeface="+mn-ea"/>
        <a:cs typeface="+mn-cs"/>
        <a:sym typeface="Helvetica Neue"/>
      </a:defRPr>
    </a:lvl5pPr>
    <a:lvl6pPr indent="1143000" defTabSz="457200">
      <a:lnSpc>
        <a:spcPct val="117999"/>
      </a:lnSpc>
      <a:defRPr sz="2200">
        <a:latin typeface="+mn-lt"/>
        <a:ea typeface="+mn-ea"/>
        <a:cs typeface="+mn-cs"/>
        <a:sym typeface="Helvetica Neue"/>
      </a:defRPr>
    </a:lvl6pPr>
    <a:lvl7pPr indent="1371600" defTabSz="457200">
      <a:lnSpc>
        <a:spcPct val="117999"/>
      </a:lnSpc>
      <a:defRPr sz="2200">
        <a:latin typeface="+mn-lt"/>
        <a:ea typeface="+mn-ea"/>
        <a:cs typeface="+mn-cs"/>
        <a:sym typeface="Helvetica Neue"/>
      </a:defRPr>
    </a:lvl7pPr>
    <a:lvl8pPr indent="1600200" defTabSz="457200">
      <a:lnSpc>
        <a:spcPct val="117999"/>
      </a:lnSpc>
      <a:defRPr sz="2200">
        <a:latin typeface="+mn-lt"/>
        <a:ea typeface="+mn-ea"/>
        <a:cs typeface="+mn-cs"/>
        <a:sym typeface="Helvetica Neue"/>
      </a:defRPr>
    </a:lvl8pPr>
    <a:lvl9pPr indent="1828800" defTabSz="45720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油滴实验（</a:t>
            </a:r>
            <a:r>
              <a:rPr lang="en-US" altLang="zh-CN" dirty="0" smtClean="0"/>
              <a:t>Oil-drop experiment</a:t>
            </a:r>
            <a:r>
              <a:rPr lang="zh-CN" altLang="en-US" dirty="0" smtClean="0"/>
              <a:t>），是罗伯特</a:t>
            </a:r>
            <a:r>
              <a:rPr lang="en-US" altLang="zh-CN" dirty="0" smtClean="0"/>
              <a:t>·</a:t>
            </a:r>
            <a:r>
              <a:rPr lang="zh-CN" altLang="en-US" dirty="0" smtClean="0"/>
              <a:t>密立根与哈维</a:t>
            </a:r>
            <a:r>
              <a:rPr lang="en-US" altLang="zh-CN" dirty="0" smtClean="0"/>
              <a:t>·</a:t>
            </a:r>
            <a:r>
              <a:rPr lang="zh-CN" altLang="en-US" dirty="0" smtClean="0"/>
              <a:t>福莱柴尔（</a:t>
            </a:r>
            <a:r>
              <a:rPr lang="en-US" altLang="zh-CN" dirty="0" smtClean="0"/>
              <a:t>Harvey Fletcher</a:t>
            </a:r>
            <a:r>
              <a:rPr lang="zh-CN" altLang="en-US" dirty="0" smtClean="0"/>
              <a:t>）在</a:t>
            </a:r>
            <a:r>
              <a:rPr lang="en-US" altLang="zh-CN" dirty="0" smtClean="0"/>
              <a:t>1909</a:t>
            </a:r>
            <a:r>
              <a:rPr lang="zh-CN" altLang="en-US" dirty="0" smtClean="0"/>
              <a:t>年所进行的一项物理学实验。罗伯特</a:t>
            </a:r>
            <a:r>
              <a:rPr lang="en-US" altLang="zh-CN" dirty="0" smtClean="0"/>
              <a:t>·</a:t>
            </a:r>
            <a:r>
              <a:rPr lang="zh-CN" altLang="en-US" dirty="0" smtClean="0"/>
              <a:t>密立根因而获得</a:t>
            </a:r>
            <a:r>
              <a:rPr lang="en-US" altLang="zh-CN" dirty="0" smtClean="0"/>
              <a:t>1923</a:t>
            </a:r>
            <a:r>
              <a:rPr lang="zh-CN" altLang="en-US" dirty="0" smtClean="0"/>
              <a:t>年的诺贝尔物理学奖。</a:t>
            </a:r>
          </a:p>
          <a:p>
            <a:r>
              <a:rPr lang="zh-CN" altLang="en-US" dirty="0" smtClean="0"/>
              <a:t>此实验的目的是要测量单一电子的电荷。方法主要是平衡重力与电力，使油滴悬浮于两片金属电极之间。并根据已知的电场强度，计算出整颗油滴的总电荷量。重复对许多油滴进行实验之后，密立根发现所有油滴的总电荷值皆为同一数字的倍数，因此认定此数值为单一电子的电荷</a:t>
            </a:r>
            <a:r>
              <a:rPr lang="en-US" altLang="zh-CN" dirty="0" smtClean="0"/>
              <a:t>e</a:t>
            </a:r>
            <a:r>
              <a:rPr lang="zh-CN" altLang="en-US" dirty="0" smtClean="0"/>
              <a:t>：  库仑。</a:t>
            </a:r>
            <a:endParaRPr lang="zh-CN" altLang="en-US" dirty="0"/>
          </a:p>
        </p:txBody>
      </p:sp>
    </p:spTree>
    <p:extLst>
      <p:ext uri="{BB962C8B-B14F-4D97-AF65-F5344CB8AC3E}">
        <p14:creationId xmlns:p14="http://schemas.microsoft.com/office/powerpoint/2010/main" val="812772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0.64nC</a:t>
            </a:r>
            <a:endParaRPr lang="zh-CN" altLang="en-US"/>
          </a:p>
        </p:txBody>
      </p:sp>
    </p:spTree>
    <p:extLst>
      <p:ext uri="{BB962C8B-B14F-4D97-AF65-F5344CB8AC3E}">
        <p14:creationId xmlns:p14="http://schemas.microsoft.com/office/powerpoint/2010/main" val="1834753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宏观物体间的电力通常忽略不计</a:t>
            </a:r>
            <a:endParaRPr lang="zh-CN" altLang="en-US"/>
          </a:p>
        </p:txBody>
      </p:sp>
    </p:spTree>
    <p:extLst>
      <p:ext uri="{BB962C8B-B14F-4D97-AF65-F5344CB8AC3E}">
        <p14:creationId xmlns:p14="http://schemas.microsoft.com/office/powerpoint/2010/main" val="3163788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在原子结合成分子、原子或分子组成液体或固体时的结合力，以及化学反应和生物过程中的结合力，在本质上也都属于静电力。</a:t>
            </a:r>
            <a:endParaRPr lang="zh-CN" altLang="en-US"/>
          </a:p>
        </p:txBody>
      </p:sp>
    </p:spTree>
    <p:extLst>
      <p:ext uri="{BB962C8B-B14F-4D97-AF65-F5344CB8AC3E}">
        <p14:creationId xmlns:p14="http://schemas.microsoft.com/office/powerpoint/2010/main" val="4090136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晶体内部结构中的质点（原子、离子、分子、原子团）有规则地在三维空间呈周期性重复排列，组成一定形式的晶格，外形上表现为一定形状的几何多面体。</a:t>
            </a:r>
            <a:endParaRPr lang="en-US" altLang="zh-CN" dirty="0" smtClean="0"/>
          </a:p>
          <a:p>
            <a:r>
              <a:rPr lang="zh-CN" altLang="en-US" dirty="0" smtClean="0"/>
              <a:t>离子是指原子由于自身或外界的作用而失去或得到一个或几个电子使其达到最外层电子数为</a:t>
            </a:r>
            <a:r>
              <a:rPr lang="en-US" altLang="zh-CN" dirty="0" smtClean="0"/>
              <a:t>8</a:t>
            </a:r>
            <a:r>
              <a:rPr lang="zh-CN" altLang="en-US" dirty="0" smtClean="0"/>
              <a:t>个或</a:t>
            </a:r>
            <a:r>
              <a:rPr lang="en-US" altLang="zh-CN" dirty="0" smtClean="0"/>
              <a:t>2</a:t>
            </a:r>
            <a:r>
              <a:rPr lang="zh-CN" altLang="en-US" dirty="0" smtClean="0"/>
              <a:t>个（氦原子）或没有电子（四中子）的稳定结构。这一过程称为电离。电离过程所需或放出的能量称为电离能。</a:t>
            </a:r>
          </a:p>
          <a:p>
            <a:r>
              <a:rPr lang="zh-CN" altLang="en-US" dirty="0" smtClean="0"/>
              <a:t>在化学反应中，金属元素原子失去最外层电子，非金属原子得到电子，从而使参加反应的原子或原子团带上电荷。带电荷的原子叫做离子，带正电荷的原子叫做阳离子，带负电荷的原子叫做阴离子。阴、阳离子由于静电作用而形成不带电性的化合物。</a:t>
            </a:r>
            <a:endParaRPr lang="en-US" altLang="zh-CN" dirty="0" smtClean="0"/>
          </a:p>
          <a:p>
            <a:endParaRPr lang="zh-CN" altLang="en-US" dirty="0"/>
          </a:p>
        </p:txBody>
      </p:sp>
    </p:spTree>
    <p:extLst>
      <p:ext uri="{BB962C8B-B14F-4D97-AF65-F5344CB8AC3E}">
        <p14:creationId xmlns:p14="http://schemas.microsoft.com/office/powerpoint/2010/main" val="184131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200" b="0" i="0" dirty="0" smtClean="0">
                <a:effectLst/>
                <a:latin typeface="+mn-lt"/>
                <a:ea typeface="+mn-ea"/>
                <a:cs typeface="+mn-cs"/>
                <a:sym typeface="Helvetica Neue"/>
              </a:rPr>
              <a:t>金、银、铜的元素符号分别为：</a:t>
            </a:r>
            <a:r>
              <a:rPr lang="en-US" altLang="zh-CN" sz="2200" b="0" i="0" dirty="0" smtClean="0">
                <a:effectLst/>
                <a:latin typeface="+mn-lt"/>
                <a:ea typeface="+mn-ea"/>
                <a:cs typeface="+mn-cs"/>
                <a:sym typeface="Helvetica Neue"/>
              </a:rPr>
              <a:t>Au</a:t>
            </a:r>
            <a:r>
              <a:rPr lang="zh-CN" altLang="en-US" sz="2200" b="0" i="0" dirty="0" smtClean="0">
                <a:effectLst/>
                <a:latin typeface="+mn-lt"/>
                <a:ea typeface="+mn-ea"/>
                <a:cs typeface="+mn-cs"/>
                <a:sym typeface="Helvetica Neue"/>
              </a:rPr>
              <a:t>、</a:t>
            </a:r>
            <a:r>
              <a:rPr lang="en-US" altLang="zh-CN" sz="2200" b="0" i="0" dirty="0" smtClean="0">
                <a:effectLst/>
                <a:latin typeface="+mn-lt"/>
                <a:ea typeface="+mn-ea"/>
                <a:cs typeface="+mn-cs"/>
                <a:sym typeface="Helvetica Neue"/>
              </a:rPr>
              <a:t>Ag</a:t>
            </a:r>
            <a:r>
              <a:rPr lang="zh-CN" altLang="en-US" sz="2200" b="0" i="0" dirty="0" smtClean="0">
                <a:effectLst/>
                <a:latin typeface="+mn-lt"/>
                <a:ea typeface="+mn-ea"/>
                <a:cs typeface="+mn-cs"/>
                <a:sym typeface="Helvetica Neue"/>
              </a:rPr>
              <a:t>、</a:t>
            </a:r>
            <a:r>
              <a:rPr lang="en-US" altLang="zh-CN" sz="2200" b="0" i="0" dirty="0" smtClean="0">
                <a:effectLst/>
                <a:latin typeface="+mn-lt"/>
                <a:ea typeface="+mn-ea"/>
                <a:cs typeface="+mn-cs"/>
                <a:sym typeface="Helvetica Neue"/>
              </a:rPr>
              <a:t>Cu</a:t>
            </a:r>
          </a:p>
          <a:p>
            <a:r>
              <a:rPr lang="en-US" altLang="zh-CN" dirty="0" smtClean="0"/>
              <a:t>P:Si</a:t>
            </a:r>
            <a:r>
              <a:rPr lang="zh-CN" altLang="en-US" dirty="0" smtClean="0"/>
              <a:t>多晶硅</a:t>
            </a:r>
            <a:endParaRPr lang="en-US" altLang="zh-CN" dirty="0" smtClean="0"/>
          </a:p>
          <a:p>
            <a:r>
              <a:rPr lang="zh-CN" altLang="en-US" dirty="0" smtClean="0"/>
              <a:t>价电子指原子核外电子中能与其他原子相互作用形成化学键的电子，为原子核外跟元素化合价有关的电子。过渡元素的价电子不仅是最外层电子，次外层电子及某些元素的倒数第三层电子也可成为价电子。价电子同时亦决定该元素的电导性能。一般来说，原子的价电子数愈少，活性就愈高。</a:t>
            </a:r>
            <a:endParaRPr lang="zh-CN" altLang="en-US" dirty="0"/>
          </a:p>
        </p:txBody>
      </p:sp>
    </p:spTree>
    <p:extLst>
      <p:ext uri="{BB962C8B-B14F-4D97-AF65-F5344CB8AC3E}">
        <p14:creationId xmlns:p14="http://schemas.microsoft.com/office/powerpoint/2010/main" val="3301753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电介质的极化现象和导体的静电感应现象有什么区别</a:t>
            </a:r>
            <a:endParaRPr lang="en-US" altLang="zh-CN" smtClean="0"/>
          </a:p>
          <a:p>
            <a:r>
              <a:rPr lang="zh-CN" altLang="en-US" smtClean="0"/>
              <a:t>要说有什么区别，首先要知道导体和电介质有什么区别。导体内有自由电子，电介质中没有自由电子，都是束缚电子。当给这两种物质放入电场中，导体中自由电子马上被静电感应到导体表面形成导体的面电荷，负电荷（自由电子）逆着电场方向运动，相对来讲，正电荷顺着电场方向运动，运动结果在导体表面形成正负面电荷，这正负面电荷也产生静电场，面电荷激发的电场与外加电场方向相反，当自由电荷产生的电场刚好域外电场强度相同时，电子停止运动，这就是静电平衡。静电平衡后，导体内和电场为零。而电介质内都是束缚电荷，不能运动，在外电场作用下，只能进行电极化。电介质材料如塑料、橡胶等，电极化后电介质内部和场强不为零。</a:t>
            </a:r>
            <a:endParaRPr lang="en-US" altLang="zh-CN" smtClean="0"/>
          </a:p>
          <a:p>
            <a:r>
              <a:rPr lang="zh-CN" altLang="en-US" smtClean="0"/>
              <a:t>感应电荷是物质中的自由电荷</a:t>
            </a:r>
            <a:r>
              <a:rPr lang="en-US" altLang="zh-CN" smtClean="0"/>
              <a:t>,</a:t>
            </a:r>
            <a:r>
              <a:rPr lang="zh-CN" altLang="en-US" smtClean="0"/>
              <a:t>这些电荷不受原子、分子的束缚</a:t>
            </a:r>
            <a:r>
              <a:rPr lang="en-US" altLang="zh-CN" smtClean="0"/>
              <a:t>,</a:t>
            </a:r>
            <a:r>
              <a:rPr lang="zh-CN" altLang="en-US" smtClean="0"/>
              <a:t>可以在物质中相对自由地活动</a:t>
            </a:r>
            <a:r>
              <a:rPr lang="en-US" altLang="zh-CN" smtClean="0"/>
              <a:t>,</a:t>
            </a:r>
            <a:r>
              <a:rPr lang="zh-CN" altLang="en-US" smtClean="0"/>
              <a:t>比如说金属原子的最外层电子电离出来</a:t>
            </a:r>
            <a:r>
              <a:rPr lang="en-US" altLang="zh-CN" smtClean="0"/>
              <a:t>,</a:t>
            </a:r>
            <a:r>
              <a:rPr lang="zh-CN" altLang="en-US" smtClean="0"/>
              <a:t>就可以在金属中到处游走</a:t>
            </a:r>
            <a:r>
              <a:rPr lang="en-US" altLang="zh-CN" smtClean="0"/>
              <a:t>.</a:t>
            </a:r>
          </a:p>
          <a:p>
            <a:r>
              <a:rPr lang="zh-CN" altLang="en-US" smtClean="0"/>
              <a:t>而极化电荷是那些仍然受到原子、分子束缚的电子所引起的</a:t>
            </a:r>
            <a:r>
              <a:rPr lang="en-US" altLang="zh-CN" smtClean="0"/>
              <a:t>,</a:t>
            </a:r>
            <a:r>
              <a:rPr lang="zh-CN" altLang="en-US" smtClean="0"/>
              <a:t>这些电荷虽受原子和分子的束缚</a:t>
            </a:r>
            <a:r>
              <a:rPr lang="en-US" altLang="zh-CN" smtClean="0"/>
              <a:t>,</a:t>
            </a:r>
            <a:r>
              <a:rPr lang="zh-CN" altLang="en-US" smtClean="0"/>
              <a:t>但受到电场影响时</a:t>
            </a:r>
            <a:r>
              <a:rPr lang="en-US" altLang="zh-CN" smtClean="0"/>
              <a:t>,</a:t>
            </a:r>
            <a:r>
              <a:rPr lang="zh-CN" altLang="en-US" smtClean="0"/>
              <a:t>位置上还是会有所倾向</a:t>
            </a:r>
            <a:r>
              <a:rPr lang="en-US" altLang="zh-CN" smtClean="0"/>
              <a:t>,</a:t>
            </a:r>
            <a:r>
              <a:rPr lang="zh-CN" altLang="en-US" smtClean="0"/>
              <a:t>从而表现出电性</a:t>
            </a:r>
            <a:r>
              <a:rPr lang="en-US" altLang="zh-CN" smtClean="0"/>
              <a:t>.</a:t>
            </a:r>
          </a:p>
          <a:p>
            <a:r>
              <a:rPr lang="zh-CN" altLang="en-US" smtClean="0"/>
              <a:t>比喻：</a:t>
            </a:r>
          </a:p>
          <a:p>
            <a:r>
              <a:rPr lang="zh-CN" altLang="en-US" smtClean="0"/>
              <a:t>一个大大的监狱</a:t>
            </a:r>
            <a:r>
              <a:rPr lang="en-US" altLang="zh-CN" smtClean="0"/>
              <a:t>(</a:t>
            </a:r>
            <a:r>
              <a:rPr lang="zh-CN" altLang="en-US" smtClean="0"/>
              <a:t>一块物质</a:t>
            </a:r>
            <a:r>
              <a:rPr lang="en-US" altLang="zh-CN" smtClean="0"/>
              <a:t>),</a:t>
            </a:r>
            <a:r>
              <a:rPr lang="zh-CN" altLang="en-US" smtClean="0"/>
              <a:t>监狱中有很多很多的牢房</a:t>
            </a:r>
            <a:r>
              <a:rPr lang="en-US" altLang="zh-CN" smtClean="0"/>
              <a:t>(</a:t>
            </a:r>
            <a:r>
              <a:rPr lang="zh-CN" altLang="en-US" smtClean="0"/>
              <a:t>一个个原子、分子</a:t>
            </a:r>
            <a:r>
              <a:rPr lang="en-US" altLang="zh-CN" smtClean="0"/>
              <a:t>).</a:t>
            </a:r>
            <a:r>
              <a:rPr lang="zh-CN" altLang="en-US" smtClean="0"/>
              <a:t>监狱中的犯人只能待在某一个牢房中活动</a:t>
            </a:r>
            <a:r>
              <a:rPr lang="en-US" altLang="zh-CN" smtClean="0"/>
              <a:t>,</a:t>
            </a:r>
            <a:r>
              <a:rPr lang="zh-CN" altLang="en-US" smtClean="0"/>
              <a:t>它们便是极化电荷的本体</a:t>
            </a:r>
            <a:r>
              <a:rPr lang="en-US" altLang="zh-CN" smtClean="0"/>
              <a:t>.</a:t>
            </a:r>
            <a:r>
              <a:rPr lang="zh-CN" altLang="en-US" smtClean="0"/>
              <a:t>而监狱中的狱警</a:t>
            </a:r>
            <a:r>
              <a:rPr lang="en-US" altLang="zh-CN" smtClean="0"/>
              <a:t>,</a:t>
            </a:r>
            <a:r>
              <a:rPr lang="zh-CN" altLang="en-US" smtClean="0"/>
              <a:t>他们在监狱中可以随便进入任意牢房</a:t>
            </a:r>
            <a:r>
              <a:rPr lang="en-US" altLang="zh-CN" smtClean="0"/>
              <a:t>,</a:t>
            </a:r>
            <a:r>
              <a:rPr lang="zh-CN" altLang="en-US" smtClean="0"/>
              <a:t>也可以在牢房外的走廊上到处自由活动</a:t>
            </a:r>
            <a:r>
              <a:rPr lang="en-US" altLang="zh-CN" smtClean="0"/>
              <a:t>,</a:t>
            </a:r>
            <a:r>
              <a:rPr lang="zh-CN" altLang="en-US" smtClean="0"/>
              <a:t>他们便是自由电荷</a:t>
            </a:r>
            <a:r>
              <a:rPr lang="en-US" altLang="zh-CN" smtClean="0"/>
              <a:t>.</a:t>
            </a:r>
          </a:p>
          <a:p>
            <a:endParaRPr lang="zh-CN" altLang="en-US"/>
          </a:p>
        </p:txBody>
      </p:sp>
    </p:spTree>
    <p:extLst>
      <p:ext uri="{BB962C8B-B14F-4D97-AF65-F5344CB8AC3E}">
        <p14:creationId xmlns:p14="http://schemas.microsoft.com/office/powerpoint/2010/main" val="1615427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a:t>
            </a:r>
            <a:endParaRPr lang="zh-CN" altLang="en-US" dirty="0"/>
          </a:p>
        </p:txBody>
      </p:sp>
    </p:spTree>
    <p:extLst>
      <p:ext uri="{BB962C8B-B14F-4D97-AF65-F5344CB8AC3E}">
        <p14:creationId xmlns:p14="http://schemas.microsoft.com/office/powerpoint/2010/main" val="216669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标题和内容">
    <p:spTree>
      <p:nvGrpSpPr>
        <p:cNvPr id="1" name=""/>
        <p:cNvGrpSpPr/>
        <p:nvPr/>
      </p:nvGrpSpPr>
      <p:grpSpPr>
        <a:xfrm>
          <a:off x="0" y="0"/>
          <a:ext cx="0" cy="0"/>
          <a:chOff x="0" y="0"/>
          <a:chExt cx="0" cy="0"/>
        </a:xfrm>
      </p:grpSpPr>
      <p:sp>
        <p:nvSpPr>
          <p:cNvPr id="13" name="Shape 13"/>
          <p:cNvSpPr>
            <a:spLocks noGrp="1"/>
          </p:cNvSpPr>
          <p:nvPr>
            <p:ph type="title"/>
          </p:nvPr>
        </p:nvSpPr>
        <p:spPr>
          <a:prstGeom prst="rect">
            <a:avLst/>
          </a:prstGeom>
        </p:spPr>
        <p:txBody>
          <a:bodyPr/>
          <a:lstStyle/>
          <a:p>
            <a:pPr lvl="0">
              <a:defRPr sz="1800">
                <a:solidFill>
                  <a:srgbClr val="000000"/>
                </a:solidFill>
              </a:defRPr>
            </a:pPr>
            <a:r>
              <a:rPr sz="3200">
                <a:solidFill>
                  <a:srgbClr val="006633"/>
                </a:solidFill>
              </a:rPr>
              <a:t>标题文本</a:t>
            </a:r>
          </a:p>
        </p:txBody>
      </p:sp>
      <p:sp>
        <p:nvSpPr>
          <p:cNvPr id="14" name="Shape 14"/>
          <p:cNvSpPr>
            <a:spLocks noGrp="1"/>
          </p:cNvSpPr>
          <p:nvPr>
            <p:ph type="body" idx="1"/>
          </p:nvPr>
        </p:nvSpPr>
        <p:spPr>
          <a:prstGeom prst="rect">
            <a:avLst/>
          </a:prstGeom>
        </p:spPr>
        <p:txBody>
          <a:bodyPr/>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
        <p:nvSpPr>
          <p:cNvPr id="15" name="Shape 15"/>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7710" y="2134378"/>
            <a:ext cx="7794050" cy="1472752"/>
          </a:xfrm>
        </p:spPr>
        <p:txBody>
          <a:bodyPr tIns="45825" bIns="45825"/>
          <a:lstStyle/>
          <a:p>
            <a:r>
              <a:rPr lang="en-US" smtClean="0"/>
              <a:t>Click to edit Master title style</a:t>
            </a:r>
            <a:endParaRPr lang="en-US"/>
          </a:p>
        </p:txBody>
      </p:sp>
      <p:sp>
        <p:nvSpPr>
          <p:cNvPr id="3" name="Subtitle 2"/>
          <p:cNvSpPr>
            <a:spLocks noGrp="1"/>
          </p:cNvSpPr>
          <p:nvPr>
            <p:ph type="subTitle" idx="1"/>
          </p:nvPr>
        </p:nvSpPr>
        <p:spPr>
          <a:xfrm>
            <a:off x="1375420" y="3893410"/>
            <a:ext cx="6418630" cy="1755852"/>
          </a:xfrm>
        </p:spPr>
        <p:txBody>
          <a:bodyPr tIns="45825" bIns="45825"/>
          <a:lstStyle>
            <a:lvl1pPr marL="0" indent="0" algn="ctr">
              <a:buNone/>
              <a:defRPr>
                <a:solidFill>
                  <a:schemeClr val="tx1">
                    <a:tint val="75000"/>
                  </a:schemeClr>
                </a:solidFill>
              </a:defRPr>
            </a:lvl1pPr>
            <a:lvl2pPr marL="458252" indent="0" algn="ctr">
              <a:buNone/>
              <a:defRPr>
                <a:solidFill>
                  <a:schemeClr val="tx1">
                    <a:tint val="75000"/>
                  </a:schemeClr>
                </a:solidFill>
              </a:defRPr>
            </a:lvl2pPr>
            <a:lvl3pPr marL="916503" indent="0" algn="ctr">
              <a:buNone/>
              <a:defRPr>
                <a:solidFill>
                  <a:schemeClr val="tx1">
                    <a:tint val="75000"/>
                  </a:schemeClr>
                </a:solidFill>
              </a:defRPr>
            </a:lvl3pPr>
            <a:lvl4pPr marL="1374755" indent="0" algn="ctr">
              <a:buNone/>
              <a:defRPr>
                <a:solidFill>
                  <a:schemeClr val="tx1">
                    <a:tint val="75000"/>
                  </a:schemeClr>
                </a:solidFill>
              </a:defRPr>
            </a:lvl4pPr>
            <a:lvl5pPr marL="1833006" indent="0" algn="ctr">
              <a:buNone/>
              <a:defRPr>
                <a:solidFill>
                  <a:schemeClr val="tx1">
                    <a:tint val="75000"/>
                  </a:schemeClr>
                </a:solidFill>
              </a:defRPr>
            </a:lvl5pPr>
            <a:lvl6pPr marL="2291258" indent="0" algn="ctr">
              <a:buNone/>
              <a:defRPr>
                <a:solidFill>
                  <a:schemeClr val="tx1">
                    <a:tint val="75000"/>
                  </a:schemeClr>
                </a:solidFill>
              </a:defRPr>
            </a:lvl6pPr>
            <a:lvl7pPr marL="2749509" indent="0" algn="ctr">
              <a:buNone/>
              <a:defRPr>
                <a:solidFill>
                  <a:schemeClr val="tx1">
                    <a:tint val="75000"/>
                  </a:schemeClr>
                </a:solidFill>
              </a:defRPr>
            </a:lvl7pPr>
            <a:lvl8pPr marL="3207761" indent="0" algn="ctr">
              <a:buNone/>
              <a:defRPr>
                <a:solidFill>
                  <a:schemeClr val="tx1">
                    <a:tint val="75000"/>
                  </a:schemeClr>
                </a:solidFill>
              </a:defRPr>
            </a:lvl8pPr>
            <a:lvl9pPr marL="366601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8474" y="6368144"/>
            <a:ext cx="2139543" cy="365802"/>
          </a:xfrm>
          <a:prstGeom prst="rect">
            <a:avLst/>
          </a:prstGeom>
        </p:spPr>
        <p:txBody>
          <a:bodyPr lIns="91650" tIns="45825" rIns="91650" bIns="45825"/>
          <a:lstStyle/>
          <a:p>
            <a:endParaRPr lang="en-US"/>
          </a:p>
        </p:txBody>
      </p:sp>
      <p:sp>
        <p:nvSpPr>
          <p:cNvPr id="5" name="Footer Placeholder 4"/>
          <p:cNvSpPr>
            <a:spLocks noGrp="1"/>
          </p:cNvSpPr>
          <p:nvPr>
            <p:ph type="ftr" sz="quarter" idx="11"/>
          </p:nvPr>
        </p:nvSpPr>
        <p:spPr>
          <a:xfrm>
            <a:off x="3132902" y="6368144"/>
            <a:ext cx="2903666" cy="365802"/>
          </a:xfrm>
          <a:prstGeom prst="rect">
            <a:avLst/>
          </a:prstGeom>
        </p:spPr>
        <p:txBody>
          <a:bodyPr lIns="91650" tIns="45825" rIns="91650" bIns="45825"/>
          <a:lstStyle/>
          <a:p>
            <a:endParaRPr lang="en-US"/>
          </a:p>
        </p:txBody>
      </p:sp>
      <p:sp>
        <p:nvSpPr>
          <p:cNvPr id="6" name="Slide Number Placeholder 5"/>
          <p:cNvSpPr>
            <a:spLocks noGrp="1"/>
          </p:cNvSpPr>
          <p:nvPr>
            <p:ph type="sldNum" sz="quarter" idx="12"/>
          </p:nvPr>
        </p:nvSpPr>
        <p:spPr>
          <a:xfrm>
            <a:off x="6553200" y="6356350"/>
            <a:ext cx="2133600" cy="461877"/>
          </a:xfrm>
        </p:spPr>
        <p:txBody>
          <a:bodyPr tIns="45825" bIns="45825"/>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endParaRPr 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灯片编号占位符 5"/>
          <p:cNvSpPr>
            <a:spLocks noGrp="1"/>
          </p:cNvSpPr>
          <p:nvPr>
            <p:ph type="sldNum" sz="quarter" idx="12"/>
          </p:nvPr>
        </p:nvSpPr>
        <p:spPr/>
        <p:txBody>
          <a:bodyPr/>
          <a:lstStyle/>
          <a:p>
            <a:pPr lvl="0"/>
            <a:fld id="{86CB4B4D-7CA3-9044-876B-883B54F8677D}" type="slidenum">
              <a:rPr lang="en-US" altLang="zh-CN" smtClean="0"/>
              <a:pPr lvl="0"/>
              <a:t>‹#›</a:t>
            </a:fld>
            <a:endParaRPr lang="en-US" altLang="zh-CN"/>
          </a:p>
        </p:txBody>
      </p:sp>
    </p:spTree>
    <p:extLst>
      <p:ext uri="{BB962C8B-B14F-4D97-AF65-F5344CB8AC3E}">
        <p14:creationId xmlns:p14="http://schemas.microsoft.com/office/powerpoint/2010/main" val="28065885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274638"/>
            <a:ext cx="8229600" cy="850107"/>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pPr lvl="0">
              <a:defRPr sz="1800">
                <a:solidFill>
                  <a:srgbClr val="000000"/>
                </a:solidFill>
              </a:defRPr>
            </a:pPr>
            <a:r>
              <a:rPr sz="3200">
                <a:solidFill>
                  <a:srgbClr val="006633"/>
                </a:solidFill>
              </a:rPr>
              <a:t>标题文本</a:t>
            </a:r>
          </a:p>
        </p:txBody>
      </p:sp>
      <p:sp>
        <p:nvSpPr>
          <p:cNvPr id="3" name="Shape 3"/>
          <p:cNvSpPr>
            <a:spLocks noGrp="1"/>
          </p:cNvSpPr>
          <p:nvPr>
            <p:ph type="body" idx="1"/>
          </p:nvPr>
        </p:nvSpPr>
        <p:spPr>
          <a:xfrm>
            <a:off x="457200" y="1124744"/>
            <a:ext cx="8229600" cy="5733256"/>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
        <p:nvSpPr>
          <p:cNvPr id="4" name="Shape 4"/>
          <p:cNvSpPr>
            <a:spLocks noGrp="1"/>
          </p:cNvSpPr>
          <p:nvPr>
            <p:ph type="sldNum" sz="quarter" idx="2"/>
          </p:nvPr>
        </p:nvSpPr>
        <p:spPr>
          <a:xfrm>
            <a:off x="6553200" y="6356350"/>
            <a:ext cx="2133600" cy="421392"/>
          </a:xfrm>
          <a:prstGeom prst="rect">
            <a:avLst/>
          </a:prstGeom>
          <a:ln w="12700">
            <a:miter lim="400000"/>
          </a:ln>
        </p:spPr>
        <p:txBody>
          <a:bodyPr lIns="45719" rIns="45719">
            <a:spAutoFit/>
          </a:bodyPr>
          <a:lstStyle>
            <a:lvl1pPr defTabSz="914400">
              <a:lnSpc>
                <a:spcPct val="100000"/>
              </a:lnSpc>
              <a:spcBef>
                <a:spcPts val="0"/>
              </a:spcBef>
            </a:lvl1pPr>
          </a:lstStyle>
          <a:p>
            <a:pPr lvl="0"/>
            <a:fld id="{86CB4B4D-7CA3-9044-876B-883B54F8677D}" type="slidenum">
              <a:rPr/>
              <a:pPr lvl="0"/>
              <a:t>‹#›</a:t>
            </a:fld>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ransition spd="med"/>
  <p:hf hdr="0" ftr="0" dt="0"/>
  <p:txStyles>
    <p:titleStyle>
      <a:lvl1pPr>
        <a:defRPr sz="3200">
          <a:solidFill>
            <a:srgbClr val="006633"/>
          </a:solidFill>
          <a:latin typeface="SimHei"/>
          <a:ea typeface="SimHei"/>
          <a:cs typeface="SimHei"/>
          <a:sym typeface="SimHei"/>
        </a:defRPr>
      </a:lvl1pPr>
      <a:lvl2pPr>
        <a:defRPr sz="3200">
          <a:solidFill>
            <a:srgbClr val="006633"/>
          </a:solidFill>
          <a:latin typeface="SimHei"/>
          <a:ea typeface="SimHei"/>
          <a:cs typeface="SimHei"/>
          <a:sym typeface="SimHei"/>
        </a:defRPr>
      </a:lvl2pPr>
      <a:lvl3pPr>
        <a:defRPr sz="3200">
          <a:solidFill>
            <a:srgbClr val="006633"/>
          </a:solidFill>
          <a:latin typeface="SimHei"/>
          <a:ea typeface="SimHei"/>
          <a:cs typeface="SimHei"/>
          <a:sym typeface="SimHei"/>
        </a:defRPr>
      </a:lvl3pPr>
      <a:lvl4pPr>
        <a:defRPr sz="3200">
          <a:solidFill>
            <a:srgbClr val="006633"/>
          </a:solidFill>
          <a:latin typeface="SimHei"/>
          <a:ea typeface="SimHei"/>
          <a:cs typeface="SimHei"/>
          <a:sym typeface="SimHei"/>
        </a:defRPr>
      </a:lvl4pPr>
      <a:lvl5pPr>
        <a:defRPr sz="3200">
          <a:solidFill>
            <a:srgbClr val="006633"/>
          </a:solidFill>
          <a:latin typeface="SimHei"/>
          <a:ea typeface="SimHei"/>
          <a:cs typeface="SimHei"/>
          <a:sym typeface="SimHei"/>
        </a:defRPr>
      </a:lvl5pPr>
      <a:lvl6pPr indent="457200">
        <a:defRPr sz="3200">
          <a:solidFill>
            <a:srgbClr val="006633"/>
          </a:solidFill>
          <a:latin typeface="SimHei"/>
          <a:ea typeface="SimHei"/>
          <a:cs typeface="SimHei"/>
          <a:sym typeface="SimHei"/>
        </a:defRPr>
      </a:lvl6pPr>
      <a:lvl7pPr indent="914400">
        <a:defRPr sz="3200">
          <a:solidFill>
            <a:srgbClr val="006633"/>
          </a:solidFill>
          <a:latin typeface="SimHei"/>
          <a:ea typeface="SimHei"/>
          <a:cs typeface="SimHei"/>
          <a:sym typeface="SimHei"/>
        </a:defRPr>
      </a:lvl7pPr>
      <a:lvl8pPr indent="1371600">
        <a:defRPr sz="3200">
          <a:solidFill>
            <a:srgbClr val="006633"/>
          </a:solidFill>
          <a:latin typeface="SimHei"/>
          <a:ea typeface="SimHei"/>
          <a:cs typeface="SimHei"/>
          <a:sym typeface="SimHei"/>
        </a:defRPr>
      </a:lvl8pPr>
      <a:lvl9pPr indent="1828800">
        <a:defRPr sz="3200">
          <a:solidFill>
            <a:srgbClr val="006633"/>
          </a:solidFill>
          <a:latin typeface="SimHei"/>
          <a:ea typeface="SimHei"/>
          <a:cs typeface="SimHei"/>
          <a:sym typeface="SimHei"/>
        </a:defRPr>
      </a:lvl9pPr>
    </p:titleStyle>
    <p:bodyStyle>
      <a:lvl1pPr marL="342900" indent="-342900">
        <a:spcBef>
          <a:spcPts val="600"/>
        </a:spcBef>
        <a:buClr>
          <a:srgbClr val="0000FF"/>
        </a:buClr>
        <a:buSzPct val="65000"/>
        <a:buFont typeface="Wingdings"/>
        <a:buChar char="➢"/>
        <a:defRPr sz="2800">
          <a:latin typeface="SimHei"/>
          <a:ea typeface="SimHei"/>
          <a:cs typeface="SimHei"/>
          <a:sym typeface="SimHei"/>
        </a:defRPr>
      </a:lvl1pPr>
      <a:lvl2pPr marL="790575" indent="-333375">
        <a:spcBef>
          <a:spcPts val="600"/>
        </a:spcBef>
        <a:buClr>
          <a:srgbClr val="0000FF"/>
        </a:buClr>
        <a:buSzPct val="60000"/>
        <a:buFont typeface="Wingdings"/>
        <a:buChar char="➢"/>
        <a:defRPr sz="2800">
          <a:latin typeface="SimHei"/>
          <a:ea typeface="SimHei"/>
          <a:cs typeface="SimHei"/>
          <a:sym typeface="SimHei"/>
        </a:defRPr>
      </a:lvl2pPr>
      <a:lvl3pPr marL="1234439" indent="-320039">
        <a:spcBef>
          <a:spcPts val="600"/>
        </a:spcBef>
        <a:buClr>
          <a:srgbClr val="0000FF"/>
        </a:buClr>
        <a:buSzPct val="65000"/>
        <a:buFont typeface="Wingdings"/>
        <a:buChar char="➢"/>
        <a:defRPr sz="2800">
          <a:latin typeface="SimHei"/>
          <a:ea typeface="SimHei"/>
          <a:cs typeface="SimHei"/>
          <a:sym typeface="SimHei"/>
        </a:defRPr>
      </a:lvl3pPr>
      <a:lvl4pPr marL="1466215" indent="-442278">
        <a:spcBef>
          <a:spcPts val="600"/>
        </a:spcBef>
        <a:buClr>
          <a:srgbClr val="0000FF"/>
        </a:buClr>
        <a:buSzPct val="70000"/>
        <a:buFont typeface="Wingdings"/>
        <a:buChar char="❑"/>
        <a:defRPr sz="2800">
          <a:latin typeface="SimHei"/>
          <a:ea typeface="SimHei"/>
          <a:cs typeface="SimHei"/>
          <a:sym typeface="SimHei"/>
        </a:defRPr>
      </a:lvl4pPr>
      <a:lvl5pPr marL="1817053" indent="-475614">
        <a:spcBef>
          <a:spcPts val="600"/>
        </a:spcBef>
        <a:buClr>
          <a:srgbClr val="0000FF"/>
        </a:buClr>
        <a:buSzPct val="75000"/>
        <a:buFont typeface="Wingdings"/>
        <a:buChar char="▪"/>
        <a:defRPr sz="2800">
          <a:latin typeface="SimHei"/>
          <a:ea typeface="SimHei"/>
          <a:cs typeface="SimHei"/>
          <a:sym typeface="SimHei"/>
        </a:defRPr>
      </a:lvl5pPr>
      <a:lvl6pPr marL="2274253" indent="-475614">
        <a:spcBef>
          <a:spcPts val="600"/>
        </a:spcBef>
        <a:buClr>
          <a:srgbClr val="0000FF"/>
        </a:buClr>
        <a:buSzPct val="75000"/>
        <a:buFont typeface="Wingdings"/>
        <a:buChar char="▪"/>
        <a:defRPr sz="2800">
          <a:latin typeface="SimHei"/>
          <a:ea typeface="SimHei"/>
          <a:cs typeface="SimHei"/>
          <a:sym typeface="SimHei"/>
        </a:defRPr>
      </a:lvl6pPr>
      <a:lvl7pPr marL="2731453" indent="-475614">
        <a:spcBef>
          <a:spcPts val="600"/>
        </a:spcBef>
        <a:buClr>
          <a:srgbClr val="0000FF"/>
        </a:buClr>
        <a:buSzPct val="75000"/>
        <a:buFont typeface="Wingdings"/>
        <a:buChar char="▪"/>
        <a:defRPr sz="2800">
          <a:latin typeface="SimHei"/>
          <a:ea typeface="SimHei"/>
          <a:cs typeface="SimHei"/>
          <a:sym typeface="SimHei"/>
        </a:defRPr>
      </a:lvl7pPr>
      <a:lvl8pPr marL="3188653" indent="-475614">
        <a:spcBef>
          <a:spcPts val="600"/>
        </a:spcBef>
        <a:buClr>
          <a:srgbClr val="0000FF"/>
        </a:buClr>
        <a:buSzPct val="75000"/>
        <a:buFont typeface="Wingdings"/>
        <a:buChar char="▪"/>
        <a:defRPr sz="2800">
          <a:latin typeface="SimHei"/>
          <a:ea typeface="SimHei"/>
          <a:cs typeface="SimHei"/>
          <a:sym typeface="SimHei"/>
        </a:defRPr>
      </a:lvl8pPr>
      <a:lvl9pPr marL="3645853" indent="-475615">
        <a:spcBef>
          <a:spcPts val="600"/>
        </a:spcBef>
        <a:buClr>
          <a:srgbClr val="0000FF"/>
        </a:buClr>
        <a:buSzPct val="75000"/>
        <a:buFont typeface="Wingdings"/>
        <a:buChar char="▪"/>
        <a:defRPr sz="2800">
          <a:latin typeface="SimHei"/>
          <a:ea typeface="SimHei"/>
          <a:cs typeface="SimHei"/>
          <a:sym typeface="SimHei"/>
        </a:defRPr>
      </a:lvl9pPr>
    </p:bodyStyle>
    <p:otherStyle>
      <a:lvl1pPr>
        <a:defRPr sz="2400">
          <a:solidFill>
            <a:schemeClr val="tx1"/>
          </a:solidFill>
          <a:latin typeface="+mn-lt"/>
          <a:ea typeface="+mn-ea"/>
          <a:cs typeface="+mn-cs"/>
          <a:sym typeface="Times New Roman"/>
        </a:defRPr>
      </a:lvl1pPr>
      <a:lvl2pPr indent="457200">
        <a:defRPr sz="2400">
          <a:solidFill>
            <a:schemeClr val="tx1"/>
          </a:solidFill>
          <a:latin typeface="+mn-lt"/>
          <a:ea typeface="+mn-ea"/>
          <a:cs typeface="+mn-cs"/>
          <a:sym typeface="Times New Roman"/>
        </a:defRPr>
      </a:lvl2pPr>
      <a:lvl3pPr indent="914400">
        <a:defRPr sz="2400">
          <a:solidFill>
            <a:schemeClr val="tx1"/>
          </a:solidFill>
          <a:latin typeface="+mn-lt"/>
          <a:ea typeface="+mn-ea"/>
          <a:cs typeface="+mn-cs"/>
          <a:sym typeface="Times New Roman"/>
        </a:defRPr>
      </a:lvl3pPr>
      <a:lvl4pPr indent="1371600">
        <a:defRPr sz="2400">
          <a:solidFill>
            <a:schemeClr val="tx1"/>
          </a:solidFill>
          <a:latin typeface="+mn-lt"/>
          <a:ea typeface="+mn-ea"/>
          <a:cs typeface="+mn-cs"/>
          <a:sym typeface="Times New Roman"/>
        </a:defRPr>
      </a:lvl4pPr>
      <a:lvl5pPr indent="1828800">
        <a:defRPr sz="2400">
          <a:solidFill>
            <a:schemeClr val="tx1"/>
          </a:solidFill>
          <a:latin typeface="+mn-lt"/>
          <a:ea typeface="+mn-ea"/>
          <a:cs typeface="+mn-cs"/>
          <a:sym typeface="Times New Roman"/>
        </a:defRPr>
      </a:lvl5pPr>
      <a:lvl6pPr indent="2286000">
        <a:defRPr sz="2400">
          <a:solidFill>
            <a:schemeClr val="tx1"/>
          </a:solidFill>
          <a:latin typeface="+mn-lt"/>
          <a:ea typeface="+mn-ea"/>
          <a:cs typeface="+mn-cs"/>
          <a:sym typeface="Times New Roman"/>
        </a:defRPr>
      </a:lvl6pPr>
      <a:lvl7pPr indent="2743200">
        <a:defRPr sz="2400">
          <a:solidFill>
            <a:schemeClr val="tx1"/>
          </a:solidFill>
          <a:latin typeface="+mn-lt"/>
          <a:ea typeface="+mn-ea"/>
          <a:cs typeface="+mn-cs"/>
          <a:sym typeface="Times New Roman"/>
        </a:defRPr>
      </a:lvl7pPr>
      <a:lvl8pPr indent="3200400">
        <a:defRPr sz="2400">
          <a:solidFill>
            <a:schemeClr val="tx1"/>
          </a:solidFill>
          <a:latin typeface="+mn-lt"/>
          <a:ea typeface="+mn-ea"/>
          <a:cs typeface="+mn-cs"/>
          <a:sym typeface="Times New Roman"/>
        </a:defRPr>
      </a:lvl8pPr>
      <a:lvl9pPr indent="3657600">
        <a:defRPr sz="2400">
          <a:solidFill>
            <a:schemeClr val="tx1"/>
          </a:solidFill>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35696" y="2948112"/>
            <a:ext cx="5863785" cy="547692"/>
          </a:xfrm>
          <a:prstGeom prst="rect">
            <a:avLst/>
          </a:prstGeom>
          <a:noFill/>
        </p:spPr>
        <p:txBody>
          <a:bodyPr wrap="none" lIns="0" tIns="0" rIns="0" bIns="45825" rtlCol="0">
            <a:spAutoFit/>
          </a:bodyPr>
          <a:lstStyle/>
          <a:p>
            <a:pPr>
              <a:lnSpc>
                <a:spcPts val="3508"/>
              </a:lnSpc>
            </a:pPr>
            <a:r>
              <a:rPr lang="zh-CN" altLang="en-US" sz="5400" dirty="0" smtClean="0">
                <a:solidFill>
                  <a:srgbClr val="0000CC"/>
                </a:solidFill>
                <a:latin typeface="微软雅黑" pitchFamily="34" charset="-122"/>
                <a:ea typeface="微软雅黑" pitchFamily="34" charset="-122"/>
                <a:cs typeface="黑体" pitchFamily="18" charset="0"/>
              </a:rPr>
              <a:t>第</a:t>
            </a:r>
            <a:r>
              <a:rPr lang="en-US" altLang="zh-CN" sz="5400" dirty="0" smtClean="0">
                <a:solidFill>
                  <a:srgbClr val="0000CC"/>
                </a:solidFill>
                <a:latin typeface="微软雅黑" pitchFamily="34" charset="-122"/>
                <a:ea typeface="微软雅黑" pitchFamily="34" charset="-122"/>
                <a:cs typeface="黑体" pitchFamily="18" charset="0"/>
              </a:rPr>
              <a:t>16</a:t>
            </a:r>
            <a:r>
              <a:rPr lang="zh-CN" altLang="en-US" sz="5400" dirty="0" smtClean="0">
                <a:solidFill>
                  <a:srgbClr val="0000CC"/>
                </a:solidFill>
                <a:latin typeface="微软雅黑" pitchFamily="34" charset="-122"/>
                <a:ea typeface="微软雅黑" pitchFamily="34" charset="-122"/>
                <a:cs typeface="黑体" pitchFamily="18" charset="0"/>
              </a:rPr>
              <a:t>章 电力与电场</a:t>
            </a:r>
            <a:endParaRPr lang="en-US" altLang="zh-CN" sz="5400" dirty="0">
              <a:solidFill>
                <a:srgbClr val="0000CC"/>
              </a:solidFill>
              <a:latin typeface="微软雅黑" pitchFamily="34" charset="-122"/>
              <a:ea typeface="微软雅黑" pitchFamily="34" charset="-122"/>
              <a:cs typeface="黑体" pitchFamily="18" charset="0"/>
            </a:endParaRPr>
          </a:p>
        </p:txBody>
      </p:sp>
      <p:sp>
        <p:nvSpPr>
          <p:cNvPr id="5" name="灯片编号占位符 4"/>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274639"/>
            <a:ext cx="8712968" cy="706090"/>
          </a:xfrm>
        </p:spPr>
        <p:txBody>
          <a:bodyPr>
            <a:normAutofit/>
          </a:bodyPr>
          <a:lstStyle/>
          <a:p>
            <a:r>
              <a:rPr lang="zh-CN" altLang="en-US" dirty="0" smtClean="0"/>
              <a:t>本节主要内容（</a:t>
            </a:r>
            <a:r>
              <a:rPr lang="zh-CN" altLang="zh-CN" b="1" dirty="0"/>
              <a:t>§</a:t>
            </a:r>
            <a:r>
              <a:rPr lang="en-US" altLang="zh-CN" b="1" dirty="0" smtClean="0"/>
              <a:t>16.1-</a:t>
            </a:r>
            <a:r>
              <a:rPr lang="zh-CN" altLang="zh-CN" b="1" dirty="0" smtClean="0"/>
              <a:t>§</a:t>
            </a:r>
            <a:r>
              <a:rPr lang="en-US" altLang="zh-CN" b="1" dirty="0" smtClean="0"/>
              <a:t>16.2</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zh-CN" b="1" dirty="0" smtClean="0"/>
              <a:t>【</a:t>
            </a:r>
            <a:r>
              <a:rPr lang="zh-CN" altLang="en-US" b="1" dirty="0" smtClean="0"/>
              <a:t>学习</a:t>
            </a:r>
            <a:r>
              <a:rPr lang="zh-CN" altLang="zh-CN" b="1" dirty="0" smtClean="0"/>
              <a:t>目的】</a:t>
            </a:r>
            <a:r>
              <a:rPr lang="zh-CN" altLang="zh-CN" dirty="0" smtClean="0"/>
              <a:t>回顾</a:t>
            </a:r>
            <a:r>
              <a:rPr lang="zh-CN" altLang="zh-CN" dirty="0"/>
              <a:t>中学所学的电荷的性质及电荷守恒定律；掌握原子的基本结构和物质极化的性质；理解金属导体与绝缘体带电放电的物理机理。</a:t>
            </a:r>
          </a:p>
          <a:p>
            <a:r>
              <a:rPr lang="zh-CN" altLang="zh-CN" b="1" dirty="0" smtClean="0"/>
              <a:t>【重点】</a:t>
            </a:r>
            <a:r>
              <a:rPr lang="zh-CN" altLang="zh-CN" dirty="0"/>
              <a:t>电荷的性质；物质的极化；导体带电放电的物理机理</a:t>
            </a:r>
          </a:p>
          <a:p>
            <a:r>
              <a:rPr lang="zh-CN" altLang="zh-CN" b="1" dirty="0" smtClean="0"/>
              <a:t>【难点】</a:t>
            </a:r>
            <a:r>
              <a:rPr lang="zh-CN" altLang="zh-CN" dirty="0"/>
              <a:t>物质的极化；导体带电放电的物理机理</a:t>
            </a:r>
            <a:endParaRPr lang="zh-CN" altLang="en-US" dirty="0"/>
          </a:p>
        </p:txBody>
      </p:sp>
      <p:sp>
        <p:nvSpPr>
          <p:cNvPr id="4" name="灯片编号占位符 3"/>
          <p:cNvSpPr>
            <a:spLocks noGrp="1"/>
          </p:cNvSpPr>
          <p:nvPr>
            <p:ph type="sldNum" sz="quarter" idx="12"/>
          </p:nvPr>
        </p:nvSpPr>
        <p:spPr/>
        <p:txBody>
          <a:bodyPr/>
          <a:lstStyle/>
          <a:p>
            <a:pPr lvl="0"/>
            <a:fld id="{86CB4B4D-7CA3-9044-876B-883B54F8677D}" type="slidenum">
              <a:rPr lang="en-US" altLang="zh-CN" smtClean="0"/>
              <a:pPr lvl="0"/>
              <a:t>2</a:t>
            </a:fld>
            <a:endParaRPr lang="en-US" altLang="zh-CN"/>
          </a:p>
        </p:txBody>
      </p:sp>
    </p:spTree>
    <p:extLst>
      <p:ext uri="{BB962C8B-B14F-4D97-AF65-F5344CB8AC3E}">
        <p14:creationId xmlns:p14="http://schemas.microsoft.com/office/powerpoint/2010/main" val="7063834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a:srcRect/>
          <a:stretch>
            <a:fillRect/>
          </a:stretch>
        </p:blipFill>
        <p:spPr bwMode="auto">
          <a:xfrm>
            <a:off x="6775220" y="776137"/>
            <a:ext cx="1171655" cy="2086664"/>
          </a:xfrm>
          <a:prstGeom prst="rect">
            <a:avLst/>
          </a:prstGeom>
          <a:noFill/>
        </p:spPr>
      </p:pic>
      <p:pic>
        <p:nvPicPr>
          <p:cNvPr id="4" name="Picture 3"/>
          <p:cNvPicPr>
            <a:picLocks noChangeAspect="1" noChangeArrowheads="1"/>
          </p:cNvPicPr>
          <p:nvPr/>
        </p:nvPicPr>
        <p:blipFill>
          <a:blip r:embed="rId3"/>
          <a:srcRect/>
          <a:stretch>
            <a:fillRect/>
          </a:stretch>
        </p:blipFill>
        <p:spPr bwMode="auto">
          <a:xfrm>
            <a:off x="6444100" y="3435362"/>
            <a:ext cx="1502774" cy="1501380"/>
          </a:xfrm>
          <a:prstGeom prst="rect">
            <a:avLst/>
          </a:prstGeom>
          <a:noFill/>
        </p:spPr>
      </p:pic>
      <p:sp>
        <p:nvSpPr>
          <p:cNvPr id="5" name="TextBox 1"/>
          <p:cNvSpPr txBox="1"/>
          <p:nvPr/>
        </p:nvSpPr>
        <p:spPr>
          <a:xfrm>
            <a:off x="2961488" y="387022"/>
            <a:ext cx="4406627" cy="415797"/>
          </a:xfrm>
          <a:prstGeom prst="rect">
            <a:avLst/>
          </a:prstGeom>
          <a:noFill/>
        </p:spPr>
        <p:txBody>
          <a:bodyPr wrap="square" lIns="0" tIns="0" rIns="0" bIns="45825" rtlCol="0">
            <a:spAutoFit/>
          </a:bodyPr>
          <a:lstStyle/>
          <a:p>
            <a:pPr>
              <a:lnSpc>
                <a:spcPts val="2706"/>
              </a:lnSpc>
            </a:pPr>
            <a:r>
              <a:rPr lang="en-US" altLang="zh-CN" sz="3600" dirty="0" smtClean="0">
                <a:solidFill>
                  <a:srgbClr val="00B050"/>
                </a:solidFill>
                <a:latin typeface="微软雅黑" pitchFamily="34" charset="-122"/>
                <a:ea typeface="微软雅黑" pitchFamily="34" charset="-122"/>
                <a:cs typeface="黑体" pitchFamily="18" charset="0"/>
              </a:rPr>
              <a:t>16.1 </a:t>
            </a:r>
            <a:r>
              <a:rPr lang="en-US" altLang="zh-CN" sz="3600" dirty="0" err="1" smtClean="0">
                <a:solidFill>
                  <a:srgbClr val="00B050"/>
                </a:solidFill>
                <a:latin typeface="微软雅黑" pitchFamily="34" charset="-122"/>
                <a:ea typeface="微软雅黑" pitchFamily="34" charset="-122"/>
                <a:cs typeface="黑体" pitchFamily="18" charset="0"/>
              </a:rPr>
              <a:t>电荷</a:t>
            </a:r>
            <a:endParaRPr lang="en-US" altLang="zh-CN" sz="3600" dirty="0">
              <a:solidFill>
                <a:srgbClr val="00B050"/>
              </a:solidFill>
              <a:latin typeface="微软雅黑" pitchFamily="34" charset="-122"/>
              <a:ea typeface="微软雅黑" pitchFamily="34" charset="-122"/>
              <a:cs typeface="黑体" pitchFamily="18" charset="0"/>
            </a:endParaRPr>
          </a:p>
        </p:txBody>
      </p:sp>
      <p:sp>
        <p:nvSpPr>
          <p:cNvPr id="6" name="TextBox 1"/>
          <p:cNvSpPr txBox="1"/>
          <p:nvPr/>
        </p:nvSpPr>
        <p:spPr>
          <a:xfrm>
            <a:off x="483944" y="1208738"/>
            <a:ext cx="5719514" cy="366873"/>
          </a:xfrm>
          <a:prstGeom prst="rect">
            <a:avLst/>
          </a:prstGeom>
          <a:noFill/>
        </p:spPr>
        <p:txBody>
          <a:bodyPr wrap="none" lIns="0" tIns="0" rIns="0" bIns="45825" rtlCol="0">
            <a:spAutoFit/>
          </a:bodyPr>
          <a:lstStyle/>
          <a:p>
            <a:pPr>
              <a:lnSpc>
                <a:spcPts val="2506"/>
              </a:lnSpc>
            </a:pPr>
            <a:r>
              <a:rPr lang="en-US" altLang="zh-CN" b="1" dirty="0" err="1">
                <a:solidFill>
                  <a:srgbClr val="0000CC"/>
                </a:solidFill>
                <a:latin typeface="黑体" pitchFamily="18" charset="0"/>
                <a:cs typeface="黑体" pitchFamily="18" charset="0"/>
              </a:rPr>
              <a:t>带电现象</a:t>
            </a:r>
            <a:r>
              <a:rPr lang="en-US" altLang="zh-CN" b="1" dirty="0">
                <a:solidFill>
                  <a:srgbClr val="0000CC"/>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物体经摩擦后对轻微物体有吸引</a:t>
            </a:r>
            <a:endParaRPr lang="en-US" altLang="zh-CN" dirty="0">
              <a:solidFill>
                <a:srgbClr val="000000"/>
              </a:solidFill>
              <a:latin typeface="黑体" pitchFamily="18" charset="0"/>
              <a:cs typeface="黑体" pitchFamily="18" charset="0"/>
            </a:endParaRPr>
          </a:p>
        </p:txBody>
      </p:sp>
      <p:sp>
        <p:nvSpPr>
          <p:cNvPr id="7" name="TextBox 1"/>
          <p:cNvSpPr txBox="1"/>
          <p:nvPr/>
        </p:nvSpPr>
        <p:spPr>
          <a:xfrm>
            <a:off x="1859365" y="1636032"/>
            <a:ext cx="1615827" cy="366873"/>
          </a:xfrm>
          <a:prstGeom prst="rect">
            <a:avLst/>
          </a:prstGeom>
          <a:noFill/>
        </p:spPr>
        <p:txBody>
          <a:bodyPr wrap="none" lIns="0" tIns="0" rIns="0" bIns="45825" rtlCol="0">
            <a:spAutoFit/>
          </a:bodyPr>
          <a:lstStyle/>
          <a:p>
            <a:pPr>
              <a:lnSpc>
                <a:spcPts val="2506"/>
              </a:lnSpc>
            </a:pPr>
            <a:r>
              <a:rPr lang="en-US" altLang="zh-CN" dirty="0" err="1">
                <a:solidFill>
                  <a:srgbClr val="000000"/>
                </a:solidFill>
                <a:latin typeface="黑体" pitchFamily="18" charset="0"/>
                <a:cs typeface="黑体" pitchFamily="18" charset="0"/>
              </a:rPr>
              <a:t>作用的现象</a:t>
            </a:r>
            <a:r>
              <a:rPr lang="en-US" altLang="zh-CN" b="1" dirty="0">
                <a:solidFill>
                  <a:srgbClr val="000000"/>
                </a:solidFill>
                <a:latin typeface="Times New Roman" pitchFamily="18" charset="0"/>
                <a:cs typeface="Times New Roman" pitchFamily="18" charset="0"/>
              </a:rPr>
              <a:t>.</a:t>
            </a:r>
          </a:p>
        </p:txBody>
      </p:sp>
      <p:sp>
        <p:nvSpPr>
          <p:cNvPr id="8" name="TextBox 1"/>
          <p:cNvSpPr txBox="1"/>
          <p:nvPr/>
        </p:nvSpPr>
        <p:spPr>
          <a:xfrm>
            <a:off x="483944" y="2163006"/>
            <a:ext cx="1333698" cy="366873"/>
          </a:xfrm>
          <a:prstGeom prst="rect">
            <a:avLst/>
          </a:prstGeom>
          <a:noFill/>
        </p:spPr>
        <p:txBody>
          <a:bodyPr wrap="none" lIns="0" tIns="0" rIns="0" bIns="45825" rtlCol="0">
            <a:spAutoFit/>
          </a:bodyPr>
          <a:lstStyle/>
          <a:p>
            <a:pPr>
              <a:lnSpc>
                <a:spcPts val="2506"/>
              </a:lnSpc>
            </a:pPr>
            <a:r>
              <a:rPr lang="en-US" altLang="zh-CN" b="1">
                <a:solidFill>
                  <a:srgbClr val="0000CC"/>
                </a:solidFill>
                <a:latin typeface="黑体" pitchFamily="18" charset="0"/>
                <a:cs typeface="黑体" pitchFamily="18" charset="0"/>
              </a:rPr>
              <a:t>两种电荷</a:t>
            </a:r>
            <a:r>
              <a:rPr lang="en-US" altLang="zh-CN" b="1">
                <a:solidFill>
                  <a:srgbClr val="0000CC"/>
                </a:solidFill>
                <a:latin typeface="Times New Roman" pitchFamily="18" charset="0"/>
                <a:cs typeface="Times New Roman" pitchFamily="18" charset="0"/>
              </a:rPr>
              <a:t>:</a:t>
            </a:r>
          </a:p>
        </p:txBody>
      </p:sp>
      <p:sp>
        <p:nvSpPr>
          <p:cNvPr id="9" name="TextBox 1"/>
          <p:cNvSpPr txBox="1"/>
          <p:nvPr/>
        </p:nvSpPr>
        <p:spPr>
          <a:xfrm>
            <a:off x="496680" y="4784059"/>
            <a:ext cx="5185715" cy="379697"/>
          </a:xfrm>
          <a:prstGeom prst="rect">
            <a:avLst/>
          </a:prstGeom>
          <a:noFill/>
        </p:spPr>
        <p:txBody>
          <a:bodyPr wrap="none" lIns="0" tIns="0" rIns="0" bIns="45825" rtlCol="0">
            <a:spAutoFit/>
          </a:bodyPr>
          <a:lstStyle/>
          <a:p>
            <a:pPr>
              <a:lnSpc>
                <a:spcPts val="2606"/>
              </a:lnSpc>
            </a:pPr>
            <a:r>
              <a:rPr lang="en-US" altLang="zh-CN" dirty="0">
                <a:solidFill>
                  <a:srgbClr val="000000"/>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硬橡胶棒与毛皮摩擦后所带的电荷为</a:t>
            </a:r>
            <a:endParaRPr lang="en-US" altLang="zh-CN" dirty="0">
              <a:solidFill>
                <a:srgbClr val="000000"/>
              </a:solidFill>
              <a:latin typeface="黑体" pitchFamily="18" charset="0"/>
              <a:cs typeface="黑体" pitchFamily="18" charset="0"/>
            </a:endParaRPr>
          </a:p>
        </p:txBody>
      </p:sp>
      <p:sp>
        <p:nvSpPr>
          <p:cNvPr id="10" name="TextBox 1"/>
          <p:cNvSpPr txBox="1"/>
          <p:nvPr/>
        </p:nvSpPr>
        <p:spPr>
          <a:xfrm>
            <a:off x="725917" y="5178490"/>
            <a:ext cx="1000274" cy="366873"/>
          </a:xfrm>
          <a:prstGeom prst="rect">
            <a:avLst/>
          </a:prstGeom>
          <a:noFill/>
        </p:spPr>
        <p:txBody>
          <a:bodyPr wrap="none" lIns="0" tIns="0" rIns="0" bIns="45825" rtlCol="0">
            <a:spAutoFit/>
          </a:bodyPr>
          <a:lstStyle/>
          <a:p>
            <a:pPr>
              <a:lnSpc>
                <a:spcPts val="2506"/>
              </a:lnSpc>
            </a:pPr>
            <a:r>
              <a:rPr lang="en-US" altLang="zh-CN">
                <a:solidFill>
                  <a:srgbClr val="CC0000"/>
                </a:solidFill>
                <a:latin typeface="黑体" pitchFamily="18" charset="0"/>
                <a:cs typeface="黑体" pitchFamily="18" charset="0"/>
              </a:rPr>
              <a:t>负电荷</a:t>
            </a:r>
            <a:r>
              <a:rPr lang="en-US" altLang="zh-CN" b="1">
                <a:solidFill>
                  <a:srgbClr val="CC0000"/>
                </a:solidFill>
                <a:latin typeface="Times New Roman" pitchFamily="18" charset="0"/>
                <a:cs typeface="Times New Roman" pitchFamily="18" charset="0"/>
              </a:rPr>
              <a:t>.</a:t>
            </a:r>
          </a:p>
        </p:txBody>
      </p:sp>
      <p:sp>
        <p:nvSpPr>
          <p:cNvPr id="11" name="TextBox 1"/>
          <p:cNvSpPr txBox="1"/>
          <p:nvPr/>
        </p:nvSpPr>
        <p:spPr>
          <a:xfrm>
            <a:off x="483944" y="3855239"/>
            <a:ext cx="4877938" cy="379697"/>
          </a:xfrm>
          <a:prstGeom prst="rect">
            <a:avLst/>
          </a:prstGeom>
          <a:noFill/>
        </p:spPr>
        <p:txBody>
          <a:bodyPr wrap="none" lIns="0" tIns="0" rIns="0" bIns="45825" rtlCol="0">
            <a:spAutoFit/>
          </a:bodyPr>
          <a:lstStyle/>
          <a:p>
            <a:pPr>
              <a:lnSpc>
                <a:spcPts val="2606"/>
              </a:lnSpc>
            </a:pPr>
            <a:r>
              <a:rPr lang="en-US" altLang="zh-CN" dirty="0">
                <a:solidFill>
                  <a:srgbClr val="000000"/>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玻璃棒与丝绸摩擦后所带的电荷为</a:t>
            </a:r>
            <a:endParaRPr lang="en-US" altLang="zh-CN" dirty="0">
              <a:solidFill>
                <a:srgbClr val="000000"/>
              </a:solidFill>
              <a:latin typeface="黑体" pitchFamily="18" charset="0"/>
              <a:cs typeface="黑体" pitchFamily="18" charset="0"/>
            </a:endParaRPr>
          </a:p>
        </p:txBody>
      </p:sp>
      <p:sp>
        <p:nvSpPr>
          <p:cNvPr id="12" name="TextBox 1"/>
          <p:cNvSpPr txBox="1"/>
          <p:nvPr/>
        </p:nvSpPr>
        <p:spPr>
          <a:xfrm>
            <a:off x="713181" y="4249670"/>
            <a:ext cx="1000274" cy="366873"/>
          </a:xfrm>
          <a:prstGeom prst="rect">
            <a:avLst/>
          </a:prstGeom>
          <a:noFill/>
        </p:spPr>
        <p:txBody>
          <a:bodyPr wrap="none" lIns="0" tIns="0" rIns="0" bIns="45825" rtlCol="0">
            <a:spAutoFit/>
          </a:bodyPr>
          <a:lstStyle/>
          <a:p>
            <a:pPr>
              <a:lnSpc>
                <a:spcPts val="2506"/>
              </a:lnSpc>
            </a:pPr>
            <a:r>
              <a:rPr lang="en-US" altLang="zh-CN" dirty="0" err="1">
                <a:solidFill>
                  <a:srgbClr val="CC0000"/>
                </a:solidFill>
                <a:latin typeface="黑体" pitchFamily="18" charset="0"/>
                <a:cs typeface="黑体" pitchFamily="18" charset="0"/>
              </a:rPr>
              <a:t>正电荷</a:t>
            </a:r>
            <a:r>
              <a:rPr lang="en-US" altLang="zh-CN" b="1" dirty="0">
                <a:solidFill>
                  <a:srgbClr val="CC0000"/>
                </a:solidFill>
                <a:latin typeface="Times New Roman" pitchFamily="18" charset="0"/>
                <a:cs typeface="Times New Roman" pitchFamily="18" charset="0"/>
              </a:rPr>
              <a:t>.</a:t>
            </a:r>
          </a:p>
        </p:txBody>
      </p:sp>
      <p:sp>
        <p:nvSpPr>
          <p:cNvPr id="13" name="TextBox 1"/>
          <p:cNvSpPr txBox="1"/>
          <p:nvPr/>
        </p:nvSpPr>
        <p:spPr>
          <a:xfrm>
            <a:off x="776858" y="2710119"/>
            <a:ext cx="5232202" cy="366873"/>
          </a:xfrm>
          <a:prstGeom prst="rect">
            <a:avLst/>
          </a:prstGeom>
          <a:noFill/>
        </p:spPr>
        <p:txBody>
          <a:bodyPr wrap="none" lIns="0" tIns="0" rIns="0" bIns="45825" rtlCol="0">
            <a:spAutoFit/>
          </a:bodyPr>
          <a:lstStyle/>
          <a:p>
            <a:pPr>
              <a:lnSpc>
                <a:spcPts val="2506"/>
              </a:lnSpc>
            </a:pPr>
            <a:r>
              <a:rPr lang="en-US" altLang="zh-CN">
                <a:solidFill>
                  <a:srgbClr val="000000"/>
                </a:solidFill>
                <a:latin typeface="黑体" pitchFamily="18" charset="0"/>
                <a:cs typeface="黑体" pitchFamily="18" charset="0"/>
              </a:rPr>
              <a:t>物质所带的电</a:t>
            </a:r>
            <a:r>
              <a:rPr lang="en-US" altLang="zh-CN" b="1">
                <a:solidFill>
                  <a:srgbClr val="000000"/>
                </a:solidFill>
                <a:latin typeface="Times New Roman" pitchFamily="18" charset="0"/>
                <a:cs typeface="Times New Roman" pitchFamily="18" charset="0"/>
              </a:rPr>
              <a:t>,</a:t>
            </a:r>
            <a:r>
              <a:rPr lang="en-US" altLang="zh-CN">
                <a:latin typeface="Times New Roman" pitchFamily="18" charset="0"/>
                <a:cs typeface="Times New Roman" pitchFamily="18" charset="0"/>
              </a:rPr>
              <a:t> </a:t>
            </a:r>
            <a:r>
              <a:rPr lang="en-US" altLang="zh-CN">
                <a:solidFill>
                  <a:srgbClr val="000000"/>
                </a:solidFill>
                <a:latin typeface="黑体" pitchFamily="18" charset="0"/>
                <a:cs typeface="黑体" pitchFamily="18" charset="0"/>
              </a:rPr>
              <a:t>它是物质的固有属性</a:t>
            </a:r>
            <a:r>
              <a:rPr lang="en-US" altLang="zh-CN" b="1">
                <a:solidFill>
                  <a:srgbClr val="000000"/>
                </a:solidFill>
                <a:latin typeface="Times New Roman" pitchFamily="18" charset="0"/>
                <a:cs typeface="Times New Roman" pitchFamily="18" charset="0"/>
              </a:rPr>
              <a:t>.</a:t>
            </a:r>
            <a:r>
              <a:rPr lang="en-US" altLang="zh-CN">
                <a:latin typeface="Times New Roman" pitchFamily="18" charset="0"/>
                <a:cs typeface="Times New Roman" pitchFamily="18" charset="0"/>
              </a:rPr>
              <a:t> </a:t>
            </a:r>
            <a:r>
              <a:rPr lang="en-US" altLang="zh-CN">
                <a:solidFill>
                  <a:srgbClr val="000000"/>
                </a:solidFill>
                <a:latin typeface="黑体" pitchFamily="18" charset="0"/>
                <a:cs typeface="黑体" pitchFamily="18" charset="0"/>
              </a:rPr>
              <a:t>自</a:t>
            </a:r>
          </a:p>
        </p:txBody>
      </p:sp>
      <p:sp>
        <p:nvSpPr>
          <p:cNvPr id="14" name="TextBox 1"/>
          <p:cNvSpPr txBox="1"/>
          <p:nvPr/>
        </p:nvSpPr>
        <p:spPr>
          <a:xfrm>
            <a:off x="471209" y="3091826"/>
            <a:ext cx="4693593" cy="366873"/>
          </a:xfrm>
          <a:prstGeom prst="rect">
            <a:avLst/>
          </a:prstGeom>
          <a:noFill/>
        </p:spPr>
        <p:txBody>
          <a:bodyPr wrap="none" lIns="0" tIns="0" rIns="0" bIns="45825" rtlCol="0">
            <a:spAutoFit/>
          </a:bodyPr>
          <a:lstStyle/>
          <a:p>
            <a:pPr>
              <a:lnSpc>
                <a:spcPts val="2506"/>
              </a:lnSpc>
            </a:pPr>
            <a:r>
              <a:rPr lang="en-US" altLang="zh-CN">
                <a:solidFill>
                  <a:srgbClr val="000000"/>
                </a:solidFill>
                <a:latin typeface="黑体" pitchFamily="18" charset="0"/>
                <a:cs typeface="黑体" pitchFamily="18" charset="0"/>
              </a:rPr>
              <a:t>然界中存在着两种不同性质的电荷</a:t>
            </a:r>
            <a:r>
              <a:rPr lang="en-US" altLang="zh-CN" b="1">
                <a:solidFill>
                  <a:srgbClr val="000000"/>
                </a:solidFill>
                <a:latin typeface="Times New Roman" pitchFamily="18" charset="0"/>
                <a:cs typeface="Times New Roman" pitchFamily="18" charset="0"/>
              </a:rPr>
              <a:t>.</a:t>
            </a:r>
          </a:p>
        </p:txBody>
      </p:sp>
      <p:sp>
        <p:nvSpPr>
          <p:cNvPr id="2" name="灯片编号占位符 1"/>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624156" y="620688"/>
            <a:ext cx="7704856" cy="6989199"/>
          </a:xfrm>
          <a:prstGeom prst="rect">
            <a:avLst/>
          </a:prstGeom>
          <a:noFill/>
        </p:spPr>
        <p:txBody>
          <a:bodyPr wrap="square" lIns="0" tIns="0" rIns="0" bIns="45825" rtlCol="0">
            <a:spAutoFit/>
          </a:bodyPr>
          <a:lstStyle/>
          <a:p>
            <a:pPr algn="l">
              <a:lnSpc>
                <a:spcPct val="100000"/>
              </a:lnSpc>
            </a:pPr>
            <a:r>
              <a:rPr lang="en-US" altLang="zh-CN" sz="3200" dirty="0" err="1">
                <a:solidFill>
                  <a:srgbClr val="0000CC"/>
                </a:solidFill>
                <a:latin typeface="黑体" pitchFamily="49" charset="-122"/>
                <a:ea typeface="黑体" pitchFamily="49" charset="-122"/>
                <a:cs typeface="黑体" pitchFamily="18" charset="0"/>
              </a:rPr>
              <a:t>电荷的基本性质</a:t>
            </a:r>
            <a:r>
              <a:rPr lang="en-US" altLang="zh-CN" sz="3200" b="1" dirty="0" err="1" smtClean="0">
                <a:solidFill>
                  <a:srgbClr val="0000CC"/>
                </a:solidFill>
                <a:latin typeface="黑体" pitchFamily="49" charset="-122"/>
                <a:ea typeface="黑体" pitchFamily="49" charset="-122"/>
                <a:cs typeface="Times New Roman" pitchFamily="18" charset="0"/>
              </a:rPr>
              <a:t>:</a:t>
            </a:r>
            <a:r>
              <a:rPr lang="en-US" altLang="zh-CN" sz="3200" dirty="0" err="1" smtClean="0">
                <a:solidFill>
                  <a:srgbClr val="000000"/>
                </a:solidFill>
                <a:latin typeface="黑体" pitchFamily="49" charset="-122"/>
                <a:ea typeface="黑体" pitchFamily="49" charset="-122"/>
                <a:cs typeface="黑体" pitchFamily="18" charset="0"/>
              </a:rPr>
              <a:t>电荷与电荷之间存在相互作用力</a:t>
            </a:r>
            <a:r>
              <a:rPr lang="en-US" altLang="zh-CN" sz="3200" b="1" dirty="0" err="1">
                <a:solidFill>
                  <a:srgbClr val="000000"/>
                </a:solidFill>
                <a:latin typeface="黑体" pitchFamily="49" charset="-122"/>
                <a:ea typeface="黑体" pitchFamily="49" charset="-122"/>
                <a:cs typeface="Times New Roman" pitchFamily="18" charset="0"/>
              </a:rPr>
              <a:t>,</a:t>
            </a:r>
            <a:r>
              <a:rPr lang="en-US" altLang="zh-CN" sz="3200" dirty="0" err="1" smtClean="0">
                <a:solidFill>
                  <a:srgbClr val="000000"/>
                </a:solidFill>
                <a:latin typeface="黑体" pitchFamily="49" charset="-122"/>
                <a:ea typeface="黑体" pitchFamily="49" charset="-122"/>
                <a:cs typeface="黑体" pitchFamily="18" charset="0"/>
              </a:rPr>
              <a:t>同种电荷相斥</a:t>
            </a:r>
            <a:r>
              <a:rPr lang="en-US" altLang="zh-CN" sz="3200" b="1" dirty="0" err="1">
                <a:solidFill>
                  <a:srgbClr val="000000"/>
                </a:solidFill>
                <a:latin typeface="黑体" pitchFamily="49" charset="-122"/>
                <a:ea typeface="黑体" pitchFamily="49" charset="-122"/>
                <a:cs typeface="Times New Roman" pitchFamily="18" charset="0"/>
              </a:rPr>
              <a:t>,</a:t>
            </a:r>
            <a:r>
              <a:rPr lang="en-US" altLang="zh-CN" sz="3200" dirty="0" err="1" smtClean="0">
                <a:solidFill>
                  <a:srgbClr val="000000"/>
                </a:solidFill>
                <a:latin typeface="黑体" pitchFamily="49" charset="-122"/>
                <a:ea typeface="黑体" pitchFamily="49" charset="-122"/>
                <a:cs typeface="黑体" pitchFamily="18" charset="0"/>
              </a:rPr>
              <a:t>异种电荷相吸</a:t>
            </a:r>
            <a:r>
              <a:rPr lang="zh-CN" altLang="en-US" sz="3200" b="1" dirty="0" smtClean="0">
                <a:solidFill>
                  <a:srgbClr val="000000"/>
                </a:solidFill>
                <a:latin typeface="黑体" pitchFamily="49" charset="-122"/>
                <a:ea typeface="黑体" pitchFamily="49" charset="-122"/>
                <a:cs typeface="Times New Roman" pitchFamily="18" charset="0"/>
              </a:rPr>
              <a:t>。</a:t>
            </a:r>
            <a:endParaRPr lang="en-US" altLang="zh-CN" sz="3200" b="1" dirty="0" smtClean="0">
              <a:solidFill>
                <a:srgbClr val="000000"/>
              </a:solidFill>
              <a:latin typeface="黑体" pitchFamily="49" charset="-122"/>
              <a:ea typeface="黑体" pitchFamily="49" charset="-122"/>
              <a:cs typeface="Times New Roman" pitchFamily="18" charset="0"/>
            </a:endParaRPr>
          </a:p>
          <a:p>
            <a:pPr algn="l">
              <a:lnSpc>
                <a:spcPct val="100000"/>
              </a:lnSpc>
            </a:pPr>
            <a:r>
              <a:rPr lang="en-US" altLang="zh-CN" b="1" dirty="0" smtClean="0">
                <a:solidFill>
                  <a:srgbClr val="000000"/>
                </a:solidFill>
                <a:latin typeface="宋体" pitchFamily="2" charset="-122"/>
                <a:ea typeface="宋体" pitchFamily="2" charset="-122"/>
                <a:cs typeface="Times New Roman" pitchFamily="18" charset="0"/>
              </a:rPr>
              <a:t>(</a:t>
            </a:r>
            <a:r>
              <a:rPr lang="zh-CN" altLang="en-US" sz="2800" b="1" dirty="0" smtClean="0">
                <a:solidFill>
                  <a:srgbClr val="000000"/>
                </a:solidFill>
                <a:latin typeface="宋体" pitchFamily="2" charset="-122"/>
                <a:ea typeface="宋体" pitchFamily="2" charset="-122"/>
                <a:cs typeface="Times New Roman" pitchFamily="18" charset="0"/>
              </a:rPr>
              <a:t>力的性质，而万有引力总是吸引力</a:t>
            </a:r>
            <a:r>
              <a:rPr lang="en-US" altLang="zh-CN" b="1" dirty="0" smtClean="0">
                <a:solidFill>
                  <a:srgbClr val="000000"/>
                </a:solidFill>
                <a:latin typeface="宋体" pitchFamily="2" charset="-122"/>
                <a:ea typeface="宋体" pitchFamily="2" charset="-122"/>
                <a:cs typeface="Times New Roman" pitchFamily="18" charset="0"/>
              </a:rPr>
              <a:t>)</a:t>
            </a:r>
          </a:p>
          <a:p>
            <a:pPr>
              <a:lnSpc>
                <a:spcPct val="100000"/>
              </a:lnSpc>
              <a:tabLst>
                <a:tab pos="3895138" algn="l"/>
              </a:tabLst>
            </a:pPr>
            <a:r>
              <a:rPr lang="en-US" altLang="zh-CN" sz="3200" dirty="0" err="1">
                <a:solidFill>
                  <a:srgbClr val="0000CC"/>
                </a:solidFill>
                <a:latin typeface="黑体" pitchFamily="49" charset="-122"/>
                <a:ea typeface="黑体" pitchFamily="49" charset="-122"/>
                <a:cs typeface="黑体" pitchFamily="18" charset="0"/>
              </a:rPr>
              <a:t>电荷守恒定律</a:t>
            </a:r>
            <a:r>
              <a:rPr lang="en-US" altLang="zh-CN" sz="3200" b="1" dirty="0" err="1" smtClean="0">
                <a:solidFill>
                  <a:srgbClr val="0000CC"/>
                </a:solidFill>
                <a:latin typeface="黑体" pitchFamily="49" charset="-122"/>
                <a:ea typeface="黑体" pitchFamily="49" charset="-122"/>
                <a:cs typeface="Times New Roman" pitchFamily="18" charset="0"/>
              </a:rPr>
              <a:t>:</a:t>
            </a:r>
            <a:r>
              <a:rPr lang="en-US" altLang="zh-CN" sz="3200" dirty="0" err="1" smtClean="0">
                <a:solidFill>
                  <a:srgbClr val="000000"/>
                </a:solidFill>
                <a:latin typeface="黑体" pitchFamily="49" charset="-122"/>
                <a:ea typeface="黑体" pitchFamily="49" charset="-122"/>
                <a:cs typeface="黑体" pitchFamily="18" charset="0"/>
              </a:rPr>
              <a:t>在一个孤立系统中</a:t>
            </a:r>
            <a:r>
              <a:rPr lang="en-US" altLang="zh-CN" sz="3200" b="1" dirty="0" err="1">
                <a:solidFill>
                  <a:srgbClr val="000000"/>
                </a:solidFill>
                <a:latin typeface="黑体" pitchFamily="49" charset="-122"/>
                <a:ea typeface="黑体" pitchFamily="49" charset="-122"/>
                <a:cs typeface="Times New Roman" pitchFamily="18" charset="0"/>
              </a:rPr>
              <a:t>,</a:t>
            </a:r>
            <a:r>
              <a:rPr lang="en-US" altLang="zh-CN" sz="3200" dirty="0" err="1">
                <a:solidFill>
                  <a:srgbClr val="000000"/>
                </a:solidFill>
                <a:latin typeface="黑体" pitchFamily="49" charset="-122"/>
                <a:ea typeface="黑体" pitchFamily="49" charset="-122"/>
                <a:cs typeface="黑体" pitchFamily="18" charset="0"/>
              </a:rPr>
              <a:t>无论发生了怎样的物理过程</a:t>
            </a:r>
            <a:r>
              <a:rPr lang="en-US" altLang="zh-CN" sz="3200" b="1" dirty="0" err="1" smtClean="0">
                <a:solidFill>
                  <a:srgbClr val="000000"/>
                </a:solidFill>
                <a:latin typeface="黑体" pitchFamily="49" charset="-122"/>
                <a:ea typeface="黑体" pitchFamily="49" charset="-122"/>
                <a:cs typeface="Times New Roman" pitchFamily="18" charset="0"/>
              </a:rPr>
              <a:t>,</a:t>
            </a:r>
            <a:r>
              <a:rPr lang="en-US" altLang="zh-CN" sz="3200" dirty="0" err="1" smtClean="0">
                <a:solidFill>
                  <a:srgbClr val="000000"/>
                </a:solidFill>
                <a:latin typeface="黑体" pitchFamily="49" charset="-122"/>
                <a:ea typeface="黑体" pitchFamily="49" charset="-122"/>
                <a:cs typeface="黑体" pitchFamily="18" charset="0"/>
              </a:rPr>
              <a:t>电荷不会创生</a:t>
            </a:r>
            <a:r>
              <a:rPr lang="en-US" altLang="zh-CN" sz="3200" b="1" dirty="0" err="1">
                <a:solidFill>
                  <a:srgbClr val="000000"/>
                </a:solidFill>
                <a:latin typeface="黑体" pitchFamily="49" charset="-122"/>
                <a:ea typeface="黑体" pitchFamily="49" charset="-122"/>
                <a:cs typeface="Times New Roman" pitchFamily="18" charset="0"/>
              </a:rPr>
              <a:t>,</a:t>
            </a:r>
            <a:r>
              <a:rPr lang="en-US" altLang="zh-CN" sz="3200" dirty="0" err="1">
                <a:solidFill>
                  <a:srgbClr val="000000"/>
                </a:solidFill>
                <a:latin typeface="黑体" pitchFamily="49" charset="-122"/>
                <a:ea typeface="黑体" pitchFamily="49" charset="-122"/>
                <a:cs typeface="黑体" pitchFamily="18" charset="0"/>
              </a:rPr>
              <a:t>也不会消失</a:t>
            </a:r>
            <a:r>
              <a:rPr lang="en-US" altLang="zh-CN" sz="3200" b="1" dirty="0" err="1">
                <a:solidFill>
                  <a:srgbClr val="000000"/>
                </a:solidFill>
                <a:latin typeface="黑体" pitchFamily="49" charset="-122"/>
                <a:ea typeface="黑体" pitchFamily="49" charset="-122"/>
                <a:cs typeface="Times New Roman" pitchFamily="18" charset="0"/>
              </a:rPr>
              <a:t>,</a:t>
            </a:r>
            <a:r>
              <a:rPr lang="en-US" altLang="zh-CN" sz="3200" dirty="0" err="1" smtClean="0">
                <a:solidFill>
                  <a:srgbClr val="000000"/>
                </a:solidFill>
                <a:latin typeface="黑体" pitchFamily="49" charset="-122"/>
                <a:ea typeface="黑体" pitchFamily="49" charset="-122"/>
                <a:cs typeface="黑体" pitchFamily="18" charset="0"/>
              </a:rPr>
              <a:t>只能从一个物体转移到另一个物体上</a:t>
            </a:r>
            <a:r>
              <a:rPr lang="zh-CN" altLang="en-US" sz="3200" b="1" dirty="0" smtClean="0">
                <a:solidFill>
                  <a:srgbClr val="000000"/>
                </a:solidFill>
                <a:latin typeface="黑体" pitchFamily="49" charset="-122"/>
                <a:ea typeface="黑体" pitchFamily="49" charset="-122"/>
                <a:cs typeface="Times New Roman" pitchFamily="18" charset="0"/>
              </a:rPr>
              <a:t>。</a:t>
            </a:r>
            <a:endParaRPr lang="en-US" altLang="zh-CN" sz="3200" b="1" dirty="0" smtClean="0">
              <a:solidFill>
                <a:srgbClr val="000000"/>
              </a:solidFill>
              <a:latin typeface="黑体" pitchFamily="49" charset="-122"/>
              <a:ea typeface="黑体" pitchFamily="49" charset="-122"/>
              <a:cs typeface="Times New Roman" pitchFamily="18" charset="0"/>
            </a:endParaRPr>
          </a:p>
          <a:p>
            <a:pPr>
              <a:lnSpc>
                <a:spcPct val="100000"/>
              </a:lnSpc>
              <a:tabLst>
                <a:tab pos="3895138" algn="l"/>
              </a:tabLst>
            </a:pPr>
            <a:r>
              <a:rPr lang="zh-CN" altLang="en-US" sz="2800" b="1" dirty="0" smtClean="0">
                <a:solidFill>
                  <a:srgbClr val="000000"/>
                </a:solidFill>
                <a:latin typeface="黑体" pitchFamily="49" charset="-122"/>
                <a:ea typeface="黑体" pitchFamily="49" charset="-122"/>
                <a:cs typeface="Times New Roman" pitchFamily="18" charset="0"/>
              </a:rPr>
              <a:t>（</a:t>
            </a:r>
            <a:r>
              <a:rPr lang="zh-CN" altLang="zh-CN" sz="2800" b="1" dirty="0"/>
              <a:t>电荷守恒定律是自然界的一个普遍规律</a:t>
            </a:r>
            <a:r>
              <a:rPr lang="zh-CN" altLang="en-US" sz="2800" b="1" dirty="0" smtClean="0">
                <a:solidFill>
                  <a:srgbClr val="000000"/>
                </a:solidFill>
                <a:latin typeface="黑体" pitchFamily="49" charset="-122"/>
                <a:ea typeface="黑体" pitchFamily="49" charset="-122"/>
                <a:cs typeface="Times New Roman" pitchFamily="18" charset="0"/>
              </a:rPr>
              <a:t>）</a:t>
            </a:r>
            <a:endParaRPr lang="en-US" altLang="zh-CN" sz="2800" b="1" dirty="0" smtClean="0">
              <a:solidFill>
                <a:srgbClr val="000000"/>
              </a:solidFill>
              <a:latin typeface="黑体" pitchFamily="49" charset="-122"/>
              <a:ea typeface="黑体" pitchFamily="49" charset="-122"/>
              <a:cs typeface="Times New Roman" pitchFamily="18" charset="0"/>
            </a:endParaRPr>
          </a:p>
          <a:p>
            <a:pPr>
              <a:lnSpc>
                <a:spcPct val="100000"/>
              </a:lnSpc>
              <a:tabLst>
                <a:tab pos="3895138" algn="l"/>
              </a:tabLst>
            </a:pPr>
            <a:r>
              <a:rPr lang="zh-CN" altLang="en-US" sz="2800" b="1" dirty="0">
                <a:solidFill>
                  <a:srgbClr val="000000"/>
                </a:solidFill>
                <a:latin typeface="黑体" pitchFamily="49" charset="-122"/>
                <a:ea typeface="黑体" pitchFamily="49" charset="-122"/>
                <a:cs typeface="Times New Roman" pitchFamily="18" charset="0"/>
              </a:rPr>
              <a:t>一</a:t>
            </a:r>
            <a:r>
              <a:rPr lang="zh-CN" altLang="en-US" sz="2800" b="1" dirty="0" smtClean="0">
                <a:solidFill>
                  <a:srgbClr val="000000"/>
                </a:solidFill>
                <a:latin typeface="黑体" pitchFamily="49" charset="-122"/>
                <a:ea typeface="黑体" pitchFamily="49" charset="-122"/>
                <a:cs typeface="Times New Roman" pitchFamily="18" charset="0"/>
              </a:rPr>
              <a:t>个系统的</a:t>
            </a:r>
            <a:r>
              <a:rPr lang="zh-CN" altLang="en-US" sz="2800" b="1" dirty="0" smtClean="0">
                <a:solidFill>
                  <a:srgbClr val="0000CC"/>
                </a:solidFill>
                <a:latin typeface="黑体" pitchFamily="49" charset="-122"/>
                <a:ea typeface="黑体" pitchFamily="49" charset="-122"/>
                <a:cs typeface="Times New Roman" pitchFamily="18" charset="0"/>
              </a:rPr>
              <a:t>净电荷</a:t>
            </a:r>
            <a:r>
              <a:rPr lang="zh-CN" altLang="en-US" sz="2800" b="1" dirty="0" smtClean="0">
                <a:solidFill>
                  <a:srgbClr val="000000"/>
                </a:solidFill>
                <a:latin typeface="黑体" pitchFamily="49" charset="-122"/>
                <a:ea typeface="黑体" pitchFamily="49" charset="-122"/>
                <a:cs typeface="Times New Roman" pitchFamily="18" charset="0"/>
              </a:rPr>
              <a:t>是系统中所有粒子所带电荷的代数和，一个电中性物体净电荷为零。</a:t>
            </a:r>
            <a:endParaRPr lang="en-US" altLang="zh-CN" sz="2800" b="1" dirty="0">
              <a:solidFill>
                <a:srgbClr val="000000"/>
              </a:solidFill>
              <a:latin typeface="黑体" pitchFamily="49" charset="-122"/>
              <a:ea typeface="黑体" pitchFamily="49" charset="-122"/>
              <a:cs typeface="Times New Roman" pitchFamily="18" charset="0"/>
            </a:endParaRPr>
          </a:p>
          <a:p>
            <a:pPr algn="l">
              <a:lnSpc>
                <a:spcPct val="150000"/>
              </a:lnSpc>
            </a:pPr>
            <a:endParaRPr lang="en-US" altLang="zh-CN" sz="3200" b="1" dirty="0">
              <a:solidFill>
                <a:srgbClr val="000000"/>
              </a:solidFill>
              <a:latin typeface="微软雅黑" pitchFamily="34" charset="-122"/>
              <a:ea typeface="微软雅黑" pitchFamily="34" charset="-122"/>
              <a:cs typeface="Times New Roman" pitchFamily="18" charset="0"/>
            </a:endParaRPr>
          </a:p>
          <a:p>
            <a:pPr>
              <a:lnSpc>
                <a:spcPts val="2305"/>
              </a:lnSpc>
            </a:pPr>
            <a:endParaRPr lang="en-US" altLang="zh-CN" dirty="0">
              <a:solidFill>
                <a:srgbClr val="000000"/>
              </a:solidFill>
              <a:latin typeface="黑体" pitchFamily="18" charset="0"/>
              <a:cs typeface="黑体" pitchFamily="18" charset="0"/>
            </a:endParaRPr>
          </a:p>
        </p:txBody>
      </p:sp>
      <p:sp>
        <p:nvSpPr>
          <p:cNvPr id="2" name="灯片编号占位符 1"/>
          <p:cNvSpPr>
            <a:spLocks noGrp="1"/>
          </p:cNvSpPr>
          <p:nvPr>
            <p:ph type="sldNum" sz="quarter" idx="12"/>
          </p:nvPr>
        </p:nvSpPr>
        <p:spPr>
          <a:xfrm>
            <a:off x="7971224" y="6356350"/>
            <a:ext cx="715576" cy="461877"/>
          </a:xfrm>
        </p:spPr>
        <p:txBody>
          <a:bodyPr/>
          <a:lstStyle/>
          <a:p>
            <a:fld id="{B6F15528-21DE-4FAA-801E-634DDDAF4B2B}" type="slidenum">
              <a:rPr lang="en-US" smtClean="0"/>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662240" y="3104549"/>
            <a:ext cx="3260256" cy="2010323"/>
          </a:xfrm>
          <a:prstGeom prst="rect">
            <a:avLst/>
          </a:prstGeom>
          <a:noFill/>
        </p:spPr>
      </p:pic>
      <p:sp>
        <p:nvSpPr>
          <p:cNvPr id="5" name="TextBox 1"/>
          <p:cNvSpPr txBox="1"/>
          <p:nvPr/>
        </p:nvSpPr>
        <p:spPr>
          <a:xfrm>
            <a:off x="4656138" y="1279723"/>
            <a:ext cx="2588361" cy="995250"/>
          </a:xfrm>
          <a:prstGeom prst="rect">
            <a:avLst/>
          </a:prstGeom>
          <a:noFill/>
        </p:spPr>
        <p:txBody>
          <a:bodyPr wrap="square" lIns="0" tIns="0" rIns="0" bIns="45825" rtlCol="0">
            <a:spAutoFit/>
          </a:bodyPr>
          <a:lstStyle/>
          <a:p>
            <a:pPr>
              <a:lnSpc>
                <a:spcPts val="2907"/>
              </a:lnSpc>
            </a:pPr>
            <a:r>
              <a:rPr lang="en-US" altLang="zh-CN" b="1" i="1" dirty="0">
                <a:solidFill>
                  <a:srgbClr val="000000"/>
                </a:solidFill>
                <a:latin typeface="Times New Roman" pitchFamily="18" charset="0"/>
                <a:cs typeface="Times New Roman" pitchFamily="18" charset="0"/>
              </a:rPr>
              <a:t>n</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1,2,3</a:t>
            </a:r>
            <a:r>
              <a:rPr lang="en-US" altLang="zh-CN" b="1" dirty="0" smtClean="0">
                <a:solidFill>
                  <a:srgbClr val="000000"/>
                </a:solidFill>
                <a:latin typeface="Times New Roman" pitchFamily="18" charset="0"/>
                <a:cs typeface="Times New Roman" pitchFamily="18" charset="0"/>
              </a:rPr>
              <a:t>,……</a:t>
            </a:r>
            <a:endParaRPr lang="en-US" altLang="zh-CN" dirty="0">
              <a:solidFill>
                <a:srgbClr val="000000"/>
              </a:solidFill>
              <a:latin typeface="Symbol" pitchFamily="18" charset="0"/>
              <a:cs typeface="Symbol" pitchFamily="18" charset="0"/>
            </a:endParaRPr>
          </a:p>
          <a:p>
            <a:pPr>
              <a:lnSpc>
                <a:spcPts val="2907"/>
              </a:lnSpc>
            </a:pPr>
            <a:endParaRPr lang="en-US" altLang="zh-CN" dirty="0">
              <a:solidFill>
                <a:srgbClr val="000000"/>
              </a:solidFill>
              <a:latin typeface="Symbol" pitchFamily="18" charset="0"/>
              <a:cs typeface="Symbol" pitchFamily="18" charset="0"/>
            </a:endParaRPr>
          </a:p>
        </p:txBody>
      </p:sp>
      <p:sp>
        <p:nvSpPr>
          <p:cNvPr id="6" name="TextBox 1"/>
          <p:cNvSpPr txBox="1"/>
          <p:nvPr/>
        </p:nvSpPr>
        <p:spPr>
          <a:xfrm>
            <a:off x="611298" y="2290241"/>
            <a:ext cx="1641475" cy="366873"/>
          </a:xfrm>
          <a:prstGeom prst="rect">
            <a:avLst/>
          </a:prstGeom>
          <a:noFill/>
        </p:spPr>
        <p:txBody>
          <a:bodyPr wrap="none" lIns="0" tIns="0" rIns="0" bIns="45825" rtlCol="0">
            <a:spAutoFit/>
          </a:bodyPr>
          <a:lstStyle/>
          <a:p>
            <a:pPr>
              <a:lnSpc>
                <a:spcPts val="2506"/>
              </a:lnSpc>
            </a:pPr>
            <a:r>
              <a:rPr lang="en-US" altLang="zh-CN">
                <a:solidFill>
                  <a:srgbClr val="000000"/>
                </a:solidFill>
                <a:latin typeface="黑体" pitchFamily="18" charset="0"/>
                <a:cs typeface="黑体" pitchFamily="18" charset="0"/>
              </a:rPr>
              <a:t>基本电荷量</a:t>
            </a:r>
            <a:r>
              <a:rPr lang="en-US" altLang="zh-CN" b="1">
                <a:solidFill>
                  <a:srgbClr val="000000"/>
                </a:solidFill>
                <a:latin typeface="Times New Roman" pitchFamily="18" charset="0"/>
                <a:cs typeface="Times New Roman" pitchFamily="18" charset="0"/>
              </a:rPr>
              <a:t>:</a:t>
            </a:r>
          </a:p>
        </p:txBody>
      </p:sp>
      <p:grpSp>
        <p:nvGrpSpPr>
          <p:cNvPr id="12" name="组合 11"/>
          <p:cNvGrpSpPr/>
          <p:nvPr/>
        </p:nvGrpSpPr>
        <p:grpSpPr>
          <a:xfrm>
            <a:off x="2441818" y="1946572"/>
            <a:ext cx="2961356" cy="710542"/>
            <a:chOff x="2441818" y="1946572"/>
            <a:chExt cx="2961356" cy="710542"/>
          </a:xfrm>
        </p:grpSpPr>
        <p:sp>
          <p:nvSpPr>
            <p:cNvPr id="4" name="Freeform 3"/>
            <p:cNvSpPr/>
            <p:nvPr/>
          </p:nvSpPr>
          <p:spPr>
            <a:xfrm>
              <a:off x="2441818" y="1990272"/>
              <a:ext cx="2961356" cy="666842"/>
            </a:xfrm>
            <a:custGeom>
              <a:avLst/>
              <a:gdLst>
                <a:gd name="connsiteX0" fmla="*/ 14287 w 2953130"/>
                <a:gd name="connsiteY0" fmla="*/ 651319 h 665607"/>
                <a:gd name="connsiteX1" fmla="*/ 14287 w 2953130"/>
                <a:gd name="connsiteY1" fmla="*/ 14287 h 665607"/>
                <a:gd name="connsiteX2" fmla="*/ 2938843 w 2953130"/>
                <a:gd name="connsiteY2" fmla="*/ 14287 h 665607"/>
                <a:gd name="connsiteX3" fmla="*/ 2938843 w 2953130"/>
                <a:gd name="connsiteY3" fmla="*/ 651319 h 665607"/>
                <a:gd name="connsiteX4" fmla="*/ 14287 w 2953130"/>
                <a:gd name="connsiteY4" fmla="*/ 651319 h 66560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953130" h="665607">
                  <a:moveTo>
                    <a:pt x="14287" y="651319"/>
                  </a:moveTo>
                  <a:lnTo>
                    <a:pt x="14287" y="14287"/>
                  </a:lnTo>
                  <a:lnTo>
                    <a:pt x="2938843" y="14287"/>
                  </a:lnTo>
                  <a:lnTo>
                    <a:pt x="2938843" y="651319"/>
                  </a:lnTo>
                  <a:lnTo>
                    <a:pt x="14287" y="651319"/>
                  </a:lnTo>
                </a:path>
              </a:pathLst>
            </a:custGeom>
            <a:solidFill>
              <a:srgbClr val="000000">
                <a:alpha val="0"/>
              </a:srgbClr>
            </a:solidFill>
            <a:ln w="25400">
              <a:solidFill>
                <a:srgbClr val="FF00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650" tIns="45825" rIns="91650" bIns="45825" rtlCol="0" anchor="ctr"/>
            <a:lstStyle/>
            <a:p>
              <a:pPr algn="ctr"/>
              <a:endParaRPr lang="zh-CN" altLang="en-US"/>
            </a:p>
          </p:txBody>
        </p:sp>
        <p:sp>
          <p:nvSpPr>
            <p:cNvPr id="7" name="TextBox 1"/>
            <p:cNvSpPr txBox="1"/>
            <p:nvPr/>
          </p:nvSpPr>
          <p:spPr>
            <a:xfrm>
              <a:off x="5038491" y="2096725"/>
              <a:ext cx="274114" cy="495113"/>
            </a:xfrm>
            <a:prstGeom prst="rect">
              <a:avLst/>
            </a:prstGeom>
            <a:noFill/>
          </p:spPr>
          <p:txBody>
            <a:bodyPr wrap="none" lIns="0" tIns="0" rIns="0" bIns="45825" rtlCol="0">
              <a:spAutoFit/>
            </a:bodyPr>
            <a:lstStyle/>
            <a:p>
              <a:pPr>
                <a:lnSpc>
                  <a:spcPts val="3508"/>
                </a:lnSpc>
              </a:pPr>
              <a:r>
                <a:rPr lang="en-US" altLang="zh-CN" sz="3200" dirty="0">
                  <a:solidFill>
                    <a:srgbClr val="000000"/>
                  </a:solidFill>
                  <a:latin typeface="Times New Roman" pitchFamily="18" charset="0"/>
                  <a:cs typeface="Times New Roman" pitchFamily="18" charset="0"/>
                </a:rPr>
                <a:t>C</a:t>
              </a:r>
            </a:p>
          </p:txBody>
        </p:sp>
        <p:sp>
          <p:nvSpPr>
            <p:cNvPr id="8" name="TextBox 1"/>
            <p:cNvSpPr txBox="1"/>
            <p:nvPr/>
          </p:nvSpPr>
          <p:spPr>
            <a:xfrm>
              <a:off x="4719470" y="1946572"/>
              <a:ext cx="382660" cy="328401"/>
            </a:xfrm>
            <a:prstGeom prst="rect">
              <a:avLst/>
            </a:prstGeom>
            <a:noFill/>
          </p:spPr>
          <p:txBody>
            <a:bodyPr wrap="square" lIns="0" tIns="0" rIns="0" bIns="45825" rtlCol="0">
              <a:spAutoFit/>
            </a:bodyPr>
            <a:lstStyle/>
            <a:p>
              <a:pPr>
                <a:lnSpc>
                  <a:spcPts val="2205"/>
                </a:lnSpc>
              </a:pPr>
              <a:r>
                <a:rPr lang="en-US" altLang="zh-CN" sz="1900" smtClean="0">
                  <a:solidFill>
                    <a:srgbClr val="000000"/>
                  </a:solidFill>
                  <a:latin typeface="Times New Roman" pitchFamily="18" charset="0"/>
                  <a:cs typeface="Times New Roman" pitchFamily="18" charset="0"/>
                </a:rPr>
                <a:t>-19</a:t>
              </a:r>
              <a:endParaRPr lang="en-US" altLang="zh-CN" sz="1900">
                <a:solidFill>
                  <a:srgbClr val="000000"/>
                </a:solidFill>
                <a:latin typeface="Times New Roman" pitchFamily="18" charset="0"/>
                <a:cs typeface="Times New Roman" pitchFamily="18" charset="0"/>
              </a:endParaRPr>
            </a:p>
          </p:txBody>
        </p:sp>
        <p:sp>
          <p:nvSpPr>
            <p:cNvPr id="9" name="TextBox 1"/>
            <p:cNvSpPr txBox="1"/>
            <p:nvPr/>
          </p:nvSpPr>
          <p:spPr>
            <a:xfrm>
              <a:off x="2603020" y="2050488"/>
              <a:ext cx="2075889" cy="546409"/>
            </a:xfrm>
            <a:prstGeom prst="rect">
              <a:avLst/>
            </a:prstGeom>
            <a:noFill/>
          </p:spPr>
          <p:txBody>
            <a:bodyPr wrap="none" lIns="0" tIns="0" rIns="0" bIns="45825" rtlCol="0">
              <a:spAutoFit/>
            </a:bodyPr>
            <a:lstStyle/>
            <a:p>
              <a:pPr>
                <a:lnSpc>
                  <a:spcPts val="3909"/>
                </a:lnSpc>
              </a:pPr>
              <a:r>
                <a:rPr lang="en-US" altLang="zh-CN" sz="3200" i="1">
                  <a:solidFill>
                    <a:srgbClr val="000000"/>
                  </a:solidFill>
                  <a:latin typeface="Times New Roman" pitchFamily="18" charset="0"/>
                  <a:cs typeface="Times New Roman" pitchFamily="18" charset="0"/>
                </a:rPr>
                <a:t>e</a:t>
              </a:r>
              <a:r>
                <a:rPr lang="en-US" altLang="zh-CN" sz="3200">
                  <a:latin typeface="Times New Roman" pitchFamily="18" charset="0"/>
                  <a:cs typeface="Times New Roman" pitchFamily="18" charset="0"/>
                </a:rPr>
                <a:t> </a:t>
              </a:r>
              <a:r>
                <a:rPr lang="en-US" altLang="zh-CN" sz="3200">
                  <a:solidFill>
                    <a:srgbClr val="000000"/>
                  </a:solidFill>
                  <a:latin typeface="Symbol" pitchFamily="18" charset="0"/>
                  <a:cs typeface="Symbol" pitchFamily="18" charset="0"/>
                </a:rPr>
                <a:t>=</a:t>
              </a:r>
              <a:r>
                <a:rPr lang="en-US" altLang="zh-CN" sz="3200">
                  <a:solidFill>
                    <a:srgbClr val="000000"/>
                  </a:solidFill>
                  <a:latin typeface="Times New Roman" pitchFamily="18" charset="0"/>
                  <a:cs typeface="Times New Roman" pitchFamily="18" charset="0"/>
                </a:rPr>
                <a:t>1.602</a:t>
              </a:r>
              <a:r>
                <a:rPr lang="en-US" altLang="zh-CN" sz="3200">
                  <a:solidFill>
                    <a:srgbClr val="000000"/>
                  </a:solidFill>
                  <a:latin typeface="Symbol" pitchFamily="18" charset="0"/>
                  <a:cs typeface="Symbol" pitchFamily="18" charset="0"/>
                </a:rPr>
                <a:t>×</a:t>
              </a:r>
              <a:r>
                <a:rPr lang="en-US" altLang="zh-CN" sz="3200">
                  <a:solidFill>
                    <a:srgbClr val="000000"/>
                  </a:solidFill>
                  <a:latin typeface="Times New Roman" pitchFamily="18" charset="0"/>
                  <a:cs typeface="Times New Roman" pitchFamily="18" charset="0"/>
                </a:rPr>
                <a:t>10</a:t>
              </a:r>
            </a:p>
          </p:txBody>
        </p:sp>
      </p:grpSp>
      <p:sp>
        <p:nvSpPr>
          <p:cNvPr id="10" name="TextBox 1"/>
          <p:cNvSpPr txBox="1"/>
          <p:nvPr/>
        </p:nvSpPr>
        <p:spPr>
          <a:xfrm>
            <a:off x="531038" y="584706"/>
            <a:ext cx="3821559" cy="2811132"/>
          </a:xfrm>
          <a:prstGeom prst="rect">
            <a:avLst/>
          </a:prstGeom>
          <a:noFill/>
        </p:spPr>
        <p:txBody>
          <a:bodyPr wrap="none" lIns="0" tIns="0" rIns="0" bIns="45825" rtlCol="0">
            <a:spAutoFit/>
          </a:bodyPr>
          <a:lstStyle/>
          <a:p>
            <a:pPr>
              <a:lnSpc>
                <a:spcPts val="2506"/>
              </a:lnSpc>
              <a:tabLst>
                <a:tab pos="25458" algn="l"/>
              </a:tabLst>
            </a:pPr>
            <a:r>
              <a:rPr lang="en-US" altLang="zh-CN" dirty="0" smtClean="0"/>
              <a:t>	</a:t>
            </a:r>
            <a:r>
              <a:rPr lang="en-US" altLang="zh-CN" dirty="0" err="1">
                <a:solidFill>
                  <a:srgbClr val="0000CC"/>
                </a:solidFill>
                <a:latin typeface="黑体" pitchFamily="18" charset="0"/>
                <a:cs typeface="黑体" pitchFamily="18" charset="0"/>
              </a:rPr>
              <a:t>电量</a:t>
            </a:r>
            <a:r>
              <a:rPr lang="en-US" altLang="zh-CN" b="1" dirty="0" err="1">
                <a:solidFill>
                  <a:srgbClr val="0000CC"/>
                </a:solidFill>
                <a:latin typeface="Times New Roman" pitchFamily="18" charset="0"/>
                <a:cs typeface="Times New Roman" pitchFamily="18" charset="0"/>
              </a:rPr>
              <a:t>:</a:t>
            </a:r>
            <a:r>
              <a:rPr lang="en-US" altLang="zh-CN" dirty="0" err="1">
                <a:solidFill>
                  <a:srgbClr val="000000"/>
                </a:solidFill>
                <a:latin typeface="黑体" pitchFamily="18" charset="0"/>
                <a:cs typeface="黑体" pitchFamily="18" charset="0"/>
              </a:rPr>
              <a:t>带电体所带电荷的量值</a:t>
            </a:r>
            <a:endParaRPr lang="en-US" altLang="zh-CN" dirty="0">
              <a:solidFill>
                <a:srgbClr val="000000"/>
              </a:solidFill>
              <a:latin typeface="黑体" pitchFamily="18" charset="0"/>
              <a:cs typeface="黑体" pitchFamily="18" charset="0"/>
            </a:endParaRPr>
          </a:p>
          <a:p>
            <a:pPr>
              <a:lnSpc>
                <a:spcPts val="4911"/>
              </a:lnSpc>
              <a:tabLst>
                <a:tab pos="25458" algn="l"/>
              </a:tabLst>
            </a:pPr>
            <a:r>
              <a:rPr lang="en-US" altLang="zh-CN" dirty="0" err="1">
                <a:solidFill>
                  <a:srgbClr val="0000CC"/>
                </a:solidFill>
                <a:latin typeface="黑体" pitchFamily="18" charset="0"/>
                <a:cs typeface="黑体" pitchFamily="18" charset="0"/>
              </a:rPr>
              <a:t>电荷量子化</a:t>
            </a:r>
            <a:r>
              <a:rPr lang="en-US" altLang="zh-CN" b="1" dirty="0">
                <a:solidFill>
                  <a:srgbClr val="0000CC"/>
                </a:solidFill>
                <a:latin typeface="Times New Roman" pitchFamily="18" charset="0"/>
                <a:cs typeface="Times New Roman" pitchFamily="18" charset="0"/>
              </a:rPr>
              <a:t>:</a:t>
            </a:r>
            <a:r>
              <a:rPr lang="en-US" altLang="zh-CN" sz="4200" dirty="0">
                <a:latin typeface="Times New Roman" pitchFamily="18" charset="0"/>
                <a:cs typeface="Times New Roman" pitchFamily="18" charset="0"/>
              </a:rPr>
              <a:t>   </a:t>
            </a:r>
            <a:r>
              <a:rPr lang="en-US" altLang="zh-CN" sz="4200" i="1" dirty="0">
                <a:solidFill>
                  <a:srgbClr val="000000"/>
                </a:solidFill>
                <a:latin typeface="Times New Roman" pitchFamily="18" charset="0"/>
                <a:cs typeface="Times New Roman" pitchFamily="18" charset="0"/>
              </a:rPr>
              <a:t>q</a:t>
            </a:r>
            <a:r>
              <a:rPr lang="en-US" altLang="zh-CN" sz="4200" dirty="0">
                <a:solidFill>
                  <a:srgbClr val="000000"/>
                </a:solidFill>
                <a:latin typeface="Symbol" pitchFamily="18" charset="0"/>
                <a:cs typeface="Symbol" pitchFamily="18" charset="0"/>
              </a:rPr>
              <a:t>=</a:t>
            </a:r>
            <a:r>
              <a:rPr lang="en-US" altLang="zh-CN" sz="4200" i="1" dirty="0">
                <a:solidFill>
                  <a:srgbClr val="000000"/>
                </a:solidFill>
                <a:latin typeface="Times New Roman" pitchFamily="18" charset="0"/>
                <a:cs typeface="Times New Roman" pitchFamily="18" charset="0"/>
              </a:rPr>
              <a:t>ne</a:t>
            </a:r>
          </a:p>
          <a:p>
            <a:pPr>
              <a:lnSpc>
                <a:spcPts val="1002"/>
              </a:lnSpc>
            </a:pPr>
            <a:endParaRPr lang="en-US" altLang="zh-CN" dirty="0" smtClean="0"/>
          </a:p>
          <a:p>
            <a:pPr>
              <a:lnSpc>
                <a:spcPts val="1002"/>
              </a:lnSpc>
            </a:pPr>
            <a:endParaRPr lang="en-US" altLang="zh-CN" dirty="0" smtClean="0"/>
          </a:p>
          <a:p>
            <a:pPr>
              <a:lnSpc>
                <a:spcPct val="200000"/>
              </a:lnSpc>
              <a:tabLst>
                <a:tab pos="25458" algn="l"/>
              </a:tabLst>
            </a:pPr>
            <a:r>
              <a:rPr lang="en-US" altLang="zh-CN" dirty="0" err="1">
                <a:solidFill>
                  <a:srgbClr val="000000"/>
                </a:solidFill>
                <a:latin typeface="黑体" pitchFamily="18" charset="0"/>
                <a:cs typeface="黑体" pitchFamily="18" charset="0"/>
              </a:rPr>
              <a:t>电量单位</a:t>
            </a:r>
            <a:r>
              <a:rPr lang="en-US" altLang="zh-CN" b="1" dirty="0">
                <a:solidFill>
                  <a:srgbClr val="000000"/>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库仑（</a:t>
            </a:r>
            <a:r>
              <a:rPr lang="en-US" altLang="zh-CN" b="1" dirty="0" err="1">
                <a:solidFill>
                  <a:srgbClr val="000000"/>
                </a:solidFill>
                <a:latin typeface="Times New Roman" pitchFamily="18" charset="0"/>
                <a:cs typeface="Times New Roman" pitchFamily="18" charset="0"/>
              </a:rPr>
              <a:t>C</a:t>
            </a:r>
            <a:r>
              <a:rPr lang="en-US" altLang="zh-CN" dirty="0">
                <a:solidFill>
                  <a:srgbClr val="000000"/>
                </a:solidFill>
                <a:latin typeface="黑体" pitchFamily="18" charset="0"/>
                <a:cs typeface="黑体" pitchFamily="18" charset="0"/>
              </a:rPr>
              <a:t>）</a:t>
            </a:r>
          </a:p>
        </p:txBody>
      </p:sp>
      <p:sp>
        <p:nvSpPr>
          <p:cNvPr id="11" name="TextBox 1"/>
          <p:cNvSpPr txBox="1"/>
          <p:nvPr/>
        </p:nvSpPr>
        <p:spPr>
          <a:xfrm>
            <a:off x="467543" y="3359021"/>
            <a:ext cx="8400085" cy="3726767"/>
          </a:xfrm>
          <a:prstGeom prst="rect">
            <a:avLst/>
          </a:prstGeom>
          <a:noFill/>
        </p:spPr>
        <p:txBody>
          <a:bodyPr wrap="square" lIns="0" tIns="0" rIns="0" bIns="45825" rtlCol="0">
            <a:spAutoFit/>
          </a:bodyPr>
          <a:lstStyle/>
          <a:p>
            <a:pPr>
              <a:lnSpc>
                <a:spcPts val="2506"/>
              </a:lnSpc>
              <a:tabLst>
                <a:tab pos="3895138" algn="l"/>
              </a:tabLst>
            </a:pPr>
            <a:r>
              <a:rPr lang="en-US" altLang="zh-CN" dirty="0" smtClean="0"/>
              <a:t>	</a:t>
            </a:r>
            <a:r>
              <a:rPr lang="en-US" altLang="zh-CN" dirty="0" err="1">
                <a:solidFill>
                  <a:srgbClr val="0000CC"/>
                </a:solidFill>
                <a:latin typeface="黑体" pitchFamily="18" charset="0"/>
                <a:cs typeface="黑体" pitchFamily="18" charset="0"/>
              </a:rPr>
              <a:t>结论</a:t>
            </a:r>
            <a:r>
              <a:rPr lang="en-US" altLang="zh-CN" b="1" dirty="0">
                <a:solidFill>
                  <a:srgbClr val="0000CC"/>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电子所带电量正好是一个基</a:t>
            </a:r>
            <a:endParaRPr lang="en-US" altLang="zh-CN" dirty="0">
              <a:solidFill>
                <a:srgbClr val="000000"/>
              </a:solidFill>
              <a:latin typeface="黑体" pitchFamily="18" charset="0"/>
              <a:cs typeface="黑体" pitchFamily="18" charset="0"/>
            </a:endParaRPr>
          </a:p>
          <a:p>
            <a:pPr>
              <a:lnSpc>
                <a:spcPts val="3007"/>
              </a:lnSpc>
              <a:tabLst>
                <a:tab pos="3895138" algn="l"/>
              </a:tabLst>
            </a:pPr>
            <a:r>
              <a:rPr lang="en-US" altLang="zh-CN" dirty="0" smtClean="0"/>
              <a:t>	</a:t>
            </a:r>
            <a:r>
              <a:rPr lang="en-US" altLang="zh-CN" dirty="0" err="1">
                <a:solidFill>
                  <a:srgbClr val="000000"/>
                </a:solidFill>
                <a:latin typeface="黑体" pitchFamily="18" charset="0"/>
                <a:cs typeface="黑体" pitchFamily="18" charset="0"/>
              </a:rPr>
              <a:t>本电荷量</a:t>
            </a:r>
            <a:r>
              <a:rPr lang="en-US" altLang="zh-CN" b="1" dirty="0">
                <a:solidFill>
                  <a:srgbClr val="000000"/>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物体带电是由于得失电</a:t>
            </a:r>
            <a:endParaRPr lang="en-US" altLang="zh-CN" dirty="0">
              <a:solidFill>
                <a:srgbClr val="000000"/>
              </a:solidFill>
              <a:latin typeface="黑体" pitchFamily="18" charset="0"/>
              <a:cs typeface="黑体" pitchFamily="18" charset="0"/>
            </a:endParaRPr>
          </a:p>
          <a:p>
            <a:pPr>
              <a:lnSpc>
                <a:spcPts val="3007"/>
              </a:lnSpc>
              <a:tabLst>
                <a:tab pos="3895138" algn="l"/>
              </a:tabLst>
            </a:pPr>
            <a:r>
              <a:rPr lang="en-US" altLang="zh-CN" dirty="0" smtClean="0"/>
              <a:t>	</a:t>
            </a:r>
            <a:r>
              <a:rPr lang="en-US" altLang="zh-CN" dirty="0" err="1">
                <a:solidFill>
                  <a:srgbClr val="000000"/>
                </a:solidFill>
                <a:latin typeface="黑体" pitchFamily="18" charset="0"/>
                <a:cs typeface="黑体" pitchFamily="18" charset="0"/>
              </a:rPr>
              <a:t>子所致</a:t>
            </a:r>
            <a:r>
              <a:rPr lang="en-US" altLang="zh-CN" b="1" dirty="0">
                <a:solidFill>
                  <a:srgbClr val="000000"/>
                </a:solidFill>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en-US" altLang="zh-CN" dirty="0" err="1">
                <a:solidFill>
                  <a:srgbClr val="000000"/>
                </a:solidFill>
                <a:latin typeface="黑体" pitchFamily="18" charset="0"/>
                <a:cs typeface="黑体" pitchFamily="18" charset="0"/>
              </a:rPr>
              <a:t>当一个中性物体得到电子</a:t>
            </a:r>
            <a:endParaRPr lang="en-US" altLang="zh-CN" dirty="0">
              <a:solidFill>
                <a:srgbClr val="000000"/>
              </a:solidFill>
              <a:latin typeface="黑体" pitchFamily="18" charset="0"/>
              <a:cs typeface="黑体" pitchFamily="18" charset="0"/>
            </a:endParaRPr>
          </a:p>
          <a:p>
            <a:pPr>
              <a:lnSpc>
                <a:spcPts val="3007"/>
              </a:lnSpc>
              <a:tabLst>
                <a:tab pos="3895138" algn="l"/>
              </a:tabLst>
            </a:pPr>
            <a:r>
              <a:rPr lang="zh-CN" altLang="en-US" sz="1600" dirty="0" smtClean="0"/>
              <a:t>           橡胶棒与毛皮摩擦</a:t>
            </a:r>
            <a:r>
              <a:rPr lang="en-US" altLang="zh-CN" dirty="0" smtClean="0"/>
              <a:t>	</a:t>
            </a:r>
            <a:r>
              <a:rPr lang="en-US" altLang="zh-CN" dirty="0" err="1">
                <a:solidFill>
                  <a:srgbClr val="000000"/>
                </a:solidFill>
                <a:latin typeface="黑体" pitchFamily="18" charset="0"/>
                <a:cs typeface="黑体" pitchFamily="18" charset="0"/>
              </a:rPr>
              <a:t>则呈现负电性</a:t>
            </a:r>
            <a:r>
              <a:rPr lang="en-US" altLang="zh-CN" b="1" dirty="0" err="1">
                <a:solidFill>
                  <a:srgbClr val="000000"/>
                </a:solidFill>
                <a:latin typeface="Times New Roman" pitchFamily="18" charset="0"/>
                <a:cs typeface="Times New Roman" pitchFamily="18" charset="0"/>
              </a:rPr>
              <a:t>,</a:t>
            </a:r>
            <a:r>
              <a:rPr lang="en-US" altLang="zh-CN" dirty="0" err="1">
                <a:solidFill>
                  <a:srgbClr val="000000"/>
                </a:solidFill>
                <a:latin typeface="黑体" pitchFamily="18" charset="0"/>
                <a:cs typeface="黑体" pitchFamily="18" charset="0"/>
              </a:rPr>
              <a:t>而当一个中性物体</a:t>
            </a:r>
            <a:endParaRPr lang="en-US" altLang="zh-CN" dirty="0">
              <a:solidFill>
                <a:srgbClr val="000000"/>
              </a:solidFill>
              <a:latin typeface="黑体" pitchFamily="18" charset="0"/>
              <a:cs typeface="黑体" pitchFamily="18" charset="0"/>
            </a:endParaRPr>
          </a:p>
          <a:p>
            <a:pPr>
              <a:lnSpc>
                <a:spcPts val="3007"/>
              </a:lnSpc>
              <a:tabLst>
                <a:tab pos="3895138" algn="l"/>
              </a:tabLst>
            </a:pPr>
            <a:r>
              <a:rPr lang="en-US" altLang="zh-CN" dirty="0" smtClean="0"/>
              <a:t>	</a:t>
            </a:r>
            <a:r>
              <a:rPr lang="en-US" altLang="zh-CN" dirty="0" err="1">
                <a:solidFill>
                  <a:srgbClr val="000000"/>
                </a:solidFill>
                <a:latin typeface="黑体" pitchFamily="18" charset="0"/>
                <a:cs typeface="黑体" pitchFamily="18" charset="0"/>
              </a:rPr>
              <a:t>失去电子则呈现正电性</a:t>
            </a:r>
            <a:r>
              <a:rPr lang="en-US" altLang="zh-CN" b="1" dirty="0">
                <a:solidFill>
                  <a:srgbClr val="000000"/>
                </a:solidFill>
                <a:latin typeface="Times New Roman" pitchFamily="18" charset="0"/>
                <a:cs typeface="Times New Roman" pitchFamily="18" charset="0"/>
              </a:rPr>
              <a:t>.</a:t>
            </a:r>
          </a:p>
          <a:p>
            <a:pPr>
              <a:lnSpc>
                <a:spcPts val="1002"/>
              </a:lnSpc>
            </a:pPr>
            <a:endParaRPr lang="en-US" altLang="zh-CN" dirty="0" smtClean="0"/>
          </a:p>
          <a:p>
            <a:pPr>
              <a:lnSpc>
                <a:spcPts val="1002"/>
              </a:lnSpc>
            </a:pPr>
            <a:endParaRPr lang="en-US" altLang="zh-CN" dirty="0" smtClean="0"/>
          </a:p>
          <a:p>
            <a:pPr>
              <a:lnSpc>
                <a:spcPts val="1002"/>
              </a:lnSpc>
            </a:pPr>
            <a:endParaRPr lang="en-US" altLang="zh-CN" dirty="0" smtClean="0"/>
          </a:p>
        </p:txBody>
      </p:sp>
      <p:sp>
        <p:nvSpPr>
          <p:cNvPr id="2" name="灯片编号占位符 1"/>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840535" y="979714"/>
            <a:ext cx="4024379" cy="4096987"/>
          </a:xfrm>
          <a:prstGeom prst="rect">
            <a:avLst/>
          </a:prstGeom>
          <a:noFill/>
        </p:spPr>
      </p:pic>
      <p:sp>
        <p:nvSpPr>
          <p:cNvPr id="4" name="TextBox 1"/>
          <p:cNvSpPr txBox="1"/>
          <p:nvPr/>
        </p:nvSpPr>
        <p:spPr>
          <a:xfrm>
            <a:off x="5259710" y="1768932"/>
            <a:ext cx="2924519" cy="3303574"/>
          </a:xfrm>
          <a:prstGeom prst="rect">
            <a:avLst/>
          </a:prstGeom>
          <a:noFill/>
        </p:spPr>
        <p:txBody>
          <a:bodyPr wrap="none" lIns="0" tIns="0" rIns="0" bIns="45825" rtlCol="0">
            <a:spAutoFit/>
          </a:bodyPr>
          <a:lstStyle/>
          <a:p>
            <a:pPr>
              <a:lnSpc>
                <a:spcPts val="2305"/>
              </a:lnSpc>
              <a:tabLst>
                <a:tab pos="305501" algn="l"/>
              </a:tabLst>
            </a:pPr>
            <a:r>
              <a:rPr lang="en-US" altLang="zh-CN" dirty="0" smtClean="0"/>
              <a:t>	</a:t>
            </a:r>
            <a:r>
              <a:rPr lang="en-US" altLang="zh-CN" dirty="0" err="1" smtClean="0">
                <a:solidFill>
                  <a:srgbClr val="000000"/>
                </a:solidFill>
                <a:latin typeface="黑体" pitchFamily="18" charset="0"/>
                <a:cs typeface="黑体" pitchFamily="18" charset="0"/>
              </a:rPr>
              <a:t>密立根创造了测量</a:t>
            </a:r>
            <a:endParaRPr lang="en-US" altLang="zh-CN" dirty="0">
              <a:solidFill>
                <a:srgbClr val="000000"/>
              </a:solidFill>
              <a:latin typeface="黑体" pitchFamily="18" charset="0"/>
              <a:cs typeface="黑体" pitchFamily="18" charset="0"/>
            </a:endParaRPr>
          </a:p>
          <a:p>
            <a:pPr>
              <a:lnSpc>
                <a:spcPts val="3107"/>
              </a:lnSpc>
              <a:tabLst>
                <a:tab pos="305501" algn="l"/>
              </a:tabLst>
            </a:pPr>
            <a:r>
              <a:rPr lang="en-US" altLang="zh-CN" dirty="0" err="1">
                <a:solidFill>
                  <a:srgbClr val="000000"/>
                </a:solidFill>
                <a:latin typeface="黑体" pitchFamily="18" charset="0"/>
                <a:cs typeface="黑体" pitchFamily="18" charset="0"/>
              </a:rPr>
              <a:t>单个带电液滴的著名</a:t>
            </a:r>
            <a:endParaRPr lang="en-US" altLang="zh-CN" dirty="0">
              <a:solidFill>
                <a:srgbClr val="000000"/>
              </a:solidFill>
              <a:latin typeface="黑体" pitchFamily="18" charset="0"/>
              <a:cs typeface="黑体" pitchFamily="18" charset="0"/>
            </a:endParaRPr>
          </a:p>
          <a:p>
            <a:pPr>
              <a:lnSpc>
                <a:spcPts val="3007"/>
              </a:lnSpc>
              <a:tabLst>
                <a:tab pos="305501" algn="l"/>
              </a:tabLst>
            </a:pPr>
            <a:r>
              <a:rPr lang="en-US" altLang="zh-CN" dirty="0" err="1">
                <a:solidFill>
                  <a:srgbClr val="000000"/>
                </a:solidFill>
                <a:latin typeface="黑体" pitchFamily="18" charset="0"/>
                <a:cs typeface="黑体" pitchFamily="18" charset="0"/>
              </a:rPr>
              <a:t>实验方法</a:t>
            </a:r>
            <a:r>
              <a:rPr lang="en-US" altLang="zh-CN" b="1" dirty="0" err="1">
                <a:solidFill>
                  <a:srgbClr val="000000"/>
                </a:solidFill>
                <a:latin typeface="Times New Roman" pitchFamily="18" charset="0"/>
                <a:cs typeface="Times New Roman" pitchFamily="18" charset="0"/>
              </a:rPr>
              <a:t>,</a:t>
            </a:r>
            <a:r>
              <a:rPr lang="en-US" altLang="zh-CN" dirty="0" err="1">
                <a:solidFill>
                  <a:srgbClr val="000000"/>
                </a:solidFill>
                <a:latin typeface="黑体" pitchFamily="18" charset="0"/>
                <a:cs typeface="黑体" pitchFamily="18" charset="0"/>
              </a:rPr>
              <a:t>以确凿的数</a:t>
            </a:r>
            <a:endParaRPr lang="en-US" altLang="zh-CN" dirty="0">
              <a:solidFill>
                <a:srgbClr val="000000"/>
              </a:solidFill>
              <a:latin typeface="黑体" pitchFamily="18" charset="0"/>
              <a:cs typeface="黑体" pitchFamily="18" charset="0"/>
            </a:endParaRPr>
          </a:p>
          <a:p>
            <a:pPr>
              <a:lnSpc>
                <a:spcPts val="3007"/>
              </a:lnSpc>
              <a:tabLst>
                <a:tab pos="305501" algn="l"/>
              </a:tabLst>
            </a:pPr>
            <a:r>
              <a:rPr lang="en-US" altLang="zh-CN" dirty="0" err="1">
                <a:solidFill>
                  <a:srgbClr val="000000"/>
                </a:solidFill>
                <a:latin typeface="黑体" pitchFamily="18" charset="0"/>
                <a:cs typeface="黑体" pitchFamily="18" charset="0"/>
              </a:rPr>
              <a:t>据证明了电荷的量子</a:t>
            </a:r>
            <a:endParaRPr lang="en-US" altLang="zh-CN" dirty="0">
              <a:solidFill>
                <a:srgbClr val="000000"/>
              </a:solidFill>
              <a:latin typeface="黑体" pitchFamily="18" charset="0"/>
              <a:cs typeface="黑体" pitchFamily="18" charset="0"/>
            </a:endParaRPr>
          </a:p>
          <a:p>
            <a:pPr>
              <a:lnSpc>
                <a:spcPts val="3007"/>
              </a:lnSpc>
              <a:tabLst>
                <a:tab pos="305501" algn="l"/>
              </a:tabLst>
            </a:pPr>
            <a:r>
              <a:rPr lang="en-US" altLang="zh-CN" dirty="0">
                <a:solidFill>
                  <a:srgbClr val="000000"/>
                </a:solidFill>
                <a:latin typeface="黑体" pitchFamily="18" charset="0"/>
                <a:cs typeface="黑体" pitchFamily="18" charset="0"/>
              </a:rPr>
              <a:t>性</a:t>
            </a:r>
            <a:r>
              <a:rPr lang="en-US" altLang="zh-CN" b="1" dirty="0">
                <a:solidFill>
                  <a:srgbClr val="000000"/>
                </a:solidFill>
                <a:latin typeface="Times New Roman" pitchFamily="18" charset="0"/>
                <a:cs typeface="Times New Roman" pitchFamily="18" charset="0"/>
              </a:rPr>
              <a:t>,</a:t>
            </a:r>
            <a:r>
              <a:rPr lang="en-US" altLang="zh-CN" dirty="0">
                <a:solidFill>
                  <a:srgbClr val="000000"/>
                </a:solidFill>
                <a:latin typeface="黑体" pitchFamily="18" charset="0"/>
                <a:cs typeface="黑体" pitchFamily="18" charset="0"/>
              </a:rPr>
              <a:t>荣获</a:t>
            </a:r>
            <a:r>
              <a:rPr lang="en-US" altLang="zh-CN" b="1" dirty="0">
                <a:solidFill>
                  <a:srgbClr val="000000"/>
                </a:solidFill>
                <a:latin typeface="Times New Roman" pitchFamily="18" charset="0"/>
                <a:cs typeface="Times New Roman" pitchFamily="18" charset="0"/>
              </a:rPr>
              <a:t>1923</a:t>
            </a:r>
            <a:r>
              <a:rPr lang="en-US" altLang="zh-CN" dirty="0">
                <a:solidFill>
                  <a:srgbClr val="000000"/>
                </a:solidFill>
                <a:latin typeface="黑体" pitchFamily="18" charset="0"/>
                <a:cs typeface="黑体" pitchFamily="18" charset="0"/>
              </a:rPr>
              <a:t>年度诺贝</a:t>
            </a:r>
          </a:p>
          <a:p>
            <a:pPr>
              <a:lnSpc>
                <a:spcPts val="3007"/>
              </a:lnSpc>
              <a:tabLst>
                <a:tab pos="305501" algn="l"/>
              </a:tabLst>
            </a:pPr>
            <a:r>
              <a:rPr lang="en-US" altLang="zh-CN" dirty="0" err="1">
                <a:solidFill>
                  <a:srgbClr val="000000"/>
                </a:solidFill>
                <a:latin typeface="黑体" pitchFamily="18" charset="0"/>
                <a:cs typeface="黑体" pitchFamily="18" charset="0"/>
              </a:rPr>
              <a:t>尔物理奖</a:t>
            </a:r>
            <a:r>
              <a:rPr lang="en-US" altLang="zh-CN" b="1" dirty="0">
                <a:solidFill>
                  <a:srgbClr val="000000"/>
                </a:solidFill>
                <a:latin typeface="Times New Roman" pitchFamily="18" charset="0"/>
                <a:cs typeface="Times New Roman" pitchFamily="18" charset="0"/>
              </a:rPr>
              <a:t>.</a:t>
            </a:r>
          </a:p>
        </p:txBody>
      </p:sp>
      <p:sp>
        <p:nvSpPr>
          <p:cNvPr id="5" name="TextBox 1"/>
          <p:cNvSpPr txBox="1"/>
          <p:nvPr/>
        </p:nvSpPr>
        <p:spPr>
          <a:xfrm>
            <a:off x="1163106" y="350387"/>
            <a:ext cx="6985887" cy="366873"/>
          </a:xfrm>
          <a:prstGeom prst="rect">
            <a:avLst/>
          </a:prstGeom>
          <a:noFill/>
        </p:spPr>
        <p:txBody>
          <a:bodyPr wrap="none" lIns="0" tIns="0" rIns="0" bIns="45825" rtlCol="0">
            <a:spAutoFit/>
          </a:bodyPr>
          <a:lstStyle/>
          <a:p>
            <a:pPr>
              <a:lnSpc>
                <a:spcPts val="2506"/>
              </a:lnSpc>
            </a:pPr>
            <a:r>
              <a:rPr lang="en-US" altLang="zh-CN" sz="2800" b="1">
                <a:solidFill>
                  <a:srgbClr val="000000"/>
                </a:solidFill>
                <a:latin typeface="黑体" pitchFamily="18" charset="0"/>
                <a:cs typeface="黑体" pitchFamily="18" charset="0"/>
              </a:rPr>
              <a:t>密立根</a:t>
            </a:r>
            <a:r>
              <a:rPr lang="en-US" altLang="zh-CN" sz="2800" b="1">
                <a:solidFill>
                  <a:srgbClr val="000000"/>
                </a:solidFill>
                <a:latin typeface="Times New Roman" pitchFamily="18" charset="0"/>
                <a:cs typeface="Times New Roman" pitchFamily="18" charset="0"/>
              </a:rPr>
              <a:t>(Robert</a:t>
            </a:r>
            <a:r>
              <a:rPr lang="en-US" altLang="zh-CN" sz="2800" b="1">
                <a:latin typeface="Times New Roman" pitchFamily="18" charset="0"/>
                <a:cs typeface="Times New Roman" pitchFamily="18" charset="0"/>
              </a:rPr>
              <a:t> </a:t>
            </a:r>
            <a:r>
              <a:rPr lang="en-US" altLang="zh-CN" sz="2800" b="1">
                <a:solidFill>
                  <a:srgbClr val="000000"/>
                </a:solidFill>
                <a:latin typeface="Times New Roman" pitchFamily="18" charset="0"/>
                <a:cs typeface="Times New Roman" pitchFamily="18" charset="0"/>
              </a:rPr>
              <a:t>Andrews</a:t>
            </a:r>
            <a:r>
              <a:rPr lang="en-US" altLang="zh-CN" sz="2800" b="1">
                <a:latin typeface="Times New Roman" pitchFamily="18" charset="0"/>
                <a:cs typeface="Times New Roman" pitchFamily="18" charset="0"/>
              </a:rPr>
              <a:t> </a:t>
            </a:r>
            <a:r>
              <a:rPr lang="en-US" altLang="zh-CN" sz="2800" b="1">
                <a:solidFill>
                  <a:srgbClr val="000000"/>
                </a:solidFill>
                <a:latin typeface="Times New Roman" pitchFamily="18" charset="0"/>
                <a:cs typeface="Times New Roman" pitchFamily="18" charset="0"/>
              </a:rPr>
              <a:t>Millikan,</a:t>
            </a:r>
            <a:r>
              <a:rPr lang="en-US" altLang="zh-CN" sz="2800" b="1">
                <a:latin typeface="Times New Roman" pitchFamily="18" charset="0"/>
                <a:cs typeface="Times New Roman" pitchFamily="18" charset="0"/>
              </a:rPr>
              <a:t> </a:t>
            </a:r>
            <a:r>
              <a:rPr lang="en-US" altLang="zh-CN" sz="2800" b="1">
                <a:solidFill>
                  <a:srgbClr val="000000"/>
                </a:solidFill>
                <a:latin typeface="Times New Roman" pitchFamily="18" charset="0"/>
                <a:cs typeface="Times New Roman" pitchFamily="18" charset="0"/>
              </a:rPr>
              <a:t>1868-1953</a:t>
            </a:r>
            <a:r>
              <a:rPr lang="en-US" altLang="zh-CN" b="1">
                <a:solidFill>
                  <a:srgbClr val="000000"/>
                </a:solidFill>
                <a:latin typeface="Times New Roman" pitchFamily="18" charset="0"/>
                <a:cs typeface="Times New Roman" pitchFamily="18" charset="0"/>
              </a:rPr>
              <a:t>)</a:t>
            </a:r>
          </a:p>
        </p:txBody>
      </p:sp>
      <p:sp>
        <p:nvSpPr>
          <p:cNvPr id="6" name="TextBox 1"/>
          <p:cNvSpPr txBox="1"/>
          <p:nvPr/>
        </p:nvSpPr>
        <p:spPr>
          <a:xfrm>
            <a:off x="1120713" y="5458408"/>
            <a:ext cx="7181453" cy="956778"/>
          </a:xfrm>
          <a:prstGeom prst="rect">
            <a:avLst/>
          </a:prstGeom>
          <a:noFill/>
        </p:spPr>
        <p:txBody>
          <a:bodyPr wrap="none" lIns="0" tIns="0" rIns="0" bIns="45825" rtlCol="0">
            <a:spAutoFit/>
          </a:bodyPr>
          <a:lstStyle/>
          <a:p>
            <a:pPr>
              <a:lnSpc>
                <a:spcPts val="2506"/>
              </a:lnSpc>
            </a:pPr>
            <a:r>
              <a:rPr lang="en-US" altLang="zh-CN">
                <a:solidFill>
                  <a:srgbClr val="3333FF"/>
                </a:solidFill>
                <a:latin typeface="黑体" pitchFamily="18" charset="0"/>
                <a:cs typeface="黑体" pitchFamily="18" charset="0"/>
              </a:rPr>
              <a:t>结果表明</a:t>
            </a:r>
            <a:r>
              <a:rPr lang="en-US" altLang="zh-CN" b="1">
                <a:solidFill>
                  <a:srgbClr val="3333FF"/>
                </a:solidFill>
                <a:latin typeface="Times New Roman" pitchFamily="18" charset="0"/>
                <a:cs typeface="Times New Roman" pitchFamily="18" charset="0"/>
              </a:rPr>
              <a:t>:</a:t>
            </a:r>
            <a:r>
              <a:rPr lang="en-US" altLang="zh-CN">
                <a:solidFill>
                  <a:srgbClr val="000000"/>
                </a:solidFill>
                <a:latin typeface="黑体" pitchFamily="18" charset="0"/>
                <a:cs typeface="黑体" pitchFamily="18" charset="0"/>
              </a:rPr>
              <a:t>油滴所带的电量总是某一个最小固定值的整</a:t>
            </a:r>
          </a:p>
          <a:p>
            <a:pPr>
              <a:lnSpc>
                <a:spcPts val="3007"/>
              </a:lnSpc>
            </a:pPr>
            <a:r>
              <a:rPr lang="en-US" altLang="zh-CN">
                <a:solidFill>
                  <a:srgbClr val="000000"/>
                </a:solidFill>
                <a:latin typeface="黑体" pitchFamily="18" charset="0"/>
                <a:cs typeface="黑体" pitchFamily="18" charset="0"/>
              </a:rPr>
              <a:t>数倍</a:t>
            </a:r>
            <a:r>
              <a:rPr lang="en-US" altLang="zh-CN" b="1">
                <a:solidFill>
                  <a:srgbClr val="000000"/>
                </a:solidFill>
                <a:latin typeface="Times New Roman" pitchFamily="18" charset="0"/>
                <a:cs typeface="Times New Roman" pitchFamily="18" charset="0"/>
              </a:rPr>
              <a:t>,</a:t>
            </a:r>
            <a:r>
              <a:rPr lang="en-US" altLang="zh-CN">
                <a:solidFill>
                  <a:srgbClr val="000000"/>
                </a:solidFill>
                <a:latin typeface="黑体" pitchFamily="18" charset="0"/>
                <a:cs typeface="黑体" pitchFamily="18" charset="0"/>
              </a:rPr>
              <a:t>这个最小电荷就是电子所带的电量</a:t>
            </a:r>
            <a:r>
              <a:rPr lang="en-US" altLang="zh-CN" b="1" i="1">
                <a:solidFill>
                  <a:srgbClr val="000000"/>
                </a:solidFill>
                <a:latin typeface="Times New Roman" pitchFamily="18" charset="0"/>
                <a:cs typeface="Times New Roman" pitchFamily="18" charset="0"/>
              </a:rPr>
              <a:t>e</a:t>
            </a:r>
            <a:r>
              <a:rPr lang="en-US" altLang="zh-CN">
                <a:latin typeface="Times New Roman" pitchFamily="18" charset="0"/>
                <a:cs typeface="Times New Roman" pitchFamily="18" charset="0"/>
              </a:rPr>
              <a:t> </a:t>
            </a:r>
            <a:r>
              <a:rPr lang="en-US" altLang="zh-CN" b="1">
                <a:solidFill>
                  <a:srgbClr val="000000"/>
                </a:solidFill>
                <a:latin typeface="Times New Roman" pitchFamily="18" charset="0"/>
                <a:cs typeface="Times New Roman" pitchFamily="18" charset="0"/>
              </a:rPr>
              <a:t>.</a:t>
            </a:r>
          </a:p>
        </p:txBody>
      </p:sp>
      <p:sp>
        <p:nvSpPr>
          <p:cNvPr id="2" name="灯片编号占位符 1"/>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729209384"/>
              </p:ext>
            </p:extLst>
          </p:nvPr>
        </p:nvGraphicFramePr>
        <p:xfrm>
          <a:off x="1187623" y="1772816"/>
          <a:ext cx="6984778" cy="2960532"/>
        </p:xfrm>
        <a:graphic>
          <a:graphicData uri="http://schemas.openxmlformats.org/drawingml/2006/table">
            <a:tbl>
              <a:tblPr firstRow="1" firstCol="1" bandRow="1">
                <a:tableStyleId>{5940675A-B579-460E-94D1-54222C63F5DA}</a:tableStyleId>
              </a:tblPr>
              <a:tblGrid>
                <a:gridCol w="2240488">
                  <a:extLst>
                    <a:ext uri="{9D8B030D-6E8A-4147-A177-3AD203B41FA5}">
                      <a16:colId xmlns:a16="http://schemas.microsoft.com/office/drawing/2014/main" val="20000"/>
                    </a:ext>
                  </a:extLst>
                </a:gridCol>
                <a:gridCol w="2343658">
                  <a:extLst>
                    <a:ext uri="{9D8B030D-6E8A-4147-A177-3AD203B41FA5}">
                      <a16:colId xmlns:a16="http://schemas.microsoft.com/office/drawing/2014/main" val="20001"/>
                    </a:ext>
                  </a:extLst>
                </a:gridCol>
                <a:gridCol w="2400632">
                  <a:extLst>
                    <a:ext uri="{9D8B030D-6E8A-4147-A177-3AD203B41FA5}">
                      <a16:colId xmlns:a16="http://schemas.microsoft.com/office/drawing/2014/main" val="20002"/>
                    </a:ext>
                  </a:extLst>
                </a:gridCol>
              </a:tblGrid>
              <a:tr h="381179">
                <a:tc>
                  <a:txBody>
                    <a:bodyPr/>
                    <a:lstStyle/>
                    <a:p>
                      <a:pPr algn="ctr">
                        <a:lnSpc>
                          <a:spcPct val="125000"/>
                        </a:lnSpc>
                        <a:spcAft>
                          <a:spcPts val="0"/>
                        </a:spcAft>
                      </a:pPr>
                      <a:r>
                        <a:rPr lang="zh-CN" sz="2800" kern="100" dirty="0">
                          <a:effectLst/>
                        </a:rPr>
                        <a:t>粒子</a:t>
                      </a:r>
                      <a:endParaRPr lang="zh-CN" sz="2800" kern="100" dirty="0">
                        <a:effectLst/>
                        <a:latin typeface="Times New Roman"/>
                        <a:ea typeface="宋体"/>
                      </a:endParaRPr>
                    </a:p>
                  </a:txBody>
                  <a:tcPr marL="68580" marR="68580" marT="0" marB="0"/>
                </a:tc>
                <a:tc>
                  <a:txBody>
                    <a:bodyPr/>
                    <a:lstStyle/>
                    <a:p>
                      <a:pPr algn="ctr">
                        <a:lnSpc>
                          <a:spcPct val="125000"/>
                        </a:lnSpc>
                        <a:spcAft>
                          <a:spcPts val="0"/>
                        </a:spcAft>
                      </a:pPr>
                      <a:r>
                        <a:rPr lang="zh-CN" sz="2800" kern="100">
                          <a:effectLst/>
                        </a:rPr>
                        <a:t>质量</a:t>
                      </a:r>
                      <a:r>
                        <a:rPr lang="en-US" sz="2800" kern="100">
                          <a:effectLst/>
                        </a:rPr>
                        <a:t>/kg</a:t>
                      </a:r>
                      <a:endParaRPr lang="zh-CN" sz="2800" kern="100">
                        <a:effectLst/>
                        <a:latin typeface="Times New Roman"/>
                        <a:ea typeface="宋体"/>
                      </a:endParaRPr>
                    </a:p>
                  </a:txBody>
                  <a:tcPr marL="68580" marR="68580" marT="0" marB="0"/>
                </a:tc>
                <a:tc>
                  <a:txBody>
                    <a:bodyPr/>
                    <a:lstStyle/>
                    <a:p>
                      <a:pPr algn="ctr">
                        <a:lnSpc>
                          <a:spcPct val="125000"/>
                        </a:lnSpc>
                        <a:spcAft>
                          <a:spcPts val="0"/>
                        </a:spcAft>
                      </a:pPr>
                      <a:r>
                        <a:rPr lang="zh-CN" sz="2800" kern="100">
                          <a:effectLst/>
                        </a:rPr>
                        <a:t>电量</a:t>
                      </a:r>
                      <a:r>
                        <a:rPr lang="en-US" sz="2800" kern="100">
                          <a:effectLst/>
                        </a:rPr>
                        <a:t>/C</a:t>
                      </a:r>
                      <a:endParaRPr lang="zh-CN" sz="2800" kern="100">
                        <a:effectLst/>
                        <a:latin typeface="Times New Roman"/>
                        <a:ea typeface="宋体"/>
                      </a:endParaRPr>
                    </a:p>
                  </a:txBody>
                  <a:tcPr marL="68580" marR="68580" marT="0" marB="0"/>
                </a:tc>
                <a:extLst>
                  <a:ext uri="{0D108BD9-81ED-4DB2-BD59-A6C34878D82A}">
                    <a16:rowId xmlns:a16="http://schemas.microsoft.com/office/drawing/2014/main" val="10000"/>
                  </a:ext>
                </a:extLst>
              </a:tr>
              <a:tr h="809044">
                <a:tc>
                  <a:txBody>
                    <a:bodyPr/>
                    <a:lstStyle/>
                    <a:p>
                      <a:pPr algn="ctr">
                        <a:lnSpc>
                          <a:spcPct val="125000"/>
                        </a:lnSpc>
                        <a:spcAft>
                          <a:spcPts val="0"/>
                        </a:spcAft>
                      </a:pPr>
                      <a:r>
                        <a:rPr lang="zh-CN" sz="2800" kern="100" dirty="0">
                          <a:effectLst/>
                        </a:rPr>
                        <a:t>质子 </a:t>
                      </a:r>
                      <a:r>
                        <a:rPr lang="en-US" sz="2800" i="1" kern="100" dirty="0">
                          <a:effectLst/>
                        </a:rPr>
                        <a:t>p</a:t>
                      </a:r>
                      <a:endParaRPr lang="zh-CN" sz="2800" i="1" kern="100" dirty="0">
                        <a:effectLst/>
                        <a:latin typeface="Times New Roman"/>
                        <a:ea typeface="宋体"/>
                      </a:endParaRPr>
                    </a:p>
                  </a:txBody>
                  <a:tcPr marL="68580" marR="68580" marT="0" marB="0"/>
                </a:tc>
                <a:tc>
                  <a:txBody>
                    <a:bodyPr/>
                    <a:lstStyle/>
                    <a:p>
                      <a:pPr algn="ctr">
                        <a:lnSpc>
                          <a:spcPct val="125000"/>
                        </a:lnSpc>
                        <a:spcAft>
                          <a:spcPts val="0"/>
                        </a:spcAft>
                      </a:pPr>
                      <a:r>
                        <a:rPr lang="en-US" sz="2800" kern="100">
                          <a:effectLst/>
                        </a:rPr>
                        <a:t>1.673×10</a:t>
                      </a:r>
                      <a:r>
                        <a:rPr lang="en-US" sz="2800" kern="100" baseline="30000">
                          <a:effectLst/>
                        </a:rPr>
                        <a:t>-27</a:t>
                      </a:r>
                      <a:endParaRPr lang="zh-CN" sz="2800" kern="100">
                        <a:effectLst/>
                        <a:latin typeface="Times New Roman"/>
                        <a:ea typeface="宋体"/>
                      </a:endParaRPr>
                    </a:p>
                  </a:txBody>
                  <a:tcPr marL="68580" marR="68580" marT="0" marB="0"/>
                </a:tc>
                <a:tc>
                  <a:txBody>
                    <a:bodyPr/>
                    <a:lstStyle/>
                    <a:p>
                      <a:pPr algn="ctr">
                        <a:lnSpc>
                          <a:spcPct val="125000"/>
                        </a:lnSpc>
                        <a:spcAft>
                          <a:spcPts val="0"/>
                        </a:spcAft>
                      </a:pPr>
                      <a:r>
                        <a:rPr lang="en-US" sz="2800" kern="100">
                          <a:effectLst/>
                        </a:rPr>
                        <a:t>+1.602×10</a:t>
                      </a:r>
                      <a:r>
                        <a:rPr lang="en-US" sz="2800" kern="100" baseline="30000">
                          <a:effectLst/>
                        </a:rPr>
                        <a:t>-19</a:t>
                      </a:r>
                      <a:endParaRPr lang="zh-CN" sz="2800" kern="100">
                        <a:effectLst/>
                        <a:latin typeface="Times New Roman"/>
                        <a:ea typeface="宋体"/>
                      </a:endParaRPr>
                    </a:p>
                  </a:txBody>
                  <a:tcPr marL="68580" marR="68580" marT="0" marB="0"/>
                </a:tc>
                <a:extLst>
                  <a:ext uri="{0D108BD9-81ED-4DB2-BD59-A6C34878D82A}">
                    <a16:rowId xmlns:a16="http://schemas.microsoft.com/office/drawing/2014/main" val="10001"/>
                  </a:ext>
                </a:extLst>
              </a:tr>
              <a:tr h="809044">
                <a:tc>
                  <a:txBody>
                    <a:bodyPr/>
                    <a:lstStyle/>
                    <a:p>
                      <a:pPr algn="ctr">
                        <a:lnSpc>
                          <a:spcPct val="125000"/>
                        </a:lnSpc>
                        <a:spcAft>
                          <a:spcPts val="0"/>
                        </a:spcAft>
                      </a:pPr>
                      <a:r>
                        <a:rPr lang="zh-CN" sz="2800" kern="100" dirty="0">
                          <a:effectLst/>
                        </a:rPr>
                        <a:t>电子</a:t>
                      </a:r>
                      <a:r>
                        <a:rPr lang="en-US" sz="2800" kern="100" dirty="0">
                          <a:effectLst/>
                        </a:rPr>
                        <a:t> </a:t>
                      </a:r>
                      <a:r>
                        <a:rPr lang="en-US" sz="2800" i="1" kern="100" dirty="0">
                          <a:effectLst/>
                        </a:rPr>
                        <a:t>e</a:t>
                      </a:r>
                      <a:endParaRPr lang="zh-CN" sz="2800" i="1" kern="100" dirty="0">
                        <a:effectLst/>
                        <a:latin typeface="Times New Roman"/>
                        <a:ea typeface="宋体"/>
                      </a:endParaRPr>
                    </a:p>
                  </a:txBody>
                  <a:tcPr marL="68580" marR="68580" marT="0" marB="0"/>
                </a:tc>
                <a:tc>
                  <a:txBody>
                    <a:bodyPr/>
                    <a:lstStyle/>
                    <a:p>
                      <a:pPr algn="ctr">
                        <a:lnSpc>
                          <a:spcPct val="125000"/>
                        </a:lnSpc>
                        <a:spcAft>
                          <a:spcPts val="0"/>
                        </a:spcAft>
                      </a:pPr>
                      <a:r>
                        <a:rPr lang="en-US" sz="2800" kern="100" dirty="0">
                          <a:effectLst/>
                        </a:rPr>
                        <a:t>9.109×10</a:t>
                      </a:r>
                      <a:r>
                        <a:rPr lang="en-US" sz="2800" kern="100" baseline="30000" dirty="0">
                          <a:effectLst/>
                        </a:rPr>
                        <a:t>-31</a:t>
                      </a:r>
                      <a:endParaRPr lang="zh-CN" sz="2800" kern="100" dirty="0">
                        <a:effectLst/>
                        <a:latin typeface="Times New Roman"/>
                        <a:ea typeface="宋体"/>
                      </a:endParaRPr>
                    </a:p>
                  </a:txBody>
                  <a:tcPr marL="68580" marR="68580" marT="0" marB="0"/>
                </a:tc>
                <a:tc>
                  <a:txBody>
                    <a:bodyPr/>
                    <a:lstStyle/>
                    <a:p>
                      <a:pPr algn="ctr">
                        <a:lnSpc>
                          <a:spcPct val="125000"/>
                        </a:lnSpc>
                        <a:spcAft>
                          <a:spcPts val="0"/>
                        </a:spcAft>
                      </a:pPr>
                      <a:r>
                        <a:rPr lang="en-US" sz="2800" kern="100">
                          <a:effectLst/>
                        </a:rPr>
                        <a:t>-1.602×10</a:t>
                      </a:r>
                      <a:r>
                        <a:rPr lang="en-US" sz="2800" kern="100" baseline="30000">
                          <a:effectLst/>
                        </a:rPr>
                        <a:t>-19</a:t>
                      </a:r>
                      <a:endParaRPr lang="zh-CN" sz="2800" kern="100">
                        <a:effectLst/>
                        <a:latin typeface="Times New Roman"/>
                        <a:ea typeface="宋体"/>
                      </a:endParaRPr>
                    </a:p>
                  </a:txBody>
                  <a:tcPr marL="68580" marR="68580" marT="0" marB="0"/>
                </a:tc>
                <a:extLst>
                  <a:ext uri="{0D108BD9-81ED-4DB2-BD59-A6C34878D82A}">
                    <a16:rowId xmlns:a16="http://schemas.microsoft.com/office/drawing/2014/main" val="10002"/>
                  </a:ext>
                </a:extLst>
              </a:tr>
              <a:tr h="809044">
                <a:tc>
                  <a:txBody>
                    <a:bodyPr/>
                    <a:lstStyle/>
                    <a:p>
                      <a:pPr algn="ctr">
                        <a:lnSpc>
                          <a:spcPct val="125000"/>
                        </a:lnSpc>
                        <a:spcAft>
                          <a:spcPts val="0"/>
                        </a:spcAft>
                      </a:pPr>
                      <a:r>
                        <a:rPr lang="zh-CN" sz="2800" kern="100" dirty="0">
                          <a:effectLst/>
                        </a:rPr>
                        <a:t>中子 </a:t>
                      </a:r>
                      <a:r>
                        <a:rPr lang="en-US" sz="2800" i="1" kern="100" dirty="0">
                          <a:effectLst/>
                        </a:rPr>
                        <a:t>n</a:t>
                      </a:r>
                      <a:endParaRPr lang="zh-CN" sz="2800" i="1" kern="100" dirty="0">
                        <a:effectLst/>
                        <a:latin typeface="Times New Roman"/>
                        <a:ea typeface="宋体"/>
                      </a:endParaRPr>
                    </a:p>
                  </a:txBody>
                  <a:tcPr marL="68580" marR="68580" marT="0" marB="0"/>
                </a:tc>
                <a:tc>
                  <a:txBody>
                    <a:bodyPr/>
                    <a:lstStyle/>
                    <a:p>
                      <a:pPr algn="ctr">
                        <a:lnSpc>
                          <a:spcPct val="125000"/>
                        </a:lnSpc>
                        <a:spcAft>
                          <a:spcPts val="0"/>
                        </a:spcAft>
                      </a:pPr>
                      <a:r>
                        <a:rPr lang="en-US" sz="2800" kern="100">
                          <a:effectLst/>
                        </a:rPr>
                        <a:t>1.675×10</a:t>
                      </a:r>
                      <a:r>
                        <a:rPr lang="en-US" sz="2800" kern="100" baseline="30000">
                          <a:effectLst/>
                        </a:rPr>
                        <a:t>-27</a:t>
                      </a:r>
                      <a:endParaRPr lang="zh-CN" sz="2800" kern="100">
                        <a:effectLst/>
                        <a:latin typeface="Times New Roman"/>
                        <a:ea typeface="宋体"/>
                      </a:endParaRPr>
                    </a:p>
                  </a:txBody>
                  <a:tcPr marL="68580" marR="68580" marT="0" marB="0"/>
                </a:tc>
                <a:tc>
                  <a:txBody>
                    <a:bodyPr/>
                    <a:lstStyle/>
                    <a:p>
                      <a:pPr algn="ctr">
                        <a:lnSpc>
                          <a:spcPct val="125000"/>
                        </a:lnSpc>
                        <a:spcAft>
                          <a:spcPts val="0"/>
                        </a:spcAft>
                      </a:pPr>
                      <a:r>
                        <a:rPr lang="en-US" sz="2800" kern="100">
                          <a:effectLst/>
                        </a:rPr>
                        <a:t>0</a:t>
                      </a:r>
                      <a:endParaRPr lang="zh-CN" sz="2800" kern="100">
                        <a:effectLst/>
                        <a:latin typeface="Times New Roman"/>
                        <a:ea typeface="宋体"/>
                      </a:endParaRPr>
                    </a:p>
                  </a:txBody>
                  <a:tcPr marL="68580" marR="68580" marT="0" marB="0"/>
                </a:tc>
                <a:extLst>
                  <a:ext uri="{0D108BD9-81ED-4DB2-BD59-A6C34878D82A}">
                    <a16:rowId xmlns:a16="http://schemas.microsoft.com/office/drawing/2014/main" val="10003"/>
                  </a:ext>
                </a:extLst>
              </a:tr>
            </a:tbl>
          </a:graphicData>
        </a:graphic>
      </p:graphicFrame>
      <p:sp>
        <p:nvSpPr>
          <p:cNvPr id="5" name="TextBox 4"/>
          <p:cNvSpPr txBox="1"/>
          <p:nvPr/>
        </p:nvSpPr>
        <p:spPr>
          <a:xfrm>
            <a:off x="827584" y="404664"/>
            <a:ext cx="4968552" cy="81458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rtl="0" latinLnBrk="1" hangingPunct="0"/>
            <a:r>
              <a:rPr lang="zh-CN" altLang="zh-CN" sz="2800" b="1" dirty="0">
                <a:solidFill>
                  <a:srgbClr val="0000CC"/>
                </a:solidFill>
              </a:rPr>
              <a:t>原子基本结构与相关</a:t>
            </a:r>
            <a:r>
              <a:rPr lang="zh-CN" altLang="zh-CN" sz="2800" b="1" dirty="0" smtClean="0">
                <a:solidFill>
                  <a:srgbClr val="0000CC"/>
                </a:solidFill>
              </a:rPr>
              <a:t>参数</a:t>
            </a:r>
            <a:r>
              <a:rPr lang="zh-CN" altLang="en-US" sz="2800" b="1" dirty="0" smtClean="0">
                <a:solidFill>
                  <a:srgbClr val="0000CC"/>
                </a:solidFill>
              </a:rPr>
              <a:t>：</a:t>
            </a:r>
            <a:endParaRPr kumimoji="0" lang="zh-CN" altLang="en-US" sz="2800" b="1" i="0" u="none" strike="noStrike" cap="none" spc="0" normalizeH="0" baseline="0" dirty="0">
              <a:ln>
                <a:noFill/>
              </a:ln>
              <a:solidFill>
                <a:srgbClr val="0000CC"/>
              </a:solidFill>
              <a:effectLst/>
              <a:uFillTx/>
              <a:sym typeface="Times New Roman"/>
            </a:endParaRPr>
          </a:p>
        </p:txBody>
      </p:sp>
      <p:sp>
        <p:nvSpPr>
          <p:cNvPr id="6" name="TextBox 5"/>
          <p:cNvSpPr txBox="1"/>
          <p:nvPr/>
        </p:nvSpPr>
        <p:spPr>
          <a:xfrm>
            <a:off x="1043608" y="4941168"/>
            <a:ext cx="7560840" cy="138909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rtl="0" latinLnBrk="1" hangingPunct="0"/>
            <a:r>
              <a:rPr kumimoji="0" lang="zh-CN" altLang="en-US"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毫库（</a:t>
            </a:r>
            <a:r>
              <a:rPr kumimoji="0" lang="en-US" altLang="zh-CN" sz="2400" b="0" i="0" u="none" strike="noStrike" cap="none" spc="0" normalizeH="0" baseline="0" dirty="0" err="1" smtClean="0">
                <a:ln>
                  <a:noFill/>
                </a:ln>
                <a:solidFill>
                  <a:srgbClr val="000000"/>
                </a:solidFill>
                <a:effectLst/>
                <a:uFillTx/>
                <a:latin typeface="Times New Roman"/>
                <a:ea typeface="Times New Roman"/>
                <a:cs typeface="Times New Roman"/>
                <a:sym typeface="Times New Roman"/>
              </a:rPr>
              <a:t>mC</a:t>
            </a:r>
            <a:r>
              <a:rPr kumimoji="0" lang="zh-CN" altLang="en-US"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a:t>
            </a:r>
            <a:r>
              <a:rPr lang="zh-CN" altLang="en-US" dirty="0" smtClean="0">
                <a:solidFill>
                  <a:srgbClr val="000000"/>
                </a:solidFill>
              </a:rPr>
              <a:t>、微库（</a:t>
            </a:r>
            <a:r>
              <a:rPr lang="en-US" altLang="zh-CN" dirty="0" smtClean="0"/>
              <a:t>µ</a:t>
            </a:r>
            <a:r>
              <a:rPr lang="en-US" altLang="zh-CN" dirty="0" smtClean="0">
                <a:solidFill>
                  <a:srgbClr val="000000"/>
                </a:solidFill>
              </a:rPr>
              <a:t>C</a:t>
            </a:r>
            <a:r>
              <a:rPr lang="zh-CN" altLang="en-US" dirty="0" smtClean="0">
                <a:solidFill>
                  <a:srgbClr val="000000"/>
                </a:solidFill>
              </a:rPr>
              <a:t>）、纳库（</a:t>
            </a:r>
            <a:r>
              <a:rPr lang="en-US" altLang="zh-CN" dirty="0" err="1" smtClean="0">
                <a:solidFill>
                  <a:srgbClr val="000000"/>
                </a:solidFill>
              </a:rPr>
              <a:t>nC</a:t>
            </a:r>
            <a:r>
              <a:rPr lang="zh-CN" altLang="en-US" dirty="0" smtClean="0">
                <a:solidFill>
                  <a:srgbClr val="000000"/>
                </a:solidFill>
              </a:rPr>
              <a:t>）、皮库（</a:t>
            </a:r>
            <a:r>
              <a:rPr lang="en-US" altLang="zh-CN" dirty="0" err="1" smtClean="0">
                <a:solidFill>
                  <a:srgbClr val="000000"/>
                </a:solidFill>
              </a:rPr>
              <a:t>pC</a:t>
            </a:r>
            <a:r>
              <a:rPr lang="zh-CN" altLang="en-US" dirty="0" smtClean="0">
                <a:solidFill>
                  <a:srgbClr val="000000"/>
                </a:solidFill>
              </a:rPr>
              <a:t>）</a:t>
            </a:r>
            <a:endParaRPr lang="en-US" altLang="zh-CN" dirty="0" smtClean="0">
              <a:solidFill>
                <a:srgbClr val="000000"/>
              </a:solidFill>
            </a:endParaRPr>
          </a:p>
          <a:p>
            <a:pPr marL="0" marR="0" indent="0" algn="l" defTabSz="1028700" rtl="0" fontAlgn="auto" latinLnBrk="1" hangingPunct="0">
              <a:lnSpc>
                <a:spcPct val="120000"/>
              </a:lnSpc>
              <a:spcBef>
                <a:spcPts val="1600"/>
              </a:spcBef>
              <a:spcAft>
                <a:spcPts val="0"/>
              </a:spcAft>
              <a:buClrTx/>
              <a:buSzTx/>
              <a:buFontTx/>
              <a:buNone/>
              <a:tabLst/>
            </a:pPr>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10</a:t>
            </a:r>
            <a:r>
              <a:rPr kumimoji="0" lang="en-US" altLang="zh-CN" sz="2400" b="0" i="0" u="none" strike="noStrike" cap="none" spc="0" normalizeH="0" baseline="30000" dirty="0" smtClean="0">
                <a:ln>
                  <a:noFill/>
                </a:ln>
                <a:solidFill>
                  <a:srgbClr val="000000"/>
                </a:solidFill>
                <a:effectLst/>
                <a:uFillTx/>
                <a:latin typeface="Times New Roman"/>
                <a:ea typeface="Times New Roman"/>
                <a:cs typeface="Times New Roman"/>
                <a:sym typeface="Times New Roman"/>
              </a:rPr>
              <a:t>-3</a:t>
            </a:r>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      	 	10</a:t>
            </a:r>
            <a:r>
              <a:rPr kumimoji="0" lang="en-US" altLang="zh-CN" sz="2400" b="0" i="0" u="none" strike="noStrike" cap="none" spc="0" normalizeH="0" baseline="30000" dirty="0" smtClean="0">
                <a:ln>
                  <a:noFill/>
                </a:ln>
                <a:solidFill>
                  <a:srgbClr val="000000"/>
                </a:solidFill>
                <a:effectLst/>
                <a:uFillTx/>
                <a:latin typeface="Times New Roman"/>
                <a:ea typeface="Times New Roman"/>
                <a:cs typeface="Times New Roman"/>
                <a:sym typeface="Times New Roman"/>
              </a:rPr>
              <a:t>-6</a:t>
            </a:r>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	           10</a:t>
            </a:r>
            <a:r>
              <a:rPr kumimoji="0" lang="en-US" altLang="zh-CN" sz="2400" b="0" i="0" u="none" strike="noStrike" cap="none" spc="0" normalizeH="0" baseline="30000" dirty="0" smtClean="0">
                <a:ln>
                  <a:noFill/>
                </a:ln>
                <a:solidFill>
                  <a:srgbClr val="000000"/>
                </a:solidFill>
                <a:effectLst/>
                <a:uFillTx/>
                <a:latin typeface="Times New Roman"/>
                <a:ea typeface="Times New Roman"/>
                <a:cs typeface="Times New Roman"/>
                <a:sym typeface="Times New Roman"/>
              </a:rPr>
              <a:t>-9</a:t>
            </a:r>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	               10</a:t>
            </a:r>
            <a:r>
              <a:rPr kumimoji="0" lang="en-US" altLang="zh-CN" sz="2400" b="0" i="0" u="none" strike="noStrike" cap="none" spc="0" normalizeH="0" baseline="30000" dirty="0" smtClean="0">
                <a:ln>
                  <a:noFill/>
                </a:ln>
                <a:solidFill>
                  <a:srgbClr val="000000"/>
                </a:solidFill>
                <a:effectLst/>
                <a:uFillTx/>
                <a:latin typeface="Times New Roman"/>
                <a:ea typeface="Times New Roman"/>
                <a:cs typeface="Times New Roman"/>
                <a:sym typeface="Times New Roman"/>
              </a:rPr>
              <a:t>-12</a:t>
            </a:r>
            <a:endParaRPr kumimoji="0" lang="zh-CN" altLang="en-US" sz="2400" b="0" i="0" u="none" strike="noStrike" cap="none" spc="0" normalizeH="0" baseline="30000" dirty="0">
              <a:ln>
                <a:noFill/>
              </a:ln>
              <a:solidFill>
                <a:srgbClr val="000000"/>
              </a:solidFill>
              <a:effectLst/>
              <a:uFillTx/>
              <a:latin typeface="Times New Roman"/>
              <a:ea typeface="Times New Roman"/>
              <a:cs typeface="Times New Roman"/>
              <a:sym typeface="Times New Roman"/>
            </a:endParaRPr>
          </a:p>
        </p:txBody>
      </p:sp>
      <p:sp>
        <p:nvSpPr>
          <p:cNvPr id="2" name="灯片编号占位符 1"/>
          <p:cNvSpPr>
            <a:spLocks noGrp="1"/>
          </p:cNvSpPr>
          <p:nvPr>
            <p:ph type="sldNum" sz="quarter" idx="2"/>
          </p:nvPr>
        </p:nvSpPr>
        <p:spPr/>
        <p:txBody>
          <a:bodyPr/>
          <a:lstStyle/>
          <a:p>
            <a:pPr lvl="0"/>
            <a:fld id="{86CB4B4D-7CA3-9044-876B-883B54F8677D}" type="slidenum">
              <a:rPr lang="en-US" altLang="zh-CN" smtClean="0"/>
              <a:pPr lvl="0"/>
              <a:t>7</a:t>
            </a:fld>
            <a:endParaRPr lang="en-US" altLang="zh-CN"/>
          </a:p>
        </p:txBody>
      </p:sp>
    </p:spTree>
    <p:extLst>
      <p:ext uri="{BB962C8B-B14F-4D97-AF65-F5344CB8AC3E}">
        <p14:creationId xmlns:p14="http://schemas.microsoft.com/office/powerpoint/2010/main" val="2971037944"/>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29600" cy="850107"/>
          </a:xfrm>
        </p:spPr>
        <p:txBody>
          <a:bodyPr/>
          <a:lstStyle/>
          <a:p>
            <a:r>
              <a:rPr lang="zh-CN" altLang="en-US" b="1" dirty="0" smtClean="0">
                <a:solidFill>
                  <a:srgbClr val="0000CC"/>
                </a:solidFill>
              </a:rPr>
              <a:t>检测题</a:t>
            </a:r>
            <a:r>
              <a:rPr lang="en-US" altLang="zh-CN" b="1" dirty="0" smtClean="0">
                <a:solidFill>
                  <a:srgbClr val="0000CC"/>
                </a:solidFill>
              </a:rPr>
              <a:t>16.1</a:t>
            </a:r>
            <a:endParaRPr lang="zh-CN" altLang="en-US" b="1" dirty="0">
              <a:solidFill>
                <a:srgbClr val="0000CC"/>
              </a:solidFill>
            </a:endParaRPr>
          </a:p>
        </p:txBody>
      </p:sp>
      <p:sp>
        <p:nvSpPr>
          <p:cNvPr id="3" name="文本占位符 2"/>
          <p:cNvSpPr>
            <a:spLocks noGrp="1"/>
          </p:cNvSpPr>
          <p:nvPr>
            <p:ph type="body" idx="1"/>
          </p:nvPr>
        </p:nvSpPr>
        <p:spPr>
          <a:xfrm>
            <a:off x="467544" y="836712"/>
            <a:ext cx="8280920" cy="3240360"/>
          </a:xfrm>
        </p:spPr>
        <p:txBody>
          <a:bodyPr/>
          <a:lstStyle/>
          <a:p>
            <a:pPr>
              <a:lnSpc>
                <a:spcPct val="150000"/>
              </a:lnSpc>
            </a:pPr>
            <a:r>
              <a:rPr lang="zh-CN" altLang="en-US" sz="3200" dirty="0" smtClean="0"/>
              <a:t>一根玻璃棒和一片丝绸都是电中性的，这时用丝绸摩擦玻璃棒。如果有</a:t>
            </a:r>
            <a:r>
              <a:rPr lang="en-US" altLang="zh-CN" sz="3200" dirty="0" smtClean="0"/>
              <a:t>4.0×10</a:t>
            </a:r>
            <a:r>
              <a:rPr lang="en-US" altLang="zh-CN" sz="3200" baseline="30000" dirty="0" smtClean="0"/>
              <a:t>9</a:t>
            </a:r>
            <a:r>
              <a:rPr lang="zh-CN" altLang="en-US" sz="3200" dirty="0" smtClean="0"/>
              <a:t>个电子从玻璃棒转移到丝绸上，但是离子并不发生转移，两个物体的净电荷为多少？</a:t>
            </a:r>
            <a:endParaRPr lang="zh-CN" altLang="en-US" sz="3200" dirty="0"/>
          </a:p>
        </p:txBody>
      </p:sp>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8</a:t>
            </a:fld>
            <a:endParaRPr lang="en-US" altLang="zh-CN"/>
          </a:p>
        </p:txBody>
      </p:sp>
    </p:spTree>
    <p:extLst>
      <p:ext uri="{BB962C8B-B14F-4D97-AF65-F5344CB8AC3E}">
        <p14:creationId xmlns:p14="http://schemas.microsoft.com/office/powerpoint/2010/main" val="3609988648"/>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620688"/>
            <a:ext cx="8229600" cy="5733256"/>
          </a:xfrm>
        </p:spPr>
        <p:txBody>
          <a:bodyPr/>
          <a:lstStyle/>
          <a:p>
            <a:pPr>
              <a:lnSpc>
                <a:spcPct val="150000"/>
              </a:lnSpc>
            </a:pPr>
            <a:r>
              <a:rPr lang="zh-CN" altLang="zh-CN" b="1" dirty="0"/>
              <a:t>例题：</a:t>
            </a:r>
            <a:r>
              <a:rPr lang="zh-CN" altLang="zh-CN" dirty="0"/>
              <a:t>秋冬季节，人脱衣服时，以及与人和金属接触时会被静电电击一下。通常这个过程传递电量是</a:t>
            </a:r>
            <a:r>
              <a:rPr lang="en-US" altLang="zh-CN" dirty="0"/>
              <a:t>1nC</a:t>
            </a:r>
            <a:r>
              <a:rPr lang="zh-CN" altLang="zh-CN" dirty="0"/>
              <a:t>。</a:t>
            </a:r>
            <a:r>
              <a:rPr lang="en-US" altLang="zh-CN" dirty="0"/>
              <a:t>(a)</a:t>
            </a:r>
            <a:r>
              <a:rPr lang="zh-CN" altLang="zh-CN" dirty="0"/>
              <a:t>如果电量只是传递电子，问传递了多少个电子？</a:t>
            </a:r>
            <a:r>
              <a:rPr lang="en-US" altLang="zh-CN" dirty="0"/>
              <a:t>(b)</a:t>
            </a:r>
            <a:r>
              <a:rPr lang="zh-CN" altLang="zh-CN" dirty="0"/>
              <a:t>如果身体上有净电荷</a:t>
            </a:r>
            <a:r>
              <a:rPr lang="en-US" altLang="zh-CN" dirty="0"/>
              <a:t>-1nC</a:t>
            </a:r>
            <a:r>
              <a:rPr lang="zh-CN" altLang="zh-CN" dirty="0"/>
              <a:t>，请</a:t>
            </a:r>
            <a:r>
              <a:rPr lang="zh-CN" altLang="zh-CN"/>
              <a:t>估计</a:t>
            </a:r>
            <a:r>
              <a:rPr lang="zh-CN" altLang="zh-CN" smtClean="0"/>
              <a:t>多余电子</a:t>
            </a:r>
            <a:r>
              <a:rPr lang="zh-CN" altLang="zh-CN" dirty="0"/>
              <a:t>的比例？假设质子和中子数相等</a:t>
            </a:r>
            <a:r>
              <a:rPr lang="zh-CN" altLang="zh-CN" dirty="0" smtClean="0"/>
              <a:t>。</a:t>
            </a:r>
            <a:endParaRPr lang="zh-CN" altLang="en-US" dirty="0"/>
          </a:p>
        </p:txBody>
      </p:sp>
      <p:sp>
        <p:nvSpPr>
          <p:cNvPr id="2" name="TextBox 1"/>
          <p:cNvSpPr txBox="1"/>
          <p:nvPr/>
        </p:nvSpPr>
        <p:spPr>
          <a:xfrm>
            <a:off x="1331640" y="5362899"/>
            <a:ext cx="1800200"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课本第</a:t>
            </a:r>
            <a:r>
              <a:rPr kumimoji="0" lang="en-US" altLang="zh-CN"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4</a:t>
            </a: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页</a:t>
            </a:r>
            <a:endParaRPr kumimoji="0" lang="zh-CN" altLang="en-US" sz="2400" b="1" i="0" u="none" strike="noStrike" cap="none" spc="0" normalizeH="0" baseline="0">
              <a:ln>
                <a:noFill/>
              </a:ln>
              <a:solidFill>
                <a:srgbClr val="000000"/>
              </a:solidFill>
              <a:effectLst/>
              <a:uFillTx/>
              <a:latin typeface="Times New Roman"/>
              <a:ea typeface="Times New Roman"/>
              <a:cs typeface="Times New Roman"/>
              <a:sym typeface="Times New Roman"/>
            </a:endParaRPr>
          </a:p>
        </p:txBody>
      </p:sp>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9</a:t>
            </a:fld>
            <a:endParaRPr lang="en-US" altLang="zh-CN"/>
          </a:p>
        </p:txBody>
      </p:sp>
    </p:spTree>
    <p:extLst>
      <p:ext uri="{BB962C8B-B14F-4D97-AF65-F5344CB8AC3E}">
        <p14:creationId xmlns:p14="http://schemas.microsoft.com/office/powerpoint/2010/main" val="4012899101"/>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04664"/>
            <a:ext cx="8352928" cy="1800200"/>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l">
              <a:lnSpc>
                <a:spcPct val="150000"/>
              </a:lnSpc>
            </a:pPr>
            <a:r>
              <a:rPr lang="zh-CN" altLang="en-US" sz="2800" b="1" dirty="0" smtClean="0"/>
              <a:t>二、极化：</a:t>
            </a:r>
            <a:r>
              <a:rPr lang="zh-CN" altLang="en-US" sz="2800" dirty="0" smtClean="0"/>
              <a:t>电中性的物体中有可能会存在相互隔开的区域，其中某些区域只包含正电荷，而其他的区域只包含负电荷。这样的物体就被称作极化了。</a:t>
            </a:r>
            <a:endParaRPr lang="zh-CN" altLang="en-US" sz="2800" dirty="0"/>
          </a:p>
        </p:txBody>
      </p:sp>
      <p:sp>
        <p:nvSpPr>
          <p:cNvPr id="3" name="内容占位符 2"/>
          <p:cNvSpPr>
            <a:spLocks noGrp="1"/>
          </p:cNvSpPr>
          <p:nvPr>
            <p:ph idx="1"/>
          </p:nvPr>
        </p:nvSpPr>
        <p:spPr>
          <a:xfrm>
            <a:off x="382279" y="2456892"/>
            <a:ext cx="8229600" cy="792088"/>
          </a:xfrm>
        </p:spPr>
        <p:txBody>
          <a:bodyPr>
            <a:normAutofit/>
          </a:bodyPr>
          <a:lstStyle/>
          <a:p>
            <a:r>
              <a:rPr lang="zh-CN" altLang="zh-CN" sz="2400" dirty="0" smtClean="0"/>
              <a:t>极化：电中性的物体中，正负电荷的中心不重合的现象。</a:t>
            </a:r>
            <a:endParaRPr lang="en-US" altLang="zh-CN" sz="2400" dirty="0" smtClean="0"/>
          </a:p>
        </p:txBody>
      </p:sp>
      <p:sp>
        <p:nvSpPr>
          <p:cNvPr id="4" name="灯片编号占位符 3"/>
          <p:cNvSpPr>
            <a:spLocks noGrp="1"/>
          </p:cNvSpPr>
          <p:nvPr>
            <p:ph type="sldNum" sz="quarter" idx="12"/>
          </p:nvPr>
        </p:nvSpPr>
        <p:spPr/>
        <p:txBody>
          <a:bodyPr/>
          <a:lstStyle/>
          <a:p>
            <a:pPr lvl="0"/>
            <a:fld id="{86CB4B4D-7CA3-9044-876B-883B54F8677D}" type="slidenum">
              <a:rPr lang="en-US" altLang="zh-CN" smtClean="0"/>
              <a:pPr lvl="0"/>
              <a:t>10</a:t>
            </a:fld>
            <a:endParaRPr lang="en-US" altLang="zh-CN"/>
          </a:p>
        </p:txBody>
      </p:sp>
      <p:sp>
        <p:nvSpPr>
          <p:cNvPr id="5" name="TextBox 4"/>
          <p:cNvSpPr txBox="1"/>
          <p:nvPr/>
        </p:nvSpPr>
        <p:spPr>
          <a:xfrm>
            <a:off x="812333" y="2852936"/>
            <a:ext cx="7776864" cy="27186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电介质是电阻率很大、导电能力很差的物质，其主要特征在于它的原子或分子中的电子与原子核的结合力很强，电子处于束缚状态。</a:t>
            </a:r>
            <a:endPar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endParaRPr>
          </a:p>
          <a:p>
            <a:pPr marL="0" marR="0" indent="0" algn="l" defTabSz="1028700" rtl="0" fontAlgn="auto" latinLnBrk="1" hangingPunct="0">
              <a:lnSpc>
                <a:spcPct val="120000"/>
              </a:lnSpc>
              <a:spcBef>
                <a:spcPts val="1600"/>
              </a:spcBef>
              <a:spcAft>
                <a:spcPts val="0"/>
              </a:spcAft>
              <a:buClrTx/>
              <a:buSzTx/>
              <a:buFontTx/>
              <a:buNone/>
              <a:tabLst/>
            </a:pPr>
            <a:r>
              <a:rPr lang="zh-CN" altLang="en-US" b="1" dirty="0" smtClean="0">
                <a:solidFill>
                  <a:srgbClr val="000000"/>
                </a:solidFill>
              </a:rPr>
              <a:t>对于均匀电介质，其极化电荷只集中在表面层里或在两种不同的界面层里。</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1326232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837" y="1124744"/>
            <a:ext cx="8064896" cy="3181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509120"/>
            <a:ext cx="4104456" cy="1897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a:spLocks/>
          </p:cNvSpPr>
          <p:nvPr/>
        </p:nvSpPr>
        <p:spPr>
          <a:xfrm>
            <a:off x="179512" y="404664"/>
            <a:ext cx="8622529" cy="1224136"/>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marL="342900" indent="-342900">
              <a:spcBef>
                <a:spcPts val="600"/>
              </a:spcBef>
              <a:buClr>
                <a:srgbClr val="0000FF"/>
              </a:buClr>
              <a:buSzPct val="65000"/>
              <a:buFont typeface="Wingdings"/>
              <a:buChar char="➢"/>
              <a:defRPr sz="2800">
                <a:latin typeface="SimHei"/>
                <a:ea typeface="SimHei"/>
                <a:cs typeface="SimHei"/>
                <a:sym typeface="SimHei"/>
              </a:defRPr>
            </a:lvl1pPr>
            <a:lvl2pPr marL="790575" indent="-333375">
              <a:spcBef>
                <a:spcPts val="600"/>
              </a:spcBef>
              <a:buClr>
                <a:srgbClr val="0000FF"/>
              </a:buClr>
              <a:buSzPct val="60000"/>
              <a:buFont typeface="Wingdings"/>
              <a:buChar char="➢"/>
              <a:defRPr sz="2800">
                <a:latin typeface="SimHei"/>
                <a:ea typeface="SimHei"/>
                <a:cs typeface="SimHei"/>
                <a:sym typeface="SimHei"/>
              </a:defRPr>
            </a:lvl2pPr>
            <a:lvl3pPr marL="1234439" indent="-320039">
              <a:spcBef>
                <a:spcPts val="600"/>
              </a:spcBef>
              <a:buClr>
                <a:srgbClr val="0000FF"/>
              </a:buClr>
              <a:buSzPct val="65000"/>
              <a:buFont typeface="Wingdings"/>
              <a:buChar char="➢"/>
              <a:defRPr sz="2800">
                <a:latin typeface="SimHei"/>
                <a:ea typeface="SimHei"/>
                <a:cs typeface="SimHei"/>
                <a:sym typeface="SimHei"/>
              </a:defRPr>
            </a:lvl3pPr>
            <a:lvl4pPr marL="1466215" indent="-442278">
              <a:spcBef>
                <a:spcPts val="600"/>
              </a:spcBef>
              <a:buClr>
                <a:srgbClr val="0000FF"/>
              </a:buClr>
              <a:buSzPct val="70000"/>
              <a:buFont typeface="Wingdings"/>
              <a:buChar char="❑"/>
              <a:defRPr sz="2800">
                <a:latin typeface="SimHei"/>
                <a:ea typeface="SimHei"/>
                <a:cs typeface="SimHei"/>
                <a:sym typeface="SimHei"/>
              </a:defRPr>
            </a:lvl4pPr>
            <a:lvl5pPr marL="1817053" indent="-475614">
              <a:spcBef>
                <a:spcPts val="600"/>
              </a:spcBef>
              <a:buClr>
                <a:srgbClr val="0000FF"/>
              </a:buClr>
              <a:buSzPct val="75000"/>
              <a:buFont typeface="Wingdings"/>
              <a:buChar char="▪"/>
              <a:defRPr sz="2800">
                <a:latin typeface="SimHei"/>
                <a:ea typeface="SimHei"/>
                <a:cs typeface="SimHei"/>
                <a:sym typeface="SimHei"/>
              </a:defRPr>
            </a:lvl5pPr>
            <a:lvl6pPr marL="2274253" indent="-475614">
              <a:spcBef>
                <a:spcPts val="600"/>
              </a:spcBef>
              <a:buClr>
                <a:srgbClr val="0000FF"/>
              </a:buClr>
              <a:buSzPct val="75000"/>
              <a:buFont typeface="Wingdings"/>
              <a:buChar char="▪"/>
              <a:defRPr sz="2800">
                <a:latin typeface="SimHei"/>
                <a:ea typeface="SimHei"/>
                <a:cs typeface="SimHei"/>
                <a:sym typeface="SimHei"/>
              </a:defRPr>
            </a:lvl6pPr>
            <a:lvl7pPr marL="2731453" indent="-475614">
              <a:spcBef>
                <a:spcPts val="600"/>
              </a:spcBef>
              <a:buClr>
                <a:srgbClr val="0000FF"/>
              </a:buClr>
              <a:buSzPct val="75000"/>
              <a:buFont typeface="Wingdings"/>
              <a:buChar char="▪"/>
              <a:defRPr sz="2800">
                <a:latin typeface="SimHei"/>
                <a:ea typeface="SimHei"/>
                <a:cs typeface="SimHei"/>
                <a:sym typeface="SimHei"/>
              </a:defRPr>
            </a:lvl7pPr>
            <a:lvl8pPr marL="3188653" indent="-475614">
              <a:spcBef>
                <a:spcPts val="600"/>
              </a:spcBef>
              <a:buClr>
                <a:srgbClr val="0000FF"/>
              </a:buClr>
              <a:buSzPct val="75000"/>
              <a:buFont typeface="Wingdings"/>
              <a:buChar char="▪"/>
              <a:defRPr sz="2800">
                <a:latin typeface="SimHei"/>
                <a:ea typeface="SimHei"/>
                <a:cs typeface="SimHei"/>
                <a:sym typeface="SimHei"/>
              </a:defRPr>
            </a:lvl8pPr>
            <a:lvl9pPr marL="3645853" indent="-475615">
              <a:spcBef>
                <a:spcPts val="600"/>
              </a:spcBef>
              <a:buClr>
                <a:srgbClr val="0000FF"/>
              </a:buClr>
              <a:buSzPct val="75000"/>
              <a:buFont typeface="Wingdings"/>
              <a:buChar char="▪"/>
              <a:defRPr sz="2800">
                <a:latin typeface="SimHei"/>
                <a:ea typeface="SimHei"/>
                <a:cs typeface="SimHei"/>
                <a:sym typeface="SimHei"/>
              </a:defRPr>
            </a:lvl9pPr>
          </a:lstStyle>
          <a:p>
            <a:r>
              <a:rPr lang="zh-CN" altLang="en-US" sz="2400" dirty="0" smtClean="0"/>
              <a:t>一个被极化的物体净电量依然为零，但它可以受到电力作用。</a:t>
            </a:r>
            <a:endParaRPr lang="en-US" altLang="zh-CN" sz="2400" dirty="0" smtClean="0"/>
          </a:p>
        </p:txBody>
      </p:sp>
      <p:sp>
        <p:nvSpPr>
          <p:cNvPr id="2" name="灯片编号占位符 1"/>
          <p:cNvSpPr>
            <a:spLocks noGrp="1"/>
          </p:cNvSpPr>
          <p:nvPr>
            <p:ph type="sldNum" sz="quarter" idx="2"/>
          </p:nvPr>
        </p:nvSpPr>
        <p:spPr/>
        <p:txBody>
          <a:bodyPr/>
          <a:lstStyle/>
          <a:p>
            <a:pPr lvl="0"/>
            <a:fld id="{86CB4B4D-7CA3-9044-876B-883B54F8677D}" type="slidenum">
              <a:rPr lang="en-US" altLang="zh-CN" smtClean="0"/>
              <a:pPr lvl="0"/>
              <a:t>11</a:t>
            </a:fld>
            <a:endParaRPr lang="en-US" altLang="zh-CN"/>
          </a:p>
        </p:txBody>
      </p:sp>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9209" y="4509120"/>
            <a:ext cx="2207982" cy="176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812360" y="4837061"/>
            <a:ext cx="1205705" cy="66684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000" b="1" i="0" u="none" strike="noStrike" cap="none" spc="0" normalizeH="0" baseline="0" dirty="0" smtClean="0">
                <a:ln>
                  <a:noFill/>
                </a:ln>
                <a:solidFill>
                  <a:srgbClr val="000000"/>
                </a:solidFill>
                <a:effectLst/>
                <a:uFillTx/>
                <a:sym typeface="Times New Roman"/>
              </a:rPr>
              <a:t>有极分子</a:t>
            </a:r>
            <a:endParaRPr kumimoji="0" lang="en-US" altLang="zh-CN" sz="2000" b="1" i="0" u="none" strike="noStrike" cap="none" spc="0" normalizeH="0" baseline="0" dirty="0" smtClean="0">
              <a:ln>
                <a:noFill/>
              </a:ln>
              <a:solidFill>
                <a:srgbClr val="000000"/>
              </a:solidFill>
              <a:effectLst/>
              <a:uFillTx/>
              <a:sym typeface="Times New Roman"/>
            </a:endParaRPr>
          </a:p>
        </p:txBody>
      </p:sp>
    </p:spTree>
    <p:extLst>
      <p:ext uri="{BB962C8B-B14F-4D97-AF65-F5344CB8AC3E}">
        <p14:creationId xmlns:p14="http://schemas.microsoft.com/office/powerpoint/2010/main" val="692355932"/>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356068" y="659160"/>
            <a:ext cx="8229600" cy="1584176"/>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marL="342900" indent="-342900">
              <a:spcBef>
                <a:spcPts val="600"/>
              </a:spcBef>
              <a:buClr>
                <a:srgbClr val="0000FF"/>
              </a:buClr>
              <a:buSzPct val="65000"/>
              <a:buFont typeface="Wingdings"/>
              <a:buChar char="➢"/>
              <a:defRPr sz="2800">
                <a:latin typeface="SimHei"/>
                <a:ea typeface="SimHei"/>
                <a:cs typeface="SimHei"/>
                <a:sym typeface="SimHei"/>
              </a:defRPr>
            </a:lvl1pPr>
            <a:lvl2pPr marL="790575" indent="-333375">
              <a:spcBef>
                <a:spcPts val="600"/>
              </a:spcBef>
              <a:buClr>
                <a:srgbClr val="0000FF"/>
              </a:buClr>
              <a:buSzPct val="60000"/>
              <a:buFont typeface="Wingdings"/>
              <a:buChar char="➢"/>
              <a:defRPr sz="2800">
                <a:latin typeface="SimHei"/>
                <a:ea typeface="SimHei"/>
                <a:cs typeface="SimHei"/>
                <a:sym typeface="SimHei"/>
              </a:defRPr>
            </a:lvl2pPr>
            <a:lvl3pPr marL="1234439" indent="-320039">
              <a:spcBef>
                <a:spcPts val="600"/>
              </a:spcBef>
              <a:buClr>
                <a:srgbClr val="0000FF"/>
              </a:buClr>
              <a:buSzPct val="65000"/>
              <a:buFont typeface="Wingdings"/>
              <a:buChar char="➢"/>
              <a:defRPr sz="2800">
                <a:latin typeface="SimHei"/>
                <a:ea typeface="SimHei"/>
                <a:cs typeface="SimHei"/>
                <a:sym typeface="SimHei"/>
              </a:defRPr>
            </a:lvl3pPr>
            <a:lvl4pPr marL="1466215" indent="-442278">
              <a:spcBef>
                <a:spcPts val="600"/>
              </a:spcBef>
              <a:buClr>
                <a:srgbClr val="0000FF"/>
              </a:buClr>
              <a:buSzPct val="70000"/>
              <a:buFont typeface="Wingdings"/>
              <a:buChar char="❑"/>
              <a:defRPr sz="2800">
                <a:latin typeface="SimHei"/>
                <a:ea typeface="SimHei"/>
                <a:cs typeface="SimHei"/>
                <a:sym typeface="SimHei"/>
              </a:defRPr>
            </a:lvl4pPr>
            <a:lvl5pPr marL="1817053" indent="-475614">
              <a:spcBef>
                <a:spcPts val="600"/>
              </a:spcBef>
              <a:buClr>
                <a:srgbClr val="0000FF"/>
              </a:buClr>
              <a:buSzPct val="75000"/>
              <a:buFont typeface="Wingdings"/>
              <a:buChar char="▪"/>
              <a:defRPr sz="2800">
                <a:latin typeface="SimHei"/>
                <a:ea typeface="SimHei"/>
                <a:cs typeface="SimHei"/>
                <a:sym typeface="SimHei"/>
              </a:defRPr>
            </a:lvl5pPr>
            <a:lvl6pPr marL="2274253" indent="-475614">
              <a:spcBef>
                <a:spcPts val="600"/>
              </a:spcBef>
              <a:buClr>
                <a:srgbClr val="0000FF"/>
              </a:buClr>
              <a:buSzPct val="75000"/>
              <a:buFont typeface="Wingdings"/>
              <a:buChar char="▪"/>
              <a:defRPr sz="2800">
                <a:latin typeface="SimHei"/>
                <a:ea typeface="SimHei"/>
                <a:cs typeface="SimHei"/>
                <a:sym typeface="SimHei"/>
              </a:defRPr>
            </a:lvl6pPr>
            <a:lvl7pPr marL="2731453" indent="-475614">
              <a:spcBef>
                <a:spcPts val="600"/>
              </a:spcBef>
              <a:buClr>
                <a:srgbClr val="0000FF"/>
              </a:buClr>
              <a:buSzPct val="75000"/>
              <a:buFont typeface="Wingdings"/>
              <a:buChar char="▪"/>
              <a:defRPr sz="2800">
                <a:latin typeface="SimHei"/>
                <a:ea typeface="SimHei"/>
                <a:cs typeface="SimHei"/>
                <a:sym typeface="SimHei"/>
              </a:defRPr>
            </a:lvl7pPr>
            <a:lvl8pPr marL="3188653" indent="-475614">
              <a:spcBef>
                <a:spcPts val="600"/>
              </a:spcBef>
              <a:buClr>
                <a:srgbClr val="0000FF"/>
              </a:buClr>
              <a:buSzPct val="75000"/>
              <a:buFont typeface="Wingdings"/>
              <a:buChar char="▪"/>
              <a:defRPr sz="2800">
                <a:latin typeface="SimHei"/>
                <a:ea typeface="SimHei"/>
                <a:cs typeface="SimHei"/>
                <a:sym typeface="SimHei"/>
              </a:defRPr>
            </a:lvl8pPr>
            <a:lvl9pPr marL="3645853" indent="-475615">
              <a:spcBef>
                <a:spcPts val="600"/>
              </a:spcBef>
              <a:buClr>
                <a:srgbClr val="0000FF"/>
              </a:buClr>
              <a:buSzPct val="75000"/>
              <a:buFont typeface="Wingdings"/>
              <a:buChar char="▪"/>
              <a:defRPr sz="2800">
                <a:latin typeface="SimHei"/>
                <a:ea typeface="SimHei"/>
                <a:cs typeface="SimHei"/>
                <a:sym typeface="SimHei"/>
              </a:defRPr>
            </a:lvl9pPr>
          </a:lstStyle>
          <a:p>
            <a:r>
              <a:rPr lang="zh-CN" altLang="en-US" sz="2400" dirty="0" smtClean="0"/>
              <a:t>水中氢键使得水具有许多非同寻常的重要性质。（水的极化现象，水分子中的正电荷中心和负电荷中不重合，氧原子区域的净电荷为负，氢原子区域的净电荷为正）</a:t>
            </a:r>
            <a:endParaRPr lang="en-US" altLang="zh-CN" sz="2400" dirty="0" smtClean="0"/>
          </a:p>
        </p:txBody>
      </p:sp>
      <p:pic>
        <p:nvPicPr>
          <p:cNvPr id="5" name="Picture 2" descr="https://timgsa.baidu.com/timg?image&amp;quality=80&amp;size=b9999_10000&amp;sec=1551087550634&amp;di=c21ac0ba2e24ac6420add505545ad31f&amp;imgtype=0&amp;src=http%3A%2F%2Fp4.qhmsg.com%2Ft0109650dea38d461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43" y="2132856"/>
            <a:ext cx="3513315" cy="31801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s://timgsa.baidu.com/timg?image&amp;quality=80&amp;size=b9999_10000&amp;sec=1551087857652&amp;di=6b30c52edd77b24d05c95249d0034e68&amp;imgtype=0&amp;src=http%3A%2F%2Fwww.med66.com%2Fupload%2Fnews%2F2007%2F8%2F14%2Fzhangf329120078141147404907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2131653"/>
            <a:ext cx="3333750" cy="3688911"/>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2"/>
          </p:nvPr>
        </p:nvSpPr>
        <p:spPr/>
        <p:txBody>
          <a:bodyPr/>
          <a:lstStyle/>
          <a:p>
            <a:pPr lvl="0"/>
            <a:fld id="{86CB4B4D-7CA3-9044-876B-883B54F8677D}" type="slidenum">
              <a:rPr lang="en-US" altLang="zh-CN" smtClean="0"/>
              <a:pPr lvl="0"/>
              <a:t>12</a:t>
            </a:fld>
            <a:endParaRPr lang="en-US" altLang="zh-CN"/>
          </a:p>
        </p:txBody>
      </p:sp>
    </p:spTree>
    <p:extLst>
      <p:ext uri="{BB962C8B-B14F-4D97-AF65-F5344CB8AC3E}">
        <p14:creationId xmlns:p14="http://schemas.microsoft.com/office/powerpoint/2010/main" val="653845406"/>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35696" y="0"/>
            <a:ext cx="5616624" cy="9623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静电力产生</a:t>
            </a:r>
            <a:r>
              <a:rPr kumimoji="0" lang="en-US" altLang="zh-CN" sz="36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DNA</a:t>
            </a:r>
            <a:r>
              <a:rPr kumimoji="0" lang="zh-CN" altLang="en-US" sz="36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的螺旋结构</a:t>
            </a:r>
            <a:endParaRPr kumimoji="0" lang="zh-CN" altLang="en-US" sz="3600" b="1"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870" y="1124743"/>
            <a:ext cx="7788275" cy="532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2"/>
          </p:nvPr>
        </p:nvSpPr>
        <p:spPr/>
        <p:txBody>
          <a:bodyPr/>
          <a:lstStyle/>
          <a:p>
            <a:pPr lvl="0"/>
            <a:fld id="{86CB4B4D-7CA3-9044-876B-883B54F8677D}" type="slidenum">
              <a:rPr lang="en-US" altLang="zh-CN" smtClean="0"/>
              <a:pPr lvl="0"/>
              <a:t>13</a:t>
            </a:fld>
            <a:endParaRPr lang="en-US" altLang="zh-CN"/>
          </a:p>
        </p:txBody>
      </p:sp>
    </p:spTree>
    <p:extLst>
      <p:ext uri="{BB962C8B-B14F-4D97-AF65-F5344CB8AC3E}">
        <p14:creationId xmlns:p14="http://schemas.microsoft.com/office/powerpoint/2010/main" val="2922022915"/>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0" y="836712"/>
            <a:ext cx="8908175"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370802" y="5445224"/>
            <a:ext cx="2193086"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课本第</a:t>
            </a:r>
            <a:r>
              <a:rPr kumimoji="0" lang="en-US" altLang="zh-CN"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6</a:t>
            </a: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页</a:t>
            </a:r>
            <a:endParaRPr kumimoji="0" lang="zh-CN" altLang="en-US" sz="2400" b="1" i="0" u="none" strike="noStrike" cap="none" spc="0" normalizeH="0" baseline="0">
              <a:ln>
                <a:noFill/>
              </a:ln>
              <a:solidFill>
                <a:srgbClr val="000000"/>
              </a:solidFill>
              <a:effectLst/>
              <a:uFillTx/>
              <a:latin typeface="Times New Roman"/>
              <a:ea typeface="Times New Roman"/>
              <a:cs typeface="Times New Roman"/>
              <a:sym typeface="Times New Roman"/>
            </a:endParaRPr>
          </a:p>
        </p:txBody>
      </p:sp>
      <p:sp>
        <p:nvSpPr>
          <p:cNvPr id="5" name="灯片编号占位符 4"/>
          <p:cNvSpPr>
            <a:spLocks noGrp="1"/>
          </p:cNvSpPr>
          <p:nvPr>
            <p:ph type="sldNum" sz="quarter" idx="2"/>
          </p:nvPr>
        </p:nvSpPr>
        <p:spPr/>
        <p:txBody>
          <a:bodyPr/>
          <a:lstStyle/>
          <a:p>
            <a:pPr lvl="0"/>
            <a:fld id="{86CB4B4D-7CA3-9044-876B-883B54F8677D}" type="slidenum">
              <a:rPr lang="en-US" altLang="zh-CN" smtClean="0"/>
              <a:pPr lvl="0"/>
              <a:t>14</a:t>
            </a:fld>
            <a:endParaRPr lang="en-US" altLang="zh-CN"/>
          </a:p>
        </p:txBody>
      </p:sp>
    </p:spTree>
    <p:extLst>
      <p:ext uri="{BB962C8B-B14F-4D97-AF65-F5344CB8AC3E}">
        <p14:creationId xmlns:p14="http://schemas.microsoft.com/office/powerpoint/2010/main" val="3512448283"/>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26568" y="4653136"/>
            <a:ext cx="8737920" cy="1635610"/>
          </a:xfrm>
        </p:spPr>
        <p:txBody>
          <a:bodyPr/>
          <a:lstStyle/>
          <a:p>
            <a:r>
              <a:rPr lang="zh-CN" altLang="en-US" sz="2400" dirty="0" smtClean="0"/>
              <a:t>阳离子之间的静电斥力，使它们保持一定的距离，以防止结构塌缩；而游离在阳离子周围的电子形成弥散的电子海，并通过静电吸力来拉拢这些阳离子，以防止结构崩溃。维系这种结构的主要力就是库仑力。</a:t>
            </a:r>
            <a:endParaRPr lang="zh-CN" altLang="en-US" sz="2400" dirty="0"/>
          </a:p>
        </p:txBody>
      </p:sp>
      <p:sp>
        <p:nvSpPr>
          <p:cNvPr id="2" name="TextBox 1"/>
          <p:cNvSpPr txBox="1"/>
          <p:nvPr/>
        </p:nvSpPr>
        <p:spPr>
          <a:xfrm>
            <a:off x="0" y="260648"/>
            <a:ext cx="8964488" cy="81458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1028700" rtl="0" fontAlgn="auto" latinLnBrk="1" hangingPunct="0">
              <a:lnSpc>
                <a:spcPct val="120000"/>
              </a:lnSpc>
              <a:spcBef>
                <a:spcPts val="1600"/>
              </a:spcBef>
              <a:spcAft>
                <a:spcPts val="0"/>
              </a:spcAft>
              <a:buClrTx/>
              <a:buSzTx/>
              <a:buFontTx/>
              <a:buNone/>
              <a:tabLst/>
            </a:pPr>
            <a:r>
              <a:rPr kumimoji="0" lang="zh-CN" altLang="en-US" sz="28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自由电子及排列成晶格状的金属阳离子之间的静电吸引</a:t>
            </a:r>
            <a:endParaRPr kumimoji="0" lang="zh-CN" altLang="en-US" sz="2800" b="1"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3" y="1050460"/>
            <a:ext cx="3168351" cy="334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995936" y="1165920"/>
            <a:ext cx="4741476" cy="319471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rtl="0" latinLnBrk="1" hangingPunct="0">
              <a:spcBef>
                <a:spcPts val="0"/>
              </a:spcBef>
            </a:pPr>
            <a:r>
              <a:rPr lang="zh-CN" altLang="en-US" dirty="0">
                <a:latin typeface="黑体" pitchFamily="49" charset="-122"/>
                <a:ea typeface="黑体" pitchFamily="49" charset="-122"/>
              </a:rPr>
              <a:t>引入：在金属中，价电子为整个晶体所共有，价电子可在晶体中移动，而金属离子则被束缚于晶格位置上，但总的电子密度和离子密度是相同的，从整体来说金属是电中性的。人们把这种情况形象地称为“金属离子浸没于电子的海洋中”</a:t>
            </a:r>
            <a:endParaRPr kumimoji="0" lang="zh-CN" altLang="en-US" sz="2400" b="0"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sp>
        <p:nvSpPr>
          <p:cNvPr id="6" name="TextBox 5"/>
          <p:cNvSpPr txBox="1"/>
          <p:nvPr/>
        </p:nvSpPr>
        <p:spPr>
          <a:xfrm>
            <a:off x="114267" y="0"/>
            <a:ext cx="3456384" cy="5355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kumimoji="0" lang="en-US" altLang="zh-CN"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16.2   </a:t>
            </a: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导体与绝缘体</a:t>
            </a:r>
            <a:endParaRPr kumimoji="0" lang="zh-CN" altLang="en-US" sz="2400" b="1" i="0" u="none" strike="noStrike" cap="none" spc="0" normalizeH="0" baseline="0">
              <a:ln>
                <a:noFill/>
              </a:ln>
              <a:solidFill>
                <a:srgbClr val="000000"/>
              </a:solidFill>
              <a:effectLst/>
              <a:uFillTx/>
              <a:latin typeface="Times New Roman"/>
              <a:ea typeface="Times New Roman"/>
              <a:cs typeface="Times New Roman"/>
              <a:sym typeface="Times New Roman"/>
            </a:endParaRPr>
          </a:p>
        </p:txBody>
      </p:sp>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15</a:t>
            </a:fld>
            <a:endParaRPr lang="en-US" altLang="zh-CN"/>
          </a:p>
        </p:txBody>
      </p:sp>
    </p:spTree>
    <p:extLst>
      <p:ext uri="{BB962C8B-B14F-4D97-AF65-F5344CB8AC3E}">
        <p14:creationId xmlns:p14="http://schemas.microsoft.com/office/powerpoint/2010/main" val="2839162697"/>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29600" cy="850107"/>
          </a:xfrm>
        </p:spPr>
        <p:txBody>
          <a:bodyPr/>
          <a:lstStyle/>
          <a:p>
            <a:r>
              <a:rPr lang="en-US" altLang="zh-CN" b="1" smtClean="0"/>
              <a:t>16.2 </a:t>
            </a:r>
            <a:r>
              <a:rPr lang="zh-CN" altLang="zh-CN" b="1" smtClean="0"/>
              <a:t>导体</a:t>
            </a:r>
            <a:r>
              <a:rPr lang="zh-CN" altLang="zh-CN" b="1"/>
              <a:t>与绝缘体</a:t>
            </a:r>
            <a:endParaRPr lang="zh-CN" altLang="en-US"/>
          </a:p>
        </p:txBody>
      </p:sp>
      <p:sp>
        <p:nvSpPr>
          <p:cNvPr id="3" name="文本占位符 2"/>
          <p:cNvSpPr>
            <a:spLocks noGrp="1"/>
          </p:cNvSpPr>
          <p:nvPr>
            <p:ph type="body" idx="1"/>
          </p:nvPr>
        </p:nvSpPr>
        <p:spPr>
          <a:xfrm>
            <a:off x="107504" y="1052736"/>
            <a:ext cx="8928992" cy="4680520"/>
          </a:xfrm>
        </p:spPr>
        <p:txBody>
          <a:bodyPr/>
          <a:lstStyle/>
          <a:p>
            <a:pPr>
              <a:lnSpc>
                <a:spcPct val="150000"/>
              </a:lnSpc>
            </a:pPr>
            <a:r>
              <a:rPr lang="zh-CN" altLang="en-US" sz="3200" dirty="0" smtClean="0">
                <a:solidFill>
                  <a:srgbClr val="FF0000"/>
                </a:solidFill>
              </a:rPr>
              <a:t>导体</a:t>
            </a:r>
            <a:r>
              <a:rPr lang="en-US" altLang="zh-CN" sz="3200" dirty="0"/>
              <a:t>(conductor)</a:t>
            </a:r>
            <a:r>
              <a:rPr lang="zh-CN" altLang="en-US" sz="3200" dirty="0"/>
              <a:t>：电荷容易在其中移动的材料 </a:t>
            </a:r>
            <a:r>
              <a:rPr lang="en-US" altLang="zh-CN" sz="3200" dirty="0"/>
              <a:t>, </a:t>
            </a:r>
            <a:r>
              <a:rPr lang="zh-CN" altLang="en-US" sz="3200" dirty="0"/>
              <a:t>如金属</a:t>
            </a:r>
            <a:r>
              <a:rPr lang="en-US" altLang="zh-CN" sz="3200" dirty="0"/>
              <a:t>Au</a:t>
            </a:r>
            <a:r>
              <a:rPr lang="zh-CN" altLang="en-US" sz="3200" dirty="0"/>
              <a:t>、</a:t>
            </a:r>
            <a:r>
              <a:rPr lang="en-US" altLang="zh-CN" sz="3200" dirty="0"/>
              <a:t>Ag</a:t>
            </a:r>
            <a:r>
              <a:rPr lang="zh-CN" altLang="en-US" sz="3200" dirty="0"/>
              <a:t>、</a:t>
            </a:r>
            <a:r>
              <a:rPr lang="en-US" altLang="zh-CN" sz="3200" dirty="0"/>
              <a:t>Cu</a:t>
            </a:r>
            <a:r>
              <a:rPr lang="zh-CN" altLang="en-US" sz="3200" dirty="0"/>
              <a:t>；自来水等。 </a:t>
            </a:r>
          </a:p>
          <a:p>
            <a:pPr>
              <a:lnSpc>
                <a:spcPct val="150000"/>
              </a:lnSpc>
            </a:pPr>
            <a:r>
              <a:rPr lang="zh-CN" altLang="en-US" sz="3200" dirty="0">
                <a:solidFill>
                  <a:srgbClr val="FF0000"/>
                </a:solidFill>
              </a:rPr>
              <a:t>绝缘体</a:t>
            </a:r>
            <a:r>
              <a:rPr lang="en-US" altLang="zh-CN" sz="3200" dirty="0"/>
              <a:t>(insulator)</a:t>
            </a:r>
            <a:r>
              <a:rPr lang="zh-CN" altLang="en-US" sz="3200" dirty="0"/>
              <a:t>：电荷很难在其中移动的材料</a:t>
            </a:r>
            <a:r>
              <a:rPr lang="en-US" altLang="zh-CN" sz="3200" dirty="0"/>
              <a:t>, </a:t>
            </a:r>
            <a:r>
              <a:rPr lang="zh-CN" altLang="en-US" sz="3200" dirty="0" smtClean="0"/>
              <a:t>如玻璃、塑料、空气、纯水、纯</a:t>
            </a:r>
            <a:r>
              <a:rPr lang="zh-CN" altLang="en-US" sz="3200" dirty="0"/>
              <a:t>单晶硅</a:t>
            </a:r>
            <a:r>
              <a:rPr lang="en-US" altLang="zh-CN" sz="3200" dirty="0"/>
              <a:t>Si</a:t>
            </a:r>
          </a:p>
          <a:p>
            <a:pPr>
              <a:lnSpc>
                <a:spcPct val="150000"/>
              </a:lnSpc>
            </a:pPr>
            <a:r>
              <a:rPr lang="zh-CN" altLang="en-US" sz="3200" dirty="0">
                <a:solidFill>
                  <a:srgbClr val="FF0000"/>
                </a:solidFill>
              </a:rPr>
              <a:t>半导体</a:t>
            </a:r>
            <a:r>
              <a:rPr lang="en-US" altLang="zh-CN" sz="3200" dirty="0"/>
              <a:t>(semiconductor)</a:t>
            </a:r>
            <a:r>
              <a:rPr lang="zh-CN" altLang="en-US" sz="3200" dirty="0"/>
              <a:t>：介于导体和绝缘体之间的材料。如掺杂的</a:t>
            </a:r>
            <a:r>
              <a:rPr lang="zh-CN" altLang="en-US" sz="3200" dirty="0" smtClean="0"/>
              <a:t>单晶硅</a:t>
            </a:r>
            <a:endParaRPr lang="zh-CN" altLang="en-US" sz="3200" dirty="0"/>
          </a:p>
          <a:p>
            <a:endParaRPr lang="zh-CN" altLang="en-US" dirty="0"/>
          </a:p>
        </p:txBody>
      </p:sp>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16</a:t>
            </a:fld>
            <a:endParaRPr lang="en-US" altLang="zh-CN"/>
          </a:p>
        </p:txBody>
      </p:sp>
    </p:spTree>
    <p:extLst>
      <p:ext uri="{BB962C8B-B14F-4D97-AF65-F5344CB8AC3E}">
        <p14:creationId xmlns:p14="http://schemas.microsoft.com/office/powerpoint/2010/main" val="2073334523"/>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403648" y="1124744"/>
            <a:ext cx="7067128" cy="3456384"/>
          </a:xfrm>
        </p:spPr>
        <p:txBody>
          <a:bodyPr/>
          <a:lstStyle/>
          <a:p>
            <a:pPr>
              <a:lnSpc>
                <a:spcPct val="150000"/>
              </a:lnSpc>
            </a:pPr>
            <a:r>
              <a:rPr lang="zh-CN" altLang="en-US" sz="3600" b="1" dirty="0" smtClean="0"/>
              <a:t>通过摩擦使</a:t>
            </a:r>
            <a:r>
              <a:rPr lang="zh-CN" altLang="en-US" sz="3600" b="1" dirty="0" smtClean="0">
                <a:solidFill>
                  <a:srgbClr val="FF0000"/>
                </a:solidFill>
              </a:rPr>
              <a:t>绝缘体</a:t>
            </a:r>
            <a:r>
              <a:rPr lang="zh-CN" altLang="en-US" sz="3600" b="1" dirty="0" smtClean="0"/>
              <a:t>带电</a:t>
            </a:r>
            <a:endParaRPr lang="en-US" altLang="zh-CN" sz="3600" b="1" dirty="0" smtClean="0"/>
          </a:p>
          <a:p>
            <a:pPr>
              <a:lnSpc>
                <a:spcPct val="150000"/>
              </a:lnSpc>
            </a:pPr>
            <a:r>
              <a:rPr lang="zh-CN" altLang="en-US" sz="3600" b="1" dirty="0" smtClean="0"/>
              <a:t>通过接触使导体带电</a:t>
            </a:r>
            <a:endParaRPr lang="en-US" altLang="zh-CN" sz="3600" b="1" dirty="0" smtClean="0"/>
          </a:p>
          <a:p>
            <a:pPr lvl="1">
              <a:lnSpc>
                <a:spcPct val="150000"/>
              </a:lnSpc>
            </a:pPr>
            <a:r>
              <a:rPr lang="zh-CN" altLang="en-US" b="1" dirty="0"/>
              <a:t>使</a:t>
            </a:r>
            <a:r>
              <a:rPr lang="zh-CN" altLang="en-US" b="1" dirty="0" smtClean="0"/>
              <a:t>导体接地：导体放电</a:t>
            </a:r>
            <a:endParaRPr lang="en-US" altLang="zh-CN" b="1" dirty="0" smtClean="0"/>
          </a:p>
          <a:p>
            <a:pPr>
              <a:lnSpc>
                <a:spcPct val="150000"/>
              </a:lnSpc>
            </a:pPr>
            <a:r>
              <a:rPr lang="zh-CN" altLang="en-US" sz="3600" b="1" dirty="0" smtClean="0"/>
              <a:t>通过感应使导体带电</a:t>
            </a:r>
            <a:endParaRPr lang="zh-CN" altLang="en-US" sz="3600" b="1" dirty="0"/>
          </a:p>
        </p:txBody>
      </p:sp>
      <p:sp>
        <p:nvSpPr>
          <p:cNvPr id="2" name="灯片编号占位符 1"/>
          <p:cNvSpPr>
            <a:spLocks noGrp="1"/>
          </p:cNvSpPr>
          <p:nvPr>
            <p:ph type="sldNum" sz="quarter" idx="2"/>
          </p:nvPr>
        </p:nvSpPr>
        <p:spPr/>
        <p:txBody>
          <a:bodyPr/>
          <a:lstStyle/>
          <a:p>
            <a:pPr lvl="0"/>
            <a:fld id="{86CB4B4D-7CA3-9044-876B-883B54F8677D}" type="slidenum">
              <a:rPr lang="en-US" altLang="zh-CN" smtClean="0"/>
              <a:pPr lvl="0"/>
              <a:t>17</a:t>
            </a:fld>
            <a:endParaRPr lang="en-US" altLang="zh-CN"/>
          </a:p>
        </p:txBody>
      </p:sp>
    </p:spTree>
    <p:extLst>
      <p:ext uri="{BB962C8B-B14F-4D97-AF65-F5344CB8AC3E}">
        <p14:creationId xmlns:p14="http://schemas.microsoft.com/office/powerpoint/2010/main" val="1165018516"/>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18</a:t>
            </a:fld>
            <a:endParaRPr lang="en-US" altLang="zh-C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934" y="1730441"/>
            <a:ext cx="8323866" cy="3987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2"/>
          <p:cNvSpPr>
            <a:spLocks noGrp="1"/>
          </p:cNvSpPr>
          <p:nvPr>
            <p:ph type="body" idx="1"/>
          </p:nvPr>
        </p:nvSpPr>
        <p:spPr>
          <a:xfrm>
            <a:off x="467544" y="188640"/>
            <a:ext cx="5760640" cy="1512168"/>
          </a:xfrm>
        </p:spPr>
        <p:txBody>
          <a:bodyPr/>
          <a:lstStyle/>
          <a:p>
            <a:pPr>
              <a:lnSpc>
                <a:spcPct val="150000"/>
              </a:lnSpc>
            </a:pPr>
            <a:r>
              <a:rPr lang="zh-CN" altLang="en-US" sz="3600" b="1" dirty="0" smtClean="0"/>
              <a:t>通过接触使导体带电</a:t>
            </a:r>
            <a:endParaRPr lang="en-US" altLang="zh-CN" sz="3600" b="1" dirty="0" smtClean="0"/>
          </a:p>
          <a:p>
            <a:pPr lvl="1">
              <a:lnSpc>
                <a:spcPct val="150000"/>
              </a:lnSpc>
            </a:pPr>
            <a:r>
              <a:rPr lang="zh-CN" altLang="en-US" b="1" dirty="0"/>
              <a:t>使</a:t>
            </a:r>
            <a:r>
              <a:rPr lang="zh-CN" altLang="en-US" b="1" dirty="0" smtClean="0"/>
              <a:t>导体接地：导体放电</a:t>
            </a:r>
            <a:endParaRPr lang="en-US" altLang="zh-CN" b="1" dirty="0" smtClean="0"/>
          </a:p>
        </p:txBody>
      </p:sp>
      <p:sp>
        <p:nvSpPr>
          <p:cNvPr id="5" name="TextBox 4"/>
          <p:cNvSpPr txBox="1"/>
          <p:nvPr/>
        </p:nvSpPr>
        <p:spPr>
          <a:xfrm>
            <a:off x="1187624" y="5987079"/>
            <a:ext cx="1800200"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课本</a:t>
            </a: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7</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页</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203709682"/>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19</a:t>
            </a:fld>
            <a:endParaRPr lang="en-US" altLang="zh-C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2722" y="1664802"/>
            <a:ext cx="5249118" cy="3471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569" y="1403071"/>
            <a:ext cx="2972406" cy="3994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占位符 2"/>
          <p:cNvSpPr>
            <a:spLocks noGrp="1"/>
          </p:cNvSpPr>
          <p:nvPr>
            <p:ph type="body" idx="1"/>
          </p:nvPr>
        </p:nvSpPr>
        <p:spPr>
          <a:xfrm>
            <a:off x="434673" y="332656"/>
            <a:ext cx="5472608" cy="648072"/>
          </a:xfrm>
        </p:spPr>
        <p:txBody>
          <a:bodyPr/>
          <a:lstStyle/>
          <a:p>
            <a:pPr>
              <a:lnSpc>
                <a:spcPct val="150000"/>
              </a:lnSpc>
            </a:pPr>
            <a:r>
              <a:rPr lang="zh-CN" altLang="en-US" sz="3600" b="1" dirty="0" smtClean="0"/>
              <a:t>通过感应使导体带电</a:t>
            </a:r>
            <a:endParaRPr lang="zh-CN" altLang="en-US" sz="3600" b="1" dirty="0"/>
          </a:p>
        </p:txBody>
      </p:sp>
      <p:sp>
        <p:nvSpPr>
          <p:cNvPr id="5" name="TextBox 4"/>
          <p:cNvSpPr txBox="1"/>
          <p:nvPr/>
        </p:nvSpPr>
        <p:spPr>
          <a:xfrm>
            <a:off x="1619672" y="5661248"/>
            <a:ext cx="1512168"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课本第</a:t>
            </a: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8</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页</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9" name="TextBox 8"/>
          <p:cNvSpPr txBox="1"/>
          <p:nvPr/>
        </p:nvSpPr>
        <p:spPr>
          <a:xfrm>
            <a:off x="5724129" y="188640"/>
            <a:ext cx="3240360" cy="11839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因静电感应而在导体出现电荷称为感应电荷。</a:t>
            </a:r>
            <a:endParaRPr kumimoji="0" lang="zh-CN" altLang="en-US" sz="2400" b="1" i="0" u="none" strike="noStrike" cap="none" spc="0" normalizeH="0" baseline="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091567154"/>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单项选择题</a:t>
            </a:r>
            <a:endParaRPr lang="zh-CN" altLang="en-US" dirty="0"/>
          </a:p>
        </p:txBody>
      </p:sp>
      <p:sp>
        <p:nvSpPr>
          <p:cNvPr id="3" name="文本占位符 2"/>
          <p:cNvSpPr>
            <a:spLocks noGrp="1"/>
          </p:cNvSpPr>
          <p:nvPr>
            <p:ph type="body" idx="1"/>
          </p:nvPr>
        </p:nvSpPr>
        <p:spPr>
          <a:xfrm>
            <a:off x="457200" y="1124744"/>
            <a:ext cx="8219256" cy="3528392"/>
          </a:xfrm>
        </p:spPr>
        <p:txBody>
          <a:bodyPr/>
          <a:lstStyle/>
          <a:p>
            <a:r>
              <a:rPr lang="zh-CN" altLang="en-US" sz="3200" dirty="0" smtClean="0"/>
              <a:t>彼此靠近的一带电绝缘体与一不带电的导体</a:t>
            </a:r>
            <a:endParaRPr lang="en-US" altLang="zh-CN" sz="3200" dirty="0" smtClean="0"/>
          </a:p>
          <a:p>
            <a:pPr marL="0" indent="0">
              <a:buNone/>
            </a:pPr>
            <a:r>
              <a:rPr lang="zh-CN" altLang="en-US" sz="3200" dirty="0" smtClean="0"/>
              <a:t>（</a:t>
            </a:r>
            <a:r>
              <a:rPr lang="en-US" altLang="zh-CN" sz="3200" dirty="0" smtClean="0"/>
              <a:t>a</a:t>
            </a:r>
            <a:r>
              <a:rPr lang="zh-CN" altLang="en-US" sz="3200" dirty="0" smtClean="0"/>
              <a:t>）不存在相互作用。</a:t>
            </a:r>
            <a:endParaRPr lang="en-US" altLang="zh-CN" sz="3200" dirty="0" smtClean="0"/>
          </a:p>
          <a:p>
            <a:pPr marL="0" indent="0">
              <a:buNone/>
            </a:pPr>
            <a:r>
              <a:rPr lang="zh-CN" altLang="en-US" sz="3200" dirty="0" smtClean="0"/>
              <a:t>（</a:t>
            </a:r>
            <a:r>
              <a:rPr lang="en-US" altLang="zh-CN" sz="3200" dirty="0" smtClean="0"/>
              <a:t>b</a:t>
            </a:r>
            <a:r>
              <a:rPr lang="zh-CN" altLang="en-US" sz="3200" dirty="0" smtClean="0"/>
              <a:t>）相互电排斥。</a:t>
            </a:r>
            <a:endParaRPr lang="en-US" altLang="zh-CN" sz="3200" dirty="0" smtClean="0"/>
          </a:p>
          <a:p>
            <a:pPr marL="0" indent="0">
              <a:buNone/>
            </a:pPr>
            <a:r>
              <a:rPr lang="zh-CN" altLang="en-US" sz="3200" dirty="0" smtClean="0"/>
              <a:t>（</a:t>
            </a:r>
            <a:r>
              <a:rPr lang="en-US" altLang="zh-CN" sz="3200" dirty="0" smtClean="0"/>
              <a:t>c</a:t>
            </a:r>
            <a:r>
              <a:rPr lang="zh-CN" altLang="en-US" sz="3200" dirty="0" smtClean="0"/>
              <a:t>）相互电吸引。</a:t>
            </a:r>
            <a:endParaRPr lang="en-US" altLang="zh-CN" sz="3200" dirty="0" smtClean="0"/>
          </a:p>
          <a:p>
            <a:pPr marL="0" indent="0">
              <a:buNone/>
            </a:pPr>
            <a:r>
              <a:rPr lang="zh-CN" altLang="en-US" sz="3200" dirty="0" smtClean="0"/>
              <a:t>（</a:t>
            </a:r>
            <a:r>
              <a:rPr lang="en-US" altLang="zh-CN" sz="3200" dirty="0" smtClean="0"/>
              <a:t>d</a:t>
            </a:r>
            <a:r>
              <a:rPr lang="zh-CN" altLang="en-US" sz="3200" dirty="0" smtClean="0"/>
              <a:t>）吸引或排斥，这取决于所带电荷的正负。</a:t>
            </a:r>
            <a:endParaRPr lang="en-US" altLang="zh-CN" sz="3200" dirty="0" smtClean="0"/>
          </a:p>
          <a:p>
            <a:endParaRPr lang="zh-CN" altLang="en-US" dirty="0"/>
          </a:p>
        </p:txBody>
      </p:sp>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20</a:t>
            </a:fld>
            <a:endParaRPr lang="en-US" altLang="zh-CN"/>
          </a:p>
        </p:txBody>
      </p:sp>
    </p:spTree>
    <p:extLst>
      <p:ext uri="{BB962C8B-B14F-4D97-AF65-F5344CB8AC3E}">
        <p14:creationId xmlns:p14="http://schemas.microsoft.com/office/powerpoint/2010/main" val="3905715856"/>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869160"/>
            <a:ext cx="8229600" cy="850107"/>
          </a:xfrm>
        </p:spPr>
        <p:txBody>
          <a:bodyPr/>
          <a:lstStyle/>
          <a:p>
            <a:r>
              <a:rPr lang="zh-CN" altLang="en-US" dirty="0" smtClean="0"/>
              <a:t>练习题 </a:t>
            </a:r>
            <a:r>
              <a:rPr lang="en-US" altLang="zh-CN" dirty="0" smtClean="0"/>
              <a:t>16.2 </a:t>
            </a:r>
            <a:r>
              <a:rPr lang="zh-CN" altLang="en-US" dirty="0" smtClean="0"/>
              <a:t>移开玻璃棒</a:t>
            </a:r>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1277145"/>
            <a:ext cx="3146201" cy="2912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a:xfrm>
            <a:off x="609600" y="427038"/>
            <a:ext cx="8229600" cy="850107"/>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3200">
                <a:solidFill>
                  <a:srgbClr val="006633"/>
                </a:solidFill>
                <a:latin typeface="SimHei"/>
                <a:ea typeface="SimHei"/>
                <a:cs typeface="SimHei"/>
                <a:sym typeface="SimHei"/>
              </a:defRPr>
            </a:lvl1pPr>
            <a:lvl2pPr>
              <a:defRPr sz="3200">
                <a:solidFill>
                  <a:srgbClr val="006633"/>
                </a:solidFill>
                <a:latin typeface="SimHei"/>
                <a:ea typeface="SimHei"/>
                <a:cs typeface="SimHei"/>
                <a:sym typeface="SimHei"/>
              </a:defRPr>
            </a:lvl2pPr>
            <a:lvl3pPr>
              <a:defRPr sz="3200">
                <a:solidFill>
                  <a:srgbClr val="006633"/>
                </a:solidFill>
                <a:latin typeface="SimHei"/>
                <a:ea typeface="SimHei"/>
                <a:cs typeface="SimHei"/>
                <a:sym typeface="SimHei"/>
              </a:defRPr>
            </a:lvl3pPr>
            <a:lvl4pPr>
              <a:defRPr sz="3200">
                <a:solidFill>
                  <a:srgbClr val="006633"/>
                </a:solidFill>
                <a:latin typeface="SimHei"/>
                <a:ea typeface="SimHei"/>
                <a:cs typeface="SimHei"/>
                <a:sym typeface="SimHei"/>
              </a:defRPr>
            </a:lvl4pPr>
            <a:lvl5pPr>
              <a:defRPr sz="3200">
                <a:solidFill>
                  <a:srgbClr val="006633"/>
                </a:solidFill>
                <a:latin typeface="SimHei"/>
                <a:ea typeface="SimHei"/>
                <a:cs typeface="SimHei"/>
                <a:sym typeface="SimHei"/>
              </a:defRPr>
            </a:lvl5pPr>
            <a:lvl6pPr indent="457200">
              <a:defRPr sz="3200">
                <a:solidFill>
                  <a:srgbClr val="006633"/>
                </a:solidFill>
                <a:latin typeface="SimHei"/>
                <a:ea typeface="SimHei"/>
                <a:cs typeface="SimHei"/>
                <a:sym typeface="SimHei"/>
              </a:defRPr>
            </a:lvl6pPr>
            <a:lvl7pPr indent="914400">
              <a:defRPr sz="3200">
                <a:solidFill>
                  <a:srgbClr val="006633"/>
                </a:solidFill>
                <a:latin typeface="SimHei"/>
                <a:ea typeface="SimHei"/>
                <a:cs typeface="SimHei"/>
                <a:sym typeface="SimHei"/>
              </a:defRPr>
            </a:lvl7pPr>
            <a:lvl8pPr indent="1371600">
              <a:defRPr sz="3200">
                <a:solidFill>
                  <a:srgbClr val="006633"/>
                </a:solidFill>
                <a:latin typeface="SimHei"/>
                <a:ea typeface="SimHei"/>
                <a:cs typeface="SimHei"/>
                <a:sym typeface="SimHei"/>
              </a:defRPr>
            </a:lvl8pPr>
            <a:lvl9pPr indent="1828800">
              <a:defRPr sz="3200">
                <a:solidFill>
                  <a:srgbClr val="006633"/>
                </a:solidFill>
                <a:latin typeface="SimHei"/>
                <a:ea typeface="SimHei"/>
                <a:cs typeface="SimHei"/>
                <a:sym typeface="SimHei"/>
              </a:defRPr>
            </a:lvl9pPr>
          </a:lstStyle>
          <a:p>
            <a:r>
              <a:rPr lang="zh-CN" altLang="en-US" smtClean="0"/>
              <a:t>例</a:t>
            </a:r>
            <a:r>
              <a:rPr lang="en-US" altLang="zh-CN" smtClean="0"/>
              <a:t>16.2 </a:t>
            </a:r>
            <a:r>
              <a:rPr lang="zh-CN" altLang="en-US" smtClean="0"/>
              <a:t>验电器</a:t>
            </a:r>
            <a:endParaRPr lang="zh-CN" altLang="en-US"/>
          </a:p>
        </p:txBody>
      </p:sp>
      <p:sp>
        <p:nvSpPr>
          <p:cNvPr id="3" name="灯片编号占位符 2"/>
          <p:cNvSpPr>
            <a:spLocks noGrp="1"/>
          </p:cNvSpPr>
          <p:nvPr>
            <p:ph type="sldNum" sz="quarter" idx="2"/>
          </p:nvPr>
        </p:nvSpPr>
        <p:spPr/>
        <p:txBody>
          <a:bodyPr/>
          <a:lstStyle/>
          <a:p>
            <a:pPr lvl="0"/>
            <a:fld id="{86CB4B4D-7CA3-9044-876B-883B54F8677D}" type="slidenum">
              <a:rPr lang="en-US" altLang="zh-CN" smtClean="0"/>
              <a:pPr lvl="0"/>
              <a:t>21</a:t>
            </a:fld>
            <a:endParaRPr lang="en-US" altLang="zh-CN"/>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58132"/>
            <a:ext cx="4724400" cy="2505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7762833"/>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229600" cy="850107"/>
          </a:xfrm>
        </p:spPr>
        <p:txBody>
          <a:bodyPr>
            <a:normAutofit fontScale="90000"/>
          </a:bodyPr>
          <a:lstStyle/>
          <a:p>
            <a:pPr>
              <a:lnSpc>
                <a:spcPct val="150000"/>
              </a:lnSpc>
            </a:pPr>
            <a:r>
              <a:rPr lang="zh-CN" altLang="en-US" b="1" dirty="0">
                <a:solidFill>
                  <a:srgbClr val="0000CC"/>
                </a:solidFill>
              </a:rPr>
              <a:t>复印机与激光打印机工作原理</a:t>
            </a:r>
            <a:r>
              <a:rPr lang="en-US" altLang="zh-CN" b="1" dirty="0">
                <a:solidFill>
                  <a:srgbClr val="0000CC"/>
                </a:solidFill>
              </a:rPr>
              <a:t>----</a:t>
            </a:r>
            <a:r>
              <a:rPr lang="zh-CN" altLang="en-US" b="1" dirty="0">
                <a:solidFill>
                  <a:srgbClr val="0000CC"/>
                </a:solidFill>
              </a:rPr>
              <a:t>基于电荷分离及异号电荷之间的相互吸引作用。</a:t>
            </a:r>
            <a:r>
              <a:rPr lang="zh-CN" altLang="en-US" dirty="0"/>
              <a:t/>
            </a:r>
            <a:br>
              <a:rPr lang="zh-CN" altLang="en-US" dirty="0"/>
            </a:br>
            <a:endParaRPr lang="zh-CN" altLang="en-US" dirty="0"/>
          </a:p>
        </p:txBody>
      </p:sp>
      <p:sp>
        <p:nvSpPr>
          <p:cNvPr id="3" name="文本占位符 2"/>
          <p:cNvSpPr>
            <a:spLocks noGrp="1"/>
          </p:cNvSpPr>
          <p:nvPr>
            <p:ph type="body" idx="1"/>
          </p:nvPr>
        </p:nvSpPr>
        <p:spPr>
          <a:xfrm>
            <a:off x="395536" y="1772816"/>
            <a:ext cx="8496944" cy="4869160"/>
          </a:xfrm>
        </p:spPr>
        <p:txBody>
          <a:bodyPr/>
          <a:lstStyle/>
          <a:p>
            <a:pPr>
              <a:lnSpc>
                <a:spcPct val="125000"/>
              </a:lnSpc>
            </a:pPr>
            <a:r>
              <a:rPr lang="zh-CN" altLang="en-US" sz="2400" dirty="0" smtClean="0"/>
              <a:t>（</a:t>
            </a:r>
            <a:r>
              <a:rPr lang="en-US" altLang="zh-CN" sz="2400" dirty="0"/>
              <a:t>1</a:t>
            </a:r>
            <a:r>
              <a:rPr lang="zh-CN" altLang="en-US" sz="2400" dirty="0"/>
              <a:t>）开始时，硒鼓（铝鼓上镀硒）处于黑暗中（绝缘体），在电极下转动，被均匀喷射上正电荷</a:t>
            </a:r>
            <a:r>
              <a:rPr lang="en-US" altLang="zh-CN" sz="2400" dirty="0"/>
              <a:t>.</a:t>
            </a:r>
            <a:r>
              <a:rPr lang="zh-CN" altLang="en-US" sz="2400" dirty="0"/>
              <a:t>（</a:t>
            </a:r>
            <a:r>
              <a:rPr lang="en-US" altLang="zh-CN" sz="2400" dirty="0"/>
              <a:t>2</a:t>
            </a:r>
            <a:r>
              <a:rPr lang="zh-CN" altLang="en-US" sz="2400" dirty="0"/>
              <a:t>）被光照射时，被照射部分</a:t>
            </a:r>
            <a:r>
              <a:rPr lang="zh-CN" altLang="en-US" sz="2400" dirty="0" smtClean="0"/>
              <a:t>变得导电</a:t>
            </a:r>
            <a:r>
              <a:rPr lang="zh-CN" altLang="en-US" sz="2400" dirty="0"/>
              <a:t>，铝鼓内部的自由电子进入硒层并中和正电荷，而暗处的硒仍绝缘，其上仍有正电荷。（</a:t>
            </a:r>
            <a:r>
              <a:rPr lang="en-US" altLang="zh-CN" sz="2400" dirty="0"/>
              <a:t>3</a:t>
            </a:r>
            <a:r>
              <a:rPr lang="zh-CN" altLang="en-US" sz="2400" dirty="0"/>
              <a:t>）硒鼓与墨粉接触，墨粉粒子带负电荷，被吸向硒鼓带正电的区域。（</a:t>
            </a:r>
            <a:r>
              <a:rPr lang="en-US" altLang="zh-CN" sz="2400" dirty="0"/>
              <a:t>4</a:t>
            </a:r>
            <a:r>
              <a:rPr lang="zh-CN" altLang="en-US" sz="2400" dirty="0"/>
              <a:t>）一张复印纸从硒鼓上滚过，纸背面带正电荷，电量大于硒鼓所带电量，则带负电的墨粉就从硒鼓上被吸引到纸张上，形成复印的影像。（</a:t>
            </a:r>
            <a:r>
              <a:rPr lang="en-US" altLang="zh-CN" sz="2400" dirty="0"/>
              <a:t>5</a:t>
            </a:r>
            <a:r>
              <a:rPr lang="zh-CN" altLang="en-US" sz="2400" dirty="0"/>
              <a:t>）最后纸张经加热锟定影，墨粉固定于纸上</a:t>
            </a:r>
            <a:r>
              <a:rPr lang="zh-CN" altLang="en-US" sz="2400" dirty="0" smtClean="0"/>
              <a:t>。</a:t>
            </a:r>
            <a:endParaRPr lang="zh-CN" altLang="en-US" sz="2400" dirty="0"/>
          </a:p>
        </p:txBody>
      </p:sp>
      <p:sp>
        <p:nvSpPr>
          <p:cNvPr id="4" name="灯片编号占位符 3"/>
          <p:cNvSpPr>
            <a:spLocks noGrp="1"/>
          </p:cNvSpPr>
          <p:nvPr>
            <p:ph type="sldNum" sz="quarter" idx="2"/>
          </p:nvPr>
        </p:nvSpPr>
        <p:spPr/>
        <p:txBody>
          <a:bodyPr/>
          <a:lstStyle/>
          <a:p>
            <a:pPr lvl="0"/>
            <a:fld id="{86CB4B4D-7CA3-9044-876B-883B54F8677D}" type="slidenum">
              <a:rPr lang="en-US" altLang="zh-CN" smtClean="0"/>
              <a:pPr lvl="0"/>
              <a:t>22</a:t>
            </a:fld>
            <a:endParaRPr lang="en-US" altLang="zh-CN"/>
          </a:p>
        </p:txBody>
      </p:sp>
      <p:sp>
        <p:nvSpPr>
          <p:cNvPr id="5" name="TextBox 4"/>
          <p:cNvSpPr txBox="1"/>
          <p:nvPr/>
        </p:nvSpPr>
        <p:spPr>
          <a:xfrm>
            <a:off x="1464918" y="5949280"/>
            <a:ext cx="1368152"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了解</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067338185"/>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475656" y="2060848"/>
            <a:ext cx="6768752" cy="2088232"/>
          </a:xfrm>
        </p:spPr>
        <p:txBody>
          <a:bodyPr/>
          <a:lstStyle/>
          <a:p>
            <a:pPr>
              <a:lnSpc>
                <a:spcPct val="150000"/>
              </a:lnSpc>
            </a:pPr>
            <a:r>
              <a:rPr lang="zh-CN" altLang="zh-CN" sz="3200" b="1" dirty="0"/>
              <a:t>作业：</a:t>
            </a:r>
            <a:r>
              <a:rPr lang="en-US" altLang="zh-CN" sz="3200" b="1" dirty="0"/>
              <a:t>28</a:t>
            </a:r>
            <a:r>
              <a:rPr lang="zh-CN" altLang="zh-CN" sz="3200" b="1" dirty="0"/>
              <a:t>页，计算题</a:t>
            </a:r>
            <a:r>
              <a:rPr lang="en-US" altLang="zh-CN" sz="3200" b="1" dirty="0"/>
              <a:t>1</a:t>
            </a:r>
            <a:r>
              <a:rPr lang="zh-CN" altLang="zh-CN" sz="3200" b="1" dirty="0"/>
              <a:t>，</a:t>
            </a:r>
            <a:r>
              <a:rPr lang="en-US" altLang="zh-CN" sz="3200" b="1" dirty="0" smtClean="0"/>
              <a:t>2</a:t>
            </a:r>
            <a:r>
              <a:rPr lang="zh-CN" altLang="en-US" sz="3200" b="1" dirty="0" smtClean="0"/>
              <a:t>，</a:t>
            </a:r>
            <a:r>
              <a:rPr lang="en-US" altLang="zh-CN" sz="3200" b="1" smtClean="0"/>
              <a:t>3</a:t>
            </a:r>
            <a:r>
              <a:rPr lang="zh-CN" altLang="zh-CN" sz="3200" b="1" smtClean="0"/>
              <a:t>题</a:t>
            </a:r>
            <a:endParaRPr lang="en-US" altLang="zh-CN" sz="3200" b="1" dirty="0" smtClean="0"/>
          </a:p>
        </p:txBody>
      </p:sp>
      <p:sp>
        <p:nvSpPr>
          <p:cNvPr id="4" name="矩形 3"/>
          <p:cNvSpPr/>
          <p:nvPr/>
        </p:nvSpPr>
        <p:spPr>
          <a:xfrm>
            <a:off x="1789073" y="1052736"/>
            <a:ext cx="4572000" cy="626710"/>
          </a:xfrm>
          <a:prstGeom prst="rect">
            <a:avLst/>
          </a:prstGeom>
        </p:spPr>
        <p:txBody>
          <a:bodyPr>
            <a:spAutoFit/>
          </a:bodyPr>
          <a:lstStyle/>
          <a:p>
            <a:r>
              <a:rPr lang="zh-CN" altLang="zh-CN" sz="3200" smtClean="0"/>
              <a:t>【</a:t>
            </a:r>
            <a:r>
              <a:rPr lang="zh-CN" altLang="zh-CN" sz="3200" b="1" smtClean="0"/>
              <a:t>练习与作业</a:t>
            </a:r>
            <a:r>
              <a:rPr lang="zh-CN" altLang="zh-CN" sz="3200" smtClean="0"/>
              <a:t>】</a:t>
            </a:r>
            <a:endParaRPr lang="zh-CN" altLang="zh-CN" sz="3200"/>
          </a:p>
        </p:txBody>
      </p:sp>
      <p:sp>
        <p:nvSpPr>
          <p:cNvPr id="2" name="灯片编号占位符 1"/>
          <p:cNvSpPr>
            <a:spLocks noGrp="1"/>
          </p:cNvSpPr>
          <p:nvPr>
            <p:ph type="sldNum" sz="quarter" idx="2"/>
          </p:nvPr>
        </p:nvSpPr>
        <p:spPr/>
        <p:txBody>
          <a:bodyPr/>
          <a:lstStyle/>
          <a:p>
            <a:pPr lvl="0"/>
            <a:fld id="{86CB4B4D-7CA3-9044-876B-883B54F8677D}" type="slidenum">
              <a:rPr lang="en-US" altLang="zh-CN" smtClean="0"/>
              <a:pPr lvl="0"/>
              <a:t>23</a:t>
            </a:fld>
            <a:endParaRPr lang="en-US" altLang="zh-CN"/>
          </a:p>
        </p:txBody>
      </p:sp>
    </p:spTree>
    <p:extLst>
      <p:ext uri="{BB962C8B-B14F-4D97-AF65-F5344CB8AC3E}">
        <p14:creationId xmlns:p14="http://schemas.microsoft.com/office/powerpoint/2010/main" val="2706579868"/>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CC9900"/>
      </a:accent1>
      <a:accent2>
        <a:srgbClr val="3B812F"/>
      </a:accent2>
      <a:accent3>
        <a:srgbClr val="8F8F8F"/>
      </a:accent3>
      <a:accent4>
        <a:srgbClr val="707070"/>
      </a:accent4>
      <a:accent5>
        <a:srgbClr val="E2CAAA"/>
      </a:accent5>
      <a:accent6>
        <a:srgbClr val="35742A"/>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CC990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CC990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1028700" rtl="0" fontAlgn="auto" latinLnBrk="1" hangingPunct="0">
          <a:lnSpc>
            <a:spcPct val="120000"/>
          </a:lnSpc>
          <a:spcBef>
            <a:spcPts val="1600"/>
          </a:spcBef>
          <a:spcAft>
            <a:spcPts val="0"/>
          </a:spcAft>
          <a:buClrTx/>
          <a:buSzTx/>
          <a:buFontTx/>
          <a:buNone/>
          <a:tabLst/>
          <a:defRPr kumimoji="0" sz="2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CC9900"/>
      </a:accent1>
      <a:accent2>
        <a:srgbClr val="3B812F"/>
      </a:accent2>
      <a:accent3>
        <a:srgbClr val="8F8F8F"/>
      </a:accent3>
      <a:accent4>
        <a:srgbClr val="707070"/>
      </a:accent4>
      <a:accent5>
        <a:srgbClr val="E2CAAA"/>
      </a:accent5>
      <a:accent6>
        <a:srgbClr val="35742A"/>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CC990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CC990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1028700" rtl="0" fontAlgn="auto" latinLnBrk="1" hangingPunct="0">
          <a:lnSpc>
            <a:spcPct val="120000"/>
          </a:lnSpc>
          <a:spcBef>
            <a:spcPts val="1600"/>
          </a:spcBef>
          <a:spcAft>
            <a:spcPts val="0"/>
          </a:spcAft>
          <a:buClrTx/>
          <a:buSzTx/>
          <a:buFontTx/>
          <a:buNone/>
          <a:tabLst/>
          <a:defRPr kumimoji="0" sz="2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2128</TotalTime>
  <Words>1938</Words>
  <Application>Microsoft Office PowerPoint</Application>
  <PresentationFormat>全屏显示(4:3)</PresentationFormat>
  <Paragraphs>145</Paragraphs>
  <Slides>23</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Helvetica Neue</vt:lpstr>
      <vt:lpstr>SimHei</vt:lpstr>
      <vt:lpstr>SimHei</vt:lpstr>
      <vt:lpstr>宋体</vt:lpstr>
      <vt:lpstr>微软雅黑</vt:lpstr>
      <vt:lpstr>Symbol</vt:lpstr>
      <vt:lpstr>Times New Roman</vt:lpstr>
      <vt:lpstr>Wingdings</vt:lpstr>
      <vt:lpstr>Default</vt:lpstr>
      <vt:lpstr>PowerPoint 演示文稿</vt:lpstr>
      <vt:lpstr>本节主要内容（§16.1-§16.2）</vt:lpstr>
      <vt:lpstr>PowerPoint 演示文稿</vt:lpstr>
      <vt:lpstr>PowerPoint 演示文稿</vt:lpstr>
      <vt:lpstr>PowerPoint 演示文稿</vt:lpstr>
      <vt:lpstr>PowerPoint 演示文稿</vt:lpstr>
      <vt:lpstr>PowerPoint 演示文稿</vt:lpstr>
      <vt:lpstr>检测题16.1</vt:lpstr>
      <vt:lpstr>PowerPoint 演示文稿</vt:lpstr>
      <vt:lpstr>二、极化：电中性的物体中有可能会存在相互隔开的区域，其中某些区域只包含正电荷，而其他的区域只包含负电荷。这样的物体就被称作极化了。</vt:lpstr>
      <vt:lpstr>PowerPoint 演示文稿</vt:lpstr>
      <vt:lpstr>PowerPoint 演示文稿</vt:lpstr>
      <vt:lpstr>PowerPoint 演示文稿</vt:lpstr>
      <vt:lpstr>PowerPoint 演示文稿</vt:lpstr>
      <vt:lpstr>PowerPoint 演示文稿</vt:lpstr>
      <vt:lpstr>16.2 导体与绝缘体</vt:lpstr>
      <vt:lpstr>PowerPoint 演示文稿</vt:lpstr>
      <vt:lpstr>PowerPoint 演示文稿</vt:lpstr>
      <vt:lpstr>PowerPoint 演示文稿</vt:lpstr>
      <vt:lpstr>单项选择题</vt:lpstr>
      <vt:lpstr>练习题 16.2 移开玻璃棒</vt:lpstr>
      <vt:lpstr>复印机与激光打印机工作原理----基于电荷分离及异号电荷之间的相互吸引作用。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普通物理学</dc:title>
  <cp:lastModifiedBy>hsl</cp:lastModifiedBy>
  <cp:revision>199</cp:revision>
  <cp:lastPrinted>2017-09-21T08:22:00Z</cp:lastPrinted>
  <dcterms:modified xsi:type="dcterms:W3CDTF">2021-03-08T07:14:24Z</dcterms:modified>
</cp:coreProperties>
</file>