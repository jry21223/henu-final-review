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8" r:id="rId9"/>
    <p:sldId id="269" r:id="rId10"/>
    <p:sldId id="290" r:id="rId11"/>
    <p:sldId id="271" r:id="rId12"/>
    <p:sldId id="282" r:id="rId13"/>
    <p:sldId id="283" r:id="rId14"/>
    <p:sldId id="274" r:id="rId15"/>
    <p:sldId id="291" r:id="rId16"/>
    <p:sldId id="289" r:id="rId17"/>
    <p:sldId id="284" r:id="rId18"/>
    <p:sldId id="285" r:id="rId19"/>
    <p:sldId id="276" r:id="rId20"/>
    <p:sldId id="277" r:id="rId21"/>
    <p:sldId id="292" r:id="rId22"/>
    <p:sldId id="278" r:id="rId23"/>
    <p:sldId id="293" r:id="rId24"/>
    <p:sldId id="287" r:id="rId25"/>
    <p:sldId id="295" r:id="rId26"/>
    <p:sldId id="281" r:id="rId27"/>
    <p:sldId id="279" r:id="rId28"/>
    <p:sldId id="294" r:id="rId29"/>
    <p:sldId id="288" r:id="rId30"/>
    <p:sldId id="286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28" autoAdjust="0"/>
  </p:normalViewPr>
  <p:slideViewPr>
    <p:cSldViewPr snapToGrid="0">
      <p:cViewPr varScale="1">
        <p:scale>
          <a:sx n="81" d="100"/>
          <a:sy n="81" d="100"/>
        </p:scale>
        <p:origin x="90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e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8BD25-5BB0-4970-9BC8-A867E97BBE06}" type="datetimeFigureOut">
              <a:rPr lang="zh-CN" altLang="en-US" smtClean="0"/>
              <a:t>2021/5/23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C87C1-8720-44BC-97C4-3E56FDE22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84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磁铁矿晶体，这些晶体是微小的永久磁铁，基本上起着指南针的作用。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CBFF2-56AB-458B-AC23-D5AA04CF5AE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31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偶极子一般指相距很近的符号相反的一对电荷或“磁荷”。</a:t>
            </a:r>
            <a:endParaRPr lang="en-US" altLang="zh-CN" dirty="0" smtClean="0"/>
          </a:p>
          <a:p>
            <a:r>
              <a:rPr lang="zh-CN" altLang="en-US" dirty="0" smtClean="0"/>
              <a:t>譬如，由正负电荷组成的电偶极子，其电场线分布如图。地球磁场可以近似地看作磁偶极子场。在物探中，研究偶极子场是很重要的。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CBFF2-56AB-458B-AC23-D5AA04CF5AE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37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除了冰箱磁贴，海尔贝克阵列还被应用在无刷直流电机，粒子加速器，自由电子激光器，磁悬浮列车的轨道，核磁共振等领域。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CBFF2-56AB-458B-AC23-D5AA04CF5AE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368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　　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CBFF2-56AB-458B-AC23-D5AA04CF5AE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343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174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小段电流称为电流元</a:t>
            </a:r>
            <a:r>
              <a:rPr lang="en-US" altLang="zh-CN" dirty="0" smtClean="0"/>
              <a:t>,</a:t>
            </a:r>
            <a:r>
              <a:rPr lang="zh-CN" altLang="en-US" dirty="0" smtClean="0"/>
              <a:t>用矢量</a:t>
            </a:r>
            <a:r>
              <a:rPr lang="en-US" altLang="zh-CN" dirty="0" err="1" smtClean="0"/>
              <a:t>Idl</a:t>
            </a:r>
            <a:r>
              <a:rPr lang="zh-CN" altLang="en-US" dirty="0" smtClean="0"/>
              <a:t>来表示，电流元的方向规定为电流沿线元的流向。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077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mtClean="0"/>
              <a:t>答案：</a:t>
            </a:r>
            <a:r>
              <a:rPr lang="en-US" altLang="zh-CN" smtClean="0"/>
              <a:t>D</a:t>
            </a:r>
            <a:endParaRPr lang="zh-CN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818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真空光速定义值：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=299792458m/s	c</a:t>
            </a:r>
            <a:r>
              <a:rPr lang="zh-CN" altLang="en-US" dirty="0" smtClean="0"/>
              <a:t>为光速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CBFF2-56AB-458B-AC23-D5AA04CF5AE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10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88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78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35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85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36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0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5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84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7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pterNumber" hidden="1"/>
          <p:cNvSpPr>
            <a:spLocks noGrp="1"/>
          </p:cNvSpPr>
          <p:nvPr>
            <p:ph type="body" sz="quarter" idx="10" hasCustomPrompt="1"/>
          </p:nvPr>
        </p:nvSpPr>
        <p:spPr>
          <a:xfrm>
            <a:off x="5486400" y="1524000"/>
            <a:ext cx="1930400" cy="990600"/>
          </a:xfrm>
          <a:prstGeom prst="rect">
            <a:avLst/>
          </a:prstGeom>
        </p:spPr>
        <p:txBody>
          <a:bodyPr anchor="ctr" anchorCtr="0"/>
          <a:lstStyle>
            <a:lvl1pPr algn="ctr">
              <a:buNone/>
              <a:defRPr sz="6000" b="1" baseline="0">
                <a:solidFill>
                  <a:srgbClr val="C30075"/>
                </a:solidFill>
              </a:defRPr>
            </a:lvl1pPr>
          </a:lstStyle>
          <a:p>
            <a:pPr lvl="0"/>
            <a:r>
              <a:rPr lang="en-US" dirty="0" smtClean="0"/>
              <a:t>CH#</a:t>
            </a:r>
            <a:endParaRPr lang="en-US" dirty="0"/>
          </a:p>
        </p:txBody>
      </p:sp>
      <p:sp>
        <p:nvSpPr>
          <p:cNvPr id="8" name="ChapterTitle" hidden="1"/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2057400"/>
            <a:ext cx="4673600" cy="457200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Chapter Title</a:t>
            </a:r>
            <a:endParaRPr lang="en-US" dirty="0"/>
          </a:p>
        </p:txBody>
      </p:sp>
      <p:sp>
        <p:nvSpPr>
          <p:cNvPr id="9" name="ChapterSubTitle" hidden="1"/>
          <p:cNvSpPr>
            <a:spLocks noGrp="1"/>
          </p:cNvSpPr>
          <p:nvPr>
            <p:ph type="body" sz="quarter" idx="12" hasCustomPrompt="1"/>
          </p:nvPr>
        </p:nvSpPr>
        <p:spPr>
          <a:xfrm>
            <a:off x="406400" y="1524000"/>
            <a:ext cx="4470400" cy="533400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/>
            </a:lvl1pPr>
          </a:lstStyle>
          <a:p>
            <a:pPr lvl="0"/>
            <a:r>
              <a:rPr lang="en-US" dirty="0" smtClean="0"/>
              <a:t>Chapter </a:t>
            </a:r>
            <a:r>
              <a:rPr lang="en-US" dirty="0" err="1" smtClean="0"/>
              <a:t>SubTitle</a:t>
            </a:r>
            <a:endParaRPr lang="en-US" dirty="0"/>
          </a:p>
        </p:txBody>
      </p:sp>
      <p:sp>
        <p:nvSpPr>
          <p:cNvPr id="19" name="SectionNumber" hidden="1"/>
          <p:cNvSpPr>
            <a:spLocks noGrp="1"/>
          </p:cNvSpPr>
          <p:nvPr>
            <p:ph type="body" sz="quarter" idx="13" hasCustomPrompt="1"/>
          </p:nvPr>
        </p:nvSpPr>
        <p:spPr>
          <a:xfrm>
            <a:off x="406400" y="152400"/>
            <a:ext cx="1625600" cy="457200"/>
          </a:xfrm>
          <a:prstGeom prst="rect">
            <a:avLst/>
          </a:prstGeom>
        </p:spPr>
        <p:txBody>
          <a:bodyPr anchor="ctr" anchorCtr="0"/>
          <a:lstStyle>
            <a:lvl1pPr algn="l">
              <a:buNone/>
              <a:defRPr sz="3200" b="0">
                <a:solidFill>
                  <a:srgbClr val="006CB8"/>
                </a:solidFill>
                <a:latin typeface="Helvetica" pitchFamily="34" charset="0"/>
              </a:defRPr>
            </a:lvl1pPr>
          </a:lstStyle>
          <a:p>
            <a:pPr lvl="0"/>
            <a:r>
              <a:rPr lang="en-US" dirty="0" smtClean="0"/>
              <a:t>SC#</a:t>
            </a:r>
            <a:endParaRPr lang="en-US" dirty="0"/>
          </a:p>
        </p:txBody>
      </p:sp>
      <p:sp>
        <p:nvSpPr>
          <p:cNvPr id="20" name="SectionTitle" hidden="1"/>
          <p:cNvSpPr>
            <a:spLocks noGrp="1"/>
          </p:cNvSpPr>
          <p:nvPr>
            <p:ph type="body" sz="quarter" idx="14" hasCustomPrompt="1"/>
          </p:nvPr>
        </p:nvSpPr>
        <p:spPr>
          <a:xfrm>
            <a:off x="2133600" y="76200"/>
            <a:ext cx="9855200" cy="1219200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3200" b="0" cap="all" baseline="0">
                <a:solidFill>
                  <a:srgbClr val="006CB8"/>
                </a:solidFill>
                <a:latin typeface="Helvetica" pitchFamily="34" charset="0"/>
              </a:defRPr>
            </a:lvl1pPr>
          </a:lstStyle>
          <a:p>
            <a:pPr lvl="0"/>
            <a:r>
              <a:rPr lang="en-US" dirty="0" err="1" smtClean="0"/>
              <a:t>SectionTitle</a:t>
            </a:r>
            <a:endParaRPr lang="en-US" dirty="0"/>
          </a:p>
        </p:txBody>
      </p:sp>
      <p:sp>
        <p:nvSpPr>
          <p:cNvPr id="12" name="ObjectiveNumber" hidden="1"/>
          <p:cNvSpPr>
            <a:spLocks noGrp="1"/>
          </p:cNvSpPr>
          <p:nvPr>
            <p:ph type="body" sz="quarter" idx="15" hasCustomPrompt="1"/>
          </p:nvPr>
        </p:nvSpPr>
        <p:spPr>
          <a:xfrm>
            <a:off x="54795" y="1905000"/>
            <a:ext cx="1219200" cy="381000"/>
          </a:xfrm>
          <a:prstGeom prst="rect">
            <a:avLst/>
          </a:prstGeom>
        </p:spPr>
        <p:txBody>
          <a:bodyPr anchor="t" anchorCtr="0"/>
          <a:lstStyle>
            <a:lvl1pPr algn="ctr">
              <a:buNone/>
              <a:defRPr sz="2800" b="1">
                <a:solidFill>
                  <a:srgbClr val="C30075"/>
                </a:solidFill>
              </a:defRPr>
            </a:lvl1pPr>
          </a:lstStyle>
          <a:p>
            <a:pPr lvl="0"/>
            <a:r>
              <a:rPr lang="en-US" dirty="0" smtClean="0"/>
              <a:t>OB#</a:t>
            </a:r>
            <a:endParaRPr lang="en-US" dirty="0"/>
          </a:p>
        </p:txBody>
      </p:sp>
      <p:sp>
        <p:nvSpPr>
          <p:cNvPr id="13" name="Objective" hidden="1"/>
          <p:cNvSpPr>
            <a:spLocks noGrp="1"/>
          </p:cNvSpPr>
          <p:nvPr>
            <p:ph type="body" sz="quarter" idx="16" hasCustomPrompt="1"/>
          </p:nvPr>
        </p:nvSpPr>
        <p:spPr>
          <a:xfrm>
            <a:off x="1117600" y="1905000"/>
            <a:ext cx="10871200" cy="381000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800" b="1">
                <a:solidFill>
                  <a:srgbClr val="C30075"/>
                </a:solidFill>
              </a:defRPr>
            </a:lvl1pPr>
          </a:lstStyle>
          <a:p>
            <a:pPr lvl="0"/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14" name="ItemNumber" hidden="1"/>
          <p:cNvSpPr>
            <a:spLocks noGrp="1"/>
          </p:cNvSpPr>
          <p:nvPr>
            <p:ph type="body" sz="quarter" idx="17" hasCustomPrompt="1"/>
          </p:nvPr>
        </p:nvSpPr>
        <p:spPr>
          <a:xfrm>
            <a:off x="406400" y="4038600"/>
            <a:ext cx="1219200" cy="457200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/>
            </a:lvl1pPr>
          </a:lstStyle>
          <a:p>
            <a:pPr lvl="0"/>
            <a:r>
              <a:rPr lang="en-US" dirty="0" smtClean="0"/>
              <a:t>IT#</a:t>
            </a:r>
            <a:endParaRPr lang="en-US" dirty="0"/>
          </a:p>
        </p:txBody>
      </p:sp>
      <p:sp>
        <p:nvSpPr>
          <p:cNvPr id="15" name="ItemTitle" hidden="1"/>
          <p:cNvSpPr>
            <a:spLocks noGrp="1"/>
          </p:cNvSpPr>
          <p:nvPr>
            <p:ph type="body" sz="quarter" idx="18" hasCustomPrompt="1"/>
          </p:nvPr>
        </p:nvSpPr>
        <p:spPr>
          <a:xfrm>
            <a:off x="406400" y="4495800"/>
            <a:ext cx="4572000" cy="533400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/>
            </a:lvl1pPr>
          </a:lstStyle>
          <a:p>
            <a:pPr lvl="0"/>
            <a:r>
              <a:rPr lang="en-US" dirty="0" err="1" smtClean="0"/>
              <a:t>ItemTitle</a:t>
            </a:r>
            <a:endParaRPr lang="en-US" dirty="0"/>
          </a:p>
        </p:txBody>
      </p:sp>
      <p:sp>
        <p:nvSpPr>
          <p:cNvPr id="16" name="CONS" hidden="1"/>
          <p:cNvSpPr>
            <a:spLocks noGrp="1"/>
          </p:cNvSpPr>
          <p:nvPr>
            <p:ph type="body" sz="quarter" idx="19" hasCustomPrompt="1"/>
          </p:nvPr>
        </p:nvSpPr>
        <p:spPr>
          <a:xfrm>
            <a:off x="8534400" y="6096000"/>
            <a:ext cx="3352800" cy="304800"/>
          </a:xfrm>
          <a:prstGeom prst="rect">
            <a:avLst/>
          </a:prstGeom>
        </p:spPr>
        <p:txBody>
          <a:bodyPr anchor="ctr" anchorCtr="0"/>
          <a:lstStyle>
            <a:lvl1pPr>
              <a:buNone/>
              <a:defRPr sz="2000"/>
            </a:lvl1pPr>
          </a:lstStyle>
          <a:p>
            <a:pPr lvl="0"/>
            <a:r>
              <a:rPr lang="en-US" dirty="0" smtClean="0"/>
              <a:t>CONS</a:t>
            </a:r>
            <a:endParaRPr lang="en-US" dirty="0"/>
          </a:p>
        </p:txBody>
      </p:sp>
      <p:sp>
        <p:nvSpPr>
          <p:cNvPr id="17" name="SlideNumber"/>
          <p:cNvSpPr>
            <a:spLocks noGrp="1"/>
          </p:cNvSpPr>
          <p:nvPr>
            <p:ph type="body" sz="quarter" idx="20" hasCustomPrompt="1"/>
          </p:nvPr>
        </p:nvSpPr>
        <p:spPr>
          <a:xfrm>
            <a:off x="9855200" y="6553200"/>
            <a:ext cx="2032000" cy="228600"/>
          </a:xfrm>
          <a:prstGeom prst="rect">
            <a:avLst/>
          </a:prstGeom>
        </p:spPr>
        <p:txBody>
          <a:bodyPr anchor="ctr" anchorCtr="0"/>
          <a:lstStyle>
            <a:lvl1pPr algn="r">
              <a:buNone/>
              <a:defRPr sz="1800"/>
            </a:lvl1pPr>
          </a:lstStyle>
          <a:p>
            <a:pPr lvl="0"/>
            <a:r>
              <a:rPr lang="en-US" dirty="0" err="1" smtClean="0"/>
              <a:t>SlideNumber</a:t>
            </a:r>
            <a:endParaRPr lang="en-US" dirty="0"/>
          </a:p>
        </p:txBody>
      </p:sp>
      <p:sp>
        <p:nvSpPr>
          <p:cNvPr id="18" name="Copyright" hidden="1"/>
          <p:cNvSpPr>
            <a:spLocks noGrp="1"/>
          </p:cNvSpPr>
          <p:nvPr>
            <p:ph type="body" sz="quarter" idx="21" hasCustomPrompt="1"/>
          </p:nvPr>
        </p:nvSpPr>
        <p:spPr>
          <a:xfrm>
            <a:off x="1524000" y="6553200"/>
            <a:ext cx="7924800" cy="228600"/>
          </a:xfrm>
          <a:prstGeom prst="rect">
            <a:avLst/>
          </a:prstGeom>
        </p:spPr>
        <p:txBody>
          <a:bodyPr anchor="ctr" anchorCtr="0"/>
          <a:lstStyle>
            <a:lvl1pPr algn="ctr">
              <a:buNone/>
              <a:defRPr sz="1000"/>
            </a:lvl1pPr>
          </a:lstStyle>
          <a:p>
            <a:pPr lvl="0"/>
            <a:r>
              <a:rPr lang="en-US" dirty="0" smtClean="0"/>
              <a:t>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5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9F43E-6A00-409D-9E79-CE23F37409A4}" type="datetimeFigureOut">
              <a:rPr lang="zh-CN" altLang="en-US" smtClean="0"/>
              <a:pPr/>
              <a:t>2021/5/23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8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3.bin"/><Relationship Id="rId7" Type="http://schemas.openxmlformats.org/officeDocument/2006/relationships/image" Target="../media/image21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emf"/><Relationship Id="rId11" Type="http://schemas.openxmlformats.org/officeDocument/2006/relationships/image" Target="../media/image26.wmf"/><Relationship Id="rId5" Type="http://schemas.openxmlformats.org/officeDocument/2006/relationships/oleObject" Target="../embeddings/oleObject4.bin"/><Relationship Id="rId10" Type="http://schemas.openxmlformats.org/officeDocument/2006/relationships/oleObject" Target="../embeddings/oleObject6.bin"/><Relationship Id="rId4" Type="http://schemas.openxmlformats.org/officeDocument/2006/relationships/image" Target="../media/image23.wmf"/><Relationship Id="rId9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wmf"/><Relationship Id="rId11" Type="http://schemas.openxmlformats.org/officeDocument/2006/relationships/image" Target="../media/image34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45.tm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/>
        </p:nvSpPr>
        <p:spPr>
          <a:xfrm>
            <a:off x="1775519" y="-20806"/>
            <a:ext cx="9534325" cy="687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lvl="0" defTabSz="762000">
              <a:spcBef>
                <a:spcPts val="1900"/>
              </a:spcBef>
              <a:defRPr sz="1800"/>
            </a:pPr>
            <a:r>
              <a:rPr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   </a:t>
            </a:r>
            <a:r>
              <a:rPr sz="36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第</a:t>
            </a:r>
            <a:r>
              <a:rPr lang="en-US" altLang="zh-CN" sz="36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19</a:t>
            </a:r>
            <a:r>
              <a:rPr sz="36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章 </a:t>
            </a:r>
            <a:r>
              <a:rPr lang="zh-CN" altLang="en-US" sz="36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磁力与磁场</a:t>
            </a:r>
            <a:endParaRPr sz="3600" b="1" dirty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  <a:p>
            <a:pPr lvl="0" defTabSz="762000">
              <a:spcBef>
                <a:spcPts val="1900"/>
              </a:spcBef>
              <a:defRPr sz="1800"/>
            </a:pPr>
            <a:r>
              <a:rPr sz="28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§</a:t>
            </a:r>
            <a:r>
              <a:rPr lang="en-US" sz="28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19</a:t>
            </a:r>
            <a:r>
              <a:rPr sz="28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.1  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磁场</a:t>
            </a:r>
            <a:endParaRPr lang="en-US" altLang="zh-CN" sz="2800" b="1" dirty="0" smtClean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  <a:p>
            <a:pPr lvl="0" defTabSz="762000">
              <a:spcBef>
                <a:spcPts val="1900"/>
              </a:spcBef>
              <a:defRPr sz="1800"/>
            </a:pPr>
            <a:r>
              <a:rPr sz="28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§</a:t>
            </a:r>
            <a:r>
              <a:rPr lang="en-US" sz="28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19</a:t>
            </a:r>
            <a:r>
              <a:rPr sz="28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.2  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点电荷受到的磁力</a:t>
            </a:r>
            <a:endParaRPr sz="28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  <a:p>
            <a:pPr lvl="0" defTabSz="762000">
              <a:spcBef>
                <a:spcPts val="1400"/>
              </a:spcBef>
              <a:defRPr sz="1800"/>
            </a:pPr>
            <a:r>
              <a:rPr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§</a:t>
            </a:r>
            <a:r>
              <a:rPr 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19</a:t>
            </a:r>
            <a:r>
              <a:rPr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.3  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垂直于匀强磁场运动的带电粒子</a:t>
            </a:r>
            <a:endParaRPr lang="en-US" altLang="zh-CN" sz="2800" b="1" dirty="0" smtClean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  <a:p>
            <a:pPr lvl="0" defTabSz="762000">
              <a:spcBef>
                <a:spcPts val="1400"/>
              </a:spcBef>
              <a:defRPr sz="1800"/>
            </a:pPr>
            <a:r>
              <a:rPr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§</a:t>
            </a:r>
            <a:r>
              <a:rPr 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19</a:t>
            </a:r>
            <a:r>
              <a:rPr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.4</a:t>
            </a:r>
            <a:r>
              <a:rPr 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  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带电粒子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在匀强磁场中的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运动：一般情况</a:t>
            </a:r>
            <a:endParaRPr lang="en-US" altLang="zh-CN" sz="2800" b="1" dirty="0" smtClean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  <a:p>
            <a:pPr defTabSz="762000">
              <a:spcBef>
                <a:spcPts val="1400"/>
              </a:spcBef>
              <a:defRPr sz="1800"/>
            </a:pPr>
            <a:r>
              <a:rPr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§</a:t>
            </a:r>
            <a:r>
              <a:rPr 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19</a:t>
            </a:r>
            <a:r>
              <a:rPr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.5  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在相互垂直的电场和磁场中的带电粒子</a:t>
            </a:r>
            <a:endParaRPr lang="en-US" altLang="zh-CN" sz="2800" b="1" dirty="0" smtClean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  <a:p>
            <a:pPr defTabSz="762000">
              <a:spcBef>
                <a:spcPts val="1400"/>
              </a:spcBef>
              <a:defRPr sz="1800"/>
            </a:pPr>
            <a:r>
              <a:rPr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§</a:t>
            </a:r>
            <a:r>
              <a:rPr 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19</a:t>
            </a:r>
            <a:r>
              <a:rPr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.6  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载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流导线受到的磁力</a:t>
            </a:r>
            <a:endParaRPr lang="en-US" altLang="zh-CN" sz="2800" b="1" dirty="0" smtClean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  <a:p>
            <a:pPr defTabSz="762000">
              <a:spcBef>
                <a:spcPts val="1400"/>
              </a:spcBef>
              <a:defRPr sz="1800"/>
            </a:pPr>
            <a:r>
              <a:rPr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§</a:t>
            </a:r>
            <a:r>
              <a:rPr 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19</a:t>
            </a:r>
            <a:r>
              <a:rPr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.7  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载流线圈受到的力矩</a:t>
            </a:r>
            <a:endParaRPr lang="en-US" altLang="zh-CN" sz="2800" b="1" dirty="0" smtClean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  <a:p>
            <a:pPr defTabSz="762000">
              <a:spcBef>
                <a:spcPts val="1400"/>
              </a:spcBef>
              <a:defRPr sz="1800"/>
            </a:pPr>
            <a:r>
              <a:rPr lang="en-US" altLang="zh-CN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§19.8  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电流激发的磁场</a:t>
            </a:r>
            <a:endParaRPr lang="en-US" altLang="zh-CN" sz="2800" b="1" dirty="0" smtClean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  <a:p>
            <a:pPr defTabSz="762000">
              <a:spcBef>
                <a:spcPts val="1400"/>
              </a:spcBef>
              <a:defRPr sz="1800"/>
            </a:pPr>
            <a:r>
              <a:rPr lang="en-US" altLang="zh-CN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§19.9  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安培环路定理</a:t>
            </a:r>
            <a:endParaRPr lang="en-US" altLang="zh-CN" sz="2800" b="1" dirty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  <a:p>
            <a:pPr defTabSz="762000">
              <a:spcBef>
                <a:spcPts val="1400"/>
              </a:spcBef>
              <a:defRPr sz="1800"/>
            </a:pPr>
            <a:r>
              <a:rPr lang="en-US" altLang="zh-CN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§19.10  </a:t>
            </a:r>
            <a:r>
              <a:rPr lang="zh-CN" altLang="en-US" sz="28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SimHei"/>
                <a:sym typeface="SimHei"/>
              </a:rPr>
              <a:t>磁介质</a:t>
            </a:r>
            <a:endParaRPr sz="2800" b="1" dirty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SimHei"/>
              <a:sym typeface="SimHei"/>
            </a:endParaRPr>
          </a:p>
        </p:txBody>
      </p:sp>
    </p:spTree>
    <p:extLst>
      <p:ext uri="{BB962C8B-B14F-4D97-AF65-F5344CB8AC3E}">
        <p14:creationId xmlns:p14="http://schemas.microsoft.com/office/powerpoint/2010/main" val="311813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gia12141_co_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328" y="383332"/>
            <a:ext cx="5580053" cy="5204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291671" y="116633"/>
            <a:ext cx="5711957" cy="5970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/>
              <a:t>       有些细菌生活在海底的淤泥里。只要它们在泥里，一切都很好。但若泥被搅起，就没那么乐观了。泡在水里太久，细菌将无法生存，所以它们必须尽快地游回泥里。问题是：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对细菌来说，分清哪个方向是向下的</a:t>
            </a:r>
            <a:r>
              <a:rPr lang="zh-CN" altLang="en-US" sz="2800" b="1" dirty="0" smtClean="0"/>
              <a:t>，并不容易。由于细菌的密度几乎与水相同，所以浮力阻止它们“</a:t>
            </a:r>
            <a:r>
              <a:rPr lang="zh-CN" altLang="en-US" sz="2800" b="1" dirty="0"/>
              <a:t>感觉</a:t>
            </a:r>
            <a:r>
              <a:rPr lang="zh-CN" altLang="en-US" sz="2800" b="1" dirty="0" smtClean="0"/>
              <a:t>” 向下的重力。然而，细菌能沿着正确的方向游回泥里。它们是如何做到的呢？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3822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43"/>
          <p:cNvSpPr txBox="1">
            <a:spLocks noChangeArrowheads="1"/>
          </p:cNvSpPr>
          <p:nvPr/>
        </p:nvSpPr>
        <p:spPr bwMode="auto">
          <a:xfrm>
            <a:off x="239185" y="908051"/>
            <a:ext cx="288078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一、磁现象</a:t>
            </a:r>
          </a:p>
        </p:txBody>
      </p:sp>
      <p:sp>
        <p:nvSpPr>
          <p:cNvPr id="6153" name="Text Box 4"/>
          <p:cNvSpPr txBox="1">
            <a:spLocks noChangeArrowheads="1"/>
          </p:cNvSpPr>
          <p:nvPr/>
        </p:nvSpPr>
        <p:spPr bwMode="auto">
          <a:xfrm>
            <a:off x="204903" y="146456"/>
            <a:ext cx="728768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§</a:t>
            </a:r>
            <a:r>
              <a:rPr kumimoji="1" lang="en-US" altLang="zh-CN" sz="32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19.1 </a:t>
            </a:r>
            <a:r>
              <a:rPr kumimoji="1" lang="zh-CN" altLang="en-US" sz="32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磁场</a:t>
            </a:r>
          </a:p>
        </p:txBody>
      </p:sp>
      <p:pic>
        <p:nvPicPr>
          <p:cNvPr id="1041" name="Picture 17" descr="http://img5.imgtn.bdimg.com/it/u=970974088,3248131801&amp;fm=21&amp;gp=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06" y="1437536"/>
            <a:ext cx="3276079" cy="139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755208" y="280746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华文楷体" pitchFamily="2" charset="-122"/>
                <a:ea typeface="华文楷体" pitchFamily="2" charset="-122"/>
              </a:rPr>
              <a:t>司南</a:t>
            </a:r>
          </a:p>
        </p:txBody>
      </p:sp>
      <p:pic>
        <p:nvPicPr>
          <p:cNvPr id="1046" name="Picture 22" descr="http://img4.imgtn.bdimg.com/it/u=2753097360,952687960&amp;fm=21&amp;gp=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211" y="1520688"/>
            <a:ext cx="2899688" cy="1649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375418" y="322847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2500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年前，古希腊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9486" y="3204175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汉朝（公元前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202-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公元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220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）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047" name="Picture 2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720" y="1318209"/>
            <a:ext cx="2982979" cy="1677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" name="Text Box 311"/>
          <p:cNvSpPr txBox="1">
            <a:spLocks noChangeArrowheads="1"/>
          </p:cNvSpPr>
          <p:nvPr/>
        </p:nvSpPr>
        <p:spPr bwMode="auto">
          <a:xfrm>
            <a:off x="20905" y="3607173"/>
            <a:ext cx="9673171" cy="185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kumimoji="1" lang="zh-CN" altLang="en-US" sz="2800" b="1" dirty="0" smtClean="0">
                <a:latin typeface="黑体" pitchFamily="49" charset="-122"/>
                <a:ea typeface="黑体" pitchFamily="49" charset="-122"/>
              </a:rPr>
              <a:t> 磁铁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的磁现象</a:t>
            </a:r>
          </a:p>
          <a:p>
            <a:pPr marL="1085850" lvl="1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kumimoji="1" lang="zh-CN" altLang="en-US" sz="2400" b="1" dirty="0" smtClean="0">
                <a:latin typeface="黑体" pitchFamily="49" charset="-122"/>
                <a:ea typeface="黑体" pitchFamily="49" charset="-122"/>
              </a:rPr>
              <a:t>磁极：北极（</a:t>
            </a:r>
            <a:r>
              <a:rPr kumimoji="1" lang="en-US" altLang="zh-CN" sz="2400" b="1" dirty="0">
                <a:latin typeface="黑体" pitchFamily="49" charset="-122"/>
                <a:ea typeface="黑体" pitchFamily="49" charset="-122"/>
              </a:rPr>
              <a:t>N</a:t>
            </a:r>
            <a:r>
              <a:rPr kumimoji="1" lang="zh-CN" altLang="en-US" sz="2400" b="1" dirty="0" smtClean="0">
                <a:latin typeface="黑体" pitchFamily="49" charset="-122"/>
                <a:ea typeface="黑体" pitchFamily="49" charset="-122"/>
              </a:rPr>
              <a:t>），南极（</a:t>
            </a:r>
            <a:r>
              <a:rPr kumimoji="1" lang="en-US" altLang="zh-CN" sz="2400" b="1" dirty="0">
                <a:latin typeface="黑体" pitchFamily="49" charset="-122"/>
                <a:ea typeface="黑体" pitchFamily="49" charset="-122"/>
              </a:rPr>
              <a:t>S</a:t>
            </a:r>
            <a:r>
              <a:rPr kumimoji="1" lang="zh-CN" altLang="en-US" sz="2400" b="1" dirty="0" smtClean="0">
                <a:latin typeface="黑体" pitchFamily="49" charset="-122"/>
                <a:ea typeface="黑体" pitchFamily="49" charset="-122"/>
              </a:rPr>
              <a:t>）</a:t>
            </a:r>
            <a:endParaRPr kumimoji="1" lang="en-US" altLang="zh-CN" sz="2400" b="1" dirty="0">
              <a:latin typeface="黑体" pitchFamily="49" charset="-122"/>
              <a:ea typeface="黑体" pitchFamily="49" charset="-122"/>
            </a:endParaRPr>
          </a:p>
          <a:p>
            <a:pPr marL="1085850" lvl="1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kumimoji="1" lang="zh-CN" altLang="en-US" sz="2400" b="1" dirty="0" smtClean="0">
                <a:latin typeface="黑体" pitchFamily="49" charset="-122"/>
                <a:ea typeface="黑体" pitchFamily="49" charset="-122"/>
              </a:rPr>
              <a:t>相互作用</a:t>
            </a:r>
            <a:r>
              <a:rPr kumimoji="1" lang="zh-CN" altLang="en-US" sz="2400" b="1" dirty="0">
                <a:latin typeface="黑体" pitchFamily="49" charset="-122"/>
                <a:ea typeface="黑体" pitchFamily="49" charset="-122"/>
              </a:rPr>
              <a:t>：</a:t>
            </a:r>
            <a:r>
              <a:rPr kumimoji="1" lang="zh-CN" altLang="en-US" sz="2400" b="1" dirty="0" smtClean="0">
                <a:latin typeface="黑体" pitchFamily="49" charset="-122"/>
                <a:ea typeface="黑体" pitchFamily="49" charset="-122"/>
              </a:rPr>
              <a:t>同极相斥</a:t>
            </a:r>
            <a:r>
              <a:rPr kumimoji="1" lang="zh-CN" altLang="en-US" sz="2400" b="1" dirty="0">
                <a:latin typeface="黑体" pitchFamily="49" charset="-122"/>
                <a:ea typeface="黑体" pitchFamily="49" charset="-122"/>
              </a:rPr>
              <a:t>，</a:t>
            </a:r>
            <a:r>
              <a:rPr kumimoji="1" lang="zh-CN" altLang="en-US" sz="2400" b="1" dirty="0" smtClean="0">
                <a:latin typeface="黑体" pitchFamily="49" charset="-122"/>
                <a:ea typeface="黑体" pitchFamily="49" charset="-122"/>
              </a:rPr>
              <a:t>异极相吸</a:t>
            </a:r>
            <a:endParaRPr kumimoji="1" lang="en-US" altLang="zh-CN" sz="2400" b="1" dirty="0" smtClean="0">
              <a:latin typeface="黑体" pitchFamily="49" charset="-122"/>
              <a:ea typeface="黑体" pitchFamily="49" charset="-122"/>
            </a:endParaRPr>
          </a:p>
          <a:p>
            <a:pPr marL="1085850" lvl="1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kumimoji="1" lang="zh-CN" altLang="en-US" sz="2400" b="1" dirty="0" smtClean="0">
                <a:latin typeface="黑体" pitchFamily="49" charset="-122"/>
                <a:ea typeface="黑体" pitchFamily="49" charset="-122"/>
              </a:rPr>
              <a:t>没有磁单极</a:t>
            </a:r>
            <a:endParaRPr kumimoji="1" lang="zh-CN" altLang="en-US" sz="2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924535" y="31629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磁铁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511870" y="5123300"/>
            <a:ext cx="7196673" cy="1584176"/>
            <a:chOff x="3319082" y="5217190"/>
            <a:chExt cx="5397505" cy="1584176"/>
          </a:xfrm>
        </p:grpSpPr>
        <p:sp>
          <p:nvSpPr>
            <p:cNvPr id="13" name="TextBox 10"/>
            <p:cNvSpPr txBox="1"/>
            <p:nvPr/>
          </p:nvSpPr>
          <p:spPr>
            <a:xfrm>
              <a:off x="7766567" y="6206138"/>
              <a:ext cx="9500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>
                  <a:latin typeface="黑体" pitchFamily="49" charset="-122"/>
                  <a:ea typeface="黑体" pitchFamily="49" charset="-122"/>
                </a:rPr>
                <a:t>不存在</a:t>
              </a:r>
              <a:endParaRPr lang="zh-CN" altLang="en-US" sz="2800" b="1" dirty="0"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319082" y="5217190"/>
              <a:ext cx="648072" cy="648072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 smtClean="0"/>
                <a:t>+</a:t>
              </a:r>
              <a:endParaRPr lang="zh-CN" altLang="en-US" sz="4000" b="1" dirty="0"/>
            </a:p>
          </p:txBody>
        </p:sp>
        <p:sp>
          <p:nvSpPr>
            <p:cNvPr id="15" name="椭圆 14"/>
            <p:cNvSpPr/>
            <p:nvPr/>
          </p:nvSpPr>
          <p:spPr>
            <a:xfrm>
              <a:off x="4687234" y="5217190"/>
              <a:ext cx="648072" cy="648072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 smtClean="0"/>
                <a:t>-</a:t>
              </a:r>
              <a:endParaRPr lang="zh-CN" altLang="en-US" sz="4000" b="1" dirty="0"/>
            </a:p>
          </p:txBody>
        </p:sp>
        <p:sp>
          <p:nvSpPr>
            <p:cNvPr id="16" name="椭圆 15"/>
            <p:cNvSpPr/>
            <p:nvPr/>
          </p:nvSpPr>
          <p:spPr>
            <a:xfrm>
              <a:off x="3319082" y="6153294"/>
              <a:ext cx="648072" cy="648072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 smtClean="0"/>
                <a:t>N</a:t>
              </a:r>
              <a:endParaRPr lang="zh-CN" altLang="en-US" sz="4000" b="1" dirty="0"/>
            </a:p>
          </p:txBody>
        </p:sp>
        <p:sp>
          <p:nvSpPr>
            <p:cNvPr id="17" name="椭圆 16"/>
            <p:cNvSpPr/>
            <p:nvPr/>
          </p:nvSpPr>
          <p:spPr>
            <a:xfrm>
              <a:off x="4687234" y="6153294"/>
              <a:ext cx="648072" cy="648072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 smtClean="0"/>
                <a:t>S</a:t>
              </a:r>
              <a:endParaRPr lang="zh-CN" altLang="en-US" sz="4000" b="1" dirty="0"/>
            </a:p>
          </p:txBody>
        </p:sp>
        <p:sp>
          <p:nvSpPr>
            <p:cNvPr id="18" name="TextBox 15"/>
            <p:cNvSpPr txBox="1"/>
            <p:nvPr/>
          </p:nvSpPr>
          <p:spPr>
            <a:xfrm>
              <a:off x="5839362" y="5248548"/>
              <a:ext cx="6795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>
                  <a:latin typeface="黑体" pitchFamily="49" charset="-122"/>
                  <a:ea typeface="黑体" pitchFamily="49" charset="-122"/>
                </a:rPr>
                <a:t>电荷</a:t>
              </a:r>
              <a:endParaRPr lang="zh-CN" altLang="en-US" sz="2800" b="1" dirty="0"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19" name="TextBox 16"/>
            <p:cNvSpPr txBox="1"/>
            <p:nvPr/>
          </p:nvSpPr>
          <p:spPr>
            <a:xfrm>
              <a:off x="5742983" y="6225302"/>
              <a:ext cx="9500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磁单极</a:t>
              </a:r>
            </a:p>
          </p:txBody>
        </p:sp>
        <p:sp>
          <p:nvSpPr>
            <p:cNvPr id="20" name="TextBox 17"/>
            <p:cNvSpPr txBox="1"/>
            <p:nvPr/>
          </p:nvSpPr>
          <p:spPr>
            <a:xfrm>
              <a:off x="7766567" y="5217190"/>
              <a:ext cx="6795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>
                  <a:latin typeface="黑体" pitchFamily="49" charset="-122"/>
                  <a:ea typeface="黑体" pitchFamily="49" charset="-122"/>
                </a:rPr>
                <a:t>存在</a:t>
              </a:r>
              <a:endParaRPr lang="zh-CN" altLang="en-US" sz="2800" b="1" dirty="0">
                <a:latin typeface="黑体" pitchFamily="49" charset="-122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346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gia12141_19_0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6" r="10360" b="6360"/>
          <a:stretch/>
        </p:blipFill>
        <p:spPr bwMode="auto">
          <a:xfrm>
            <a:off x="3132273" y="4008329"/>
            <a:ext cx="4025403" cy="2392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 descr="gia12141_16_3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7"/>
          <a:stretch/>
        </p:blipFill>
        <p:spPr bwMode="auto">
          <a:xfrm>
            <a:off x="7787951" y="3858874"/>
            <a:ext cx="4404049" cy="2999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9323935" y="391548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磁偶极子</a:t>
            </a:r>
            <a:endParaRPr lang="zh-CN" altLang="en-US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168342" y="2971451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电偶极子</a:t>
            </a:r>
            <a:endParaRPr lang="zh-CN" altLang="en-US" sz="3200" b="1" dirty="0"/>
          </a:p>
        </p:txBody>
      </p:sp>
      <p:pic>
        <p:nvPicPr>
          <p:cNvPr id="2" name="Picture 3" descr="gia12141_19_01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8"/>
          <a:stretch/>
        </p:blipFill>
        <p:spPr bwMode="auto">
          <a:xfrm>
            <a:off x="-3828" y="-47501"/>
            <a:ext cx="7924031" cy="3650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3763" y="3858874"/>
            <a:ext cx="27646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（</a:t>
            </a:r>
            <a:r>
              <a:rPr lang="en-US" altLang="zh-CN" sz="2000" b="1" dirty="0" smtClean="0"/>
              <a:t>b</a:t>
            </a:r>
            <a:r>
              <a:rPr lang="zh-CN" altLang="en-US" sz="2000" b="1" dirty="0" smtClean="0"/>
              <a:t>）条形磁铁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磁感应线</a:t>
            </a:r>
            <a:r>
              <a:rPr lang="zh-CN" altLang="en-US" sz="2000" b="1" dirty="0" smtClean="0"/>
              <a:t>示意图，其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磁感应强度</a:t>
            </a:r>
            <a:r>
              <a:rPr lang="zh-CN" altLang="en-US" sz="2000" b="1" dirty="0" smtClean="0"/>
              <a:t>沿着磁感应线的切线方向。</a:t>
            </a:r>
            <a:endParaRPr lang="zh-CN" alt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640064" y="976323"/>
            <a:ext cx="3200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条形磁铁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是磁偶极子的一个实例</a:t>
            </a:r>
            <a:r>
              <a:rPr lang="zh-CN" altLang="en-US" sz="2400" b="1" dirty="0" smtClean="0"/>
              <a:t>，偶极即指相反的两极。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4205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3054" y="904439"/>
            <a:ext cx="68054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/>
              <a:t>偶极子一般指相距很近的符号相反的一对电荷或“磁荷”。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754" y="2325186"/>
            <a:ext cx="761590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/>
              <a:t>磁偶极子是类比电偶极子而建立的物理模型。具有等值异号的两个点磁荷构成的系统称为</a:t>
            </a:r>
            <a:r>
              <a:rPr lang="zh-CN" altLang="en-US" sz="2800" b="1" dirty="0" smtClean="0"/>
              <a:t>磁偶极子</a:t>
            </a:r>
            <a:r>
              <a:rPr lang="en-US" altLang="zh-CN" sz="2800" b="1" dirty="0" smtClean="0"/>
              <a:t> </a:t>
            </a:r>
            <a:r>
              <a:rPr lang="zh-CN" altLang="en-US" sz="2800" b="1" dirty="0"/>
              <a:t>。但由于没有发现单独存在的磁单极子，因此磁偶极子的物理模型不是两个磁单极子，而是</a:t>
            </a:r>
            <a:r>
              <a:rPr lang="zh-CN" altLang="en-US" sz="2800" b="1" dirty="0">
                <a:solidFill>
                  <a:srgbClr val="FF0000"/>
                </a:solidFill>
              </a:rPr>
              <a:t>一段封闭回路电流</a:t>
            </a:r>
            <a:r>
              <a:rPr lang="zh-CN" altLang="en-US" sz="2800" b="1" dirty="0"/>
              <a:t>。磁偶极子模型能够很好地描述小尺度闭合电路元产生的磁场分布 </a:t>
            </a:r>
            <a:r>
              <a:rPr lang="en-US" altLang="zh-CN" sz="2800" b="1" dirty="0" smtClean="0"/>
              <a:t> </a:t>
            </a:r>
            <a:r>
              <a:rPr lang="zh-CN" altLang="en-US" sz="2800" b="1" dirty="0"/>
              <a:t>。</a:t>
            </a: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663" y="1237935"/>
            <a:ext cx="3094927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565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gia12141_19_0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7"/>
          <a:stretch/>
        </p:blipFill>
        <p:spPr bwMode="auto">
          <a:xfrm>
            <a:off x="239349" y="260649"/>
            <a:ext cx="11582400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文本框 20"/>
          <p:cNvSpPr txBox="1"/>
          <p:nvPr/>
        </p:nvSpPr>
        <p:spPr>
          <a:xfrm>
            <a:off x="239349" y="3140969"/>
            <a:ext cx="1158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图</a:t>
            </a:r>
            <a:r>
              <a:rPr lang="en-US" altLang="zh-CN" sz="2400" b="1" dirty="0" smtClean="0"/>
              <a:t>19.3  </a:t>
            </a:r>
            <a:r>
              <a:rPr lang="zh-CN" altLang="en-US" sz="2400" b="1" dirty="0" smtClean="0"/>
              <a:t>磁体外部的磁感应线由</a:t>
            </a:r>
            <a:r>
              <a:rPr lang="en-US" altLang="zh-CN" sz="2400" b="1" dirty="0" smtClean="0"/>
              <a:t>N</a:t>
            </a:r>
            <a:r>
              <a:rPr lang="zh-CN" altLang="en-US" sz="2400" b="1" dirty="0" smtClean="0"/>
              <a:t>极到</a:t>
            </a:r>
            <a:r>
              <a:rPr lang="en-US" altLang="zh-CN" sz="2400" b="1" dirty="0" smtClean="0"/>
              <a:t>S</a:t>
            </a:r>
            <a:r>
              <a:rPr lang="zh-CN" altLang="en-US" sz="2400" b="1" dirty="0" smtClean="0"/>
              <a:t>极 。</a:t>
            </a:r>
            <a:r>
              <a:rPr lang="en-US" altLang="zh-CN" sz="2400" b="1" dirty="0" smtClean="0"/>
              <a:t>a</a:t>
            </a:r>
            <a:r>
              <a:rPr lang="zh-CN" altLang="en-US" sz="2400" b="1" dirty="0" smtClean="0"/>
              <a:t>）一个</a:t>
            </a:r>
            <a:r>
              <a:rPr lang="en-US" altLang="zh-CN" sz="2400" b="1" dirty="0" smtClean="0"/>
              <a:t>C</a:t>
            </a:r>
            <a:r>
              <a:rPr lang="zh-CN" altLang="en-US" sz="2400" b="1" dirty="0" smtClean="0"/>
              <a:t>形磁铁两极面间磁场近似均匀；  </a:t>
            </a:r>
            <a:r>
              <a:rPr lang="en-US" altLang="zh-CN" sz="2400" b="1" dirty="0" smtClean="0"/>
              <a:t>b)</a:t>
            </a:r>
            <a:r>
              <a:rPr lang="zh-CN" altLang="en-US" sz="2400" b="1" dirty="0" smtClean="0"/>
              <a:t>一个冰箱磁贴背面（侧视图）具有交替的南北两极带</a:t>
            </a:r>
            <a:endParaRPr lang="zh-CN" altLang="en-US" sz="2400" b="1" dirty="0"/>
          </a:p>
        </p:txBody>
      </p:sp>
      <p:pic>
        <p:nvPicPr>
          <p:cNvPr id="22" name="Picture 3" descr="gia12141_19_0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9" r="18552" b="6993"/>
          <a:stretch/>
        </p:blipFill>
        <p:spPr bwMode="auto">
          <a:xfrm rot="16200000">
            <a:off x="4743006" y="2118868"/>
            <a:ext cx="2575086" cy="6566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6932" y="4365105"/>
            <a:ext cx="2747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罗盘针的北极指向磁场方向。</a:t>
            </a:r>
            <a:endParaRPr lang="zh-CN" altLang="en-US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840416" y="455131"/>
            <a:ext cx="2173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海尔贝克阵列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840416" y="965121"/>
            <a:ext cx="1981333" cy="289756"/>
            <a:chOff x="7380312" y="965121"/>
            <a:chExt cx="1486000" cy="289756"/>
          </a:xfrm>
        </p:grpSpPr>
        <p:cxnSp>
          <p:nvCxnSpPr>
            <p:cNvPr id="5" name="直接箭头连接符 4"/>
            <p:cNvCxnSpPr/>
            <p:nvPr/>
          </p:nvCxnSpPr>
          <p:spPr>
            <a:xfrm flipH="1">
              <a:off x="7380312" y="1052736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8015064" y="1054714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rot="5400000">
              <a:off x="7676728" y="1110861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rot="16200000">
              <a:off x="8316416" y="1109137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H="1">
              <a:off x="8578280" y="1054714"/>
              <a:ext cx="28803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149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04533" y="119462"/>
            <a:ext cx="71035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</a:t>
            </a:r>
            <a:r>
              <a:rPr kumimoji="1" lang="zh-CN" altLang="en-US" sz="32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、磁感应线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93038" y="1540594"/>
            <a:ext cx="903963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33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磁感线上各点的</a:t>
            </a:r>
            <a:r>
              <a:rPr kumimoji="1" lang="zh-CN" altLang="en-US" sz="2800" b="1" dirty="0" smtClean="0">
                <a:solidFill>
                  <a:srgbClr val="FF0033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切线方向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表示此处</a:t>
            </a:r>
            <a:r>
              <a:rPr kumimoji="1" lang="zh-CN" altLang="en-US" sz="2800" b="1" u="sng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磁场的方向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93038" y="2351031"/>
            <a:ext cx="710376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磁感线的</a:t>
            </a:r>
            <a:r>
              <a:rPr kumimoji="1" lang="zh-CN" altLang="en-US" sz="2800" b="1" dirty="0" smtClean="0">
                <a:solidFill>
                  <a:srgbClr val="FF0033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疏密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反映</a:t>
            </a:r>
            <a:r>
              <a:rPr kumimoji="1" lang="zh-CN" altLang="en-US" sz="2800" b="1" u="sng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磁场的强弱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88239" y="1018275"/>
            <a:ext cx="10274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1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磁场的定性描述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——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磁感应线（磁感线）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61419" y="3593447"/>
            <a:ext cx="89029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）电流产生的磁场的磁感应线的性质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831638" y="4271289"/>
            <a:ext cx="364913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与电流套连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825475" y="4899367"/>
            <a:ext cx="650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闭合曲线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磁单极子不存在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)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2825475" y="5540385"/>
            <a:ext cx="375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defTabSz="7620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互不相交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2825475" y="6181403"/>
            <a:ext cx="680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defTabSz="7620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方向与电流成右手螺旋关系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70149" y="2996954"/>
            <a:ext cx="5510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磁感应线总是形成闭合回路。</a:t>
            </a:r>
            <a:endParaRPr lang="zh-CN" alt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819991" y="3870108"/>
            <a:ext cx="2571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例如：</a:t>
            </a:r>
            <a:r>
              <a:rPr lang="en-US" altLang="zh-CN" sz="2000" b="1" dirty="0" smtClean="0"/>
              <a:t>127</a:t>
            </a:r>
            <a:r>
              <a:rPr lang="zh-CN" altLang="en-US" sz="2000" b="1" dirty="0" smtClean="0"/>
              <a:t>页图</a:t>
            </a:r>
            <a:r>
              <a:rPr lang="en-US" altLang="zh-CN" sz="2000" b="1" dirty="0" smtClean="0"/>
              <a:t>19.37</a:t>
            </a:r>
            <a:r>
              <a:rPr lang="zh-CN" altLang="en-US" sz="2000" b="1" dirty="0" smtClean="0"/>
              <a:t>圆电流的磁感应线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6315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1816" y="0"/>
            <a:ext cx="5745784" cy="980729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b="1" dirty="0" smtClean="0">
                <a:solidFill>
                  <a:srgbClr val="0000FF"/>
                </a:solidFill>
              </a:rPr>
              <a:t>5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、地球的磁场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25602" name="Picture 2" descr="http://pic.baike.soso.com/p/20140118/20140118115342-155662416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066" y="742734"/>
            <a:ext cx="5882613" cy="455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08781" y="5294371"/>
            <a:ext cx="11425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在一般情况下，地面的磁场具有水平和垂直分量。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磁极是在磁场与地面完全垂直处</a:t>
            </a:r>
            <a:r>
              <a:rPr lang="zh-CN" altLang="en-US" sz="2400" b="1" dirty="0" smtClean="0"/>
              <a:t>，并不 与地理的两极即转轴与地面相交处重合。地面附近的磁场近似于一个偶极子的磁场，像是虚构的条形磁铁给出的。</a:t>
            </a:r>
            <a:endParaRPr lang="zh-CN" altLang="en-US" sz="2400" b="1" dirty="0"/>
          </a:p>
        </p:txBody>
      </p:sp>
      <p:sp>
        <p:nvSpPr>
          <p:cNvPr id="6" name="矩形 5"/>
          <p:cNvSpPr/>
          <p:nvPr/>
        </p:nvSpPr>
        <p:spPr>
          <a:xfrm>
            <a:off x="8041710" y="1340769"/>
            <a:ext cx="3808116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/>
              <a:t>请注意，该条形磁铁的</a:t>
            </a:r>
            <a:r>
              <a:rPr lang="en-US" altLang="zh-CN" sz="2800" b="1" dirty="0"/>
              <a:t>S</a:t>
            </a:r>
            <a:r>
              <a:rPr lang="zh-CN" altLang="en-US" sz="2800" b="1" dirty="0"/>
              <a:t>（南）极指向北极地带，而磁铁的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（北）极指向南极</a:t>
            </a:r>
            <a:r>
              <a:rPr lang="zh-CN" altLang="en-US" sz="2800" b="1" dirty="0" smtClean="0"/>
              <a:t>地区，存在磁偏角。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3098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" y="188641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0000FF"/>
                </a:solidFill>
              </a:rPr>
              <a:t>应用：趋磁细菌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pic>
        <p:nvPicPr>
          <p:cNvPr id="5" name="Picture 4" descr="gia12141_co_1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0"/>
            <a:ext cx="5423925" cy="5059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5608" y="908721"/>
            <a:ext cx="664645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/>
              <a:t>当细菌被搅进水里，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它们的“</a:t>
            </a:r>
            <a:r>
              <a:rPr lang="zh-CN" altLang="en-US" sz="2400" b="1" dirty="0">
                <a:solidFill>
                  <a:srgbClr val="FF0000"/>
                </a:solidFill>
              </a:rPr>
              <a:t>指南针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” 自动转向磁场排列。细菌会沿着磁感应线向前游动。</a:t>
            </a:r>
            <a:r>
              <a:rPr lang="zh-CN" altLang="en-US" sz="2400" b="1" dirty="0" smtClean="0"/>
              <a:t>在北半球，其“指南针”的</a:t>
            </a:r>
            <a:r>
              <a:rPr lang="en-US" altLang="zh-CN" sz="2400" b="1" dirty="0" smtClean="0"/>
              <a:t>N</a:t>
            </a:r>
            <a:r>
              <a:rPr lang="zh-CN" altLang="en-US" sz="2400" b="1" dirty="0" smtClean="0"/>
              <a:t>极面向前方。细菌在磁场方向上游动，磁场有个向下的分量。于是它们可回到泥中。在南半球，细菌的</a:t>
            </a:r>
            <a:r>
              <a:rPr lang="en-US" altLang="zh-CN" sz="2400" b="1" dirty="0" smtClean="0"/>
              <a:t>S</a:t>
            </a:r>
            <a:r>
              <a:rPr lang="zh-CN" altLang="en-US" sz="2400" b="1" dirty="0" smtClean="0"/>
              <a:t>极朝前，它们必须向磁场的反方向游动，因为磁场有一个向上的分量。</a:t>
            </a:r>
            <a:endParaRPr lang="zh-CN" altLang="en-US" sz="2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6809850" y="5301208"/>
            <a:ext cx="3936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磁铁矿晶体，这些晶体是微小的永久磁铁。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30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4"/>
          <a:stretch/>
        </p:blipFill>
        <p:spPr bwMode="auto">
          <a:xfrm>
            <a:off x="628651" y="989704"/>
            <a:ext cx="10932583" cy="5030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250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80856" y="180667"/>
            <a:ext cx="45125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/>
              <a:t>磁的基本现象</a:t>
            </a:r>
            <a:endParaRPr lang="zh-CN" altLang="en-US" sz="4000" b="1" dirty="0"/>
          </a:p>
        </p:txBody>
      </p:sp>
      <p:grpSp>
        <p:nvGrpSpPr>
          <p:cNvPr id="3" name="组合 2"/>
          <p:cNvGrpSpPr/>
          <p:nvPr/>
        </p:nvGrpSpPr>
        <p:grpSpPr>
          <a:xfrm>
            <a:off x="239351" y="1449873"/>
            <a:ext cx="11713300" cy="3806924"/>
            <a:chOff x="611560" y="1638300"/>
            <a:chExt cx="8312001" cy="3581400"/>
          </a:xfrm>
        </p:grpSpPr>
        <p:pic>
          <p:nvPicPr>
            <p:cNvPr id="6656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1916832"/>
              <a:ext cx="1890713" cy="25765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656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3808" y="1776338"/>
              <a:ext cx="3695700" cy="2857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6564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248" y="1638300"/>
              <a:ext cx="2119313" cy="3581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" name="TextBox 6"/>
          <p:cNvSpPr txBox="1"/>
          <p:nvPr/>
        </p:nvSpPr>
        <p:spPr>
          <a:xfrm>
            <a:off x="791515" y="888553"/>
            <a:ext cx="4224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磁铁</a:t>
            </a:r>
            <a:r>
              <a:rPr lang="zh-CN" altLang="en-US" sz="2800" b="1" dirty="0"/>
              <a:t>对</a:t>
            </a:r>
            <a:r>
              <a:rPr lang="zh-CN" altLang="en-US" sz="2800" b="1" dirty="0" smtClean="0"/>
              <a:t>电流的作用</a:t>
            </a:r>
            <a:endParaRPr lang="zh-CN" alt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35000" y="5256797"/>
            <a:ext cx="10261600" cy="1122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/>
              <a:t>安培、毕奥、萨伐尔和拉普拉斯等人先后提出 了电流之间磁相互作用以及电流产生磁场的定量理论。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2905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38" y="996329"/>
            <a:ext cx="4744562" cy="4339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114" y="1162851"/>
            <a:ext cx="5479386" cy="4314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310855" y="139700"/>
            <a:ext cx="45125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/>
              <a:t>磁的基本现象</a:t>
            </a:r>
            <a:endParaRPr lang="zh-CN" altLang="en-US" sz="4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108200" y="5477492"/>
            <a:ext cx="728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磁现象的根源是什么？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51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36355" y="0"/>
            <a:ext cx="45125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0000FF"/>
                </a:solidFill>
              </a:rPr>
              <a:t>磁的基本现象</a:t>
            </a: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8800" y="871736"/>
            <a:ext cx="9245600" cy="4550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600" b="1" dirty="0" smtClean="0"/>
              <a:t>1821</a:t>
            </a:r>
            <a:r>
              <a:rPr lang="zh-CN" altLang="en-US" sz="2600" b="1" dirty="0" smtClean="0"/>
              <a:t>年，安培提出著名的关于物质磁性本质的假说：“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分子电流假说</a:t>
            </a:r>
            <a:r>
              <a:rPr lang="zh-CN" altLang="en-US" sz="2600" b="1" dirty="0" smtClean="0"/>
              <a:t>”，“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一切磁现象的根源是电流</a:t>
            </a:r>
            <a:r>
              <a:rPr lang="zh-CN" altLang="en-US" sz="2600" b="1" dirty="0" smtClean="0"/>
              <a:t>”。</a:t>
            </a:r>
            <a:endParaRPr lang="en-US" altLang="zh-CN" sz="2600" b="1" dirty="0" smtClean="0"/>
          </a:p>
          <a:p>
            <a:pPr>
              <a:lnSpc>
                <a:spcPct val="125000"/>
              </a:lnSpc>
            </a:pPr>
            <a:r>
              <a:rPr lang="zh-CN" altLang="en-US" sz="2600" b="1" dirty="0" smtClean="0"/>
              <a:t>磁性物质中的每个分子都可视为环形电流，称为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分子电流</a:t>
            </a:r>
            <a:r>
              <a:rPr lang="zh-CN" altLang="en-US" sz="2600" b="1" dirty="0" smtClean="0"/>
              <a:t>。当这些分子电流做定向排列时，在宏观上就会显示出磁性，</a:t>
            </a:r>
            <a:r>
              <a:rPr lang="en-US" altLang="zh-CN" sz="2600" b="1" dirty="0" smtClean="0"/>
              <a:t>N</a:t>
            </a:r>
            <a:r>
              <a:rPr lang="zh-CN" altLang="en-US" sz="2600" b="1" dirty="0" smtClean="0"/>
              <a:t>极和</a:t>
            </a:r>
            <a:r>
              <a:rPr lang="en-US" altLang="zh-CN" sz="2600" b="1" dirty="0" smtClean="0"/>
              <a:t>S</a:t>
            </a:r>
            <a:r>
              <a:rPr lang="zh-CN" altLang="en-US" sz="2600" b="1" dirty="0" smtClean="0"/>
              <a:t>极分布在环形电流的两侧。</a:t>
            </a:r>
            <a:endParaRPr lang="en-US" altLang="zh-CN" sz="2600" b="1" dirty="0" smtClean="0"/>
          </a:p>
          <a:p>
            <a:pPr>
              <a:lnSpc>
                <a:spcPct val="125000"/>
              </a:lnSpc>
            </a:pPr>
            <a:r>
              <a:rPr lang="zh-CN" altLang="en-US" sz="2600" b="1" dirty="0" smtClean="0"/>
              <a:t>现代理论表明，原子、分子内电子的运动形成了分子电流，这就是物质磁性的根源。</a:t>
            </a:r>
            <a:endParaRPr lang="en-US" altLang="zh-CN" sz="2600" b="1" dirty="0" smtClean="0"/>
          </a:p>
          <a:p>
            <a:pPr>
              <a:lnSpc>
                <a:spcPct val="125000"/>
              </a:lnSpc>
            </a:pPr>
            <a:r>
              <a:rPr lang="zh-CN" altLang="en-US" sz="2600" b="1" dirty="0" smtClean="0">
                <a:solidFill>
                  <a:srgbClr val="FF0000"/>
                </a:solidFill>
              </a:rPr>
              <a:t>磁力是运动电荷之间相互作用的表现</a:t>
            </a:r>
            <a:r>
              <a:rPr lang="zh-CN" altLang="en-US" sz="2600" b="1" dirty="0" smtClean="0"/>
              <a:t>。</a:t>
            </a:r>
            <a:endParaRPr lang="en-US" altLang="zh-CN" sz="2600" b="1" dirty="0" smtClean="0"/>
          </a:p>
          <a:p>
            <a:pPr>
              <a:lnSpc>
                <a:spcPct val="125000"/>
              </a:lnSpc>
            </a:pPr>
            <a:r>
              <a:rPr lang="zh-CN" altLang="en-US" sz="2600" b="1" dirty="0" smtClean="0"/>
              <a:t>说明了磁极不能单独存在的原因。</a:t>
            </a:r>
            <a:endParaRPr lang="zh-CN" altLang="en-US" sz="2600" b="1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25" y="4171950"/>
            <a:ext cx="5692775" cy="190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4400" y="2133925"/>
            <a:ext cx="2185103" cy="1547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466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右弧形箭头 1"/>
          <p:cNvSpPr/>
          <p:nvPr/>
        </p:nvSpPr>
        <p:spPr>
          <a:xfrm rot="21043864">
            <a:off x="7780570" y="2871692"/>
            <a:ext cx="2763325" cy="287128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269" name="Text Box 7"/>
          <p:cNvSpPr txBox="1">
            <a:spLocks noChangeArrowheads="1"/>
          </p:cNvSpPr>
          <p:nvPr/>
        </p:nvSpPr>
        <p:spPr bwMode="auto">
          <a:xfrm>
            <a:off x="192480" y="7200"/>
            <a:ext cx="44057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二、</a:t>
            </a:r>
            <a:r>
              <a:rPr kumimoji="1" lang="zh-CN" altLang="en-US" sz="32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磁场</a:t>
            </a:r>
          </a:p>
        </p:txBody>
      </p:sp>
      <p:sp>
        <p:nvSpPr>
          <p:cNvPr id="11270" name="Text Box 18"/>
          <p:cNvSpPr txBox="1">
            <a:spLocks noChangeArrowheads="1"/>
          </p:cNvSpPr>
          <p:nvPr/>
        </p:nvSpPr>
        <p:spPr bwMode="auto">
          <a:xfrm>
            <a:off x="527382" y="804932"/>
            <a:ext cx="97917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36800" indent="-2336800">
              <a:defRPr sz="3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dirty="0">
                <a:latin typeface="黑体" pitchFamily="49" charset="-122"/>
                <a:ea typeface="黑体" pitchFamily="49" charset="-122"/>
              </a:rPr>
              <a:t>1</a:t>
            </a:r>
            <a:r>
              <a:rPr kumimoji="1" lang="zh-CN" altLang="en-US" sz="2800" dirty="0">
                <a:latin typeface="黑体" pitchFamily="49" charset="-122"/>
                <a:ea typeface="黑体" pitchFamily="49" charset="-122"/>
              </a:rPr>
              <a:t>、磁场的概念</a:t>
            </a:r>
            <a:r>
              <a:rPr kumimoji="1" lang="zh-CN" altLang="en-US" sz="2800" dirty="0" smtClean="0">
                <a:latin typeface="黑体" pitchFamily="49" charset="-122"/>
                <a:ea typeface="黑体" pitchFamily="49" charset="-122"/>
              </a:rPr>
              <a:t>：</a:t>
            </a:r>
            <a:endParaRPr kumimoji="1" lang="en-US" altLang="zh-CN" sz="2800" dirty="0" smtClean="0"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磁场</a:t>
            </a:r>
            <a:r>
              <a:rPr kumimoji="1"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就是运动电荷激发或产生的一种物质。</a:t>
            </a:r>
          </a:p>
        </p:txBody>
      </p:sp>
      <p:sp>
        <p:nvSpPr>
          <p:cNvPr id="11271" name="Text Box 19"/>
          <p:cNvSpPr txBox="1">
            <a:spLocks noChangeArrowheads="1"/>
          </p:cNvSpPr>
          <p:nvPr/>
        </p:nvSpPr>
        <p:spPr bwMode="auto">
          <a:xfrm>
            <a:off x="527382" y="2144674"/>
            <a:ext cx="29760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dirty="0">
                <a:latin typeface="黑体" pitchFamily="49" charset="-122"/>
                <a:ea typeface="黑体" pitchFamily="49" charset="-122"/>
              </a:rPr>
              <a:t>2</a:t>
            </a:r>
            <a:r>
              <a:rPr kumimoji="1" lang="zh-CN" altLang="en-US" sz="2800" dirty="0">
                <a:latin typeface="黑体" pitchFamily="49" charset="-122"/>
                <a:ea typeface="黑体" pitchFamily="49" charset="-122"/>
              </a:rPr>
              <a:t>、基本任务</a:t>
            </a:r>
            <a:r>
              <a:rPr kumimoji="1" lang="zh-CN" altLang="en-US" sz="2800" b="0" dirty="0">
                <a:latin typeface="黑体" pitchFamily="49" charset="-122"/>
                <a:ea typeface="黑体" pitchFamily="49" charset="-122"/>
              </a:rPr>
              <a:t>：</a:t>
            </a:r>
          </a:p>
        </p:txBody>
      </p:sp>
      <p:sp>
        <p:nvSpPr>
          <p:cNvPr id="11272" name="Text Box 20"/>
          <p:cNvSpPr txBox="1">
            <a:spLocks noChangeArrowheads="1"/>
          </p:cNvSpPr>
          <p:nvPr/>
        </p:nvSpPr>
        <p:spPr bwMode="auto">
          <a:xfrm>
            <a:off x="999791" y="2801038"/>
            <a:ext cx="508520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8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用什么物理量描写磁场；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28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磁场对运动电荷作用的力。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800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运动</a:t>
            </a:r>
            <a:r>
              <a:rPr kumimoji="1" lang="zh-CN" altLang="en-US" sz="28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电荷产生磁场的规律</a:t>
            </a:r>
            <a:r>
              <a:rPr kumimoji="1" lang="zh-CN" altLang="en-US" sz="2800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；</a:t>
            </a:r>
            <a:endParaRPr kumimoji="1" lang="zh-CN" altLang="en-US" sz="2800" dirty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46812" y="4826814"/>
            <a:ext cx="109904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latin typeface="黑体" pitchFamily="49" charset="-122"/>
                <a:ea typeface="黑体" pitchFamily="49" charset="-122"/>
              </a:rPr>
              <a:t>3</a:t>
            </a:r>
            <a:r>
              <a:rPr kumimoji="1" lang="zh-CN" altLang="en-US" sz="2800" dirty="0">
                <a:latin typeface="黑体" pitchFamily="49" charset="-122"/>
                <a:ea typeface="黑体" pitchFamily="49" charset="-122"/>
              </a:rPr>
              <a:t>、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磁感应强度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B</a:t>
            </a:r>
            <a:r>
              <a:rPr kumimoji="1" lang="en-US" altLang="zh-CN" sz="2800" dirty="0">
                <a:latin typeface="黑体" pitchFamily="49" charset="-122"/>
                <a:ea typeface="黑体" pitchFamily="49" charset="-122"/>
              </a:rPr>
              <a:t>(Magnetic Field)</a:t>
            </a:r>
            <a:endParaRPr kumimoji="1"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7" name="Group 53"/>
          <p:cNvGrpSpPr>
            <a:grpSpLocks/>
          </p:cNvGrpSpPr>
          <p:nvPr/>
        </p:nvGrpSpPr>
        <p:grpSpPr bwMode="auto">
          <a:xfrm>
            <a:off x="678058" y="5608684"/>
            <a:ext cx="10850033" cy="519112"/>
            <a:chOff x="227" y="1073"/>
            <a:chExt cx="5126" cy="327"/>
          </a:xfrm>
        </p:grpSpPr>
        <p:sp>
          <p:nvSpPr>
            <p:cNvPr id="8" name="Text Box 19"/>
            <p:cNvSpPr txBox="1">
              <a:spLocks noChangeArrowheads="1"/>
            </p:cNvSpPr>
            <p:nvPr/>
          </p:nvSpPr>
          <p:spPr bwMode="auto">
            <a:xfrm>
              <a:off x="227" y="1073"/>
              <a:ext cx="51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 smtClean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*     </a:t>
              </a:r>
              <a:r>
                <a:rPr kumimoji="1" lang="zh-CN" altLang="en-US" sz="2800" b="1" dirty="0" smtClean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的方向</a:t>
              </a:r>
              <a:r>
                <a:rPr kumimoji="1" lang="en-US" altLang="zh-CN" sz="28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——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利用小磁针探测磁场的方向。</a:t>
              </a:r>
            </a:p>
          </p:txBody>
        </p:sp>
        <p:graphicFrame>
          <p:nvGraphicFramePr>
            <p:cNvPr id="9" name="Object 2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62979806"/>
                </p:ext>
              </p:extLst>
            </p:nvPr>
          </p:nvGraphicFramePr>
          <p:xfrm>
            <a:off x="379" y="1073"/>
            <a:ext cx="19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24" name="公式" r:id="rId3" imgW="393480" imgH="496080" progId="Equations">
                    <p:embed/>
                  </p:oleObj>
                </mc:Choice>
                <mc:Fallback>
                  <p:oleObj name="公式" r:id="rId3" imgW="393480" imgH="496080" progId="Equations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" y="1073"/>
                          <a:ext cx="19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455541" y="6200401"/>
            <a:ext cx="10972469" cy="519112"/>
            <a:chOff x="304" y="1023"/>
            <a:chExt cx="5472" cy="327"/>
          </a:xfrm>
        </p:grpSpPr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304" y="1023"/>
              <a:ext cx="54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 smtClean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*     </a:t>
              </a:r>
              <a:r>
                <a:rPr kumimoji="1" lang="zh-CN" altLang="en-US" sz="2800" b="1" dirty="0" smtClean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的大小</a:t>
              </a:r>
              <a:r>
                <a:rPr kumimoji="1" lang="en-US" altLang="zh-CN" sz="28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——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研究</a:t>
              </a:r>
              <a:r>
                <a:rPr kumimoji="1" lang="zh-CN" altLang="en-US" sz="2800" b="1" dirty="0" smtClean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运动电荷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在磁场中受力。</a:t>
              </a:r>
            </a:p>
          </p:txBody>
        </p:sp>
        <p:graphicFrame>
          <p:nvGraphicFramePr>
            <p:cNvPr id="12" name="Object 2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5661522"/>
                </p:ext>
              </p:extLst>
            </p:nvPr>
          </p:nvGraphicFramePr>
          <p:xfrm>
            <a:off x="415" y="1027"/>
            <a:ext cx="226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25" name="公式" r:id="rId5" imgW="393480" imgH="496080" progId="Equations">
                    <p:embed/>
                  </p:oleObj>
                </mc:Choice>
                <mc:Fallback>
                  <p:oleObj name="公式" r:id="rId5" imgW="393480" imgH="496080" progId="Equations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" y="1027"/>
                          <a:ext cx="226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4756876" y="928042"/>
            <a:ext cx="6639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一切磁现象起源于电荷的运动。</a:t>
            </a:r>
            <a:endParaRPr lang="zh-CN" altLang="en-US" sz="2400" dirty="0"/>
          </a:p>
        </p:txBody>
      </p:sp>
      <p:pic>
        <p:nvPicPr>
          <p:cNvPr id="15" name="Picture 8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836" y="1990066"/>
            <a:ext cx="55721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082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135" name="Objec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4971782"/>
              </p:ext>
            </p:extLst>
          </p:nvPr>
        </p:nvGraphicFramePr>
        <p:xfrm>
          <a:off x="1032934" y="1052513"/>
          <a:ext cx="8667751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8" name="Equation" r:id="rId3" imgW="2514600" imgH="228600" progId="Equation.DSMT4">
                  <p:embed/>
                </p:oleObj>
              </mc:Choice>
              <mc:Fallback>
                <p:oleObj name="Equation" r:id="rId3" imgW="2514600" imgH="2286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934" y="1052513"/>
                        <a:ext cx="8667751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527382" y="404664"/>
            <a:ext cx="9120385" cy="519112"/>
            <a:chOff x="395536" y="1916559"/>
            <a:chExt cx="6840289" cy="519112"/>
          </a:xfrm>
        </p:grpSpPr>
        <p:graphicFrame>
          <p:nvGraphicFramePr>
            <p:cNvPr id="176134" name="Object 6"/>
            <p:cNvGraphicFramePr>
              <a:graphicFrameLocks/>
            </p:cNvGraphicFramePr>
            <p:nvPr/>
          </p:nvGraphicFramePr>
          <p:xfrm>
            <a:off x="395536" y="1916832"/>
            <a:ext cx="39661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9" name="公式" r:id="rId5" imgW="266400" imgH="343440" progId="Equations">
                    <p:embed/>
                  </p:oleObj>
                </mc:Choice>
                <mc:Fallback>
                  <p:oleObj name="公式" r:id="rId5" imgW="266400" imgH="343440" progId="Equations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36" y="1916832"/>
                          <a:ext cx="396612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6136" name="Text Box 8"/>
            <p:cNvSpPr txBox="1">
              <a:spLocks noChangeArrowheads="1"/>
            </p:cNvSpPr>
            <p:nvPr/>
          </p:nvSpPr>
          <p:spPr bwMode="auto">
            <a:xfrm>
              <a:off x="755650" y="1916559"/>
              <a:ext cx="6480175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的单位 </a:t>
              </a:r>
              <a:r>
                <a:rPr kumimoji="1" lang="en-US" altLang="zh-CN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(SI)</a:t>
              </a:r>
              <a:r>
                <a:rPr kumimoji="1" lang="zh-CN" altLang="en-US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： </a:t>
              </a:r>
              <a:r>
                <a:rPr kumimoji="1" lang="en-US" altLang="zh-CN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T(</a:t>
              </a:r>
              <a:r>
                <a:rPr kumimoji="1" lang="zh-CN" altLang="en-US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特斯拉</a:t>
              </a:r>
              <a:r>
                <a:rPr kumimoji="1" lang="en-US" altLang="zh-CN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) </a:t>
              </a:r>
              <a:r>
                <a:rPr kumimoji="1" lang="zh-CN" altLang="en-US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， </a:t>
              </a:r>
              <a:r>
                <a:rPr kumimoji="1" lang="en-US" altLang="zh-CN" sz="2800" dirty="0" err="1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Gs</a:t>
              </a:r>
              <a:r>
                <a:rPr kumimoji="1" lang="en-US" altLang="zh-CN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(</a:t>
              </a:r>
              <a:r>
                <a:rPr kumimoji="1" lang="zh-CN" altLang="en-US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高斯</a:t>
              </a:r>
              <a:r>
                <a:rPr kumimoji="1" lang="en-US" altLang="zh-CN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)</a:t>
              </a:r>
              <a:r>
                <a:rPr kumimoji="1" lang="zh-CN" altLang="en-US" sz="28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*</a:t>
              </a:r>
              <a:endParaRPr kumimoji="1"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endParaRPr>
            </a:p>
          </p:txBody>
        </p:sp>
      </p:grpSp>
      <p:sp>
        <p:nvSpPr>
          <p:cNvPr id="176140" name="Text Box 12"/>
          <p:cNvSpPr txBox="1">
            <a:spLocks noChangeArrowheads="1"/>
          </p:cNvSpPr>
          <p:nvPr/>
        </p:nvSpPr>
        <p:spPr bwMode="auto">
          <a:xfrm>
            <a:off x="623392" y="2780929"/>
            <a:ext cx="104648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人体心电激发的磁场约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10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-10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 T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地球磁场约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10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-5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，电磁铁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约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几（十）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，超导磁铁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约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几十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，原子核附近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约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10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4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，脉冲星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约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10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8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 T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63692" y="1721404"/>
                <a:ext cx="3456384" cy="791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 smtClean="0"/>
                  <a:t>1T=1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/>
                          </a:rPr>
                          <m:t>𝑁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altLang="zh-CN" sz="3200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den>
                    </m:f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69" y="1721404"/>
                <a:ext cx="2592288" cy="791692"/>
              </a:xfrm>
              <a:prstGeom prst="rect">
                <a:avLst/>
              </a:prstGeom>
              <a:blipFill rotWithShape="1">
                <a:blip r:embed="rId7"/>
                <a:stretch>
                  <a:fillRect l="-5869" b="-1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251732" y="4553803"/>
            <a:ext cx="332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运动电荷所受到的磁力：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1732" y="5384800"/>
            <a:ext cx="307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载流导线受到的磁力：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875769"/>
              </p:ext>
            </p:extLst>
          </p:nvPr>
        </p:nvGraphicFramePr>
        <p:xfrm>
          <a:off x="4592923" y="5384800"/>
          <a:ext cx="2762531" cy="602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0" name="Equation" r:id="rId8" imgW="698400" imgH="152280" progId="Equation.DSMT4">
                  <p:embed/>
                </p:oleObj>
              </mc:Choice>
              <mc:Fallback>
                <p:oleObj name="Equation" r:id="rId8" imgW="69840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92923" y="5384800"/>
                        <a:ext cx="2762531" cy="602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001719"/>
              </p:ext>
            </p:extLst>
          </p:nvPr>
        </p:nvGraphicFramePr>
        <p:xfrm>
          <a:off x="4788682" y="4461889"/>
          <a:ext cx="2406650" cy="665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1" name="Equation" r:id="rId10" imgW="698400" imgH="190440" progId="Equation.DSMT4">
                  <p:embed/>
                </p:oleObj>
              </mc:Choice>
              <mc:Fallback>
                <p:oleObj name="Equation" r:id="rId10" imgW="69840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88682" y="4461889"/>
                        <a:ext cx="2406650" cy="665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242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7400" y="1634242"/>
            <a:ext cx="814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图中哪一点的磁感应强度（</a:t>
            </a:r>
            <a:r>
              <a:rPr lang="en-US" altLang="zh-CN" sz="2800" b="1" dirty="0" smtClean="0"/>
              <a:t>a</a:t>
            </a:r>
            <a:r>
              <a:rPr lang="zh-CN" altLang="en-US" sz="2800" b="1" dirty="0" smtClean="0"/>
              <a:t>）最小？（</a:t>
            </a:r>
            <a:r>
              <a:rPr lang="en-US" altLang="zh-CN" sz="2800" b="1" dirty="0" smtClean="0"/>
              <a:t>b</a:t>
            </a:r>
            <a:r>
              <a:rPr lang="zh-CN" altLang="en-US" sz="2800" b="1" dirty="0" smtClean="0"/>
              <a:t>）最大</a:t>
            </a:r>
            <a:endParaRPr lang="zh-CN" alt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98500" y="495300"/>
            <a:ext cx="2654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mtClean="0">
                <a:solidFill>
                  <a:srgbClr val="000099"/>
                </a:solidFill>
              </a:rPr>
              <a:t>思考题</a:t>
            </a:r>
            <a:endParaRPr lang="zh-CN" altLang="en-US" sz="3200" b="1">
              <a:solidFill>
                <a:srgbClr val="000099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2554288"/>
            <a:ext cx="6068601" cy="261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46163" y="3124200"/>
            <a:ext cx="337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F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点最小，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点最大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20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55058" cy="6296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47700" y="6162578"/>
            <a:ext cx="10858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400" b="1" dirty="0" err="1" smtClean="0">
                <a:solidFill>
                  <a:srgbClr val="FF0000"/>
                </a:solidFill>
              </a:rPr>
              <a:t>e</a:t>
            </a:r>
            <a:r>
              <a:rPr lang="en-US" altLang="zh-CN" sz="2400" b="1" baseline="-25000" dirty="0" err="1" smtClean="0">
                <a:solidFill>
                  <a:srgbClr val="FF0000"/>
                </a:solidFill>
              </a:rPr>
              <a:t>r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是电流元指向场点的单位矢量，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r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是从电流元所在处到场点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P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的位矢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r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的大小。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82236" y="0"/>
            <a:ext cx="764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 smtClean="0">
                <a:solidFill>
                  <a:srgbClr val="FF0000"/>
                </a:solidFill>
              </a:rPr>
              <a:t>*</a:t>
            </a:r>
            <a:endParaRPr lang="zh-CN" altLang="en-US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45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200417"/>
            <a:ext cx="11709400" cy="6110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482236" y="0"/>
            <a:ext cx="764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 smtClean="0">
                <a:solidFill>
                  <a:srgbClr val="FF0000"/>
                </a:solidFill>
              </a:rPr>
              <a:t>*</a:t>
            </a:r>
            <a:endParaRPr lang="zh-CN" altLang="en-US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42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32" name="Group 52"/>
          <p:cNvGrpSpPr>
            <a:grpSpLocks/>
          </p:cNvGrpSpPr>
          <p:nvPr/>
        </p:nvGrpSpPr>
        <p:grpSpPr bwMode="auto">
          <a:xfrm>
            <a:off x="1775520" y="1988840"/>
            <a:ext cx="4986867" cy="1306512"/>
            <a:chOff x="839" y="2795"/>
            <a:chExt cx="2356" cy="823"/>
          </a:xfrm>
        </p:grpSpPr>
        <p:graphicFrame>
          <p:nvGraphicFramePr>
            <p:cNvPr id="174092" name="Object 12"/>
            <p:cNvGraphicFramePr>
              <a:graphicFrameLocks/>
            </p:cNvGraphicFramePr>
            <p:nvPr/>
          </p:nvGraphicFramePr>
          <p:xfrm>
            <a:off x="839" y="2795"/>
            <a:ext cx="601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8" name="Equation" r:id="rId3" imgW="342603" imgH="177646" progId="Equation.DSMT4">
                    <p:embed/>
                  </p:oleObj>
                </mc:Choice>
                <mc:Fallback>
                  <p:oleObj name="Equation" r:id="rId3" imgW="342603" imgH="177646" progId="Equation.DSMT4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2795"/>
                          <a:ext cx="601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093" name="Object 13"/>
            <p:cNvGraphicFramePr>
              <a:graphicFrameLocks/>
            </p:cNvGraphicFramePr>
            <p:nvPr/>
          </p:nvGraphicFramePr>
          <p:xfrm>
            <a:off x="2426" y="3249"/>
            <a:ext cx="769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9" name="公式" r:id="rId5" imgW="368140" imgH="203112" progId="Equations">
                    <p:embed/>
                  </p:oleObj>
                </mc:Choice>
                <mc:Fallback>
                  <p:oleObj name="公式" r:id="rId5" imgW="368140" imgH="203112" progId="Equations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3249"/>
                          <a:ext cx="769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094" name="Object 14"/>
            <p:cNvGraphicFramePr>
              <a:graphicFrameLocks/>
            </p:cNvGraphicFramePr>
            <p:nvPr/>
          </p:nvGraphicFramePr>
          <p:xfrm>
            <a:off x="1837" y="2795"/>
            <a:ext cx="79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00" name="公式" r:id="rId7" imgW="444307" imgH="228501" progId="Equations">
                    <p:embed/>
                  </p:oleObj>
                </mc:Choice>
                <mc:Fallback>
                  <p:oleObj name="公式" r:id="rId7" imgW="444307" imgH="228501" progId="Equations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2795"/>
                          <a:ext cx="792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095" name="Object 15"/>
            <p:cNvGraphicFramePr>
              <a:graphicFrameLocks/>
            </p:cNvGraphicFramePr>
            <p:nvPr/>
          </p:nvGraphicFramePr>
          <p:xfrm>
            <a:off x="839" y="3339"/>
            <a:ext cx="55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01" name="公式" r:id="rId9" imgW="393529" imgH="190417" progId="Equations">
                    <p:embed/>
                  </p:oleObj>
                </mc:Choice>
                <mc:Fallback>
                  <p:oleObj name="公式" r:id="rId9" imgW="393529" imgH="190417" progId="Equations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3339"/>
                          <a:ext cx="55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096" name="Text Box 16"/>
            <p:cNvSpPr txBox="1">
              <a:spLocks noChangeArrowheads="1"/>
            </p:cNvSpPr>
            <p:nvPr/>
          </p:nvSpPr>
          <p:spPr bwMode="auto">
            <a:xfrm>
              <a:off x="1542" y="3290"/>
              <a:ext cx="11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 </a:t>
              </a:r>
              <a:r>
                <a:rPr kumimoji="1" lang="zh-CN" altLang="en-US" sz="2800" b="1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一般，</a:t>
              </a:r>
            </a:p>
          </p:txBody>
        </p:sp>
      </p:grpSp>
      <p:sp>
        <p:nvSpPr>
          <p:cNvPr id="174097" name="Text Box 17"/>
          <p:cNvSpPr txBox="1">
            <a:spLocks noChangeArrowheads="1"/>
          </p:cNvSpPr>
          <p:nvPr/>
        </p:nvSpPr>
        <p:spPr bwMode="auto">
          <a:xfrm>
            <a:off x="815413" y="1988841"/>
            <a:ext cx="86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1.</a:t>
            </a:r>
          </a:p>
        </p:txBody>
      </p:sp>
      <p:sp>
        <p:nvSpPr>
          <p:cNvPr id="43" name="Text Box 15"/>
          <p:cNvSpPr txBox="1">
            <a:spLocks noChangeArrowheads="1"/>
          </p:cNvSpPr>
          <p:nvPr/>
        </p:nvSpPr>
        <p:spPr bwMode="auto">
          <a:xfrm>
            <a:off x="695442" y="3861048"/>
            <a:ext cx="6508749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400" dirty="0" smtClean="0">
                <a:latin typeface="黑体" pitchFamily="49" charset="-122"/>
                <a:ea typeface="黑体" pitchFamily="49" charset="-122"/>
              </a:rPr>
              <a:t>2</a:t>
            </a:r>
            <a:r>
              <a:rPr kumimoji="1" lang="zh-CN" altLang="en-US" sz="2400" dirty="0" smtClean="0">
                <a:latin typeface="黑体" pitchFamily="49" charset="-122"/>
                <a:ea typeface="黑体" pitchFamily="49" charset="-122"/>
              </a:rPr>
              <a:t>、</a:t>
            </a:r>
            <a:r>
              <a:rPr kumimoji="1" lang="zh-CN" altLang="en-US" sz="2400" dirty="0">
                <a:latin typeface="黑体" pitchFamily="49" charset="-122"/>
                <a:ea typeface="黑体" pitchFamily="49" charset="-122"/>
              </a:rPr>
              <a:t>速度方向与磁场方向平行</a:t>
            </a:r>
          </a:p>
        </p:txBody>
      </p:sp>
      <p:sp>
        <p:nvSpPr>
          <p:cNvPr id="44" name="Text Box 16"/>
          <p:cNvSpPr txBox="1">
            <a:spLocks noChangeArrowheads="1"/>
          </p:cNvSpPr>
          <p:nvPr/>
        </p:nvSpPr>
        <p:spPr bwMode="auto">
          <a:xfrm>
            <a:off x="695442" y="4486570"/>
            <a:ext cx="972918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400" dirty="0">
                <a:latin typeface="黑体" pitchFamily="49" charset="-122"/>
                <a:ea typeface="黑体" pitchFamily="49" charset="-122"/>
              </a:rPr>
              <a:t>带电粒子受到</a:t>
            </a:r>
            <a:r>
              <a:rPr kumimoji="1" lang="zh-CN" altLang="en-US" sz="2400" dirty="0" smtClean="0">
                <a:latin typeface="黑体" pitchFamily="49" charset="-122"/>
                <a:ea typeface="黑体" pitchFamily="49" charset="-122"/>
              </a:rPr>
              <a:t>的磁场力</a:t>
            </a:r>
            <a:r>
              <a:rPr kumimoji="1" lang="zh-CN" altLang="en-US" sz="2400" dirty="0">
                <a:latin typeface="黑体" pitchFamily="49" charset="-122"/>
                <a:ea typeface="黑体" pitchFamily="49" charset="-122"/>
              </a:rPr>
              <a:t>为零，粒子作直线运动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599723" y="5230068"/>
            <a:ext cx="3647016" cy="1511300"/>
            <a:chOff x="4550258" y="4728548"/>
            <a:chExt cx="2735262" cy="1511300"/>
          </a:xfrm>
        </p:grpSpPr>
        <p:grpSp>
          <p:nvGrpSpPr>
            <p:cNvPr id="45" name="Group 17"/>
            <p:cNvGrpSpPr>
              <a:grpSpLocks/>
            </p:cNvGrpSpPr>
            <p:nvPr/>
          </p:nvGrpSpPr>
          <p:grpSpPr bwMode="auto">
            <a:xfrm>
              <a:off x="4550258" y="4728548"/>
              <a:ext cx="2735262" cy="1511300"/>
              <a:chOff x="3470" y="709"/>
              <a:chExt cx="1723" cy="952"/>
            </a:xfrm>
          </p:grpSpPr>
          <p:sp>
            <p:nvSpPr>
              <p:cNvPr id="46" name="Line 18"/>
              <p:cNvSpPr>
                <a:spLocks noChangeShapeType="1"/>
              </p:cNvSpPr>
              <p:nvPr/>
            </p:nvSpPr>
            <p:spPr bwMode="auto">
              <a:xfrm>
                <a:off x="3470" y="709"/>
                <a:ext cx="1723" cy="0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7" name="Line 19"/>
              <p:cNvSpPr>
                <a:spLocks noChangeShapeType="1"/>
              </p:cNvSpPr>
              <p:nvPr/>
            </p:nvSpPr>
            <p:spPr bwMode="auto">
              <a:xfrm>
                <a:off x="3470" y="1026"/>
                <a:ext cx="1723" cy="0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8" name="Line 20"/>
              <p:cNvSpPr>
                <a:spLocks noChangeShapeType="1"/>
              </p:cNvSpPr>
              <p:nvPr/>
            </p:nvSpPr>
            <p:spPr bwMode="auto">
              <a:xfrm>
                <a:off x="3470" y="1344"/>
                <a:ext cx="1723" cy="0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9" name="Line 21"/>
              <p:cNvSpPr>
                <a:spLocks noChangeShapeType="1"/>
              </p:cNvSpPr>
              <p:nvPr/>
            </p:nvSpPr>
            <p:spPr bwMode="auto">
              <a:xfrm>
                <a:off x="3470" y="1661"/>
                <a:ext cx="1723" cy="0"/>
              </a:xfrm>
              <a:prstGeom prst="line">
                <a:avLst/>
              </a:prstGeom>
              <a:noFill/>
              <a:ln w="22225">
                <a:solidFill>
                  <a:srgbClr val="FF00FF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50" name="Group 22"/>
            <p:cNvGrpSpPr>
              <a:grpSpLocks/>
            </p:cNvGrpSpPr>
            <p:nvPr/>
          </p:nvGrpSpPr>
          <p:grpSpPr bwMode="auto">
            <a:xfrm>
              <a:off x="4947110" y="5339736"/>
              <a:ext cx="2232025" cy="287337"/>
              <a:chOff x="3606" y="1117"/>
              <a:chExt cx="1406" cy="181"/>
            </a:xfrm>
          </p:grpSpPr>
          <p:sp>
            <p:nvSpPr>
              <p:cNvPr id="51" name="Oval 23"/>
              <p:cNvSpPr>
                <a:spLocks noChangeArrowheads="1"/>
              </p:cNvSpPr>
              <p:nvPr/>
            </p:nvSpPr>
            <p:spPr bwMode="auto">
              <a:xfrm>
                <a:off x="3606" y="1117"/>
                <a:ext cx="181" cy="18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52" name="Line 24"/>
              <p:cNvSpPr>
                <a:spLocks noChangeShapeType="1"/>
              </p:cNvSpPr>
              <p:nvPr/>
            </p:nvSpPr>
            <p:spPr bwMode="auto">
              <a:xfrm>
                <a:off x="3787" y="1207"/>
                <a:ext cx="122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815414" y="260648"/>
            <a:ext cx="101769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lvl="0" defTabSz="762000">
              <a:spcBef>
                <a:spcPts val="1900"/>
              </a:spcBef>
              <a:defRPr sz="1800"/>
            </a:pPr>
            <a:r>
              <a:rPr lang="en-US" altLang="zh-CN" sz="36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§19.2  </a:t>
            </a:r>
            <a:r>
              <a:rPr lang="zh-CN" altLang="en-US" sz="3600" dirty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点电荷受到的磁力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335360" y="1268761"/>
            <a:ext cx="6568821" cy="548595"/>
            <a:chOff x="179512" y="1556792"/>
            <a:chExt cx="4926616" cy="548595"/>
          </a:xfrm>
        </p:grpSpPr>
        <p:sp>
          <p:nvSpPr>
            <p:cNvPr id="174105" name="Text Box 25"/>
            <p:cNvSpPr txBox="1">
              <a:spLocks noChangeArrowheads="1"/>
            </p:cNvSpPr>
            <p:nvPr/>
          </p:nvSpPr>
          <p:spPr bwMode="auto">
            <a:xfrm>
              <a:off x="179512" y="1556792"/>
              <a:ext cx="346633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运动电荷的电量为</a:t>
              </a:r>
              <a:r>
                <a:rPr kumimoji="1" lang="en-US" altLang="zh-CN" sz="28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q,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 速度为</a:t>
              </a:r>
            </a:p>
          </p:txBody>
        </p:sp>
        <p:pic>
          <p:nvPicPr>
            <p:cNvPr id="22983" name="Picture 455" descr="C:\Users\Administrator\Desktop\图片2.png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4716016" y="1556792"/>
              <a:ext cx="390112" cy="54859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65629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527381" y="548681"/>
            <a:ext cx="7008779" cy="51911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2075" tIns="46038" rIns="92075" bIns="46038" anchor="ctr"/>
          <a:lstStyle>
            <a:lvl1pPr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2800" b="0" dirty="0" smtClean="0">
                <a:latin typeface="黑体" pitchFamily="49" charset="-122"/>
                <a:ea typeface="黑体" pitchFamily="49" charset="-122"/>
              </a:rPr>
              <a:t>3</a:t>
            </a:r>
            <a:r>
              <a:rPr kumimoji="1" lang="zh-CN" altLang="en-US" sz="2800" b="0" dirty="0" smtClean="0">
                <a:latin typeface="黑体" pitchFamily="49" charset="-122"/>
                <a:ea typeface="黑体" pitchFamily="49" charset="-122"/>
              </a:rPr>
              <a:t>、一般情况下：</a:t>
            </a:r>
            <a:endParaRPr kumimoji="1" lang="en-US" altLang="zh-CN" sz="2800" b="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b="0" dirty="0" smtClean="0">
                <a:latin typeface="黑体" pitchFamily="49" charset="-122"/>
                <a:ea typeface="黑体" pitchFamily="49" charset="-122"/>
              </a:rPr>
              <a:t>带</a:t>
            </a:r>
            <a:r>
              <a:rPr kumimoji="1" lang="zh-CN" altLang="en-US" sz="2800" b="0" dirty="0">
                <a:latin typeface="黑体" pitchFamily="49" charset="-122"/>
                <a:ea typeface="黑体" pitchFamily="49" charset="-122"/>
              </a:rPr>
              <a:t>电粒子</a:t>
            </a:r>
            <a:r>
              <a:rPr kumimoji="1" lang="zh-CN" altLang="en-US" sz="2800" b="0" dirty="0" smtClean="0">
                <a:latin typeface="黑体" pitchFamily="49" charset="-122"/>
                <a:ea typeface="黑体" pitchFamily="49" charset="-122"/>
              </a:rPr>
              <a:t>在磁场</a:t>
            </a:r>
            <a:r>
              <a:rPr kumimoji="1" lang="zh-CN" altLang="en-US" sz="2800" b="0" dirty="0">
                <a:latin typeface="黑体" pitchFamily="49" charset="-122"/>
                <a:ea typeface="黑体" pitchFamily="49" charset="-122"/>
              </a:rPr>
              <a:t>中所受的力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6886443" y="980729"/>
            <a:ext cx="5305557" cy="4770391"/>
            <a:chOff x="5164832" y="980728"/>
            <a:chExt cx="3979168" cy="4770391"/>
          </a:xfrm>
        </p:grpSpPr>
        <p:sp>
          <p:nvSpPr>
            <p:cNvPr id="679944" name="Text Box 8"/>
            <p:cNvSpPr txBox="1">
              <a:spLocks noChangeArrowheads="1"/>
            </p:cNvSpPr>
            <p:nvPr/>
          </p:nvSpPr>
          <p:spPr bwMode="auto">
            <a:xfrm>
              <a:off x="5164832" y="3933056"/>
              <a:ext cx="3979168" cy="1818063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kumimoji="1" lang="zh-CN" altLang="en-US" sz="2800" dirty="0">
                  <a:solidFill>
                    <a:srgbClr val="FF3300"/>
                  </a:solidFill>
                  <a:latin typeface="黑体" pitchFamily="49" charset="-122"/>
                  <a:ea typeface="黑体" pitchFamily="49" charset="-122"/>
                </a:rPr>
                <a:t>洛仑兹力的方向垂直于运动电荷的速度和磁感应强度所组成的平面，且符合右手螺旋定则</a:t>
              </a:r>
              <a:r>
                <a:rPr kumimoji="1" lang="zh-CN" altLang="en-US" sz="2800" dirty="0" smtClean="0">
                  <a:solidFill>
                    <a:srgbClr val="FF3300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  <a:r>
                <a:rPr kumimoji="1" lang="en-US" altLang="zh-CN" sz="2800" dirty="0">
                  <a:solidFill>
                    <a:srgbClr val="FF3300"/>
                  </a:solidFill>
                  <a:latin typeface="黑体" pitchFamily="49" charset="-122"/>
                  <a:ea typeface="黑体" pitchFamily="49" charset="-122"/>
                </a:rPr>
                <a:t>P108</a:t>
              </a:r>
              <a:r>
                <a:rPr kumimoji="1" lang="zh-CN" altLang="en-US" sz="2800" dirty="0">
                  <a:solidFill>
                    <a:srgbClr val="FF3300"/>
                  </a:solidFill>
                  <a:latin typeface="黑体" pitchFamily="49" charset="-122"/>
                  <a:ea typeface="黑体" pitchFamily="49" charset="-122"/>
                </a:rPr>
                <a:t>图</a:t>
              </a:r>
              <a:r>
                <a:rPr kumimoji="1" lang="en-US" altLang="zh-CN" sz="2800" dirty="0" smtClean="0">
                  <a:solidFill>
                    <a:srgbClr val="FF3300"/>
                  </a:solidFill>
                  <a:latin typeface="黑体" pitchFamily="49" charset="-122"/>
                  <a:ea typeface="黑体" pitchFamily="49" charset="-122"/>
                </a:rPr>
                <a:t>19.8</a:t>
              </a:r>
              <a:endParaRPr kumimoji="1" lang="zh-CN" altLang="en-US" sz="28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pic>
          <p:nvPicPr>
            <p:cNvPr id="2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20072" y="980728"/>
              <a:ext cx="3533006" cy="2744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5" name="TextBox 24"/>
          <p:cNvSpPr txBox="1"/>
          <p:nvPr/>
        </p:nvSpPr>
        <p:spPr>
          <a:xfrm>
            <a:off x="582835" y="2988005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、矢量符号：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444389" y="3793883"/>
            <a:ext cx="3693199" cy="1550496"/>
            <a:chOff x="1115616" y="4398784"/>
            <a:chExt cx="3208360" cy="1550496"/>
          </a:xfrm>
        </p:grpSpPr>
        <p:sp>
          <p:nvSpPr>
            <p:cNvPr id="26" name="椭圆 25"/>
            <p:cNvSpPr/>
            <p:nvPr/>
          </p:nvSpPr>
          <p:spPr>
            <a:xfrm>
              <a:off x="1299315" y="4542800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616" y="5373216"/>
              <a:ext cx="4078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 smtClean="0"/>
                <a:t>×</a:t>
              </a:r>
              <a:endParaRPr lang="zh-CN" altLang="en-US" sz="2800" dirty="0"/>
            </a:p>
          </p:txBody>
        </p:sp>
        <p:sp>
          <p:nvSpPr>
            <p:cNvPr id="28" name="椭圆 27"/>
            <p:cNvSpPr/>
            <p:nvPr/>
          </p:nvSpPr>
          <p:spPr>
            <a:xfrm>
              <a:off x="2091403" y="4542800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947387" y="4398784"/>
              <a:ext cx="504056" cy="50405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051720" y="5426060"/>
              <a:ext cx="4078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 smtClean="0"/>
                <a:t>×</a:t>
              </a:r>
              <a:endParaRPr lang="zh-CN" altLang="en-US" sz="2800" dirty="0"/>
            </a:p>
          </p:txBody>
        </p:sp>
        <p:sp>
          <p:nvSpPr>
            <p:cNvPr id="31" name="椭圆 30"/>
            <p:cNvSpPr/>
            <p:nvPr/>
          </p:nvSpPr>
          <p:spPr>
            <a:xfrm>
              <a:off x="2026785" y="5421876"/>
              <a:ext cx="504056" cy="50405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883491" y="4398784"/>
              <a:ext cx="14081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黑体" pitchFamily="49" charset="-122"/>
                  <a:ea typeface="黑体" pitchFamily="49" charset="-122"/>
                </a:rPr>
                <a:t>指出页面</a:t>
              </a:r>
              <a:endParaRPr lang="zh-CN" altLang="en-US" sz="2800" dirty="0"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915816" y="5373216"/>
              <a:ext cx="14081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黑体" pitchFamily="49" charset="-122"/>
                  <a:ea typeface="黑体" pitchFamily="49" charset="-122"/>
                </a:rPr>
                <a:t>指入页面</a:t>
              </a:r>
              <a:endParaRPr lang="zh-CN" altLang="en-US" sz="2800" dirty="0"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73547" y="1535010"/>
            <a:ext cx="4790088" cy="1243300"/>
            <a:chOff x="779262" y="1988840"/>
            <a:chExt cx="3592566" cy="1243300"/>
          </a:xfrm>
        </p:grpSpPr>
        <p:sp>
          <p:nvSpPr>
            <p:cNvPr id="679942" name="Text Box 6"/>
            <p:cNvSpPr txBox="1">
              <a:spLocks noChangeArrowheads="1"/>
            </p:cNvSpPr>
            <p:nvPr/>
          </p:nvSpPr>
          <p:spPr bwMode="auto">
            <a:xfrm>
              <a:off x="779262" y="2072942"/>
              <a:ext cx="94641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kumimoji="1" lang="zh-CN" altLang="en-US" sz="2800" b="0" dirty="0">
                  <a:solidFill>
                    <a:srgbClr val="3333FF"/>
                  </a:solidFill>
                  <a:latin typeface="黑体" pitchFamily="49" charset="-122"/>
                  <a:ea typeface="黑体" pitchFamily="49" charset="-122"/>
                </a:rPr>
                <a:t>磁场力</a:t>
              </a:r>
              <a:endParaRPr kumimoji="1" lang="zh-CN" altLang="en-US" sz="3600" b="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pic>
          <p:nvPicPr>
            <p:cNvPr id="20559" name="Picture 79" descr="C:\Users\Administrator\Desktop\图片3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95736" y="1988840"/>
              <a:ext cx="2176092" cy="749746"/>
            </a:xfrm>
            <a:prstGeom prst="rect">
              <a:avLst/>
            </a:prstGeom>
            <a:noFill/>
          </p:spPr>
        </p:pic>
        <p:sp>
          <p:nvSpPr>
            <p:cNvPr id="48" name="TextBox 47"/>
            <p:cNvSpPr txBox="1"/>
            <p:nvPr/>
          </p:nvSpPr>
          <p:spPr>
            <a:xfrm>
              <a:off x="1331640" y="2708920"/>
              <a:ext cx="12205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FF0000"/>
                  </a:solidFill>
                </a:rPr>
                <a:t>洛伦兹力</a:t>
              </a:r>
              <a:endParaRPr lang="zh-CN" altLang="en-US" sz="2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728181" y="149731"/>
            <a:ext cx="4202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如果电荷是负的，磁力沿</a:t>
            </a:r>
            <a:r>
              <a:rPr lang="en-US" altLang="zh-CN" sz="2400" b="1" dirty="0" err="1" smtClean="0">
                <a:solidFill>
                  <a:srgbClr val="FF0000"/>
                </a:solidFill>
              </a:rPr>
              <a:t>v×B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的反方向。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8" y="2219889"/>
            <a:ext cx="2415107" cy="405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469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Number" hidden="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ChapterTitle" hidden="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ChapterSubTitle" hidden="1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lang="en-US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SectionNumber" hidden="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>
                <a:latin typeface="Helvetica"/>
              </a:rPr>
              <a:t>19.2</a:t>
            </a:r>
            <a:endParaRPr lang="en-US">
              <a:latin typeface="Helvetica"/>
            </a:endParaRPr>
          </a:p>
        </p:txBody>
      </p:sp>
      <p:sp>
        <p:nvSpPr>
          <p:cNvPr id="6" name="SectionTitle" hidden="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mtClean="0">
                <a:latin typeface="Helvetica"/>
              </a:rPr>
              <a:t>MAGNETIC FORCE ON A POINT CHARGE</a:t>
            </a:r>
            <a:endParaRPr lang="en-US">
              <a:latin typeface="Helvetica"/>
            </a:endParaRPr>
          </a:p>
        </p:txBody>
      </p:sp>
      <p:sp>
        <p:nvSpPr>
          <p:cNvPr id="7" name="ObjectiveNumber" hidden="1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85000" lnSpcReduction="20000"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8" name="Objective" hidden="1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85000" lnSpcReduction="20000"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9" name="ItemNumber" hidden="1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endParaRPr lang="en-US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ItemTitle" hidden="1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endParaRPr lang="en-US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CONS" hidden="1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20000"/>
          </a:bodyPr>
          <a:lstStyle/>
          <a:p>
            <a:endParaRPr lang="en-US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SlideNumber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>
                <a:solidFill>
                  <a:srgbClr val="000000"/>
                </a:solidFill>
                <a:latin typeface="Calibri"/>
              </a:rPr>
              <a:t>Slide </a:t>
            </a:r>
            <a:fld id="{1DFCDABB-7D65-46D3-A692-BB0F076C602E}" type="slidenum">
              <a:rPr lang="en-US" smtClean="0">
                <a:solidFill>
                  <a:srgbClr val="000000"/>
                </a:solidFill>
                <a:latin typeface="Calibri"/>
              </a:rPr>
              <a:t>21</a:t>
            </a:fld>
            <a:endParaRPr lang="en-US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Copyright" hidden="1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endParaRPr lang="en-US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3200" y="304800"/>
            <a:ext cx="1178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一个运动点电荷的磁力大小为</a:t>
            </a:r>
            <a:endParaRPr lang="en-US" sz="2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451" y="1143001"/>
            <a:ext cx="5245100" cy="989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28926"/>
            <a:ext cx="302260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1" y="2900362"/>
            <a:ext cx="33655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701" y="2890837"/>
            <a:ext cx="354330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711200" y="5031932"/>
            <a:ext cx="11277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700" dirty="0"/>
              <a:t>注意，如果点电荷处于静止状态（</a:t>
            </a:r>
            <a:r>
              <a:rPr lang="en-US" altLang="zh-CN" sz="2700" dirty="0"/>
              <a:t>v=0</a:t>
            </a:r>
            <a:r>
              <a:rPr lang="zh-CN" altLang="en-US" sz="2700" dirty="0"/>
              <a:t>），或者其运动与磁场沿同一条线（</a:t>
            </a:r>
            <a:r>
              <a:rPr lang="en-US" altLang="zh-CN" sz="2700" dirty="0"/>
              <a:t>v⊥=0</a:t>
            </a:r>
            <a:r>
              <a:rPr lang="zh-CN" altLang="en-US" sz="2700" dirty="0"/>
              <a:t>），则磁力为零。</a:t>
            </a:r>
            <a:endParaRPr lang="en-US" sz="2700" dirty="0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1" y="2362200"/>
            <a:ext cx="52197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031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1098550" y="347694"/>
            <a:ext cx="704517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洛仑兹</a:t>
            </a:r>
            <a:r>
              <a:rPr kumimoji="1" lang="en-US" altLang="zh-CN" sz="280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(Hendrik Antoon Lorentz, 1853-1928)</a:t>
            </a:r>
            <a:endParaRPr kumimoji="1" lang="en-US" altLang="zh-CN" sz="3600">
              <a:solidFill>
                <a:srgbClr val="FF33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1" y="1412875"/>
            <a:ext cx="27305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492" name="Line 4"/>
          <p:cNvSpPr>
            <a:spLocks noChangeShapeType="1"/>
          </p:cNvSpPr>
          <p:nvPr/>
        </p:nvSpPr>
        <p:spPr bwMode="auto">
          <a:xfrm>
            <a:off x="0" y="1143000"/>
            <a:ext cx="121920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4241800" y="1224875"/>
            <a:ext cx="7518400" cy="434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800" dirty="0">
                <a:latin typeface="Times New Roman" pitchFamily="18" charset="0"/>
              </a:rPr>
              <a:t>    1895</a:t>
            </a:r>
            <a:r>
              <a:rPr kumimoji="1" lang="zh-CN" altLang="en-US" sz="2800" dirty="0">
                <a:latin typeface="Times New Roman" pitchFamily="18" charset="0"/>
              </a:rPr>
              <a:t>年，洛仑兹根据物质电结构的假说，创立了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经典电子论</a:t>
            </a:r>
            <a:r>
              <a:rPr kumimoji="1" lang="zh-CN" altLang="en-US" sz="2800" dirty="0">
                <a:latin typeface="Times New Roman" pitchFamily="18" charset="0"/>
              </a:rPr>
              <a:t>。洛仑兹的电磁场理论研究成果，在现代物理中占有重要地位。洛仑兹力是洛仑兹在研究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itchFamily="18" charset="0"/>
              </a:rPr>
              <a:t>电子在磁场中所受的力</a:t>
            </a:r>
            <a:r>
              <a:rPr kumimoji="1" lang="zh-CN" altLang="en-US" sz="2800" dirty="0">
                <a:latin typeface="Times New Roman" pitchFamily="18" charset="0"/>
              </a:rPr>
              <a:t>的实验中确立起来的</a:t>
            </a:r>
            <a:r>
              <a:rPr kumimoji="1" lang="zh-CN" altLang="en-US" sz="2800" dirty="0" smtClean="0">
                <a:latin typeface="Times New Roman" pitchFamily="18" charset="0"/>
              </a:rPr>
              <a:t>。</a:t>
            </a:r>
            <a:endParaRPr kumimoji="1" lang="zh-CN" altLang="en-US" sz="2800" dirty="0">
              <a:latin typeface="Times New Roman" pitchFamily="18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800" dirty="0">
                <a:latin typeface="Times New Roman" pitchFamily="18" charset="0"/>
              </a:rPr>
              <a:t>    洛仑兹的理论是从经典物理到相对论物理的重要桥梁，他的理论构成了相对论的重要基础。洛仑兹对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统计物理学</a:t>
            </a:r>
            <a:r>
              <a:rPr kumimoji="1" lang="zh-CN" altLang="en-US" sz="2800" dirty="0">
                <a:latin typeface="Times New Roman" pitchFamily="18" charset="0"/>
              </a:rPr>
              <a:t>也有贡献。</a:t>
            </a:r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205318" y="3846518"/>
            <a:ext cx="3778249" cy="2355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dirty="0">
                <a:latin typeface="Times New Roman" pitchFamily="18" charset="0"/>
              </a:rPr>
              <a:t>荷兰物理学家、数学家，因研究磁场对辐射现象的影响取得重要成果，与塞曼共获</a:t>
            </a:r>
            <a:r>
              <a:rPr kumimoji="1" lang="en-US" altLang="zh-CN" sz="2400" dirty="0">
                <a:latin typeface="Times New Roman" pitchFamily="18" charset="0"/>
              </a:rPr>
              <a:t>1902</a:t>
            </a:r>
            <a:r>
              <a:rPr kumimoji="1" lang="zh-CN" altLang="en-US" sz="2400" dirty="0">
                <a:latin typeface="Times New Roman" pitchFamily="18" charset="0"/>
              </a:rPr>
              <a:t>年诺贝尔物理学奖金。</a:t>
            </a:r>
            <a:endParaRPr kumimoji="1" lang="zh-CN" altLang="en-US" sz="3600" dirty="0">
              <a:solidFill>
                <a:srgbClr val="FF33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27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39" y="1036995"/>
            <a:ext cx="11218293" cy="4887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947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3800" y="533400"/>
            <a:ext cx="397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mtClean="0">
                <a:solidFill>
                  <a:srgbClr val="000099"/>
                </a:solidFill>
              </a:rPr>
              <a:t>单项选择题：</a:t>
            </a:r>
            <a:endParaRPr lang="zh-CN" altLang="en-US" sz="3200" b="1">
              <a:solidFill>
                <a:srgbClr val="000099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23165" y="1546488"/>
            <a:ext cx="8585200" cy="3896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/>
              <a:t>在磁场</a:t>
            </a:r>
            <a:r>
              <a:rPr lang="en-US" altLang="zh-CN" sz="2800" b="1" dirty="0"/>
              <a:t>B</a:t>
            </a:r>
            <a:r>
              <a:rPr lang="zh-CN" altLang="zh-CN" sz="2800" b="1" dirty="0"/>
              <a:t>中的点电荷，在以下哪种情况下（对于一个给定的速度）它所受的磁力最大？（</a:t>
            </a:r>
            <a:r>
              <a:rPr lang="en-US" altLang="zh-CN" sz="2800" b="1" dirty="0"/>
              <a:t>  </a:t>
            </a:r>
            <a:r>
              <a:rPr lang="zh-CN" altLang="zh-CN" sz="2800" b="1" dirty="0"/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A</a:t>
            </a:r>
            <a:r>
              <a:rPr lang="zh-CN" altLang="zh-CN" sz="2800" b="1" dirty="0"/>
              <a:t>．沿磁场方向运动。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B</a:t>
            </a:r>
            <a:r>
              <a:rPr lang="zh-CN" altLang="zh-CN" sz="2800" b="1" dirty="0"/>
              <a:t>．沿磁场的反方向运动。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C</a:t>
            </a:r>
            <a:r>
              <a:rPr lang="zh-CN" altLang="zh-CN" sz="2800" b="1" dirty="0"/>
              <a:t>．既有平行于也有垂直于磁场的速度分量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D</a:t>
            </a:r>
            <a:r>
              <a:rPr lang="zh-CN" altLang="zh-CN" sz="2800" b="1" dirty="0"/>
              <a:t>．垂直于磁场运动。 </a:t>
            </a:r>
          </a:p>
        </p:txBody>
      </p:sp>
    </p:spTree>
    <p:extLst>
      <p:ext uri="{BB962C8B-B14F-4D97-AF65-F5344CB8AC3E}">
        <p14:creationId xmlns:p14="http://schemas.microsoft.com/office/powerpoint/2010/main" val="1381755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b="1" dirty="0"/>
              <a:t>在磁场</a:t>
            </a:r>
            <a:r>
              <a:rPr lang="en-US" altLang="zh-CN" sz="2800" b="1" dirty="0"/>
              <a:t>B</a:t>
            </a:r>
            <a:r>
              <a:rPr lang="zh-CN" altLang="zh-CN" sz="2800" b="1" dirty="0"/>
              <a:t>中的点电荷，在以下哪种情况下（对于一个给定的速度）它所受的磁力最大？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沿磁场方向运动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沿磁场的反方向运动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既有平行于也有垂直于磁场的速度分量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垂直于磁场运动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740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6808" y="502197"/>
            <a:ext cx="80648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 smtClean="0">
                <a:solidFill>
                  <a:srgbClr val="000099"/>
                </a:solidFill>
              </a:rPr>
              <a:t>检测题 </a:t>
            </a:r>
            <a:r>
              <a:rPr lang="en-US" altLang="zh-CN" sz="2800" b="1" dirty="0" smtClean="0">
                <a:solidFill>
                  <a:srgbClr val="000099"/>
                </a:solidFill>
              </a:rPr>
              <a:t>19.2</a:t>
            </a:r>
          </a:p>
          <a:p>
            <a:pPr>
              <a:lnSpc>
                <a:spcPct val="125000"/>
              </a:lnSpc>
            </a:pPr>
            <a:r>
              <a:rPr lang="zh-CN" altLang="en-US" sz="2800" b="1" dirty="0"/>
              <a:t>一</a:t>
            </a:r>
            <a:r>
              <a:rPr lang="zh-CN" altLang="en-US" sz="2800" b="1" dirty="0" smtClean="0"/>
              <a:t>个电子以速度</a:t>
            </a:r>
            <a:r>
              <a:rPr lang="en-US" altLang="zh-CN" sz="2800" b="1" dirty="0" smtClean="0"/>
              <a:t>v</a:t>
            </a:r>
            <a:r>
              <a:rPr lang="zh-CN" altLang="en-US" sz="2800" b="1" dirty="0" smtClean="0"/>
              <a:t>在均匀向下的磁场</a:t>
            </a:r>
            <a:r>
              <a:rPr lang="en-US" altLang="zh-CN" sz="2800" b="1" dirty="0" smtClean="0"/>
              <a:t>B</a:t>
            </a:r>
            <a:r>
              <a:rPr lang="zh-CN" altLang="en-US" sz="2800" b="1" dirty="0" smtClean="0"/>
              <a:t>中运动。</a:t>
            </a:r>
            <a:endParaRPr lang="en-US" altLang="zh-CN" sz="2800" b="1" dirty="0" smtClean="0"/>
          </a:p>
          <a:p>
            <a:pPr>
              <a:lnSpc>
                <a:spcPct val="125000"/>
              </a:lnSpc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a</a:t>
            </a:r>
            <a:r>
              <a:rPr lang="zh-CN" altLang="en-US" sz="2800" b="1" dirty="0" smtClean="0"/>
              <a:t>）它在什么方向运动受到的磁力为零？</a:t>
            </a:r>
            <a:endParaRPr lang="en-US" altLang="zh-CN" sz="2800" b="1" dirty="0" smtClean="0"/>
          </a:p>
          <a:p>
            <a:pPr>
              <a:lnSpc>
                <a:spcPct val="125000"/>
              </a:lnSpc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b</a:t>
            </a:r>
            <a:r>
              <a:rPr lang="zh-CN" altLang="en-US" sz="2800" b="1" dirty="0" smtClean="0"/>
              <a:t>）它在什么方向运动受到的磁力最大？</a:t>
            </a:r>
            <a:endParaRPr lang="zh-CN" alt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025161" y="3240997"/>
            <a:ext cx="802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垂直方向磁力为零，（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v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和磁场方向平行）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25161" y="4196834"/>
            <a:ext cx="74363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水平方向磁力</a:t>
            </a:r>
            <a:r>
              <a:rPr lang="zh-CN" altLang="en-US" sz="2800" b="1" smtClean="0">
                <a:solidFill>
                  <a:srgbClr val="FF0000"/>
                </a:solidFill>
              </a:rPr>
              <a:t>最大，（</a:t>
            </a:r>
            <a:r>
              <a:rPr lang="en-US" altLang="zh-CN" sz="2800" b="1" smtClean="0">
                <a:solidFill>
                  <a:srgbClr val="FF0000"/>
                </a:solidFill>
              </a:rPr>
              <a:t>v</a:t>
            </a:r>
            <a:r>
              <a:rPr lang="zh-CN" altLang="en-US" sz="2800" b="1" smtClean="0">
                <a:solidFill>
                  <a:srgbClr val="FF0000"/>
                </a:solidFill>
              </a:rPr>
              <a:t>和磁场方向垂直）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58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3339" y="146225"/>
            <a:ext cx="11905323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例题</a:t>
            </a:r>
            <a:r>
              <a:rPr lang="en-US" altLang="zh-CN" sz="24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19.1</a:t>
            </a:r>
            <a:r>
              <a:rPr lang="zh-CN" altLang="en-US" sz="24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en-US" altLang="zh-CN" sz="24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4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</a:rPr>
              <a:t>宇宙射线的偏转</a:t>
            </a:r>
            <a:endParaRPr lang="en-US" altLang="zh-CN" sz="2400" b="1" dirty="0" smtClean="0">
              <a:solidFill>
                <a:srgbClr val="000099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b="1" dirty="0" smtClean="0"/>
              <a:t>宇宙射线是朝地球高速运动的带电粒子。粒子的起源尚不完全清楚，但其中的大部分可能源于超新星爆炸。大约</a:t>
            </a:r>
            <a:r>
              <a:rPr lang="en-US" altLang="zh-CN" sz="2400" b="1" dirty="0" smtClean="0"/>
              <a:t>7/8</a:t>
            </a:r>
            <a:r>
              <a:rPr lang="zh-CN" altLang="en-US" sz="2400" b="1" dirty="0" smtClean="0"/>
              <a:t>的粒子是质子，以约</a:t>
            </a:r>
            <a:r>
              <a:rPr lang="en-US" altLang="zh-CN" sz="2400" b="1" dirty="0" smtClean="0"/>
              <a:t>2/3c</a:t>
            </a:r>
            <a:r>
              <a:rPr lang="zh-CN" altLang="en-US" sz="2400" b="1" dirty="0" smtClean="0"/>
              <a:t>的平均速度朝着地球运动。假设一个质子正一直向下朝赤道运动，（</a:t>
            </a:r>
            <a:r>
              <a:rPr lang="en-US" altLang="zh-CN" sz="2400" b="1" dirty="0" smtClean="0"/>
              <a:t>a</a:t>
            </a:r>
            <a:r>
              <a:rPr lang="zh-CN" altLang="en-US" sz="2400" b="1" dirty="0" smtClean="0"/>
              <a:t>）地球磁场对质子的磁力沿什么方向？（</a:t>
            </a:r>
            <a:r>
              <a:rPr lang="en-US" altLang="zh-CN" sz="2400" b="1" dirty="0" smtClean="0"/>
              <a:t>b</a:t>
            </a:r>
            <a:r>
              <a:rPr lang="zh-CN" altLang="en-US" sz="2400" b="1" dirty="0" smtClean="0"/>
              <a:t>）解释一下地球磁场如何保护我们免受宇宙射线的轰击。（</a:t>
            </a:r>
            <a:r>
              <a:rPr lang="en-US" altLang="zh-CN" sz="2400" b="1" dirty="0" smtClean="0"/>
              <a:t>c</a:t>
            </a:r>
            <a:r>
              <a:rPr lang="zh-CN" altLang="en-US" sz="2400" b="1" dirty="0" smtClean="0"/>
              <a:t>）在地面上这种屏蔽哪里最无效？</a:t>
            </a:r>
            <a:endParaRPr lang="zh-CN" altLang="en-US" sz="2400" dirty="0"/>
          </a:p>
        </p:txBody>
      </p:sp>
      <p:pic>
        <p:nvPicPr>
          <p:cNvPr id="3" name="Picture 3" descr="gia12141_19_09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5" r="4942" b="4847"/>
          <a:stretch/>
        </p:blipFill>
        <p:spPr bwMode="auto">
          <a:xfrm>
            <a:off x="6096000" y="2924944"/>
            <a:ext cx="6048672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2924944"/>
            <a:ext cx="6480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a</a:t>
            </a:r>
            <a:r>
              <a:rPr lang="zh-CN" altLang="en-US" sz="2400" b="1" dirty="0" smtClean="0"/>
              <a:t>）此磁力向东或指入页面</a:t>
            </a:r>
            <a:endParaRPr lang="zh-CN" alt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-96012" y="3539708"/>
            <a:ext cx="648004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b</a:t>
            </a:r>
            <a:r>
              <a:rPr lang="zh-CN" altLang="en-US" sz="2400" b="1" dirty="0" smtClean="0"/>
              <a:t>）如果没有地磁场，质子将直接掉向地面。磁场使粒子向一侧偏转并阻止它到达地面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43339" y="4653384"/>
            <a:ext cx="6480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c</a:t>
            </a:r>
            <a:r>
              <a:rPr lang="zh-CN" altLang="en-US" sz="2400" b="1" dirty="0" smtClean="0"/>
              <a:t>）两极附近，速度垂直于磁场的分量是速度的很小一部分，由于磁力与该分速度成正比，则两极附近的偏转力很小。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7117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3" descr="gia12141_19_1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0" r="17775" b="4224"/>
          <a:stretch/>
        </p:blipFill>
        <p:spPr bwMode="auto">
          <a:xfrm>
            <a:off x="9040904" y="3608698"/>
            <a:ext cx="3151097" cy="31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3" descr="gia12141_19_1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90"/>
          <a:stretch/>
        </p:blipFill>
        <p:spPr bwMode="auto">
          <a:xfrm>
            <a:off x="-144693" y="2845347"/>
            <a:ext cx="10303701" cy="1904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692696"/>
            <a:ext cx="1075319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717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800" y="1978025"/>
            <a:ext cx="3995600" cy="19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5800" y="774700"/>
            <a:ext cx="8509000" cy="389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/>
              <a:t>在图中，四个点电荷在条形磁铁附近一所示的方向运动。磁铁、电荷位置和速度矢量都在页面所在的平面。答案选择：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a</a:t>
            </a:r>
            <a:r>
              <a:rPr lang="zh-CN" altLang="en-US" sz="2800" b="1" dirty="0" smtClean="0"/>
              <a:t>）</a:t>
            </a:r>
            <a:r>
              <a:rPr lang="zh-CN" altLang="en-US" sz="2800" b="1" dirty="0"/>
              <a:t>↑  </a:t>
            </a:r>
            <a:r>
              <a:rPr lang="en-US" altLang="zh-CN" sz="2800" b="1" dirty="0" smtClean="0"/>
              <a:t>			</a:t>
            </a: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b</a:t>
            </a:r>
            <a:r>
              <a:rPr lang="zh-CN" altLang="en-US" sz="2800" b="1" dirty="0" smtClean="0"/>
              <a:t>）</a:t>
            </a:r>
            <a:r>
              <a:rPr lang="zh-CN" altLang="en-US" sz="2800" b="1" dirty="0"/>
              <a:t> ↓ </a:t>
            </a:r>
            <a:r>
              <a:rPr lang="en-US" altLang="zh-CN" sz="2800" b="1" dirty="0" smtClean="0"/>
              <a:t>	</a:t>
            </a: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c</a:t>
            </a:r>
            <a:r>
              <a:rPr lang="zh-CN" altLang="en-US" sz="2800" b="1" dirty="0" smtClean="0"/>
              <a:t>）</a:t>
            </a:r>
            <a:r>
              <a:rPr lang="zh-CN" altLang="en-US" sz="2800" b="1" dirty="0"/>
              <a:t>← 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d</a:t>
            </a:r>
            <a:r>
              <a:rPr lang="zh-CN" altLang="en-US" sz="2800" b="1" dirty="0" smtClean="0"/>
              <a:t>）</a:t>
            </a:r>
            <a:r>
              <a:rPr lang="zh-CN" altLang="en-US" sz="2800" b="1" dirty="0"/>
              <a:t> → </a:t>
            </a:r>
            <a:r>
              <a:rPr lang="en-US" altLang="zh-CN" sz="2800" b="1" dirty="0" smtClean="0"/>
              <a:t>			</a:t>
            </a: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e</a:t>
            </a:r>
            <a:r>
              <a:rPr lang="zh-CN" altLang="en-US" sz="2800" b="1" dirty="0" smtClean="0"/>
              <a:t>）</a:t>
            </a:r>
            <a:r>
              <a:rPr lang="en-US" altLang="zh-CN" sz="2800" b="1" dirty="0" smtClean="0"/>
              <a:t>×</a:t>
            </a:r>
            <a:r>
              <a:rPr lang="zh-CN" altLang="en-US" sz="2800" b="1" dirty="0" smtClean="0"/>
              <a:t>（指入页面）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f</a:t>
            </a:r>
            <a:r>
              <a:rPr lang="zh-CN" altLang="en-US" sz="2800" b="1" dirty="0" smtClean="0"/>
              <a:t>）</a:t>
            </a:r>
            <a:r>
              <a:rPr lang="en-US" altLang="zh-CN" sz="2800" b="1" dirty="0" smtClean="0">
                <a:sym typeface="Symbol Tiger Expert"/>
              </a:rPr>
              <a:t>•</a:t>
            </a:r>
            <a:r>
              <a:rPr lang="zh-CN" altLang="en-US" sz="2800" b="1" dirty="0" smtClean="0">
                <a:sym typeface="Symbol Tiger Expert"/>
              </a:rPr>
              <a:t>（指出页面）</a:t>
            </a:r>
            <a:r>
              <a:rPr lang="en-US" altLang="zh-CN" sz="2800" b="1" dirty="0" smtClean="0">
                <a:sym typeface="Symbol Tiger Expert"/>
              </a:rPr>
              <a:t>	</a:t>
            </a:r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g</a:t>
            </a:r>
            <a:r>
              <a:rPr lang="zh-CN" altLang="en-US" sz="2800" b="1" dirty="0" smtClean="0"/>
              <a:t>）力为零</a:t>
            </a:r>
            <a:endParaRPr lang="zh-CN" alt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65200" y="189925"/>
            <a:ext cx="397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mtClean="0">
                <a:solidFill>
                  <a:srgbClr val="000099"/>
                </a:solidFill>
              </a:rPr>
              <a:t>单项选择题：</a:t>
            </a:r>
            <a:endParaRPr lang="zh-CN" altLang="en-US" sz="3200" b="1">
              <a:solidFill>
                <a:srgbClr val="00009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047734"/>
            <a:ext cx="651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1.</a:t>
            </a:r>
            <a:r>
              <a:rPr lang="zh-CN" altLang="en-US" sz="2800" b="1" dirty="0" smtClean="0"/>
              <a:t>若</a:t>
            </a:r>
            <a:r>
              <a:rPr lang="en-US" altLang="zh-CN" sz="2800" b="1" dirty="0" smtClean="0"/>
              <a:t>q1&lt;0</a:t>
            </a:r>
            <a:r>
              <a:rPr lang="zh-CN" altLang="en-US" sz="2800" b="1" dirty="0" smtClean="0"/>
              <a:t>，电荷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所受的磁力方向是什么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967800" y="5047734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mtClean="0">
                <a:solidFill>
                  <a:srgbClr val="FF0000"/>
                </a:solidFill>
              </a:rPr>
              <a:t>g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723354"/>
            <a:ext cx="651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mtClean="0"/>
              <a:t>2.</a:t>
            </a:r>
            <a:r>
              <a:rPr lang="zh-CN" altLang="en-US" sz="2800" b="1" smtClean="0"/>
              <a:t>若</a:t>
            </a:r>
            <a:r>
              <a:rPr lang="en-US" altLang="zh-CN" sz="2800" b="1" smtClean="0"/>
              <a:t>q3&lt;0</a:t>
            </a:r>
            <a:r>
              <a:rPr lang="zh-CN" altLang="en-US" sz="2800" b="1" smtClean="0"/>
              <a:t>，电荷</a:t>
            </a:r>
            <a:r>
              <a:rPr lang="en-US" altLang="zh-CN" sz="2800" b="1" smtClean="0"/>
              <a:t>3</a:t>
            </a:r>
            <a:r>
              <a:rPr lang="zh-CN" altLang="en-US" sz="2800" b="1" smtClean="0"/>
              <a:t>所受的磁力方向是什么</a:t>
            </a:r>
            <a:endParaRPr lang="zh-CN" altLang="en-US" sz="2800" b="1"/>
          </a:p>
        </p:txBody>
      </p:sp>
      <p:sp>
        <p:nvSpPr>
          <p:cNvPr id="8" name="TextBox 7"/>
          <p:cNvSpPr txBox="1"/>
          <p:nvPr/>
        </p:nvSpPr>
        <p:spPr>
          <a:xfrm>
            <a:off x="7967800" y="5693608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mtClean="0">
                <a:solidFill>
                  <a:srgbClr val="FF0000"/>
                </a:solidFill>
              </a:rPr>
              <a:t>e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57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1884" y="1782975"/>
            <a:ext cx="7082771" cy="1269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3200" b="1" dirty="0" smtClean="0"/>
              <a:t>作业：</a:t>
            </a:r>
            <a:endParaRPr lang="en-US" altLang="zh-CN" sz="3200" b="1" dirty="0" smtClean="0"/>
          </a:p>
          <a:p>
            <a:pPr>
              <a:lnSpc>
                <a:spcPct val="125000"/>
              </a:lnSpc>
            </a:pPr>
            <a:r>
              <a:rPr lang="en-US" altLang="zh-CN" sz="3200" b="1" dirty="0" smtClean="0"/>
              <a:t>134</a:t>
            </a:r>
            <a:r>
              <a:rPr lang="zh-CN" altLang="en-US" sz="3200" b="1" dirty="0" smtClean="0"/>
              <a:t>页计算题</a:t>
            </a:r>
            <a:r>
              <a:rPr lang="en-US" altLang="zh-CN" sz="3200" b="1" dirty="0" smtClean="0"/>
              <a:t>7</a:t>
            </a:r>
            <a:r>
              <a:rPr lang="zh-CN" altLang="en-US" sz="3200" b="1" dirty="0" smtClean="0"/>
              <a:t>，</a:t>
            </a:r>
            <a:r>
              <a:rPr lang="en-US" altLang="zh-CN" sz="3200" b="1" dirty="0" smtClean="0"/>
              <a:t>8.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3393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PSSECTIONTITLE" val="MAGNETIC FORCE ON A POINT CHARGE"/>
  <p:tag name="AMPSSECTIONNUMBER" val="19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2535</TotalTime>
  <Words>1981</Words>
  <Application>Microsoft Office PowerPoint</Application>
  <PresentationFormat>宽屏</PresentationFormat>
  <Paragraphs>171</Paragraphs>
  <Slides>30</Slides>
  <Notes>8</Notes>
  <HiddenSlides>1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8" baseType="lpstr">
      <vt:lpstr>Microsoft Yahei</vt:lpstr>
      <vt:lpstr>黑体</vt:lpstr>
      <vt:lpstr>黑体</vt:lpstr>
      <vt:lpstr>华文楷体</vt:lpstr>
      <vt:lpstr>楷体_GB2312</vt:lpstr>
      <vt:lpstr>宋体</vt:lpstr>
      <vt:lpstr>Arial</vt:lpstr>
      <vt:lpstr>Calibri</vt:lpstr>
      <vt:lpstr>Calibri Light</vt:lpstr>
      <vt:lpstr>Cambria Math</vt:lpstr>
      <vt:lpstr>Helvetica</vt:lpstr>
      <vt:lpstr>Symbol</vt:lpstr>
      <vt:lpstr>Symbol Tiger Expert</vt:lpstr>
      <vt:lpstr>Times New Roman</vt:lpstr>
      <vt:lpstr>Wingdings</vt:lpstr>
      <vt:lpstr>Office 主题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5、地球的磁场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Www.SangSan.Cn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桑三博客</dc:creator>
  <cp:lastModifiedBy>hsl</cp:lastModifiedBy>
  <cp:revision>179</cp:revision>
  <dcterms:created xsi:type="dcterms:W3CDTF">2017-10-22T09:48:47Z</dcterms:created>
  <dcterms:modified xsi:type="dcterms:W3CDTF">2021-05-23T12:26:49Z</dcterms:modified>
</cp:coreProperties>
</file>