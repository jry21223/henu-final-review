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81" r:id="rId2"/>
    <p:sldId id="293" r:id="rId3"/>
    <p:sldId id="301" r:id="rId4"/>
    <p:sldId id="302" r:id="rId5"/>
    <p:sldId id="294" r:id="rId6"/>
    <p:sldId id="289" r:id="rId7"/>
    <p:sldId id="303" r:id="rId8"/>
    <p:sldId id="304" r:id="rId9"/>
    <p:sldId id="290" r:id="rId10"/>
    <p:sldId id="305" r:id="rId11"/>
    <p:sldId id="299" r:id="rId12"/>
    <p:sldId id="295" r:id="rId13"/>
    <p:sldId id="306" r:id="rId14"/>
    <p:sldId id="300" r:id="rId15"/>
    <p:sldId id="291" r:id="rId16"/>
    <p:sldId id="292" r:id="rId17"/>
  </p:sldIdLst>
  <p:sldSz cx="9144000" cy="6858000" type="screen4x3"/>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17" autoAdjust="0"/>
  </p:normalViewPr>
  <p:slideViewPr>
    <p:cSldViewPr>
      <p:cViewPr varScale="1">
        <p:scale>
          <a:sx n="85" d="100"/>
          <a:sy n="85" d="100"/>
        </p:scale>
        <p:origin x="155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CD7BCA2D-274D-42E3-BD4E-6F743775F96F}" type="datetimeFigureOut">
              <a:rPr lang="zh-CN" altLang="en-US" smtClean="0"/>
              <a:pPr/>
              <a:t>2021/6/27</a:t>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957EDE05-1E59-4759-9D00-B317BDE0957C}" type="slidenum">
              <a:rPr lang="zh-CN" altLang="en-US" smtClean="0"/>
              <a:pPr/>
              <a:t>‹#›</a:t>
            </a:fld>
            <a:endParaRPr lang="zh-CN" altLang="en-US"/>
          </a:p>
        </p:txBody>
      </p:sp>
    </p:spTree>
    <p:extLst>
      <p:ext uri="{BB962C8B-B14F-4D97-AF65-F5344CB8AC3E}">
        <p14:creationId xmlns:p14="http://schemas.microsoft.com/office/powerpoint/2010/main" val="3663981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935959C-ECC1-4A12-BE54-99AEEC76ABC5}" type="datetimeFigureOut">
              <a:rPr lang="zh-CN" altLang="en-US" smtClean="0"/>
              <a:t>2021/6/27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16463"/>
            <a:ext cx="5438775" cy="4467225"/>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F8CB8AB2-636A-4FF6-A7A3-EAB7AB75D907}" type="slidenum">
              <a:rPr lang="zh-CN" altLang="en-US" smtClean="0"/>
              <a:t>‹#›</a:t>
            </a:fld>
            <a:endParaRPr lang="zh-CN" altLang="en-US"/>
          </a:p>
        </p:txBody>
      </p:sp>
    </p:spTree>
    <p:extLst>
      <p:ext uri="{BB962C8B-B14F-4D97-AF65-F5344CB8AC3E}">
        <p14:creationId xmlns:p14="http://schemas.microsoft.com/office/powerpoint/2010/main" val="2700041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钆（</a:t>
            </a:r>
            <a:r>
              <a:rPr lang="en-US" altLang="zh-CN" dirty="0" err="1" smtClean="0"/>
              <a:t>ga</a:t>
            </a:r>
            <a:r>
              <a:rPr lang="zh-CN" altLang="en-US" dirty="0" smtClean="0"/>
              <a:t>）</a:t>
            </a:r>
            <a:r>
              <a:rPr lang="en-US" altLang="zh-CN" dirty="0" smtClean="0"/>
              <a:t>,</a:t>
            </a:r>
            <a:r>
              <a:rPr lang="zh-CN" altLang="en-US" dirty="0" smtClean="0"/>
              <a:t>镝（</a:t>
            </a:r>
            <a:r>
              <a:rPr lang="en-US" altLang="zh-CN" dirty="0" smtClean="0"/>
              <a:t>di</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F8CB8AB2-636A-4FF6-A7A3-EAB7AB75D907}" type="slidenum">
              <a:rPr lang="zh-CN" altLang="en-US" smtClean="0"/>
              <a:t>2</a:t>
            </a:fld>
            <a:endParaRPr lang="zh-CN" altLang="en-US"/>
          </a:p>
        </p:txBody>
      </p:sp>
    </p:spTree>
    <p:extLst>
      <p:ext uri="{BB962C8B-B14F-4D97-AF65-F5344CB8AC3E}">
        <p14:creationId xmlns:p14="http://schemas.microsoft.com/office/powerpoint/2010/main" val="2426919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D</a:t>
            </a:r>
            <a:endParaRPr lang="zh-CN" altLang="en-US" dirty="0"/>
          </a:p>
        </p:txBody>
      </p:sp>
      <p:sp>
        <p:nvSpPr>
          <p:cNvPr id="4" name="灯片编号占位符 3"/>
          <p:cNvSpPr>
            <a:spLocks noGrp="1"/>
          </p:cNvSpPr>
          <p:nvPr>
            <p:ph type="sldNum" sz="quarter" idx="10"/>
          </p:nvPr>
        </p:nvSpPr>
        <p:spPr/>
        <p:txBody>
          <a:bodyPr/>
          <a:lstStyle/>
          <a:p>
            <a:fld id="{F8CB8AB2-636A-4FF6-A7A3-EAB7AB75D907}" type="slidenum">
              <a:rPr lang="zh-CN" altLang="en-US" smtClean="0"/>
              <a:t>7</a:t>
            </a:fld>
            <a:endParaRPr lang="zh-CN" altLang="en-US"/>
          </a:p>
        </p:txBody>
      </p:sp>
    </p:spTree>
    <p:extLst>
      <p:ext uri="{BB962C8B-B14F-4D97-AF65-F5344CB8AC3E}">
        <p14:creationId xmlns:p14="http://schemas.microsoft.com/office/powerpoint/2010/main" val="3132567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a:t>
            </a:r>
            <a:r>
              <a:rPr lang="zh-CN" altLang="en-US" dirty="0" smtClean="0"/>
              <a:t>定义为磁场强度，</a:t>
            </a:r>
            <a:r>
              <a:rPr lang="en-US" altLang="zh-CN" smtClean="0"/>
              <a:t>B</a:t>
            </a:r>
            <a:r>
              <a:rPr lang="zh-CN" altLang="en-US" smtClean="0"/>
              <a:t>磁感应强度，</a:t>
            </a:r>
            <a:r>
              <a:rPr lang="en-US" altLang="zh-CN" smtClean="0"/>
              <a:t>M</a:t>
            </a:r>
            <a:r>
              <a:rPr lang="zh-CN" altLang="en-US" smtClean="0"/>
              <a:t>磁化强度</a:t>
            </a:r>
            <a:endParaRPr lang="zh-CN" altLang="en-US" dirty="0"/>
          </a:p>
        </p:txBody>
      </p:sp>
      <p:sp>
        <p:nvSpPr>
          <p:cNvPr id="4" name="灯片编号占位符 3"/>
          <p:cNvSpPr>
            <a:spLocks noGrp="1"/>
          </p:cNvSpPr>
          <p:nvPr>
            <p:ph type="sldNum" sz="quarter" idx="10"/>
          </p:nvPr>
        </p:nvSpPr>
        <p:spPr/>
        <p:txBody>
          <a:bodyPr/>
          <a:lstStyle/>
          <a:p>
            <a:fld id="{F8CB8AB2-636A-4FF6-A7A3-EAB7AB75D907}" type="slidenum">
              <a:rPr lang="zh-CN" altLang="en-US" smtClean="0"/>
              <a:t>10</a:t>
            </a:fld>
            <a:endParaRPr lang="zh-CN" altLang="en-US"/>
          </a:p>
        </p:txBody>
      </p:sp>
    </p:spTree>
    <p:extLst>
      <p:ext uri="{BB962C8B-B14F-4D97-AF65-F5344CB8AC3E}">
        <p14:creationId xmlns:p14="http://schemas.microsoft.com/office/powerpoint/2010/main" val="2802891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自发磁化的微小区域称为磁畴。</a:t>
            </a:r>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13</a:t>
            </a:fld>
            <a:endParaRPr lang="zh-CN" altLang="en-US"/>
          </a:p>
        </p:txBody>
      </p:sp>
    </p:spTree>
    <p:extLst>
      <p:ext uri="{BB962C8B-B14F-4D97-AF65-F5344CB8AC3E}">
        <p14:creationId xmlns:p14="http://schemas.microsoft.com/office/powerpoint/2010/main" val="2582971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硬盘是一种采用磁介质的数据存储设备。</a:t>
            </a:r>
            <a:endParaRPr lang="zh-CN" altLang="en-US" dirty="0"/>
          </a:p>
        </p:txBody>
      </p:sp>
      <p:sp>
        <p:nvSpPr>
          <p:cNvPr id="4" name="灯片编号占位符 3"/>
          <p:cNvSpPr>
            <a:spLocks noGrp="1"/>
          </p:cNvSpPr>
          <p:nvPr>
            <p:ph type="sldNum" sz="quarter" idx="10"/>
          </p:nvPr>
        </p:nvSpPr>
        <p:spPr/>
        <p:txBody>
          <a:bodyPr/>
          <a:lstStyle/>
          <a:p>
            <a:fld id="{F8CB8AB2-636A-4FF6-A7A3-EAB7AB75D907}" type="slidenum">
              <a:rPr lang="zh-CN" altLang="en-US" smtClean="0"/>
              <a:t>16</a:t>
            </a:fld>
            <a:endParaRPr lang="zh-CN" altLang="en-US"/>
          </a:p>
        </p:txBody>
      </p:sp>
    </p:spTree>
    <p:extLst>
      <p:ext uri="{BB962C8B-B14F-4D97-AF65-F5344CB8AC3E}">
        <p14:creationId xmlns:p14="http://schemas.microsoft.com/office/powerpoint/2010/main" val="1149575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4124949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黑体" pitchFamily="49" charset="-122"/>
                <a:ea typeface="黑体" pitchFamily="49"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latin typeface="黑体" pitchFamily="49" charset="-122"/>
                <a:ea typeface="黑体" pitchFamily="49" charset="-122"/>
              </a:defRPr>
            </a:lvl1pPr>
            <a:lvl2pPr>
              <a:defRPr>
                <a:latin typeface="黑体" pitchFamily="49" charset="-122"/>
                <a:ea typeface="黑体" pitchFamily="49" charset="-122"/>
              </a:defRPr>
            </a:lvl2pPr>
            <a:lvl3pPr>
              <a:defRPr>
                <a:latin typeface="黑体" pitchFamily="49" charset="-122"/>
                <a:ea typeface="黑体" pitchFamily="49" charset="-122"/>
              </a:defRPr>
            </a:lvl3pPr>
            <a:lvl4pPr>
              <a:defRPr>
                <a:latin typeface="黑体" pitchFamily="49" charset="-122"/>
                <a:ea typeface="黑体" pitchFamily="49" charset="-122"/>
              </a:defRPr>
            </a:lvl4pPr>
            <a:lvl5pPr>
              <a:defRPr>
                <a:latin typeface="黑体" pitchFamily="49" charset="-122"/>
                <a:ea typeface="黑体" pitchFamily="49" charset="-122"/>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3777377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2230062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174795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294695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951934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250019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3706570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1714961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438770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3357749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AF28EC-431F-46F7-9AC8-035A70DDC763}" type="datetimeFigureOut">
              <a:rPr lang="zh-CN" altLang="en-US" smtClean="0"/>
              <a:pPr/>
              <a:t>2021/6/27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D468E6-A974-49B6-8C70-F10CA73144FD}" type="slidenum">
              <a:rPr lang="zh-CN" altLang="en-US" smtClean="0"/>
              <a:pPr/>
              <a:t>‹#›</a:t>
            </a:fld>
            <a:endParaRPr lang="zh-CN" altLang="en-US"/>
          </a:p>
        </p:txBody>
      </p:sp>
    </p:spTree>
    <p:extLst>
      <p:ext uri="{BB962C8B-B14F-4D97-AF65-F5344CB8AC3E}">
        <p14:creationId xmlns:p14="http://schemas.microsoft.com/office/powerpoint/2010/main" val="431280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黑体" pitchFamily="49" charset="-122"/>
          <a:ea typeface="黑体" pitchFamily="49"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黑体" pitchFamily="49" charset="-122"/>
          <a:ea typeface="黑体" pitchFamily="49"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黑体" pitchFamily="49" charset="-122"/>
          <a:ea typeface="黑体" pitchFamily="49"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黑体" pitchFamily="49" charset="-122"/>
          <a:ea typeface="黑体" pitchFamily="49"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黑体" pitchFamily="49" charset="-122"/>
          <a:ea typeface="黑体" pitchFamily="49"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黑体" pitchFamily="49" charset="-122"/>
          <a:ea typeface="黑体"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xml"/><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wmf"/><Relationship Id="rId10" Type="http://schemas.openxmlformats.org/officeDocument/2006/relationships/image" Target="../media/image8.png"/><Relationship Id="rId4" Type="http://schemas.openxmlformats.org/officeDocument/2006/relationships/oleObject" Target="../embeddings/oleObject2.bin"/><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oleObject" Target="../embeddings/oleObject10.bin"/><Relationship Id="rId18" Type="http://schemas.openxmlformats.org/officeDocument/2006/relationships/image" Target="../media/image16.emf"/><Relationship Id="rId3" Type="http://schemas.openxmlformats.org/officeDocument/2006/relationships/oleObject" Target="../embeddings/oleObject5.bin"/><Relationship Id="rId21" Type="http://schemas.openxmlformats.org/officeDocument/2006/relationships/oleObject" Target="../embeddings/oleObject14.bin"/><Relationship Id="rId7" Type="http://schemas.openxmlformats.org/officeDocument/2006/relationships/oleObject" Target="../embeddings/oleObject7.bin"/><Relationship Id="rId12" Type="http://schemas.openxmlformats.org/officeDocument/2006/relationships/image" Target="../media/image13.emf"/><Relationship Id="rId17" Type="http://schemas.openxmlformats.org/officeDocument/2006/relationships/oleObject" Target="../embeddings/oleObject12.bin"/><Relationship Id="rId2" Type="http://schemas.openxmlformats.org/officeDocument/2006/relationships/slideLayout" Target="../slideLayouts/slideLayout7.xml"/><Relationship Id="rId16" Type="http://schemas.openxmlformats.org/officeDocument/2006/relationships/image" Target="../media/image15.emf"/><Relationship Id="rId20" Type="http://schemas.openxmlformats.org/officeDocument/2006/relationships/image" Target="../media/image17.emf"/><Relationship Id="rId1" Type="http://schemas.openxmlformats.org/officeDocument/2006/relationships/vmlDrawing" Target="../drawings/vmlDrawing3.vml"/><Relationship Id="rId6" Type="http://schemas.openxmlformats.org/officeDocument/2006/relationships/image" Target="../media/image10.e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12.emf"/><Relationship Id="rId19" Type="http://schemas.openxmlformats.org/officeDocument/2006/relationships/oleObject" Target="../embeddings/oleObject13.bin"/><Relationship Id="rId4" Type="http://schemas.openxmlformats.org/officeDocument/2006/relationships/image" Target="../media/image9.emf"/><Relationship Id="rId9" Type="http://schemas.openxmlformats.org/officeDocument/2006/relationships/oleObject" Target="../embeddings/oleObject8.bin"/><Relationship Id="rId14" Type="http://schemas.openxmlformats.org/officeDocument/2006/relationships/image" Target="../media/image14.emf"/><Relationship Id="rId22" Type="http://schemas.openxmlformats.org/officeDocument/2006/relationships/image" Target="../media/image18.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20.e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6.bin"/><Relationship Id="rId5" Type="http://schemas.openxmlformats.org/officeDocument/2006/relationships/image" Target="../media/image8.png"/><Relationship Id="rId4" Type="http://schemas.openxmlformats.org/officeDocument/2006/relationships/image" Target="../media/image19.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a:xfrm>
            <a:off x="1975296" y="9056"/>
            <a:ext cx="4905375" cy="561975"/>
          </a:xfrm>
        </p:spPr>
        <p:txBody>
          <a:bodyPr>
            <a:noAutofit/>
          </a:bodyPr>
          <a:lstStyle/>
          <a:p>
            <a:pPr defTabSz="762000">
              <a:spcBef>
                <a:spcPts val="1400"/>
              </a:spcBef>
              <a:defRPr sz="1800"/>
            </a:pPr>
            <a:r>
              <a:rPr lang="en-US" altLang="zh-CN" sz="3600" b="1" dirty="0" smtClean="0">
                <a:solidFill>
                  <a:srgbClr val="FF0000"/>
                </a:solidFill>
                <a:latin typeface="SimHei"/>
                <a:ea typeface="SimHei"/>
                <a:cs typeface="SimHei"/>
                <a:sym typeface="SimHei"/>
              </a:rPr>
              <a:t>§19.10  </a:t>
            </a:r>
            <a:r>
              <a:rPr lang="zh-CN" altLang="en-US" sz="3600" b="1" dirty="0">
                <a:solidFill>
                  <a:srgbClr val="FF0000"/>
                </a:solidFill>
                <a:latin typeface="SimHei"/>
                <a:ea typeface="SimHei"/>
                <a:cs typeface="SimHei"/>
                <a:sym typeface="SimHei"/>
              </a:rPr>
              <a:t>磁介质</a:t>
            </a:r>
          </a:p>
        </p:txBody>
      </p:sp>
      <p:sp>
        <p:nvSpPr>
          <p:cNvPr id="4100" name="Text Box 4"/>
          <p:cNvSpPr txBox="1">
            <a:spLocks noChangeArrowheads="1"/>
          </p:cNvSpPr>
          <p:nvPr/>
        </p:nvSpPr>
        <p:spPr bwMode="auto">
          <a:xfrm>
            <a:off x="323528" y="2780928"/>
            <a:ext cx="828092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800" dirty="0" smtClean="0">
                <a:latin typeface="黑体" pitchFamily="49" charset="-122"/>
                <a:ea typeface="黑体" pitchFamily="49" charset="-122"/>
                <a:cs typeface="Heiti SC Light"/>
              </a:rPr>
              <a:t>磁介质在</a:t>
            </a:r>
            <a:r>
              <a:rPr lang="zh-CN" altLang="en-US" sz="2800" dirty="0">
                <a:latin typeface="黑体" pitchFamily="49" charset="-122"/>
                <a:ea typeface="黑体" pitchFamily="49" charset="-122"/>
                <a:cs typeface="Heiti SC Light"/>
              </a:rPr>
              <a:t>磁场作用</a:t>
            </a:r>
            <a:r>
              <a:rPr lang="zh-CN" altLang="en-US" sz="2800" dirty="0" smtClean="0">
                <a:latin typeface="黑体" pitchFamily="49" charset="-122"/>
                <a:ea typeface="黑体" pitchFamily="49" charset="-122"/>
                <a:cs typeface="Heiti SC Light"/>
              </a:rPr>
              <a:t>下被磁化并</a:t>
            </a:r>
            <a:r>
              <a:rPr lang="zh-CN" altLang="en-US" sz="2800" dirty="0">
                <a:latin typeface="黑体" pitchFamily="49" charset="-122"/>
                <a:ea typeface="黑体" pitchFamily="49" charset="-122"/>
                <a:cs typeface="Heiti SC Light"/>
              </a:rPr>
              <a:t>能</a:t>
            </a:r>
            <a:r>
              <a:rPr lang="zh-CN" altLang="en-US" sz="2800" dirty="0" smtClean="0">
                <a:latin typeface="黑体" pitchFamily="49" charset="-122"/>
                <a:ea typeface="黑体" pitchFamily="49" charset="-122"/>
                <a:cs typeface="Heiti SC Light"/>
              </a:rPr>
              <a:t>反过</a:t>
            </a:r>
            <a:r>
              <a:rPr lang="zh-CN" altLang="en-US" sz="2800" dirty="0">
                <a:latin typeface="黑体" pitchFamily="49" charset="-122"/>
                <a:ea typeface="黑体" pitchFamily="49" charset="-122"/>
                <a:cs typeface="Heiti SC Light"/>
              </a:rPr>
              <a:t>来影响磁</a:t>
            </a:r>
            <a:r>
              <a:rPr lang="zh-CN" altLang="en-US" sz="2800" dirty="0" smtClean="0">
                <a:latin typeface="黑体" pitchFamily="49" charset="-122"/>
                <a:ea typeface="黑体" pitchFamily="49" charset="-122"/>
                <a:cs typeface="Heiti SC Light"/>
              </a:rPr>
              <a:t>场。</a:t>
            </a:r>
            <a:endParaRPr lang="zh-CN" altLang="en-US" sz="2800" dirty="0">
              <a:latin typeface="黑体" pitchFamily="49" charset="-122"/>
              <a:ea typeface="黑体" pitchFamily="49" charset="-122"/>
              <a:cs typeface="Heiti SC Light"/>
            </a:endParaRPr>
          </a:p>
        </p:txBody>
      </p:sp>
      <p:sp>
        <p:nvSpPr>
          <p:cNvPr id="39" name="Rectangle 2"/>
          <p:cNvSpPr txBox="1">
            <a:spLocks noChangeArrowheads="1"/>
          </p:cNvSpPr>
          <p:nvPr/>
        </p:nvSpPr>
        <p:spPr>
          <a:xfrm>
            <a:off x="0" y="548680"/>
            <a:ext cx="4905375" cy="56197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黑体" pitchFamily="49" charset="-122"/>
                <a:ea typeface="黑体" pitchFamily="49" charset="-122"/>
                <a:cs typeface="+mj-cs"/>
              </a:defRPr>
            </a:lvl1pPr>
          </a:lstStyle>
          <a:p>
            <a:pPr algn="l"/>
            <a:r>
              <a:rPr lang="zh-CN" altLang="en-US" sz="3200" b="1" dirty="0" smtClean="0"/>
              <a:t>一、磁介质</a:t>
            </a:r>
          </a:p>
        </p:txBody>
      </p:sp>
      <p:sp>
        <p:nvSpPr>
          <p:cNvPr id="17" name="Text Box 4"/>
          <p:cNvSpPr txBox="1">
            <a:spLocks noChangeArrowheads="1"/>
          </p:cNvSpPr>
          <p:nvPr/>
        </p:nvSpPr>
        <p:spPr bwMode="auto">
          <a:xfrm>
            <a:off x="323528" y="1412776"/>
            <a:ext cx="8568952" cy="109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zh-CN" altLang="en-US" sz="2800" dirty="0" smtClean="0">
                <a:latin typeface="黑体" pitchFamily="49" charset="-122"/>
                <a:ea typeface="黑体" pitchFamily="49" charset="-122"/>
                <a:cs typeface="Heiti SC Light"/>
              </a:rPr>
              <a:t>    物质具有磁性的过程称为</a:t>
            </a:r>
            <a:r>
              <a:rPr lang="zh-CN" altLang="en-US" sz="2800" dirty="0" smtClean="0">
                <a:solidFill>
                  <a:srgbClr val="0000FF"/>
                </a:solidFill>
                <a:latin typeface="黑体" pitchFamily="49" charset="-122"/>
                <a:ea typeface="黑体" pitchFamily="49" charset="-122"/>
                <a:cs typeface="Heiti SC Light"/>
              </a:rPr>
              <a:t>磁化</a:t>
            </a:r>
            <a:r>
              <a:rPr lang="zh-CN" altLang="en-US" sz="2800" dirty="0" smtClean="0">
                <a:latin typeface="黑体" pitchFamily="49" charset="-122"/>
                <a:ea typeface="黑体" pitchFamily="49" charset="-122"/>
                <a:cs typeface="Heiti SC Light"/>
              </a:rPr>
              <a:t>。一切能够被磁化的实物称为</a:t>
            </a:r>
            <a:r>
              <a:rPr lang="zh-CN" altLang="en-US" sz="2800" dirty="0" smtClean="0">
                <a:solidFill>
                  <a:srgbClr val="0000FF"/>
                </a:solidFill>
                <a:latin typeface="黑体" pitchFamily="49" charset="-122"/>
                <a:ea typeface="黑体" pitchFamily="49" charset="-122"/>
                <a:cs typeface="Heiti SC Light"/>
              </a:rPr>
              <a:t>磁介质</a:t>
            </a:r>
            <a:r>
              <a:rPr lang="zh-CN" altLang="en-US" sz="2800" dirty="0" smtClean="0">
                <a:latin typeface="黑体" pitchFamily="49" charset="-122"/>
                <a:ea typeface="黑体" pitchFamily="49" charset="-122"/>
                <a:cs typeface="Heiti SC Light"/>
              </a:rPr>
              <a:t>。</a:t>
            </a:r>
            <a:endParaRPr lang="zh-CN" altLang="en-US" sz="2800" dirty="0">
              <a:latin typeface="黑体" pitchFamily="49" charset="-122"/>
              <a:ea typeface="黑体" pitchFamily="49" charset="-122"/>
              <a:cs typeface="Heiti SC Light"/>
            </a:endParaRPr>
          </a:p>
        </p:txBody>
      </p:sp>
      <p:graphicFrame>
        <p:nvGraphicFramePr>
          <p:cNvPr id="19" name="对象 18"/>
          <p:cNvGraphicFramePr>
            <a:graphicFrameLocks noChangeAspect="1"/>
          </p:cNvGraphicFramePr>
          <p:nvPr/>
        </p:nvGraphicFramePr>
        <p:xfrm>
          <a:off x="2915816" y="4797152"/>
          <a:ext cx="2036524" cy="720080"/>
        </p:xfrm>
        <a:graphic>
          <a:graphicData uri="http://schemas.openxmlformats.org/presentationml/2006/ole">
            <mc:AlternateContent xmlns:mc="http://schemas.openxmlformats.org/markup-compatibility/2006">
              <mc:Choice xmlns:v="urn:schemas-microsoft-com:vml" Requires="v">
                <p:oleObj spid="_x0000_s1071" name="Equation" r:id="rId3" imgW="723600" imgH="253800" progId="Equation.DSMT4">
                  <p:embed/>
                </p:oleObj>
              </mc:Choice>
              <mc:Fallback>
                <p:oleObj name="Equation" r:id="rId3" imgW="723600" imgH="2538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4797152"/>
                        <a:ext cx="2036524"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5" name="组合 24"/>
          <p:cNvGrpSpPr/>
          <p:nvPr/>
        </p:nvGrpSpPr>
        <p:grpSpPr>
          <a:xfrm>
            <a:off x="359532" y="3601846"/>
            <a:ext cx="8568952" cy="1095494"/>
            <a:chOff x="251520" y="2852935"/>
            <a:chExt cx="8568952" cy="1095494"/>
          </a:xfrm>
        </p:grpSpPr>
        <p:sp>
          <p:nvSpPr>
            <p:cNvPr id="18" name="Text Box 4"/>
            <p:cNvSpPr txBox="1">
              <a:spLocks noChangeArrowheads="1"/>
            </p:cNvSpPr>
            <p:nvPr/>
          </p:nvSpPr>
          <p:spPr bwMode="auto">
            <a:xfrm>
              <a:off x="251520" y="2852936"/>
              <a:ext cx="8568952" cy="109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zh-CN" altLang="en-US" sz="2800" dirty="0" smtClean="0">
                  <a:latin typeface="黑体" pitchFamily="49" charset="-122"/>
                  <a:ea typeface="黑体" pitchFamily="49" charset="-122"/>
                  <a:cs typeface="Heiti SC Light"/>
                </a:rPr>
                <a:t>原磁场   ，放入磁介质后，磁化的磁介质激发附加的   </a:t>
              </a:r>
              <a:r>
                <a:rPr lang="en-US" altLang="zh-CN" sz="2800" dirty="0" smtClean="0">
                  <a:latin typeface="黑体" pitchFamily="49" charset="-122"/>
                  <a:ea typeface="黑体" pitchFamily="49" charset="-122"/>
                  <a:cs typeface="Heiti SC Light"/>
                </a:rPr>
                <a:t>,</a:t>
              </a:r>
              <a:r>
                <a:rPr lang="zh-CN" altLang="en-US" sz="2800" dirty="0" smtClean="0">
                  <a:latin typeface="黑体" pitchFamily="49" charset="-122"/>
                  <a:ea typeface="黑体" pitchFamily="49" charset="-122"/>
                  <a:cs typeface="Heiti SC Light"/>
                </a:rPr>
                <a:t>则磁场中任一点的   满足：</a:t>
              </a:r>
              <a:endParaRPr lang="zh-CN" altLang="en-US" sz="2800" dirty="0">
                <a:latin typeface="黑体" pitchFamily="49" charset="-122"/>
                <a:ea typeface="黑体" pitchFamily="49" charset="-122"/>
                <a:cs typeface="Heiti SC Light"/>
              </a:endParaRPr>
            </a:p>
          </p:txBody>
        </p:sp>
        <p:pic>
          <p:nvPicPr>
            <p:cNvPr id="1027" name="Picture 3" descr="C:\Users\Administrator\Desktop\图片1.png"/>
            <p:cNvPicPr>
              <a:picLocks noChangeAspect="1" noChangeArrowheads="1"/>
            </p:cNvPicPr>
            <p:nvPr/>
          </p:nvPicPr>
          <p:blipFill>
            <a:blip r:embed="rId5" cstate="print"/>
            <a:srcRect/>
            <a:stretch>
              <a:fillRect/>
            </a:stretch>
          </p:blipFill>
          <p:spPr bwMode="auto">
            <a:xfrm>
              <a:off x="1403648" y="2852935"/>
              <a:ext cx="504056" cy="666381"/>
            </a:xfrm>
            <a:prstGeom prst="rect">
              <a:avLst/>
            </a:prstGeom>
            <a:noFill/>
          </p:spPr>
        </p:pic>
        <p:pic>
          <p:nvPicPr>
            <p:cNvPr id="1028" name="Picture 4" descr="C:\Users\Administrator\Desktop\图片2.png"/>
            <p:cNvPicPr>
              <a:picLocks noChangeAspect="1" noChangeArrowheads="1"/>
            </p:cNvPicPr>
            <p:nvPr/>
          </p:nvPicPr>
          <p:blipFill>
            <a:blip r:embed="rId6" cstate="print"/>
            <a:srcRect/>
            <a:stretch>
              <a:fillRect/>
            </a:stretch>
          </p:blipFill>
          <p:spPr bwMode="auto">
            <a:xfrm>
              <a:off x="755576" y="3418962"/>
              <a:ext cx="432048" cy="492274"/>
            </a:xfrm>
            <a:prstGeom prst="rect">
              <a:avLst/>
            </a:prstGeom>
            <a:noFill/>
          </p:spPr>
        </p:pic>
        <p:pic>
          <p:nvPicPr>
            <p:cNvPr id="1031" name="Picture 7" descr="C:\Users\Administrator\Desktop\图片3.png"/>
            <p:cNvPicPr>
              <a:picLocks noChangeAspect="1" noChangeArrowheads="1"/>
            </p:cNvPicPr>
            <p:nvPr/>
          </p:nvPicPr>
          <p:blipFill>
            <a:blip r:embed="rId7" cstate="print"/>
            <a:srcRect/>
            <a:stretch>
              <a:fillRect/>
            </a:stretch>
          </p:blipFill>
          <p:spPr bwMode="auto">
            <a:xfrm>
              <a:off x="4283968" y="3360884"/>
              <a:ext cx="432048" cy="572172"/>
            </a:xfrm>
            <a:prstGeom prst="rect">
              <a:avLst/>
            </a:prstGeom>
            <a:noFill/>
          </p:spPr>
        </p:pic>
      </p:grpSp>
    </p:spTree>
    <p:extLst>
      <p:ext uri="{BB962C8B-B14F-4D97-AF65-F5344CB8AC3E}">
        <p14:creationId xmlns:p14="http://schemas.microsoft.com/office/powerpoint/2010/main" val="2245970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0" name="Text Box 14"/>
          <p:cNvSpPr txBox="1">
            <a:spLocks noChangeArrowheads="1"/>
          </p:cNvSpPr>
          <p:nvPr/>
        </p:nvSpPr>
        <p:spPr bwMode="auto">
          <a:xfrm>
            <a:off x="2339752" y="1713582"/>
            <a:ext cx="540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dirty="0" smtClean="0">
                <a:latin typeface="黑体" pitchFamily="49" charset="-122"/>
                <a:ea typeface="黑体" pitchFamily="49" charset="-122"/>
                <a:cs typeface="Heiti SC Light"/>
              </a:rPr>
              <a:t>被强磁场区所吸引，但吸引力很弱</a:t>
            </a:r>
            <a:endParaRPr lang="zh-CN" altLang="en-US" sz="2400" dirty="0">
              <a:latin typeface="黑体" pitchFamily="49" charset="-122"/>
              <a:ea typeface="黑体" pitchFamily="49" charset="-122"/>
              <a:cs typeface="Heiti SC Light"/>
            </a:endParaRPr>
          </a:p>
        </p:txBody>
      </p:sp>
      <p:sp>
        <p:nvSpPr>
          <p:cNvPr id="4111" name="Text Box 15"/>
          <p:cNvSpPr txBox="1">
            <a:spLocks noChangeArrowheads="1"/>
          </p:cNvSpPr>
          <p:nvPr/>
        </p:nvSpPr>
        <p:spPr bwMode="auto">
          <a:xfrm>
            <a:off x="2267744" y="3471391"/>
            <a:ext cx="457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dirty="0" smtClean="0">
                <a:latin typeface="黑体" pitchFamily="49" charset="-122"/>
                <a:ea typeface="黑体" pitchFamily="49" charset="-122"/>
                <a:cs typeface="Heiti SC Light"/>
              </a:rPr>
              <a:t>受到强磁场区弱的排斥</a:t>
            </a:r>
            <a:endParaRPr lang="zh-CN" altLang="en-US" sz="2400" dirty="0">
              <a:latin typeface="黑体" pitchFamily="49" charset="-122"/>
              <a:ea typeface="黑体" pitchFamily="49" charset="-122"/>
              <a:cs typeface="Heiti SC Light"/>
            </a:endParaRPr>
          </a:p>
        </p:txBody>
      </p:sp>
      <p:sp>
        <p:nvSpPr>
          <p:cNvPr id="48" name="Text Box 15"/>
          <p:cNvSpPr txBox="1">
            <a:spLocks noChangeArrowheads="1"/>
          </p:cNvSpPr>
          <p:nvPr/>
        </p:nvSpPr>
        <p:spPr bwMode="auto">
          <a:xfrm>
            <a:off x="1907704" y="5127575"/>
            <a:ext cx="46085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dirty="0" smtClean="0">
                <a:latin typeface="黑体" pitchFamily="49" charset="-122"/>
                <a:ea typeface="黑体" pitchFamily="49" charset="-122"/>
                <a:cs typeface="Heiti SC Light"/>
              </a:rPr>
              <a:t>被强磁场区吸引，且吸引力很强</a:t>
            </a:r>
            <a:endParaRPr lang="zh-CN" altLang="en-US" sz="2400" dirty="0">
              <a:latin typeface="黑体" pitchFamily="49" charset="-122"/>
              <a:ea typeface="黑体" pitchFamily="49" charset="-122"/>
              <a:cs typeface="Heiti SC Light"/>
            </a:endParaRPr>
          </a:p>
        </p:txBody>
      </p:sp>
      <p:sp>
        <p:nvSpPr>
          <p:cNvPr id="17" name="Text Box 4"/>
          <p:cNvSpPr txBox="1">
            <a:spLocks noChangeArrowheads="1"/>
          </p:cNvSpPr>
          <p:nvPr/>
        </p:nvSpPr>
        <p:spPr bwMode="auto">
          <a:xfrm>
            <a:off x="2339752" y="1095127"/>
            <a:ext cx="66967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en-US" altLang="zh-CN" sz="2800" dirty="0" smtClean="0">
                <a:latin typeface="黑体" pitchFamily="49" charset="-122"/>
                <a:ea typeface="黑体" pitchFamily="49" charset="-122"/>
                <a:cs typeface="Heiti SC Light"/>
              </a:rPr>
              <a:t>---</a:t>
            </a:r>
            <a:r>
              <a:rPr lang="zh-CN" altLang="en-US" sz="2800" b="1" dirty="0" smtClean="0">
                <a:solidFill>
                  <a:srgbClr val="0000FF"/>
                </a:solidFill>
                <a:latin typeface="黑体" pitchFamily="49" charset="-122"/>
                <a:ea typeface="黑体" pitchFamily="49" charset="-122"/>
                <a:cs typeface="Heiti SC Light"/>
              </a:rPr>
              <a:t>顺磁质</a:t>
            </a:r>
            <a:r>
              <a:rPr lang="zh-CN" altLang="en-US" sz="2400" dirty="0" smtClean="0">
                <a:latin typeface="黑体" pitchFamily="49" charset="-122"/>
                <a:ea typeface="黑体" pitchFamily="49" charset="-122"/>
                <a:cs typeface="Heiti SC Light"/>
              </a:rPr>
              <a:t>，如锰、铬、铂、铝、钠、氮等材料。</a:t>
            </a:r>
            <a:endParaRPr lang="zh-CN" altLang="en-US" sz="2400" dirty="0">
              <a:latin typeface="黑体" pitchFamily="49" charset="-122"/>
              <a:ea typeface="黑体" pitchFamily="49" charset="-122"/>
              <a:cs typeface="Heiti SC Light"/>
            </a:endParaRPr>
          </a:p>
        </p:txBody>
      </p:sp>
      <p:graphicFrame>
        <p:nvGraphicFramePr>
          <p:cNvPr id="18" name="Object 9"/>
          <p:cNvGraphicFramePr>
            <a:graphicFrameLocks noChangeAspect="1"/>
          </p:cNvGraphicFramePr>
          <p:nvPr>
            <p:extLst>
              <p:ext uri="{D42A27DB-BD31-4B8C-83A1-F6EECF244321}">
                <p14:modId xmlns:p14="http://schemas.microsoft.com/office/powerpoint/2010/main" val="227840516"/>
              </p:ext>
            </p:extLst>
          </p:nvPr>
        </p:nvGraphicFramePr>
        <p:xfrm>
          <a:off x="107950" y="1153666"/>
          <a:ext cx="2343150" cy="517525"/>
        </p:xfrm>
        <a:graphic>
          <a:graphicData uri="http://schemas.openxmlformats.org/presentationml/2006/ole">
            <mc:AlternateContent xmlns:mc="http://schemas.openxmlformats.org/markup-compatibility/2006">
              <mc:Choice xmlns:v="urn:schemas-microsoft-com:vml" Requires="v">
                <p:oleObj spid="_x0000_s2192" name="Equation" r:id="rId4" imgW="1041120" imgH="228600" progId="Equation.DSMT4">
                  <p:embed/>
                </p:oleObj>
              </mc:Choice>
              <mc:Fallback>
                <p:oleObj name="Equation" r:id="rId4" imgW="1041120" imgH="228600" progId="Equation.DSMT4">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 y="1153666"/>
                        <a:ext cx="234315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0"/>
          <p:cNvGraphicFramePr>
            <a:graphicFrameLocks noChangeAspect="1"/>
          </p:cNvGraphicFramePr>
          <p:nvPr>
            <p:extLst>
              <p:ext uri="{D42A27DB-BD31-4B8C-83A1-F6EECF244321}">
                <p14:modId xmlns:p14="http://schemas.microsoft.com/office/powerpoint/2010/main" val="3111518190"/>
              </p:ext>
            </p:extLst>
          </p:nvPr>
        </p:nvGraphicFramePr>
        <p:xfrm>
          <a:off x="0" y="2428079"/>
          <a:ext cx="2411760" cy="539255"/>
        </p:xfrm>
        <a:graphic>
          <a:graphicData uri="http://schemas.openxmlformats.org/presentationml/2006/ole">
            <mc:AlternateContent xmlns:mc="http://schemas.openxmlformats.org/markup-compatibility/2006">
              <mc:Choice xmlns:v="urn:schemas-microsoft-com:vml" Requires="v">
                <p:oleObj spid="_x0000_s2193" name="Equation" r:id="rId6" imgW="1028520" imgH="228600" progId="Equation.DSMT4">
                  <p:embed/>
                </p:oleObj>
              </mc:Choice>
              <mc:Fallback>
                <p:oleObj name="Equation" r:id="rId6" imgW="1028520" imgH="228600" progId="Equation.DSMT4">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428079"/>
                        <a:ext cx="2411760" cy="5392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4"/>
          <p:cNvSpPr txBox="1">
            <a:spLocks noChangeArrowheads="1"/>
          </p:cNvSpPr>
          <p:nvPr/>
        </p:nvSpPr>
        <p:spPr bwMode="auto">
          <a:xfrm>
            <a:off x="2267744" y="2319263"/>
            <a:ext cx="6696744" cy="1029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en-US" altLang="zh-CN" sz="2800" dirty="0" smtClean="0">
                <a:latin typeface="黑体" pitchFamily="49" charset="-122"/>
                <a:ea typeface="黑体" pitchFamily="49" charset="-122"/>
                <a:cs typeface="Heiti SC Light"/>
              </a:rPr>
              <a:t>---</a:t>
            </a:r>
            <a:r>
              <a:rPr lang="zh-CN" altLang="en-US" sz="2800" b="1" dirty="0" smtClean="0">
                <a:solidFill>
                  <a:srgbClr val="0000FF"/>
                </a:solidFill>
                <a:latin typeface="黑体" pitchFamily="49" charset="-122"/>
                <a:ea typeface="黑体" pitchFamily="49" charset="-122"/>
                <a:cs typeface="Heiti SC Light"/>
              </a:rPr>
              <a:t>抗磁质</a:t>
            </a:r>
            <a:r>
              <a:rPr lang="zh-CN" altLang="en-US" sz="2400" dirty="0" smtClean="0">
                <a:latin typeface="黑体" pitchFamily="49" charset="-122"/>
                <a:ea typeface="黑体" pitchFamily="49" charset="-122"/>
                <a:cs typeface="Heiti SC Light"/>
              </a:rPr>
              <a:t>，如水银、铜、铋、硫、氯、氢、银、金、锌、铅等材料</a:t>
            </a:r>
            <a:endParaRPr lang="zh-CN" altLang="en-US" sz="2400" dirty="0">
              <a:latin typeface="黑体" pitchFamily="49" charset="-122"/>
              <a:ea typeface="黑体" pitchFamily="49" charset="-122"/>
              <a:cs typeface="Heiti SC Light"/>
            </a:endParaRPr>
          </a:p>
        </p:txBody>
      </p:sp>
      <p:graphicFrame>
        <p:nvGraphicFramePr>
          <p:cNvPr id="21" name="Object 11"/>
          <p:cNvGraphicFramePr>
            <a:graphicFrameLocks noChangeAspect="1"/>
          </p:cNvGraphicFramePr>
          <p:nvPr>
            <p:extLst>
              <p:ext uri="{D42A27DB-BD31-4B8C-83A1-F6EECF244321}">
                <p14:modId xmlns:p14="http://schemas.microsoft.com/office/powerpoint/2010/main" val="4039243065"/>
              </p:ext>
            </p:extLst>
          </p:nvPr>
        </p:nvGraphicFramePr>
        <p:xfrm>
          <a:off x="245790" y="4047455"/>
          <a:ext cx="1085850" cy="517525"/>
        </p:xfrm>
        <a:graphic>
          <a:graphicData uri="http://schemas.openxmlformats.org/presentationml/2006/ole">
            <mc:AlternateContent xmlns:mc="http://schemas.openxmlformats.org/markup-compatibility/2006">
              <mc:Choice xmlns:v="urn:schemas-microsoft-com:vml" Requires="v">
                <p:oleObj spid="_x0000_s2194" name="Equation" r:id="rId8" imgW="482400" imgH="228600" progId="Equation.DSMT4">
                  <p:embed/>
                </p:oleObj>
              </mc:Choice>
              <mc:Fallback>
                <p:oleObj name="Equation" r:id="rId8" imgW="482400" imgH="228600" progId="Equation.DSMT4">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790" y="4047455"/>
                        <a:ext cx="108585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4"/>
          <p:cNvSpPr txBox="1">
            <a:spLocks noChangeArrowheads="1"/>
          </p:cNvSpPr>
          <p:nvPr/>
        </p:nvSpPr>
        <p:spPr bwMode="auto">
          <a:xfrm>
            <a:off x="1331640" y="4047455"/>
            <a:ext cx="7812360"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en-US" altLang="zh-CN" sz="2800" dirty="0" smtClean="0">
                <a:latin typeface="黑体" pitchFamily="49" charset="-122"/>
                <a:ea typeface="黑体" pitchFamily="49" charset="-122"/>
                <a:cs typeface="Heiti SC Light"/>
              </a:rPr>
              <a:t>---</a:t>
            </a:r>
            <a:r>
              <a:rPr lang="zh-CN" altLang="en-US" sz="2800" b="1" dirty="0" smtClean="0">
                <a:solidFill>
                  <a:srgbClr val="0000FF"/>
                </a:solidFill>
                <a:latin typeface="黑体" pitchFamily="49" charset="-122"/>
                <a:ea typeface="黑体" pitchFamily="49" charset="-122"/>
                <a:cs typeface="Heiti SC Light"/>
              </a:rPr>
              <a:t>铁磁质</a:t>
            </a:r>
            <a:r>
              <a:rPr lang="zh-CN" altLang="en-US" sz="2400" dirty="0" smtClean="0">
                <a:latin typeface="黑体" pitchFamily="49" charset="-122"/>
                <a:ea typeface="黑体" pitchFamily="49" charset="-122"/>
                <a:cs typeface="Heiti SC Light"/>
              </a:rPr>
              <a:t>，如铁、钴、镍、钆、镝以及这些金属的合金与铁氧体。</a:t>
            </a:r>
            <a:r>
              <a:rPr lang="en-US" altLang="zh-CN" sz="2400" dirty="0" smtClean="0">
                <a:latin typeface="黑体" pitchFamily="49" charset="-122"/>
                <a:ea typeface="黑体" pitchFamily="49" charset="-122"/>
                <a:cs typeface="Heiti SC Light"/>
              </a:rPr>
              <a:t>&gt;&gt;</a:t>
            </a:r>
            <a:endParaRPr lang="zh-CN" altLang="en-US" sz="2400" dirty="0">
              <a:latin typeface="黑体" pitchFamily="49" charset="-122"/>
              <a:ea typeface="黑体" pitchFamily="49" charset="-122"/>
              <a:cs typeface="Heiti SC Light"/>
            </a:endParaRPr>
          </a:p>
        </p:txBody>
      </p:sp>
      <p:pic>
        <p:nvPicPr>
          <p:cNvPr id="2053"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520" y="4145943"/>
            <a:ext cx="1080120" cy="479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5970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244121" y="468314"/>
            <a:ext cx="3886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800" b="1" dirty="0">
                <a:latin typeface="Times New Roman" pitchFamily="18" charset="0"/>
              </a:rPr>
              <a:t>一</a:t>
            </a:r>
            <a:r>
              <a:rPr kumimoji="1" lang="en-US" altLang="zh-CN" sz="2800" b="1" dirty="0">
                <a:latin typeface="Times New Roman" pitchFamily="18" charset="0"/>
              </a:rPr>
              <a:t>. </a:t>
            </a:r>
            <a:r>
              <a:rPr kumimoji="1" lang="zh-CN" altLang="en-US" sz="2800" b="1" dirty="0">
                <a:latin typeface="Times New Roman" pitchFamily="18" charset="0"/>
              </a:rPr>
              <a:t>磁介质及其分类</a:t>
            </a:r>
          </a:p>
        </p:txBody>
      </p:sp>
      <p:sp>
        <p:nvSpPr>
          <p:cNvPr id="19459" name="Text Box 3"/>
          <p:cNvSpPr txBox="1">
            <a:spLocks noChangeArrowheads="1"/>
          </p:cNvSpPr>
          <p:nvPr/>
        </p:nvSpPr>
        <p:spPr bwMode="auto">
          <a:xfrm>
            <a:off x="457200" y="1295401"/>
            <a:ext cx="48974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dirty="0">
                <a:latin typeface="Times New Roman" pitchFamily="18" charset="0"/>
                <a:cs typeface="Times New Roman" pitchFamily="18" charset="0"/>
              </a:rPr>
              <a:t>1. </a:t>
            </a:r>
            <a:r>
              <a:rPr kumimoji="1" lang="zh-CN" altLang="en-US" sz="2400" b="1" dirty="0">
                <a:latin typeface="Times New Roman" pitchFamily="18" charset="0"/>
              </a:rPr>
              <a:t>磁介质</a:t>
            </a:r>
            <a:r>
              <a:rPr kumimoji="1" lang="en-US" altLang="zh-CN" sz="2400" b="1" dirty="0">
                <a:latin typeface="Times New Roman" pitchFamily="18" charset="0"/>
              </a:rPr>
              <a:t>—— </a:t>
            </a:r>
            <a:r>
              <a:rPr kumimoji="1" lang="zh-CN" altLang="en-US" sz="2400" b="1" dirty="0">
                <a:latin typeface="Times New Roman" pitchFamily="18" charset="0"/>
              </a:rPr>
              <a:t>任何实物都是</a:t>
            </a:r>
            <a:r>
              <a:rPr kumimoji="1" lang="zh-CN" altLang="en-US" sz="2400" b="1" dirty="0"/>
              <a:t>磁介质</a:t>
            </a:r>
          </a:p>
        </p:txBody>
      </p:sp>
      <p:graphicFrame>
        <p:nvGraphicFramePr>
          <p:cNvPr id="19460" name="Object 4"/>
          <p:cNvGraphicFramePr>
            <a:graphicFrameLocks/>
          </p:cNvGraphicFramePr>
          <p:nvPr/>
        </p:nvGraphicFramePr>
        <p:xfrm>
          <a:off x="3065463" y="1887538"/>
          <a:ext cx="366712" cy="442912"/>
        </p:xfrm>
        <a:graphic>
          <a:graphicData uri="http://schemas.openxmlformats.org/presentationml/2006/ole">
            <mc:AlternateContent xmlns:mc="http://schemas.openxmlformats.org/markup-compatibility/2006">
              <mc:Choice xmlns:v="urn:schemas-microsoft-com:vml" Requires="v">
                <p:oleObj spid="_x0000_s3404" name="Equation" r:id="rId3" imgW="350628" imgH="426792" progId="Equation.3">
                  <p:embed/>
                </p:oleObj>
              </mc:Choice>
              <mc:Fallback>
                <p:oleObj name="Equation" r:id="rId3" imgW="350628" imgH="426792"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5463" y="1887538"/>
                        <a:ext cx="366712"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5"/>
          <p:cNvGraphicFramePr>
            <a:graphicFrameLocks/>
          </p:cNvGraphicFramePr>
          <p:nvPr/>
        </p:nvGraphicFramePr>
        <p:xfrm>
          <a:off x="4302125" y="1870077"/>
          <a:ext cx="1636713" cy="442913"/>
        </p:xfrm>
        <a:graphic>
          <a:graphicData uri="http://schemas.openxmlformats.org/presentationml/2006/ole">
            <mc:AlternateContent xmlns:mc="http://schemas.openxmlformats.org/markup-compatibility/2006">
              <mc:Choice xmlns:v="urn:schemas-microsoft-com:vml" Requires="v">
                <p:oleObj spid="_x0000_s3405" name="Equation" r:id="rId5" imgW="1623006" imgH="426792" progId="Equation.3">
                  <p:embed/>
                </p:oleObj>
              </mc:Choice>
              <mc:Fallback>
                <p:oleObj name="Equation" r:id="rId5" imgW="1623006" imgH="426792" progId="Equation.3">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2125" y="1870077"/>
                        <a:ext cx="16367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2" name="Text Box 6"/>
          <p:cNvSpPr txBox="1">
            <a:spLocks noChangeArrowheads="1"/>
          </p:cNvSpPr>
          <p:nvPr/>
        </p:nvSpPr>
        <p:spPr bwMode="auto">
          <a:xfrm>
            <a:off x="738188" y="1811338"/>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rPr>
              <a:t>电介质放入外场</a:t>
            </a:r>
          </a:p>
        </p:txBody>
      </p:sp>
      <p:sp>
        <p:nvSpPr>
          <p:cNvPr id="19463" name="AutoShape 7"/>
          <p:cNvSpPr>
            <a:spLocks noChangeArrowheads="1"/>
          </p:cNvSpPr>
          <p:nvPr/>
        </p:nvSpPr>
        <p:spPr bwMode="auto">
          <a:xfrm>
            <a:off x="3622675" y="1928813"/>
            <a:ext cx="533400" cy="304800"/>
          </a:xfrm>
          <a:prstGeom prst="rightArrow">
            <a:avLst>
              <a:gd name="adj1" fmla="val 50000"/>
              <a:gd name="adj2" fmla="val 43750"/>
            </a:avLst>
          </a:prstGeom>
          <a:solidFill>
            <a:schemeClr val="accent2"/>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9464" name="Object 8"/>
          <p:cNvGraphicFramePr>
            <a:graphicFrameLocks/>
          </p:cNvGraphicFramePr>
          <p:nvPr/>
        </p:nvGraphicFramePr>
        <p:xfrm>
          <a:off x="6934200" y="1846263"/>
          <a:ext cx="1155700" cy="482600"/>
        </p:xfrm>
        <a:graphic>
          <a:graphicData uri="http://schemas.openxmlformats.org/presentationml/2006/ole">
            <mc:AlternateContent xmlns:mc="http://schemas.openxmlformats.org/markup-compatibility/2006">
              <mc:Choice xmlns:v="urn:schemas-microsoft-com:vml" Requires="v">
                <p:oleObj spid="_x0000_s3406" name="Equation" r:id="rId7" imgW="1143108" imgH="464748" progId="Equation.3">
                  <p:embed/>
                </p:oleObj>
              </mc:Choice>
              <mc:Fallback>
                <p:oleObj name="Equation" r:id="rId7" imgW="1143108" imgH="464748" progId="Equation.3">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34200" y="1846263"/>
                        <a:ext cx="1155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5" name="AutoShape 9"/>
          <p:cNvSpPr>
            <a:spLocks noChangeArrowheads="1"/>
          </p:cNvSpPr>
          <p:nvPr/>
        </p:nvSpPr>
        <p:spPr bwMode="auto">
          <a:xfrm>
            <a:off x="6248400" y="1922463"/>
            <a:ext cx="533400" cy="304800"/>
          </a:xfrm>
          <a:prstGeom prst="rightArrow">
            <a:avLst>
              <a:gd name="adj1" fmla="val 50000"/>
              <a:gd name="adj2" fmla="val 43750"/>
            </a:avLst>
          </a:prstGeom>
          <a:solidFill>
            <a:schemeClr val="accent2"/>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6" name="Text Box 10"/>
          <p:cNvSpPr txBox="1">
            <a:spLocks noChangeArrowheads="1"/>
          </p:cNvSpPr>
          <p:nvPr/>
        </p:nvSpPr>
        <p:spPr bwMode="auto">
          <a:xfrm>
            <a:off x="779463" y="2419350"/>
            <a:ext cx="2514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rPr>
              <a:t>磁介质放入外场</a:t>
            </a:r>
          </a:p>
        </p:txBody>
      </p:sp>
      <p:graphicFrame>
        <p:nvGraphicFramePr>
          <p:cNvPr id="19467" name="Object 11"/>
          <p:cNvGraphicFramePr>
            <a:graphicFrameLocks/>
          </p:cNvGraphicFramePr>
          <p:nvPr/>
        </p:nvGraphicFramePr>
        <p:xfrm>
          <a:off x="3082926" y="2462213"/>
          <a:ext cx="366713" cy="442912"/>
        </p:xfrm>
        <a:graphic>
          <a:graphicData uri="http://schemas.openxmlformats.org/presentationml/2006/ole">
            <mc:AlternateContent xmlns:mc="http://schemas.openxmlformats.org/markup-compatibility/2006">
              <mc:Choice xmlns:v="urn:schemas-microsoft-com:vml" Requires="v">
                <p:oleObj spid="_x0000_s3407" name="Equation" r:id="rId9" imgW="350628" imgH="426792" progId="Equation.3">
                  <p:embed/>
                </p:oleObj>
              </mc:Choice>
              <mc:Fallback>
                <p:oleObj name="Equation" r:id="rId9" imgW="350628" imgH="426792" progId="Equation.3">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2926" y="2462213"/>
                        <a:ext cx="36671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8" name="Object 12"/>
          <p:cNvGraphicFramePr>
            <a:graphicFrameLocks/>
          </p:cNvGraphicFramePr>
          <p:nvPr/>
        </p:nvGraphicFramePr>
        <p:xfrm>
          <a:off x="4313239" y="2471738"/>
          <a:ext cx="1435100" cy="431800"/>
        </p:xfrm>
        <a:graphic>
          <a:graphicData uri="http://schemas.openxmlformats.org/presentationml/2006/ole">
            <mc:AlternateContent xmlns:mc="http://schemas.openxmlformats.org/markup-compatibility/2006">
              <mc:Choice xmlns:v="urn:schemas-microsoft-com:vml" Requires="v">
                <p:oleObj spid="_x0000_s3408" name="Equation" r:id="rId11" imgW="1417428" imgH="419028" progId="Equation.3">
                  <p:embed/>
                </p:oleObj>
              </mc:Choice>
              <mc:Fallback>
                <p:oleObj name="Equation" r:id="rId11" imgW="1417428" imgH="419028" progId="Equation.3">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13239" y="2471738"/>
                        <a:ext cx="14351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9" name="Object 13"/>
          <p:cNvGraphicFramePr>
            <a:graphicFrameLocks/>
          </p:cNvGraphicFramePr>
          <p:nvPr/>
        </p:nvGraphicFramePr>
        <p:xfrm>
          <a:off x="3146426" y="3048000"/>
          <a:ext cx="366713" cy="419100"/>
        </p:xfrm>
        <a:graphic>
          <a:graphicData uri="http://schemas.openxmlformats.org/presentationml/2006/ole">
            <mc:AlternateContent xmlns:mc="http://schemas.openxmlformats.org/markup-compatibility/2006">
              <mc:Choice xmlns:v="urn:schemas-microsoft-com:vml" Requires="v">
                <p:oleObj spid="_x0000_s3409" name="Equation" r:id="rId13" imgW="350628" imgH="403932" progId="Equation.3">
                  <p:embed/>
                </p:oleObj>
              </mc:Choice>
              <mc:Fallback>
                <p:oleObj name="Equation" r:id="rId13" imgW="350628" imgH="403932" progId="Equation.3">
                  <p:embed/>
                  <p:pic>
                    <p:nvPicPr>
                      <p:cNvPr id="0" name=""/>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6426" y="3048000"/>
                        <a:ext cx="366713"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0" name="Text Box 14"/>
          <p:cNvSpPr txBox="1">
            <a:spLocks noChangeArrowheads="1"/>
          </p:cNvSpPr>
          <p:nvPr/>
        </p:nvSpPr>
        <p:spPr bwMode="auto">
          <a:xfrm>
            <a:off x="5861050" y="2454276"/>
            <a:ext cx="25010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dirty="0">
                <a:solidFill>
                  <a:srgbClr val="FF0000"/>
                </a:solidFill>
                <a:latin typeface="Times New Roman" pitchFamily="18" charset="0"/>
              </a:rPr>
              <a:t>—— </a:t>
            </a:r>
            <a:r>
              <a:rPr kumimoji="1" lang="zh-CN" altLang="en-US" sz="2400" b="1" dirty="0">
                <a:solidFill>
                  <a:srgbClr val="FF0000"/>
                </a:solidFill>
                <a:latin typeface="Times New Roman" pitchFamily="18" charset="0"/>
                <a:ea typeface="楷体_GB2312" pitchFamily="49" charset="-122"/>
              </a:rPr>
              <a:t>相对磁导率</a:t>
            </a:r>
            <a:r>
              <a:rPr kumimoji="1" lang="zh-CN" altLang="en-US" sz="2400" b="1" dirty="0">
                <a:solidFill>
                  <a:srgbClr val="FF0000"/>
                </a:solidFill>
                <a:latin typeface="Times New Roman" pitchFamily="18" charset="0"/>
              </a:rPr>
              <a:t> </a:t>
            </a:r>
          </a:p>
        </p:txBody>
      </p:sp>
      <p:sp>
        <p:nvSpPr>
          <p:cNvPr id="19471" name="Text Box 15"/>
          <p:cNvSpPr txBox="1">
            <a:spLocks noChangeArrowheads="1"/>
          </p:cNvSpPr>
          <p:nvPr/>
        </p:nvSpPr>
        <p:spPr bwMode="auto">
          <a:xfrm>
            <a:off x="3429000" y="30480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dirty="0">
                <a:latin typeface="Times New Roman" pitchFamily="18" charset="0"/>
              </a:rPr>
              <a:t> </a:t>
            </a:r>
            <a:r>
              <a:rPr kumimoji="1" lang="zh-CN" altLang="en-US" sz="2400" b="1" dirty="0">
                <a:latin typeface="Times New Roman" pitchFamily="18" charset="0"/>
              </a:rPr>
              <a:t>反映磁介质对原场的影响程度 </a:t>
            </a:r>
          </a:p>
        </p:txBody>
      </p:sp>
      <p:sp>
        <p:nvSpPr>
          <p:cNvPr id="19473" name="Text Box 17"/>
          <p:cNvSpPr txBox="1">
            <a:spLocks noChangeArrowheads="1"/>
          </p:cNvSpPr>
          <p:nvPr/>
        </p:nvSpPr>
        <p:spPr bwMode="auto">
          <a:xfrm>
            <a:off x="457200" y="34290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400" b="1">
                <a:latin typeface="Times New Roman" pitchFamily="18" charset="0"/>
                <a:cs typeface="Times New Roman" pitchFamily="18" charset="0"/>
              </a:rPr>
              <a:t>2. </a:t>
            </a:r>
            <a:r>
              <a:rPr kumimoji="1" lang="zh-CN" altLang="en-US" sz="2400" b="1">
                <a:latin typeface="Times New Roman" pitchFamily="18" charset="0"/>
              </a:rPr>
              <a:t>磁介质的分类</a:t>
            </a:r>
          </a:p>
        </p:txBody>
      </p:sp>
      <p:sp>
        <p:nvSpPr>
          <p:cNvPr id="19474" name="Text Box 18"/>
          <p:cNvSpPr txBox="1">
            <a:spLocks noChangeArrowheads="1"/>
          </p:cNvSpPr>
          <p:nvPr/>
        </p:nvSpPr>
        <p:spPr bwMode="auto">
          <a:xfrm>
            <a:off x="762000" y="5011738"/>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rPr>
              <a:t>顺磁质</a:t>
            </a:r>
          </a:p>
        </p:txBody>
      </p:sp>
      <p:sp>
        <p:nvSpPr>
          <p:cNvPr id="19475" name="Text Box 19"/>
          <p:cNvSpPr txBox="1">
            <a:spLocks noChangeArrowheads="1"/>
          </p:cNvSpPr>
          <p:nvPr/>
        </p:nvSpPr>
        <p:spPr bwMode="auto">
          <a:xfrm>
            <a:off x="762000" y="3910013"/>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rPr>
              <a:t>抗磁质</a:t>
            </a:r>
          </a:p>
        </p:txBody>
      </p:sp>
      <p:graphicFrame>
        <p:nvGraphicFramePr>
          <p:cNvPr id="19476" name="Object 20"/>
          <p:cNvGraphicFramePr>
            <a:graphicFrameLocks/>
          </p:cNvGraphicFramePr>
          <p:nvPr>
            <p:extLst>
              <p:ext uri="{D42A27DB-BD31-4B8C-83A1-F6EECF244321}">
                <p14:modId xmlns:p14="http://schemas.microsoft.com/office/powerpoint/2010/main" val="789776363"/>
              </p:ext>
            </p:extLst>
          </p:nvPr>
        </p:nvGraphicFramePr>
        <p:xfrm>
          <a:off x="2133601" y="3949702"/>
          <a:ext cx="849313" cy="417513"/>
        </p:xfrm>
        <a:graphic>
          <a:graphicData uri="http://schemas.openxmlformats.org/presentationml/2006/ole">
            <mc:AlternateContent xmlns:mc="http://schemas.openxmlformats.org/markup-compatibility/2006">
              <mc:Choice xmlns:v="urn:schemas-microsoft-com:vml" Requires="v">
                <p:oleObj spid="_x0000_s3410" name="Equation" r:id="rId15" imgW="838308" imgH="403932" progId="Equation.DSMT4">
                  <p:embed/>
                </p:oleObj>
              </mc:Choice>
              <mc:Fallback>
                <p:oleObj name="Equation" r:id="rId15" imgW="838308" imgH="403932" progId="Equation.DSMT4">
                  <p:embed/>
                  <p:pic>
                    <p:nvPicPr>
                      <p:cNvPr id="0" name=""/>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3601" y="3949702"/>
                        <a:ext cx="849313"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7" name="Text Box 21"/>
          <p:cNvSpPr txBox="1">
            <a:spLocks noChangeArrowheads="1"/>
          </p:cNvSpPr>
          <p:nvPr/>
        </p:nvSpPr>
        <p:spPr bwMode="auto">
          <a:xfrm>
            <a:off x="5670551" y="3944938"/>
            <a:ext cx="14430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减弱原场</a:t>
            </a:r>
          </a:p>
        </p:txBody>
      </p:sp>
      <p:graphicFrame>
        <p:nvGraphicFramePr>
          <p:cNvPr id="19478" name="Object 22"/>
          <p:cNvGraphicFramePr>
            <a:graphicFrameLocks/>
          </p:cNvGraphicFramePr>
          <p:nvPr/>
        </p:nvGraphicFramePr>
        <p:xfrm>
          <a:off x="4460876" y="5067300"/>
          <a:ext cx="954088" cy="431800"/>
        </p:xfrm>
        <a:graphic>
          <a:graphicData uri="http://schemas.openxmlformats.org/presentationml/2006/ole">
            <mc:AlternateContent xmlns:mc="http://schemas.openxmlformats.org/markup-compatibility/2006">
              <mc:Choice xmlns:v="urn:schemas-microsoft-com:vml" Requires="v">
                <p:oleObj spid="_x0000_s3411" name="Equation" r:id="rId17" imgW="937314" imgH="419028" progId="Equation.3">
                  <p:embed/>
                </p:oleObj>
              </mc:Choice>
              <mc:Fallback>
                <p:oleObj name="Equation" r:id="rId17" imgW="937314" imgH="419028" progId="Equation.3">
                  <p:embed/>
                  <p:pic>
                    <p:nvPicPr>
                      <p:cNvPr id="0" name=""/>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60876" y="5067300"/>
                        <a:ext cx="95408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9" name="Object 23"/>
          <p:cNvGraphicFramePr>
            <a:graphicFrameLocks/>
          </p:cNvGraphicFramePr>
          <p:nvPr/>
        </p:nvGraphicFramePr>
        <p:xfrm>
          <a:off x="2209801" y="5029202"/>
          <a:ext cx="863600" cy="417513"/>
        </p:xfrm>
        <a:graphic>
          <a:graphicData uri="http://schemas.openxmlformats.org/presentationml/2006/ole">
            <mc:AlternateContent xmlns:mc="http://schemas.openxmlformats.org/markup-compatibility/2006">
              <mc:Choice xmlns:v="urn:schemas-microsoft-com:vml" Requires="v">
                <p:oleObj spid="_x0000_s3412" name="Equation" r:id="rId19" imgW="845874" imgH="403932" progId="Equation.3">
                  <p:embed/>
                </p:oleObj>
              </mc:Choice>
              <mc:Fallback>
                <p:oleObj name="Equation" r:id="rId19" imgW="845874" imgH="403932" progId="Equation.3">
                  <p:embed/>
                  <p:pic>
                    <p:nvPicPr>
                      <p:cNvPr id="0" name=""/>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09801" y="5029202"/>
                        <a:ext cx="8636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0" name="Text Box 24"/>
          <p:cNvSpPr txBox="1">
            <a:spLocks noChangeArrowheads="1"/>
          </p:cNvSpPr>
          <p:nvPr/>
        </p:nvSpPr>
        <p:spPr bwMode="auto">
          <a:xfrm>
            <a:off x="5706270" y="5021382"/>
            <a:ext cx="1546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增强原场</a:t>
            </a:r>
          </a:p>
        </p:txBody>
      </p:sp>
      <p:sp>
        <p:nvSpPr>
          <p:cNvPr id="19481" name="AutoShape 25"/>
          <p:cNvSpPr>
            <a:spLocks noChangeArrowheads="1"/>
          </p:cNvSpPr>
          <p:nvPr/>
        </p:nvSpPr>
        <p:spPr bwMode="auto">
          <a:xfrm>
            <a:off x="3429000" y="4021138"/>
            <a:ext cx="685800" cy="304800"/>
          </a:xfrm>
          <a:prstGeom prst="rightArrow">
            <a:avLst>
              <a:gd name="adj1" fmla="val 50000"/>
              <a:gd name="adj2" fmla="val 56250"/>
            </a:avLst>
          </a:prstGeom>
          <a:solidFill>
            <a:schemeClr val="accent2"/>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2" name="AutoShape 26"/>
          <p:cNvSpPr>
            <a:spLocks noChangeArrowheads="1"/>
          </p:cNvSpPr>
          <p:nvPr/>
        </p:nvSpPr>
        <p:spPr bwMode="auto">
          <a:xfrm>
            <a:off x="3463925" y="5087938"/>
            <a:ext cx="685800" cy="304800"/>
          </a:xfrm>
          <a:prstGeom prst="rightArrow">
            <a:avLst>
              <a:gd name="adj1" fmla="val 50000"/>
              <a:gd name="adj2" fmla="val 56250"/>
            </a:avLst>
          </a:prstGeom>
          <a:solidFill>
            <a:schemeClr val="accent2"/>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9483" name="Object 27"/>
          <p:cNvGraphicFramePr>
            <a:graphicFrameLocks/>
          </p:cNvGraphicFramePr>
          <p:nvPr/>
        </p:nvGraphicFramePr>
        <p:xfrm>
          <a:off x="4419600" y="3983038"/>
          <a:ext cx="953691" cy="431800"/>
        </p:xfrm>
        <a:graphic>
          <a:graphicData uri="http://schemas.openxmlformats.org/presentationml/2006/ole">
            <mc:AlternateContent xmlns:mc="http://schemas.openxmlformats.org/markup-compatibility/2006">
              <mc:Choice xmlns:v="urn:schemas-microsoft-com:vml" Requires="v">
                <p:oleObj spid="_x0000_s3413" name="Equation" r:id="rId21" imgW="937314" imgH="419028" progId="Equation.DSMT4">
                  <p:embed/>
                </p:oleObj>
              </mc:Choice>
              <mc:Fallback>
                <p:oleObj name="Equation" r:id="rId21" imgW="937314" imgH="419028" progId="Equation.DSMT4">
                  <p:embed/>
                  <p:pic>
                    <p:nvPicPr>
                      <p:cNvPr id="0" name=""/>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419600" y="3983038"/>
                        <a:ext cx="953691"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4" name="Text Box 28"/>
          <p:cNvSpPr txBox="1">
            <a:spLocks noChangeArrowheads="1"/>
          </p:cNvSpPr>
          <p:nvPr/>
        </p:nvSpPr>
        <p:spPr bwMode="auto">
          <a:xfrm>
            <a:off x="2039938" y="44958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如 锌、铜、水银、铅等</a:t>
            </a:r>
          </a:p>
        </p:txBody>
      </p:sp>
      <p:sp>
        <p:nvSpPr>
          <p:cNvPr id="19485" name="Text Box 29"/>
          <p:cNvSpPr txBox="1">
            <a:spLocks noChangeArrowheads="1"/>
          </p:cNvSpPr>
          <p:nvPr/>
        </p:nvSpPr>
        <p:spPr bwMode="auto">
          <a:xfrm>
            <a:off x="2081213" y="5545138"/>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如 锰、铬、铂、氧等</a:t>
            </a:r>
          </a:p>
        </p:txBody>
      </p:sp>
      <p:sp>
        <p:nvSpPr>
          <p:cNvPr id="19486" name="AutoShape 30"/>
          <p:cNvSpPr>
            <a:spLocks/>
          </p:cNvSpPr>
          <p:nvPr/>
        </p:nvSpPr>
        <p:spPr bwMode="auto">
          <a:xfrm>
            <a:off x="7239000" y="4029075"/>
            <a:ext cx="152400" cy="1333500"/>
          </a:xfrm>
          <a:prstGeom prst="rightBrace">
            <a:avLst>
              <a:gd name="adj1" fmla="val 72917"/>
              <a:gd name="adj2" fmla="val 50000"/>
            </a:avLst>
          </a:prstGeom>
          <a:noFill/>
          <a:ln w="28575">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7" name="Text Box 31"/>
          <p:cNvSpPr txBox="1">
            <a:spLocks noChangeArrowheads="1"/>
          </p:cNvSpPr>
          <p:nvPr/>
        </p:nvSpPr>
        <p:spPr bwMode="auto">
          <a:xfrm>
            <a:off x="7543800" y="3792539"/>
            <a:ext cx="609600" cy="1938992"/>
          </a:xfrm>
          <a:prstGeom prst="rect">
            <a:avLst/>
          </a:prstGeom>
          <a:noFill/>
          <a:ln>
            <a:noFill/>
          </a:ln>
          <a:effectLst/>
          <a:extLst>
            <a:ext uri="{909E8E84-426E-40DD-AFC4-6F175D3DCCD1}">
              <a14:hiddenFill xmlns:a14="http://schemas.microsoft.com/office/drawing/2010/main">
                <a:solidFill>
                  <a:srgbClr val="808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弱磁性物质</a:t>
            </a:r>
          </a:p>
        </p:txBody>
      </p:sp>
      <p:sp>
        <p:nvSpPr>
          <p:cNvPr id="19488" name="AutoShape 32"/>
          <p:cNvSpPr>
            <a:spLocks noChangeArrowheads="1"/>
          </p:cNvSpPr>
          <p:nvPr/>
        </p:nvSpPr>
        <p:spPr bwMode="auto">
          <a:xfrm>
            <a:off x="3657600" y="2524125"/>
            <a:ext cx="533400" cy="304800"/>
          </a:xfrm>
          <a:prstGeom prst="rightArrow">
            <a:avLst>
              <a:gd name="adj1" fmla="val 50000"/>
              <a:gd name="adj2" fmla="val 43750"/>
            </a:avLst>
          </a:prstGeom>
          <a:solidFill>
            <a:schemeClr val="accent2"/>
          </a:solidFill>
          <a:ln w="9525">
            <a:solidFill>
              <a:srgbClr val="FF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9" name="Text Box 33"/>
          <p:cNvSpPr txBox="1">
            <a:spLocks noChangeArrowheads="1"/>
          </p:cNvSpPr>
          <p:nvPr/>
        </p:nvSpPr>
        <p:spPr bwMode="auto">
          <a:xfrm>
            <a:off x="762000" y="6076950"/>
            <a:ext cx="670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solidFill>
                  <a:srgbClr val="FF0000"/>
                </a:solidFill>
                <a:latin typeface="Times New Roman" pitchFamily="18" charset="0"/>
              </a:rPr>
              <a:t>顺磁质和抗磁质的相对磁导率都非常接近于</a:t>
            </a:r>
            <a:r>
              <a:rPr kumimoji="1" lang="en-US" altLang="zh-CN" sz="2400" b="1" dirty="0">
                <a:solidFill>
                  <a:srgbClr val="FF0000"/>
                </a:solidFill>
                <a:latin typeface="Times New Roman" pitchFamily="18" charset="0"/>
              </a:rPr>
              <a:t>1</a:t>
            </a:r>
            <a:r>
              <a:rPr kumimoji="1" lang="zh-CN" altLang="en-US" sz="2400" b="1" dirty="0">
                <a:solidFill>
                  <a:srgbClr val="FF0000"/>
                </a:solidFill>
                <a:latin typeface="Times New Roman" pitchFamily="18" charset="0"/>
              </a:rPr>
              <a:t>。</a:t>
            </a:r>
          </a:p>
        </p:txBody>
      </p:sp>
    </p:spTree>
    <p:extLst>
      <p:ext uri="{BB962C8B-B14F-4D97-AF65-F5344CB8AC3E}">
        <p14:creationId xmlns:p14="http://schemas.microsoft.com/office/powerpoint/2010/main" val="67784120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762000" y="530225"/>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a:latin typeface="Times New Roman" pitchFamily="18" charset="0"/>
              </a:rPr>
              <a:t>铁磁质</a:t>
            </a:r>
          </a:p>
        </p:txBody>
      </p:sp>
      <p:graphicFrame>
        <p:nvGraphicFramePr>
          <p:cNvPr id="20484" name="Object 4"/>
          <p:cNvGraphicFramePr>
            <a:graphicFrameLocks/>
          </p:cNvGraphicFramePr>
          <p:nvPr/>
        </p:nvGraphicFramePr>
        <p:xfrm>
          <a:off x="2057401" y="530227"/>
          <a:ext cx="1054100" cy="417513"/>
        </p:xfrm>
        <a:graphic>
          <a:graphicData uri="http://schemas.openxmlformats.org/presentationml/2006/ole">
            <mc:AlternateContent xmlns:mc="http://schemas.openxmlformats.org/markup-compatibility/2006">
              <mc:Choice xmlns:v="urn:schemas-microsoft-com:vml" Requires="v">
                <p:oleObj spid="_x0000_s4167" name="Equation" r:id="rId3" imgW="1036320" imgH="403932" progId="Equation.3">
                  <p:embed/>
                </p:oleObj>
              </mc:Choice>
              <mc:Fallback>
                <p:oleObj name="Equation" r:id="rId3" imgW="1036320" imgH="403932" progId="Equation.3">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1" y="530227"/>
                        <a:ext cx="1054100"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Text Box 6"/>
          <p:cNvSpPr txBox="1">
            <a:spLocks noChangeArrowheads="1"/>
          </p:cNvSpPr>
          <p:nvPr/>
        </p:nvSpPr>
        <p:spPr bwMode="auto">
          <a:xfrm>
            <a:off x="1981200" y="125730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400" b="1" dirty="0">
                <a:latin typeface="Times New Roman" pitchFamily="18" charset="0"/>
              </a:rPr>
              <a:t>具有显著的增强原磁场的性质</a:t>
            </a:r>
          </a:p>
        </p:txBody>
      </p:sp>
      <p:sp>
        <p:nvSpPr>
          <p:cNvPr id="20487" name="Text Box 7"/>
          <p:cNvSpPr txBox="1">
            <a:spLocks noChangeArrowheads="1"/>
          </p:cNvSpPr>
          <p:nvPr/>
        </p:nvSpPr>
        <p:spPr bwMode="auto">
          <a:xfrm>
            <a:off x="6012160" y="1241341"/>
            <a:ext cx="2568575" cy="457200"/>
          </a:xfrm>
          <a:prstGeom prst="rect">
            <a:avLst/>
          </a:prstGeom>
          <a:noFill/>
          <a:ln>
            <a:noFill/>
          </a:ln>
          <a:effectLst/>
          <a:extLst>
            <a:ext uri="{909E8E84-426E-40DD-AFC4-6F175D3DCCD1}">
              <a14:hiddenFill xmlns:a14="http://schemas.microsoft.com/office/drawing/2010/main">
                <a:solidFill>
                  <a:srgbClr val="808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b="1" dirty="0"/>
              <a:t>——</a:t>
            </a:r>
            <a:r>
              <a:rPr kumimoji="1" lang="zh-CN" altLang="en-US" sz="2400" b="1" dirty="0">
                <a:latin typeface="Times New Roman" pitchFamily="18" charset="0"/>
              </a:rPr>
              <a:t>强磁性物质</a:t>
            </a:r>
          </a:p>
        </p:txBody>
      </p:sp>
      <p:pic>
        <p:nvPicPr>
          <p:cNvPr id="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286574"/>
            <a:ext cx="1080120" cy="479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6" name="组合 25"/>
          <p:cNvGrpSpPr/>
          <p:nvPr/>
        </p:nvGrpSpPr>
        <p:grpSpPr>
          <a:xfrm>
            <a:off x="1953628" y="2748384"/>
            <a:ext cx="4322344" cy="1569660"/>
            <a:chOff x="2483768" y="5243716"/>
            <a:chExt cx="4322344" cy="1569660"/>
          </a:xfrm>
        </p:grpSpPr>
        <p:sp>
          <p:nvSpPr>
            <p:cNvPr id="27" name="AutoShape 5"/>
            <p:cNvSpPr>
              <a:spLocks/>
            </p:cNvSpPr>
            <p:nvPr/>
          </p:nvSpPr>
          <p:spPr bwMode="auto">
            <a:xfrm>
              <a:off x="2483768" y="5476718"/>
              <a:ext cx="217489" cy="1209352"/>
            </a:xfrm>
            <a:prstGeom prst="leftBrace">
              <a:avLst>
                <a:gd name="adj1" fmla="val 11759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黑体" pitchFamily="49" charset="-122"/>
                <a:ea typeface="黑体" pitchFamily="49" charset="-122"/>
                <a:cs typeface="Heiti SC Light"/>
              </a:endParaRPr>
            </a:p>
          </p:txBody>
        </p:sp>
        <p:sp>
          <p:nvSpPr>
            <p:cNvPr id="28" name="Text Box 6"/>
            <p:cNvSpPr txBox="1">
              <a:spLocks noChangeArrowheads="1"/>
            </p:cNvSpPr>
            <p:nvPr/>
          </p:nvSpPr>
          <p:spPr bwMode="auto">
            <a:xfrm>
              <a:off x="2667403" y="5243716"/>
              <a:ext cx="11509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b="1" dirty="0">
                  <a:latin typeface="黑体" pitchFamily="49" charset="-122"/>
                  <a:ea typeface="黑体" pitchFamily="49" charset="-122"/>
                  <a:cs typeface="Heiti SC Light"/>
                </a:rPr>
                <a:t>顺磁质</a:t>
              </a:r>
            </a:p>
            <a:p>
              <a:pPr>
                <a:spcBef>
                  <a:spcPct val="50000"/>
                </a:spcBef>
              </a:pPr>
              <a:r>
                <a:rPr lang="zh-CN" altLang="en-US" sz="2400" b="1" dirty="0">
                  <a:latin typeface="黑体" pitchFamily="49" charset="-122"/>
                  <a:ea typeface="黑体" pitchFamily="49" charset="-122"/>
                  <a:cs typeface="Heiti SC Light"/>
                </a:rPr>
                <a:t>抗磁质</a:t>
              </a:r>
            </a:p>
            <a:p>
              <a:pPr>
                <a:spcBef>
                  <a:spcPct val="50000"/>
                </a:spcBef>
              </a:pPr>
              <a:r>
                <a:rPr lang="zh-CN" altLang="en-US" sz="2400" b="1" dirty="0">
                  <a:latin typeface="黑体" pitchFamily="49" charset="-122"/>
                  <a:ea typeface="黑体" pitchFamily="49" charset="-122"/>
                  <a:cs typeface="Heiti SC Light"/>
                </a:rPr>
                <a:t>铁磁质</a:t>
              </a:r>
            </a:p>
          </p:txBody>
        </p:sp>
        <p:sp>
          <p:nvSpPr>
            <p:cNvPr id="29" name="AutoShape 7"/>
            <p:cNvSpPr>
              <a:spLocks/>
            </p:cNvSpPr>
            <p:nvPr/>
          </p:nvSpPr>
          <p:spPr bwMode="auto">
            <a:xfrm>
              <a:off x="3707733" y="5444009"/>
              <a:ext cx="144461" cy="649287"/>
            </a:xfrm>
            <a:prstGeom prst="rightBrace">
              <a:avLst>
                <a:gd name="adj1" fmla="val 7574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黑体" pitchFamily="49" charset="-122"/>
                <a:ea typeface="黑体" pitchFamily="49" charset="-122"/>
                <a:cs typeface="Heiti SC Light"/>
              </a:endParaRPr>
            </a:p>
          </p:txBody>
        </p:sp>
        <p:sp>
          <p:nvSpPr>
            <p:cNvPr id="30" name="Text Box 8"/>
            <p:cNvSpPr txBox="1">
              <a:spLocks noChangeArrowheads="1"/>
            </p:cNvSpPr>
            <p:nvPr/>
          </p:nvSpPr>
          <p:spPr bwMode="auto">
            <a:xfrm>
              <a:off x="3882584" y="5505915"/>
              <a:ext cx="12239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b="1" dirty="0">
                  <a:latin typeface="黑体" pitchFamily="49" charset="-122"/>
                  <a:ea typeface="黑体" pitchFamily="49" charset="-122"/>
                  <a:cs typeface="Heiti SC Light"/>
                </a:rPr>
                <a:t>弱磁质</a:t>
              </a:r>
            </a:p>
          </p:txBody>
        </p:sp>
        <p:sp>
          <p:nvSpPr>
            <p:cNvPr id="31" name="Line 9"/>
            <p:cNvSpPr>
              <a:spLocks noChangeShapeType="1"/>
            </p:cNvSpPr>
            <p:nvPr/>
          </p:nvSpPr>
          <p:spPr bwMode="auto">
            <a:xfrm>
              <a:off x="4933904" y="575351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黑体" pitchFamily="49" charset="-122"/>
                <a:ea typeface="黑体" pitchFamily="49" charset="-122"/>
                <a:cs typeface="Heiti SC Light"/>
              </a:endParaRPr>
            </a:p>
          </p:txBody>
        </p:sp>
        <p:sp>
          <p:nvSpPr>
            <p:cNvPr id="32" name="Text Box 10"/>
            <p:cNvSpPr txBox="1">
              <a:spLocks noChangeArrowheads="1"/>
            </p:cNvSpPr>
            <p:nvPr/>
          </p:nvSpPr>
          <p:spPr bwMode="auto">
            <a:xfrm>
              <a:off x="5078590" y="5537618"/>
              <a:ext cx="17275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b="1" dirty="0">
                  <a:latin typeface="黑体" pitchFamily="49" charset="-122"/>
                  <a:ea typeface="黑体" pitchFamily="49" charset="-122"/>
                  <a:cs typeface="Heiti SC Light"/>
                </a:rPr>
                <a:t>非铁磁质</a:t>
              </a:r>
            </a:p>
          </p:txBody>
        </p:sp>
        <p:sp>
          <p:nvSpPr>
            <p:cNvPr id="33" name="Line 11"/>
            <p:cNvSpPr>
              <a:spLocks noChangeShapeType="1"/>
            </p:cNvSpPr>
            <p:nvPr/>
          </p:nvSpPr>
          <p:spPr bwMode="auto">
            <a:xfrm>
              <a:off x="3707904" y="6599032"/>
              <a:ext cx="360363"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latin typeface="黑体" pitchFamily="49" charset="-122"/>
                <a:ea typeface="黑体" pitchFamily="49" charset="-122"/>
                <a:cs typeface="Heiti SC Light"/>
              </a:endParaRPr>
            </a:p>
          </p:txBody>
        </p:sp>
        <p:sp>
          <p:nvSpPr>
            <p:cNvPr id="34" name="Text Box 12"/>
            <p:cNvSpPr txBox="1">
              <a:spLocks noChangeArrowheads="1"/>
            </p:cNvSpPr>
            <p:nvPr/>
          </p:nvSpPr>
          <p:spPr bwMode="auto">
            <a:xfrm>
              <a:off x="4053341" y="6294219"/>
              <a:ext cx="11525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400" b="1" dirty="0">
                  <a:latin typeface="黑体" pitchFamily="49" charset="-122"/>
                  <a:ea typeface="黑体" pitchFamily="49" charset="-122"/>
                  <a:cs typeface="Heiti SC Light"/>
                </a:rPr>
                <a:t>强磁质</a:t>
              </a:r>
            </a:p>
          </p:txBody>
        </p:sp>
      </p:grpSp>
      <p:graphicFrame>
        <p:nvGraphicFramePr>
          <p:cNvPr id="2" name="对象 1"/>
          <p:cNvGraphicFramePr>
            <a:graphicFrameLocks/>
          </p:cNvGraphicFramePr>
          <p:nvPr>
            <p:extLst>
              <p:ext uri="{D42A27DB-BD31-4B8C-83A1-F6EECF244321}">
                <p14:modId xmlns:p14="http://schemas.microsoft.com/office/powerpoint/2010/main" val="2461888597"/>
              </p:ext>
            </p:extLst>
          </p:nvPr>
        </p:nvGraphicFramePr>
        <p:xfrm>
          <a:off x="3915072" y="404664"/>
          <a:ext cx="2097088" cy="471487"/>
        </p:xfrm>
        <a:graphic>
          <a:graphicData uri="http://schemas.openxmlformats.org/presentationml/2006/ole">
            <mc:AlternateContent xmlns:mc="http://schemas.openxmlformats.org/markup-compatibility/2006">
              <mc:Choice xmlns:v="urn:schemas-microsoft-com:vml" Requires="v">
                <p:oleObj spid="_x0000_s4168" name="Equation" r:id="rId6" imgW="2588760" imgH="750600" progId="Equation.3">
                  <p:embed/>
                </p:oleObj>
              </mc:Choice>
              <mc:Fallback>
                <p:oleObj name="Equation" r:id="rId6" imgW="2588760" imgH="750600" progId="Equation.3">
                  <p:embed/>
                  <p:pic>
                    <p:nvPicPr>
                      <p:cNvPr id="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5072" y="404664"/>
                        <a:ext cx="2097088"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3825637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79512" y="385500"/>
            <a:ext cx="85689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pPr>
            <a:r>
              <a:rPr lang="zh-CN" altLang="en-US" sz="2800" dirty="0" smtClean="0">
                <a:latin typeface="黑体" pitchFamily="49" charset="-122"/>
                <a:ea typeface="黑体" pitchFamily="49" charset="-122"/>
                <a:cs typeface="Heiti SC Light"/>
              </a:rPr>
              <a:t>任何磁介质，都包含了大量的小磁铁</a:t>
            </a:r>
            <a:r>
              <a:rPr lang="en-US" altLang="zh-CN" sz="2800" dirty="0" smtClean="0">
                <a:latin typeface="黑体" pitchFamily="49" charset="-122"/>
                <a:ea typeface="黑体" pitchFamily="49" charset="-122"/>
                <a:cs typeface="Heiti SC Light"/>
              </a:rPr>
              <a:t>---</a:t>
            </a:r>
            <a:r>
              <a:rPr lang="zh-CN" altLang="en-US" sz="2800" dirty="0" smtClean="0">
                <a:latin typeface="黑体" pitchFamily="49" charset="-122"/>
                <a:ea typeface="黑体" pitchFamily="49" charset="-122"/>
                <a:cs typeface="Heiti SC Light"/>
              </a:rPr>
              <a:t>电子。</a:t>
            </a:r>
            <a:endParaRPr lang="zh-CN" altLang="en-US" sz="2800" dirty="0">
              <a:latin typeface="黑体" pitchFamily="49" charset="-122"/>
              <a:ea typeface="黑体" pitchFamily="49" charset="-122"/>
              <a:cs typeface="Heiti SC Light"/>
            </a:endParaRPr>
          </a:p>
        </p:txBody>
      </p:sp>
      <p:sp>
        <p:nvSpPr>
          <p:cNvPr id="3" name="Text Box 4"/>
          <p:cNvSpPr txBox="1">
            <a:spLocks noChangeArrowheads="1"/>
          </p:cNvSpPr>
          <p:nvPr/>
        </p:nvSpPr>
        <p:spPr bwMode="auto">
          <a:xfrm>
            <a:off x="144016" y="3883982"/>
            <a:ext cx="8892480"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zh-CN" altLang="en-US" sz="2800" dirty="0" smtClean="0">
                <a:latin typeface="黑体" pitchFamily="49" charset="-122"/>
                <a:ea typeface="黑体" pitchFamily="49" charset="-122"/>
                <a:cs typeface="Heiti SC Light"/>
              </a:rPr>
              <a:t>    </a:t>
            </a:r>
            <a:r>
              <a:rPr lang="zh-CN" altLang="en-US" sz="2800" dirty="0" smtClean="0">
                <a:solidFill>
                  <a:srgbClr val="FF0000"/>
                </a:solidFill>
                <a:latin typeface="黑体" pitchFamily="49" charset="-122"/>
                <a:ea typeface="黑体" pitchFamily="49" charset="-122"/>
                <a:cs typeface="Heiti SC Light"/>
              </a:rPr>
              <a:t>顺磁材料与抗磁材料中，原子的磁偶极子均随机取向。</a:t>
            </a:r>
            <a:r>
              <a:rPr lang="zh-CN" altLang="en-US" sz="2800" dirty="0" smtClean="0">
                <a:latin typeface="黑体" pitchFamily="49" charset="-122"/>
                <a:ea typeface="黑体" pitchFamily="49" charset="-122"/>
                <a:cs typeface="Heiti SC Light"/>
              </a:rPr>
              <a:t>即使材料处在外部强磁场中，磁偶极子只是略微趋向它排列。使磁偶极子趋向于外磁场排列的力矩被使磁偶极子随机排列的热运动趋势所掩盖，因此只是大范围的轻度对齐。</a:t>
            </a:r>
            <a:endParaRPr lang="zh-CN" altLang="en-US" sz="2800" dirty="0">
              <a:latin typeface="黑体" pitchFamily="49" charset="-122"/>
              <a:ea typeface="黑体" pitchFamily="49" charset="-122"/>
              <a:cs typeface="Heiti SC Light"/>
            </a:endParaRPr>
          </a:p>
        </p:txBody>
      </p:sp>
      <p:sp>
        <p:nvSpPr>
          <p:cNvPr id="4" name="Text Box 4"/>
          <p:cNvSpPr txBox="1">
            <a:spLocks noChangeArrowheads="1"/>
          </p:cNvSpPr>
          <p:nvPr/>
        </p:nvSpPr>
        <p:spPr bwMode="auto">
          <a:xfrm>
            <a:off x="197768" y="1098604"/>
            <a:ext cx="8784976"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lnSpc>
                <a:spcPct val="125000"/>
              </a:lnSpc>
              <a:spcBef>
                <a:spcPct val="50000"/>
              </a:spcBef>
            </a:pPr>
            <a:r>
              <a:rPr lang="zh-CN" altLang="en-US" sz="2800" dirty="0" smtClean="0">
                <a:latin typeface="黑体" pitchFamily="49" charset="-122"/>
                <a:ea typeface="黑体" pitchFamily="49" charset="-122"/>
                <a:cs typeface="Heiti SC Light"/>
              </a:rPr>
              <a:t>    电子在两方面像小磁铁。一方面是电子绕核的轨道运动，另一方面是电子本身的自旋运动，这两种运动都等效于一个电流分布，因而能产生磁效应。把分子或原子看成一个整体，一个原子或分子的净磁偶极矩是其组成粒子的磁偶极矩的矢量和。</a:t>
            </a:r>
            <a:endParaRPr lang="zh-CN" altLang="en-US" sz="2800" dirty="0">
              <a:latin typeface="黑体" pitchFamily="49" charset="-122"/>
              <a:ea typeface="黑体" pitchFamily="49" charset="-122"/>
              <a:cs typeface="Heiti SC Ligh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5247462" y="647696"/>
            <a:ext cx="3732216" cy="4168707"/>
          </a:xfrm>
          <a:prstGeom prst="rect">
            <a:avLst/>
          </a:prstGeom>
        </p:spPr>
      </p:pic>
      <p:sp>
        <p:nvSpPr>
          <p:cNvPr id="3" name="文本框 2"/>
          <p:cNvSpPr txBox="1"/>
          <p:nvPr/>
        </p:nvSpPr>
        <p:spPr>
          <a:xfrm>
            <a:off x="5752867" y="4816403"/>
            <a:ext cx="2954655" cy="461665"/>
          </a:xfrm>
          <a:prstGeom prst="rect">
            <a:avLst/>
          </a:prstGeom>
          <a:noFill/>
        </p:spPr>
        <p:txBody>
          <a:bodyPr wrap="none" rtlCol="0">
            <a:spAutoFit/>
          </a:bodyPr>
          <a:lstStyle/>
          <a:p>
            <a:r>
              <a:rPr lang="zh-CN" altLang="en-US" sz="2400" b="1" dirty="0" smtClean="0"/>
              <a:t>各磁畴中磁矩的方向</a:t>
            </a:r>
            <a:endParaRPr lang="zh-CN" altLang="en-US" sz="2400" b="1" dirty="0"/>
          </a:p>
        </p:txBody>
      </p:sp>
      <p:sp>
        <p:nvSpPr>
          <p:cNvPr id="4" name="文本框 3"/>
          <p:cNvSpPr txBox="1"/>
          <p:nvPr/>
        </p:nvSpPr>
        <p:spPr>
          <a:xfrm>
            <a:off x="241338" y="662804"/>
            <a:ext cx="4978734" cy="1092607"/>
          </a:xfrm>
          <a:prstGeom prst="rect">
            <a:avLst/>
          </a:prstGeom>
          <a:noFill/>
        </p:spPr>
        <p:txBody>
          <a:bodyPr wrap="square" rtlCol="0">
            <a:spAutoFit/>
          </a:bodyPr>
          <a:lstStyle/>
          <a:p>
            <a:pPr>
              <a:lnSpc>
                <a:spcPct val="125000"/>
              </a:lnSpc>
            </a:pPr>
            <a:r>
              <a:rPr lang="zh-CN" altLang="en-US" sz="2800" dirty="0" smtClean="0"/>
              <a:t>       </a:t>
            </a:r>
            <a:r>
              <a:rPr lang="zh-CN" altLang="en-US" sz="2400" b="1" dirty="0" smtClean="0"/>
              <a:t>当所有磁畴的净磁偶极矩为零时，该材料是非磁化的。</a:t>
            </a:r>
            <a:endParaRPr lang="zh-CN" altLang="en-US" sz="2400" b="1" dirty="0"/>
          </a:p>
        </p:txBody>
      </p:sp>
      <p:sp>
        <p:nvSpPr>
          <p:cNvPr id="5" name="文本框 4"/>
          <p:cNvSpPr txBox="1"/>
          <p:nvPr/>
        </p:nvSpPr>
        <p:spPr>
          <a:xfrm>
            <a:off x="-132831" y="52795"/>
            <a:ext cx="9399161" cy="591059"/>
          </a:xfrm>
          <a:prstGeom prst="rect">
            <a:avLst/>
          </a:prstGeom>
          <a:noFill/>
        </p:spPr>
        <p:txBody>
          <a:bodyPr wrap="square" rtlCol="0">
            <a:spAutoFit/>
          </a:bodyPr>
          <a:lstStyle/>
          <a:p>
            <a:pPr>
              <a:lnSpc>
                <a:spcPct val="125000"/>
              </a:lnSpc>
            </a:pPr>
            <a:r>
              <a:rPr lang="zh-CN" altLang="en-US" sz="2800" dirty="0" smtClean="0"/>
              <a:t>      </a:t>
            </a:r>
            <a:r>
              <a:rPr lang="zh-CN" altLang="en-US" sz="2400" b="1" dirty="0" smtClean="0"/>
              <a:t>铁磁材料具有很强的磁性。其内部被划分为多个称为磁畴的区域。</a:t>
            </a:r>
            <a:endParaRPr lang="zh-CN" altLang="en-US" sz="2400" b="1" dirty="0"/>
          </a:p>
        </p:txBody>
      </p:sp>
      <p:sp>
        <p:nvSpPr>
          <p:cNvPr id="6" name="矩形 5"/>
          <p:cNvSpPr/>
          <p:nvPr/>
        </p:nvSpPr>
        <p:spPr>
          <a:xfrm>
            <a:off x="268728" y="1781469"/>
            <a:ext cx="4978734" cy="3323987"/>
          </a:xfrm>
          <a:prstGeom prst="rect">
            <a:avLst/>
          </a:prstGeom>
        </p:spPr>
        <p:txBody>
          <a:bodyPr wrap="square">
            <a:spAutoFit/>
          </a:bodyPr>
          <a:lstStyle/>
          <a:p>
            <a:pPr>
              <a:lnSpc>
                <a:spcPct val="125000"/>
              </a:lnSpc>
            </a:pPr>
            <a:r>
              <a:rPr lang="zh-CN" altLang="en-US" sz="2400" dirty="0" smtClean="0"/>
              <a:t>        </a:t>
            </a:r>
            <a:r>
              <a:rPr lang="zh-CN" altLang="en-US" sz="2400" b="1" dirty="0" smtClean="0"/>
              <a:t>将</a:t>
            </a:r>
            <a:r>
              <a:rPr lang="zh-CN" altLang="en-US" sz="2400" b="1" dirty="0"/>
              <a:t>该材料放入外磁场中，会发生两种情形。一</a:t>
            </a:r>
            <a:r>
              <a:rPr lang="zh-CN" altLang="en-US" sz="2400" b="1" dirty="0" smtClean="0"/>
              <a:t>种情形是，在</a:t>
            </a:r>
            <a:r>
              <a:rPr lang="zh-CN" altLang="en-US" sz="2400" b="1" dirty="0"/>
              <a:t>磁畴边界的原子的磁偶极子，通过转动其磁偶极矩从一个磁畴“叛逃”到相邻一个磁畴。因此其磁偶极矩与外场一致或几乎一致的磁畴尺寸增大而其他则缩小</a:t>
            </a:r>
            <a:r>
              <a:rPr lang="zh-CN" altLang="en-US" sz="2400" b="1" dirty="0" smtClean="0"/>
              <a:t>。</a:t>
            </a:r>
            <a:endParaRPr lang="zh-CN" altLang="en-US" sz="2400" b="1" dirty="0"/>
          </a:p>
        </p:txBody>
      </p:sp>
      <p:sp>
        <p:nvSpPr>
          <p:cNvPr id="7" name="矩形 6"/>
          <p:cNvSpPr/>
          <p:nvPr/>
        </p:nvSpPr>
        <p:spPr>
          <a:xfrm>
            <a:off x="235279" y="5264040"/>
            <a:ext cx="8908721" cy="1477328"/>
          </a:xfrm>
          <a:prstGeom prst="rect">
            <a:avLst/>
          </a:prstGeom>
        </p:spPr>
        <p:txBody>
          <a:bodyPr wrap="square">
            <a:spAutoFit/>
          </a:bodyPr>
          <a:lstStyle/>
          <a:p>
            <a:pPr>
              <a:lnSpc>
                <a:spcPct val="125000"/>
              </a:lnSpc>
            </a:pPr>
            <a:r>
              <a:rPr lang="zh-CN" altLang="en-US" sz="2400" b="1" dirty="0" smtClean="0"/>
              <a:t>     另</a:t>
            </a:r>
            <a:r>
              <a:rPr lang="zh-CN" altLang="en-US" sz="2400" b="1" dirty="0"/>
              <a:t>一种情形是，磁畴可以通过所有原子磁偶极子转到一个新的方向来改变它们的取向。当所有磁畴的净磁偶极矩不为零时，该材料就被磁化了。</a:t>
            </a:r>
          </a:p>
        </p:txBody>
      </p:sp>
    </p:spTree>
    <p:extLst>
      <p:ext uri="{BB962C8B-B14F-4D97-AF65-F5344CB8AC3E}">
        <p14:creationId xmlns:p14="http://schemas.microsoft.com/office/powerpoint/2010/main" val="29483312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zh-CN" altLang="en-US" sz="3200" dirty="0" smtClean="0">
                <a:solidFill>
                  <a:srgbClr val="0070C0"/>
                </a:solidFill>
              </a:rPr>
              <a:t>单项选择题</a:t>
            </a:r>
            <a:endParaRPr lang="zh-CN" altLang="en-US" sz="3200" dirty="0">
              <a:solidFill>
                <a:srgbClr val="0070C0"/>
              </a:solidFill>
            </a:endParaRPr>
          </a:p>
        </p:txBody>
      </p:sp>
      <p:sp>
        <p:nvSpPr>
          <p:cNvPr id="3" name="内容占位符 2"/>
          <p:cNvSpPr>
            <a:spLocks noGrp="1"/>
          </p:cNvSpPr>
          <p:nvPr>
            <p:ph idx="1"/>
          </p:nvPr>
        </p:nvSpPr>
        <p:spPr>
          <a:xfrm>
            <a:off x="1115616" y="1600200"/>
            <a:ext cx="7571184" cy="4525963"/>
          </a:xfrm>
        </p:spPr>
        <p:txBody>
          <a:bodyPr/>
          <a:lstStyle/>
          <a:p>
            <a:pPr marL="0" indent="0">
              <a:buNone/>
            </a:pPr>
            <a:r>
              <a:rPr lang="zh-CN" altLang="en-US" dirty="0"/>
              <a:t>下列哪种磁性材料有磁畴</a:t>
            </a:r>
            <a:r>
              <a:rPr lang="zh-CN" altLang="en-US" dirty="0" smtClean="0"/>
              <a:t>？</a:t>
            </a:r>
            <a:endParaRPr lang="en-US" altLang="zh-CN" dirty="0" smtClean="0"/>
          </a:p>
          <a:p>
            <a:pPr marL="0" indent="0">
              <a:buNone/>
            </a:pPr>
            <a:r>
              <a:rPr lang="en-US" altLang="zh-CN" dirty="0" smtClean="0"/>
              <a:t>A</a:t>
            </a:r>
            <a:r>
              <a:rPr lang="zh-CN" altLang="en-US" dirty="0"/>
              <a:t>、 顺磁</a:t>
            </a:r>
            <a:r>
              <a:rPr lang="zh-CN" altLang="en-US" dirty="0" smtClean="0"/>
              <a:t>的</a:t>
            </a:r>
            <a:endParaRPr lang="en-US" altLang="zh-CN" dirty="0" smtClean="0"/>
          </a:p>
          <a:p>
            <a:pPr marL="0" indent="0">
              <a:buNone/>
            </a:pPr>
            <a:r>
              <a:rPr lang="en-US" altLang="zh-CN" dirty="0" smtClean="0"/>
              <a:t>B</a:t>
            </a:r>
            <a:r>
              <a:rPr lang="zh-CN" altLang="en-US" dirty="0"/>
              <a:t>、 </a:t>
            </a:r>
            <a:r>
              <a:rPr lang="zh-CN" altLang="en-US" dirty="0" smtClean="0"/>
              <a:t>抗磁性</a:t>
            </a:r>
            <a:endParaRPr lang="en-US" altLang="zh-CN" dirty="0" smtClean="0"/>
          </a:p>
          <a:p>
            <a:pPr marL="0" indent="0">
              <a:buNone/>
            </a:pPr>
            <a:r>
              <a:rPr lang="en-US" altLang="zh-CN" dirty="0" smtClean="0"/>
              <a:t>C</a:t>
            </a:r>
            <a:r>
              <a:rPr lang="zh-CN" altLang="en-US" dirty="0"/>
              <a:t>、 </a:t>
            </a:r>
            <a:r>
              <a:rPr lang="zh-CN" altLang="en-US" dirty="0" smtClean="0"/>
              <a:t>螺线管</a:t>
            </a:r>
            <a:endParaRPr lang="en-US" altLang="zh-CN" dirty="0" smtClean="0"/>
          </a:p>
          <a:p>
            <a:pPr marL="0" indent="0">
              <a:buNone/>
            </a:pPr>
            <a:r>
              <a:rPr lang="en-US" altLang="zh-CN" dirty="0" smtClean="0"/>
              <a:t>D</a:t>
            </a:r>
            <a:r>
              <a:rPr lang="zh-CN" altLang="en-US" dirty="0" smtClean="0"/>
              <a:t>、 铁磁性</a:t>
            </a:r>
            <a:endParaRPr lang="zh-CN" altLang="en-US" dirty="0"/>
          </a:p>
        </p:txBody>
      </p:sp>
    </p:spTree>
    <p:extLst>
      <p:ext uri="{BB962C8B-B14F-4D97-AF65-F5344CB8AC3E}">
        <p14:creationId xmlns:p14="http://schemas.microsoft.com/office/powerpoint/2010/main" val="4122400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800" b="1" dirty="0"/>
              <a:t>下列哪种磁性材料有磁畴？</a:t>
            </a:r>
            <a:endParaRPr lang="en-US" altLang="zh-CN" sz="2800" b="1" dirty="0"/>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800" dirty="0"/>
              <a:t>顺磁的</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800" dirty="0"/>
              <a:t>抗磁性</a:t>
            </a:r>
            <a:endParaRPr lang="en-US" altLang="zh-CN" sz="2800" dirty="0"/>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800" dirty="0"/>
              <a:t>螺线管</a:t>
            </a:r>
            <a:endParaRPr lang="en-US" altLang="zh-CN" sz="2800" dirty="0"/>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800" dirty="0"/>
              <a:t>铁磁性</a:t>
            </a:r>
          </a:p>
        </p:txBody>
      </p:sp>
      <p:sp>
        <p:nvSpPr>
          <p:cNvPr id="10" name="椭圆 9"/>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1144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114425" y="45648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59893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9_4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249"/>
          <a:stretch/>
        </p:blipFill>
        <p:spPr bwMode="auto">
          <a:xfrm>
            <a:off x="2475586" y="188640"/>
            <a:ext cx="4425950" cy="5141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475656" y="5589240"/>
            <a:ext cx="6561412" cy="461665"/>
          </a:xfrm>
          <a:prstGeom prst="rect">
            <a:avLst/>
          </a:prstGeom>
          <a:noFill/>
        </p:spPr>
        <p:txBody>
          <a:bodyPr wrap="none" rtlCol="0">
            <a:spAutoFit/>
          </a:bodyPr>
          <a:lstStyle/>
          <a:p>
            <a:r>
              <a:rPr lang="zh-CN" altLang="en-US" sz="2400" b="1" dirty="0" smtClean="0"/>
              <a:t>图</a:t>
            </a:r>
            <a:r>
              <a:rPr lang="en-US" altLang="zh-CN" sz="2400" b="1" dirty="0" smtClean="0"/>
              <a:t>19.43  </a:t>
            </a:r>
            <a:r>
              <a:rPr lang="zh-CN" altLang="en-US" sz="2400" b="1" dirty="0" smtClean="0"/>
              <a:t>每个磁化的回形针能磁化另一个回形针</a:t>
            </a:r>
            <a:endParaRPr lang="zh-CN" altLang="en-US" sz="2400" b="1" dirty="0"/>
          </a:p>
        </p:txBody>
      </p:sp>
    </p:spTree>
    <p:extLst>
      <p:ext uri="{BB962C8B-B14F-4D97-AF65-F5344CB8AC3E}">
        <p14:creationId xmlns:p14="http://schemas.microsoft.com/office/powerpoint/2010/main" val="37047235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764704"/>
            <a:ext cx="8640959" cy="4846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971600" y="5849387"/>
            <a:ext cx="8458951" cy="1015663"/>
          </a:xfrm>
          <a:prstGeom prst="rect">
            <a:avLst/>
          </a:prstGeom>
        </p:spPr>
        <p:txBody>
          <a:bodyPr wrap="square">
            <a:spAutoFit/>
          </a:bodyPr>
          <a:lstStyle/>
          <a:p>
            <a:r>
              <a:rPr lang="zh-CN" altLang="en-US" sz="2000" b="1" dirty="0">
                <a:solidFill>
                  <a:srgbClr val="FF0000"/>
                </a:solidFill>
              </a:rPr>
              <a:t>当外磁场撤去</a:t>
            </a:r>
            <a:r>
              <a:rPr lang="zh-CN" altLang="en-US" sz="2000" b="1" dirty="0" smtClean="0">
                <a:solidFill>
                  <a:srgbClr val="FF0000"/>
                </a:solidFill>
              </a:rPr>
              <a:t>后铁磁质的磁感应强度仍不为零，叫做剩磁。</a:t>
            </a:r>
            <a:endParaRPr lang="en-US" altLang="zh-CN" sz="2000" b="1" dirty="0" smtClean="0">
              <a:solidFill>
                <a:srgbClr val="FF0000"/>
              </a:solidFill>
            </a:endParaRPr>
          </a:p>
          <a:p>
            <a:r>
              <a:rPr lang="zh-CN" altLang="en-US" sz="2000" b="1" dirty="0" smtClean="0">
                <a:solidFill>
                  <a:srgbClr val="FF0000"/>
                </a:solidFill>
              </a:rPr>
              <a:t>矫顽力：消除剩磁所需的外部作用。</a:t>
            </a:r>
            <a:endParaRPr lang="en-US" altLang="zh-CN" sz="2000" b="1" dirty="0" smtClean="0">
              <a:solidFill>
                <a:srgbClr val="FF0000"/>
              </a:solidFill>
            </a:endParaRPr>
          </a:p>
          <a:p>
            <a:endParaRPr lang="zh-CN" altLang="en-US" sz="2000" b="1" dirty="0">
              <a:solidFill>
                <a:srgbClr val="FF0000"/>
              </a:solidFill>
            </a:endParaRPr>
          </a:p>
        </p:txBody>
      </p:sp>
    </p:spTree>
    <p:extLst>
      <p:ext uri="{BB962C8B-B14F-4D97-AF65-F5344CB8AC3E}">
        <p14:creationId xmlns:p14="http://schemas.microsoft.com/office/powerpoint/2010/main" val="3678299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652"/>
            <a:ext cx="9188621" cy="689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98408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9513" y="1412776"/>
            <a:ext cx="8352928" cy="4832092"/>
          </a:xfrm>
          <a:prstGeom prst="rect">
            <a:avLst/>
          </a:prstGeom>
        </p:spPr>
        <p:txBody>
          <a:bodyPr wrap="square">
            <a:spAutoFit/>
          </a:bodyPr>
          <a:lstStyle/>
          <a:p>
            <a:r>
              <a:rPr lang="en-US" altLang="zh-CN" sz="2800" b="1" dirty="0" smtClean="0">
                <a:latin typeface="黑体" pitchFamily="49" charset="-122"/>
                <a:ea typeface="黑体" pitchFamily="49" charset="-122"/>
              </a:rPr>
              <a:t>1. </a:t>
            </a:r>
            <a:r>
              <a:rPr lang="zh-CN" altLang="en-US" sz="2800" b="1" dirty="0" smtClean="0">
                <a:latin typeface="黑体" pitchFamily="49" charset="-122"/>
                <a:ea typeface="黑体" pitchFamily="49" charset="-122"/>
              </a:rPr>
              <a:t>软磁材料</a:t>
            </a:r>
          </a:p>
          <a:p>
            <a:r>
              <a:rPr lang="zh-CN" altLang="en-US" sz="2800" b="1" dirty="0" smtClean="0"/>
              <a:t>软磁材料的磁导率较大，磁滞损耗少，易磁化，也容易退磁，适用于交变磁场，常用来制造变压器、继电器、电磁铁、镇流器、发电机、电动机等的铁芯。</a:t>
            </a:r>
          </a:p>
          <a:p>
            <a:r>
              <a:rPr lang="en-US" altLang="zh-CN" sz="2800" b="1" dirty="0" smtClean="0">
                <a:latin typeface="黑体" pitchFamily="49" charset="-122"/>
                <a:ea typeface="黑体" pitchFamily="49" charset="-122"/>
              </a:rPr>
              <a:t>2.</a:t>
            </a:r>
            <a:r>
              <a:rPr lang="zh-CN" altLang="en-US" sz="2800" b="1" dirty="0" smtClean="0">
                <a:latin typeface="黑体" pitchFamily="49" charset="-122"/>
                <a:ea typeface="黑体" pitchFamily="49" charset="-122"/>
              </a:rPr>
              <a:t>硬磁材料</a:t>
            </a:r>
          </a:p>
          <a:p>
            <a:r>
              <a:rPr lang="zh-CN" altLang="en-US" sz="2800" b="1" dirty="0" smtClean="0"/>
              <a:t>硬磁材料的矫顽力很大，剩余磁感应强度也很大，磁滞回线肥大，磁化后能保持很强的磁性，不易消失，始于提供永久磁场，供各种电表、扬声器、拾音器、耳机、录音机、小型直流电机以及核磁共振仪器采用。</a:t>
            </a:r>
          </a:p>
        </p:txBody>
      </p:sp>
      <p:sp>
        <p:nvSpPr>
          <p:cNvPr id="3" name="Rectangle 2"/>
          <p:cNvSpPr txBox="1">
            <a:spLocks noChangeArrowheads="1"/>
          </p:cNvSpPr>
          <p:nvPr/>
        </p:nvSpPr>
        <p:spPr>
          <a:xfrm>
            <a:off x="107504" y="44624"/>
            <a:ext cx="4905375" cy="56197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黑体" pitchFamily="49" charset="-122"/>
                <a:ea typeface="黑体" pitchFamily="49" charset="-122"/>
                <a:cs typeface="+mj-cs"/>
              </a:defRPr>
            </a:lvl1pPr>
          </a:lstStyle>
          <a:p>
            <a:pPr algn="l"/>
            <a:r>
              <a:rPr lang="zh-CN" altLang="en-US" sz="3200" b="1" dirty="0" smtClean="0"/>
              <a:t>铁磁材料分类</a:t>
            </a:r>
          </a:p>
        </p:txBody>
      </p:sp>
      <p:sp>
        <p:nvSpPr>
          <p:cNvPr id="5" name="文本框 4"/>
          <p:cNvSpPr txBox="1"/>
          <p:nvPr/>
        </p:nvSpPr>
        <p:spPr>
          <a:xfrm>
            <a:off x="289513" y="778855"/>
            <a:ext cx="8170919" cy="461665"/>
          </a:xfrm>
          <a:prstGeom prst="rect">
            <a:avLst/>
          </a:prstGeom>
          <a:noFill/>
        </p:spPr>
        <p:txBody>
          <a:bodyPr wrap="square" rtlCol="0">
            <a:spAutoFit/>
          </a:bodyPr>
          <a:lstStyle/>
          <a:p>
            <a:r>
              <a:rPr lang="zh-CN" altLang="en-US" sz="2400" b="1" dirty="0" smtClean="0"/>
              <a:t>铁磁材料按矫顽力的大小可分为硬磁材料和软磁材料两类。</a:t>
            </a:r>
            <a:endParaRPr lang="zh-CN" altLang="en-US" sz="24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805" y="977455"/>
            <a:ext cx="8372476" cy="4861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4171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5056"/>
          <a:stretch/>
        </p:blipFill>
        <p:spPr bwMode="auto">
          <a:xfrm>
            <a:off x="67275" y="33034"/>
            <a:ext cx="8640960" cy="4856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387755" y="836712"/>
            <a:ext cx="4032448" cy="2677656"/>
          </a:xfrm>
          <a:prstGeom prst="rect">
            <a:avLst/>
          </a:prstGeom>
          <a:solidFill>
            <a:schemeClr val="bg1"/>
          </a:solidFill>
        </p:spPr>
        <p:txBody>
          <a:bodyPr wrap="square" rtlCol="0">
            <a:spAutoFit/>
          </a:bodyPr>
          <a:lstStyle/>
          <a:p>
            <a:r>
              <a:rPr lang="zh-CN" altLang="en-US" sz="2400" dirty="0" smtClean="0"/>
              <a:t>一旦铁磁体被磁化，当除去外磁场时它不一定去磁。使磁畴与磁场一致需要一定的能量；有一种内摩擦必须克服。如果此内耗很大，即使除去外磁场这些磁畴仍保持一致，则该材料是永磁体。</a:t>
            </a:r>
            <a:endParaRPr lang="zh-CN" altLang="en-US" sz="2400" dirty="0"/>
          </a:p>
        </p:txBody>
      </p:sp>
      <p:sp>
        <p:nvSpPr>
          <p:cNvPr id="3" name="TextBox 2"/>
          <p:cNvSpPr txBox="1"/>
          <p:nvPr/>
        </p:nvSpPr>
        <p:spPr>
          <a:xfrm>
            <a:off x="1331640" y="5263067"/>
            <a:ext cx="4608512" cy="461665"/>
          </a:xfrm>
          <a:prstGeom prst="rect">
            <a:avLst/>
          </a:prstGeom>
          <a:noFill/>
        </p:spPr>
        <p:txBody>
          <a:bodyPr wrap="square" rtlCol="0">
            <a:spAutoFit/>
          </a:bodyPr>
          <a:lstStyle/>
          <a:p>
            <a:r>
              <a:rPr lang="zh-CN" altLang="en-US" sz="2400" dirty="0" smtClean="0"/>
              <a:t>铁的居里温度为</a:t>
            </a:r>
            <a:r>
              <a:rPr lang="en-US" altLang="zh-CN" sz="2400" dirty="0" smtClean="0"/>
              <a:t>770</a:t>
            </a:r>
            <a:r>
              <a:rPr lang="en-US" altLang="zh-CN" sz="2400" baseline="30000" dirty="0" smtClean="0"/>
              <a:t>o</a:t>
            </a:r>
            <a:r>
              <a:rPr lang="en-US" altLang="zh-CN" sz="2400" dirty="0" smtClean="0"/>
              <a:t>C</a:t>
            </a:r>
            <a:r>
              <a:rPr lang="zh-CN" altLang="en-US" sz="2400" dirty="0" smtClean="0"/>
              <a:t>。</a:t>
            </a:r>
            <a:endParaRPr lang="zh-CN" altLang="en-US" sz="2400" dirty="0"/>
          </a:p>
        </p:txBody>
      </p:sp>
    </p:spTree>
    <p:extLst>
      <p:ext uri="{BB962C8B-B14F-4D97-AF65-F5344CB8AC3E}">
        <p14:creationId xmlns:p14="http://schemas.microsoft.com/office/powerpoint/2010/main" val="919427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5580755" y="111036"/>
            <a:ext cx="3310309" cy="3920259"/>
          </a:xfrm>
          <a:prstGeom prst="rect">
            <a:avLst/>
          </a:prstGeom>
        </p:spPr>
      </p:pic>
      <p:sp>
        <p:nvSpPr>
          <p:cNvPr id="3" name="文本框 2"/>
          <p:cNvSpPr txBox="1"/>
          <p:nvPr/>
        </p:nvSpPr>
        <p:spPr>
          <a:xfrm>
            <a:off x="5635365" y="3943897"/>
            <a:ext cx="2969083" cy="461665"/>
          </a:xfrm>
          <a:prstGeom prst="rect">
            <a:avLst/>
          </a:prstGeom>
          <a:noFill/>
        </p:spPr>
        <p:txBody>
          <a:bodyPr wrap="none" rtlCol="0">
            <a:spAutoFit/>
          </a:bodyPr>
          <a:lstStyle/>
          <a:p>
            <a:r>
              <a:rPr lang="zh-CN" altLang="en-US" sz="2400" b="1" dirty="0" smtClean="0"/>
              <a:t>电磁铁及其磁感应线</a:t>
            </a:r>
            <a:endParaRPr lang="zh-CN" altLang="en-US" sz="2400" b="1" dirty="0"/>
          </a:p>
        </p:txBody>
      </p:sp>
      <p:sp>
        <p:nvSpPr>
          <p:cNvPr id="4" name="文本框 3"/>
          <p:cNvSpPr txBox="1"/>
          <p:nvPr/>
        </p:nvSpPr>
        <p:spPr>
          <a:xfrm>
            <a:off x="163567" y="200728"/>
            <a:ext cx="2348720" cy="523220"/>
          </a:xfrm>
          <a:prstGeom prst="rect">
            <a:avLst/>
          </a:prstGeom>
          <a:noFill/>
        </p:spPr>
        <p:txBody>
          <a:bodyPr wrap="none" rtlCol="0">
            <a:spAutoFit/>
          </a:bodyPr>
          <a:lstStyle/>
          <a:p>
            <a:r>
              <a:rPr lang="zh-CN" altLang="en-US" sz="2800" b="1" dirty="0" smtClean="0"/>
              <a:t>应用：电磁铁</a:t>
            </a:r>
            <a:endParaRPr lang="zh-CN" altLang="en-US" sz="2800" b="1" dirty="0"/>
          </a:p>
        </p:txBody>
      </p:sp>
      <p:sp>
        <p:nvSpPr>
          <p:cNvPr id="5" name="文本框 4"/>
          <p:cNvSpPr txBox="1"/>
          <p:nvPr/>
        </p:nvSpPr>
        <p:spPr>
          <a:xfrm>
            <a:off x="0" y="764704"/>
            <a:ext cx="5688632" cy="3862596"/>
          </a:xfrm>
          <a:prstGeom prst="rect">
            <a:avLst/>
          </a:prstGeom>
          <a:noFill/>
        </p:spPr>
        <p:txBody>
          <a:bodyPr wrap="square" rtlCol="0">
            <a:spAutoFit/>
          </a:bodyPr>
          <a:lstStyle/>
          <a:p>
            <a:pPr>
              <a:lnSpc>
                <a:spcPct val="125000"/>
              </a:lnSpc>
            </a:pPr>
            <a:r>
              <a:rPr lang="zh-CN" altLang="en-US" sz="2800" dirty="0" smtClean="0"/>
              <a:t>       </a:t>
            </a:r>
            <a:r>
              <a:rPr lang="zh-CN" altLang="en-US" sz="2800" b="1" dirty="0" smtClean="0"/>
              <a:t>电磁铁是通过将一个软铁芯插入螺旋管内而制成的。当螺线管的磁场关闭时，软铁不会保留显著的永久磁化</a:t>
            </a:r>
            <a:r>
              <a:rPr lang="en-US" altLang="zh-CN" sz="2800" b="1" dirty="0" smtClean="0"/>
              <a:t>----</a:t>
            </a:r>
            <a:r>
              <a:rPr lang="zh-CN" altLang="en-US" sz="2800" b="1" dirty="0" smtClean="0"/>
              <a:t>软铁不能成为良好的永磁体。当电流流经螺线管时，铁中的磁偶极子趋向于沿螺线管的磁场排列。</a:t>
            </a:r>
            <a:endParaRPr lang="zh-CN" altLang="en-US" sz="2800" b="1" dirty="0"/>
          </a:p>
        </p:txBody>
      </p:sp>
      <p:sp>
        <p:nvSpPr>
          <p:cNvPr id="6" name="文本框 5"/>
          <p:cNvSpPr txBox="1"/>
          <p:nvPr/>
        </p:nvSpPr>
        <p:spPr>
          <a:xfrm>
            <a:off x="161936" y="4510167"/>
            <a:ext cx="8927684" cy="1708160"/>
          </a:xfrm>
          <a:prstGeom prst="rect">
            <a:avLst/>
          </a:prstGeom>
          <a:noFill/>
        </p:spPr>
        <p:txBody>
          <a:bodyPr wrap="square" rtlCol="0">
            <a:spAutoFit/>
          </a:bodyPr>
          <a:lstStyle/>
          <a:p>
            <a:pPr>
              <a:lnSpc>
                <a:spcPct val="125000"/>
              </a:lnSpc>
            </a:pPr>
            <a:r>
              <a:rPr lang="zh-CN" altLang="en-US" sz="2800" dirty="0" smtClean="0"/>
              <a:t>        </a:t>
            </a:r>
            <a:r>
              <a:rPr lang="zh-CN" altLang="en-US" sz="2800" b="1" dirty="0" smtClean="0"/>
              <a:t>在铁内的磁场被增强了</a:t>
            </a:r>
            <a:r>
              <a:rPr lang="en-US" altLang="zh-CN" sz="2800" b="1" i="1" dirty="0" err="1" smtClean="0"/>
              <a:t>μ</a:t>
            </a:r>
            <a:r>
              <a:rPr lang="en-US" altLang="zh-CN" sz="2800" b="1" i="1" baseline="-25000" dirty="0" err="1" smtClean="0"/>
              <a:t>r</a:t>
            </a:r>
            <a:r>
              <a:rPr lang="zh-CN" altLang="en-US" sz="2800" b="1" dirty="0" smtClean="0"/>
              <a:t>（</a:t>
            </a:r>
            <a:r>
              <a:rPr lang="zh-CN" altLang="en-US" sz="2800" b="1" dirty="0"/>
              <a:t>相对磁导率</a:t>
            </a:r>
            <a:r>
              <a:rPr lang="zh-CN" altLang="en-US" sz="2800" b="1" dirty="0" smtClean="0"/>
              <a:t>）倍。此外，电磁铁中的磁场的强度和方向还可以通过改变螺线管的电流来变化。</a:t>
            </a:r>
            <a:endParaRPr lang="zh-CN" altLang="en-US" sz="2800" b="1" dirty="0"/>
          </a:p>
        </p:txBody>
      </p:sp>
    </p:spTree>
    <p:extLst>
      <p:ext uri="{BB962C8B-B14F-4D97-AF65-F5344CB8AC3E}">
        <p14:creationId xmlns:p14="http://schemas.microsoft.com/office/powerpoint/2010/main" val="18428118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19_47"/>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483" r="9623" b="5485"/>
          <a:stretch/>
        </p:blipFill>
        <p:spPr bwMode="auto">
          <a:xfrm>
            <a:off x="5296280" y="260648"/>
            <a:ext cx="3020135" cy="2341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21542" y="335903"/>
            <a:ext cx="2348720" cy="523220"/>
          </a:xfrm>
          <a:prstGeom prst="rect">
            <a:avLst/>
          </a:prstGeom>
          <a:noFill/>
        </p:spPr>
        <p:txBody>
          <a:bodyPr wrap="none" rtlCol="0">
            <a:spAutoFit/>
          </a:bodyPr>
          <a:lstStyle/>
          <a:p>
            <a:r>
              <a:rPr lang="zh-CN" altLang="en-US" sz="2800" b="1" dirty="0" smtClean="0"/>
              <a:t>应用：磁存储</a:t>
            </a:r>
            <a:endParaRPr lang="zh-CN" altLang="en-US" sz="2800" b="1" dirty="0"/>
          </a:p>
        </p:txBody>
      </p:sp>
      <p:sp>
        <p:nvSpPr>
          <p:cNvPr id="4" name="文本框 3"/>
          <p:cNvSpPr txBox="1"/>
          <p:nvPr/>
        </p:nvSpPr>
        <p:spPr>
          <a:xfrm>
            <a:off x="0" y="1052736"/>
            <a:ext cx="5188779" cy="4668842"/>
          </a:xfrm>
          <a:prstGeom prst="rect">
            <a:avLst/>
          </a:prstGeom>
          <a:noFill/>
        </p:spPr>
        <p:txBody>
          <a:bodyPr wrap="square" rtlCol="0">
            <a:spAutoFit/>
          </a:bodyPr>
          <a:lstStyle/>
          <a:p>
            <a:pPr algn="just">
              <a:lnSpc>
                <a:spcPct val="125000"/>
              </a:lnSpc>
            </a:pPr>
            <a:r>
              <a:rPr lang="zh-CN" altLang="en-US" sz="2400" dirty="0" smtClean="0"/>
              <a:t>       在计算机的硬盘驱动器中，一个称为磁头的电磁铁用于磁化盘片表面涂层中的铁磁颗粒。其</a:t>
            </a:r>
            <a:r>
              <a:rPr lang="zh-CN" altLang="en-US" sz="2400" dirty="0">
                <a:solidFill>
                  <a:srgbClr val="333333"/>
                </a:solidFill>
                <a:latin typeface="arial" panose="020B0604020202020204" pitchFamily="34" charset="0"/>
              </a:rPr>
              <a:t>主要作用就是将存储在硬盘盘片上的磁信息转化为电信号向外传输，</a:t>
            </a:r>
            <a:r>
              <a:rPr lang="zh-CN" altLang="en-US" sz="2400" dirty="0" smtClean="0"/>
              <a:t>即使磁头被移走，这些铁磁颗粒还是保留它们的磁化强度，所以数据仍然存在，直到它被擦除或重写。</a:t>
            </a:r>
            <a:endParaRPr lang="en-US" altLang="zh-CN" sz="2400" dirty="0" smtClean="0"/>
          </a:p>
          <a:p>
            <a:pPr algn="just">
              <a:lnSpc>
                <a:spcPct val="125000"/>
              </a:lnSpc>
            </a:pPr>
            <a:r>
              <a:rPr lang="zh-CN" altLang="en-US" sz="2400" dirty="0" smtClean="0">
                <a:solidFill>
                  <a:srgbClr val="333333"/>
                </a:solidFill>
                <a:latin typeface="arial" panose="020B0604020202020204" pitchFamily="34" charset="0"/>
              </a:rPr>
              <a:t>      磁头</a:t>
            </a:r>
            <a:r>
              <a:rPr lang="zh-CN" altLang="en-US" sz="2400" dirty="0">
                <a:solidFill>
                  <a:srgbClr val="333333"/>
                </a:solidFill>
                <a:latin typeface="arial" panose="020B0604020202020204" pitchFamily="34" charset="0"/>
              </a:rPr>
              <a:t>的好坏在很大程度上决定着硬盘盘片的存储密度</a:t>
            </a:r>
            <a:r>
              <a:rPr lang="zh-CN" altLang="en-US" sz="2400" dirty="0" smtClean="0">
                <a:solidFill>
                  <a:srgbClr val="333333"/>
                </a:solidFill>
                <a:latin typeface="arial" panose="020B0604020202020204" pitchFamily="34" charset="0"/>
              </a:rPr>
              <a:t>。</a:t>
            </a:r>
            <a:endParaRPr lang="zh-CN" altLang="en-US" sz="2400" dirty="0"/>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19430" y="2601927"/>
            <a:ext cx="3443861" cy="2176387"/>
          </a:xfrm>
          <a:prstGeom prst="rect">
            <a:avLst/>
          </a:prstGeom>
        </p:spPr>
      </p:pic>
      <p:pic>
        <p:nvPicPr>
          <p:cNvPr id="819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24384" y="4713261"/>
            <a:ext cx="3741454" cy="2016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00384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1466</TotalTime>
  <Words>1049</Words>
  <Application>Microsoft Office PowerPoint</Application>
  <PresentationFormat>全屏显示(4:3)</PresentationFormat>
  <Paragraphs>89</Paragraphs>
  <Slides>16</Slides>
  <Notes>5</Notes>
  <HiddenSlides>3</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8" baseType="lpstr">
      <vt:lpstr>Heiti SC Light</vt:lpstr>
      <vt:lpstr>Microsoft Yahei</vt:lpstr>
      <vt:lpstr>SimHei</vt:lpstr>
      <vt:lpstr>SimHei</vt:lpstr>
      <vt:lpstr>楷体_GB2312</vt:lpstr>
      <vt:lpstr>宋体</vt:lpstr>
      <vt:lpstr>Arial</vt:lpstr>
      <vt:lpstr>Arial</vt:lpstr>
      <vt:lpstr>Calibri</vt:lpstr>
      <vt:lpstr>Times New Roman</vt:lpstr>
      <vt:lpstr>Office 主题​​</vt:lpstr>
      <vt:lpstr>Equation</vt:lpstr>
      <vt:lpstr>§19.10  磁介质</vt:lpstr>
      <vt:lpstr>PowerPoint 演示文稿</vt:lpstr>
      <vt:lpstr>PowerPoint 演示文稿</vt:lpstr>
      <vt:lpstr>PowerPoint 演示文稿</vt:lpstr>
      <vt:lpstr>PowerPoint 演示文稿</vt:lpstr>
      <vt:lpstr>PowerPoint 演示文稿</vt:lpstr>
      <vt:lpstr>单项选择题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hsl</cp:lastModifiedBy>
  <cp:revision>126</cp:revision>
  <cp:lastPrinted>2016-11-27T09:07:17Z</cp:lastPrinted>
  <dcterms:created xsi:type="dcterms:W3CDTF">2015-10-14T01:31:49Z</dcterms:created>
  <dcterms:modified xsi:type="dcterms:W3CDTF">2021-06-27T03:18:51Z</dcterms:modified>
</cp:coreProperties>
</file>