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activeX/activeX1.xml" ContentType="application/vnd.ms-office.activeX+xml"/>
  <Override PartName="/ppt/activeX/activeX1.bin" ContentType="application/vnd.ms-office.activeX"/>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323" r:id="rId2"/>
    <p:sldId id="309" r:id="rId3"/>
    <p:sldId id="310" r:id="rId4"/>
    <p:sldId id="311" r:id="rId5"/>
    <p:sldId id="312" r:id="rId6"/>
    <p:sldId id="313" r:id="rId7"/>
    <p:sldId id="314" r:id="rId8"/>
    <p:sldId id="315" r:id="rId9"/>
    <p:sldId id="316" r:id="rId10"/>
    <p:sldId id="317" r:id="rId11"/>
    <p:sldId id="318" r:id="rId12"/>
    <p:sldId id="308" r:id="rId13"/>
    <p:sldId id="301" r:id="rId14"/>
    <p:sldId id="277" r:id="rId15"/>
    <p:sldId id="279" r:id="rId16"/>
    <p:sldId id="268" r:id="rId17"/>
    <p:sldId id="269" r:id="rId18"/>
    <p:sldId id="270" r:id="rId19"/>
    <p:sldId id="284" r:id="rId20"/>
    <p:sldId id="303" r:id="rId21"/>
    <p:sldId id="319" r:id="rId22"/>
    <p:sldId id="271" r:id="rId23"/>
    <p:sldId id="297" r:id="rId24"/>
    <p:sldId id="298" r:id="rId25"/>
    <p:sldId id="302" r:id="rId26"/>
    <p:sldId id="320" r:id="rId27"/>
    <p:sldId id="272" r:id="rId28"/>
    <p:sldId id="307" r:id="rId29"/>
    <p:sldId id="282" r:id="rId30"/>
    <p:sldId id="304" r:id="rId31"/>
    <p:sldId id="321" r:id="rId32"/>
    <p:sldId id="283" r:id="rId33"/>
    <p:sldId id="286" r:id="rId34"/>
    <p:sldId id="287" r:id="rId35"/>
    <p:sldId id="288" r:id="rId36"/>
    <p:sldId id="274" r:id="rId37"/>
    <p:sldId id="289" r:id="rId38"/>
    <p:sldId id="300" r:id="rId39"/>
    <p:sldId id="293" r:id="rId40"/>
    <p:sldId id="299" r:id="rId41"/>
    <p:sldId id="294" r:id="rId42"/>
    <p:sldId id="295" r:id="rId43"/>
    <p:sldId id="306" r:id="rId44"/>
    <p:sldId id="322" r:id="rId45"/>
    <p:sldId id="305" r:id="rId46"/>
    <p:sldId id="291" r:id="rId47"/>
  </p:sldIdLst>
  <p:sldSz cx="13004800" cy="9753600"/>
  <p:notesSz cx="6858000" cy="9144000"/>
  <p:defaultTextStyle>
    <a:lvl1pPr algn="ctr" defTabSz="584200">
      <a:defRPr sz="3600">
        <a:latin typeface="+mn-lt"/>
        <a:ea typeface="+mn-ea"/>
        <a:cs typeface="+mn-cs"/>
        <a:sym typeface="Helvetica Light"/>
      </a:defRPr>
    </a:lvl1pPr>
    <a:lvl2pPr indent="228600" algn="ctr" defTabSz="584200">
      <a:defRPr sz="3600">
        <a:latin typeface="+mn-lt"/>
        <a:ea typeface="+mn-ea"/>
        <a:cs typeface="+mn-cs"/>
        <a:sym typeface="Helvetica Light"/>
      </a:defRPr>
    </a:lvl2pPr>
    <a:lvl3pPr indent="457200" algn="ctr" defTabSz="584200">
      <a:defRPr sz="3600">
        <a:latin typeface="+mn-lt"/>
        <a:ea typeface="+mn-ea"/>
        <a:cs typeface="+mn-cs"/>
        <a:sym typeface="Helvetica Light"/>
      </a:defRPr>
    </a:lvl3pPr>
    <a:lvl4pPr indent="685800" algn="ctr" defTabSz="584200">
      <a:defRPr sz="3600">
        <a:latin typeface="+mn-lt"/>
        <a:ea typeface="+mn-ea"/>
        <a:cs typeface="+mn-cs"/>
        <a:sym typeface="Helvetica Light"/>
      </a:defRPr>
    </a:lvl4pPr>
    <a:lvl5pPr indent="914400" algn="ctr" defTabSz="584200">
      <a:defRPr sz="3600">
        <a:latin typeface="+mn-lt"/>
        <a:ea typeface="+mn-ea"/>
        <a:cs typeface="+mn-cs"/>
        <a:sym typeface="Helvetica Light"/>
      </a:defRPr>
    </a:lvl5pPr>
    <a:lvl6pPr indent="1143000" algn="ctr" defTabSz="584200">
      <a:defRPr sz="3600">
        <a:latin typeface="+mn-lt"/>
        <a:ea typeface="+mn-ea"/>
        <a:cs typeface="+mn-cs"/>
        <a:sym typeface="Helvetica Light"/>
      </a:defRPr>
    </a:lvl6pPr>
    <a:lvl7pPr indent="1371600" algn="ctr" defTabSz="584200">
      <a:defRPr sz="3600">
        <a:latin typeface="+mn-lt"/>
        <a:ea typeface="+mn-ea"/>
        <a:cs typeface="+mn-cs"/>
        <a:sym typeface="Helvetica Light"/>
      </a:defRPr>
    </a:lvl7pPr>
    <a:lvl8pPr indent="1600200" algn="ctr" defTabSz="584200">
      <a:defRPr sz="3600">
        <a:latin typeface="+mn-lt"/>
        <a:ea typeface="+mn-ea"/>
        <a:cs typeface="+mn-cs"/>
        <a:sym typeface="Helvetica Light"/>
      </a:defRPr>
    </a:lvl8pPr>
    <a:lvl9pPr indent="1828800" algn="ctr" defTabSz="584200">
      <a:defRPr sz="3600">
        <a:latin typeface="+mn-lt"/>
        <a:ea typeface="+mn-ea"/>
        <a:cs typeface="+mn-cs"/>
        <a:sym typeface="Helvetica Light"/>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49" autoAdjust="0"/>
    <p:restoredTop sz="88724" autoAdjust="0"/>
  </p:normalViewPr>
  <p:slideViewPr>
    <p:cSldViewPr>
      <p:cViewPr varScale="1">
        <p:scale>
          <a:sx n="57" d="100"/>
          <a:sy n="57" d="100"/>
        </p:scale>
        <p:origin x="1806" y="72"/>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39" name="Shape 39"/>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621984043"/>
      </p:ext>
    </p:extLst>
  </p:cSld>
  <p:clrMap bg1="lt1" tx1="dk1" bg2="lt2" tx2="dk2" accent1="accent1" accent2="accent2" accent3="accent3" accent4="accent4" accent5="accent5" accent6="accent6" hlink="hlink" folHlink="folHlink"/>
  <p:notesStyle>
    <a:lvl1pPr defTabSz="457200">
      <a:lnSpc>
        <a:spcPct val="117999"/>
      </a:lnSpc>
      <a:defRPr sz="2200">
        <a:latin typeface="Helvetica Neue"/>
        <a:ea typeface="Helvetica Neue"/>
        <a:cs typeface="Helvetica Neue"/>
        <a:sym typeface="Helvetica Neue"/>
      </a:defRPr>
    </a:lvl1pPr>
    <a:lvl2pPr indent="228600" defTabSz="457200">
      <a:lnSpc>
        <a:spcPct val="117999"/>
      </a:lnSpc>
      <a:defRPr sz="2200">
        <a:latin typeface="Helvetica Neue"/>
        <a:ea typeface="Helvetica Neue"/>
        <a:cs typeface="Helvetica Neue"/>
        <a:sym typeface="Helvetica Neue"/>
      </a:defRPr>
    </a:lvl2pPr>
    <a:lvl3pPr indent="457200" defTabSz="457200">
      <a:lnSpc>
        <a:spcPct val="117999"/>
      </a:lnSpc>
      <a:defRPr sz="2200">
        <a:latin typeface="Helvetica Neue"/>
        <a:ea typeface="Helvetica Neue"/>
        <a:cs typeface="Helvetica Neue"/>
        <a:sym typeface="Helvetica Neue"/>
      </a:defRPr>
    </a:lvl3pPr>
    <a:lvl4pPr indent="685800" defTabSz="457200">
      <a:lnSpc>
        <a:spcPct val="117999"/>
      </a:lnSpc>
      <a:defRPr sz="2200">
        <a:latin typeface="Helvetica Neue"/>
        <a:ea typeface="Helvetica Neue"/>
        <a:cs typeface="Helvetica Neue"/>
        <a:sym typeface="Helvetica Neue"/>
      </a:defRPr>
    </a:lvl4pPr>
    <a:lvl5pPr indent="914400" defTabSz="457200">
      <a:lnSpc>
        <a:spcPct val="117999"/>
      </a:lnSpc>
      <a:defRPr sz="2200">
        <a:latin typeface="Helvetica Neue"/>
        <a:ea typeface="Helvetica Neue"/>
        <a:cs typeface="Helvetica Neue"/>
        <a:sym typeface="Helvetica Neue"/>
      </a:defRPr>
    </a:lvl5pPr>
    <a:lvl6pPr indent="1143000" defTabSz="457200">
      <a:lnSpc>
        <a:spcPct val="117999"/>
      </a:lnSpc>
      <a:defRPr sz="2200">
        <a:latin typeface="Helvetica Neue"/>
        <a:ea typeface="Helvetica Neue"/>
        <a:cs typeface="Helvetica Neue"/>
        <a:sym typeface="Helvetica Neue"/>
      </a:defRPr>
    </a:lvl6pPr>
    <a:lvl7pPr indent="1371600" defTabSz="457200">
      <a:lnSpc>
        <a:spcPct val="117999"/>
      </a:lnSpc>
      <a:defRPr sz="2200">
        <a:latin typeface="Helvetica Neue"/>
        <a:ea typeface="Helvetica Neue"/>
        <a:cs typeface="Helvetica Neue"/>
        <a:sym typeface="Helvetica Neue"/>
      </a:defRPr>
    </a:lvl7pPr>
    <a:lvl8pPr indent="1600200" defTabSz="457200">
      <a:lnSpc>
        <a:spcPct val="117999"/>
      </a:lnSpc>
      <a:defRPr sz="2200">
        <a:latin typeface="Helvetica Neue"/>
        <a:ea typeface="Helvetica Neue"/>
        <a:cs typeface="Helvetica Neue"/>
        <a:sym typeface="Helvetica Neue"/>
      </a:defRPr>
    </a:lvl8pPr>
    <a:lvl9pPr indent="1828800" defTabSz="45720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p:sp>
        <p:nvSpPr>
          <p:cNvPr id="3" name="备注占位符 2"/>
          <p:cNvSpPr>
            <a:spLocks noGrp="1"/>
          </p:cNvSpPr>
          <p:nvPr>
            <p:ph type="body" idx="1"/>
          </p:nvPr>
        </p:nvSpPr>
        <p:spPr/>
        <p:txBody>
          <a:bodyPr/>
          <a:lstStyle/>
          <a:p>
            <a:r>
              <a:rPr lang="zh-CN" altLang="en-US" dirty="0" smtClean="0"/>
              <a:t>大球壳外面电场为</a:t>
            </a:r>
            <a:r>
              <a:rPr lang="en-US" altLang="zh-CN" dirty="0" smtClean="0"/>
              <a:t>0</a:t>
            </a:r>
            <a:r>
              <a:rPr lang="zh-CN" altLang="en-US" dirty="0" smtClean="0"/>
              <a:t>（可根据高斯定理），小球外大球壳内表面内有电场，方向指向球心。</a:t>
            </a:r>
            <a:endParaRPr lang="zh-CN" altLang="en-US" dirty="0"/>
          </a:p>
        </p:txBody>
      </p:sp>
    </p:spTree>
    <p:extLst>
      <p:ext uri="{BB962C8B-B14F-4D97-AF65-F5344CB8AC3E}">
        <p14:creationId xmlns:p14="http://schemas.microsoft.com/office/powerpoint/2010/main" val="4257126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板外电场强度为零</a:t>
            </a:r>
          </a:p>
          <a:p>
            <a:endParaRPr lang="zh-CN" altLang="en-US"/>
          </a:p>
        </p:txBody>
      </p:sp>
    </p:spTree>
    <p:extLst>
      <p:ext uri="{BB962C8B-B14F-4D97-AF65-F5344CB8AC3E}">
        <p14:creationId xmlns:p14="http://schemas.microsoft.com/office/powerpoint/2010/main" val="2253212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8324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金属纤维</a:t>
            </a:r>
            <a:endParaRPr lang="zh-CN" altLang="en-US"/>
          </a:p>
        </p:txBody>
      </p:sp>
    </p:spTree>
    <p:extLst>
      <p:ext uri="{BB962C8B-B14F-4D97-AF65-F5344CB8AC3E}">
        <p14:creationId xmlns:p14="http://schemas.microsoft.com/office/powerpoint/2010/main" val="292352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200" b="0" i="0" dirty="0" smtClean="0">
                <a:effectLst/>
                <a:latin typeface="Helvetica Neue"/>
                <a:ea typeface="Helvetica Neue"/>
                <a:cs typeface="Helvetica Neue"/>
                <a:sym typeface="Helvetica Neue"/>
              </a:rPr>
              <a:t>晶体：具有规则几何外形的固体。</a:t>
            </a:r>
            <a:endParaRPr lang="en-US" altLang="zh-CN" sz="2200" b="0" i="0" dirty="0" smtClean="0">
              <a:effectLst/>
              <a:latin typeface="Helvetica Neue"/>
              <a:ea typeface="Helvetica Neue"/>
              <a:cs typeface="Helvetica Neue"/>
              <a:sym typeface="Helvetica Neue"/>
            </a:endParaRPr>
          </a:p>
          <a:p>
            <a:pPr>
              <a:lnSpc>
                <a:spcPct val="150000"/>
              </a:lnSpc>
            </a:pPr>
            <a:r>
              <a:rPr lang="zh-CN" altLang="en-US" sz="2400" b="1" dirty="0" smtClean="0">
                <a:solidFill>
                  <a:srgbClr val="FF0000"/>
                </a:solidFill>
              </a:rPr>
              <a:t>静电感应：</a:t>
            </a:r>
            <a:r>
              <a:rPr lang="zh-CN" altLang="en-US" sz="2400" dirty="0" smtClean="0"/>
              <a:t>将一个不带电的金属导体放入外电场</a:t>
            </a:r>
            <a:r>
              <a:rPr lang="en-US" altLang="zh-CN" sz="2400" dirty="0" smtClean="0"/>
              <a:t>E</a:t>
            </a:r>
            <a:r>
              <a:rPr lang="zh-CN" altLang="en-US" sz="2400" dirty="0" smtClean="0"/>
              <a:t>中，如图</a:t>
            </a:r>
            <a:r>
              <a:rPr lang="en-US" altLang="zh-CN" sz="2400" dirty="0" smtClean="0"/>
              <a:t>a</a:t>
            </a:r>
            <a:r>
              <a:rPr lang="zh-CN" altLang="en-US" sz="2400" dirty="0" smtClean="0"/>
              <a:t>所示</a:t>
            </a:r>
            <a:r>
              <a:rPr lang="en-US" altLang="zh-CN" sz="2400" dirty="0" smtClean="0"/>
              <a:t>,</a:t>
            </a:r>
            <a:r>
              <a:rPr lang="zh-CN" altLang="en-US" sz="2400" dirty="0" smtClean="0"/>
              <a:t>在电场力的作用下，导体内部的自由电子将逆着电场方向相对晶格作定向运动，结果引起导体中的正负电荷重新分布，使导体两端带上等量异号的电荷，这就是导体的静电感应现象。</a:t>
            </a:r>
            <a:endParaRPr lang="en-US" altLang="zh-CN" sz="2400" dirty="0" smtClean="0"/>
          </a:p>
          <a:p>
            <a:pPr>
              <a:lnSpc>
                <a:spcPct val="150000"/>
              </a:lnSpc>
            </a:pPr>
            <a:r>
              <a:rPr lang="zh-CN" altLang="en-US" sz="2400" b="1" dirty="0" smtClean="0">
                <a:solidFill>
                  <a:srgbClr val="FF0000"/>
                </a:solidFill>
              </a:rPr>
              <a:t>感应电荷</a:t>
            </a:r>
            <a:r>
              <a:rPr lang="zh-CN" altLang="en-US" sz="2400" dirty="0" smtClean="0"/>
              <a:t>：因静电感应而在导体出现的电荷称为感应电荷。这些电荷在导体内将激发附加电场</a:t>
            </a:r>
            <a:r>
              <a:rPr lang="en-US" altLang="zh-CN" sz="2400" dirty="0" smtClean="0"/>
              <a:t>E</a:t>
            </a:r>
            <a:r>
              <a:rPr lang="en-US" altLang="zh-CN" sz="2400" dirty="0" smtClean="0">
                <a:sym typeface="Symbol"/>
              </a:rPr>
              <a:t></a:t>
            </a:r>
            <a:r>
              <a:rPr lang="zh-CN" altLang="en-US" sz="2400" dirty="0" smtClean="0">
                <a:sym typeface="Symbol"/>
              </a:rPr>
              <a:t>，方向与外电场</a:t>
            </a:r>
            <a:r>
              <a:rPr lang="en-US" altLang="zh-CN" sz="2400" dirty="0" smtClean="0">
                <a:sym typeface="Symbol"/>
              </a:rPr>
              <a:t>E</a:t>
            </a:r>
            <a:r>
              <a:rPr lang="zh-CN" altLang="en-US" sz="2400" dirty="0" smtClean="0">
                <a:sym typeface="Symbol"/>
              </a:rPr>
              <a:t>的方向相反，如图</a:t>
            </a:r>
            <a:r>
              <a:rPr lang="en-US" altLang="zh-CN" sz="2400" dirty="0" smtClean="0">
                <a:sym typeface="Symbol"/>
              </a:rPr>
              <a:t>b.</a:t>
            </a:r>
            <a:r>
              <a:rPr lang="zh-CN" altLang="en-US" sz="2400" dirty="0" smtClean="0">
                <a:sym typeface="Symbol"/>
              </a:rPr>
              <a:t>随着该应电荷的不断积累，附加电场将不断增加，当附加电场与外电场的数值相等时，导体内部的任意一点的合场强</a:t>
            </a:r>
            <a:r>
              <a:rPr lang="en-US" altLang="zh-CN" sz="2400" dirty="0" err="1" smtClean="0">
                <a:sym typeface="Symbol"/>
              </a:rPr>
              <a:t>E</a:t>
            </a:r>
            <a:r>
              <a:rPr lang="en-US" altLang="zh-CN" sz="2400" baseline="-25000" dirty="0" err="1" smtClean="0">
                <a:sym typeface="Symbol"/>
              </a:rPr>
              <a:t>i</a:t>
            </a:r>
            <a:r>
              <a:rPr lang="en-US" altLang="zh-CN" sz="2400" dirty="0" smtClean="0">
                <a:sym typeface="Symbol"/>
              </a:rPr>
              <a:t>=</a:t>
            </a:r>
            <a:r>
              <a:rPr lang="en-US" altLang="zh-CN" sz="2400" dirty="0" smtClean="0"/>
              <a:t> E</a:t>
            </a:r>
            <a:r>
              <a:rPr lang="en-US" altLang="zh-CN" sz="2400" dirty="0" smtClean="0">
                <a:sym typeface="Symbol"/>
              </a:rPr>
              <a:t>+E=0,</a:t>
            </a:r>
            <a:r>
              <a:rPr lang="zh-CN" altLang="en-US" sz="2400" dirty="0" smtClean="0">
                <a:sym typeface="Symbol"/>
              </a:rPr>
              <a:t>如图</a:t>
            </a:r>
            <a:r>
              <a:rPr lang="en-US" altLang="zh-CN" sz="2400" dirty="0" smtClean="0">
                <a:sym typeface="Symbol"/>
              </a:rPr>
              <a:t>c,</a:t>
            </a:r>
            <a:r>
              <a:rPr lang="zh-CN" altLang="en-US" sz="2400" dirty="0" smtClean="0">
                <a:sym typeface="Symbol"/>
              </a:rPr>
              <a:t>这时，自由电子的定向运动将完全静止。</a:t>
            </a:r>
            <a:endParaRPr lang="en-US" altLang="zh-CN" sz="2400" dirty="0" smtClean="0">
              <a:sym typeface="Symbol"/>
            </a:endParaRPr>
          </a:p>
          <a:p>
            <a:pPr>
              <a:lnSpc>
                <a:spcPct val="150000"/>
              </a:lnSpc>
            </a:pPr>
            <a:r>
              <a:rPr lang="zh-CN" altLang="en-US" sz="2400" b="1" dirty="0" smtClean="0">
                <a:solidFill>
                  <a:srgbClr val="FF0000"/>
                </a:solidFill>
                <a:sym typeface="Symbol"/>
              </a:rPr>
              <a:t>静电平衡</a:t>
            </a:r>
            <a:r>
              <a:rPr lang="zh-CN" altLang="en-US" sz="2400" dirty="0" smtClean="0">
                <a:sym typeface="Symbol"/>
              </a:rPr>
              <a:t>：导体中没有电荷作任何定向运动的状态称为静电平衡状态。</a:t>
            </a:r>
            <a:endParaRPr lang="en-US" altLang="zh-CN" sz="2400" dirty="0" smtClean="0"/>
          </a:p>
          <a:p>
            <a:endParaRPr lang="zh-CN" altLang="en-US" dirty="0"/>
          </a:p>
        </p:txBody>
      </p:sp>
    </p:spTree>
    <p:extLst>
      <p:ext uri="{BB962C8B-B14F-4D97-AF65-F5344CB8AC3E}">
        <p14:creationId xmlns:p14="http://schemas.microsoft.com/office/powerpoint/2010/main" val="2527355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endParaRPr lang="zh-CN" altLang="en-US"/>
          </a:p>
        </p:txBody>
      </p:sp>
    </p:spTree>
    <p:extLst>
      <p:ext uri="{BB962C8B-B14F-4D97-AF65-F5344CB8AC3E}">
        <p14:creationId xmlns:p14="http://schemas.microsoft.com/office/powerpoint/2010/main" val="2328814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457200" rtl="0" eaLnBrk="1" fontAlgn="auto" latinLnBrk="0" hangingPunct="1">
              <a:lnSpc>
                <a:spcPct val="117999"/>
              </a:lnSpc>
              <a:spcBef>
                <a:spcPts val="0"/>
              </a:spcBef>
              <a:spcAft>
                <a:spcPts val="0"/>
              </a:spcAft>
              <a:buClrTx/>
              <a:buSzTx/>
              <a:buFontTx/>
              <a:buNone/>
              <a:tabLst/>
              <a:defRPr/>
            </a:pPr>
            <a:r>
              <a:rPr lang="zh-CN" altLang="en-US" smtClean="0">
                <a:solidFill>
                  <a:srgbClr val="000000"/>
                </a:solidFill>
              </a:rPr>
              <a:t>答案：</a:t>
            </a:r>
            <a:r>
              <a:rPr lang="en-US" altLang="zh-CN" smtClean="0">
                <a:solidFill>
                  <a:srgbClr val="000000"/>
                </a:solidFill>
              </a:rPr>
              <a:t>ABCD</a:t>
            </a:r>
          </a:p>
          <a:p>
            <a:endParaRPr lang="zh-CN" altLang="en-US"/>
          </a:p>
        </p:txBody>
      </p:sp>
    </p:spTree>
    <p:extLst>
      <p:ext uri="{BB962C8B-B14F-4D97-AF65-F5344CB8AC3E}">
        <p14:creationId xmlns:p14="http://schemas.microsoft.com/office/powerpoint/2010/main" val="1449733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400" b="1" dirty="0" smtClean="0">
                <a:latin typeface="黑体" pitchFamily="49" charset="-122"/>
                <a:ea typeface="黑体" pitchFamily="49" charset="-122"/>
                <a:cs typeface="Times New Roman" panose="02020603050405020304" pitchFamily="18" charset="0"/>
              </a:rPr>
              <a:t>-5</a:t>
            </a:r>
            <a:r>
              <a:rPr lang="el-GR" altLang="zh-CN" sz="2400" b="1" dirty="0" smtClean="0">
                <a:latin typeface="黑体" pitchFamily="49" charset="-122"/>
                <a:ea typeface="黑体" pitchFamily="49" charset="-122"/>
                <a:cs typeface="Times New Roman" panose="02020603050405020304" pitchFamily="18" charset="0"/>
              </a:rPr>
              <a:t>μ</a:t>
            </a:r>
            <a:r>
              <a:rPr lang="en-US" altLang="zh-CN" sz="2400" b="1" dirty="0" smtClean="0">
                <a:latin typeface="黑体" pitchFamily="49" charset="-122"/>
                <a:ea typeface="黑体" pitchFamily="49" charset="-122"/>
                <a:cs typeface="Times New Roman" panose="02020603050405020304" pitchFamily="18" charset="0"/>
              </a:rPr>
              <a:t>C</a:t>
            </a:r>
            <a:endParaRPr lang="zh-CN" altLang="en-US" dirty="0"/>
          </a:p>
        </p:txBody>
      </p:sp>
    </p:spTree>
    <p:extLst>
      <p:ext uri="{BB962C8B-B14F-4D97-AF65-F5344CB8AC3E}">
        <p14:creationId xmlns:p14="http://schemas.microsoft.com/office/powerpoint/2010/main" val="3117141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在凸面附近电场线发散，近表面处，</a:t>
            </a:r>
            <a:r>
              <a:rPr lang="en-US" altLang="zh-CN" dirty="0" smtClean="0"/>
              <a:t>E</a:t>
            </a:r>
            <a:r>
              <a:rPr lang="zh-CN" altLang="en-US" dirty="0" smtClean="0"/>
              <a:t>线密度越大，即</a:t>
            </a:r>
            <a:r>
              <a:rPr lang="en-US" altLang="zh-CN" dirty="0" smtClean="0"/>
              <a:t>E</a:t>
            </a:r>
            <a:r>
              <a:rPr lang="zh-CN" altLang="en-US" dirty="0" smtClean="0"/>
              <a:t>值越大；而在凹面附近，电场线汇聚，近表面处，</a:t>
            </a:r>
            <a:r>
              <a:rPr lang="en-US" altLang="zh-CN" dirty="0" smtClean="0"/>
              <a:t>E</a:t>
            </a:r>
            <a:r>
              <a:rPr lang="zh-CN" altLang="en-US" dirty="0" smtClean="0"/>
              <a:t>线密度小，</a:t>
            </a:r>
            <a:r>
              <a:rPr lang="en-US" altLang="zh-CN" dirty="0" smtClean="0"/>
              <a:t>E</a:t>
            </a:r>
            <a:r>
              <a:rPr lang="zh-CN" altLang="en-US" dirty="0" smtClean="0"/>
              <a:t>值小，反之，远表面处，</a:t>
            </a:r>
            <a:r>
              <a:rPr lang="en-US" altLang="zh-CN" dirty="0" smtClean="0"/>
              <a:t>E</a:t>
            </a:r>
            <a:r>
              <a:rPr lang="zh-CN" altLang="en-US" dirty="0" smtClean="0"/>
              <a:t>线密度大，</a:t>
            </a:r>
            <a:r>
              <a:rPr lang="en-US" altLang="zh-CN" dirty="0" smtClean="0"/>
              <a:t>E</a:t>
            </a:r>
            <a:r>
              <a:rPr lang="zh-CN" altLang="en-US" dirty="0" smtClean="0"/>
              <a:t>值大。</a:t>
            </a:r>
            <a:endParaRPr lang="en-US" altLang="zh-CN" dirty="0" smtClean="0"/>
          </a:p>
          <a:p>
            <a:r>
              <a:rPr lang="en-US" altLang="zh-CN" dirty="0" smtClean="0"/>
              <a:t>σ</a:t>
            </a:r>
            <a:r>
              <a:rPr lang="zh-CN" altLang="en-US" dirty="0" smtClean="0"/>
              <a:t>是希腊字母，英文表达</a:t>
            </a:r>
            <a:r>
              <a:rPr lang="en-US" altLang="zh-CN" dirty="0" smtClean="0"/>
              <a:t>sigma</a:t>
            </a:r>
            <a:r>
              <a:rPr lang="zh-CN" altLang="en-US" dirty="0" smtClean="0"/>
              <a:t>，汉语译音为“西格玛”。术语</a:t>
            </a:r>
            <a:r>
              <a:rPr lang="en-US" altLang="zh-CN" dirty="0" smtClean="0"/>
              <a:t>σ</a:t>
            </a:r>
            <a:r>
              <a:rPr lang="zh-CN" altLang="en-US" dirty="0" smtClean="0"/>
              <a:t>用来描述任一过程参数的平均值的分布或离散程度。</a:t>
            </a:r>
            <a:endParaRPr lang="zh-CN" altLang="en-US" dirty="0"/>
          </a:p>
        </p:txBody>
      </p:sp>
    </p:spTree>
    <p:extLst>
      <p:ext uri="{BB962C8B-B14F-4D97-AF65-F5344CB8AC3E}">
        <p14:creationId xmlns:p14="http://schemas.microsoft.com/office/powerpoint/2010/main" val="3271017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457200" rtl="0" eaLnBrk="1" fontAlgn="auto" latinLnBrk="0" hangingPunct="1">
              <a:lnSpc>
                <a:spcPct val="117999"/>
              </a:lnSpc>
              <a:spcBef>
                <a:spcPts val="0"/>
              </a:spcBef>
              <a:spcAft>
                <a:spcPts val="0"/>
              </a:spcAft>
              <a:buClrTx/>
              <a:buSzTx/>
              <a:buFontTx/>
              <a:buNone/>
              <a:tabLst/>
              <a:defRPr/>
            </a:pPr>
            <a:r>
              <a:rPr lang="zh-CN" altLang="en-US" smtClean="0">
                <a:solidFill>
                  <a:srgbClr val="000000"/>
                </a:solidFill>
              </a:rPr>
              <a:t>答案：</a:t>
            </a:r>
            <a:r>
              <a:rPr lang="en-US" altLang="zh-CN" smtClean="0">
                <a:solidFill>
                  <a:srgbClr val="000000"/>
                </a:solidFill>
              </a:rPr>
              <a:t>B</a:t>
            </a:r>
          </a:p>
          <a:p>
            <a:endParaRPr lang="zh-CN" altLang="en-US"/>
          </a:p>
        </p:txBody>
      </p:sp>
    </p:spTree>
    <p:extLst>
      <p:ext uri="{BB962C8B-B14F-4D97-AF65-F5344CB8AC3E}">
        <p14:creationId xmlns:p14="http://schemas.microsoft.com/office/powerpoint/2010/main" val="1449733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14458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在雷雨天气，高楼上空出现带电云层时，避雷针和高楼顶部都被感应上大量电荷，由于避雷针针头是尖的，所以静电感应时，导体尖端总是聚集了最多的电荷。</a:t>
            </a:r>
            <a:endParaRPr lang="en-US" altLang="zh-CN" dirty="0" smtClean="0"/>
          </a:p>
          <a:p>
            <a:r>
              <a:rPr lang="zh-CN" altLang="en-US" dirty="0" smtClean="0"/>
              <a:t>当避雷针与云层之间的空气被击穿，成为导体。这样，带电云层与避雷针形成通路，而避雷针又是接地的，避雷针就可以把云层上的电荷导入大地，使其不对高层建筑构成危险，保证了它的安全。</a:t>
            </a:r>
            <a:endParaRPr lang="zh-CN" altLang="en-US" dirty="0"/>
          </a:p>
        </p:txBody>
      </p:sp>
    </p:spTree>
    <p:extLst>
      <p:ext uri="{BB962C8B-B14F-4D97-AF65-F5344CB8AC3E}">
        <p14:creationId xmlns:p14="http://schemas.microsoft.com/office/powerpoint/2010/main" val="3542547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60947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当导体空腔内没有带电体时，处于静电平衡的带电导体空腔的内表面没有电荷分布。法拉第冰桶实验，验证空腔内无电荷。</a:t>
            </a:r>
          </a:p>
          <a:p>
            <a:endParaRPr lang="zh-CN" altLang="en-US"/>
          </a:p>
        </p:txBody>
      </p:sp>
    </p:spTree>
    <p:extLst>
      <p:ext uri="{BB962C8B-B14F-4D97-AF65-F5344CB8AC3E}">
        <p14:creationId xmlns:p14="http://schemas.microsoft.com/office/powerpoint/2010/main" val="4117990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40604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457200" rtl="0" eaLnBrk="1" fontAlgn="auto" latinLnBrk="0" hangingPunct="1">
              <a:lnSpc>
                <a:spcPct val="117999"/>
              </a:lnSpc>
              <a:spcBef>
                <a:spcPts val="0"/>
              </a:spcBef>
              <a:spcAft>
                <a:spcPts val="0"/>
              </a:spcAft>
              <a:buClrTx/>
              <a:buSzTx/>
              <a:buFontTx/>
              <a:buNone/>
              <a:tabLst/>
              <a:defRPr/>
            </a:pPr>
            <a:r>
              <a:rPr lang="zh-CN" altLang="en-US" smtClean="0">
                <a:solidFill>
                  <a:srgbClr val="000000"/>
                </a:solidFill>
              </a:rPr>
              <a:t>答案：</a:t>
            </a:r>
            <a:r>
              <a:rPr lang="en-US" altLang="zh-CN" smtClean="0">
                <a:solidFill>
                  <a:srgbClr val="000000"/>
                </a:solidFill>
              </a:rPr>
              <a:t>B</a:t>
            </a:r>
          </a:p>
          <a:p>
            <a:endParaRPr lang="zh-CN" altLang="en-US"/>
          </a:p>
        </p:txBody>
      </p:sp>
    </p:spTree>
    <p:extLst>
      <p:ext uri="{BB962C8B-B14F-4D97-AF65-F5344CB8AC3E}">
        <p14:creationId xmlns:p14="http://schemas.microsoft.com/office/powerpoint/2010/main" val="1449733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0</a:t>
            </a:r>
            <a:r>
              <a:rPr lang="zh-CN" altLang="en-US" dirty="0" smtClean="0"/>
              <a:t>，产生电场，但与球壳外表的电荷所产生电场在壳内相互抵消。</a:t>
            </a:r>
            <a:endParaRPr lang="zh-CN" altLang="en-US" dirty="0"/>
          </a:p>
        </p:txBody>
      </p:sp>
    </p:spTree>
    <p:extLst>
      <p:ext uri="{BB962C8B-B14F-4D97-AF65-F5344CB8AC3E}">
        <p14:creationId xmlns:p14="http://schemas.microsoft.com/office/powerpoint/2010/main" val="1050976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F4F2F81B-4B67-4C3D-B333-6B61FFEC3362}" type="slidenum">
              <a:rPr lang="en-US" altLang="zh-CN"/>
              <a:pPr/>
              <a:t>46</a:t>
            </a:fld>
            <a:endParaRPr lang="en-US" altLang="zh-CN"/>
          </a:p>
        </p:txBody>
      </p:sp>
      <p:sp>
        <p:nvSpPr>
          <p:cNvPr id="643074" name="Rectangle 2"/>
          <p:cNvSpPr>
            <a:spLocks noGrp="1" noRot="1" noChangeAspect="1" noChangeArrowheads="1" noTextEdit="1"/>
          </p:cNvSpPr>
          <p:nvPr>
            <p:ph type="sldImg"/>
          </p:nvPr>
        </p:nvSpPr>
        <p:spPr>
          <a:ln/>
        </p:spPr>
      </p:sp>
      <p:sp>
        <p:nvSpPr>
          <p:cNvPr id="643075" name="Rectangle 3"/>
          <p:cNvSpPr>
            <a:spLocks noGrp="1" noChangeArrowheads="1"/>
          </p:cNvSpPr>
          <p:nvPr>
            <p:ph type="body" idx="1"/>
          </p:nvPr>
        </p:nvSpPr>
        <p:spPr>
          <a:xfrm>
            <a:off x="914400" y="4343400"/>
            <a:ext cx="5029200" cy="4114800"/>
          </a:xfrm>
          <a:ln/>
        </p:spPr>
        <p:txBody>
          <a:bodyPr/>
          <a:lstStyle/>
          <a:p>
            <a:endParaRPr lang="zh-CN" altLang="zh-CN"/>
          </a:p>
        </p:txBody>
      </p:sp>
    </p:spTree>
    <p:extLst>
      <p:ext uri="{BB962C8B-B14F-4D97-AF65-F5344CB8AC3E}">
        <p14:creationId xmlns:p14="http://schemas.microsoft.com/office/powerpoint/2010/main" val="3653437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与副标题">
    <p:spTree>
      <p:nvGrpSpPr>
        <p:cNvPr id="1" name=""/>
        <p:cNvGrpSpPr/>
        <p:nvPr/>
      </p:nvGrpSpPr>
      <p:grpSpPr>
        <a:xfrm>
          <a:off x="0" y="0"/>
          <a:ext cx="0" cy="0"/>
          <a:chOff x="0" y="0"/>
          <a:chExt cx="0" cy="0"/>
        </a:xfrm>
      </p:grpSpPr>
      <p:sp>
        <p:nvSpPr>
          <p:cNvPr id="6" name="Shape 6"/>
          <p:cNvSpPr>
            <a:spLocks noGrp="1"/>
          </p:cNvSpPr>
          <p:nvPr>
            <p:ph type="title"/>
          </p:nvPr>
        </p:nvSpPr>
        <p:spPr>
          <a:xfrm>
            <a:off x="1270000" y="1638300"/>
            <a:ext cx="10464800" cy="3302000"/>
          </a:xfrm>
          <a:prstGeom prst="rect">
            <a:avLst/>
          </a:prstGeom>
        </p:spPr>
        <p:txBody>
          <a:bodyPr lIns="0" tIns="0" rIns="0" bIns="0" anchor="b"/>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7" name="Shape 7"/>
          <p:cNvSpPr>
            <a:spLocks noGrp="1"/>
          </p:cNvSpPr>
          <p:nvPr>
            <p:ph type="body" idx="1"/>
          </p:nvPr>
        </p:nvSpPr>
        <p:spPr>
          <a:xfrm>
            <a:off x="1270000" y="5029200"/>
            <a:ext cx="10464800" cy="11303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9" name="Shape 9"/>
          <p:cNvSpPr>
            <a:spLocks noGrp="1"/>
          </p:cNvSpPr>
          <p:nvPr>
            <p:ph type="title"/>
          </p:nvPr>
        </p:nvSpPr>
        <p:spPr>
          <a:xfrm>
            <a:off x="1270000" y="6718300"/>
            <a:ext cx="10464800" cy="1422400"/>
          </a:xfrm>
          <a:prstGeom prst="rect">
            <a:avLst/>
          </a:prstGeom>
        </p:spPr>
        <p:txBody>
          <a:bodyPr lIns="0" tIns="0" rIns="0" bIns="0" anchor="b"/>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10" name="Shape 10"/>
          <p:cNvSpPr>
            <a:spLocks noGrp="1"/>
          </p:cNvSpPr>
          <p:nvPr>
            <p:ph type="body" idx="1"/>
          </p:nvPr>
        </p:nvSpPr>
        <p:spPr>
          <a:xfrm>
            <a:off x="1270000" y="8191500"/>
            <a:ext cx="10464800" cy="11303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12" name="Shape 12"/>
          <p:cNvSpPr>
            <a:spLocks noGrp="1"/>
          </p:cNvSpPr>
          <p:nvPr>
            <p:ph type="title"/>
          </p:nvPr>
        </p:nvSpPr>
        <p:spPr>
          <a:xfrm>
            <a:off x="1270000" y="3225800"/>
            <a:ext cx="10464800" cy="3302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14" name="Shape 14"/>
          <p:cNvSpPr>
            <a:spLocks noGrp="1"/>
          </p:cNvSpPr>
          <p:nvPr>
            <p:ph type="title"/>
          </p:nvPr>
        </p:nvSpPr>
        <p:spPr>
          <a:xfrm>
            <a:off x="952500" y="635000"/>
            <a:ext cx="5334000" cy="3987800"/>
          </a:xfrm>
          <a:prstGeom prst="rect">
            <a:avLst/>
          </a:prstGeom>
        </p:spPr>
        <p:txBody>
          <a:bodyPr lIns="0" tIns="0" rIns="0" bIns="0" anchor="b"/>
          <a:lstStyle>
            <a:lvl1pPr algn="ctr" defTabSz="584200">
              <a:defRPr sz="6000">
                <a:solidFill>
                  <a:srgbClr val="000000"/>
                </a:solidFill>
                <a:latin typeface="+mn-lt"/>
                <a:ea typeface="+mn-ea"/>
                <a:cs typeface="+mn-cs"/>
                <a:sym typeface="Helvetica Light"/>
              </a:defRPr>
            </a:lvl1pPr>
          </a:lstStyle>
          <a:p>
            <a:pPr lvl="0">
              <a:defRPr sz="1800"/>
            </a:pPr>
            <a:r>
              <a:rPr sz="6000"/>
              <a:t>标题文本</a:t>
            </a:r>
          </a:p>
        </p:txBody>
      </p:sp>
      <p:sp>
        <p:nvSpPr>
          <p:cNvPr id="15" name="Shape 15"/>
          <p:cNvSpPr>
            <a:spLocks noGrp="1"/>
          </p:cNvSpPr>
          <p:nvPr>
            <p:ph type="body" idx="1"/>
          </p:nvPr>
        </p:nvSpPr>
        <p:spPr>
          <a:xfrm>
            <a:off x="952500" y="4762500"/>
            <a:ext cx="5334000" cy="41021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17" name="Shape 17"/>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19" name="Shape 19"/>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20" name="Shape 20"/>
          <p:cNvSpPr>
            <a:spLocks noGrp="1"/>
          </p:cNvSpPr>
          <p:nvPr>
            <p:ph type="body" idx="1"/>
          </p:nvPr>
        </p:nvSpPr>
        <p:spPr>
          <a:xfrm>
            <a:off x="952500" y="2603500"/>
            <a:ext cx="11099800" cy="6286500"/>
          </a:xfrm>
          <a:prstGeom prst="rect">
            <a:avLst/>
          </a:prstGeom>
        </p:spPr>
        <p:txBody>
          <a:bodyPr lIns="0" tIns="0" rIns="0" bIns="0" anchor="ctr">
            <a:normAutofit/>
          </a:bodyPr>
          <a:lstStyle>
            <a:lvl1pPr marL="444500" indent="-444500" defTabSz="584200">
              <a:spcBef>
                <a:spcPts val="4200"/>
              </a:spcBef>
              <a:buClrTx/>
              <a:buSzPct val="75000"/>
              <a:buFontTx/>
              <a:buChar char="•"/>
              <a:defRPr sz="3600">
                <a:latin typeface="+mn-lt"/>
                <a:ea typeface="+mn-ea"/>
                <a:cs typeface="+mn-cs"/>
                <a:sym typeface="Helvetica Light"/>
              </a:defRPr>
            </a:lvl1pPr>
            <a:lvl2pPr marL="889000" indent="-444500" defTabSz="584200">
              <a:spcBef>
                <a:spcPts val="4200"/>
              </a:spcBef>
              <a:buClrTx/>
              <a:buSzPct val="75000"/>
              <a:buFontTx/>
              <a:buChar char="•"/>
              <a:defRPr sz="3600">
                <a:latin typeface="+mn-lt"/>
                <a:ea typeface="+mn-ea"/>
                <a:cs typeface="+mn-cs"/>
                <a:sym typeface="Helvetica Light"/>
              </a:defRPr>
            </a:lvl2pPr>
            <a:lvl3pPr marL="1333500" indent="-444500" defTabSz="584200">
              <a:spcBef>
                <a:spcPts val="4200"/>
              </a:spcBef>
              <a:buClrTx/>
              <a:buSzPct val="75000"/>
              <a:buFontTx/>
              <a:buChar char="•"/>
              <a:defRPr sz="3600">
                <a:latin typeface="+mn-lt"/>
                <a:ea typeface="+mn-ea"/>
                <a:cs typeface="+mn-cs"/>
                <a:sym typeface="Helvetica Light"/>
              </a:defRPr>
            </a:lvl3pPr>
            <a:lvl4pPr marL="1778000" indent="-444500" defTabSz="584200">
              <a:spcBef>
                <a:spcPts val="4200"/>
              </a:spcBef>
              <a:buClrTx/>
              <a:buSzPct val="75000"/>
              <a:buFontTx/>
              <a:buChar char="•"/>
              <a:defRPr sz="3600">
                <a:latin typeface="+mn-lt"/>
                <a:ea typeface="+mn-ea"/>
                <a:cs typeface="+mn-cs"/>
                <a:sym typeface="Helvetica Light"/>
              </a:defRPr>
            </a:lvl4pPr>
            <a:lvl5pPr marL="2222500" indent="-444500" defTabSz="584200">
              <a:spcBef>
                <a:spcPts val="4200"/>
              </a:spcBef>
              <a:buClrTx/>
              <a:buFontTx/>
              <a:buChar char="•"/>
              <a:defRPr sz="3600">
                <a:latin typeface="+mn-lt"/>
                <a:ea typeface="+mn-ea"/>
                <a:cs typeface="+mn-cs"/>
                <a:sym typeface="Helvetica Light"/>
              </a:defRPr>
            </a:lvl5pPr>
          </a:lstStyle>
          <a:p>
            <a:pPr lvl="0">
              <a:defRPr sz="1800"/>
            </a:pPr>
            <a:r>
              <a:rPr sz="3600"/>
              <a:t>正文级别 1</a:t>
            </a:r>
          </a:p>
          <a:p>
            <a:pPr lvl="1">
              <a:defRPr sz="1800"/>
            </a:pPr>
            <a:r>
              <a:rPr sz="3600"/>
              <a:t>正文级别 2</a:t>
            </a:r>
          </a:p>
          <a:p>
            <a:pPr lvl="2">
              <a:defRPr sz="1800"/>
            </a:pPr>
            <a:r>
              <a:rPr sz="3600"/>
              <a:t>正文级别 3</a:t>
            </a:r>
          </a:p>
          <a:p>
            <a:pPr lvl="3">
              <a:defRPr sz="1800"/>
            </a:pPr>
            <a:r>
              <a:rPr sz="3600"/>
              <a:t>正文级别 4</a:t>
            </a:r>
          </a:p>
          <a:p>
            <a:pPr lvl="4">
              <a:defRPr sz="1800"/>
            </a:pPr>
            <a:r>
              <a:rPr sz="3600"/>
              <a:t>正文级别 5</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22" name="Shape 22"/>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23" name="Shape 23"/>
          <p:cNvSpPr>
            <a:spLocks noGrp="1"/>
          </p:cNvSpPr>
          <p:nvPr>
            <p:ph type="body" idx="1"/>
          </p:nvPr>
        </p:nvSpPr>
        <p:spPr>
          <a:xfrm>
            <a:off x="952500" y="2603500"/>
            <a:ext cx="5334000" cy="6286500"/>
          </a:xfrm>
          <a:prstGeom prst="rect">
            <a:avLst/>
          </a:prstGeom>
        </p:spPr>
        <p:txBody>
          <a:bodyPr lIns="0" tIns="0" rIns="0" bIns="0" anchor="ctr">
            <a:normAutofit/>
          </a:bodyPr>
          <a:lstStyle>
            <a:lvl1pPr marL="342900" indent="-342900" defTabSz="584200">
              <a:spcBef>
                <a:spcPts val="3200"/>
              </a:spcBef>
              <a:buClrTx/>
              <a:buSzPct val="75000"/>
              <a:buFontTx/>
              <a:buChar char="•"/>
              <a:defRPr sz="2800">
                <a:latin typeface="+mn-lt"/>
                <a:ea typeface="+mn-ea"/>
                <a:cs typeface="+mn-cs"/>
                <a:sym typeface="Helvetica Light"/>
              </a:defRPr>
            </a:lvl1pPr>
            <a:lvl2pPr marL="685800" indent="-342900" defTabSz="584200">
              <a:spcBef>
                <a:spcPts val="3200"/>
              </a:spcBef>
              <a:buClrTx/>
              <a:buSzPct val="75000"/>
              <a:buFontTx/>
              <a:buChar char="•"/>
              <a:defRPr sz="2800">
                <a:latin typeface="+mn-lt"/>
                <a:ea typeface="+mn-ea"/>
                <a:cs typeface="+mn-cs"/>
                <a:sym typeface="Helvetica Light"/>
              </a:defRPr>
            </a:lvl2pPr>
            <a:lvl3pPr marL="1028700" indent="-342900" defTabSz="584200">
              <a:spcBef>
                <a:spcPts val="3200"/>
              </a:spcBef>
              <a:buClrTx/>
              <a:buSzPct val="75000"/>
              <a:buFontTx/>
              <a:buChar char="•"/>
              <a:defRPr sz="2800">
                <a:latin typeface="+mn-lt"/>
                <a:ea typeface="+mn-ea"/>
                <a:cs typeface="+mn-cs"/>
                <a:sym typeface="Helvetica Light"/>
              </a:defRPr>
            </a:lvl3pPr>
            <a:lvl4pPr marL="1371600" indent="-342900" defTabSz="584200">
              <a:spcBef>
                <a:spcPts val="3200"/>
              </a:spcBef>
              <a:buClrTx/>
              <a:buSzPct val="75000"/>
              <a:buFontTx/>
              <a:buChar char="•"/>
              <a:defRPr sz="2800">
                <a:latin typeface="+mn-lt"/>
                <a:ea typeface="+mn-ea"/>
                <a:cs typeface="+mn-cs"/>
                <a:sym typeface="Helvetica Light"/>
              </a:defRPr>
            </a:lvl4pPr>
            <a:lvl5pPr marL="1714500" indent="-342900" defTabSz="584200">
              <a:spcBef>
                <a:spcPts val="3200"/>
              </a:spcBef>
              <a:buClrTx/>
              <a:buFontTx/>
              <a:buChar char="•"/>
              <a:defRPr sz="2800">
                <a:latin typeface="+mn-lt"/>
                <a:ea typeface="+mn-ea"/>
                <a:cs typeface="+mn-cs"/>
                <a:sym typeface="Helvetica Light"/>
              </a:defRPr>
            </a:lvl5pPr>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25" name="Shape 25"/>
          <p:cNvSpPr>
            <a:spLocks noGrp="1"/>
          </p:cNvSpPr>
          <p:nvPr>
            <p:ph type="body" idx="1"/>
          </p:nvPr>
        </p:nvSpPr>
        <p:spPr>
          <a:xfrm>
            <a:off x="952500" y="1270000"/>
            <a:ext cx="11099800" cy="7213600"/>
          </a:xfrm>
          <a:prstGeom prst="rect">
            <a:avLst/>
          </a:prstGeom>
        </p:spPr>
        <p:txBody>
          <a:bodyPr lIns="0" tIns="0" rIns="0" bIns="0" anchor="ctr">
            <a:normAutofit/>
          </a:bodyPr>
          <a:lstStyle>
            <a:lvl1pPr marL="444500" indent="-444500" defTabSz="584200">
              <a:spcBef>
                <a:spcPts val="4200"/>
              </a:spcBef>
              <a:buClrTx/>
              <a:buSzPct val="75000"/>
              <a:buFontTx/>
              <a:buChar char="•"/>
              <a:defRPr sz="3600">
                <a:latin typeface="+mn-lt"/>
                <a:ea typeface="+mn-ea"/>
                <a:cs typeface="+mn-cs"/>
                <a:sym typeface="Helvetica Light"/>
              </a:defRPr>
            </a:lvl1pPr>
            <a:lvl2pPr marL="889000" indent="-444500" defTabSz="584200">
              <a:spcBef>
                <a:spcPts val="4200"/>
              </a:spcBef>
              <a:buClrTx/>
              <a:buSzPct val="75000"/>
              <a:buFontTx/>
              <a:buChar char="•"/>
              <a:defRPr sz="3600">
                <a:latin typeface="+mn-lt"/>
                <a:ea typeface="+mn-ea"/>
                <a:cs typeface="+mn-cs"/>
                <a:sym typeface="Helvetica Light"/>
              </a:defRPr>
            </a:lvl2pPr>
            <a:lvl3pPr marL="1333500" indent="-444500" defTabSz="584200">
              <a:spcBef>
                <a:spcPts val="4200"/>
              </a:spcBef>
              <a:buClrTx/>
              <a:buSzPct val="75000"/>
              <a:buFontTx/>
              <a:buChar char="•"/>
              <a:defRPr sz="3600">
                <a:latin typeface="+mn-lt"/>
                <a:ea typeface="+mn-ea"/>
                <a:cs typeface="+mn-cs"/>
                <a:sym typeface="Helvetica Light"/>
              </a:defRPr>
            </a:lvl3pPr>
            <a:lvl4pPr marL="1778000" indent="-444500" defTabSz="584200">
              <a:spcBef>
                <a:spcPts val="4200"/>
              </a:spcBef>
              <a:buClrTx/>
              <a:buSzPct val="75000"/>
              <a:buFontTx/>
              <a:buChar char="•"/>
              <a:defRPr sz="3600">
                <a:latin typeface="+mn-lt"/>
                <a:ea typeface="+mn-ea"/>
                <a:cs typeface="+mn-cs"/>
                <a:sym typeface="Helvetica Light"/>
              </a:defRPr>
            </a:lvl4pPr>
            <a:lvl5pPr marL="2222500" indent="-444500" defTabSz="584200">
              <a:spcBef>
                <a:spcPts val="4200"/>
              </a:spcBef>
              <a:buClrTx/>
              <a:buFontTx/>
              <a:buChar char="•"/>
              <a:defRPr sz="3600">
                <a:latin typeface="+mn-lt"/>
                <a:ea typeface="+mn-ea"/>
                <a:cs typeface="+mn-cs"/>
                <a:sym typeface="Helvetica Light"/>
              </a:defRPr>
            </a:lvl5pPr>
          </a:lstStyle>
          <a:p>
            <a:pPr lvl="0">
              <a:defRPr sz="1800"/>
            </a:pPr>
            <a:r>
              <a:rPr sz="3600"/>
              <a:t>正文级别 1</a:t>
            </a:r>
          </a:p>
          <a:p>
            <a:pPr lvl="1">
              <a:defRPr sz="1800"/>
            </a:pPr>
            <a:r>
              <a:rPr sz="3600"/>
              <a:t>正文级别 2</a:t>
            </a:r>
          </a:p>
          <a:p>
            <a:pPr lvl="2">
              <a:defRPr sz="1800"/>
            </a:pPr>
            <a:r>
              <a:rPr sz="3600"/>
              <a:t>正文级别 3</a:t>
            </a:r>
          </a:p>
          <a:p>
            <a:pPr lvl="3">
              <a:defRPr sz="1800"/>
            </a:pPr>
            <a:r>
              <a:rPr sz="3600"/>
              <a:t>正文级别 4</a:t>
            </a:r>
          </a:p>
          <a:p>
            <a:pPr lvl="4">
              <a:defRPr sz="1800"/>
            </a:pPr>
            <a:r>
              <a:rPr sz="3600"/>
              <a:t>正文级别 5</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sp>
        <p:nvSpPr>
          <p:cNvPr id="35" name="Shape 35"/>
          <p:cNvSpPr>
            <a:spLocks noGrp="1"/>
          </p:cNvSpPr>
          <p:nvPr>
            <p:ph type="title"/>
          </p:nvPr>
        </p:nvSpPr>
        <p:spPr>
          <a:prstGeom prst="rect">
            <a:avLst/>
          </a:prstGeom>
        </p:spPr>
        <p:txBody>
          <a:bodyPr/>
          <a:lstStyle/>
          <a:p>
            <a:pPr lvl="0">
              <a:defRPr sz="1800">
                <a:solidFill>
                  <a:srgbClr val="000000"/>
                </a:solidFill>
              </a:defRPr>
            </a:pPr>
            <a:r>
              <a:rPr sz="4400">
                <a:solidFill>
                  <a:srgbClr val="006633"/>
                </a:solidFill>
              </a:rPr>
              <a:t>标题文本</a:t>
            </a:r>
          </a:p>
        </p:txBody>
      </p:sp>
      <p:sp>
        <p:nvSpPr>
          <p:cNvPr id="36" name="Shape 36"/>
          <p:cNvSpPr>
            <a:spLocks noGrp="1"/>
          </p:cNvSpPr>
          <p:nvPr>
            <p:ph type="body" idx="1"/>
          </p:nvPr>
        </p:nvSpPr>
        <p:spPr>
          <a:prstGeom prst="rect">
            <a:avLst/>
          </a:prstGeom>
        </p:spPr>
        <p:txBody>
          <a:bodyPr/>
          <a:lstStyle/>
          <a:p>
            <a:pPr lvl="0">
              <a:defRPr sz="1800"/>
            </a:pPr>
            <a:r>
              <a:rPr sz="3800"/>
              <a:t>正文级别 1</a:t>
            </a:r>
          </a:p>
          <a:p>
            <a:pPr lvl="1">
              <a:defRPr sz="1800"/>
            </a:pPr>
            <a:r>
              <a:rPr sz="3800"/>
              <a:t>正文级别 2</a:t>
            </a:r>
          </a:p>
          <a:p>
            <a:pPr lvl="2">
              <a:defRPr sz="1800"/>
            </a:pPr>
            <a:r>
              <a:rPr sz="3800"/>
              <a:t>正文级别 3</a:t>
            </a:r>
          </a:p>
          <a:p>
            <a:pPr lvl="3">
              <a:defRPr sz="1800"/>
            </a:pPr>
            <a:r>
              <a:rPr sz="3800"/>
              <a:t>正文级别 4</a:t>
            </a:r>
          </a:p>
          <a:p>
            <a:pPr lvl="4">
              <a:defRPr sz="1800"/>
            </a:pPr>
            <a:r>
              <a:rPr sz="3800"/>
              <a:t>正文级别 5</a:t>
            </a:r>
          </a:p>
        </p:txBody>
      </p:sp>
      <p:sp>
        <p:nvSpPr>
          <p:cNvPr id="37" name="Shape 37"/>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255130" y="9383325"/>
            <a:ext cx="3034453" cy="176107"/>
          </a:xfrm>
          <a:prstGeom prst="rect">
            <a:avLst/>
          </a:prstGeom>
        </p:spPr>
        <p:txBody>
          <a:bodyPr/>
          <a:lstStyle>
            <a:lvl1pPr>
              <a:defRPr/>
            </a:lvl1pPr>
          </a:lstStyle>
          <a:p>
            <a:endParaRPr lang="en-GB" altLang="zh-CN"/>
          </a:p>
        </p:txBody>
      </p:sp>
      <p:sp>
        <p:nvSpPr>
          <p:cNvPr id="5" name="页脚占位符 4"/>
          <p:cNvSpPr>
            <a:spLocks noGrp="1"/>
          </p:cNvSpPr>
          <p:nvPr>
            <p:ph type="ftr" sz="quarter" idx="11"/>
          </p:nvPr>
        </p:nvSpPr>
        <p:spPr>
          <a:xfrm>
            <a:off x="3429565" y="9383325"/>
            <a:ext cx="4118187" cy="176107"/>
          </a:xfrm>
          <a:prstGeom prst="rect">
            <a:avLst/>
          </a:prstGeom>
        </p:spPr>
        <p:txBody>
          <a:bodyPr/>
          <a:lstStyle>
            <a:lvl1pPr>
              <a:defRPr/>
            </a:lvl1pPr>
          </a:lstStyle>
          <a:p>
            <a:endParaRPr lang="en-GB" altLang="zh-CN"/>
          </a:p>
        </p:txBody>
      </p:sp>
      <p:sp>
        <p:nvSpPr>
          <p:cNvPr id="6" name="灯片编号占位符 5"/>
          <p:cNvSpPr>
            <a:spLocks noGrp="1"/>
          </p:cNvSpPr>
          <p:nvPr>
            <p:ph type="sldNum" sz="quarter" idx="12"/>
          </p:nvPr>
        </p:nvSpPr>
        <p:spPr>
          <a:xfrm>
            <a:off x="9320107" y="9040141"/>
            <a:ext cx="3034454" cy="654536"/>
          </a:xfrm>
        </p:spPr>
        <p:txBody>
          <a:bodyPr/>
          <a:lstStyle>
            <a:lvl1pPr>
              <a:defRPr/>
            </a:lvl1pPr>
          </a:lstStyle>
          <a:p>
            <a:fld id="{E0CC2F43-834A-4AEF-9E24-DAECFFCA6D7D}" type="slidenum">
              <a:rPr lang="zh-CN" altLang="en-GB"/>
              <a:pPr/>
              <a:t>‹#›</a:t>
            </a:fld>
            <a:endParaRPr lang="en-GB" altLang="zh-CN"/>
          </a:p>
        </p:txBody>
      </p:sp>
    </p:spTree>
    <p:extLst>
      <p:ext uri="{BB962C8B-B14F-4D97-AF65-F5344CB8AC3E}">
        <p14:creationId xmlns:p14="http://schemas.microsoft.com/office/powerpoint/2010/main" val="229940168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50240" y="377050"/>
            <a:ext cx="11704320" cy="796769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255130" y="9383325"/>
            <a:ext cx="3034453" cy="176107"/>
          </a:xfrm>
          <a:prstGeom prst="rect">
            <a:avLst/>
          </a:prstGeom>
        </p:spPr>
        <p:txBody>
          <a:bodyPr/>
          <a:lstStyle>
            <a:lvl1pPr>
              <a:defRPr/>
            </a:lvl1pPr>
          </a:lstStyle>
          <a:p>
            <a:endParaRPr lang="en-GB" altLang="zh-CN"/>
          </a:p>
        </p:txBody>
      </p:sp>
      <p:sp>
        <p:nvSpPr>
          <p:cNvPr id="4" name="页脚占位符 3"/>
          <p:cNvSpPr>
            <a:spLocks noGrp="1"/>
          </p:cNvSpPr>
          <p:nvPr>
            <p:ph type="ftr" sz="quarter" idx="11"/>
          </p:nvPr>
        </p:nvSpPr>
        <p:spPr>
          <a:xfrm>
            <a:off x="3429565" y="9383325"/>
            <a:ext cx="4118187" cy="176107"/>
          </a:xfrm>
          <a:prstGeom prst="rect">
            <a:avLst/>
          </a:prstGeom>
        </p:spPr>
        <p:txBody>
          <a:bodyPr/>
          <a:lstStyle>
            <a:lvl1pPr>
              <a:defRPr/>
            </a:lvl1pPr>
          </a:lstStyle>
          <a:p>
            <a:endParaRPr lang="en-GB" altLang="zh-CN"/>
          </a:p>
        </p:txBody>
      </p:sp>
      <p:sp>
        <p:nvSpPr>
          <p:cNvPr id="5" name="灯片编号占位符 4"/>
          <p:cNvSpPr>
            <a:spLocks noGrp="1"/>
          </p:cNvSpPr>
          <p:nvPr>
            <p:ph type="sldNum" sz="quarter" idx="12"/>
          </p:nvPr>
        </p:nvSpPr>
        <p:spPr>
          <a:xfrm>
            <a:off x="7730631" y="9383325"/>
            <a:ext cx="3034453" cy="654536"/>
          </a:xfrm>
        </p:spPr>
        <p:txBody>
          <a:bodyPr/>
          <a:lstStyle>
            <a:lvl1pPr>
              <a:defRPr/>
            </a:lvl1pPr>
          </a:lstStyle>
          <a:p>
            <a:fld id="{1B2C9991-0550-431B-983B-1FA5FBE0858F}" type="slidenum">
              <a:rPr lang="zh-CN" altLang="en-GB"/>
              <a:pPr/>
              <a:t>‹#›</a:t>
            </a:fld>
            <a:endParaRPr lang="en-GB" altLang="zh-CN"/>
          </a:p>
        </p:txBody>
      </p:sp>
    </p:spTree>
    <p:extLst>
      <p:ext uri="{BB962C8B-B14F-4D97-AF65-F5344CB8AC3E}">
        <p14:creationId xmlns:p14="http://schemas.microsoft.com/office/powerpoint/2010/main" val="111392282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255130" y="9383325"/>
            <a:ext cx="3034453" cy="176107"/>
          </a:xfrm>
          <a:prstGeom prst="rect">
            <a:avLst/>
          </a:prstGeom>
        </p:spPr>
        <p:txBody>
          <a:bodyPr/>
          <a:lstStyle>
            <a:lvl1pPr>
              <a:defRPr/>
            </a:lvl1pPr>
          </a:lstStyle>
          <a:p>
            <a:endParaRPr lang="en-GB" altLang="zh-CN"/>
          </a:p>
        </p:txBody>
      </p:sp>
      <p:sp>
        <p:nvSpPr>
          <p:cNvPr id="4" name="页脚占位符 3"/>
          <p:cNvSpPr>
            <a:spLocks noGrp="1"/>
          </p:cNvSpPr>
          <p:nvPr>
            <p:ph type="ftr" sz="quarter" idx="11"/>
          </p:nvPr>
        </p:nvSpPr>
        <p:spPr>
          <a:xfrm>
            <a:off x="3429565" y="9383325"/>
            <a:ext cx="4118187" cy="176107"/>
          </a:xfrm>
          <a:prstGeom prst="rect">
            <a:avLst/>
          </a:prstGeom>
        </p:spPr>
        <p:txBody>
          <a:bodyPr/>
          <a:lstStyle>
            <a:lvl1pPr>
              <a:defRPr/>
            </a:lvl1pPr>
          </a:lstStyle>
          <a:p>
            <a:endParaRPr lang="en-GB" altLang="zh-CN"/>
          </a:p>
        </p:txBody>
      </p:sp>
      <p:sp>
        <p:nvSpPr>
          <p:cNvPr id="5" name="灯片编号占位符 4"/>
          <p:cNvSpPr>
            <a:spLocks noGrp="1"/>
          </p:cNvSpPr>
          <p:nvPr>
            <p:ph type="sldNum" sz="quarter" idx="12"/>
          </p:nvPr>
        </p:nvSpPr>
        <p:spPr>
          <a:xfrm>
            <a:off x="9320107" y="9040141"/>
            <a:ext cx="3034454" cy="654536"/>
          </a:xfrm>
        </p:spPr>
        <p:txBody>
          <a:bodyPr/>
          <a:lstStyle>
            <a:lvl1pPr>
              <a:defRPr/>
            </a:lvl1pPr>
          </a:lstStyle>
          <a:p>
            <a:fld id="{382A73E4-9ED4-4416-9F64-FBA2C65FF798}" type="slidenum">
              <a:rPr lang="zh-CN" altLang="en-GB"/>
              <a:pPr/>
              <a:t>‹#›</a:t>
            </a:fld>
            <a:endParaRPr lang="en-GB" altLang="zh-CN"/>
          </a:p>
        </p:txBody>
      </p:sp>
    </p:spTree>
    <p:extLst>
      <p:ext uri="{BB962C8B-B14F-4D97-AF65-F5344CB8AC3E}">
        <p14:creationId xmlns:p14="http://schemas.microsoft.com/office/powerpoint/2010/main" val="362267870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a:fld id="{86CB4B4D-7CA3-9044-876B-883B54F8677D}" type="slidenum">
              <a:rPr lang="en-US" altLang="zh-CN" smtClean="0"/>
              <a:pPr lvl="0"/>
              <a:t>‹#›</a:t>
            </a:fld>
            <a:endParaRPr lang="en-US" altLang="zh-CN"/>
          </a:p>
        </p:txBody>
      </p:sp>
    </p:spTree>
    <p:extLst>
      <p:ext uri="{BB962C8B-B14F-4D97-AF65-F5344CB8AC3E}">
        <p14:creationId xmlns:p14="http://schemas.microsoft.com/office/powerpoint/2010/main" val="53423565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50239" y="390596"/>
            <a:ext cx="11704322" cy="1209040"/>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normAutofit/>
          </a:bodyPr>
          <a:lstStyle/>
          <a:p>
            <a:pPr lvl="0">
              <a:defRPr sz="1800">
                <a:solidFill>
                  <a:srgbClr val="000000"/>
                </a:solidFill>
              </a:defRPr>
            </a:pPr>
            <a:r>
              <a:rPr sz="4400">
                <a:solidFill>
                  <a:srgbClr val="006633"/>
                </a:solidFill>
              </a:rPr>
              <a:t>标题文本</a:t>
            </a:r>
          </a:p>
        </p:txBody>
      </p:sp>
      <p:sp>
        <p:nvSpPr>
          <p:cNvPr id="3" name="Shape 3"/>
          <p:cNvSpPr>
            <a:spLocks noGrp="1"/>
          </p:cNvSpPr>
          <p:nvPr>
            <p:ph type="body" idx="1"/>
          </p:nvPr>
        </p:nvSpPr>
        <p:spPr>
          <a:xfrm>
            <a:off x="650239" y="1599635"/>
            <a:ext cx="11704322" cy="8153966"/>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lstStyle/>
          <a:p>
            <a:pPr lvl="0">
              <a:defRPr sz="1800"/>
            </a:pPr>
            <a:r>
              <a:rPr sz="3800"/>
              <a:t>正文级别 1</a:t>
            </a:r>
          </a:p>
          <a:p>
            <a:pPr lvl="1">
              <a:defRPr sz="1800"/>
            </a:pPr>
            <a:r>
              <a:rPr sz="3800"/>
              <a:t>正文级别 2</a:t>
            </a:r>
          </a:p>
          <a:p>
            <a:pPr lvl="2">
              <a:defRPr sz="1800"/>
            </a:pPr>
            <a:r>
              <a:rPr sz="3800"/>
              <a:t>正文级别 3</a:t>
            </a:r>
          </a:p>
          <a:p>
            <a:pPr lvl="3">
              <a:defRPr sz="1800"/>
            </a:pPr>
            <a:r>
              <a:rPr sz="3800"/>
              <a:t>正文级别 4</a:t>
            </a:r>
          </a:p>
          <a:p>
            <a:pPr lvl="4">
              <a:defRPr sz="1800"/>
            </a:pPr>
            <a:r>
              <a:rPr sz="3800"/>
              <a:t>正文级别 5</a:t>
            </a:r>
          </a:p>
        </p:txBody>
      </p:sp>
      <p:sp>
        <p:nvSpPr>
          <p:cNvPr id="4" name="Shape 4"/>
          <p:cNvSpPr>
            <a:spLocks noGrp="1"/>
          </p:cNvSpPr>
          <p:nvPr>
            <p:ph type="sldNum" sz="quarter" idx="2"/>
          </p:nvPr>
        </p:nvSpPr>
        <p:spPr>
          <a:xfrm>
            <a:off x="9320107" y="9040141"/>
            <a:ext cx="3034454" cy="594306"/>
          </a:xfrm>
          <a:prstGeom prst="rect">
            <a:avLst/>
          </a:prstGeom>
          <a:ln w="12700">
            <a:miter lim="400000"/>
          </a:ln>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fld id="{86CB4B4D-7CA3-9044-876B-883B54F8677D}" type="slidenum">
              <a:rPr/>
              <a:pPr lvl="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Lst>
  <p:transition spd="med"/>
  <p:txStyles>
    <p:titleStyle>
      <a:lvl1pPr>
        <a:defRPr sz="4400">
          <a:solidFill>
            <a:srgbClr val="006633"/>
          </a:solidFill>
          <a:latin typeface="SimHei"/>
          <a:ea typeface="SimHei"/>
          <a:cs typeface="SimHei"/>
          <a:sym typeface="SimHei"/>
        </a:defRPr>
      </a:lvl1pPr>
      <a:lvl2pPr>
        <a:defRPr sz="4400">
          <a:solidFill>
            <a:srgbClr val="006633"/>
          </a:solidFill>
          <a:latin typeface="SimHei"/>
          <a:ea typeface="SimHei"/>
          <a:cs typeface="SimHei"/>
          <a:sym typeface="SimHei"/>
        </a:defRPr>
      </a:lvl2pPr>
      <a:lvl3pPr>
        <a:defRPr sz="4400">
          <a:solidFill>
            <a:srgbClr val="006633"/>
          </a:solidFill>
          <a:latin typeface="SimHei"/>
          <a:ea typeface="SimHei"/>
          <a:cs typeface="SimHei"/>
          <a:sym typeface="SimHei"/>
        </a:defRPr>
      </a:lvl3pPr>
      <a:lvl4pPr>
        <a:defRPr sz="4400">
          <a:solidFill>
            <a:srgbClr val="006633"/>
          </a:solidFill>
          <a:latin typeface="SimHei"/>
          <a:ea typeface="SimHei"/>
          <a:cs typeface="SimHei"/>
          <a:sym typeface="SimHei"/>
        </a:defRPr>
      </a:lvl4pPr>
      <a:lvl5pPr>
        <a:defRPr sz="4400">
          <a:solidFill>
            <a:srgbClr val="006633"/>
          </a:solidFill>
          <a:latin typeface="SimHei"/>
          <a:ea typeface="SimHei"/>
          <a:cs typeface="SimHei"/>
          <a:sym typeface="SimHei"/>
        </a:defRPr>
      </a:lvl5pPr>
      <a:lvl6pPr indent="457200">
        <a:defRPr sz="4400">
          <a:solidFill>
            <a:srgbClr val="006633"/>
          </a:solidFill>
          <a:latin typeface="SimHei"/>
          <a:ea typeface="SimHei"/>
          <a:cs typeface="SimHei"/>
          <a:sym typeface="SimHei"/>
        </a:defRPr>
      </a:lvl6pPr>
      <a:lvl7pPr indent="914400">
        <a:defRPr sz="4400">
          <a:solidFill>
            <a:srgbClr val="006633"/>
          </a:solidFill>
          <a:latin typeface="SimHei"/>
          <a:ea typeface="SimHei"/>
          <a:cs typeface="SimHei"/>
          <a:sym typeface="SimHei"/>
        </a:defRPr>
      </a:lvl7pPr>
      <a:lvl8pPr indent="1371600">
        <a:defRPr sz="4400">
          <a:solidFill>
            <a:srgbClr val="006633"/>
          </a:solidFill>
          <a:latin typeface="SimHei"/>
          <a:ea typeface="SimHei"/>
          <a:cs typeface="SimHei"/>
          <a:sym typeface="SimHei"/>
        </a:defRPr>
      </a:lvl8pPr>
      <a:lvl9pPr indent="1828800">
        <a:defRPr sz="4400">
          <a:solidFill>
            <a:srgbClr val="006633"/>
          </a:solidFill>
          <a:latin typeface="SimHei"/>
          <a:ea typeface="SimHei"/>
          <a:cs typeface="SimHei"/>
          <a:sym typeface="SimHei"/>
        </a:defRPr>
      </a:lvl9pPr>
    </p:titleStyle>
    <p:bodyStyle>
      <a:lvl1pPr marL="465364" indent="-465364">
        <a:spcBef>
          <a:spcPts val="600"/>
        </a:spcBef>
        <a:buClr>
          <a:srgbClr val="0000FF"/>
        </a:buClr>
        <a:buSzPct val="65000"/>
        <a:buFont typeface="Wingdings"/>
        <a:buChar char="➢"/>
        <a:defRPr sz="3800">
          <a:latin typeface="SimHei"/>
          <a:ea typeface="SimHei"/>
          <a:cs typeface="SimHei"/>
          <a:sym typeface="SimHei"/>
        </a:defRPr>
      </a:lvl1pPr>
      <a:lvl2pPr marL="909637" indent="-452437">
        <a:spcBef>
          <a:spcPts val="600"/>
        </a:spcBef>
        <a:buClr>
          <a:srgbClr val="0000FF"/>
        </a:buClr>
        <a:buSzPct val="60000"/>
        <a:buFont typeface="Wingdings"/>
        <a:buChar char="➢"/>
        <a:defRPr sz="3800">
          <a:latin typeface="SimHei"/>
          <a:ea typeface="SimHei"/>
          <a:cs typeface="SimHei"/>
          <a:sym typeface="SimHei"/>
        </a:defRPr>
      </a:lvl2pPr>
      <a:lvl3pPr marL="1348739" indent="-434339">
        <a:spcBef>
          <a:spcPts val="600"/>
        </a:spcBef>
        <a:buClr>
          <a:srgbClr val="0000FF"/>
        </a:buClr>
        <a:buSzPct val="65000"/>
        <a:buFont typeface="Wingdings"/>
        <a:buChar char="➢"/>
        <a:defRPr sz="3800">
          <a:latin typeface="SimHei"/>
          <a:ea typeface="SimHei"/>
          <a:cs typeface="SimHei"/>
          <a:sym typeface="SimHei"/>
        </a:defRPr>
      </a:lvl3pPr>
      <a:lvl4pPr marL="1624171" indent="-600234">
        <a:spcBef>
          <a:spcPts val="600"/>
        </a:spcBef>
        <a:buClr>
          <a:srgbClr val="0000FF"/>
        </a:buClr>
        <a:buSzPct val="70000"/>
        <a:buFont typeface="Wingdings"/>
        <a:buChar char="❑"/>
        <a:defRPr sz="3800">
          <a:latin typeface="SimHei"/>
          <a:ea typeface="SimHei"/>
          <a:cs typeface="SimHei"/>
          <a:sym typeface="SimHei"/>
        </a:defRPr>
      </a:lvl4pPr>
      <a:lvl5pPr marL="1986915" indent="-645477">
        <a:spcBef>
          <a:spcPts val="600"/>
        </a:spcBef>
        <a:buClr>
          <a:srgbClr val="0000FF"/>
        </a:buClr>
        <a:buSzPct val="75000"/>
        <a:buFont typeface="Wingdings"/>
        <a:buChar char="▪"/>
        <a:defRPr sz="3800">
          <a:latin typeface="SimHei"/>
          <a:ea typeface="SimHei"/>
          <a:cs typeface="SimHei"/>
          <a:sym typeface="SimHei"/>
        </a:defRPr>
      </a:lvl5pPr>
      <a:lvl6pPr marL="2444115" indent="-645477">
        <a:spcBef>
          <a:spcPts val="600"/>
        </a:spcBef>
        <a:buClr>
          <a:srgbClr val="0000FF"/>
        </a:buClr>
        <a:buSzPct val="75000"/>
        <a:buFont typeface="Wingdings"/>
        <a:buChar char="▪"/>
        <a:defRPr sz="3800">
          <a:latin typeface="SimHei"/>
          <a:ea typeface="SimHei"/>
          <a:cs typeface="SimHei"/>
          <a:sym typeface="SimHei"/>
        </a:defRPr>
      </a:lvl6pPr>
      <a:lvl7pPr marL="2901315" indent="-645477">
        <a:spcBef>
          <a:spcPts val="600"/>
        </a:spcBef>
        <a:buClr>
          <a:srgbClr val="0000FF"/>
        </a:buClr>
        <a:buSzPct val="75000"/>
        <a:buFont typeface="Wingdings"/>
        <a:buChar char="▪"/>
        <a:defRPr sz="3800">
          <a:latin typeface="SimHei"/>
          <a:ea typeface="SimHei"/>
          <a:cs typeface="SimHei"/>
          <a:sym typeface="SimHei"/>
        </a:defRPr>
      </a:lvl7pPr>
      <a:lvl8pPr marL="3358515" indent="-645477">
        <a:spcBef>
          <a:spcPts val="600"/>
        </a:spcBef>
        <a:buClr>
          <a:srgbClr val="0000FF"/>
        </a:buClr>
        <a:buSzPct val="75000"/>
        <a:buFont typeface="Wingdings"/>
        <a:buChar char="▪"/>
        <a:defRPr sz="3800">
          <a:latin typeface="SimHei"/>
          <a:ea typeface="SimHei"/>
          <a:cs typeface="SimHei"/>
          <a:sym typeface="SimHei"/>
        </a:defRPr>
      </a:lvl8pPr>
      <a:lvl9pPr marL="3815715" indent="-645477">
        <a:spcBef>
          <a:spcPts val="600"/>
        </a:spcBef>
        <a:buClr>
          <a:srgbClr val="0000FF"/>
        </a:buClr>
        <a:buSzPct val="75000"/>
        <a:buFont typeface="Wingdings"/>
        <a:buChar char="▪"/>
        <a:defRPr sz="3800">
          <a:latin typeface="SimHei"/>
          <a:ea typeface="SimHei"/>
          <a:cs typeface="SimHei"/>
          <a:sym typeface="SimHei"/>
        </a:defRPr>
      </a:lvl9pPr>
    </p:bodyStyle>
    <p:otherStyle>
      <a:lvl1pPr>
        <a:defRPr sz="3400">
          <a:solidFill>
            <a:schemeClr val="tx1"/>
          </a:solidFill>
          <a:latin typeface="+mn-lt"/>
          <a:ea typeface="+mn-ea"/>
          <a:cs typeface="+mn-cs"/>
          <a:sym typeface="Times New Roman"/>
        </a:defRPr>
      </a:lvl1pPr>
      <a:lvl2pPr indent="457200">
        <a:defRPr sz="3400">
          <a:solidFill>
            <a:schemeClr val="tx1"/>
          </a:solidFill>
          <a:latin typeface="+mn-lt"/>
          <a:ea typeface="+mn-ea"/>
          <a:cs typeface="+mn-cs"/>
          <a:sym typeface="Times New Roman"/>
        </a:defRPr>
      </a:lvl2pPr>
      <a:lvl3pPr indent="914400">
        <a:defRPr sz="3400">
          <a:solidFill>
            <a:schemeClr val="tx1"/>
          </a:solidFill>
          <a:latin typeface="+mn-lt"/>
          <a:ea typeface="+mn-ea"/>
          <a:cs typeface="+mn-cs"/>
          <a:sym typeface="Times New Roman"/>
        </a:defRPr>
      </a:lvl3pPr>
      <a:lvl4pPr indent="1371600">
        <a:defRPr sz="3400">
          <a:solidFill>
            <a:schemeClr val="tx1"/>
          </a:solidFill>
          <a:latin typeface="+mn-lt"/>
          <a:ea typeface="+mn-ea"/>
          <a:cs typeface="+mn-cs"/>
          <a:sym typeface="Times New Roman"/>
        </a:defRPr>
      </a:lvl4pPr>
      <a:lvl5pPr indent="1828800">
        <a:defRPr sz="3400">
          <a:solidFill>
            <a:schemeClr val="tx1"/>
          </a:solidFill>
          <a:latin typeface="+mn-lt"/>
          <a:ea typeface="+mn-ea"/>
          <a:cs typeface="+mn-cs"/>
          <a:sym typeface="Times New Roman"/>
        </a:defRPr>
      </a:lvl5pPr>
      <a:lvl6pPr indent="2286000">
        <a:defRPr sz="3400">
          <a:solidFill>
            <a:schemeClr val="tx1"/>
          </a:solidFill>
          <a:latin typeface="+mn-lt"/>
          <a:ea typeface="+mn-ea"/>
          <a:cs typeface="+mn-cs"/>
          <a:sym typeface="Times New Roman"/>
        </a:defRPr>
      </a:lvl6pPr>
      <a:lvl7pPr indent="2743200">
        <a:defRPr sz="3400">
          <a:solidFill>
            <a:schemeClr val="tx1"/>
          </a:solidFill>
          <a:latin typeface="+mn-lt"/>
          <a:ea typeface="+mn-ea"/>
          <a:cs typeface="+mn-cs"/>
          <a:sym typeface="Times New Roman"/>
        </a:defRPr>
      </a:lvl7pPr>
      <a:lvl8pPr indent="3200400">
        <a:defRPr sz="3400">
          <a:solidFill>
            <a:schemeClr val="tx1"/>
          </a:solidFill>
          <a:latin typeface="+mn-lt"/>
          <a:ea typeface="+mn-ea"/>
          <a:cs typeface="+mn-cs"/>
          <a:sym typeface="Times New Roman"/>
        </a:defRPr>
      </a:lvl8pPr>
      <a:lvl9pPr indent="3657600">
        <a:defRPr sz="3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png"/><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4.jpeg"/><Relationship Id="rId7" Type="http://schemas.openxmlformats.org/officeDocument/2006/relationships/image" Target="../media/image16.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27.gif"/><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31.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3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3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39.emf"/><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image" Target="../media/image38.emf"/><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32.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ontrol" Target="../activeX/activeX1.xml"/><Relationship Id="rId1" Type="http://schemas.openxmlformats.org/officeDocument/2006/relationships/vmlDrawing" Target="../drawings/vmlDrawing6.vml"/><Relationship Id="rId5" Type="http://schemas.openxmlformats.org/officeDocument/2006/relationships/image" Target="../media/image40.wmf"/><Relationship Id="rId4"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14.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image" Target="../media/image55.wmf"/><Relationship Id="rId4" Type="http://schemas.openxmlformats.org/officeDocument/2006/relationships/oleObject" Target="../embeddings/oleObject13.bin"/></Relationships>
</file>

<file path=ppt/slides/_rels/slide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1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32.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9" name="Group 669"/>
          <p:cNvGrpSpPr/>
          <p:nvPr/>
        </p:nvGrpSpPr>
        <p:grpSpPr>
          <a:xfrm>
            <a:off x="2029703" y="3852687"/>
            <a:ext cx="3191643" cy="2867523"/>
            <a:chOff x="0" y="-1"/>
            <a:chExt cx="2244123" cy="2016226"/>
          </a:xfrm>
        </p:grpSpPr>
        <p:sp>
          <p:nvSpPr>
            <p:cNvPr id="663" name="Shape 663"/>
            <p:cNvSpPr/>
            <p:nvPr/>
          </p:nvSpPr>
          <p:spPr>
            <a:xfrm>
              <a:off x="648071" y="288032"/>
              <a:ext cx="1596052" cy="15960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t">
              <a:noAutofit/>
            </a:bodyPr>
            <a:lstStyle/>
            <a:p>
              <a:pPr defTabSz="1300049"/>
              <a:endParaRPr sz="5120"/>
            </a:p>
          </p:txBody>
        </p:sp>
        <p:sp>
          <p:nvSpPr>
            <p:cNvPr id="664" name="Shape 664"/>
            <p:cNvSpPr/>
            <p:nvPr/>
          </p:nvSpPr>
          <p:spPr>
            <a:xfrm>
              <a:off x="0" y="-1"/>
              <a:ext cx="2016225" cy="20162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6A6A6"/>
            </a:solidFill>
            <a:ln w="25400" cap="flat">
              <a:solidFill>
                <a:srgbClr val="000000"/>
              </a:solidFill>
              <a:prstDash val="solid"/>
              <a:bevel/>
            </a:ln>
            <a:effectLst/>
          </p:spPr>
          <p:txBody>
            <a:bodyPr wrap="square" lIns="0" tIns="0" rIns="0" bIns="0" numCol="1" anchor="t">
              <a:noAutofit/>
            </a:bodyPr>
            <a:lstStyle/>
            <a:p>
              <a:pPr defTabSz="1300049"/>
              <a:endParaRPr sz="5120"/>
            </a:p>
          </p:txBody>
        </p:sp>
        <p:sp>
          <p:nvSpPr>
            <p:cNvPr id="665" name="Shape 665"/>
            <p:cNvSpPr/>
            <p:nvPr/>
          </p:nvSpPr>
          <p:spPr>
            <a:xfrm>
              <a:off x="255897" y="251648"/>
              <a:ext cx="1520554" cy="15205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25400" cap="flat">
              <a:solidFill>
                <a:srgbClr val="000000"/>
              </a:solidFill>
              <a:prstDash val="solid"/>
              <a:bevel/>
            </a:ln>
            <a:effectLst/>
          </p:spPr>
          <p:txBody>
            <a:bodyPr wrap="square" lIns="0" tIns="0" rIns="0" bIns="0" numCol="1" anchor="t">
              <a:noAutofit/>
            </a:bodyPr>
            <a:lstStyle/>
            <a:p>
              <a:pPr defTabSz="1300049"/>
              <a:endParaRPr sz="5120"/>
            </a:p>
          </p:txBody>
        </p:sp>
        <p:grpSp>
          <p:nvGrpSpPr>
            <p:cNvPr id="668" name="Group 668"/>
            <p:cNvGrpSpPr/>
            <p:nvPr/>
          </p:nvGrpSpPr>
          <p:grpSpPr>
            <a:xfrm>
              <a:off x="761135" y="764379"/>
              <a:ext cx="510079" cy="510078"/>
              <a:chOff x="0" y="0"/>
              <a:chExt cx="510077" cy="510077"/>
            </a:xfrm>
          </p:grpSpPr>
          <p:sp>
            <p:nvSpPr>
              <p:cNvPr id="666" name="Shape 666"/>
              <p:cNvSpPr/>
              <p:nvPr/>
            </p:nvSpPr>
            <p:spPr>
              <a:xfrm>
                <a:off x="0" y="0"/>
                <a:ext cx="510077" cy="51007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C9900"/>
              </a:solidFill>
              <a:ln w="25400" cap="flat">
                <a:solidFill>
                  <a:srgbClr val="957000"/>
                </a:solidFill>
                <a:prstDash val="solid"/>
                <a:bevel/>
              </a:ln>
              <a:effectLst/>
            </p:spPr>
            <p:txBody>
              <a:bodyPr wrap="square" lIns="0" tIns="0" rIns="0" bIns="0" numCol="1" anchor="t">
                <a:noAutofit/>
              </a:bodyPr>
              <a:lstStyle/>
              <a:p>
                <a:pPr defTabSz="1300049"/>
                <a:endParaRPr sz="5120"/>
              </a:p>
            </p:txBody>
          </p:sp>
          <p:sp>
            <p:nvSpPr>
              <p:cNvPr id="667" name="Shape 667"/>
              <p:cNvSpPr/>
              <p:nvPr/>
            </p:nvSpPr>
            <p:spPr>
              <a:xfrm>
                <a:off x="7329" y="0"/>
                <a:ext cx="322261" cy="3693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p>
                <a:pPr lvl="0">
                  <a:defRPr sz="1800"/>
                </a:pPr>
                <a:r>
                  <a:rPr sz="2560"/>
                  <a:t>-Q</a:t>
                </a:r>
              </a:p>
            </p:txBody>
          </p:sp>
        </p:grpSp>
      </p:grpSp>
      <p:sp>
        <p:nvSpPr>
          <p:cNvPr id="670" name="Shape 670"/>
          <p:cNvSpPr/>
          <p:nvPr/>
        </p:nvSpPr>
        <p:spPr>
          <a:xfrm>
            <a:off x="460589" y="1189991"/>
            <a:ext cx="12288906" cy="1969664"/>
          </a:xfrm>
          <a:prstGeom prst="rect">
            <a:avLst/>
          </a:prstGeom>
          <a:ln w="12700">
            <a:miter lim="400000"/>
          </a:ln>
          <a:extLst>
            <a:ext uri="{C572A759-6A51-4108-AA02-DFA0A04FC94B}">
              <ma14:wrappingTextBoxFlag xmlns:ma14="http://schemas.microsoft.com/office/mac/drawingml/2011/main" xmlns="" val="1"/>
            </a:ext>
          </a:extLst>
        </p:spPr>
        <p:txBody>
          <a:bodyPr wrap="square" lIns="65001" tIns="65003" rIns="65001" bIns="65003">
            <a:spAutoFit/>
          </a:bodyPr>
          <a:lstStyle/>
          <a:p>
            <a:pPr lvl="0">
              <a:defRPr sz="1800"/>
            </a:pPr>
            <a:r>
              <a:rPr sz="3982" b="1" dirty="0">
                <a:latin typeface="SimHei"/>
                <a:ea typeface="SimHei"/>
                <a:cs typeface="SimHei"/>
                <a:sym typeface="SimHei"/>
              </a:rPr>
              <a:t>一个半径为</a:t>
            </a:r>
            <a:r>
              <a:rPr sz="3982" b="1" dirty="0">
                <a:latin typeface="Arial"/>
                <a:ea typeface="Arial"/>
                <a:cs typeface="Arial"/>
                <a:sym typeface="Arial"/>
              </a:rPr>
              <a:t>R,</a:t>
            </a:r>
            <a:r>
              <a:rPr sz="3982" b="1" dirty="0">
                <a:latin typeface="SimHei"/>
                <a:ea typeface="SimHei"/>
                <a:cs typeface="SimHei"/>
                <a:sym typeface="SimHei"/>
              </a:rPr>
              <a:t>带电量为</a:t>
            </a:r>
            <a:r>
              <a:rPr sz="3982" b="1" dirty="0">
                <a:latin typeface="Arial"/>
                <a:ea typeface="Arial"/>
                <a:cs typeface="Arial"/>
                <a:sym typeface="Arial"/>
              </a:rPr>
              <a:t>+Q</a:t>
            </a:r>
            <a:r>
              <a:rPr sz="3982" b="1" dirty="0">
                <a:latin typeface="SimHei"/>
                <a:ea typeface="SimHei"/>
                <a:cs typeface="SimHei"/>
                <a:sym typeface="SimHei"/>
              </a:rPr>
              <a:t>的薄金属球壳，电荷均匀的分布于外表面。将一个带</a:t>
            </a:r>
            <a:r>
              <a:rPr sz="3982" b="1" dirty="0">
                <a:latin typeface="Arial"/>
                <a:ea typeface="Arial"/>
                <a:cs typeface="Arial"/>
                <a:sym typeface="Arial"/>
              </a:rPr>
              <a:t>-Q</a:t>
            </a:r>
            <a:r>
              <a:rPr sz="3982" b="1" dirty="0">
                <a:latin typeface="SimHei"/>
                <a:ea typeface="SimHei"/>
                <a:cs typeface="SimHei"/>
                <a:sym typeface="SimHei"/>
              </a:rPr>
              <a:t>的点电荷放在球壳中心。</a:t>
            </a:r>
            <a:r>
              <a:rPr sz="3982" b="1" dirty="0" err="1">
                <a:latin typeface="SimHei"/>
                <a:ea typeface="SimHei"/>
                <a:cs typeface="SimHei"/>
                <a:sym typeface="SimHei"/>
              </a:rPr>
              <a:t>画出以上情况的电场线</a:t>
            </a:r>
            <a:r>
              <a:rPr sz="3982" b="1" dirty="0">
                <a:latin typeface="SimHei"/>
                <a:ea typeface="SimHei"/>
                <a:cs typeface="SimHei"/>
                <a:sym typeface="SimHei"/>
              </a:rPr>
              <a:t>：</a:t>
            </a:r>
          </a:p>
        </p:txBody>
      </p:sp>
      <p:sp>
        <p:nvSpPr>
          <p:cNvPr id="671" name="Shape 671"/>
          <p:cNvSpPr/>
          <p:nvPr/>
        </p:nvSpPr>
        <p:spPr>
          <a:xfrm>
            <a:off x="460588" y="268677"/>
            <a:ext cx="5222241" cy="744072"/>
          </a:xfrm>
          <a:prstGeom prst="rect">
            <a:avLst/>
          </a:prstGeom>
          <a:ln w="12700">
            <a:miter lim="400000"/>
          </a:ln>
          <a:extLst>
            <a:ext uri="{C572A759-6A51-4108-AA02-DFA0A04FC94B}">
              <ma14:wrappingTextBoxFlag xmlns:ma14="http://schemas.microsoft.com/office/mac/drawingml/2011/main" xmlns="" val="1"/>
            </a:ext>
          </a:extLst>
        </p:spPr>
        <p:txBody>
          <a:bodyPr lIns="65001" tIns="65003" rIns="65001" bIns="65003">
            <a:spAutoFit/>
          </a:bodyPr>
          <a:lstStyle>
            <a:lvl1pPr>
              <a:spcBef>
                <a:spcPts val="1400"/>
              </a:spcBef>
              <a:defRPr>
                <a:solidFill>
                  <a:srgbClr val="0000CC"/>
                </a:solidFill>
                <a:latin typeface="SimHei"/>
                <a:ea typeface="SimHei"/>
                <a:cs typeface="SimHei"/>
                <a:sym typeface="SimHei"/>
              </a:defRPr>
            </a:lvl1pPr>
          </a:lstStyle>
          <a:p>
            <a:pPr lvl="0">
              <a:defRPr sz="1800">
                <a:solidFill>
                  <a:srgbClr val="000000"/>
                </a:solidFill>
              </a:defRPr>
            </a:pPr>
            <a:r>
              <a:rPr sz="3982" b="1" dirty="0" err="1"/>
              <a:t>思考题</a:t>
            </a:r>
            <a:endParaRPr sz="3982" b="1"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9280" y="3906404"/>
            <a:ext cx="3277164" cy="3277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504607" y="3683857"/>
            <a:ext cx="871269" cy="76155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en-US" altLang="zh-CN" sz="3413" b="1">
                <a:solidFill>
                  <a:srgbClr val="000000"/>
                </a:solidFill>
                <a:latin typeface="Times New Roman"/>
                <a:ea typeface="Times New Roman"/>
                <a:cs typeface="Times New Roman"/>
                <a:sym typeface="Times New Roman"/>
              </a:rPr>
              <a:t>+Q</a:t>
            </a:r>
            <a:endParaRPr lang="zh-CN" altLang="en-US" sz="3413" b="1">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04151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52"/>
          <p:cNvSpPr/>
          <p:nvPr/>
        </p:nvSpPr>
        <p:spPr>
          <a:xfrm>
            <a:off x="408759" y="279485"/>
            <a:ext cx="11521444" cy="831596"/>
          </a:xfrm>
          <a:prstGeom prst="rect">
            <a:avLst/>
          </a:prstGeom>
          <a:ln w="12700">
            <a:miter lim="400000"/>
          </a:ln>
          <a:extLst>
            <a:ext uri="{C572A759-6A51-4108-AA02-DFA0A04FC94B}">
              <ma14:wrappingTextBoxFlag xmlns:ma14="http://schemas.microsoft.com/office/mac/drawingml/2011/main" xmlns="" val="1"/>
            </a:ext>
          </a:extLst>
        </p:spPr>
        <p:txBody>
          <a:bodyPr lIns="65001" tIns="65003" rIns="65001" bIns="65003">
            <a:spAutoFit/>
          </a:bodyPr>
          <a:lstStyle/>
          <a:p>
            <a:pPr lvl="0">
              <a:defRPr sz="1800"/>
            </a:pPr>
            <a:r>
              <a:rPr sz="4551" b="1" dirty="0">
                <a:solidFill>
                  <a:srgbClr val="0000CC"/>
                </a:solidFill>
                <a:latin typeface="宋体" panose="02010600030101010101" pitchFamily="2" charset="-122"/>
                <a:ea typeface="宋体" panose="02010600030101010101" pitchFamily="2" charset="-122"/>
                <a:cs typeface="SimHei"/>
                <a:sym typeface="SimHei"/>
              </a:rPr>
              <a:t>§</a:t>
            </a:r>
            <a:r>
              <a:rPr lang="en-US" sz="4551" b="1" dirty="0">
                <a:solidFill>
                  <a:srgbClr val="0000CC"/>
                </a:solidFill>
                <a:latin typeface="宋体" panose="02010600030101010101" pitchFamily="2" charset="-122"/>
                <a:ea typeface="宋体" panose="02010600030101010101" pitchFamily="2" charset="-122"/>
                <a:cs typeface="SimHei"/>
                <a:sym typeface="SimHei"/>
              </a:rPr>
              <a:t>16</a:t>
            </a:r>
            <a:r>
              <a:rPr sz="4551" b="1" dirty="0">
                <a:solidFill>
                  <a:srgbClr val="0000CC"/>
                </a:solidFill>
                <a:latin typeface="宋体" panose="02010600030101010101" pitchFamily="2" charset="-122"/>
                <a:ea typeface="宋体" panose="02010600030101010101" pitchFamily="2" charset="-122"/>
                <a:cs typeface="SimHei"/>
                <a:sym typeface="SimHei"/>
              </a:rPr>
              <a:t>.</a:t>
            </a:r>
            <a:r>
              <a:rPr lang="en-US" sz="4551" b="1" dirty="0">
                <a:solidFill>
                  <a:srgbClr val="0000CC"/>
                </a:solidFill>
                <a:latin typeface="宋体" panose="02010600030101010101" pitchFamily="2" charset="-122"/>
                <a:ea typeface="宋体" panose="02010600030101010101" pitchFamily="2" charset="-122"/>
                <a:cs typeface="SimHei"/>
                <a:sym typeface="SimHei"/>
              </a:rPr>
              <a:t>5</a:t>
            </a:r>
            <a:r>
              <a:rPr sz="4551" b="1" dirty="0">
                <a:solidFill>
                  <a:srgbClr val="0000CC"/>
                </a:solidFill>
                <a:latin typeface="宋体" panose="02010600030101010101" pitchFamily="2" charset="-122"/>
                <a:ea typeface="宋体" panose="02010600030101010101" pitchFamily="2" charset="-122"/>
                <a:cs typeface="SimHei"/>
                <a:sym typeface="SimHei"/>
              </a:rPr>
              <a:t>  </a:t>
            </a:r>
            <a:r>
              <a:rPr lang="zh-CN" altLang="en-US" sz="4551" b="1" dirty="0">
                <a:solidFill>
                  <a:srgbClr val="0000CC"/>
                </a:solidFill>
                <a:latin typeface="宋体" panose="02010600030101010101" pitchFamily="2" charset="-122"/>
                <a:ea typeface="宋体" panose="02010600030101010101" pitchFamily="2" charset="-122"/>
                <a:cs typeface="SimHei"/>
                <a:sym typeface="SimHei"/>
              </a:rPr>
              <a:t>均匀电场中点电荷的运动</a:t>
            </a:r>
            <a:endParaRPr sz="4551" b="1" dirty="0">
              <a:solidFill>
                <a:srgbClr val="0000CC"/>
              </a:solidFill>
              <a:latin typeface="宋体" panose="02010600030101010101" pitchFamily="2" charset="-122"/>
              <a:ea typeface="宋体" panose="02010600030101010101" pitchFamily="2" charset="-122"/>
              <a:cs typeface="SimHei"/>
              <a:sym typeface="SimHei"/>
            </a:endParaRPr>
          </a:p>
        </p:txBody>
      </p:sp>
      <p:sp>
        <p:nvSpPr>
          <p:cNvPr id="3" name="TextBox 2"/>
          <p:cNvSpPr txBox="1"/>
          <p:nvPr/>
        </p:nvSpPr>
        <p:spPr>
          <a:xfrm>
            <a:off x="786473" y="1239904"/>
            <a:ext cx="11454068" cy="7468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rtl="0" latinLnBrk="1" hangingPunct="0"/>
            <a:r>
              <a:rPr lang="zh-CN" altLang="en-US" sz="4000" b="1" dirty="0">
                <a:solidFill>
                  <a:srgbClr val="000000"/>
                </a:solidFill>
              </a:rPr>
              <a:t>在匀强电</a:t>
            </a:r>
            <a:r>
              <a:rPr lang="zh-CN" altLang="en-US" sz="4000" b="1" dirty="0" smtClean="0">
                <a:solidFill>
                  <a:srgbClr val="000000"/>
                </a:solidFill>
              </a:rPr>
              <a:t>场中</a:t>
            </a:r>
            <a:r>
              <a:rPr lang="zh-CN" altLang="en-US" sz="4000" b="1" dirty="0">
                <a:solidFill>
                  <a:srgbClr val="000000"/>
                </a:solidFill>
              </a:rPr>
              <a:t>，一个</a:t>
            </a:r>
            <a:r>
              <a:rPr lang="zh-CN" altLang="en-US" sz="4000" b="1" dirty="0" smtClean="0">
                <a:solidFill>
                  <a:srgbClr val="000000"/>
                </a:solidFill>
              </a:rPr>
              <a:t>点电荷</a:t>
            </a:r>
            <a:r>
              <a:rPr lang="en-US" altLang="zh-CN" sz="4000" b="1" i="1" dirty="0" smtClean="0">
                <a:solidFill>
                  <a:srgbClr val="000000"/>
                </a:solidFill>
              </a:rPr>
              <a:t>q</a:t>
            </a:r>
            <a:r>
              <a:rPr lang="zh-CN" altLang="en-US" sz="4000" b="1" i="1" dirty="0" smtClean="0">
                <a:solidFill>
                  <a:srgbClr val="000000"/>
                </a:solidFill>
              </a:rPr>
              <a:t>受</a:t>
            </a:r>
            <a:r>
              <a:rPr lang="zh-CN" altLang="en-US" sz="4000" b="1" dirty="0" smtClean="0">
                <a:solidFill>
                  <a:srgbClr val="000000"/>
                </a:solidFill>
              </a:rPr>
              <a:t>到</a:t>
            </a:r>
            <a:r>
              <a:rPr lang="zh-CN" altLang="en-US" sz="4000" b="1" dirty="0">
                <a:solidFill>
                  <a:srgbClr val="000000"/>
                </a:solidFill>
              </a:rPr>
              <a:t>的电场力为</a:t>
            </a:r>
          </a:p>
        </p:txBody>
      </p:sp>
      <p:graphicFrame>
        <p:nvGraphicFramePr>
          <p:cNvPr id="6" name="对象 5"/>
          <p:cNvGraphicFramePr>
            <a:graphicFrameLocks noChangeAspect="1"/>
          </p:cNvGraphicFramePr>
          <p:nvPr>
            <p:extLst/>
          </p:nvPr>
        </p:nvGraphicFramePr>
        <p:xfrm>
          <a:off x="4975636" y="2141039"/>
          <a:ext cx="1891914" cy="921702"/>
        </p:xfrm>
        <a:graphic>
          <a:graphicData uri="http://schemas.openxmlformats.org/presentationml/2006/ole">
            <mc:AlternateContent xmlns:mc="http://schemas.openxmlformats.org/markup-compatibility/2006">
              <mc:Choice xmlns:v="urn:schemas-microsoft-com:vml" Requires="v">
                <p:oleObj spid="_x0000_s6211" name="Equation" r:id="rId3" imgW="495000" imgH="241200" progId="Equation.DSMT4">
                  <p:embed/>
                </p:oleObj>
              </mc:Choice>
              <mc:Fallback>
                <p:oleObj name="Equation" r:id="rId3" imgW="495000" imgH="24120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636" y="2141039"/>
                        <a:ext cx="1891914" cy="921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696960" y="4046690"/>
            <a:ext cx="11515808" cy="136237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zh-CN" altLang="en-US" sz="4000" b="1" dirty="0">
                <a:solidFill>
                  <a:srgbClr val="000000"/>
                </a:solidFill>
              </a:rPr>
              <a:t>若该力是点电荷受到的唯一作用力，则点电荷加速度为</a:t>
            </a:r>
          </a:p>
        </p:txBody>
      </p:sp>
      <p:graphicFrame>
        <p:nvGraphicFramePr>
          <p:cNvPr id="1028" name="Object 4"/>
          <p:cNvGraphicFramePr>
            <a:graphicFrameLocks noChangeAspect="1"/>
          </p:cNvGraphicFramePr>
          <p:nvPr>
            <p:extLst/>
          </p:nvPr>
        </p:nvGraphicFramePr>
        <p:xfrm>
          <a:off x="4044528" y="5286445"/>
          <a:ext cx="2959947" cy="1598507"/>
        </p:xfrm>
        <a:graphic>
          <a:graphicData uri="http://schemas.openxmlformats.org/presentationml/2006/ole">
            <mc:AlternateContent xmlns:mc="http://schemas.openxmlformats.org/markup-compatibility/2006">
              <mc:Choice xmlns:v="urn:schemas-microsoft-com:vml" Requires="v">
                <p:oleObj spid="_x0000_s6212" name="Equation" r:id="rId5" imgW="774360" imgH="419040" progId="Equation.DSMT4">
                  <p:embed/>
                </p:oleObj>
              </mc:Choice>
              <mc:Fallback>
                <p:oleObj name="Equation" r:id="rId5" imgW="774360" imgH="419040" progId="Equation.DSMT4">
                  <p:embed/>
                  <p:pic>
                    <p:nvPicPr>
                      <p:cNvPr id="102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4528" y="5286445"/>
                        <a:ext cx="2959947" cy="15985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3" name="TextBox 12"/>
              <p:cNvSpPr txBox="1"/>
              <p:nvPr/>
            </p:nvSpPr>
            <p:spPr>
              <a:xfrm>
                <a:off x="696960" y="2818711"/>
                <a:ext cx="9114613" cy="123879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r>
                  <a:rPr lang="zh-CN" altLang="en-US" sz="4400" b="1" dirty="0">
                    <a:solidFill>
                      <a:srgbClr val="000000"/>
                    </a:solidFill>
                  </a:rPr>
                  <a:t>牛顿第二定律：</a:t>
                </a:r>
                <a14:m>
                  <m:oMath xmlns:m="http://schemas.openxmlformats.org/officeDocument/2006/math">
                    <m:nary>
                      <m:naryPr>
                        <m:chr m:val="∑"/>
                        <m:subHide m:val="on"/>
                        <m:supHide m:val="on"/>
                        <m:ctrlPr>
                          <a:rPr lang="zh-CN" altLang="en-US" sz="4400" b="1" i="1">
                            <a:solidFill>
                              <a:srgbClr val="000000"/>
                            </a:solidFill>
                            <a:latin typeface="Cambria Math" panose="02040503050406030204" pitchFamily="18" charset="0"/>
                          </a:rPr>
                        </m:ctrlPr>
                      </m:naryPr>
                      <m:sub/>
                      <m:sup/>
                      <m:e>
                        <m:r>
                          <a:rPr lang="en-US" altLang="zh-CN" sz="4400" b="1" i="1">
                            <a:solidFill>
                              <a:srgbClr val="000000"/>
                            </a:solidFill>
                            <a:latin typeface="Cambria Math"/>
                          </a:rPr>
                          <m:t>𝑭</m:t>
                        </m:r>
                        <m:r>
                          <a:rPr lang="en-US" altLang="zh-CN" sz="4400" b="1" i="1">
                            <a:solidFill>
                              <a:srgbClr val="000000"/>
                            </a:solidFill>
                            <a:latin typeface="Cambria Math"/>
                          </a:rPr>
                          <m:t>=</m:t>
                        </m:r>
                        <m:r>
                          <a:rPr lang="en-US" altLang="zh-CN" sz="4400" b="1" i="1">
                            <a:solidFill>
                              <a:srgbClr val="000000"/>
                            </a:solidFill>
                            <a:latin typeface="Cambria Math"/>
                          </a:rPr>
                          <m:t>𝒎𝒂</m:t>
                        </m:r>
                      </m:e>
                    </m:nary>
                  </m:oMath>
                </a14:m>
                <a:endParaRPr lang="zh-CN" altLang="en-US" sz="2800" b="1" dirty="0">
                  <a:solidFill>
                    <a:srgbClr val="000000"/>
                  </a:solidFill>
                  <a:sym typeface="Times New Roman"/>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696960" y="2818711"/>
                <a:ext cx="9114613" cy="1238799"/>
              </a:xfrm>
              <a:prstGeom prst="rect">
                <a:avLst/>
              </a:prstGeom>
              <a:blipFill>
                <a:blip r:embed="rId7"/>
                <a:stretch>
                  <a:fillRect l="-3008" b="-12745"/>
                </a:stretch>
              </a:blipFill>
              <a:ln w="12700" cap="flat">
                <a:noFill/>
                <a:miter lim="400000"/>
              </a:ln>
              <a:effectLst/>
            </p:spPr>
            <p:txBody>
              <a:bodyPr/>
              <a:lstStyle/>
              <a:p>
                <a:r>
                  <a:rPr lang="zh-CN" altLang="en-US">
                    <a:noFill/>
                  </a:rPr>
                  <a:t> </a:t>
                </a:r>
              </a:p>
            </p:txBody>
          </p:sp>
        </mc:Fallback>
      </mc:AlternateContent>
      <p:sp>
        <p:nvSpPr>
          <p:cNvPr id="4" name="TextBox 3"/>
          <p:cNvSpPr txBox="1"/>
          <p:nvPr/>
        </p:nvSpPr>
        <p:spPr>
          <a:xfrm>
            <a:off x="696960" y="7027439"/>
            <a:ext cx="11233243" cy="146091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b="1" dirty="0">
                <a:solidFill>
                  <a:srgbClr val="000000"/>
                </a:solidFill>
                <a:latin typeface="Times New Roman"/>
                <a:ea typeface="Times New Roman"/>
                <a:cs typeface="Times New Roman"/>
                <a:sym typeface="Times New Roman"/>
              </a:rPr>
              <a:t>如果除了匀强电场对点电荷的作用力外再无其他力，那么</a:t>
            </a:r>
            <a:r>
              <a:rPr lang="zh-CN" altLang="en-US" b="1" dirty="0">
                <a:solidFill>
                  <a:srgbClr val="FF0000"/>
                </a:solidFill>
                <a:latin typeface="Times New Roman"/>
                <a:ea typeface="Times New Roman"/>
                <a:cs typeface="Times New Roman"/>
                <a:sym typeface="Times New Roman"/>
              </a:rPr>
              <a:t>加速度就为常数</a:t>
            </a:r>
            <a:r>
              <a:rPr lang="zh-CN" altLang="en-US" b="1" dirty="0">
                <a:solidFill>
                  <a:srgbClr val="000000"/>
                </a:solidFill>
                <a:latin typeface="Times New Roman"/>
                <a:ea typeface="Times New Roman"/>
                <a:cs typeface="Times New Roman"/>
                <a:sym typeface="Times New Roman"/>
              </a:rPr>
              <a:t>。</a:t>
            </a:r>
          </a:p>
        </p:txBody>
      </p:sp>
    </p:spTree>
    <p:extLst>
      <p:ext uri="{BB962C8B-B14F-4D97-AF65-F5344CB8AC3E}">
        <p14:creationId xmlns:p14="http://schemas.microsoft.com/office/powerpoint/2010/main" val="237015579"/>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7230" y="1254251"/>
            <a:ext cx="11982131" cy="21069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r>
              <a:rPr lang="zh-CN" altLang="en-US" sz="4551" dirty="0">
                <a:solidFill>
                  <a:srgbClr val="000000"/>
                </a:solidFill>
                <a:latin typeface="黑体" pitchFamily="49" charset="-122"/>
                <a:ea typeface="黑体" pitchFamily="49" charset="-122"/>
                <a:sym typeface="Times New Roman"/>
              </a:rPr>
              <a:t>“无限大”带电平面所激发的电场强度与离平面的距离无关，即在平面两侧形成一均匀场</a:t>
            </a:r>
            <a:r>
              <a:rPr lang="en-US" altLang="zh-CN" sz="4551" dirty="0">
                <a:solidFill>
                  <a:srgbClr val="000000"/>
                </a:solidFill>
                <a:latin typeface="黑体" pitchFamily="49" charset="-122"/>
                <a:ea typeface="黑体" pitchFamily="49" charset="-122"/>
                <a:sym typeface="Times New Roman"/>
              </a:rPr>
              <a:t>.</a:t>
            </a:r>
            <a:endParaRPr lang="zh-CN" altLang="en-US" sz="4551" dirty="0">
              <a:solidFill>
                <a:srgbClr val="000000"/>
              </a:solidFill>
              <a:latin typeface="黑体" pitchFamily="49" charset="-122"/>
              <a:ea typeface="黑体" pitchFamily="49" charset="-122"/>
              <a:sym typeface="Times New Roman"/>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792" y="4012704"/>
            <a:ext cx="9462347" cy="424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TextBox 2"/>
              <p:cNvSpPr txBox="1"/>
              <p:nvPr/>
            </p:nvSpPr>
            <p:spPr>
              <a:xfrm>
                <a:off x="7654528" y="3796680"/>
                <a:ext cx="3072341" cy="14699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14:m>
                  <m:oMathPara xmlns:m="http://schemas.openxmlformats.org/officeDocument/2006/math">
                    <m:oMathParaPr>
                      <m:jc m:val="centerGroup"/>
                    </m:oMathParaPr>
                    <m:oMath xmlns:m="http://schemas.openxmlformats.org/officeDocument/2006/math">
                      <m:r>
                        <a:rPr lang="zh-CN" altLang="en-US" sz="4400" b="1" i="1">
                          <a:solidFill>
                            <a:srgbClr val="FF0000"/>
                          </a:solidFill>
                          <a:latin typeface="Cambria Math"/>
                        </a:rPr>
                        <m:t>𝝈</m:t>
                      </m:r>
                      <m:r>
                        <a:rPr lang="en-US" altLang="zh-CN" sz="4400" b="1" i="1">
                          <a:solidFill>
                            <a:srgbClr val="FF0000"/>
                          </a:solidFill>
                          <a:latin typeface="Cambria Math"/>
                        </a:rPr>
                        <m:t>:</m:t>
                      </m:r>
                      <m:r>
                        <a:rPr lang="zh-CN" altLang="en-US" sz="4400" b="1" i="1">
                          <a:solidFill>
                            <a:srgbClr val="FF0000"/>
                          </a:solidFill>
                          <a:latin typeface="Cambria Math"/>
                        </a:rPr>
                        <m:t>平面上的电荷面密度</m:t>
                      </m:r>
                    </m:oMath>
                  </m:oMathPara>
                </a14:m>
                <a:endParaRPr lang="en-US" altLang="zh-CN" sz="4400" b="1" dirty="0">
                  <a:solidFill>
                    <a:srgbClr val="FF00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7654528" y="3796680"/>
                <a:ext cx="3072341" cy="1469952"/>
              </a:xfrm>
              <a:prstGeom prst="rect">
                <a:avLst/>
              </a:prstGeom>
              <a:blipFill>
                <a:blip r:embed="rId3"/>
                <a:stretch>
                  <a:fillRect r="-64881"/>
                </a:stretch>
              </a:blipFill>
              <a:ln w="12700" cap="flat">
                <a:noFill/>
                <a:miter lim="400000"/>
              </a:ln>
              <a:effectLst/>
            </p:spPr>
            <p:txBody>
              <a:bodyPr/>
              <a:lstStyle/>
              <a:p>
                <a:r>
                  <a:rPr lang="zh-CN" altLang="en-US">
                    <a:noFill/>
                  </a:rPr>
                  <a:t> </a:t>
                </a:r>
              </a:p>
            </p:txBody>
          </p:sp>
        </mc:Fallback>
      </mc:AlternateContent>
      <p:sp>
        <p:nvSpPr>
          <p:cNvPr id="4" name="TextBox 3"/>
          <p:cNvSpPr txBox="1"/>
          <p:nvPr/>
        </p:nvSpPr>
        <p:spPr>
          <a:xfrm>
            <a:off x="707230" y="307458"/>
            <a:ext cx="10338317" cy="83163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r>
              <a:rPr lang="zh-CN" altLang="en-US" sz="4551" b="1" dirty="0">
                <a:solidFill>
                  <a:srgbClr val="0000CC"/>
                </a:solidFill>
              </a:rPr>
              <a:t>单个“无限大” 带电</a:t>
            </a:r>
            <a:r>
              <a:rPr lang="zh-CN" altLang="en-US" sz="4551" b="1" dirty="0">
                <a:solidFill>
                  <a:srgbClr val="0000CC"/>
                </a:solidFill>
                <a:latin typeface="Times New Roman"/>
                <a:ea typeface="Times New Roman"/>
                <a:cs typeface="Times New Roman"/>
                <a:sym typeface="Times New Roman"/>
              </a:rPr>
              <a:t>平面所激发的电场</a:t>
            </a:r>
          </a:p>
        </p:txBody>
      </p:sp>
    </p:spTree>
    <p:extLst>
      <p:ext uri="{BB962C8B-B14F-4D97-AF65-F5344CB8AC3E}">
        <p14:creationId xmlns:p14="http://schemas.microsoft.com/office/powerpoint/2010/main" val="2955695138"/>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4696" y="493007"/>
            <a:ext cx="11704320" cy="1209041"/>
          </a:xfrm>
        </p:spPr>
        <p:txBody>
          <a:bodyPr/>
          <a:lstStyle/>
          <a:p>
            <a:r>
              <a:rPr lang="zh-CN" altLang="en-US" b="1" dirty="0" smtClean="0">
                <a:solidFill>
                  <a:srgbClr val="0000CC"/>
                </a:solidFill>
              </a:rPr>
              <a:t>带有等量异号的平行金属板所产生的电场</a:t>
            </a:r>
            <a:endParaRPr lang="zh-CN" altLang="en-US" b="1" dirty="0">
              <a:solidFill>
                <a:srgbClr val="0000CC"/>
              </a:solidFill>
            </a:endParaRPr>
          </a:p>
        </p:txBody>
      </p:sp>
      <p:pic>
        <p:nvPicPr>
          <p:cNvPr id="4" name="Picture 3" descr="gia12141_16_38"/>
          <p:cNvPicPr>
            <a:picLocks noChangeAspect="1" noChangeArrowheads="1"/>
          </p:cNvPicPr>
          <p:nvPr/>
        </p:nvPicPr>
        <p:blipFill>
          <a:blip r:embed="rId3" cstate="print"/>
          <a:srcRect b="6090"/>
          <a:stretch>
            <a:fillRect/>
          </a:stretch>
        </p:blipFill>
        <p:spPr bwMode="auto">
          <a:xfrm>
            <a:off x="202944" y="1680176"/>
            <a:ext cx="7168796" cy="4121489"/>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5" name="TextBox 4"/>
              <p:cNvSpPr txBox="1"/>
              <p:nvPr/>
            </p:nvSpPr>
            <p:spPr>
              <a:xfrm>
                <a:off x="5196294" y="6310560"/>
                <a:ext cx="2380703" cy="142288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14:m>
                  <m:oMathPara xmlns:m="http://schemas.openxmlformats.org/officeDocument/2006/math">
                    <m:oMathParaPr>
                      <m:jc m:val="centerGroup"/>
                    </m:oMathParaPr>
                    <m:oMath xmlns:m="http://schemas.openxmlformats.org/officeDocument/2006/math">
                      <m:r>
                        <a:rPr lang="en-US" altLang="zh-CN" sz="3413" i="1">
                          <a:solidFill>
                            <a:srgbClr val="000000"/>
                          </a:solidFill>
                          <a:latin typeface="Cambria Math"/>
                          <a:ea typeface="Times New Roman"/>
                          <a:cs typeface="Times New Roman"/>
                          <a:sym typeface="Times New Roman"/>
                        </a:rPr>
                        <m:t>𝐸</m:t>
                      </m:r>
                      <m:r>
                        <a:rPr lang="en-US" altLang="zh-CN" sz="3413" i="1">
                          <a:solidFill>
                            <a:srgbClr val="000000"/>
                          </a:solidFill>
                          <a:latin typeface="Cambria Math"/>
                          <a:ea typeface="Times New Roman"/>
                          <a:cs typeface="Times New Roman"/>
                          <a:sym typeface="Times New Roman"/>
                        </a:rPr>
                        <m:t>=</m:t>
                      </m:r>
                      <m:f>
                        <m:fPr>
                          <m:ctrlPr>
                            <a:rPr lang="en-US" altLang="zh-CN" sz="3413" i="1">
                              <a:solidFill>
                                <a:srgbClr val="000000"/>
                              </a:solidFill>
                              <a:latin typeface="Cambria Math" panose="02040503050406030204" pitchFamily="18" charset="0"/>
                              <a:cs typeface="Times New Roman"/>
                              <a:sym typeface="Times New Roman"/>
                            </a:rPr>
                          </m:ctrlPr>
                        </m:fPr>
                        <m:num>
                          <m:r>
                            <a:rPr lang="en-US" altLang="zh-CN" sz="3413" i="1">
                              <a:solidFill>
                                <a:srgbClr val="000000"/>
                              </a:solidFill>
                              <a:latin typeface="Cambria Math"/>
                              <a:cs typeface="Times New Roman"/>
                              <a:sym typeface="Times New Roman"/>
                            </a:rPr>
                            <m:t>𝑄</m:t>
                          </m:r>
                        </m:num>
                        <m:den>
                          <m:sSub>
                            <m:sSubPr>
                              <m:ctrlPr>
                                <a:rPr lang="en-US" altLang="zh-CN" sz="3413" i="1">
                                  <a:solidFill>
                                    <a:srgbClr val="000000"/>
                                  </a:solidFill>
                                  <a:latin typeface="Cambria Math" panose="02040503050406030204" pitchFamily="18" charset="0"/>
                                  <a:cs typeface="Times New Roman"/>
                                  <a:sym typeface="Times New Roman"/>
                                </a:rPr>
                              </m:ctrlPr>
                            </m:sSubPr>
                            <m:e>
                              <m:r>
                                <a:rPr lang="zh-CN" altLang="en-US" sz="3413" i="1">
                                  <a:solidFill>
                                    <a:srgbClr val="000000"/>
                                  </a:solidFill>
                                  <a:latin typeface="Cambria Math"/>
                                  <a:sym typeface="Times New Roman"/>
                                </a:rPr>
                                <m:t>𝜀</m:t>
                              </m:r>
                            </m:e>
                            <m:sub>
                              <m:r>
                                <a:rPr lang="en-US" altLang="zh-CN" sz="3413" i="1">
                                  <a:solidFill>
                                    <a:srgbClr val="000000"/>
                                  </a:solidFill>
                                  <a:latin typeface="Cambria Math"/>
                                  <a:cs typeface="Times New Roman"/>
                                  <a:sym typeface="Times New Roman"/>
                                </a:rPr>
                                <m:t>0</m:t>
                              </m:r>
                            </m:sub>
                          </m:sSub>
                          <m:r>
                            <a:rPr lang="en-US" altLang="zh-CN" sz="3413" i="1">
                              <a:solidFill>
                                <a:srgbClr val="000000"/>
                              </a:solidFill>
                              <a:latin typeface="Cambria Math"/>
                              <a:cs typeface="Times New Roman"/>
                              <a:sym typeface="Times New Roman"/>
                            </a:rPr>
                            <m:t>𝐴</m:t>
                          </m:r>
                        </m:den>
                      </m:f>
                    </m:oMath>
                  </m:oMathPara>
                </a14:m>
                <a:endParaRPr lang="zh-CN" altLang="en-US" sz="3413" dirty="0">
                  <a:solidFill>
                    <a:srgbClr val="000000"/>
                  </a:solidFill>
                  <a:latin typeface="Times New Roman"/>
                  <a:ea typeface="Times New Roman"/>
                  <a:cs typeface="Times New Roman"/>
                  <a:sym typeface="Times New Roman"/>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196294" y="6310560"/>
                <a:ext cx="2380703" cy="1422888"/>
              </a:xfrm>
              <a:prstGeom prst="rect">
                <a:avLst/>
              </a:prstGeom>
              <a:blipFill>
                <a:blip r:embed="rId4"/>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026507" y="1862972"/>
                <a:ext cx="1991545" cy="9194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14:m>
                  <m:oMathPara xmlns:m="http://schemas.openxmlformats.org/officeDocument/2006/math">
                    <m:oMathParaPr>
                      <m:jc m:val="centerGroup"/>
                    </m:oMathParaPr>
                    <m:oMath xmlns:m="http://schemas.openxmlformats.org/officeDocument/2006/math">
                      <m:r>
                        <a:rPr lang="en-US" altLang="zh-CN" sz="2276" i="1">
                          <a:solidFill>
                            <a:srgbClr val="000000"/>
                          </a:solidFill>
                          <a:latin typeface="Cambria Math"/>
                          <a:sym typeface="Times New Roman"/>
                        </a:rPr>
                        <m:t>𝐸</m:t>
                      </m:r>
                      <m:r>
                        <a:rPr lang="en-US" altLang="zh-CN" sz="2276" i="1">
                          <a:solidFill>
                            <a:srgbClr val="000000"/>
                          </a:solidFill>
                          <a:latin typeface="Cambria Math"/>
                          <a:sym typeface="Times New Roman"/>
                        </a:rPr>
                        <m:t>=</m:t>
                      </m:r>
                      <m:f>
                        <m:fPr>
                          <m:ctrlPr>
                            <a:rPr lang="en-US" altLang="zh-CN" sz="2276" i="1">
                              <a:solidFill>
                                <a:srgbClr val="000000"/>
                              </a:solidFill>
                              <a:latin typeface="Cambria Math" panose="02040503050406030204" pitchFamily="18" charset="0"/>
                              <a:sym typeface="Times New Roman"/>
                            </a:rPr>
                          </m:ctrlPr>
                        </m:fPr>
                        <m:num>
                          <m:r>
                            <a:rPr lang="zh-CN" altLang="en-US" sz="2276" i="1">
                              <a:solidFill>
                                <a:srgbClr val="000000"/>
                              </a:solidFill>
                              <a:latin typeface="Cambria Math"/>
                              <a:sym typeface="Times New Roman"/>
                            </a:rPr>
                            <m:t>𝜎</m:t>
                          </m:r>
                        </m:num>
                        <m:den>
                          <m:sSub>
                            <m:sSubPr>
                              <m:ctrlPr>
                                <a:rPr lang="en-US" altLang="zh-CN" sz="2276" i="1">
                                  <a:solidFill>
                                    <a:srgbClr val="000000"/>
                                  </a:solidFill>
                                  <a:latin typeface="Cambria Math" panose="02040503050406030204" pitchFamily="18" charset="0"/>
                                  <a:sym typeface="Times New Roman"/>
                                </a:rPr>
                              </m:ctrlPr>
                            </m:sSubPr>
                            <m:e>
                              <m:r>
                                <a:rPr lang="zh-CN" altLang="en-US" sz="2276" i="1">
                                  <a:solidFill>
                                    <a:srgbClr val="000000"/>
                                  </a:solidFill>
                                  <a:latin typeface="Cambria Math"/>
                                  <a:sym typeface="Times New Roman"/>
                                </a:rPr>
                                <m:t>𝜀</m:t>
                              </m:r>
                            </m:e>
                            <m:sub>
                              <m:r>
                                <a:rPr lang="en-US" altLang="zh-CN" sz="2276" i="1">
                                  <a:solidFill>
                                    <a:srgbClr val="000000"/>
                                  </a:solidFill>
                                  <a:latin typeface="Cambria Math"/>
                                  <a:sym typeface="Times New Roman"/>
                                </a:rPr>
                                <m:t>0</m:t>
                              </m:r>
                            </m:sub>
                          </m:sSub>
                        </m:den>
                      </m:f>
                    </m:oMath>
                  </m:oMathPara>
                </a14:m>
                <a:endParaRPr lang="zh-CN" altLang="en-US" sz="2276" dirty="0">
                  <a:solidFill>
                    <a:srgbClr val="000000"/>
                  </a:solidFill>
                  <a:sym typeface="Times New Roman"/>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026507" y="1862972"/>
                <a:ext cx="1991545" cy="919480"/>
              </a:xfrm>
              <a:prstGeom prst="rect">
                <a:avLst/>
              </a:prstGeom>
              <a:blipFill>
                <a:blip r:embed="rId5"/>
                <a:stretch>
                  <a:fillRect/>
                </a:stretch>
              </a:blipFill>
              <a:ln w="12700" cap="flat">
                <a:noFill/>
                <a:miter lim="400000"/>
              </a:ln>
              <a:effectLst/>
            </p:spPr>
            <p:txBody>
              <a:bodyPr/>
              <a:lstStyle/>
              <a:p>
                <a:r>
                  <a:rPr lang="zh-CN" altLang="en-US">
                    <a:noFill/>
                  </a:rPr>
                  <a:t> </a:t>
                </a:r>
              </a:p>
            </p:txBody>
          </p:sp>
        </mc:Fallback>
      </mc:AlternateContent>
      <p:sp>
        <p:nvSpPr>
          <p:cNvPr id="7" name="TextBox 6"/>
          <p:cNvSpPr txBox="1"/>
          <p:nvPr/>
        </p:nvSpPr>
        <p:spPr>
          <a:xfrm>
            <a:off x="7604685" y="2322767"/>
            <a:ext cx="5400115" cy="157589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zh-CN" altLang="en-US" sz="2844" b="1" dirty="0">
                <a:solidFill>
                  <a:srgbClr val="000000"/>
                </a:solidFill>
              </a:rPr>
              <a:t>（</a:t>
            </a:r>
            <a:r>
              <a:rPr lang="en-US" altLang="zh-CN" sz="3129" b="1" dirty="0">
                <a:solidFill>
                  <a:srgbClr val="000000"/>
                </a:solidFill>
              </a:rPr>
              <a:t>a</a:t>
            </a:r>
            <a:r>
              <a:rPr lang="zh-CN" altLang="en-US" sz="3129" b="1" dirty="0">
                <a:solidFill>
                  <a:srgbClr val="000000"/>
                </a:solidFill>
              </a:rPr>
              <a:t>）带有异号电荷</a:t>
            </a:r>
            <a:r>
              <a:rPr lang="en-US" altLang="zh-CN" sz="3129" b="1" dirty="0">
                <a:solidFill>
                  <a:srgbClr val="000000"/>
                </a:solidFill>
              </a:rPr>
              <a:t>+Q</a:t>
            </a:r>
            <a:r>
              <a:rPr lang="zh-CN" altLang="en-US" sz="3129" b="1" dirty="0">
                <a:solidFill>
                  <a:srgbClr val="000000"/>
                </a:solidFill>
              </a:rPr>
              <a:t>和</a:t>
            </a:r>
            <a:r>
              <a:rPr lang="en-US" altLang="zh-CN" sz="3129" b="1" dirty="0">
                <a:solidFill>
                  <a:srgbClr val="000000"/>
                </a:solidFill>
              </a:rPr>
              <a:t>-Q</a:t>
            </a:r>
            <a:r>
              <a:rPr lang="zh-CN" altLang="en-US" sz="3129" b="1" dirty="0">
                <a:solidFill>
                  <a:srgbClr val="000000"/>
                </a:solidFill>
              </a:rPr>
              <a:t>的平行金属极板间的匀强电场；（</a:t>
            </a:r>
            <a:r>
              <a:rPr lang="en-US" altLang="zh-CN" sz="3129" b="1" dirty="0">
                <a:solidFill>
                  <a:srgbClr val="000000"/>
                </a:solidFill>
              </a:rPr>
              <a:t>b</a:t>
            </a:r>
            <a:r>
              <a:rPr lang="zh-CN" altLang="en-US" sz="3129" b="1" dirty="0">
                <a:solidFill>
                  <a:srgbClr val="000000"/>
                </a:solidFill>
              </a:rPr>
              <a:t>）电场线俯视图。</a:t>
            </a:r>
            <a:endParaRPr lang="en-US" altLang="zh-CN" sz="3129" b="1" dirty="0">
              <a:solidFill>
                <a:srgbClr val="00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7269450" y="4760271"/>
                <a:ext cx="4680324" cy="389972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14:m>
                  <m:oMathPara xmlns:m="http://schemas.openxmlformats.org/officeDocument/2006/math">
                    <m:oMathParaPr>
                      <m:jc m:val="centerGroup"/>
                    </m:oMathParaPr>
                    <m:oMath xmlns:m="http://schemas.openxmlformats.org/officeDocument/2006/math">
                      <m:r>
                        <a:rPr lang="zh-CN" altLang="en-US" sz="4800" i="1">
                          <a:solidFill>
                            <a:srgbClr val="000000"/>
                          </a:solidFill>
                          <a:latin typeface="Cambria Math"/>
                        </a:rPr>
                        <m:t>𝜎</m:t>
                      </m:r>
                      <m:r>
                        <a:rPr lang="en-US" altLang="zh-CN" sz="4800" i="1">
                          <a:solidFill>
                            <a:srgbClr val="000000"/>
                          </a:solidFill>
                          <a:latin typeface="Cambria Math"/>
                        </a:rPr>
                        <m:t>:</m:t>
                      </m:r>
                      <m:r>
                        <a:rPr lang="zh-CN" altLang="en-US" sz="4800" i="1">
                          <a:solidFill>
                            <a:srgbClr val="000000"/>
                          </a:solidFill>
                          <a:latin typeface="Cambria Math"/>
                        </a:rPr>
                        <m:t>平面上的电荷面密度</m:t>
                      </m:r>
                    </m:oMath>
                  </m:oMathPara>
                </a14:m>
                <a:endParaRPr lang="en-US" altLang="zh-CN" sz="4800" dirty="0">
                  <a:solidFill>
                    <a:srgbClr val="000000"/>
                  </a:solidFill>
                </a:endParaRPr>
              </a:p>
              <a:p>
                <a:pPr algn="l" defTabSz="1463017" rtl="0" latinLnBrk="1" hangingPunct="0"/>
                <a14:m>
                  <m:oMathPara xmlns:m="http://schemas.openxmlformats.org/officeDocument/2006/math">
                    <m:oMathParaPr>
                      <m:jc m:val="centerGroup"/>
                    </m:oMathParaPr>
                    <m:oMath xmlns:m="http://schemas.openxmlformats.org/officeDocument/2006/math">
                      <m:r>
                        <a:rPr lang="zh-CN" altLang="en-US" sz="4800" i="1">
                          <a:solidFill>
                            <a:srgbClr val="000000"/>
                          </a:solidFill>
                          <a:latin typeface="Cambria Math"/>
                        </a:rPr>
                        <m:t>𝜎</m:t>
                      </m:r>
                      <m:r>
                        <a:rPr lang="en-US" altLang="zh-CN" sz="4800" i="1">
                          <a:solidFill>
                            <a:srgbClr val="000000"/>
                          </a:solidFill>
                          <a:latin typeface="Cambria Math"/>
                        </a:rPr>
                        <m:t>=</m:t>
                      </m:r>
                      <m:f>
                        <m:fPr>
                          <m:ctrlPr>
                            <a:rPr lang="en-US" altLang="zh-CN" sz="4800" i="1">
                              <a:solidFill>
                                <a:srgbClr val="000000"/>
                              </a:solidFill>
                              <a:latin typeface="Cambria Math" panose="02040503050406030204" pitchFamily="18" charset="0"/>
                            </a:rPr>
                          </m:ctrlPr>
                        </m:fPr>
                        <m:num>
                          <m:r>
                            <a:rPr lang="en-US" altLang="zh-CN" sz="4800" i="1">
                              <a:solidFill>
                                <a:srgbClr val="000000"/>
                              </a:solidFill>
                              <a:latin typeface="Cambria Math"/>
                            </a:rPr>
                            <m:t>𝑄</m:t>
                          </m:r>
                        </m:num>
                        <m:den>
                          <m:r>
                            <a:rPr lang="en-US" altLang="zh-CN" sz="4800" i="1">
                              <a:solidFill>
                                <a:srgbClr val="000000"/>
                              </a:solidFill>
                              <a:latin typeface="Cambria Math"/>
                            </a:rPr>
                            <m:t>𝐴</m:t>
                          </m:r>
                        </m:den>
                      </m:f>
                    </m:oMath>
                  </m:oMathPara>
                </a14:m>
                <a:endParaRPr lang="en-US" altLang="zh-CN" sz="4800" dirty="0">
                  <a:solidFill>
                    <a:srgbClr val="000000"/>
                  </a:solidFill>
                </a:endParaRPr>
              </a:p>
              <a:p>
                <a:pPr algn="l" defTabSz="1463017" rtl="0" latinLnBrk="1" hangingPunct="0">
                  <a:lnSpc>
                    <a:spcPct val="120000"/>
                  </a:lnSpc>
                  <a:spcBef>
                    <a:spcPts val="2276"/>
                  </a:spcBef>
                </a:pPr>
                <a:endParaRPr lang="zh-CN" altLang="en-US" sz="3200" dirty="0">
                  <a:solidFill>
                    <a:srgbClr val="000000"/>
                  </a:solidFill>
                  <a:sym typeface="Times New Roman"/>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269450" y="4760271"/>
                <a:ext cx="4680324" cy="3899720"/>
              </a:xfrm>
              <a:prstGeom prst="rect">
                <a:avLst/>
              </a:prstGeom>
              <a:blipFill>
                <a:blip r:embed="rId6"/>
                <a:stretch>
                  <a:fillRect r="-17969"/>
                </a:stretch>
              </a:blipFill>
              <a:ln w="12700" cap="flat">
                <a:noFill/>
                <a:miter lim="400000"/>
              </a:ln>
              <a:effectLst/>
            </p:spPr>
            <p:txBody>
              <a:bodyPr/>
              <a:lstStyle/>
              <a:p>
                <a:r>
                  <a:rPr lang="zh-CN" altLang="en-US">
                    <a:noFill/>
                  </a:rPr>
                  <a:t> </a:t>
                </a:r>
              </a:p>
            </p:txBody>
          </p:sp>
        </mc:Fallback>
      </mc:AlternateContent>
      <p:sp>
        <p:nvSpPr>
          <p:cNvPr id="9" name="TextBox 8"/>
          <p:cNvSpPr txBox="1"/>
          <p:nvPr/>
        </p:nvSpPr>
        <p:spPr>
          <a:xfrm>
            <a:off x="152895" y="6412971"/>
            <a:ext cx="2457873" cy="105650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r>
              <a:rPr lang="zh-CN" altLang="en-US" sz="3413" b="1" dirty="0">
                <a:solidFill>
                  <a:srgbClr val="000000"/>
                </a:solidFill>
                <a:latin typeface="Times New Roman"/>
                <a:ea typeface="Times New Roman"/>
                <a:cs typeface="Times New Roman"/>
                <a:sym typeface="Times New Roman"/>
              </a:rPr>
              <a:t>板间电场：</a:t>
            </a:r>
          </a:p>
        </p:txBody>
      </p:sp>
      <p:sp>
        <p:nvSpPr>
          <p:cNvPr id="10" name="TextBox 9"/>
          <p:cNvSpPr txBox="1"/>
          <p:nvPr/>
        </p:nvSpPr>
        <p:spPr>
          <a:xfrm>
            <a:off x="553698" y="7854940"/>
            <a:ext cx="11572486" cy="105650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r>
              <a:rPr lang="zh-CN" altLang="en-US" sz="3413" b="1" dirty="0">
                <a:solidFill>
                  <a:srgbClr val="FF0000"/>
                </a:solidFill>
                <a:latin typeface="Times New Roman"/>
                <a:ea typeface="Times New Roman"/>
                <a:cs typeface="Times New Roman"/>
                <a:sym typeface="Times New Roman"/>
              </a:rPr>
              <a:t>两</a:t>
            </a:r>
            <a:r>
              <a:rPr lang="zh-CN" altLang="en-US" sz="3413" b="1">
                <a:solidFill>
                  <a:srgbClr val="FF0000"/>
                </a:solidFill>
                <a:latin typeface="Times New Roman"/>
                <a:ea typeface="Times New Roman"/>
                <a:cs typeface="Times New Roman"/>
                <a:sym typeface="Times New Roman"/>
              </a:rPr>
              <a:t>个平行金属板间为匀强电场，板外电场为多少？</a:t>
            </a:r>
            <a:endParaRPr lang="zh-CN" altLang="en-US" sz="3413" b="1" dirty="0">
              <a:solidFill>
                <a:srgbClr val="FF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13" name="TextBox 12"/>
              <p:cNvSpPr txBox="1"/>
              <p:nvPr/>
            </p:nvSpPr>
            <p:spPr>
              <a:xfrm>
                <a:off x="2469952" y="6129211"/>
                <a:ext cx="1991545" cy="179375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14:m>
                  <m:oMathPara xmlns:m="http://schemas.openxmlformats.org/officeDocument/2006/math">
                    <m:oMathParaPr>
                      <m:jc m:val="centerGroup"/>
                    </m:oMathParaPr>
                    <m:oMath xmlns:m="http://schemas.openxmlformats.org/officeDocument/2006/math">
                      <m:r>
                        <a:rPr lang="en-US" altLang="zh-CN" sz="4800" i="1">
                          <a:solidFill>
                            <a:srgbClr val="000000"/>
                          </a:solidFill>
                          <a:latin typeface="Cambria Math"/>
                          <a:sym typeface="Times New Roman"/>
                        </a:rPr>
                        <m:t>𝐸</m:t>
                      </m:r>
                      <m:r>
                        <a:rPr lang="en-US" altLang="zh-CN" sz="4800" i="1">
                          <a:solidFill>
                            <a:srgbClr val="000000"/>
                          </a:solidFill>
                          <a:latin typeface="Cambria Math"/>
                          <a:sym typeface="Times New Roman"/>
                        </a:rPr>
                        <m:t>=</m:t>
                      </m:r>
                      <m:f>
                        <m:fPr>
                          <m:ctrlPr>
                            <a:rPr lang="en-US" altLang="zh-CN" sz="4800" i="1">
                              <a:solidFill>
                                <a:srgbClr val="000000"/>
                              </a:solidFill>
                              <a:latin typeface="Cambria Math" panose="02040503050406030204" pitchFamily="18" charset="0"/>
                              <a:sym typeface="Times New Roman"/>
                            </a:rPr>
                          </m:ctrlPr>
                        </m:fPr>
                        <m:num>
                          <m:r>
                            <a:rPr lang="zh-CN" altLang="en-US" sz="4800" i="1">
                              <a:solidFill>
                                <a:srgbClr val="000000"/>
                              </a:solidFill>
                              <a:latin typeface="Cambria Math"/>
                              <a:sym typeface="Times New Roman"/>
                            </a:rPr>
                            <m:t>𝜎</m:t>
                          </m:r>
                        </m:num>
                        <m:den>
                          <m:sSub>
                            <m:sSubPr>
                              <m:ctrlPr>
                                <a:rPr lang="en-US" altLang="zh-CN" sz="4800" i="1">
                                  <a:solidFill>
                                    <a:srgbClr val="000000"/>
                                  </a:solidFill>
                                  <a:latin typeface="Cambria Math" panose="02040503050406030204" pitchFamily="18" charset="0"/>
                                  <a:sym typeface="Times New Roman"/>
                                </a:rPr>
                              </m:ctrlPr>
                            </m:sSubPr>
                            <m:e>
                              <m:r>
                                <a:rPr lang="zh-CN" altLang="en-US" sz="4800" i="1">
                                  <a:solidFill>
                                    <a:srgbClr val="000000"/>
                                  </a:solidFill>
                                  <a:latin typeface="Cambria Math"/>
                                  <a:sym typeface="Times New Roman"/>
                                </a:rPr>
                                <m:t>𝜀</m:t>
                              </m:r>
                            </m:e>
                            <m:sub>
                              <m:r>
                                <a:rPr lang="en-US" altLang="zh-CN" sz="4800" i="1">
                                  <a:solidFill>
                                    <a:srgbClr val="000000"/>
                                  </a:solidFill>
                                  <a:latin typeface="Cambria Math"/>
                                  <a:sym typeface="Times New Roman"/>
                                </a:rPr>
                                <m:t>0</m:t>
                              </m:r>
                            </m:sub>
                          </m:sSub>
                        </m:den>
                      </m:f>
                    </m:oMath>
                  </m:oMathPara>
                </a14:m>
                <a:endParaRPr lang="zh-CN" altLang="en-US" sz="4800" dirty="0">
                  <a:solidFill>
                    <a:srgbClr val="000000"/>
                  </a:solidFill>
                  <a:sym typeface="Times New Roman"/>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469952" y="6129211"/>
                <a:ext cx="1991545" cy="1793759"/>
              </a:xfrm>
              <a:prstGeom prst="rect">
                <a:avLst/>
              </a:prstGeom>
              <a:blipFill>
                <a:blip r:embed="rId7"/>
                <a:stretch>
                  <a:fillRect/>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476157355"/>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9774" y="1702048"/>
            <a:ext cx="11470074" cy="564667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50000"/>
              </a:lnSpc>
            </a:pPr>
            <a:r>
              <a:rPr lang="zh-CN" altLang="en-US" sz="3982" b="1" dirty="0">
                <a:solidFill>
                  <a:srgbClr val="000000"/>
                </a:solidFill>
                <a:latin typeface="宋体" pitchFamily="2" charset="-122"/>
                <a:ea typeface="宋体" pitchFamily="2" charset="-122"/>
                <a:sym typeface="Times New Roman"/>
              </a:rPr>
              <a:t>具有</a:t>
            </a:r>
            <a:r>
              <a:rPr lang="zh-CN" altLang="en-US" sz="3982" b="1" dirty="0">
                <a:solidFill>
                  <a:srgbClr val="FF0000"/>
                </a:solidFill>
                <a:latin typeface="宋体" pitchFamily="2" charset="-122"/>
                <a:ea typeface="宋体" pitchFamily="2" charset="-122"/>
                <a:sym typeface="Times New Roman"/>
              </a:rPr>
              <a:t>恒定加速度</a:t>
            </a:r>
            <a:r>
              <a:rPr lang="zh-CN" altLang="en-US" sz="3982" b="1" dirty="0">
                <a:solidFill>
                  <a:srgbClr val="000000"/>
                </a:solidFill>
                <a:latin typeface="宋体" pitchFamily="2" charset="-122"/>
                <a:ea typeface="宋体" pitchFamily="2" charset="-122"/>
                <a:sym typeface="Times New Roman"/>
              </a:rPr>
              <a:t>的点电荷的运动可被分成两种形式。</a:t>
            </a:r>
            <a:endParaRPr lang="en-US" altLang="zh-CN" sz="3982" b="1" dirty="0">
              <a:solidFill>
                <a:srgbClr val="000000"/>
              </a:solidFill>
              <a:latin typeface="宋体" pitchFamily="2" charset="-122"/>
              <a:ea typeface="宋体" pitchFamily="2" charset="-122"/>
              <a:sym typeface="Times New Roman"/>
            </a:endParaRPr>
          </a:p>
          <a:p>
            <a:pPr algn="l" defTabSz="1463017" rtl="0" latinLnBrk="1" hangingPunct="0">
              <a:lnSpc>
                <a:spcPct val="150000"/>
              </a:lnSpc>
            </a:pPr>
            <a:r>
              <a:rPr lang="en-US" altLang="zh-CN" sz="3982" b="1" dirty="0">
                <a:solidFill>
                  <a:srgbClr val="000000"/>
                </a:solidFill>
                <a:latin typeface="宋体" pitchFamily="2" charset="-122"/>
                <a:ea typeface="宋体" pitchFamily="2" charset="-122"/>
                <a:sym typeface="Times New Roman"/>
              </a:rPr>
              <a:t>(1)</a:t>
            </a:r>
            <a:r>
              <a:rPr lang="zh-CN" altLang="en-US" sz="3982" b="1" dirty="0">
                <a:solidFill>
                  <a:srgbClr val="000000"/>
                </a:solidFill>
                <a:latin typeface="宋体" pitchFamily="2" charset="-122"/>
                <a:ea typeface="宋体" pitchFamily="2" charset="-122"/>
                <a:sym typeface="Times New Roman"/>
              </a:rPr>
              <a:t>如果点电荷的初速度为零，或者平行于或反平行于电场方向，那么点电荷将做直线运动。</a:t>
            </a:r>
            <a:endParaRPr lang="en-US" altLang="zh-CN" sz="3982" b="1" dirty="0">
              <a:solidFill>
                <a:srgbClr val="000000"/>
              </a:solidFill>
              <a:latin typeface="宋体" pitchFamily="2" charset="-122"/>
              <a:ea typeface="宋体" pitchFamily="2" charset="-122"/>
              <a:sym typeface="Times New Roman"/>
            </a:endParaRPr>
          </a:p>
          <a:p>
            <a:pPr algn="l" defTabSz="1463017" rtl="0" latinLnBrk="1" hangingPunct="0">
              <a:lnSpc>
                <a:spcPct val="150000"/>
              </a:lnSpc>
            </a:pPr>
            <a:r>
              <a:rPr lang="en-US" altLang="zh-CN" sz="3982" b="1" dirty="0">
                <a:solidFill>
                  <a:srgbClr val="000000"/>
                </a:solidFill>
                <a:latin typeface="宋体" pitchFamily="2" charset="-122"/>
                <a:ea typeface="宋体" pitchFamily="2" charset="-122"/>
                <a:sym typeface="Times New Roman"/>
              </a:rPr>
              <a:t>(2)</a:t>
            </a:r>
            <a:r>
              <a:rPr lang="zh-CN" altLang="en-US" sz="3982" b="1" dirty="0">
                <a:solidFill>
                  <a:srgbClr val="000000"/>
                </a:solidFill>
                <a:latin typeface="宋体" pitchFamily="2" charset="-122"/>
                <a:ea typeface="宋体" pitchFamily="2" charset="-122"/>
                <a:sym typeface="Times New Roman"/>
              </a:rPr>
              <a:t>如果点电荷的初速度具有垂直于电场方向的分量，那么其轨道为抛物线。</a:t>
            </a:r>
          </a:p>
        </p:txBody>
      </p:sp>
    </p:spTree>
    <p:extLst>
      <p:ext uri="{BB962C8B-B14F-4D97-AF65-F5344CB8AC3E}">
        <p14:creationId xmlns:p14="http://schemas.microsoft.com/office/powerpoint/2010/main" val="3209176800"/>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4243" y="882756"/>
            <a:ext cx="8704967" cy="12666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spcBef>
                <a:spcPts val="2276"/>
              </a:spcBef>
            </a:pPr>
            <a:r>
              <a:rPr lang="zh-CN" altLang="en-US" sz="4551" b="1">
                <a:solidFill>
                  <a:srgbClr val="000000"/>
                </a:solidFill>
                <a:latin typeface="宋体" pitchFamily="2" charset="-122"/>
                <a:ea typeface="宋体" pitchFamily="2" charset="-122"/>
                <a:sym typeface="Times New Roman"/>
              </a:rPr>
              <a:t>思考题：</a:t>
            </a:r>
          </a:p>
        </p:txBody>
      </p:sp>
      <p:sp>
        <p:nvSpPr>
          <p:cNvPr id="3" name="TextBox 2"/>
          <p:cNvSpPr txBox="1"/>
          <p:nvPr/>
        </p:nvSpPr>
        <p:spPr>
          <a:xfrm>
            <a:off x="1443464" y="2521339"/>
            <a:ext cx="9729081" cy="19697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50000"/>
              </a:lnSpc>
            </a:pPr>
            <a:r>
              <a:rPr lang="zh-CN" altLang="en-US" sz="3982" b="1" dirty="0">
                <a:solidFill>
                  <a:srgbClr val="000000"/>
                </a:solidFill>
                <a:latin typeface="宋体" pitchFamily="2" charset="-122"/>
                <a:ea typeface="宋体" pitchFamily="2" charset="-122"/>
                <a:sym typeface="Times New Roman"/>
              </a:rPr>
              <a:t>一个电子在匀强电场中沿</a:t>
            </a:r>
            <a:r>
              <a:rPr lang="en-US" altLang="zh-CN" sz="3982" b="1" dirty="0">
                <a:solidFill>
                  <a:srgbClr val="000000"/>
                </a:solidFill>
                <a:latin typeface="宋体" pitchFamily="2" charset="-122"/>
                <a:ea typeface="宋体" pitchFamily="2" charset="-122"/>
                <a:sym typeface="Times New Roman"/>
              </a:rPr>
              <a:t>+x</a:t>
            </a:r>
            <a:r>
              <a:rPr lang="zh-CN" altLang="en-US" sz="3982" b="1" dirty="0">
                <a:solidFill>
                  <a:srgbClr val="000000"/>
                </a:solidFill>
                <a:latin typeface="宋体" pitchFamily="2" charset="-122"/>
                <a:ea typeface="宋体" pitchFamily="2" charset="-122"/>
                <a:sym typeface="Times New Roman"/>
              </a:rPr>
              <a:t>方向运动，电场也是指向</a:t>
            </a:r>
            <a:r>
              <a:rPr lang="en-US" altLang="zh-CN" sz="3982" b="1" dirty="0">
                <a:solidFill>
                  <a:srgbClr val="000000"/>
                </a:solidFill>
                <a:latin typeface="宋体" pitchFamily="2" charset="-122"/>
                <a:ea typeface="宋体" pitchFamily="2" charset="-122"/>
                <a:sym typeface="Times New Roman"/>
              </a:rPr>
              <a:t>x</a:t>
            </a:r>
            <a:r>
              <a:rPr lang="zh-CN" altLang="en-US" sz="3982" b="1" dirty="0">
                <a:solidFill>
                  <a:srgbClr val="000000"/>
                </a:solidFill>
                <a:latin typeface="宋体" pitchFamily="2" charset="-122"/>
                <a:ea typeface="宋体" pitchFamily="2" charset="-122"/>
                <a:sym typeface="Times New Roman"/>
              </a:rPr>
              <a:t>轴正方向。讨论电子的运动。</a:t>
            </a:r>
          </a:p>
        </p:txBody>
      </p:sp>
    </p:spTree>
    <p:extLst>
      <p:ext uri="{BB962C8B-B14F-4D97-AF65-F5344CB8AC3E}">
        <p14:creationId xmlns:p14="http://schemas.microsoft.com/office/powerpoint/2010/main" val="226199825"/>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Shape 301"/>
          <p:cNvSpPr/>
          <p:nvPr/>
        </p:nvSpPr>
        <p:spPr>
          <a:xfrm>
            <a:off x="226344" y="293191"/>
            <a:ext cx="102622" cy="649759"/>
          </a:xfrm>
          <a:prstGeom prst="rect">
            <a:avLst/>
          </a:prstGeom>
          <a:ln w="12700">
            <a:miter lim="400000"/>
          </a:ln>
          <a:extLst>
            <a:ext uri="{C572A759-6A51-4108-AA02-DFA0A04FC94B}">
              <ma14:wrappingTextBoxFlag xmlns:ma14="http://schemas.microsoft.com/office/mac/drawingml/2011/main" xmlns="" val="1"/>
            </a:ext>
          </a:extLst>
        </p:spPr>
        <p:txBody>
          <a:bodyPr wrap="none" lIns="50783" tIns="50783" rIns="50783" bIns="50783" anchor="ctr">
            <a:spAutoFit/>
          </a:bodyPr>
          <a:lstStyle/>
          <a:p>
            <a:pPr lvl="0">
              <a:defRPr sz="1800"/>
            </a:pPr>
            <a:endParaRPr sz="3556" dirty="0">
              <a:latin typeface="黑体" pitchFamily="49" charset="-122"/>
              <a:ea typeface="黑体" pitchFamily="49" charset="-122"/>
            </a:endParaRPr>
          </a:p>
        </p:txBody>
      </p:sp>
      <p:sp>
        <p:nvSpPr>
          <p:cNvPr id="302" name="Shape 302"/>
          <p:cNvSpPr/>
          <p:nvPr/>
        </p:nvSpPr>
        <p:spPr>
          <a:xfrm>
            <a:off x="255310" y="199882"/>
            <a:ext cx="12391777" cy="3112356"/>
          </a:xfrm>
          <a:prstGeom prst="rect">
            <a:avLst/>
          </a:prstGeom>
          <a:ln w="12700">
            <a:miter lim="400000"/>
          </a:ln>
          <a:extLst>
            <a:ext uri="{C572A759-6A51-4108-AA02-DFA0A04FC94B}">
              <ma14:wrappingTextBoxFlag xmlns:ma14="http://schemas.microsoft.com/office/mac/drawingml/2011/main" xmlns="" val="1"/>
            </a:ext>
          </a:extLst>
        </p:spPr>
        <p:txBody>
          <a:bodyPr wrap="square" lIns="50783" tIns="50783" rIns="50783" bIns="50783" anchor="ctr">
            <a:spAutoFit/>
          </a:bodyPr>
          <a:lstStyle/>
          <a:p>
            <a:pPr algn="l">
              <a:lnSpc>
                <a:spcPct val="125000"/>
              </a:lnSpc>
              <a:defRPr sz="1800"/>
            </a:pPr>
            <a:r>
              <a:rPr lang="zh-CN" altLang="en-US" sz="3129" b="1" dirty="0">
                <a:solidFill>
                  <a:srgbClr val="0000CC"/>
                </a:solidFill>
                <a:latin typeface="Times New Roman" pitchFamily="18" charset="0"/>
                <a:ea typeface="宋体" panose="02010600030101010101" pitchFamily="2" charset="-122"/>
                <a:cs typeface="Times New Roman" pitchFamily="18" charset="0"/>
              </a:rPr>
              <a:t>例题</a:t>
            </a:r>
            <a:r>
              <a:rPr lang="en-US" altLang="zh-CN" sz="3129" b="1" dirty="0">
                <a:solidFill>
                  <a:srgbClr val="0000CC"/>
                </a:solidFill>
                <a:latin typeface="Times New Roman" pitchFamily="18" charset="0"/>
                <a:ea typeface="宋体" panose="02010600030101010101" pitchFamily="2" charset="-122"/>
                <a:cs typeface="Times New Roman" pitchFamily="18" charset="0"/>
              </a:rPr>
              <a:t>16.4 </a:t>
            </a:r>
            <a:r>
              <a:rPr lang="zh-CN" altLang="en-US" sz="3129" b="1" dirty="0">
                <a:solidFill>
                  <a:srgbClr val="0000CC"/>
                </a:solidFill>
                <a:latin typeface="Times New Roman" pitchFamily="18" charset="0"/>
                <a:ea typeface="宋体" panose="02010600030101010101" pitchFamily="2" charset="-122"/>
                <a:cs typeface="Times New Roman" pitchFamily="18" charset="0"/>
              </a:rPr>
              <a:t>电子束： </a:t>
            </a:r>
            <a:r>
              <a:rPr sz="3129" b="1" dirty="0" err="1">
                <a:latin typeface="Times New Roman" pitchFamily="18" charset="0"/>
                <a:ea typeface="宋体" panose="02010600030101010101" pitchFamily="2" charset="-122"/>
                <a:cs typeface="Times New Roman" pitchFamily="18" charset="0"/>
              </a:rPr>
              <a:t>阴极射线管被用来加速电子，其原理是电子从加热的灯丝中溢出，通过阴极的圆孔后被阴阳极之间的电场加速</a:t>
            </a:r>
            <a:r>
              <a:rPr sz="3129" b="1" dirty="0">
                <a:latin typeface="Times New Roman" pitchFamily="18" charset="0"/>
                <a:ea typeface="宋体" panose="02010600030101010101" pitchFamily="2" charset="-122"/>
                <a:cs typeface="Times New Roman" pitchFamily="18" charset="0"/>
              </a:rPr>
              <a:t>。假设电子通过阴极圆孔时的速度是1.0</a:t>
            </a:r>
            <a:r>
              <a:rPr lang="en-US" altLang="zh-CN" sz="2560" b="1" dirty="0"/>
              <a:t>×</a:t>
            </a:r>
            <a:r>
              <a:rPr sz="3129" b="1" dirty="0">
                <a:latin typeface="Times New Roman" pitchFamily="18" charset="0"/>
                <a:ea typeface="宋体" panose="02010600030101010101" pitchFamily="2" charset="-122"/>
                <a:cs typeface="Times New Roman" pitchFamily="18" charset="0"/>
              </a:rPr>
              <a:t>10</a:t>
            </a:r>
            <a:r>
              <a:rPr sz="3129" b="1" baseline="31999" dirty="0">
                <a:latin typeface="Times New Roman" pitchFamily="18" charset="0"/>
                <a:ea typeface="宋体" panose="02010600030101010101" pitchFamily="2" charset="-122"/>
                <a:cs typeface="Times New Roman" pitchFamily="18" charset="0"/>
              </a:rPr>
              <a:t>5</a:t>
            </a:r>
            <a:r>
              <a:rPr sz="3129" b="1" dirty="0">
                <a:latin typeface="Times New Roman" pitchFamily="18" charset="0"/>
                <a:ea typeface="宋体" panose="02010600030101010101" pitchFamily="2" charset="-122"/>
                <a:cs typeface="Times New Roman" pitchFamily="18" charset="0"/>
              </a:rPr>
              <a:t> m/</a:t>
            </a:r>
            <a:r>
              <a:rPr sz="3129" b="1" dirty="0" err="1">
                <a:latin typeface="Times New Roman" pitchFamily="18" charset="0"/>
                <a:ea typeface="宋体" panose="02010600030101010101" pitchFamily="2" charset="-122"/>
                <a:cs typeface="Times New Roman" pitchFamily="18" charset="0"/>
              </a:rPr>
              <a:t>s，阴阳极之间是均匀电场，其</a:t>
            </a:r>
            <a:r>
              <a:rPr lang="zh-CN" altLang="en-US" sz="3129" b="1" dirty="0">
                <a:latin typeface="Times New Roman" pitchFamily="18" charset="0"/>
                <a:ea typeface="宋体" panose="02010600030101010101" pitchFamily="2" charset="-122"/>
                <a:cs typeface="Times New Roman" pitchFamily="18" charset="0"/>
              </a:rPr>
              <a:t>场强</a:t>
            </a:r>
            <a:r>
              <a:rPr sz="3129" b="1" dirty="0">
                <a:latin typeface="Times New Roman" pitchFamily="18" charset="0"/>
                <a:ea typeface="宋体" panose="02010600030101010101" pitchFamily="2" charset="-122"/>
                <a:cs typeface="Times New Roman" pitchFamily="18" charset="0"/>
              </a:rPr>
              <a:t>是1.0</a:t>
            </a:r>
            <a:r>
              <a:rPr lang="en-US" altLang="zh-CN" sz="2560" b="1" dirty="0"/>
              <a:t>×</a:t>
            </a:r>
            <a:r>
              <a:rPr sz="3129" b="1" dirty="0">
                <a:latin typeface="Times New Roman" pitchFamily="18" charset="0"/>
                <a:ea typeface="宋体" panose="02010600030101010101" pitchFamily="2" charset="-122"/>
                <a:cs typeface="Times New Roman" pitchFamily="18" charset="0"/>
              </a:rPr>
              <a:t>10</a:t>
            </a:r>
            <a:r>
              <a:rPr sz="3129" b="1" baseline="31999" dirty="0">
                <a:latin typeface="Times New Roman" pitchFamily="18" charset="0"/>
                <a:ea typeface="宋体" panose="02010600030101010101" pitchFamily="2" charset="-122"/>
                <a:cs typeface="Times New Roman" pitchFamily="18" charset="0"/>
              </a:rPr>
              <a:t>4</a:t>
            </a:r>
            <a:r>
              <a:rPr sz="3129" b="1" dirty="0">
                <a:latin typeface="Times New Roman" pitchFamily="18" charset="0"/>
                <a:ea typeface="宋体" panose="02010600030101010101" pitchFamily="2" charset="-122"/>
                <a:cs typeface="Times New Roman" pitchFamily="18" charset="0"/>
              </a:rPr>
              <a:t> N/C。</a:t>
            </a:r>
            <a:r>
              <a:rPr lang="zh-CN" altLang="en-US" sz="3129" b="1" dirty="0">
                <a:latin typeface="Times New Roman" pitchFamily="18" charset="0"/>
                <a:ea typeface="宋体" panose="02010600030101010101" pitchFamily="2" charset="-122"/>
                <a:cs typeface="Times New Roman" pitchFamily="18" charset="0"/>
              </a:rPr>
              <a:t>则（</a:t>
            </a:r>
            <a:r>
              <a:rPr sz="3129" b="1" dirty="0">
                <a:latin typeface="Times New Roman" pitchFamily="18" charset="0"/>
                <a:ea typeface="宋体" panose="02010600030101010101" pitchFamily="2" charset="-122"/>
                <a:cs typeface="Times New Roman" pitchFamily="18" charset="0"/>
              </a:rPr>
              <a:t>1）电子的加速度是多少？（2）如果阴阳极之间的距离是2cm，电子的最后速度是多少？</a:t>
            </a:r>
          </a:p>
        </p:txBody>
      </p:sp>
      <p:grpSp>
        <p:nvGrpSpPr>
          <p:cNvPr id="2" name="组合 1"/>
          <p:cNvGrpSpPr/>
          <p:nvPr/>
        </p:nvGrpSpPr>
        <p:grpSpPr>
          <a:xfrm>
            <a:off x="8653044" y="3750276"/>
            <a:ext cx="2370098" cy="3154422"/>
            <a:chOff x="8374608" y="628330"/>
            <a:chExt cx="2777766" cy="3637234"/>
          </a:xfrm>
        </p:grpSpPr>
        <p:grpSp>
          <p:nvGrpSpPr>
            <p:cNvPr id="342" name="Group 342"/>
            <p:cNvGrpSpPr/>
            <p:nvPr/>
          </p:nvGrpSpPr>
          <p:grpSpPr>
            <a:xfrm rot="5400000">
              <a:off x="8047428" y="1274088"/>
              <a:ext cx="3637234" cy="2345717"/>
              <a:chOff x="704794" y="-175562"/>
              <a:chExt cx="4622307" cy="2145052"/>
            </a:xfrm>
          </p:grpSpPr>
          <p:sp>
            <p:nvSpPr>
              <p:cNvPr id="303" name="Shape 303"/>
              <p:cNvSpPr/>
              <p:nvPr/>
            </p:nvSpPr>
            <p:spPr>
              <a:xfrm>
                <a:off x="704794" y="1640346"/>
                <a:ext cx="4622307" cy="329144"/>
              </a:xfrm>
              <a:prstGeom prst="rect">
                <a:avLst/>
              </a:prstGeom>
              <a:solidFill>
                <a:srgbClr val="99FF99"/>
              </a:solidFill>
              <a:ln w="38100" cap="flat">
                <a:solidFill>
                  <a:srgbClr val="000000"/>
                </a:solidFill>
                <a:prstDash val="solid"/>
                <a:miter lim="800000"/>
              </a:ln>
              <a:effectLst/>
            </p:spPr>
            <p:txBody>
              <a:bodyPr wrap="square" lIns="65023" tIns="65023" rIns="65023" bIns="65023" numCol="1" anchor="ctr">
                <a:noAutofit/>
              </a:bodyPr>
              <a:lstStyle/>
              <a:p>
                <a:pPr defTabSz="914064">
                  <a:defRPr sz="3400">
                    <a:latin typeface="Arial"/>
                    <a:ea typeface="Arial"/>
                    <a:cs typeface="Arial"/>
                    <a:sym typeface="Arial"/>
                  </a:defRPr>
                </a:pPr>
                <a:endParaRPr sz="4835"/>
              </a:p>
            </p:txBody>
          </p:sp>
          <p:sp>
            <p:nvSpPr>
              <p:cNvPr id="304" name="Shape 304"/>
              <p:cNvSpPr/>
              <p:nvPr/>
            </p:nvSpPr>
            <p:spPr>
              <a:xfrm>
                <a:off x="704794" y="180670"/>
                <a:ext cx="4622307" cy="329144"/>
              </a:xfrm>
              <a:prstGeom prst="rect">
                <a:avLst/>
              </a:prstGeom>
              <a:solidFill>
                <a:srgbClr val="CC0066"/>
              </a:solidFill>
              <a:ln w="38100" cap="flat">
                <a:solidFill>
                  <a:srgbClr val="CC3300"/>
                </a:solidFill>
                <a:prstDash val="solid"/>
                <a:miter lim="800000"/>
              </a:ln>
              <a:effectLst/>
            </p:spPr>
            <p:txBody>
              <a:bodyPr wrap="square" lIns="65023" tIns="65023" rIns="65023" bIns="65023" numCol="1" anchor="ctr">
                <a:noAutofit/>
              </a:bodyPr>
              <a:lstStyle/>
              <a:p>
                <a:pPr defTabSz="914064">
                  <a:defRPr sz="3400">
                    <a:latin typeface="Arial"/>
                    <a:ea typeface="Arial"/>
                    <a:cs typeface="Arial"/>
                    <a:sym typeface="Arial"/>
                  </a:defRPr>
                </a:pPr>
                <a:endParaRPr sz="4835"/>
              </a:p>
            </p:txBody>
          </p:sp>
          <p:sp>
            <p:nvSpPr>
              <p:cNvPr id="305" name="Shape 305"/>
              <p:cNvSpPr/>
              <p:nvPr/>
            </p:nvSpPr>
            <p:spPr>
              <a:xfrm>
                <a:off x="425076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06" name="Shape 306"/>
              <p:cNvSpPr/>
              <p:nvPr/>
            </p:nvSpPr>
            <p:spPr>
              <a:xfrm>
                <a:off x="1753223" y="-14865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07" name="Shape 307"/>
              <p:cNvSpPr/>
              <p:nvPr/>
            </p:nvSpPr>
            <p:spPr>
              <a:xfrm>
                <a:off x="476594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08" name="Shape 308"/>
              <p:cNvSpPr/>
              <p:nvPr/>
            </p:nvSpPr>
            <p:spPr>
              <a:xfrm>
                <a:off x="373558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09" name="Shape 309"/>
              <p:cNvSpPr/>
              <p:nvPr/>
            </p:nvSpPr>
            <p:spPr>
              <a:xfrm>
                <a:off x="270522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10" name="Shape 310"/>
              <p:cNvSpPr/>
              <p:nvPr/>
            </p:nvSpPr>
            <p:spPr>
              <a:xfrm>
                <a:off x="816234" y="-14865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11" name="Shape 311"/>
              <p:cNvSpPr/>
              <p:nvPr/>
            </p:nvSpPr>
            <p:spPr>
              <a:xfrm>
                <a:off x="322040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12" name="Shape 312"/>
              <p:cNvSpPr/>
              <p:nvPr/>
            </p:nvSpPr>
            <p:spPr>
              <a:xfrm>
                <a:off x="2190048"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13" name="Shape 313"/>
              <p:cNvSpPr/>
              <p:nvPr/>
            </p:nvSpPr>
            <p:spPr>
              <a:xfrm>
                <a:off x="1245551" y="-175562"/>
                <a:ext cx="415727"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314" name="Shape 314"/>
              <p:cNvSpPr/>
              <p:nvPr/>
            </p:nvSpPr>
            <p:spPr>
              <a:xfrm>
                <a:off x="1384545"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5" name="Shape 315"/>
              <p:cNvSpPr/>
              <p:nvPr/>
            </p:nvSpPr>
            <p:spPr>
              <a:xfrm>
                <a:off x="2329041"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6" name="Shape 316"/>
              <p:cNvSpPr/>
              <p:nvPr/>
            </p:nvSpPr>
            <p:spPr>
              <a:xfrm>
                <a:off x="3359401"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7" name="Shape 317"/>
              <p:cNvSpPr/>
              <p:nvPr/>
            </p:nvSpPr>
            <p:spPr>
              <a:xfrm>
                <a:off x="4389760"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8" name="Shape 318"/>
              <p:cNvSpPr/>
              <p:nvPr/>
            </p:nvSpPr>
            <p:spPr>
              <a:xfrm>
                <a:off x="1813861"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9" name="Shape 319"/>
              <p:cNvSpPr/>
              <p:nvPr/>
            </p:nvSpPr>
            <p:spPr>
              <a:xfrm>
                <a:off x="3874580"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0" name="Shape 320"/>
              <p:cNvSpPr/>
              <p:nvPr/>
            </p:nvSpPr>
            <p:spPr>
              <a:xfrm>
                <a:off x="2844221"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1" name="Shape 321"/>
              <p:cNvSpPr/>
              <p:nvPr/>
            </p:nvSpPr>
            <p:spPr>
              <a:xfrm>
                <a:off x="4904940"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2" name="Shape 322"/>
              <p:cNvSpPr/>
              <p:nvPr/>
            </p:nvSpPr>
            <p:spPr>
              <a:xfrm>
                <a:off x="869365"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3" name="Shape 323"/>
              <p:cNvSpPr/>
              <p:nvPr/>
            </p:nvSpPr>
            <p:spPr>
              <a:xfrm>
                <a:off x="2930084" y="518757"/>
                <a:ext cx="1789" cy="942708"/>
              </a:xfrm>
              <a:prstGeom prst="line">
                <a:avLst/>
              </a:prstGeom>
              <a:noFill/>
              <a:ln w="38100" cap="flat">
                <a:solidFill>
                  <a:srgbClr val="CC33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4" name="Shape 324"/>
              <p:cNvSpPr/>
              <p:nvPr/>
            </p:nvSpPr>
            <p:spPr>
              <a:xfrm>
                <a:off x="2930084"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5" name="Shape 325"/>
              <p:cNvSpPr/>
              <p:nvPr/>
            </p:nvSpPr>
            <p:spPr>
              <a:xfrm>
                <a:off x="3445264"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6" name="Shape 326"/>
              <p:cNvSpPr/>
              <p:nvPr/>
            </p:nvSpPr>
            <p:spPr>
              <a:xfrm>
                <a:off x="250076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7" name="Shape 327"/>
              <p:cNvSpPr/>
              <p:nvPr/>
            </p:nvSpPr>
            <p:spPr>
              <a:xfrm>
                <a:off x="198558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8" name="Shape 328"/>
              <p:cNvSpPr/>
              <p:nvPr/>
            </p:nvSpPr>
            <p:spPr>
              <a:xfrm>
                <a:off x="147040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9" name="Shape 329"/>
              <p:cNvSpPr/>
              <p:nvPr/>
            </p:nvSpPr>
            <p:spPr>
              <a:xfrm>
                <a:off x="1041092"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0" name="Shape 330"/>
              <p:cNvSpPr/>
              <p:nvPr/>
            </p:nvSpPr>
            <p:spPr>
              <a:xfrm>
                <a:off x="3960443" y="518757"/>
                <a:ext cx="1790"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1" name="Shape 331"/>
              <p:cNvSpPr/>
              <p:nvPr/>
            </p:nvSpPr>
            <p:spPr>
              <a:xfrm>
                <a:off x="4475623"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2" name="Shape 332"/>
              <p:cNvSpPr/>
              <p:nvPr/>
            </p:nvSpPr>
            <p:spPr>
              <a:xfrm>
                <a:off x="4990803"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3" name="Shape 333"/>
              <p:cNvSpPr/>
              <p:nvPr/>
            </p:nvSpPr>
            <p:spPr>
              <a:xfrm>
                <a:off x="2930084"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4" name="Shape 334"/>
              <p:cNvSpPr/>
              <p:nvPr/>
            </p:nvSpPr>
            <p:spPr>
              <a:xfrm>
                <a:off x="3445263" y="1033937"/>
                <a:ext cx="1790"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5" name="Shape 335"/>
              <p:cNvSpPr/>
              <p:nvPr/>
            </p:nvSpPr>
            <p:spPr>
              <a:xfrm>
                <a:off x="2500768"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6" name="Shape 336"/>
              <p:cNvSpPr/>
              <p:nvPr/>
            </p:nvSpPr>
            <p:spPr>
              <a:xfrm>
                <a:off x="1985588"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7" name="Shape 337"/>
              <p:cNvSpPr/>
              <p:nvPr/>
            </p:nvSpPr>
            <p:spPr>
              <a:xfrm>
                <a:off x="1470408" y="948073"/>
                <a:ext cx="1789" cy="685118"/>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8" name="Shape 338"/>
              <p:cNvSpPr/>
              <p:nvPr/>
            </p:nvSpPr>
            <p:spPr>
              <a:xfrm>
                <a:off x="1041092" y="862210"/>
                <a:ext cx="1789" cy="770981"/>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9" name="Shape 339"/>
              <p:cNvSpPr/>
              <p:nvPr/>
            </p:nvSpPr>
            <p:spPr>
              <a:xfrm>
                <a:off x="3960444" y="948073"/>
                <a:ext cx="1789" cy="685118"/>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40" name="Shape 340"/>
              <p:cNvSpPr/>
              <p:nvPr/>
            </p:nvSpPr>
            <p:spPr>
              <a:xfrm>
                <a:off x="4475623"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41" name="Shape 341"/>
              <p:cNvSpPr/>
              <p:nvPr/>
            </p:nvSpPr>
            <p:spPr>
              <a:xfrm>
                <a:off x="4990803"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grpSp>
        <p:sp>
          <p:nvSpPr>
            <p:cNvPr id="343" name="Shape 343"/>
            <p:cNvSpPr/>
            <p:nvPr/>
          </p:nvSpPr>
          <p:spPr>
            <a:xfrm>
              <a:off x="8374608" y="2068488"/>
              <a:ext cx="2777766" cy="281182"/>
            </a:xfrm>
            <a:prstGeom prst="rightArrow">
              <a:avLst>
                <a:gd name="adj1" fmla="val 32000"/>
                <a:gd name="adj2" fmla="val 149362"/>
              </a:avLst>
            </a:prstGeom>
            <a:solidFill>
              <a:srgbClr val="B36AE2"/>
            </a:solidFill>
            <a:ln w="12700">
              <a:miter lim="400000"/>
            </a:ln>
            <a:effectLst>
              <a:outerShdw blurRad="38100" dist="25400" dir="5400000" rotWithShape="0">
                <a:srgbClr val="000000">
                  <a:alpha val="50000"/>
                </a:srgbClr>
              </a:outerShdw>
            </a:effectLst>
          </p:spPr>
          <p:txBody>
            <a:bodyPr lIns="0" tIns="0" rIns="0" bIns="0" anchor="ctr"/>
            <a:lstStyle/>
            <a:p>
              <a:pPr lvl="0">
                <a:defRPr sz="2400">
                  <a:solidFill>
                    <a:srgbClr val="FFFFFF"/>
                  </a:solidFill>
                </a:defRPr>
              </a:pPr>
              <a:endParaRPr sz="2418"/>
            </a:p>
          </p:txBody>
        </p:sp>
      </p:grpSp>
      <p:sp>
        <p:nvSpPr>
          <p:cNvPr id="344" name="Shape 344"/>
          <p:cNvSpPr/>
          <p:nvPr/>
        </p:nvSpPr>
        <p:spPr>
          <a:xfrm>
            <a:off x="680951" y="8173434"/>
            <a:ext cx="10828403" cy="649759"/>
          </a:xfrm>
          <a:prstGeom prst="rect">
            <a:avLst/>
          </a:prstGeom>
          <a:ln/>
          <a:extLst>
            <a:ext uri="{C572A759-6A51-4108-AA02-DFA0A04FC94B}">
              <ma14:wrappingTextBoxFlag xmlns:ma14="http://schemas.microsoft.com/office/mac/drawingml/2011/main" xmlns="" val="1"/>
            </a:ext>
          </a:extLst>
        </p:spPr>
        <p:style>
          <a:lnRef idx="2">
            <a:schemeClr val="accent5"/>
          </a:lnRef>
          <a:fillRef idx="1">
            <a:schemeClr val="lt1"/>
          </a:fillRef>
          <a:effectRef idx="0">
            <a:schemeClr val="accent5"/>
          </a:effectRef>
          <a:fontRef idx="minor">
            <a:schemeClr val="dk1"/>
          </a:fontRef>
        </p:style>
        <p:txBody>
          <a:bodyPr wrap="square" lIns="50783" tIns="50783" rIns="50783" bIns="50783" anchor="ctr">
            <a:spAutoFit/>
          </a:bodyPr>
          <a:lstStyle/>
          <a:p>
            <a:pPr lvl="0" algn="l">
              <a:defRPr sz="1800"/>
            </a:pPr>
            <a:r>
              <a:rPr sz="3556" b="1" dirty="0" err="1">
                <a:latin typeface="黑体" pitchFamily="49" charset="-122"/>
                <a:ea typeface="黑体" pitchFamily="49" charset="-122"/>
              </a:rPr>
              <a:t>思路：均匀电场</a:t>
            </a:r>
            <a:r>
              <a:rPr sz="3556" b="1" dirty="0">
                <a:latin typeface="黑体" pitchFamily="49" charset="-122"/>
                <a:ea typeface="黑体" pitchFamily="49" charset="-122"/>
              </a:rPr>
              <a:t> —&gt;</a:t>
            </a:r>
            <a:r>
              <a:rPr sz="3556" b="1" dirty="0" err="1">
                <a:latin typeface="黑体" pitchFamily="49" charset="-122"/>
                <a:ea typeface="黑体" pitchFamily="49" charset="-122"/>
              </a:rPr>
              <a:t>加速度恒定</a:t>
            </a:r>
            <a:r>
              <a:rPr sz="3556" b="1" dirty="0">
                <a:latin typeface="黑体" pitchFamily="49" charset="-122"/>
                <a:ea typeface="黑体" pitchFamily="49" charset="-122"/>
              </a:rPr>
              <a:t>—&gt;</a:t>
            </a:r>
            <a:r>
              <a:rPr sz="3556" b="1" dirty="0" err="1">
                <a:latin typeface="黑体" pitchFamily="49" charset="-122"/>
                <a:ea typeface="黑体" pitchFamily="49" charset="-122"/>
              </a:rPr>
              <a:t>牛顿第二定律</a:t>
            </a:r>
            <a:endParaRPr sz="3556" b="1" dirty="0">
              <a:latin typeface="黑体" pitchFamily="49" charset="-122"/>
              <a:ea typeface="黑体" pitchFamily="49" charset="-122"/>
            </a:endParaRPr>
          </a:p>
        </p:txBody>
      </p:sp>
      <p:pic>
        <p:nvPicPr>
          <p:cNvPr id="4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2186" y="3443042"/>
            <a:ext cx="6626304" cy="4462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0856265" y="6528843"/>
            <a:ext cx="2148535" cy="11817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sz="2844" b="1" dirty="0">
                <a:solidFill>
                  <a:srgbClr val="000000"/>
                </a:solidFill>
                <a:latin typeface="Times New Roman"/>
                <a:ea typeface="Times New Roman"/>
                <a:cs typeface="Times New Roman"/>
                <a:sym typeface="Times New Roman"/>
              </a:rPr>
              <a:t>电场力做功转化为动能</a:t>
            </a:r>
          </a:p>
        </p:txBody>
      </p:sp>
    </p:spTree>
    <p:extLst>
      <p:ext uri="{BB962C8B-B14F-4D97-AF65-F5344CB8AC3E}">
        <p14:creationId xmlns:p14="http://schemas.microsoft.com/office/powerpoint/2010/main" val="3506620693"/>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2217" y="714446"/>
            <a:ext cx="11623696" cy="190410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sz="4800" b="1" dirty="0">
                <a:solidFill>
                  <a:srgbClr val="0000CC"/>
                </a:solidFill>
                <a:latin typeface="黑体" pitchFamily="49" charset="-122"/>
                <a:ea typeface="黑体" pitchFamily="49" charset="-122"/>
              </a:rPr>
              <a:t>思考：如果从阴极孔中射出的是质子，会是一种什么情况？</a:t>
            </a:r>
            <a:endParaRPr lang="zh-CN" altLang="en-US" sz="3200" b="1" dirty="0">
              <a:solidFill>
                <a:srgbClr val="0000CC"/>
              </a:solidFill>
              <a:latin typeface="黑体" pitchFamily="49" charset="-122"/>
              <a:ea typeface="黑体" pitchFamily="49" charset="-122"/>
              <a:sym typeface="Times New Roman"/>
            </a:endParaRPr>
          </a:p>
        </p:txBody>
      </p:sp>
      <p:grpSp>
        <p:nvGrpSpPr>
          <p:cNvPr id="3" name="组合 2"/>
          <p:cNvGrpSpPr/>
          <p:nvPr/>
        </p:nvGrpSpPr>
        <p:grpSpPr>
          <a:xfrm>
            <a:off x="9838092" y="2454446"/>
            <a:ext cx="2370098" cy="3154422"/>
            <a:chOff x="8374608" y="628330"/>
            <a:chExt cx="2777766" cy="3637234"/>
          </a:xfrm>
        </p:grpSpPr>
        <p:grpSp>
          <p:nvGrpSpPr>
            <p:cNvPr id="4" name="Group 342"/>
            <p:cNvGrpSpPr/>
            <p:nvPr/>
          </p:nvGrpSpPr>
          <p:grpSpPr>
            <a:xfrm rot="5400000">
              <a:off x="8047428" y="1274088"/>
              <a:ext cx="3637234" cy="2345717"/>
              <a:chOff x="704794" y="-175562"/>
              <a:chExt cx="4622307" cy="2145052"/>
            </a:xfrm>
          </p:grpSpPr>
          <p:sp>
            <p:nvSpPr>
              <p:cNvPr id="6" name="Shape 303"/>
              <p:cNvSpPr/>
              <p:nvPr/>
            </p:nvSpPr>
            <p:spPr>
              <a:xfrm>
                <a:off x="704794" y="1640346"/>
                <a:ext cx="4622307" cy="329144"/>
              </a:xfrm>
              <a:prstGeom prst="rect">
                <a:avLst/>
              </a:prstGeom>
              <a:solidFill>
                <a:srgbClr val="99FF99"/>
              </a:solidFill>
              <a:ln w="38100" cap="flat">
                <a:solidFill>
                  <a:srgbClr val="000000"/>
                </a:solidFill>
                <a:prstDash val="solid"/>
                <a:miter lim="800000"/>
              </a:ln>
              <a:effectLst/>
            </p:spPr>
            <p:txBody>
              <a:bodyPr wrap="square" lIns="65023" tIns="65023" rIns="65023" bIns="65023" numCol="1" anchor="ctr">
                <a:noAutofit/>
              </a:bodyPr>
              <a:lstStyle/>
              <a:p>
                <a:pPr defTabSz="914064">
                  <a:defRPr sz="3400">
                    <a:latin typeface="Arial"/>
                    <a:ea typeface="Arial"/>
                    <a:cs typeface="Arial"/>
                    <a:sym typeface="Arial"/>
                  </a:defRPr>
                </a:pPr>
                <a:endParaRPr sz="4835"/>
              </a:p>
            </p:txBody>
          </p:sp>
          <p:sp>
            <p:nvSpPr>
              <p:cNvPr id="7" name="Shape 304"/>
              <p:cNvSpPr/>
              <p:nvPr/>
            </p:nvSpPr>
            <p:spPr>
              <a:xfrm>
                <a:off x="704794" y="180670"/>
                <a:ext cx="4622307" cy="329144"/>
              </a:xfrm>
              <a:prstGeom prst="rect">
                <a:avLst/>
              </a:prstGeom>
              <a:solidFill>
                <a:srgbClr val="CC0066"/>
              </a:solidFill>
              <a:ln w="38100" cap="flat">
                <a:solidFill>
                  <a:srgbClr val="CC3300"/>
                </a:solidFill>
                <a:prstDash val="solid"/>
                <a:miter lim="800000"/>
              </a:ln>
              <a:effectLst/>
            </p:spPr>
            <p:txBody>
              <a:bodyPr wrap="square" lIns="65023" tIns="65023" rIns="65023" bIns="65023" numCol="1" anchor="ctr">
                <a:noAutofit/>
              </a:bodyPr>
              <a:lstStyle/>
              <a:p>
                <a:pPr defTabSz="914064">
                  <a:defRPr sz="3400">
                    <a:latin typeface="Arial"/>
                    <a:ea typeface="Arial"/>
                    <a:cs typeface="Arial"/>
                    <a:sym typeface="Arial"/>
                  </a:defRPr>
                </a:pPr>
                <a:endParaRPr sz="4835"/>
              </a:p>
            </p:txBody>
          </p:sp>
          <p:sp>
            <p:nvSpPr>
              <p:cNvPr id="8" name="Shape 305"/>
              <p:cNvSpPr/>
              <p:nvPr/>
            </p:nvSpPr>
            <p:spPr>
              <a:xfrm>
                <a:off x="425076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9" name="Shape 306"/>
              <p:cNvSpPr/>
              <p:nvPr/>
            </p:nvSpPr>
            <p:spPr>
              <a:xfrm>
                <a:off x="1753223" y="-14865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0" name="Shape 307"/>
              <p:cNvSpPr/>
              <p:nvPr/>
            </p:nvSpPr>
            <p:spPr>
              <a:xfrm>
                <a:off x="476594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1" name="Shape 308"/>
              <p:cNvSpPr/>
              <p:nvPr/>
            </p:nvSpPr>
            <p:spPr>
              <a:xfrm>
                <a:off x="373558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2" name="Shape 309"/>
              <p:cNvSpPr/>
              <p:nvPr/>
            </p:nvSpPr>
            <p:spPr>
              <a:xfrm>
                <a:off x="270522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3" name="Shape 310"/>
              <p:cNvSpPr/>
              <p:nvPr/>
            </p:nvSpPr>
            <p:spPr>
              <a:xfrm>
                <a:off x="816234" y="-14865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4" name="Shape 311"/>
              <p:cNvSpPr/>
              <p:nvPr/>
            </p:nvSpPr>
            <p:spPr>
              <a:xfrm>
                <a:off x="3220406"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5" name="Shape 312"/>
              <p:cNvSpPr/>
              <p:nvPr/>
            </p:nvSpPr>
            <p:spPr>
              <a:xfrm>
                <a:off x="2190048" y="-175562"/>
                <a:ext cx="415728"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6" name="Shape 313"/>
              <p:cNvSpPr/>
              <p:nvPr/>
            </p:nvSpPr>
            <p:spPr>
              <a:xfrm>
                <a:off x="1245551" y="-175562"/>
                <a:ext cx="415727" cy="6974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476" tIns="65476" rIns="65476" bIns="65476" numCol="1" anchor="t">
                <a:no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4978" dirty="0"/>
                  <a:t>+</a:t>
                </a:r>
              </a:p>
            </p:txBody>
          </p:sp>
          <p:sp>
            <p:nvSpPr>
              <p:cNvPr id="17" name="Shape 314"/>
              <p:cNvSpPr/>
              <p:nvPr/>
            </p:nvSpPr>
            <p:spPr>
              <a:xfrm>
                <a:off x="1384545"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18" name="Shape 315"/>
              <p:cNvSpPr/>
              <p:nvPr/>
            </p:nvSpPr>
            <p:spPr>
              <a:xfrm>
                <a:off x="2329041"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19" name="Shape 316"/>
              <p:cNvSpPr/>
              <p:nvPr/>
            </p:nvSpPr>
            <p:spPr>
              <a:xfrm>
                <a:off x="3359401"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0" name="Shape 317"/>
              <p:cNvSpPr/>
              <p:nvPr/>
            </p:nvSpPr>
            <p:spPr>
              <a:xfrm>
                <a:off x="4389760"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1" name="Shape 318"/>
              <p:cNvSpPr/>
              <p:nvPr/>
            </p:nvSpPr>
            <p:spPr>
              <a:xfrm>
                <a:off x="1813861"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2" name="Shape 319"/>
              <p:cNvSpPr/>
              <p:nvPr/>
            </p:nvSpPr>
            <p:spPr>
              <a:xfrm>
                <a:off x="3874580"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3" name="Shape 320"/>
              <p:cNvSpPr/>
              <p:nvPr/>
            </p:nvSpPr>
            <p:spPr>
              <a:xfrm>
                <a:off x="2844221"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4" name="Shape 321"/>
              <p:cNvSpPr/>
              <p:nvPr/>
            </p:nvSpPr>
            <p:spPr>
              <a:xfrm>
                <a:off x="4904940" y="1804918"/>
                <a:ext cx="257590"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5" name="Shape 322"/>
              <p:cNvSpPr/>
              <p:nvPr/>
            </p:nvSpPr>
            <p:spPr>
              <a:xfrm>
                <a:off x="869365" y="1804918"/>
                <a:ext cx="257591" cy="1789"/>
              </a:xfrm>
              <a:prstGeom prst="line">
                <a:avLst/>
              </a:prstGeom>
              <a:noFill/>
              <a:ln w="38100" cap="flat">
                <a:solidFill>
                  <a:srgbClr val="FF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6" name="Shape 323"/>
              <p:cNvSpPr/>
              <p:nvPr/>
            </p:nvSpPr>
            <p:spPr>
              <a:xfrm>
                <a:off x="2930084" y="518757"/>
                <a:ext cx="1789" cy="942708"/>
              </a:xfrm>
              <a:prstGeom prst="line">
                <a:avLst/>
              </a:prstGeom>
              <a:noFill/>
              <a:ln w="38100" cap="flat">
                <a:solidFill>
                  <a:srgbClr val="CC33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7" name="Shape 324"/>
              <p:cNvSpPr/>
              <p:nvPr/>
            </p:nvSpPr>
            <p:spPr>
              <a:xfrm>
                <a:off x="2930084"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8" name="Shape 325"/>
              <p:cNvSpPr/>
              <p:nvPr/>
            </p:nvSpPr>
            <p:spPr>
              <a:xfrm>
                <a:off x="3445264"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29" name="Shape 326"/>
              <p:cNvSpPr/>
              <p:nvPr/>
            </p:nvSpPr>
            <p:spPr>
              <a:xfrm>
                <a:off x="250076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0" name="Shape 327"/>
              <p:cNvSpPr/>
              <p:nvPr/>
            </p:nvSpPr>
            <p:spPr>
              <a:xfrm>
                <a:off x="198558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1" name="Shape 328"/>
              <p:cNvSpPr/>
              <p:nvPr/>
            </p:nvSpPr>
            <p:spPr>
              <a:xfrm>
                <a:off x="1470408"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2" name="Shape 329"/>
              <p:cNvSpPr/>
              <p:nvPr/>
            </p:nvSpPr>
            <p:spPr>
              <a:xfrm>
                <a:off x="1041092"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3" name="Shape 330"/>
              <p:cNvSpPr/>
              <p:nvPr/>
            </p:nvSpPr>
            <p:spPr>
              <a:xfrm>
                <a:off x="3960443" y="518757"/>
                <a:ext cx="1790"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4" name="Shape 331"/>
              <p:cNvSpPr/>
              <p:nvPr/>
            </p:nvSpPr>
            <p:spPr>
              <a:xfrm>
                <a:off x="4475623"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5" name="Shape 332"/>
              <p:cNvSpPr/>
              <p:nvPr/>
            </p:nvSpPr>
            <p:spPr>
              <a:xfrm>
                <a:off x="4990803" y="518757"/>
                <a:ext cx="1789" cy="513391"/>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6" name="Shape 333"/>
              <p:cNvSpPr/>
              <p:nvPr/>
            </p:nvSpPr>
            <p:spPr>
              <a:xfrm>
                <a:off x="2930084"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7" name="Shape 334"/>
              <p:cNvSpPr/>
              <p:nvPr/>
            </p:nvSpPr>
            <p:spPr>
              <a:xfrm>
                <a:off x="3445263" y="1033937"/>
                <a:ext cx="1790"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8" name="Shape 335"/>
              <p:cNvSpPr/>
              <p:nvPr/>
            </p:nvSpPr>
            <p:spPr>
              <a:xfrm>
                <a:off x="2500768"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39" name="Shape 336"/>
              <p:cNvSpPr/>
              <p:nvPr/>
            </p:nvSpPr>
            <p:spPr>
              <a:xfrm>
                <a:off x="1985588"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40" name="Shape 337"/>
              <p:cNvSpPr/>
              <p:nvPr/>
            </p:nvSpPr>
            <p:spPr>
              <a:xfrm>
                <a:off x="1470408" y="948073"/>
                <a:ext cx="1789" cy="685118"/>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41" name="Shape 338"/>
              <p:cNvSpPr/>
              <p:nvPr/>
            </p:nvSpPr>
            <p:spPr>
              <a:xfrm>
                <a:off x="1041092" y="862210"/>
                <a:ext cx="1789" cy="770981"/>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42" name="Shape 339"/>
              <p:cNvSpPr/>
              <p:nvPr/>
            </p:nvSpPr>
            <p:spPr>
              <a:xfrm>
                <a:off x="3960444" y="948073"/>
                <a:ext cx="1789" cy="685118"/>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43" name="Shape 340"/>
              <p:cNvSpPr/>
              <p:nvPr/>
            </p:nvSpPr>
            <p:spPr>
              <a:xfrm>
                <a:off x="4475623"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sp>
            <p:nvSpPr>
              <p:cNvPr id="44" name="Shape 341"/>
              <p:cNvSpPr/>
              <p:nvPr/>
            </p:nvSpPr>
            <p:spPr>
              <a:xfrm>
                <a:off x="4990803" y="1033937"/>
                <a:ext cx="1789" cy="599254"/>
              </a:xfrm>
              <a:prstGeom prst="line">
                <a:avLst/>
              </a:prstGeom>
              <a:noFill/>
              <a:ln w="38100" cap="flat">
                <a:solidFill>
                  <a:srgbClr val="000000"/>
                </a:solidFill>
                <a:prstDash val="solid"/>
                <a:round/>
              </a:ln>
              <a:effectLst/>
            </p:spPr>
            <p:txBody>
              <a:bodyPr wrap="square" lIns="65023" tIns="65023" rIns="65023" bIns="65023" numCol="1" anchor="t">
                <a:noAutofit/>
              </a:bodyPr>
              <a:lstStyle/>
              <a:p>
                <a:pPr algn="l" defTabSz="457034">
                  <a:defRPr sz="1600">
                    <a:latin typeface="Helvetica"/>
                    <a:ea typeface="Helvetica"/>
                    <a:cs typeface="Helvetica"/>
                    <a:sym typeface="Helvetica"/>
                  </a:defRPr>
                </a:pPr>
                <a:endParaRPr sz="1564"/>
              </a:p>
            </p:txBody>
          </p:sp>
        </p:grpSp>
        <p:sp>
          <p:nvSpPr>
            <p:cNvPr id="5" name="Shape 343"/>
            <p:cNvSpPr/>
            <p:nvPr/>
          </p:nvSpPr>
          <p:spPr>
            <a:xfrm>
              <a:off x="8374608" y="2068488"/>
              <a:ext cx="2777766" cy="281182"/>
            </a:xfrm>
            <a:prstGeom prst="rightArrow">
              <a:avLst>
                <a:gd name="adj1" fmla="val 32000"/>
                <a:gd name="adj2" fmla="val 149362"/>
              </a:avLst>
            </a:prstGeom>
            <a:solidFill>
              <a:srgbClr val="B36AE2"/>
            </a:solidFill>
            <a:ln w="12700">
              <a:miter lim="400000"/>
            </a:ln>
            <a:effectLst>
              <a:outerShdw blurRad="38100" dist="25400" dir="5400000" rotWithShape="0">
                <a:srgbClr val="000000">
                  <a:alpha val="50000"/>
                </a:srgbClr>
              </a:outerShdw>
            </a:effectLst>
          </p:spPr>
          <p:txBody>
            <a:bodyPr lIns="0" tIns="0" rIns="0" bIns="0" anchor="ctr"/>
            <a:lstStyle/>
            <a:p>
              <a:pPr lvl="0">
                <a:defRPr sz="2400">
                  <a:solidFill>
                    <a:srgbClr val="FFFFFF"/>
                  </a:solidFill>
                </a:defRPr>
              </a:pPr>
              <a:endParaRPr sz="2418"/>
            </a:p>
          </p:txBody>
        </p:sp>
      </p:grpSp>
      <p:sp>
        <p:nvSpPr>
          <p:cNvPr id="45" name="TextBox 44"/>
          <p:cNvSpPr txBox="1"/>
          <p:nvPr/>
        </p:nvSpPr>
        <p:spPr>
          <a:xfrm>
            <a:off x="972186" y="2566755"/>
            <a:ext cx="8704967" cy="308597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50000"/>
              </a:lnSpc>
            </a:pPr>
            <a:r>
              <a:rPr lang="zh-CN" altLang="en-US" sz="3200" b="1" dirty="0">
                <a:solidFill>
                  <a:srgbClr val="000000"/>
                </a:solidFill>
                <a:sym typeface="Times New Roman"/>
              </a:rPr>
              <a:t>如果质子的初速度为：</a:t>
            </a:r>
            <a:endParaRPr lang="en-US" altLang="zh-CN" sz="3200" b="1" dirty="0">
              <a:solidFill>
                <a:srgbClr val="000000"/>
              </a:solidFill>
              <a:sym typeface="Times New Roman"/>
            </a:endParaRPr>
          </a:p>
          <a:p>
            <a:pPr algn="l" defTabSz="1463017" rtl="0" latinLnBrk="1" hangingPunct="0">
              <a:lnSpc>
                <a:spcPct val="150000"/>
              </a:lnSpc>
            </a:pPr>
            <a:r>
              <a:rPr lang="zh-CN" altLang="en-US" sz="4800" b="1" dirty="0">
                <a:solidFill>
                  <a:srgbClr val="000000"/>
                </a:solidFill>
              </a:rPr>
              <a:t>那么质子到达阳极的速度是多少？（如果它们能到达）</a:t>
            </a:r>
            <a:endParaRPr lang="zh-CN" altLang="en-US" sz="3200" b="1" dirty="0">
              <a:solidFill>
                <a:srgbClr val="000000"/>
              </a:solidFill>
              <a:sym typeface="Times New Roman"/>
            </a:endParaRPr>
          </a:p>
        </p:txBody>
      </p:sp>
      <p:graphicFrame>
        <p:nvGraphicFramePr>
          <p:cNvPr id="46" name="对象 45"/>
          <p:cNvGraphicFramePr>
            <a:graphicFrameLocks noChangeAspect="1"/>
          </p:cNvGraphicFramePr>
          <p:nvPr>
            <p:extLst/>
          </p:nvPr>
        </p:nvGraphicFramePr>
        <p:xfrm>
          <a:off x="5324669" y="2742544"/>
          <a:ext cx="2713902" cy="592690"/>
        </p:xfrm>
        <a:graphic>
          <a:graphicData uri="http://schemas.openxmlformats.org/presentationml/2006/ole">
            <mc:AlternateContent xmlns:mc="http://schemas.openxmlformats.org/markup-compatibility/2006">
              <mc:Choice xmlns:v="urn:schemas-microsoft-com:vml" Requires="v">
                <p:oleObj spid="_x0000_s7269" name="Equation" r:id="rId3" imgW="1104840" imgH="241200" progId="Equation.DSMT4">
                  <p:embed/>
                </p:oleObj>
              </mc:Choice>
              <mc:Fallback>
                <p:oleObj name="Equation" r:id="rId3" imgW="1104840" imgH="241200" progId="Equation.DSMT4">
                  <p:embed/>
                  <p:pic>
                    <p:nvPicPr>
                      <p:cNvPr id="46" name="对象 45"/>
                      <p:cNvPicPr/>
                      <p:nvPr/>
                    </p:nvPicPr>
                    <p:blipFill>
                      <a:blip r:embed="rId4"/>
                      <a:stretch>
                        <a:fillRect/>
                      </a:stretch>
                    </p:blipFill>
                    <p:spPr>
                      <a:xfrm>
                        <a:off x="5324669" y="2742544"/>
                        <a:ext cx="2713902" cy="592690"/>
                      </a:xfrm>
                      <a:prstGeom prst="rect">
                        <a:avLst/>
                      </a:prstGeom>
                    </p:spPr>
                  </p:pic>
                </p:oleObj>
              </mc:Fallback>
            </mc:AlternateContent>
          </a:graphicData>
        </a:graphic>
      </p:graphicFrame>
      <p:graphicFrame>
        <p:nvGraphicFramePr>
          <p:cNvPr id="47" name="对象 46"/>
          <p:cNvGraphicFramePr>
            <a:graphicFrameLocks noChangeAspect="1"/>
          </p:cNvGraphicFramePr>
          <p:nvPr>
            <p:extLst/>
          </p:nvPr>
        </p:nvGraphicFramePr>
        <p:xfrm>
          <a:off x="5324669" y="6412971"/>
          <a:ext cx="4366245" cy="1271185"/>
        </p:xfrm>
        <a:graphic>
          <a:graphicData uri="http://schemas.openxmlformats.org/presentationml/2006/ole">
            <mc:AlternateContent xmlns:mc="http://schemas.openxmlformats.org/markup-compatibility/2006">
              <mc:Choice xmlns:v="urn:schemas-microsoft-com:vml" Requires="v">
                <p:oleObj spid="_x0000_s7270" name="Equation" r:id="rId5" imgW="1002960" imgH="291960" progId="Equation.DSMT4">
                  <p:embed/>
                </p:oleObj>
              </mc:Choice>
              <mc:Fallback>
                <p:oleObj name="Equation" r:id="rId5" imgW="1002960" imgH="291960" progId="Equation.DSMT4">
                  <p:embed/>
                  <p:pic>
                    <p:nvPicPr>
                      <p:cNvPr id="47" name="对象 46"/>
                      <p:cNvPicPr/>
                      <p:nvPr/>
                    </p:nvPicPr>
                    <p:blipFill>
                      <a:blip r:embed="rId6"/>
                      <a:stretch>
                        <a:fillRect/>
                      </a:stretch>
                    </p:blipFill>
                    <p:spPr>
                      <a:xfrm>
                        <a:off x="5324669" y="6412971"/>
                        <a:ext cx="4366245" cy="1271185"/>
                      </a:xfrm>
                      <a:prstGeom prst="rect">
                        <a:avLst/>
                      </a:prstGeom>
                    </p:spPr>
                  </p:pic>
                </p:oleObj>
              </mc:Fallback>
            </mc:AlternateContent>
          </a:graphicData>
        </a:graphic>
      </p:graphicFrame>
      <p:sp>
        <p:nvSpPr>
          <p:cNvPr id="48" name="TextBox 47"/>
          <p:cNvSpPr txBox="1"/>
          <p:nvPr/>
        </p:nvSpPr>
        <p:spPr>
          <a:xfrm>
            <a:off x="2346456" y="5580810"/>
            <a:ext cx="7915345" cy="76155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sz="3413" b="1" dirty="0">
                <a:solidFill>
                  <a:srgbClr val="FF0000"/>
                </a:solidFill>
                <a:latin typeface="Times New Roman"/>
                <a:ea typeface="Times New Roman"/>
                <a:cs typeface="Times New Roman"/>
                <a:sym typeface="Times New Roman"/>
              </a:rPr>
              <a:t>加速度方向水平向左，做匀减速运动</a:t>
            </a:r>
          </a:p>
        </p:txBody>
      </p:sp>
      <p:graphicFrame>
        <p:nvGraphicFramePr>
          <p:cNvPr id="49" name="对象 48"/>
          <p:cNvGraphicFramePr>
            <a:graphicFrameLocks noChangeAspect="1"/>
          </p:cNvGraphicFramePr>
          <p:nvPr>
            <p:extLst>
              <p:ext uri="{D42A27DB-BD31-4B8C-83A1-F6EECF244321}">
                <p14:modId xmlns:p14="http://schemas.microsoft.com/office/powerpoint/2010/main" val="275830744"/>
              </p:ext>
            </p:extLst>
          </p:nvPr>
        </p:nvGraphicFramePr>
        <p:xfrm>
          <a:off x="1816100" y="6491288"/>
          <a:ext cx="1984375" cy="1617662"/>
        </p:xfrm>
        <a:graphic>
          <a:graphicData uri="http://schemas.openxmlformats.org/presentationml/2006/ole">
            <mc:AlternateContent xmlns:mc="http://schemas.openxmlformats.org/markup-compatibility/2006">
              <mc:Choice xmlns:v="urn:schemas-microsoft-com:vml" Requires="v">
                <p:oleObj spid="_x0000_s7271" name="Equation" r:id="rId7" imgW="482400" imgH="393480" progId="Equation.DSMT4">
                  <p:embed/>
                </p:oleObj>
              </mc:Choice>
              <mc:Fallback>
                <p:oleObj name="Equation" r:id="rId7" imgW="482400" imgH="393480" progId="Equation.DSMT4">
                  <p:embed/>
                  <p:pic>
                    <p:nvPicPr>
                      <p:cNvPr id="49" name="对象 48"/>
                      <p:cNvPicPr/>
                      <p:nvPr/>
                    </p:nvPicPr>
                    <p:blipFill>
                      <a:blip r:embed="rId8"/>
                      <a:stretch>
                        <a:fillRect/>
                      </a:stretch>
                    </p:blipFill>
                    <p:spPr>
                      <a:xfrm>
                        <a:off x="1816100" y="6491288"/>
                        <a:ext cx="1984375" cy="1617662"/>
                      </a:xfrm>
                      <a:prstGeom prst="rect">
                        <a:avLst/>
                      </a:prstGeom>
                    </p:spPr>
                  </p:pic>
                </p:oleObj>
              </mc:Fallback>
            </mc:AlternateContent>
          </a:graphicData>
        </a:graphic>
      </p:graphicFrame>
    </p:spTree>
    <p:extLst>
      <p:ext uri="{BB962C8B-B14F-4D97-AF65-F5344CB8AC3E}">
        <p14:creationId xmlns:p14="http://schemas.microsoft.com/office/powerpoint/2010/main" val="307836364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fill="hold"/>
                                        <p:tgtEl>
                                          <p:spTgt spid="49"/>
                                        </p:tgtEl>
                                        <p:attrNameLst>
                                          <p:attrName>ppt_x</p:attrName>
                                        </p:attrNameLst>
                                      </p:cBhvr>
                                      <p:tavLst>
                                        <p:tav tm="0">
                                          <p:val>
                                            <p:strVal val="#ppt_x"/>
                                          </p:val>
                                        </p:tav>
                                        <p:tav tm="100000">
                                          <p:val>
                                            <p:strVal val="#ppt_x"/>
                                          </p:val>
                                        </p:tav>
                                      </p:tavLst>
                                    </p:anim>
                                    <p:anim calcmode="lin" valueType="num">
                                      <p:cBhvr additive="base">
                                        <p:cTn id="1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129" y="1"/>
            <a:ext cx="5671250" cy="8699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65001" tIns="65001" rIns="65001" bIns="65001" numCol="1" spcCol="38088" rtlCol="0" anchor="t">
            <a:spAutoFit/>
          </a:bodyPr>
          <a:lstStyle/>
          <a:p>
            <a:pPr algn="l" rtl="0" latinLnBrk="1" hangingPunct="0"/>
            <a:r>
              <a:rPr lang="zh-CN" altLang="en-US" sz="4800" dirty="0">
                <a:solidFill>
                  <a:srgbClr val="000000"/>
                </a:solidFill>
              </a:rPr>
              <a:t>电场的应用：示波器</a:t>
            </a:r>
          </a:p>
        </p:txBody>
      </p:sp>
      <p:sp>
        <p:nvSpPr>
          <p:cNvPr id="3" name="TextBox 2"/>
          <p:cNvSpPr txBox="1"/>
          <p:nvPr/>
        </p:nvSpPr>
        <p:spPr>
          <a:xfrm>
            <a:off x="221262" y="2764997"/>
            <a:ext cx="6861562" cy="21625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zh-CN" altLang="en-US" sz="4400" dirty="0" smtClean="0">
                <a:solidFill>
                  <a:srgbClr val="000000"/>
                </a:solidFill>
              </a:rPr>
              <a:t>   在</a:t>
            </a:r>
            <a:r>
              <a:rPr lang="zh-CN" altLang="en-US" sz="4400" dirty="0">
                <a:solidFill>
                  <a:srgbClr val="000000"/>
                </a:solidFill>
              </a:rPr>
              <a:t>示波器的阴极射线管（</a:t>
            </a:r>
            <a:r>
              <a:rPr lang="en-US" altLang="zh-CN" sz="4400" dirty="0">
                <a:solidFill>
                  <a:srgbClr val="000000"/>
                </a:solidFill>
              </a:rPr>
              <a:t>CRT</a:t>
            </a:r>
            <a:r>
              <a:rPr lang="zh-CN" altLang="en-US" sz="4400" dirty="0">
                <a:solidFill>
                  <a:srgbClr val="000000"/>
                </a:solidFill>
              </a:rPr>
              <a:t>）中</a:t>
            </a:r>
            <a:r>
              <a:rPr lang="zh-CN" altLang="en-US" sz="4400" dirty="0">
                <a:solidFill>
                  <a:srgbClr val="FF0000"/>
                </a:solidFill>
              </a:rPr>
              <a:t>电场</a:t>
            </a:r>
            <a:r>
              <a:rPr lang="zh-CN" altLang="en-US" sz="4400" dirty="0">
                <a:solidFill>
                  <a:srgbClr val="000000"/>
                </a:solidFill>
              </a:rPr>
              <a:t>用于加速电子束。也用于偏转电子束。</a:t>
            </a:r>
          </a:p>
        </p:txBody>
      </p:sp>
      <p:sp>
        <p:nvSpPr>
          <p:cNvPr id="4" name="TextBox 3"/>
          <p:cNvSpPr txBox="1"/>
          <p:nvPr/>
        </p:nvSpPr>
        <p:spPr>
          <a:xfrm>
            <a:off x="221262" y="734030"/>
            <a:ext cx="6656740" cy="21625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en-US" altLang="zh-CN" sz="4400" dirty="0" smtClean="0">
                <a:solidFill>
                  <a:srgbClr val="000000"/>
                </a:solidFill>
              </a:rPr>
              <a:t>   </a:t>
            </a:r>
            <a:r>
              <a:rPr lang="zh-CN" altLang="en-US" sz="4400" dirty="0" smtClean="0">
                <a:solidFill>
                  <a:srgbClr val="000000"/>
                </a:solidFill>
              </a:rPr>
              <a:t>一</a:t>
            </a:r>
            <a:r>
              <a:rPr lang="zh-CN" altLang="en-US" sz="4400" dirty="0">
                <a:solidFill>
                  <a:srgbClr val="000000"/>
                </a:solidFill>
              </a:rPr>
              <a:t>种</a:t>
            </a:r>
            <a:r>
              <a:rPr lang="zh-CN" altLang="en-US" sz="4400" dirty="0"/>
              <a:t>用来测量交流电或脉冲电流波的形状的</a:t>
            </a:r>
            <a:r>
              <a:rPr lang="zh-CN" altLang="en-US" sz="4400" dirty="0">
                <a:solidFill>
                  <a:srgbClr val="000000"/>
                </a:solidFill>
              </a:rPr>
              <a:t>仪器。</a:t>
            </a:r>
          </a:p>
        </p:txBody>
      </p:sp>
      <p:sp>
        <p:nvSpPr>
          <p:cNvPr id="5" name="TextBox 4"/>
          <p:cNvSpPr txBox="1"/>
          <p:nvPr/>
        </p:nvSpPr>
        <p:spPr>
          <a:xfrm>
            <a:off x="191518" y="4795964"/>
            <a:ext cx="12143529" cy="148548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zh-CN" altLang="en-US" sz="4400" dirty="0" smtClean="0">
                <a:solidFill>
                  <a:srgbClr val="000000"/>
                </a:solidFill>
              </a:rPr>
              <a:t>   但是</a:t>
            </a:r>
            <a:r>
              <a:rPr lang="zh-CN" altLang="en-US" sz="4400" dirty="0">
                <a:solidFill>
                  <a:srgbClr val="000000"/>
                </a:solidFill>
              </a:rPr>
              <a:t>在电视机和计算机显示器的</a:t>
            </a:r>
            <a:r>
              <a:rPr lang="en-US" altLang="zh-CN" sz="4400" dirty="0">
                <a:solidFill>
                  <a:srgbClr val="000000"/>
                </a:solidFill>
              </a:rPr>
              <a:t>CRT</a:t>
            </a:r>
            <a:r>
              <a:rPr lang="zh-CN" altLang="en-US" sz="4400" dirty="0">
                <a:solidFill>
                  <a:srgbClr val="000000"/>
                </a:solidFill>
              </a:rPr>
              <a:t>中，电子束的偏转是通过磁场来完成的。</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16869" y="268292"/>
            <a:ext cx="5778295" cy="38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4" name="AutoShape 2" descr="http://img3.imgtn.bdimg.com/it/u=3608632374,2790713803&amp;fm=26&amp;gp=0.jpg"/>
          <p:cNvSpPr>
            <a:spLocks noChangeAspect="1" noChangeArrowheads="1"/>
          </p:cNvSpPr>
          <p:nvPr/>
        </p:nvSpPr>
        <p:spPr bwMode="auto">
          <a:xfrm>
            <a:off x="221262" y="-205454"/>
            <a:ext cx="433493" cy="433495"/>
          </a:xfrm>
          <a:prstGeom prst="rect">
            <a:avLst/>
          </a:prstGeom>
          <a:noFill/>
        </p:spPr>
        <p:txBody>
          <a:bodyPr vert="horz" wrap="square" lIns="130010" tIns="65003" rIns="130010" bIns="65003" numCol="1" anchor="t" anchorCtr="0" compatLnSpc="1">
            <a:prstTxWarp prst="textNoShape">
              <a:avLst/>
            </a:prstTxWarp>
          </a:bodyPr>
          <a:lstStyle/>
          <a:p>
            <a:endParaRPr lang="zh-CN" altLang="en-US" sz="5120"/>
          </a:p>
        </p:txBody>
      </p:sp>
      <p:sp>
        <p:nvSpPr>
          <p:cNvPr id="3076" name="AutoShape 4" descr="http://img3.imgtn.bdimg.com/it/u=3608632374,2790713803&amp;fm=26&amp;gp=0.jpg"/>
          <p:cNvSpPr>
            <a:spLocks noChangeAspect="1" noChangeArrowheads="1"/>
          </p:cNvSpPr>
          <p:nvPr/>
        </p:nvSpPr>
        <p:spPr bwMode="auto">
          <a:xfrm>
            <a:off x="221262" y="-205454"/>
            <a:ext cx="433493" cy="433495"/>
          </a:xfrm>
          <a:prstGeom prst="rect">
            <a:avLst/>
          </a:prstGeom>
          <a:noFill/>
        </p:spPr>
        <p:txBody>
          <a:bodyPr vert="horz" wrap="square" lIns="130010" tIns="65003" rIns="130010" bIns="65003" numCol="1" anchor="t" anchorCtr="0" compatLnSpc="1">
            <a:prstTxWarp prst="textNoShape">
              <a:avLst/>
            </a:prstTxWarp>
          </a:bodyPr>
          <a:lstStyle/>
          <a:p>
            <a:endParaRPr lang="zh-CN" altLang="en-US" sz="5120"/>
          </a:p>
        </p:txBody>
      </p:sp>
      <p:pic>
        <p:nvPicPr>
          <p:cNvPr id="3077" name="Picture 5" descr="C:\Users\Administrator\Desktop\u=3608632374,2790713803&amp;fm=26&amp;gp=0.jpg"/>
          <p:cNvPicPr>
            <a:picLocks noChangeAspect="1" noChangeArrowheads="1"/>
          </p:cNvPicPr>
          <p:nvPr/>
        </p:nvPicPr>
        <p:blipFill>
          <a:blip r:embed="rId3" cstate="print"/>
          <a:srcRect/>
          <a:stretch>
            <a:fillRect/>
          </a:stretch>
        </p:blipFill>
        <p:spPr bwMode="auto">
          <a:xfrm>
            <a:off x="4" y="6515926"/>
            <a:ext cx="4316905" cy="3237679"/>
          </a:xfrm>
          <a:prstGeom prst="rect">
            <a:avLst/>
          </a:prstGeom>
          <a:noFill/>
        </p:spPr>
      </p:pic>
      <p:pic>
        <p:nvPicPr>
          <p:cNvPr id="3078" name="Picture 6" descr="C:\Users\Administrator\Desktop\u=3290914422,627222642&amp;fm=26&amp;gp=0.jpg"/>
          <p:cNvPicPr>
            <a:picLocks noChangeAspect="1" noChangeArrowheads="1"/>
          </p:cNvPicPr>
          <p:nvPr/>
        </p:nvPicPr>
        <p:blipFill>
          <a:blip r:embed="rId4" cstate="print"/>
          <a:srcRect/>
          <a:stretch>
            <a:fillRect/>
          </a:stretch>
        </p:blipFill>
        <p:spPr bwMode="auto">
          <a:xfrm>
            <a:off x="4454177" y="6654756"/>
            <a:ext cx="4889289" cy="3098844"/>
          </a:xfrm>
          <a:prstGeom prst="rect">
            <a:avLst/>
          </a:prstGeom>
          <a:noFill/>
        </p:spPr>
      </p:pic>
      <p:pic>
        <p:nvPicPr>
          <p:cNvPr id="3079" name="Picture 7" descr="C:\Users\Administrator\Desktop\u=897730266,2147779282&amp;fm=26&amp;gp=0.jpg"/>
          <p:cNvPicPr>
            <a:picLocks noChangeAspect="1" noChangeArrowheads="1"/>
          </p:cNvPicPr>
          <p:nvPr/>
        </p:nvPicPr>
        <p:blipFill>
          <a:blip r:embed="rId5" cstate="print"/>
          <a:srcRect/>
          <a:stretch>
            <a:fillRect/>
          </a:stretch>
        </p:blipFill>
        <p:spPr bwMode="auto">
          <a:xfrm>
            <a:off x="9165096" y="5849732"/>
            <a:ext cx="3675964" cy="3903873"/>
          </a:xfrm>
          <a:prstGeom prst="rect">
            <a:avLst/>
          </a:prstGeom>
          <a:noFill/>
        </p:spPr>
      </p:pic>
    </p:spTree>
    <p:extLst>
      <p:ext uri="{BB962C8B-B14F-4D97-AF65-F5344CB8AC3E}">
        <p14:creationId xmlns:p14="http://schemas.microsoft.com/office/powerpoint/2010/main" val="809640942"/>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9313" y="61200"/>
            <a:ext cx="10344004" cy="9191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65001" tIns="65001" rIns="65001" bIns="65001" numCol="1" spcCol="38088" rtlCol="0" anchor="t">
            <a:spAutoFit/>
          </a:bodyPr>
          <a:lstStyle/>
          <a:p>
            <a:pPr algn="l" rtl="0" latinLnBrk="1" hangingPunct="0"/>
            <a:r>
              <a:rPr lang="zh-CN" altLang="en-US" sz="5120" b="1" dirty="0">
                <a:solidFill>
                  <a:srgbClr val="0000CC"/>
                </a:solidFill>
              </a:rPr>
              <a:t>例题：电子射入匀强电</a:t>
            </a:r>
            <a:r>
              <a:rPr lang="zh-CN" altLang="en-US" sz="5120" b="1" dirty="0" smtClean="0">
                <a:solidFill>
                  <a:srgbClr val="0000CC"/>
                </a:solidFill>
              </a:rPr>
              <a:t>场</a:t>
            </a:r>
            <a:r>
              <a:rPr lang="en-US" altLang="zh-CN" sz="5120" b="1" i="1" dirty="0" smtClean="0">
                <a:solidFill>
                  <a:srgbClr val="0000CC"/>
                </a:solidFill>
              </a:rPr>
              <a:t>E</a:t>
            </a:r>
            <a:r>
              <a:rPr lang="zh-CN" altLang="en-US" sz="5120" b="1" dirty="0" smtClean="0">
                <a:solidFill>
                  <a:srgbClr val="0000CC"/>
                </a:solidFill>
              </a:rPr>
              <a:t>后</a:t>
            </a:r>
            <a:r>
              <a:rPr lang="zh-CN" altLang="en-US" sz="5120" b="1" dirty="0">
                <a:solidFill>
                  <a:srgbClr val="0000CC"/>
                </a:solidFill>
              </a:rPr>
              <a:t>的偏转</a:t>
            </a:r>
          </a:p>
        </p:txBody>
      </p:sp>
      <p:sp>
        <p:nvSpPr>
          <p:cNvPr id="3" name="TextBox 2"/>
          <p:cNvSpPr txBox="1"/>
          <p:nvPr/>
        </p:nvSpPr>
        <p:spPr>
          <a:xfrm>
            <a:off x="460130" y="1102984"/>
            <a:ext cx="12084543" cy="205744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01" tIns="65001" rIns="65001" bIns="65001" numCol="1" spcCol="38088" rtlCol="0" anchor="t">
            <a:spAutoFit/>
          </a:bodyPr>
          <a:lstStyle/>
          <a:p>
            <a:pPr algn="l" rtl="0" latinLnBrk="1" hangingPunct="0"/>
            <a:r>
              <a:rPr lang="zh-CN" altLang="en-US" sz="3129" b="1" dirty="0">
                <a:solidFill>
                  <a:srgbClr val="000000"/>
                </a:solidFill>
              </a:rPr>
              <a:t>一个电子沿着水平方向射入两个平行极板间竖直向下的匀强电场中。两板相距</a:t>
            </a:r>
            <a:r>
              <a:rPr lang="en-US" altLang="zh-CN" sz="3129" b="1" dirty="0">
                <a:solidFill>
                  <a:srgbClr val="000000"/>
                </a:solidFill>
              </a:rPr>
              <a:t>2.00cm</a:t>
            </a:r>
            <a:r>
              <a:rPr lang="zh-CN" altLang="en-US" sz="3129" b="1" dirty="0">
                <a:solidFill>
                  <a:srgbClr val="000000"/>
                </a:solidFill>
              </a:rPr>
              <a:t>，其长度为</a:t>
            </a:r>
            <a:r>
              <a:rPr lang="en-US" altLang="zh-CN" sz="3129" b="1" dirty="0">
                <a:solidFill>
                  <a:srgbClr val="000000"/>
                </a:solidFill>
              </a:rPr>
              <a:t>4.00cm</a:t>
            </a:r>
            <a:r>
              <a:rPr lang="zh-CN" altLang="en-US" sz="3129" b="1" dirty="0">
                <a:solidFill>
                  <a:srgbClr val="000000"/>
                </a:solidFill>
              </a:rPr>
              <a:t>。电子的初速度为</a:t>
            </a:r>
            <a:r>
              <a:rPr lang="en-US" altLang="zh-CN" sz="3129" b="1" i="1" dirty="0">
                <a:solidFill>
                  <a:srgbClr val="000000"/>
                </a:solidFill>
              </a:rPr>
              <a:t>v</a:t>
            </a:r>
            <a:r>
              <a:rPr lang="en-US" altLang="zh-CN" sz="3129" b="1" baseline="-25000" dirty="0">
                <a:solidFill>
                  <a:srgbClr val="000000"/>
                </a:solidFill>
              </a:rPr>
              <a:t>i</a:t>
            </a:r>
            <a:r>
              <a:rPr lang="en-US" altLang="zh-CN" sz="3129" b="1" dirty="0">
                <a:solidFill>
                  <a:srgbClr val="000000"/>
                </a:solidFill>
              </a:rPr>
              <a:t>=8.00</a:t>
            </a:r>
            <a:r>
              <a:rPr lang="en-US" altLang="zh-CN" sz="3129" b="1" dirty="0"/>
              <a:t>×10</a:t>
            </a:r>
            <a:r>
              <a:rPr lang="en-US" altLang="zh-CN" sz="3129" b="1" baseline="30000" dirty="0"/>
              <a:t>6</a:t>
            </a:r>
            <a:r>
              <a:rPr lang="en-US" altLang="zh-CN" sz="3129" b="1" dirty="0"/>
              <a:t>m/s.</a:t>
            </a:r>
            <a:r>
              <a:rPr lang="zh-CN" altLang="en-US" sz="3129" b="1" dirty="0"/>
              <a:t>当电子进入两板间区域时，电子位于两板之间的中间位置；当它离开两板区域时，正好从上板边沿经过。电场的大小为多少？</a:t>
            </a:r>
            <a:endParaRPr lang="zh-CN" altLang="en-US" sz="3129" b="1" dirty="0">
              <a:solidFill>
                <a:srgbClr val="000000"/>
              </a:solidFill>
            </a:endParaRPr>
          </a:p>
        </p:txBody>
      </p:sp>
      <p:pic>
        <p:nvPicPr>
          <p:cNvPr id="4" name="Picture 3" descr="gia12141_16_40"/>
          <p:cNvPicPr>
            <a:picLocks noChangeAspect="1" noChangeArrowheads="1"/>
          </p:cNvPicPr>
          <p:nvPr/>
        </p:nvPicPr>
        <p:blipFill>
          <a:blip r:embed="rId3" cstate="print"/>
          <a:srcRect b="5950"/>
          <a:stretch>
            <a:fillRect/>
          </a:stretch>
        </p:blipFill>
        <p:spPr bwMode="auto">
          <a:xfrm>
            <a:off x="2058164" y="3283855"/>
            <a:ext cx="8635153" cy="4002805"/>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5" name="TextBox 4"/>
              <p:cNvSpPr txBox="1"/>
              <p:nvPr/>
            </p:nvSpPr>
            <p:spPr>
              <a:xfrm>
                <a:off x="741760" y="7410091"/>
                <a:ext cx="9191420" cy="151361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r>
                  <a:rPr lang="en-US" altLang="zh-CN" sz="3413" dirty="0" smtClean="0">
                    <a:solidFill>
                      <a:srgbClr val="000000"/>
                    </a:solidFill>
                    <a:latin typeface="Times New Roman"/>
                    <a:ea typeface="Times New Roman"/>
                    <a:cs typeface="Times New Roman"/>
                    <a:sym typeface="Times New Roman"/>
                  </a:rPr>
                  <a:t>x</a:t>
                </a:r>
                <a:r>
                  <a:rPr lang="zh-CN" altLang="en-US" sz="3413" dirty="0">
                    <a:solidFill>
                      <a:srgbClr val="000000"/>
                    </a:solidFill>
                    <a:latin typeface="Times New Roman"/>
                    <a:ea typeface="Times New Roman"/>
                    <a:cs typeface="Times New Roman"/>
                    <a:sym typeface="Times New Roman"/>
                  </a:rPr>
                  <a:t>方向匀速运动</a:t>
                </a:r>
                <a14:m>
                  <m:oMath xmlns:m="http://schemas.openxmlformats.org/officeDocument/2006/math">
                    <m:r>
                      <a:rPr lang="zh-CN" altLang="en-US" sz="2400" i="1">
                        <a:solidFill>
                          <a:srgbClr val="000000"/>
                        </a:solidFill>
                        <a:latin typeface="Cambria Math"/>
                        <a:sym typeface="Times New Roman"/>
                      </a:rPr>
                      <m:t>→</m:t>
                    </m:r>
                    <m:r>
                      <a:rPr lang="zh-CN" altLang="en-US" sz="4000" i="1">
                        <a:solidFill>
                          <a:srgbClr val="000000"/>
                        </a:solidFill>
                        <a:latin typeface="Cambria Math"/>
                      </a:rPr>
                      <m:t>板间运动时间</m:t>
                    </m:r>
                  </m:oMath>
                </a14:m>
                <a:r>
                  <a:rPr lang="zh-CN" altLang="en-US" sz="2800" dirty="0">
                    <a:solidFill>
                      <a:srgbClr val="000000"/>
                    </a:solidFill>
                    <a:latin typeface="Times New Roman"/>
                    <a:ea typeface="Times New Roman"/>
                    <a:cs typeface="Times New Roman"/>
                    <a:sym typeface="Times New Roman"/>
                  </a:rPr>
                  <a:t>，</a:t>
                </a:r>
                <a:endParaRPr lang="en-US" altLang="zh-CN" sz="2800" dirty="0">
                  <a:solidFill>
                    <a:srgbClr val="000000"/>
                  </a:solidFill>
                  <a:latin typeface="Times New Roman"/>
                  <a:ea typeface="Times New Roman"/>
                  <a:cs typeface="Times New Roman"/>
                  <a:sym typeface="Times New Roman"/>
                </a:endParaRPr>
              </a:p>
              <a:p>
                <a:pPr algn="l" defTabSz="1463017" rtl="0" latinLnBrk="1" hangingPunct="0"/>
                <a:r>
                  <a:rPr lang="en-US" altLang="zh-CN" sz="3413" dirty="0">
                    <a:solidFill>
                      <a:srgbClr val="000000"/>
                    </a:solidFill>
                    <a:latin typeface="Times New Roman"/>
                    <a:ea typeface="Times New Roman"/>
                    <a:cs typeface="Times New Roman"/>
                    <a:sym typeface="Times New Roman"/>
                  </a:rPr>
                  <a:t>y</a:t>
                </a:r>
                <a:r>
                  <a:rPr lang="zh-CN" altLang="en-US" sz="3413" dirty="0">
                    <a:solidFill>
                      <a:srgbClr val="000000"/>
                    </a:solidFill>
                    <a:latin typeface="Times New Roman"/>
                    <a:ea typeface="Times New Roman"/>
                    <a:cs typeface="Times New Roman"/>
                    <a:sym typeface="Times New Roman"/>
                  </a:rPr>
                  <a:t>方向加速运动</a:t>
                </a:r>
                <a14:m>
                  <m:oMath xmlns:m="http://schemas.openxmlformats.org/officeDocument/2006/math">
                    <m:r>
                      <a:rPr lang="zh-CN" altLang="en-US" sz="5120" i="1">
                        <a:solidFill>
                          <a:srgbClr val="000000"/>
                        </a:solidFill>
                        <a:latin typeface="Cambria Math"/>
                      </a:rPr>
                      <m:t>→ </m:t>
                    </m:r>
                    <m:sSub>
                      <m:sSubPr>
                        <m:ctrlPr>
                          <a:rPr lang="en-US" altLang="zh-CN" sz="5120" i="1" dirty="0">
                            <a:solidFill>
                              <a:srgbClr val="000000"/>
                            </a:solidFill>
                            <a:latin typeface="Cambria Math" panose="02040503050406030204" pitchFamily="18" charset="0"/>
                          </a:rPr>
                        </m:ctrlPr>
                      </m:sSubPr>
                      <m:e>
                        <m:r>
                          <a:rPr lang="en-US" altLang="zh-CN" sz="5120" i="1" dirty="0">
                            <a:solidFill>
                              <a:srgbClr val="000000"/>
                            </a:solidFill>
                            <a:latin typeface="Cambria Math"/>
                          </a:rPr>
                          <m:t>𝑎</m:t>
                        </m:r>
                      </m:e>
                      <m:sub>
                        <m:r>
                          <a:rPr lang="en-US" altLang="zh-CN" sz="5120" i="1" dirty="0">
                            <a:solidFill>
                              <a:srgbClr val="000000"/>
                            </a:solidFill>
                            <a:latin typeface="Cambria Math"/>
                          </a:rPr>
                          <m:t>𝑦</m:t>
                        </m:r>
                      </m:sub>
                    </m:sSub>
                  </m:oMath>
                </a14:m>
                <a:r>
                  <a:rPr lang="zh-CN" altLang="en-US" sz="3413" dirty="0">
                    <a:solidFill>
                      <a:srgbClr val="000000"/>
                    </a:solidFill>
                    <a:latin typeface="Times New Roman"/>
                    <a:ea typeface="Times New Roman"/>
                    <a:cs typeface="Times New Roman"/>
                    <a:sym typeface="Times New Roman"/>
                  </a:rPr>
                  <a:t>，</a:t>
                </a:r>
                <a14:m>
                  <m:oMath xmlns:m="http://schemas.openxmlformats.org/officeDocument/2006/math">
                    <m:sSub>
                      <m:sSubPr>
                        <m:ctrlPr>
                          <a:rPr lang="en-US" altLang="zh-CN" sz="3413" i="1">
                            <a:solidFill>
                              <a:srgbClr val="000000"/>
                            </a:solidFill>
                            <a:latin typeface="Cambria Math" panose="02040503050406030204" pitchFamily="18" charset="0"/>
                            <a:cs typeface="Times New Roman"/>
                            <a:sym typeface="Times New Roman"/>
                          </a:rPr>
                        </m:ctrlPr>
                      </m:sSubPr>
                      <m:e>
                        <m:r>
                          <a:rPr lang="en-US" altLang="zh-CN" sz="3413" i="1">
                            <a:solidFill>
                              <a:srgbClr val="000000"/>
                            </a:solidFill>
                            <a:latin typeface="Cambria Math"/>
                            <a:cs typeface="Times New Roman"/>
                            <a:sym typeface="Times New Roman"/>
                          </a:rPr>
                          <m:t>𝐹</m:t>
                        </m:r>
                      </m:e>
                      <m:sub>
                        <m:r>
                          <a:rPr lang="en-US" altLang="zh-CN" sz="3413" i="1">
                            <a:solidFill>
                              <a:srgbClr val="000000"/>
                            </a:solidFill>
                            <a:latin typeface="Cambria Math"/>
                            <a:cs typeface="Times New Roman"/>
                            <a:sym typeface="Times New Roman"/>
                          </a:rPr>
                          <m:t>𝑦</m:t>
                        </m:r>
                      </m:sub>
                    </m:sSub>
                  </m:oMath>
                </a14:m>
                <a:r>
                  <a:rPr lang="en-US" altLang="zh-CN" sz="3413" dirty="0">
                    <a:solidFill>
                      <a:srgbClr val="000000"/>
                    </a:solidFill>
                    <a:latin typeface="Times New Roman"/>
                    <a:ea typeface="Times New Roman"/>
                    <a:cs typeface="Times New Roman"/>
                    <a:sym typeface="Times New Roman"/>
                  </a:rPr>
                  <a:t>=q</a:t>
                </a:r>
                <a14:m>
                  <m:oMath xmlns:m="http://schemas.openxmlformats.org/officeDocument/2006/math">
                    <m:sSub>
                      <m:sSubPr>
                        <m:ctrlPr>
                          <a:rPr lang="en-US" altLang="zh-CN" sz="3413" i="1" dirty="0">
                            <a:solidFill>
                              <a:srgbClr val="000000"/>
                            </a:solidFill>
                            <a:latin typeface="Cambria Math" panose="02040503050406030204" pitchFamily="18" charset="0"/>
                            <a:cs typeface="Times New Roman"/>
                            <a:sym typeface="Times New Roman"/>
                          </a:rPr>
                        </m:ctrlPr>
                      </m:sSubPr>
                      <m:e>
                        <m:r>
                          <a:rPr lang="en-US" altLang="zh-CN" sz="3413" i="1" dirty="0">
                            <a:solidFill>
                              <a:srgbClr val="000000"/>
                            </a:solidFill>
                            <a:latin typeface="Cambria Math"/>
                            <a:cs typeface="Times New Roman"/>
                            <a:sym typeface="Times New Roman"/>
                          </a:rPr>
                          <m:t>𝐸</m:t>
                        </m:r>
                      </m:e>
                      <m:sub>
                        <m:r>
                          <a:rPr lang="en-US" altLang="zh-CN" sz="3413" i="1" dirty="0">
                            <a:solidFill>
                              <a:srgbClr val="000000"/>
                            </a:solidFill>
                            <a:latin typeface="Cambria Math"/>
                            <a:cs typeface="Times New Roman"/>
                            <a:sym typeface="Times New Roman"/>
                          </a:rPr>
                          <m:t>𝑦</m:t>
                        </m:r>
                      </m:sub>
                    </m:sSub>
                  </m:oMath>
                </a14:m>
                <a:r>
                  <a:rPr lang="en-US" altLang="zh-CN" sz="3413" dirty="0">
                    <a:solidFill>
                      <a:srgbClr val="000000"/>
                    </a:solidFill>
                    <a:latin typeface="Times New Roman"/>
                    <a:ea typeface="Times New Roman"/>
                    <a:cs typeface="Times New Roman"/>
                    <a:sym typeface="Times New Roman"/>
                  </a:rPr>
                  <a:t>=</a:t>
                </a:r>
                <a14:m>
                  <m:oMath xmlns:m="http://schemas.openxmlformats.org/officeDocument/2006/math">
                    <m:sSub>
                      <m:sSubPr>
                        <m:ctrlPr>
                          <a:rPr lang="en-US" altLang="zh-CN" sz="3413" i="1" dirty="0">
                            <a:solidFill>
                              <a:srgbClr val="000000"/>
                            </a:solidFill>
                            <a:latin typeface="Cambria Math" panose="02040503050406030204" pitchFamily="18" charset="0"/>
                            <a:cs typeface="Times New Roman"/>
                            <a:sym typeface="Times New Roman"/>
                          </a:rPr>
                        </m:ctrlPr>
                      </m:sSubPr>
                      <m:e>
                        <m:r>
                          <a:rPr lang="en-US" altLang="zh-CN" sz="3413" i="1" dirty="0">
                            <a:solidFill>
                              <a:srgbClr val="000000"/>
                            </a:solidFill>
                            <a:latin typeface="Cambria Math"/>
                            <a:cs typeface="Times New Roman"/>
                            <a:sym typeface="Times New Roman"/>
                          </a:rPr>
                          <m:t>𝑚</m:t>
                        </m:r>
                      </m:e>
                      <m:sub>
                        <m:r>
                          <a:rPr lang="en-US" altLang="zh-CN" sz="3413" i="1" dirty="0">
                            <a:solidFill>
                              <a:srgbClr val="000000"/>
                            </a:solidFill>
                            <a:latin typeface="Cambria Math"/>
                            <a:cs typeface="Times New Roman"/>
                            <a:sym typeface="Times New Roman"/>
                          </a:rPr>
                          <m:t>𝑒</m:t>
                        </m:r>
                      </m:sub>
                    </m:sSub>
                    <m:sSub>
                      <m:sSubPr>
                        <m:ctrlPr>
                          <a:rPr lang="en-US" altLang="zh-CN" sz="3413" i="1" dirty="0">
                            <a:solidFill>
                              <a:srgbClr val="000000"/>
                            </a:solidFill>
                            <a:latin typeface="Cambria Math" panose="02040503050406030204" pitchFamily="18" charset="0"/>
                            <a:cs typeface="Times New Roman"/>
                            <a:sym typeface="Times New Roman"/>
                          </a:rPr>
                        </m:ctrlPr>
                      </m:sSubPr>
                      <m:e>
                        <m:r>
                          <a:rPr lang="en-US" altLang="zh-CN" sz="3413" i="1" dirty="0">
                            <a:solidFill>
                              <a:srgbClr val="000000"/>
                            </a:solidFill>
                            <a:latin typeface="Cambria Math"/>
                            <a:cs typeface="Times New Roman"/>
                            <a:sym typeface="Times New Roman"/>
                          </a:rPr>
                          <m:t>𝑎</m:t>
                        </m:r>
                      </m:e>
                      <m:sub>
                        <m:r>
                          <a:rPr lang="en-US" altLang="zh-CN" sz="3413" i="1" dirty="0">
                            <a:solidFill>
                              <a:srgbClr val="000000"/>
                            </a:solidFill>
                            <a:latin typeface="Cambria Math"/>
                            <a:cs typeface="Times New Roman"/>
                            <a:sym typeface="Times New Roman"/>
                          </a:rPr>
                          <m:t>𝑦</m:t>
                        </m:r>
                      </m:sub>
                    </m:sSub>
                  </m:oMath>
                </a14:m>
                <a:endParaRPr lang="zh-CN" altLang="en-US" sz="3413" dirty="0">
                  <a:solidFill>
                    <a:srgbClr val="000000"/>
                  </a:solidFill>
                  <a:latin typeface="Times New Roman"/>
                  <a:ea typeface="Times New Roman"/>
                  <a:cs typeface="Times New Roman"/>
                  <a:sym typeface="Times New Roman"/>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41760" y="7410091"/>
                <a:ext cx="9191420" cy="1513617"/>
              </a:xfrm>
              <a:prstGeom prst="rect">
                <a:avLst/>
              </a:prstGeom>
              <a:blipFill>
                <a:blip r:embed="rId4"/>
                <a:stretch>
                  <a:fillRect l="-2190" t="-5645" b="-3629"/>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65696" y="8833668"/>
                <a:ext cx="3456384" cy="9199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14:m>
                  <m:oMath xmlns:m="http://schemas.openxmlformats.org/officeDocument/2006/math">
                    <m:r>
                      <a:rPr kumimoji="0" lang="en-US" altLang="zh-CN" sz="3600" b="0" i="1" u="none" strike="noStrike" cap="none" spc="0" normalizeH="0" baseline="0" smtClean="0">
                        <a:ln>
                          <a:noFill/>
                        </a:ln>
                        <a:solidFill>
                          <a:srgbClr val="000000"/>
                        </a:solidFill>
                        <a:effectLst/>
                        <a:uFillTx/>
                        <a:latin typeface="Cambria Math" panose="02040503050406030204" pitchFamily="18" charset="0"/>
                        <a:sym typeface="Helvetica Light"/>
                      </a:rPr>
                      <m:t>    </m:t>
                    </m:r>
                    <m:r>
                      <a:rPr kumimoji="0" lang="zh-CN" altLang="en-US" sz="3600" b="0" i="1" u="none" strike="noStrike" cap="none" spc="0" normalizeH="0" baseline="0" smtClean="0">
                        <a:ln>
                          <a:noFill/>
                        </a:ln>
                        <a:solidFill>
                          <a:srgbClr val="000000"/>
                        </a:solidFill>
                        <a:effectLst/>
                        <a:uFillTx/>
                        <a:latin typeface="Cambria Math" panose="02040503050406030204" pitchFamily="18" charset="0"/>
                        <a:sym typeface="Helvetica Light"/>
                      </a:rPr>
                      <m:t>∆</m:t>
                    </m:r>
                    <m:r>
                      <m:rPr>
                        <m:sty m:val="p"/>
                      </m:rPr>
                      <a:rPr lang="en-US" altLang="zh-CN" i="1">
                        <a:solidFill>
                          <a:srgbClr val="000000"/>
                        </a:solidFill>
                        <a:latin typeface="Cambria Math" panose="02040503050406030204" pitchFamily="18" charset="0"/>
                      </a:rPr>
                      <m:t>y</m:t>
                    </m:r>
                  </m:oMath>
                </a14:m>
                <a:r>
                  <a:rPr kumimoji="0" lang="en-US" altLang="zh-CN" sz="3600" b="0" i="0" u="none" strike="noStrike" cap="none" spc="0" normalizeH="0" baseline="0" dirty="0" smtClean="0">
                    <a:ln>
                      <a:noFill/>
                    </a:ln>
                    <a:solidFill>
                      <a:srgbClr val="000000"/>
                    </a:solidFill>
                    <a:effectLst/>
                    <a:uFillTx/>
                    <a:latin typeface="+mn-lt"/>
                    <a:ea typeface="+mn-ea"/>
                    <a:cs typeface="+mn-cs"/>
                    <a:sym typeface="Helvetica Light"/>
                  </a:rPr>
                  <a:t>=</a:t>
                </a:r>
                <a14:m>
                  <m:oMath xmlns:m="http://schemas.openxmlformats.org/officeDocument/2006/math">
                    <m:f>
                      <m:fPr>
                        <m:ctrlPr>
                          <a:rPr kumimoji="0" lang="en-US" altLang="zh-CN" sz="3600" b="0" i="1" u="none" strike="noStrike" cap="none" spc="0" normalizeH="0" baseline="0" dirty="0" smtClean="0">
                            <a:ln>
                              <a:noFill/>
                            </a:ln>
                            <a:solidFill>
                              <a:srgbClr val="000000"/>
                            </a:solidFill>
                            <a:effectLst/>
                            <a:uFillTx/>
                            <a:latin typeface="Cambria Math" panose="02040503050406030204" pitchFamily="18" charset="0"/>
                            <a:ea typeface="+mn-ea"/>
                            <a:cs typeface="+mn-cs"/>
                            <a:sym typeface="Helvetica Light"/>
                          </a:rPr>
                        </m:ctrlPr>
                      </m:fPr>
                      <m:num>
                        <m:r>
                          <a:rPr kumimoji="0" lang="en-US" altLang="zh-CN" sz="3600" b="0" i="1" u="none" strike="noStrike" cap="none" spc="0" normalizeH="0" baseline="0" dirty="0" smtClean="0">
                            <a:ln>
                              <a:noFill/>
                            </a:ln>
                            <a:solidFill>
                              <a:srgbClr val="000000"/>
                            </a:solidFill>
                            <a:effectLst/>
                            <a:uFillTx/>
                            <a:latin typeface="Cambria Math" panose="02040503050406030204" pitchFamily="18" charset="0"/>
                            <a:ea typeface="+mn-ea"/>
                            <a:cs typeface="+mn-cs"/>
                            <a:sym typeface="Helvetica Light"/>
                          </a:rPr>
                          <m:t>1</m:t>
                        </m:r>
                      </m:num>
                      <m:den>
                        <m:r>
                          <a:rPr kumimoji="0" lang="en-US" altLang="zh-CN" sz="3600" b="0" i="1" u="none" strike="noStrike" cap="none" spc="0" normalizeH="0" baseline="0" dirty="0" smtClean="0">
                            <a:ln>
                              <a:noFill/>
                            </a:ln>
                            <a:solidFill>
                              <a:srgbClr val="000000"/>
                            </a:solidFill>
                            <a:effectLst/>
                            <a:uFillTx/>
                            <a:latin typeface="Cambria Math" panose="02040503050406030204" pitchFamily="18" charset="0"/>
                            <a:ea typeface="+mn-ea"/>
                            <a:cs typeface="+mn-cs"/>
                            <a:sym typeface="Helvetica Light"/>
                          </a:rPr>
                          <m:t>2</m:t>
                        </m:r>
                      </m:den>
                    </m:f>
                    <m:sSub>
                      <m:sSubPr>
                        <m:ctrlPr>
                          <a:rPr kumimoji="0" lang="en-US" altLang="zh-CN" sz="3600" b="0" i="1" u="none" strike="noStrike" cap="none" spc="0" normalizeH="0" baseline="0" dirty="0" smtClean="0">
                            <a:ln>
                              <a:noFill/>
                            </a:ln>
                            <a:solidFill>
                              <a:srgbClr val="000000"/>
                            </a:solidFill>
                            <a:effectLst/>
                            <a:uFillTx/>
                            <a:latin typeface="Cambria Math" panose="02040503050406030204" pitchFamily="18" charset="0"/>
                            <a:ea typeface="+mn-ea"/>
                            <a:cs typeface="+mn-cs"/>
                            <a:sym typeface="Helvetica Light"/>
                          </a:rPr>
                        </m:ctrlPr>
                      </m:sSubPr>
                      <m:e>
                        <m:r>
                          <m:rPr>
                            <m:sty m:val="p"/>
                          </m:rPr>
                          <a:rPr lang="en-US" altLang="zh-CN" i="1" dirty="0">
                            <a:solidFill>
                              <a:srgbClr val="000000"/>
                            </a:solidFill>
                            <a:latin typeface="Cambria Math" panose="02040503050406030204" pitchFamily="18" charset="0"/>
                          </a:rPr>
                          <m:t>a</m:t>
                        </m:r>
                      </m:e>
                      <m:sub>
                        <m:r>
                          <m:rPr>
                            <m:sty m:val="p"/>
                          </m:rPr>
                          <a:rPr lang="en-US" altLang="zh-CN" i="1" dirty="0">
                            <a:solidFill>
                              <a:srgbClr val="000000"/>
                            </a:solidFill>
                            <a:latin typeface="Cambria Math" panose="02040503050406030204" pitchFamily="18" charset="0"/>
                          </a:rPr>
                          <m:t>y</m:t>
                        </m:r>
                      </m:sub>
                    </m:sSub>
                    <m:sSup>
                      <m:sSupPr>
                        <m:ctrlPr>
                          <a:rPr lang="en-US" altLang="zh-CN" i="1" dirty="0" smtClean="0">
                            <a:solidFill>
                              <a:srgbClr val="000000"/>
                            </a:solidFill>
                            <a:latin typeface="Cambria Math" panose="02040503050406030204" pitchFamily="18" charset="0"/>
                          </a:rPr>
                        </m:ctrlPr>
                      </m:sSupPr>
                      <m:e>
                        <m:r>
                          <a:rPr lang="en-US" altLang="zh-CN" b="0" i="1" dirty="0" smtClean="0">
                            <a:solidFill>
                              <a:srgbClr val="000000"/>
                            </a:solidFill>
                            <a:latin typeface="Cambria Math" panose="02040503050406030204" pitchFamily="18" charset="0"/>
                          </a:rPr>
                          <m:t>(</m:t>
                        </m:r>
                        <m:r>
                          <a:rPr lang="en-US" altLang="zh-CN" i="1" dirty="0" smtClean="0">
                            <a:solidFill>
                              <a:srgbClr val="000000"/>
                            </a:solidFill>
                            <a:latin typeface="Cambria Math" panose="02040503050406030204" pitchFamily="18" charset="0"/>
                            <a:ea typeface="Cambria Math" panose="02040503050406030204" pitchFamily="18" charset="0"/>
                          </a:rPr>
                          <m:t>∆</m:t>
                        </m:r>
                        <m:r>
                          <m:rPr>
                            <m:sty m:val="p"/>
                          </m:rPr>
                          <a:rPr lang="en-US" altLang="zh-CN" i="1" dirty="0">
                            <a:solidFill>
                              <a:srgbClr val="000000"/>
                            </a:solidFill>
                            <a:latin typeface="Cambria Math" panose="02040503050406030204" pitchFamily="18" charset="0"/>
                          </a:rPr>
                          <m:t>t</m:t>
                        </m:r>
                        <m:r>
                          <a:rPr lang="en-US" altLang="zh-CN" b="0" i="1" dirty="0" smtClean="0">
                            <a:solidFill>
                              <a:srgbClr val="000000"/>
                            </a:solidFill>
                            <a:latin typeface="Cambria Math" panose="02040503050406030204" pitchFamily="18" charset="0"/>
                          </a:rPr>
                          <m:t>)</m:t>
                        </m:r>
                      </m:e>
                      <m:sup>
                        <m:r>
                          <a:rPr lang="en-US" altLang="zh-CN" b="0" i="1" dirty="0" smtClean="0">
                            <a:solidFill>
                              <a:srgbClr val="000000"/>
                            </a:solidFill>
                            <a:latin typeface="Cambria Math" panose="02040503050406030204" pitchFamily="18" charset="0"/>
                          </a:rPr>
                          <m:t>2</m:t>
                        </m:r>
                      </m:sup>
                    </m:sSup>
                  </m:oMath>
                </a14:m>
                <a:endParaRPr kumimoji="0" lang="zh-CN" alt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65696" y="8833668"/>
                <a:ext cx="3456384" cy="919932"/>
              </a:xfrm>
              <a:prstGeom prst="rect">
                <a:avLst/>
              </a:prstGeom>
              <a:blipFill>
                <a:blip r:embed="rId5"/>
                <a:stretch>
                  <a:fillRect b="-5298"/>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3141500781"/>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7744" y="628138"/>
            <a:ext cx="11953328" cy="234730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sz="4000" b="1" dirty="0">
                <a:solidFill>
                  <a:srgbClr val="0000CC"/>
                </a:solidFill>
                <a:latin typeface="宋体" pitchFamily="2" charset="-122"/>
                <a:ea typeface="宋体" pitchFamily="2" charset="-122"/>
                <a:sym typeface="Times New Roman"/>
              </a:rPr>
              <a:t>思考：如果用质子代替电子以同样的初速度射入电场，质子会朝哪个方向偏转？质子会射出两板间的区域还是会打在其中的一个板上？</a:t>
            </a:r>
          </a:p>
        </p:txBody>
      </p:sp>
      <p:pic>
        <p:nvPicPr>
          <p:cNvPr id="3" name="Picture 3" descr="gia12141_16_40"/>
          <p:cNvPicPr>
            <a:picLocks noChangeAspect="1" noChangeArrowheads="1"/>
          </p:cNvPicPr>
          <p:nvPr/>
        </p:nvPicPr>
        <p:blipFill>
          <a:blip r:embed="rId3" cstate="print"/>
          <a:srcRect b="5950"/>
          <a:stretch>
            <a:fillRect/>
          </a:stretch>
        </p:blipFill>
        <p:spPr bwMode="auto">
          <a:xfrm>
            <a:off x="1653046" y="2847388"/>
            <a:ext cx="8635153" cy="4002805"/>
          </a:xfrm>
          <a:prstGeom prst="rect">
            <a:avLst/>
          </a:prstGeom>
          <a:noFill/>
          <a:ln w="9525">
            <a:noFill/>
            <a:miter lim="800000"/>
            <a:headEnd/>
            <a:tailEnd/>
          </a:ln>
          <a:effectLst/>
        </p:spPr>
      </p:pic>
      <p:graphicFrame>
        <p:nvGraphicFramePr>
          <p:cNvPr id="6" name="对象 5"/>
          <p:cNvGraphicFramePr>
            <a:graphicFrameLocks noChangeAspect="1"/>
          </p:cNvGraphicFramePr>
          <p:nvPr>
            <p:extLst/>
          </p:nvPr>
        </p:nvGraphicFramePr>
        <p:xfrm>
          <a:off x="5852160" y="3142826"/>
          <a:ext cx="1300480" cy="255130"/>
        </p:xfrm>
        <a:graphic>
          <a:graphicData uri="http://schemas.openxmlformats.org/presentationml/2006/ole">
            <mc:AlternateContent xmlns:mc="http://schemas.openxmlformats.org/markup-compatibility/2006">
              <mc:Choice xmlns:v="urn:schemas-microsoft-com:vml" Requires="v">
                <p:oleObj spid="_x0000_s8322" name="Equation" r:id="rId4" imgW="914400" imgH="179640" progId="Equation.DSMT4">
                  <p:embed/>
                </p:oleObj>
              </mc:Choice>
              <mc:Fallback>
                <p:oleObj name="Equation" r:id="rId4" imgW="914400" imgH="179640" progId="Equation.DSMT4">
                  <p:embed/>
                  <p:pic>
                    <p:nvPicPr>
                      <p:cNvPr id="6" name="对象 5"/>
                      <p:cNvPicPr/>
                      <p:nvPr/>
                    </p:nvPicPr>
                    <p:blipFill>
                      <a:blip r:embed="rId5"/>
                      <a:stretch>
                        <a:fillRect/>
                      </a:stretch>
                    </p:blipFill>
                    <p:spPr>
                      <a:xfrm>
                        <a:off x="5852160" y="3142826"/>
                        <a:ext cx="1300480" cy="255130"/>
                      </a:xfrm>
                      <a:prstGeom prst="rect">
                        <a:avLst/>
                      </a:prstGeom>
                    </p:spPr>
                  </p:pic>
                </p:oleObj>
              </mc:Fallback>
            </mc:AlternateContent>
          </a:graphicData>
        </a:graphic>
      </p:graphicFrame>
      <p:grpSp>
        <p:nvGrpSpPr>
          <p:cNvPr id="9" name="组合 8"/>
          <p:cNvGrpSpPr/>
          <p:nvPr/>
        </p:nvGrpSpPr>
        <p:grpSpPr>
          <a:xfrm>
            <a:off x="2098711" y="6925028"/>
            <a:ext cx="8775541" cy="1950693"/>
            <a:chOff x="1619672" y="4437112"/>
            <a:chExt cx="6170302" cy="1371581"/>
          </a:xfrm>
        </p:grpSpPr>
        <p:sp>
          <p:nvSpPr>
            <p:cNvPr id="4" name="TextBox 3"/>
            <p:cNvSpPr txBox="1"/>
            <p:nvPr/>
          </p:nvSpPr>
          <p:spPr>
            <a:xfrm>
              <a:off x="1619672" y="4437112"/>
              <a:ext cx="4176464" cy="53546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3" tIns="65023" rIns="65023" bIns="65023" numCol="1" spcCol="38100" rtlCol="0" anchor="t">
              <a:spAutoFit/>
            </a:bodyPr>
            <a:lstStyle/>
            <a:p>
              <a:pPr algn="l" defTabSz="1463017" rtl="0" latinLnBrk="1" hangingPunct="0">
                <a:lnSpc>
                  <a:spcPct val="120000"/>
                </a:lnSpc>
              </a:pPr>
              <a:r>
                <a:rPr lang="zh-CN" altLang="en-US" sz="3413" b="1">
                  <a:solidFill>
                    <a:srgbClr val="000000"/>
                  </a:solidFill>
                  <a:latin typeface="Times New Roman"/>
                  <a:ea typeface="Times New Roman"/>
                  <a:cs typeface="Times New Roman"/>
                  <a:sym typeface="Times New Roman"/>
                </a:rPr>
                <a:t>质子和电子所受的电场力相同</a:t>
              </a:r>
            </a:p>
          </p:txBody>
        </p:sp>
        <p:graphicFrame>
          <p:nvGraphicFramePr>
            <p:cNvPr id="5" name="对象 4"/>
            <p:cNvGraphicFramePr>
              <a:graphicFrameLocks noChangeAspect="1"/>
            </p:cNvGraphicFramePr>
            <p:nvPr>
              <p:extLst/>
            </p:nvPr>
          </p:nvGraphicFramePr>
          <p:xfrm>
            <a:off x="1763688" y="5157192"/>
            <a:ext cx="1440160" cy="651501"/>
          </p:xfrm>
          <a:graphic>
            <a:graphicData uri="http://schemas.openxmlformats.org/presentationml/2006/ole">
              <mc:AlternateContent xmlns:mc="http://schemas.openxmlformats.org/markup-compatibility/2006">
                <mc:Choice xmlns:v="urn:schemas-microsoft-com:vml" Requires="v">
                  <p:oleObj spid="_x0000_s8323" name="Equation" r:id="rId6" imgW="533160" imgH="241200" progId="Equation.DSMT4">
                    <p:embed/>
                  </p:oleObj>
                </mc:Choice>
                <mc:Fallback>
                  <p:oleObj name="Equation" r:id="rId6" imgW="533160" imgH="241200" progId="Equation.DSMT4">
                    <p:embed/>
                    <p:pic>
                      <p:nvPicPr>
                        <p:cNvPr id="5" name="对象 4"/>
                        <p:cNvPicPr/>
                        <p:nvPr/>
                      </p:nvPicPr>
                      <p:blipFill>
                        <a:blip r:embed="rId7"/>
                        <a:stretch>
                          <a:fillRect/>
                        </a:stretch>
                      </p:blipFill>
                      <p:spPr>
                        <a:xfrm>
                          <a:off x="1763688" y="5157192"/>
                          <a:ext cx="1440160" cy="651501"/>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3707904" y="5157192"/>
            <a:ext cx="1268412" cy="650875"/>
          </p:xfrm>
          <a:graphic>
            <a:graphicData uri="http://schemas.openxmlformats.org/presentationml/2006/ole">
              <mc:AlternateContent xmlns:mc="http://schemas.openxmlformats.org/markup-compatibility/2006">
                <mc:Choice xmlns:v="urn:schemas-microsoft-com:vml" Requires="v">
                  <p:oleObj spid="_x0000_s8324" name="Equation" r:id="rId8" imgW="469800" imgH="241200" progId="Equation.DSMT4">
                    <p:embed/>
                  </p:oleObj>
                </mc:Choice>
                <mc:Fallback>
                  <p:oleObj name="Equation" r:id="rId8" imgW="469800" imgH="241200" progId="Equation.DSMT4">
                    <p:embed/>
                    <p:pic>
                      <p:nvPicPr>
                        <p:cNvPr id="7" name="对象 6"/>
                        <p:cNvPicPr>
                          <a:picLocks noChangeAspect="1" noChangeArrowheads="1"/>
                        </p:cNvPicPr>
                        <p:nvPr/>
                      </p:nvPicPr>
                      <p:blipFill>
                        <a:blip r:embed="rId9"/>
                        <a:srcRect/>
                        <a:stretch>
                          <a:fillRect/>
                        </a:stretch>
                      </p:blipFill>
                      <p:spPr bwMode="auto">
                        <a:xfrm>
                          <a:off x="3707904" y="5157192"/>
                          <a:ext cx="126841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nvPr>
          </p:nvGraphicFramePr>
          <p:xfrm>
            <a:off x="5796136" y="4546145"/>
            <a:ext cx="1993838" cy="446382"/>
          </p:xfrm>
          <a:graphic>
            <a:graphicData uri="http://schemas.openxmlformats.org/presentationml/2006/ole">
              <mc:AlternateContent xmlns:mc="http://schemas.openxmlformats.org/markup-compatibility/2006">
                <mc:Choice xmlns:v="urn:schemas-microsoft-com:vml" Requires="v">
                  <p:oleObj spid="_x0000_s8325" name="Equation" r:id="rId10" imgW="850680" imgH="190440" progId="Equation.DSMT4">
                    <p:embed/>
                  </p:oleObj>
                </mc:Choice>
                <mc:Fallback>
                  <p:oleObj name="Equation" r:id="rId10" imgW="850680" imgH="190440" progId="Equation.DSMT4">
                    <p:embed/>
                    <p:pic>
                      <p:nvPicPr>
                        <p:cNvPr id="8" name="对象 7"/>
                        <p:cNvPicPr/>
                        <p:nvPr/>
                      </p:nvPicPr>
                      <p:blipFill>
                        <a:blip r:embed="rId11"/>
                        <a:stretch>
                          <a:fillRect/>
                        </a:stretch>
                      </p:blipFill>
                      <p:spPr>
                        <a:xfrm>
                          <a:off x="5796136" y="4546145"/>
                          <a:ext cx="1993838" cy="446382"/>
                        </a:xfrm>
                        <a:prstGeom prst="rect">
                          <a:avLst/>
                        </a:prstGeom>
                      </p:spPr>
                    </p:pic>
                  </p:oleObj>
                </mc:Fallback>
              </mc:AlternateContent>
            </a:graphicData>
          </a:graphic>
        </p:graphicFrame>
      </p:grpSp>
    </p:spTree>
    <p:extLst>
      <p:ext uri="{BB962C8B-B14F-4D97-AF65-F5344CB8AC3E}">
        <p14:creationId xmlns:p14="http://schemas.microsoft.com/office/powerpoint/2010/main" val="35337553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752" y="700336"/>
            <a:ext cx="11704322" cy="1209040"/>
          </a:xfrm>
        </p:spPr>
        <p:txBody>
          <a:bodyPr/>
          <a:lstStyle/>
          <a:p>
            <a:r>
              <a:rPr lang="zh-CN" altLang="en-US" dirty="0" smtClean="0"/>
              <a:t>本节内容</a:t>
            </a:r>
            <a:endParaRPr lang="zh-CN" altLang="en-US" dirty="0"/>
          </a:p>
        </p:txBody>
      </p:sp>
      <p:sp>
        <p:nvSpPr>
          <p:cNvPr id="3" name="内容占位符 2"/>
          <p:cNvSpPr>
            <a:spLocks noGrp="1"/>
          </p:cNvSpPr>
          <p:nvPr>
            <p:ph idx="1"/>
          </p:nvPr>
        </p:nvSpPr>
        <p:spPr>
          <a:xfrm>
            <a:off x="650239" y="2068487"/>
            <a:ext cx="11704322" cy="7685113"/>
          </a:xfrm>
        </p:spPr>
        <p:txBody>
          <a:bodyPr/>
          <a:lstStyle/>
          <a:p>
            <a:pPr marL="0" indent="0">
              <a:buNone/>
            </a:pPr>
            <a:r>
              <a:rPr lang="zh-CN" altLang="zh-CN" sz="4400" b="1" dirty="0" smtClean="0"/>
              <a:t>【</a:t>
            </a:r>
            <a:r>
              <a:rPr lang="zh-CN" altLang="en-US" sz="4400" b="1" dirty="0" smtClean="0"/>
              <a:t>学习</a:t>
            </a:r>
            <a:r>
              <a:rPr lang="zh-CN" altLang="zh-CN" sz="4400" b="1" dirty="0" smtClean="0"/>
              <a:t>目的】</a:t>
            </a:r>
            <a:r>
              <a:rPr lang="zh-CN" altLang="zh-CN" sz="4000" dirty="0"/>
              <a:t>理解静电平衡的原理与条件，能分析简单导体系统在静电平衡时的电荷分布、</a:t>
            </a:r>
            <a:r>
              <a:rPr lang="zh-CN" altLang="zh-CN" sz="4000" dirty="0" smtClean="0"/>
              <a:t>电场强度。</a:t>
            </a:r>
            <a:endParaRPr lang="en-US" altLang="zh-CN" sz="4000" dirty="0" smtClean="0"/>
          </a:p>
          <a:p>
            <a:pPr marL="0" indent="0">
              <a:buNone/>
            </a:pPr>
            <a:endParaRPr lang="zh-CN" altLang="zh-CN" sz="4000" dirty="0"/>
          </a:p>
          <a:p>
            <a:pPr marL="0" indent="0">
              <a:buNone/>
            </a:pPr>
            <a:r>
              <a:rPr lang="zh-CN" altLang="zh-CN" sz="4000" dirty="0" smtClean="0"/>
              <a:t>【重点】</a:t>
            </a:r>
            <a:r>
              <a:rPr lang="zh-CN" altLang="zh-CN" sz="4000" dirty="0"/>
              <a:t>静电平衡条件与</a:t>
            </a:r>
            <a:r>
              <a:rPr lang="zh-CN" altLang="zh-CN" sz="4000" dirty="0" smtClean="0"/>
              <a:t>原理</a:t>
            </a:r>
            <a:endParaRPr lang="en-US" altLang="zh-CN" sz="4000" dirty="0" smtClean="0"/>
          </a:p>
          <a:p>
            <a:pPr marL="0" indent="0">
              <a:buNone/>
            </a:pPr>
            <a:endParaRPr lang="zh-CN" altLang="zh-CN" sz="4000" dirty="0"/>
          </a:p>
          <a:p>
            <a:pPr marL="0" indent="0">
              <a:buNone/>
            </a:pPr>
            <a:r>
              <a:rPr lang="zh-CN" altLang="zh-CN" sz="4000" dirty="0" smtClean="0"/>
              <a:t>【难点】</a:t>
            </a:r>
            <a:r>
              <a:rPr lang="zh-CN" altLang="zh-CN" sz="4000" dirty="0"/>
              <a:t>导体系统在静电平衡时的电场强度分布</a:t>
            </a:r>
          </a:p>
          <a:p>
            <a:endParaRPr lang="zh-CN" altLang="en-US" dirty="0"/>
          </a:p>
        </p:txBody>
      </p:sp>
    </p:spTree>
    <p:extLst>
      <p:ext uri="{BB962C8B-B14F-4D97-AF65-F5344CB8AC3E}">
        <p14:creationId xmlns:p14="http://schemas.microsoft.com/office/powerpoint/2010/main" val="16897662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46"/>
          <p:cNvSpPr/>
          <p:nvPr/>
        </p:nvSpPr>
        <p:spPr>
          <a:xfrm>
            <a:off x="3550072" y="183763"/>
            <a:ext cx="5482271" cy="7797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4000"/>
            </a:lvl1pPr>
          </a:lstStyle>
          <a:p>
            <a:pPr lvl="0">
              <a:defRPr sz="1800"/>
            </a:pPr>
            <a:r>
              <a:rPr sz="4400" b="1" dirty="0" smtClean="0">
                <a:latin typeface="宋体" panose="02010600030101010101" pitchFamily="2" charset="-122"/>
                <a:ea typeface="宋体" panose="02010600030101010101" pitchFamily="2" charset="-122"/>
              </a:rPr>
              <a:t>1</a:t>
            </a:r>
            <a:r>
              <a:rPr lang="en-US" sz="4400" b="1" dirty="0" smtClean="0">
                <a:latin typeface="宋体" panose="02010600030101010101" pitchFamily="2" charset="-122"/>
                <a:ea typeface="宋体" panose="02010600030101010101" pitchFamily="2" charset="-122"/>
              </a:rPr>
              <a:t>6</a:t>
            </a:r>
            <a:r>
              <a:rPr sz="4400" b="1" dirty="0" smtClean="0">
                <a:latin typeface="宋体" panose="02010600030101010101" pitchFamily="2" charset="-122"/>
                <a:ea typeface="宋体" panose="02010600030101010101" pitchFamily="2" charset="-122"/>
              </a:rPr>
              <a:t>.6 </a:t>
            </a:r>
            <a:r>
              <a:rPr lang="zh-CN" altLang="en-US" sz="4400" b="1" dirty="0" smtClean="0">
                <a:latin typeface="宋体" panose="02010600030101010101" pitchFamily="2" charset="-122"/>
                <a:ea typeface="宋体" panose="02010600030101010101" pitchFamily="2" charset="-122"/>
              </a:rPr>
              <a:t>导体的</a:t>
            </a:r>
            <a:r>
              <a:rPr sz="4400" b="1" dirty="0" err="1" smtClean="0">
                <a:latin typeface="宋体" panose="02010600030101010101" pitchFamily="2" charset="-122"/>
                <a:ea typeface="宋体" panose="02010600030101010101" pitchFamily="2" charset="-122"/>
              </a:rPr>
              <a:t>静电平衡</a:t>
            </a:r>
            <a:endParaRPr sz="4400" b="1" dirty="0">
              <a:latin typeface="宋体" panose="02010600030101010101" pitchFamily="2" charset="-122"/>
              <a:ea typeface="宋体" panose="02010600030101010101" pitchFamily="2" charset="-122"/>
            </a:endParaRPr>
          </a:p>
        </p:txBody>
      </p:sp>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595" y="1927275"/>
            <a:ext cx="3967163" cy="60198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18"/>
          <p:cNvGrpSpPr>
            <a:grpSpLocks/>
          </p:cNvGrpSpPr>
          <p:nvPr/>
        </p:nvGrpSpPr>
        <p:grpSpPr bwMode="auto">
          <a:xfrm>
            <a:off x="4990232" y="2500536"/>
            <a:ext cx="3768725" cy="5165725"/>
            <a:chOff x="288" y="192"/>
            <a:chExt cx="2374" cy="3254"/>
          </a:xfrm>
        </p:grpSpPr>
        <p:pic>
          <p:nvPicPr>
            <p:cNvPr id="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 y="192"/>
              <a:ext cx="2374" cy="272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15"/>
            <p:cNvSpPr txBox="1">
              <a:spLocks noChangeArrowheads="1"/>
            </p:cNvSpPr>
            <p:nvPr/>
          </p:nvSpPr>
          <p:spPr bwMode="auto">
            <a:xfrm>
              <a:off x="528" y="2928"/>
              <a:ext cx="204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2000" dirty="0">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kumimoji="0" lang="en-US" altLang="zh-CN" sz="2400" dirty="0">
                  <a:solidFill>
                    <a:srgbClr val="0000FF"/>
                  </a:solidFill>
                  <a:latin typeface="楷体_GB2312" pitchFamily="49" charset="-122"/>
                  <a:ea typeface="楷体_GB2312" pitchFamily="49" charset="-122"/>
                </a:rPr>
                <a:t>2010</a:t>
              </a:r>
              <a:r>
                <a:rPr kumimoji="0" lang="zh-CN" altLang="en-US" sz="2400" dirty="0">
                  <a:solidFill>
                    <a:srgbClr val="0000FF"/>
                  </a:solidFill>
                  <a:latin typeface="楷体_GB2312" pitchFamily="49" charset="-122"/>
                  <a:ea typeface="楷体_GB2312" pitchFamily="49" charset="-122"/>
                </a:rPr>
                <a:t>年</a:t>
              </a:r>
              <a:r>
                <a:rPr kumimoji="0" lang="en-US" altLang="zh-CN" sz="2400" dirty="0">
                  <a:solidFill>
                    <a:srgbClr val="0000FF"/>
                  </a:solidFill>
                  <a:latin typeface="楷体_GB2312" pitchFamily="49" charset="-122"/>
                  <a:ea typeface="楷体_GB2312" pitchFamily="49" charset="-122"/>
                </a:rPr>
                <a:t>4</a:t>
              </a:r>
              <a:r>
                <a:rPr kumimoji="0" lang="zh-CN" altLang="en-US" sz="2400" dirty="0">
                  <a:solidFill>
                    <a:srgbClr val="0000FF"/>
                  </a:solidFill>
                  <a:latin typeface="楷体_GB2312" pitchFamily="49" charset="-122"/>
                  <a:ea typeface="楷体_GB2312" pitchFamily="49" charset="-122"/>
                </a:rPr>
                <a:t>月</a:t>
              </a:r>
              <a:r>
                <a:rPr kumimoji="0" lang="en-US" altLang="zh-CN" sz="2400" dirty="0">
                  <a:solidFill>
                    <a:srgbClr val="0000FF"/>
                  </a:solidFill>
                  <a:latin typeface="楷体_GB2312" pitchFamily="49" charset="-122"/>
                  <a:ea typeface="楷体_GB2312" pitchFamily="49" charset="-122"/>
                </a:rPr>
                <a:t>13</a:t>
              </a:r>
              <a:r>
                <a:rPr kumimoji="0" lang="zh-CN" altLang="en-US" sz="2400" dirty="0">
                  <a:solidFill>
                    <a:srgbClr val="0000FF"/>
                  </a:solidFill>
                  <a:latin typeface="楷体_GB2312" pitchFamily="49" charset="-122"/>
                  <a:ea typeface="楷体_GB2312" pitchFamily="49" charset="-122"/>
                </a:rPr>
                <a:t>日凌晨，</a:t>
              </a:r>
            </a:p>
            <a:p>
              <a:r>
                <a:rPr kumimoji="0" lang="zh-CN" altLang="en-US" sz="2400" dirty="0">
                  <a:solidFill>
                    <a:srgbClr val="0000FF"/>
                  </a:solidFill>
                  <a:latin typeface="楷体_GB2312" pitchFamily="49" charset="-122"/>
                  <a:ea typeface="楷体_GB2312" pitchFamily="49" charset="-122"/>
                </a:rPr>
                <a:t>上海东方明珠遭到雷击</a:t>
              </a:r>
            </a:p>
          </p:txBody>
        </p:sp>
      </p:grpSp>
      <p:pic>
        <p:nvPicPr>
          <p:cNvPr id="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24801" y="1570261"/>
            <a:ext cx="4081463"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9585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subTnLst>
                                    <p:audio>
                                      <p:cMediaNode vol="0">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3305" name="Group 9"/>
          <p:cNvGrpSpPr>
            <a:grpSpLocks/>
          </p:cNvGrpSpPr>
          <p:nvPr/>
        </p:nvGrpSpPr>
        <p:grpSpPr bwMode="auto">
          <a:xfrm>
            <a:off x="-626575" y="269022"/>
            <a:ext cx="12673030" cy="9311387"/>
            <a:chOff x="-1093" y="-155"/>
            <a:chExt cx="6497" cy="4600"/>
          </a:xfrm>
        </p:grpSpPr>
        <p:pic>
          <p:nvPicPr>
            <p:cNvPr id="82330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 y="269"/>
              <a:ext cx="3087" cy="4176"/>
            </a:xfrm>
            <a:prstGeom prst="rect">
              <a:avLst/>
            </a:prstGeom>
            <a:noFill/>
            <a:extLst>
              <a:ext uri="{909E8E84-426E-40DD-AFC4-6F175D3DCCD1}">
                <a14:hiddenFill xmlns:a14="http://schemas.microsoft.com/office/drawing/2010/main">
                  <a:solidFill>
                    <a:srgbClr val="FFFFFF"/>
                  </a:solidFill>
                </a14:hiddenFill>
              </a:ext>
            </a:extLst>
          </p:spPr>
        </p:pic>
        <p:sp>
          <p:nvSpPr>
            <p:cNvPr id="823304" name="Text Box 8"/>
            <p:cNvSpPr txBox="1">
              <a:spLocks noChangeArrowheads="1"/>
            </p:cNvSpPr>
            <p:nvPr/>
          </p:nvSpPr>
          <p:spPr bwMode="auto">
            <a:xfrm>
              <a:off x="-1093" y="-155"/>
              <a:ext cx="6497"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4000" dirty="0">
                  <a:solidFill>
                    <a:srgbClr val="0000FF"/>
                  </a:solidFill>
                  <a:latin typeface="楷体_GB2312" pitchFamily="49" charset="-122"/>
                  <a:ea typeface="楷体_GB2312" pitchFamily="49" charset="-122"/>
                </a:rPr>
                <a:t>800kV</a:t>
              </a:r>
              <a:r>
                <a:rPr lang="zh-CN" altLang="en-US" sz="4000" dirty="0">
                  <a:solidFill>
                    <a:srgbClr val="0000FF"/>
                  </a:solidFill>
                  <a:latin typeface="楷体_GB2312" pitchFamily="49" charset="-122"/>
                  <a:ea typeface="楷体_GB2312" pitchFamily="49" charset="-122"/>
                </a:rPr>
                <a:t>电压对法拉第</a:t>
              </a:r>
              <a:r>
                <a:rPr lang="zh-CN" altLang="en-US" sz="4000" dirty="0" smtClean="0">
                  <a:solidFill>
                    <a:srgbClr val="0000FF"/>
                  </a:solidFill>
                  <a:latin typeface="楷体_GB2312" pitchFamily="49" charset="-122"/>
                  <a:ea typeface="楷体_GB2312" pitchFamily="49" charset="-122"/>
                </a:rPr>
                <a:t>笼火花放电</a:t>
              </a:r>
              <a:r>
                <a:rPr lang="zh-CN" altLang="en-US" sz="4000" dirty="0">
                  <a:solidFill>
                    <a:srgbClr val="0000FF"/>
                  </a:solidFill>
                  <a:latin typeface="楷体_GB2312" pitchFamily="49" charset="-122"/>
                  <a:ea typeface="楷体_GB2312" pitchFamily="49" charset="-122"/>
                </a:rPr>
                <a:t>的屏蔽实验       </a:t>
              </a:r>
            </a:p>
          </p:txBody>
        </p:sp>
      </p:grpSp>
      <p:pic>
        <p:nvPicPr>
          <p:cNvPr id="3" name="图片 2"/>
          <p:cNvPicPr>
            <a:picLocks noChangeAspect="1"/>
          </p:cNvPicPr>
          <p:nvPr/>
        </p:nvPicPr>
        <p:blipFill>
          <a:blip r:embed="rId3" cstate="print"/>
          <a:stretch>
            <a:fillRect/>
          </a:stretch>
        </p:blipFill>
        <p:spPr>
          <a:xfrm>
            <a:off x="6358384" y="1127289"/>
            <a:ext cx="6339840" cy="8453120"/>
          </a:xfrm>
          <a:prstGeom prst="rect">
            <a:avLst/>
          </a:prstGeom>
        </p:spPr>
      </p:pic>
    </p:spTree>
    <p:extLst>
      <p:ext uri="{BB962C8B-B14F-4D97-AF65-F5344CB8AC3E}">
        <p14:creationId xmlns:p14="http://schemas.microsoft.com/office/powerpoint/2010/main" val="3211658698"/>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13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16746"/>
            <a:ext cx="8191218" cy="5782170"/>
          </a:xfrm>
          <a:prstGeom prst="rect">
            <a:avLst/>
          </a:prstGeom>
          <a:noFill/>
          <a:extLst>
            <a:ext uri="{909E8E84-426E-40DD-AFC4-6F175D3DCCD1}">
              <a14:hiddenFill xmlns:a14="http://schemas.microsoft.com/office/drawing/2010/main">
                <a:solidFill>
                  <a:srgbClr val="FFFFFF"/>
                </a:solidFill>
              </a14:hiddenFill>
            </a:ext>
          </a:extLst>
        </p:spPr>
      </p:pic>
      <p:pic>
        <p:nvPicPr>
          <p:cNvPr id="61133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44747" y="216747"/>
            <a:ext cx="4391378" cy="5743787"/>
          </a:xfrm>
          <a:prstGeom prst="rect">
            <a:avLst/>
          </a:prstGeom>
          <a:noFill/>
          <a:extLst>
            <a:ext uri="{909E8E84-426E-40DD-AFC4-6F175D3DCCD1}">
              <a14:hiddenFill xmlns:a14="http://schemas.microsoft.com/office/drawing/2010/main">
                <a:solidFill>
                  <a:srgbClr val="FFFFFF"/>
                </a:solidFill>
              </a14:hiddenFill>
            </a:ext>
          </a:extLst>
        </p:spPr>
      </p:pic>
      <p:grpSp>
        <p:nvGrpSpPr>
          <p:cNvPr id="611351" name="Group 23"/>
          <p:cNvGrpSpPr>
            <a:grpSpLocks/>
          </p:cNvGrpSpPr>
          <p:nvPr/>
        </p:nvGrpSpPr>
        <p:grpSpPr bwMode="auto">
          <a:xfrm>
            <a:off x="3359574" y="5418667"/>
            <a:ext cx="8137032" cy="3576320"/>
            <a:chOff x="1488" y="2400"/>
            <a:chExt cx="3604" cy="1584"/>
          </a:xfrm>
        </p:grpSpPr>
        <p:grpSp>
          <p:nvGrpSpPr>
            <p:cNvPr id="611349" name="Group 21"/>
            <p:cNvGrpSpPr>
              <a:grpSpLocks/>
            </p:cNvGrpSpPr>
            <p:nvPr/>
          </p:nvGrpSpPr>
          <p:grpSpPr bwMode="auto">
            <a:xfrm>
              <a:off x="1488" y="2400"/>
              <a:ext cx="3604" cy="1584"/>
              <a:chOff x="1392" y="2112"/>
              <a:chExt cx="4313" cy="1968"/>
            </a:xfrm>
          </p:grpSpPr>
          <p:pic>
            <p:nvPicPr>
              <p:cNvPr id="611348" name="Picture 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2" y="2544"/>
                <a:ext cx="1101" cy="1536"/>
              </a:xfrm>
              <a:prstGeom prst="rect">
                <a:avLst/>
              </a:prstGeom>
              <a:noFill/>
              <a:extLst>
                <a:ext uri="{909E8E84-426E-40DD-AFC4-6F175D3DCCD1}">
                  <a14:hiddenFill xmlns:a14="http://schemas.microsoft.com/office/drawing/2010/main">
                    <a:solidFill>
                      <a:srgbClr val="FFFFFF"/>
                    </a:solidFill>
                  </a14:hiddenFill>
                </a:ext>
              </a:extLst>
            </p:spPr>
          </p:pic>
          <p:sp>
            <p:nvSpPr>
              <p:cNvPr id="611339" name="AutoShape 11"/>
              <p:cNvSpPr>
                <a:spLocks noChangeArrowheads="1"/>
              </p:cNvSpPr>
              <p:nvPr/>
            </p:nvSpPr>
            <p:spPr bwMode="auto">
              <a:xfrm>
                <a:off x="2352" y="2112"/>
                <a:ext cx="2784" cy="692"/>
              </a:xfrm>
              <a:prstGeom prst="cloudCallout">
                <a:avLst>
                  <a:gd name="adj1" fmla="val -47593"/>
                  <a:gd name="adj2" fmla="val 71389"/>
                </a:avLst>
              </a:prstGeom>
              <a:solidFill>
                <a:srgbClr val="FFEF66"/>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FFB800"/>
                      </a:outerShdw>
                    </a:effectLst>
                  </a14:hiddenEffects>
                </a:ext>
              </a:extLst>
            </p:spPr>
            <p:txBody>
              <a:bodyPr lIns="65024" tIns="32512" rIns="65024" bIns="32512"/>
              <a:lstStyle/>
              <a:p>
                <a:pPr algn="l"/>
                <a:endParaRPr lang="zh-CN" altLang="zh-CN" sz="2844">
                  <a:solidFill>
                    <a:schemeClr val="tx1"/>
                  </a:solidFill>
                  <a:effectLst>
                    <a:outerShdw blurRad="38100" dist="38100" dir="2700000" algn="tl">
                      <a:srgbClr val="000000"/>
                    </a:outerShdw>
                  </a:effectLst>
                </a:endParaRPr>
              </a:p>
            </p:txBody>
          </p:sp>
          <p:sp>
            <p:nvSpPr>
              <p:cNvPr id="611340" name="Text Box 12"/>
              <p:cNvSpPr txBox="1">
                <a:spLocks noChangeArrowheads="1"/>
              </p:cNvSpPr>
              <p:nvPr/>
            </p:nvSpPr>
            <p:spPr bwMode="auto">
              <a:xfrm>
                <a:off x="2592" y="2160"/>
                <a:ext cx="3113" cy="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413">
                    <a:solidFill>
                      <a:srgbClr val="0000FF"/>
                    </a:solidFill>
                    <a:effectLst>
                      <a:outerShdw blurRad="38100" dist="38100" dir="2700000" algn="tl">
                        <a:srgbClr val="C0C0C0"/>
                      </a:outerShdw>
                    </a:effectLst>
                    <a:ea typeface="隶书" panose="02010509060101010101" pitchFamily="49" charset="-122"/>
                  </a:rPr>
                  <a:t>屏蔽服是用什么做的呢？</a:t>
                </a:r>
              </a:p>
              <a:p>
                <a:pPr algn="l"/>
                <a:r>
                  <a:rPr lang="zh-CN" altLang="en-US" sz="3413">
                    <a:solidFill>
                      <a:srgbClr val="0000FF"/>
                    </a:solidFill>
                    <a:effectLst>
                      <a:outerShdw blurRad="38100" dist="38100" dir="2700000" algn="tl">
                        <a:srgbClr val="C0C0C0"/>
                      </a:outerShdw>
                    </a:effectLst>
                    <a:ea typeface="隶书" panose="02010509060101010101" pitchFamily="49" charset="-122"/>
                  </a:rPr>
                  <a:t>它与法拉第笼的原理一样吗？</a:t>
                </a:r>
              </a:p>
            </p:txBody>
          </p:sp>
        </p:grpSp>
        <p:pic>
          <p:nvPicPr>
            <p:cNvPr id="20483" name="Picture 23" descr="question_pop_up_from_box_rotate_hg_clr"/>
            <p:cNvPicPr>
              <a:picLocks noChangeAspect="1" noChangeArrowheads="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88" y="2736"/>
              <a:ext cx="353"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4943692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11351"/>
                                        </p:tgtEl>
                                        <p:attrNameLst>
                                          <p:attrName>style.visibility</p:attrName>
                                        </p:attrNameLst>
                                      </p:cBhvr>
                                      <p:to>
                                        <p:strVal val="visible"/>
                                      </p:to>
                                    </p:set>
                                    <p:anim calcmode="lin" valueType="num">
                                      <p:cBhvr>
                                        <p:cTn id="7" dur="500" fill="hold"/>
                                        <p:tgtEl>
                                          <p:spTgt spid="611351"/>
                                        </p:tgtEl>
                                        <p:attrNameLst>
                                          <p:attrName>ppt_w</p:attrName>
                                        </p:attrNameLst>
                                      </p:cBhvr>
                                      <p:tavLst>
                                        <p:tav tm="0">
                                          <p:val>
                                            <p:fltVal val="0"/>
                                          </p:val>
                                        </p:tav>
                                        <p:tav tm="100000">
                                          <p:val>
                                            <p:strVal val="#ppt_w"/>
                                          </p:val>
                                        </p:tav>
                                      </p:tavLst>
                                    </p:anim>
                                    <p:anim calcmode="lin" valueType="num">
                                      <p:cBhvr>
                                        <p:cTn id="8" dur="500" fill="hold"/>
                                        <p:tgtEl>
                                          <p:spTgt spid="611351"/>
                                        </p:tgtEl>
                                        <p:attrNameLst>
                                          <p:attrName>ppt_h</p:attrName>
                                        </p:attrNameLst>
                                      </p:cBhvr>
                                      <p:tavLst>
                                        <p:tav tm="0">
                                          <p:val>
                                            <p:fltVal val="0"/>
                                          </p:val>
                                        </p:tav>
                                        <p:tav tm="100000">
                                          <p:val>
                                            <p:strVal val="#ppt_h"/>
                                          </p:val>
                                        </p:tav>
                                      </p:tavLst>
                                    </p:anim>
                                    <p:animEffect transition="in" filter="fade">
                                      <p:cBhvr>
                                        <p:cTn id="9" dur="500"/>
                                        <p:tgtEl>
                                          <p:spTgt spid="611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a:spLocks noGrp="1"/>
          </p:cNvSpPr>
          <p:nvPr>
            <p:ph type="body" idx="1"/>
          </p:nvPr>
        </p:nvSpPr>
        <p:spPr>
          <a:xfrm>
            <a:off x="650239" y="916360"/>
            <a:ext cx="11704322" cy="1019913"/>
          </a:xfrm>
          <a:prstGeom prst="rect">
            <a:avLst/>
          </a:prstGeom>
        </p:spPr>
        <p:txBody>
          <a:bodyPr>
            <a:noAutofit/>
          </a:bodyPr>
          <a:lstStyle>
            <a:lvl1pPr marL="465364" indent="-465364">
              <a:defRPr sz="3300"/>
            </a:lvl1pPr>
          </a:lstStyle>
          <a:p>
            <a:pPr lvl="0">
              <a:defRPr sz="1800"/>
            </a:pPr>
            <a:r>
              <a:rPr sz="3600" dirty="0" err="1"/>
              <a:t>极化</a:t>
            </a:r>
            <a:r>
              <a:rPr sz="3600" dirty="0" smtClean="0"/>
              <a:t>：</a:t>
            </a:r>
            <a:r>
              <a:rPr lang="zh-CN" altLang="en-US" sz="3600" dirty="0"/>
              <a:t>在外电场作用下，</a:t>
            </a:r>
            <a:r>
              <a:rPr sz="3600" dirty="0" err="1" smtClean="0"/>
              <a:t>在一个中性物体中</a:t>
            </a:r>
            <a:r>
              <a:rPr sz="3600" dirty="0" err="1"/>
              <a:t>，正负电荷的中心不重合的现象</a:t>
            </a:r>
            <a:r>
              <a:rPr sz="3600" dirty="0"/>
              <a:t>。</a:t>
            </a:r>
          </a:p>
        </p:txBody>
      </p:sp>
      <p:sp>
        <p:nvSpPr>
          <p:cNvPr id="396" name="Shape 396"/>
          <p:cNvSpPr/>
          <p:nvPr/>
        </p:nvSpPr>
        <p:spPr>
          <a:xfrm>
            <a:off x="4060614" y="3018085"/>
            <a:ext cx="819573" cy="686365"/>
          </a:xfrm>
          <a:prstGeom prst="roundRect">
            <a:avLst>
              <a:gd name="adj" fmla="val 11719"/>
            </a:avLst>
          </a:prstGeom>
          <a:gradFill>
            <a:gsLst>
              <a:gs pos="0">
                <a:srgbClr val="FFD6A2"/>
              </a:gs>
              <a:gs pos="35000">
                <a:srgbClr val="FFE2BD"/>
              </a:gs>
              <a:gs pos="100000">
                <a:srgbClr val="FFF3E6"/>
              </a:gs>
            </a:gsLst>
            <a:lin ang="16200000"/>
          </a:gradFill>
          <a:ln w="12700">
            <a:solidFill>
              <a:srgbClr val="C79500"/>
            </a:solidFill>
          </a:ln>
          <a:effectLst>
            <a:outerShdw blurRad="50800" dist="25400" dir="5400000" rotWithShape="0">
              <a:srgbClr val="000000">
                <a:alpha val="38000"/>
              </a:srgbClr>
            </a:outerShdw>
          </a:effectLst>
        </p:spPr>
        <p:txBody>
          <a:bodyPr lIns="65023" tIns="65023" rIns="65023" bIns="65023"/>
          <a:lstStyle/>
          <a:p>
            <a:pPr lvl="0" algn="l" defTabSz="914400">
              <a:defRPr sz="3400">
                <a:latin typeface="Times New Roman"/>
                <a:ea typeface="Times New Roman"/>
                <a:cs typeface="Times New Roman"/>
                <a:sym typeface="Times New Roman"/>
              </a:defRPr>
            </a:pPr>
            <a:endParaRPr/>
          </a:p>
        </p:txBody>
      </p:sp>
      <p:sp>
        <p:nvSpPr>
          <p:cNvPr id="397" name="Shape 397"/>
          <p:cNvSpPr/>
          <p:nvPr/>
        </p:nvSpPr>
        <p:spPr>
          <a:xfrm>
            <a:off x="3857414" y="4214707"/>
            <a:ext cx="819573" cy="684107"/>
          </a:xfrm>
          <a:prstGeom prst="roundRect">
            <a:avLst>
              <a:gd name="adj" fmla="val 11719"/>
            </a:avLst>
          </a:prstGeom>
          <a:gradFill>
            <a:gsLst>
              <a:gs pos="0">
                <a:srgbClr val="FFD6A2"/>
              </a:gs>
              <a:gs pos="35000">
                <a:srgbClr val="FFE2BD"/>
              </a:gs>
              <a:gs pos="100000">
                <a:srgbClr val="FFF3E6"/>
              </a:gs>
            </a:gsLst>
            <a:lin ang="16200000"/>
          </a:gradFill>
          <a:ln w="12700">
            <a:solidFill>
              <a:srgbClr val="C79500"/>
            </a:solidFill>
          </a:ln>
          <a:effectLst>
            <a:outerShdw blurRad="50800" dist="25400" dir="5400000" rotWithShape="0">
              <a:srgbClr val="000000">
                <a:alpha val="38000"/>
              </a:srgbClr>
            </a:outerShdw>
          </a:effectLst>
        </p:spPr>
        <p:txBody>
          <a:bodyPr lIns="65023" tIns="65023" rIns="65023" bIns="65023"/>
          <a:lstStyle/>
          <a:p>
            <a:pPr lvl="0" algn="l" defTabSz="914400">
              <a:defRPr sz="3400">
                <a:latin typeface="Times New Roman"/>
                <a:ea typeface="Times New Roman"/>
                <a:cs typeface="Times New Roman"/>
                <a:sym typeface="Times New Roman"/>
              </a:defRPr>
            </a:pPr>
            <a:endParaRPr/>
          </a:p>
        </p:txBody>
      </p:sp>
      <p:grpSp>
        <p:nvGrpSpPr>
          <p:cNvPr id="407" name="Group 407"/>
          <p:cNvGrpSpPr/>
          <p:nvPr/>
        </p:nvGrpSpPr>
        <p:grpSpPr>
          <a:xfrm>
            <a:off x="1710011" y="2771986"/>
            <a:ext cx="1614822" cy="4307783"/>
            <a:chOff x="0" y="0"/>
            <a:chExt cx="1614820" cy="4307781"/>
          </a:xfrm>
        </p:grpSpPr>
        <p:sp>
          <p:nvSpPr>
            <p:cNvPr id="398" name="Shape 398"/>
            <p:cNvSpPr/>
            <p:nvPr/>
          </p:nvSpPr>
          <p:spPr>
            <a:xfrm rot="807285">
              <a:off x="487934" y="22577"/>
              <a:ext cx="638953" cy="4269460"/>
            </a:xfrm>
            <a:prstGeom prst="roundRect">
              <a:avLst>
                <a:gd name="adj" fmla="val 11719"/>
              </a:avLst>
            </a:prstGeom>
            <a:gradFill flip="none" rotWithShape="1">
              <a:gsLst>
                <a:gs pos="0">
                  <a:srgbClr val="BABABA"/>
                </a:gs>
                <a:gs pos="35000">
                  <a:srgbClr val="CFCFCF"/>
                </a:gs>
                <a:gs pos="100000">
                  <a:srgbClr val="EDEDED"/>
                </a:gs>
              </a:gsLst>
              <a:lin ang="16200000" scaled="0"/>
            </a:gradFill>
            <a:ln w="12700" cap="flat">
              <a:solidFill>
                <a:srgbClr val="000000"/>
              </a:solidFill>
              <a:prstDash val="solid"/>
              <a:bevel/>
            </a:ln>
            <a:effectLst>
              <a:outerShdw blurRad="50800" dist="25400" dir="5400000" rotWithShape="0">
                <a:srgbClr val="000000">
                  <a:alpha val="38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399" name="Shape 399"/>
            <p:cNvSpPr/>
            <p:nvPr/>
          </p:nvSpPr>
          <p:spPr>
            <a:xfrm>
              <a:off x="1124627" y="252871"/>
              <a:ext cx="286542"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dirty="0"/>
                <a:t>-</a:t>
              </a:r>
            </a:p>
          </p:txBody>
        </p:sp>
        <p:sp>
          <p:nvSpPr>
            <p:cNvPr id="400" name="Shape 400"/>
            <p:cNvSpPr/>
            <p:nvPr/>
          </p:nvSpPr>
          <p:spPr>
            <a:xfrm>
              <a:off x="808538" y="469617"/>
              <a:ext cx="394492"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 </a:t>
              </a:r>
            </a:p>
          </p:txBody>
        </p:sp>
        <p:sp>
          <p:nvSpPr>
            <p:cNvPr id="401" name="Shape 401"/>
            <p:cNvSpPr/>
            <p:nvPr/>
          </p:nvSpPr>
          <p:spPr>
            <a:xfrm>
              <a:off x="916911" y="0"/>
              <a:ext cx="286542"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02" name="Shape 402"/>
            <p:cNvSpPr/>
            <p:nvPr/>
          </p:nvSpPr>
          <p:spPr>
            <a:xfrm>
              <a:off x="1020769" y="715716"/>
              <a:ext cx="286542"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03" name="Shape 403"/>
            <p:cNvSpPr/>
            <p:nvPr/>
          </p:nvSpPr>
          <p:spPr>
            <a:xfrm>
              <a:off x="1027543" y="521547"/>
              <a:ext cx="286542"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04" name="Shape 404"/>
            <p:cNvSpPr/>
            <p:nvPr/>
          </p:nvSpPr>
          <p:spPr>
            <a:xfrm>
              <a:off x="713711" y="738294"/>
              <a:ext cx="394492"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 </a:t>
              </a:r>
            </a:p>
          </p:txBody>
        </p:sp>
        <p:sp>
          <p:nvSpPr>
            <p:cNvPr id="405" name="Shape 405"/>
            <p:cNvSpPr/>
            <p:nvPr/>
          </p:nvSpPr>
          <p:spPr>
            <a:xfrm>
              <a:off x="822085" y="266417"/>
              <a:ext cx="286542"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06" name="Shape 406"/>
            <p:cNvSpPr/>
            <p:nvPr/>
          </p:nvSpPr>
          <p:spPr>
            <a:xfrm>
              <a:off x="923686" y="984391"/>
              <a:ext cx="286541" cy="5943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grpSp>
      <p:sp>
        <p:nvSpPr>
          <p:cNvPr id="408" name="Shape 408"/>
          <p:cNvSpPr/>
          <p:nvPr/>
        </p:nvSpPr>
        <p:spPr>
          <a:xfrm>
            <a:off x="4083191" y="3031632"/>
            <a:ext cx="368019" cy="594305"/>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09" name="Shape 409"/>
          <p:cNvSpPr/>
          <p:nvPr/>
        </p:nvSpPr>
        <p:spPr>
          <a:xfrm>
            <a:off x="4573129" y="3027116"/>
            <a:ext cx="307058" cy="594306"/>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10" name="Shape 410"/>
          <p:cNvSpPr/>
          <p:nvPr/>
        </p:nvSpPr>
        <p:spPr>
          <a:xfrm>
            <a:off x="3857414" y="4205676"/>
            <a:ext cx="368018" cy="594306"/>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11" name="Shape 411"/>
          <p:cNvSpPr/>
          <p:nvPr/>
        </p:nvSpPr>
        <p:spPr>
          <a:xfrm>
            <a:off x="4347351" y="4201160"/>
            <a:ext cx="307059" cy="594306"/>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defRPr sz="1800"/>
            </a:pPr>
            <a:r>
              <a:rPr sz="3400"/>
              <a:t>-</a:t>
            </a:r>
          </a:p>
        </p:txBody>
      </p:sp>
      <p:sp>
        <p:nvSpPr>
          <p:cNvPr id="412" name="Shape 412"/>
          <p:cNvSpPr/>
          <p:nvPr/>
        </p:nvSpPr>
        <p:spPr>
          <a:xfrm>
            <a:off x="2608862" y="6172200"/>
            <a:ext cx="1438149" cy="564627"/>
          </a:xfrm>
          <a:prstGeom prst="rect">
            <a:avLst/>
          </a:prstGeom>
          <a:ln w="12700">
            <a:miter lim="400000"/>
          </a:ln>
          <a:extLst>
            <a:ext uri="{C572A759-6A51-4108-AA02-DFA0A04FC94B}">
              <ma14:wrappingTextBoxFlag xmlns:ma14="http://schemas.microsoft.com/office/mac/drawingml/2011/main" xmlns="" val="1"/>
            </a:ext>
          </a:extLst>
        </p:spPr>
        <p:txBody>
          <a:bodyPr wrap="none" lIns="65023" tIns="65023" rIns="65023" bIns="65023">
            <a:spAutoFit/>
          </a:bodyPr>
          <a:lstStyle>
            <a:lvl1pPr algn="l" defTabSz="914400">
              <a:defRPr sz="3400">
                <a:latin typeface="宋体"/>
                <a:ea typeface="宋体"/>
                <a:cs typeface="宋体"/>
                <a:sym typeface="宋体"/>
              </a:defRPr>
            </a:lvl1pPr>
          </a:lstStyle>
          <a:p>
            <a:pPr lvl="0">
              <a:defRPr sz="1800"/>
            </a:pPr>
            <a:r>
              <a:rPr sz="3400"/>
              <a:t>橡胶棒</a:t>
            </a:r>
          </a:p>
        </p:txBody>
      </p:sp>
      <p:sp>
        <p:nvSpPr>
          <p:cNvPr id="413" name="Shape 413"/>
          <p:cNvSpPr/>
          <p:nvPr/>
        </p:nvSpPr>
        <p:spPr>
          <a:xfrm>
            <a:off x="4952435" y="3293533"/>
            <a:ext cx="1006349" cy="564627"/>
          </a:xfrm>
          <a:prstGeom prst="rect">
            <a:avLst/>
          </a:prstGeom>
          <a:ln w="12700">
            <a:miter lim="400000"/>
          </a:ln>
          <a:extLst>
            <a:ext uri="{C572A759-6A51-4108-AA02-DFA0A04FC94B}">
              <ma14:wrappingTextBoxFlag xmlns:ma14="http://schemas.microsoft.com/office/mac/drawingml/2011/main" xmlns="" val="1"/>
            </a:ext>
          </a:extLst>
        </p:spPr>
        <p:txBody>
          <a:bodyPr wrap="none" lIns="65023" tIns="65023" rIns="65023" bIns="65023">
            <a:spAutoFit/>
          </a:bodyPr>
          <a:lstStyle>
            <a:lvl1pPr algn="l" defTabSz="914400">
              <a:defRPr sz="3400">
                <a:latin typeface="宋体"/>
                <a:ea typeface="宋体"/>
                <a:cs typeface="宋体"/>
                <a:sym typeface="宋体"/>
              </a:defRPr>
            </a:lvl1pPr>
          </a:lstStyle>
          <a:p>
            <a:pPr lvl="0">
              <a:defRPr sz="1800"/>
            </a:pPr>
            <a:r>
              <a:rPr sz="3400"/>
              <a:t>纸片</a:t>
            </a:r>
          </a:p>
        </p:txBody>
      </p:sp>
      <p:sp>
        <p:nvSpPr>
          <p:cNvPr id="414" name="Shape 414"/>
          <p:cNvSpPr/>
          <p:nvPr/>
        </p:nvSpPr>
        <p:spPr>
          <a:xfrm>
            <a:off x="5146666" y="2198511"/>
            <a:ext cx="5879308" cy="3278188"/>
          </a:xfrm>
          <a:custGeom>
            <a:avLst/>
            <a:gdLst/>
            <a:ahLst/>
            <a:cxnLst>
              <a:cxn ang="0">
                <a:pos x="wd2" y="hd2"/>
              </a:cxn>
              <a:cxn ang="5400000">
                <a:pos x="wd2" y="hd2"/>
              </a:cxn>
              <a:cxn ang="10800000">
                <a:pos x="wd2" y="hd2"/>
              </a:cxn>
              <a:cxn ang="16200000">
                <a:pos x="wd2" y="hd2"/>
              </a:cxn>
            </a:cxnLst>
            <a:rect l="0" t="0" r="r" b="b"/>
            <a:pathLst>
              <a:path w="21600" h="21600" extrusionOk="0">
                <a:moveTo>
                  <a:pt x="8522" y="0"/>
                </a:moveTo>
                <a:cubicBezTo>
                  <a:pt x="6184" y="0"/>
                  <a:pt x="4288" y="3400"/>
                  <a:pt x="4288" y="7594"/>
                </a:cubicBezTo>
                <a:lnTo>
                  <a:pt x="4288" y="9534"/>
                </a:lnTo>
                <a:lnTo>
                  <a:pt x="0" y="11184"/>
                </a:lnTo>
                <a:lnTo>
                  <a:pt x="4288" y="12570"/>
                </a:lnTo>
                <a:lnTo>
                  <a:pt x="4288" y="14006"/>
                </a:lnTo>
                <a:cubicBezTo>
                  <a:pt x="4288" y="18200"/>
                  <a:pt x="6184" y="21600"/>
                  <a:pt x="8522" y="21600"/>
                </a:cubicBezTo>
                <a:lnTo>
                  <a:pt x="17366" y="21600"/>
                </a:lnTo>
                <a:cubicBezTo>
                  <a:pt x="19704" y="21600"/>
                  <a:pt x="21600" y="18200"/>
                  <a:pt x="21600" y="14006"/>
                </a:cubicBezTo>
                <a:lnTo>
                  <a:pt x="21600" y="7594"/>
                </a:lnTo>
                <a:cubicBezTo>
                  <a:pt x="21600" y="3400"/>
                  <a:pt x="19704" y="0"/>
                  <a:pt x="17366" y="0"/>
                </a:cubicBezTo>
                <a:lnTo>
                  <a:pt x="8522" y="0"/>
                </a:lnTo>
                <a:close/>
              </a:path>
            </a:pathLst>
          </a:custGeom>
          <a:gradFill>
            <a:gsLst>
              <a:gs pos="0">
                <a:srgbClr val="B0DCAC"/>
              </a:gs>
              <a:gs pos="35000">
                <a:srgbClr val="C8E5C5"/>
              </a:gs>
              <a:gs pos="100000">
                <a:srgbClr val="EAF6E9"/>
              </a:gs>
            </a:gsLst>
            <a:lin ang="16200000"/>
          </a:gradFill>
          <a:ln w="12700">
            <a:solidFill>
              <a:srgbClr val="38802C"/>
            </a:solidFill>
          </a:ln>
          <a:effectLst>
            <a:outerShdw blurRad="50800" dist="25400" dir="5400000" rotWithShape="0">
              <a:srgbClr val="000000">
                <a:alpha val="38000"/>
              </a:srgbClr>
            </a:outerShdw>
          </a:effectLst>
        </p:spPr>
        <p:txBody>
          <a:bodyPr lIns="65023" tIns="65023" rIns="65023" bIns="65023"/>
          <a:lstStyle/>
          <a:p>
            <a:pPr lvl="0" algn="l" defTabSz="914400">
              <a:defRPr sz="3400">
                <a:latin typeface="Times New Roman"/>
                <a:ea typeface="Times New Roman"/>
                <a:cs typeface="Times New Roman"/>
                <a:sym typeface="Times New Roman"/>
              </a:defRPr>
            </a:pPr>
            <a:endParaRPr/>
          </a:p>
        </p:txBody>
      </p:sp>
      <p:grpSp>
        <p:nvGrpSpPr>
          <p:cNvPr id="417" name="Group 417"/>
          <p:cNvGrpSpPr/>
          <p:nvPr/>
        </p:nvGrpSpPr>
        <p:grpSpPr>
          <a:xfrm>
            <a:off x="7198924" y="2853266"/>
            <a:ext cx="1248552" cy="594306"/>
            <a:chOff x="0" y="0"/>
            <a:chExt cx="1248550" cy="594304"/>
          </a:xfrm>
        </p:grpSpPr>
        <p:sp>
          <p:nvSpPr>
            <p:cNvPr id="415" name="Shape 415"/>
            <p:cNvSpPr/>
            <p:nvPr/>
          </p:nvSpPr>
          <p:spPr>
            <a:xfrm>
              <a:off x="13546" y="97085"/>
              <a:ext cx="1022772" cy="4628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16" name="Shape 416"/>
            <p:cNvSpPr/>
            <p:nvPr/>
          </p:nvSpPr>
          <p:spPr>
            <a:xfrm>
              <a:off x="0" y="0"/>
              <a:ext cx="1248551"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20" name="Group 420"/>
          <p:cNvGrpSpPr/>
          <p:nvPr/>
        </p:nvGrpSpPr>
        <p:grpSpPr>
          <a:xfrm>
            <a:off x="8343617" y="2812626"/>
            <a:ext cx="1248553" cy="594306"/>
            <a:chOff x="0" y="0"/>
            <a:chExt cx="1248551" cy="594304"/>
          </a:xfrm>
        </p:grpSpPr>
        <p:sp>
          <p:nvSpPr>
            <p:cNvPr id="418" name="Shape 418"/>
            <p:cNvSpPr/>
            <p:nvPr/>
          </p:nvSpPr>
          <p:spPr>
            <a:xfrm>
              <a:off x="13546" y="97085"/>
              <a:ext cx="1022775" cy="4628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19" name="Shape 419"/>
            <p:cNvSpPr/>
            <p:nvPr/>
          </p:nvSpPr>
          <p:spPr>
            <a:xfrm>
              <a:off x="0" y="0"/>
              <a:ext cx="1248552"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23" name="Group 423"/>
          <p:cNvGrpSpPr/>
          <p:nvPr/>
        </p:nvGrpSpPr>
        <p:grpSpPr>
          <a:xfrm>
            <a:off x="7415671" y="3487702"/>
            <a:ext cx="1248551" cy="594306"/>
            <a:chOff x="0" y="0"/>
            <a:chExt cx="1248550" cy="594304"/>
          </a:xfrm>
        </p:grpSpPr>
        <p:sp>
          <p:nvSpPr>
            <p:cNvPr id="421" name="Shape 421"/>
            <p:cNvSpPr/>
            <p:nvPr/>
          </p:nvSpPr>
          <p:spPr>
            <a:xfrm>
              <a:off x="13546" y="97083"/>
              <a:ext cx="1022772" cy="4628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22" name="Shape 422"/>
            <p:cNvSpPr/>
            <p:nvPr/>
          </p:nvSpPr>
          <p:spPr>
            <a:xfrm>
              <a:off x="0" y="0"/>
              <a:ext cx="1248551"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26" name="Group 426"/>
          <p:cNvGrpSpPr/>
          <p:nvPr/>
        </p:nvGrpSpPr>
        <p:grpSpPr>
          <a:xfrm>
            <a:off x="8754533" y="3386102"/>
            <a:ext cx="1246294" cy="594306"/>
            <a:chOff x="0" y="0"/>
            <a:chExt cx="1246293" cy="594304"/>
          </a:xfrm>
        </p:grpSpPr>
        <p:sp>
          <p:nvSpPr>
            <p:cNvPr id="424" name="Shape 424"/>
            <p:cNvSpPr/>
            <p:nvPr/>
          </p:nvSpPr>
          <p:spPr>
            <a:xfrm>
              <a:off x="13545" y="97085"/>
              <a:ext cx="1022776" cy="4628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25" name="Shape 425"/>
            <p:cNvSpPr/>
            <p:nvPr/>
          </p:nvSpPr>
          <p:spPr>
            <a:xfrm>
              <a:off x="0" y="0"/>
              <a:ext cx="1246294"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29" name="Group 429"/>
          <p:cNvGrpSpPr/>
          <p:nvPr/>
        </p:nvGrpSpPr>
        <p:grpSpPr>
          <a:xfrm>
            <a:off x="7133448" y="4043116"/>
            <a:ext cx="1248553" cy="594305"/>
            <a:chOff x="0" y="0"/>
            <a:chExt cx="1248551" cy="594304"/>
          </a:xfrm>
        </p:grpSpPr>
        <p:sp>
          <p:nvSpPr>
            <p:cNvPr id="427" name="Shape 427"/>
            <p:cNvSpPr/>
            <p:nvPr/>
          </p:nvSpPr>
          <p:spPr>
            <a:xfrm>
              <a:off x="13546" y="97083"/>
              <a:ext cx="1022775" cy="4628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28" name="Shape 428"/>
            <p:cNvSpPr/>
            <p:nvPr/>
          </p:nvSpPr>
          <p:spPr>
            <a:xfrm>
              <a:off x="0" y="0"/>
              <a:ext cx="1248552"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32" name="Group 432"/>
          <p:cNvGrpSpPr/>
          <p:nvPr/>
        </p:nvGrpSpPr>
        <p:grpSpPr>
          <a:xfrm>
            <a:off x="8650675" y="4101818"/>
            <a:ext cx="1248552" cy="594306"/>
            <a:chOff x="0" y="0"/>
            <a:chExt cx="1248551" cy="594304"/>
          </a:xfrm>
        </p:grpSpPr>
        <p:sp>
          <p:nvSpPr>
            <p:cNvPr id="430" name="Shape 430"/>
            <p:cNvSpPr/>
            <p:nvPr/>
          </p:nvSpPr>
          <p:spPr>
            <a:xfrm>
              <a:off x="13546" y="97083"/>
              <a:ext cx="1022775" cy="4628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31" name="Shape 431"/>
            <p:cNvSpPr/>
            <p:nvPr/>
          </p:nvSpPr>
          <p:spPr>
            <a:xfrm>
              <a:off x="0" y="0"/>
              <a:ext cx="1248552"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35" name="Group 435"/>
          <p:cNvGrpSpPr/>
          <p:nvPr/>
        </p:nvGrpSpPr>
        <p:grpSpPr>
          <a:xfrm>
            <a:off x="9881165" y="3429000"/>
            <a:ext cx="1246294" cy="594306"/>
            <a:chOff x="0" y="0"/>
            <a:chExt cx="1246293" cy="594304"/>
          </a:xfrm>
        </p:grpSpPr>
        <p:sp>
          <p:nvSpPr>
            <p:cNvPr id="433" name="Shape 433"/>
            <p:cNvSpPr/>
            <p:nvPr/>
          </p:nvSpPr>
          <p:spPr>
            <a:xfrm>
              <a:off x="13545" y="97083"/>
              <a:ext cx="1022773" cy="46058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34" name="Shape 434"/>
            <p:cNvSpPr/>
            <p:nvPr/>
          </p:nvSpPr>
          <p:spPr>
            <a:xfrm>
              <a:off x="0" y="0"/>
              <a:ext cx="1246294"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38" name="Group 438"/>
          <p:cNvGrpSpPr/>
          <p:nvPr/>
        </p:nvGrpSpPr>
        <p:grpSpPr>
          <a:xfrm>
            <a:off x="6313876" y="3386102"/>
            <a:ext cx="1248551" cy="594306"/>
            <a:chOff x="0" y="0"/>
            <a:chExt cx="1248550" cy="594304"/>
          </a:xfrm>
        </p:grpSpPr>
        <p:sp>
          <p:nvSpPr>
            <p:cNvPr id="436" name="Shape 436"/>
            <p:cNvSpPr/>
            <p:nvPr/>
          </p:nvSpPr>
          <p:spPr>
            <a:xfrm>
              <a:off x="13546" y="97085"/>
              <a:ext cx="1022772" cy="4628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37" name="Shape 437"/>
            <p:cNvSpPr/>
            <p:nvPr/>
          </p:nvSpPr>
          <p:spPr>
            <a:xfrm>
              <a:off x="0" y="0"/>
              <a:ext cx="1248551"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41" name="Group 441"/>
          <p:cNvGrpSpPr/>
          <p:nvPr/>
        </p:nvGrpSpPr>
        <p:grpSpPr>
          <a:xfrm>
            <a:off x="9777307" y="4043116"/>
            <a:ext cx="1248552" cy="594305"/>
            <a:chOff x="0" y="0"/>
            <a:chExt cx="1248550" cy="594304"/>
          </a:xfrm>
        </p:grpSpPr>
        <p:sp>
          <p:nvSpPr>
            <p:cNvPr id="439" name="Shape 439"/>
            <p:cNvSpPr/>
            <p:nvPr/>
          </p:nvSpPr>
          <p:spPr>
            <a:xfrm>
              <a:off x="13546" y="97083"/>
              <a:ext cx="1022772" cy="4628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40" name="Shape 440"/>
            <p:cNvSpPr/>
            <p:nvPr/>
          </p:nvSpPr>
          <p:spPr>
            <a:xfrm>
              <a:off x="0" y="0"/>
              <a:ext cx="1248551"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grpSp>
        <p:nvGrpSpPr>
          <p:cNvPr id="444" name="Group 444"/>
          <p:cNvGrpSpPr/>
          <p:nvPr/>
        </p:nvGrpSpPr>
        <p:grpSpPr>
          <a:xfrm>
            <a:off x="9470249" y="2812626"/>
            <a:ext cx="1248552" cy="594306"/>
            <a:chOff x="0" y="0"/>
            <a:chExt cx="1248550" cy="594304"/>
          </a:xfrm>
        </p:grpSpPr>
        <p:sp>
          <p:nvSpPr>
            <p:cNvPr id="442" name="Shape 442"/>
            <p:cNvSpPr/>
            <p:nvPr/>
          </p:nvSpPr>
          <p:spPr>
            <a:xfrm>
              <a:off x="13546" y="97085"/>
              <a:ext cx="1022772" cy="46284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25681A"/>
                </a:gs>
                <a:gs pos="80000">
                  <a:srgbClr val="318922"/>
                </a:gs>
                <a:gs pos="100000">
                  <a:srgbClr val="2F8B20"/>
                </a:gs>
              </a:gsLst>
              <a:lin ang="16200000" scaled="0"/>
            </a:gradFill>
            <a:ln w="12700" cap="flat">
              <a:solidFill>
                <a:srgbClr val="38802C"/>
              </a:solidFill>
              <a:prstDash val="solid"/>
              <a:bevel/>
            </a:ln>
            <a:effectLst>
              <a:outerShdw blurRad="50800" dist="25400" dir="5400000" rotWithShape="0">
                <a:srgbClr val="000000">
                  <a:alpha val="35000"/>
                </a:srgbClr>
              </a:outerShdw>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43" name="Shape 443"/>
            <p:cNvSpPr/>
            <p:nvPr/>
          </p:nvSpPr>
          <p:spPr>
            <a:xfrm>
              <a:off x="0" y="0"/>
              <a:ext cx="1248551" cy="59430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914400">
                <a:defRPr sz="3400" b="1">
                  <a:latin typeface="Times New Roman"/>
                  <a:ea typeface="Times New Roman"/>
                  <a:cs typeface="Times New Roman"/>
                  <a:sym typeface="Times New Roman"/>
                </a:defRPr>
              </a:lvl1pPr>
            </a:lstStyle>
            <a:p>
              <a:pPr lvl="0">
                <a:defRPr sz="1800" b="0"/>
              </a:pPr>
              <a:r>
                <a:rPr sz="3400" b="1"/>
                <a:t>+    -</a:t>
              </a:r>
            </a:p>
          </p:txBody>
        </p:sp>
      </p:grpSp>
      <p:sp>
        <p:nvSpPr>
          <p:cNvPr id="447" name="Shape 447"/>
          <p:cNvSpPr/>
          <p:nvPr/>
        </p:nvSpPr>
        <p:spPr>
          <a:xfrm>
            <a:off x="701070" y="7641167"/>
            <a:ext cx="10259219" cy="6104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3300"/>
            </a:lvl1pPr>
          </a:lstStyle>
          <a:p>
            <a:pPr lvl="0">
              <a:defRPr sz="1800"/>
            </a:pPr>
            <a:r>
              <a:rPr sz="3300" dirty="0" err="1">
                <a:latin typeface="黑体" pitchFamily="49" charset="-122"/>
                <a:ea typeface="黑体" pitchFamily="49" charset="-122"/>
              </a:rPr>
              <a:t>极化的强度取决于：</a:t>
            </a:r>
            <a:r>
              <a:rPr sz="3300" dirty="0" err="1" smtClean="0">
                <a:latin typeface="黑体" pitchFamily="49" charset="-122"/>
                <a:ea typeface="黑体" pitchFamily="49" charset="-122"/>
              </a:rPr>
              <a:t>外</a:t>
            </a:r>
            <a:r>
              <a:rPr lang="zh-CN" altLang="en-US" sz="3300" dirty="0" smtClean="0">
                <a:latin typeface="黑体" pitchFamily="49" charset="-122"/>
                <a:ea typeface="黑体" pitchFamily="49" charset="-122"/>
              </a:rPr>
              <a:t>电</a:t>
            </a:r>
            <a:r>
              <a:rPr sz="3300" dirty="0" err="1" smtClean="0">
                <a:latin typeface="黑体" pitchFamily="49" charset="-122"/>
                <a:ea typeface="黑体" pitchFamily="49" charset="-122"/>
              </a:rPr>
              <a:t>场强度</a:t>
            </a:r>
            <a:r>
              <a:rPr sz="3300" dirty="0" err="1">
                <a:latin typeface="黑体" pitchFamily="49" charset="-122"/>
                <a:ea typeface="黑体" pitchFamily="49" charset="-122"/>
              </a:rPr>
              <a:t>；</a:t>
            </a:r>
            <a:r>
              <a:rPr sz="3300" dirty="0" err="1" smtClean="0">
                <a:latin typeface="黑体" pitchFamily="49" charset="-122"/>
                <a:ea typeface="黑体" pitchFamily="49" charset="-122"/>
              </a:rPr>
              <a:t>被极化物质的性质</a:t>
            </a:r>
            <a:r>
              <a:rPr lang="zh-CN" altLang="en-US" sz="3300" dirty="0" smtClean="0">
                <a:latin typeface="黑体" pitchFamily="49" charset="-122"/>
                <a:ea typeface="黑体" pitchFamily="49" charset="-122"/>
              </a:rPr>
              <a:t>。</a:t>
            </a:r>
            <a:endParaRPr sz="3300" dirty="0">
              <a:latin typeface="黑体" pitchFamily="49" charset="-122"/>
              <a:ea typeface="黑体" pitchFamily="49" charset="-122"/>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764878" y="769416"/>
            <a:ext cx="5816613" cy="2933497"/>
            <a:chOff x="5366307" y="460804"/>
            <a:chExt cx="5816613" cy="2933497"/>
          </a:xfrm>
        </p:grpSpPr>
        <p:grpSp>
          <p:nvGrpSpPr>
            <p:cNvPr id="458" name="Group 458"/>
            <p:cNvGrpSpPr/>
            <p:nvPr/>
          </p:nvGrpSpPr>
          <p:grpSpPr>
            <a:xfrm>
              <a:off x="5366307" y="460804"/>
              <a:ext cx="3875762" cy="1420459"/>
              <a:chOff x="0" y="0"/>
              <a:chExt cx="3875761" cy="1420457"/>
            </a:xfrm>
          </p:grpSpPr>
          <p:sp>
            <p:nvSpPr>
              <p:cNvPr id="451" name="Shape 451"/>
              <p:cNvSpPr/>
              <p:nvPr/>
            </p:nvSpPr>
            <p:spPr>
              <a:xfrm rot="11514125">
                <a:off x="23238" y="382027"/>
                <a:ext cx="3769143" cy="618255"/>
              </a:xfrm>
              <a:prstGeom prst="roundRect">
                <a:avLst>
                  <a:gd name="adj" fmla="val 16667"/>
                </a:avLst>
              </a:prstGeom>
              <a:gradFill flip="none" rotWithShape="1">
                <a:gsLst>
                  <a:gs pos="0">
                    <a:srgbClr val="BABABA"/>
                  </a:gs>
                  <a:gs pos="35000">
                    <a:srgbClr val="CFCFCF"/>
                  </a:gs>
                  <a:gs pos="100000">
                    <a:srgbClr val="EDEDED"/>
                  </a:gs>
                </a:gsLst>
                <a:lin ang="16200000" scaled="0"/>
              </a:gradFill>
              <a:ln w="9525" cap="flat">
                <a:solidFill>
                  <a:srgbClr val="000000"/>
                </a:solidFill>
                <a:prstDash val="solid"/>
                <a:bevel/>
              </a:ln>
              <a:effectLst>
                <a:outerShdw blurRad="38100" dist="20000" dir="5400000" rotWithShape="0">
                  <a:srgbClr val="000000">
                    <a:alpha val="38000"/>
                  </a:srgbClr>
                </a:outerShdw>
              </a:effectLst>
            </p:spPr>
            <p:txBody>
              <a:bodyPr wrap="square" lIns="45719" tIns="45719" rIns="45719" bIns="45719" numCol="1" anchor="t">
                <a:noAutofit/>
              </a:bodyPr>
              <a:lstStyle/>
              <a:p>
                <a:pPr lvl="0" algn="l" defTabSz="914400">
                  <a:defRPr sz="2000">
                    <a:latin typeface="Times New Roman"/>
                    <a:ea typeface="Times New Roman"/>
                    <a:cs typeface="Times New Roman"/>
                    <a:sym typeface="Times New Roman"/>
                  </a:defRPr>
                </a:pPr>
                <a:endParaRPr/>
              </a:p>
            </p:txBody>
          </p:sp>
          <p:sp>
            <p:nvSpPr>
              <p:cNvPr id="452" name="Shape 452"/>
              <p:cNvSpPr/>
              <p:nvPr/>
            </p:nvSpPr>
            <p:spPr>
              <a:xfrm rot="11514125">
                <a:off x="3242225" y="641055"/>
                <a:ext cx="489062" cy="7368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sp>
            <p:nvSpPr>
              <p:cNvPr id="453" name="Shape 453"/>
              <p:cNvSpPr/>
              <p:nvPr/>
            </p:nvSpPr>
            <p:spPr>
              <a:xfrm rot="11514125">
                <a:off x="3315969" y="305545"/>
                <a:ext cx="489062" cy="73689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sp>
            <p:nvSpPr>
              <p:cNvPr id="454" name="Shape 454"/>
              <p:cNvSpPr/>
              <p:nvPr/>
            </p:nvSpPr>
            <p:spPr>
              <a:xfrm rot="11514125">
                <a:off x="2871816" y="579018"/>
                <a:ext cx="489062" cy="7368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sp>
            <p:nvSpPr>
              <p:cNvPr id="455" name="Shape 455"/>
              <p:cNvSpPr/>
              <p:nvPr/>
            </p:nvSpPr>
            <p:spPr>
              <a:xfrm rot="11514125">
                <a:off x="2945561" y="243509"/>
                <a:ext cx="489062" cy="73689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sp>
            <p:nvSpPr>
              <p:cNvPr id="456" name="Shape 456"/>
              <p:cNvSpPr/>
              <p:nvPr/>
            </p:nvSpPr>
            <p:spPr>
              <a:xfrm rot="11514125">
                <a:off x="2507850" y="486270"/>
                <a:ext cx="489061" cy="7368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sp>
            <p:nvSpPr>
              <p:cNvPr id="457" name="Shape 457"/>
              <p:cNvSpPr/>
              <p:nvPr/>
            </p:nvSpPr>
            <p:spPr>
              <a:xfrm rot="11514125">
                <a:off x="2581592" y="150760"/>
                <a:ext cx="489062" cy="7368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noAutofit/>
              </a:bodyPr>
              <a:lstStyle>
                <a:lvl1pPr algn="l" defTabSz="914400">
                  <a:defRPr sz="2000">
                    <a:latin typeface="Times New Roman"/>
                    <a:ea typeface="Times New Roman"/>
                    <a:cs typeface="Times New Roman"/>
                    <a:sym typeface="Times New Roman"/>
                  </a:defRPr>
                </a:lvl1pPr>
              </a:lstStyle>
              <a:p>
                <a:pPr lvl="0">
                  <a:defRPr sz="1800"/>
                </a:pPr>
                <a:r>
                  <a:rPr sz="2000"/>
                  <a:t>+</a:t>
                </a:r>
              </a:p>
            </p:txBody>
          </p:sp>
        </p:grpSp>
        <p:grpSp>
          <p:nvGrpSpPr>
            <p:cNvPr id="462" name="Group 462"/>
            <p:cNvGrpSpPr/>
            <p:nvPr/>
          </p:nvGrpSpPr>
          <p:grpSpPr>
            <a:xfrm>
              <a:off x="9202625" y="1017663"/>
              <a:ext cx="1980295" cy="2376638"/>
              <a:chOff x="0" y="0"/>
              <a:chExt cx="1980293" cy="2376637"/>
            </a:xfrm>
          </p:grpSpPr>
          <p:sp>
            <p:nvSpPr>
              <p:cNvPr id="459" name="Shape 459"/>
              <p:cNvSpPr/>
              <p:nvPr/>
            </p:nvSpPr>
            <p:spPr>
              <a:xfrm>
                <a:off x="0" y="1849396"/>
                <a:ext cx="1980294" cy="52724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F9F9F"/>
              </a:solidFill>
              <a:ln w="25400" cap="flat">
                <a:solidFill>
                  <a:srgbClr val="000000"/>
                </a:solidFill>
                <a:prstDash val="solid"/>
                <a:bevel/>
              </a:ln>
              <a:effectLst/>
            </p:spPr>
            <p:txBody>
              <a:bodyPr wrap="square" lIns="45719" tIns="45719" rIns="45719" bIns="45719" numCol="1" anchor="t">
                <a:noAutofit/>
              </a:bodyPr>
              <a:lstStyle/>
              <a:p>
                <a:pPr lvl="0" algn="l" defTabSz="914400">
                  <a:defRPr sz="2400">
                    <a:latin typeface="Times New Roman"/>
                    <a:ea typeface="Times New Roman"/>
                    <a:cs typeface="Times New Roman"/>
                    <a:sym typeface="Times New Roman"/>
                  </a:defRPr>
                </a:pPr>
                <a:endParaRPr/>
              </a:p>
            </p:txBody>
          </p:sp>
          <p:sp>
            <p:nvSpPr>
              <p:cNvPr id="460" name="Shape 460"/>
              <p:cNvSpPr/>
              <p:nvPr/>
            </p:nvSpPr>
            <p:spPr>
              <a:xfrm>
                <a:off x="781446" y="1629714"/>
                <a:ext cx="448782" cy="411120"/>
              </a:xfrm>
              <a:prstGeom prst="rect">
                <a:avLst/>
              </a:prstGeom>
              <a:solidFill>
                <a:srgbClr val="9F9F9F"/>
              </a:solidFill>
              <a:ln w="9525" cap="flat">
                <a:solidFill>
                  <a:srgbClr val="000000"/>
                </a:solidFill>
                <a:prstDash val="solid"/>
                <a:bevel/>
              </a:ln>
              <a:effectLst>
                <a:outerShdw blurRad="38100" dist="20000" dir="5400000" rotWithShape="0">
                  <a:srgbClr val="000000">
                    <a:alpha val="38000"/>
                  </a:srgbClr>
                </a:outerShdw>
              </a:effectLst>
            </p:spPr>
            <p:txBody>
              <a:bodyPr wrap="square" lIns="45719" tIns="45719" rIns="45719" bIns="45719" numCol="1" anchor="t">
                <a:noAutofit/>
              </a:bodyPr>
              <a:lstStyle/>
              <a:p>
                <a:pPr lvl="0" algn="l" defTabSz="914400">
                  <a:defRPr sz="2400">
                    <a:latin typeface="Times New Roman"/>
                    <a:ea typeface="Times New Roman"/>
                    <a:cs typeface="Times New Roman"/>
                    <a:sym typeface="Times New Roman"/>
                  </a:defRPr>
                </a:pPr>
                <a:endParaRPr/>
              </a:p>
            </p:txBody>
          </p:sp>
          <p:sp>
            <p:nvSpPr>
              <p:cNvPr id="461" name="Shape 461"/>
              <p:cNvSpPr/>
              <p:nvPr/>
            </p:nvSpPr>
            <p:spPr>
              <a:xfrm>
                <a:off x="166727" y="0"/>
                <a:ext cx="1651915" cy="16516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BCBCBC"/>
                  </a:gs>
                  <a:gs pos="80000">
                    <a:srgbClr val="F7F7F7"/>
                  </a:gs>
                  <a:gs pos="100000">
                    <a:srgbClr val="F8F8F8"/>
                  </a:gs>
                </a:gsLst>
                <a:lin ang="16200000" scaled="0"/>
              </a:gradFill>
              <a:ln w="9525" cap="flat">
                <a:solidFill>
                  <a:srgbClr val="000000"/>
                </a:solidFill>
                <a:prstDash val="solid"/>
                <a:bevel/>
              </a:ln>
              <a:effectLst>
                <a:outerShdw blurRad="38100" dist="23000" dir="5400000" rotWithShape="0">
                  <a:srgbClr val="000000">
                    <a:alpha val="35000"/>
                  </a:srgbClr>
                </a:outerShdw>
              </a:effectLst>
            </p:spPr>
            <p:txBody>
              <a:bodyPr wrap="square" lIns="45719" tIns="45719" rIns="45719" bIns="45719" numCol="1" anchor="t">
                <a:noAutofit/>
              </a:bodyPr>
              <a:lstStyle/>
              <a:p>
                <a:pPr lvl="0" algn="l" defTabSz="914400">
                  <a:defRPr sz="2400">
                    <a:latin typeface="Times New Roman"/>
                    <a:ea typeface="Times New Roman"/>
                    <a:cs typeface="Times New Roman"/>
                    <a:sym typeface="Times New Roman"/>
                  </a:defRPr>
                </a:pPr>
                <a:endParaRPr/>
              </a:p>
            </p:txBody>
          </p:sp>
        </p:grpSp>
        <p:sp>
          <p:nvSpPr>
            <p:cNvPr id="463" name="Shape 463"/>
            <p:cNvSpPr/>
            <p:nvPr/>
          </p:nvSpPr>
          <p:spPr>
            <a:xfrm>
              <a:off x="9656758" y="1189091"/>
              <a:ext cx="406533" cy="833053"/>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400">
                  <a:latin typeface="Times New Roman"/>
                  <a:ea typeface="Times New Roman"/>
                  <a:cs typeface="Times New Roman"/>
                  <a:sym typeface="Times New Roman"/>
                </a:defRPr>
              </a:lvl1pPr>
            </a:lstStyle>
            <a:p>
              <a:pPr lvl="0">
                <a:defRPr sz="1800"/>
              </a:pPr>
              <a:r>
                <a:rPr sz="2400"/>
                <a:t>-</a:t>
              </a:r>
            </a:p>
          </p:txBody>
        </p:sp>
        <p:sp>
          <p:nvSpPr>
            <p:cNvPr id="464" name="Shape 464"/>
            <p:cNvSpPr/>
            <p:nvPr/>
          </p:nvSpPr>
          <p:spPr>
            <a:xfrm>
              <a:off x="9514409" y="1556541"/>
              <a:ext cx="406533" cy="833053"/>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400">
                  <a:latin typeface="Times New Roman"/>
                  <a:ea typeface="Times New Roman"/>
                  <a:cs typeface="Times New Roman"/>
                  <a:sym typeface="Times New Roman"/>
                </a:defRPr>
              </a:lvl1pPr>
            </a:lstStyle>
            <a:p>
              <a:pPr lvl="0">
                <a:defRPr sz="1800"/>
              </a:pPr>
              <a:r>
                <a:rPr sz="2400"/>
                <a:t>-</a:t>
              </a:r>
            </a:p>
          </p:txBody>
        </p:sp>
        <p:sp>
          <p:nvSpPr>
            <p:cNvPr id="465" name="Shape 465"/>
            <p:cNvSpPr/>
            <p:nvPr/>
          </p:nvSpPr>
          <p:spPr>
            <a:xfrm>
              <a:off x="9450909" y="1918392"/>
              <a:ext cx="406533" cy="833052"/>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400">
                  <a:latin typeface="Times New Roman"/>
                  <a:ea typeface="Times New Roman"/>
                  <a:cs typeface="Times New Roman"/>
                  <a:sym typeface="Times New Roman"/>
                </a:defRPr>
              </a:lvl1pPr>
            </a:lstStyle>
            <a:p>
              <a:pPr lvl="0">
                <a:defRPr sz="1800"/>
              </a:pPr>
              <a:r>
                <a:rPr sz="2400"/>
                <a:t>-</a:t>
              </a:r>
            </a:p>
          </p:txBody>
        </p:sp>
        <p:sp>
          <p:nvSpPr>
            <p:cNvPr id="466" name="Shape 466"/>
            <p:cNvSpPr/>
            <p:nvPr/>
          </p:nvSpPr>
          <p:spPr>
            <a:xfrm>
              <a:off x="10559120" y="1694903"/>
              <a:ext cx="492004" cy="736893"/>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000" b="1">
                  <a:latin typeface="Times New Roman"/>
                  <a:ea typeface="Times New Roman"/>
                  <a:cs typeface="Times New Roman"/>
                  <a:sym typeface="Times New Roman"/>
                </a:defRPr>
              </a:lvl1pPr>
            </a:lstStyle>
            <a:p>
              <a:pPr lvl="0">
                <a:defRPr sz="1800" b="0"/>
              </a:pPr>
              <a:r>
                <a:rPr sz="2000" b="1"/>
                <a:t>+</a:t>
              </a:r>
            </a:p>
          </p:txBody>
        </p:sp>
        <p:sp>
          <p:nvSpPr>
            <p:cNvPr id="467" name="Shape 467"/>
            <p:cNvSpPr/>
            <p:nvPr/>
          </p:nvSpPr>
          <p:spPr>
            <a:xfrm>
              <a:off x="10500803" y="2042687"/>
              <a:ext cx="492004" cy="736892"/>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000" b="1">
                  <a:latin typeface="Times New Roman"/>
                  <a:ea typeface="Times New Roman"/>
                  <a:cs typeface="Times New Roman"/>
                  <a:sym typeface="Times New Roman"/>
                </a:defRPr>
              </a:lvl1pPr>
            </a:lstStyle>
            <a:p>
              <a:pPr lvl="0">
                <a:defRPr sz="1800" b="0"/>
              </a:pPr>
              <a:r>
                <a:rPr sz="2000" b="1"/>
                <a:t>+</a:t>
              </a:r>
            </a:p>
          </p:txBody>
        </p:sp>
        <p:sp>
          <p:nvSpPr>
            <p:cNvPr id="468" name="Shape 468"/>
            <p:cNvSpPr/>
            <p:nvPr/>
          </p:nvSpPr>
          <p:spPr>
            <a:xfrm>
              <a:off x="10494331" y="1267919"/>
              <a:ext cx="492004" cy="736893"/>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lvl1pPr algn="l" defTabSz="914400">
                <a:defRPr sz="2000" b="1">
                  <a:latin typeface="Times New Roman"/>
                  <a:ea typeface="Times New Roman"/>
                  <a:cs typeface="Times New Roman"/>
                  <a:sym typeface="Times New Roman"/>
                </a:defRPr>
              </a:lvl1pPr>
            </a:lstStyle>
            <a:p>
              <a:pPr lvl="0">
                <a:defRPr sz="1800" b="0"/>
              </a:pPr>
              <a:r>
                <a:rPr sz="2000" b="1"/>
                <a:t>+</a:t>
              </a:r>
            </a:p>
          </p:txBody>
        </p:sp>
      </p:grpSp>
      <p:grpSp>
        <p:nvGrpSpPr>
          <p:cNvPr id="3" name="组合 2"/>
          <p:cNvGrpSpPr/>
          <p:nvPr/>
        </p:nvGrpSpPr>
        <p:grpSpPr>
          <a:xfrm>
            <a:off x="447984" y="8364556"/>
            <a:ext cx="12032440" cy="691912"/>
            <a:chOff x="612643" y="8122722"/>
            <a:chExt cx="12032440" cy="691912"/>
          </a:xfrm>
        </p:grpSpPr>
        <p:sp>
          <p:nvSpPr>
            <p:cNvPr id="470" name="Shape 470"/>
            <p:cNvSpPr/>
            <p:nvPr/>
          </p:nvSpPr>
          <p:spPr>
            <a:xfrm>
              <a:off x="612643" y="8158044"/>
              <a:ext cx="2872581"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0">
                <a:defRPr sz="1800"/>
              </a:pPr>
              <a:r>
                <a:rPr sz="3600" dirty="0" err="1">
                  <a:solidFill>
                    <a:srgbClr val="0000CC"/>
                  </a:solidFill>
                  <a:latin typeface="黑体" pitchFamily="49" charset="-122"/>
                  <a:ea typeface="黑体" pitchFamily="49" charset="-122"/>
                </a:rPr>
                <a:t>导体静电平衡</a:t>
              </a:r>
              <a:endParaRPr sz="3600" dirty="0">
                <a:solidFill>
                  <a:srgbClr val="0000CC"/>
                </a:solidFill>
                <a:latin typeface="黑体" pitchFamily="49" charset="-122"/>
                <a:ea typeface="黑体" pitchFamily="49" charset="-122"/>
              </a:endParaRPr>
            </a:p>
          </p:txBody>
        </p:sp>
        <p:sp>
          <p:nvSpPr>
            <p:cNvPr id="471" name="Shape 471"/>
            <p:cNvSpPr/>
            <p:nvPr/>
          </p:nvSpPr>
          <p:spPr>
            <a:xfrm>
              <a:off x="3887555" y="8282345"/>
              <a:ext cx="1400791" cy="337344"/>
            </a:xfrm>
            <a:prstGeom prst="rightArrow">
              <a:avLst>
                <a:gd name="adj1" fmla="val 32000"/>
                <a:gd name="adj2" fmla="val 170433"/>
              </a:avLst>
            </a:prstGeom>
            <a:blipFill>
              <a:blip r:embed="rId3" cstate="print"/>
            </a:blipFill>
            <a:ln w="12700">
              <a:miter lim="400000"/>
            </a:ln>
            <a:effectLst>
              <a:outerShdw blurRad="50800" dist="12700" rotWithShape="0">
                <a:srgbClr val="000000">
                  <a:alpha val="50000"/>
                </a:srgbClr>
              </a:outerShdw>
            </a:effectLst>
          </p:spPr>
          <p:txBody>
            <a:bodyPr lIns="50800" tIns="50800" rIns="50800" bIns="50800" anchor="ctr"/>
            <a:lstStyle/>
            <a:p>
              <a:pPr lvl="0">
                <a:defRPr sz="2400">
                  <a:solidFill>
                    <a:srgbClr val="FFFFFF"/>
                  </a:solidFill>
                </a:defRPr>
              </a:pPr>
              <a:endParaRPr>
                <a:solidFill>
                  <a:srgbClr val="0000CC"/>
                </a:solidFill>
                <a:latin typeface="黑体" pitchFamily="49" charset="-122"/>
                <a:ea typeface="黑体" pitchFamily="49" charset="-122"/>
              </a:endParaRPr>
            </a:p>
          </p:txBody>
        </p:sp>
        <p:sp>
          <p:nvSpPr>
            <p:cNvPr id="472" name="Shape 472"/>
            <p:cNvSpPr/>
            <p:nvPr/>
          </p:nvSpPr>
          <p:spPr>
            <a:xfrm>
              <a:off x="5617518" y="8122722"/>
              <a:ext cx="7027565"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0">
                <a:defRPr sz="1800"/>
              </a:pPr>
              <a:r>
                <a:rPr sz="3600" dirty="0" err="1">
                  <a:solidFill>
                    <a:srgbClr val="0000CC"/>
                  </a:solidFill>
                  <a:latin typeface="黑体" pitchFamily="49" charset="-122"/>
                  <a:ea typeface="黑体" pitchFamily="49" charset="-122"/>
                </a:rPr>
                <a:t>导体内任何一点的电场强度等于零</a:t>
              </a:r>
              <a:endParaRPr sz="3600" dirty="0">
                <a:solidFill>
                  <a:srgbClr val="0000CC"/>
                </a:solidFill>
                <a:latin typeface="黑体" pitchFamily="49" charset="-122"/>
                <a:ea typeface="黑体" pitchFamily="49" charset="-122"/>
              </a:endParaRPr>
            </a:p>
          </p:txBody>
        </p:sp>
      </p:grpSp>
      <p:pic>
        <p:nvPicPr>
          <p:cNvPr id="25" name="Picture 48" descr="T7-3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2918" y="3060618"/>
            <a:ext cx="8678278" cy="3672408"/>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39"/>
          <p:cNvSpPr txBox="1">
            <a:spLocks noChangeArrowheads="1"/>
          </p:cNvSpPr>
          <p:nvPr/>
        </p:nvSpPr>
        <p:spPr bwMode="auto">
          <a:xfrm>
            <a:off x="447984" y="480334"/>
            <a:ext cx="5128563" cy="2455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50000"/>
              </a:spcBef>
            </a:pPr>
            <a:r>
              <a:rPr lang="zh-CN" altLang="en-US" dirty="0" smtClean="0">
                <a:solidFill>
                  <a:srgbClr val="FF0000"/>
                </a:solidFill>
                <a:latin typeface="黑体" pitchFamily="49" charset="-122"/>
                <a:ea typeface="黑体" pitchFamily="49" charset="-122"/>
              </a:rPr>
              <a:t>静电感应</a:t>
            </a:r>
            <a:r>
              <a:rPr lang="en-US" altLang="zh-CN" dirty="0" smtClean="0">
                <a:solidFill>
                  <a:srgbClr val="006633"/>
                </a:solidFill>
              </a:rPr>
              <a:t>:</a:t>
            </a:r>
            <a:r>
              <a:rPr kumimoji="1" lang="zh-CN" altLang="en-US" dirty="0" smtClean="0">
                <a:latin typeface="黑体" pitchFamily="49" charset="-122"/>
                <a:ea typeface="黑体" pitchFamily="49" charset="-122"/>
              </a:rPr>
              <a:t>在外</a:t>
            </a:r>
            <a:r>
              <a:rPr kumimoji="1" lang="zh-CN" altLang="en-US" dirty="0">
                <a:latin typeface="黑体" pitchFamily="49" charset="-122"/>
                <a:ea typeface="黑体" pitchFamily="49" charset="-122"/>
              </a:rPr>
              <a:t>电场影响下，导体表面不同部分出现正负电荷的现象。</a:t>
            </a:r>
            <a:endParaRPr kumimoji="1" lang="zh-CN" altLang="en-US" b="0" dirty="0">
              <a:latin typeface="黑体" pitchFamily="49" charset="-122"/>
              <a:ea typeface="黑体" pitchFamily="49" charset="-122"/>
            </a:endParaRPr>
          </a:p>
        </p:txBody>
      </p:sp>
      <p:sp>
        <p:nvSpPr>
          <p:cNvPr id="4" name="TextBox 3"/>
          <p:cNvSpPr txBox="1"/>
          <p:nvPr/>
        </p:nvSpPr>
        <p:spPr>
          <a:xfrm>
            <a:off x="328063" y="7600103"/>
            <a:ext cx="1216935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0" i="0" u="none" strike="noStrike" cap="none" spc="0" normalizeH="0" baseline="0" dirty="0" smtClean="0">
                <a:ln>
                  <a:noFill/>
                </a:ln>
                <a:solidFill>
                  <a:srgbClr val="000000"/>
                </a:solidFill>
                <a:effectLst/>
                <a:uFillTx/>
                <a:latin typeface="黑体" pitchFamily="49" charset="-122"/>
                <a:ea typeface="黑体" pitchFamily="49" charset="-122"/>
                <a:sym typeface="Helvetica Light"/>
              </a:rPr>
              <a:t>导体中没有电荷作任何定向运动的状态称为静电平衡状态。</a:t>
            </a:r>
            <a:endParaRPr kumimoji="0" lang="zh-CN" altLang="en-US" sz="3600" b="0" i="0" u="none" strike="noStrike" cap="none" spc="0" normalizeH="0" baseline="0" dirty="0">
              <a:ln>
                <a:noFill/>
              </a:ln>
              <a:solidFill>
                <a:srgbClr val="000000"/>
              </a:solidFill>
              <a:effectLst/>
              <a:uFillTx/>
              <a:latin typeface="黑体" pitchFamily="49" charset="-122"/>
              <a:ea typeface="黑体" pitchFamily="49" charset="-122"/>
              <a:sym typeface="Helvetica Light"/>
            </a:endParaRPr>
          </a:p>
        </p:txBody>
      </p:sp>
      <p:sp>
        <p:nvSpPr>
          <p:cNvPr id="28" name="Shape 448"/>
          <p:cNvSpPr/>
          <p:nvPr/>
        </p:nvSpPr>
        <p:spPr>
          <a:xfrm>
            <a:off x="447984" y="6948246"/>
            <a:ext cx="6450485" cy="6104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0">
              <a:defRPr sz="1800"/>
            </a:pPr>
            <a:r>
              <a:rPr sz="3300" dirty="0" err="1">
                <a:latin typeface="黑体" pitchFamily="49" charset="-122"/>
                <a:ea typeface="黑体" pitchFamily="49" charset="-122"/>
              </a:rPr>
              <a:t>导体：</a:t>
            </a:r>
            <a:r>
              <a:rPr sz="3300" dirty="0" err="1" smtClean="0">
                <a:latin typeface="黑体" pitchFamily="49" charset="-122"/>
                <a:ea typeface="黑体" pitchFamily="49" charset="-122"/>
              </a:rPr>
              <a:t>电子可以在导体</a:t>
            </a:r>
            <a:r>
              <a:rPr lang="zh-CN" altLang="en-US" sz="3300" dirty="0" smtClean="0">
                <a:latin typeface="黑体" pitchFamily="49" charset="-122"/>
                <a:ea typeface="黑体" pitchFamily="49" charset="-122"/>
              </a:rPr>
              <a:t>内自由</a:t>
            </a:r>
            <a:r>
              <a:rPr sz="3300" dirty="0" err="1" smtClean="0">
                <a:latin typeface="黑体" pitchFamily="49" charset="-122"/>
                <a:ea typeface="黑体" pitchFamily="49" charset="-122"/>
              </a:rPr>
              <a:t>移动</a:t>
            </a:r>
            <a:endParaRPr sz="3300" dirty="0">
              <a:latin typeface="黑体" pitchFamily="49" charset="-122"/>
              <a:ea typeface="黑体" pitchFamily="49" charset="-122"/>
            </a:endParaRPr>
          </a:p>
        </p:txBody>
      </p:sp>
    </p:spTree>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hape 474"/>
          <p:cNvSpPr>
            <a:spLocks noGrp="1"/>
          </p:cNvSpPr>
          <p:nvPr>
            <p:ph type="title"/>
          </p:nvPr>
        </p:nvSpPr>
        <p:spPr>
          <a:prstGeom prst="rect">
            <a:avLst/>
          </a:prstGeom>
        </p:spPr>
        <p:txBody>
          <a:bodyPr/>
          <a:lstStyle/>
          <a:p>
            <a:pPr lvl="0">
              <a:defRPr sz="1800">
                <a:solidFill>
                  <a:srgbClr val="000000"/>
                </a:solidFill>
              </a:defRPr>
            </a:pPr>
            <a:r>
              <a:rPr sz="4400">
                <a:solidFill>
                  <a:srgbClr val="006633"/>
                </a:solidFill>
              </a:rPr>
              <a:t>感应电荷将影响外电场的分布</a:t>
            </a:r>
          </a:p>
        </p:txBody>
      </p:sp>
      <p:pic>
        <p:nvPicPr>
          <p:cNvPr id="5" name="Picture 9" descr="T7-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552" y="1276400"/>
            <a:ext cx="12096940" cy="352550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13768" y="5391889"/>
            <a:ext cx="11676724" cy="34265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zh-CN" dirty="0">
                <a:latin typeface="黑体" pitchFamily="49" charset="-122"/>
                <a:ea typeface="黑体" pitchFamily="49" charset="-122"/>
              </a:rPr>
              <a:t>本节处理问题的办法不是去分析电场、电荷在相互作用</a:t>
            </a:r>
            <a:r>
              <a:rPr lang="zh-CN" altLang="zh-CN" dirty="0" smtClean="0">
                <a:latin typeface="黑体" pitchFamily="49" charset="-122"/>
                <a:ea typeface="黑体" pitchFamily="49" charset="-122"/>
              </a:rPr>
              <a:t>下</a:t>
            </a:r>
            <a:r>
              <a:rPr lang="zh-CN" altLang="en-US" dirty="0" smtClean="0">
                <a:latin typeface="黑体" pitchFamily="49" charset="-122"/>
                <a:ea typeface="黑体" pitchFamily="49" charset="-122"/>
              </a:rPr>
              <a:t>是</a:t>
            </a:r>
            <a:r>
              <a:rPr lang="zh-CN" altLang="zh-CN" dirty="0" smtClean="0">
                <a:latin typeface="黑体" pitchFamily="49" charset="-122"/>
                <a:ea typeface="黑体" pitchFamily="49" charset="-122"/>
              </a:rPr>
              <a:t>怎样</a:t>
            </a:r>
            <a:r>
              <a:rPr lang="zh-CN" altLang="zh-CN" dirty="0">
                <a:latin typeface="黑体" pitchFamily="49" charset="-122"/>
                <a:ea typeface="黑体" pitchFamily="49" charset="-122"/>
              </a:rPr>
              <a:t>达到平衡分布的复杂过程</a:t>
            </a:r>
            <a:r>
              <a:rPr lang="zh-CN" altLang="zh-CN" dirty="0" smtClean="0">
                <a:latin typeface="黑体" pitchFamily="49" charset="-122"/>
                <a:ea typeface="黑体" pitchFamily="49" charset="-122"/>
              </a:rPr>
              <a:t>，</a:t>
            </a:r>
            <a:r>
              <a:rPr lang="zh-CN" altLang="en-US" dirty="0" smtClean="0">
                <a:latin typeface="黑体" pitchFamily="49" charset="-122"/>
                <a:ea typeface="黑体" pitchFamily="49" charset="-122"/>
              </a:rPr>
              <a:t>而是</a:t>
            </a:r>
            <a:r>
              <a:rPr lang="zh-CN" altLang="zh-CN" dirty="0" smtClean="0">
                <a:latin typeface="黑体" pitchFamily="49" charset="-122"/>
                <a:ea typeface="黑体" pitchFamily="49" charset="-122"/>
              </a:rPr>
              <a:t>假定</a:t>
            </a:r>
            <a:r>
              <a:rPr lang="zh-CN" altLang="zh-CN" dirty="0">
                <a:solidFill>
                  <a:srgbClr val="FF0000"/>
                </a:solidFill>
                <a:latin typeface="黑体" pitchFamily="49" charset="-122"/>
                <a:ea typeface="黑体" pitchFamily="49" charset="-122"/>
              </a:rPr>
              <a:t>这种平衡分布已经达到</a:t>
            </a:r>
            <a:r>
              <a:rPr lang="zh-CN" altLang="zh-CN" dirty="0">
                <a:latin typeface="黑体" pitchFamily="49" charset="-122"/>
                <a:ea typeface="黑体" pitchFamily="49" charset="-122"/>
              </a:rPr>
              <a:t>，</a:t>
            </a:r>
            <a:r>
              <a:rPr lang="zh-CN" altLang="zh-CN" dirty="0" smtClean="0">
                <a:latin typeface="黑体" pitchFamily="49" charset="-122"/>
                <a:ea typeface="黑体" pitchFamily="49" charset="-122"/>
              </a:rPr>
              <a:t>以</a:t>
            </a:r>
            <a:r>
              <a:rPr lang="zh-CN" altLang="en-US" dirty="0" smtClean="0">
                <a:latin typeface="黑体" pitchFamily="49" charset="-122"/>
                <a:ea typeface="黑体" pitchFamily="49" charset="-122"/>
              </a:rPr>
              <a:t>该</a:t>
            </a:r>
            <a:r>
              <a:rPr lang="zh-CN" altLang="zh-CN" dirty="0" smtClean="0">
                <a:latin typeface="黑体" pitchFamily="49" charset="-122"/>
                <a:ea typeface="黑体" pitchFamily="49" charset="-122"/>
              </a:rPr>
              <a:t>平衡条件</a:t>
            </a:r>
            <a:r>
              <a:rPr lang="zh-CN" altLang="zh-CN" dirty="0">
                <a:latin typeface="黑体" pitchFamily="49" charset="-122"/>
                <a:ea typeface="黑体" pitchFamily="49" charset="-122"/>
              </a:rPr>
              <a:t>为出发点，结合静电场</a:t>
            </a:r>
            <a:r>
              <a:rPr lang="zh-CN" altLang="zh-CN" dirty="0" smtClean="0">
                <a:latin typeface="黑体" pitchFamily="49" charset="-122"/>
                <a:ea typeface="黑体" pitchFamily="49" charset="-122"/>
              </a:rPr>
              <a:t>的规律</a:t>
            </a:r>
            <a:r>
              <a:rPr lang="zh-CN" altLang="zh-CN" dirty="0">
                <a:latin typeface="黑体" pitchFamily="49" charset="-122"/>
                <a:ea typeface="黑体" pitchFamily="49" charset="-122"/>
              </a:rPr>
              <a:t>去进一步分析问题</a:t>
            </a:r>
            <a:r>
              <a:rPr lang="zh-CN" altLang="zh-CN" dirty="0" smtClean="0">
                <a:latin typeface="黑体" pitchFamily="49" charset="-122"/>
                <a:ea typeface="黑体" pitchFamily="49" charset="-122"/>
              </a:rPr>
              <a:t>。</a:t>
            </a:r>
            <a:endParaRPr lang="zh-CN" altLang="zh-CN" dirty="0">
              <a:latin typeface="黑体" pitchFamily="49" charset="-122"/>
              <a:ea typeface="黑体" pitchFamily="49" charset="-122"/>
            </a:endParaRP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ChangeArrowheads="1"/>
          </p:cNvSpPr>
          <p:nvPr/>
        </p:nvSpPr>
        <p:spPr bwMode="auto">
          <a:xfrm>
            <a:off x="2858347" y="1842347"/>
            <a:ext cx="7261013" cy="6394027"/>
          </a:xfrm>
          <a:prstGeom prst="rect">
            <a:avLst/>
          </a:prstGeom>
          <a:gradFill rotWithShape="1">
            <a:gsLst>
              <a:gs pos="0">
                <a:schemeClr val="bg2"/>
              </a:gs>
              <a:gs pos="100000">
                <a:schemeClr val="bg2">
                  <a:gamma/>
                  <a:tint val="0"/>
                  <a:invGamma/>
                </a:schemeClr>
              </a:gs>
            </a:gsLst>
            <a:lin ang="0" scaled="1"/>
          </a:gradFill>
          <a:ln>
            <a:noFill/>
          </a:ln>
          <a:effectLst/>
          <a:scene3d>
            <a:camera prst="legacyObliqueTopRight"/>
            <a:lightRig rig="legacyFlat3" dir="t"/>
          </a:scene3d>
          <a:sp3d extrusionH="430200" prstMaterial="legacyMatte">
            <a:bevelT w="13500" h="13500" prst="angle"/>
            <a:bevelB w="13500" h="13500" prst="angle"/>
            <a:extrusionClr>
              <a:schemeClr val="bg2"/>
            </a:extrusionClr>
            <a:contourClr>
              <a:schemeClr val="bg2"/>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sz="5120"/>
          </a:p>
        </p:txBody>
      </p:sp>
      <p:grpSp>
        <p:nvGrpSpPr>
          <p:cNvPr id="618499" name="Group 3"/>
          <p:cNvGrpSpPr>
            <a:grpSpLocks/>
          </p:cNvGrpSpPr>
          <p:nvPr/>
        </p:nvGrpSpPr>
        <p:grpSpPr bwMode="auto">
          <a:xfrm>
            <a:off x="758613" y="2059093"/>
            <a:ext cx="11489832" cy="5852160"/>
            <a:chOff x="336" y="1008"/>
            <a:chExt cx="5089" cy="2592"/>
          </a:xfrm>
        </p:grpSpPr>
        <p:sp>
          <p:nvSpPr>
            <p:cNvPr id="618500" name="Line 4"/>
            <p:cNvSpPr>
              <a:spLocks noChangeShapeType="1"/>
            </p:cNvSpPr>
            <p:nvPr/>
          </p:nvSpPr>
          <p:spPr bwMode="auto">
            <a:xfrm>
              <a:off x="336" y="1296"/>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1" name="Line 5"/>
            <p:cNvSpPr>
              <a:spLocks noChangeShapeType="1"/>
            </p:cNvSpPr>
            <p:nvPr/>
          </p:nvSpPr>
          <p:spPr bwMode="auto">
            <a:xfrm>
              <a:off x="336" y="1008"/>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2" name="Line 6"/>
            <p:cNvSpPr>
              <a:spLocks noChangeShapeType="1"/>
            </p:cNvSpPr>
            <p:nvPr/>
          </p:nvSpPr>
          <p:spPr bwMode="auto">
            <a:xfrm>
              <a:off x="336" y="3600"/>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3" name="Line 7"/>
            <p:cNvSpPr>
              <a:spLocks noChangeShapeType="1"/>
            </p:cNvSpPr>
            <p:nvPr/>
          </p:nvSpPr>
          <p:spPr bwMode="auto">
            <a:xfrm>
              <a:off x="336" y="1584"/>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4" name="Line 8"/>
            <p:cNvSpPr>
              <a:spLocks noChangeShapeType="1"/>
            </p:cNvSpPr>
            <p:nvPr/>
          </p:nvSpPr>
          <p:spPr bwMode="auto">
            <a:xfrm>
              <a:off x="337" y="1872"/>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5" name="Line 9"/>
            <p:cNvSpPr>
              <a:spLocks noChangeShapeType="1"/>
            </p:cNvSpPr>
            <p:nvPr/>
          </p:nvSpPr>
          <p:spPr bwMode="auto">
            <a:xfrm>
              <a:off x="337" y="2160"/>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6" name="Line 10"/>
            <p:cNvSpPr>
              <a:spLocks noChangeShapeType="1"/>
            </p:cNvSpPr>
            <p:nvPr/>
          </p:nvSpPr>
          <p:spPr bwMode="auto">
            <a:xfrm>
              <a:off x="337" y="2448"/>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7" name="Line 11"/>
            <p:cNvSpPr>
              <a:spLocks noChangeShapeType="1"/>
            </p:cNvSpPr>
            <p:nvPr/>
          </p:nvSpPr>
          <p:spPr bwMode="auto">
            <a:xfrm>
              <a:off x="337" y="2736"/>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8" name="Line 12"/>
            <p:cNvSpPr>
              <a:spLocks noChangeShapeType="1"/>
            </p:cNvSpPr>
            <p:nvPr/>
          </p:nvSpPr>
          <p:spPr bwMode="auto">
            <a:xfrm>
              <a:off x="337" y="3024"/>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09" name="Line 13"/>
            <p:cNvSpPr>
              <a:spLocks noChangeShapeType="1"/>
            </p:cNvSpPr>
            <p:nvPr/>
          </p:nvSpPr>
          <p:spPr bwMode="auto">
            <a:xfrm>
              <a:off x="337" y="3312"/>
              <a:ext cx="5088" cy="0"/>
            </a:xfrm>
            <a:prstGeom prst="line">
              <a:avLst/>
            </a:prstGeom>
            <a:noFill/>
            <a:ln w="22225">
              <a:solidFill>
                <a:srgbClr val="00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sp>
        <p:nvSpPr>
          <p:cNvPr id="618510" name="Rectangle 14"/>
          <p:cNvSpPr>
            <a:spLocks noChangeArrowheads="1"/>
          </p:cNvSpPr>
          <p:nvPr/>
        </p:nvSpPr>
        <p:spPr bwMode="auto">
          <a:xfrm>
            <a:off x="2926080" y="1842347"/>
            <a:ext cx="7261013" cy="6394027"/>
          </a:xfrm>
          <a:prstGeom prst="rect">
            <a:avLst/>
          </a:prstGeom>
          <a:gradFill rotWithShape="1">
            <a:gsLst>
              <a:gs pos="0">
                <a:schemeClr val="bg2"/>
              </a:gs>
              <a:gs pos="100000">
                <a:schemeClr val="bg2">
                  <a:gamma/>
                  <a:tint val="73725"/>
                  <a:invGamma/>
                </a:schemeClr>
              </a:gs>
            </a:gsLst>
            <a:lin ang="0" scaled="1"/>
          </a:gra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nvGrpSpPr>
          <p:cNvPr id="618511" name="Group 15"/>
          <p:cNvGrpSpPr>
            <a:grpSpLocks/>
          </p:cNvGrpSpPr>
          <p:nvPr/>
        </p:nvGrpSpPr>
        <p:grpSpPr bwMode="auto">
          <a:xfrm>
            <a:off x="6290170" y="2528712"/>
            <a:ext cx="320604" cy="374791"/>
            <a:chOff x="1444" y="1252"/>
            <a:chExt cx="184" cy="184"/>
          </a:xfrm>
        </p:grpSpPr>
        <p:sp>
          <p:nvSpPr>
            <p:cNvPr id="618512" name="Oval 16"/>
            <p:cNvSpPr>
              <a:spLocks noChangeArrowheads="1"/>
            </p:cNvSpPr>
            <p:nvPr/>
          </p:nvSpPr>
          <p:spPr bwMode="auto">
            <a:xfrm>
              <a:off x="1444" y="1252"/>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13" name="Line 17"/>
            <p:cNvSpPr>
              <a:spLocks noChangeShapeType="1"/>
            </p:cNvSpPr>
            <p:nvPr/>
          </p:nvSpPr>
          <p:spPr bwMode="auto">
            <a:xfrm>
              <a:off x="1488" y="1344"/>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14" name="Group 18"/>
          <p:cNvGrpSpPr>
            <a:grpSpLocks/>
          </p:cNvGrpSpPr>
          <p:nvPr/>
        </p:nvGrpSpPr>
        <p:grpSpPr bwMode="auto">
          <a:xfrm>
            <a:off x="4768427" y="5127414"/>
            <a:ext cx="300285" cy="368017"/>
            <a:chOff x="3700" y="2356"/>
            <a:chExt cx="184" cy="184"/>
          </a:xfrm>
        </p:grpSpPr>
        <p:sp>
          <p:nvSpPr>
            <p:cNvPr id="618515" name="Oval 19"/>
            <p:cNvSpPr>
              <a:spLocks noChangeArrowheads="1"/>
            </p:cNvSpPr>
            <p:nvPr/>
          </p:nvSpPr>
          <p:spPr bwMode="auto">
            <a:xfrm>
              <a:off x="3700" y="2356"/>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16" name="Line 20"/>
            <p:cNvSpPr>
              <a:spLocks noChangeShapeType="1"/>
            </p:cNvSpPr>
            <p:nvPr/>
          </p:nvSpPr>
          <p:spPr bwMode="auto">
            <a:xfrm>
              <a:off x="3744" y="2448"/>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634" name="Group 138"/>
          <p:cNvGrpSpPr>
            <a:grpSpLocks/>
          </p:cNvGrpSpPr>
          <p:nvPr/>
        </p:nvGrpSpPr>
        <p:grpSpPr bwMode="auto">
          <a:xfrm>
            <a:off x="4118187" y="3851770"/>
            <a:ext cx="313832" cy="368018"/>
            <a:chOff x="3424" y="1706"/>
            <a:chExt cx="139" cy="163"/>
          </a:xfrm>
        </p:grpSpPr>
        <p:sp>
          <p:nvSpPr>
            <p:cNvPr id="618518" name="Oval 22"/>
            <p:cNvSpPr>
              <a:spLocks noChangeArrowheads="1"/>
            </p:cNvSpPr>
            <p:nvPr/>
          </p:nvSpPr>
          <p:spPr bwMode="auto">
            <a:xfrm>
              <a:off x="3424" y="1706"/>
              <a:ext cx="139" cy="163"/>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19" name="Line 23"/>
            <p:cNvSpPr>
              <a:spLocks noChangeShapeType="1"/>
            </p:cNvSpPr>
            <p:nvPr/>
          </p:nvSpPr>
          <p:spPr bwMode="auto">
            <a:xfrm>
              <a:off x="3454" y="1784"/>
              <a:ext cx="73"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20" name="Group 24"/>
          <p:cNvGrpSpPr>
            <a:grpSpLocks/>
          </p:cNvGrpSpPr>
          <p:nvPr/>
        </p:nvGrpSpPr>
        <p:grpSpPr bwMode="auto">
          <a:xfrm>
            <a:off x="5883770" y="6445957"/>
            <a:ext cx="293511" cy="347698"/>
            <a:chOff x="2164" y="2884"/>
            <a:chExt cx="184" cy="184"/>
          </a:xfrm>
        </p:grpSpPr>
        <p:sp>
          <p:nvSpPr>
            <p:cNvPr id="618521" name="Oval 25"/>
            <p:cNvSpPr>
              <a:spLocks noChangeArrowheads="1"/>
            </p:cNvSpPr>
            <p:nvPr/>
          </p:nvSpPr>
          <p:spPr bwMode="auto">
            <a:xfrm>
              <a:off x="2164" y="2884"/>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22" name="Line 26"/>
            <p:cNvSpPr>
              <a:spLocks noChangeShapeType="1"/>
            </p:cNvSpPr>
            <p:nvPr/>
          </p:nvSpPr>
          <p:spPr bwMode="auto">
            <a:xfrm>
              <a:off x="2208" y="2976"/>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23" name="Group 27"/>
          <p:cNvGrpSpPr>
            <a:grpSpLocks/>
          </p:cNvGrpSpPr>
          <p:nvPr/>
        </p:nvGrpSpPr>
        <p:grpSpPr bwMode="auto">
          <a:xfrm>
            <a:off x="6398543" y="4477175"/>
            <a:ext cx="320604" cy="374791"/>
            <a:chOff x="1876" y="2116"/>
            <a:chExt cx="184" cy="184"/>
          </a:xfrm>
        </p:grpSpPr>
        <p:sp>
          <p:nvSpPr>
            <p:cNvPr id="618524" name="Oval 28"/>
            <p:cNvSpPr>
              <a:spLocks noChangeArrowheads="1"/>
            </p:cNvSpPr>
            <p:nvPr/>
          </p:nvSpPr>
          <p:spPr bwMode="auto">
            <a:xfrm>
              <a:off x="1876" y="2116"/>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25" name="Line 29"/>
            <p:cNvSpPr>
              <a:spLocks noChangeShapeType="1"/>
            </p:cNvSpPr>
            <p:nvPr/>
          </p:nvSpPr>
          <p:spPr bwMode="auto">
            <a:xfrm>
              <a:off x="1920" y="2208"/>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26" name="Group 30"/>
          <p:cNvGrpSpPr>
            <a:grpSpLocks/>
          </p:cNvGrpSpPr>
          <p:nvPr/>
        </p:nvGrpSpPr>
        <p:grpSpPr bwMode="auto">
          <a:xfrm>
            <a:off x="8240890" y="3136054"/>
            <a:ext cx="320604" cy="361244"/>
            <a:chOff x="2452" y="1540"/>
            <a:chExt cx="184" cy="184"/>
          </a:xfrm>
        </p:grpSpPr>
        <p:sp>
          <p:nvSpPr>
            <p:cNvPr id="618527" name="Oval 31"/>
            <p:cNvSpPr>
              <a:spLocks noChangeArrowheads="1"/>
            </p:cNvSpPr>
            <p:nvPr/>
          </p:nvSpPr>
          <p:spPr bwMode="auto">
            <a:xfrm>
              <a:off x="2452" y="1540"/>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28" name="Line 32"/>
            <p:cNvSpPr>
              <a:spLocks noChangeShapeType="1"/>
            </p:cNvSpPr>
            <p:nvPr/>
          </p:nvSpPr>
          <p:spPr bwMode="auto">
            <a:xfrm>
              <a:off x="2496" y="1632"/>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635" name="Group 139"/>
          <p:cNvGrpSpPr>
            <a:grpSpLocks/>
          </p:cNvGrpSpPr>
          <p:nvPr/>
        </p:nvGrpSpPr>
        <p:grpSpPr bwMode="auto">
          <a:xfrm>
            <a:off x="4985173" y="1882987"/>
            <a:ext cx="325120" cy="352213"/>
            <a:chOff x="3170" y="906"/>
            <a:chExt cx="143" cy="156"/>
          </a:xfrm>
        </p:grpSpPr>
        <p:sp>
          <p:nvSpPr>
            <p:cNvPr id="618530" name="Oval 34"/>
            <p:cNvSpPr>
              <a:spLocks noChangeArrowheads="1"/>
            </p:cNvSpPr>
            <p:nvPr/>
          </p:nvSpPr>
          <p:spPr bwMode="auto">
            <a:xfrm>
              <a:off x="3170" y="906"/>
              <a:ext cx="143" cy="156"/>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31" name="Line 35"/>
            <p:cNvSpPr>
              <a:spLocks noChangeShapeType="1"/>
            </p:cNvSpPr>
            <p:nvPr/>
          </p:nvSpPr>
          <p:spPr bwMode="auto">
            <a:xfrm>
              <a:off x="3205" y="978"/>
              <a:ext cx="75"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32" name="Group 36"/>
          <p:cNvGrpSpPr>
            <a:grpSpLocks/>
          </p:cNvGrpSpPr>
          <p:nvPr/>
        </p:nvGrpSpPr>
        <p:grpSpPr bwMode="auto">
          <a:xfrm>
            <a:off x="4226560" y="7721600"/>
            <a:ext cx="316089" cy="372534"/>
            <a:chOff x="3988" y="3460"/>
            <a:chExt cx="184" cy="184"/>
          </a:xfrm>
        </p:grpSpPr>
        <p:sp>
          <p:nvSpPr>
            <p:cNvPr id="618533" name="Oval 37"/>
            <p:cNvSpPr>
              <a:spLocks noChangeArrowheads="1"/>
            </p:cNvSpPr>
            <p:nvPr/>
          </p:nvSpPr>
          <p:spPr bwMode="auto">
            <a:xfrm>
              <a:off x="3988" y="3460"/>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34" name="Line 38"/>
            <p:cNvSpPr>
              <a:spLocks noChangeShapeType="1"/>
            </p:cNvSpPr>
            <p:nvPr/>
          </p:nvSpPr>
          <p:spPr bwMode="auto">
            <a:xfrm>
              <a:off x="4032" y="3552"/>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535" name="Group 39"/>
          <p:cNvGrpSpPr>
            <a:grpSpLocks/>
          </p:cNvGrpSpPr>
          <p:nvPr/>
        </p:nvGrpSpPr>
        <p:grpSpPr bwMode="auto">
          <a:xfrm>
            <a:off x="8577299" y="7139094"/>
            <a:ext cx="309315" cy="358987"/>
            <a:chOff x="1636" y="3172"/>
            <a:chExt cx="184" cy="184"/>
          </a:xfrm>
        </p:grpSpPr>
        <p:sp>
          <p:nvSpPr>
            <p:cNvPr id="618536" name="Oval 40"/>
            <p:cNvSpPr>
              <a:spLocks noChangeArrowheads="1"/>
            </p:cNvSpPr>
            <p:nvPr/>
          </p:nvSpPr>
          <p:spPr bwMode="auto">
            <a:xfrm>
              <a:off x="1636" y="3172"/>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37" name="Line 41"/>
            <p:cNvSpPr>
              <a:spLocks noChangeShapeType="1"/>
            </p:cNvSpPr>
            <p:nvPr/>
          </p:nvSpPr>
          <p:spPr bwMode="auto">
            <a:xfrm>
              <a:off x="1680" y="3264"/>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nvGrpSpPr>
          <p:cNvPr id="618538" name="Group 42"/>
          <p:cNvGrpSpPr>
            <a:grpSpLocks/>
          </p:cNvGrpSpPr>
          <p:nvPr/>
        </p:nvGrpSpPr>
        <p:grpSpPr bwMode="auto">
          <a:xfrm>
            <a:off x="7157156" y="5764107"/>
            <a:ext cx="320604" cy="368017"/>
            <a:chOff x="2836" y="2644"/>
            <a:chExt cx="184" cy="184"/>
          </a:xfrm>
        </p:grpSpPr>
        <p:sp>
          <p:nvSpPr>
            <p:cNvPr id="618539" name="Oval 43"/>
            <p:cNvSpPr>
              <a:spLocks noChangeArrowheads="1"/>
            </p:cNvSpPr>
            <p:nvPr/>
          </p:nvSpPr>
          <p:spPr bwMode="auto">
            <a:xfrm>
              <a:off x="2836" y="2644"/>
              <a:ext cx="184" cy="184"/>
            </a:xfrm>
            <a:prstGeom prst="ellipse">
              <a:avLst/>
            </a:prstGeom>
            <a:gradFill rotWithShape="1">
              <a:gsLst>
                <a:gs pos="0">
                  <a:srgbClr val="854585">
                    <a:alpha val="20000"/>
                  </a:srgbClr>
                </a:gs>
                <a:gs pos="100000">
                  <a:srgbClr val="854585">
                    <a:gamma/>
                    <a:shade val="46275"/>
                    <a:invGamma/>
                  </a:srgbClr>
                </a:gs>
              </a:gsLst>
              <a:path path="shape">
                <a:fillToRect l="50000" t="50000" r="50000" b="50000"/>
              </a:path>
            </a:gra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40" name="Line 44"/>
            <p:cNvSpPr>
              <a:spLocks noChangeShapeType="1"/>
            </p:cNvSpPr>
            <p:nvPr/>
          </p:nvSpPr>
          <p:spPr bwMode="auto">
            <a:xfrm>
              <a:off x="2880" y="2736"/>
              <a:ext cx="96"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sp>
        <p:nvSpPr>
          <p:cNvPr id="618541" name="Rectangle 45"/>
          <p:cNvSpPr>
            <a:spLocks noChangeArrowheads="1"/>
          </p:cNvSpPr>
          <p:nvPr/>
        </p:nvSpPr>
        <p:spPr bwMode="auto">
          <a:xfrm>
            <a:off x="4768427" y="758614"/>
            <a:ext cx="4207847" cy="920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0951" tIns="65476" rIns="130951" bIns="65476">
            <a:spAutoFit/>
          </a:bodyPr>
          <a:lstStyle/>
          <a:p>
            <a:pPr algn="l" eaLnBrk="0" hangingPunct="0"/>
            <a:r>
              <a:rPr lang="zh-CN" altLang="en-US" sz="5120">
                <a:solidFill>
                  <a:srgbClr val="0000FF"/>
                </a:solidFill>
                <a:latin typeface="Bookman Old Style" panose="02050604050505020204" pitchFamily="18" charset="0"/>
              </a:rPr>
              <a:t>静电感应过程</a:t>
            </a:r>
          </a:p>
        </p:txBody>
      </p:sp>
      <p:grpSp>
        <p:nvGrpSpPr>
          <p:cNvPr id="618542" name="Group 46"/>
          <p:cNvGrpSpPr>
            <a:grpSpLocks/>
          </p:cNvGrpSpPr>
          <p:nvPr/>
        </p:nvGrpSpPr>
        <p:grpSpPr bwMode="auto">
          <a:xfrm>
            <a:off x="10598017" y="900854"/>
            <a:ext cx="1025032" cy="1370471"/>
            <a:chOff x="4694" y="490"/>
            <a:chExt cx="454" cy="607"/>
          </a:xfrm>
        </p:grpSpPr>
        <p:grpSp>
          <p:nvGrpSpPr>
            <p:cNvPr id="618543" name="Group 47"/>
            <p:cNvGrpSpPr>
              <a:grpSpLocks/>
            </p:cNvGrpSpPr>
            <p:nvPr/>
          </p:nvGrpSpPr>
          <p:grpSpPr bwMode="auto">
            <a:xfrm>
              <a:off x="4694" y="490"/>
              <a:ext cx="454" cy="607"/>
              <a:chOff x="4694" y="490"/>
              <a:chExt cx="454" cy="607"/>
            </a:xfrm>
          </p:grpSpPr>
          <p:sp>
            <p:nvSpPr>
              <p:cNvPr id="618544" name="Rectangle 48"/>
              <p:cNvSpPr>
                <a:spLocks noChangeArrowheads="1"/>
              </p:cNvSpPr>
              <p:nvPr/>
            </p:nvSpPr>
            <p:spPr bwMode="auto">
              <a:xfrm>
                <a:off x="4694" y="490"/>
                <a:ext cx="354" cy="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0951" tIns="65476" rIns="130951" bIns="65476">
                <a:spAutoFit/>
              </a:bodyPr>
              <a:lstStyle/>
              <a:p>
                <a:pPr algn="l" eaLnBrk="0" hangingPunct="0"/>
                <a:r>
                  <a:rPr lang="en-US" altLang="zh-CN" sz="6827" i="1">
                    <a:solidFill>
                      <a:schemeClr val="tx1"/>
                    </a:solidFill>
                    <a:latin typeface="Times New Roman" panose="02020603050405020304" pitchFamily="18" charset="0"/>
                  </a:rPr>
                  <a:t>E</a:t>
                </a:r>
              </a:p>
            </p:txBody>
          </p:sp>
          <p:sp>
            <p:nvSpPr>
              <p:cNvPr id="618545" name="Rectangle 49"/>
              <p:cNvSpPr>
                <a:spLocks noChangeArrowheads="1"/>
              </p:cNvSpPr>
              <p:nvPr/>
            </p:nvSpPr>
            <p:spPr bwMode="auto">
              <a:xfrm>
                <a:off x="4934" y="806"/>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0951" tIns="65476" rIns="130951" bIns="65476">
                <a:spAutoFit/>
              </a:bodyPr>
              <a:lstStyle/>
              <a:p>
                <a:pPr algn="l" eaLnBrk="0" hangingPunct="0"/>
                <a:r>
                  <a:rPr lang="en-US" altLang="zh-CN" sz="3413">
                    <a:solidFill>
                      <a:schemeClr val="tx1"/>
                    </a:solidFill>
                    <a:latin typeface="Times New Roman" panose="02020603050405020304" pitchFamily="18" charset="0"/>
                  </a:rPr>
                  <a:t>0</a:t>
                </a:r>
              </a:p>
            </p:txBody>
          </p:sp>
        </p:grpSp>
        <p:sp>
          <p:nvSpPr>
            <p:cNvPr id="618546" name="Line 50"/>
            <p:cNvSpPr>
              <a:spLocks noChangeShapeType="1"/>
            </p:cNvSpPr>
            <p:nvPr/>
          </p:nvSpPr>
          <p:spPr bwMode="auto">
            <a:xfrm>
              <a:off x="4752" y="528"/>
              <a:ext cx="384" cy="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aphicFrame>
        <p:nvGraphicFramePr>
          <p:cNvPr id="618587" name="Object 91"/>
          <p:cNvGraphicFramePr>
            <a:graphicFrameLocks noChangeAspect="1"/>
          </p:cNvGraphicFramePr>
          <p:nvPr/>
        </p:nvGraphicFramePr>
        <p:xfrm>
          <a:off x="4271716" y="8252179"/>
          <a:ext cx="3745654" cy="851182"/>
        </p:xfrm>
        <a:graphic>
          <a:graphicData uri="http://schemas.openxmlformats.org/presentationml/2006/ole">
            <mc:AlternateContent xmlns:mc="http://schemas.openxmlformats.org/markup-compatibility/2006">
              <mc:Choice xmlns:v="urn:schemas-microsoft-com:vml" Requires="v">
                <p:oleObj spid="_x0000_s4226" name="公式" r:id="rId3" imgW="1104844" imgH="247590" progId="Equations">
                  <p:embed/>
                </p:oleObj>
              </mc:Choice>
              <mc:Fallback>
                <p:oleObj name="公式" r:id="rId3" imgW="1104844" imgH="247590" progId="Equations">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716" y="8252179"/>
                        <a:ext cx="3745654" cy="851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18593" name="Group 97"/>
          <p:cNvGrpSpPr>
            <a:grpSpLocks/>
          </p:cNvGrpSpPr>
          <p:nvPr/>
        </p:nvGrpSpPr>
        <p:grpSpPr bwMode="auto">
          <a:xfrm>
            <a:off x="9706188" y="3174436"/>
            <a:ext cx="372533" cy="401884"/>
            <a:chOff x="4107" y="1406"/>
            <a:chExt cx="165" cy="178"/>
          </a:xfrm>
        </p:grpSpPr>
        <p:sp>
          <p:nvSpPr>
            <p:cNvPr id="618560" name="Oval 64"/>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61" name="Line 65"/>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92" name="Line 96"/>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598" name="Group 102"/>
          <p:cNvGrpSpPr>
            <a:grpSpLocks/>
          </p:cNvGrpSpPr>
          <p:nvPr/>
        </p:nvGrpSpPr>
        <p:grpSpPr bwMode="auto">
          <a:xfrm>
            <a:off x="9706188" y="1882988"/>
            <a:ext cx="372533" cy="401884"/>
            <a:chOff x="4107" y="1406"/>
            <a:chExt cx="165" cy="178"/>
          </a:xfrm>
        </p:grpSpPr>
        <p:sp>
          <p:nvSpPr>
            <p:cNvPr id="618599" name="Oval 103"/>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00" name="Line 104"/>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01" name="Line 105"/>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594" name="Group 98"/>
          <p:cNvGrpSpPr>
            <a:grpSpLocks/>
          </p:cNvGrpSpPr>
          <p:nvPr/>
        </p:nvGrpSpPr>
        <p:grpSpPr bwMode="auto">
          <a:xfrm>
            <a:off x="9706188" y="2519681"/>
            <a:ext cx="372533" cy="401884"/>
            <a:chOff x="4107" y="1406"/>
            <a:chExt cx="165" cy="178"/>
          </a:xfrm>
        </p:grpSpPr>
        <p:sp>
          <p:nvSpPr>
            <p:cNvPr id="618595" name="Oval 99"/>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596" name="Line 100"/>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597" name="Line 101"/>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02" name="Group 106"/>
          <p:cNvGrpSpPr>
            <a:grpSpLocks/>
          </p:cNvGrpSpPr>
          <p:nvPr/>
        </p:nvGrpSpPr>
        <p:grpSpPr bwMode="auto">
          <a:xfrm>
            <a:off x="9706188" y="3820161"/>
            <a:ext cx="372533" cy="401884"/>
            <a:chOff x="4107" y="1406"/>
            <a:chExt cx="165" cy="178"/>
          </a:xfrm>
        </p:grpSpPr>
        <p:sp>
          <p:nvSpPr>
            <p:cNvPr id="618603" name="Oval 107"/>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04" name="Line 108"/>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05" name="Line 109"/>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06" name="Group 110"/>
          <p:cNvGrpSpPr>
            <a:grpSpLocks/>
          </p:cNvGrpSpPr>
          <p:nvPr/>
        </p:nvGrpSpPr>
        <p:grpSpPr bwMode="auto">
          <a:xfrm>
            <a:off x="9706188" y="4470401"/>
            <a:ext cx="372533" cy="401884"/>
            <a:chOff x="4107" y="1406"/>
            <a:chExt cx="165" cy="178"/>
          </a:xfrm>
        </p:grpSpPr>
        <p:sp>
          <p:nvSpPr>
            <p:cNvPr id="618607" name="Oval 111"/>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08" name="Line 112"/>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09" name="Line 113"/>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10" name="Group 114"/>
          <p:cNvGrpSpPr>
            <a:grpSpLocks/>
          </p:cNvGrpSpPr>
          <p:nvPr/>
        </p:nvGrpSpPr>
        <p:grpSpPr bwMode="auto">
          <a:xfrm>
            <a:off x="9706188" y="5120641"/>
            <a:ext cx="372533" cy="401884"/>
            <a:chOff x="4107" y="1406"/>
            <a:chExt cx="165" cy="178"/>
          </a:xfrm>
        </p:grpSpPr>
        <p:sp>
          <p:nvSpPr>
            <p:cNvPr id="618611" name="Oval 115"/>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12" name="Line 116"/>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13" name="Line 117"/>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14" name="Group 118"/>
          <p:cNvGrpSpPr>
            <a:grpSpLocks/>
          </p:cNvGrpSpPr>
          <p:nvPr/>
        </p:nvGrpSpPr>
        <p:grpSpPr bwMode="auto">
          <a:xfrm>
            <a:off x="9706188" y="5788943"/>
            <a:ext cx="372533" cy="401884"/>
            <a:chOff x="4107" y="1406"/>
            <a:chExt cx="165" cy="178"/>
          </a:xfrm>
        </p:grpSpPr>
        <p:sp>
          <p:nvSpPr>
            <p:cNvPr id="618615" name="Oval 119"/>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16" name="Line 120"/>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17" name="Line 121"/>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18" name="Group 122"/>
          <p:cNvGrpSpPr>
            <a:grpSpLocks/>
          </p:cNvGrpSpPr>
          <p:nvPr/>
        </p:nvGrpSpPr>
        <p:grpSpPr bwMode="auto">
          <a:xfrm>
            <a:off x="9706188" y="6425636"/>
            <a:ext cx="372533" cy="401884"/>
            <a:chOff x="4107" y="1406"/>
            <a:chExt cx="165" cy="178"/>
          </a:xfrm>
        </p:grpSpPr>
        <p:sp>
          <p:nvSpPr>
            <p:cNvPr id="618619" name="Oval 123"/>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20" name="Line 124"/>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21" name="Line 125"/>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22" name="Group 126"/>
          <p:cNvGrpSpPr>
            <a:grpSpLocks/>
          </p:cNvGrpSpPr>
          <p:nvPr/>
        </p:nvGrpSpPr>
        <p:grpSpPr bwMode="auto">
          <a:xfrm>
            <a:off x="9706188" y="7075876"/>
            <a:ext cx="372533" cy="401884"/>
            <a:chOff x="4107" y="1406"/>
            <a:chExt cx="165" cy="178"/>
          </a:xfrm>
        </p:grpSpPr>
        <p:sp>
          <p:nvSpPr>
            <p:cNvPr id="618623" name="Oval 127"/>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24" name="Line 128"/>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25" name="Line 129"/>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grpSp>
        <p:nvGrpSpPr>
          <p:cNvPr id="618626" name="Group 130"/>
          <p:cNvGrpSpPr>
            <a:grpSpLocks/>
          </p:cNvGrpSpPr>
          <p:nvPr/>
        </p:nvGrpSpPr>
        <p:grpSpPr bwMode="auto">
          <a:xfrm>
            <a:off x="9706188" y="7735148"/>
            <a:ext cx="372533" cy="401884"/>
            <a:chOff x="4107" y="1406"/>
            <a:chExt cx="165" cy="178"/>
          </a:xfrm>
        </p:grpSpPr>
        <p:sp>
          <p:nvSpPr>
            <p:cNvPr id="618627" name="Oval 131"/>
            <p:cNvSpPr>
              <a:spLocks noChangeArrowheads="1"/>
            </p:cNvSpPr>
            <p:nvPr/>
          </p:nvSpPr>
          <p:spPr bwMode="auto">
            <a:xfrm>
              <a:off x="4107" y="1406"/>
              <a:ext cx="165" cy="178"/>
            </a:xfrm>
            <a:prstGeom prst="ellipse">
              <a:avLst/>
            </a:prstGeom>
            <a:gradFill rotWithShape="1">
              <a:gsLst>
                <a:gs pos="0">
                  <a:srgbClr val="FFFF00">
                    <a:alpha val="80000"/>
                  </a:srgbClr>
                </a:gs>
                <a:gs pos="100000">
                  <a:srgbClr val="FFFF00">
                    <a:gamma/>
                    <a:shade val="3137"/>
                    <a:invGamma/>
                    <a:alpha val="86000"/>
                  </a:srgbClr>
                </a:gs>
              </a:gsLst>
              <a:path path="shape">
                <a:fillToRect l="50000" t="50000" r="50000" b="50000"/>
              </a:path>
            </a:gra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18628" name="Line 132"/>
            <p:cNvSpPr>
              <a:spLocks noChangeShapeType="1"/>
            </p:cNvSpPr>
            <p:nvPr/>
          </p:nvSpPr>
          <p:spPr bwMode="auto">
            <a:xfrm>
              <a:off x="4142" y="1488"/>
              <a:ext cx="96" cy="0"/>
            </a:xfrm>
            <a:prstGeom prst="line">
              <a:avLst/>
            </a:prstGeom>
            <a:noFill/>
            <a:ln w="254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sp>
          <p:nvSpPr>
            <p:cNvPr id="618629" name="Line 133"/>
            <p:cNvSpPr>
              <a:spLocks noChangeShapeType="1"/>
            </p:cNvSpPr>
            <p:nvPr/>
          </p:nvSpPr>
          <p:spPr bwMode="auto">
            <a:xfrm>
              <a:off x="4192" y="1430"/>
              <a:ext cx="0" cy="12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5120"/>
            </a:p>
          </p:txBody>
        </p:sp>
      </p:grpSp>
    </p:spTree>
    <p:extLst>
      <p:ext uri="{BB962C8B-B14F-4D97-AF65-F5344CB8AC3E}">
        <p14:creationId xmlns:p14="http://schemas.microsoft.com/office/powerpoint/2010/main" val="9641608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18498"/>
                                        </p:tgtEl>
                                        <p:attrNameLst>
                                          <p:attrName>style.visibility</p:attrName>
                                        </p:attrNameLst>
                                      </p:cBhvr>
                                      <p:to>
                                        <p:strVal val="visible"/>
                                      </p:to>
                                    </p:set>
                                    <p:animEffect transition="in" filter="dissolve">
                                      <p:cBhvr>
                                        <p:cTn id="7" dur="500"/>
                                        <p:tgtEl>
                                          <p:spTgt spid="618498"/>
                                        </p:tgtEl>
                                      </p:cBhvr>
                                    </p:animEffect>
                                  </p:childTnLst>
                                </p:cTn>
                              </p:par>
                              <p:par>
                                <p:cTn id="8" presetID="9" presetClass="entr" presetSubtype="0" fill="hold" nodeType="withEffect">
                                  <p:stCondLst>
                                    <p:cond delay="0"/>
                                  </p:stCondLst>
                                  <p:childTnLst>
                                    <p:set>
                                      <p:cBhvr>
                                        <p:cTn id="9" dur="1" fill="hold">
                                          <p:stCondLst>
                                            <p:cond delay="0"/>
                                          </p:stCondLst>
                                        </p:cTn>
                                        <p:tgtEl>
                                          <p:spTgt spid="618635"/>
                                        </p:tgtEl>
                                        <p:attrNameLst>
                                          <p:attrName>style.visibility</p:attrName>
                                        </p:attrNameLst>
                                      </p:cBhvr>
                                      <p:to>
                                        <p:strVal val="visible"/>
                                      </p:to>
                                    </p:set>
                                    <p:animEffect transition="in" filter="dissolve">
                                      <p:cBhvr>
                                        <p:cTn id="10" dur="500"/>
                                        <p:tgtEl>
                                          <p:spTgt spid="618635"/>
                                        </p:tgtEl>
                                      </p:cBhvr>
                                    </p:animEffect>
                                  </p:childTnLst>
                                </p:cTn>
                              </p:par>
                              <p:par>
                                <p:cTn id="11" presetID="9" presetClass="entr" presetSubtype="0" fill="hold" nodeType="withEffect">
                                  <p:stCondLst>
                                    <p:cond delay="0"/>
                                  </p:stCondLst>
                                  <p:childTnLst>
                                    <p:set>
                                      <p:cBhvr>
                                        <p:cTn id="12" dur="1" fill="hold">
                                          <p:stCondLst>
                                            <p:cond delay="0"/>
                                          </p:stCondLst>
                                        </p:cTn>
                                        <p:tgtEl>
                                          <p:spTgt spid="618511"/>
                                        </p:tgtEl>
                                        <p:attrNameLst>
                                          <p:attrName>style.visibility</p:attrName>
                                        </p:attrNameLst>
                                      </p:cBhvr>
                                      <p:to>
                                        <p:strVal val="visible"/>
                                      </p:to>
                                    </p:set>
                                    <p:animEffect transition="in" filter="dissolve">
                                      <p:cBhvr>
                                        <p:cTn id="13" dur="500"/>
                                        <p:tgtEl>
                                          <p:spTgt spid="618511"/>
                                        </p:tgtEl>
                                      </p:cBhvr>
                                    </p:animEffect>
                                  </p:childTnLst>
                                </p:cTn>
                              </p:par>
                              <p:par>
                                <p:cTn id="14" presetID="9" presetClass="entr" presetSubtype="0" fill="hold" nodeType="withEffect">
                                  <p:stCondLst>
                                    <p:cond delay="0"/>
                                  </p:stCondLst>
                                  <p:childTnLst>
                                    <p:set>
                                      <p:cBhvr>
                                        <p:cTn id="15" dur="1" fill="hold">
                                          <p:stCondLst>
                                            <p:cond delay="0"/>
                                          </p:stCondLst>
                                        </p:cTn>
                                        <p:tgtEl>
                                          <p:spTgt spid="618526"/>
                                        </p:tgtEl>
                                        <p:attrNameLst>
                                          <p:attrName>style.visibility</p:attrName>
                                        </p:attrNameLst>
                                      </p:cBhvr>
                                      <p:to>
                                        <p:strVal val="visible"/>
                                      </p:to>
                                    </p:set>
                                    <p:animEffect transition="in" filter="dissolve">
                                      <p:cBhvr>
                                        <p:cTn id="16" dur="500"/>
                                        <p:tgtEl>
                                          <p:spTgt spid="618526"/>
                                        </p:tgtEl>
                                      </p:cBhvr>
                                    </p:animEffect>
                                  </p:childTnLst>
                                </p:cTn>
                              </p:par>
                              <p:par>
                                <p:cTn id="17" presetID="9" presetClass="entr" presetSubtype="0" fill="hold" nodeType="withEffect">
                                  <p:stCondLst>
                                    <p:cond delay="0"/>
                                  </p:stCondLst>
                                  <p:childTnLst>
                                    <p:set>
                                      <p:cBhvr>
                                        <p:cTn id="18" dur="1" fill="hold">
                                          <p:stCondLst>
                                            <p:cond delay="0"/>
                                          </p:stCondLst>
                                        </p:cTn>
                                        <p:tgtEl>
                                          <p:spTgt spid="618634"/>
                                        </p:tgtEl>
                                        <p:attrNameLst>
                                          <p:attrName>style.visibility</p:attrName>
                                        </p:attrNameLst>
                                      </p:cBhvr>
                                      <p:to>
                                        <p:strVal val="visible"/>
                                      </p:to>
                                    </p:set>
                                    <p:animEffect transition="in" filter="dissolve">
                                      <p:cBhvr>
                                        <p:cTn id="19" dur="500"/>
                                        <p:tgtEl>
                                          <p:spTgt spid="618634"/>
                                        </p:tgtEl>
                                      </p:cBhvr>
                                    </p:animEffect>
                                  </p:childTnLst>
                                </p:cTn>
                              </p:par>
                              <p:par>
                                <p:cTn id="20" presetID="9" presetClass="entr" presetSubtype="0" fill="hold" nodeType="withEffect">
                                  <p:stCondLst>
                                    <p:cond delay="0"/>
                                  </p:stCondLst>
                                  <p:childTnLst>
                                    <p:set>
                                      <p:cBhvr>
                                        <p:cTn id="21" dur="1" fill="hold">
                                          <p:stCondLst>
                                            <p:cond delay="0"/>
                                          </p:stCondLst>
                                        </p:cTn>
                                        <p:tgtEl>
                                          <p:spTgt spid="618523"/>
                                        </p:tgtEl>
                                        <p:attrNameLst>
                                          <p:attrName>style.visibility</p:attrName>
                                        </p:attrNameLst>
                                      </p:cBhvr>
                                      <p:to>
                                        <p:strVal val="visible"/>
                                      </p:to>
                                    </p:set>
                                    <p:animEffect transition="in" filter="dissolve">
                                      <p:cBhvr>
                                        <p:cTn id="22" dur="500"/>
                                        <p:tgtEl>
                                          <p:spTgt spid="618523"/>
                                        </p:tgtEl>
                                      </p:cBhvr>
                                    </p:animEffect>
                                  </p:childTnLst>
                                </p:cTn>
                              </p:par>
                              <p:par>
                                <p:cTn id="23" presetID="9" presetClass="entr" presetSubtype="0" fill="hold" nodeType="withEffect">
                                  <p:stCondLst>
                                    <p:cond delay="0"/>
                                  </p:stCondLst>
                                  <p:childTnLst>
                                    <p:set>
                                      <p:cBhvr>
                                        <p:cTn id="24" dur="1" fill="hold">
                                          <p:stCondLst>
                                            <p:cond delay="0"/>
                                          </p:stCondLst>
                                        </p:cTn>
                                        <p:tgtEl>
                                          <p:spTgt spid="618514"/>
                                        </p:tgtEl>
                                        <p:attrNameLst>
                                          <p:attrName>style.visibility</p:attrName>
                                        </p:attrNameLst>
                                      </p:cBhvr>
                                      <p:to>
                                        <p:strVal val="visible"/>
                                      </p:to>
                                    </p:set>
                                    <p:animEffect transition="in" filter="dissolve">
                                      <p:cBhvr>
                                        <p:cTn id="25" dur="500"/>
                                        <p:tgtEl>
                                          <p:spTgt spid="618514"/>
                                        </p:tgtEl>
                                      </p:cBhvr>
                                    </p:animEffect>
                                  </p:childTnLst>
                                </p:cTn>
                              </p:par>
                              <p:par>
                                <p:cTn id="26" presetID="9" presetClass="entr" presetSubtype="0" fill="hold" nodeType="withEffect">
                                  <p:stCondLst>
                                    <p:cond delay="0"/>
                                  </p:stCondLst>
                                  <p:childTnLst>
                                    <p:set>
                                      <p:cBhvr>
                                        <p:cTn id="27" dur="1" fill="hold">
                                          <p:stCondLst>
                                            <p:cond delay="0"/>
                                          </p:stCondLst>
                                        </p:cTn>
                                        <p:tgtEl>
                                          <p:spTgt spid="618538"/>
                                        </p:tgtEl>
                                        <p:attrNameLst>
                                          <p:attrName>style.visibility</p:attrName>
                                        </p:attrNameLst>
                                      </p:cBhvr>
                                      <p:to>
                                        <p:strVal val="visible"/>
                                      </p:to>
                                    </p:set>
                                    <p:animEffect transition="in" filter="dissolve">
                                      <p:cBhvr>
                                        <p:cTn id="28" dur="500"/>
                                        <p:tgtEl>
                                          <p:spTgt spid="618538"/>
                                        </p:tgtEl>
                                      </p:cBhvr>
                                    </p:animEffect>
                                  </p:childTnLst>
                                </p:cTn>
                              </p:par>
                              <p:par>
                                <p:cTn id="29" presetID="9" presetClass="entr" presetSubtype="0" fill="hold" nodeType="withEffect">
                                  <p:stCondLst>
                                    <p:cond delay="0"/>
                                  </p:stCondLst>
                                  <p:childTnLst>
                                    <p:set>
                                      <p:cBhvr>
                                        <p:cTn id="30" dur="1" fill="hold">
                                          <p:stCondLst>
                                            <p:cond delay="0"/>
                                          </p:stCondLst>
                                        </p:cTn>
                                        <p:tgtEl>
                                          <p:spTgt spid="618520"/>
                                        </p:tgtEl>
                                        <p:attrNameLst>
                                          <p:attrName>style.visibility</p:attrName>
                                        </p:attrNameLst>
                                      </p:cBhvr>
                                      <p:to>
                                        <p:strVal val="visible"/>
                                      </p:to>
                                    </p:set>
                                    <p:animEffect transition="in" filter="dissolve">
                                      <p:cBhvr>
                                        <p:cTn id="31" dur="500"/>
                                        <p:tgtEl>
                                          <p:spTgt spid="618520"/>
                                        </p:tgtEl>
                                      </p:cBhvr>
                                    </p:animEffect>
                                  </p:childTnLst>
                                </p:cTn>
                              </p:par>
                              <p:par>
                                <p:cTn id="32" presetID="9" presetClass="entr" presetSubtype="0" fill="hold" nodeType="withEffect">
                                  <p:stCondLst>
                                    <p:cond delay="0"/>
                                  </p:stCondLst>
                                  <p:childTnLst>
                                    <p:set>
                                      <p:cBhvr>
                                        <p:cTn id="33" dur="1" fill="hold">
                                          <p:stCondLst>
                                            <p:cond delay="0"/>
                                          </p:stCondLst>
                                        </p:cTn>
                                        <p:tgtEl>
                                          <p:spTgt spid="618535"/>
                                        </p:tgtEl>
                                        <p:attrNameLst>
                                          <p:attrName>style.visibility</p:attrName>
                                        </p:attrNameLst>
                                      </p:cBhvr>
                                      <p:to>
                                        <p:strVal val="visible"/>
                                      </p:to>
                                    </p:set>
                                    <p:animEffect transition="in" filter="dissolve">
                                      <p:cBhvr>
                                        <p:cTn id="34" dur="500"/>
                                        <p:tgtEl>
                                          <p:spTgt spid="618535"/>
                                        </p:tgtEl>
                                      </p:cBhvr>
                                    </p:animEffect>
                                  </p:childTnLst>
                                </p:cTn>
                              </p:par>
                              <p:par>
                                <p:cTn id="35" presetID="9" presetClass="entr" presetSubtype="0" fill="hold" nodeType="withEffect">
                                  <p:stCondLst>
                                    <p:cond delay="0"/>
                                  </p:stCondLst>
                                  <p:childTnLst>
                                    <p:set>
                                      <p:cBhvr>
                                        <p:cTn id="36" dur="1" fill="hold">
                                          <p:stCondLst>
                                            <p:cond delay="0"/>
                                          </p:stCondLst>
                                        </p:cTn>
                                        <p:tgtEl>
                                          <p:spTgt spid="618532"/>
                                        </p:tgtEl>
                                        <p:attrNameLst>
                                          <p:attrName>style.visibility</p:attrName>
                                        </p:attrNameLst>
                                      </p:cBhvr>
                                      <p:to>
                                        <p:strVal val="visible"/>
                                      </p:to>
                                    </p:set>
                                    <p:animEffect transition="in" filter="dissolve">
                                      <p:cBhvr>
                                        <p:cTn id="37" dur="500"/>
                                        <p:tgtEl>
                                          <p:spTgt spid="6185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618499"/>
                                        </p:tgtEl>
                                        <p:attrNameLst>
                                          <p:attrName>style.visibility</p:attrName>
                                        </p:attrNameLst>
                                      </p:cBhvr>
                                      <p:to>
                                        <p:strVal val="visible"/>
                                      </p:to>
                                    </p:set>
                                    <p:anim calcmode="lin" valueType="num">
                                      <p:cBhvr additive="base">
                                        <p:cTn id="42" dur="5000" fill="hold"/>
                                        <p:tgtEl>
                                          <p:spTgt spid="618499"/>
                                        </p:tgtEl>
                                        <p:attrNameLst>
                                          <p:attrName>ppt_x</p:attrName>
                                        </p:attrNameLst>
                                      </p:cBhvr>
                                      <p:tavLst>
                                        <p:tav tm="0">
                                          <p:val>
                                            <p:strVal val="0-#ppt_w/2"/>
                                          </p:val>
                                        </p:tav>
                                        <p:tav tm="100000">
                                          <p:val>
                                            <p:strVal val="#ppt_x"/>
                                          </p:val>
                                        </p:tav>
                                      </p:tavLst>
                                    </p:anim>
                                    <p:anim calcmode="lin" valueType="num">
                                      <p:cBhvr additive="base">
                                        <p:cTn id="43" dur="5000" fill="hold"/>
                                        <p:tgtEl>
                                          <p:spTgt spid="618499"/>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618542"/>
                                        </p:tgtEl>
                                        <p:attrNameLst>
                                          <p:attrName>style.visibility</p:attrName>
                                        </p:attrNameLst>
                                      </p:cBhvr>
                                      <p:to>
                                        <p:strVal val="visible"/>
                                      </p:to>
                                    </p:set>
                                    <p:animEffect transition="in" filter="dissolve">
                                      <p:cBhvr>
                                        <p:cTn id="47" dur="5000"/>
                                        <p:tgtEl>
                                          <p:spTgt spid="618542"/>
                                        </p:tgtEl>
                                      </p:cBhvr>
                                    </p:animEffect>
                                  </p:childTnLst>
                                </p:cTn>
                              </p:par>
                              <p:par>
                                <p:cTn id="48" presetID="35" presetClass="path" presetSubtype="0" accel="50000" decel="50000" fill="hold" nodeType="withEffect">
                                  <p:stCondLst>
                                    <p:cond delay="0"/>
                                  </p:stCondLst>
                                  <p:childTnLst>
                                    <p:animMotion origin="layout" path="M -0.00833 -1.48148E-6 L -0.43802 -0.00579 " pathEditMode="relative" rAng="0" ptsTypes="AA">
                                      <p:cBhvr>
                                        <p:cTn id="49" dur="5000" fill="hold"/>
                                        <p:tgtEl>
                                          <p:spTgt spid="618535"/>
                                        </p:tgtEl>
                                        <p:attrNameLst>
                                          <p:attrName>ppt_x</p:attrName>
                                          <p:attrName>ppt_y</p:attrName>
                                        </p:attrNameLst>
                                      </p:cBhvr>
                                      <p:rCtr x="-21493" y="-301"/>
                                    </p:animMotion>
                                  </p:childTnLst>
                                </p:cTn>
                              </p:par>
                              <p:par>
                                <p:cTn id="50" presetID="35" presetClass="path" presetSubtype="0" accel="50000" decel="50000" fill="hold" nodeType="withEffect">
                                  <p:stCondLst>
                                    <p:cond delay="0"/>
                                  </p:stCondLst>
                                  <p:childTnLst>
                                    <p:animMotion origin="layout" path="M 3.05556E-6 -2.22222E-6 L -0.26268 -0.00069 " pathEditMode="relative" rAng="0" ptsTypes="AA">
                                      <p:cBhvr>
                                        <p:cTn id="51" dur="5000" fill="hold"/>
                                        <p:tgtEl>
                                          <p:spTgt spid="618511"/>
                                        </p:tgtEl>
                                        <p:attrNameLst>
                                          <p:attrName>ppt_x</p:attrName>
                                          <p:attrName>ppt_y</p:attrName>
                                        </p:attrNameLst>
                                      </p:cBhvr>
                                      <p:rCtr x="-13142" y="-46"/>
                                    </p:animMotion>
                                  </p:childTnLst>
                                </p:cTn>
                              </p:par>
                              <p:par>
                                <p:cTn id="52" presetID="35" presetClass="path" presetSubtype="0" accel="50000" decel="50000" fill="hold" nodeType="withEffect">
                                  <p:stCondLst>
                                    <p:cond delay="0"/>
                                  </p:stCondLst>
                                  <p:childTnLst>
                                    <p:animMotion origin="layout" path="M -0.00104 3.7037E-6 L -0.41372 0.00023 " pathEditMode="relative" rAng="0" ptsTypes="AA">
                                      <p:cBhvr>
                                        <p:cTn id="53" dur="5000" fill="hold"/>
                                        <p:tgtEl>
                                          <p:spTgt spid="618526"/>
                                        </p:tgtEl>
                                        <p:attrNameLst>
                                          <p:attrName>ppt_x</p:attrName>
                                          <p:attrName>ppt_y</p:attrName>
                                        </p:attrNameLst>
                                      </p:cBhvr>
                                      <p:rCtr x="-20642" y="0"/>
                                    </p:animMotion>
                                  </p:childTnLst>
                                </p:cTn>
                              </p:par>
                              <p:par>
                                <p:cTn id="54" presetID="35" presetClass="path" presetSubtype="0" accel="50000" decel="50000" fill="hold" nodeType="withEffect">
                                  <p:stCondLst>
                                    <p:cond delay="0"/>
                                  </p:stCondLst>
                                  <p:childTnLst>
                                    <p:animMotion origin="layout" path="M -0.00312 -4.44444E-6 L -0.1448 -4.44444E-6 " pathEditMode="relative" rAng="0" ptsTypes="AA">
                                      <p:cBhvr>
                                        <p:cTn id="55" dur="5000" fill="hold"/>
                                        <p:tgtEl>
                                          <p:spTgt spid="618514"/>
                                        </p:tgtEl>
                                        <p:attrNameLst>
                                          <p:attrName>ppt_x</p:attrName>
                                          <p:attrName>ppt_y</p:attrName>
                                        </p:attrNameLst>
                                      </p:cBhvr>
                                      <p:rCtr x="-7083" y="0"/>
                                    </p:animMotion>
                                  </p:childTnLst>
                                </p:cTn>
                              </p:par>
                              <p:par>
                                <p:cTn id="56" presetID="35" presetClass="path" presetSubtype="0" accel="50000" decel="50000" fill="hold" nodeType="withEffect">
                                  <p:stCondLst>
                                    <p:cond delay="0"/>
                                  </p:stCondLst>
                                  <p:childTnLst>
                                    <p:animMotion origin="layout" path="M -2.77778E-7 -7.40741E-7 L -0.27101 -0.00046 " pathEditMode="relative" rAng="0" ptsTypes="AA">
                                      <p:cBhvr>
                                        <p:cTn id="57" dur="5000" fill="hold"/>
                                        <p:tgtEl>
                                          <p:spTgt spid="618523"/>
                                        </p:tgtEl>
                                        <p:attrNameLst>
                                          <p:attrName>ppt_x</p:attrName>
                                          <p:attrName>ppt_y</p:attrName>
                                        </p:attrNameLst>
                                      </p:cBhvr>
                                      <p:rCtr x="-13559" y="-23"/>
                                    </p:animMotion>
                                  </p:childTnLst>
                                </p:cTn>
                              </p:par>
                              <p:par>
                                <p:cTn id="58" presetID="35" presetClass="path" presetSubtype="0" accel="50000" decel="50000" fill="hold" nodeType="withEffect">
                                  <p:stCondLst>
                                    <p:cond delay="0"/>
                                  </p:stCondLst>
                                  <p:childTnLst>
                                    <p:animMotion origin="layout" path="M -3.61111E-6 -2.22222E-6 L -0.32934 0.00139 " pathEditMode="relative" rAng="0" ptsTypes="AA">
                                      <p:cBhvr>
                                        <p:cTn id="59" dur="5000" fill="hold"/>
                                        <p:tgtEl>
                                          <p:spTgt spid="618538"/>
                                        </p:tgtEl>
                                        <p:attrNameLst>
                                          <p:attrName>ppt_x</p:attrName>
                                          <p:attrName>ppt_y</p:attrName>
                                        </p:attrNameLst>
                                      </p:cBhvr>
                                      <p:rCtr x="-16476" y="69"/>
                                    </p:animMotion>
                                  </p:childTnLst>
                                </p:cTn>
                              </p:par>
                              <p:par>
                                <p:cTn id="60" presetID="35" presetClass="path" presetSubtype="0" accel="50000" decel="50000" fill="hold" nodeType="withEffect">
                                  <p:stCondLst>
                                    <p:cond delay="0"/>
                                  </p:stCondLst>
                                  <p:childTnLst>
                                    <p:animMotion origin="layout" path="M 4.72222E-6 -0.00069 L -0.23039 -0.00069 " pathEditMode="relative" rAng="0" ptsTypes="AA">
                                      <p:cBhvr>
                                        <p:cTn id="61" dur="5000" fill="hold"/>
                                        <p:tgtEl>
                                          <p:spTgt spid="618520"/>
                                        </p:tgtEl>
                                        <p:attrNameLst>
                                          <p:attrName>ppt_x</p:attrName>
                                          <p:attrName>ppt_y</p:attrName>
                                        </p:attrNameLst>
                                      </p:cBhvr>
                                      <p:rCtr x="-11528" y="0"/>
                                    </p:animMotion>
                                  </p:childTnLst>
                                </p:cTn>
                              </p:par>
                              <p:par>
                                <p:cTn id="62" presetID="35" presetClass="path" presetSubtype="0" accel="50000" decel="50000" fill="hold" nodeType="withEffect">
                                  <p:stCondLst>
                                    <p:cond delay="0"/>
                                  </p:stCondLst>
                                  <p:childTnLst>
                                    <p:animMotion origin="layout" path="M -0.00468 1.85185E-6 L -0.10468 1.85185E-6 " pathEditMode="relative" rAng="0" ptsTypes="AA">
                                      <p:cBhvr>
                                        <p:cTn id="63" dur="5000" fill="hold"/>
                                        <p:tgtEl>
                                          <p:spTgt spid="618532"/>
                                        </p:tgtEl>
                                        <p:attrNameLst>
                                          <p:attrName>ppt_x</p:attrName>
                                          <p:attrName>ppt_y</p:attrName>
                                        </p:attrNameLst>
                                      </p:cBhvr>
                                      <p:rCtr x="-5000" y="0"/>
                                    </p:animMotion>
                                  </p:childTnLst>
                                </p:cTn>
                              </p:par>
                              <p:par>
                                <p:cTn id="64" presetID="35" presetClass="path" presetSubtype="0" accel="50000" decel="50000" fill="hold" nodeType="withEffect">
                                  <p:stCondLst>
                                    <p:cond delay="0"/>
                                  </p:stCondLst>
                                  <p:childTnLst>
                                    <p:animMotion origin="layout" path="M 0.00209 -1.11111E-6 L -0.16354 -1.11111E-6 " pathEditMode="relative" rAng="0" ptsTypes="AA">
                                      <p:cBhvr>
                                        <p:cTn id="65" dur="5000" fill="hold"/>
                                        <p:tgtEl>
                                          <p:spTgt spid="618635"/>
                                        </p:tgtEl>
                                        <p:attrNameLst>
                                          <p:attrName>ppt_x</p:attrName>
                                          <p:attrName>ppt_y</p:attrName>
                                        </p:attrNameLst>
                                      </p:cBhvr>
                                      <p:rCtr x="-8281" y="0"/>
                                    </p:animMotion>
                                  </p:childTnLst>
                                </p:cTn>
                              </p:par>
                              <p:par>
                                <p:cTn id="66" presetID="35" presetClass="path" presetSubtype="0" accel="50000" decel="50000" fill="hold" nodeType="withEffect">
                                  <p:stCondLst>
                                    <p:cond delay="0"/>
                                  </p:stCondLst>
                                  <p:childTnLst>
                                    <p:animMotion origin="layout" path="M 0.00729 2.59259E-6 L -0.09636 -0.00255 " pathEditMode="relative" rAng="0" ptsTypes="AA">
                                      <p:cBhvr>
                                        <p:cTn id="67" dur="5000" fill="hold"/>
                                        <p:tgtEl>
                                          <p:spTgt spid="618634"/>
                                        </p:tgtEl>
                                        <p:attrNameLst>
                                          <p:attrName>ppt_x</p:attrName>
                                          <p:attrName>ppt_y</p:attrName>
                                        </p:attrNameLst>
                                      </p:cBhvr>
                                      <p:rCtr x="-5191" y="-139"/>
                                    </p:animMotion>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18587"/>
                                        </p:tgtEl>
                                        <p:attrNameLst>
                                          <p:attrName>style.visibility</p:attrName>
                                        </p:attrNameLst>
                                      </p:cBhvr>
                                      <p:to>
                                        <p:strVal val="visible"/>
                                      </p:to>
                                    </p:set>
                                    <p:animEffect transition="in" filter="wipe(left)">
                                      <p:cBhvr>
                                        <p:cTn id="72" dur="500"/>
                                        <p:tgtEl>
                                          <p:spTgt spid="618587"/>
                                        </p:tgtEl>
                                      </p:cBhvr>
                                    </p:animEffect>
                                  </p:childTnLst>
                                </p:cTn>
                              </p:par>
                              <p:par>
                                <p:cTn id="73" presetID="9" presetClass="entr" presetSubtype="0" fill="hold" nodeType="withEffect">
                                  <p:stCondLst>
                                    <p:cond delay="0"/>
                                  </p:stCondLst>
                                  <p:childTnLst>
                                    <p:set>
                                      <p:cBhvr>
                                        <p:cTn id="74" dur="1" fill="hold">
                                          <p:stCondLst>
                                            <p:cond delay="0"/>
                                          </p:stCondLst>
                                        </p:cTn>
                                        <p:tgtEl>
                                          <p:spTgt spid="618598"/>
                                        </p:tgtEl>
                                        <p:attrNameLst>
                                          <p:attrName>style.visibility</p:attrName>
                                        </p:attrNameLst>
                                      </p:cBhvr>
                                      <p:to>
                                        <p:strVal val="visible"/>
                                      </p:to>
                                    </p:set>
                                    <p:animEffect transition="in" filter="dissolve">
                                      <p:cBhvr>
                                        <p:cTn id="75" dur="500"/>
                                        <p:tgtEl>
                                          <p:spTgt spid="618598"/>
                                        </p:tgtEl>
                                      </p:cBhvr>
                                    </p:animEffect>
                                  </p:childTnLst>
                                </p:cTn>
                              </p:par>
                              <p:par>
                                <p:cTn id="76" presetID="9" presetClass="entr" presetSubtype="0" fill="hold" nodeType="withEffect">
                                  <p:stCondLst>
                                    <p:cond delay="0"/>
                                  </p:stCondLst>
                                  <p:childTnLst>
                                    <p:set>
                                      <p:cBhvr>
                                        <p:cTn id="77" dur="1" fill="hold">
                                          <p:stCondLst>
                                            <p:cond delay="0"/>
                                          </p:stCondLst>
                                        </p:cTn>
                                        <p:tgtEl>
                                          <p:spTgt spid="618594"/>
                                        </p:tgtEl>
                                        <p:attrNameLst>
                                          <p:attrName>style.visibility</p:attrName>
                                        </p:attrNameLst>
                                      </p:cBhvr>
                                      <p:to>
                                        <p:strVal val="visible"/>
                                      </p:to>
                                    </p:set>
                                    <p:animEffect transition="in" filter="dissolve">
                                      <p:cBhvr>
                                        <p:cTn id="78" dur="500"/>
                                        <p:tgtEl>
                                          <p:spTgt spid="618594"/>
                                        </p:tgtEl>
                                      </p:cBhvr>
                                    </p:animEffect>
                                  </p:childTnLst>
                                </p:cTn>
                              </p:par>
                              <p:par>
                                <p:cTn id="79" presetID="9" presetClass="entr" presetSubtype="0" fill="hold" nodeType="withEffect">
                                  <p:stCondLst>
                                    <p:cond delay="0"/>
                                  </p:stCondLst>
                                  <p:childTnLst>
                                    <p:set>
                                      <p:cBhvr>
                                        <p:cTn id="80" dur="1" fill="hold">
                                          <p:stCondLst>
                                            <p:cond delay="0"/>
                                          </p:stCondLst>
                                        </p:cTn>
                                        <p:tgtEl>
                                          <p:spTgt spid="618593"/>
                                        </p:tgtEl>
                                        <p:attrNameLst>
                                          <p:attrName>style.visibility</p:attrName>
                                        </p:attrNameLst>
                                      </p:cBhvr>
                                      <p:to>
                                        <p:strVal val="visible"/>
                                      </p:to>
                                    </p:set>
                                    <p:animEffect transition="in" filter="dissolve">
                                      <p:cBhvr>
                                        <p:cTn id="81" dur="500"/>
                                        <p:tgtEl>
                                          <p:spTgt spid="618593"/>
                                        </p:tgtEl>
                                      </p:cBhvr>
                                    </p:animEffect>
                                  </p:childTnLst>
                                </p:cTn>
                              </p:par>
                              <p:par>
                                <p:cTn id="82" presetID="9" presetClass="entr" presetSubtype="0" fill="hold" nodeType="withEffect">
                                  <p:stCondLst>
                                    <p:cond delay="0"/>
                                  </p:stCondLst>
                                  <p:childTnLst>
                                    <p:set>
                                      <p:cBhvr>
                                        <p:cTn id="83" dur="1" fill="hold">
                                          <p:stCondLst>
                                            <p:cond delay="0"/>
                                          </p:stCondLst>
                                        </p:cTn>
                                        <p:tgtEl>
                                          <p:spTgt spid="618602"/>
                                        </p:tgtEl>
                                        <p:attrNameLst>
                                          <p:attrName>style.visibility</p:attrName>
                                        </p:attrNameLst>
                                      </p:cBhvr>
                                      <p:to>
                                        <p:strVal val="visible"/>
                                      </p:to>
                                    </p:set>
                                    <p:animEffect transition="in" filter="dissolve">
                                      <p:cBhvr>
                                        <p:cTn id="84" dur="500"/>
                                        <p:tgtEl>
                                          <p:spTgt spid="618602"/>
                                        </p:tgtEl>
                                      </p:cBhvr>
                                    </p:animEffect>
                                  </p:childTnLst>
                                </p:cTn>
                              </p:par>
                              <p:par>
                                <p:cTn id="85" presetID="9" presetClass="entr" presetSubtype="0" fill="hold" nodeType="withEffect">
                                  <p:stCondLst>
                                    <p:cond delay="0"/>
                                  </p:stCondLst>
                                  <p:childTnLst>
                                    <p:set>
                                      <p:cBhvr>
                                        <p:cTn id="86" dur="1" fill="hold">
                                          <p:stCondLst>
                                            <p:cond delay="0"/>
                                          </p:stCondLst>
                                        </p:cTn>
                                        <p:tgtEl>
                                          <p:spTgt spid="618606"/>
                                        </p:tgtEl>
                                        <p:attrNameLst>
                                          <p:attrName>style.visibility</p:attrName>
                                        </p:attrNameLst>
                                      </p:cBhvr>
                                      <p:to>
                                        <p:strVal val="visible"/>
                                      </p:to>
                                    </p:set>
                                    <p:animEffect transition="in" filter="dissolve">
                                      <p:cBhvr>
                                        <p:cTn id="87" dur="500"/>
                                        <p:tgtEl>
                                          <p:spTgt spid="618606"/>
                                        </p:tgtEl>
                                      </p:cBhvr>
                                    </p:animEffect>
                                  </p:childTnLst>
                                </p:cTn>
                              </p:par>
                              <p:par>
                                <p:cTn id="88" presetID="9" presetClass="entr" presetSubtype="0" fill="hold" nodeType="withEffect">
                                  <p:stCondLst>
                                    <p:cond delay="0"/>
                                  </p:stCondLst>
                                  <p:childTnLst>
                                    <p:set>
                                      <p:cBhvr>
                                        <p:cTn id="89" dur="1" fill="hold">
                                          <p:stCondLst>
                                            <p:cond delay="0"/>
                                          </p:stCondLst>
                                        </p:cTn>
                                        <p:tgtEl>
                                          <p:spTgt spid="618610"/>
                                        </p:tgtEl>
                                        <p:attrNameLst>
                                          <p:attrName>style.visibility</p:attrName>
                                        </p:attrNameLst>
                                      </p:cBhvr>
                                      <p:to>
                                        <p:strVal val="visible"/>
                                      </p:to>
                                    </p:set>
                                    <p:animEffect transition="in" filter="dissolve">
                                      <p:cBhvr>
                                        <p:cTn id="90" dur="500"/>
                                        <p:tgtEl>
                                          <p:spTgt spid="618610"/>
                                        </p:tgtEl>
                                      </p:cBhvr>
                                    </p:animEffect>
                                  </p:childTnLst>
                                </p:cTn>
                              </p:par>
                              <p:par>
                                <p:cTn id="91" presetID="9" presetClass="entr" presetSubtype="0" fill="hold" nodeType="withEffect">
                                  <p:stCondLst>
                                    <p:cond delay="0"/>
                                  </p:stCondLst>
                                  <p:childTnLst>
                                    <p:set>
                                      <p:cBhvr>
                                        <p:cTn id="92" dur="1" fill="hold">
                                          <p:stCondLst>
                                            <p:cond delay="0"/>
                                          </p:stCondLst>
                                        </p:cTn>
                                        <p:tgtEl>
                                          <p:spTgt spid="618614"/>
                                        </p:tgtEl>
                                        <p:attrNameLst>
                                          <p:attrName>style.visibility</p:attrName>
                                        </p:attrNameLst>
                                      </p:cBhvr>
                                      <p:to>
                                        <p:strVal val="visible"/>
                                      </p:to>
                                    </p:set>
                                    <p:animEffect transition="in" filter="dissolve">
                                      <p:cBhvr>
                                        <p:cTn id="93" dur="500"/>
                                        <p:tgtEl>
                                          <p:spTgt spid="618614"/>
                                        </p:tgtEl>
                                      </p:cBhvr>
                                    </p:animEffect>
                                  </p:childTnLst>
                                </p:cTn>
                              </p:par>
                              <p:par>
                                <p:cTn id="94" presetID="9" presetClass="entr" presetSubtype="0" fill="hold" nodeType="withEffect">
                                  <p:stCondLst>
                                    <p:cond delay="0"/>
                                  </p:stCondLst>
                                  <p:childTnLst>
                                    <p:set>
                                      <p:cBhvr>
                                        <p:cTn id="95" dur="1" fill="hold">
                                          <p:stCondLst>
                                            <p:cond delay="0"/>
                                          </p:stCondLst>
                                        </p:cTn>
                                        <p:tgtEl>
                                          <p:spTgt spid="618618"/>
                                        </p:tgtEl>
                                        <p:attrNameLst>
                                          <p:attrName>style.visibility</p:attrName>
                                        </p:attrNameLst>
                                      </p:cBhvr>
                                      <p:to>
                                        <p:strVal val="visible"/>
                                      </p:to>
                                    </p:set>
                                    <p:animEffect transition="in" filter="dissolve">
                                      <p:cBhvr>
                                        <p:cTn id="96" dur="500"/>
                                        <p:tgtEl>
                                          <p:spTgt spid="618618"/>
                                        </p:tgtEl>
                                      </p:cBhvr>
                                    </p:animEffect>
                                  </p:childTnLst>
                                </p:cTn>
                              </p:par>
                              <p:par>
                                <p:cTn id="97" presetID="9" presetClass="entr" presetSubtype="0" fill="hold" nodeType="withEffect">
                                  <p:stCondLst>
                                    <p:cond delay="0"/>
                                  </p:stCondLst>
                                  <p:childTnLst>
                                    <p:set>
                                      <p:cBhvr>
                                        <p:cTn id="98" dur="1" fill="hold">
                                          <p:stCondLst>
                                            <p:cond delay="0"/>
                                          </p:stCondLst>
                                        </p:cTn>
                                        <p:tgtEl>
                                          <p:spTgt spid="618622"/>
                                        </p:tgtEl>
                                        <p:attrNameLst>
                                          <p:attrName>style.visibility</p:attrName>
                                        </p:attrNameLst>
                                      </p:cBhvr>
                                      <p:to>
                                        <p:strVal val="visible"/>
                                      </p:to>
                                    </p:set>
                                    <p:animEffect transition="in" filter="dissolve">
                                      <p:cBhvr>
                                        <p:cTn id="99" dur="500"/>
                                        <p:tgtEl>
                                          <p:spTgt spid="618622"/>
                                        </p:tgtEl>
                                      </p:cBhvr>
                                    </p:animEffect>
                                  </p:childTnLst>
                                </p:cTn>
                              </p:par>
                              <p:par>
                                <p:cTn id="100" presetID="9" presetClass="entr" presetSubtype="0" fill="hold" nodeType="withEffect">
                                  <p:stCondLst>
                                    <p:cond delay="0"/>
                                  </p:stCondLst>
                                  <p:childTnLst>
                                    <p:set>
                                      <p:cBhvr>
                                        <p:cTn id="101" dur="1" fill="hold">
                                          <p:stCondLst>
                                            <p:cond delay="0"/>
                                          </p:stCondLst>
                                        </p:cTn>
                                        <p:tgtEl>
                                          <p:spTgt spid="618626"/>
                                        </p:tgtEl>
                                        <p:attrNameLst>
                                          <p:attrName>style.visibility</p:attrName>
                                        </p:attrNameLst>
                                      </p:cBhvr>
                                      <p:to>
                                        <p:strVal val="visible"/>
                                      </p:to>
                                    </p:set>
                                    <p:animEffect transition="in" filter="dissolve">
                                      <p:cBhvr>
                                        <p:cTn id="102" dur="500"/>
                                        <p:tgtEl>
                                          <p:spTgt spid="618626"/>
                                        </p:tgtEl>
                                      </p:cBhvr>
                                    </p:animEffect>
                                  </p:childTnLst>
                                </p:cTn>
                              </p:par>
                            </p:childTnLst>
                          </p:cTn>
                        </p:par>
                        <p:par>
                          <p:cTn id="103" fill="hold" nodeType="afterGroup">
                            <p:stCondLst>
                              <p:cond delay="500"/>
                            </p:stCondLst>
                            <p:childTnLst>
                              <p:par>
                                <p:cTn id="104" presetID="16" presetClass="entr" presetSubtype="37" fill="hold" grpId="0" nodeType="afterEffect">
                                  <p:stCondLst>
                                    <p:cond delay="0"/>
                                  </p:stCondLst>
                                  <p:childTnLst>
                                    <p:set>
                                      <p:cBhvr>
                                        <p:cTn id="105" dur="1" fill="hold">
                                          <p:stCondLst>
                                            <p:cond delay="0"/>
                                          </p:stCondLst>
                                        </p:cTn>
                                        <p:tgtEl>
                                          <p:spTgt spid="618510"/>
                                        </p:tgtEl>
                                        <p:attrNameLst>
                                          <p:attrName>style.visibility</p:attrName>
                                        </p:attrNameLst>
                                      </p:cBhvr>
                                      <p:to>
                                        <p:strVal val="visible"/>
                                      </p:to>
                                    </p:set>
                                    <p:animEffect transition="in" filter="barn(outVertical)">
                                      <p:cBhvr>
                                        <p:cTn id="106" dur="500"/>
                                        <p:tgtEl>
                                          <p:spTgt spid="618510"/>
                                        </p:tgtEl>
                                      </p:cBhvr>
                                    </p:animEffect>
                                  </p:childTnLst>
                                </p:cTn>
                              </p:par>
                              <p:par>
                                <p:cTn id="107" presetID="35" presetClass="emph" presetSubtype="0" repeatCount="2000" fill="hold" grpId="1" nodeType="withEffect">
                                  <p:stCondLst>
                                    <p:cond delay="0"/>
                                  </p:stCondLst>
                                  <p:childTnLst>
                                    <p:anim calcmode="discrete" valueType="str">
                                      <p:cBhvr>
                                        <p:cTn id="108" dur="1000" fill="hold"/>
                                        <p:tgtEl>
                                          <p:spTgt spid="6185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498" grpId="0" animBg="1"/>
      <p:bldP spid="618510" grpId="0" animBg="1"/>
      <p:bldP spid="618510" grpId="1"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1461840" y="1869014"/>
            <a:ext cx="9505056" cy="50885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FF0000"/>
                </a:solidFill>
              </a:rPr>
              <a:t>导体</a:t>
            </a:r>
            <a:r>
              <a:rPr lang="en-US" altLang="zh-CN" b="1" dirty="0">
                <a:solidFill>
                  <a:srgbClr val="FF0000"/>
                </a:solidFill>
              </a:rPr>
              <a:t>A</a:t>
            </a:r>
            <a:r>
              <a:rPr lang="zh-CN" altLang="en-US" b="1" dirty="0">
                <a:solidFill>
                  <a:srgbClr val="FF0000"/>
                </a:solidFill>
              </a:rPr>
              <a:t>外有一电荷 </a:t>
            </a:r>
            <a:r>
              <a:rPr lang="en-US" altLang="zh-CN" b="1" dirty="0">
                <a:solidFill>
                  <a:srgbClr val="FF0000"/>
                </a:solidFill>
              </a:rPr>
              <a:t>q </a:t>
            </a:r>
            <a:r>
              <a:rPr lang="zh-CN" altLang="en-US" b="1" dirty="0">
                <a:solidFill>
                  <a:srgbClr val="FF0000"/>
                </a:solidFill>
              </a:rPr>
              <a:t>，且</a:t>
            </a:r>
            <a:r>
              <a:rPr lang="en-US" altLang="zh-CN" b="1" dirty="0">
                <a:solidFill>
                  <a:srgbClr val="FF0000"/>
                </a:solidFill>
              </a:rPr>
              <a:t>A </a:t>
            </a:r>
            <a:r>
              <a:rPr lang="zh-CN" altLang="en-US" b="1" dirty="0">
                <a:solidFill>
                  <a:srgbClr val="FF0000"/>
                </a:solidFill>
              </a:rPr>
              <a:t>处在静电平衡状态。下列说法中正确的</a:t>
            </a:r>
            <a:r>
              <a:rPr lang="zh-CN" altLang="en-US" b="1" dirty="0" smtClean="0">
                <a:solidFill>
                  <a:srgbClr val="FF0000"/>
                </a:solidFill>
              </a:rPr>
              <a:t>是</a:t>
            </a:r>
            <a:r>
              <a:rPr lang="en-US" altLang="zh-CN" b="1" dirty="0" smtClean="0">
                <a:solidFill>
                  <a:srgbClr val="FF0000"/>
                </a:solidFill>
              </a:rPr>
              <a:t>:</a:t>
            </a:r>
          </a:p>
          <a:p>
            <a:pPr algn="l" rtl="0" latinLnBrk="1" hangingPunct="0">
              <a:lnSpc>
                <a:spcPct val="150000"/>
              </a:lnSpc>
            </a:pPr>
            <a:r>
              <a:rPr lang="en-US" altLang="zh-CN" b="1" dirty="0">
                <a:solidFill>
                  <a:srgbClr val="000000"/>
                </a:solidFill>
              </a:rPr>
              <a:t>A. </a:t>
            </a:r>
            <a:r>
              <a:rPr lang="zh-CN" altLang="en-US" b="1" dirty="0">
                <a:solidFill>
                  <a:srgbClr val="000000"/>
                </a:solidFill>
              </a:rPr>
              <a:t>导体内 </a:t>
            </a:r>
            <a:r>
              <a:rPr lang="en-US" altLang="zh-CN" b="1" dirty="0">
                <a:solidFill>
                  <a:srgbClr val="000000"/>
                </a:solidFill>
              </a:rPr>
              <a:t>E = 0</a:t>
            </a:r>
            <a:r>
              <a:rPr lang="zh-CN" altLang="en-US" b="1" dirty="0">
                <a:solidFill>
                  <a:srgbClr val="000000"/>
                </a:solidFill>
              </a:rPr>
              <a:t>，</a:t>
            </a:r>
            <a:r>
              <a:rPr lang="en-US" altLang="zh-CN" b="1" dirty="0">
                <a:solidFill>
                  <a:srgbClr val="000000"/>
                </a:solidFill>
              </a:rPr>
              <a:t>q </a:t>
            </a:r>
            <a:r>
              <a:rPr lang="zh-CN" altLang="en-US" b="1" dirty="0">
                <a:solidFill>
                  <a:srgbClr val="000000"/>
                </a:solidFill>
              </a:rPr>
              <a:t>不在导体内产生电场。</a:t>
            </a:r>
          </a:p>
          <a:p>
            <a:pPr algn="l" rtl="0" latinLnBrk="1" hangingPunct="0">
              <a:lnSpc>
                <a:spcPct val="150000"/>
              </a:lnSpc>
            </a:pPr>
            <a:r>
              <a:rPr lang="en-US" altLang="zh-CN" b="1" dirty="0">
                <a:solidFill>
                  <a:srgbClr val="000000"/>
                </a:solidFill>
              </a:rPr>
              <a:t>B. </a:t>
            </a:r>
            <a:r>
              <a:rPr lang="zh-CN" altLang="en-US" b="1" dirty="0">
                <a:solidFill>
                  <a:srgbClr val="000000"/>
                </a:solidFill>
              </a:rPr>
              <a:t>导体内 </a:t>
            </a:r>
            <a:r>
              <a:rPr lang="en-US" altLang="zh-CN" b="1" dirty="0">
                <a:solidFill>
                  <a:srgbClr val="000000"/>
                </a:solidFill>
              </a:rPr>
              <a:t>E </a:t>
            </a:r>
            <a:r>
              <a:rPr lang="zh-CN" altLang="en-US" b="1" dirty="0" smtClean="0">
                <a:solidFill>
                  <a:srgbClr val="000000"/>
                </a:solidFill>
              </a:rPr>
              <a:t>≠ </a:t>
            </a:r>
            <a:r>
              <a:rPr lang="en-US" altLang="zh-CN" b="1" dirty="0" smtClean="0">
                <a:solidFill>
                  <a:srgbClr val="000000"/>
                </a:solidFill>
              </a:rPr>
              <a:t>0</a:t>
            </a:r>
            <a:r>
              <a:rPr lang="zh-CN" altLang="en-US" b="1" dirty="0">
                <a:solidFill>
                  <a:srgbClr val="000000"/>
                </a:solidFill>
              </a:rPr>
              <a:t>，</a:t>
            </a:r>
            <a:r>
              <a:rPr lang="en-US" altLang="zh-CN" b="1" dirty="0">
                <a:solidFill>
                  <a:srgbClr val="000000"/>
                </a:solidFill>
              </a:rPr>
              <a:t>q </a:t>
            </a:r>
            <a:r>
              <a:rPr lang="zh-CN" altLang="en-US" b="1" dirty="0">
                <a:solidFill>
                  <a:srgbClr val="000000"/>
                </a:solidFill>
              </a:rPr>
              <a:t>在导体内产生电场。</a:t>
            </a:r>
          </a:p>
          <a:p>
            <a:pPr algn="l" rtl="0" latinLnBrk="1" hangingPunct="0">
              <a:lnSpc>
                <a:spcPct val="150000"/>
              </a:lnSpc>
            </a:pPr>
            <a:r>
              <a:rPr lang="en-US" altLang="zh-CN" b="1" dirty="0">
                <a:solidFill>
                  <a:srgbClr val="000000"/>
                </a:solidFill>
              </a:rPr>
              <a:t>C. </a:t>
            </a:r>
            <a:r>
              <a:rPr lang="zh-CN" altLang="en-US" b="1" dirty="0">
                <a:solidFill>
                  <a:srgbClr val="000000"/>
                </a:solidFill>
              </a:rPr>
              <a:t>导体内 </a:t>
            </a:r>
            <a:r>
              <a:rPr lang="en-US" altLang="zh-CN" b="1" dirty="0">
                <a:solidFill>
                  <a:srgbClr val="000000"/>
                </a:solidFill>
              </a:rPr>
              <a:t>E = 0</a:t>
            </a:r>
            <a:r>
              <a:rPr lang="zh-CN" altLang="en-US" b="1" dirty="0">
                <a:solidFill>
                  <a:srgbClr val="000000"/>
                </a:solidFill>
              </a:rPr>
              <a:t>，</a:t>
            </a:r>
            <a:r>
              <a:rPr lang="en-US" altLang="zh-CN" b="1" dirty="0">
                <a:solidFill>
                  <a:srgbClr val="000000"/>
                </a:solidFill>
              </a:rPr>
              <a:t>q </a:t>
            </a:r>
            <a:r>
              <a:rPr lang="zh-CN" altLang="en-US" b="1" dirty="0">
                <a:solidFill>
                  <a:srgbClr val="000000"/>
                </a:solidFill>
              </a:rPr>
              <a:t>在导体内产生电场。</a:t>
            </a:r>
          </a:p>
          <a:p>
            <a:pPr algn="l" rtl="0" latinLnBrk="1" hangingPunct="0">
              <a:lnSpc>
                <a:spcPct val="150000"/>
              </a:lnSpc>
            </a:pPr>
            <a:r>
              <a:rPr lang="en-US" altLang="zh-CN" b="1" dirty="0">
                <a:solidFill>
                  <a:srgbClr val="000000"/>
                </a:solidFill>
              </a:rPr>
              <a:t>D. </a:t>
            </a:r>
            <a:r>
              <a:rPr lang="zh-CN" altLang="en-US" b="1" dirty="0">
                <a:solidFill>
                  <a:srgbClr val="000000"/>
                </a:solidFill>
              </a:rPr>
              <a:t>导体内 </a:t>
            </a:r>
            <a:r>
              <a:rPr lang="en-US" altLang="zh-CN" b="1" dirty="0">
                <a:solidFill>
                  <a:srgbClr val="000000"/>
                </a:solidFill>
              </a:rPr>
              <a:t>E </a:t>
            </a:r>
            <a:r>
              <a:rPr lang="zh-CN" altLang="en-US" b="1" dirty="0">
                <a:solidFill>
                  <a:srgbClr val="000000"/>
                </a:solidFill>
              </a:rPr>
              <a:t>≠</a:t>
            </a:r>
            <a:r>
              <a:rPr lang="en-US" altLang="zh-CN" b="1" dirty="0" smtClean="0">
                <a:solidFill>
                  <a:srgbClr val="000000"/>
                </a:solidFill>
              </a:rPr>
              <a:t> </a:t>
            </a:r>
            <a:r>
              <a:rPr lang="en-US" altLang="zh-CN" b="1" dirty="0">
                <a:solidFill>
                  <a:srgbClr val="000000"/>
                </a:solidFill>
              </a:rPr>
              <a:t>0</a:t>
            </a:r>
            <a:r>
              <a:rPr lang="zh-CN" altLang="en-US" b="1" dirty="0">
                <a:solidFill>
                  <a:srgbClr val="000000"/>
                </a:solidFill>
              </a:rPr>
              <a:t>，</a:t>
            </a:r>
            <a:r>
              <a:rPr lang="en-US" altLang="zh-CN" b="1" dirty="0">
                <a:solidFill>
                  <a:srgbClr val="000000"/>
                </a:solidFill>
              </a:rPr>
              <a:t>q </a:t>
            </a:r>
            <a:r>
              <a:rPr lang="zh-CN" altLang="en-US" b="1" dirty="0">
                <a:solidFill>
                  <a:srgbClr val="000000"/>
                </a:solidFill>
              </a:rPr>
              <a:t>不在导体内产生电场。</a:t>
            </a:r>
          </a:p>
        </p:txBody>
      </p:sp>
      <p:sp>
        <p:nvSpPr>
          <p:cNvPr id="4" name="TextBox 3"/>
          <p:cNvSpPr txBox="1"/>
          <p:nvPr/>
        </p:nvSpPr>
        <p:spPr>
          <a:xfrm>
            <a:off x="1029792" y="1097348"/>
            <a:ext cx="532859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000" b="1" i="0" u="none" strike="noStrike" cap="none" spc="0" normalizeH="0" baseline="0" smtClean="0">
                <a:ln>
                  <a:noFill/>
                </a:ln>
                <a:solidFill>
                  <a:srgbClr val="0000CC"/>
                </a:solidFill>
                <a:effectLst/>
                <a:uFillTx/>
                <a:latin typeface="+mn-lt"/>
                <a:ea typeface="+mn-ea"/>
                <a:cs typeface="+mn-cs"/>
                <a:sym typeface="Helvetica Light"/>
              </a:rPr>
              <a:t>单项选择题</a:t>
            </a:r>
            <a:endParaRPr kumimoji="0" lang="zh-CN" altLang="en-US" sz="4000" b="1" i="0" u="none" strike="noStrike" cap="none" spc="0" normalizeH="0" baseline="0">
              <a:ln>
                <a:noFill/>
              </a:ln>
              <a:solidFill>
                <a:srgbClr val="0000CC"/>
              </a:solidFill>
              <a:effectLst/>
              <a:uFillTx/>
              <a:latin typeface="+mn-lt"/>
              <a:ea typeface="+mn-ea"/>
              <a:cs typeface="+mn-cs"/>
              <a:sym typeface="Helvetica Light"/>
            </a:endParaRPr>
          </a:p>
        </p:txBody>
      </p:sp>
    </p:spTree>
    <p:extLst>
      <p:ext uri="{BB962C8B-B14F-4D97-AF65-F5344CB8AC3E}">
        <p14:creationId xmlns:p14="http://schemas.microsoft.com/office/powerpoint/2010/main" val="448240909"/>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300480" y="635000"/>
            <a:ext cx="10818544"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b="1" dirty="0">
                <a:solidFill>
                  <a:srgbClr val="FF0000"/>
                </a:solidFill>
              </a:rPr>
              <a:t>导体</a:t>
            </a:r>
            <a:r>
              <a:rPr lang="en-US" altLang="zh-CN" b="1" dirty="0">
                <a:solidFill>
                  <a:srgbClr val="FF0000"/>
                </a:solidFill>
              </a:rPr>
              <a:t>A</a:t>
            </a:r>
            <a:r>
              <a:rPr lang="zh-CN" altLang="en-US" b="1" dirty="0">
                <a:solidFill>
                  <a:srgbClr val="FF0000"/>
                </a:solidFill>
              </a:rPr>
              <a:t>外有一</a:t>
            </a:r>
            <a:r>
              <a:rPr lang="zh-CN" altLang="en-US" b="1" dirty="0" smtClean="0">
                <a:solidFill>
                  <a:srgbClr val="FF0000"/>
                </a:solidFill>
              </a:rPr>
              <a:t>电荷</a:t>
            </a:r>
            <a:r>
              <a:rPr lang="en-US" altLang="zh-CN" b="1" dirty="0" smtClean="0">
                <a:solidFill>
                  <a:srgbClr val="FF0000"/>
                </a:solidFill>
              </a:rPr>
              <a:t>q </a:t>
            </a:r>
            <a:r>
              <a:rPr lang="zh-CN" altLang="en-US" b="1" dirty="0">
                <a:solidFill>
                  <a:srgbClr val="FF0000"/>
                </a:solidFill>
              </a:rPr>
              <a:t>，且</a:t>
            </a:r>
            <a:r>
              <a:rPr lang="en-US" altLang="zh-CN" b="1" dirty="0" smtClean="0">
                <a:solidFill>
                  <a:srgbClr val="FF0000"/>
                </a:solidFill>
              </a:rPr>
              <a:t>A</a:t>
            </a:r>
            <a:r>
              <a:rPr lang="zh-CN" altLang="en-US" b="1" dirty="0" smtClean="0">
                <a:solidFill>
                  <a:srgbClr val="FF0000"/>
                </a:solidFill>
              </a:rPr>
              <a:t>处在</a:t>
            </a:r>
            <a:r>
              <a:rPr lang="zh-CN" altLang="en-US" b="1" dirty="0">
                <a:solidFill>
                  <a:srgbClr val="FF0000"/>
                </a:solidFill>
              </a:rPr>
              <a:t>静电平衡状态。下列说法中正确的是</a:t>
            </a:r>
            <a:r>
              <a:rPr lang="en-US" altLang="zh-CN" b="1" dirty="0">
                <a:solidFill>
                  <a:srgbClr val="FF0000"/>
                </a:solidFill>
              </a:rPr>
              <a:t>:</a:t>
            </a: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a:t>
            </a:r>
            <a:r>
              <a:rPr lang="zh-CN" altLang="en-US" sz="3200" b="1" dirty="0" smtClean="0">
                <a:solidFill>
                  <a:srgbClr val="000000"/>
                </a:solidFill>
              </a:rPr>
              <a:t>内</a:t>
            </a:r>
            <a:r>
              <a:rPr lang="en-US" altLang="zh-CN" sz="3200" b="1" dirty="0" smtClean="0">
                <a:solidFill>
                  <a:srgbClr val="000000"/>
                </a:solidFill>
              </a:rPr>
              <a:t>E=0</a:t>
            </a:r>
            <a:r>
              <a:rPr lang="zh-CN" altLang="en-US" sz="3200" b="1" dirty="0">
                <a:solidFill>
                  <a:srgbClr val="000000"/>
                </a:solidFill>
              </a:rPr>
              <a:t>，</a:t>
            </a:r>
            <a:r>
              <a:rPr lang="en-US" altLang="zh-CN" sz="3200" b="1" dirty="0" smtClean="0">
                <a:solidFill>
                  <a:srgbClr val="000000"/>
                </a:solidFill>
              </a:rPr>
              <a:t>q</a:t>
            </a:r>
            <a:r>
              <a:rPr lang="zh-CN" altLang="en-US" sz="3200" b="1" dirty="0" smtClean="0">
                <a:solidFill>
                  <a:srgbClr val="000000"/>
                </a:solidFill>
              </a:rPr>
              <a:t>不在</a:t>
            </a:r>
            <a:r>
              <a:rPr lang="zh-CN" altLang="en-US" sz="3200" b="1" dirty="0">
                <a:solidFill>
                  <a:srgbClr val="000000"/>
                </a:solidFill>
              </a:rPr>
              <a:t>导体内产生电场。</a:t>
            </a: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a:t>
            </a:r>
            <a:r>
              <a:rPr lang="zh-CN" altLang="en-US" sz="3200" b="1" dirty="0" smtClean="0">
                <a:solidFill>
                  <a:srgbClr val="000000"/>
                </a:solidFill>
              </a:rPr>
              <a:t>内</a:t>
            </a:r>
            <a:r>
              <a:rPr lang="en-US" altLang="zh-CN" sz="3200" b="1" dirty="0" smtClean="0">
                <a:solidFill>
                  <a:srgbClr val="000000"/>
                </a:solidFill>
              </a:rPr>
              <a:t>E</a:t>
            </a:r>
            <a:r>
              <a:rPr lang="zh-CN" altLang="en-US" sz="3200" b="1" dirty="0" smtClean="0">
                <a:solidFill>
                  <a:srgbClr val="000000"/>
                </a:solidFill>
              </a:rPr>
              <a:t>≠</a:t>
            </a:r>
            <a:r>
              <a:rPr lang="en-US" altLang="zh-CN" sz="3200" b="1" dirty="0" smtClean="0">
                <a:solidFill>
                  <a:srgbClr val="000000"/>
                </a:solidFill>
              </a:rPr>
              <a:t>0</a:t>
            </a:r>
            <a:r>
              <a:rPr lang="zh-CN" altLang="en-US" sz="3200" b="1" dirty="0">
                <a:solidFill>
                  <a:srgbClr val="000000"/>
                </a:solidFill>
              </a:rPr>
              <a:t>，</a:t>
            </a:r>
            <a:r>
              <a:rPr lang="en-US" altLang="zh-CN" sz="3200" b="1" dirty="0" smtClean="0">
                <a:solidFill>
                  <a:srgbClr val="000000"/>
                </a:solidFill>
              </a:rPr>
              <a:t>q</a:t>
            </a:r>
            <a:r>
              <a:rPr lang="zh-CN" altLang="en-US" sz="3200" b="1" dirty="0" smtClean="0">
                <a:solidFill>
                  <a:srgbClr val="000000"/>
                </a:solidFill>
              </a:rPr>
              <a:t>在</a:t>
            </a:r>
            <a:r>
              <a:rPr lang="zh-CN" altLang="en-US" sz="3200" b="1" dirty="0">
                <a:solidFill>
                  <a:srgbClr val="000000"/>
                </a:solidFill>
              </a:rPr>
              <a:t>导体内产生电场。</a:t>
            </a: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a:t>
            </a:r>
            <a:r>
              <a:rPr lang="zh-CN" altLang="en-US" sz="3200" b="1" dirty="0" smtClean="0">
                <a:solidFill>
                  <a:srgbClr val="000000"/>
                </a:solidFill>
              </a:rPr>
              <a:t>内</a:t>
            </a:r>
            <a:r>
              <a:rPr lang="en-US" altLang="zh-CN" sz="3200" b="1" dirty="0" smtClean="0">
                <a:solidFill>
                  <a:srgbClr val="000000"/>
                </a:solidFill>
              </a:rPr>
              <a:t>E=0</a:t>
            </a:r>
            <a:r>
              <a:rPr lang="zh-CN" altLang="en-US" sz="3200" b="1" dirty="0">
                <a:solidFill>
                  <a:srgbClr val="000000"/>
                </a:solidFill>
              </a:rPr>
              <a:t>，</a:t>
            </a:r>
            <a:r>
              <a:rPr lang="en-US" altLang="zh-CN" sz="3200" b="1" dirty="0" smtClean="0">
                <a:solidFill>
                  <a:srgbClr val="000000"/>
                </a:solidFill>
              </a:rPr>
              <a:t>q</a:t>
            </a:r>
            <a:r>
              <a:rPr lang="zh-CN" altLang="en-US" sz="3200" b="1" dirty="0" smtClean="0">
                <a:solidFill>
                  <a:srgbClr val="000000"/>
                </a:solidFill>
              </a:rPr>
              <a:t>在</a:t>
            </a:r>
            <a:r>
              <a:rPr lang="zh-CN" altLang="en-US" sz="3200" b="1" dirty="0">
                <a:solidFill>
                  <a:srgbClr val="000000"/>
                </a:solidFill>
              </a:rPr>
              <a:t>导体内产生电场。</a:t>
            </a: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a:t>
            </a:r>
            <a:r>
              <a:rPr lang="zh-CN" altLang="en-US" sz="3200" b="1" dirty="0" smtClean="0">
                <a:solidFill>
                  <a:srgbClr val="000000"/>
                </a:solidFill>
              </a:rPr>
              <a:t>内</a:t>
            </a:r>
            <a:r>
              <a:rPr lang="en-US" altLang="zh-CN" sz="3200" b="1" dirty="0" smtClean="0">
                <a:solidFill>
                  <a:srgbClr val="000000"/>
                </a:solidFill>
              </a:rPr>
              <a:t>E</a:t>
            </a:r>
            <a:r>
              <a:rPr lang="zh-CN" altLang="en-US" sz="3200" b="1" dirty="0" smtClean="0">
                <a:solidFill>
                  <a:srgbClr val="000000"/>
                </a:solidFill>
              </a:rPr>
              <a:t>≠</a:t>
            </a:r>
            <a:r>
              <a:rPr lang="en-US" altLang="zh-CN" sz="3200" b="1" dirty="0" smtClean="0">
                <a:solidFill>
                  <a:srgbClr val="000000"/>
                </a:solidFill>
              </a:rPr>
              <a:t>0</a:t>
            </a:r>
            <a:r>
              <a:rPr lang="zh-CN" altLang="en-US" sz="3200" b="1" dirty="0">
                <a:solidFill>
                  <a:srgbClr val="000000"/>
                </a:solidFill>
              </a:rPr>
              <a:t>，</a:t>
            </a:r>
            <a:r>
              <a:rPr lang="en-US" altLang="zh-CN" sz="3200" b="1" dirty="0" smtClean="0">
                <a:solidFill>
                  <a:srgbClr val="000000"/>
                </a:solidFill>
              </a:rPr>
              <a:t>q</a:t>
            </a:r>
            <a:r>
              <a:rPr lang="zh-CN" altLang="en-US" sz="3200" b="1" dirty="0" smtClean="0">
                <a:solidFill>
                  <a:srgbClr val="000000"/>
                </a:solidFill>
              </a:rPr>
              <a:t>不在</a:t>
            </a:r>
            <a:r>
              <a:rPr lang="zh-CN" altLang="en-US" sz="3200" b="1" dirty="0">
                <a:solidFill>
                  <a:srgbClr val="000000"/>
                </a:solidFill>
              </a:rPr>
              <a:t>导体内产生电场。</a:t>
            </a:r>
          </a:p>
        </p:txBody>
      </p:sp>
      <p:sp>
        <p:nvSpPr>
          <p:cNvPr id="8" name="椭圆 7"/>
          <p:cNvSpPr>
            <a:spLocks noChangeAspect="1"/>
          </p:cNvSpPr>
          <p:nvPr>
            <p:custDataLst>
              <p:tags r:id="rId7"/>
            </p:custDataLst>
          </p:nvPr>
        </p:nvSpPr>
        <p:spPr>
          <a:xfrm>
            <a:off x="1584960" y="40538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584960" y="52730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dirty="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dirty="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584960" y="6492240"/>
            <a:ext cx="731520" cy="731520"/>
          </a:xfrm>
          <a:prstGeom prst="ellipse">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dirty="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dirty="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584960" y="77114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3997837783"/>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Shape 478"/>
          <p:cNvSpPr>
            <a:spLocks noGrp="1"/>
          </p:cNvSpPr>
          <p:nvPr>
            <p:ph type="title"/>
          </p:nvPr>
        </p:nvSpPr>
        <p:spPr>
          <a:xfrm>
            <a:off x="76754" y="152853"/>
            <a:ext cx="11704322" cy="869250"/>
          </a:xfrm>
          <a:prstGeom prst="rect">
            <a:avLst/>
          </a:prstGeom>
        </p:spPr>
        <p:txBody>
          <a:bodyPr anchor="ctr">
            <a:normAutofit/>
          </a:bodyPr>
          <a:lstStyle/>
          <a:p>
            <a:pPr lvl="0">
              <a:defRPr sz="1800">
                <a:solidFill>
                  <a:srgbClr val="000000"/>
                </a:solidFill>
              </a:defRPr>
            </a:pPr>
            <a:r>
              <a:rPr lang="zh-CN" altLang="en-US" sz="3800" b="1" dirty="0" smtClean="0">
                <a:solidFill>
                  <a:srgbClr val="0000CC"/>
                </a:solidFill>
                <a:latin typeface="宋体" panose="02010600030101010101" pitchFamily="2" charset="-122"/>
                <a:ea typeface="宋体" panose="02010600030101010101" pitchFamily="2" charset="-122"/>
              </a:rPr>
              <a:t>导体处于静电平衡时：</a:t>
            </a:r>
            <a:endParaRPr sz="3800" b="1" dirty="0">
              <a:solidFill>
                <a:srgbClr val="0000CC"/>
              </a:solidFill>
              <a:latin typeface="宋体" panose="02010600030101010101" pitchFamily="2" charset="-122"/>
              <a:ea typeface="宋体" panose="02010600030101010101" pitchFamily="2" charset="-122"/>
            </a:endParaRPr>
          </a:p>
        </p:txBody>
      </p:sp>
      <p:sp>
        <p:nvSpPr>
          <p:cNvPr id="479" name="Shape 479"/>
          <p:cNvSpPr>
            <a:spLocks noGrp="1"/>
          </p:cNvSpPr>
          <p:nvPr>
            <p:ph type="body" idx="1"/>
          </p:nvPr>
        </p:nvSpPr>
        <p:spPr>
          <a:xfrm>
            <a:off x="-212618" y="2541030"/>
            <a:ext cx="6696744" cy="3573581"/>
          </a:xfrm>
          <a:prstGeom prst="rect">
            <a:avLst/>
          </a:prstGeom>
        </p:spPr>
        <p:txBody>
          <a:bodyPr/>
          <a:lstStyle/>
          <a:p>
            <a:pPr marL="922564" lvl="1" indent="-465364">
              <a:lnSpc>
                <a:spcPct val="150000"/>
              </a:lnSpc>
              <a:buSzPct val="65000"/>
              <a:defRPr sz="1800"/>
            </a:pPr>
            <a:r>
              <a:rPr lang="zh-CN" altLang="en-US" sz="3800" b="1" dirty="0" smtClean="0">
                <a:solidFill>
                  <a:srgbClr val="FF0000"/>
                </a:solidFill>
                <a:latin typeface="宋体" panose="02010600030101010101" pitchFamily="2" charset="-122"/>
                <a:ea typeface="宋体" panose="02010600030101010101" pitchFamily="2" charset="-122"/>
              </a:rPr>
              <a:t>内部电场处处为零</a:t>
            </a:r>
            <a:endParaRPr lang="en-US" sz="3800" b="1" dirty="0" smtClean="0">
              <a:solidFill>
                <a:srgbClr val="FF0000"/>
              </a:solidFill>
              <a:latin typeface="宋体" panose="02010600030101010101" pitchFamily="2" charset="-122"/>
              <a:ea typeface="宋体" panose="02010600030101010101" pitchFamily="2" charset="-122"/>
            </a:endParaRPr>
          </a:p>
          <a:p>
            <a:pPr marL="922564" lvl="1" indent="-465364">
              <a:lnSpc>
                <a:spcPct val="150000"/>
              </a:lnSpc>
              <a:buSzPct val="65000"/>
              <a:defRPr sz="1800"/>
            </a:pPr>
            <a:r>
              <a:rPr lang="zh-CN" altLang="en-US" sz="3800" b="1" dirty="0" smtClean="0">
                <a:solidFill>
                  <a:srgbClr val="FF0000"/>
                </a:solidFill>
                <a:latin typeface="宋体" panose="02010600030101010101" pitchFamily="2" charset="-122"/>
                <a:ea typeface="宋体" panose="02010600030101010101" pitchFamily="2" charset="-122"/>
              </a:rPr>
              <a:t>净</a:t>
            </a:r>
            <a:r>
              <a:rPr sz="3800" b="1" dirty="0" err="1" smtClean="0">
                <a:solidFill>
                  <a:srgbClr val="FF0000"/>
                </a:solidFill>
                <a:latin typeface="宋体" panose="02010600030101010101" pitchFamily="2" charset="-122"/>
                <a:ea typeface="宋体" panose="02010600030101010101" pitchFamily="2" charset="-122"/>
              </a:rPr>
              <a:t>电荷只分布在导体表面</a:t>
            </a:r>
            <a:endParaRPr sz="3800" b="1" dirty="0">
              <a:solidFill>
                <a:srgbClr val="FF0000"/>
              </a:solidFill>
              <a:latin typeface="宋体" panose="02010600030101010101" pitchFamily="2" charset="-122"/>
              <a:ea typeface="宋体" panose="02010600030101010101" pitchFamily="2" charset="-122"/>
            </a:endParaRPr>
          </a:p>
          <a:p>
            <a:pPr marL="922564" lvl="1" indent="-465364">
              <a:lnSpc>
                <a:spcPct val="150000"/>
              </a:lnSpc>
              <a:buSzPct val="65000"/>
              <a:defRPr sz="1800"/>
            </a:pPr>
            <a:r>
              <a:rPr lang="zh-CN" altLang="en-US" sz="3800" b="1" dirty="0" smtClean="0">
                <a:solidFill>
                  <a:srgbClr val="FF0000"/>
                </a:solidFill>
                <a:latin typeface="宋体" panose="02010600030101010101" pitchFamily="2" charset="-122"/>
                <a:ea typeface="宋体" panose="02010600030101010101" pitchFamily="2" charset="-122"/>
              </a:rPr>
              <a:t>导体表面处的</a:t>
            </a:r>
            <a:r>
              <a:rPr sz="3800" b="1" dirty="0" err="1" smtClean="0">
                <a:solidFill>
                  <a:srgbClr val="FF0000"/>
                </a:solidFill>
                <a:latin typeface="宋体" panose="02010600030101010101" pitchFamily="2" charset="-122"/>
                <a:ea typeface="宋体" panose="02010600030101010101" pitchFamily="2" charset="-122"/>
              </a:rPr>
              <a:t>电场</a:t>
            </a:r>
            <a:r>
              <a:rPr lang="zh-CN" altLang="en-US" sz="3800" b="1" dirty="0" smtClean="0">
                <a:solidFill>
                  <a:srgbClr val="FF0000"/>
                </a:solidFill>
                <a:latin typeface="宋体" panose="02010600030101010101" pitchFamily="2" charset="-122"/>
                <a:ea typeface="宋体" panose="02010600030101010101" pitchFamily="2" charset="-122"/>
              </a:rPr>
              <a:t>处处</a:t>
            </a:r>
            <a:r>
              <a:rPr sz="3800" b="1" dirty="0" err="1" smtClean="0">
                <a:solidFill>
                  <a:srgbClr val="FF0000"/>
                </a:solidFill>
                <a:latin typeface="宋体" panose="02010600030101010101" pitchFamily="2" charset="-122"/>
                <a:ea typeface="宋体" panose="02010600030101010101" pitchFamily="2" charset="-122"/>
              </a:rPr>
              <a:t>垂直于表面</a:t>
            </a:r>
            <a:endParaRPr sz="3800" b="1" dirty="0">
              <a:solidFill>
                <a:srgbClr val="FF0000"/>
              </a:solidFill>
              <a:latin typeface="宋体" panose="02010600030101010101" pitchFamily="2" charset="-122"/>
              <a:ea typeface="宋体" panose="02010600030101010101" pitchFamily="2" charset="-122"/>
            </a:endParaRPr>
          </a:p>
          <a:p>
            <a:pPr marL="922564" lvl="1" indent="-465364">
              <a:lnSpc>
                <a:spcPct val="150000"/>
              </a:lnSpc>
              <a:buSzPct val="65000"/>
              <a:defRPr sz="1800"/>
            </a:pPr>
            <a:r>
              <a:rPr sz="3800" b="1" dirty="0" err="1" smtClean="0">
                <a:solidFill>
                  <a:srgbClr val="FF0000"/>
                </a:solidFill>
                <a:latin typeface="宋体" panose="02010600030101010101" pitchFamily="2" charset="-122"/>
                <a:ea typeface="宋体" panose="02010600030101010101" pitchFamily="2" charset="-122"/>
              </a:rPr>
              <a:t>尖端电荷密度最高</a:t>
            </a:r>
            <a:endParaRPr sz="3800" b="1" dirty="0">
              <a:solidFill>
                <a:srgbClr val="FF0000"/>
              </a:solidFill>
              <a:latin typeface="宋体" panose="02010600030101010101" pitchFamily="2" charset="-122"/>
              <a:ea typeface="宋体" panose="02010600030101010101" pitchFamily="2" charset="-122"/>
            </a:endParaRPr>
          </a:p>
        </p:txBody>
      </p:sp>
      <p:sp>
        <p:nvSpPr>
          <p:cNvPr id="7" name="TextBox 6"/>
          <p:cNvSpPr txBox="1"/>
          <p:nvPr/>
        </p:nvSpPr>
        <p:spPr>
          <a:xfrm>
            <a:off x="2036593" y="1162932"/>
            <a:ext cx="102592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zh-CN" altLang="en-US" b="1" dirty="0" smtClean="0">
                <a:solidFill>
                  <a:srgbClr val="000000"/>
                </a:solidFill>
              </a:rPr>
              <a:t>电场</a:t>
            </a:r>
            <a:endParaRPr kumimoji="0" lang="zh-CN" altLang="en-US" sz="3600" b="1" i="0" u="none" strike="noStrike" cap="none" spc="0" normalizeH="0" baseline="0" dirty="0">
              <a:ln>
                <a:noFill/>
              </a:ln>
              <a:solidFill>
                <a:srgbClr val="000000"/>
              </a:solidFill>
              <a:effectLst/>
              <a:uFillTx/>
              <a:sym typeface="Helvetica Light"/>
            </a:endParaRPr>
          </a:p>
        </p:txBody>
      </p:sp>
      <p:sp>
        <p:nvSpPr>
          <p:cNvPr id="5" name="矩形 4"/>
          <p:cNvSpPr/>
          <p:nvPr/>
        </p:nvSpPr>
        <p:spPr>
          <a:xfrm>
            <a:off x="5857007" y="2505822"/>
            <a:ext cx="7024307" cy="5293757"/>
          </a:xfrm>
          <a:prstGeom prst="rect">
            <a:avLst/>
          </a:prstGeom>
        </p:spPr>
        <p:txBody>
          <a:bodyPr wrap="square">
            <a:spAutoFit/>
          </a:bodyPr>
          <a:lstStyle/>
          <a:p>
            <a:pPr marL="922564" lvl="1" indent="-465364" algn="l">
              <a:lnSpc>
                <a:spcPct val="150000"/>
              </a:lnSpc>
              <a:buSzPct val="65000"/>
              <a:buFont typeface="Wingdings" pitchFamily="2" charset="2"/>
              <a:buChar char="Ø"/>
              <a:defRPr sz="1800"/>
            </a:pPr>
            <a:r>
              <a:rPr lang="zh-CN" altLang="en-US" sz="3800" b="1" dirty="0" smtClean="0">
                <a:solidFill>
                  <a:srgbClr val="002452"/>
                </a:solidFill>
              </a:rPr>
              <a:t>导体内没有电场线</a:t>
            </a:r>
            <a:endParaRPr lang="en-US" altLang="zh-CN" sz="3800" b="1" dirty="0" smtClean="0">
              <a:solidFill>
                <a:srgbClr val="002452"/>
              </a:solidFill>
            </a:endParaRPr>
          </a:p>
          <a:p>
            <a:pPr marL="922564" lvl="1" indent="-465364" algn="l">
              <a:lnSpc>
                <a:spcPct val="200000"/>
              </a:lnSpc>
              <a:buSzPct val="65000"/>
              <a:buFont typeface="Wingdings" pitchFamily="2" charset="2"/>
              <a:buChar char="Ø"/>
              <a:defRPr sz="1800"/>
            </a:pPr>
            <a:endParaRPr lang="en-US" altLang="zh-CN" sz="3800" dirty="0" smtClean="0">
              <a:solidFill>
                <a:srgbClr val="002452"/>
              </a:solidFill>
            </a:endParaRPr>
          </a:p>
          <a:p>
            <a:pPr marL="922564" lvl="1" indent="-465364" algn="l">
              <a:lnSpc>
                <a:spcPct val="200000"/>
              </a:lnSpc>
              <a:spcAft>
                <a:spcPts val="1800"/>
              </a:spcAft>
              <a:buSzPct val="65000"/>
              <a:buFont typeface="Wingdings" pitchFamily="2" charset="2"/>
              <a:buChar char="Ø"/>
              <a:defRPr sz="1800"/>
            </a:pPr>
            <a:r>
              <a:rPr lang="zh-CN" altLang="en-US" sz="3800" b="1" dirty="0" smtClean="0">
                <a:solidFill>
                  <a:srgbClr val="002452"/>
                </a:solidFill>
              </a:rPr>
              <a:t>电场线垂直于导体表面</a:t>
            </a:r>
            <a:endParaRPr lang="en-US" altLang="zh-CN" sz="3800" b="1" dirty="0" smtClean="0">
              <a:solidFill>
                <a:srgbClr val="002452"/>
              </a:solidFill>
            </a:endParaRPr>
          </a:p>
          <a:p>
            <a:pPr marL="922564" lvl="1" indent="-465364" algn="l">
              <a:lnSpc>
                <a:spcPct val="150000"/>
              </a:lnSpc>
              <a:buSzPct val="65000"/>
              <a:buFont typeface="Wingdings" pitchFamily="2" charset="2"/>
              <a:buChar char="Ø"/>
              <a:defRPr sz="1800"/>
            </a:pPr>
            <a:r>
              <a:rPr lang="zh-CN" altLang="en-US" sz="3800" b="1" dirty="0" smtClean="0">
                <a:solidFill>
                  <a:srgbClr val="002452"/>
                </a:solidFill>
              </a:rPr>
              <a:t>尖端附近外电场线最密（电场最</a:t>
            </a:r>
            <a:r>
              <a:rPr lang="zh-CN" altLang="en-US" sz="3800" b="1" dirty="0">
                <a:solidFill>
                  <a:srgbClr val="002452"/>
                </a:solidFill>
              </a:rPr>
              <a:t>强）</a:t>
            </a:r>
          </a:p>
        </p:txBody>
      </p:sp>
      <p:sp>
        <p:nvSpPr>
          <p:cNvPr id="15" name="上箭头 14"/>
          <p:cNvSpPr/>
          <p:nvPr/>
        </p:nvSpPr>
        <p:spPr>
          <a:xfrm rot="10800000">
            <a:off x="1604283" y="1997086"/>
            <a:ext cx="1890543" cy="574850"/>
          </a:xfrm>
          <a:prstGeom prst="upArrow">
            <a:avLst/>
          </a:prstGeom>
          <a:blipFill rotWithShape="1">
            <a:blip r:embed="rId2" cstate="print"/>
            <a:srcRect/>
            <a:tile tx="0" ty="0" sx="100000" sy="100000" flip="none" algn="tl"/>
          </a:blip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6" name="TextBox 15"/>
          <p:cNvSpPr txBox="1"/>
          <p:nvPr/>
        </p:nvSpPr>
        <p:spPr>
          <a:xfrm>
            <a:off x="7570041" y="1162932"/>
            <a:ext cx="1492396"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zh-CN" altLang="en-US" b="1" smtClean="0">
                <a:solidFill>
                  <a:srgbClr val="000000"/>
                </a:solidFill>
              </a:rPr>
              <a:t>电场线</a:t>
            </a:r>
            <a:endParaRPr kumimoji="0" lang="zh-CN" altLang="en-US" sz="3600" b="1" i="0" u="none" strike="noStrike" cap="none" spc="0" normalizeH="0" baseline="0" dirty="0">
              <a:ln>
                <a:noFill/>
              </a:ln>
              <a:solidFill>
                <a:srgbClr val="000000"/>
              </a:solidFill>
              <a:effectLst/>
              <a:uFillTx/>
              <a:sym typeface="Helvetica Light"/>
            </a:endParaRPr>
          </a:p>
        </p:txBody>
      </p:sp>
      <p:sp>
        <p:nvSpPr>
          <p:cNvPr id="17" name="上箭头 16"/>
          <p:cNvSpPr/>
          <p:nvPr/>
        </p:nvSpPr>
        <p:spPr>
          <a:xfrm rot="10800000">
            <a:off x="7502227" y="1947185"/>
            <a:ext cx="1890543" cy="574850"/>
          </a:xfrm>
          <a:prstGeom prst="upArrow">
            <a:avLst/>
          </a:prstGeom>
          <a:blipFill rotWithShape="1">
            <a:blip r:embed="rId2" cstate="print"/>
            <a:srcRect/>
            <a:tile tx="0" ty="0" sx="100000" sy="100000" flip="none" algn="tl"/>
          </a:blip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78"/>
          <p:cNvSpPr txBox="1">
            <a:spLocks/>
          </p:cNvSpPr>
          <p:nvPr/>
        </p:nvSpPr>
        <p:spPr>
          <a:xfrm>
            <a:off x="443859" y="556320"/>
            <a:ext cx="11704322" cy="869250"/>
          </a:xfrm>
          <a:prstGeom prst="rect">
            <a:avLst/>
          </a:prstGeom>
        </p:spPr>
        <p:txBody>
          <a:bodyPr anchor="ctr">
            <a:normAutofit/>
          </a:bodyPr>
          <a:lstStyle>
            <a:lvl1pPr>
              <a:defRPr sz="4400">
                <a:solidFill>
                  <a:srgbClr val="006633"/>
                </a:solidFill>
                <a:latin typeface="SimHei"/>
                <a:ea typeface="SimHei"/>
                <a:cs typeface="SimHei"/>
                <a:sym typeface="SimHei"/>
              </a:defRPr>
            </a:lvl1pPr>
            <a:lvl2pPr>
              <a:defRPr sz="4400">
                <a:solidFill>
                  <a:srgbClr val="006633"/>
                </a:solidFill>
                <a:latin typeface="SimHei"/>
                <a:ea typeface="SimHei"/>
                <a:cs typeface="SimHei"/>
                <a:sym typeface="SimHei"/>
              </a:defRPr>
            </a:lvl2pPr>
            <a:lvl3pPr>
              <a:defRPr sz="4400">
                <a:solidFill>
                  <a:srgbClr val="006633"/>
                </a:solidFill>
                <a:latin typeface="SimHei"/>
                <a:ea typeface="SimHei"/>
                <a:cs typeface="SimHei"/>
                <a:sym typeface="SimHei"/>
              </a:defRPr>
            </a:lvl3pPr>
            <a:lvl4pPr>
              <a:defRPr sz="4400">
                <a:solidFill>
                  <a:srgbClr val="006633"/>
                </a:solidFill>
                <a:latin typeface="SimHei"/>
                <a:ea typeface="SimHei"/>
                <a:cs typeface="SimHei"/>
                <a:sym typeface="SimHei"/>
              </a:defRPr>
            </a:lvl4pPr>
            <a:lvl5pPr>
              <a:defRPr sz="4400">
                <a:solidFill>
                  <a:srgbClr val="006633"/>
                </a:solidFill>
                <a:latin typeface="SimHei"/>
                <a:ea typeface="SimHei"/>
                <a:cs typeface="SimHei"/>
                <a:sym typeface="SimHei"/>
              </a:defRPr>
            </a:lvl5pPr>
            <a:lvl6pPr indent="457200">
              <a:defRPr sz="4400">
                <a:solidFill>
                  <a:srgbClr val="006633"/>
                </a:solidFill>
                <a:latin typeface="SimHei"/>
                <a:ea typeface="SimHei"/>
                <a:cs typeface="SimHei"/>
                <a:sym typeface="SimHei"/>
              </a:defRPr>
            </a:lvl6pPr>
            <a:lvl7pPr indent="914400">
              <a:defRPr sz="4400">
                <a:solidFill>
                  <a:srgbClr val="006633"/>
                </a:solidFill>
                <a:latin typeface="SimHei"/>
                <a:ea typeface="SimHei"/>
                <a:cs typeface="SimHei"/>
                <a:sym typeface="SimHei"/>
              </a:defRPr>
            </a:lvl7pPr>
            <a:lvl8pPr indent="1371600">
              <a:defRPr sz="4400">
                <a:solidFill>
                  <a:srgbClr val="006633"/>
                </a:solidFill>
                <a:latin typeface="SimHei"/>
                <a:ea typeface="SimHei"/>
                <a:cs typeface="SimHei"/>
                <a:sym typeface="SimHei"/>
              </a:defRPr>
            </a:lvl8pPr>
            <a:lvl9pPr indent="1828800">
              <a:defRPr sz="4400">
                <a:solidFill>
                  <a:srgbClr val="006633"/>
                </a:solidFill>
                <a:latin typeface="SimHei"/>
                <a:ea typeface="SimHei"/>
                <a:cs typeface="SimHei"/>
                <a:sym typeface="SimHei"/>
              </a:defRPr>
            </a:lvl9pPr>
          </a:lstStyle>
          <a:p>
            <a:pPr>
              <a:defRPr sz="1800">
                <a:solidFill>
                  <a:srgbClr val="000000"/>
                </a:solidFill>
              </a:defRPr>
            </a:pPr>
            <a:r>
              <a:rPr lang="zh-CN" altLang="en-US" sz="4000" b="1" dirty="0" smtClean="0">
                <a:solidFill>
                  <a:srgbClr val="0000CC"/>
                </a:solidFill>
                <a:latin typeface="宋体" panose="02010600030101010101" pitchFamily="2" charset="-122"/>
                <a:ea typeface="宋体" panose="02010600030101010101" pitchFamily="2" charset="-122"/>
              </a:rPr>
              <a:t>静电平衡下导体上的电荷分布</a:t>
            </a:r>
            <a:endParaRPr lang="zh-CN" altLang="en-US" sz="4000" b="1" dirty="0">
              <a:solidFill>
                <a:srgbClr val="0000CC"/>
              </a:solidFill>
              <a:latin typeface="宋体" panose="02010600030101010101" pitchFamily="2" charset="-122"/>
              <a:ea typeface="宋体" panose="02010600030101010101" pitchFamily="2" charset="-122"/>
            </a:endParaRPr>
          </a:p>
        </p:txBody>
      </p:sp>
      <p:grpSp>
        <p:nvGrpSpPr>
          <p:cNvPr id="8" name="组合 7"/>
          <p:cNvGrpSpPr/>
          <p:nvPr/>
        </p:nvGrpSpPr>
        <p:grpSpPr>
          <a:xfrm>
            <a:off x="571384" y="1874667"/>
            <a:ext cx="11449272" cy="3697124"/>
            <a:chOff x="428414" y="1750469"/>
            <a:chExt cx="11449272" cy="3697124"/>
          </a:xfrm>
        </p:grpSpPr>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91385" y="2103616"/>
              <a:ext cx="4045363" cy="1452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1"/>
            <p:cNvSpPr txBox="1"/>
            <p:nvPr/>
          </p:nvSpPr>
          <p:spPr>
            <a:xfrm>
              <a:off x="428414" y="4852558"/>
              <a:ext cx="11449272"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200" b="0" i="0" u="none" strike="noStrike" cap="none" spc="0" normalizeH="0" baseline="0" dirty="0" smtClean="0">
                  <a:ln>
                    <a:noFill/>
                  </a:ln>
                  <a:solidFill>
                    <a:srgbClr val="000000"/>
                  </a:solidFill>
                  <a:effectLst/>
                  <a:uFillTx/>
                  <a:latin typeface="+mn-lt"/>
                  <a:ea typeface="+mn-ea"/>
                  <a:cs typeface="+mn-cs"/>
                  <a:sym typeface="Helvetica Light"/>
                </a:rPr>
                <a:t>图</a:t>
              </a:r>
              <a:r>
                <a:rPr kumimoji="0" lang="en-US" altLang="zh-CN" sz="3200" b="0" i="0" u="none" strike="noStrike" cap="none" spc="0" normalizeH="0" baseline="0" dirty="0" smtClean="0">
                  <a:ln>
                    <a:noFill/>
                  </a:ln>
                  <a:solidFill>
                    <a:srgbClr val="000000"/>
                  </a:solidFill>
                  <a:effectLst/>
                  <a:uFillTx/>
                  <a:latin typeface="+mn-lt"/>
                  <a:ea typeface="+mn-ea"/>
                  <a:cs typeface="+mn-cs"/>
                  <a:sym typeface="Helvetica Light"/>
                </a:rPr>
                <a:t>16.29 a</a:t>
              </a:r>
              <a:r>
                <a:rPr kumimoji="0" lang="zh-CN" altLang="en-US" sz="3200" b="0" i="0" u="none" strike="noStrike" cap="none" spc="0" normalizeH="0" baseline="0" dirty="0" smtClean="0">
                  <a:ln>
                    <a:noFill/>
                  </a:ln>
                  <a:solidFill>
                    <a:srgbClr val="000000"/>
                  </a:solidFill>
                  <a:effectLst/>
                  <a:uFillTx/>
                  <a:latin typeface="+mn-lt"/>
                  <a:ea typeface="+mn-ea"/>
                  <a:cs typeface="+mn-cs"/>
                  <a:sym typeface="Helvetica Light"/>
                </a:rPr>
                <a:t>）局限在弯曲表面上的电荷；</a:t>
              </a:r>
              <a:r>
                <a:rPr kumimoji="0" lang="en-US" altLang="zh-CN" sz="3200" b="0" i="0" u="none" strike="noStrike" cap="none" spc="0" normalizeH="0" baseline="0" dirty="0" smtClean="0">
                  <a:ln>
                    <a:noFill/>
                  </a:ln>
                  <a:solidFill>
                    <a:srgbClr val="000000"/>
                  </a:solidFill>
                  <a:effectLst/>
                  <a:uFillTx/>
                  <a:latin typeface="+mn-lt"/>
                  <a:ea typeface="+mn-ea"/>
                  <a:cs typeface="+mn-cs"/>
                  <a:sym typeface="Helvetica Light"/>
                </a:rPr>
                <a:t>b</a:t>
              </a:r>
              <a:r>
                <a:rPr kumimoji="0" lang="zh-CN" altLang="en-US" sz="3200" b="0" i="0" u="none" strike="noStrike" cap="none" spc="0" normalizeH="0" baseline="0" dirty="0" smtClean="0">
                  <a:ln>
                    <a:noFill/>
                  </a:ln>
                  <a:solidFill>
                    <a:srgbClr val="000000"/>
                  </a:solidFill>
                  <a:effectLst/>
                  <a:uFillTx/>
                  <a:latin typeface="+mn-lt"/>
                  <a:ea typeface="+mn-ea"/>
                  <a:cs typeface="+mn-cs"/>
                  <a:sym typeface="Helvetica Light"/>
                </a:rPr>
                <a:t>）导体尖端处的电荷</a:t>
              </a:r>
              <a:endParaRPr kumimoji="0" lang="zh-CN" altLang="en-US" sz="3200" b="0" i="0" u="none" strike="noStrike" cap="none" spc="0" normalizeH="0" baseline="0" dirty="0">
                <a:ln>
                  <a:noFill/>
                </a:ln>
                <a:solidFill>
                  <a:srgbClr val="000000"/>
                </a:solidFill>
                <a:effectLst/>
                <a:uFillTx/>
                <a:latin typeface="+mn-lt"/>
                <a:ea typeface="+mn-ea"/>
                <a:cs typeface="+mn-cs"/>
                <a:sym typeface="Helvetica Light"/>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4491" y="1750469"/>
              <a:ext cx="2888526" cy="1805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13"/>
            <p:cNvSpPr txBox="1"/>
            <p:nvPr/>
          </p:nvSpPr>
          <p:spPr>
            <a:xfrm>
              <a:off x="8110576" y="3776464"/>
              <a:ext cx="1416160"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rtl="0" latinLnBrk="1" hangingPunct="0"/>
              <a:r>
                <a:rPr lang="en-US" altLang="zh-CN" sz="3200">
                  <a:solidFill>
                    <a:srgbClr val="000000"/>
                  </a:solidFill>
                </a:rPr>
                <a:t>b</a:t>
              </a:r>
              <a:r>
                <a:rPr lang="zh-CN" altLang="en-US" sz="3200">
                  <a:solidFill>
                    <a:srgbClr val="000000"/>
                  </a:solidFill>
                </a:rPr>
                <a:t>）</a:t>
              </a:r>
              <a:endParaRPr kumimoji="0" lang="zh-CN" altLang="en-US" sz="3200" b="0" i="0" u="none" strike="noStrike" cap="none" spc="0" normalizeH="0" baseline="0" dirty="0">
                <a:ln>
                  <a:noFill/>
                </a:ln>
                <a:solidFill>
                  <a:srgbClr val="000000"/>
                </a:solidFill>
                <a:effectLst/>
                <a:uFillTx/>
                <a:latin typeface="+mn-lt"/>
                <a:ea typeface="+mn-ea"/>
                <a:cs typeface="+mn-cs"/>
                <a:sym typeface="Helvetica Light"/>
              </a:endParaRPr>
            </a:p>
          </p:txBody>
        </p:sp>
        <p:sp>
          <p:nvSpPr>
            <p:cNvPr id="7" name="文本框 2"/>
            <p:cNvSpPr txBox="1"/>
            <p:nvPr/>
          </p:nvSpPr>
          <p:spPr>
            <a:xfrm>
              <a:off x="2412417" y="3756248"/>
              <a:ext cx="718145"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rtl="0" latinLnBrk="1" hangingPunct="0"/>
              <a:r>
                <a:rPr lang="en-US" altLang="zh-CN" sz="3200">
                  <a:solidFill>
                    <a:srgbClr val="000000"/>
                  </a:solidFill>
                </a:rPr>
                <a:t>a</a:t>
              </a:r>
              <a:r>
                <a:rPr lang="zh-CN" altLang="en-US" sz="3200">
                  <a:solidFill>
                    <a:srgbClr val="000000"/>
                  </a:solidFill>
                </a:rPr>
                <a:t>）</a:t>
              </a:r>
              <a:endParaRPr kumimoji="0" lang="zh-CN" altLang="en-US" sz="3200" b="0" i="0" u="none" strike="noStrike" cap="none" spc="0" normalizeH="0" baseline="0" dirty="0">
                <a:ln>
                  <a:noFill/>
                </a:ln>
                <a:solidFill>
                  <a:srgbClr val="000000"/>
                </a:solidFill>
                <a:effectLst/>
                <a:uFillTx/>
                <a:latin typeface="+mn-lt"/>
                <a:ea typeface="+mn-ea"/>
                <a:cs typeface="+mn-cs"/>
                <a:sym typeface="Helvetica Light"/>
              </a:endParaRPr>
            </a:p>
          </p:txBody>
        </p:sp>
      </p:grpSp>
      <p:sp>
        <p:nvSpPr>
          <p:cNvPr id="9" name="TextBox 8"/>
          <p:cNvSpPr txBox="1"/>
          <p:nvPr/>
        </p:nvSpPr>
        <p:spPr>
          <a:xfrm>
            <a:off x="808877" y="6460976"/>
            <a:ext cx="11539482"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b="1" i="0" u="none" strike="noStrike" cap="none" spc="0" normalizeH="0" baseline="0" dirty="0" smtClean="0">
                <a:ln>
                  <a:noFill/>
                </a:ln>
                <a:solidFill>
                  <a:srgbClr val="000000"/>
                </a:solidFill>
                <a:effectLst/>
                <a:uFillTx/>
                <a:latin typeface="+mn-lt"/>
                <a:ea typeface="+mn-ea"/>
                <a:cs typeface="+mn-cs"/>
                <a:sym typeface="Helvetica Light"/>
              </a:rPr>
              <a:t>对处于静电平衡的导体，在表面曲率半径最小的位置面电荷密度最大，</a:t>
            </a:r>
            <a:r>
              <a:rPr kumimoji="0" lang="zh-CN" altLang="en-US" b="1" i="0" u="none" strike="noStrike" cap="none" spc="0" normalizeH="0" baseline="0" dirty="0" smtClean="0">
                <a:ln>
                  <a:noFill/>
                </a:ln>
                <a:solidFill>
                  <a:srgbClr val="FF0000"/>
                </a:solidFill>
                <a:effectLst/>
                <a:uFillTx/>
                <a:latin typeface="+mn-lt"/>
                <a:ea typeface="+mn-ea"/>
                <a:cs typeface="+mn-cs"/>
                <a:sym typeface="Helvetica Light"/>
              </a:rPr>
              <a:t>导体表面外紧邻处的电场</a:t>
            </a:r>
            <a:r>
              <a:rPr kumimoji="0" lang="zh-CN" altLang="en-US" b="1" i="0" u="none" strike="noStrike" cap="none" spc="0" normalizeH="0" baseline="0" dirty="0" smtClean="0">
                <a:ln>
                  <a:noFill/>
                </a:ln>
                <a:solidFill>
                  <a:srgbClr val="000000"/>
                </a:solidFill>
                <a:effectLst/>
                <a:uFillTx/>
                <a:latin typeface="+mn-lt"/>
                <a:ea typeface="+mn-ea"/>
                <a:cs typeface="+mn-cs"/>
                <a:sym typeface="Helvetica Light"/>
              </a:rPr>
              <a:t>在该处最强。</a:t>
            </a:r>
            <a:endParaRPr kumimoji="0" lang="zh-CN" altLang="en-US" b="1" i="0" u="none" strike="noStrike" cap="none" spc="0" normalizeH="0" baseline="0" dirty="0">
              <a:ln>
                <a:noFill/>
              </a:ln>
              <a:solidFill>
                <a:srgbClr val="000000"/>
              </a:solidFill>
              <a:effectLst/>
              <a:uFillTx/>
              <a:latin typeface="+mn-lt"/>
              <a:ea typeface="+mn-ea"/>
              <a:cs typeface="+mn-cs"/>
              <a:sym typeface="Helvetica Light"/>
            </a:endParaRPr>
          </a:p>
        </p:txBody>
      </p:sp>
    </p:spTree>
    <p:extLst>
      <p:ext uri="{BB962C8B-B14F-4D97-AF65-F5344CB8AC3E}">
        <p14:creationId xmlns:p14="http://schemas.microsoft.com/office/powerpoint/2010/main" val="1084009132"/>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9752" y="1635306"/>
            <a:ext cx="11233248" cy="259558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lang="zh-CN" altLang="en-US" b="1" dirty="0" smtClean="0">
                <a:solidFill>
                  <a:srgbClr val="000000"/>
                </a:solidFill>
              </a:rPr>
              <a:t>由于带电导体表面的场强有突变，所以一般我们不说导体表面上的场强，而是说导体外紧靠导体表面各点的场强，即导体表面附近的场强。</a:t>
            </a:r>
            <a:endParaRPr kumimoji="0" lang="zh-CN" altLang="en-US" sz="3600" b="1" i="0" u="none" strike="noStrike" cap="none" spc="0" normalizeH="0" baseline="0" dirty="0">
              <a:ln>
                <a:noFill/>
              </a:ln>
              <a:solidFill>
                <a:srgbClr val="000000"/>
              </a:solidFill>
              <a:effectLst/>
              <a:uFillTx/>
              <a:sym typeface="Helvetica Light"/>
            </a:endParaRPr>
          </a:p>
        </p:txBody>
      </p:sp>
      <p:sp>
        <p:nvSpPr>
          <p:cNvPr id="3" name="TextBox 2"/>
          <p:cNvSpPr txBox="1"/>
          <p:nvPr/>
        </p:nvSpPr>
        <p:spPr>
          <a:xfrm>
            <a:off x="669752" y="4948808"/>
            <a:ext cx="11665296"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导体处于静电平衡时，导体是等势体，导体表面是等势面。导体等势是导体体内电场强度处处为零的必然结果。</a:t>
            </a:r>
            <a:endParaRPr kumimoji="0" lang="zh-CN" altLang="en-US" sz="3600" b="1" i="0" u="none" strike="noStrike" cap="none" spc="0" normalizeH="0" baseline="0" dirty="0">
              <a:ln>
                <a:noFill/>
              </a:ln>
              <a:solidFill>
                <a:srgbClr val="000000"/>
              </a:solidFill>
              <a:effectLst/>
              <a:uFillTx/>
              <a:latin typeface="+mn-lt"/>
              <a:ea typeface="+mn-ea"/>
              <a:cs typeface="+mn-cs"/>
              <a:sym typeface="Helvetica Light"/>
            </a:endParaRPr>
          </a:p>
        </p:txBody>
      </p:sp>
    </p:spTree>
    <p:extLst>
      <p:ext uri="{BB962C8B-B14F-4D97-AF65-F5344CB8AC3E}">
        <p14:creationId xmlns:p14="http://schemas.microsoft.com/office/powerpoint/2010/main" val="2577813501"/>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461840" y="2428528"/>
            <a:ext cx="9865096" cy="425757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FF0000"/>
                </a:solidFill>
              </a:rPr>
              <a:t>当导体达到静电平衡时，下面正确的是</a:t>
            </a:r>
          </a:p>
          <a:p>
            <a:pPr algn="l" rtl="0" latinLnBrk="1" hangingPunct="0">
              <a:lnSpc>
                <a:spcPct val="150000"/>
              </a:lnSpc>
            </a:pPr>
            <a:r>
              <a:rPr lang="en-US" altLang="zh-CN" b="1" dirty="0">
                <a:solidFill>
                  <a:srgbClr val="000000"/>
                </a:solidFill>
              </a:rPr>
              <a:t>A.</a:t>
            </a:r>
            <a:r>
              <a:rPr lang="zh-CN" altLang="en-US" b="1" dirty="0">
                <a:solidFill>
                  <a:srgbClr val="000000"/>
                </a:solidFill>
              </a:rPr>
              <a:t>导体内部各处的电场强度等于零。</a:t>
            </a:r>
          </a:p>
          <a:p>
            <a:pPr algn="l" rtl="0" latinLnBrk="1" hangingPunct="0">
              <a:lnSpc>
                <a:spcPct val="150000"/>
              </a:lnSpc>
            </a:pPr>
            <a:r>
              <a:rPr lang="en-US" altLang="zh-CN" b="1" dirty="0">
                <a:solidFill>
                  <a:srgbClr val="000000"/>
                </a:solidFill>
              </a:rPr>
              <a:t>B.</a:t>
            </a:r>
            <a:r>
              <a:rPr lang="zh-CN" altLang="en-US" b="1" dirty="0">
                <a:solidFill>
                  <a:srgbClr val="000000"/>
                </a:solidFill>
              </a:rPr>
              <a:t>导体表面外邻域处的场强垂直于表面</a:t>
            </a:r>
          </a:p>
          <a:p>
            <a:pPr algn="l" rtl="0" latinLnBrk="1" hangingPunct="0">
              <a:lnSpc>
                <a:spcPct val="150000"/>
              </a:lnSpc>
            </a:pPr>
            <a:r>
              <a:rPr lang="en-US" altLang="zh-CN" b="1" dirty="0">
                <a:solidFill>
                  <a:srgbClr val="000000"/>
                </a:solidFill>
              </a:rPr>
              <a:t>C.</a:t>
            </a:r>
            <a:r>
              <a:rPr lang="zh-CN" altLang="en-US" b="1" dirty="0">
                <a:solidFill>
                  <a:srgbClr val="000000"/>
                </a:solidFill>
              </a:rPr>
              <a:t>整个导体是等势体</a:t>
            </a:r>
          </a:p>
          <a:p>
            <a:pPr algn="l" rtl="0" latinLnBrk="1" hangingPunct="0">
              <a:lnSpc>
                <a:spcPct val="150000"/>
              </a:lnSpc>
            </a:pPr>
            <a:r>
              <a:rPr lang="en-US" altLang="zh-CN" b="1" dirty="0">
                <a:solidFill>
                  <a:srgbClr val="000000"/>
                </a:solidFill>
              </a:rPr>
              <a:t>D.</a:t>
            </a:r>
            <a:r>
              <a:rPr lang="zh-CN" altLang="en-US" b="1" dirty="0">
                <a:solidFill>
                  <a:srgbClr val="000000"/>
                </a:solidFill>
              </a:rPr>
              <a:t>导体表面是</a:t>
            </a:r>
            <a:r>
              <a:rPr lang="zh-CN" altLang="en-US" b="1" dirty="0" smtClean="0">
                <a:solidFill>
                  <a:srgbClr val="000000"/>
                </a:solidFill>
              </a:rPr>
              <a:t>等势面</a:t>
            </a:r>
            <a:endParaRPr lang="zh-CN" altLang="en-US" b="1" dirty="0">
              <a:solidFill>
                <a:srgbClr val="000000"/>
              </a:solidFill>
            </a:endParaRPr>
          </a:p>
        </p:txBody>
      </p:sp>
      <p:sp>
        <p:nvSpPr>
          <p:cNvPr id="3" name="TextBox 2"/>
          <p:cNvSpPr txBox="1"/>
          <p:nvPr/>
        </p:nvSpPr>
        <p:spPr>
          <a:xfrm>
            <a:off x="1029792" y="1097348"/>
            <a:ext cx="532859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000" b="1" i="0" u="none" strike="noStrike" cap="none" spc="0" normalizeH="0" baseline="0" smtClean="0">
                <a:ln>
                  <a:noFill/>
                </a:ln>
                <a:solidFill>
                  <a:srgbClr val="0000CC"/>
                </a:solidFill>
                <a:effectLst/>
                <a:uFillTx/>
                <a:latin typeface="+mn-lt"/>
                <a:ea typeface="+mn-ea"/>
                <a:cs typeface="+mn-cs"/>
                <a:sym typeface="Helvetica Light"/>
              </a:rPr>
              <a:t>多选题</a:t>
            </a:r>
            <a:endParaRPr kumimoji="0" lang="zh-CN" altLang="en-US" sz="4000" b="1" i="0" u="none" strike="noStrike" cap="none" spc="0" normalizeH="0" baseline="0">
              <a:ln>
                <a:noFill/>
              </a:ln>
              <a:solidFill>
                <a:srgbClr val="0000CC"/>
              </a:solidFill>
              <a:effectLst/>
              <a:uFillTx/>
              <a:latin typeface="+mn-lt"/>
              <a:ea typeface="+mn-ea"/>
              <a:cs typeface="+mn-cs"/>
              <a:sym typeface="Helvetica Light"/>
            </a:endParaRPr>
          </a:p>
        </p:txBody>
      </p:sp>
    </p:spTree>
    <p:extLst>
      <p:ext uri="{BB962C8B-B14F-4D97-AF65-F5344CB8AC3E}">
        <p14:creationId xmlns:p14="http://schemas.microsoft.com/office/powerpoint/2010/main" val="1404952879"/>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300480" y="635000"/>
            <a:ext cx="10403840"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b="1" dirty="0">
                <a:solidFill>
                  <a:srgbClr val="FF0000"/>
                </a:solidFill>
              </a:rPr>
              <a:t>当导体达到静电平衡时，下面正确的</a:t>
            </a:r>
            <a:r>
              <a:rPr lang="zh-CN" altLang="en-US" b="1" dirty="0" smtClean="0">
                <a:solidFill>
                  <a:srgbClr val="FF0000"/>
                </a:solidFill>
              </a:rPr>
              <a:t>是</a:t>
            </a:r>
            <a:r>
              <a:rPr lang="en-US" altLang="zh-CN" b="1" dirty="0" smtClean="0">
                <a:solidFill>
                  <a:srgbClr val="FF0000"/>
                </a:solidFill>
              </a:rPr>
              <a:t>:</a:t>
            </a:r>
            <a:endParaRPr lang="zh-CN" altLang="en-US" b="1" dirty="0">
              <a:solidFill>
                <a:srgbClr val="FF0000"/>
              </a:solidFill>
            </a:endParaRP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导体内部各处的电场强度等于零。</a:t>
            </a: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导体表面外邻域处的场强垂直于表面</a:t>
            </a: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整个导体是等势体</a:t>
            </a: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导体表面是等势面</a:t>
            </a:r>
          </a:p>
        </p:txBody>
      </p:sp>
      <p:sp>
        <p:nvSpPr>
          <p:cNvPr id="8" name="矩形 7"/>
          <p:cNvSpPr>
            <a:spLocks noChangeAspect="1"/>
          </p:cNvSpPr>
          <p:nvPr>
            <p:custDataLst>
              <p:tags r:id="rId7"/>
            </p:custDataLst>
          </p:nvPr>
        </p:nvSpPr>
        <p:spPr>
          <a:xfrm>
            <a:off x="1584960" y="4053840"/>
            <a:ext cx="731520" cy="731520"/>
          </a:xfrm>
          <a:prstGeom prst="rect">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矩形 8"/>
          <p:cNvSpPr>
            <a:spLocks noChangeAspect="1"/>
          </p:cNvSpPr>
          <p:nvPr>
            <p:custDataLst>
              <p:tags r:id="rId8"/>
            </p:custDataLst>
          </p:nvPr>
        </p:nvSpPr>
        <p:spPr>
          <a:xfrm>
            <a:off x="1584960" y="5273040"/>
            <a:ext cx="731520" cy="731520"/>
          </a:xfrm>
          <a:prstGeom prst="rect">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矩形 9"/>
          <p:cNvSpPr>
            <a:spLocks noChangeAspect="1"/>
          </p:cNvSpPr>
          <p:nvPr>
            <p:custDataLst>
              <p:tags r:id="rId9"/>
            </p:custDataLst>
          </p:nvPr>
        </p:nvSpPr>
        <p:spPr>
          <a:xfrm>
            <a:off x="1584960" y="6492240"/>
            <a:ext cx="731520" cy="731520"/>
          </a:xfrm>
          <a:prstGeom prst="rect">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p:cNvSpPr>
            <a:spLocks noChangeAspect="1"/>
          </p:cNvSpPr>
          <p:nvPr>
            <p:custDataLst>
              <p:tags r:id="rId10"/>
            </p:custDataLst>
          </p:nvPr>
        </p:nvSpPr>
        <p:spPr>
          <a:xfrm>
            <a:off x="1584960" y="7711440"/>
            <a:ext cx="731520" cy="731520"/>
          </a:xfrm>
          <a:prstGeom prst="rect">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21" name="组合 20"/>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endParaRPr kumimoji="0" lang="zh-CN" altLang="en-US" sz="26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0"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67441186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8" name="Group 488"/>
          <p:cNvGrpSpPr/>
          <p:nvPr/>
        </p:nvGrpSpPr>
        <p:grpSpPr>
          <a:xfrm>
            <a:off x="1475888" y="3443039"/>
            <a:ext cx="3191642" cy="2867522"/>
            <a:chOff x="0" y="-1"/>
            <a:chExt cx="3191641" cy="2867520"/>
          </a:xfrm>
        </p:grpSpPr>
        <p:sp>
          <p:nvSpPr>
            <p:cNvPr id="482" name="Shape 482"/>
            <p:cNvSpPr/>
            <p:nvPr/>
          </p:nvSpPr>
          <p:spPr>
            <a:xfrm>
              <a:off x="921702" y="409645"/>
              <a:ext cx="2269939" cy="226994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83" name="Shape 483"/>
            <p:cNvSpPr/>
            <p:nvPr/>
          </p:nvSpPr>
          <p:spPr>
            <a:xfrm>
              <a:off x="0" y="-1"/>
              <a:ext cx="2867519" cy="28675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6A6A6"/>
            </a:solidFill>
            <a:ln w="25400" cap="flat">
              <a:solidFill>
                <a:srgbClr val="000000"/>
              </a:solidFill>
              <a:prstDash val="solid"/>
              <a:bevel/>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84" name="Shape 484"/>
            <p:cNvSpPr/>
            <p:nvPr/>
          </p:nvSpPr>
          <p:spPr>
            <a:xfrm>
              <a:off x="363943" y="357900"/>
              <a:ext cx="2162564" cy="216256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25400" cap="flat">
              <a:solidFill>
                <a:srgbClr val="000000"/>
              </a:solidFill>
              <a:prstDash val="solid"/>
              <a:bevel/>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grpSp>
          <p:nvGrpSpPr>
            <p:cNvPr id="487" name="Group 487"/>
            <p:cNvGrpSpPr/>
            <p:nvPr/>
          </p:nvGrpSpPr>
          <p:grpSpPr>
            <a:xfrm>
              <a:off x="850048" y="1087115"/>
              <a:ext cx="1171665" cy="725444"/>
              <a:chOff x="-232456" y="-1"/>
              <a:chExt cx="1171662" cy="725442"/>
            </a:xfrm>
          </p:grpSpPr>
          <p:sp>
            <p:nvSpPr>
              <p:cNvPr id="485" name="Shape 485"/>
              <p:cNvSpPr/>
              <p:nvPr/>
            </p:nvSpPr>
            <p:spPr>
              <a:xfrm>
                <a:off x="0" y="-1"/>
                <a:ext cx="725442" cy="72544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C9900"/>
              </a:solidFill>
              <a:ln w="25400" cap="flat">
                <a:solidFill>
                  <a:srgbClr val="957000"/>
                </a:solidFill>
                <a:prstDash val="solid"/>
                <a:bevel/>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p>
            </p:txBody>
          </p:sp>
          <p:sp>
            <p:nvSpPr>
              <p:cNvPr id="486" name="Shape 486"/>
              <p:cNvSpPr/>
              <p:nvPr/>
            </p:nvSpPr>
            <p:spPr>
              <a:xfrm>
                <a:off x="-232456" y="0"/>
                <a:ext cx="1171662" cy="6706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lang="el-GR" altLang="zh-CN" sz="3200" dirty="0" smtClean="0"/>
                  <a:t>-16μ</a:t>
                </a:r>
                <a:r>
                  <a:rPr lang="en-US" altLang="zh-CN" sz="3200" dirty="0" smtClean="0"/>
                  <a:t>C</a:t>
                </a:r>
                <a:endParaRPr sz="3400" dirty="0"/>
              </a:p>
            </p:txBody>
          </p:sp>
        </p:grpSp>
      </p:grpSp>
      <p:sp>
        <p:nvSpPr>
          <p:cNvPr id="489" name="Shape 489"/>
          <p:cNvSpPr/>
          <p:nvPr/>
        </p:nvSpPr>
        <p:spPr>
          <a:xfrm>
            <a:off x="1066954" y="873309"/>
            <a:ext cx="11213520" cy="2231891"/>
          </a:xfrm>
          <a:prstGeom prst="rect">
            <a:avLst/>
          </a:prstGeom>
          <a:ln w="12700">
            <a:miter lim="400000"/>
          </a:ln>
          <a:extLst>
            <a:ext uri="{C572A759-6A51-4108-AA02-DFA0A04FC94B}">
              <ma14:wrappingTextBoxFlag xmlns:ma14="http://schemas.microsoft.com/office/mac/drawingml/2011/main" xmlns="" val="1"/>
            </a:ext>
          </a:extLst>
        </p:spPr>
        <p:txBody>
          <a:bodyPr wrap="square" lIns="65023" tIns="65023" rIns="65023" bIns="65023">
            <a:spAutoFit/>
          </a:bodyPr>
          <a:lstStyle/>
          <a:p>
            <a:pPr lvl="0" algn="l" defTabSz="1028700">
              <a:lnSpc>
                <a:spcPct val="150000"/>
              </a:lnSpc>
              <a:spcBef>
                <a:spcPts val="1600"/>
              </a:spcBef>
              <a:defRPr sz="1800"/>
            </a:pPr>
            <a:r>
              <a:rPr lang="zh-CN" altLang="en-US" sz="2800" b="1" dirty="0" smtClean="0">
                <a:latin typeface="宋体" panose="02010600030101010101" pitchFamily="2" charset="-122"/>
                <a:ea typeface="宋体" panose="02010600030101010101" pitchFamily="2" charset="-122"/>
                <a:cs typeface="SimHei"/>
                <a:sym typeface="SimHei"/>
              </a:rPr>
              <a:t>    </a:t>
            </a:r>
            <a:r>
              <a:rPr lang="zh-CN" altLang="en-US" sz="3200" b="1" dirty="0" smtClean="0">
                <a:latin typeface="黑体" pitchFamily="49" charset="-122"/>
                <a:ea typeface="黑体" pitchFamily="49" charset="-122"/>
                <a:cs typeface="SimHei"/>
                <a:sym typeface="SimHei"/>
              </a:rPr>
              <a:t>一个带有</a:t>
            </a:r>
            <a:r>
              <a:rPr lang="en-US" altLang="zh-CN" sz="3200" b="1" dirty="0">
                <a:latin typeface="黑体" pitchFamily="49" charset="-122"/>
                <a:ea typeface="黑体" pitchFamily="49" charset="-122"/>
                <a:cs typeface="Times New Roman" panose="02020603050405020304" pitchFamily="18" charset="0"/>
                <a:sym typeface="SimHei"/>
              </a:rPr>
              <a:t>-</a:t>
            </a:r>
            <a:r>
              <a:rPr lang="el-GR" altLang="zh-CN" sz="3200" b="1" dirty="0">
                <a:latin typeface="黑体" pitchFamily="49" charset="-122"/>
                <a:ea typeface="黑体" pitchFamily="49" charset="-122"/>
                <a:cs typeface="Times New Roman" panose="02020603050405020304" pitchFamily="18" charset="0"/>
              </a:rPr>
              <a:t>16μ</a:t>
            </a:r>
            <a:r>
              <a:rPr lang="en-US" altLang="zh-CN" sz="3200" b="1" dirty="0">
                <a:latin typeface="黑体" pitchFamily="49" charset="-122"/>
                <a:ea typeface="黑体" pitchFamily="49" charset="-122"/>
                <a:cs typeface="Times New Roman" panose="02020603050405020304" pitchFamily="18" charset="0"/>
              </a:rPr>
              <a:t>C</a:t>
            </a:r>
            <a:r>
              <a:rPr lang="zh-CN" altLang="en-US" sz="3200" b="1" dirty="0" smtClean="0">
                <a:latin typeface="黑体" pitchFamily="49" charset="-122"/>
                <a:ea typeface="黑体" pitchFamily="49" charset="-122"/>
              </a:rPr>
              <a:t>电荷的实心导体球放置于一个带有</a:t>
            </a:r>
            <a:r>
              <a:rPr lang="en-US" altLang="zh-CN" sz="3200" b="1" dirty="0" smtClean="0">
                <a:latin typeface="黑体" pitchFamily="49" charset="-122"/>
                <a:ea typeface="黑体" pitchFamily="49" charset="-122"/>
                <a:cs typeface="Times New Roman" panose="02020603050405020304" pitchFamily="18" charset="0"/>
              </a:rPr>
              <a:t>+8</a:t>
            </a:r>
            <a:r>
              <a:rPr lang="el-GR" altLang="zh-CN" sz="3200" b="1" dirty="0">
                <a:latin typeface="黑体" pitchFamily="49" charset="-122"/>
                <a:ea typeface="黑体" pitchFamily="49" charset="-122"/>
                <a:cs typeface="Times New Roman" panose="02020603050405020304" pitchFamily="18" charset="0"/>
              </a:rPr>
              <a:t>μ</a:t>
            </a:r>
            <a:r>
              <a:rPr lang="en-US" altLang="zh-CN" sz="3200" b="1" dirty="0" smtClean="0">
                <a:latin typeface="黑体" pitchFamily="49" charset="-122"/>
                <a:ea typeface="黑体" pitchFamily="49" charset="-122"/>
                <a:cs typeface="Times New Roman" panose="02020603050405020304" pitchFamily="18" charset="0"/>
              </a:rPr>
              <a:t>C </a:t>
            </a:r>
            <a:r>
              <a:rPr lang="zh-CN" altLang="en-US" sz="3200" b="1" dirty="0" smtClean="0">
                <a:latin typeface="黑体" pitchFamily="49" charset="-122"/>
                <a:ea typeface="黑体" pitchFamily="49" charset="-122"/>
                <a:cs typeface="SimHei"/>
                <a:sym typeface="SimHei"/>
              </a:rPr>
              <a:t>电荷的空心导体球壳中心。两导体都处于</a:t>
            </a:r>
            <a:r>
              <a:rPr sz="3200" b="1" dirty="0" err="1" smtClean="0">
                <a:latin typeface="黑体" pitchFamily="49" charset="-122"/>
                <a:ea typeface="黑体" pitchFamily="49" charset="-122"/>
                <a:cs typeface="SimHei"/>
                <a:sym typeface="SimHei"/>
              </a:rPr>
              <a:t>静电平衡状态</a:t>
            </a:r>
            <a:r>
              <a:rPr sz="3200" b="1" dirty="0" smtClean="0">
                <a:latin typeface="黑体" pitchFamily="49" charset="-122"/>
                <a:ea typeface="黑体" pitchFamily="49" charset="-122"/>
                <a:cs typeface="SimHei"/>
                <a:sym typeface="SimHei"/>
              </a:rPr>
              <a:t>。</a:t>
            </a:r>
            <a:r>
              <a:rPr lang="zh-CN" altLang="en-US" sz="3200" b="1" dirty="0" smtClean="0">
                <a:latin typeface="黑体" pitchFamily="49" charset="-122"/>
                <a:ea typeface="黑体" pitchFamily="49" charset="-122"/>
                <a:cs typeface="SimHei"/>
                <a:sym typeface="SimHei"/>
              </a:rPr>
              <a:t>求导体球</a:t>
            </a:r>
            <a:r>
              <a:rPr sz="3200" b="1" dirty="0" err="1" smtClean="0">
                <a:latin typeface="黑体" pitchFamily="49" charset="-122"/>
                <a:ea typeface="黑体" pitchFamily="49" charset="-122"/>
                <a:cs typeface="SimHei"/>
                <a:sym typeface="SimHei"/>
              </a:rPr>
              <a:t>壳内</a:t>
            </a:r>
            <a:r>
              <a:rPr lang="zh-CN" altLang="en-US" sz="3200" b="1" dirty="0" smtClean="0">
                <a:latin typeface="黑体" pitchFamily="49" charset="-122"/>
                <a:ea typeface="黑体" pitchFamily="49" charset="-122"/>
                <a:cs typeface="SimHei"/>
                <a:sym typeface="SimHei"/>
              </a:rPr>
              <a:t>、</a:t>
            </a:r>
            <a:r>
              <a:rPr sz="3200" b="1" dirty="0" err="1" smtClean="0">
                <a:latin typeface="黑体" pitchFamily="49" charset="-122"/>
                <a:ea typeface="黑体" pitchFamily="49" charset="-122"/>
                <a:cs typeface="SimHei"/>
                <a:sym typeface="SimHei"/>
              </a:rPr>
              <a:t>外表面</a:t>
            </a:r>
            <a:r>
              <a:rPr lang="zh-CN" altLang="en-US" sz="3200" b="1" dirty="0" smtClean="0">
                <a:latin typeface="黑体" pitchFamily="49" charset="-122"/>
                <a:ea typeface="黑体" pitchFamily="49" charset="-122"/>
                <a:cs typeface="SimHei"/>
                <a:sym typeface="SimHei"/>
              </a:rPr>
              <a:t>所带电量</a:t>
            </a:r>
            <a:r>
              <a:rPr sz="3200" b="1" dirty="0" smtClean="0">
                <a:latin typeface="黑体" pitchFamily="49" charset="-122"/>
                <a:ea typeface="黑体" pitchFamily="49" charset="-122"/>
                <a:cs typeface="SimHei"/>
                <a:sym typeface="SimHei"/>
              </a:rPr>
              <a:t>，</a:t>
            </a:r>
            <a:r>
              <a:rPr lang="zh-CN" altLang="en-US" sz="3200" b="1" dirty="0" smtClean="0">
                <a:latin typeface="黑体" pitchFamily="49" charset="-122"/>
                <a:ea typeface="黑体" pitchFamily="49" charset="-122"/>
                <a:cs typeface="SimHei"/>
                <a:sym typeface="SimHei"/>
              </a:rPr>
              <a:t>并</a:t>
            </a:r>
            <a:r>
              <a:rPr sz="3200" b="1" dirty="0" err="1" smtClean="0">
                <a:latin typeface="黑体" pitchFamily="49" charset="-122"/>
                <a:ea typeface="黑体" pitchFamily="49" charset="-122"/>
                <a:cs typeface="SimHei"/>
                <a:sym typeface="SimHei"/>
              </a:rPr>
              <a:t>画出电场线</a:t>
            </a:r>
            <a:r>
              <a:rPr lang="zh-CN" altLang="en-US" sz="3200" b="1" dirty="0" smtClean="0">
                <a:latin typeface="黑体" pitchFamily="49" charset="-122"/>
                <a:ea typeface="黑体" pitchFamily="49" charset="-122"/>
                <a:cs typeface="SimHei"/>
                <a:sym typeface="SimHei"/>
              </a:rPr>
              <a:t>的分布图</a:t>
            </a:r>
            <a:r>
              <a:rPr sz="3200" b="1" dirty="0" smtClean="0">
                <a:latin typeface="黑体" pitchFamily="49" charset="-122"/>
                <a:ea typeface="黑体" pitchFamily="49" charset="-122"/>
                <a:cs typeface="SimHei"/>
                <a:sym typeface="SimHei"/>
              </a:rPr>
              <a:t>。</a:t>
            </a:r>
            <a:endParaRPr sz="3200" b="1" dirty="0">
              <a:latin typeface="黑体" pitchFamily="49" charset="-122"/>
              <a:ea typeface="黑体" pitchFamily="49" charset="-122"/>
              <a:cs typeface="SimHei"/>
              <a:sym typeface="SimHei"/>
            </a:endParaRPr>
          </a:p>
        </p:txBody>
      </p:sp>
      <p:sp>
        <p:nvSpPr>
          <p:cNvPr id="490" name="Shape 490"/>
          <p:cNvSpPr/>
          <p:nvPr/>
        </p:nvSpPr>
        <p:spPr>
          <a:xfrm>
            <a:off x="460588" y="268676"/>
            <a:ext cx="5222241" cy="675760"/>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lvl1pPr algn="l" defTabSz="1028700">
              <a:lnSpc>
                <a:spcPct val="120000"/>
              </a:lnSpc>
              <a:spcBef>
                <a:spcPts val="1400"/>
              </a:spcBef>
              <a:defRPr sz="3400">
                <a:solidFill>
                  <a:srgbClr val="0000CC"/>
                </a:solidFill>
                <a:latin typeface="SimHei"/>
                <a:ea typeface="SimHei"/>
                <a:cs typeface="SimHei"/>
                <a:sym typeface="SimHei"/>
              </a:defRPr>
            </a:lvl1pPr>
          </a:lstStyle>
          <a:p>
            <a:pPr lvl="0">
              <a:defRPr sz="1800">
                <a:solidFill>
                  <a:srgbClr val="000000"/>
                </a:solidFill>
              </a:defRPr>
            </a:pPr>
            <a:r>
              <a:rPr sz="3400" dirty="0" smtClean="0">
                <a:solidFill>
                  <a:srgbClr val="0000CC"/>
                </a:solidFill>
              </a:rPr>
              <a:t>例题</a:t>
            </a:r>
            <a:r>
              <a:rPr lang="en-US" sz="3400" dirty="0" smtClean="0">
                <a:solidFill>
                  <a:srgbClr val="0000CC"/>
                </a:solidFill>
              </a:rPr>
              <a:t>16.6</a:t>
            </a:r>
            <a:endParaRPr sz="3400" dirty="0">
              <a:solidFill>
                <a:srgbClr val="0000CC"/>
              </a:solidFill>
            </a:endParaRPr>
          </a:p>
        </p:txBody>
      </p:sp>
      <p:sp>
        <p:nvSpPr>
          <p:cNvPr id="491" name="Shape 491"/>
          <p:cNvSpPr/>
          <p:nvPr/>
        </p:nvSpPr>
        <p:spPr>
          <a:xfrm>
            <a:off x="3550072" y="3220616"/>
            <a:ext cx="888064"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0" algn="l">
              <a:defRPr sz="1800"/>
            </a:pPr>
            <a:r>
              <a:rPr sz="3600" dirty="0" smtClean="0">
                <a:latin typeface="Times New Roman" pitchFamily="18" charset="0"/>
                <a:cs typeface="Times New Roman" pitchFamily="18" charset="0"/>
              </a:rPr>
              <a:t>8μC</a:t>
            </a:r>
            <a:endParaRPr sz="3600" dirty="0">
              <a:latin typeface="Times New Roman" pitchFamily="18" charset="0"/>
              <a:cs typeface="Times New Roman" pitchFamily="18" charset="0"/>
            </a:endParaRPr>
          </a:p>
        </p:txBody>
      </p:sp>
      <p:grpSp>
        <p:nvGrpSpPr>
          <p:cNvPr id="16" name="组合 15"/>
          <p:cNvGrpSpPr/>
          <p:nvPr/>
        </p:nvGrpSpPr>
        <p:grpSpPr>
          <a:xfrm>
            <a:off x="958408" y="6639555"/>
            <a:ext cx="2219325" cy="2162175"/>
            <a:chOff x="958408" y="6639555"/>
            <a:chExt cx="2219325" cy="2162175"/>
          </a:xfrm>
        </p:grpSpPr>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8408" y="6639555"/>
              <a:ext cx="221932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388848" y="7521545"/>
              <a:ext cx="1256754"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rtl="0" latinLnBrk="1" hangingPunct="0"/>
              <a:r>
                <a:rPr lang="zh-CN" altLang="en-US" sz="1800" dirty="0" smtClean="0">
                  <a:latin typeface="宋体" panose="02010600030101010101" pitchFamily="2" charset="-122"/>
                  <a:ea typeface="宋体" panose="02010600030101010101" pitchFamily="2" charset="-122"/>
                </a:rPr>
                <a:t>实心导体球</a:t>
              </a:r>
              <a:endParaRPr kumimoji="0" lang="zh-CN" altLang="en-US" sz="1800" b="0" i="0" u="none" strike="noStrike" cap="none" spc="0" normalizeH="0" baseline="0" dirty="0">
                <a:ln>
                  <a:noFill/>
                </a:ln>
                <a:solidFill>
                  <a:srgbClr val="000000"/>
                </a:solidFill>
                <a:effectLst/>
                <a:uFillTx/>
                <a:latin typeface="+mn-lt"/>
                <a:ea typeface="+mn-ea"/>
                <a:cs typeface="+mn-cs"/>
                <a:sym typeface="Helvetica Light"/>
              </a:endParaRPr>
            </a:p>
          </p:txBody>
        </p:sp>
      </p:grpSp>
      <p:grpSp>
        <p:nvGrpSpPr>
          <p:cNvPr id="23" name="组合 22"/>
          <p:cNvGrpSpPr/>
          <p:nvPr/>
        </p:nvGrpSpPr>
        <p:grpSpPr>
          <a:xfrm>
            <a:off x="4198144" y="5995959"/>
            <a:ext cx="3467100" cy="3324225"/>
            <a:chOff x="4198144" y="5995959"/>
            <a:chExt cx="3467100" cy="3324225"/>
          </a:xfrm>
        </p:grpSpPr>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8144" y="5995959"/>
              <a:ext cx="3467100" cy="332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Shape 486"/>
            <p:cNvSpPr/>
            <p:nvPr/>
          </p:nvSpPr>
          <p:spPr>
            <a:xfrm>
              <a:off x="5638304" y="6172944"/>
              <a:ext cx="1035410" cy="72224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lang="el-GR" altLang="zh-CN" sz="3200" dirty="0" smtClean="0"/>
                <a:t>16μ</a:t>
              </a:r>
              <a:r>
                <a:rPr lang="en-US" altLang="zh-CN" sz="3200" dirty="0" smtClean="0"/>
                <a:t>C</a:t>
              </a:r>
              <a:endParaRPr sz="3400" dirty="0"/>
            </a:p>
          </p:txBody>
        </p:sp>
        <p:sp>
          <p:nvSpPr>
            <p:cNvPr id="18" name="Shape 486"/>
            <p:cNvSpPr/>
            <p:nvPr/>
          </p:nvSpPr>
          <p:spPr>
            <a:xfrm>
              <a:off x="5350272" y="6821016"/>
              <a:ext cx="1171665" cy="6706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lang="el-GR" altLang="zh-CN" sz="3200" dirty="0" smtClean="0"/>
                <a:t>-16μ</a:t>
              </a:r>
              <a:r>
                <a:rPr lang="en-US" altLang="zh-CN" sz="3200" dirty="0" smtClean="0"/>
                <a:t>C</a:t>
              </a:r>
              <a:endParaRPr sz="3400" dirty="0"/>
            </a:p>
          </p:txBody>
        </p:sp>
      </p:grpSp>
      <p:grpSp>
        <p:nvGrpSpPr>
          <p:cNvPr id="22" name="组合 21"/>
          <p:cNvGrpSpPr/>
          <p:nvPr/>
        </p:nvGrpSpPr>
        <p:grpSpPr>
          <a:xfrm>
            <a:off x="8230592" y="5461633"/>
            <a:ext cx="4479016" cy="4276894"/>
            <a:chOff x="8230592" y="5461633"/>
            <a:chExt cx="4479016" cy="4276894"/>
          </a:xfrm>
        </p:grpSpPr>
        <p:pic>
          <p:nvPicPr>
            <p:cNvPr id="14"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30592" y="5461633"/>
              <a:ext cx="4479016" cy="4276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Shape 486"/>
            <p:cNvSpPr/>
            <p:nvPr/>
          </p:nvSpPr>
          <p:spPr>
            <a:xfrm>
              <a:off x="10030792" y="6244952"/>
              <a:ext cx="1035410" cy="72224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lang="el-GR" altLang="zh-CN" sz="3200" dirty="0" smtClean="0"/>
                <a:t>16μ</a:t>
              </a:r>
              <a:r>
                <a:rPr lang="en-US" altLang="zh-CN" sz="3200" dirty="0" smtClean="0"/>
                <a:t>C</a:t>
              </a:r>
              <a:endParaRPr sz="3400" dirty="0"/>
            </a:p>
          </p:txBody>
        </p:sp>
        <p:sp>
          <p:nvSpPr>
            <p:cNvPr id="20" name="Shape 486"/>
            <p:cNvSpPr/>
            <p:nvPr/>
          </p:nvSpPr>
          <p:spPr>
            <a:xfrm>
              <a:off x="9886776" y="6749008"/>
              <a:ext cx="1171665" cy="6706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lang="el-GR" altLang="zh-CN" sz="3200" dirty="0" smtClean="0"/>
                <a:t>-16μ</a:t>
              </a:r>
              <a:r>
                <a:rPr lang="en-US" altLang="zh-CN" sz="3200" dirty="0" smtClean="0"/>
                <a:t>C</a:t>
              </a:r>
              <a:endParaRPr sz="3400" dirty="0"/>
            </a:p>
          </p:txBody>
        </p:sp>
        <p:sp>
          <p:nvSpPr>
            <p:cNvPr id="21" name="Shape 491"/>
            <p:cNvSpPr/>
            <p:nvPr/>
          </p:nvSpPr>
          <p:spPr>
            <a:xfrm>
              <a:off x="10030792" y="5627657"/>
              <a:ext cx="937757" cy="59503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0" algn="l">
                <a:defRPr sz="1800"/>
              </a:pPr>
              <a:r>
                <a:rPr lang="en-US" sz="3200" dirty="0" smtClean="0">
                  <a:latin typeface="Times New Roman" pitchFamily="18" charset="0"/>
                  <a:cs typeface="Times New Roman" pitchFamily="18" charset="0"/>
                </a:rPr>
                <a:t>-</a:t>
              </a:r>
              <a:r>
                <a:rPr sz="3200" dirty="0" smtClean="0">
                  <a:latin typeface="Times New Roman" pitchFamily="18" charset="0"/>
                  <a:cs typeface="Times New Roman" pitchFamily="18" charset="0"/>
                </a:rPr>
                <a:t>8μC</a:t>
              </a:r>
              <a:endParaRPr sz="3200" dirty="0">
                <a:latin typeface="Times New Roman" pitchFamily="18" charset="0"/>
                <a:cs typeface="Times New Roman" pitchFamily="18" charset="0"/>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练习题</a:t>
            </a:r>
            <a:r>
              <a:rPr lang="en-US" altLang="zh-CN" dirty="0" smtClean="0"/>
              <a:t>16.6 </a:t>
            </a:r>
            <a:endParaRPr lang="zh-CN" altLang="en-US" dirty="0"/>
          </a:p>
        </p:txBody>
      </p:sp>
      <p:sp>
        <p:nvSpPr>
          <p:cNvPr id="3" name="内容占位符 2"/>
          <p:cNvSpPr>
            <a:spLocks noGrp="1"/>
          </p:cNvSpPr>
          <p:nvPr>
            <p:ph idx="1"/>
          </p:nvPr>
        </p:nvSpPr>
        <p:spPr>
          <a:xfrm>
            <a:off x="650239" y="1420416"/>
            <a:ext cx="11704322" cy="8153966"/>
          </a:xfrm>
        </p:spPr>
        <p:txBody>
          <a:bodyPr/>
          <a:lstStyle/>
          <a:p>
            <a:r>
              <a:rPr lang="zh-CN" altLang="en-US" sz="4800" dirty="0" smtClean="0"/>
              <a:t>一个点电荷位于空心导体的内部空腔中。空心导体的内外表面分别带</a:t>
            </a:r>
            <a:r>
              <a:rPr lang="zh-CN" altLang="en-US" sz="4800" dirty="0"/>
              <a:t>着</a:t>
            </a:r>
            <a:r>
              <a:rPr lang="en-US" altLang="zh-CN" sz="4800" dirty="0"/>
              <a:t>+5</a:t>
            </a:r>
            <a:r>
              <a:rPr lang="el-GR" altLang="zh-CN" sz="4800" dirty="0"/>
              <a:t>μ</a:t>
            </a:r>
            <a:r>
              <a:rPr lang="en-US" altLang="zh-CN" sz="4800" dirty="0"/>
              <a:t>C</a:t>
            </a:r>
            <a:r>
              <a:rPr lang="zh-CN" altLang="en-US" sz="4800" dirty="0"/>
              <a:t>和</a:t>
            </a:r>
            <a:r>
              <a:rPr lang="en-US" altLang="zh-CN" sz="4800" dirty="0"/>
              <a:t>+8</a:t>
            </a:r>
            <a:r>
              <a:rPr lang="el-GR" altLang="zh-CN" sz="4800" dirty="0"/>
              <a:t>μ</a:t>
            </a:r>
            <a:r>
              <a:rPr lang="en-US" altLang="zh-CN" sz="4800" dirty="0" smtClean="0"/>
              <a:t>C</a:t>
            </a:r>
            <a:r>
              <a:rPr lang="zh-CN" altLang="en-US" sz="4800" dirty="0" smtClean="0"/>
              <a:t>的电量。点电荷电量是多少？</a:t>
            </a:r>
            <a:endParaRPr lang="zh-CN" altLang="en-US" sz="4800" dirty="0"/>
          </a:p>
        </p:txBody>
      </p:sp>
    </p:spTree>
    <p:extLst>
      <p:ext uri="{BB962C8B-B14F-4D97-AF65-F5344CB8AC3E}">
        <p14:creationId xmlns:p14="http://schemas.microsoft.com/office/powerpoint/2010/main" val="83046014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6830" name="Group 142"/>
          <p:cNvGrpSpPr>
            <a:grpSpLocks/>
          </p:cNvGrpSpPr>
          <p:nvPr/>
        </p:nvGrpSpPr>
        <p:grpSpPr bwMode="auto">
          <a:xfrm>
            <a:off x="650241" y="866986"/>
            <a:ext cx="11591431" cy="8383130"/>
            <a:chOff x="288" y="384"/>
            <a:chExt cx="5134" cy="3713"/>
          </a:xfrm>
        </p:grpSpPr>
        <p:sp>
          <p:nvSpPr>
            <p:cNvPr id="626690" name="Rectangle 2"/>
            <p:cNvSpPr>
              <a:spLocks noChangeArrowheads="1"/>
            </p:cNvSpPr>
            <p:nvPr/>
          </p:nvSpPr>
          <p:spPr bwMode="auto">
            <a:xfrm>
              <a:off x="432" y="2736"/>
              <a:ext cx="4990" cy="1361"/>
            </a:xfrm>
            <a:prstGeom prst="rect">
              <a:avLst/>
            </a:prstGeom>
            <a:solidFill>
              <a:srgbClr val="99CC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26" name="Rectangle 38"/>
            <p:cNvSpPr>
              <a:spLocks noChangeArrowheads="1"/>
            </p:cNvSpPr>
            <p:nvPr/>
          </p:nvSpPr>
          <p:spPr bwMode="auto">
            <a:xfrm>
              <a:off x="288" y="384"/>
              <a:ext cx="5068" cy="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smtClean="0">
                  <a:solidFill>
                    <a:srgbClr val="EC2A0A"/>
                  </a:solidFill>
                  <a:latin typeface="宋体" panose="02010600030101010101" pitchFamily="2" charset="-122"/>
                  <a:ea typeface="宋体" panose="02010600030101010101" pitchFamily="2" charset="-122"/>
                </a:rPr>
                <a:t>    孤立</a:t>
              </a:r>
              <a:r>
                <a:rPr lang="zh-CN" altLang="en-US" dirty="0">
                  <a:solidFill>
                    <a:schemeClr val="tx1"/>
                  </a:solidFill>
                  <a:latin typeface="宋体" panose="02010600030101010101" pitchFamily="2" charset="-122"/>
                  <a:ea typeface="宋体" panose="02010600030101010101" pitchFamily="2" charset="-122"/>
                </a:rPr>
                <a:t>带电导体</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电荷在其表面上的分布与导体表面的曲率有关</a:t>
              </a:r>
              <a:r>
                <a:rPr lang="zh-CN" altLang="en-US" dirty="0" smtClean="0">
                  <a:solidFill>
                    <a:schemeClr val="tx1"/>
                  </a:solidFill>
                  <a:latin typeface="宋体" panose="02010600030101010101" pitchFamily="2" charset="-122"/>
                  <a:ea typeface="宋体" panose="02010600030101010101" pitchFamily="2" charset="-122"/>
                </a:rPr>
                <a:t>。</a:t>
              </a:r>
              <a:r>
                <a:rPr lang="en-US" altLang="zh-CN" i="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smtClean="0">
                  <a:solidFill>
                    <a:srgbClr val="FF0000"/>
                  </a:solidFill>
                  <a:latin typeface="Times New Roman" panose="02020603050405020304" pitchFamily="18" charset="0"/>
                  <a:cs typeface="Times New Roman" panose="02020603050405020304" pitchFamily="18" charset="0"/>
                </a:rPr>
                <a:t>∝</a:t>
              </a:r>
              <a:r>
                <a:rPr lang="el-GR" altLang="zh-CN" dirty="0" smtClean="0">
                  <a:solidFill>
                    <a:srgbClr val="FF0000"/>
                  </a:solidFill>
                  <a:latin typeface="Times New Roman" panose="02020603050405020304" pitchFamily="18" charset="0"/>
                  <a:cs typeface="Times New Roman" panose="02020603050405020304" pitchFamily="18" charset="0"/>
                </a:rPr>
                <a:t>σ</a:t>
              </a:r>
              <a:endPar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26743" name="Group 55"/>
            <p:cNvGrpSpPr>
              <a:grpSpLocks/>
            </p:cNvGrpSpPr>
            <p:nvPr/>
          </p:nvGrpSpPr>
          <p:grpSpPr bwMode="auto">
            <a:xfrm>
              <a:off x="2112" y="3216"/>
              <a:ext cx="1344" cy="480"/>
              <a:chOff x="1957" y="923"/>
              <a:chExt cx="1344" cy="480"/>
            </a:xfrm>
          </p:grpSpPr>
          <p:sp>
            <p:nvSpPr>
              <p:cNvPr id="626744" name="Freeform 56"/>
              <p:cNvSpPr>
                <a:spLocks/>
              </p:cNvSpPr>
              <p:nvPr/>
            </p:nvSpPr>
            <p:spPr bwMode="auto">
              <a:xfrm>
                <a:off x="1957" y="923"/>
                <a:ext cx="1344" cy="480"/>
              </a:xfrm>
              <a:custGeom>
                <a:avLst/>
                <a:gdLst>
                  <a:gd name="T0" fmla="*/ 1344 w 1344"/>
                  <a:gd name="T1" fmla="*/ 48 h 480"/>
                  <a:gd name="T2" fmla="*/ 1296 w 1344"/>
                  <a:gd name="T3" fmla="*/ 0 h 480"/>
                  <a:gd name="T4" fmla="*/ 528 w 1344"/>
                  <a:gd name="T5" fmla="*/ 0 h 480"/>
                  <a:gd name="T6" fmla="*/ 0 w 1344"/>
                  <a:gd name="T7" fmla="*/ 240 h 480"/>
                  <a:gd name="T8" fmla="*/ 480 w 1344"/>
                  <a:gd name="T9" fmla="*/ 480 h 480"/>
                  <a:gd name="T10" fmla="*/ 1296 w 1344"/>
                  <a:gd name="T11" fmla="*/ 480 h 480"/>
                  <a:gd name="T12" fmla="*/ 1344 w 1344"/>
                  <a:gd name="T13" fmla="*/ 432 h 480"/>
                  <a:gd name="T14" fmla="*/ 960 w 1344"/>
                  <a:gd name="T15" fmla="*/ 240 h 480"/>
                  <a:gd name="T16" fmla="*/ 1344 w 1344"/>
                  <a:gd name="T17" fmla="*/ 4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4" h="480">
                    <a:moveTo>
                      <a:pt x="1344" y="48"/>
                    </a:moveTo>
                    <a:lnTo>
                      <a:pt x="1296" y="0"/>
                    </a:lnTo>
                    <a:lnTo>
                      <a:pt x="528" y="0"/>
                    </a:lnTo>
                    <a:lnTo>
                      <a:pt x="0" y="240"/>
                    </a:lnTo>
                    <a:lnTo>
                      <a:pt x="480" y="480"/>
                    </a:lnTo>
                    <a:lnTo>
                      <a:pt x="1296" y="480"/>
                    </a:lnTo>
                    <a:lnTo>
                      <a:pt x="1344" y="432"/>
                    </a:lnTo>
                    <a:lnTo>
                      <a:pt x="960" y="240"/>
                    </a:lnTo>
                    <a:lnTo>
                      <a:pt x="1344" y="48"/>
                    </a:lnTo>
                    <a:close/>
                  </a:path>
                </a:pathLst>
              </a:custGeom>
              <a:gradFill rotWithShape="1">
                <a:gsLst>
                  <a:gs pos="0">
                    <a:srgbClr val="FF66FF"/>
                  </a:gs>
                  <a:gs pos="50000">
                    <a:srgbClr val="FF66FF">
                      <a:gamma/>
                      <a:shade val="46275"/>
                      <a:invGamma/>
                    </a:srgbClr>
                  </a:gs>
                  <a:gs pos="100000">
                    <a:srgbClr val="FF66FF"/>
                  </a:gs>
                </a:gsLst>
                <a:lin ang="5400000" scaled="1"/>
              </a:gra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45" name="Text Box 57"/>
              <p:cNvSpPr txBox="1">
                <a:spLocks noChangeArrowheads="1"/>
              </p:cNvSpPr>
              <p:nvPr/>
            </p:nvSpPr>
            <p:spPr bwMode="auto">
              <a:xfrm>
                <a:off x="2467" y="958"/>
                <a:ext cx="406" cy="429"/>
              </a:xfrm>
              <a:prstGeom prst="rect">
                <a:avLst/>
              </a:prstGeom>
              <a:noFill/>
              <a:ln>
                <a:noFill/>
              </a:ln>
              <a:effectLst/>
              <a:extLst>
                <a:ext uri="{909E8E84-426E-40DD-AFC4-6F175D3DCCD1}">
                  <a14:hiddenFill xmlns:a14="http://schemas.microsoft.com/office/drawing/2010/main">
                    <a:gradFill rotWithShape="1">
                      <a:gsLst>
                        <a:gs pos="0">
                          <a:srgbClr val="FF66FF"/>
                        </a:gs>
                        <a:gs pos="50000">
                          <a:srgbClr val="FF66FF">
                            <a:gamma/>
                            <a:shade val="46275"/>
                            <a:invGamma/>
                          </a:srgbClr>
                        </a:gs>
                        <a:gs pos="100000">
                          <a:srgbClr val="FF66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44">
                    <a:latin typeface="Times New Roman" panose="02020603050405020304" pitchFamily="18" charset="0"/>
                    <a:ea typeface="楷体_GB2312" pitchFamily="49" charset="-122"/>
                  </a:rPr>
                  <a:t>孤立</a:t>
                </a:r>
              </a:p>
              <a:p>
                <a:r>
                  <a:rPr lang="zh-CN" altLang="en-US" sz="2844">
                    <a:latin typeface="Times New Roman" panose="02020603050405020304" pitchFamily="18" charset="0"/>
                    <a:ea typeface="楷体_GB2312" pitchFamily="49" charset="-122"/>
                  </a:rPr>
                  <a:t>导体</a:t>
                </a:r>
              </a:p>
            </p:txBody>
          </p:sp>
        </p:grpSp>
      </p:grpSp>
      <p:grpSp>
        <p:nvGrpSpPr>
          <p:cNvPr id="626832" name="Group 144"/>
          <p:cNvGrpSpPr>
            <a:grpSpLocks/>
          </p:cNvGrpSpPr>
          <p:nvPr/>
        </p:nvGrpSpPr>
        <p:grpSpPr bwMode="auto">
          <a:xfrm>
            <a:off x="650240" y="2167467"/>
            <a:ext cx="11756249" cy="6326294"/>
            <a:chOff x="288" y="960"/>
            <a:chExt cx="5207" cy="2802"/>
          </a:xfrm>
        </p:grpSpPr>
        <p:sp>
          <p:nvSpPr>
            <p:cNvPr id="626727" name="Rectangle 39"/>
            <p:cNvSpPr>
              <a:spLocks noChangeArrowheads="1"/>
            </p:cNvSpPr>
            <p:nvPr/>
          </p:nvSpPr>
          <p:spPr bwMode="auto">
            <a:xfrm>
              <a:off x="288" y="960"/>
              <a:ext cx="5207" cy="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spcBef>
                  <a:spcPct val="50000"/>
                </a:spcBef>
              </a:pPr>
              <a:r>
                <a:rPr lang="zh-CN" altLang="en-US" dirty="0">
                  <a:solidFill>
                    <a:schemeClr val="tx1"/>
                  </a:solidFill>
                  <a:latin typeface="宋体" panose="02010600030101010101" pitchFamily="2" charset="-122"/>
                  <a:ea typeface="宋体" panose="02010600030101010101" pitchFamily="2" charset="-122"/>
                </a:rPr>
                <a:t>在表面凸出而尖锐的地方</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曲率是正值且较大</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电荷面密度较大；</a:t>
              </a:r>
            </a:p>
          </p:txBody>
        </p:sp>
        <p:grpSp>
          <p:nvGrpSpPr>
            <p:cNvPr id="626732" name="Group 44"/>
            <p:cNvGrpSpPr>
              <a:grpSpLocks/>
            </p:cNvGrpSpPr>
            <p:nvPr/>
          </p:nvGrpSpPr>
          <p:grpSpPr bwMode="auto">
            <a:xfrm>
              <a:off x="1832" y="3324"/>
              <a:ext cx="387" cy="438"/>
              <a:chOff x="1111" y="1595"/>
              <a:chExt cx="387" cy="438"/>
            </a:xfrm>
          </p:grpSpPr>
          <p:grpSp>
            <p:nvGrpSpPr>
              <p:cNvPr id="626733" name="Group 45"/>
              <p:cNvGrpSpPr>
                <a:grpSpLocks/>
              </p:cNvGrpSpPr>
              <p:nvPr/>
            </p:nvGrpSpPr>
            <p:grpSpPr bwMode="auto">
              <a:xfrm>
                <a:off x="1111" y="1670"/>
                <a:ext cx="250" cy="363"/>
                <a:chOff x="2006" y="1776"/>
                <a:chExt cx="250" cy="363"/>
              </a:xfrm>
            </p:grpSpPr>
            <p:sp>
              <p:nvSpPr>
                <p:cNvPr id="626734" name="Text Box 46"/>
                <p:cNvSpPr txBox="1">
                  <a:spLocks noChangeArrowheads="1"/>
                </p:cNvSpPr>
                <p:nvPr/>
              </p:nvSpPr>
              <p:spPr bwMode="auto">
                <a:xfrm>
                  <a:off x="2006" y="1865"/>
                  <a:ext cx="20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i="1">
                      <a:solidFill>
                        <a:schemeClr val="tx1"/>
                      </a:solidFill>
                      <a:latin typeface="Times New Roman" panose="02020603050405020304" pitchFamily="18" charset="0"/>
                    </a:rPr>
                    <a:t>A</a:t>
                  </a:r>
                </a:p>
              </p:txBody>
            </p:sp>
            <p:sp>
              <p:nvSpPr>
                <p:cNvPr id="626735" name="Oval 47"/>
                <p:cNvSpPr>
                  <a:spLocks noChangeArrowheads="1"/>
                </p:cNvSpPr>
                <p:nvPr/>
              </p:nvSpPr>
              <p:spPr bwMode="auto">
                <a:xfrm>
                  <a:off x="2160" y="1776"/>
                  <a:ext cx="96" cy="96"/>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sp>
            <p:nvSpPr>
              <p:cNvPr id="626736" name="Oval 48"/>
              <p:cNvSpPr>
                <a:spLocks noChangeArrowheads="1"/>
              </p:cNvSpPr>
              <p:nvPr/>
            </p:nvSpPr>
            <p:spPr bwMode="auto">
              <a:xfrm>
                <a:off x="1401" y="1751"/>
                <a:ext cx="91" cy="91"/>
              </a:xfrm>
              <a:prstGeom prst="ellipse">
                <a:avLst/>
              </a:prstGeom>
              <a:solidFill>
                <a:srgbClr val="FF0000"/>
              </a:soli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37" name="Oval 49"/>
              <p:cNvSpPr>
                <a:spLocks noChangeArrowheads="1"/>
              </p:cNvSpPr>
              <p:nvPr/>
            </p:nvSpPr>
            <p:spPr bwMode="auto">
              <a:xfrm>
                <a:off x="1407" y="1595"/>
                <a:ext cx="91" cy="91"/>
              </a:xfrm>
              <a:prstGeom prst="ellipse">
                <a:avLst/>
              </a:prstGeom>
              <a:solidFill>
                <a:srgbClr val="FF0000"/>
              </a:soli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38" name="Oval 50"/>
              <p:cNvSpPr>
                <a:spLocks noChangeArrowheads="1"/>
              </p:cNvSpPr>
              <p:nvPr/>
            </p:nvSpPr>
            <p:spPr bwMode="auto">
              <a:xfrm>
                <a:off x="1329" y="1625"/>
                <a:ext cx="100" cy="90"/>
              </a:xfrm>
              <a:prstGeom prst="ellipse">
                <a:avLst/>
              </a:prstGeom>
              <a:solidFill>
                <a:srgbClr val="FF0000"/>
              </a:soli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39" name="Oval 51"/>
              <p:cNvSpPr>
                <a:spLocks noChangeArrowheads="1"/>
              </p:cNvSpPr>
              <p:nvPr/>
            </p:nvSpPr>
            <p:spPr bwMode="auto">
              <a:xfrm>
                <a:off x="1320" y="1734"/>
                <a:ext cx="91" cy="91"/>
              </a:xfrm>
              <a:prstGeom prst="ellipse">
                <a:avLst/>
              </a:prstGeom>
              <a:solidFill>
                <a:srgbClr val="FF0000"/>
              </a:soli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graphicFrame>
        <p:nvGraphicFramePr>
          <p:cNvPr id="626769" name="Object 81"/>
          <p:cNvGraphicFramePr>
            <a:graphicFrameLocks/>
          </p:cNvGraphicFramePr>
          <p:nvPr/>
        </p:nvGraphicFramePr>
        <p:xfrm>
          <a:off x="5418667" y="8344747"/>
          <a:ext cx="2167467" cy="650240"/>
        </p:xfrm>
        <a:graphic>
          <a:graphicData uri="http://schemas.openxmlformats.org/presentationml/2006/ole">
            <mc:AlternateContent xmlns:mc="http://schemas.openxmlformats.org/markup-compatibility/2006">
              <mc:Choice xmlns:v="urn:schemas-microsoft-com:vml" Requires="v">
                <p:oleObj spid="_x0000_s2390" name="公式" r:id="rId4" imgW="866857" imgH="218970" progId="Equations">
                  <p:embed/>
                </p:oleObj>
              </mc:Choice>
              <mc:Fallback>
                <p:oleObj name="公式" r:id="rId4" imgW="866857" imgH="218970" progId="Equations">
                  <p:embed/>
                  <p:pic>
                    <p:nvPicPr>
                      <p:cNvPr id="0" name="Picture 1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8667" y="8344747"/>
                        <a:ext cx="2167467" cy="650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26828" name="Group 140"/>
          <p:cNvGrpSpPr>
            <a:grpSpLocks/>
          </p:cNvGrpSpPr>
          <p:nvPr/>
        </p:nvGrpSpPr>
        <p:grpSpPr bwMode="auto">
          <a:xfrm>
            <a:off x="650241" y="4612641"/>
            <a:ext cx="11927841" cy="3483752"/>
            <a:chOff x="288" y="2043"/>
            <a:chExt cx="5283" cy="1543"/>
          </a:xfrm>
        </p:grpSpPr>
        <p:sp>
          <p:nvSpPr>
            <p:cNvPr id="626741" name="Text Box 53"/>
            <p:cNvSpPr txBox="1">
              <a:spLocks noChangeArrowheads="1"/>
            </p:cNvSpPr>
            <p:nvPr/>
          </p:nvSpPr>
          <p:spPr bwMode="auto">
            <a:xfrm>
              <a:off x="288" y="2043"/>
              <a:ext cx="528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dirty="0">
                  <a:solidFill>
                    <a:schemeClr val="tx1"/>
                  </a:solidFill>
                  <a:latin typeface="宋体" panose="02010600030101010101" pitchFamily="2" charset="-122"/>
                  <a:ea typeface="宋体" panose="02010600030101010101" pitchFamily="2" charset="-122"/>
                </a:rPr>
                <a:t>在表面凹进去的地方</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曲率为负</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电荷面密度更小；</a:t>
              </a:r>
            </a:p>
          </p:txBody>
        </p:sp>
        <p:grpSp>
          <p:nvGrpSpPr>
            <p:cNvPr id="626776" name="Group 88"/>
            <p:cNvGrpSpPr>
              <a:grpSpLocks/>
            </p:cNvGrpSpPr>
            <p:nvPr/>
          </p:nvGrpSpPr>
          <p:grpSpPr bwMode="auto">
            <a:xfrm>
              <a:off x="3072" y="3312"/>
              <a:ext cx="408" cy="274"/>
              <a:chOff x="3264" y="1673"/>
              <a:chExt cx="408" cy="274"/>
            </a:xfrm>
          </p:grpSpPr>
          <p:sp>
            <p:nvSpPr>
              <p:cNvPr id="626777" name="Text Box 89"/>
              <p:cNvSpPr txBox="1">
                <a:spLocks noChangeArrowheads="1"/>
              </p:cNvSpPr>
              <p:nvPr/>
            </p:nvSpPr>
            <p:spPr bwMode="auto">
              <a:xfrm>
                <a:off x="3461" y="1673"/>
                <a:ext cx="21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i="1">
                    <a:solidFill>
                      <a:schemeClr val="tx1"/>
                    </a:solidFill>
                    <a:latin typeface="Times New Roman" panose="02020603050405020304" pitchFamily="18" charset="0"/>
                    <a:ea typeface="楷体_GB2312" pitchFamily="49" charset="-122"/>
                  </a:rPr>
                  <a:t>C</a:t>
                </a:r>
              </a:p>
            </p:txBody>
          </p:sp>
          <p:sp>
            <p:nvSpPr>
              <p:cNvPr id="626778" name="Oval 90"/>
              <p:cNvSpPr>
                <a:spLocks noChangeArrowheads="1"/>
              </p:cNvSpPr>
              <p:nvPr/>
            </p:nvSpPr>
            <p:spPr bwMode="auto">
              <a:xfrm>
                <a:off x="3264" y="1750"/>
                <a:ext cx="96" cy="96"/>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grpSp>
        <p:nvGrpSpPr>
          <p:cNvPr id="626827" name="Group 139"/>
          <p:cNvGrpSpPr>
            <a:grpSpLocks/>
          </p:cNvGrpSpPr>
          <p:nvPr/>
        </p:nvGrpSpPr>
        <p:grpSpPr bwMode="auto">
          <a:xfrm>
            <a:off x="650240" y="3793068"/>
            <a:ext cx="11921067" cy="3467947"/>
            <a:chOff x="288" y="1680"/>
            <a:chExt cx="5280" cy="1536"/>
          </a:xfrm>
        </p:grpSpPr>
        <p:sp>
          <p:nvSpPr>
            <p:cNvPr id="626740" name="Text Box 52"/>
            <p:cNvSpPr txBox="1">
              <a:spLocks noChangeArrowheads="1"/>
            </p:cNvSpPr>
            <p:nvPr/>
          </p:nvSpPr>
          <p:spPr bwMode="auto">
            <a:xfrm>
              <a:off x="288" y="1680"/>
              <a:ext cx="5280"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dirty="0">
                  <a:solidFill>
                    <a:schemeClr val="tx1"/>
                  </a:solidFill>
                  <a:latin typeface="宋体" panose="02010600030101010101" pitchFamily="2" charset="-122"/>
                  <a:ea typeface="宋体" panose="02010600030101010101" pitchFamily="2" charset="-122"/>
                </a:rPr>
                <a:t>在表面平坦的地方</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曲率较小</a:t>
              </a:r>
              <a:r>
                <a:rPr lang="en-US" altLang="zh-CN"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电荷面密度较小；</a:t>
              </a:r>
            </a:p>
          </p:txBody>
        </p:sp>
        <p:grpSp>
          <p:nvGrpSpPr>
            <p:cNvPr id="626799" name="Group 111"/>
            <p:cNvGrpSpPr>
              <a:grpSpLocks/>
            </p:cNvGrpSpPr>
            <p:nvPr/>
          </p:nvGrpSpPr>
          <p:grpSpPr bwMode="auto">
            <a:xfrm>
              <a:off x="2784" y="2832"/>
              <a:ext cx="384" cy="384"/>
              <a:chOff x="2784" y="960"/>
              <a:chExt cx="384" cy="384"/>
            </a:xfrm>
          </p:grpSpPr>
          <p:sp>
            <p:nvSpPr>
              <p:cNvPr id="626774" name="Text Box 86"/>
              <p:cNvSpPr txBox="1">
                <a:spLocks noChangeArrowheads="1"/>
              </p:cNvSpPr>
              <p:nvPr/>
            </p:nvSpPr>
            <p:spPr bwMode="auto">
              <a:xfrm>
                <a:off x="2880" y="960"/>
                <a:ext cx="20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i="1">
                    <a:solidFill>
                      <a:schemeClr val="tx1"/>
                    </a:solidFill>
                    <a:latin typeface="Times New Roman" panose="02020603050405020304" pitchFamily="18" charset="0"/>
                    <a:ea typeface="楷体_GB2312" pitchFamily="49" charset="-122"/>
                  </a:rPr>
                  <a:t>B</a:t>
                </a:r>
              </a:p>
            </p:txBody>
          </p:sp>
          <p:sp>
            <p:nvSpPr>
              <p:cNvPr id="626775" name="Oval 87"/>
              <p:cNvSpPr>
                <a:spLocks noChangeArrowheads="1"/>
              </p:cNvSpPr>
              <p:nvPr/>
            </p:nvSpPr>
            <p:spPr bwMode="auto">
              <a:xfrm>
                <a:off x="2928" y="1238"/>
                <a:ext cx="96" cy="96"/>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97" name="Oval 109"/>
              <p:cNvSpPr>
                <a:spLocks noChangeArrowheads="1"/>
              </p:cNvSpPr>
              <p:nvPr/>
            </p:nvSpPr>
            <p:spPr bwMode="auto">
              <a:xfrm>
                <a:off x="2784" y="1248"/>
                <a:ext cx="96" cy="96"/>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626798" name="Oval 110"/>
              <p:cNvSpPr>
                <a:spLocks noChangeArrowheads="1"/>
              </p:cNvSpPr>
              <p:nvPr/>
            </p:nvSpPr>
            <p:spPr bwMode="auto">
              <a:xfrm>
                <a:off x="3072" y="1248"/>
                <a:ext cx="96" cy="96"/>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grpSp>
      <p:grpSp>
        <p:nvGrpSpPr>
          <p:cNvPr id="626829" name="Group 141"/>
          <p:cNvGrpSpPr>
            <a:grpSpLocks/>
          </p:cNvGrpSpPr>
          <p:nvPr/>
        </p:nvGrpSpPr>
        <p:grpSpPr bwMode="auto">
          <a:xfrm>
            <a:off x="325120" y="5201921"/>
            <a:ext cx="12679680" cy="3734364"/>
            <a:chOff x="144" y="2304"/>
            <a:chExt cx="5616" cy="1654"/>
          </a:xfrm>
        </p:grpSpPr>
        <p:sp>
          <p:nvSpPr>
            <p:cNvPr id="626725" name="Text Box 37"/>
            <p:cNvSpPr txBox="1">
              <a:spLocks noChangeArrowheads="1"/>
            </p:cNvSpPr>
            <p:nvPr/>
          </p:nvSpPr>
          <p:spPr bwMode="auto">
            <a:xfrm>
              <a:off x="4685" y="2976"/>
              <a:ext cx="547"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3413">
                  <a:solidFill>
                    <a:schemeClr val="tx1"/>
                  </a:solidFill>
                  <a:latin typeface="宋体" panose="02010600030101010101" pitchFamily="2" charset="-122"/>
                </a:rPr>
                <a:t>导体球</a:t>
              </a:r>
            </a:p>
            <a:p>
              <a:r>
                <a:rPr lang="zh-CN" altLang="en-US" sz="3413">
                  <a:solidFill>
                    <a:schemeClr val="tx1"/>
                  </a:solidFill>
                  <a:latin typeface="宋体" panose="02010600030101010101" pitchFamily="2" charset="-122"/>
                </a:rPr>
                <a:t>孤立带电</a:t>
              </a:r>
            </a:p>
          </p:txBody>
        </p:sp>
        <p:sp>
          <p:nvSpPr>
            <p:cNvPr id="626742" name="Text Box 54"/>
            <p:cNvSpPr txBox="1">
              <a:spLocks noChangeArrowheads="1"/>
            </p:cNvSpPr>
            <p:nvPr/>
          </p:nvSpPr>
          <p:spPr bwMode="auto">
            <a:xfrm>
              <a:off x="144" y="2304"/>
              <a:ext cx="5616" cy="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zh-CN" sz="5120" dirty="0">
                  <a:solidFill>
                    <a:schemeClr val="tx1"/>
                  </a:solidFill>
                </a:rPr>
                <a:t> </a:t>
              </a:r>
              <a:r>
                <a:rPr lang="zh-CN" altLang="en-US" dirty="0" smtClean="0">
                  <a:solidFill>
                    <a:schemeClr val="tx1"/>
                  </a:solidFill>
                  <a:latin typeface="宋体" panose="02010600030101010101" pitchFamily="2" charset="-122"/>
                  <a:ea typeface="宋体" panose="02010600030101010101" pitchFamily="2" charset="-122"/>
                </a:rPr>
                <a:t>孤立</a:t>
              </a:r>
              <a:r>
                <a:rPr lang="zh-CN" altLang="en-US" dirty="0">
                  <a:solidFill>
                    <a:schemeClr val="tx1"/>
                  </a:solidFill>
                  <a:latin typeface="宋体" panose="02010600030101010101" pitchFamily="2" charset="-122"/>
                  <a:ea typeface="宋体" panose="02010600030101010101" pitchFamily="2" charset="-122"/>
                </a:rPr>
                <a:t>球形导体（各部分曲率相同）表面电荷均匀分布。</a:t>
              </a:r>
            </a:p>
          </p:txBody>
        </p:sp>
        <p:grpSp>
          <p:nvGrpSpPr>
            <p:cNvPr id="626800" name="Group 112"/>
            <p:cNvGrpSpPr>
              <a:grpSpLocks/>
            </p:cNvGrpSpPr>
            <p:nvPr/>
          </p:nvGrpSpPr>
          <p:grpSpPr bwMode="auto">
            <a:xfrm>
              <a:off x="4001" y="3024"/>
              <a:ext cx="735" cy="776"/>
              <a:chOff x="4241" y="1200"/>
              <a:chExt cx="735" cy="776"/>
            </a:xfrm>
          </p:grpSpPr>
          <p:sp>
            <p:nvSpPr>
              <p:cNvPr id="626801" name="Oval 113"/>
              <p:cNvSpPr>
                <a:spLocks noChangeArrowheads="1"/>
              </p:cNvSpPr>
              <p:nvPr/>
            </p:nvSpPr>
            <p:spPr bwMode="auto">
              <a:xfrm>
                <a:off x="4272" y="1260"/>
                <a:ext cx="672" cy="672"/>
              </a:xfrm>
              <a:prstGeom prst="ellipse">
                <a:avLst/>
              </a:prstGeom>
              <a:gradFill rotWithShape="1">
                <a:gsLst>
                  <a:gs pos="0">
                    <a:srgbClr val="FF66FF"/>
                  </a:gs>
                  <a:gs pos="100000">
                    <a:srgbClr val="FF66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3413">
                  <a:solidFill>
                    <a:schemeClr val="tx2"/>
                  </a:solidFill>
                  <a:latin typeface="Times New Roman" panose="02020603050405020304" pitchFamily="18" charset="0"/>
                  <a:ea typeface="楷体_GB2312" pitchFamily="49" charset="-122"/>
                </a:endParaRPr>
              </a:p>
            </p:txBody>
          </p:sp>
          <p:sp>
            <p:nvSpPr>
              <p:cNvPr id="626802" name="Text Box 114"/>
              <p:cNvSpPr txBox="1">
                <a:spLocks noChangeArrowheads="1"/>
              </p:cNvSpPr>
              <p:nvPr/>
            </p:nvSpPr>
            <p:spPr bwMode="auto">
              <a:xfrm>
                <a:off x="4529" y="1200"/>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3" name="Text Box 115"/>
              <p:cNvSpPr txBox="1">
                <a:spLocks noChangeArrowheads="1"/>
              </p:cNvSpPr>
              <p:nvPr/>
            </p:nvSpPr>
            <p:spPr bwMode="auto">
              <a:xfrm>
                <a:off x="4629" y="122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4" name="Text Box 116"/>
              <p:cNvSpPr txBox="1">
                <a:spLocks noChangeArrowheads="1"/>
              </p:cNvSpPr>
              <p:nvPr/>
            </p:nvSpPr>
            <p:spPr bwMode="auto">
              <a:xfrm>
                <a:off x="4717" y="126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5" name="Text Box 117"/>
              <p:cNvSpPr txBox="1">
                <a:spLocks noChangeArrowheads="1"/>
              </p:cNvSpPr>
              <p:nvPr/>
            </p:nvSpPr>
            <p:spPr bwMode="auto">
              <a:xfrm>
                <a:off x="4781" y="1340"/>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6" name="Text Box 118"/>
              <p:cNvSpPr txBox="1">
                <a:spLocks noChangeArrowheads="1"/>
              </p:cNvSpPr>
              <p:nvPr/>
            </p:nvSpPr>
            <p:spPr bwMode="auto">
              <a:xfrm>
                <a:off x="4817" y="1420"/>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7" name="Text Box 119"/>
              <p:cNvSpPr txBox="1">
                <a:spLocks noChangeArrowheads="1"/>
              </p:cNvSpPr>
              <p:nvPr/>
            </p:nvSpPr>
            <p:spPr bwMode="auto">
              <a:xfrm>
                <a:off x="4821" y="1516"/>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8" name="Text Box 120"/>
              <p:cNvSpPr txBox="1">
                <a:spLocks noChangeArrowheads="1"/>
              </p:cNvSpPr>
              <p:nvPr/>
            </p:nvSpPr>
            <p:spPr bwMode="auto">
              <a:xfrm>
                <a:off x="4785" y="1616"/>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09" name="Text Box 121"/>
              <p:cNvSpPr txBox="1">
                <a:spLocks noChangeArrowheads="1"/>
              </p:cNvSpPr>
              <p:nvPr/>
            </p:nvSpPr>
            <p:spPr bwMode="auto">
              <a:xfrm>
                <a:off x="4741" y="170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0" name="Text Box 122"/>
              <p:cNvSpPr txBox="1">
                <a:spLocks noChangeArrowheads="1"/>
              </p:cNvSpPr>
              <p:nvPr/>
            </p:nvSpPr>
            <p:spPr bwMode="auto">
              <a:xfrm>
                <a:off x="4653" y="174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1" name="Text Box 123"/>
              <p:cNvSpPr txBox="1">
                <a:spLocks noChangeArrowheads="1"/>
              </p:cNvSpPr>
              <p:nvPr/>
            </p:nvSpPr>
            <p:spPr bwMode="auto">
              <a:xfrm>
                <a:off x="4577" y="1780"/>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2" name="Text Box 124"/>
              <p:cNvSpPr txBox="1">
                <a:spLocks noChangeArrowheads="1"/>
              </p:cNvSpPr>
              <p:nvPr/>
            </p:nvSpPr>
            <p:spPr bwMode="auto">
              <a:xfrm>
                <a:off x="4481" y="1776"/>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3" name="Text Box 125"/>
              <p:cNvSpPr txBox="1">
                <a:spLocks noChangeArrowheads="1"/>
              </p:cNvSpPr>
              <p:nvPr/>
            </p:nvSpPr>
            <p:spPr bwMode="auto">
              <a:xfrm>
                <a:off x="4401" y="1744"/>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4" name="Text Box 126"/>
              <p:cNvSpPr txBox="1">
                <a:spLocks noChangeArrowheads="1"/>
              </p:cNvSpPr>
              <p:nvPr/>
            </p:nvSpPr>
            <p:spPr bwMode="auto">
              <a:xfrm>
                <a:off x="4325" y="168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5" name="Text Box 127"/>
              <p:cNvSpPr txBox="1">
                <a:spLocks noChangeArrowheads="1"/>
              </p:cNvSpPr>
              <p:nvPr/>
            </p:nvSpPr>
            <p:spPr bwMode="auto">
              <a:xfrm>
                <a:off x="4273" y="1616"/>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6" name="Text Box 128"/>
              <p:cNvSpPr txBox="1">
                <a:spLocks noChangeArrowheads="1"/>
              </p:cNvSpPr>
              <p:nvPr/>
            </p:nvSpPr>
            <p:spPr bwMode="auto">
              <a:xfrm>
                <a:off x="4241" y="1536"/>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7" name="Text Box 129"/>
              <p:cNvSpPr txBox="1">
                <a:spLocks noChangeArrowheads="1"/>
              </p:cNvSpPr>
              <p:nvPr/>
            </p:nvSpPr>
            <p:spPr bwMode="auto">
              <a:xfrm>
                <a:off x="4241" y="1440"/>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8" name="Text Box 130"/>
              <p:cNvSpPr txBox="1">
                <a:spLocks noChangeArrowheads="1"/>
              </p:cNvSpPr>
              <p:nvPr/>
            </p:nvSpPr>
            <p:spPr bwMode="auto">
              <a:xfrm>
                <a:off x="4281" y="1344"/>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19" name="Text Box 131"/>
              <p:cNvSpPr txBox="1">
                <a:spLocks noChangeArrowheads="1"/>
              </p:cNvSpPr>
              <p:nvPr/>
            </p:nvSpPr>
            <p:spPr bwMode="auto">
              <a:xfrm>
                <a:off x="4337" y="1264"/>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sp>
            <p:nvSpPr>
              <p:cNvPr id="626820" name="Text Box 132"/>
              <p:cNvSpPr txBox="1">
                <a:spLocks noChangeArrowheads="1"/>
              </p:cNvSpPr>
              <p:nvPr/>
            </p:nvSpPr>
            <p:spPr bwMode="auto">
              <a:xfrm>
                <a:off x="4425" y="1228"/>
                <a:ext cx="15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76">
                    <a:solidFill>
                      <a:schemeClr val="tx2"/>
                    </a:solidFill>
                    <a:latin typeface="Times New Roman" panose="02020603050405020304" pitchFamily="18" charset="0"/>
                    <a:ea typeface="楷体_GB2312" pitchFamily="49" charset="-122"/>
                  </a:rPr>
                  <a:t>+</a:t>
                </a:r>
              </a:p>
            </p:txBody>
          </p:sp>
        </p:grpSp>
        <p:graphicFrame>
          <p:nvGraphicFramePr>
            <p:cNvPr id="626821" name="Object 133"/>
            <p:cNvGraphicFramePr>
              <a:graphicFrameLocks noChangeAspect="1"/>
            </p:cNvGraphicFramePr>
            <p:nvPr/>
          </p:nvGraphicFramePr>
          <p:xfrm>
            <a:off x="4080" y="3312"/>
            <a:ext cx="528" cy="246"/>
          </p:xfrm>
          <a:graphic>
            <a:graphicData uri="http://schemas.openxmlformats.org/presentationml/2006/ole">
              <mc:AlternateContent xmlns:mc="http://schemas.openxmlformats.org/markup-compatibility/2006">
                <mc:Choice xmlns:v="urn:schemas-microsoft-com:vml" Requires="v">
                  <p:oleObj spid="_x0000_s2391" name="Equation" r:id="rId6" imgW="361978" imgH="133380" progId="Equations">
                    <p:embed/>
                  </p:oleObj>
                </mc:Choice>
                <mc:Fallback>
                  <p:oleObj name="Equation" r:id="rId6" imgW="361978" imgH="133380" progId="Equations">
                    <p:embed/>
                    <p:pic>
                      <p:nvPicPr>
                        <p:cNvPr id="0" name="Picture 1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0" y="3312"/>
                          <a:ext cx="52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00180802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665734" y="1924472"/>
            <a:ext cx="10009112" cy="59195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FF0000"/>
                </a:solidFill>
              </a:rPr>
              <a:t>有两个带电不等的金属球，直径相等，但一个是空心，一个是实心的。现使它们互相接触，则这两个金属球上的</a:t>
            </a:r>
            <a:r>
              <a:rPr lang="zh-CN" altLang="en-US" b="1" dirty="0" smtClean="0">
                <a:solidFill>
                  <a:srgbClr val="FF0000"/>
                </a:solidFill>
              </a:rPr>
              <a:t>电荷</a:t>
            </a:r>
            <a:endParaRPr lang="en-US" altLang="zh-CN" b="1" dirty="0" smtClean="0">
              <a:solidFill>
                <a:srgbClr val="FF0000"/>
              </a:solidFill>
            </a:endParaRPr>
          </a:p>
          <a:p>
            <a:pPr algn="l" rtl="0" latinLnBrk="1" hangingPunct="0">
              <a:lnSpc>
                <a:spcPct val="150000"/>
              </a:lnSpc>
            </a:pPr>
            <a:r>
              <a:rPr lang="en-US" altLang="zh-CN" b="1" dirty="0">
                <a:solidFill>
                  <a:srgbClr val="000000"/>
                </a:solidFill>
              </a:rPr>
              <a:t>A.</a:t>
            </a:r>
            <a:r>
              <a:rPr lang="zh-CN" altLang="en-US" b="1" dirty="0">
                <a:solidFill>
                  <a:srgbClr val="000000"/>
                </a:solidFill>
              </a:rPr>
              <a:t>不变化。</a:t>
            </a:r>
          </a:p>
          <a:p>
            <a:pPr algn="l" rtl="0" latinLnBrk="1" hangingPunct="0">
              <a:lnSpc>
                <a:spcPct val="150000"/>
              </a:lnSpc>
            </a:pPr>
            <a:r>
              <a:rPr lang="en-US" altLang="zh-CN" b="1" dirty="0">
                <a:solidFill>
                  <a:srgbClr val="000000"/>
                </a:solidFill>
              </a:rPr>
              <a:t>B.</a:t>
            </a:r>
            <a:r>
              <a:rPr lang="zh-CN" altLang="en-US" b="1" dirty="0">
                <a:solidFill>
                  <a:srgbClr val="000000"/>
                </a:solidFill>
              </a:rPr>
              <a:t>平均分配。  </a:t>
            </a:r>
          </a:p>
          <a:p>
            <a:pPr algn="l" rtl="0" latinLnBrk="1" hangingPunct="0">
              <a:lnSpc>
                <a:spcPct val="150000"/>
              </a:lnSpc>
            </a:pPr>
            <a:r>
              <a:rPr lang="en-US" altLang="zh-CN" b="1" dirty="0">
                <a:solidFill>
                  <a:srgbClr val="000000"/>
                </a:solidFill>
              </a:rPr>
              <a:t>C.</a:t>
            </a:r>
            <a:r>
              <a:rPr lang="zh-CN" altLang="en-US" b="1" dirty="0">
                <a:solidFill>
                  <a:srgbClr val="000000"/>
                </a:solidFill>
              </a:rPr>
              <a:t>空心球电量多。 </a:t>
            </a:r>
          </a:p>
          <a:p>
            <a:pPr algn="l" rtl="0" latinLnBrk="1" hangingPunct="0">
              <a:lnSpc>
                <a:spcPct val="150000"/>
              </a:lnSpc>
            </a:pPr>
            <a:r>
              <a:rPr lang="en-US" altLang="zh-CN" b="1" dirty="0">
                <a:solidFill>
                  <a:srgbClr val="000000"/>
                </a:solidFill>
              </a:rPr>
              <a:t>D.</a:t>
            </a:r>
            <a:r>
              <a:rPr lang="zh-CN" altLang="en-US" b="1" dirty="0">
                <a:solidFill>
                  <a:srgbClr val="000000"/>
                </a:solidFill>
              </a:rPr>
              <a:t>实心球电量多。</a:t>
            </a:r>
          </a:p>
        </p:txBody>
      </p:sp>
      <p:sp>
        <p:nvSpPr>
          <p:cNvPr id="3" name="TextBox 2"/>
          <p:cNvSpPr txBox="1"/>
          <p:nvPr/>
        </p:nvSpPr>
        <p:spPr>
          <a:xfrm>
            <a:off x="857263" y="556320"/>
            <a:ext cx="532859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000" b="1" i="0" u="none" strike="noStrike" cap="none" spc="0" normalizeH="0" baseline="0" smtClean="0">
                <a:ln>
                  <a:noFill/>
                </a:ln>
                <a:solidFill>
                  <a:srgbClr val="0000CC"/>
                </a:solidFill>
                <a:effectLst/>
                <a:uFillTx/>
                <a:latin typeface="+mn-lt"/>
                <a:ea typeface="+mn-ea"/>
                <a:cs typeface="+mn-cs"/>
                <a:sym typeface="Helvetica Light"/>
              </a:rPr>
              <a:t>单项选择题</a:t>
            </a:r>
            <a:endParaRPr kumimoji="0" lang="zh-CN" altLang="en-US" sz="4000" b="1" i="0" u="none" strike="noStrike" cap="none" spc="0" normalizeH="0" baseline="0">
              <a:ln>
                <a:noFill/>
              </a:ln>
              <a:solidFill>
                <a:srgbClr val="0000CC"/>
              </a:solidFill>
              <a:effectLst/>
              <a:uFillTx/>
              <a:latin typeface="+mn-lt"/>
              <a:ea typeface="+mn-ea"/>
              <a:cs typeface="+mn-cs"/>
              <a:sym typeface="Helvetica Light"/>
            </a:endParaRPr>
          </a:p>
        </p:txBody>
      </p:sp>
    </p:spTree>
    <p:extLst>
      <p:ext uri="{BB962C8B-B14F-4D97-AF65-F5344CB8AC3E}">
        <p14:creationId xmlns:p14="http://schemas.microsoft.com/office/powerpoint/2010/main" val="2064986178"/>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88016" y="701040"/>
            <a:ext cx="11178584"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FF0000"/>
                </a:solidFill>
              </a:rPr>
              <a:t>有两个带电不等的金属球，直径相等，但一个是空心，一个是实心的。现使它们互相接触，则这两个金属球上的电荷</a:t>
            </a:r>
            <a:endParaRPr lang="en-US" altLang="zh-CN" sz="3200" b="1" dirty="0">
              <a:solidFill>
                <a:srgbClr val="FF0000"/>
              </a:solidFill>
            </a:endParaRP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r>
              <a:rPr lang="zh-CN" altLang="en-US" sz="3200" b="1" dirty="0">
                <a:solidFill>
                  <a:srgbClr val="000000"/>
                </a:solidFill>
              </a:rPr>
              <a:t>不变化</a:t>
            </a:r>
            <a:endParaRPr kumimoji="0" lang="zh-CN" altLang="en-US" sz="28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r>
              <a:rPr lang="zh-CN" altLang="en-US" sz="3200" b="1" dirty="0">
                <a:solidFill>
                  <a:srgbClr val="000000"/>
                </a:solidFill>
              </a:rPr>
              <a:t>平均分配</a:t>
            </a:r>
            <a:endParaRPr kumimoji="0" lang="zh-CN" altLang="en-US" sz="28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r>
              <a:rPr lang="zh-CN" altLang="en-US" sz="3200" b="1" dirty="0">
                <a:solidFill>
                  <a:srgbClr val="000000"/>
                </a:solidFill>
              </a:rPr>
              <a:t>空心球电量多</a:t>
            </a:r>
            <a:endParaRPr kumimoji="0" lang="zh-CN" altLang="en-US" sz="28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r>
              <a:rPr lang="zh-CN" altLang="en-US" sz="3200" b="1" dirty="0">
                <a:solidFill>
                  <a:srgbClr val="000000"/>
                </a:solidFill>
              </a:rPr>
              <a:t>实心球电量多</a:t>
            </a:r>
            <a:endParaRPr kumimoji="0" lang="zh-CN" altLang="en-US" sz="28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椭圆 7"/>
          <p:cNvSpPr>
            <a:spLocks noChangeAspect="1"/>
          </p:cNvSpPr>
          <p:nvPr>
            <p:custDataLst>
              <p:tags r:id="rId7"/>
            </p:custDataLst>
          </p:nvPr>
        </p:nvSpPr>
        <p:spPr>
          <a:xfrm>
            <a:off x="1584960" y="40538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584960" y="5273040"/>
            <a:ext cx="731520" cy="731520"/>
          </a:xfrm>
          <a:prstGeom prst="ellipse">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584960" y="64922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584960" y="77114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620693074"/>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5" name="Text Box 5"/>
          <p:cNvSpPr txBox="1">
            <a:spLocks noChangeArrowheads="1"/>
          </p:cNvSpPr>
          <p:nvPr/>
        </p:nvSpPr>
        <p:spPr bwMode="auto">
          <a:xfrm>
            <a:off x="325121" y="196280"/>
            <a:ext cx="4759396" cy="688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8000" tIns="66560" rIns="128000" bIns="66560">
            <a:spAutoFit/>
          </a:bodyPr>
          <a:lstStyle/>
          <a:p>
            <a:pPr algn="l">
              <a:spcBef>
                <a:spcPct val="50000"/>
              </a:spcBef>
            </a:pPr>
            <a:r>
              <a:rPr lang="zh-CN" altLang="en-US" b="1" dirty="0">
                <a:solidFill>
                  <a:srgbClr val="0000FF"/>
                </a:solidFill>
                <a:latin typeface="宋体" pitchFamily="2" charset="-122"/>
                <a:ea typeface="宋体" pitchFamily="2" charset="-122"/>
              </a:rPr>
              <a:t>尖端放电现象</a:t>
            </a:r>
          </a:p>
        </p:txBody>
      </p:sp>
      <p:sp>
        <p:nvSpPr>
          <p:cNvPr id="629766" name="Text Box 6"/>
          <p:cNvSpPr txBox="1">
            <a:spLocks noChangeArrowheads="1"/>
          </p:cNvSpPr>
          <p:nvPr/>
        </p:nvSpPr>
        <p:spPr bwMode="auto">
          <a:xfrm>
            <a:off x="325121" y="882597"/>
            <a:ext cx="12162650" cy="262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zh-CN" altLang="en-US" sz="3413" b="1" dirty="0" smtClean="0">
                <a:solidFill>
                  <a:schemeClr val="tx1"/>
                </a:solidFill>
                <a:latin typeface="宋体" pitchFamily="2" charset="-122"/>
                <a:ea typeface="宋体" pitchFamily="2" charset="-122"/>
              </a:rPr>
              <a:t>在</a:t>
            </a:r>
            <a:r>
              <a:rPr lang="zh-CN" altLang="en-US" sz="3413" b="1" dirty="0">
                <a:solidFill>
                  <a:schemeClr val="tx1"/>
                </a:solidFill>
                <a:latin typeface="宋体" pitchFamily="2" charset="-122"/>
                <a:ea typeface="宋体" pitchFamily="2" charset="-122"/>
              </a:rPr>
              <a:t>导体的尖端附近</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由于场强很强</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空气分子中的正负电荷可能会被“撕”开（称为空气的电离），其中和导体上电荷异号的离子</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被吸引到尖端上</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与导体上的电荷相中和</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而和导体上电荷同号的离子</a:t>
            </a:r>
            <a:r>
              <a:rPr lang="en-US" altLang="zh-CN" sz="3413" b="1" dirty="0">
                <a:solidFill>
                  <a:schemeClr val="tx1"/>
                </a:solidFill>
                <a:latin typeface="宋体" pitchFamily="2" charset="-122"/>
                <a:ea typeface="宋体" pitchFamily="2" charset="-122"/>
              </a:rPr>
              <a:t>,</a:t>
            </a:r>
            <a:r>
              <a:rPr lang="zh-CN" altLang="en-US" sz="3413" b="1" dirty="0">
                <a:solidFill>
                  <a:schemeClr val="tx1"/>
                </a:solidFill>
                <a:latin typeface="宋体" pitchFamily="2" charset="-122"/>
                <a:ea typeface="宋体" pitchFamily="2" charset="-122"/>
              </a:rPr>
              <a:t>则被排斥而离开尖端，这种现象称为</a:t>
            </a:r>
            <a:r>
              <a:rPr lang="zh-CN" altLang="en-US" sz="3413" b="1" dirty="0">
                <a:solidFill>
                  <a:srgbClr val="EC2A0A"/>
                </a:solidFill>
                <a:latin typeface="宋体" pitchFamily="2" charset="-122"/>
                <a:ea typeface="宋体" pitchFamily="2" charset="-122"/>
              </a:rPr>
              <a:t>尖端放电现象。</a:t>
            </a:r>
          </a:p>
        </p:txBody>
      </p:sp>
      <p:sp>
        <p:nvSpPr>
          <p:cNvPr id="629816" name="Text Box 56"/>
          <p:cNvSpPr txBox="1">
            <a:spLocks noChangeArrowheads="1"/>
          </p:cNvSpPr>
          <p:nvPr/>
        </p:nvSpPr>
        <p:spPr bwMode="auto">
          <a:xfrm>
            <a:off x="2830513" y="8736737"/>
            <a:ext cx="7560319" cy="88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560">
                <a:solidFill>
                  <a:schemeClr val="tx1"/>
                </a:solidFill>
                <a:latin typeface="楷体_GB2312" pitchFamily="49" charset="-122"/>
                <a:ea typeface="楷体_GB2312" pitchFamily="49" charset="-122"/>
              </a:rPr>
              <a:t>该</a:t>
            </a:r>
            <a:r>
              <a:rPr lang="en-US" altLang="zh-CN" sz="2560">
                <a:solidFill>
                  <a:schemeClr val="tx1"/>
                </a:solidFill>
                <a:latin typeface="楷体_GB2312" pitchFamily="49" charset="-122"/>
                <a:ea typeface="楷体_GB2312" pitchFamily="49" charset="-122"/>
              </a:rPr>
              <a:t>flash</a:t>
            </a:r>
            <a:r>
              <a:rPr lang="zh-CN" altLang="en-US" sz="2560">
                <a:solidFill>
                  <a:schemeClr val="tx1"/>
                </a:solidFill>
                <a:latin typeface="楷体_GB2312" pitchFamily="49" charset="-122"/>
                <a:ea typeface="楷体_GB2312" pitchFamily="49" charset="-122"/>
              </a:rPr>
              <a:t>来自</a:t>
            </a:r>
            <a:r>
              <a:rPr lang="en-US" altLang="zh-CN" sz="2560">
                <a:solidFill>
                  <a:schemeClr val="tx1"/>
                </a:solidFill>
                <a:latin typeface="Times New Roman" panose="02020603050405020304" pitchFamily="18" charset="0"/>
              </a:rPr>
              <a:t>http://www.eku.cc/mfdowload.asp?id=451665&amp;zy=kj</a:t>
            </a:r>
          </a:p>
        </p:txBody>
      </p:sp>
      <p:sp>
        <p:nvSpPr>
          <p:cNvPr id="2" name="TextBox 1"/>
          <p:cNvSpPr txBox="1"/>
          <p:nvPr/>
        </p:nvSpPr>
        <p:spPr>
          <a:xfrm>
            <a:off x="317705" y="6068060"/>
            <a:ext cx="2271323"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0" i="0" u="none" strike="noStrike" cap="none" spc="0" normalizeH="0" baseline="0" dirty="0" smtClean="0">
                <a:ln>
                  <a:noFill/>
                </a:ln>
                <a:solidFill>
                  <a:srgbClr val="000000"/>
                </a:solidFill>
                <a:effectLst/>
                <a:uFillTx/>
                <a:latin typeface="+mn-lt"/>
                <a:ea typeface="+mn-ea"/>
                <a:cs typeface="+mn-cs"/>
                <a:sym typeface="Helvetica Light"/>
              </a:rPr>
              <a:t>静电吹蜡</a:t>
            </a:r>
            <a:endParaRPr kumimoji="0" lang="zh-CN" altLang="en-US" sz="3600" b="0" i="0" u="none" strike="noStrike" cap="none" spc="0" normalizeH="0" baseline="0" dirty="0">
              <a:ln>
                <a:noFill/>
              </a:ln>
              <a:solidFill>
                <a:srgbClr val="000000"/>
              </a:solidFill>
              <a:effectLst/>
              <a:uFillTx/>
              <a:latin typeface="+mn-lt"/>
              <a:ea typeface="+mn-ea"/>
              <a:cs typeface="+mn-cs"/>
              <a:sym typeface="Helvetica Light"/>
            </a:endParaRPr>
          </a:p>
        </p:txBody>
      </p:sp>
    </p:spTree>
    <p:controls>
      <mc:AlternateContent xmlns:mc="http://schemas.openxmlformats.org/markup-compatibility/2006">
        <mc:Choice xmlns:v="urn:schemas-microsoft-com:vml" Requires="v">
          <p:control spid="3194" name="ShockwaveFlash1" r:id="rId2" imgW="1828800" imgH="1828800"/>
        </mc:Choice>
        <mc:Fallback>
          <p:control name="ShockwaveFlash1" r:id="rId2" imgW="1828800" imgH="1828800">
            <p:pic>
              <p:nvPicPr>
                <p:cNvPr id="3" name="ShockwaveFlash1"/>
                <p:cNvPicPr preferRelativeResize="0">
                  <a:picLocks noChangeArrowheads="1" noChangeShapeType="1"/>
                </p:cNvPicPr>
                <p:nvPr/>
              </p:nvPicPr>
              <p:blipFill>
                <a:blip r:embed="rId5"/>
                <a:srcRect/>
                <a:stretch>
                  <a:fillRect/>
                </a:stretch>
              </p:blipFill>
              <p:spPr bwMode="auto">
                <a:xfrm>
                  <a:off x="2614613" y="3695700"/>
                  <a:ext cx="8445500" cy="60579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708349173"/>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5" name="Rectangle 5"/>
          <p:cNvSpPr>
            <a:spLocks noChangeArrowheads="1"/>
          </p:cNvSpPr>
          <p:nvPr/>
        </p:nvSpPr>
        <p:spPr bwMode="auto">
          <a:xfrm>
            <a:off x="216747" y="1442015"/>
            <a:ext cx="126223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b="1" smtClean="0">
                <a:solidFill>
                  <a:srgbClr val="0000FF"/>
                </a:solidFill>
                <a:latin typeface="宋体" pitchFamily="2" charset="-122"/>
                <a:ea typeface="宋体" pitchFamily="2" charset="-122"/>
              </a:rPr>
              <a:t>避雷针</a:t>
            </a:r>
            <a:r>
              <a:rPr lang="zh-CN" altLang="en-US" b="1" dirty="0">
                <a:solidFill>
                  <a:srgbClr val="0000FF"/>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利用尖端放电原理使建筑物尽量避免“雷击”的设备。       </a:t>
            </a:r>
          </a:p>
        </p:txBody>
      </p:sp>
      <p:sp>
        <p:nvSpPr>
          <p:cNvPr id="670726" name="Text Box 6"/>
          <p:cNvSpPr txBox="1">
            <a:spLocks noChangeArrowheads="1"/>
          </p:cNvSpPr>
          <p:nvPr/>
        </p:nvSpPr>
        <p:spPr bwMode="auto">
          <a:xfrm>
            <a:off x="325120" y="575735"/>
            <a:ext cx="64171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solidFill>
                  <a:srgbClr val="0000FF"/>
                </a:solidFill>
                <a:latin typeface="宋体" pitchFamily="2" charset="-122"/>
                <a:ea typeface="宋体" pitchFamily="2" charset="-122"/>
              </a:rPr>
              <a:t>尖端放电原理的</a:t>
            </a:r>
            <a:r>
              <a:rPr lang="zh-CN" altLang="en-US" b="1" dirty="0" smtClean="0">
                <a:solidFill>
                  <a:srgbClr val="0000FF"/>
                </a:solidFill>
                <a:latin typeface="宋体" pitchFamily="2" charset="-122"/>
                <a:ea typeface="宋体" pitchFamily="2" charset="-122"/>
              </a:rPr>
              <a:t>应用</a:t>
            </a:r>
            <a:r>
              <a:rPr lang="en-US" altLang="zh-CN" b="1" dirty="0" smtClean="0">
                <a:solidFill>
                  <a:srgbClr val="0000FF"/>
                </a:solidFill>
                <a:latin typeface="宋体" pitchFamily="2" charset="-122"/>
                <a:ea typeface="宋体" pitchFamily="2" charset="-122"/>
              </a:rPr>
              <a:t>1</a:t>
            </a:r>
            <a:r>
              <a:rPr lang="zh-CN" altLang="en-US" b="1" dirty="0" smtClean="0">
                <a:solidFill>
                  <a:srgbClr val="0000FF"/>
                </a:solidFill>
                <a:latin typeface="宋体" pitchFamily="2" charset="-122"/>
                <a:ea typeface="宋体" pitchFamily="2" charset="-122"/>
              </a:rPr>
              <a:t>：</a:t>
            </a:r>
            <a:r>
              <a:rPr lang="zh-CN" altLang="en-US" b="1" dirty="0">
                <a:solidFill>
                  <a:srgbClr val="0000FF"/>
                </a:solidFill>
                <a:latin typeface="宋体" pitchFamily="2" charset="-122"/>
                <a:ea typeface="宋体" pitchFamily="2" charset="-122"/>
              </a:rPr>
              <a:t>避雷针</a:t>
            </a:r>
          </a:p>
        </p:txBody>
      </p:sp>
      <p:grpSp>
        <p:nvGrpSpPr>
          <p:cNvPr id="2" name="组合 1"/>
          <p:cNvGrpSpPr/>
          <p:nvPr/>
        </p:nvGrpSpPr>
        <p:grpSpPr>
          <a:xfrm>
            <a:off x="946698" y="2769943"/>
            <a:ext cx="11162453" cy="5418667"/>
            <a:chOff x="975360" y="3576320"/>
            <a:chExt cx="11162453" cy="5418667"/>
          </a:xfrm>
        </p:grpSpPr>
        <p:pic>
          <p:nvPicPr>
            <p:cNvPr id="670731"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2960" y="3576320"/>
              <a:ext cx="3395698" cy="5418667"/>
            </a:xfrm>
            <a:prstGeom prst="rect">
              <a:avLst/>
            </a:prstGeom>
            <a:noFill/>
            <a:extLst>
              <a:ext uri="{909E8E84-426E-40DD-AFC4-6F175D3DCCD1}">
                <a14:hiddenFill xmlns:a14="http://schemas.microsoft.com/office/drawing/2010/main">
                  <a:solidFill>
                    <a:srgbClr val="FFFFFF"/>
                  </a:solidFill>
                </a14:hiddenFill>
              </a:ext>
            </a:extLst>
          </p:spPr>
        </p:pic>
        <p:grpSp>
          <p:nvGrpSpPr>
            <p:cNvPr id="670732" name="Group 12"/>
            <p:cNvGrpSpPr>
              <a:grpSpLocks/>
            </p:cNvGrpSpPr>
            <p:nvPr/>
          </p:nvGrpSpPr>
          <p:grpSpPr bwMode="auto">
            <a:xfrm>
              <a:off x="8236373" y="3576320"/>
              <a:ext cx="3901440" cy="5310293"/>
              <a:chOff x="4224" y="1936"/>
              <a:chExt cx="1296" cy="2102"/>
            </a:xfrm>
          </p:grpSpPr>
          <p:pic>
            <p:nvPicPr>
              <p:cNvPr id="670733" name="Picture 13" descr="c8ab0bcefaf9ad2cb600c8e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4" y="3072"/>
                <a:ext cx="1200" cy="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0734"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4" y="1936"/>
                <a:ext cx="1296" cy="10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0737" name="Group 17"/>
            <p:cNvGrpSpPr>
              <a:grpSpLocks/>
            </p:cNvGrpSpPr>
            <p:nvPr/>
          </p:nvGrpSpPr>
          <p:grpSpPr bwMode="auto">
            <a:xfrm>
              <a:off x="975360" y="4226560"/>
              <a:ext cx="3251200" cy="4520071"/>
              <a:chOff x="432" y="2112"/>
              <a:chExt cx="1440" cy="2002"/>
            </a:xfrm>
          </p:grpSpPr>
          <p:pic>
            <p:nvPicPr>
              <p:cNvPr id="670735"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 y="2112"/>
                <a:ext cx="1440" cy="1668"/>
              </a:xfrm>
              <a:prstGeom prst="rect">
                <a:avLst/>
              </a:prstGeom>
              <a:noFill/>
              <a:extLst>
                <a:ext uri="{909E8E84-426E-40DD-AFC4-6F175D3DCCD1}">
                  <a14:hiddenFill xmlns:a14="http://schemas.microsoft.com/office/drawing/2010/main">
                    <a:solidFill>
                      <a:srgbClr val="FFFFFF"/>
                    </a:solidFill>
                  </a14:hiddenFill>
                </a:ext>
              </a:extLst>
            </p:spPr>
          </p:pic>
          <p:sp>
            <p:nvSpPr>
              <p:cNvPr id="670736" name="Text Box 16"/>
              <p:cNvSpPr txBox="1">
                <a:spLocks noChangeArrowheads="1"/>
              </p:cNvSpPr>
              <p:nvPr/>
            </p:nvSpPr>
            <p:spPr bwMode="auto">
              <a:xfrm>
                <a:off x="768" y="3840"/>
                <a:ext cx="96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413">
                    <a:solidFill>
                      <a:srgbClr val="0000FF"/>
                    </a:solidFill>
                    <a:latin typeface="楷体_GB2312" pitchFamily="49" charset="-122"/>
                    <a:ea typeface="楷体_GB2312" pitchFamily="49" charset="-122"/>
                  </a:rPr>
                  <a:t>富兰克林</a:t>
                </a:r>
              </a:p>
            </p:txBody>
          </p:sp>
        </p:grpSp>
      </p:grpSp>
    </p:spTree>
    <p:extLst>
      <p:ext uri="{BB962C8B-B14F-4D97-AF65-F5344CB8AC3E}">
        <p14:creationId xmlns:p14="http://schemas.microsoft.com/office/powerpoint/2010/main" val="1441512824"/>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ChangeArrowheads="1"/>
          </p:cNvSpPr>
          <p:nvPr/>
        </p:nvSpPr>
        <p:spPr bwMode="auto">
          <a:xfrm>
            <a:off x="1517227" y="3034453"/>
            <a:ext cx="9970347" cy="5852160"/>
          </a:xfrm>
          <a:prstGeom prst="rect">
            <a:avLst/>
          </a:prstGeom>
          <a:solidFill>
            <a:srgbClr val="C0C0C0"/>
          </a:solidFill>
          <a:ln w="9525">
            <a:solidFill>
              <a:srgbClr val="000000"/>
            </a:solidFill>
            <a:miter lim="800000"/>
            <a:headEnd/>
            <a:tailEnd/>
          </a:ln>
          <a:effectLst>
            <a:outerShdw dist="107763" dir="18900000" algn="ctr" rotWithShape="0">
              <a:srgbClr val="808080"/>
            </a:outerShdw>
          </a:effectLst>
        </p:spPr>
        <p:txBody>
          <a:bodyPr wrap="none" anchor="ctr"/>
          <a:lstStyle/>
          <a:p>
            <a:endParaRPr lang="zh-CN" altLang="en-US" sz="5120"/>
          </a:p>
        </p:txBody>
      </p:sp>
      <p:sp>
        <p:nvSpPr>
          <p:cNvPr id="842755" name="AutoShape 3"/>
          <p:cNvSpPr>
            <a:spLocks noChangeArrowheads="1"/>
          </p:cNvSpPr>
          <p:nvPr/>
        </p:nvSpPr>
        <p:spPr bwMode="auto">
          <a:xfrm>
            <a:off x="7694507" y="1928142"/>
            <a:ext cx="3684693" cy="1408853"/>
          </a:xfrm>
          <a:prstGeom prst="cloudCallout">
            <a:avLst>
              <a:gd name="adj1" fmla="val -57292"/>
              <a:gd name="adj2" fmla="val 46954"/>
            </a:avLst>
          </a:prstGeom>
          <a:gradFill rotWithShape="0">
            <a:gsLst>
              <a:gs pos="0">
                <a:srgbClr val="9F9FE7"/>
              </a:gs>
              <a:gs pos="100000">
                <a:srgbClr val="FFFFFF"/>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4551">
              <a:solidFill>
                <a:schemeClr val="tx1"/>
              </a:solidFill>
              <a:latin typeface="Times New Roman" panose="02020603050405020304" pitchFamily="18" charset="0"/>
            </a:endParaRPr>
          </a:p>
        </p:txBody>
      </p:sp>
      <p:sp>
        <p:nvSpPr>
          <p:cNvPr id="842757" name="AutoShape 5"/>
          <p:cNvSpPr>
            <a:spLocks noChangeArrowheads="1"/>
          </p:cNvSpPr>
          <p:nvPr/>
        </p:nvSpPr>
        <p:spPr bwMode="auto">
          <a:xfrm flipH="1">
            <a:off x="5310293" y="3228622"/>
            <a:ext cx="2492587" cy="541867"/>
          </a:xfrm>
          <a:prstGeom prst="lightningBol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759" name="Line 7"/>
          <p:cNvSpPr>
            <a:spLocks noChangeShapeType="1"/>
          </p:cNvSpPr>
          <p:nvPr/>
        </p:nvSpPr>
        <p:spPr bwMode="auto">
          <a:xfrm>
            <a:off x="6610774" y="4226561"/>
            <a:ext cx="36124" cy="46555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760" name="Line 8"/>
          <p:cNvSpPr>
            <a:spLocks noChangeShapeType="1"/>
          </p:cNvSpPr>
          <p:nvPr/>
        </p:nvSpPr>
        <p:spPr bwMode="auto">
          <a:xfrm>
            <a:off x="6357902" y="8690187"/>
            <a:ext cx="5418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761" name="Line 9"/>
          <p:cNvSpPr>
            <a:spLocks noChangeShapeType="1"/>
          </p:cNvSpPr>
          <p:nvPr/>
        </p:nvSpPr>
        <p:spPr bwMode="auto">
          <a:xfrm flipH="1">
            <a:off x="6484338" y="8886613"/>
            <a:ext cx="3251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762" name="Text Box 10"/>
          <p:cNvSpPr txBox="1">
            <a:spLocks noChangeArrowheads="1"/>
          </p:cNvSpPr>
          <p:nvPr/>
        </p:nvSpPr>
        <p:spPr bwMode="auto">
          <a:xfrm>
            <a:off x="7802880" y="4637476"/>
            <a:ext cx="3251200" cy="2613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lang="zh-CN" altLang="en-US" sz="4551">
                <a:solidFill>
                  <a:schemeClr val="tx1"/>
                </a:solidFill>
                <a:latin typeface="Times New Roman" panose="02020603050405020304" pitchFamily="18" charset="0"/>
              </a:rPr>
              <a:t>静电感应</a:t>
            </a:r>
          </a:p>
          <a:p>
            <a:pPr algn="l" eaLnBrk="0" hangingPunct="0">
              <a:lnSpc>
                <a:spcPct val="120000"/>
              </a:lnSpc>
            </a:pPr>
            <a:r>
              <a:rPr lang="zh-CN" altLang="en-US" sz="4551">
                <a:solidFill>
                  <a:schemeClr val="tx1"/>
                </a:solidFill>
                <a:latin typeface="Times New Roman" panose="02020603050405020304" pitchFamily="18" charset="0"/>
              </a:rPr>
              <a:t>尖端放电</a:t>
            </a:r>
          </a:p>
          <a:p>
            <a:pPr algn="l" eaLnBrk="0" hangingPunct="0">
              <a:lnSpc>
                <a:spcPct val="120000"/>
              </a:lnSpc>
            </a:pPr>
            <a:r>
              <a:rPr lang="zh-CN" altLang="en-US" sz="4551">
                <a:solidFill>
                  <a:schemeClr val="tx1"/>
                </a:solidFill>
                <a:latin typeface="Times New Roman" panose="02020603050405020304" pitchFamily="18" charset="0"/>
              </a:rPr>
              <a:t>接地良好</a:t>
            </a:r>
          </a:p>
        </p:txBody>
      </p:sp>
      <p:pic>
        <p:nvPicPr>
          <p:cNvPr id="842763" name="Picture 11" descr="QTDH18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4027" y="2903502"/>
            <a:ext cx="2059093" cy="851183"/>
          </a:xfrm>
          <a:prstGeom prst="rect">
            <a:avLst/>
          </a:prstGeom>
          <a:noFill/>
          <a:extLst>
            <a:ext uri="{909E8E84-426E-40DD-AFC4-6F175D3DCCD1}">
              <a14:hiddenFill xmlns:a14="http://schemas.microsoft.com/office/drawing/2010/main">
                <a:solidFill>
                  <a:srgbClr val="FFFFFF"/>
                </a:solidFill>
              </a14:hiddenFill>
            </a:ext>
          </a:extLst>
        </p:spPr>
      </p:pic>
      <p:sp>
        <p:nvSpPr>
          <p:cNvPr id="842764" name="Text Box 12"/>
          <p:cNvSpPr txBox="1">
            <a:spLocks noChangeArrowheads="1"/>
          </p:cNvSpPr>
          <p:nvPr/>
        </p:nvSpPr>
        <p:spPr bwMode="auto">
          <a:xfrm>
            <a:off x="8669867" y="2361636"/>
            <a:ext cx="1842347"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3413" dirty="0">
                <a:solidFill>
                  <a:srgbClr val="000066"/>
                </a:solidFill>
                <a:effectLst>
                  <a:outerShdw blurRad="38100" dist="38100" dir="2700000" algn="tl">
                    <a:srgbClr val="C0C0C0"/>
                  </a:outerShdw>
                </a:effectLst>
                <a:latin typeface="Times New Roman" panose="02020603050405020304" pitchFamily="18" charset="0"/>
              </a:rPr>
              <a:t>带电云</a:t>
            </a:r>
          </a:p>
        </p:txBody>
      </p:sp>
      <p:sp>
        <p:nvSpPr>
          <p:cNvPr id="842765" name="Text Box 13"/>
          <p:cNvSpPr txBox="1">
            <a:spLocks noChangeArrowheads="1"/>
          </p:cNvSpPr>
          <p:nvPr/>
        </p:nvSpPr>
        <p:spPr bwMode="auto">
          <a:xfrm>
            <a:off x="433493" y="325121"/>
            <a:ext cx="5093547" cy="646331"/>
          </a:xfrm>
          <a:prstGeom prst="rect">
            <a:avLst/>
          </a:prstGeom>
          <a:noFill/>
          <a:ln>
            <a:noFill/>
          </a:ln>
          <a:effectLst/>
          <a:extLst>
            <a:ext uri="{909E8E84-426E-40DD-AFC4-6F175D3DCCD1}">
              <a14:hiddenFill xmlns:a14="http://schemas.microsoft.com/office/drawing/2010/main">
                <a:solidFill>
                  <a:srgbClr val="F7A1E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b="1" dirty="0">
                <a:solidFill>
                  <a:srgbClr val="0000CC"/>
                </a:solidFill>
                <a:latin typeface="宋体" pitchFamily="2" charset="-122"/>
                <a:ea typeface="宋体" pitchFamily="2" charset="-122"/>
              </a:rPr>
              <a:t>避雷针的工作原理</a:t>
            </a:r>
          </a:p>
        </p:txBody>
      </p:sp>
      <p:sp>
        <p:nvSpPr>
          <p:cNvPr id="842766" name="Rectangle 14"/>
          <p:cNvSpPr>
            <a:spLocks noChangeArrowheads="1"/>
          </p:cNvSpPr>
          <p:nvPr/>
        </p:nvSpPr>
        <p:spPr bwMode="auto">
          <a:xfrm>
            <a:off x="8019627" y="2144889"/>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67" name="Rectangle 15"/>
          <p:cNvSpPr>
            <a:spLocks noChangeArrowheads="1"/>
          </p:cNvSpPr>
          <p:nvPr/>
        </p:nvSpPr>
        <p:spPr bwMode="auto">
          <a:xfrm>
            <a:off x="9103360" y="1928143"/>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68" name="Rectangle 16"/>
          <p:cNvSpPr>
            <a:spLocks noChangeArrowheads="1"/>
          </p:cNvSpPr>
          <p:nvPr/>
        </p:nvSpPr>
        <p:spPr bwMode="auto">
          <a:xfrm>
            <a:off x="9861973" y="1819769"/>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69" name="Rectangle 17"/>
          <p:cNvSpPr>
            <a:spLocks noChangeArrowheads="1"/>
          </p:cNvSpPr>
          <p:nvPr/>
        </p:nvSpPr>
        <p:spPr bwMode="auto">
          <a:xfrm>
            <a:off x="10512213" y="1928143"/>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70" name="Rectangle 18"/>
          <p:cNvSpPr>
            <a:spLocks noChangeArrowheads="1"/>
          </p:cNvSpPr>
          <p:nvPr/>
        </p:nvSpPr>
        <p:spPr bwMode="auto">
          <a:xfrm>
            <a:off x="10295467" y="2686756"/>
            <a:ext cx="541867" cy="53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44">
                <a:solidFill>
                  <a:srgbClr val="EC2A0A"/>
                </a:solidFill>
                <a:latin typeface="Times New Roman" panose="02020603050405020304" pitchFamily="18" charset="0"/>
              </a:rPr>
              <a:t>－</a:t>
            </a:r>
          </a:p>
        </p:txBody>
      </p:sp>
      <p:sp>
        <p:nvSpPr>
          <p:cNvPr id="842771" name="Rectangle 19"/>
          <p:cNvSpPr>
            <a:spLocks noChangeArrowheads="1"/>
          </p:cNvSpPr>
          <p:nvPr/>
        </p:nvSpPr>
        <p:spPr bwMode="auto">
          <a:xfrm>
            <a:off x="9645227" y="2772552"/>
            <a:ext cx="550151" cy="53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44">
                <a:solidFill>
                  <a:srgbClr val="EC2A0A"/>
                </a:solidFill>
                <a:latin typeface="Times New Roman" panose="02020603050405020304" pitchFamily="18" charset="0"/>
              </a:rPr>
              <a:t>－</a:t>
            </a:r>
          </a:p>
        </p:txBody>
      </p:sp>
      <p:sp>
        <p:nvSpPr>
          <p:cNvPr id="842772" name="Rectangle 20"/>
          <p:cNvSpPr>
            <a:spLocks noChangeArrowheads="1"/>
          </p:cNvSpPr>
          <p:nvPr/>
        </p:nvSpPr>
        <p:spPr bwMode="auto">
          <a:xfrm>
            <a:off x="8994987" y="2828997"/>
            <a:ext cx="550151" cy="53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44">
                <a:solidFill>
                  <a:srgbClr val="EC2A0A"/>
                </a:solidFill>
                <a:latin typeface="Times New Roman" panose="02020603050405020304" pitchFamily="18" charset="0"/>
              </a:rPr>
              <a:t>－</a:t>
            </a:r>
          </a:p>
        </p:txBody>
      </p:sp>
      <p:sp>
        <p:nvSpPr>
          <p:cNvPr id="842773" name="Rectangle 21"/>
          <p:cNvSpPr>
            <a:spLocks noChangeArrowheads="1"/>
          </p:cNvSpPr>
          <p:nvPr/>
        </p:nvSpPr>
        <p:spPr bwMode="auto">
          <a:xfrm>
            <a:off x="8669867" y="3011876"/>
            <a:ext cx="476412" cy="442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76">
                <a:solidFill>
                  <a:srgbClr val="333399"/>
                </a:solidFill>
                <a:latin typeface="Times New Roman" panose="02020603050405020304" pitchFamily="18" charset="0"/>
              </a:rPr>
              <a:t>－</a:t>
            </a:r>
          </a:p>
        </p:txBody>
      </p:sp>
      <p:sp>
        <p:nvSpPr>
          <p:cNvPr id="842774" name="Rectangle 22"/>
          <p:cNvSpPr>
            <a:spLocks noChangeArrowheads="1"/>
          </p:cNvSpPr>
          <p:nvPr/>
        </p:nvSpPr>
        <p:spPr bwMode="auto">
          <a:xfrm>
            <a:off x="8344747" y="2795130"/>
            <a:ext cx="550151" cy="53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44">
                <a:solidFill>
                  <a:srgbClr val="EC2A0A"/>
                </a:solidFill>
                <a:latin typeface="Times New Roman" panose="02020603050405020304" pitchFamily="18" charset="0"/>
              </a:rPr>
              <a:t>－</a:t>
            </a:r>
          </a:p>
        </p:txBody>
      </p:sp>
      <p:sp>
        <p:nvSpPr>
          <p:cNvPr id="842775" name="Rectangle 23"/>
          <p:cNvSpPr>
            <a:spLocks noChangeArrowheads="1"/>
          </p:cNvSpPr>
          <p:nvPr/>
        </p:nvSpPr>
        <p:spPr bwMode="auto">
          <a:xfrm>
            <a:off x="4585547" y="3431823"/>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76" name="Line 24"/>
          <p:cNvSpPr>
            <a:spLocks noChangeShapeType="1"/>
          </p:cNvSpPr>
          <p:nvPr/>
        </p:nvSpPr>
        <p:spPr bwMode="auto">
          <a:xfrm rot="16200000">
            <a:off x="4497493" y="4172373"/>
            <a:ext cx="975360" cy="0"/>
          </a:xfrm>
          <a:prstGeom prst="line">
            <a:avLst/>
          </a:prstGeom>
          <a:noFill/>
          <a:ln w="38100">
            <a:solidFill>
              <a:schemeClr val="tx1"/>
            </a:solidFill>
            <a:round/>
            <a:headEnd type="none" w="sm" len="lg"/>
            <a:tailEnd type="diamond"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5120"/>
          </a:p>
        </p:txBody>
      </p:sp>
      <p:sp>
        <p:nvSpPr>
          <p:cNvPr id="842777" name="Rectangle 25"/>
          <p:cNvSpPr>
            <a:spLocks noChangeArrowheads="1"/>
          </p:cNvSpPr>
          <p:nvPr/>
        </p:nvSpPr>
        <p:spPr bwMode="auto">
          <a:xfrm>
            <a:off x="4551680" y="3847254"/>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778" name="Rectangle 26"/>
          <p:cNvSpPr>
            <a:spLocks noChangeArrowheads="1"/>
          </p:cNvSpPr>
          <p:nvPr/>
        </p:nvSpPr>
        <p:spPr bwMode="auto">
          <a:xfrm>
            <a:off x="7911253" y="2709334"/>
            <a:ext cx="513282" cy="48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560">
                <a:solidFill>
                  <a:srgbClr val="EC2A0A"/>
                </a:solidFill>
                <a:latin typeface="Times New Roman" panose="02020603050405020304" pitchFamily="18" charset="0"/>
              </a:rPr>
              <a:t>－</a:t>
            </a:r>
          </a:p>
        </p:txBody>
      </p:sp>
      <p:sp>
        <p:nvSpPr>
          <p:cNvPr id="842779" name="Rectangle 27"/>
          <p:cNvSpPr>
            <a:spLocks noChangeArrowheads="1"/>
          </p:cNvSpPr>
          <p:nvPr/>
        </p:nvSpPr>
        <p:spPr bwMode="auto">
          <a:xfrm>
            <a:off x="8561493" y="2036516"/>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801" name="Text Box 49"/>
          <p:cNvSpPr txBox="1">
            <a:spLocks noChangeArrowheads="1"/>
          </p:cNvSpPr>
          <p:nvPr/>
        </p:nvSpPr>
        <p:spPr bwMode="auto">
          <a:xfrm>
            <a:off x="309712" y="913474"/>
            <a:ext cx="1269508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lnSpc>
                <a:spcPct val="125000"/>
              </a:lnSpc>
            </a:pPr>
            <a:r>
              <a:rPr lang="zh-CN" altLang="en-US" sz="3200" b="1" dirty="0" smtClean="0">
                <a:solidFill>
                  <a:schemeClr val="tx1"/>
                </a:solidFill>
                <a:latin typeface="宋体" pitchFamily="2" charset="-122"/>
                <a:ea typeface="宋体" pitchFamily="2" charset="-122"/>
              </a:rPr>
              <a:t>实际上</a:t>
            </a:r>
            <a:r>
              <a:rPr lang="zh-CN" altLang="en-US" sz="3200" b="1" dirty="0">
                <a:solidFill>
                  <a:schemeClr val="tx1"/>
                </a:solidFill>
                <a:latin typeface="宋体" pitchFamily="2" charset="-122"/>
                <a:ea typeface="宋体" pitchFamily="2" charset="-122"/>
              </a:rPr>
              <a:t>，避雷针是引雷针，可将周围的雷电引来并提前放电，将云层上的电荷通过自身的接地导体传向地面，避免建筑直接遭到雷击。</a:t>
            </a:r>
          </a:p>
        </p:txBody>
      </p:sp>
      <p:pic>
        <p:nvPicPr>
          <p:cNvPr id="842802" name="Picture 50"/>
          <p:cNvPicPr>
            <a:picLocks noChangeAspect="1" noChangeArrowheads="1"/>
          </p:cNvPicPr>
          <p:nvPr/>
        </p:nvPicPr>
        <p:blipFill>
          <a:blip r:embed="rId4" cstate="print">
            <a:extLst>
              <a:ext uri="{28A0092B-C50C-407E-A947-70E740481C1C}">
                <a14:useLocalDpi xmlns:a14="http://schemas.microsoft.com/office/drawing/2010/main" val="0"/>
              </a:ext>
            </a:extLst>
          </a:blip>
          <a:srcRect l="23625"/>
          <a:stretch>
            <a:fillRect/>
          </a:stretch>
        </p:blipFill>
        <p:spPr bwMode="auto">
          <a:xfrm>
            <a:off x="3522133" y="4497494"/>
            <a:ext cx="2955432" cy="4104640"/>
          </a:xfrm>
          <a:prstGeom prst="rect">
            <a:avLst/>
          </a:prstGeom>
          <a:noFill/>
          <a:extLst>
            <a:ext uri="{909E8E84-426E-40DD-AFC4-6F175D3DCCD1}">
              <a14:hiddenFill xmlns:a14="http://schemas.microsoft.com/office/drawing/2010/main">
                <a:solidFill>
                  <a:srgbClr val="FFFFFF"/>
                </a:solidFill>
              </a14:hiddenFill>
            </a:ext>
          </a:extLst>
        </p:spPr>
      </p:pic>
      <p:sp>
        <p:nvSpPr>
          <p:cNvPr id="842803" name="Line 51"/>
          <p:cNvSpPr>
            <a:spLocks noChangeShapeType="1"/>
          </p:cNvSpPr>
          <p:nvPr/>
        </p:nvSpPr>
        <p:spPr bwMode="auto">
          <a:xfrm>
            <a:off x="5960533" y="4262684"/>
            <a:ext cx="650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806" name="Rectangle 54"/>
          <p:cNvSpPr>
            <a:spLocks noChangeArrowheads="1"/>
          </p:cNvSpPr>
          <p:nvPr/>
        </p:nvSpPr>
        <p:spPr bwMode="auto">
          <a:xfrm>
            <a:off x="4910667" y="3467947"/>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807" name="Rectangle 55"/>
          <p:cNvSpPr>
            <a:spLocks noChangeArrowheads="1"/>
          </p:cNvSpPr>
          <p:nvPr/>
        </p:nvSpPr>
        <p:spPr bwMode="auto">
          <a:xfrm>
            <a:off x="4912924" y="3793067"/>
            <a:ext cx="431528" cy="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413">
                <a:solidFill>
                  <a:srgbClr val="FF3300"/>
                </a:solidFill>
                <a:latin typeface="Times New Roman" panose="02020603050405020304" pitchFamily="18" charset="0"/>
              </a:rPr>
              <a:t>+</a:t>
            </a:r>
          </a:p>
        </p:txBody>
      </p:sp>
      <p:sp>
        <p:nvSpPr>
          <p:cNvPr id="842808" name="Line 56"/>
          <p:cNvSpPr>
            <a:spLocks noChangeShapeType="1"/>
          </p:cNvSpPr>
          <p:nvPr/>
        </p:nvSpPr>
        <p:spPr bwMode="auto">
          <a:xfrm>
            <a:off x="5382542" y="4262684"/>
            <a:ext cx="650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842809" name="Line 57"/>
          <p:cNvSpPr>
            <a:spLocks noChangeShapeType="1"/>
          </p:cNvSpPr>
          <p:nvPr/>
        </p:nvSpPr>
        <p:spPr bwMode="auto">
          <a:xfrm>
            <a:off x="4949049" y="4262684"/>
            <a:ext cx="650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Tree>
    <p:extLst>
      <p:ext uri="{BB962C8B-B14F-4D97-AF65-F5344CB8AC3E}">
        <p14:creationId xmlns:p14="http://schemas.microsoft.com/office/powerpoint/2010/main" val="3120903104"/>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174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2240" y="1818111"/>
            <a:ext cx="6521271" cy="43826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742" y="1492424"/>
            <a:ext cx="3077509" cy="533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366418" y="6965032"/>
            <a:ext cx="3540156" cy="121058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zh-CN" altLang="en-US" sz="2400" dirty="0" smtClean="0">
                <a:solidFill>
                  <a:srgbClr val="000000"/>
                </a:solidFill>
                <a:latin typeface="宋体" panose="02010600030101010101" pitchFamily="2" charset="-122"/>
                <a:ea typeface="宋体" panose="02010600030101010101" pitchFamily="2" charset="-122"/>
              </a:rPr>
              <a:t>图</a:t>
            </a:r>
            <a:r>
              <a:rPr lang="en-US" altLang="zh-CN" sz="2400" dirty="0" smtClean="0">
                <a:solidFill>
                  <a:srgbClr val="000000"/>
                </a:solidFill>
                <a:latin typeface="宋体" panose="02010600030101010101" pitchFamily="2" charset="-122"/>
                <a:ea typeface="宋体" panose="02010600030101010101" pitchFamily="2" charset="-122"/>
              </a:rPr>
              <a:t>16.33 </a:t>
            </a:r>
            <a:r>
              <a:rPr lang="zh-CN" altLang="en-US" sz="2400" dirty="0" smtClean="0">
                <a:solidFill>
                  <a:srgbClr val="000000"/>
                </a:solidFill>
                <a:latin typeface="宋体" panose="02010600030101010101" pitchFamily="2" charset="-122"/>
                <a:ea typeface="宋体" panose="02010600030101010101" pitchFamily="2" charset="-122"/>
              </a:rPr>
              <a:t>威</a:t>
            </a:r>
            <a:r>
              <a:rPr kumimoji="0" lang="zh-CN" altLang="en-US" sz="2400" b="0" i="0" u="none" strike="noStrike" cap="none" spc="0" normalizeH="0" baseline="0" dirty="0" smtClean="0">
                <a:ln>
                  <a:noFill/>
                </a:ln>
                <a:solidFill>
                  <a:srgbClr val="000000"/>
                </a:solidFill>
                <a:effectLst/>
                <a:uFillTx/>
                <a:latin typeface="宋体" panose="02010600030101010101" pitchFamily="2" charset="-122"/>
                <a:ea typeface="宋体" panose="02010600030101010101" pitchFamily="2" charset="-122"/>
                <a:sym typeface="Helvetica Light"/>
              </a:rPr>
              <a:t>斯康星州一座维多利亚时代的建筑收到精致避雷针的保护</a:t>
            </a:r>
            <a:endParaRPr kumimoji="0" lang="zh-CN" altLang="en-US" sz="2400" b="0" i="0" u="none" strike="noStrike" cap="none" spc="0" normalizeH="0" baseline="0" dirty="0">
              <a:ln>
                <a:noFill/>
              </a:ln>
              <a:solidFill>
                <a:srgbClr val="000000"/>
              </a:solidFill>
              <a:effectLst/>
              <a:uFillTx/>
              <a:latin typeface="宋体" panose="02010600030101010101" pitchFamily="2" charset="-122"/>
              <a:ea typeface="宋体" panose="02010600030101010101" pitchFamily="2" charset="-122"/>
              <a:sym typeface="Helvetica Light"/>
            </a:endParaRPr>
          </a:p>
        </p:txBody>
      </p:sp>
      <p:sp>
        <p:nvSpPr>
          <p:cNvPr id="6" name="Rectangle 10"/>
          <p:cNvSpPr>
            <a:spLocks noChangeArrowheads="1"/>
          </p:cNvSpPr>
          <p:nvPr/>
        </p:nvSpPr>
        <p:spPr bwMode="auto">
          <a:xfrm>
            <a:off x="4846216" y="6280615"/>
            <a:ext cx="7963018" cy="1634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lnSpc>
                <a:spcPct val="125000"/>
              </a:lnSpc>
            </a:pPr>
            <a:r>
              <a:rPr lang="zh-CN" altLang="en-US" sz="2800" b="1" dirty="0" smtClean="0">
                <a:solidFill>
                  <a:schemeClr val="tx1"/>
                </a:solidFill>
                <a:latin typeface="宋体" pitchFamily="2" charset="-122"/>
                <a:ea typeface="宋体" pitchFamily="2" charset="-122"/>
              </a:rPr>
              <a:t>迄今</a:t>
            </a:r>
            <a:r>
              <a:rPr lang="zh-CN" altLang="en-US" sz="2800" b="1" dirty="0">
                <a:solidFill>
                  <a:schemeClr val="tx1"/>
                </a:solidFill>
                <a:latin typeface="宋体" pitchFamily="2" charset="-122"/>
                <a:ea typeface="宋体" pitchFamily="2" charset="-122"/>
              </a:rPr>
              <a:t>尚无一种设备和方法能够改变大自然中的天气现象以阻止雷电的发生和雷击中建筑物或建筑物附近。</a:t>
            </a:r>
            <a:r>
              <a:rPr lang="zh-CN" altLang="en-US" sz="2800" b="1" dirty="0">
                <a:solidFill>
                  <a:schemeClr val="tx1"/>
                </a:solidFill>
                <a:effectLst>
                  <a:outerShdw blurRad="38100" dist="38100" dir="2700000" algn="tl">
                    <a:srgbClr val="C0C0C0"/>
                  </a:outerShdw>
                </a:effectLst>
                <a:latin typeface="宋体" pitchFamily="2" charset="-122"/>
                <a:ea typeface="宋体" pitchFamily="2" charset="-122"/>
              </a:rPr>
              <a:t> </a:t>
            </a:r>
          </a:p>
        </p:txBody>
      </p:sp>
    </p:spTree>
    <p:extLst>
      <p:ext uri="{BB962C8B-B14F-4D97-AF65-F5344CB8AC3E}">
        <p14:creationId xmlns:p14="http://schemas.microsoft.com/office/powerpoint/2010/main" val="4204088300"/>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218633" y="281873"/>
            <a:ext cx="4026743"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0" i="0" u="none" strike="noStrike" cap="none" spc="0" normalizeH="0" baseline="0" dirty="0" smtClean="0">
                <a:ln>
                  <a:noFill/>
                </a:ln>
                <a:solidFill>
                  <a:srgbClr val="000000"/>
                </a:solidFill>
                <a:effectLst/>
                <a:uFillTx/>
                <a:latin typeface="+mn-lt"/>
                <a:ea typeface="+mn-ea"/>
                <a:cs typeface="+mn-cs"/>
                <a:sym typeface="Helvetica Light"/>
              </a:rPr>
              <a:t>应用</a:t>
            </a:r>
            <a:r>
              <a:rPr kumimoji="0" lang="en-US" altLang="zh-CN" sz="3600" b="0" i="0" u="none" strike="noStrike" cap="none" spc="0" normalizeH="0" baseline="0" dirty="0" smtClean="0">
                <a:ln>
                  <a:noFill/>
                </a:ln>
                <a:solidFill>
                  <a:srgbClr val="000000"/>
                </a:solidFill>
                <a:effectLst/>
                <a:uFillTx/>
                <a:latin typeface="+mn-lt"/>
                <a:ea typeface="+mn-ea"/>
                <a:cs typeface="+mn-cs"/>
                <a:sym typeface="Helvetica Light"/>
              </a:rPr>
              <a:t>2</a:t>
            </a:r>
            <a:r>
              <a:rPr kumimoji="0" lang="zh-CN" altLang="en-US" sz="3600" b="0" i="0" u="none" strike="noStrike" cap="none" spc="0" normalizeH="0" baseline="0" dirty="0" smtClean="0">
                <a:ln>
                  <a:noFill/>
                </a:ln>
                <a:solidFill>
                  <a:srgbClr val="000000"/>
                </a:solidFill>
                <a:effectLst/>
                <a:uFillTx/>
                <a:latin typeface="+mn-lt"/>
                <a:ea typeface="+mn-ea"/>
                <a:cs typeface="+mn-cs"/>
                <a:sym typeface="Helvetica Light"/>
              </a:rPr>
              <a:t>：静电除尘器</a:t>
            </a:r>
            <a:endParaRPr kumimoji="0" lang="zh-CN" altLang="en-US" sz="3600" b="0" i="0" u="none" strike="noStrike" cap="none" spc="0" normalizeH="0" baseline="0" dirty="0">
              <a:ln>
                <a:noFill/>
              </a:ln>
              <a:solidFill>
                <a:srgbClr val="000000"/>
              </a:solidFill>
              <a:effectLst/>
              <a:uFillTx/>
              <a:latin typeface="+mn-lt"/>
              <a:ea typeface="+mn-ea"/>
              <a:cs typeface="+mn-cs"/>
              <a:sym typeface="Helvetica Light"/>
            </a:endParaRPr>
          </a:p>
        </p:txBody>
      </p:sp>
      <p:sp>
        <p:nvSpPr>
          <p:cNvPr id="2" name="文本框 1"/>
          <p:cNvSpPr txBox="1"/>
          <p:nvPr/>
        </p:nvSpPr>
        <p:spPr>
          <a:xfrm>
            <a:off x="426368" y="5997570"/>
            <a:ext cx="12407056" cy="318035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584200" rtl="0" fontAlgn="auto" latinLnBrk="1" hangingPunct="0">
              <a:lnSpc>
                <a:spcPct val="125000"/>
              </a:lnSpc>
              <a:spcBef>
                <a:spcPts val="0"/>
              </a:spcBef>
              <a:spcAft>
                <a:spcPts val="0"/>
              </a:spcAft>
              <a:buClrTx/>
              <a:buSzTx/>
              <a:buFontTx/>
              <a:buNone/>
              <a:tabLst/>
            </a:pPr>
            <a:r>
              <a:rPr kumimoji="0" lang="zh-CN" altLang="en-US" sz="3200" b="1" i="0" u="none" strike="noStrike" cap="none" spc="0" normalizeH="0" baseline="0" dirty="0" smtClean="0">
                <a:ln>
                  <a:noFill/>
                </a:ln>
                <a:solidFill>
                  <a:srgbClr val="000000"/>
                </a:solidFill>
                <a:effectLst/>
                <a:uFillTx/>
                <a:latin typeface="+mn-lt"/>
                <a:ea typeface="+mn-ea"/>
                <a:cs typeface="+mn-cs"/>
                <a:sym typeface="Helvetica Light"/>
              </a:rPr>
              <a:t>除尘室中有一对极性相反的金属极板，带正电的极板上装有用于电离空气的针状电极。针状电极附近的电场足够强，能够使空气分子电离。粉尘通过和离子接触而带上正电，两极板之间的电场使带正电的粉尘粒子朝着带负电的收集极板运动。当足够多的粉尘物质积累在收集极板上之后，就会掉入除尘室的底部而很容易被清除掉。</a:t>
            </a:r>
            <a:endParaRPr kumimoji="0" lang="zh-CN" altLang="en-US" sz="3200" b="1" i="0" u="none" strike="noStrike" cap="none" spc="0" normalizeH="0" baseline="0" dirty="0">
              <a:ln>
                <a:noFill/>
              </a:ln>
              <a:solidFill>
                <a:srgbClr val="000000"/>
              </a:solidFill>
              <a:effectLst/>
              <a:uFillTx/>
              <a:latin typeface="+mn-lt"/>
              <a:ea typeface="+mn-ea"/>
              <a:cs typeface="+mn-cs"/>
              <a:sym typeface="Helvetica Light"/>
            </a:endParaRPr>
          </a:p>
        </p:txBody>
      </p:sp>
      <p:pic>
        <p:nvPicPr>
          <p:cNvPr id="8" name="图片 7"/>
          <p:cNvPicPr>
            <a:picLocks noChangeAspect="1"/>
          </p:cNvPicPr>
          <p:nvPr/>
        </p:nvPicPr>
        <p:blipFill>
          <a:blip r:embed="rId3" cstate="print"/>
          <a:stretch>
            <a:fillRect/>
          </a:stretch>
        </p:blipFill>
        <p:spPr>
          <a:xfrm>
            <a:off x="2367562" y="1272504"/>
            <a:ext cx="8134247" cy="4612408"/>
          </a:xfrm>
          <a:prstGeom prst="rect">
            <a:avLst/>
          </a:prstGeom>
        </p:spPr>
      </p:pic>
    </p:spTree>
    <p:extLst>
      <p:ext uri="{BB962C8B-B14F-4D97-AF65-F5344CB8AC3E}">
        <p14:creationId xmlns:p14="http://schemas.microsoft.com/office/powerpoint/2010/main" val="2682813007"/>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Text Box 2"/>
          <p:cNvSpPr txBox="1">
            <a:spLocks noChangeArrowheads="1"/>
          </p:cNvSpPr>
          <p:nvPr/>
        </p:nvSpPr>
        <p:spPr bwMode="auto">
          <a:xfrm>
            <a:off x="165696" y="180135"/>
            <a:ext cx="81076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4000" b="1" dirty="0">
                <a:solidFill>
                  <a:srgbClr val="0000FF"/>
                </a:solidFill>
                <a:latin typeface="宋体" pitchFamily="2" charset="-122"/>
                <a:ea typeface="宋体" pitchFamily="2" charset="-122"/>
              </a:rPr>
              <a:t>尖端放电现象的预防</a:t>
            </a:r>
          </a:p>
        </p:txBody>
      </p:sp>
      <p:sp>
        <p:nvSpPr>
          <p:cNvPr id="630787" name="Text Box 3"/>
          <p:cNvSpPr txBox="1">
            <a:spLocks noChangeArrowheads="1"/>
          </p:cNvSpPr>
          <p:nvPr/>
        </p:nvSpPr>
        <p:spPr bwMode="auto">
          <a:xfrm>
            <a:off x="381718" y="1060376"/>
            <a:ext cx="11880427" cy="199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lang="zh-CN" altLang="en-US" b="1" dirty="0" smtClean="0">
                <a:solidFill>
                  <a:schemeClr val="tx1"/>
                </a:solidFill>
                <a:latin typeface="宋体" pitchFamily="2" charset="-122"/>
                <a:ea typeface="宋体" pitchFamily="2" charset="-122"/>
              </a:rPr>
              <a:t>在</a:t>
            </a:r>
            <a:r>
              <a:rPr lang="zh-CN" altLang="en-US" b="1" dirty="0">
                <a:solidFill>
                  <a:schemeClr val="tx1"/>
                </a:solidFill>
                <a:latin typeface="宋体" pitchFamily="2" charset="-122"/>
                <a:ea typeface="宋体" pitchFamily="2" charset="-122"/>
              </a:rPr>
              <a:t>高压设备中，为了防止因尖端放电而引起的危险和漏电造成的损失</a:t>
            </a:r>
            <a:r>
              <a:rPr lang="en-US" altLang="zh-CN" b="1" dirty="0">
                <a:solidFill>
                  <a:schemeClr val="tx1"/>
                </a:solidFill>
                <a:latin typeface="宋体" pitchFamily="2" charset="-122"/>
                <a:ea typeface="宋体" pitchFamily="2" charset="-122"/>
              </a:rPr>
              <a:t>, </a:t>
            </a:r>
            <a:r>
              <a:rPr lang="zh-CN" altLang="en-US" b="1" dirty="0">
                <a:solidFill>
                  <a:schemeClr val="tx1"/>
                </a:solidFill>
                <a:latin typeface="宋体" pitchFamily="2" charset="-122"/>
                <a:ea typeface="宋体" pitchFamily="2" charset="-122"/>
              </a:rPr>
              <a:t>具有高电压的零部件的表面必须做得十分光滑并尽可能做成球面。</a:t>
            </a:r>
          </a:p>
        </p:txBody>
      </p:sp>
      <p:pic>
        <p:nvPicPr>
          <p:cNvPr id="630813" name="Picture 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2467" y="3292624"/>
            <a:ext cx="5960533" cy="556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310822"/>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75" name="Picture 35" descr="art812"/>
          <p:cNvPicPr>
            <a:picLocks noChangeAspect="1" noChangeArrowheads="1"/>
          </p:cNvPicPr>
          <p:nvPr/>
        </p:nvPicPr>
        <p:blipFill>
          <a:blip r:embed="rId3" cstate="print">
            <a:clrChange>
              <a:clrFrom>
                <a:srgbClr val="F8CABF"/>
              </a:clrFrom>
              <a:clrTo>
                <a:srgbClr val="F8CABF">
                  <a:alpha val="0"/>
                </a:srgbClr>
              </a:clrTo>
            </a:clrChange>
            <a:extLst>
              <a:ext uri="{28A0092B-C50C-407E-A947-70E740481C1C}">
                <a14:useLocalDpi xmlns:a14="http://schemas.microsoft.com/office/drawing/2010/main" val="0"/>
              </a:ext>
            </a:extLst>
          </a:blip>
          <a:srcRect/>
          <a:stretch>
            <a:fillRect/>
          </a:stretch>
        </p:blipFill>
        <p:spPr bwMode="auto">
          <a:xfrm>
            <a:off x="8243147" y="5109352"/>
            <a:ext cx="3790808" cy="3531164"/>
          </a:xfrm>
          <a:prstGeom prst="rect">
            <a:avLst/>
          </a:prstGeom>
          <a:solidFill>
            <a:schemeClr val="accent1"/>
          </a:solidFill>
          <a:ln w="9525">
            <a:solidFill>
              <a:schemeClr val="bg2"/>
            </a:solidFill>
            <a:miter lim="800000"/>
            <a:headEnd/>
            <a:tailEnd/>
          </a:ln>
        </p:spPr>
      </p:pic>
      <p:pic>
        <p:nvPicPr>
          <p:cNvPr id="727076" name="Picture 36" descr="art813"/>
          <p:cNvPicPr>
            <a:picLocks noChangeAspect="1" noChangeArrowheads="1"/>
          </p:cNvPicPr>
          <p:nvPr/>
        </p:nvPicPr>
        <p:blipFill>
          <a:blip r:embed="rId4" cstate="print">
            <a:clrChange>
              <a:clrFrom>
                <a:srgbClr val="F8CABF"/>
              </a:clrFrom>
              <a:clrTo>
                <a:srgbClr val="F8CABF">
                  <a:alpha val="0"/>
                </a:srgbClr>
              </a:clrTo>
            </a:clrChange>
            <a:extLst>
              <a:ext uri="{28A0092B-C50C-407E-A947-70E740481C1C}">
                <a14:useLocalDpi xmlns:a14="http://schemas.microsoft.com/office/drawing/2010/main" val="0"/>
              </a:ext>
            </a:extLst>
          </a:blip>
          <a:srcRect/>
          <a:stretch>
            <a:fillRect/>
          </a:stretch>
        </p:blipFill>
        <p:spPr bwMode="auto">
          <a:xfrm>
            <a:off x="8243147" y="5082259"/>
            <a:ext cx="3790808" cy="3522133"/>
          </a:xfrm>
          <a:prstGeom prst="rect">
            <a:avLst/>
          </a:prstGeom>
          <a:solidFill>
            <a:schemeClr val="accent1"/>
          </a:solidFill>
        </p:spPr>
      </p:pic>
      <p:pic>
        <p:nvPicPr>
          <p:cNvPr id="727077" name="Picture 37" descr="静电屏蔽1"/>
          <p:cNvPicPr>
            <a:picLocks noChangeAspect="1" noChangeArrowheads="1"/>
          </p:cNvPicPr>
          <p:nvPr/>
        </p:nvPicPr>
        <p:blipFill>
          <a:blip r:embed="rId5" cstate="print">
            <a:extLst>
              <a:ext uri="{28A0092B-C50C-407E-A947-70E740481C1C}">
                <a14:useLocalDpi xmlns:a14="http://schemas.microsoft.com/office/drawing/2010/main" val="0"/>
              </a:ext>
            </a:extLst>
          </a:blip>
          <a:srcRect b="3732"/>
          <a:stretch>
            <a:fillRect/>
          </a:stretch>
        </p:blipFill>
        <p:spPr bwMode="auto">
          <a:xfrm>
            <a:off x="2201334" y="5030329"/>
            <a:ext cx="3583093" cy="3377636"/>
          </a:xfrm>
          <a:prstGeom prst="rect">
            <a:avLst/>
          </a:prstGeom>
          <a:noFill/>
          <a:extLst>
            <a:ext uri="{909E8E84-426E-40DD-AFC4-6F175D3DCCD1}">
              <a14:hiddenFill xmlns:a14="http://schemas.microsoft.com/office/drawing/2010/main">
                <a:solidFill>
                  <a:srgbClr val="FFFFFF"/>
                </a:solidFill>
              </a14:hiddenFill>
            </a:ext>
          </a:extLst>
        </p:spPr>
      </p:pic>
      <p:pic>
        <p:nvPicPr>
          <p:cNvPr id="727078" name="Picture 38" descr="静电屏蔽2"/>
          <p:cNvPicPr>
            <a:picLocks noChangeAspect="1" noChangeArrowheads="1"/>
          </p:cNvPicPr>
          <p:nvPr/>
        </p:nvPicPr>
        <p:blipFill>
          <a:blip r:embed="rId6" cstate="print">
            <a:extLst>
              <a:ext uri="{28A0092B-C50C-407E-A947-70E740481C1C}">
                <a14:useLocalDpi xmlns:a14="http://schemas.microsoft.com/office/drawing/2010/main" val="0"/>
              </a:ext>
            </a:extLst>
          </a:blip>
          <a:srcRect b="3732"/>
          <a:stretch>
            <a:fillRect/>
          </a:stretch>
        </p:blipFill>
        <p:spPr bwMode="auto">
          <a:xfrm>
            <a:off x="2201334" y="5030329"/>
            <a:ext cx="3583093" cy="3377636"/>
          </a:xfrm>
          <a:prstGeom prst="rect">
            <a:avLst/>
          </a:prstGeom>
          <a:noFill/>
          <a:extLst>
            <a:ext uri="{909E8E84-426E-40DD-AFC4-6F175D3DCCD1}">
              <a14:hiddenFill xmlns:a14="http://schemas.microsoft.com/office/drawing/2010/main">
                <a:solidFill>
                  <a:srgbClr val="FFFFFF"/>
                </a:solidFill>
              </a14:hiddenFill>
            </a:ext>
          </a:extLst>
        </p:spPr>
      </p:pic>
      <p:sp>
        <p:nvSpPr>
          <p:cNvPr id="727079" name="AutoShape 39"/>
          <p:cNvSpPr>
            <a:spLocks noChangeArrowheads="1"/>
          </p:cNvSpPr>
          <p:nvPr/>
        </p:nvSpPr>
        <p:spPr bwMode="auto">
          <a:xfrm>
            <a:off x="3019778" y="5823787"/>
            <a:ext cx="1946204" cy="1844605"/>
          </a:xfrm>
          <a:custGeom>
            <a:avLst/>
            <a:gdLst>
              <a:gd name="G0" fmla="+- 2055 0 0"/>
              <a:gd name="G1" fmla="+- 21600 0 2055"/>
              <a:gd name="G2" fmla="+- 21600 0 205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055" y="10800"/>
                </a:moveTo>
                <a:cubicBezTo>
                  <a:pt x="2055" y="15630"/>
                  <a:pt x="5970" y="19545"/>
                  <a:pt x="10800" y="19545"/>
                </a:cubicBezTo>
                <a:cubicBezTo>
                  <a:pt x="15630" y="19545"/>
                  <a:pt x="19545" y="15630"/>
                  <a:pt x="19545" y="10800"/>
                </a:cubicBezTo>
                <a:cubicBezTo>
                  <a:pt x="19545" y="5970"/>
                  <a:pt x="15630" y="2055"/>
                  <a:pt x="10800" y="2055"/>
                </a:cubicBezTo>
                <a:cubicBezTo>
                  <a:pt x="5970" y="2055"/>
                  <a:pt x="2055" y="5970"/>
                  <a:pt x="2055" y="10800"/>
                </a:cubicBezTo>
                <a:close/>
              </a:path>
            </a:pathLst>
          </a:custGeom>
          <a:solidFill>
            <a:srgbClr val="96969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nvGrpSpPr>
          <p:cNvPr id="727082" name="Group 42"/>
          <p:cNvGrpSpPr>
            <a:grpSpLocks/>
          </p:cNvGrpSpPr>
          <p:nvPr/>
        </p:nvGrpSpPr>
        <p:grpSpPr bwMode="auto">
          <a:xfrm>
            <a:off x="10905067" y="7335522"/>
            <a:ext cx="469618" cy="564444"/>
            <a:chOff x="5167" y="3271"/>
            <a:chExt cx="208" cy="250"/>
          </a:xfrm>
        </p:grpSpPr>
        <p:grpSp>
          <p:nvGrpSpPr>
            <p:cNvPr id="727083" name="Group 43"/>
            <p:cNvGrpSpPr>
              <a:grpSpLocks/>
            </p:cNvGrpSpPr>
            <p:nvPr/>
          </p:nvGrpSpPr>
          <p:grpSpPr bwMode="auto">
            <a:xfrm>
              <a:off x="5167" y="3271"/>
              <a:ext cx="137" cy="226"/>
              <a:chOff x="4830" y="3294"/>
              <a:chExt cx="91" cy="181"/>
            </a:xfrm>
          </p:grpSpPr>
          <p:sp>
            <p:nvSpPr>
              <p:cNvPr id="727084" name="Line 44"/>
              <p:cNvSpPr>
                <a:spLocks noChangeShapeType="1"/>
              </p:cNvSpPr>
              <p:nvPr/>
            </p:nvSpPr>
            <p:spPr bwMode="auto">
              <a:xfrm>
                <a:off x="4830" y="3294"/>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727085" name="Line 45"/>
              <p:cNvSpPr>
                <a:spLocks noChangeShapeType="1"/>
              </p:cNvSpPr>
              <p:nvPr/>
            </p:nvSpPr>
            <p:spPr bwMode="auto">
              <a:xfrm>
                <a:off x="4921" y="3294"/>
                <a:ext cx="0" cy="1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sp>
          <p:nvSpPr>
            <p:cNvPr id="727086" name="Line 46"/>
            <p:cNvSpPr>
              <a:spLocks noChangeShapeType="1"/>
            </p:cNvSpPr>
            <p:nvPr/>
          </p:nvSpPr>
          <p:spPr bwMode="auto">
            <a:xfrm>
              <a:off x="5239" y="3475"/>
              <a:ext cx="1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sp>
          <p:nvSpPr>
            <p:cNvPr id="727087" name="Line 47"/>
            <p:cNvSpPr>
              <a:spLocks noChangeShapeType="1"/>
            </p:cNvSpPr>
            <p:nvPr/>
          </p:nvSpPr>
          <p:spPr bwMode="auto">
            <a:xfrm>
              <a:off x="5261" y="3521"/>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5120"/>
            </a:p>
          </p:txBody>
        </p:sp>
      </p:grpSp>
      <p:sp>
        <p:nvSpPr>
          <p:cNvPr id="727089" name="Rectangle 49"/>
          <p:cNvSpPr>
            <a:spLocks noChangeArrowheads="1"/>
          </p:cNvSpPr>
          <p:nvPr/>
        </p:nvSpPr>
        <p:spPr bwMode="auto">
          <a:xfrm>
            <a:off x="194657" y="65943"/>
            <a:ext cx="11214383" cy="83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951" tIns="65476" rIns="130951" bIns="65476">
            <a:spAutoFit/>
          </a:bodyPr>
          <a:lstStyle/>
          <a:p>
            <a:pPr algn="l" eaLnBrk="0" hangingPunct="0"/>
            <a:r>
              <a:rPr lang="zh-CN" altLang="en-US" sz="4551" b="1" dirty="0">
                <a:solidFill>
                  <a:srgbClr val="0000FF"/>
                </a:solidFill>
                <a:latin typeface="宋体" panose="02010600030101010101" pitchFamily="2" charset="-122"/>
              </a:rPr>
              <a:t>三、空腔导体内外的静电场与静电屏蔽 </a:t>
            </a:r>
          </a:p>
        </p:txBody>
      </p:sp>
      <p:grpSp>
        <p:nvGrpSpPr>
          <p:cNvPr id="727099" name="Group 59"/>
          <p:cNvGrpSpPr>
            <a:grpSpLocks/>
          </p:cNvGrpSpPr>
          <p:nvPr/>
        </p:nvGrpSpPr>
        <p:grpSpPr bwMode="auto">
          <a:xfrm>
            <a:off x="349956" y="968587"/>
            <a:ext cx="5059680" cy="8737599"/>
            <a:chOff x="155" y="429"/>
            <a:chExt cx="2241" cy="3870"/>
          </a:xfrm>
        </p:grpSpPr>
        <p:sp>
          <p:nvSpPr>
            <p:cNvPr id="727080" name="Rectangle 40"/>
            <p:cNvSpPr>
              <a:spLocks noChangeArrowheads="1"/>
            </p:cNvSpPr>
            <p:nvPr/>
          </p:nvSpPr>
          <p:spPr bwMode="auto">
            <a:xfrm>
              <a:off x="1146" y="4025"/>
              <a:ext cx="1245"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413" b="1" dirty="0">
                  <a:solidFill>
                    <a:srgbClr val="0000FF"/>
                  </a:solidFill>
                  <a:latin typeface="宋体" pitchFamily="2" charset="-122"/>
                  <a:ea typeface="宋体" pitchFamily="2" charset="-122"/>
                </a:rPr>
                <a:t>腔内无带电体</a:t>
              </a:r>
            </a:p>
          </p:txBody>
        </p:sp>
        <p:sp>
          <p:nvSpPr>
            <p:cNvPr id="727090" name="Rectangle 50"/>
            <p:cNvSpPr>
              <a:spLocks noChangeArrowheads="1"/>
            </p:cNvSpPr>
            <p:nvPr/>
          </p:nvSpPr>
          <p:spPr bwMode="auto">
            <a:xfrm>
              <a:off x="155" y="429"/>
              <a:ext cx="2241"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0951" tIns="65476" rIns="130951" bIns="65476">
              <a:spAutoFit/>
            </a:bodyPr>
            <a:lstStyle/>
            <a:p>
              <a:pPr algn="l" eaLnBrk="0" hangingPunct="0">
                <a:lnSpc>
                  <a:spcPct val="120000"/>
                </a:lnSpc>
              </a:pPr>
              <a:r>
                <a:rPr lang="en-US" altLang="zh-CN" b="1" dirty="0">
                  <a:solidFill>
                    <a:srgbClr val="0000FF"/>
                  </a:solidFill>
                  <a:latin typeface="宋体" panose="02010600030101010101" pitchFamily="2" charset="-122"/>
                  <a:ea typeface="宋体" pitchFamily="2" charset="-122"/>
                </a:rPr>
                <a:t>1.</a:t>
              </a:r>
              <a:r>
                <a:rPr lang="zh-CN" altLang="en-US" b="1" dirty="0">
                  <a:solidFill>
                    <a:srgbClr val="0000FF"/>
                  </a:solidFill>
                  <a:latin typeface="宋体" panose="02010600030101010101" pitchFamily="2" charset="-122"/>
                  <a:ea typeface="宋体" pitchFamily="2" charset="-122"/>
                </a:rPr>
                <a:t>腔内无带电体</a:t>
              </a:r>
              <a:r>
                <a:rPr lang="zh-CN" altLang="en-US" b="1" dirty="0">
                  <a:solidFill>
                    <a:schemeClr val="tx1"/>
                  </a:solidFill>
                  <a:latin typeface="宋体" pitchFamily="2" charset="-122"/>
                  <a:ea typeface="宋体" pitchFamily="2" charset="-122"/>
                </a:rPr>
                <a:t>      </a:t>
              </a:r>
            </a:p>
          </p:txBody>
        </p:sp>
      </p:grpSp>
      <p:grpSp>
        <p:nvGrpSpPr>
          <p:cNvPr id="727101" name="Group 61"/>
          <p:cNvGrpSpPr>
            <a:grpSpLocks/>
          </p:cNvGrpSpPr>
          <p:nvPr/>
        </p:nvGrpSpPr>
        <p:grpSpPr bwMode="auto">
          <a:xfrm>
            <a:off x="349956" y="2501619"/>
            <a:ext cx="11873654" cy="6895253"/>
            <a:chOff x="155" y="1108"/>
            <a:chExt cx="5259" cy="3054"/>
          </a:xfrm>
        </p:grpSpPr>
        <p:sp>
          <p:nvSpPr>
            <p:cNvPr id="727081" name="Rectangle 41"/>
            <p:cNvSpPr>
              <a:spLocks noChangeArrowheads="1"/>
            </p:cNvSpPr>
            <p:nvPr/>
          </p:nvSpPr>
          <p:spPr bwMode="auto">
            <a:xfrm>
              <a:off x="3552" y="3888"/>
              <a:ext cx="1862"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413" b="1">
                  <a:solidFill>
                    <a:srgbClr val="0000FF"/>
                  </a:solidFill>
                  <a:latin typeface="宋体" pitchFamily="2" charset="-122"/>
                  <a:ea typeface="宋体" pitchFamily="2" charset="-122"/>
                </a:rPr>
                <a:t>腔内有带电体</a:t>
              </a:r>
            </a:p>
          </p:txBody>
        </p:sp>
        <p:sp>
          <p:nvSpPr>
            <p:cNvPr id="727091" name="Rectangle 51"/>
            <p:cNvSpPr>
              <a:spLocks noChangeArrowheads="1"/>
            </p:cNvSpPr>
            <p:nvPr/>
          </p:nvSpPr>
          <p:spPr bwMode="auto">
            <a:xfrm>
              <a:off x="155" y="1108"/>
              <a:ext cx="284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0951" tIns="65476" rIns="130951" bIns="65476">
              <a:spAutoFit/>
            </a:bodyPr>
            <a:lstStyle/>
            <a:p>
              <a:pPr algn="l" eaLnBrk="0" hangingPunct="0">
                <a:lnSpc>
                  <a:spcPct val="120000"/>
                </a:lnSpc>
              </a:pPr>
              <a:r>
                <a:rPr lang="en-US" altLang="zh-CN" b="1" dirty="0">
                  <a:solidFill>
                    <a:srgbClr val="0000FF"/>
                  </a:solidFill>
                  <a:latin typeface="宋体" panose="02010600030101010101" pitchFamily="2" charset="-122"/>
                  <a:ea typeface="宋体" pitchFamily="2" charset="-122"/>
                </a:rPr>
                <a:t>2.</a:t>
              </a:r>
              <a:r>
                <a:rPr lang="zh-CN" altLang="en-US" b="1" dirty="0">
                  <a:solidFill>
                    <a:srgbClr val="0000FF"/>
                  </a:solidFill>
                  <a:latin typeface="宋体" panose="02010600030101010101" pitchFamily="2" charset="-122"/>
                  <a:ea typeface="宋体" pitchFamily="2" charset="-122"/>
                </a:rPr>
                <a:t>腔内有带电体</a:t>
              </a:r>
              <a:r>
                <a:rPr lang="zh-CN" altLang="en-US" b="1" dirty="0">
                  <a:solidFill>
                    <a:schemeClr val="tx2"/>
                  </a:solidFill>
                  <a:latin typeface="宋体" pitchFamily="2" charset="-122"/>
                  <a:ea typeface="宋体" pitchFamily="2" charset="-122"/>
                </a:rPr>
                <a:t>    </a:t>
              </a:r>
            </a:p>
          </p:txBody>
        </p:sp>
      </p:grpSp>
      <p:sp>
        <p:nvSpPr>
          <p:cNvPr id="727094" name="Rectangle 54"/>
          <p:cNvSpPr>
            <a:spLocks noChangeArrowheads="1"/>
          </p:cNvSpPr>
          <p:nvPr/>
        </p:nvSpPr>
        <p:spPr bwMode="auto">
          <a:xfrm>
            <a:off x="708675" y="1694583"/>
            <a:ext cx="75713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zh-CN" altLang="en-US" b="1" dirty="0">
                <a:solidFill>
                  <a:schemeClr val="tx1"/>
                </a:solidFill>
                <a:latin typeface="宋体" pitchFamily="2" charset="-122"/>
                <a:ea typeface="宋体" pitchFamily="2" charset="-122"/>
              </a:rPr>
              <a:t>空腔导体外面的电场</a:t>
            </a:r>
            <a:r>
              <a:rPr lang="zh-CN" altLang="en-US" b="1" dirty="0">
                <a:solidFill>
                  <a:srgbClr val="EC2A0A"/>
                </a:solidFill>
                <a:latin typeface="宋体" pitchFamily="2" charset="-122"/>
                <a:ea typeface="宋体" pitchFamily="2" charset="-122"/>
              </a:rPr>
              <a:t>不会</a:t>
            </a:r>
            <a:r>
              <a:rPr lang="zh-CN" altLang="en-US" b="1" dirty="0">
                <a:solidFill>
                  <a:schemeClr val="tx1"/>
                </a:solidFill>
                <a:latin typeface="宋体" pitchFamily="2" charset="-122"/>
                <a:ea typeface="宋体" pitchFamily="2" charset="-122"/>
              </a:rPr>
              <a:t>影响腔内。</a:t>
            </a:r>
          </a:p>
        </p:txBody>
      </p:sp>
      <p:sp>
        <p:nvSpPr>
          <p:cNvPr id="727095" name="Rectangle 55"/>
          <p:cNvSpPr>
            <a:spLocks noChangeArrowheads="1"/>
          </p:cNvSpPr>
          <p:nvPr/>
        </p:nvSpPr>
        <p:spPr bwMode="auto">
          <a:xfrm>
            <a:off x="708675" y="3367862"/>
            <a:ext cx="8494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zh-CN" altLang="en-US" b="1" dirty="0">
                <a:solidFill>
                  <a:schemeClr val="tx1"/>
                </a:solidFill>
                <a:latin typeface="宋体" pitchFamily="2" charset="-122"/>
                <a:ea typeface="宋体" pitchFamily="2" charset="-122"/>
              </a:rPr>
              <a:t>不接地时：腔内电场影响导体外界空间；</a:t>
            </a:r>
          </a:p>
        </p:txBody>
      </p:sp>
      <p:sp>
        <p:nvSpPr>
          <p:cNvPr id="727096" name="Text Box 56"/>
          <p:cNvSpPr txBox="1">
            <a:spLocks noChangeArrowheads="1"/>
          </p:cNvSpPr>
          <p:nvPr/>
        </p:nvSpPr>
        <p:spPr bwMode="auto">
          <a:xfrm>
            <a:off x="770436" y="4129623"/>
            <a:ext cx="8494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zh-CN" altLang="en-US" b="1" dirty="0" smtClean="0">
                <a:solidFill>
                  <a:schemeClr val="tx1"/>
                </a:solidFill>
                <a:latin typeface="宋体" pitchFamily="2" charset="-122"/>
                <a:ea typeface="宋体" pitchFamily="2" charset="-122"/>
              </a:rPr>
              <a:t>接地时：腔内电场</a:t>
            </a:r>
            <a:r>
              <a:rPr lang="zh-CN" altLang="en-US" b="1" dirty="0" smtClean="0">
                <a:solidFill>
                  <a:srgbClr val="EC2A0A"/>
                </a:solidFill>
                <a:latin typeface="宋体" pitchFamily="2" charset="-122"/>
                <a:ea typeface="宋体" pitchFamily="2" charset="-122"/>
              </a:rPr>
              <a:t>不</a:t>
            </a:r>
            <a:r>
              <a:rPr lang="zh-CN" altLang="en-US" b="1" dirty="0" smtClean="0">
                <a:solidFill>
                  <a:schemeClr val="tx1"/>
                </a:solidFill>
                <a:latin typeface="宋体" pitchFamily="2" charset="-122"/>
                <a:ea typeface="宋体" pitchFamily="2" charset="-122"/>
              </a:rPr>
              <a:t>影响导体外界空间。</a:t>
            </a:r>
            <a:endParaRPr lang="zh-CN" altLang="en-US" b="1" dirty="0">
              <a:solidFill>
                <a:schemeClr val="tx1"/>
              </a:solidFill>
              <a:latin typeface="宋体" pitchFamily="2" charset="-122"/>
              <a:ea typeface="宋体" pitchFamily="2" charset="-122"/>
            </a:endParaRPr>
          </a:p>
        </p:txBody>
      </p:sp>
      <p:sp>
        <p:nvSpPr>
          <p:cNvPr id="3" name="TextBox 2"/>
          <p:cNvSpPr txBox="1"/>
          <p:nvPr/>
        </p:nvSpPr>
        <p:spPr>
          <a:xfrm>
            <a:off x="194657" y="5217465"/>
            <a:ext cx="1819723" cy="305724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r>
              <a:rPr lang="zh-CN" altLang="en-US" sz="2400" dirty="0">
                <a:solidFill>
                  <a:srgbClr val="000000"/>
                </a:solidFill>
                <a:latin typeface="宋体" pitchFamily="2" charset="-122"/>
                <a:ea typeface="宋体" pitchFamily="2" charset="-122"/>
              </a:rPr>
              <a:t>当导体空腔内没有带电体时，处于静电平衡的带电导体空腔的内表面没有电荷分布。</a:t>
            </a:r>
          </a:p>
        </p:txBody>
      </p:sp>
    </p:spTree>
    <p:extLst>
      <p:ext uri="{BB962C8B-B14F-4D97-AF65-F5344CB8AC3E}">
        <p14:creationId xmlns:p14="http://schemas.microsoft.com/office/powerpoint/2010/main" val="380629062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727077"/>
                                        </p:tgtEl>
                                        <p:attrNameLst>
                                          <p:attrName>style.visibility</p:attrName>
                                        </p:attrNameLst>
                                      </p:cBhvr>
                                      <p:to>
                                        <p:strVal val="visible"/>
                                      </p:to>
                                    </p:set>
                                    <p:animEffect transition="in" filter="box(out)">
                                      <p:cBhvr>
                                        <p:cTn id="7" dur="1000"/>
                                        <p:tgtEl>
                                          <p:spTgt spid="727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727079"/>
                                        </p:tgtEl>
                                        <p:attrNameLst>
                                          <p:attrName>style.visibility</p:attrName>
                                        </p:attrNameLst>
                                      </p:cBhvr>
                                      <p:to>
                                        <p:strVal val="visible"/>
                                      </p:to>
                                    </p:set>
                                    <p:anim calcmode="lin" valueType="num">
                                      <p:cBhvr additive="base">
                                        <p:cTn id="12" dur="2000" fill="hold"/>
                                        <p:tgtEl>
                                          <p:spTgt spid="727079"/>
                                        </p:tgtEl>
                                        <p:attrNameLst>
                                          <p:attrName>ppt_x</p:attrName>
                                        </p:attrNameLst>
                                      </p:cBhvr>
                                      <p:tavLst>
                                        <p:tav tm="0">
                                          <p:val>
                                            <p:strVal val="1+#ppt_w/2"/>
                                          </p:val>
                                        </p:tav>
                                        <p:tav tm="100000">
                                          <p:val>
                                            <p:strVal val="#ppt_x"/>
                                          </p:val>
                                        </p:tav>
                                      </p:tavLst>
                                    </p:anim>
                                    <p:anim calcmode="lin" valueType="num">
                                      <p:cBhvr additive="base">
                                        <p:cTn id="13" dur="2000" fill="hold"/>
                                        <p:tgtEl>
                                          <p:spTgt spid="72707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9" presetClass="entr" presetSubtype="0" fill="hold" nodeType="afterEffect">
                                  <p:stCondLst>
                                    <p:cond delay="0"/>
                                  </p:stCondLst>
                                  <p:childTnLst>
                                    <p:set>
                                      <p:cBhvr>
                                        <p:cTn id="16" dur="1" fill="hold">
                                          <p:stCondLst>
                                            <p:cond delay="0"/>
                                          </p:stCondLst>
                                        </p:cTn>
                                        <p:tgtEl>
                                          <p:spTgt spid="727078"/>
                                        </p:tgtEl>
                                        <p:attrNameLst>
                                          <p:attrName>style.visibility</p:attrName>
                                        </p:attrNameLst>
                                      </p:cBhvr>
                                      <p:to>
                                        <p:strVal val="visible"/>
                                      </p:to>
                                    </p:set>
                                    <p:animEffect transition="in" filter="dissolve">
                                      <p:cBhvr>
                                        <p:cTn id="17" dur="1000"/>
                                        <p:tgtEl>
                                          <p:spTgt spid="727078"/>
                                        </p:tgtEl>
                                      </p:cBhvr>
                                    </p:animEffect>
                                  </p:childTnLst>
                                </p:cTn>
                              </p:par>
                              <p:par>
                                <p:cTn id="18" presetID="9" presetClass="exit" presetSubtype="0" fill="hold" grpId="1" nodeType="withEffect">
                                  <p:stCondLst>
                                    <p:cond delay="500"/>
                                  </p:stCondLst>
                                  <p:childTnLst>
                                    <p:animEffect transition="out" filter="dissolve">
                                      <p:cBhvr>
                                        <p:cTn id="19" dur="500"/>
                                        <p:tgtEl>
                                          <p:spTgt spid="727079"/>
                                        </p:tgtEl>
                                      </p:cBhvr>
                                    </p:animEffect>
                                    <p:set>
                                      <p:cBhvr>
                                        <p:cTn id="20" dur="1" fill="hold">
                                          <p:stCondLst>
                                            <p:cond delay="499"/>
                                          </p:stCondLst>
                                        </p:cTn>
                                        <p:tgtEl>
                                          <p:spTgt spid="727079"/>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27094"/>
                                        </p:tgtEl>
                                        <p:attrNameLst>
                                          <p:attrName>style.visibility</p:attrName>
                                        </p:attrNameLst>
                                      </p:cBhvr>
                                      <p:to>
                                        <p:strVal val="visible"/>
                                      </p:to>
                                    </p:set>
                                    <p:animEffect transition="in" filter="box(in)">
                                      <p:cBhvr>
                                        <p:cTn id="25" dur="500"/>
                                        <p:tgtEl>
                                          <p:spTgt spid="72709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727101"/>
                                        </p:tgtEl>
                                        <p:attrNameLst>
                                          <p:attrName>style.visibility</p:attrName>
                                        </p:attrNameLst>
                                      </p:cBhvr>
                                      <p:to>
                                        <p:strVal val="visible"/>
                                      </p:to>
                                    </p:set>
                                    <p:animEffect transition="in" filter="checkerboard(across)">
                                      <p:cBhvr>
                                        <p:cTn id="30" dur="500"/>
                                        <p:tgtEl>
                                          <p:spTgt spid="72710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nodeType="clickEffect">
                                  <p:stCondLst>
                                    <p:cond delay="0"/>
                                  </p:stCondLst>
                                  <p:childTnLst>
                                    <p:set>
                                      <p:cBhvr>
                                        <p:cTn id="34" dur="1" fill="hold">
                                          <p:stCondLst>
                                            <p:cond delay="0"/>
                                          </p:stCondLst>
                                        </p:cTn>
                                        <p:tgtEl>
                                          <p:spTgt spid="727075"/>
                                        </p:tgtEl>
                                        <p:attrNameLst>
                                          <p:attrName>style.visibility</p:attrName>
                                        </p:attrNameLst>
                                      </p:cBhvr>
                                      <p:to>
                                        <p:strVal val="visible"/>
                                      </p:to>
                                    </p:set>
                                    <p:animEffect transition="in" filter="box(out)">
                                      <p:cBhvr>
                                        <p:cTn id="35" dur="500"/>
                                        <p:tgtEl>
                                          <p:spTgt spid="72707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727095"/>
                                        </p:tgtEl>
                                        <p:attrNameLst>
                                          <p:attrName>style.visibility</p:attrName>
                                        </p:attrNameLst>
                                      </p:cBhvr>
                                      <p:to>
                                        <p:strVal val="visible"/>
                                      </p:to>
                                    </p:set>
                                    <p:animEffect transition="in" filter="box(in)">
                                      <p:cBhvr>
                                        <p:cTn id="40" dur="500"/>
                                        <p:tgtEl>
                                          <p:spTgt spid="72709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727082"/>
                                        </p:tgtEl>
                                        <p:attrNameLst>
                                          <p:attrName>style.visibility</p:attrName>
                                        </p:attrNameLst>
                                      </p:cBhvr>
                                      <p:to>
                                        <p:strVal val="visible"/>
                                      </p:to>
                                    </p:set>
                                    <p:animEffect transition="in" filter="wipe(up)">
                                      <p:cBhvr>
                                        <p:cTn id="45" dur="1000"/>
                                        <p:tgtEl>
                                          <p:spTgt spid="727082"/>
                                        </p:tgtEl>
                                      </p:cBhvr>
                                    </p:animEffect>
                                  </p:childTnLst>
                                </p:cTn>
                              </p:par>
                            </p:childTnLst>
                          </p:cTn>
                        </p:par>
                        <p:par>
                          <p:cTn id="46" fill="hold" nodeType="afterGroup">
                            <p:stCondLst>
                              <p:cond delay="1000"/>
                            </p:stCondLst>
                            <p:childTnLst>
                              <p:par>
                                <p:cTn id="47" presetID="9" presetClass="entr" presetSubtype="0" fill="hold" nodeType="afterEffect">
                                  <p:stCondLst>
                                    <p:cond delay="0"/>
                                  </p:stCondLst>
                                  <p:childTnLst>
                                    <p:set>
                                      <p:cBhvr>
                                        <p:cTn id="48" dur="1" fill="hold">
                                          <p:stCondLst>
                                            <p:cond delay="0"/>
                                          </p:stCondLst>
                                        </p:cTn>
                                        <p:tgtEl>
                                          <p:spTgt spid="727076"/>
                                        </p:tgtEl>
                                        <p:attrNameLst>
                                          <p:attrName>style.visibility</p:attrName>
                                        </p:attrNameLst>
                                      </p:cBhvr>
                                      <p:to>
                                        <p:strVal val="visible"/>
                                      </p:to>
                                    </p:set>
                                    <p:animEffect transition="in" filter="dissolve">
                                      <p:cBhvr>
                                        <p:cTn id="49" dur="500"/>
                                        <p:tgtEl>
                                          <p:spTgt spid="727076"/>
                                        </p:tgtEl>
                                      </p:cBhvr>
                                    </p:animEffect>
                                  </p:childTnLst>
                                </p:cTn>
                              </p:par>
                              <p:par>
                                <p:cTn id="50" presetID="1" presetClass="exit" presetSubtype="0" fill="hold" nodeType="withEffect">
                                  <p:stCondLst>
                                    <p:cond delay="0"/>
                                  </p:stCondLst>
                                  <p:childTnLst>
                                    <p:set>
                                      <p:cBhvr>
                                        <p:cTn id="51" dur="1" fill="hold">
                                          <p:stCondLst>
                                            <p:cond delay="0"/>
                                          </p:stCondLst>
                                        </p:cTn>
                                        <p:tgtEl>
                                          <p:spTgt spid="72708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727096"/>
                                        </p:tgtEl>
                                        <p:attrNameLst>
                                          <p:attrName>style.visibility</p:attrName>
                                        </p:attrNameLst>
                                      </p:cBhvr>
                                      <p:to>
                                        <p:strVal val="visible"/>
                                      </p:to>
                                    </p:set>
                                    <p:animEffect transition="in" filter="box(in)">
                                      <p:cBhvr>
                                        <p:cTn id="56" dur="500"/>
                                        <p:tgtEl>
                                          <p:spTgt spid="727096"/>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9" grpId="0" animBg="1"/>
      <p:bldP spid="727079" grpId="1" animBg="1"/>
      <p:bldP spid="727094" grpId="0"/>
      <p:bldP spid="727095" grpId="0"/>
      <p:bldP spid="727096"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525736" y="2468688"/>
            <a:ext cx="11449272" cy="157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0951" tIns="65476" rIns="130951" bIns="65476">
            <a:spAutoFit/>
          </a:bodyPr>
          <a:lstStyle/>
          <a:p>
            <a:pPr algn="l" eaLnBrk="0" hangingPunct="0">
              <a:lnSpc>
                <a:spcPct val="120000"/>
              </a:lnSpc>
            </a:pPr>
            <a:r>
              <a:rPr lang="zh-CN" altLang="en-US" sz="4200" b="1" dirty="0">
                <a:solidFill>
                  <a:srgbClr val="0000FF"/>
                </a:solidFill>
                <a:latin typeface="宋体" pitchFamily="2" charset="-122"/>
                <a:ea typeface="宋体" pitchFamily="2" charset="-122"/>
              </a:rPr>
              <a:t>静电屏蔽：</a:t>
            </a:r>
            <a:r>
              <a:rPr lang="zh-CN" altLang="en-US" b="1" dirty="0">
                <a:solidFill>
                  <a:schemeClr val="tx1"/>
                </a:solidFill>
                <a:latin typeface="宋体" pitchFamily="2" charset="-122"/>
                <a:ea typeface="宋体" pitchFamily="2" charset="-122"/>
              </a:rPr>
              <a:t>导体空腔内不受外电场影响或接地的空腔导体使外界空间不受腔内电场影响的现象。</a:t>
            </a:r>
            <a:endParaRPr lang="zh-CN" altLang="en-US" b="1" dirty="0">
              <a:solidFill>
                <a:srgbClr val="000066"/>
              </a:solidFill>
              <a:latin typeface="宋体" pitchFamily="2" charset="-122"/>
              <a:ea typeface="宋体" pitchFamily="2" charset="-122"/>
            </a:endParaRPr>
          </a:p>
        </p:txBody>
      </p:sp>
    </p:spTree>
    <p:extLst>
      <p:ext uri="{BB962C8B-B14F-4D97-AF65-F5344CB8AC3E}">
        <p14:creationId xmlns:p14="http://schemas.microsoft.com/office/powerpoint/2010/main" val="2045123494"/>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2"/>
          <p:cNvSpPr txBox="1">
            <a:spLocks/>
          </p:cNvSpPr>
          <p:nvPr/>
        </p:nvSpPr>
        <p:spPr>
          <a:xfrm>
            <a:off x="852526" y="484312"/>
            <a:ext cx="7776864" cy="1188933"/>
          </a:xfrm>
          <a:prstGeom prst="rect">
            <a:avLst/>
          </a:prstGeom>
        </p:spPr>
        <p:txBody>
          <a:bodyPr/>
          <a:lstStyle>
            <a:lvl1pPr marL="465364" indent="-465364">
              <a:spcBef>
                <a:spcPts val="600"/>
              </a:spcBef>
              <a:buClr>
                <a:srgbClr val="0000FF"/>
              </a:buClr>
              <a:buSzPct val="65000"/>
              <a:buFont typeface="Wingdings"/>
              <a:buChar char="➢"/>
              <a:defRPr sz="3800">
                <a:latin typeface="SimHei"/>
                <a:ea typeface="SimHei"/>
                <a:cs typeface="SimHei"/>
                <a:sym typeface="SimHei"/>
              </a:defRPr>
            </a:lvl1pPr>
            <a:lvl2pPr marL="909637" indent="-452437">
              <a:spcBef>
                <a:spcPts val="600"/>
              </a:spcBef>
              <a:buClr>
                <a:srgbClr val="0000FF"/>
              </a:buClr>
              <a:buSzPct val="60000"/>
              <a:buFont typeface="Wingdings"/>
              <a:buChar char="➢"/>
              <a:defRPr sz="3800">
                <a:latin typeface="SimHei"/>
                <a:ea typeface="SimHei"/>
                <a:cs typeface="SimHei"/>
                <a:sym typeface="SimHei"/>
              </a:defRPr>
            </a:lvl2pPr>
            <a:lvl3pPr marL="1348739" indent="-434339">
              <a:spcBef>
                <a:spcPts val="600"/>
              </a:spcBef>
              <a:buClr>
                <a:srgbClr val="0000FF"/>
              </a:buClr>
              <a:buSzPct val="65000"/>
              <a:buFont typeface="Wingdings"/>
              <a:buChar char="➢"/>
              <a:defRPr sz="3800">
                <a:latin typeface="SimHei"/>
                <a:ea typeface="SimHei"/>
                <a:cs typeface="SimHei"/>
                <a:sym typeface="SimHei"/>
              </a:defRPr>
            </a:lvl3pPr>
            <a:lvl4pPr marL="1624171" indent="-600234">
              <a:spcBef>
                <a:spcPts val="600"/>
              </a:spcBef>
              <a:buClr>
                <a:srgbClr val="0000FF"/>
              </a:buClr>
              <a:buSzPct val="70000"/>
              <a:buFont typeface="Wingdings"/>
              <a:buChar char="❑"/>
              <a:defRPr sz="3800">
                <a:latin typeface="SimHei"/>
                <a:ea typeface="SimHei"/>
                <a:cs typeface="SimHei"/>
                <a:sym typeface="SimHei"/>
              </a:defRPr>
            </a:lvl4pPr>
            <a:lvl5pPr marL="1986915" indent="-645477">
              <a:spcBef>
                <a:spcPts val="600"/>
              </a:spcBef>
              <a:buClr>
                <a:srgbClr val="0000FF"/>
              </a:buClr>
              <a:buSzPct val="75000"/>
              <a:buFont typeface="Wingdings"/>
              <a:buChar char="▪"/>
              <a:defRPr sz="3800">
                <a:latin typeface="SimHei"/>
                <a:ea typeface="SimHei"/>
                <a:cs typeface="SimHei"/>
                <a:sym typeface="SimHei"/>
              </a:defRPr>
            </a:lvl5pPr>
            <a:lvl6pPr marL="2444115" indent="-645477">
              <a:spcBef>
                <a:spcPts val="600"/>
              </a:spcBef>
              <a:buClr>
                <a:srgbClr val="0000FF"/>
              </a:buClr>
              <a:buSzPct val="75000"/>
              <a:buFont typeface="Wingdings"/>
              <a:buChar char="▪"/>
              <a:defRPr sz="3800">
                <a:latin typeface="SimHei"/>
                <a:ea typeface="SimHei"/>
                <a:cs typeface="SimHei"/>
                <a:sym typeface="SimHei"/>
              </a:defRPr>
            </a:lvl6pPr>
            <a:lvl7pPr marL="2901315" indent="-645477">
              <a:spcBef>
                <a:spcPts val="600"/>
              </a:spcBef>
              <a:buClr>
                <a:srgbClr val="0000FF"/>
              </a:buClr>
              <a:buSzPct val="75000"/>
              <a:buFont typeface="Wingdings"/>
              <a:buChar char="▪"/>
              <a:defRPr sz="3800">
                <a:latin typeface="SimHei"/>
                <a:ea typeface="SimHei"/>
                <a:cs typeface="SimHei"/>
                <a:sym typeface="SimHei"/>
              </a:defRPr>
            </a:lvl7pPr>
            <a:lvl8pPr marL="3358515" indent="-645477">
              <a:spcBef>
                <a:spcPts val="600"/>
              </a:spcBef>
              <a:buClr>
                <a:srgbClr val="0000FF"/>
              </a:buClr>
              <a:buSzPct val="75000"/>
              <a:buFont typeface="Wingdings"/>
              <a:buChar char="▪"/>
              <a:defRPr sz="3800">
                <a:latin typeface="SimHei"/>
                <a:ea typeface="SimHei"/>
                <a:cs typeface="SimHei"/>
                <a:sym typeface="SimHei"/>
              </a:defRPr>
            </a:lvl8pPr>
            <a:lvl9pPr marL="3815715" indent="-645477">
              <a:spcBef>
                <a:spcPts val="600"/>
              </a:spcBef>
              <a:buClr>
                <a:srgbClr val="0000FF"/>
              </a:buClr>
              <a:buSzPct val="75000"/>
              <a:buFont typeface="Wingdings"/>
              <a:buChar char="▪"/>
              <a:defRPr sz="3800">
                <a:latin typeface="SimHei"/>
                <a:ea typeface="SimHei"/>
                <a:cs typeface="SimHei"/>
                <a:sym typeface="SimHei"/>
              </a:defRPr>
            </a:lvl9pPr>
          </a:lstStyle>
          <a:p>
            <a:r>
              <a:rPr lang="zh-CN" altLang="en-US" b="1" dirty="0" smtClean="0"/>
              <a:t>结论</a:t>
            </a:r>
            <a:r>
              <a:rPr lang="en-US" altLang="zh-CN" b="1" dirty="0" smtClean="0"/>
              <a:t>1</a:t>
            </a:r>
            <a:r>
              <a:rPr lang="zh-CN" altLang="en-US" b="1" dirty="0" smtClean="0"/>
              <a:t>、空腔导体可以屏蔽外电场</a:t>
            </a:r>
            <a:r>
              <a:rPr lang="en-US" altLang="zh-CN" b="1" dirty="0" smtClean="0"/>
              <a:t>  </a:t>
            </a:r>
            <a:endParaRPr lang="zh-CN" altLang="en-US" b="1" dirty="0"/>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808" y="1103687"/>
            <a:ext cx="10153128" cy="4847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8788" y="5946437"/>
            <a:ext cx="12559941"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腔内的</a:t>
            </a:r>
            <a:r>
              <a:rPr lang="zh-CN" altLang="en-US" b="1" dirty="0" smtClean="0">
                <a:solidFill>
                  <a:srgbClr val="000000"/>
                </a:solidFill>
              </a:rPr>
              <a:t>电场</a:t>
            </a: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与腔外（包括壳的外表面）的电荷及分布无关。</a:t>
            </a:r>
            <a:endParaRPr kumimoji="0" lang="en-US" altLang="zh-CN" sz="3600" b="1" i="0" u="none" strike="noStrike" cap="none" spc="0" normalizeH="0" baseline="0" dirty="0" smtClean="0">
              <a:ln>
                <a:noFill/>
              </a:ln>
              <a:solidFill>
                <a:srgbClr val="000000"/>
              </a:solidFill>
              <a:effectLst/>
              <a:uFillTx/>
              <a:latin typeface="+mn-lt"/>
              <a:ea typeface="+mn-ea"/>
              <a:cs typeface="+mn-cs"/>
              <a:sym typeface="Helvetica Light"/>
            </a:endParaRPr>
          </a:p>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在腔内：</a:t>
            </a:r>
            <a:endParaRPr kumimoji="0" lang="zh-CN" altLang="en-US" sz="3600" b="1" i="0" u="none" strike="noStrike" cap="none" spc="0" normalizeH="0" baseline="0" dirty="0">
              <a:ln>
                <a:noFill/>
              </a:ln>
              <a:solidFill>
                <a:srgbClr val="000000"/>
              </a:solidFill>
              <a:effectLst/>
              <a:uFillTx/>
              <a:latin typeface="+mn-lt"/>
              <a:ea typeface="+mn-ea"/>
              <a:cs typeface="+mn-cs"/>
              <a:sym typeface="Helvetica Ligh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31050711"/>
              </p:ext>
            </p:extLst>
          </p:nvPr>
        </p:nvGraphicFramePr>
        <p:xfrm>
          <a:off x="3492463" y="6965032"/>
          <a:ext cx="6091882" cy="877644"/>
        </p:xfrm>
        <a:graphic>
          <a:graphicData uri="http://schemas.openxmlformats.org/presentationml/2006/ole">
            <mc:AlternateContent xmlns:mc="http://schemas.openxmlformats.org/markup-compatibility/2006">
              <mc:Choice xmlns:v="urn:schemas-microsoft-com:vml" Requires="v">
                <p:oleObj spid="_x0000_s5184" name="Equation" r:id="rId4" imgW="1498320" imgH="215640" progId="Equation.DSMT4">
                  <p:embed/>
                </p:oleObj>
              </mc:Choice>
              <mc:Fallback>
                <p:oleObj name="Equation" r:id="rId4" imgW="1498320" imgH="215640" progId="Equation.DSMT4">
                  <p:embed/>
                  <p:pic>
                    <p:nvPicPr>
                      <p:cNvPr id="0" name=""/>
                      <p:cNvPicPr/>
                      <p:nvPr/>
                    </p:nvPicPr>
                    <p:blipFill>
                      <a:blip r:embed="rId5"/>
                      <a:stretch>
                        <a:fillRect/>
                      </a:stretch>
                    </p:blipFill>
                    <p:spPr>
                      <a:xfrm>
                        <a:off x="3492463" y="6965032"/>
                        <a:ext cx="6091882" cy="877644"/>
                      </a:xfrm>
                      <a:prstGeom prst="rect">
                        <a:avLst/>
                      </a:prstGeom>
                    </p:spPr>
                  </p:pic>
                </p:oleObj>
              </mc:Fallback>
            </mc:AlternateContent>
          </a:graphicData>
        </a:graphic>
      </p:graphicFrame>
      <p:sp>
        <p:nvSpPr>
          <p:cNvPr id="6" name="TextBox 5"/>
          <p:cNvSpPr txBox="1"/>
          <p:nvPr/>
        </p:nvSpPr>
        <p:spPr>
          <a:xfrm>
            <a:off x="408788" y="7894283"/>
            <a:ext cx="12313368"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导体空腔外的所有电荷，和导体壳外表面的电荷包括感应电荷在腔内每一点激发的场相互抵消。</a:t>
            </a:r>
            <a:endParaRPr kumimoji="0" lang="zh-CN" altLang="en-US" sz="3600" b="1" i="0" u="none" strike="noStrike" cap="none" spc="0" normalizeH="0" baseline="0" dirty="0">
              <a:ln>
                <a:noFill/>
              </a:ln>
              <a:solidFill>
                <a:srgbClr val="000000"/>
              </a:solidFill>
              <a:effectLst/>
              <a:uFillTx/>
              <a:latin typeface="+mn-lt"/>
              <a:ea typeface="+mn-ea"/>
              <a:cs typeface="+mn-cs"/>
              <a:sym typeface="Helvetica Light"/>
            </a:endParaRPr>
          </a:p>
        </p:txBody>
      </p:sp>
    </p:spTree>
    <p:extLst>
      <p:ext uri="{BB962C8B-B14F-4D97-AF65-F5344CB8AC3E}">
        <p14:creationId xmlns:p14="http://schemas.microsoft.com/office/powerpoint/2010/main" val="2383025181"/>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741760" y="340296"/>
            <a:ext cx="11828825" cy="1548973"/>
          </a:xfrm>
        </p:spPr>
        <p:txBody>
          <a:bodyPr/>
          <a:lstStyle/>
          <a:p>
            <a:pPr>
              <a:lnSpc>
                <a:spcPct val="125000"/>
              </a:lnSpc>
              <a:spcBef>
                <a:spcPts val="0"/>
              </a:spcBef>
            </a:pPr>
            <a:r>
              <a:rPr lang="zh-CN" altLang="en-US" b="1" dirty="0" smtClean="0">
                <a:latin typeface="宋体" pitchFamily="2" charset="-122"/>
                <a:ea typeface="宋体" pitchFamily="2" charset="-122"/>
              </a:rPr>
              <a:t>结论</a:t>
            </a:r>
            <a:r>
              <a:rPr lang="en-US" altLang="zh-CN" b="1" dirty="0" smtClean="0">
                <a:latin typeface="宋体" pitchFamily="2" charset="-122"/>
                <a:ea typeface="宋体" pitchFamily="2" charset="-122"/>
              </a:rPr>
              <a:t>2</a:t>
            </a:r>
            <a:r>
              <a:rPr lang="zh-CN" altLang="en-US" b="1" dirty="0" smtClean="0">
                <a:latin typeface="宋体" pitchFamily="2" charset="-122"/>
                <a:ea typeface="宋体" pitchFamily="2" charset="-122"/>
              </a:rPr>
              <a:t>、接地的空腔导体既可以屏蔽外电场，也可以屏蔽内电场。</a:t>
            </a:r>
            <a:endParaRPr lang="zh-CN" altLang="en-US" b="1" dirty="0">
              <a:latin typeface="宋体" pitchFamily="2" charset="-122"/>
              <a:ea typeface="宋体" pitchFamily="2"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800" y="1852464"/>
            <a:ext cx="10585176" cy="5360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01800" y="7213075"/>
            <a:ext cx="11449272"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导体空腔内的电荷和腔内表面的感应电荷，在腔外每一点激发的场相互抵消，因而对腔外电场没有任何贡献。</a:t>
            </a:r>
            <a:endParaRPr kumimoji="0" lang="zh-CN" altLang="en-US" sz="3600" b="1" i="0" u="none" strike="noStrike" cap="none" spc="0" normalizeH="0" baseline="0" dirty="0">
              <a:ln>
                <a:noFill/>
              </a:ln>
              <a:solidFill>
                <a:srgbClr val="000000"/>
              </a:solidFill>
              <a:effectLst/>
              <a:uFillTx/>
              <a:latin typeface="+mn-lt"/>
              <a:ea typeface="+mn-ea"/>
              <a:cs typeface="+mn-cs"/>
              <a:sym typeface="Helvetica Light"/>
            </a:endParaRPr>
          </a:p>
        </p:txBody>
      </p:sp>
    </p:spTree>
    <p:extLst>
      <p:ext uri="{BB962C8B-B14F-4D97-AF65-F5344CB8AC3E}">
        <p14:creationId xmlns:p14="http://schemas.microsoft.com/office/powerpoint/2010/main" val="2847007587"/>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solidFill>
                  <a:srgbClr val="0000CC"/>
                </a:solidFill>
                <a:latin typeface="宋体" pitchFamily="2" charset="-122"/>
                <a:ea typeface="宋体" pitchFamily="2" charset="-122"/>
              </a:rPr>
              <a:t>静电屏蔽</a:t>
            </a:r>
            <a:endParaRPr lang="zh-CN" altLang="en-US" sz="3600" b="1" dirty="0">
              <a:solidFill>
                <a:srgbClr val="0000CC"/>
              </a:solidFill>
              <a:latin typeface="宋体" pitchFamily="2" charset="-122"/>
              <a:ea typeface="宋体" pitchFamily="2" charset="-122"/>
            </a:endParaRPr>
          </a:p>
        </p:txBody>
      </p:sp>
      <p:sp>
        <p:nvSpPr>
          <p:cNvPr id="3" name="TextBox 2"/>
          <p:cNvSpPr txBox="1"/>
          <p:nvPr/>
        </p:nvSpPr>
        <p:spPr>
          <a:xfrm>
            <a:off x="914439" y="1281916"/>
            <a:ext cx="10646560"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三、腔内电荷</a:t>
            </a:r>
            <a:r>
              <a:rPr kumimoji="0" lang="en-US" altLang="zh-CN" sz="3600" b="1" i="0" u="none" strike="noStrike" cap="none" spc="0" normalizeH="0" baseline="0" dirty="0" smtClean="0">
                <a:ln>
                  <a:noFill/>
                </a:ln>
                <a:solidFill>
                  <a:srgbClr val="000000"/>
                </a:solidFill>
                <a:effectLst/>
                <a:uFillTx/>
                <a:latin typeface="+mn-lt"/>
                <a:ea typeface="+mn-ea"/>
                <a:cs typeface="+mn-cs"/>
                <a:sym typeface="Helvetica Light"/>
              </a:rPr>
              <a:t>q</a:t>
            </a:r>
            <a:r>
              <a:rPr kumimoji="0" lang="zh-CN" altLang="en-US" sz="3600" b="1" i="0" u="none" strike="noStrike" cap="none" spc="0" normalizeH="0" baseline="0" dirty="0" smtClean="0">
                <a:ln>
                  <a:noFill/>
                </a:ln>
                <a:solidFill>
                  <a:srgbClr val="000000"/>
                </a:solidFill>
                <a:effectLst/>
                <a:uFillTx/>
                <a:latin typeface="+mn-lt"/>
                <a:ea typeface="+mn-ea"/>
                <a:cs typeface="+mn-cs"/>
                <a:sym typeface="Helvetica Light"/>
              </a:rPr>
              <a:t>的位置移动时，对腔内、腔外的电场分布有无影响？</a:t>
            </a:r>
            <a:endParaRPr kumimoji="0" lang="zh-CN" altLang="en-US" sz="3600" b="1" i="0" u="none" strike="noStrike" cap="none" spc="0" normalizeH="0" baseline="0" dirty="0">
              <a:ln>
                <a:noFill/>
              </a:ln>
              <a:solidFill>
                <a:srgbClr val="000000"/>
              </a:solidFill>
              <a:effectLst/>
              <a:uFillTx/>
              <a:latin typeface="+mn-lt"/>
              <a:ea typeface="+mn-ea"/>
              <a:cs typeface="+mn-cs"/>
              <a:sym typeface="Helvetica Light"/>
            </a:endParaRP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8024" y="3179473"/>
            <a:ext cx="6239390" cy="2693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65896" y="6106453"/>
            <a:ext cx="10297144"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对腔内的电荷分布及电场分布有影响，对腔外的无影响，无论是否接地。</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24212507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776045" y="2230990"/>
            <a:ext cx="12097344" cy="50885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FF0000"/>
                </a:solidFill>
              </a:rPr>
              <a:t>在一个孤立的导体球壳内，若在偏离球中心处放一个点电荷，则在球壳内、外表面上将出现感应电荷，其分布将是</a:t>
            </a:r>
            <a:r>
              <a:rPr lang="zh-CN" altLang="en-US" b="1" dirty="0" smtClean="0">
                <a:solidFill>
                  <a:srgbClr val="FF0000"/>
                </a:solidFill>
              </a:rPr>
              <a:t>：</a:t>
            </a:r>
            <a:endParaRPr lang="en-US" altLang="zh-CN" b="1" dirty="0" smtClean="0">
              <a:solidFill>
                <a:srgbClr val="FF0000"/>
              </a:solidFill>
            </a:endParaRPr>
          </a:p>
          <a:p>
            <a:pPr algn="l" rtl="0" latinLnBrk="1" hangingPunct="0">
              <a:lnSpc>
                <a:spcPct val="150000"/>
              </a:lnSpc>
            </a:pPr>
            <a:r>
              <a:rPr lang="en-US" altLang="zh-CN" b="1" dirty="0">
                <a:solidFill>
                  <a:srgbClr val="000000"/>
                </a:solidFill>
              </a:rPr>
              <a:t>A.</a:t>
            </a:r>
            <a:r>
              <a:rPr lang="zh-CN" altLang="en-US" b="1" dirty="0">
                <a:solidFill>
                  <a:srgbClr val="000000"/>
                </a:solidFill>
              </a:rPr>
              <a:t>内表面均匀，外表面也均匀。</a:t>
            </a:r>
          </a:p>
          <a:p>
            <a:pPr algn="l" rtl="0" latinLnBrk="1" hangingPunct="0">
              <a:lnSpc>
                <a:spcPct val="150000"/>
              </a:lnSpc>
            </a:pPr>
            <a:r>
              <a:rPr lang="en-US" altLang="zh-CN" b="1" dirty="0">
                <a:solidFill>
                  <a:srgbClr val="000000"/>
                </a:solidFill>
              </a:rPr>
              <a:t>B.</a:t>
            </a:r>
            <a:r>
              <a:rPr lang="zh-CN" altLang="en-US" b="1" dirty="0">
                <a:solidFill>
                  <a:srgbClr val="000000"/>
                </a:solidFill>
              </a:rPr>
              <a:t>内表面不均匀，外表面均匀。</a:t>
            </a:r>
          </a:p>
          <a:p>
            <a:pPr algn="l" rtl="0" latinLnBrk="1" hangingPunct="0">
              <a:lnSpc>
                <a:spcPct val="150000"/>
              </a:lnSpc>
            </a:pPr>
            <a:r>
              <a:rPr lang="en-US" altLang="zh-CN" b="1" dirty="0">
                <a:solidFill>
                  <a:srgbClr val="000000"/>
                </a:solidFill>
              </a:rPr>
              <a:t>C.</a:t>
            </a:r>
            <a:r>
              <a:rPr lang="zh-CN" altLang="en-US" b="1" dirty="0">
                <a:solidFill>
                  <a:srgbClr val="000000"/>
                </a:solidFill>
              </a:rPr>
              <a:t>内表面均匀，外表面不均匀。</a:t>
            </a:r>
          </a:p>
          <a:p>
            <a:pPr algn="l" rtl="0" latinLnBrk="1" hangingPunct="0">
              <a:lnSpc>
                <a:spcPct val="150000"/>
              </a:lnSpc>
            </a:pPr>
            <a:r>
              <a:rPr lang="en-US" altLang="zh-CN" b="1" dirty="0">
                <a:solidFill>
                  <a:srgbClr val="000000"/>
                </a:solidFill>
              </a:rPr>
              <a:t>D.</a:t>
            </a:r>
            <a:r>
              <a:rPr lang="zh-CN" altLang="en-US" b="1" dirty="0">
                <a:solidFill>
                  <a:srgbClr val="000000"/>
                </a:solidFill>
              </a:rPr>
              <a:t>内表面不均匀，外表面也不均匀。</a:t>
            </a:r>
          </a:p>
        </p:txBody>
      </p:sp>
      <p:sp>
        <p:nvSpPr>
          <p:cNvPr id="3" name="TextBox 2"/>
          <p:cNvSpPr txBox="1"/>
          <p:nvPr/>
        </p:nvSpPr>
        <p:spPr>
          <a:xfrm>
            <a:off x="1029792" y="1097348"/>
            <a:ext cx="532859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000" b="1" i="0" u="none" strike="noStrike" cap="none" spc="0" normalizeH="0" baseline="0" smtClean="0">
                <a:ln>
                  <a:noFill/>
                </a:ln>
                <a:solidFill>
                  <a:srgbClr val="0000CC"/>
                </a:solidFill>
                <a:effectLst/>
                <a:uFillTx/>
                <a:latin typeface="+mn-lt"/>
                <a:ea typeface="+mn-ea"/>
                <a:cs typeface="+mn-cs"/>
                <a:sym typeface="Helvetica Light"/>
              </a:rPr>
              <a:t>单项选择题</a:t>
            </a:r>
            <a:endParaRPr kumimoji="0" lang="zh-CN" altLang="en-US" sz="4000" b="1" i="0" u="none" strike="noStrike" cap="none" spc="0" normalizeH="0" baseline="0">
              <a:ln>
                <a:noFill/>
              </a:ln>
              <a:solidFill>
                <a:srgbClr val="0000CC"/>
              </a:solidFill>
              <a:effectLst/>
              <a:uFillTx/>
              <a:latin typeface="+mn-lt"/>
              <a:ea typeface="+mn-ea"/>
              <a:cs typeface="+mn-cs"/>
              <a:sym typeface="Helvetica Light"/>
            </a:endParaRPr>
          </a:p>
        </p:txBody>
      </p:sp>
    </p:spTree>
    <p:extLst>
      <p:ext uri="{BB962C8B-B14F-4D97-AF65-F5344CB8AC3E}">
        <p14:creationId xmlns:p14="http://schemas.microsoft.com/office/powerpoint/2010/main" val="3865764202"/>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300480" y="635000"/>
            <a:ext cx="11394608"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FF0000"/>
                </a:solidFill>
              </a:rPr>
              <a:t>在一个孤立的导体球壳内，若在偏离球中心处放一个点电荷，则在球壳内、外表面上将出现感应电荷，其分布将是：</a:t>
            </a:r>
            <a:endParaRPr lang="en-US" altLang="zh-CN" sz="3200" b="1" dirty="0">
              <a:solidFill>
                <a:srgbClr val="FF0000"/>
              </a:solidFill>
            </a:endParaRP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内表面均匀，外表面也均匀。</a:t>
            </a: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内表面不均匀，外表面均匀。</a:t>
            </a: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内表面均匀，外表面不均匀。</a:t>
            </a: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rPr>
              <a:t>内表面不均匀，外表面也不均匀。</a:t>
            </a:r>
          </a:p>
        </p:txBody>
      </p:sp>
      <p:sp>
        <p:nvSpPr>
          <p:cNvPr id="8" name="椭圆 7"/>
          <p:cNvSpPr>
            <a:spLocks noChangeAspect="1"/>
          </p:cNvSpPr>
          <p:nvPr>
            <p:custDataLst>
              <p:tags r:id="rId7"/>
            </p:custDataLst>
          </p:nvPr>
        </p:nvSpPr>
        <p:spPr>
          <a:xfrm>
            <a:off x="1584960" y="40538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584960" y="5273040"/>
            <a:ext cx="731520" cy="731520"/>
          </a:xfrm>
          <a:prstGeom prst="ellipse">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584960" y="64922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584960" y="77114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1580378387"/>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3728" y="1204392"/>
            <a:ext cx="11881320" cy="259558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如果所示，真空中有一点电荷</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Q</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及空心金属球壳</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处于静电平衡，球内有一点</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M</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，球壳中有一点</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N</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，问：（</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1</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M</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和</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N</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点处的电场强度为多少？（</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2</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Q</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在</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M</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处、</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N</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处是否产生电场？</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grpSp>
        <p:nvGrpSpPr>
          <p:cNvPr id="7" name="组合 6"/>
          <p:cNvGrpSpPr/>
          <p:nvPr/>
        </p:nvGrpSpPr>
        <p:grpSpPr>
          <a:xfrm>
            <a:off x="2721980" y="4352612"/>
            <a:ext cx="4842538" cy="3208615"/>
            <a:chOff x="1299822" y="4332481"/>
            <a:chExt cx="4842538" cy="3208615"/>
          </a:xfrm>
        </p:grpSpPr>
        <p:sp>
          <p:nvSpPr>
            <p:cNvPr id="2" name="同心圆 1"/>
            <p:cNvSpPr/>
            <p:nvPr/>
          </p:nvSpPr>
          <p:spPr>
            <a:xfrm>
              <a:off x="2397944" y="4660776"/>
              <a:ext cx="3096344" cy="2880320"/>
            </a:xfrm>
            <a:prstGeom prst="donut">
              <a:avLst>
                <a:gd name="adj" fmla="val 9754"/>
              </a:avLst>
            </a:prstGeom>
            <a:solidFill>
              <a:schemeClr val="tx2">
                <a:lumMod val="20000"/>
                <a:lumOff val="80000"/>
              </a:schemeClr>
            </a:solidFill>
            <a:ln w="28575" cap="flat">
              <a:solidFill>
                <a:schemeClr val="tx1"/>
              </a:solid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4" name="椭圆 3"/>
            <p:cNvSpPr/>
            <p:nvPr/>
          </p:nvSpPr>
          <p:spPr>
            <a:xfrm>
              <a:off x="3694088" y="6798310"/>
              <a:ext cx="126014" cy="166722"/>
            </a:xfrm>
            <a:prstGeom prst="ellipse">
              <a:avLst/>
            </a:prstGeom>
            <a:solidFill>
              <a:srgbClr val="0000CC"/>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6" name="椭圆 5"/>
            <p:cNvSpPr/>
            <p:nvPr/>
          </p:nvSpPr>
          <p:spPr>
            <a:xfrm>
              <a:off x="5206256" y="5562821"/>
              <a:ext cx="126014" cy="166722"/>
            </a:xfrm>
            <a:prstGeom prst="ellipse">
              <a:avLst/>
            </a:prstGeom>
            <a:solidFill>
              <a:srgbClr val="FF0000"/>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5" name="TextBox 4"/>
            <p:cNvSpPr txBox="1"/>
            <p:nvPr/>
          </p:nvSpPr>
          <p:spPr>
            <a:xfrm>
              <a:off x="5494288" y="5545264"/>
              <a:ext cx="64807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3600" b="0" i="0" u="none" strike="noStrike" cap="none" spc="0" normalizeH="0" baseline="0" smtClean="0">
                  <a:ln>
                    <a:noFill/>
                  </a:ln>
                  <a:solidFill>
                    <a:srgbClr val="000000"/>
                  </a:solidFill>
                  <a:effectLst/>
                  <a:uFillTx/>
                  <a:latin typeface="+mn-lt"/>
                  <a:ea typeface="+mn-ea"/>
                  <a:cs typeface="+mn-cs"/>
                  <a:sym typeface="Helvetica Light"/>
                </a:rPr>
                <a:t>N</a:t>
              </a:r>
              <a:endParaRPr kumimoji="0" lang="zh-CN" altLang="en-US" sz="3600" b="0" i="0" u="none" strike="noStrike" cap="none" spc="0" normalizeH="0" baseline="0">
                <a:ln>
                  <a:noFill/>
                </a:ln>
                <a:solidFill>
                  <a:srgbClr val="000000"/>
                </a:solidFill>
                <a:effectLst/>
                <a:uFillTx/>
                <a:latin typeface="+mn-lt"/>
                <a:ea typeface="+mn-ea"/>
                <a:cs typeface="+mn-cs"/>
                <a:sym typeface="Helvetica Light"/>
              </a:endParaRPr>
            </a:p>
          </p:txBody>
        </p:sp>
        <p:sp>
          <p:nvSpPr>
            <p:cNvPr id="8" name="TextBox 7"/>
            <p:cNvSpPr txBox="1"/>
            <p:nvPr/>
          </p:nvSpPr>
          <p:spPr>
            <a:xfrm>
              <a:off x="1425836" y="5317887"/>
              <a:ext cx="64807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3600" b="0" i="0" u="none" strike="noStrike" cap="none" spc="0" normalizeH="0" baseline="0" smtClean="0">
                  <a:ln>
                    <a:noFill/>
                  </a:ln>
                  <a:solidFill>
                    <a:srgbClr val="000000"/>
                  </a:solidFill>
                  <a:effectLst/>
                  <a:uFillTx/>
                  <a:latin typeface="+mn-lt"/>
                  <a:ea typeface="+mn-ea"/>
                  <a:cs typeface="+mn-cs"/>
                  <a:sym typeface="Helvetica Light"/>
                </a:rPr>
                <a:t>Q</a:t>
              </a:r>
              <a:endParaRPr kumimoji="0" lang="zh-CN" altLang="en-US" sz="3600" b="0" i="0" u="none" strike="noStrike" cap="none" spc="0" normalizeH="0" baseline="0">
                <a:ln>
                  <a:noFill/>
                </a:ln>
                <a:solidFill>
                  <a:srgbClr val="000000"/>
                </a:solidFill>
                <a:effectLst/>
                <a:uFillTx/>
                <a:latin typeface="+mn-lt"/>
                <a:ea typeface="+mn-ea"/>
                <a:cs typeface="+mn-cs"/>
                <a:sym typeface="Helvetica Light"/>
              </a:endParaRPr>
            </a:p>
          </p:txBody>
        </p:sp>
        <p:sp>
          <p:nvSpPr>
            <p:cNvPr id="9" name="TextBox 8"/>
            <p:cNvSpPr txBox="1"/>
            <p:nvPr/>
          </p:nvSpPr>
          <p:spPr>
            <a:xfrm>
              <a:off x="2073908" y="4332481"/>
              <a:ext cx="64807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3600" b="0" i="0" u="none" strike="noStrike" cap="none" spc="0" normalizeH="0" baseline="0" smtClean="0">
                  <a:ln>
                    <a:noFill/>
                  </a:ln>
                  <a:solidFill>
                    <a:srgbClr val="000000"/>
                  </a:solidFill>
                  <a:effectLst/>
                  <a:uFillTx/>
                  <a:latin typeface="+mn-lt"/>
                  <a:ea typeface="+mn-ea"/>
                  <a:cs typeface="+mn-cs"/>
                  <a:sym typeface="Helvetica Light"/>
                </a:rPr>
                <a:t>A</a:t>
              </a:r>
              <a:endParaRPr kumimoji="0" lang="zh-CN" altLang="en-US" sz="3600" b="0" i="0" u="none" strike="noStrike" cap="none" spc="0" normalizeH="0" baseline="0">
                <a:ln>
                  <a:noFill/>
                </a:ln>
                <a:solidFill>
                  <a:srgbClr val="000000"/>
                </a:solidFill>
                <a:effectLst/>
                <a:uFillTx/>
                <a:latin typeface="+mn-lt"/>
                <a:ea typeface="+mn-ea"/>
                <a:cs typeface="+mn-cs"/>
                <a:sym typeface="Helvetica Light"/>
              </a:endParaRPr>
            </a:p>
          </p:txBody>
        </p:sp>
        <p:sp>
          <p:nvSpPr>
            <p:cNvPr id="10" name="TextBox 9"/>
            <p:cNvSpPr txBox="1"/>
            <p:nvPr/>
          </p:nvSpPr>
          <p:spPr>
            <a:xfrm>
              <a:off x="3907985" y="6294120"/>
              <a:ext cx="64807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3600" b="0" i="0" u="none" strike="noStrike" cap="none" spc="0" normalizeH="0" baseline="0" smtClean="0">
                  <a:ln>
                    <a:noFill/>
                  </a:ln>
                  <a:solidFill>
                    <a:srgbClr val="000000"/>
                  </a:solidFill>
                  <a:effectLst/>
                  <a:uFillTx/>
                  <a:latin typeface="+mn-lt"/>
                  <a:ea typeface="+mn-ea"/>
                  <a:cs typeface="+mn-cs"/>
                  <a:sym typeface="Helvetica Light"/>
                </a:rPr>
                <a:t>M</a:t>
              </a:r>
              <a:endParaRPr kumimoji="0" lang="zh-CN" altLang="en-US" sz="3600" b="0" i="0" u="none" strike="noStrike" cap="none" spc="0" normalizeH="0" baseline="0">
                <a:ln>
                  <a:noFill/>
                </a:ln>
                <a:solidFill>
                  <a:srgbClr val="000000"/>
                </a:solidFill>
                <a:effectLst/>
                <a:uFillTx/>
                <a:latin typeface="+mn-lt"/>
                <a:ea typeface="+mn-ea"/>
                <a:cs typeface="+mn-cs"/>
                <a:sym typeface="Helvetica Light"/>
              </a:endParaRPr>
            </a:p>
          </p:txBody>
        </p:sp>
        <p:sp>
          <p:nvSpPr>
            <p:cNvPr id="11" name="椭圆 10"/>
            <p:cNvSpPr/>
            <p:nvPr/>
          </p:nvSpPr>
          <p:spPr>
            <a:xfrm>
              <a:off x="1299822" y="5790198"/>
              <a:ext cx="126014" cy="166722"/>
            </a:xfrm>
            <a:prstGeom prst="ellipse">
              <a:avLst/>
            </a:prstGeom>
            <a:solidFill>
              <a:schemeClr val="tx1"/>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grpSp>
    </p:spTree>
    <p:extLst>
      <p:ext uri="{BB962C8B-B14F-4D97-AF65-F5344CB8AC3E}">
        <p14:creationId xmlns:p14="http://schemas.microsoft.com/office/powerpoint/2010/main" val="4265905659"/>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2066"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7958" y="5737873"/>
            <a:ext cx="3135029" cy="3463767"/>
          </a:xfrm>
          <a:prstGeom prst="rect">
            <a:avLst/>
          </a:prstGeom>
          <a:noFill/>
          <a:extLst>
            <a:ext uri="{909E8E84-426E-40DD-AFC4-6F175D3DCCD1}">
              <a14:hiddenFill xmlns:a14="http://schemas.microsoft.com/office/drawing/2010/main">
                <a:solidFill>
                  <a:srgbClr val="FFFFFF"/>
                </a:solidFill>
              </a14:hiddenFill>
            </a:ext>
          </a:extLst>
        </p:spPr>
      </p:pic>
      <p:pic>
        <p:nvPicPr>
          <p:cNvPr id="642063"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l="1959" t="3793" b="6322"/>
          <a:stretch>
            <a:fillRect/>
          </a:stretch>
        </p:blipFill>
        <p:spPr bwMode="auto">
          <a:xfrm>
            <a:off x="1906546" y="5703015"/>
            <a:ext cx="3502344" cy="3316728"/>
          </a:xfrm>
          <a:prstGeom prst="rect">
            <a:avLst/>
          </a:prstGeom>
          <a:noFill/>
          <a:extLst>
            <a:ext uri="{909E8E84-426E-40DD-AFC4-6F175D3DCCD1}">
              <a14:hiddenFill xmlns:a14="http://schemas.microsoft.com/office/drawing/2010/main">
                <a:solidFill>
                  <a:srgbClr val="FFFFFF"/>
                </a:solidFill>
              </a14:hiddenFill>
            </a:ext>
          </a:extLst>
        </p:spPr>
      </p:pic>
      <p:sp>
        <p:nvSpPr>
          <p:cNvPr id="642059" name="Text Box 11"/>
          <p:cNvSpPr txBox="1">
            <a:spLocks noChangeArrowheads="1"/>
          </p:cNvSpPr>
          <p:nvPr/>
        </p:nvSpPr>
        <p:spPr bwMode="auto">
          <a:xfrm>
            <a:off x="859540" y="4104688"/>
            <a:ext cx="1174476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lnSpc>
                <a:spcPct val="125000"/>
              </a:lnSpc>
            </a:pPr>
            <a:r>
              <a:rPr lang="zh-CN" altLang="en-US" b="1" dirty="0" smtClean="0">
                <a:solidFill>
                  <a:schemeClr val="tx1"/>
                </a:solidFill>
                <a:latin typeface="宋体" pitchFamily="2" charset="-122"/>
                <a:ea typeface="宋体" pitchFamily="2" charset="-122"/>
              </a:rPr>
              <a:t>高压</a:t>
            </a:r>
            <a:r>
              <a:rPr lang="zh-CN" altLang="en-US" b="1" dirty="0">
                <a:solidFill>
                  <a:schemeClr val="tx1"/>
                </a:solidFill>
                <a:latin typeface="宋体" pitchFamily="2" charset="-122"/>
                <a:ea typeface="宋体" pitchFamily="2" charset="-122"/>
              </a:rPr>
              <a:t>带电作业中，工人穿上用金属丝</a:t>
            </a:r>
            <a:r>
              <a:rPr lang="zh-CN" altLang="en-US" b="1" dirty="0" smtClean="0">
                <a:solidFill>
                  <a:schemeClr val="tx1"/>
                </a:solidFill>
                <a:latin typeface="宋体" pitchFamily="2" charset="-122"/>
                <a:ea typeface="宋体" pitchFamily="2" charset="-122"/>
              </a:rPr>
              <a:t>编织的</a:t>
            </a:r>
            <a:r>
              <a:rPr lang="zh-CN" altLang="en-US" b="1" dirty="0">
                <a:solidFill>
                  <a:schemeClr val="tx1"/>
                </a:solidFill>
                <a:latin typeface="宋体" pitchFamily="2" charset="-122"/>
                <a:ea typeface="宋体" pitchFamily="2" charset="-122"/>
              </a:rPr>
              <a:t>屏蔽服</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可以安全地实施等电势高压操作。</a:t>
            </a:r>
          </a:p>
        </p:txBody>
      </p:sp>
      <p:sp>
        <p:nvSpPr>
          <p:cNvPr id="642053" name="Text Box 5"/>
          <p:cNvSpPr txBox="1">
            <a:spLocks noChangeArrowheads="1"/>
          </p:cNvSpPr>
          <p:nvPr/>
        </p:nvSpPr>
        <p:spPr bwMode="auto">
          <a:xfrm>
            <a:off x="453728" y="279565"/>
            <a:ext cx="54276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b="1" dirty="0">
                <a:solidFill>
                  <a:srgbClr val="0000FF"/>
                </a:solidFill>
                <a:latin typeface="宋体" pitchFamily="2" charset="-122"/>
                <a:ea typeface="宋体" pitchFamily="2" charset="-122"/>
              </a:rPr>
              <a:t>静电屏蔽的应用</a:t>
            </a:r>
          </a:p>
        </p:txBody>
      </p:sp>
      <p:sp>
        <p:nvSpPr>
          <p:cNvPr id="642058" name="Text Box 10"/>
          <p:cNvSpPr txBox="1">
            <a:spLocks noChangeArrowheads="1"/>
          </p:cNvSpPr>
          <p:nvPr/>
        </p:nvSpPr>
        <p:spPr bwMode="auto">
          <a:xfrm>
            <a:off x="859540" y="2627360"/>
            <a:ext cx="1174476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lnSpc>
                <a:spcPct val="125000"/>
              </a:lnSpc>
            </a:pPr>
            <a:r>
              <a:rPr lang="zh-CN" altLang="en-US" b="1" dirty="0" smtClean="0">
                <a:solidFill>
                  <a:schemeClr val="tx1"/>
                </a:solidFill>
                <a:latin typeface="宋体" pitchFamily="2" charset="-122"/>
                <a:ea typeface="宋体" pitchFamily="2" charset="-122"/>
              </a:rPr>
              <a:t>如</a:t>
            </a:r>
            <a:r>
              <a:rPr lang="zh-CN" altLang="en-US" b="1" dirty="0">
                <a:solidFill>
                  <a:schemeClr val="tx1"/>
                </a:solidFill>
                <a:latin typeface="宋体" pitchFamily="2" charset="-122"/>
                <a:ea typeface="宋体" pitchFamily="2" charset="-122"/>
              </a:rPr>
              <a:t>校测电子仪器的金属丝屏蔽室；传送弱信号的连接线外都包一层金属丝编织的屏蔽线层。</a:t>
            </a:r>
          </a:p>
        </p:txBody>
      </p:sp>
      <p:sp>
        <p:nvSpPr>
          <p:cNvPr id="642061" name="Text Box 13"/>
          <p:cNvSpPr txBox="1">
            <a:spLocks noChangeArrowheads="1"/>
          </p:cNvSpPr>
          <p:nvPr/>
        </p:nvSpPr>
        <p:spPr bwMode="auto">
          <a:xfrm>
            <a:off x="859540" y="1185945"/>
            <a:ext cx="1195973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pPr>
            <a:r>
              <a:rPr lang="zh-CN" altLang="en-US" b="1" dirty="0" smtClean="0">
                <a:solidFill>
                  <a:schemeClr val="tx1"/>
                </a:solidFill>
                <a:latin typeface="宋体" pitchFamily="2" charset="-122"/>
                <a:ea typeface="宋体" pitchFamily="2" charset="-122"/>
              </a:rPr>
              <a:t>如</a:t>
            </a:r>
            <a:r>
              <a:rPr lang="zh-CN" altLang="en-US" b="1" dirty="0">
                <a:solidFill>
                  <a:schemeClr val="tx1"/>
                </a:solidFill>
                <a:latin typeface="宋体" pitchFamily="2" charset="-122"/>
                <a:ea typeface="宋体" pitchFamily="2" charset="-122"/>
              </a:rPr>
              <a:t>：某些精密电磁测量仪器以及高压设备外边都装有接地的金属外壳</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网、罩）。</a:t>
            </a:r>
          </a:p>
        </p:txBody>
      </p:sp>
    </p:spTree>
    <p:extLst>
      <p:ext uri="{BB962C8B-B14F-4D97-AF65-F5344CB8AC3E}">
        <p14:creationId xmlns:p14="http://schemas.microsoft.com/office/powerpoint/2010/main" val="131591029"/>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5"/>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2336</TotalTime>
  <Words>3094</Words>
  <Application>Microsoft Office PowerPoint</Application>
  <PresentationFormat>自定义</PresentationFormat>
  <Paragraphs>336</Paragraphs>
  <Slides>46</Slides>
  <Notes>18</Notes>
  <HiddenSlides>4</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64" baseType="lpstr">
      <vt:lpstr>Helvetica Light</vt:lpstr>
      <vt:lpstr>Helvetica Neue</vt:lpstr>
      <vt:lpstr>Microsoft Yahei</vt:lpstr>
      <vt:lpstr>黑体</vt:lpstr>
      <vt:lpstr>黑体</vt:lpstr>
      <vt:lpstr>楷体_GB2312</vt:lpstr>
      <vt:lpstr>隶书</vt:lpstr>
      <vt:lpstr>宋体</vt:lpstr>
      <vt:lpstr>Arial</vt:lpstr>
      <vt:lpstr>Bookman Old Style</vt:lpstr>
      <vt:lpstr>Cambria Math</vt:lpstr>
      <vt:lpstr>Helvetica</vt:lpstr>
      <vt:lpstr>Symbol</vt:lpstr>
      <vt:lpstr>Times New Roman</vt:lpstr>
      <vt:lpstr>Wingdings</vt:lpstr>
      <vt:lpstr>White</vt:lpstr>
      <vt:lpstr>Equation</vt:lpstr>
      <vt:lpstr>公式</vt:lpstr>
      <vt:lpstr>PowerPoint 演示文稿</vt:lpstr>
      <vt:lpstr>PowerPoint 演示文稿</vt:lpstr>
      <vt:lpstr>PowerPoint 演示文稿</vt:lpstr>
      <vt:lpstr>带有等量异号的平行金属板所产生的电场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本节内容</vt:lpstr>
      <vt:lpstr>PowerPoint 演示文稿</vt:lpstr>
      <vt:lpstr>PowerPoint 演示文稿</vt:lpstr>
      <vt:lpstr>PowerPoint 演示文稿</vt:lpstr>
      <vt:lpstr>PowerPoint 演示文稿</vt:lpstr>
      <vt:lpstr>PowerPoint 演示文稿</vt:lpstr>
      <vt:lpstr>感应电荷将影响外电场的分布</vt:lpstr>
      <vt:lpstr>PowerPoint 演示文稿</vt:lpstr>
      <vt:lpstr>PowerPoint 演示文稿</vt:lpstr>
      <vt:lpstr>PowerPoint 演示文稿</vt:lpstr>
      <vt:lpstr>导体处于静电平衡时：</vt:lpstr>
      <vt:lpstr>PowerPoint 演示文稿</vt:lpstr>
      <vt:lpstr>PowerPoint 演示文稿</vt:lpstr>
      <vt:lpstr>PowerPoint 演示文稿</vt:lpstr>
      <vt:lpstr>PowerPoint 演示文稿</vt:lpstr>
      <vt:lpstr>PowerPoint 演示文稿</vt:lpstr>
      <vt:lpstr>练习题16.6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静电屏蔽</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普通物理学</dc:title>
  <cp:lastModifiedBy>hsl</cp:lastModifiedBy>
  <cp:revision>224</cp:revision>
  <dcterms:modified xsi:type="dcterms:W3CDTF">2021-03-21T14:54:34Z</dcterms:modified>
</cp:coreProperties>
</file>