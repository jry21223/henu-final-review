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9.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 id="2147483659" r:id="rId3"/>
  </p:sldMasterIdLst>
  <p:notesMasterIdLst>
    <p:notesMasterId r:id="rId53"/>
  </p:notesMasterIdLst>
  <p:handoutMasterIdLst>
    <p:handoutMasterId r:id="rId54"/>
  </p:handoutMasterIdLst>
  <p:sldIdLst>
    <p:sldId id="330" r:id="rId4"/>
    <p:sldId id="261" r:id="rId5"/>
    <p:sldId id="334" r:id="rId6"/>
    <p:sldId id="262" r:id="rId7"/>
    <p:sldId id="264" r:id="rId8"/>
    <p:sldId id="266" r:id="rId9"/>
    <p:sldId id="331" r:id="rId10"/>
    <p:sldId id="311" r:id="rId11"/>
    <p:sldId id="325" r:id="rId12"/>
    <p:sldId id="332" r:id="rId13"/>
    <p:sldId id="267" r:id="rId14"/>
    <p:sldId id="300" r:id="rId15"/>
    <p:sldId id="312" r:id="rId16"/>
    <p:sldId id="333" r:id="rId17"/>
    <p:sldId id="268" r:id="rId18"/>
    <p:sldId id="294" r:id="rId19"/>
    <p:sldId id="313" r:id="rId20"/>
    <p:sldId id="314" r:id="rId21"/>
    <p:sldId id="301" r:id="rId22"/>
    <p:sldId id="269" r:id="rId23"/>
    <p:sldId id="270" r:id="rId24"/>
    <p:sldId id="271" r:id="rId25"/>
    <p:sldId id="302" r:id="rId26"/>
    <p:sldId id="321" r:id="rId27"/>
    <p:sldId id="335" r:id="rId28"/>
    <p:sldId id="324" r:id="rId29"/>
    <p:sldId id="336" r:id="rId30"/>
    <p:sldId id="272" r:id="rId31"/>
    <p:sldId id="304" r:id="rId32"/>
    <p:sldId id="316" r:id="rId33"/>
    <p:sldId id="273" r:id="rId34"/>
    <p:sldId id="317" r:id="rId35"/>
    <p:sldId id="318" r:id="rId36"/>
    <p:sldId id="319" r:id="rId37"/>
    <p:sldId id="327" r:id="rId38"/>
    <p:sldId id="274" r:id="rId39"/>
    <p:sldId id="276" r:id="rId40"/>
    <p:sldId id="281" r:id="rId41"/>
    <p:sldId id="320" r:id="rId42"/>
    <p:sldId id="323" r:id="rId43"/>
    <p:sldId id="328" r:id="rId44"/>
    <p:sldId id="278" r:id="rId45"/>
    <p:sldId id="279" r:id="rId46"/>
    <p:sldId id="296" r:id="rId47"/>
    <p:sldId id="280" r:id="rId48"/>
    <p:sldId id="282" r:id="rId49"/>
    <p:sldId id="283" r:id="rId50"/>
    <p:sldId id="284" r:id="rId51"/>
    <p:sldId id="306" r:id="rId52"/>
  </p:sldIdLst>
  <p:sldSz cx="9144000" cy="6858000" type="screen4x3"/>
  <p:notesSz cx="6858000" cy="9947275"/>
  <p:defaultTextStyle>
    <a:lvl1pPr defTabSz="1028374">
      <a:lnSpc>
        <a:spcPct val="120000"/>
      </a:lnSpc>
      <a:spcBef>
        <a:spcPts val="1600"/>
      </a:spcBef>
      <a:defRPr sz="2400">
        <a:latin typeface="Times New Roman"/>
        <a:ea typeface="Times New Roman"/>
        <a:cs typeface="Times New Roman"/>
        <a:sym typeface="Times New Roman"/>
      </a:defRPr>
    </a:lvl1pPr>
    <a:lvl2pPr indent="457056" defTabSz="1028374">
      <a:lnSpc>
        <a:spcPct val="120000"/>
      </a:lnSpc>
      <a:spcBef>
        <a:spcPts val="1600"/>
      </a:spcBef>
      <a:defRPr sz="2400">
        <a:latin typeface="Times New Roman"/>
        <a:ea typeface="Times New Roman"/>
        <a:cs typeface="Times New Roman"/>
        <a:sym typeface="Times New Roman"/>
      </a:defRPr>
    </a:lvl2pPr>
    <a:lvl3pPr indent="914111" defTabSz="1028374">
      <a:lnSpc>
        <a:spcPct val="120000"/>
      </a:lnSpc>
      <a:spcBef>
        <a:spcPts val="1600"/>
      </a:spcBef>
      <a:defRPr sz="2400">
        <a:latin typeface="Times New Roman"/>
        <a:ea typeface="Times New Roman"/>
        <a:cs typeface="Times New Roman"/>
        <a:sym typeface="Times New Roman"/>
      </a:defRPr>
    </a:lvl3pPr>
    <a:lvl4pPr indent="1371166" defTabSz="1028374">
      <a:lnSpc>
        <a:spcPct val="120000"/>
      </a:lnSpc>
      <a:spcBef>
        <a:spcPts val="1600"/>
      </a:spcBef>
      <a:defRPr sz="2400">
        <a:latin typeface="Times New Roman"/>
        <a:ea typeface="Times New Roman"/>
        <a:cs typeface="Times New Roman"/>
        <a:sym typeface="Times New Roman"/>
      </a:defRPr>
    </a:lvl4pPr>
    <a:lvl5pPr indent="1828221" defTabSz="1028374">
      <a:lnSpc>
        <a:spcPct val="120000"/>
      </a:lnSpc>
      <a:spcBef>
        <a:spcPts val="1600"/>
      </a:spcBef>
      <a:defRPr sz="2400">
        <a:latin typeface="Times New Roman"/>
        <a:ea typeface="Times New Roman"/>
        <a:cs typeface="Times New Roman"/>
        <a:sym typeface="Times New Roman"/>
      </a:defRPr>
    </a:lvl5pPr>
    <a:lvl6pPr indent="2285277" defTabSz="1028374">
      <a:lnSpc>
        <a:spcPct val="120000"/>
      </a:lnSpc>
      <a:spcBef>
        <a:spcPts val="1600"/>
      </a:spcBef>
      <a:defRPr sz="2400">
        <a:latin typeface="Times New Roman"/>
        <a:ea typeface="Times New Roman"/>
        <a:cs typeface="Times New Roman"/>
        <a:sym typeface="Times New Roman"/>
      </a:defRPr>
    </a:lvl6pPr>
    <a:lvl7pPr indent="2742332" defTabSz="1028374">
      <a:lnSpc>
        <a:spcPct val="120000"/>
      </a:lnSpc>
      <a:spcBef>
        <a:spcPts val="1600"/>
      </a:spcBef>
      <a:defRPr sz="2400">
        <a:latin typeface="Times New Roman"/>
        <a:ea typeface="Times New Roman"/>
        <a:cs typeface="Times New Roman"/>
        <a:sym typeface="Times New Roman"/>
      </a:defRPr>
    </a:lvl7pPr>
    <a:lvl8pPr indent="3199387" defTabSz="1028374">
      <a:lnSpc>
        <a:spcPct val="120000"/>
      </a:lnSpc>
      <a:spcBef>
        <a:spcPts val="1600"/>
      </a:spcBef>
      <a:defRPr sz="2400">
        <a:latin typeface="Times New Roman"/>
        <a:ea typeface="Times New Roman"/>
        <a:cs typeface="Times New Roman"/>
        <a:sym typeface="Times New Roman"/>
      </a:defRPr>
    </a:lvl8pPr>
    <a:lvl9pPr indent="3656443" defTabSz="1028374">
      <a:lnSpc>
        <a:spcPct val="120000"/>
      </a:lnSpc>
      <a:spcBef>
        <a:spcPts val="1600"/>
      </a:spcBef>
      <a:defRPr sz="2400">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CDDCA"/>
          </a:solidFill>
        </a:fill>
      </a:tcStyle>
    </a:wholeTbl>
    <a:band2H>
      <a:tcTxStyle/>
      <a:tcStyle>
        <a:tcBdr/>
        <a:fill>
          <a:solidFill>
            <a:srgbClr val="F6EF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9900"/>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9900"/>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9900"/>
          </a:solidFill>
        </a:fill>
      </a:tcStyle>
    </a:firstRow>
  </a:tblStyle>
  <a:tblStyle styleId="{C7B018BB-80A7-4F77-B60F-C8B233D01FF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D5CB"/>
          </a:solidFill>
        </a:fill>
      </a:tcStyle>
    </a:wholeTbl>
    <a:band2H>
      <a:tcTxStyle/>
      <a:tcStyle>
        <a:tcBdr/>
        <a:fill>
          <a:solidFill>
            <a:srgbClr val="E7EBE7"/>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35742A"/>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35742A"/>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35742A"/>
          </a:solidFill>
        </a:fill>
      </a:tcStyle>
    </a:firstRow>
  </a:tblStyle>
  <a:tblStyle styleId="{CF821DB8-F4EB-4A41-A1BA-3FCAFE7338EE}" styleName="">
    <a:tblBg/>
    <a:wholeTbl>
      <a:tcTxStyle b="on" i="on">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CC9900"/>
          </a:solidFill>
        </a:fill>
      </a:tcStyle>
    </a:firstCol>
    <a:lastRow>
      <a:tcTxStyle b="on" i="on">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CC9900"/>
          </a:solidFill>
        </a:fill>
      </a:tcStyle>
    </a:firstRow>
  </a:tblStyle>
  <a:tblStyle styleId="{33BA23B1-9221-436E-865A-0063620EA4FD}"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12" autoAdjust="0"/>
    <p:restoredTop sz="87574" autoAdjust="0"/>
  </p:normalViewPr>
  <p:slideViewPr>
    <p:cSldViewPr>
      <p:cViewPr varScale="1">
        <p:scale>
          <a:sx n="79" d="100"/>
          <a:sy n="79" d="100"/>
        </p:scale>
        <p:origin x="185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5" Type="http://schemas.openxmlformats.org/officeDocument/2006/relationships/image" Target="../media/image43.wmf"/><Relationship Id="rId4" Type="http://schemas.openxmlformats.org/officeDocument/2006/relationships/image" Target="../media/image4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4" Type="http://schemas.openxmlformats.org/officeDocument/2006/relationships/image" Target="../media/image7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99091"/>
          </a:xfrm>
          <a:prstGeom prst="rect">
            <a:avLst/>
          </a:prstGeom>
        </p:spPr>
        <p:txBody>
          <a:bodyPr vert="horz" lIns="91440" tIns="45720" rIns="91440" bIns="45720" rtlCol="0"/>
          <a:lstStyle>
            <a:lvl1pPr algn="r">
              <a:defRPr sz="1200"/>
            </a:lvl1pPr>
          </a:lstStyle>
          <a:p>
            <a:fld id="{E71B8C09-FB6D-4ED0-AC47-B88085ACCC4A}" type="datetimeFigureOut">
              <a:rPr lang="zh-CN" altLang="en-US" smtClean="0"/>
              <a:pPr/>
              <a:t>2021/3/14</a:t>
            </a:fld>
            <a:endParaRPr lang="zh-CN" altLang="en-US"/>
          </a:p>
        </p:txBody>
      </p:sp>
      <p:sp>
        <p:nvSpPr>
          <p:cNvPr id="4" name="页脚占位符 3"/>
          <p:cNvSpPr>
            <a:spLocks noGrp="1"/>
          </p:cNvSpPr>
          <p:nvPr>
            <p:ph type="ftr" sz="quarter" idx="2"/>
          </p:nvPr>
        </p:nvSpPr>
        <p:spPr>
          <a:xfrm>
            <a:off x="0" y="9448185"/>
            <a:ext cx="2971800" cy="499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9448185"/>
            <a:ext cx="2971800" cy="499090"/>
          </a:xfrm>
          <a:prstGeom prst="rect">
            <a:avLst/>
          </a:prstGeom>
        </p:spPr>
        <p:txBody>
          <a:bodyPr vert="horz" lIns="91440" tIns="45720" rIns="91440" bIns="45720" rtlCol="0" anchor="b"/>
          <a:lstStyle>
            <a:lvl1pPr algn="r">
              <a:defRPr sz="1200"/>
            </a:lvl1pPr>
          </a:lstStyle>
          <a:p>
            <a:fld id="{65A7B86A-8CF5-4167-8F7A-DFF9ACA7FB18}" type="slidenum">
              <a:rPr lang="zh-CN" altLang="en-US" smtClean="0"/>
              <a:pPr/>
              <a:t>‹#›</a:t>
            </a:fld>
            <a:endParaRPr lang="zh-CN" altLang="en-US"/>
          </a:p>
        </p:txBody>
      </p:sp>
    </p:spTree>
    <p:extLst>
      <p:ext uri="{BB962C8B-B14F-4D97-AF65-F5344CB8AC3E}">
        <p14:creationId xmlns:p14="http://schemas.microsoft.com/office/powerpoint/2010/main" val="27573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hape 16"/>
          <p:cNvSpPr>
            <a:spLocks noGrp="1" noRot="1" noChangeAspect="1"/>
          </p:cNvSpPr>
          <p:nvPr>
            <p:ph type="sldImg"/>
          </p:nvPr>
        </p:nvSpPr>
        <p:spPr>
          <a:xfrm>
            <a:off x="942975" y="746125"/>
            <a:ext cx="4972050" cy="3730625"/>
          </a:xfrm>
          <a:prstGeom prst="rect">
            <a:avLst/>
          </a:prstGeom>
        </p:spPr>
        <p:txBody>
          <a:bodyPr/>
          <a:lstStyle/>
          <a:p>
            <a:pPr lvl="0"/>
            <a:endParaRPr/>
          </a:p>
        </p:txBody>
      </p:sp>
      <p:sp>
        <p:nvSpPr>
          <p:cNvPr id="17" name="Shape 17"/>
          <p:cNvSpPr>
            <a:spLocks noGrp="1"/>
          </p:cNvSpPr>
          <p:nvPr>
            <p:ph type="body" sz="quarter" idx="1"/>
          </p:nvPr>
        </p:nvSpPr>
        <p:spPr>
          <a:xfrm>
            <a:off x="914400" y="4724956"/>
            <a:ext cx="5029200" cy="4476274"/>
          </a:xfrm>
          <a:prstGeom prst="rect">
            <a:avLst/>
          </a:prstGeom>
        </p:spPr>
        <p:txBody>
          <a:bodyPr/>
          <a:lstStyle/>
          <a:p>
            <a:pPr lvl="0"/>
            <a:endParaRPr/>
          </a:p>
        </p:txBody>
      </p:sp>
    </p:spTree>
    <p:extLst>
      <p:ext uri="{BB962C8B-B14F-4D97-AF65-F5344CB8AC3E}">
        <p14:creationId xmlns:p14="http://schemas.microsoft.com/office/powerpoint/2010/main" val="3316841307"/>
      </p:ext>
    </p:extLst>
  </p:cSld>
  <p:clrMap bg1="lt1" tx1="dk1" bg2="lt2" tx2="dk2" accent1="accent1" accent2="accent2" accent3="accent3" accent4="accent4" accent5="accent5" accent6="accent6" hlink="hlink" folHlink="folHlink"/>
  <p:notesStyle>
    <a:lvl1pPr defTabSz="457056">
      <a:lnSpc>
        <a:spcPct val="117999"/>
      </a:lnSpc>
      <a:defRPr sz="2200">
        <a:latin typeface="+mn-lt"/>
        <a:ea typeface="+mn-ea"/>
        <a:cs typeface="+mn-cs"/>
        <a:sym typeface="Helvetica Neue"/>
      </a:defRPr>
    </a:lvl1pPr>
    <a:lvl2pPr indent="228526" defTabSz="457056">
      <a:lnSpc>
        <a:spcPct val="117999"/>
      </a:lnSpc>
      <a:defRPr sz="2200">
        <a:latin typeface="+mn-lt"/>
        <a:ea typeface="+mn-ea"/>
        <a:cs typeface="+mn-cs"/>
        <a:sym typeface="Helvetica Neue"/>
      </a:defRPr>
    </a:lvl2pPr>
    <a:lvl3pPr indent="457056" defTabSz="457056">
      <a:lnSpc>
        <a:spcPct val="117999"/>
      </a:lnSpc>
      <a:defRPr sz="2200">
        <a:latin typeface="+mn-lt"/>
        <a:ea typeface="+mn-ea"/>
        <a:cs typeface="+mn-cs"/>
        <a:sym typeface="Helvetica Neue"/>
      </a:defRPr>
    </a:lvl3pPr>
    <a:lvl4pPr indent="685582" defTabSz="457056">
      <a:lnSpc>
        <a:spcPct val="117999"/>
      </a:lnSpc>
      <a:defRPr sz="2200">
        <a:latin typeface="+mn-lt"/>
        <a:ea typeface="+mn-ea"/>
        <a:cs typeface="+mn-cs"/>
        <a:sym typeface="Helvetica Neue"/>
      </a:defRPr>
    </a:lvl4pPr>
    <a:lvl5pPr indent="914111" defTabSz="457056">
      <a:lnSpc>
        <a:spcPct val="117999"/>
      </a:lnSpc>
      <a:defRPr sz="2200">
        <a:latin typeface="+mn-lt"/>
        <a:ea typeface="+mn-ea"/>
        <a:cs typeface="+mn-cs"/>
        <a:sym typeface="Helvetica Neue"/>
      </a:defRPr>
    </a:lvl5pPr>
    <a:lvl6pPr indent="1142638" defTabSz="457056">
      <a:lnSpc>
        <a:spcPct val="117999"/>
      </a:lnSpc>
      <a:defRPr sz="2200">
        <a:latin typeface="+mn-lt"/>
        <a:ea typeface="+mn-ea"/>
        <a:cs typeface="+mn-cs"/>
        <a:sym typeface="Helvetica Neue"/>
      </a:defRPr>
    </a:lvl6pPr>
    <a:lvl7pPr indent="1371166" defTabSz="457056">
      <a:lnSpc>
        <a:spcPct val="117999"/>
      </a:lnSpc>
      <a:defRPr sz="2200">
        <a:latin typeface="+mn-lt"/>
        <a:ea typeface="+mn-ea"/>
        <a:cs typeface="+mn-cs"/>
        <a:sym typeface="Helvetica Neue"/>
      </a:defRPr>
    </a:lvl7pPr>
    <a:lvl8pPr indent="1599694" defTabSz="457056">
      <a:lnSpc>
        <a:spcPct val="117999"/>
      </a:lnSpc>
      <a:defRPr sz="2200">
        <a:latin typeface="+mn-lt"/>
        <a:ea typeface="+mn-ea"/>
        <a:cs typeface="+mn-cs"/>
        <a:sym typeface="Helvetica Neue"/>
      </a:defRPr>
    </a:lvl8pPr>
    <a:lvl9pPr indent="1828221" defTabSz="457056">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42975" y="746125"/>
            <a:ext cx="4972050" cy="3730625"/>
          </a:xfrm>
        </p:spPr>
      </p:sp>
      <p:sp>
        <p:nvSpPr>
          <p:cNvPr id="3" name="备注占位符 2"/>
          <p:cNvSpPr>
            <a:spLocks noGrp="1"/>
          </p:cNvSpPr>
          <p:nvPr>
            <p:ph type="body" idx="1"/>
          </p:nvPr>
        </p:nvSpPr>
        <p:spPr/>
        <p:txBody>
          <a:bodyPr/>
          <a:lstStyle/>
          <a:p>
            <a:r>
              <a:rPr lang="zh-CN" altLang="en-US" dirty="0" smtClean="0"/>
              <a:t>静电场，指的是观察者与电荷相对静止时所观察到的电场。它是电荷周围空间存在的一种特殊形态的物质，其基本特征是对置于其中的静止电荷有力的作用。库仑定律描述了这个力。</a:t>
            </a:r>
            <a:endParaRPr lang="en-US" altLang="zh-CN" dirty="0" smtClean="0"/>
          </a:p>
          <a:p>
            <a:r>
              <a:rPr lang="zh-CN" altLang="en-US" dirty="0" smtClean="0"/>
              <a:t>由静止电荷</a:t>
            </a:r>
            <a:r>
              <a:rPr lang="en-US" altLang="zh-CN" dirty="0" smtClean="0"/>
              <a:t>(</a:t>
            </a:r>
            <a:r>
              <a:rPr lang="zh-CN" altLang="en-US" dirty="0" smtClean="0"/>
              <a:t>相对于观察者静止的电荷</a:t>
            </a:r>
            <a:r>
              <a:rPr lang="en-US" altLang="zh-CN" dirty="0" smtClean="0"/>
              <a:t>)</a:t>
            </a:r>
            <a:r>
              <a:rPr lang="zh-CN" altLang="en-US" dirty="0" smtClean="0"/>
              <a:t>激发的电场。</a:t>
            </a:r>
            <a:endParaRPr lang="en-US" altLang="zh-CN" dirty="0" smtClean="0"/>
          </a:p>
          <a:p>
            <a:r>
              <a:rPr lang="zh-CN" altLang="en-US" dirty="0" smtClean="0"/>
              <a:t>真空是为了除去其它电荷的影响，使两个点电荷只受到对方作用。</a:t>
            </a:r>
            <a:endParaRPr lang="en-US" altLang="zh-CN" dirty="0" smtClean="0"/>
          </a:p>
          <a:p>
            <a:r>
              <a:rPr lang="zh-CN" altLang="en-US" dirty="0" smtClean="0"/>
              <a:t>静止：两电荷静止，场的动量不变</a:t>
            </a:r>
            <a:r>
              <a:rPr lang="en-US" altLang="zh-CN" dirty="0" smtClean="0"/>
              <a:t>——</a:t>
            </a:r>
            <a:r>
              <a:rPr lang="zh-CN" altLang="en-US" dirty="0" smtClean="0"/>
              <a:t>作用力对等；电荷运动时，其场的动量发生变化，作用力不对等；将场包含进去，满足动量守恒。</a:t>
            </a:r>
            <a:endParaRPr lang="zh-CN" altLang="en-US" dirty="0"/>
          </a:p>
        </p:txBody>
      </p:sp>
    </p:spTree>
    <p:extLst>
      <p:ext uri="{BB962C8B-B14F-4D97-AF65-F5344CB8AC3E}">
        <p14:creationId xmlns:p14="http://schemas.microsoft.com/office/powerpoint/2010/main" val="524007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D</a:t>
            </a:r>
            <a:endParaRPr lang="zh-CN" altLang="en-US"/>
          </a:p>
        </p:txBody>
      </p:sp>
    </p:spTree>
    <p:extLst>
      <p:ext uri="{BB962C8B-B14F-4D97-AF65-F5344CB8AC3E}">
        <p14:creationId xmlns:p14="http://schemas.microsoft.com/office/powerpoint/2010/main" val="2781581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42975" y="746125"/>
            <a:ext cx="4972050" cy="3730625"/>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2200" dirty="0" smtClean="0">
                    <a:ea typeface="+mn-ea"/>
                    <a:cs typeface="+mn-cs"/>
                    <a:sym typeface="Helvetica Neue"/>
                  </a:rPr>
                  <a:t>引力</a:t>
                </a:r>
                <a14:m>
                  <m:oMath xmlns:m="http://schemas.openxmlformats.org/officeDocument/2006/math">
                    <m:r>
                      <a:rPr lang="zh-CN" altLang="en-US" sz="2200" i="1" smtClean="0">
                        <a:latin typeface="Cambria Math"/>
                        <a:ea typeface="+mn-ea"/>
                        <a:cs typeface="+mn-cs"/>
                        <a:sym typeface="Helvetica Neue"/>
                      </a:rPr>
                      <m:t>常量</m:t>
                    </m:r>
                    <m:r>
                      <a:rPr lang="zh-CN" altLang="en-US" sz="2200" b="0" i="1" smtClean="0">
                        <a:latin typeface="Cambria Math"/>
                        <a:ea typeface="+mn-ea"/>
                        <a:cs typeface="+mn-cs"/>
                        <a:sym typeface="Helvetica Neue"/>
                      </a:rPr>
                      <m:t>：</m:t>
                    </m:r>
                    <m:r>
                      <a:rPr lang="zh-CN" altLang="en-US" sz="2200" i="1" smtClean="0">
                        <a:latin typeface="Cambria Math"/>
                        <a:ea typeface="+mn-ea"/>
                        <a:cs typeface="+mn-cs"/>
                        <a:sym typeface="Helvetica Neue"/>
                      </a:rPr>
                      <m:t>𝐺</m:t>
                    </m:r>
                    <m:r>
                      <a:rPr lang="zh-CN" altLang="en-US" sz="2200" i="0">
                        <a:latin typeface="Cambria Math"/>
                        <a:ea typeface="+mn-ea"/>
                        <a:cs typeface="+mn-cs"/>
                        <a:sym typeface="Helvetica Neue"/>
                      </a:rPr>
                      <m:t>=6.67×</m:t>
                    </m:r>
                    <m:sSup>
                      <m:sSupPr>
                        <m:ctrlPr>
                          <a:rPr lang="zh-CN" altLang="en-US" sz="2200" i="1">
                            <a:latin typeface="Cambria Math" panose="02040503050406030204" pitchFamily="18" charset="0"/>
                            <a:ea typeface="+mn-ea"/>
                            <a:cs typeface="+mn-cs"/>
                            <a:sym typeface="Helvetica Neue"/>
                          </a:rPr>
                        </m:ctrlPr>
                      </m:sSupPr>
                      <m:e>
                        <m:r>
                          <a:rPr lang="zh-CN" altLang="en-US" sz="2200" i="0">
                            <a:latin typeface="Cambria Math"/>
                            <a:ea typeface="+mn-ea"/>
                            <a:cs typeface="+mn-cs"/>
                            <a:sym typeface="Helvetica Neue"/>
                          </a:rPr>
                          <m:t>10</m:t>
                        </m:r>
                      </m:e>
                      <m:sup>
                        <m:r>
                          <a:rPr lang="zh-CN" altLang="en-US" sz="2200" i="0">
                            <a:latin typeface="Cambria Math"/>
                            <a:ea typeface="+mn-ea"/>
                            <a:cs typeface="+mn-cs"/>
                            <a:sym typeface="Helvetica Neue"/>
                          </a:rPr>
                          <m:t>−11</m:t>
                        </m:r>
                      </m:sup>
                    </m:sSup>
                    <m:r>
                      <m:rPr>
                        <m:sty m:val="p"/>
                      </m:rPr>
                      <a:rPr lang="zh-CN" altLang="en-US" sz="2200" i="0" smtClean="0">
                        <a:latin typeface="Cambria Math"/>
                        <a:ea typeface="+mn-ea"/>
                        <a:cs typeface="+mn-cs"/>
                        <a:sym typeface="Helvetica Neue"/>
                      </a:rPr>
                      <m:t>N</m:t>
                    </m:r>
                    <m:r>
                      <a:rPr lang="zh-CN" altLang="en-US" sz="2200" i="0">
                        <a:latin typeface="Cambria Math"/>
                        <a:ea typeface="+mn-ea"/>
                        <a:cs typeface="+mn-cs"/>
                        <a:sym typeface="Helvetica Neue"/>
                      </a:rPr>
                      <m:t>⋅</m:t>
                    </m:r>
                    <m:sSup>
                      <m:sSupPr>
                        <m:ctrlPr>
                          <a:rPr lang="zh-CN" altLang="en-US" sz="2200" i="1">
                            <a:latin typeface="Cambria Math" panose="02040503050406030204" pitchFamily="18" charset="0"/>
                            <a:ea typeface="+mn-ea"/>
                            <a:cs typeface="+mn-cs"/>
                            <a:sym typeface="Helvetica Neue"/>
                          </a:rPr>
                        </m:ctrlPr>
                      </m:sSupPr>
                      <m:e>
                        <m:r>
                          <m:rPr>
                            <m:sty m:val="p"/>
                          </m:rPr>
                          <a:rPr lang="zh-CN" altLang="en-US" sz="2200" i="0">
                            <a:latin typeface="Cambria Math"/>
                            <a:ea typeface="+mn-ea"/>
                            <a:cs typeface="+mn-cs"/>
                            <a:sym typeface="Helvetica Neue"/>
                          </a:rPr>
                          <m:t>m</m:t>
                        </m:r>
                      </m:e>
                      <m:sup>
                        <m:r>
                          <a:rPr lang="zh-CN" altLang="en-US" sz="2200" i="0">
                            <a:latin typeface="Cambria Math"/>
                            <a:ea typeface="+mn-ea"/>
                            <a:cs typeface="+mn-cs"/>
                            <a:sym typeface="Helvetica Neue"/>
                          </a:rPr>
                          <m:t>2</m:t>
                        </m:r>
                      </m:sup>
                    </m:sSup>
                    <m:r>
                      <a:rPr lang="zh-CN" altLang="en-US" sz="2200" i="0">
                        <a:latin typeface="Cambria Math"/>
                        <a:ea typeface="+mn-ea"/>
                        <a:cs typeface="+mn-cs"/>
                        <a:sym typeface="Helvetica Neue"/>
                      </a:rPr>
                      <m:t>⋅</m:t>
                    </m:r>
                    <m:r>
                      <m:rPr>
                        <m:sty m:val="p"/>
                      </m:rPr>
                      <a:rPr lang="zh-CN" altLang="en-US" sz="2200" i="0">
                        <a:latin typeface="Cambria Math"/>
                        <a:ea typeface="+mn-ea"/>
                        <a:cs typeface="+mn-cs"/>
                        <a:sym typeface="Helvetica Neue"/>
                      </a:rPr>
                      <m:t>k</m:t>
                    </m:r>
                    <m:sSup>
                      <m:sSupPr>
                        <m:ctrlPr>
                          <a:rPr lang="zh-CN" altLang="en-US" sz="2200" i="1">
                            <a:latin typeface="Cambria Math" panose="02040503050406030204" pitchFamily="18" charset="0"/>
                            <a:ea typeface="+mn-ea"/>
                            <a:cs typeface="+mn-cs"/>
                            <a:sym typeface="Helvetica Neue"/>
                          </a:rPr>
                        </m:ctrlPr>
                      </m:sSupPr>
                      <m:e>
                        <m:r>
                          <m:rPr>
                            <m:sty m:val="p"/>
                          </m:rPr>
                          <a:rPr lang="zh-CN" altLang="en-US" sz="2200" i="0">
                            <a:latin typeface="Cambria Math"/>
                            <a:ea typeface="+mn-ea"/>
                            <a:cs typeface="+mn-cs"/>
                            <a:sym typeface="Helvetica Neue"/>
                          </a:rPr>
                          <m:t>g</m:t>
                        </m:r>
                      </m:e>
                      <m:sup>
                        <m:r>
                          <a:rPr lang="zh-CN" altLang="en-US" sz="2200" i="0">
                            <a:latin typeface="Cambria Math"/>
                            <a:ea typeface="+mn-ea"/>
                            <a:cs typeface="+mn-cs"/>
                            <a:sym typeface="Helvetica Neue"/>
                          </a:rPr>
                          <m:t>−2</m:t>
                        </m:r>
                      </m:sup>
                    </m:sSup>
                  </m:oMath>
                </a14:m>
                <a:endParaRPr lang="en-US" altLang="zh-CN" i="0" dirty="0" smtClean="0"/>
              </a:p>
              <a:p>
                <a:r>
                  <a:rPr lang="zh-CN" altLang="en-US" dirty="0" smtClean="0"/>
                  <a:t>向一确定的固定点或动点吸引的力，或从一确定的固定点或动点排斥开的力 。作用力可以分类为有心力与非有心力。有心力的方向永远指向一个固定点或动点；称此点为力中心点。许多宇宙最基本的力，像万有引力、静电力，都是有心力。而洛伦兹力的磁力部分则乃非有心力。</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en-US" sz="2200" smtClean="0">
                    <a:ea typeface="+mn-ea"/>
                    <a:cs typeface="+mn-cs"/>
                    <a:sym typeface="Helvetica Neue"/>
                  </a:rPr>
                  <a:t>库伦</a:t>
                </a:r>
                <a:r>
                  <a:rPr lang="zh-CN" altLang="en-US" sz="2200" i="0" smtClean="0">
                    <a:latin typeface="Cambria Math"/>
                    <a:ea typeface="+mn-ea"/>
                    <a:cs typeface="+mn-cs"/>
                    <a:sym typeface="Helvetica Neue"/>
                  </a:rPr>
                  <a:t>常量</a:t>
                </a:r>
                <a:r>
                  <a:rPr lang="zh-CN" altLang="en-US" sz="2200" b="0" i="0" smtClean="0">
                    <a:latin typeface="Cambria Math"/>
                    <a:ea typeface="+mn-ea"/>
                    <a:cs typeface="+mn-cs"/>
                    <a:sym typeface="Helvetica Neue"/>
                  </a:rPr>
                  <a:t>：</a:t>
                </a:r>
                <a:r>
                  <a:rPr lang="zh-CN" altLang="en-US" sz="2200" i="0" smtClean="0">
                    <a:latin typeface="+mn-lt"/>
                    <a:ea typeface="+mn-ea"/>
                    <a:cs typeface="+mn-cs"/>
                    <a:sym typeface="Helvetica Neue"/>
                  </a:rPr>
                  <a:t>𝐺</a:t>
                </a:r>
                <a:r>
                  <a:rPr lang="zh-CN" altLang="en-US" sz="2200" i="0">
                    <a:latin typeface="+mn-lt"/>
                    <a:ea typeface="+mn-ea"/>
                    <a:cs typeface="+mn-cs"/>
                    <a:sym typeface="Helvetica Neue"/>
                  </a:rPr>
                  <a:t>=6.67×〖10〗^(−11)</a:t>
                </a:r>
                <a:r>
                  <a:rPr lang="zh-CN" altLang="en-US" sz="2200" i="0" smtClean="0">
                    <a:latin typeface="+mn-lt"/>
                    <a:ea typeface="+mn-ea"/>
                    <a:cs typeface="+mn-cs"/>
                    <a:sym typeface="Helvetica Neue"/>
                  </a:rPr>
                  <a:t> N</a:t>
                </a:r>
                <a:r>
                  <a:rPr lang="zh-CN" altLang="en-US" sz="2200" i="0">
                    <a:latin typeface="+mn-lt"/>
                    <a:ea typeface="+mn-ea"/>
                    <a:cs typeface="+mn-cs"/>
                    <a:sym typeface="Helvetica Neue"/>
                  </a:rPr>
                  <a:t>⋅m^2⋅kg^(−2)</a:t>
                </a:r>
                <a:endParaRPr lang="en-US" altLang="zh-CN" i="0" smtClean="0"/>
              </a:p>
              <a:p>
                <a:r>
                  <a:rPr lang="zh-CN" altLang="en-US" smtClean="0"/>
                  <a:t>向</a:t>
                </a:r>
                <a:r>
                  <a:rPr lang="zh-CN" altLang="en-US" dirty="0" smtClean="0"/>
                  <a:t>一确定的固定点或动点吸引的力，或从一确定的固定点或动点排斥开的力 。作用力可以分类为有心力与非有心力。有心力的方向永远指向一个固定点或动点；称此点为力中心点。许多宇宙最基本的力，像万有引力、静电力，都是有心力。而洛伦兹力的磁力部分则乃非</a:t>
                </a:r>
                <a:r>
                  <a:rPr lang="zh-CN" altLang="en-US" smtClean="0"/>
                  <a:t>有心力</a:t>
                </a:r>
                <a:r>
                  <a:rPr lang="zh-CN" altLang="en-US" smtClean="0"/>
                  <a:t>。</a:t>
                </a:r>
                <a:endParaRPr lang="en-US" altLang="zh-CN" smtClean="0"/>
              </a:p>
              <a:p>
                <a:endParaRPr lang="zh-CN" altLang="en-US" dirty="0"/>
              </a:p>
            </p:txBody>
          </p:sp>
        </mc:Fallback>
      </mc:AlternateContent>
    </p:spTree>
    <p:extLst>
      <p:ext uri="{BB962C8B-B14F-4D97-AF65-F5344CB8AC3E}">
        <p14:creationId xmlns:p14="http://schemas.microsoft.com/office/powerpoint/2010/main" val="2897479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D</a:t>
            </a:r>
            <a:endParaRPr lang="zh-CN" altLang="en-US"/>
          </a:p>
        </p:txBody>
      </p:sp>
    </p:spTree>
    <p:extLst>
      <p:ext uri="{BB962C8B-B14F-4D97-AF65-F5344CB8AC3E}">
        <p14:creationId xmlns:p14="http://schemas.microsoft.com/office/powerpoint/2010/main" val="1804337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42975" y="746125"/>
            <a:ext cx="4972050" cy="3730625"/>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在物理学中，动量是与物体的质量和速度相关的物理量。</a:t>
                </a:r>
              </a:p>
              <a:p>
                <a:r>
                  <a:rPr lang="zh-CN" altLang="en-US" dirty="0" smtClean="0"/>
                  <a:t>一般而言，一个物体的动量指的是这个物体在它运动方向上保持运动的趋势。</a:t>
                </a:r>
                <a:endParaRPr lang="en-US" altLang="zh-CN" dirty="0" smtClean="0"/>
              </a:p>
              <a:p>
                <a:r>
                  <a:rPr lang="zh-CN" altLang="en-US" dirty="0" smtClean="0"/>
                  <a:t>国际单位制中的单位为</a:t>
                </a:r>
                <a:r>
                  <a:rPr lang="en-US" altLang="zh-CN" dirty="0" err="1" smtClean="0"/>
                  <a:t>kg·m</a:t>
                </a:r>
                <a:r>
                  <a:rPr lang="en-US" altLang="zh-CN" dirty="0" smtClean="0"/>
                  <a:t>/s</a:t>
                </a:r>
                <a:r>
                  <a:rPr lang="zh-CN" altLang="en-US" dirty="0" smtClean="0"/>
                  <a:t>，量纲</a:t>
                </a:r>
                <a:r>
                  <a:rPr lang="en-US" altLang="zh-CN" dirty="0" smtClean="0"/>
                  <a:t>MLT⁻¹</a:t>
                </a:r>
                <a:r>
                  <a:rPr lang="zh-CN" altLang="en-US" dirty="0" smtClean="0"/>
                  <a:t>。</a:t>
                </a:r>
              </a:p>
              <a:p>
                <a:r>
                  <a:rPr lang="zh-CN" altLang="en-US" dirty="0" smtClean="0"/>
                  <a:t>公式</a:t>
                </a:r>
              </a:p>
              <a:p>
                <a:r>
                  <a:rPr lang="en-US" altLang="zh-CN" dirty="0" smtClean="0"/>
                  <a:t>p=</a:t>
                </a:r>
                <a:r>
                  <a:rPr lang="en-US" altLang="zh-CN" dirty="0" err="1" smtClean="0"/>
                  <a:t>m·v</a:t>
                </a:r>
                <a:endParaRPr lang="en-US" altLang="zh-CN" dirty="0" smtClean="0"/>
              </a:p>
              <a:p>
                <a:r>
                  <a:rPr lang="en-US" altLang="zh-CN" dirty="0" smtClean="0"/>
                  <a:t> </a:t>
                </a:r>
              </a:p>
              <a:p>
                <a:r>
                  <a:rPr lang="en-US" altLang="zh-CN" dirty="0" smtClean="0"/>
                  <a:t>p:</a:t>
                </a:r>
                <a:r>
                  <a:rPr lang="zh-CN" altLang="en-US" dirty="0" smtClean="0"/>
                  <a:t>动量 </a:t>
                </a:r>
                <a:r>
                  <a:rPr lang="en-US" altLang="zh-CN" dirty="0" smtClean="0"/>
                  <a:t>m:</a:t>
                </a:r>
                <a:r>
                  <a:rPr lang="zh-CN" altLang="en-US" dirty="0" smtClean="0"/>
                  <a:t>质量 </a:t>
                </a:r>
                <a:r>
                  <a:rPr lang="en-US" altLang="zh-CN" dirty="0" smtClean="0"/>
                  <a:t>v:</a:t>
                </a:r>
                <a:r>
                  <a:rPr lang="zh-CN" altLang="en-US" dirty="0" smtClean="0"/>
                  <a:t>速度 </a:t>
                </a:r>
                <a:r>
                  <a:rPr lang="en-US" altLang="zh-CN" dirty="0" smtClean="0"/>
                  <a:t>c:</a:t>
                </a:r>
                <a:r>
                  <a:rPr lang="zh-CN" altLang="en-US" dirty="0" smtClean="0"/>
                  <a:t>光速</a:t>
                </a:r>
              </a:p>
              <a:p>
                <a:r>
                  <a:rPr lang="zh-CN" altLang="en-US" dirty="0" smtClean="0"/>
                  <a:t>注：一般情况请用一公式</a:t>
                </a:r>
              </a:p>
              <a:p>
                <a:r>
                  <a:rPr lang="zh-CN" altLang="en-US" dirty="0" smtClean="0"/>
                  <a:t>基本性质</a:t>
                </a:r>
              </a:p>
              <a:p>
                <a:r>
                  <a:rPr lang="zh-CN" altLang="en-US" dirty="0" smtClean="0"/>
                  <a:t>动量是矢量，用符号</a:t>
                </a:r>
                <a:r>
                  <a:rPr lang="en-US" altLang="zh-CN" dirty="0" smtClean="0"/>
                  <a:t>p</a:t>
                </a:r>
                <a:r>
                  <a:rPr lang="zh-CN" altLang="en-US" dirty="0" smtClean="0"/>
                  <a:t>表示。</a:t>
                </a:r>
              </a:p>
              <a:p>
                <a:r>
                  <a:rPr lang="zh-CN" altLang="en-US" dirty="0" smtClean="0"/>
                  <a:t>质点组的动量为组内各质点动量的矢量和。</a:t>
                </a:r>
              </a:p>
              <a:p>
                <a:r>
                  <a:rPr lang="zh-CN" altLang="en-US" dirty="0" smtClean="0"/>
                  <a:t>动量是一个守恒量，这表示为在一个封闭系统（不受外力或外力矢量和为</a:t>
                </a:r>
                <a:r>
                  <a:rPr lang="en-US" altLang="zh-CN" dirty="0" smtClean="0"/>
                  <a:t>0</a:t>
                </a:r>
                <a:r>
                  <a:rPr lang="zh-CN" altLang="en-US" dirty="0" smtClean="0"/>
                  <a:t>）内动量的总和不变。</a:t>
                </a:r>
              </a:p>
              <a:p>
                <a:r>
                  <a:rPr lang="zh-CN" altLang="en-US" dirty="0" smtClean="0"/>
                  <a:t>物体的机械运动都不是孤立地发生的，它与周围物体间存在着相互作用，这种相互作用表现为运动物体与周围物体间发生着机械运动的传递（或转移）过程，动量正是从机械运动传递这个角度度量机械运动的物理量，这种传递是等量地进行的，物体</a:t>
                </a:r>
                <a:r>
                  <a:rPr lang="en-US" altLang="zh-CN" dirty="0" smtClean="0"/>
                  <a:t>2</a:t>
                </a:r>
                <a:r>
                  <a:rPr lang="zh-CN" altLang="en-US" dirty="0" smtClean="0"/>
                  <a:t>把多少机械运动（即动量）传递给物体</a:t>
                </a:r>
                <a:r>
                  <a:rPr lang="en-US" altLang="zh-CN" dirty="0" smtClean="0"/>
                  <a:t>1</a:t>
                </a:r>
                <a:r>
                  <a:rPr lang="zh-CN" altLang="en-US" dirty="0" smtClean="0"/>
                  <a:t>，物体</a:t>
                </a:r>
                <a:r>
                  <a:rPr lang="en-US" altLang="zh-CN" dirty="0" smtClean="0"/>
                  <a:t>2</a:t>
                </a:r>
                <a:r>
                  <a:rPr lang="zh-CN" altLang="en-US" dirty="0" smtClean="0"/>
                  <a:t>将失去等量的动量，传递的结果是两者的总动量保持不变。</a:t>
                </a:r>
              </a:p>
              <a:p>
                <a:r>
                  <a:rPr lang="zh-CN" altLang="en-US" dirty="0" smtClean="0"/>
                  <a:t>从动力学角度看，力反映了动量传递快慢的情况。</a:t>
                </a:r>
              </a:p>
              <a:p>
                <a:r>
                  <a:rPr lang="zh-CN" altLang="en-US" dirty="0" smtClean="0"/>
                  <a:t>与实物一样，电磁场也具有动量。例如光子的动量为</a:t>
                </a:r>
                <a14:m>
                  <m:oMath xmlns:m="http://schemas.openxmlformats.org/officeDocument/2006/math">
                    <m:r>
                      <a:rPr lang="en-US" altLang="zh-CN" b="0" i="1" smtClean="0">
                        <a:latin typeface="Cambria Math"/>
                      </a:rPr>
                      <m:t>𝑝</m:t>
                    </m:r>
                    <m:r>
                      <a:rPr lang="en-US" altLang="zh-CN" b="0" i="1" smtClean="0">
                        <a:latin typeface="Cambria Math"/>
                      </a:rPr>
                      <m:t>=</m:t>
                    </m:r>
                    <m:f>
                      <m:fPr>
                        <m:ctrlPr>
                          <a:rPr lang="en-US" altLang="zh-CN" b="0" i="1" smtClean="0">
                            <a:latin typeface="Cambria Math" panose="02040503050406030204" pitchFamily="18" charset="0"/>
                          </a:rPr>
                        </m:ctrlPr>
                      </m:fPr>
                      <m:num>
                        <m:r>
                          <a:rPr lang="en-US" altLang="zh-CN" b="0" i="1" smtClean="0">
                            <a:latin typeface="Cambria Math"/>
                          </a:rPr>
                          <m:t>2</m:t>
                        </m:r>
                        <m:r>
                          <a:rPr lang="zh-CN" altLang="en-US" b="0" i="1" smtClean="0">
                            <a:latin typeface="Cambria Math"/>
                          </a:rPr>
                          <m:t>𝜋</m:t>
                        </m:r>
                      </m:num>
                      <m:den>
                        <m:r>
                          <a:rPr lang="en-US" altLang="zh-CN" b="0" i="1" smtClean="0">
                            <a:latin typeface="Cambria Math"/>
                          </a:rPr>
                          <m:t>h𝑘</m:t>
                        </m:r>
                      </m:den>
                    </m:f>
                  </m:oMath>
                </a14:m>
                <a:r>
                  <a:rPr lang="zh-CN" altLang="en-US" dirty="0" smtClean="0"/>
                  <a:t>  ，其中</a:t>
                </a:r>
                <a:r>
                  <a:rPr lang="en-US" altLang="zh-CN" dirty="0" smtClean="0"/>
                  <a:t>h</a:t>
                </a:r>
                <a:r>
                  <a:rPr lang="zh-CN" altLang="en-US" dirty="0" smtClean="0"/>
                  <a:t>为普朗克常量，</a:t>
                </a:r>
                <a:r>
                  <a:rPr lang="en-US" altLang="zh-CN" dirty="0" smtClean="0"/>
                  <a:t>k</a:t>
                </a:r>
                <a:r>
                  <a:rPr lang="zh-CN" altLang="en-US" dirty="0" smtClean="0"/>
                  <a:t>为波矢，其大小为</a:t>
                </a:r>
                <a:r>
                  <a:rPr lang="en-US" altLang="zh-CN" dirty="0" smtClean="0"/>
                  <a:t>k=2π/λ </a:t>
                </a:r>
                <a:r>
                  <a:rPr lang="zh-CN" altLang="en-US" dirty="0" smtClean="0"/>
                  <a:t>（</a:t>
                </a:r>
                <a:r>
                  <a:rPr lang="en-US" altLang="zh-CN" dirty="0" smtClean="0"/>
                  <a:t>λ </a:t>
                </a:r>
                <a:r>
                  <a:rPr lang="zh-CN" altLang="en-US" dirty="0" smtClean="0"/>
                  <a:t>为波长），方向沿波传播方向。</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在物理学中，动量是与物体的质量和速度相关的物理量。</a:t>
                </a:r>
              </a:p>
              <a:p>
                <a:r>
                  <a:rPr lang="zh-CN" altLang="en-US" dirty="0" smtClean="0"/>
                  <a:t>一般而言，一个物体的动量指的是这个物体在它运动方向上保持运动的趋势。</a:t>
                </a:r>
                <a:endParaRPr lang="en-US" altLang="zh-CN" dirty="0" smtClean="0"/>
              </a:p>
              <a:p>
                <a:r>
                  <a:rPr lang="zh-CN" altLang="en-US" dirty="0" smtClean="0"/>
                  <a:t>国际单位制中的单位为</a:t>
                </a:r>
                <a:r>
                  <a:rPr lang="en-US" altLang="zh-CN" dirty="0" err="1" smtClean="0"/>
                  <a:t>kg·m</a:t>
                </a:r>
                <a:r>
                  <a:rPr lang="en-US" altLang="zh-CN" dirty="0" smtClean="0"/>
                  <a:t>/s</a:t>
                </a:r>
                <a:r>
                  <a:rPr lang="zh-CN" altLang="en-US" dirty="0" smtClean="0"/>
                  <a:t>，量纲</a:t>
                </a:r>
                <a:r>
                  <a:rPr lang="en-US" altLang="zh-CN" dirty="0" smtClean="0"/>
                  <a:t>MLT⁻¹</a:t>
                </a:r>
                <a:r>
                  <a:rPr lang="zh-CN" altLang="en-US" dirty="0" smtClean="0"/>
                  <a:t>。</a:t>
                </a:r>
              </a:p>
              <a:p>
                <a:r>
                  <a:rPr lang="zh-CN" altLang="en-US" dirty="0" smtClean="0"/>
                  <a:t>公式</a:t>
                </a:r>
              </a:p>
              <a:p>
                <a:r>
                  <a:rPr lang="en-US" altLang="zh-CN" dirty="0" smtClean="0"/>
                  <a:t>p=</a:t>
                </a:r>
                <a:r>
                  <a:rPr lang="en-US" altLang="zh-CN" dirty="0" err="1" smtClean="0"/>
                  <a:t>m·v</a:t>
                </a:r>
                <a:endParaRPr lang="en-US" altLang="zh-CN" dirty="0" smtClean="0"/>
              </a:p>
              <a:p>
                <a:r>
                  <a:rPr lang="en-US" altLang="zh-CN" dirty="0" smtClean="0"/>
                  <a:t> </a:t>
                </a:r>
              </a:p>
              <a:p>
                <a:r>
                  <a:rPr lang="en-US" altLang="zh-CN" dirty="0" smtClean="0"/>
                  <a:t>p:</a:t>
                </a:r>
                <a:r>
                  <a:rPr lang="zh-CN" altLang="en-US" dirty="0" smtClean="0"/>
                  <a:t>动量 </a:t>
                </a:r>
                <a:r>
                  <a:rPr lang="en-US" altLang="zh-CN" dirty="0" smtClean="0"/>
                  <a:t>m:</a:t>
                </a:r>
                <a:r>
                  <a:rPr lang="zh-CN" altLang="en-US" dirty="0" smtClean="0"/>
                  <a:t>质量 </a:t>
                </a:r>
                <a:r>
                  <a:rPr lang="en-US" altLang="zh-CN" dirty="0" smtClean="0"/>
                  <a:t>v:</a:t>
                </a:r>
                <a:r>
                  <a:rPr lang="zh-CN" altLang="en-US" dirty="0" smtClean="0"/>
                  <a:t>速度 </a:t>
                </a:r>
                <a:r>
                  <a:rPr lang="en-US" altLang="zh-CN" dirty="0" smtClean="0"/>
                  <a:t>c:</a:t>
                </a:r>
                <a:r>
                  <a:rPr lang="zh-CN" altLang="en-US" dirty="0" smtClean="0"/>
                  <a:t>光速</a:t>
                </a:r>
              </a:p>
              <a:p>
                <a:r>
                  <a:rPr lang="zh-CN" altLang="en-US" dirty="0" smtClean="0"/>
                  <a:t>注：一般情况请用一公式</a:t>
                </a:r>
              </a:p>
              <a:p>
                <a:r>
                  <a:rPr lang="zh-CN" altLang="en-US" dirty="0" smtClean="0"/>
                  <a:t>基本性质</a:t>
                </a:r>
              </a:p>
              <a:p>
                <a:r>
                  <a:rPr lang="zh-CN" altLang="en-US" dirty="0" smtClean="0"/>
                  <a:t>动量是矢量，用符号</a:t>
                </a:r>
                <a:r>
                  <a:rPr lang="en-US" altLang="zh-CN" dirty="0" smtClean="0"/>
                  <a:t>p</a:t>
                </a:r>
                <a:r>
                  <a:rPr lang="zh-CN" altLang="en-US" dirty="0" smtClean="0"/>
                  <a:t>表示。</a:t>
                </a:r>
              </a:p>
              <a:p>
                <a:r>
                  <a:rPr lang="zh-CN" altLang="en-US" dirty="0" smtClean="0"/>
                  <a:t>质点组的动量为组内各质点动量的矢量和。</a:t>
                </a:r>
              </a:p>
              <a:p>
                <a:r>
                  <a:rPr lang="zh-CN" altLang="en-US" dirty="0" smtClean="0"/>
                  <a:t>动量是一个守恒量，这表示为在一个封闭系统（不受外力或外力矢量和为</a:t>
                </a:r>
                <a:r>
                  <a:rPr lang="en-US" altLang="zh-CN" dirty="0" smtClean="0"/>
                  <a:t>0</a:t>
                </a:r>
                <a:r>
                  <a:rPr lang="zh-CN" altLang="en-US" dirty="0" smtClean="0"/>
                  <a:t>）内动量的总和不变。</a:t>
                </a:r>
              </a:p>
              <a:p>
                <a:r>
                  <a:rPr lang="zh-CN" altLang="en-US" dirty="0" smtClean="0"/>
                  <a:t>物体的机械运动都不是孤立地发生的，它与周围物体间存在着相互作用，这种相互作用表现为运动物体与周围物体间发生着机械运动的传递（或转移）过程，动量正是从机械运动传递这个角度度量机械运动的物理量，这种传递是等量地进行的，物体</a:t>
                </a:r>
                <a:r>
                  <a:rPr lang="en-US" altLang="zh-CN" dirty="0" smtClean="0"/>
                  <a:t>2</a:t>
                </a:r>
                <a:r>
                  <a:rPr lang="zh-CN" altLang="en-US" dirty="0" smtClean="0"/>
                  <a:t>把多少机械运动（即动量）传递给物体</a:t>
                </a:r>
                <a:r>
                  <a:rPr lang="en-US" altLang="zh-CN" dirty="0" smtClean="0"/>
                  <a:t>1</a:t>
                </a:r>
                <a:r>
                  <a:rPr lang="zh-CN" altLang="en-US" dirty="0" smtClean="0"/>
                  <a:t>，物体</a:t>
                </a:r>
                <a:r>
                  <a:rPr lang="en-US" altLang="zh-CN" dirty="0" smtClean="0"/>
                  <a:t>2</a:t>
                </a:r>
                <a:r>
                  <a:rPr lang="zh-CN" altLang="en-US" dirty="0" smtClean="0"/>
                  <a:t>将失去等量的动量，传递的结果是两者的总动量保持不变。</a:t>
                </a:r>
              </a:p>
              <a:p>
                <a:r>
                  <a:rPr lang="zh-CN" altLang="en-US" dirty="0" smtClean="0"/>
                  <a:t>从动力学角度看，力反映了动量传递快慢的情况。</a:t>
                </a:r>
              </a:p>
              <a:p>
                <a:r>
                  <a:rPr lang="zh-CN" altLang="en-US" dirty="0" smtClean="0"/>
                  <a:t>与实物一样，电磁场也具有动量。例如光子的动量为</a:t>
                </a:r>
                <a:r>
                  <a:rPr lang="en-US" altLang="zh-CN" b="0" i="0" smtClean="0">
                    <a:latin typeface="Cambria Math"/>
                  </a:rPr>
                  <a:t>𝑝=2</a:t>
                </a:r>
                <a:r>
                  <a:rPr lang="zh-CN" altLang="en-US" b="0" i="0" smtClean="0">
                    <a:latin typeface="Cambria Math"/>
                  </a:rPr>
                  <a:t>𝜋</a:t>
                </a:r>
                <a:r>
                  <a:rPr lang="en-US" altLang="zh-CN" b="0" i="0" smtClean="0">
                    <a:latin typeface="Cambria Math"/>
                  </a:rPr>
                  <a:t>/ℎ𝑘</a:t>
                </a:r>
                <a:r>
                  <a:rPr lang="zh-CN" altLang="en-US" dirty="0" smtClean="0"/>
                  <a:t>  ，其中</a:t>
                </a:r>
                <a:r>
                  <a:rPr lang="en-US" altLang="zh-CN" dirty="0" smtClean="0"/>
                  <a:t>h</a:t>
                </a:r>
                <a:r>
                  <a:rPr lang="zh-CN" altLang="en-US" dirty="0" smtClean="0"/>
                  <a:t>为普朗克常量，</a:t>
                </a:r>
                <a:r>
                  <a:rPr lang="en-US" altLang="zh-CN" dirty="0" smtClean="0"/>
                  <a:t>k</a:t>
                </a:r>
                <a:r>
                  <a:rPr lang="zh-CN" altLang="en-US" dirty="0" smtClean="0"/>
                  <a:t>为波矢，其大小为</a:t>
                </a:r>
                <a:r>
                  <a:rPr lang="en-US" altLang="zh-CN" dirty="0" smtClean="0"/>
                  <a:t>k=2π/λ </a:t>
                </a:r>
                <a:r>
                  <a:rPr lang="zh-CN" altLang="en-US" dirty="0" smtClean="0"/>
                  <a:t>（</a:t>
                </a:r>
                <a:r>
                  <a:rPr lang="en-US" altLang="zh-CN" dirty="0" smtClean="0"/>
                  <a:t>λ </a:t>
                </a:r>
                <a:r>
                  <a:rPr lang="zh-CN" altLang="en-US" dirty="0" smtClean="0"/>
                  <a:t>为波长），方向沿波传播方向。</a:t>
                </a:r>
                <a:endParaRPr lang="zh-CN" altLang="en-US" dirty="0"/>
              </a:p>
            </p:txBody>
          </p:sp>
        </mc:Fallback>
      </mc:AlternateContent>
    </p:spTree>
    <p:extLst>
      <p:ext uri="{BB962C8B-B14F-4D97-AF65-F5344CB8AC3E}">
        <p14:creationId xmlns:p14="http://schemas.microsoft.com/office/powerpoint/2010/main" val="3192753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2200" dirty="0" smtClean="0">
                    <a:ea typeface="+mn-ea"/>
                    <a:cs typeface="+mn-cs"/>
                    <a:sym typeface="Helvetica Neue"/>
                  </a:rPr>
                  <a:t>光速</a:t>
                </a:r>
                <a14:m>
                  <m:oMath xmlns:m="http://schemas.openxmlformats.org/officeDocument/2006/math">
                    <m:r>
                      <a:rPr lang="zh-CN" altLang="en-US" sz="2200" b="0" i="0" smtClean="0">
                        <a:latin typeface="Cambria Math"/>
                        <a:ea typeface="+mn-ea"/>
                        <a:cs typeface="+mn-cs"/>
                        <a:sym typeface="Helvetica Neue"/>
                      </a:rPr>
                      <m:t>：</m:t>
                    </m:r>
                    <m:r>
                      <a:rPr lang="zh-CN" altLang="en-US" sz="2200" smtClean="0">
                        <a:latin typeface="Cambria Math"/>
                        <a:ea typeface="+mn-ea"/>
                        <a:cs typeface="+mn-cs"/>
                        <a:sym typeface="Helvetica Neue"/>
                      </a:rPr>
                      <m:t>3</m:t>
                    </m:r>
                    <m:r>
                      <a:rPr lang="zh-CN" altLang="en-US" sz="2200" i="0">
                        <a:latin typeface="Cambria Math"/>
                        <a:ea typeface="+mn-ea"/>
                        <a:cs typeface="+mn-cs"/>
                        <a:sym typeface="Helvetica Neue"/>
                      </a:rPr>
                      <m:t>×</m:t>
                    </m:r>
                    <m:sSup>
                      <m:sSupPr>
                        <m:ctrlPr>
                          <a:rPr lang="zh-CN" altLang="en-US" sz="2200" i="1">
                            <a:latin typeface="Cambria Math" panose="02040503050406030204" pitchFamily="18" charset="0"/>
                            <a:ea typeface="+mn-ea"/>
                            <a:cs typeface="+mn-cs"/>
                            <a:sym typeface="Helvetica Neue"/>
                          </a:rPr>
                        </m:ctrlPr>
                      </m:sSupPr>
                      <m:e>
                        <m:r>
                          <a:rPr lang="zh-CN" altLang="en-US" sz="2200" i="0">
                            <a:latin typeface="Cambria Math"/>
                            <a:ea typeface="+mn-ea"/>
                            <a:cs typeface="+mn-cs"/>
                            <a:sym typeface="Helvetica Neue"/>
                          </a:rPr>
                          <m:t>10</m:t>
                        </m:r>
                      </m:e>
                      <m:sup>
                        <m:r>
                          <a:rPr lang="zh-CN" altLang="en-US" sz="2200" i="0">
                            <a:latin typeface="Cambria Math"/>
                            <a:ea typeface="+mn-ea"/>
                            <a:cs typeface="+mn-cs"/>
                            <a:sym typeface="Helvetica Neue"/>
                          </a:rPr>
                          <m:t>8</m:t>
                        </m:r>
                      </m:sup>
                    </m:sSup>
                    <m:f>
                      <m:fPr>
                        <m:type m:val="lin"/>
                        <m:ctrlPr>
                          <a:rPr lang="zh-CN" altLang="en-US" sz="2200" i="1">
                            <a:latin typeface="Cambria Math" panose="02040503050406030204" pitchFamily="18" charset="0"/>
                            <a:ea typeface="+mn-ea"/>
                            <a:cs typeface="+mn-cs"/>
                            <a:sym typeface="Helvetica Neue"/>
                          </a:rPr>
                        </m:ctrlPr>
                      </m:fPr>
                      <m:num>
                        <m:r>
                          <a:rPr lang="zh-CN" altLang="en-US" sz="2200" i="1">
                            <a:latin typeface="Cambria Math"/>
                            <a:ea typeface="+mn-ea"/>
                            <a:cs typeface="+mn-cs"/>
                            <a:sym typeface="Helvetica Neue"/>
                          </a:rPr>
                          <m:t>𝑚</m:t>
                        </m:r>
                      </m:num>
                      <m:den>
                        <m:r>
                          <a:rPr lang="zh-CN" altLang="en-US" sz="2200" i="1">
                            <a:latin typeface="Cambria Math"/>
                            <a:ea typeface="+mn-ea"/>
                            <a:cs typeface="+mn-cs"/>
                            <a:sym typeface="Helvetica Neue"/>
                          </a:rPr>
                          <m:t>𝑠</m:t>
                        </m:r>
                      </m:den>
                    </m:f>
                  </m:oMath>
                </a14:m>
                <a:endParaRPr lang="en-US" altLang="zh-CN" dirty="0" smtClean="0"/>
              </a:p>
              <a:p>
                <a:r>
                  <a:rPr lang="zh-CN" altLang="en-US" dirty="0" smtClean="0"/>
                  <a:t>电磁场以波的形式在空间传播，而以粒子的形式和实物相互作用，这个“粒子”就是光子。</a:t>
                </a:r>
                <a:endParaRPr lang="en-US" altLang="zh-CN" dirty="0" smtClean="0"/>
              </a:p>
              <a:p>
                <a:r>
                  <a:rPr lang="zh-CN" altLang="en-US" dirty="0" smtClean="0"/>
                  <a:t>一个实物的微粒所占据的空间不能同时为另一个微粒所占据，但几个电磁场可以互相叠加，可以同时占据同一个空间。</a:t>
                </a:r>
                <a:endParaRPr lang="en-US" altLang="zh-CN" dirty="0" smtClean="0"/>
              </a:p>
            </p:txBody>
          </p:sp>
        </mc:Choice>
        <mc:Fallback xmlns="">
          <p:sp>
            <p:nvSpPr>
              <p:cNvPr id="3" name="备注占位符 2"/>
              <p:cNvSpPr>
                <a:spLocks noGrp="1"/>
              </p:cNvSpPr>
              <p:nvPr>
                <p:ph type="body" idx="1"/>
              </p:nvPr>
            </p:nvSpPr>
            <p:spPr/>
            <p:txBody>
              <a:bodyPr/>
              <a:lstStyle/>
              <a:p>
                <a:pPr/>
                <a:r>
                  <a:rPr lang="zh-CN" altLang="en-US" sz="2200" smtClean="0">
                    <a:ea typeface="+mn-ea"/>
                    <a:cs typeface="+mn-cs"/>
                    <a:sym typeface="Helvetica Neue"/>
                  </a:rPr>
                  <a:t>光速</a:t>
                </a:r>
                <a:r>
                  <a:rPr lang="zh-CN" altLang="en-US" sz="2200" b="0" i="0" smtClean="0">
                    <a:latin typeface="Cambria Math"/>
                    <a:ea typeface="+mn-ea"/>
                    <a:cs typeface="+mn-cs"/>
                    <a:sym typeface="Helvetica Neue"/>
                  </a:rPr>
                  <a:t>：</a:t>
                </a:r>
                <a:r>
                  <a:rPr lang="zh-CN" altLang="en-US" sz="2200" i="0" smtClean="0">
                    <a:latin typeface="+mn-lt"/>
                    <a:ea typeface="+mn-ea"/>
                    <a:cs typeface="+mn-cs"/>
                    <a:sym typeface="Helvetica Neue"/>
                  </a:rPr>
                  <a:t>3</a:t>
                </a:r>
                <a:r>
                  <a:rPr lang="zh-CN" altLang="en-US" sz="2200" i="0">
                    <a:latin typeface="+mn-lt"/>
                    <a:ea typeface="+mn-ea"/>
                    <a:cs typeface="+mn-cs"/>
                    <a:sym typeface="Helvetica Neue"/>
                  </a:rPr>
                  <a:t>×〖10〗^8  𝑚∕𝑠</a:t>
                </a:r>
                <a:endParaRPr lang="zh-CN" altLang="en-US"/>
              </a:p>
            </p:txBody>
          </p:sp>
        </mc:Fallback>
      </mc:AlternateContent>
    </p:spTree>
    <p:extLst>
      <p:ext uri="{BB962C8B-B14F-4D97-AF65-F5344CB8AC3E}">
        <p14:creationId xmlns:p14="http://schemas.microsoft.com/office/powerpoint/2010/main" val="2645186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a:t>
            </a:r>
            <a:r>
              <a:rPr lang="en-US" altLang="zh-CN" dirty="0" err="1" smtClean="0"/>
              <a:t>Eq</a:t>
            </a:r>
            <a:endParaRPr lang="en-US" altLang="zh-CN" dirty="0" smtClean="0"/>
          </a:p>
          <a:p>
            <a:r>
              <a:rPr lang="en-US" altLang="zh-CN" dirty="0" smtClean="0"/>
              <a:t>V=Ed</a:t>
            </a:r>
            <a:endParaRPr lang="zh-CN" altLang="en-US" dirty="0"/>
          </a:p>
        </p:txBody>
      </p:sp>
    </p:spTree>
    <p:extLst>
      <p:ext uri="{BB962C8B-B14F-4D97-AF65-F5344CB8AC3E}">
        <p14:creationId xmlns:p14="http://schemas.microsoft.com/office/powerpoint/2010/main" val="1197216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C</a:t>
            </a:r>
            <a:endParaRPr lang="zh-CN" altLang="en-US"/>
          </a:p>
        </p:txBody>
      </p:sp>
    </p:spTree>
    <p:extLst>
      <p:ext uri="{BB962C8B-B14F-4D97-AF65-F5344CB8AC3E}">
        <p14:creationId xmlns:p14="http://schemas.microsoft.com/office/powerpoint/2010/main" val="2453700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D</a:t>
            </a:r>
            <a:endParaRPr lang="zh-CN" altLang="en-US"/>
          </a:p>
        </p:txBody>
      </p:sp>
    </p:spTree>
    <p:extLst>
      <p:ext uri="{BB962C8B-B14F-4D97-AF65-F5344CB8AC3E}">
        <p14:creationId xmlns:p14="http://schemas.microsoft.com/office/powerpoint/2010/main" val="2810766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式中</a:t>
            </a:r>
            <a:r>
              <a:rPr lang="en-US" altLang="zh-CN" dirty="0" err="1" smtClean="0"/>
              <a:t>e</a:t>
            </a:r>
            <a:r>
              <a:rPr lang="en-US" altLang="zh-CN" baseline="-25000" dirty="0" err="1" smtClean="0"/>
              <a:t>r</a:t>
            </a:r>
            <a:r>
              <a:rPr lang="zh-CN" altLang="en-US" dirty="0" smtClean="0"/>
              <a:t>是由点电荷</a:t>
            </a:r>
            <a:r>
              <a:rPr lang="en-US" altLang="zh-CN" dirty="0" smtClean="0"/>
              <a:t>q</a:t>
            </a:r>
            <a:r>
              <a:rPr lang="zh-CN" altLang="en-US" dirty="0" smtClean="0"/>
              <a:t>指向</a:t>
            </a:r>
            <a:r>
              <a:rPr lang="en-US" altLang="zh-CN" dirty="0" smtClean="0"/>
              <a:t>P</a:t>
            </a:r>
            <a:r>
              <a:rPr lang="zh-CN" altLang="en-US" dirty="0" smtClean="0"/>
              <a:t>点的单位矢量；如果</a:t>
            </a:r>
            <a:r>
              <a:rPr lang="en-US" altLang="zh-CN" dirty="0" smtClean="0"/>
              <a:t>q</a:t>
            </a:r>
            <a:r>
              <a:rPr lang="zh-CN" altLang="en-US" dirty="0" smtClean="0"/>
              <a:t>为正电荷，</a:t>
            </a:r>
            <a:r>
              <a:rPr lang="en-US" altLang="zh-CN" dirty="0" smtClean="0"/>
              <a:t>E</a:t>
            </a:r>
            <a:r>
              <a:rPr lang="zh-CN" altLang="en-US" dirty="0" smtClean="0"/>
              <a:t>的方向与</a:t>
            </a:r>
            <a:r>
              <a:rPr lang="en-US" altLang="zh-CN" dirty="0" err="1" smtClean="0"/>
              <a:t>e</a:t>
            </a:r>
            <a:r>
              <a:rPr lang="en-US" altLang="zh-CN" baseline="-25000" dirty="0" err="1" smtClean="0"/>
              <a:t>r</a:t>
            </a:r>
            <a:r>
              <a:rPr lang="zh-CN" altLang="en-US" dirty="0" smtClean="0"/>
              <a:t>的方向一致，即背离</a:t>
            </a:r>
            <a:r>
              <a:rPr lang="en-US" altLang="zh-CN" dirty="0" smtClean="0"/>
              <a:t>q</a:t>
            </a:r>
            <a:r>
              <a:rPr lang="zh-CN" altLang="en-US" dirty="0" smtClean="0"/>
              <a:t>；如果</a:t>
            </a:r>
            <a:r>
              <a:rPr lang="en-US" altLang="zh-CN" dirty="0" smtClean="0"/>
              <a:t>q</a:t>
            </a:r>
            <a:r>
              <a:rPr lang="zh-CN" altLang="en-US" dirty="0" smtClean="0"/>
              <a:t>为负电荷，</a:t>
            </a:r>
            <a:r>
              <a:rPr lang="en-US" altLang="zh-CN" dirty="0" smtClean="0"/>
              <a:t>E</a:t>
            </a:r>
            <a:r>
              <a:rPr lang="zh-CN" altLang="en-US" dirty="0" smtClean="0"/>
              <a:t>的方向与</a:t>
            </a:r>
            <a:r>
              <a:rPr lang="en-US" altLang="zh-CN" dirty="0" err="1" smtClean="0"/>
              <a:t>e</a:t>
            </a:r>
            <a:r>
              <a:rPr lang="en-US" altLang="zh-CN" baseline="-25000" dirty="0" err="1" smtClean="0"/>
              <a:t>r</a:t>
            </a:r>
            <a:r>
              <a:rPr lang="zh-CN" altLang="en-US" dirty="0" smtClean="0"/>
              <a:t>的方向相反，即指向</a:t>
            </a:r>
            <a:r>
              <a:rPr lang="en-US" altLang="zh-CN" dirty="0" smtClean="0"/>
              <a:t>q.</a:t>
            </a:r>
            <a:endParaRPr lang="zh-CN" altLang="en-US" dirty="0"/>
          </a:p>
        </p:txBody>
      </p:sp>
    </p:spTree>
    <p:extLst>
      <p:ext uri="{BB962C8B-B14F-4D97-AF65-F5344CB8AC3E}">
        <p14:creationId xmlns:p14="http://schemas.microsoft.com/office/powerpoint/2010/main" val="529114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42975" y="746125"/>
            <a:ext cx="4972050" cy="3730625"/>
          </a:xfrm>
        </p:spPr>
      </p:sp>
      <p:sp>
        <p:nvSpPr>
          <p:cNvPr id="3" name="备注占位符 2"/>
          <p:cNvSpPr>
            <a:spLocks noGrp="1"/>
          </p:cNvSpPr>
          <p:nvPr>
            <p:ph type="body" idx="1"/>
          </p:nvPr>
        </p:nvSpPr>
        <p:spPr/>
        <p:txBody>
          <a:bodyPr/>
          <a:lstStyle/>
          <a:p>
            <a:r>
              <a:rPr lang="en-US" altLang="zh-CN" dirty="0" smtClean="0"/>
              <a:t>E=</a:t>
            </a:r>
            <a:r>
              <a:rPr lang="en-US" altLang="zh-CN" dirty="0" err="1" smtClean="0"/>
              <a:t>kq</a:t>
            </a:r>
            <a:r>
              <a:rPr lang="en-US" altLang="zh-CN" dirty="0" smtClean="0"/>
              <a:t>/r</a:t>
            </a:r>
            <a:r>
              <a:rPr lang="en-US" altLang="zh-CN" baseline="30000" dirty="0" smtClean="0"/>
              <a:t>2</a:t>
            </a:r>
          </a:p>
        </p:txBody>
      </p:sp>
    </p:spTree>
    <p:extLst>
      <p:ext uri="{BB962C8B-B14F-4D97-AF65-F5344CB8AC3E}">
        <p14:creationId xmlns:p14="http://schemas.microsoft.com/office/powerpoint/2010/main" val="1326082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0</a:t>
            </a:r>
            <a:endParaRPr lang="zh-CN" altLang="en-US" dirty="0"/>
          </a:p>
        </p:txBody>
      </p:sp>
    </p:spTree>
    <p:extLst>
      <p:ext uri="{BB962C8B-B14F-4D97-AF65-F5344CB8AC3E}">
        <p14:creationId xmlns:p14="http://schemas.microsoft.com/office/powerpoint/2010/main" val="3987825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答案为：</a:t>
            </a:r>
            <a:r>
              <a:rPr lang="en-US" altLang="zh-CN" smtClean="0"/>
              <a:t>D</a:t>
            </a:r>
            <a:endParaRPr lang="zh-CN" altLang="en-US"/>
          </a:p>
        </p:txBody>
      </p:sp>
    </p:spTree>
    <p:extLst>
      <p:ext uri="{BB962C8B-B14F-4D97-AF65-F5344CB8AC3E}">
        <p14:creationId xmlns:p14="http://schemas.microsoft.com/office/powerpoint/2010/main" val="1934080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32885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42975" y="746125"/>
            <a:ext cx="4972050" cy="3730625"/>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64293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任何两条电场线不会相交是电场中每一点处的电场强度具有确定方向的必然结果。</a:t>
            </a:r>
            <a:endParaRPr lang="en-US" altLang="zh-CN" dirty="0" smtClean="0"/>
          </a:p>
          <a:p>
            <a:r>
              <a:rPr lang="zh-CN" altLang="en-US" dirty="0" smtClean="0"/>
              <a:t>必须注意到，虽然在电场中每一点正电荷所受的力和通过该点的电场线方向相同，但是在一般情况下，电场线并不是一个正电荷在场中运动的轨迹。</a:t>
            </a:r>
            <a:endParaRPr lang="zh-CN" altLang="en-US" dirty="0"/>
          </a:p>
        </p:txBody>
      </p:sp>
    </p:spTree>
    <p:extLst>
      <p:ext uri="{BB962C8B-B14F-4D97-AF65-F5344CB8AC3E}">
        <p14:creationId xmlns:p14="http://schemas.microsoft.com/office/powerpoint/2010/main" val="3173006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D</a:t>
            </a:r>
            <a:endParaRPr lang="zh-CN" altLang="en-US"/>
          </a:p>
        </p:txBody>
      </p:sp>
    </p:spTree>
    <p:extLst>
      <p:ext uri="{BB962C8B-B14F-4D97-AF65-F5344CB8AC3E}">
        <p14:creationId xmlns:p14="http://schemas.microsoft.com/office/powerpoint/2010/main" val="1311420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B</a:t>
            </a:r>
            <a:endParaRPr lang="zh-CN" altLang="en-US"/>
          </a:p>
        </p:txBody>
      </p:sp>
    </p:spTree>
    <p:extLst>
      <p:ext uri="{BB962C8B-B14F-4D97-AF65-F5344CB8AC3E}">
        <p14:creationId xmlns:p14="http://schemas.microsoft.com/office/powerpoint/2010/main" val="3380646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53053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42975" y="746125"/>
            <a:ext cx="4972050" cy="3730625"/>
          </a:xfrm>
        </p:spPr>
      </p:sp>
      <p:sp>
        <p:nvSpPr>
          <p:cNvPr id="3" name="备注占位符 2"/>
          <p:cNvSpPr>
            <a:spLocks noGrp="1"/>
          </p:cNvSpPr>
          <p:nvPr>
            <p:ph type="body" idx="1"/>
          </p:nvPr>
        </p:nvSpPr>
        <p:spPr/>
        <p:txBody>
          <a:bodyPr/>
          <a:lstStyle/>
          <a:p>
            <a:r>
              <a:rPr lang="zh-CN" altLang="en-US" dirty="0" smtClean="0"/>
              <a:t>大球壳外面电场为</a:t>
            </a:r>
            <a:r>
              <a:rPr lang="en-US" altLang="zh-CN" dirty="0" smtClean="0"/>
              <a:t>0</a:t>
            </a:r>
            <a:r>
              <a:rPr lang="zh-CN" altLang="en-US" dirty="0" smtClean="0"/>
              <a:t>（可根据高斯定理），小球外大球壳内表面内有电场，方向指向球心。</a:t>
            </a:r>
            <a:endParaRPr lang="zh-CN" altLang="en-US" dirty="0"/>
          </a:p>
        </p:txBody>
      </p:sp>
    </p:spTree>
    <p:extLst>
      <p:ext uri="{BB962C8B-B14F-4D97-AF65-F5344CB8AC3E}">
        <p14:creationId xmlns:p14="http://schemas.microsoft.com/office/powerpoint/2010/main" val="1010078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5305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1_标题和内容">
    <p:spTree>
      <p:nvGrpSpPr>
        <p:cNvPr id="1" name=""/>
        <p:cNvGrpSpPr/>
        <p:nvPr/>
      </p:nvGrpSpPr>
      <p:grpSpPr>
        <a:xfrm>
          <a:off x="0" y="0"/>
          <a:ext cx="0" cy="0"/>
          <a:chOff x="0" y="0"/>
          <a:chExt cx="0" cy="0"/>
        </a:xfrm>
      </p:grpSpPr>
      <p:sp>
        <p:nvSpPr>
          <p:cNvPr id="13" name="Shape 13"/>
          <p:cNvSpPr>
            <a:spLocks noGrp="1"/>
          </p:cNvSpPr>
          <p:nvPr>
            <p:ph type="title"/>
          </p:nvPr>
        </p:nvSpPr>
        <p:spPr>
          <a:prstGeom prst="rect">
            <a:avLst/>
          </a:prstGeom>
        </p:spPr>
        <p:txBody>
          <a:bodyPr/>
          <a:lstStyle/>
          <a:p>
            <a:pPr lvl="0">
              <a:defRPr sz="1800">
                <a:solidFill>
                  <a:srgbClr val="000000"/>
                </a:solidFill>
              </a:defRPr>
            </a:pPr>
            <a:r>
              <a:rPr sz="3200">
                <a:solidFill>
                  <a:srgbClr val="006633"/>
                </a:solidFill>
              </a:rPr>
              <a:t>标题文本</a:t>
            </a:r>
          </a:p>
        </p:txBody>
      </p:sp>
      <p:sp>
        <p:nvSpPr>
          <p:cNvPr id="14" name="Shape 14"/>
          <p:cNvSpPr>
            <a:spLocks noGrp="1"/>
          </p:cNvSpPr>
          <p:nvPr>
            <p:ph type="body" idx="1"/>
          </p:nvPr>
        </p:nvSpPr>
        <p:spPr>
          <a:prstGeom prst="rect">
            <a:avLst/>
          </a:prstGeom>
        </p:spPr>
        <p:txBody>
          <a:bodyPr/>
          <a:lstStyle/>
          <a:p>
            <a:pPr lvl="0">
              <a:defRPr sz="1800"/>
            </a:pPr>
            <a:r>
              <a:rPr sz="2800"/>
              <a:t>正文级别 1</a:t>
            </a:r>
          </a:p>
          <a:p>
            <a:pPr lvl="1">
              <a:defRPr sz="1800"/>
            </a:pPr>
            <a:r>
              <a:rPr sz="2800"/>
              <a:t>正文级别 2</a:t>
            </a:r>
          </a:p>
          <a:p>
            <a:pPr lvl="2">
              <a:defRPr sz="1800"/>
            </a:pPr>
            <a:r>
              <a:rPr sz="2800"/>
              <a:t>正文级别 3</a:t>
            </a:r>
          </a:p>
          <a:p>
            <a:pPr lvl="3">
              <a:defRPr sz="1800"/>
            </a:pPr>
            <a:r>
              <a:rPr sz="2800"/>
              <a:t>正文级别 4</a:t>
            </a:r>
          </a:p>
          <a:p>
            <a:pPr lvl="4">
              <a:defRPr sz="1800"/>
            </a:pPr>
            <a:r>
              <a:rPr sz="2800"/>
              <a:t>正文级别 5</a:t>
            </a:r>
          </a:p>
        </p:txBody>
      </p:sp>
      <p:sp>
        <p:nvSpPr>
          <p:cNvPr id="15" name="Shape 15"/>
          <p:cNvSpPr>
            <a:spLocks noGrp="1"/>
          </p:cNvSpPr>
          <p:nvPr>
            <p:ph type="sldNum" sz="quarter" idx="2"/>
          </p:nvPr>
        </p:nvSpPr>
        <p:spPr>
          <a:prstGeom prst="rect">
            <a:avLst/>
          </a:prstGeom>
        </p:spPr>
        <p:txBody>
          <a:bodyPr/>
          <a:lstStyle/>
          <a:p>
            <a:pPr lvl="0"/>
            <a:fld id="{86CB4B4D-7CA3-9044-876B-883B54F8677D}" type="slidenum">
              <a:rPr/>
              <a:pPr lvl="0"/>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a:fld id="{86CB4B4D-7CA3-9044-876B-883B54F8677D}" type="slidenum">
              <a:rPr lang="en-US" altLang="zh-CN" smtClean="0"/>
              <a:pPr lvl="0"/>
              <a:t>‹#›</a:t>
            </a:fld>
            <a:endParaRPr lang="en-US" altLang="zh-CN"/>
          </a:p>
        </p:txBody>
      </p:sp>
    </p:spTree>
    <p:extLst>
      <p:ext uri="{BB962C8B-B14F-4D97-AF65-F5344CB8AC3E}">
        <p14:creationId xmlns:p14="http://schemas.microsoft.com/office/powerpoint/2010/main" val="142654944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7710" y="2134378"/>
            <a:ext cx="7794050" cy="1472752"/>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5420" y="3893410"/>
            <a:ext cx="6418630" cy="1755852"/>
          </a:xfrm>
        </p:spPr>
        <p:txBody>
          <a:bodyPr/>
          <a:lstStyle>
            <a:lvl1pPr marL="0" indent="0" algn="ctr">
              <a:buNone/>
              <a:defRPr>
                <a:solidFill>
                  <a:schemeClr val="tx1">
                    <a:tint val="75000"/>
                  </a:schemeClr>
                </a:solidFill>
              </a:defRPr>
            </a:lvl1pPr>
            <a:lvl2pPr marL="458057" indent="0" algn="ctr">
              <a:buNone/>
              <a:defRPr>
                <a:solidFill>
                  <a:schemeClr val="tx1">
                    <a:tint val="75000"/>
                  </a:schemeClr>
                </a:solidFill>
              </a:defRPr>
            </a:lvl2pPr>
            <a:lvl3pPr marL="916116" indent="0" algn="ctr">
              <a:buNone/>
              <a:defRPr>
                <a:solidFill>
                  <a:schemeClr val="tx1">
                    <a:tint val="75000"/>
                  </a:schemeClr>
                </a:solidFill>
              </a:defRPr>
            </a:lvl3pPr>
            <a:lvl4pPr marL="1374175" indent="0" algn="ctr">
              <a:buNone/>
              <a:defRPr>
                <a:solidFill>
                  <a:schemeClr val="tx1">
                    <a:tint val="75000"/>
                  </a:schemeClr>
                </a:solidFill>
              </a:defRPr>
            </a:lvl4pPr>
            <a:lvl5pPr marL="1832232" indent="0" algn="ctr">
              <a:buNone/>
              <a:defRPr>
                <a:solidFill>
                  <a:schemeClr val="tx1">
                    <a:tint val="75000"/>
                  </a:schemeClr>
                </a:solidFill>
              </a:defRPr>
            </a:lvl5pPr>
            <a:lvl6pPr marL="2290292" indent="0" algn="ctr">
              <a:buNone/>
              <a:defRPr>
                <a:solidFill>
                  <a:schemeClr val="tx1">
                    <a:tint val="75000"/>
                  </a:schemeClr>
                </a:solidFill>
              </a:defRPr>
            </a:lvl6pPr>
            <a:lvl7pPr marL="2748349" indent="0" algn="ctr">
              <a:buNone/>
              <a:defRPr>
                <a:solidFill>
                  <a:schemeClr val="tx1">
                    <a:tint val="75000"/>
                  </a:schemeClr>
                </a:solidFill>
              </a:defRPr>
            </a:lvl7pPr>
            <a:lvl8pPr marL="3206407" indent="0" algn="ctr">
              <a:buNone/>
              <a:defRPr>
                <a:solidFill>
                  <a:schemeClr val="tx1">
                    <a:tint val="75000"/>
                  </a:schemeClr>
                </a:solidFill>
              </a:defRPr>
            </a:lvl8pPr>
            <a:lvl9pPr marL="3664465"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3/14/2021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7710" y="2134378"/>
            <a:ext cx="7794050" cy="1472752"/>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5420" y="3893410"/>
            <a:ext cx="6418630" cy="1755852"/>
          </a:xfrm>
        </p:spPr>
        <p:txBody>
          <a:bodyPr/>
          <a:lstStyle>
            <a:lvl1pPr marL="0" indent="0" algn="ctr">
              <a:buNone/>
              <a:defRPr>
                <a:solidFill>
                  <a:schemeClr val="tx1">
                    <a:tint val="75000"/>
                  </a:schemeClr>
                </a:solidFill>
              </a:defRPr>
            </a:lvl1pPr>
            <a:lvl2pPr marL="458105" indent="0" algn="ctr">
              <a:buNone/>
              <a:defRPr>
                <a:solidFill>
                  <a:schemeClr val="tx1">
                    <a:tint val="75000"/>
                  </a:schemeClr>
                </a:solidFill>
              </a:defRPr>
            </a:lvl2pPr>
            <a:lvl3pPr marL="916213" indent="0" algn="ctr">
              <a:buNone/>
              <a:defRPr>
                <a:solidFill>
                  <a:schemeClr val="tx1">
                    <a:tint val="75000"/>
                  </a:schemeClr>
                </a:solidFill>
              </a:defRPr>
            </a:lvl3pPr>
            <a:lvl4pPr marL="1374320" indent="0" algn="ctr">
              <a:buNone/>
              <a:defRPr>
                <a:solidFill>
                  <a:schemeClr val="tx1">
                    <a:tint val="75000"/>
                  </a:schemeClr>
                </a:solidFill>
              </a:defRPr>
            </a:lvl4pPr>
            <a:lvl5pPr marL="1832426" indent="0" algn="ctr">
              <a:buNone/>
              <a:defRPr>
                <a:solidFill>
                  <a:schemeClr val="tx1">
                    <a:tint val="75000"/>
                  </a:schemeClr>
                </a:solidFill>
              </a:defRPr>
            </a:lvl5pPr>
            <a:lvl6pPr marL="2290533" indent="0" algn="ctr">
              <a:buNone/>
              <a:defRPr>
                <a:solidFill>
                  <a:schemeClr val="tx1">
                    <a:tint val="75000"/>
                  </a:schemeClr>
                </a:solidFill>
              </a:defRPr>
            </a:lvl6pPr>
            <a:lvl7pPr marL="2748639" indent="0" algn="ctr">
              <a:buNone/>
              <a:defRPr>
                <a:solidFill>
                  <a:schemeClr val="tx1">
                    <a:tint val="75000"/>
                  </a:schemeClr>
                </a:solidFill>
              </a:defRPr>
            </a:lvl7pPr>
            <a:lvl8pPr marL="3206745" indent="0" algn="ctr">
              <a:buNone/>
              <a:defRPr>
                <a:solidFill>
                  <a:schemeClr val="tx1">
                    <a:tint val="75000"/>
                  </a:schemeClr>
                </a:solidFill>
              </a:defRPr>
            </a:lvl8pPr>
            <a:lvl9pPr marL="366485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3/14/2021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274641"/>
            <a:ext cx="8229600" cy="850107"/>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normAutofit/>
          </a:bodyPr>
          <a:lstStyle/>
          <a:p>
            <a:pPr lvl="0">
              <a:defRPr sz="1800">
                <a:solidFill>
                  <a:srgbClr val="000000"/>
                </a:solidFill>
              </a:defRPr>
            </a:pPr>
            <a:r>
              <a:rPr sz="3200">
                <a:solidFill>
                  <a:srgbClr val="006633"/>
                </a:solidFill>
              </a:rPr>
              <a:t>标题文本</a:t>
            </a:r>
          </a:p>
        </p:txBody>
      </p:sp>
      <p:sp>
        <p:nvSpPr>
          <p:cNvPr id="3" name="Shape 3"/>
          <p:cNvSpPr>
            <a:spLocks noGrp="1"/>
          </p:cNvSpPr>
          <p:nvPr>
            <p:ph type="body" idx="1"/>
          </p:nvPr>
        </p:nvSpPr>
        <p:spPr>
          <a:xfrm>
            <a:off x="457200" y="1124744"/>
            <a:ext cx="8229600" cy="5733256"/>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lstStyle/>
          <a:p>
            <a:pPr lvl="0">
              <a:defRPr sz="1800"/>
            </a:pPr>
            <a:r>
              <a:rPr sz="2800"/>
              <a:t>正文级别 1</a:t>
            </a:r>
          </a:p>
          <a:p>
            <a:pPr lvl="1">
              <a:defRPr sz="1800"/>
            </a:pPr>
            <a:r>
              <a:rPr sz="2800"/>
              <a:t>正文级别 2</a:t>
            </a:r>
          </a:p>
          <a:p>
            <a:pPr lvl="2">
              <a:defRPr sz="1800"/>
            </a:pPr>
            <a:r>
              <a:rPr sz="2800"/>
              <a:t>正文级别 3</a:t>
            </a:r>
          </a:p>
          <a:p>
            <a:pPr lvl="3">
              <a:defRPr sz="1800"/>
            </a:pPr>
            <a:r>
              <a:rPr sz="2800"/>
              <a:t>正文级别 4</a:t>
            </a:r>
          </a:p>
          <a:p>
            <a:pPr lvl="4">
              <a:defRPr sz="1800"/>
            </a:pPr>
            <a:r>
              <a:rPr sz="2800"/>
              <a:t>正文级别 5</a:t>
            </a:r>
          </a:p>
        </p:txBody>
      </p:sp>
      <p:sp>
        <p:nvSpPr>
          <p:cNvPr id="4" name="Shape 4"/>
          <p:cNvSpPr>
            <a:spLocks noGrp="1"/>
          </p:cNvSpPr>
          <p:nvPr>
            <p:ph type="sldNum" sz="quarter" idx="2"/>
          </p:nvPr>
        </p:nvSpPr>
        <p:spPr>
          <a:xfrm>
            <a:off x="6553203" y="6356353"/>
            <a:ext cx="2133600" cy="462299"/>
          </a:xfrm>
          <a:prstGeom prst="rect">
            <a:avLst/>
          </a:prstGeom>
          <a:ln w="12700">
            <a:miter lim="400000"/>
          </a:ln>
        </p:spPr>
        <p:txBody>
          <a:bodyPr lIns="45704" tIns="45705" rIns="45704" bIns="45705">
            <a:spAutoFit/>
          </a:bodyPr>
          <a:lstStyle>
            <a:lvl1pPr defTabSz="914111">
              <a:lnSpc>
                <a:spcPct val="100000"/>
              </a:lnSpc>
              <a:spcBef>
                <a:spcPts val="0"/>
              </a:spcBef>
            </a:lvl1pPr>
          </a:lstStyle>
          <a:p>
            <a:pPr lvl="0"/>
            <a:fld id="{86CB4B4D-7CA3-9044-876B-883B54F8677D}" type="slidenum">
              <a:rPr/>
              <a:pPr lvl="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61" r:id="rId5"/>
  </p:sldLayoutIdLst>
  <p:transition spd="med"/>
  <p:txStyles>
    <p:titleStyle>
      <a:lvl1pPr>
        <a:defRPr sz="3200">
          <a:solidFill>
            <a:srgbClr val="006633"/>
          </a:solidFill>
          <a:latin typeface="SimHei"/>
          <a:ea typeface="SimHei"/>
          <a:cs typeface="SimHei"/>
          <a:sym typeface="SimHei"/>
        </a:defRPr>
      </a:lvl1pPr>
      <a:lvl2pPr>
        <a:defRPr sz="3200">
          <a:solidFill>
            <a:srgbClr val="006633"/>
          </a:solidFill>
          <a:latin typeface="SimHei"/>
          <a:ea typeface="SimHei"/>
          <a:cs typeface="SimHei"/>
          <a:sym typeface="SimHei"/>
        </a:defRPr>
      </a:lvl2pPr>
      <a:lvl3pPr>
        <a:defRPr sz="3200">
          <a:solidFill>
            <a:srgbClr val="006633"/>
          </a:solidFill>
          <a:latin typeface="SimHei"/>
          <a:ea typeface="SimHei"/>
          <a:cs typeface="SimHei"/>
          <a:sym typeface="SimHei"/>
        </a:defRPr>
      </a:lvl3pPr>
      <a:lvl4pPr>
        <a:defRPr sz="3200">
          <a:solidFill>
            <a:srgbClr val="006633"/>
          </a:solidFill>
          <a:latin typeface="SimHei"/>
          <a:ea typeface="SimHei"/>
          <a:cs typeface="SimHei"/>
          <a:sym typeface="SimHei"/>
        </a:defRPr>
      </a:lvl4pPr>
      <a:lvl5pPr>
        <a:defRPr sz="3200">
          <a:solidFill>
            <a:srgbClr val="006633"/>
          </a:solidFill>
          <a:latin typeface="SimHei"/>
          <a:ea typeface="SimHei"/>
          <a:cs typeface="SimHei"/>
          <a:sym typeface="SimHei"/>
        </a:defRPr>
      </a:lvl5pPr>
      <a:lvl6pPr indent="457056">
        <a:defRPr sz="3200">
          <a:solidFill>
            <a:srgbClr val="006633"/>
          </a:solidFill>
          <a:latin typeface="SimHei"/>
          <a:ea typeface="SimHei"/>
          <a:cs typeface="SimHei"/>
          <a:sym typeface="SimHei"/>
        </a:defRPr>
      </a:lvl6pPr>
      <a:lvl7pPr indent="914111">
        <a:defRPr sz="3200">
          <a:solidFill>
            <a:srgbClr val="006633"/>
          </a:solidFill>
          <a:latin typeface="SimHei"/>
          <a:ea typeface="SimHei"/>
          <a:cs typeface="SimHei"/>
          <a:sym typeface="SimHei"/>
        </a:defRPr>
      </a:lvl7pPr>
      <a:lvl8pPr indent="1371166">
        <a:defRPr sz="3200">
          <a:solidFill>
            <a:srgbClr val="006633"/>
          </a:solidFill>
          <a:latin typeface="SimHei"/>
          <a:ea typeface="SimHei"/>
          <a:cs typeface="SimHei"/>
          <a:sym typeface="SimHei"/>
        </a:defRPr>
      </a:lvl8pPr>
      <a:lvl9pPr indent="1828221">
        <a:defRPr sz="3200">
          <a:solidFill>
            <a:srgbClr val="006633"/>
          </a:solidFill>
          <a:latin typeface="SimHei"/>
          <a:ea typeface="SimHei"/>
          <a:cs typeface="SimHei"/>
          <a:sym typeface="SimHei"/>
        </a:defRPr>
      </a:lvl9pPr>
    </p:titleStyle>
    <p:bodyStyle>
      <a:lvl1pPr marL="342792" indent="-342792">
        <a:spcBef>
          <a:spcPts val="600"/>
        </a:spcBef>
        <a:buClr>
          <a:srgbClr val="0000FF"/>
        </a:buClr>
        <a:buSzPct val="65000"/>
        <a:buFont typeface="Wingdings"/>
        <a:buChar char="➢"/>
        <a:defRPr sz="2800">
          <a:latin typeface="SimHei"/>
          <a:ea typeface="SimHei"/>
          <a:cs typeface="SimHei"/>
          <a:sym typeface="SimHei"/>
        </a:defRPr>
      </a:lvl1pPr>
      <a:lvl2pPr marL="790326" indent="-333270">
        <a:spcBef>
          <a:spcPts val="600"/>
        </a:spcBef>
        <a:buClr>
          <a:srgbClr val="0000FF"/>
        </a:buClr>
        <a:buSzPct val="60000"/>
        <a:buFont typeface="Wingdings"/>
        <a:buChar char="➢"/>
        <a:defRPr sz="2800">
          <a:latin typeface="SimHei"/>
          <a:ea typeface="SimHei"/>
          <a:cs typeface="SimHei"/>
          <a:sym typeface="SimHei"/>
        </a:defRPr>
      </a:lvl2pPr>
      <a:lvl3pPr marL="1234048" indent="-319937">
        <a:spcBef>
          <a:spcPts val="600"/>
        </a:spcBef>
        <a:buClr>
          <a:srgbClr val="0000FF"/>
        </a:buClr>
        <a:buSzPct val="65000"/>
        <a:buFont typeface="Wingdings"/>
        <a:buChar char="➢"/>
        <a:defRPr sz="2800">
          <a:latin typeface="SimHei"/>
          <a:ea typeface="SimHei"/>
          <a:cs typeface="SimHei"/>
          <a:sym typeface="SimHei"/>
        </a:defRPr>
      </a:lvl3pPr>
      <a:lvl4pPr marL="1465750" indent="-442140">
        <a:spcBef>
          <a:spcPts val="600"/>
        </a:spcBef>
        <a:buClr>
          <a:srgbClr val="0000FF"/>
        </a:buClr>
        <a:buSzPct val="70000"/>
        <a:buFont typeface="Wingdings"/>
        <a:buChar char="❑"/>
        <a:defRPr sz="2800">
          <a:latin typeface="SimHei"/>
          <a:ea typeface="SimHei"/>
          <a:cs typeface="SimHei"/>
          <a:sym typeface="SimHei"/>
        </a:defRPr>
      </a:lvl4pPr>
      <a:lvl5pPr marL="1816478" indent="-475464">
        <a:spcBef>
          <a:spcPts val="600"/>
        </a:spcBef>
        <a:buClr>
          <a:srgbClr val="0000FF"/>
        </a:buClr>
        <a:buSzPct val="75000"/>
        <a:buFont typeface="Wingdings"/>
        <a:buChar char="▪"/>
        <a:defRPr sz="2800">
          <a:latin typeface="SimHei"/>
          <a:ea typeface="SimHei"/>
          <a:cs typeface="SimHei"/>
          <a:sym typeface="SimHei"/>
        </a:defRPr>
      </a:lvl5pPr>
      <a:lvl6pPr marL="2273533" indent="-475464">
        <a:spcBef>
          <a:spcPts val="600"/>
        </a:spcBef>
        <a:buClr>
          <a:srgbClr val="0000FF"/>
        </a:buClr>
        <a:buSzPct val="75000"/>
        <a:buFont typeface="Wingdings"/>
        <a:buChar char="▪"/>
        <a:defRPr sz="2800">
          <a:latin typeface="SimHei"/>
          <a:ea typeface="SimHei"/>
          <a:cs typeface="SimHei"/>
          <a:sym typeface="SimHei"/>
        </a:defRPr>
      </a:lvl6pPr>
      <a:lvl7pPr marL="2730589" indent="-475464">
        <a:spcBef>
          <a:spcPts val="600"/>
        </a:spcBef>
        <a:buClr>
          <a:srgbClr val="0000FF"/>
        </a:buClr>
        <a:buSzPct val="75000"/>
        <a:buFont typeface="Wingdings"/>
        <a:buChar char="▪"/>
        <a:defRPr sz="2800">
          <a:latin typeface="SimHei"/>
          <a:ea typeface="SimHei"/>
          <a:cs typeface="SimHei"/>
          <a:sym typeface="SimHei"/>
        </a:defRPr>
      </a:lvl7pPr>
      <a:lvl8pPr marL="3187644" indent="-475464">
        <a:spcBef>
          <a:spcPts val="600"/>
        </a:spcBef>
        <a:buClr>
          <a:srgbClr val="0000FF"/>
        </a:buClr>
        <a:buSzPct val="75000"/>
        <a:buFont typeface="Wingdings"/>
        <a:buChar char="▪"/>
        <a:defRPr sz="2800">
          <a:latin typeface="SimHei"/>
          <a:ea typeface="SimHei"/>
          <a:cs typeface="SimHei"/>
          <a:sym typeface="SimHei"/>
        </a:defRPr>
      </a:lvl8pPr>
      <a:lvl9pPr marL="3644699" indent="-475465">
        <a:spcBef>
          <a:spcPts val="600"/>
        </a:spcBef>
        <a:buClr>
          <a:srgbClr val="0000FF"/>
        </a:buClr>
        <a:buSzPct val="75000"/>
        <a:buFont typeface="Wingdings"/>
        <a:buChar char="▪"/>
        <a:defRPr sz="2800">
          <a:latin typeface="SimHei"/>
          <a:ea typeface="SimHei"/>
          <a:cs typeface="SimHei"/>
          <a:sym typeface="SimHei"/>
        </a:defRPr>
      </a:lvl9pPr>
    </p:bodyStyle>
    <p:otherStyle>
      <a:lvl1pPr>
        <a:defRPr sz="2400">
          <a:solidFill>
            <a:schemeClr val="tx1"/>
          </a:solidFill>
          <a:latin typeface="+mn-lt"/>
          <a:ea typeface="+mn-ea"/>
          <a:cs typeface="+mn-cs"/>
          <a:sym typeface="Times New Roman"/>
        </a:defRPr>
      </a:lvl1pPr>
      <a:lvl2pPr indent="457056">
        <a:defRPr sz="2400">
          <a:solidFill>
            <a:schemeClr val="tx1"/>
          </a:solidFill>
          <a:latin typeface="+mn-lt"/>
          <a:ea typeface="+mn-ea"/>
          <a:cs typeface="+mn-cs"/>
          <a:sym typeface="Times New Roman"/>
        </a:defRPr>
      </a:lvl2pPr>
      <a:lvl3pPr indent="914111">
        <a:defRPr sz="2400">
          <a:solidFill>
            <a:schemeClr val="tx1"/>
          </a:solidFill>
          <a:latin typeface="+mn-lt"/>
          <a:ea typeface="+mn-ea"/>
          <a:cs typeface="+mn-cs"/>
          <a:sym typeface="Times New Roman"/>
        </a:defRPr>
      </a:lvl3pPr>
      <a:lvl4pPr indent="1371166">
        <a:defRPr sz="2400">
          <a:solidFill>
            <a:schemeClr val="tx1"/>
          </a:solidFill>
          <a:latin typeface="+mn-lt"/>
          <a:ea typeface="+mn-ea"/>
          <a:cs typeface="+mn-cs"/>
          <a:sym typeface="Times New Roman"/>
        </a:defRPr>
      </a:lvl4pPr>
      <a:lvl5pPr indent="1828221">
        <a:defRPr sz="2400">
          <a:solidFill>
            <a:schemeClr val="tx1"/>
          </a:solidFill>
          <a:latin typeface="+mn-lt"/>
          <a:ea typeface="+mn-ea"/>
          <a:cs typeface="+mn-cs"/>
          <a:sym typeface="Times New Roman"/>
        </a:defRPr>
      </a:lvl5pPr>
      <a:lvl6pPr indent="2285277">
        <a:defRPr sz="2400">
          <a:solidFill>
            <a:schemeClr val="tx1"/>
          </a:solidFill>
          <a:latin typeface="+mn-lt"/>
          <a:ea typeface="+mn-ea"/>
          <a:cs typeface="+mn-cs"/>
          <a:sym typeface="Times New Roman"/>
        </a:defRPr>
      </a:lvl6pPr>
      <a:lvl7pPr indent="2742332">
        <a:defRPr sz="2400">
          <a:solidFill>
            <a:schemeClr val="tx1"/>
          </a:solidFill>
          <a:latin typeface="+mn-lt"/>
          <a:ea typeface="+mn-ea"/>
          <a:cs typeface="+mn-cs"/>
          <a:sym typeface="Times New Roman"/>
        </a:defRPr>
      </a:lvl7pPr>
      <a:lvl8pPr indent="3199387">
        <a:defRPr sz="2400">
          <a:solidFill>
            <a:schemeClr val="tx1"/>
          </a:solidFill>
          <a:latin typeface="+mn-lt"/>
          <a:ea typeface="+mn-ea"/>
          <a:cs typeface="+mn-cs"/>
          <a:sym typeface="Times New Roman"/>
        </a:defRPr>
      </a:lvl8pPr>
      <a:lvl9pPr indent="3656443">
        <a:defRPr sz="2400">
          <a:solidFill>
            <a:schemeClr val="tx1"/>
          </a:solidFill>
          <a:latin typeface="+mn-lt"/>
          <a:ea typeface="+mn-ea"/>
          <a:cs typeface="+mn-cs"/>
          <a:sym typeface="Times New Roman"/>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8473" y="275147"/>
            <a:ext cx="8252524" cy="1145121"/>
          </a:xfrm>
          <a:prstGeom prst="rect">
            <a:avLst/>
          </a:prstGeom>
        </p:spPr>
        <p:txBody>
          <a:bodyPr vert="horz" lIns="91620" tIns="45810" rIns="91620" bIns="4581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8473" y="1603169"/>
            <a:ext cx="8252524" cy="4534360"/>
          </a:xfrm>
          <a:prstGeom prst="rect">
            <a:avLst/>
          </a:prstGeom>
        </p:spPr>
        <p:txBody>
          <a:bodyPr vert="horz" lIns="91620" tIns="45810" rIns="91620" bIns="4581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8477" y="6368147"/>
            <a:ext cx="2139543" cy="365802"/>
          </a:xfrm>
          <a:prstGeom prst="rect">
            <a:avLst/>
          </a:prstGeom>
        </p:spPr>
        <p:txBody>
          <a:bodyPr vert="horz" lIns="91620" tIns="45810" rIns="91620" bIns="45810" rtlCol="0" anchor="ctr"/>
          <a:lstStyle>
            <a:lvl1pPr algn="l">
              <a:defRPr sz="1200">
                <a:solidFill>
                  <a:schemeClr val="tx1">
                    <a:tint val="75000"/>
                  </a:schemeClr>
                </a:solidFill>
              </a:defRPr>
            </a:lvl1pPr>
          </a:lstStyle>
          <a:p>
            <a:pPr defTabSz="916213" rtl="0">
              <a:lnSpc>
                <a:spcPct val="100000"/>
              </a:lnSpc>
              <a:spcBef>
                <a:spcPts val="0"/>
              </a:spcBef>
            </a:pPr>
            <a:fld id="{1D8BD707-D9CF-40AE-B4C6-C98DA3205C09}" type="datetimeFigureOut">
              <a:rPr lang="en-US" kern="1200" smtClean="0">
                <a:solidFill>
                  <a:prstClr val="black">
                    <a:tint val="75000"/>
                  </a:prstClr>
                </a:solidFill>
                <a:latin typeface="Calibri"/>
                <a:ea typeface="+mn-ea"/>
                <a:cs typeface="+mn-cs"/>
              </a:rPr>
              <a:pPr defTabSz="916213" rtl="0">
                <a:lnSpc>
                  <a:spcPct val="100000"/>
                </a:lnSpc>
                <a:spcBef>
                  <a:spcPts val="0"/>
                </a:spcBef>
              </a:pPr>
              <a:t>3/14/2021</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3"/>
          </p:nvPr>
        </p:nvSpPr>
        <p:spPr>
          <a:xfrm>
            <a:off x="3132902" y="6368147"/>
            <a:ext cx="2903666" cy="365802"/>
          </a:xfrm>
          <a:prstGeom prst="rect">
            <a:avLst/>
          </a:prstGeom>
        </p:spPr>
        <p:txBody>
          <a:bodyPr vert="horz" lIns="91620" tIns="45810" rIns="91620" bIns="45810" rtlCol="0" anchor="ctr"/>
          <a:lstStyle>
            <a:lvl1pPr algn="ctr">
              <a:defRPr sz="1200">
                <a:solidFill>
                  <a:schemeClr val="tx1">
                    <a:tint val="75000"/>
                  </a:schemeClr>
                </a:solidFill>
              </a:defRPr>
            </a:lvl1pPr>
          </a:lstStyle>
          <a:p>
            <a:pPr defTabSz="916213" rtl="0">
              <a:lnSpc>
                <a:spcPct val="100000"/>
              </a:lnSpc>
              <a:spcBef>
                <a:spcPts val="0"/>
              </a:spcBef>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4"/>
          </p:nvPr>
        </p:nvSpPr>
        <p:spPr>
          <a:xfrm>
            <a:off x="6571454" y="6368147"/>
            <a:ext cx="2139543" cy="365802"/>
          </a:xfrm>
          <a:prstGeom prst="rect">
            <a:avLst/>
          </a:prstGeom>
        </p:spPr>
        <p:txBody>
          <a:bodyPr vert="horz" lIns="91620" tIns="45810" rIns="91620" bIns="45810" rtlCol="0" anchor="ctr"/>
          <a:lstStyle>
            <a:lvl1pPr algn="r">
              <a:defRPr sz="1200">
                <a:solidFill>
                  <a:schemeClr val="tx1">
                    <a:tint val="75000"/>
                  </a:schemeClr>
                </a:solidFill>
              </a:defRPr>
            </a:lvl1pPr>
          </a:lstStyle>
          <a:p>
            <a:pPr defTabSz="916213" rtl="0">
              <a:lnSpc>
                <a:spcPct val="100000"/>
              </a:lnSpc>
              <a:spcBef>
                <a:spcPts val="0"/>
              </a:spcBef>
            </a:pPr>
            <a:fld id="{B6F15528-21DE-4FAA-801E-634DDDAF4B2B}" type="slidenum">
              <a:rPr lang="en-US" kern="1200" smtClean="0">
                <a:solidFill>
                  <a:prstClr val="black">
                    <a:tint val="75000"/>
                  </a:prstClr>
                </a:solidFill>
                <a:latin typeface="Calibri"/>
                <a:ea typeface="+mn-ea"/>
                <a:cs typeface="+mn-cs"/>
              </a:rPr>
              <a:pPr defTabSz="916213" rtl="0">
                <a:lnSpc>
                  <a:spcPct val="100000"/>
                </a:lnSpc>
                <a:spcBef>
                  <a:spcPts val="0"/>
                </a:spcBef>
              </a:pPr>
              <a:t>‹#›</a:t>
            </a:fld>
            <a:endParaRPr lang="en-US" kern="1200">
              <a:solidFill>
                <a:prstClr val="black">
                  <a:tint val="75000"/>
                </a:prstClr>
              </a:solidFill>
              <a:latin typeface="Calibri"/>
              <a:ea typeface="+mn-ea"/>
              <a:cs typeface="+mn-cs"/>
            </a:endParaRPr>
          </a:p>
        </p:txBody>
      </p:sp>
    </p:spTree>
  </p:cSld>
  <p:clrMap bg1="lt1" tx1="dk1" bg2="lt2" tx2="dk2" accent1="accent1" accent2="accent2" accent3="accent3" accent4="accent4" accent5="accent5" accent6="accent6" hlink="hlink" folHlink="folHlink"/>
  <p:sldLayoutIdLst>
    <p:sldLayoutId id="2147483656" r:id="rId1"/>
  </p:sldLayoutIdLst>
  <p:transition spd="med"/>
  <p:txStyles>
    <p:titleStyle>
      <a:lvl1pPr algn="ctr" defTabSz="916213" rtl="0" eaLnBrk="1" latinLnBrk="0" hangingPunct="1">
        <a:spcBef>
          <a:spcPct val="0"/>
        </a:spcBef>
        <a:buNone/>
        <a:defRPr sz="4400" kern="1200">
          <a:solidFill>
            <a:schemeClr val="tx1"/>
          </a:solidFill>
          <a:latin typeface="+mj-lt"/>
          <a:ea typeface="+mj-ea"/>
          <a:cs typeface="+mj-cs"/>
        </a:defRPr>
      </a:lvl1pPr>
    </p:titleStyle>
    <p:bodyStyle>
      <a:lvl1pPr marL="343580" indent="-343580" algn="l" defTabSz="91621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4423" indent="-286317" algn="l" defTabSz="91621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5266" indent="-229054" algn="l" defTabSz="91621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3372" indent="-229054" algn="l" defTabSz="91621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61480" indent="-229054" algn="l" defTabSz="91621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9586" indent="-229054" algn="l" defTabSz="91621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7692" indent="-229054" algn="l" defTabSz="91621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5798" indent="-229054" algn="l" defTabSz="91621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93905" indent="-229054" algn="l" defTabSz="91621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6213" rtl="0" eaLnBrk="1" latinLnBrk="0" hangingPunct="1">
        <a:defRPr sz="1800" kern="1200">
          <a:solidFill>
            <a:schemeClr val="tx1"/>
          </a:solidFill>
          <a:latin typeface="+mn-lt"/>
          <a:ea typeface="+mn-ea"/>
          <a:cs typeface="+mn-cs"/>
        </a:defRPr>
      </a:lvl1pPr>
      <a:lvl2pPr marL="458105" algn="l" defTabSz="916213" rtl="0" eaLnBrk="1" latinLnBrk="0" hangingPunct="1">
        <a:defRPr sz="1800" kern="1200">
          <a:solidFill>
            <a:schemeClr val="tx1"/>
          </a:solidFill>
          <a:latin typeface="+mn-lt"/>
          <a:ea typeface="+mn-ea"/>
          <a:cs typeface="+mn-cs"/>
        </a:defRPr>
      </a:lvl2pPr>
      <a:lvl3pPr marL="916213" algn="l" defTabSz="916213" rtl="0" eaLnBrk="1" latinLnBrk="0" hangingPunct="1">
        <a:defRPr sz="1800" kern="1200">
          <a:solidFill>
            <a:schemeClr val="tx1"/>
          </a:solidFill>
          <a:latin typeface="+mn-lt"/>
          <a:ea typeface="+mn-ea"/>
          <a:cs typeface="+mn-cs"/>
        </a:defRPr>
      </a:lvl3pPr>
      <a:lvl4pPr marL="1374320" algn="l" defTabSz="916213" rtl="0" eaLnBrk="1" latinLnBrk="0" hangingPunct="1">
        <a:defRPr sz="1800" kern="1200">
          <a:solidFill>
            <a:schemeClr val="tx1"/>
          </a:solidFill>
          <a:latin typeface="+mn-lt"/>
          <a:ea typeface="+mn-ea"/>
          <a:cs typeface="+mn-cs"/>
        </a:defRPr>
      </a:lvl4pPr>
      <a:lvl5pPr marL="1832426" algn="l" defTabSz="916213" rtl="0" eaLnBrk="1" latinLnBrk="0" hangingPunct="1">
        <a:defRPr sz="1800" kern="1200">
          <a:solidFill>
            <a:schemeClr val="tx1"/>
          </a:solidFill>
          <a:latin typeface="+mn-lt"/>
          <a:ea typeface="+mn-ea"/>
          <a:cs typeface="+mn-cs"/>
        </a:defRPr>
      </a:lvl5pPr>
      <a:lvl6pPr marL="2290533" algn="l" defTabSz="916213" rtl="0" eaLnBrk="1" latinLnBrk="0" hangingPunct="1">
        <a:defRPr sz="1800" kern="1200">
          <a:solidFill>
            <a:schemeClr val="tx1"/>
          </a:solidFill>
          <a:latin typeface="+mn-lt"/>
          <a:ea typeface="+mn-ea"/>
          <a:cs typeface="+mn-cs"/>
        </a:defRPr>
      </a:lvl6pPr>
      <a:lvl7pPr marL="2748639" algn="l" defTabSz="916213" rtl="0" eaLnBrk="1" latinLnBrk="0" hangingPunct="1">
        <a:defRPr sz="1800" kern="1200">
          <a:solidFill>
            <a:schemeClr val="tx1"/>
          </a:solidFill>
          <a:latin typeface="+mn-lt"/>
          <a:ea typeface="+mn-ea"/>
          <a:cs typeface="+mn-cs"/>
        </a:defRPr>
      </a:lvl7pPr>
      <a:lvl8pPr marL="3206745" algn="l" defTabSz="916213" rtl="0" eaLnBrk="1" latinLnBrk="0" hangingPunct="1">
        <a:defRPr sz="1800" kern="1200">
          <a:solidFill>
            <a:schemeClr val="tx1"/>
          </a:solidFill>
          <a:latin typeface="+mn-lt"/>
          <a:ea typeface="+mn-ea"/>
          <a:cs typeface="+mn-cs"/>
        </a:defRPr>
      </a:lvl8pPr>
      <a:lvl9pPr marL="3664852" algn="l" defTabSz="91621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8473" y="275147"/>
            <a:ext cx="8252524" cy="1145121"/>
          </a:xfrm>
          <a:prstGeom prst="rect">
            <a:avLst/>
          </a:prstGeom>
        </p:spPr>
        <p:txBody>
          <a:bodyPr vert="horz" lIns="91630" tIns="45815" rIns="91630" bIns="45815"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8473" y="1603169"/>
            <a:ext cx="8252524" cy="4534360"/>
          </a:xfrm>
          <a:prstGeom prst="rect">
            <a:avLst/>
          </a:prstGeom>
        </p:spPr>
        <p:txBody>
          <a:bodyPr vert="horz" lIns="91630" tIns="45815" rIns="91630" bIns="4581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8476" y="6368146"/>
            <a:ext cx="2139543" cy="365802"/>
          </a:xfrm>
          <a:prstGeom prst="rect">
            <a:avLst/>
          </a:prstGeom>
        </p:spPr>
        <p:txBody>
          <a:bodyPr vert="horz" lIns="91630" tIns="45815" rIns="91630" bIns="45815" rtlCol="0" anchor="ctr"/>
          <a:lstStyle>
            <a:lvl1pPr algn="l">
              <a:defRPr sz="1200">
                <a:solidFill>
                  <a:schemeClr val="tx1">
                    <a:tint val="75000"/>
                  </a:schemeClr>
                </a:solidFill>
              </a:defRPr>
            </a:lvl1pPr>
          </a:lstStyle>
          <a:p>
            <a:pPr defTabSz="916310" rtl="0">
              <a:lnSpc>
                <a:spcPct val="100000"/>
              </a:lnSpc>
              <a:spcBef>
                <a:spcPts val="0"/>
              </a:spcBef>
            </a:pPr>
            <a:fld id="{1D8BD707-D9CF-40AE-B4C6-C98DA3205C09}" type="datetimeFigureOut">
              <a:rPr lang="en-US" kern="1200" smtClean="0">
                <a:solidFill>
                  <a:prstClr val="black">
                    <a:tint val="75000"/>
                  </a:prstClr>
                </a:solidFill>
                <a:latin typeface="Calibri"/>
                <a:ea typeface="+mn-ea"/>
                <a:cs typeface="+mn-cs"/>
              </a:rPr>
              <a:pPr defTabSz="916310" rtl="0">
                <a:lnSpc>
                  <a:spcPct val="100000"/>
                </a:lnSpc>
                <a:spcBef>
                  <a:spcPts val="0"/>
                </a:spcBef>
              </a:pPr>
              <a:t>3/14/2021</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3"/>
          </p:nvPr>
        </p:nvSpPr>
        <p:spPr>
          <a:xfrm>
            <a:off x="3132902" y="6368146"/>
            <a:ext cx="2903666" cy="365802"/>
          </a:xfrm>
          <a:prstGeom prst="rect">
            <a:avLst/>
          </a:prstGeom>
        </p:spPr>
        <p:txBody>
          <a:bodyPr vert="horz" lIns="91630" tIns="45815" rIns="91630" bIns="45815" rtlCol="0" anchor="ctr"/>
          <a:lstStyle>
            <a:lvl1pPr algn="ctr">
              <a:defRPr sz="1200">
                <a:solidFill>
                  <a:schemeClr val="tx1">
                    <a:tint val="75000"/>
                  </a:schemeClr>
                </a:solidFill>
              </a:defRPr>
            </a:lvl1pPr>
          </a:lstStyle>
          <a:p>
            <a:pPr defTabSz="916310" rtl="0">
              <a:lnSpc>
                <a:spcPct val="100000"/>
              </a:lnSpc>
              <a:spcBef>
                <a:spcPts val="0"/>
              </a:spcBef>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4"/>
          </p:nvPr>
        </p:nvSpPr>
        <p:spPr>
          <a:xfrm>
            <a:off x="6571454" y="6368146"/>
            <a:ext cx="2139543" cy="365802"/>
          </a:xfrm>
          <a:prstGeom prst="rect">
            <a:avLst/>
          </a:prstGeom>
        </p:spPr>
        <p:txBody>
          <a:bodyPr vert="horz" lIns="91630" tIns="45815" rIns="91630" bIns="45815" rtlCol="0" anchor="ctr"/>
          <a:lstStyle>
            <a:lvl1pPr algn="r">
              <a:defRPr sz="1200">
                <a:solidFill>
                  <a:schemeClr val="tx1">
                    <a:tint val="75000"/>
                  </a:schemeClr>
                </a:solidFill>
              </a:defRPr>
            </a:lvl1pPr>
          </a:lstStyle>
          <a:p>
            <a:pPr defTabSz="916310" rtl="0">
              <a:lnSpc>
                <a:spcPct val="100000"/>
              </a:lnSpc>
              <a:spcBef>
                <a:spcPts val="0"/>
              </a:spcBef>
            </a:pPr>
            <a:fld id="{B6F15528-21DE-4FAA-801E-634DDDAF4B2B}" type="slidenum">
              <a:rPr lang="en-US" kern="1200" smtClean="0">
                <a:solidFill>
                  <a:prstClr val="black">
                    <a:tint val="75000"/>
                  </a:prstClr>
                </a:solidFill>
                <a:latin typeface="Calibri"/>
                <a:ea typeface="+mn-ea"/>
                <a:cs typeface="+mn-cs"/>
              </a:rPr>
              <a:pPr defTabSz="916310" rtl="0">
                <a:lnSpc>
                  <a:spcPct val="100000"/>
                </a:lnSpc>
                <a:spcBef>
                  <a:spcPts val="0"/>
                </a:spcBef>
              </a:pPr>
              <a:t>‹#›</a:t>
            </a:fld>
            <a:endParaRPr lang="en-US" kern="1200">
              <a:solidFill>
                <a:prstClr val="black">
                  <a:tint val="75000"/>
                </a:prstClr>
              </a:solidFill>
              <a:latin typeface="Calibri"/>
              <a:ea typeface="+mn-ea"/>
              <a:cs typeface="+mn-cs"/>
            </a:endParaRPr>
          </a:p>
        </p:txBody>
      </p:sp>
    </p:spTree>
  </p:cSld>
  <p:clrMap bg1="lt1" tx1="dk1" bg2="lt2" tx2="dk2" accent1="accent1" accent2="accent2" accent3="accent3" accent4="accent4" accent5="accent5" accent6="accent6" hlink="hlink" folHlink="folHlink"/>
  <p:sldLayoutIdLst>
    <p:sldLayoutId id="2147483660" r:id="rId1"/>
  </p:sldLayoutIdLst>
  <p:transition spd="med"/>
  <p:txStyles>
    <p:titleStyle>
      <a:lvl1pPr algn="ctr" defTabSz="916310" rtl="0" eaLnBrk="1" latinLnBrk="0" hangingPunct="1">
        <a:spcBef>
          <a:spcPct val="0"/>
        </a:spcBef>
        <a:buNone/>
        <a:defRPr sz="4400" kern="1200">
          <a:solidFill>
            <a:schemeClr val="tx1"/>
          </a:solidFill>
          <a:latin typeface="+mj-lt"/>
          <a:ea typeface="+mj-ea"/>
          <a:cs typeface="+mj-cs"/>
        </a:defRPr>
      </a:lvl1pPr>
    </p:titleStyle>
    <p:bodyStyle>
      <a:lvl1pPr marL="343617" indent="-343617" algn="l" defTabSz="91631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4502" indent="-286347" algn="l" defTabSz="91631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5387" indent="-229078" algn="l" defTabSz="91631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3542" indent="-229078" algn="l" defTabSz="91631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61697" indent="-229078" algn="l" defTabSz="91631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9852" indent="-229078" algn="l" defTabSz="91631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8006" indent="-229078" algn="l" defTabSz="91631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6161" indent="-229078" algn="l" defTabSz="91631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94316" indent="-229078" algn="l" defTabSz="91631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6310" rtl="0" eaLnBrk="1" latinLnBrk="0" hangingPunct="1">
        <a:defRPr sz="1800" kern="1200">
          <a:solidFill>
            <a:schemeClr val="tx1"/>
          </a:solidFill>
          <a:latin typeface="+mn-lt"/>
          <a:ea typeface="+mn-ea"/>
          <a:cs typeface="+mn-cs"/>
        </a:defRPr>
      </a:lvl1pPr>
      <a:lvl2pPr marL="458154" algn="l" defTabSz="916310" rtl="0" eaLnBrk="1" latinLnBrk="0" hangingPunct="1">
        <a:defRPr sz="1800" kern="1200">
          <a:solidFill>
            <a:schemeClr val="tx1"/>
          </a:solidFill>
          <a:latin typeface="+mn-lt"/>
          <a:ea typeface="+mn-ea"/>
          <a:cs typeface="+mn-cs"/>
        </a:defRPr>
      </a:lvl2pPr>
      <a:lvl3pPr marL="916310" algn="l" defTabSz="916310" rtl="0" eaLnBrk="1" latinLnBrk="0" hangingPunct="1">
        <a:defRPr sz="1800" kern="1200">
          <a:solidFill>
            <a:schemeClr val="tx1"/>
          </a:solidFill>
          <a:latin typeface="+mn-lt"/>
          <a:ea typeface="+mn-ea"/>
          <a:cs typeface="+mn-cs"/>
        </a:defRPr>
      </a:lvl3pPr>
      <a:lvl4pPr marL="1374465" algn="l" defTabSz="916310" rtl="0" eaLnBrk="1" latinLnBrk="0" hangingPunct="1">
        <a:defRPr sz="1800" kern="1200">
          <a:solidFill>
            <a:schemeClr val="tx1"/>
          </a:solidFill>
          <a:latin typeface="+mn-lt"/>
          <a:ea typeface="+mn-ea"/>
          <a:cs typeface="+mn-cs"/>
        </a:defRPr>
      </a:lvl4pPr>
      <a:lvl5pPr marL="1832619" algn="l" defTabSz="916310" rtl="0" eaLnBrk="1" latinLnBrk="0" hangingPunct="1">
        <a:defRPr sz="1800" kern="1200">
          <a:solidFill>
            <a:schemeClr val="tx1"/>
          </a:solidFill>
          <a:latin typeface="+mn-lt"/>
          <a:ea typeface="+mn-ea"/>
          <a:cs typeface="+mn-cs"/>
        </a:defRPr>
      </a:lvl5pPr>
      <a:lvl6pPr marL="2290775" algn="l" defTabSz="916310" rtl="0" eaLnBrk="1" latinLnBrk="0" hangingPunct="1">
        <a:defRPr sz="1800" kern="1200">
          <a:solidFill>
            <a:schemeClr val="tx1"/>
          </a:solidFill>
          <a:latin typeface="+mn-lt"/>
          <a:ea typeface="+mn-ea"/>
          <a:cs typeface="+mn-cs"/>
        </a:defRPr>
      </a:lvl6pPr>
      <a:lvl7pPr marL="2748929" algn="l" defTabSz="916310" rtl="0" eaLnBrk="1" latinLnBrk="0" hangingPunct="1">
        <a:defRPr sz="1800" kern="1200">
          <a:solidFill>
            <a:schemeClr val="tx1"/>
          </a:solidFill>
          <a:latin typeface="+mn-lt"/>
          <a:ea typeface="+mn-ea"/>
          <a:cs typeface="+mn-cs"/>
        </a:defRPr>
      </a:lvl7pPr>
      <a:lvl8pPr marL="3207083" algn="l" defTabSz="916310" rtl="0" eaLnBrk="1" latinLnBrk="0" hangingPunct="1">
        <a:defRPr sz="1800" kern="1200">
          <a:solidFill>
            <a:schemeClr val="tx1"/>
          </a:solidFill>
          <a:latin typeface="+mn-lt"/>
          <a:ea typeface="+mn-ea"/>
          <a:cs typeface="+mn-cs"/>
        </a:defRPr>
      </a:lvl8pPr>
      <a:lvl9pPr marL="3665239" algn="l" defTabSz="91631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11" Type="http://schemas.microsoft.com/office/2007/relationships/hdphoto" Target="../media/hdphoto1.wdp"/><Relationship Id="rId5" Type="http://schemas.openxmlformats.org/officeDocument/2006/relationships/image" Target="../media/image13.png"/><Relationship Id="rId10" Type="http://schemas.openxmlformats.org/officeDocument/2006/relationships/image" Target="../media/image17.jpe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8.wmf"/><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5.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2.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22.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5.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22.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43.wmf"/><Relationship Id="rId3" Type="http://schemas.openxmlformats.org/officeDocument/2006/relationships/notesSlide" Target="../notesSlides/notesSlide9.xml"/><Relationship Id="rId7" Type="http://schemas.openxmlformats.org/officeDocument/2006/relationships/image" Target="../media/image40.wmf"/><Relationship Id="rId12"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42.wmf"/><Relationship Id="rId5" Type="http://schemas.openxmlformats.org/officeDocument/2006/relationships/image" Target="../media/image39.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1.wmf"/></Relationships>
</file>

<file path=ppt/slides/_rels/slide27.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tags" Target="../tags/tag53.xml"/><Relationship Id="rId21" Type="http://schemas.openxmlformats.org/officeDocument/2006/relationships/image" Target="../media/image39.wmf"/><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oleObject" Target="../embeddings/oleObject2.bin"/><Relationship Id="rId1" Type="http://schemas.openxmlformats.org/officeDocument/2006/relationships/vmlDrawing" Target="../drawings/vmlDrawing3.v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tags" Target="../tags/tag65.xml"/><Relationship Id="rId10" Type="http://schemas.openxmlformats.org/officeDocument/2006/relationships/tags" Target="../tags/tag60.xml"/><Relationship Id="rId19" Type="http://schemas.openxmlformats.org/officeDocument/2006/relationships/slideLayout" Target="../slideLayouts/slideLayout5.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image" Target="../media/image22.tmp"/></Relationships>
</file>

<file path=ppt/slides/_rels/slide28.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18" Type="http://schemas.openxmlformats.org/officeDocument/2006/relationships/image" Target="../media/image60.png"/><Relationship Id="rId3" Type="http://schemas.openxmlformats.org/officeDocument/2006/relationships/image" Target="../media/image45.png"/><Relationship Id="rId21" Type="http://schemas.openxmlformats.org/officeDocument/2006/relationships/image" Target="../media/image63.png"/><Relationship Id="rId7" Type="http://schemas.openxmlformats.org/officeDocument/2006/relationships/image" Target="../media/image49.pn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image" Target="../media/image44.png"/><Relationship Id="rId16" Type="http://schemas.openxmlformats.org/officeDocument/2006/relationships/image" Target="../media/image58.png"/><Relationship Id="rId20"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png"/><Relationship Id="rId10" Type="http://schemas.openxmlformats.org/officeDocument/2006/relationships/image" Target="../media/image52.png"/><Relationship Id="rId19" Type="http://schemas.openxmlformats.org/officeDocument/2006/relationships/image" Target="../media/image61.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png"/><Relationship Id="rId22"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67.wmf"/><Relationship Id="rId5" Type="http://schemas.openxmlformats.org/officeDocument/2006/relationships/oleObject" Target="../embeddings/oleObject8.bin"/><Relationship Id="rId4" Type="http://schemas.openxmlformats.org/officeDocument/2006/relationships/image" Target="../media/image66.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13.xml"/><Relationship Id="rId7" Type="http://schemas.openxmlformats.org/officeDocument/2006/relationships/image" Target="../media/image70.wmf"/><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oleObject" Target="../embeddings/oleObject10.bin"/><Relationship Id="rId11" Type="http://schemas.openxmlformats.org/officeDocument/2006/relationships/image" Target="../media/image72.wmf"/><Relationship Id="rId5" Type="http://schemas.openxmlformats.org/officeDocument/2006/relationships/image" Target="../media/image69.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71.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image" Target="../media/image74.wmf"/><Relationship Id="rId5" Type="http://schemas.openxmlformats.org/officeDocument/2006/relationships/oleObject" Target="../embeddings/oleObject14.bin"/><Relationship Id="rId4" Type="http://schemas.openxmlformats.org/officeDocument/2006/relationships/image" Target="../media/image73.wmf"/></Relationships>
</file>

<file path=ppt/slides/_rels/slide3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7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7.xml"/><Relationship Id="rId5" Type="http://schemas.openxmlformats.org/officeDocument/2006/relationships/image" Target="../media/image710.png"/><Relationship Id="rId4" Type="http://schemas.openxmlformats.org/officeDocument/2006/relationships/image" Target="../media/image8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3.xml"/><Relationship Id="rId4" Type="http://schemas.openxmlformats.org/officeDocument/2006/relationships/image" Target="../media/image87.jpeg"/></Relationships>
</file>

<file path=ppt/slides/_rels/slide4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1556792"/>
            <a:ext cx="8064896" cy="2070310"/>
          </a:xfrm>
          <a:prstGeom prst="rect">
            <a:avLst/>
          </a:prstGeom>
        </p:spPr>
        <p:txBody>
          <a:bodyPr wrap="square">
            <a:spAutoFit/>
          </a:bodyPr>
          <a:lstStyle/>
          <a:p>
            <a:r>
              <a:rPr lang="zh-CN" altLang="zh-CN" b="1" dirty="0" smtClean="0"/>
              <a:t>【教学重点】</a:t>
            </a:r>
            <a:r>
              <a:rPr lang="zh-CN" altLang="en-US" dirty="0"/>
              <a:t>库仑定律，电场，</a:t>
            </a:r>
            <a:r>
              <a:rPr lang="zh-CN" altLang="zh-CN" dirty="0"/>
              <a:t>会利用库仑定律计算点电荷受到其他</a:t>
            </a:r>
            <a:r>
              <a:rPr lang="zh-CN" altLang="zh-CN" dirty="0" smtClean="0"/>
              <a:t>点电荷施加</a:t>
            </a:r>
            <a:r>
              <a:rPr lang="zh-CN" altLang="zh-CN" dirty="0"/>
              <a:t>的电场力；会利用电场强度叠加原理求解电场。</a:t>
            </a:r>
          </a:p>
          <a:p>
            <a:r>
              <a:rPr lang="zh-CN" altLang="zh-CN" b="1" dirty="0"/>
              <a:t>【教学难点】</a:t>
            </a:r>
            <a:r>
              <a:rPr lang="zh-CN" altLang="zh-CN" dirty="0"/>
              <a:t>库仑定律的叠加原理；电场强度的叠加原理。</a:t>
            </a:r>
          </a:p>
        </p:txBody>
      </p:sp>
      <p:sp>
        <p:nvSpPr>
          <p:cNvPr id="4" name="标题 1"/>
          <p:cNvSpPr txBox="1">
            <a:spLocks/>
          </p:cNvSpPr>
          <p:nvPr/>
        </p:nvSpPr>
        <p:spPr>
          <a:xfrm>
            <a:off x="210725" y="593041"/>
            <a:ext cx="8712968" cy="706090"/>
          </a:xfrm>
          <a:prstGeom prst="rect">
            <a:avLst/>
          </a:prstGeom>
        </p:spPr>
        <p:txBody>
          <a:bodyPr>
            <a:normAutofit/>
          </a:bodyPr>
          <a:lstStyle>
            <a:lvl1pPr>
              <a:defRPr sz="3200">
                <a:solidFill>
                  <a:srgbClr val="006633"/>
                </a:solidFill>
                <a:latin typeface="SimHei"/>
                <a:ea typeface="SimHei"/>
                <a:cs typeface="SimHei"/>
                <a:sym typeface="SimHei"/>
              </a:defRPr>
            </a:lvl1pPr>
            <a:lvl2pPr>
              <a:defRPr sz="3200">
                <a:solidFill>
                  <a:srgbClr val="006633"/>
                </a:solidFill>
                <a:latin typeface="SimHei"/>
                <a:ea typeface="SimHei"/>
                <a:cs typeface="SimHei"/>
                <a:sym typeface="SimHei"/>
              </a:defRPr>
            </a:lvl2pPr>
            <a:lvl3pPr>
              <a:defRPr sz="3200">
                <a:solidFill>
                  <a:srgbClr val="006633"/>
                </a:solidFill>
                <a:latin typeface="SimHei"/>
                <a:ea typeface="SimHei"/>
                <a:cs typeface="SimHei"/>
                <a:sym typeface="SimHei"/>
              </a:defRPr>
            </a:lvl3pPr>
            <a:lvl4pPr>
              <a:defRPr sz="3200">
                <a:solidFill>
                  <a:srgbClr val="006633"/>
                </a:solidFill>
                <a:latin typeface="SimHei"/>
                <a:ea typeface="SimHei"/>
                <a:cs typeface="SimHei"/>
                <a:sym typeface="SimHei"/>
              </a:defRPr>
            </a:lvl4pPr>
            <a:lvl5pPr>
              <a:defRPr sz="3200">
                <a:solidFill>
                  <a:srgbClr val="006633"/>
                </a:solidFill>
                <a:latin typeface="SimHei"/>
                <a:ea typeface="SimHei"/>
                <a:cs typeface="SimHei"/>
                <a:sym typeface="SimHei"/>
              </a:defRPr>
            </a:lvl5pPr>
            <a:lvl6pPr indent="457056">
              <a:defRPr sz="3200">
                <a:solidFill>
                  <a:srgbClr val="006633"/>
                </a:solidFill>
                <a:latin typeface="SimHei"/>
                <a:ea typeface="SimHei"/>
                <a:cs typeface="SimHei"/>
                <a:sym typeface="SimHei"/>
              </a:defRPr>
            </a:lvl6pPr>
            <a:lvl7pPr indent="914111">
              <a:defRPr sz="3200">
                <a:solidFill>
                  <a:srgbClr val="006633"/>
                </a:solidFill>
                <a:latin typeface="SimHei"/>
                <a:ea typeface="SimHei"/>
                <a:cs typeface="SimHei"/>
                <a:sym typeface="SimHei"/>
              </a:defRPr>
            </a:lvl7pPr>
            <a:lvl8pPr indent="1371166">
              <a:defRPr sz="3200">
                <a:solidFill>
                  <a:srgbClr val="006633"/>
                </a:solidFill>
                <a:latin typeface="SimHei"/>
                <a:ea typeface="SimHei"/>
                <a:cs typeface="SimHei"/>
                <a:sym typeface="SimHei"/>
              </a:defRPr>
            </a:lvl8pPr>
            <a:lvl9pPr indent="1828221">
              <a:defRPr sz="3200">
                <a:solidFill>
                  <a:srgbClr val="006633"/>
                </a:solidFill>
                <a:latin typeface="SimHei"/>
                <a:ea typeface="SimHei"/>
                <a:cs typeface="SimHei"/>
                <a:sym typeface="SimHei"/>
              </a:defRPr>
            </a:lvl9pPr>
          </a:lstStyle>
          <a:p>
            <a:pPr defTabSz="914400">
              <a:lnSpc>
                <a:spcPct val="100000"/>
              </a:lnSpc>
              <a:spcBef>
                <a:spcPts val="0"/>
              </a:spcBef>
            </a:pPr>
            <a:r>
              <a:rPr lang="zh-CN" altLang="en-US" dirty="0" smtClean="0"/>
              <a:t>本节主要内容（</a:t>
            </a:r>
            <a:r>
              <a:rPr lang="zh-CN" altLang="zh-CN" b="1" dirty="0" smtClean="0"/>
              <a:t>§</a:t>
            </a:r>
            <a:r>
              <a:rPr lang="en-US" altLang="zh-CN" b="1" dirty="0" smtClean="0"/>
              <a:t>16.3-</a:t>
            </a:r>
            <a:r>
              <a:rPr lang="zh-CN" altLang="zh-CN" b="1" dirty="0" smtClean="0"/>
              <a:t>§</a:t>
            </a:r>
            <a:r>
              <a:rPr lang="en-US" altLang="zh-CN" b="1" dirty="0" smtClean="0"/>
              <a:t>16.4</a:t>
            </a:r>
            <a:r>
              <a:rPr lang="zh-CN" altLang="en-US" dirty="0" smtClean="0"/>
              <a:t>）</a:t>
            </a:r>
            <a:endParaRPr lang="zh-CN" altLang="en-US" dirty="0"/>
          </a:p>
        </p:txBody>
      </p:sp>
    </p:spTree>
    <p:extLst>
      <p:ext uri="{BB962C8B-B14F-4D97-AF65-F5344CB8AC3E}">
        <p14:creationId xmlns:p14="http://schemas.microsoft.com/office/powerpoint/2010/main" val="1967997778"/>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hape 39"/>
          <p:cNvSpPr>
            <a:spLocks noGrp="1"/>
          </p:cNvSpPr>
          <p:nvPr>
            <p:ph type="body" idx="4294967295"/>
          </p:nvPr>
        </p:nvSpPr>
        <p:spPr>
          <a:xfrm>
            <a:off x="262268" y="788150"/>
            <a:ext cx="7352854" cy="660301"/>
          </a:xfrm>
          <a:prstGeom prst="rect">
            <a:avLst/>
          </a:prstGeom>
        </p:spPr>
        <p:txBody>
          <a:bodyPr lIns="28551" tIns="28551" rIns="28551" bIns="28551">
            <a:noAutofit/>
          </a:bodyPr>
          <a:lstStyle/>
          <a:p>
            <a:pPr marL="0" indent="0" defTabSz="1028374">
              <a:lnSpc>
                <a:spcPct val="120000"/>
              </a:lnSpc>
              <a:spcBef>
                <a:spcPts val="1600"/>
              </a:spcBef>
              <a:buClr>
                <a:srgbClr val="CC9900"/>
              </a:buClr>
              <a:buSzTx/>
              <a:buNone/>
              <a:defRPr sz="1800"/>
            </a:pPr>
            <a:r>
              <a:rPr sz="3200" b="1" dirty="0">
                <a:solidFill>
                  <a:srgbClr val="0000FF"/>
                </a:solidFill>
                <a:latin typeface="黑体" pitchFamily="49" charset="-122"/>
                <a:ea typeface="黑体" pitchFamily="49" charset="-122"/>
                <a:cs typeface="Times New Roman"/>
                <a:sym typeface="Times New Roman"/>
              </a:rPr>
              <a:t>1</a:t>
            </a:r>
            <a:r>
              <a:rPr lang="en-US" sz="3200" b="1" dirty="0">
                <a:solidFill>
                  <a:srgbClr val="0000FF"/>
                </a:solidFill>
                <a:latin typeface="黑体" pitchFamily="49" charset="-122"/>
                <a:ea typeface="黑体" pitchFamily="49" charset="-122"/>
              </a:rPr>
              <a:t>.</a:t>
            </a:r>
            <a:r>
              <a:rPr sz="3200" b="1" dirty="0">
                <a:solidFill>
                  <a:srgbClr val="0000FF"/>
                </a:solidFill>
                <a:latin typeface="黑体" pitchFamily="49" charset="-122"/>
                <a:ea typeface="黑体" pitchFamily="49" charset="-122"/>
              </a:rPr>
              <a:t>点电荷</a:t>
            </a:r>
            <a:r>
              <a:rPr sz="3200" b="1" dirty="0">
                <a:solidFill>
                  <a:srgbClr val="006633"/>
                </a:solidFill>
                <a:latin typeface="黑体" pitchFamily="49" charset="-122"/>
                <a:ea typeface="黑体" pitchFamily="49" charset="-122"/>
              </a:rPr>
              <a:t>（理想化模型）</a:t>
            </a:r>
          </a:p>
        </p:txBody>
      </p:sp>
      <p:sp>
        <p:nvSpPr>
          <p:cNvPr id="40" name="Shape 40"/>
          <p:cNvSpPr/>
          <p:nvPr/>
        </p:nvSpPr>
        <p:spPr>
          <a:xfrm>
            <a:off x="323530" y="1569370"/>
            <a:ext cx="8458201" cy="2172064"/>
          </a:xfrm>
          <a:prstGeom prst="rect">
            <a:avLst/>
          </a:prstGeom>
          <a:ln w="12700">
            <a:miter lim="400000"/>
          </a:ln>
          <a:extLst>
            <a:ext uri="{C572A759-6A51-4108-AA02-DFA0A04FC94B}">
              <ma14:wrappingTextBoxFlag xmlns="" xmlns:ma14="http://schemas.microsoft.com/office/mac/drawingml/2011/main" val="1"/>
            </a:ext>
          </a:extLst>
        </p:spPr>
        <p:txBody>
          <a:bodyPr lIns="51401" tIns="51401" rIns="51401" bIns="51401">
            <a:spAutoFit/>
          </a:bodyPr>
          <a:lstStyle/>
          <a:p>
            <a:pPr marL="516568" indent="-516568">
              <a:spcBef>
                <a:spcPts val="0"/>
              </a:spcBef>
              <a:buClr>
                <a:srgbClr val="FF0000"/>
              </a:buClr>
              <a:buSzPct val="100000"/>
              <a:buFont typeface="宋体"/>
              <a:buChar char="▲"/>
              <a:defRPr sz="1800"/>
            </a:pPr>
            <a:r>
              <a:rPr sz="2800" dirty="0" err="1">
                <a:latin typeface="SimHei"/>
                <a:ea typeface="SimHei"/>
                <a:cs typeface="SimHei"/>
                <a:sym typeface="SimHei"/>
              </a:rPr>
              <a:t>带电体本身的</a:t>
            </a:r>
            <a:r>
              <a:rPr sz="2800" dirty="0" err="1">
                <a:solidFill>
                  <a:srgbClr val="FF0000"/>
                </a:solidFill>
                <a:latin typeface="SimHei"/>
                <a:ea typeface="SimHei"/>
                <a:cs typeface="SimHei"/>
                <a:sym typeface="SimHei"/>
              </a:rPr>
              <a:t>几何线度</a:t>
            </a:r>
            <a:r>
              <a:rPr sz="2800" dirty="0" err="1">
                <a:latin typeface="SimHei"/>
                <a:ea typeface="SimHei"/>
                <a:cs typeface="SimHei"/>
                <a:sym typeface="SimHei"/>
              </a:rPr>
              <a:t>比它与其它带电体之间的距</a:t>
            </a:r>
            <a:r>
              <a:rPr sz="2800" dirty="0" err="1">
                <a:solidFill>
                  <a:srgbClr val="FF0000"/>
                </a:solidFill>
                <a:latin typeface="SimHei"/>
                <a:ea typeface="SimHei"/>
                <a:cs typeface="SimHei"/>
                <a:sym typeface="SimHei"/>
              </a:rPr>
              <a:t>离</a:t>
            </a:r>
            <a:r>
              <a:rPr sz="2800" dirty="0" err="1">
                <a:latin typeface="SimHei"/>
                <a:ea typeface="SimHei"/>
                <a:cs typeface="SimHei"/>
                <a:sym typeface="SimHei"/>
              </a:rPr>
              <a:t>小得多，在研究它与其它带电体的相互作用时，可把它当作一个几何点处理</a:t>
            </a:r>
            <a:r>
              <a:rPr sz="2800" dirty="0">
                <a:latin typeface="SimHei"/>
                <a:ea typeface="SimHei"/>
                <a:cs typeface="SimHei"/>
                <a:sym typeface="SimHei"/>
              </a:rPr>
              <a:t>。</a:t>
            </a:r>
            <a:endParaRPr dirty="0"/>
          </a:p>
          <a:p>
            <a:pPr lvl="0">
              <a:spcBef>
                <a:spcPts val="0"/>
              </a:spcBef>
              <a:defRPr sz="1800"/>
            </a:pPr>
            <a:r>
              <a:rPr sz="2800" dirty="0">
                <a:latin typeface="Arial"/>
                <a:ea typeface="Arial"/>
                <a:cs typeface="Arial"/>
                <a:sym typeface="Arial"/>
              </a:rPr>
              <a:t>                           ----</a:t>
            </a:r>
            <a:r>
              <a:rPr sz="2800" dirty="0" err="1">
                <a:latin typeface="SimHei"/>
                <a:ea typeface="SimHei"/>
                <a:cs typeface="SimHei"/>
                <a:sym typeface="SimHei"/>
              </a:rPr>
              <a:t>带电的点</a:t>
            </a:r>
            <a:r>
              <a:rPr sz="2800" dirty="0">
                <a:latin typeface="SimHei"/>
                <a:ea typeface="SimHei"/>
                <a:cs typeface="SimHei"/>
                <a:sym typeface="SimHei"/>
              </a:rPr>
              <a:t> </a:t>
            </a:r>
          </a:p>
        </p:txBody>
      </p:sp>
      <p:sp>
        <p:nvSpPr>
          <p:cNvPr id="41" name="Shape 41"/>
          <p:cNvSpPr/>
          <p:nvPr/>
        </p:nvSpPr>
        <p:spPr>
          <a:xfrm>
            <a:off x="558803" y="3741434"/>
            <a:ext cx="3652838" cy="497602"/>
          </a:xfrm>
          <a:prstGeom prst="rect">
            <a:avLst/>
          </a:prstGeom>
          <a:ln w="12700">
            <a:miter lim="400000"/>
          </a:ln>
          <a:extLst>
            <a:ext uri="{C572A759-6A51-4108-AA02-DFA0A04FC94B}">
              <ma14:wrappingTextBoxFlag xmlns="" xmlns:ma14="http://schemas.microsoft.com/office/mac/drawingml/2011/main" val="1"/>
            </a:ext>
          </a:extLst>
        </p:spPr>
        <p:txBody>
          <a:bodyPr lIns="51401" tIns="51401" rIns="51401" bIns="51401">
            <a:spAutoFit/>
          </a:bodyPr>
          <a:lstStyle/>
          <a:p>
            <a:pPr lvl="0">
              <a:lnSpc>
                <a:spcPct val="90000"/>
              </a:lnSpc>
              <a:defRPr sz="1800"/>
            </a:pPr>
            <a:r>
              <a:rPr sz="2800" dirty="0" err="1">
                <a:solidFill>
                  <a:srgbClr val="FF5050"/>
                </a:solidFill>
                <a:latin typeface="SimHei"/>
                <a:ea typeface="SimHei"/>
                <a:cs typeface="SimHei"/>
                <a:sym typeface="SimHei"/>
              </a:rPr>
              <a:t>注意：</a:t>
            </a:r>
            <a:r>
              <a:rPr sz="2800" u="sng" dirty="0" err="1">
                <a:latin typeface="SimHei"/>
                <a:ea typeface="SimHei"/>
                <a:cs typeface="SimHei"/>
                <a:sym typeface="SimHei"/>
              </a:rPr>
              <a:t>相对</a:t>
            </a:r>
            <a:r>
              <a:rPr sz="2800" dirty="0" err="1">
                <a:latin typeface="SimHei"/>
                <a:ea typeface="SimHei"/>
                <a:cs typeface="SimHei"/>
                <a:sym typeface="SimHei"/>
              </a:rPr>
              <a:t>而言</a:t>
            </a:r>
            <a:r>
              <a:rPr sz="2800" dirty="0">
                <a:latin typeface="SimHei"/>
                <a:ea typeface="SimHei"/>
                <a:cs typeface="SimHei"/>
                <a:sym typeface="SimHei"/>
              </a:rPr>
              <a:t>。</a:t>
            </a:r>
            <a:r>
              <a:rPr sz="2800" dirty="0">
                <a:solidFill>
                  <a:srgbClr val="EAEAEA"/>
                </a:solidFill>
                <a:latin typeface="Arial"/>
                <a:ea typeface="Arial"/>
                <a:cs typeface="Arial"/>
                <a:sym typeface="Arial"/>
              </a:rPr>
              <a:t> </a:t>
            </a:r>
          </a:p>
        </p:txBody>
      </p:sp>
      <p:grpSp>
        <p:nvGrpSpPr>
          <p:cNvPr id="2" name="组合 1"/>
          <p:cNvGrpSpPr/>
          <p:nvPr/>
        </p:nvGrpSpPr>
        <p:grpSpPr>
          <a:xfrm>
            <a:off x="1090292" y="4265154"/>
            <a:ext cx="6924676" cy="1684126"/>
            <a:chOff x="960437" y="4535151"/>
            <a:chExt cx="6924676" cy="1470047"/>
          </a:xfrm>
        </p:grpSpPr>
        <p:sp>
          <p:nvSpPr>
            <p:cNvPr id="42" name="Shape 42"/>
            <p:cNvSpPr/>
            <p:nvPr/>
          </p:nvSpPr>
          <p:spPr>
            <a:xfrm>
              <a:off x="960437" y="4888941"/>
              <a:ext cx="6924676" cy="1116257"/>
            </a:xfrm>
            <a:prstGeom prst="rect">
              <a:avLst/>
            </a:prstGeom>
            <a:ln w="12700">
              <a:miter lim="400000"/>
            </a:ln>
            <a:extLst>
              <a:ext uri="{C572A759-6A51-4108-AA02-DFA0A04FC94B}">
                <ma14:wrappingTextBoxFlag xmlns="" xmlns:ma14="http://schemas.microsoft.com/office/mac/drawingml/2011/main" val="1"/>
              </a:ext>
            </a:extLst>
          </p:spPr>
          <p:txBody>
            <a:bodyPr lIns="51416" tIns="51416" rIns="51416" bIns="51416">
              <a:spAutoFit/>
            </a:bodyPr>
            <a:lstStyle/>
            <a:p>
              <a:pPr lvl="0">
                <a:lnSpc>
                  <a:spcPct val="90000"/>
                </a:lnSpc>
                <a:defRPr sz="1800"/>
              </a:pPr>
              <a:r>
                <a:rPr sz="2800" dirty="0">
                  <a:latin typeface="Arial"/>
                  <a:ea typeface="Arial"/>
                  <a:cs typeface="Arial"/>
                  <a:sym typeface="Arial"/>
                </a:rPr>
                <a:t>A</a:t>
              </a:r>
              <a:r>
                <a:rPr sz="2800" dirty="0">
                  <a:latin typeface="SimHei"/>
                  <a:ea typeface="SimHei"/>
                  <a:cs typeface="SimHei"/>
                  <a:sym typeface="SimHei"/>
                </a:rPr>
                <a:t>、有些带电体可看作点电荷。</a:t>
              </a:r>
              <a:endParaRPr dirty="0"/>
            </a:p>
            <a:p>
              <a:pPr lvl="0">
                <a:lnSpc>
                  <a:spcPct val="90000"/>
                </a:lnSpc>
                <a:defRPr sz="1800"/>
              </a:pPr>
              <a:r>
                <a:rPr sz="2800" dirty="0">
                  <a:latin typeface="Arial"/>
                  <a:ea typeface="Arial"/>
                  <a:cs typeface="Arial"/>
                  <a:sym typeface="Arial"/>
                </a:rPr>
                <a:t>B</a:t>
              </a:r>
              <a:r>
                <a:rPr sz="2800" dirty="0">
                  <a:latin typeface="SimHei"/>
                  <a:ea typeface="SimHei"/>
                  <a:cs typeface="SimHei"/>
                  <a:sym typeface="SimHei"/>
                </a:rPr>
                <a:t>、一般带电体可看作由无数点电荷组成。</a:t>
              </a:r>
            </a:p>
          </p:txBody>
        </p:sp>
        <p:sp>
          <p:nvSpPr>
            <p:cNvPr id="43" name="Shape 43"/>
            <p:cNvSpPr/>
            <p:nvPr/>
          </p:nvSpPr>
          <p:spPr>
            <a:xfrm>
              <a:off x="1334229" y="4535151"/>
              <a:ext cx="1955929" cy="353790"/>
            </a:xfrm>
            <a:prstGeom prst="rect">
              <a:avLst/>
            </a:prstGeom>
            <a:ln w="12700">
              <a:miter lim="400000"/>
            </a:ln>
            <a:extLst>
              <a:ext uri="{C572A759-6A51-4108-AA02-DFA0A04FC94B}">
                <ma14:wrappingTextBoxFlag xmlns="" xmlns:ma14="http://schemas.microsoft.com/office/mac/drawingml/2011/main" val="1"/>
              </a:ext>
            </a:extLst>
          </p:spPr>
          <p:txBody>
            <a:bodyPr wrap="none" lIns="51416" tIns="51416" rIns="51416" bIns="51416">
              <a:spAutoFit/>
            </a:bodyPr>
            <a:lstStyle>
              <a:lvl1pPr algn="ctr">
                <a:lnSpc>
                  <a:spcPct val="90000"/>
                </a:lnSpc>
                <a:defRPr sz="2800">
                  <a:latin typeface="SimHei"/>
                  <a:ea typeface="SimHei"/>
                  <a:cs typeface="SimHei"/>
                  <a:sym typeface="SimHei"/>
                </a:defRPr>
              </a:lvl1pPr>
            </a:lstStyle>
            <a:p>
              <a:pPr lvl="0">
                <a:defRPr sz="1800"/>
              </a:pPr>
              <a:r>
                <a:rPr dirty="0" err="1"/>
                <a:t>模型的实际意义</a:t>
              </a:r>
              <a:r>
                <a:rPr dirty="0"/>
                <a:t>：</a:t>
              </a:r>
            </a:p>
          </p:txBody>
        </p:sp>
        <p:sp>
          <p:nvSpPr>
            <p:cNvPr id="44" name="Shape 44"/>
            <p:cNvSpPr/>
            <p:nvPr/>
          </p:nvSpPr>
          <p:spPr>
            <a:xfrm>
              <a:off x="3261863" y="4535151"/>
              <a:ext cx="2881830" cy="353790"/>
            </a:xfrm>
            <a:prstGeom prst="rect">
              <a:avLst/>
            </a:prstGeom>
            <a:ln w="12700">
              <a:miter lim="400000"/>
            </a:ln>
            <a:extLst>
              <a:ext uri="{C572A759-6A51-4108-AA02-DFA0A04FC94B}">
                <ma14:wrappingTextBoxFlag xmlns="" xmlns:ma14="http://schemas.microsoft.com/office/mac/drawingml/2011/main" val="1"/>
              </a:ext>
            </a:extLst>
          </p:spPr>
          <p:txBody>
            <a:bodyPr wrap="none" lIns="51416" tIns="51416" rIns="51416" bIns="51416">
              <a:spAutoFit/>
            </a:bodyPr>
            <a:lstStyle>
              <a:lvl1pPr algn="ctr">
                <a:lnSpc>
                  <a:spcPct val="90000"/>
                </a:lnSpc>
                <a:defRPr sz="2800">
                  <a:latin typeface="SimHei"/>
                  <a:ea typeface="SimHei"/>
                  <a:cs typeface="SimHei"/>
                  <a:sym typeface="SimHei"/>
                </a:defRPr>
              </a:lvl1pPr>
            </a:lstStyle>
            <a:p>
              <a:pPr lvl="0">
                <a:defRPr sz="1800"/>
              </a:pPr>
              <a:r>
                <a:rPr dirty="0" err="1"/>
                <a:t>点电荷的规律是最基本的</a:t>
              </a:r>
              <a:r>
                <a:rPr dirty="0"/>
                <a:t>。</a:t>
              </a:r>
            </a:p>
          </p:txBody>
        </p:sp>
      </p:grpSp>
      <p:sp>
        <p:nvSpPr>
          <p:cNvPr id="45" name="Shape 45"/>
          <p:cNvSpPr/>
          <p:nvPr/>
        </p:nvSpPr>
        <p:spPr>
          <a:xfrm>
            <a:off x="2843811" y="29169"/>
            <a:ext cx="4185243" cy="757100"/>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defTabSz="761758">
              <a:defRPr sz="1800"/>
            </a:pPr>
            <a:r>
              <a:rPr sz="3600" dirty="0">
                <a:solidFill>
                  <a:schemeClr val="tx1"/>
                </a:solidFill>
                <a:latin typeface="Arial"/>
                <a:ea typeface="Arial"/>
                <a:cs typeface="Arial"/>
                <a:sym typeface="Arial"/>
              </a:rPr>
              <a:t>§</a:t>
            </a:r>
            <a:r>
              <a:rPr lang="en-US" sz="3600" dirty="0">
                <a:solidFill>
                  <a:schemeClr val="tx1"/>
                </a:solidFill>
                <a:latin typeface="Arial"/>
                <a:ea typeface="Arial"/>
                <a:cs typeface="Arial"/>
                <a:sym typeface="Arial"/>
              </a:rPr>
              <a:t>16</a:t>
            </a:r>
            <a:r>
              <a:rPr sz="3600" dirty="0">
                <a:solidFill>
                  <a:schemeClr val="tx1"/>
                </a:solidFill>
                <a:latin typeface="Arial"/>
                <a:ea typeface="Arial"/>
                <a:cs typeface="Arial"/>
                <a:sym typeface="Arial"/>
              </a:rPr>
              <a:t>.3  </a:t>
            </a:r>
            <a:r>
              <a:rPr sz="3600" dirty="0" err="1">
                <a:solidFill>
                  <a:schemeClr val="tx1"/>
                </a:solidFill>
                <a:latin typeface="SimHei"/>
                <a:ea typeface="SimHei"/>
                <a:cs typeface="SimHei"/>
                <a:sym typeface="SimHei"/>
              </a:rPr>
              <a:t>库仑定律</a:t>
            </a:r>
            <a:endParaRPr sz="3600" dirty="0">
              <a:solidFill>
                <a:schemeClr val="tx1"/>
              </a:solidFill>
              <a:latin typeface="Arial"/>
              <a:ea typeface="Arial"/>
              <a:cs typeface="Arial"/>
              <a:sym typeface="Arial"/>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a:xfrm>
            <a:off x="473100" y="1484784"/>
            <a:ext cx="3466728" cy="4248472"/>
          </a:xfrm>
        </p:spPr>
        <p:txBody>
          <a:bodyPr/>
          <a:lstStyle/>
          <a:p>
            <a:r>
              <a:rPr lang="en-US" altLang="zh-CN" dirty="0" smtClean="0"/>
              <a:t>1785</a:t>
            </a:r>
            <a:r>
              <a:rPr lang="zh-CN" altLang="en-US" dirty="0" smtClean="0"/>
              <a:t>年，库仑从扭秤实验结果总结出了点电荷之间相互作用的静电力所服从的基本规律，称为库仑定律。</a:t>
            </a:r>
            <a:endParaRPr lang="zh-CN" altLang="en-US" dirty="0"/>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3268"/>
          <a:stretch/>
        </p:blipFill>
        <p:spPr bwMode="auto">
          <a:xfrm>
            <a:off x="5220072" y="1628800"/>
            <a:ext cx="2952328" cy="4262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4841755"/>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hape 47"/>
          <p:cNvSpPr/>
          <p:nvPr/>
        </p:nvSpPr>
        <p:spPr>
          <a:xfrm>
            <a:off x="251520" y="1268763"/>
            <a:ext cx="8128942" cy="2092881"/>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defTabSz="761758">
              <a:lnSpc>
                <a:spcPct val="125000"/>
              </a:lnSpc>
              <a:spcBef>
                <a:spcPts val="1897"/>
              </a:spcBef>
              <a:defRPr sz="1800"/>
            </a:pPr>
            <a:r>
              <a:rPr lang="en-US" sz="2600" dirty="0">
                <a:latin typeface="宋体" pitchFamily="2" charset="-122"/>
                <a:ea typeface="宋体" pitchFamily="2" charset="-122"/>
                <a:cs typeface="SimHei"/>
                <a:sym typeface="SimHei"/>
              </a:rPr>
              <a:t>    </a:t>
            </a:r>
            <a:r>
              <a:rPr sz="2600" b="1" dirty="0" err="1">
                <a:latin typeface="宋体" pitchFamily="2" charset="-122"/>
                <a:ea typeface="宋体" pitchFamily="2" charset="-122"/>
                <a:cs typeface="SimHei"/>
                <a:sym typeface="SimHei"/>
              </a:rPr>
              <a:t>自由空间</a:t>
            </a:r>
            <a:r>
              <a:rPr sz="2600" b="1" dirty="0">
                <a:latin typeface="宋体" pitchFamily="2" charset="-122"/>
                <a:ea typeface="宋体" pitchFamily="2" charset="-122"/>
                <a:cs typeface="Arial"/>
                <a:sym typeface="Arial"/>
              </a:rPr>
              <a:t>(</a:t>
            </a:r>
            <a:r>
              <a:rPr sz="2600" b="1" dirty="0" err="1">
                <a:latin typeface="宋体" pitchFamily="2" charset="-122"/>
                <a:ea typeface="宋体" pitchFamily="2" charset="-122"/>
                <a:cs typeface="SimHei"/>
                <a:sym typeface="SimHei"/>
              </a:rPr>
              <a:t>或真空</a:t>
            </a:r>
            <a:r>
              <a:rPr sz="2600" b="1" dirty="0">
                <a:latin typeface="宋体" pitchFamily="2" charset="-122"/>
                <a:ea typeface="宋体" pitchFamily="2" charset="-122"/>
                <a:cs typeface="Arial"/>
                <a:sym typeface="Arial"/>
              </a:rPr>
              <a:t>)</a:t>
            </a:r>
            <a:r>
              <a:rPr sz="2600" b="1" dirty="0" err="1">
                <a:latin typeface="宋体" pitchFamily="2" charset="-122"/>
                <a:ea typeface="宋体" pitchFamily="2" charset="-122"/>
                <a:cs typeface="SimHei"/>
                <a:sym typeface="SimHei"/>
              </a:rPr>
              <a:t>中，两个</a:t>
            </a:r>
            <a:r>
              <a:rPr sz="2600" b="1" dirty="0" err="1">
                <a:solidFill>
                  <a:srgbClr val="FF0000"/>
                </a:solidFill>
                <a:latin typeface="宋体" pitchFamily="2" charset="-122"/>
                <a:ea typeface="宋体" pitchFamily="2" charset="-122"/>
                <a:cs typeface="SimHei"/>
                <a:sym typeface="SimHei"/>
              </a:rPr>
              <a:t>静止的点电荷</a:t>
            </a:r>
            <a:r>
              <a:rPr sz="2600" b="1" dirty="0" err="1">
                <a:latin typeface="宋体" pitchFamily="2" charset="-122"/>
                <a:ea typeface="宋体" pitchFamily="2" charset="-122"/>
                <a:cs typeface="SimHei"/>
                <a:sym typeface="SimHei"/>
              </a:rPr>
              <a:t>之间相互作用力</a:t>
            </a:r>
            <a:r>
              <a:rPr sz="2600" b="1" dirty="0">
                <a:latin typeface="宋体" pitchFamily="2" charset="-122"/>
                <a:ea typeface="宋体" pitchFamily="2" charset="-122"/>
                <a:cs typeface="Arial"/>
                <a:sym typeface="Arial"/>
              </a:rPr>
              <a:t>(</a:t>
            </a:r>
            <a:r>
              <a:rPr sz="2600" b="1" dirty="0" err="1">
                <a:latin typeface="宋体" pitchFamily="2" charset="-122"/>
                <a:ea typeface="宋体" pitchFamily="2" charset="-122"/>
                <a:cs typeface="SimHei"/>
                <a:sym typeface="SimHei"/>
              </a:rPr>
              <a:t>统称为</a:t>
            </a:r>
            <a:r>
              <a:rPr sz="2600" b="1" dirty="0" err="1">
                <a:solidFill>
                  <a:srgbClr val="FF0000"/>
                </a:solidFill>
                <a:latin typeface="宋体" pitchFamily="2" charset="-122"/>
                <a:ea typeface="宋体" pitchFamily="2" charset="-122"/>
                <a:cs typeface="SimHei"/>
                <a:sym typeface="SimHei"/>
              </a:rPr>
              <a:t>静电力</a:t>
            </a:r>
            <a:r>
              <a:rPr sz="2600" b="1" dirty="0">
                <a:latin typeface="宋体" pitchFamily="2" charset="-122"/>
                <a:ea typeface="宋体" pitchFamily="2" charset="-122"/>
                <a:cs typeface="Arial"/>
                <a:sym typeface="Arial"/>
              </a:rPr>
              <a:t>)</a:t>
            </a:r>
            <a:r>
              <a:rPr sz="2600" b="1" dirty="0" err="1">
                <a:latin typeface="宋体" pitchFamily="2" charset="-122"/>
                <a:ea typeface="宋体" pitchFamily="2" charset="-122"/>
                <a:cs typeface="SimHei"/>
                <a:sym typeface="SimHei"/>
              </a:rPr>
              <a:t>的大小，与它们所带的</a:t>
            </a:r>
            <a:r>
              <a:rPr sz="2600" b="1" dirty="0" err="1">
                <a:solidFill>
                  <a:srgbClr val="FF0000"/>
                </a:solidFill>
                <a:latin typeface="宋体" pitchFamily="2" charset="-122"/>
                <a:ea typeface="宋体" pitchFamily="2" charset="-122"/>
                <a:cs typeface="SimHei"/>
                <a:sym typeface="SimHei"/>
              </a:rPr>
              <a:t>电量的乘积成正比</a:t>
            </a:r>
            <a:r>
              <a:rPr sz="2600" b="1" dirty="0" err="1">
                <a:latin typeface="宋体" pitchFamily="2" charset="-122"/>
                <a:ea typeface="宋体" pitchFamily="2" charset="-122"/>
                <a:cs typeface="SimHei"/>
                <a:sym typeface="SimHei"/>
              </a:rPr>
              <a:t>，与它们之间</a:t>
            </a:r>
            <a:r>
              <a:rPr sz="2600" b="1" dirty="0" err="1">
                <a:solidFill>
                  <a:srgbClr val="FF0000"/>
                </a:solidFill>
                <a:latin typeface="宋体" pitchFamily="2" charset="-122"/>
                <a:ea typeface="宋体" pitchFamily="2" charset="-122"/>
                <a:cs typeface="SimHei"/>
                <a:sym typeface="SimHei"/>
              </a:rPr>
              <a:t>距离的平方成反比</a:t>
            </a:r>
            <a:r>
              <a:rPr sz="2600" b="1" dirty="0" err="1">
                <a:latin typeface="宋体" pitchFamily="2" charset="-122"/>
                <a:ea typeface="宋体" pitchFamily="2" charset="-122"/>
                <a:cs typeface="SimHei"/>
                <a:sym typeface="SimHei"/>
              </a:rPr>
              <a:t>；</a:t>
            </a:r>
            <a:r>
              <a:rPr sz="2600" b="1" dirty="0" err="1" smtClean="0">
                <a:latin typeface="宋体" pitchFamily="2" charset="-122"/>
                <a:ea typeface="宋体" pitchFamily="2" charset="-122"/>
                <a:cs typeface="SimHei"/>
                <a:sym typeface="SimHei"/>
              </a:rPr>
              <a:t>作用力的方向沿着它们的</a:t>
            </a:r>
            <a:r>
              <a:rPr lang="zh-CN" altLang="en-US" sz="2600" b="1" dirty="0" smtClean="0">
                <a:latin typeface="宋体" pitchFamily="2" charset="-122"/>
                <a:ea typeface="宋体" pitchFamily="2" charset="-122"/>
                <a:cs typeface="SimHei"/>
                <a:sym typeface="SimHei"/>
              </a:rPr>
              <a:t>连线</a:t>
            </a:r>
            <a:r>
              <a:rPr sz="2600" b="1" dirty="0" err="1" smtClean="0">
                <a:latin typeface="宋体" pitchFamily="2" charset="-122"/>
                <a:ea typeface="宋体" pitchFamily="2" charset="-122"/>
                <a:cs typeface="SimHei"/>
                <a:sym typeface="SimHei"/>
              </a:rPr>
              <a:t>线，</a:t>
            </a:r>
            <a:r>
              <a:rPr sz="2600" b="1" dirty="0" err="1">
                <a:latin typeface="宋体" pitchFamily="2" charset="-122"/>
                <a:ea typeface="宋体" pitchFamily="2" charset="-122"/>
                <a:cs typeface="SimHei"/>
                <a:sym typeface="SimHei"/>
              </a:rPr>
              <a:t>同号电荷相斥，异号电荷相吸</a:t>
            </a:r>
            <a:r>
              <a:rPr lang="zh-CN" altLang="en-US" sz="2600" b="1" dirty="0">
                <a:latin typeface="宋体" pitchFamily="2" charset="-122"/>
                <a:ea typeface="宋体" pitchFamily="2" charset="-122"/>
                <a:cs typeface="SimHei"/>
                <a:sym typeface="SimHei"/>
              </a:rPr>
              <a:t>。</a:t>
            </a:r>
            <a:endParaRPr sz="2600" b="1" dirty="0">
              <a:latin typeface="宋体" pitchFamily="2" charset="-122"/>
              <a:ea typeface="宋体" pitchFamily="2" charset="-122"/>
              <a:cs typeface="Arial"/>
              <a:sym typeface="Arial"/>
            </a:endParaRPr>
          </a:p>
        </p:txBody>
      </p:sp>
      <p:sp>
        <p:nvSpPr>
          <p:cNvPr id="48" name="Shape 48"/>
          <p:cNvSpPr/>
          <p:nvPr/>
        </p:nvSpPr>
        <p:spPr>
          <a:xfrm>
            <a:off x="250825" y="284166"/>
            <a:ext cx="8229600" cy="683264"/>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a:spcBef>
                <a:spcPts val="1897"/>
              </a:spcBef>
              <a:defRPr sz="1800"/>
            </a:pPr>
            <a:r>
              <a:rPr sz="3200" dirty="0">
                <a:solidFill>
                  <a:srgbClr val="0000FF"/>
                </a:solidFill>
                <a:latin typeface="Arial"/>
                <a:ea typeface="Arial"/>
                <a:cs typeface="Arial"/>
                <a:sym typeface="Arial"/>
              </a:rPr>
              <a:t>2.</a:t>
            </a:r>
            <a:r>
              <a:rPr lang="en-US" sz="3200" dirty="0">
                <a:solidFill>
                  <a:srgbClr val="0000FF"/>
                </a:solidFill>
                <a:latin typeface="Arial"/>
                <a:ea typeface="Arial"/>
                <a:cs typeface="Arial"/>
                <a:sym typeface="Arial"/>
              </a:rPr>
              <a:t> </a:t>
            </a:r>
            <a:r>
              <a:rPr sz="3200" dirty="0" err="1">
                <a:solidFill>
                  <a:srgbClr val="0000FF"/>
                </a:solidFill>
                <a:latin typeface="SimHei"/>
                <a:ea typeface="SimHei"/>
                <a:cs typeface="SimHei"/>
                <a:sym typeface="SimHei"/>
              </a:rPr>
              <a:t>库仑定律</a:t>
            </a:r>
            <a:r>
              <a:rPr sz="3200" dirty="0">
                <a:solidFill>
                  <a:srgbClr val="FF0000"/>
                </a:solidFill>
                <a:latin typeface="Arial"/>
                <a:ea typeface="Arial"/>
                <a:cs typeface="Arial"/>
                <a:sym typeface="Arial"/>
              </a:rPr>
              <a:t>(Coulomb  law)</a:t>
            </a:r>
            <a:r>
              <a:rPr sz="3200" dirty="0">
                <a:solidFill>
                  <a:srgbClr val="0000FF"/>
                </a:solidFill>
                <a:latin typeface="SimHei"/>
                <a:ea typeface="SimHei"/>
                <a:cs typeface="SimHei"/>
                <a:sym typeface="SimHei"/>
              </a:rPr>
              <a:t>：</a:t>
            </a:r>
            <a:endParaRPr sz="3200" dirty="0">
              <a:latin typeface="Arial"/>
              <a:ea typeface="Arial"/>
              <a:cs typeface="Arial"/>
              <a:sym typeface="Arial"/>
            </a:endParaRPr>
          </a:p>
        </p:txBody>
      </p:sp>
      <p:grpSp>
        <p:nvGrpSpPr>
          <p:cNvPr id="8" name="Group 60"/>
          <p:cNvGrpSpPr/>
          <p:nvPr/>
        </p:nvGrpSpPr>
        <p:grpSpPr>
          <a:xfrm>
            <a:off x="251521" y="4581128"/>
            <a:ext cx="7685088" cy="795339"/>
            <a:chOff x="0" y="0"/>
            <a:chExt cx="7685087" cy="795338"/>
          </a:xfrm>
        </p:grpSpPr>
        <p:pic>
          <p:nvPicPr>
            <p:cNvPr id="9" name="image2.pdf"/>
            <p:cNvPicPr/>
            <p:nvPr/>
          </p:nvPicPr>
          <p:blipFill>
            <a:blip r:embed="rId3" cstate="print">
              <a:extLst/>
            </a:blip>
            <a:stretch>
              <a:fillRect/>
            </a:stretch>
          </p:blipFill>
          <p:spPr>
            <a:xfrm>
              <a:off x="0" y="0"/>
              <a:ext cx="514350" cy="795338"/>
            </a:xfrm>
            <a:prstGeom prst="rect">
              <a:avLst/>
            </a:prstGeom>
            <a:ln w="12700" cap="flat">
              <a:noFill/>
              <a:miter lim="400000"/>
            </a:ln>
            <a:effectLst/>
          </p:spPr>
        </p:pic>
        <p:sp>
          <p:nvSpPr>
            <p:cNvPr id="10" name="Shape 59"/>
            <p:cNvSpPr/>
            <p:nvPr/>
          </p:nvSpPr>
          <p:spPr>
            <a:xfrm>
              <a:off x="522287" y="215900"/>
              <a:ext cx="7162800" cy="42551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defTabSz="762000">
                <a:spcBef>
                  <a:spcPts val="1900"/>
                </a:spcBef>
                <a:defRPr sz="2500">
                  <a:solidFill>
                    <a:srgbClr val="0000FF"/>
                  </a:solidFill>
                  <a:latin typeface="SimHei"/>
                  <a:ea typeface="SimHei"/>
                  <a:cs typeface="SimHei"/>
                  <a:sym typeface="SimHei"/>
                </a:defRPr>
              </a:lvl1pPr>
            </a:lstStyle>
            <a:p>
              <a:pPr lvl="0">
                <a:defRPr sz="1800">
                  <a:solidFill>
                    <a:srgbClr val="000000"/>
                  </a:solidFill>
                </a:defRPr>
              </a:pPr>
              <a:r>
                <a:rPr dirty="0" err="1"/>
                <a:t>是单位方向矢量，</a:t>
              </a:r>
              <a:r>
                <a:rPr dirty="0" err="1" smtClean="0"/>
                <a:t>其方向从施力电荷指向受力电荷</a:t>
              </a:r>
              <a:endParaRPr dirty="0"/>
            </a:p>
          </p:txBody>
        </p:sp>
      </p:grpSp>
      <p:grpSp>
        <p:nvGrpSpPr>
          <p:cNvPr id="11" name="组合 10"/>
          <p:cNvGrpSpPr/>
          <p:nvPr/>
        </p:nvGrpSpPr>
        <p:grpSpPr>
          <a:xfrm>
            <a:off x="5508107" y="116632"/>
            <a:ext cx="3186013" cy="1321471"/>
            <a:chOff x="3978275" y="188912"/>
            <a:chExt cx="3617914" cy="1593851"/>
          </a:xfrm>
        </p:grpSpPr>
        <p:sp>
          <p:nvSpPr>
            <p:cNvPr id="12" name="Shape 65"/>
            <p:cNvSpPr/>
            <p:nvPr/>
          </p:nvSpPr>
          <p:spPr>
            <a:xfrm>
              <a:off x="3978275" y="188912"/>
              <a:ext cx="949325" cy="914883"/>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algn="ctr">
                <a:spcBef>
                  <a:spcPts val="2797"/>
                </a:spcBef>
                <a:defRPr sz="1800"/>
              </a:pPr>
              <a:r>
                <a:rPr sz="3600" i="1" dirty="0"/>
                <a:t>q</a:t>
              </a:r>
              <a:r>
                <a:rPr sz="3600" baseline="-25000" dirty="0"/>
                <a:t>1</a:t>
              </a:r>
            </a:p>
          </p:txBody>
        </p:sp>
        <p:sp>
          <p:nvSpPr>
            <p:cNvPr id="13" name="Shape 66"/>
            <p:cNvSpPr/>
            <p:nvPr/>
          </p:nvSpPr>
          <p:spPr>
            <a:xfrm>
              <a:off x="6646863" y="222250"/>
              <a:ext cx="949326" cy="913189"/>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algn="ctr">
                <a:spcBef>
                  <a:spcPts val="2797"/>
                </a:spcBef>
                <a:defRPr sz="1800"/>
              </a:pPr>
              <a:r>
                <a:rPr sz="3600" i="1" dirty="0"/>
                <a:t>q</a:t>
              </a:r>
              <a:r>
                <a:rPr sz="3600" baseline="-25000" dirty="0"/>
                <a:t>2</a:t>
              </a:r>
            </a:p>
          </p:txBody>
        </p:sp>
        <p:grpSp>
          <p:nvGrpSpPr>
            <p:cNvPr id="14" name="组合 1"/>
            <p:cNvGrpSpPr/>
            <p:nvPr/>
          </p:nvGrpSpPr>
          <p:grpSpPr>
            <a:xfrm>
              <a:off x="4368799" y="393159"/>
              <a:ext cx="2654302" cy="1389604"/>
              <a:chOff x="4368799" y="393159"/>
              <a:chExt cx="2654302" cy="1389604"/>
            </a:xfrm>
          </p:grpSpPr>
          <p:sp>
            <p:nvSpPr>
              <p:cNvPr id="15" name="Shape 51"/>
              <p:cNvSpPr/>
              <p:nvPr/>
            </p:nvSpPr>
            <p:spPr>
              <a:xfrm>
                <a:off x="4514850" y="1109662"/>
                <a:ext cx="2362200" cy="1"/>
              </a:xfrm>
              <a:prstGeom prst="line">
                <a:avLst/>
              </a:prstGeom>
              <a:ln w="38100">
                <a:solidFill/>
                <a:round/>
                <a:tailEnd type="triangle"/>
              </a:ln>
            </p:spPr>
            <p:txBody>
              <a:bodyPr lIns="0" tIns="0" rIns="0" bIns="0"/>
              <a:lstStyle/>
              <a:p>
                <a:pPr defTabSz="457056">
                  <a:lnSpc>
                    <a:spcPct val="100000"/>
                  </a:lnSpc>
                  <a:spcBef>
                    <a:spcPts val="0"/>
                  </a:spcBef>
                  <a:defRPr sz="1200">
                    <a:latin typeface="+mj-lt"/>
                    <a:ea typeface="+mj-ea"/>
                    <a:cs typeface="+mj-cs"/>
                    <a:sym typeface="Helvetica"/>
                  </a:defRPr>
                </a:pPr>
                <a:endParaRPr/>
              </a:p>
            </p:txBody>
          </p:sp>
          <p:sp>
            <p:nvSpPr>
              <p:cNvPr id="16" name="Shape 52"/>
              <p:cNvSpPr/>
              <p:nvPr/>
            </p:nvSpPr>
            <p:spPr>
              <a:xfrm>
                <a:off x="6883399" y="1039812"/>
                <a:ext cx="139702" cy="1397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C9900"/>
              </a:solidFill>
              <a:ln w="12699">
                <a:solidFill/>
                <a:round/>
              </a:ln>
            </p:spPr>
            <p:txBody>
              <a:bodyPr lIns="0" tIns="0" rIns="0" bIns="0" anchor="ctr"/>
              <a:lstStyle/>
              <a:p>
                <a:pPr defTabSz="914111">
                  <a:lnSpc>
                    <a:spcPct val="100000"/>
                  </a:lnSpc>
                  <a:spcBef>
                    <a:spcPts val="0"/>
                  </a:spcBef>
                </a:pPr>
                <a:endParaRPr/>
              </a:p>
            </p:txBody>
          </p:sp>
          <p:sp>
            <p:nvSpPr>
              <p:cNvPr id="17" name="Shape 53"/>
              <p:cNvSpPr/>
              <p:nvPr/>
            </p:nvSpPr>
            <p:spPr>
              <a:xfrm>
                <a:off x="4368799" y="1022349"/>
                <a:ext cx="139702" cy="1397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C9900"/>
              </a:solidFill>
              <a:ln w="12699">
                <a:solidFill/>
                <a:round/>
              </a:ln>
            </p:spPr>
            <p:txBody>
              <a:bodyPr lIns="0" tIns="0" rIns="0" bIns="0" anchor="ctr"/>
              <a:lstStyle/>
              <a:p>
                <a:pPr defTabSz="914111">
                  <a:lnSpc>
                    <a:spcPct val="100000"/>
                  </a:lnSpc>
                  <a:spcBef>
                    <a:spcPts val="0"/>
                  </a:spcBef>
                </a:pPr>
                <a:endParaRPr/>
              </a:p>
            </p:txBody>
          </p:sp>
          <p:sp>
            <p:nvSpPr>
              <p:cNvPr id="18" name="Shape 54"/>
              <p:cNvSpPr/>
              <p:nvPr/>
            </p:nvSpPr>
            <p:spPr>
              <a:xfrm>
                <a:off x="4546600" y="1103312"/>
                <a:ext cx="381000" cy="1"/>
              </a:xfrm>
              <a:prstGeom prst="line">
                <a:avLst/>
              </a:prstGeom>
              <a:ln w="38100">
                <a:solidFill>
                  <a:srgbClr val="FF0000"/>
                </a:solidFill>
                <a:round/>
                <a:tailEnd type="triangle"/>
              </a:ln>
            </p:spPr>
            <p:txBody>
              <a:bodyPr lIns="0" tIns="0" rIns="0" bIns="0"/>
              <a:lstStyle/>
              <a:p>
                <a:pPr defTabSz="457056">
                  <a:lnSpc>
                    <a:spcPct val="100000"/>
                  </a:lnSpc>
                  <a:spcBef>
                    <a:spcPts val="0"/>
                  </a:spcBef>
                  <a:defRPr sz="1200">
                    <a:latin typeface="+mj-lt"/>
                    <a:ea typeface="+mj-ea"/>
                    <a:cs typeface="+mj-cs"/>
                    <a:sym typeface="Helvetica"/>
                  </a:defRPr>
                </a:pPr>
                <a:endParaRPr/>
              </a:p>
            </p:txBody>
          </p:sp>
          <p:pic>
            <p:nvPicPr>
              <p:cNvPr id="19" name="image4.pdf"/>
              <p:cNvPicPr/>
              <p:nvPr/>
            </p:nvPicPr>
            <p:blipFill>
              <a:blip r:embed="rId4" cstate="print">
                <a:extLst/>
              </a:blip>
              <a:stretch>
                <a:fillRect/>
              </a:stretch>
            </p:blipFill>
            <p:spPr>
              <a:xfrm>
                <a:off x="5364162" y="393159"/>
                <a:ext cx="514867" cy="659354"/>
              </a:xfrm>
              <a:prstGeom prst="rect">
                <a:avLst/>
              </a:prstGeom>
              <a:ln w="12700">
                <a:miter lim="400000"/>
              </a:ln>
            </p:spPr>
          </p:pic>
          <p:pic>
            <p:nvPicPr>
              <p:cNvPr id="20" name="image5.pdf"/>
              <p:cNvPicPr/>
              <p:nvPr/>
            </p:nvPicPr>
            <p:blipFill>
              <a:blip r:embed="rId5" cstate="print">
                <a:extLst/>
              </a:blip>
              <a:stretch>
                <a:fillRect/>
              </a:stretch>
            </p:blipFill>
            <p:spPr>
              <a:xfrm>
                <a:off x="5368925" y="1174812"/>
                <a:ext cx="510103" cy="607951"/>
              </a:xfrm>
              <a:prstGeom prst="rect">
                <a:avLst/>
              </a:prstGeom>
              <a:ln w="12700">
                <a:miter lim="400000"/>
              </a:ln>
            </p:spPr>
          </p:pic>
        </p:grpSp>
      </p:grpSp>
      <p:grpSp>
        <p:nvGrpSpPr>
          <p:cNvPr id="21" name="Group 72"/>
          <p:cNvGrpSpPr/>
          <p:nvPr/>
        </p:nvGrpSpPr>
        <p:grpSpPr>
          <a:xfrm>
            <a:off x="2627786" y="3342560"/>
            <a:ext cx="2857501" cy="1238568"/>
            <a:chOff x="0" y="0"/>
            <a:chExt cx="2857500" cy="1238566"/>
          </a:xfrm>
        </p:grpSpPr>
        <p:pic>
          <p:nvPicPr>
            <p:cNvPr id="22" name="image6.pdf"/>
            <p:cNvPicPr/>
            <p:nvPr/>
          </p:nvPicPr>
          <p:blipFill>
            <a:blip r:embed="rId6" cstate="print">
              <a:extLst/>
            </a:blip>
            <a:srcRect l="61223"/>
            <a:stretch>
              <a:fillRect/>
            </a:stretch>
          </p:blipFill>
          <p:spPr>
            <a:xfrm>
              <a:off x="969764" y="6667"/>
              <a:ext cx="1694061" cy="1193801"/>
            </a:xfrm>
            <a:prstGeom prst="rect">
              <a:avLst/>
            </a:prstGeom>
            <a:ln w="12700" cap="flat">
              <a:noFill/>
              <a:miter lim="400000"/>
            </a:ln>
            <a:effectLst/>
          </p:spPr>
        </p:pic>
        <p:sp>
          <p:nvSpPr>
            <p:cNvPr id="23" name="Shape 70"/>
            <p:cNvSpPr/>
            <p:nvPr/>
          </p:nvSpPr>
          <p:spPr>
            <a:xfrm>
              <a:off x="0" y="33653"/>
              <a:ext cx="2857500" cy="1204914"/>
            </a:xfrm>
            <a:prstGeom prst="rect">
              <a:avLst/>
            </a:prstGeom>
            <a:noFill/>
            <a:ln w="38100" cap="flat">
              <a:solidFill>
                <a:srgbClr val="FF0000"/>
              </a:solidFill>
              <a:prstDash val="solid"/>
              <a:miter lim="800000"/>
            </a:ln>
            <a:effectLst/>
          </p:spPr>
          <p:txBody>
            <a:bodyPr wrap="square" lIns="0" tIns="0" rIns="0" bIns="0" numCol="1" anchor="t">
              <a:noAutofit/>
            </a:bodyPr>
            <a:lstStyle/>
            <a:p>
              <a:pPr defTabSz="914111">
                <a:lnSpc>
                  <a:spcPct val="100000"/>
                </a:lnSpc>
                <a:spcBef>
                  <a:spcPts val="0"/>
                </a:spcBef>
              </a:pPr>
              <a:endParaRPr/>
            </a:p>
          </p:txBody>
        </p:sp>
        <p:pic>
          <p:nvPicPr>
            <p:cNvPr id="24" name="image6.pdf"/>
            <p:cNvPicPr/>
            <p:nvPr/>
          </p:nvPicPr>
          <p:blipFill>
            <a:blip r:embed="rId6" cstate="print">
              <a:extLst/>
            </a:blip>
            <a:srcRect r="81028"/>
            <a:stretch>
              <a:fillRect/>
            </a:stretch>
          </p:blipFill>
          <p:spPr>
            <a:xfrm>
              <a:off x="117475" y="0"/>
              <a:ext cx="828824" cy="1193800"/>
            </a:xfrm>
            <a:prstGeom prst="rect">
              <a:avLst/>
            </a:prstGeom>
            <a:ln w="12700" cap="flat">
              <a:noFill/>
              <a:miter lim="400000"/>
            </a:ln>
            <a:effectLst/>
          </p:spPr>
        </p:pic>
      </p:grpSp>
      <p:grpSp>
        <p:nvGrpSpPr>
          <p:cNvPr id="29" name="组合 28"/>
          <p:cNvGrpSpPr/>
          <p:nvPr/>
        </p:nvGrpSpPr>
        <p:grpSpPr>
          <a:xfrm>
            <a:off x="1036044" y="5157195"/>
            <a:ext cx="5552183" cy="1367582"/>
            <a:chOff x="1036041" y="5157192"/>
            <a:chExt cx="5552183" cy="1367582"/>
          </a:xfrm>
        </p:grpSpPr>
        <p:sp>
          <p:nvSpPr>
            <p:cNvPr id="25" name="Shape 61"/>
            <p:cNvSpPr/>
            <p:nvPr/>
          </p:nvSpPr>
          <p:spPr>
            <a:xfrm>
              <a:off x="1036041" y="5229200"/>
              <a:ext cx="5264151" cy="1259319"/>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defTabSz="761758">
                <a:spcBef>
                  <a:spcPts val="1897"/>
                </a:spcBef>
                <a:defRPr sz="1800"/>
              </a:pPr>
              <a:r>
                <a:rPr sz="2500" dirty="0" err="1">
                  <a:latin typeface="SimHei"/>
                  <a:ea typeface="SimHei"/>
                  <a:cs typeface="SimHei"/>
                  <a:sym typeface="SimHei"/>
                </a:rPr>
                <a:t>若两电荷同号</a:t>
              </a:r>
              <a:r>
                <a:rPr sz="2500" dirty="0">
                  <a:latin typeface="SimHei"/>
                  <a:ea typeface="SimHei"/>
                  <a:cs typeface="SimHei"/>
                  <a:sym typeface="SimHei"/>
                </a:rPr>
                <a:t>  </a:t>
              </a:r>
              <a:r>
                <a:rPr lang="en-US" sz="2500" dirty="0">
                  <a:latin typeface="SimHei"/>
                  <a:ea typeface="SimHei"/>
                  <a:cs typeface="SimHei"/>
                  <a:sym typeface="SimHei"/>
                </a:rPr>
                <a:t> </a:t>
              </a:r>
              <a:r>
                <a:rPr sz="2500" dirty="0" err="1">
                  <a:solidFill>
                    <a:srgbClr val="FF0000"/>
                  </a:solidFill>
                  <a:latin typeface="SimHei"/>
                  <a:ea typeface="SimHei"/>
                  <a:cs typeface="SimHei"/>
                  <a:sym typeface="SimHei"/>
                </a:rPr>
                <a:t>斥力</a:t>
              </a:r>
              <a:endParaRPr sz="2500" dirty="0"/>
            </a:p>
            <a:p>
              <a:pPr defTabSz="761758">
                <a:spcBef>
                  <a:spcPts val="1897"/>
                </a:spcBef>
                <a:defRPr sz="1800"/>
              </a:pPr>
              <a:r>
                <a:rPr sz="2500" dirty="0" err="1">
                  <a:latin typeface="SimHei"/>
                  <a:ea typeface="SimHei"/>
                  <a:cs typeface="SimHei"/>
                  <a:sym typeface="SimHei"/>
                </a:rPr>
                <a:t>若两电荷异号</a:t>
              </a:r>
              <a:r>
                <a:rPr sz="2500" dirty="0">
                  <a:solidFill>
                    <a:srgbClr val="FF0000"/>
                  </a:solidFill>
                  <a:latin typeface="SimHei"/>
                  <a:ea typeface="SimHei"/>
                  <a:cs typeface="SimHei"/>
                  <a:sym typeface="SimHei"/>
                </a:rPr>
                <a:t>   </a:t>
              </a:r>
              <a:r>
                <a:rPr sz="2500" dirty="0" err="1">
                  <a:solidFill>
                    <a:srgbClr val="FF0000"/>
                  </a:solidFill>
                  <a:latin typeface="SimHei"/>
                  <a:ea typeface="SimHei"/>
                  <a:cs typeface="SimHei"/>
                  <a:sym typeface="SimHei"/>
                </a:rPr>
                <a:t>吸引力</a:t>
              </a:r>
              <a:endParaRPr sz="2500" dirty="0">
                <a:solidFill>
                  <a:srgbClr val="FF0000"/>
                </a:solidFill>
                <a:latin typeface="SimHei"/>
                <a:ea typeface="SimHei"/>
                <a:cs typeface="SimHei"/>
                <a:sym typeface="SimHei"/>
              </a:endParaRPr>
            </a:p>
          </p:txBody>
        </p:sp>
        <p:sp>
          <p:nvSpPr>
            <p:cNvPr id="26" name="Shape 62"/>
            <p:cNvSpPr/>
            <p:nvPr/>
          </p:nvSpPr>
          <p:spPr>
            <a:xfrm>
              <a:off x="5369023" y="5229200"/>
              <a:ext cx="1219201" cy="555026"/>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lvl1pPr>
                <a:spcBef>
                  <a:spcPts val="1900"/>
                </a:spcBef>
                <a:defRPr sz="3200" b="1">
                  <a:latin typeface="楷体_GB2312"/>
                  <a:ea typeface="楷体_GB2312"/>
                  <a:cs typeface="楷体_GB2312"/>
                  <a:sym typeface="楷体_GB2312"/>
                </a:defRPr>
              </a:lvl1pPr>
            </a:lstStyle>
            <a:p>
              <a:pPr lvl="0">
                <a:defRPr sz="1800" b="0"/>
              </a:pPr>
              <a:r>
                <a:rPr sz="2500" b="0" dirty="0" err="1"/>
                <a:t>方向</a:t>
              </a:r>
              <a:endParaRPr sz="2500" b="0" dirty="0"/>
            </a:p>
          </p:txBody>
        </p:sp>
        <p:sp>
          <p:nvSpPr>
            <p:cNvPr id="27" name="Shape 63"/>
            <p:cNvSpPr/>
            <p:nvPr/>
          </p:nvSpPr>
          <p:spPr>
            <a:xfrm>
              <a:off x="5081734" y="5877272"/>
              <a:ext cx="1295401" cy="555026"/>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lvl1pPr algn="ctr">
                <a:spcBef>
                  <a:spcPts val="1900"/>
                </a:spcBef>
                <a:defRPr sz="3200" b="1">
                  <a:latin typeface="楷体_GB2312"/>
                  <a:ea typeface="楷体_GB2312"/>
                  <a:cs typeface="楷体_GB2312"/>
                  <a:sym typeface="楷体_GB2312"/>
                </a:defRPr>
              </a:lvl1pPr>
            </a:lstStyle>
            <a:p>
              <a:pPr lvl="0">
                <a:defRPr sz="1800" b="0"/>
              </a:pPr>
              <a:r>
                <a:rPr sz="2500" b="0" dirty="0" err="1"/>
                <a:t>方向</a:t>
              </a:r>
              <a:endParaRPr sz="2500" b="0" dirty="0"/>
            </a:p>
          </p:txBody>
        </p:sp>
        <p:pic>
          <p:nvPicPr>
            <p:cNvPr id="28" name="image3.pdf"/>
            <p:cNvPicPr/>
            <p:nvPr/>
          </p:nvPicPr>
          <p:blipFill>
            <a:blip r:embed="rId7" cstate="print">
              <a:extLst/>
            </a:blip>
            <a:stretch>
              <a:fillRect/>
            </a:stretch>
          </p:blipFill>
          <p:spPr>
            <a:xfrm>
              <a:off x="4720951" y="5157192"/>
              <a:ext cx="648072" cy="1367582"/>
            </a:xfrm>
            <a:prstGeom prst="rect">
              <a:avLst/>
            </a:prstGeom>
            <a:ln w="12700">
              <a:miter lim="400000"/>
            </a:ln>
          </p:spPr>
        </p:pic>
      </p:grpSp>
      <p:sp>
        <p:nvSpPr>
          <p:cNvPr id="2" name="TextBox 1"/>
          <p:cNvSpPr txBox="1"/>
          <p:nvPr/>
        </p:nvSpPr>
        <p:spPr>
          <a:xfrm>
            <a:off x="6522138" y="3265950"/>
            <a:ext cx="2520277" cy="19389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5000"/>
              </a:lnSpc>
              <a:spcBef>
                <a:spcPts val="0"/>
              </a:spcBef>
              <a:spcAft>
                <a:spcPts val="0"/>
              </a:spcAft>
              <a:buClrTx/>
              <a:buSzTx/>
              <a:buFontTx/>
              <a:buNone/>
              <a:tabLst/>
            </a:pPr>
            <a:r>
              <a:rPr kumimoji="0" lang="zh-CN" altLang="en-US" b="1" i="0" u="none" strike="noStrike" cap="none" spc="0" normalizeH="0" baseline="0" dirty="0" smtClean="0">
                <a:ln>
                  <a:noFill/>
                </a:ln>
                <a:solidFill>
                  <a:srgbClr val="000000"/>
                </a:solidFill>
                <a:effectLst/>
                <a:uFillTx/>
                <a:sym typeface="Times New Roman"/>
              </a:rPr>
              <a:t>成立条件：</a:t>
            </a:r>
            <a:endParaRPr kumimoji="0" lang="en-US" altLang="zh-CN" b="1" i="0" u="none" strike="noStrike" cap="none" spc="0" normalizeH="0" baseline="0" dirty="0" smtClean="0">
              <a:ln>
                <a:noFill/>
              </a:ln>
              <a:solidFill>
                <a:srgbClr val="000000"/>
              </a:solidFill>
              <a:effectLst/>
              <a:uFillTx/>
              <a:sym typeface="Times New Roman"/>
            </a:endParaRPr>
          </a:p>
          <a:p>
            <a:pPr marL="342900" marR="0" indent="-342900" algn="l" defTabSz="1028700" rtl="0" fontAlgn="auto" latinLnBrk="1" hangingPunct="0">
              <a:lnSpc>
                <a:spcPct val="125000"/>
              </a:lnSpc>
              <a:spcBef>
                <a:spcPts val="0"/>
              </a:spcBef>
              <a:spcAft>
                <a:spcPts val="0"/>
              </a:spcAft>
              <a:buClrTx/>
              <a:buSzTx/>
              <a:buFont typeface="+mj-lt"/>
              <a:buAutoNum type="arabicPeriod"/>
              <a:tabLst/>
            </a:pPr>
            <a:r>
              <a:rPr kumimoji="0" lang="zh-CN" altLang="en-US" b="1" i="0" u="none" strike="noStrike" cap="none" spc="0" normalizeH="0" baseline="0" dirty="0" smtClean="0">
                <a:ln>
                  <a:noFill/>
                </a:ln>
                <a:solidFill>
                  <a:srgbClr val="000000"/>
                </a:solidFill>
                <a:effectLst/>
                <a:uFillTx/>
                <a:sym typeface="Times New Roman"/>
              </a:rPr>
              <a:t>真空</a:t>
            </a:r>
            <a:endParaRPr kumimoji="0" lang="en-US" altLang="zh-CN" b="1" i="0" u="none" strike="noStrike" cap="none" spc="0" normalizeH="0" baseline="0" dirty="0" smtClean="0">
              <a:ln>
                <a:noFill/>
              </a:ln>
              <a:solidFill>
                <a:srgbClr val="000000"/>
              </a:solidFill>
              <a:effectLst/>
              <a:uFillTx/>
              <a:sym typeface="Times New Roman"/>
            </a:endParaRPr>
          </a:p>
          <a:p>
            <a:pPr marL="342900" marR="0" indent="-342900" algn="l" defTabSz="1028700" rtl="0" fontAlgn="auto" latinLnBrk="1" hangingPunct="0">
              <a:lnSpc>
                <a:spcPct val="125000"/>
              </a:lnSpc>
              <a:spcBef>
                <a:spcPts val="0"/>
              </a:spcBef>
              <a:spcAft>
                <a:spcPts val="0"/>
              </a:spcAft>
              <a:buClrTx/>
              <a:buSzTx/>
              <a:buFont typeface="+mj-lt"/>
              <a:buAutoNum type="arabicPeriod"/>
              <a:tabLst/>
            </a:pPr>
            <a:r>
              <a:rPr lang="zh-CN" altLang="en-US" b="1" dirty="0" smtClean="0">
                <a:solidFill>
                  <a:srgbClr val="000000"/>
                </a:solidFill>
              </a:rPr>
              <a:t>静止</a:t>
            </a:r>
            <a:endParaRPr lang="en-US" altLang="zh-CN" b="1" dirty="0" smtClean="0">
              <a:solidFill>
                <a:srgbClr val="000000"/>
              </a:solidFill>
            </a:endParaRPr>
          </a:p>
          <a:p>
            <a:pPr marL="342900" marR="0" indent="-342900" algn="l" defTabSz="1028700" rtl="0" fontAlgn="auto" latinLnBrk="1" hangingPunct="0">
              <a:lnSpc>
                <a:spcPct val="125000"/>
              </a:lnSpc>
              <a:spcBef>
                <a:spcPts val="0"/>
              </a:spcBef>
              <a:spcAft>
                <a:spcPts val="0"/>
              </a:spcAft>
              <a:buClrTx/>
              <a:buSzTx/>
              <a:buFont typeface="+mj-lt"/>
              <a:buAutoNum type="arabicPeriod"/>
              <a:tabLst/>
            </a:pPr>
            <a:r>
              <a:rPr kumimoji="0" lang="zh-CN" altLang="en-US" b="1" i="0" u="none" strike="noStrike" cap="none" spc="0" normalizeH="0" baseline="0" dirty="0" smtClean="0">
                <a:ln>
                  <a:noFill/>
                </a:ln>
                <a:solidFill>
                  <a:srgbClr val="000000"/>
                </a:solidFill>
                <a:effectLst/>
                <a:uFillTx/>
                <a:sym typeface="Times New Roman"/>
              </a:rPr>
              <a:t>点电荷</a:t>
            </a:r>
            <a:endParaRPr kumimoji="0" lang="zh-CN" altLang="en-US" b="1" i="0" u="none" strike="noStrike" cap="none" spc="0" normalizeH="0" baseline="0" dirty="0">
              <a:ln>
                <a:noFill/>
              </a:ln>
              <a:solidFill>
                <a:srgbClr val="000000"/>
              </a:solidFill>
              <a:effectLst/>
              <a:uFillTx/>
              <a:sym typeface="Times New Roman"/>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hape 74"/>
          <p:cNvSpPr/>
          <p:nvPr/>
        </p:nvSpPr>
        <p:spPr>
          <a:xfrm>
            <a:off x="533401" y="1495503"/>
            <a:ext cx="8077200" cy="610305"/>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defTabSz="761758">
              <a:defRPr sz="1800"/>
            </a:pPr>
            <a:r>
              <a:rPr sz="2800" dirty="0" err="1">
                <a:solidFill>
                  <a:schemeClr val="bg2">
                    <a:lumMod val="50000"/>
                  </a:schemeClr>
                </a:solidFill>
                <a:latin typeface="楷体_GB2312"/>
                <a:ea typeface="楷体_GB2312"/>
                <a:cs typeface="楷体_GB2312"/>
                <a:sym typeface="楷体_GB2312"/>
              </a:rPr>
              <a:t>式中</a:t>
            </a:r>
            <a:r>
              <a:rPr sz="2800" i="1" dirty="0" err="1">
                <a:solidFill>
                  <a:schemeClr val="bg2">
                    <a:lumMod val="50000"/>
                  </a:schemeClr>
                </a:solidFill>
              </a:rPr>
              <a:t>k</a:t>
            </a:r>
            <a:r>
              <a:rPr sz="2800" dirty="0" err="1">
                <a:solidFill>
                  <a:schemeClr val="bg2">
                    <a:lumMod val="50000"/>
                  </a:schemeClr>
                </a:solidFill>
                <a:latin typeface="楷体_GB2312"/>
                <a:ea typeface="楷体_GB2312"/>
                <a:cs typeface="楷体_GB2312"/>
                <a:sym typeface="楷体_GB2312"/>
              </a:rPr>
              <a:t>是</a:t>
            </a:r>
            <a:r>
              <a:rPr lang="zh-CN" altLang="en-US" sz="2800" dirty="0">
                <a:solidFill>
                  <a:schemeClr val="bg2">
                    <a:lumMod val="50000"/>
                  </a:schemeClr>
                </a:solidFill>
                <a:latin typeface="楷体_GB2312"/>
                <a:ea typeface="楷体_GB2312"/>
                <a:cs typeface="楷体_GB2312"/>
                <a:sym typeface="楷体_GB2312"/>
              </a:rPr>
              <a:t>库仑</a:t>
            </a:r>
            <a:r>
              <a:rPr sz="2800" dirty="0">
                <a:solidFill>
                  <a:schemeClr val="bg2">
                    <a:lumMod val="50000"/>
                  </a:schemeClr>
                </a:solidFill>
                <a:latin typeface="楷体_GB2312"/>
                <a:ea typeface="楷体_GB2312"/>
                <a:cs typeface="楷体_GB2312"/>
                <a:sym typeface="楷体_GB2312"/>
              </a:rPr>
              <a:t>常数，</a:t>
            </a:r>
            <a:r>
              <a:rPr sz="2800" i="1" dirty="0">
                <a:solidFill>
                  <a:srgbClr val="FF0000"/>
                </a:solidFill>
              </a:rPr>
              <a:t>k</a:t>
            </a:r>
            <a:r>
              <a:rPr sz="2800" dirty="0">
                <a:solidFill>
                  <a:srgbClr val="FF0000"/>
                </a:solidFill>
                <a:latin typeface="楷体_GB2312"/>
                <a:ea typeface="楷体_GB2312"/>
                <a:cs typeface="楷体_GB2312"/>
                <a:sym typeface="楷体_GB2312"/>
              </a:rPr>
              <a:t>＝</a:t>
            </a:r>
            <a:r>
              <a:rPr sz="2800" dirty="0" smtClean="0">
                <a:solidFill>
                  <a:srgbClr val="FF0000"/>
                </a:solidFill>
              </a:rPr>
              <a:t>8.9</a:t>
            </a:r>
            <a:r>
              <a:rPr lang="en-US" sz="2800" dirty="0" smtClean="0">
                <a:solidFill>
                  <a:srgbClr val="FF0000"/>
                </a:solidFill>
              </a:rPr>
              <a:t>9</a:t>
            </a:r>
            <a:r>
              <a:rPr sz="2800" dirty="0" smtClean="0">
                <a:solidFill>
                  <a:srgbClr val="FF0000"/>
                </a:solidFill>
              </a:rPr>
              <a:t>×10</a:t>
            </a:r>
            <a:r>
              <a:rPr sz="2800" baseline="30000" dirty="0" smtClean="0">
                <a:solidFill>
                  <a:srgbClr val="FF0000"/>
                </a:solidFill>
              </a:rPr>
              <a:t>9</a:t>
            </a:r>
            <a:r>
              <a:rPr sz="2800" dirty="0" smtClean="0">
                <a:solidFill>
                  <a:srgbClr val="FF0000"/>
                </a:solidFill>
              </a:rPr>
              <a:t> </a:t>
            </a:r>
            <a:r>
              <a:rPr sz="2800" dirty="0"/>
              <a:t>N·m</a:t>
            </a:r>
            <a:r>
              <a:rPr sz="2800" baseline="30000" dirty="0"/>
              <a:t>2</a:t>
            </a:r>
            <a:r>
              <a:rPr sz="2800" dirty="0"/>
              <a:t>·C</a:t>
            </a:r>
            <a:r>
              <a:rPr sz="2800" baseline="30000" dirty="0"/>
              <a:t>-2</a:t>
            </a:r>
            <a:endParaRPr dirty="0"/>
          </a:p>
        </p:txBody>
      </p:sp>
      <p:grpSp>
        <p:nvGrpSpPr>
          <p:cNvPr id="3" name="组合 2"/>
          <p:cNvGrpSpPr/>
          <p:nvPr/>
        </p:nvGrpSpPr>
        <p:grpSpPr>
          <a:xfrm>
            <a:off x="250827" y="2204866"/>
            <a:ext cx="8424865" cy="2924371"/>
            <a:chOff x="250824" y="1799828"/>
            <a:chExt cx="8424865" cy="2924370"/>
          </a:xfrm>
        </p:grpSpPr>
        <p:sp>
          <p:nvSpPr>
            <p:cNvPr id="75" name="Shape 75"/>
            <p:cNvSpPr/>
            <p:nvPr/>
          </p:nvSpPr>
          <p:spPr>
            <a:xfrm>
              <a:off x="609600" y="3429000"/>
              <a:ext cx="6400800" cy="684532"/>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a:spcBef>
                  <a:spcPts val="1897"/>
                </a:spcBef>
                <a:defRPr sz="1800"/>
              </a:pPr>
              <a:r>
                <a:rPr sz="3200" dirty="0" err="1">
                  <a:latin typeface="楷体_GB2312"/>
                  <a:ea typeface="楷体_GB2312"/>
                  <a:cs typeface="楷体_GB2312"/>
                  <a:sym typeface="楷体_GB2312"/>
                </a:rPr>
                <a:t>其中</a:t>
              </a:r>
              <a:r>
                <a:rPr sz="3200" dirty="0">
                  <a:latin typeface="楷体_GB2312"/>
                  <a:ea typeface="楷体_GB2312"/>
                  <a:cs typeface="楷体_GB2312"/>
                  <a:sym typeface="楷体_GB2312"/>
                </a:rPr>
                <a:t> </a:t>
              </a:r>
              <a:r>
                <a:rPr sz="3200" dirty="0">
                  <a:solidFill>
                    <a:srgbClr val="FF0000"/>
                  </a:solidFill>
                </a:rPr>
                <a:t>    </a:t>
              </a:r>
              <a:r>
                <a:rPr sz="3200" dirty="0"/>
                <a:t> </a:t>
              </a:r>
              <a:r>
                <a:rPr lang="en-US" altLang="zh-CN" sz="3200" dirty="0"/>
                <a:t>=</a:t>
              </a:r>
              <a:r>
                <a:rPr sz="3200" dirty="0">
                  <a:solidFill>
                    <a:srgbClr val="FF0000"/>
                  </a:solidFill>
                </a:rPr>
                <a:t>8.85×10</a:t>
              </a:r>
              <a:r>
                <a:rPr sz="3200" baseline="30000" dirty="0">
                  <a:solidFill>
                    <a:srgbClr val="FF0000"/>
                  </a:solidFill>
                  <a:latin typeface="宋体"/>
                  <a:ea typeface="宋体"/>
                  <a:cs typeface="宋体"/>
                  <a:sym typeface="宋体"/>
                </a:rPr>
                <a:t>－</a:t>
              </a:r>
              <a:r>
                <a:rPr sz="3200" baseline="30000" dirty="0">
                  <a:solidFill>
                    <a:srgbClr val="FF0000"/>
                  </a:solidFill>
                </a:rPr>
                <a:t>12</a:t>
              </a:r>
              <a:r>
                <a:rPr sz="3200" dirty="0">
                  <a:solidFill>
                    <a:srgbClr val="FF0000"/>
                  </a:solidFill>
                </a:rPr>
                <a:t> </a:t>
              </a:r>
              <a:r>
                <a:rPr sz="3200" dirty="0" smtClean="0"/>
                <a:t>N</a:t>
              </a:r>
              <a:r>
                <a:rPr sz="3200" baseline="30000" dirty="0">
                  <a:latin typeface="楷体_GB2312"/>
                  <a:ea typeface="楷体_GB2312"/>
                  <a:cs typeface="楷体_GB2312"/>
                  <a:sym typeface="楷体_GB2312"/>
                </a:rPr>
                <a:t>－</a:t>
              </a:r>
              <a:r>
                <a:rPr sz="3200" baseline="30000" dirty="0" smtClean="0"/>
                <a:t>1</a:t>
              </a:r>
              <a:r>
                <a:rPr sz="3200" dirty="0" smtClean="0"/>
                <a:t>·m</a:t>
              </a:r>
              <a:r>
                <a:rPr sz="3200" baseline="30000" dirty="0" smtClean="0">
                  <a:latin typeface="宋体"/>
                  <a:ea typeface="宋体"/>
                  <a:cs typeface="宋体"/>
                  <a:sym typeface="宋体"/>
                </a:rPr>
                <a:t>－</a:t>
              </a:r>
              <a:r>
                <a:rPr sz="3200" baseline="30000" dirty="0" smtClean="0"/>
                <a:t>2</a:t>
              </a:r>
              <a:r>
                <a:rPr sz="3200" dirty="0" smtClean="0"/>
                <a:t>·C</a:t>
              </a:r>
              <a:r>
                <a:rPr sz="3200" baseline="30000" dirty="0" smtClean="0"/>
                <a:t>2</a:t>
              </a:r>
              <a:endParaRPr sz="3200" baseline="30000" dirty="0"/>
            </a:p>
          </p:txBody>
        </p:sp>
        <p:grpSp>
          <p:nvGrpSpPr>
            <p:cNvPr id="78" name="Group 78"/>
            <p:cNvGrpSpPr/>
            <p:nvPr/>
          </p:nvGrpSpPr>
          <p:grpSpPr>
            <a:xfrm>
              <a:off x="762000" y="1799828"/>
              <a:ext cx="7010400" cy="1728192"/>
              <a:chOff x="0" y="199629"/>
              <a:chExt cx="7010400" cy="1728191"/>
            </a:xfrm>
          </p:grpSpPr>
          <p:sp>
            <p:nvSpPr>
              <p:cNvPr id="76" name="Shape 76"/>
              <p:cNvSpPr/>
              <p:nvPr/>
            </p:nvSpPr>
            <p:spPr>
              <a:xfrm>
                <a:off x="0" y="199629"/>
                <a:ext cx="7010400" cy="68326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p>
                <a:pPr>
                  <a:spcBef>
                    <a:spcPts val="1897"/>
                  </a:spcBef>
                  <a:defRPr sz="1800"/>
                </a:pPr>
                <a:r>
                  <a:rPr sz="2800" dirty="0" err="1">
                    <a:latin typeface="楷体_GB2312"/>
                    <a:ea typeface="楷体_GB2312"/>
                    <a:cs typeface="楷体_GB2312"/>
                    <a:sym typeface="楷体_GB2312"/>
                  </a:rPr>
                  <a:t>为了以后常用的公式更简单，我们把</a:t>
                </a:r>
                <a:r>
                  <a:rPr lang="en-US" sz="2800" dirty="0">
                    <a:latin typeface="楷体_GB2312"/>
                    <a:ea typeface="楷体_GB2312"/>
                    <a:cs typeface="楷体_GB2312"/>
                    <a:sym typeface="楷体_GB2312"/>
                  </a:rPr>
                  <a:t> </a:t>
                </a:r>
                <a:r>
                  <a:rPr sz="2800" i="1" dirty="0"/>
                  <a:t>k</a:t>
                </a:r>
                <a:r>
                  <a:rPr lang="en-US" sz="2800" i="1" dirty="0"/>
                  <a:t> </a:t>
                </a:r>
                <a:r>
                  <a:rPr sz="2800" dirty="0" err="1">
                    <a:latin typeface="楷体_GB2312"/>
                    <a:ea typeface="楷体_GB2312"/>
                    <a:cs typeface="楷体_GB2312"/>
                    <a:sym typeface="楷体_GB2312"/>
                  </a:rPr>
                  <a:t>写成</a:t>
                </a:r>
                <a:r>
                  <a:rPr sz="3200" dirty="0"/>
                  <a:t>        </a:t>
                </a:r>
              </a:p>
            </p:txBody>
          </p:sp>
          <p:pic>
            <p:nvPicPr>
              <p:cNvPr id="77" name="image8.pdf"/>
              <p:cNvPicPr/>
              <p:nvPr/>
            </p:nvPicPr>
            <p:blipFill>
              <a:blip r:embed="rId2" cstate="print">
                <a:extLst/>
              </a:blip>
              <a:stretch>
                <a:fillRect/>
              </a:stretch>
            </p:blipFill>
            <p:spPr>
              <a:xfrm>
                <a:off x="2954833" y="683220"/>
                <a:ext cx="1719263" cy="1244600"/>
              </a:xfrm>
              <a:prstGeom prst="rect">
                <a:avLst/>
              </a:prstGeom>
              <a:ln w="12700" cap="flat">
                <a:noFill/>
                <a:miter lim="400000"/>
              </a:ln>
              <a:effectLst/>
            </p:spPr>
          </p:pic>
        </p:grpSp>
        <p:sp>
          <p:nvSpPr>
            <p:cNvPr id="79" name="Shape 79"/>
            <p:cNvSpPr/>
            <p:nvPr/>
          </p:nvSpPr>
          <p:spPr>
            <a:xfrm>
              <a:off x="250824" y="4114800"/>
              <a:ext cx="8424865" cy="609398"/>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lvl="0">
                <a:defRPr sz="1800"/>
              </a:pPr>
              <a:r>
                <a:rPr sz="2800" b="1" dirty="0"/>
                <a:t>    </a:t>
              </a:r>
              <a:r>
                <a:rPr sz="2800" dirty="0" err="1">
                  <a:latin typeface="楷体_GB2312"/>
                  <a:ea typeface="楷体_GB2312"/>
                  <a:cs typeface="楷体_GB2312"/>
                  <a:sym typeface="楷体_GB2312"/>
                </a:rPr>
                <a:t>称为</a:t>
              </a:r>
              <a:r>
                <a:rPr sz="2800" dirty="0" err="1">
                  <a:solidFill>
                    <a:srgbClr val="0000FF"/>
                  </a:solidFill>
                  <a:latin typeface="楷体_GB2312"/>
                  <a:ea typeface="楷体_GB2312"/>
                  <a:cs typeface="楷体_GB2312"/>
                  <a:sym typeface="楷体_GB2312"/>
                </a:rPr>
                <a:t>真空介电常数</a:t>
              </a:r>
              <a:r>
                <a:rPr sz="2800" dirty="0">
                  <a:solidFill>
                    <a:schemeClr val="bg2">
                      <a:lumMod val="50000"/>
                    </a:schemeClr>
                  </a:solidFill>
                </a:rPr>
                <a:t>(dielectric constant of vacuum</a:t>
              </a:r>
              <a:r>
                <a:rPr sz="2800" dirty="0">
                  <a:solidFill>
                    <a:srgbClr val="FF0000"/>
                  </a:solidFill>
                </a:rPr>
                <a:t>)</a:t>
              </a:r>
            </a:p>
          </p:txBody>
        </p:sp>
        <p:pic>
          <p:nvPicPr>
            <p:cNvPr id="81" name="image9.pdf"/>
            <p:cNvPicPr/>
            <p:nvPr/>
          </p:nvPicPr>
          <p:blipFill>
            <a:blip r:embed="rId3" cstate="print">
              <a:extLst/>
            </a:blip>
            <a:stretch>
              <a:fillRect/>
            </a:stretch>
          </p:blipFill>
          <p:spPr>
            <a:xfrm>
              <a:off x="1619250" y="3376612"/>
              <a:ext cx="493713" cy="684213"/>
            </a:xfrm>
            <a:prstGeom prst="rect">
              <a:avLst/>
            </a:prstGeom>
            <a:ln w="12700">
              <a:miter lim="400000"/>
            </a:ln>
          </p:spPr>
        </p:pic>
      </p:grpSp>
      <p:grpSp>
        <p:nvGrpSpPr>
          <p:cNvPr id="4" name="组合 3"/>
          <p:cNvGrpSpPr/>
          <p:nvPr/>
        </p:nvGrpSpPr>
        <p:grpSpPr>
          <a:xfrm>
            <a:off x="250825" y="5418983"/>
            <a:ext cx="7243764" cy="1322388"/>
            <a:chOff x="250825" y="5105400"/>
            <a:chExt cx="7243764" cy="1322388"/>
          </a:xfrm>
        </p:grpSpPr>
        <p:sp>
          <p:nvSpPr>
            <p:cNvPr id="80" name="Shape 80"/>
            <p:cNvSpPr/>
            <p:nvPr/>
          </p:nvSpPr>
          <p:spPr>
            <a:xfrm>
              <a:off x="250825" y="5105400"/>
              <a:ext cx="4381500" cy="610529"/>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lvl="0" algn="ctr">
                <a:defRPr sz="1800"/>
              </a:pPr>
              <a:r>
                <a:rPr sz="2800" dirty="0" err="1">
                  <a:latin typeface="楷体_GB2312"/>
                  <a:ea typeface="楷体_GB2312"/>
                  <a:cs typeface="楷体_GB2312"/>
                  <a:sym typeface="楷体_GB2312"/>
                </a:rPr>
                <a:t>这样库仑定律可写为</a:t>
              </a:r>
              <a:r>
                <a:rPr sz="2800" dirty="0">
                  <a:latin typeface="宋体"/>
                  <a:ea typeface="宋体"/>
                  <a:cs typeface="宋体"/>
                  <a:sym typeface="宋体"/>
                </a:rPr>
                <a:t>：</a:t>
              </a:r>
            </a:p>
          </p:txBody>
        </p:sp>
        <p:pic>
          <p:nvPicPr>
            <p:cNvPr id="82" name="image10.pdf"/>
            <p:cNvPicPr/>
            <p:nvPr/>
          </p:nvPicPr>
          <p:blipFill>
            <a:blip r:embed="rId4" cstate="print">
              <a:extLst/>
            </a:blip>
            <a:stretch>
              <a:fillRect/>
            </a:stretch>
          </p:blipFill>
          <p:spPr>
            <a:xfrm>
              <a:off x="4729162" y="5118100"/>
              <a:ext cx="2668589" cy="1309688"/>
            </a:xfrm>
            <a:prstGeom prst="rect">
              <a:avLst/>
            </a:prstGeom>
            <a:ln w="12700">
              <a:miter lim="400000"/>
            </a:ln>
          </p:spPr>
        </p:pic>
        <p:sp>
          <p:nvSpPr>
            <p:cNvPr id="83" name="Shape 83"/>
            <p:cNvSpPr/>
            <p:nvPr/>
          </p:nvSpPr>
          <p:spPr>
            <a:xfrm>
              <a:off x="4572000" y="5181600"/>
              <a:ext cx="2922589" cy="1182688"/>
            </a:xfrm>
            <a:prstGeom prst="rect">
              <a:avLst/>
            </a:prstGeom>
            <a:ln w="38100">
              <a:solidFill>
                <a:srgbClr val="FF0000"/>
              </a:solidFill>
              <a:miter/>
            </a:ln>
          </p:spPr>
          <p:txBody>
            <a:bodyPr lIns="0" tIns="0" rIns="0" bIns="0"/>
            <a:lstStyle/>
            <a:p>
              <a:pPr defTabSz="914111">
                <a:lnSpc>
                  <a:spcPct val="100000"/>
                </a:lnSpc>
                <a:spcBef>
                  <a:spcPts val="0"/>
                </a:spcBef>
              </a:pPr>
              <a:endParaRPr/>
            </a:p>
          </p:txBody>
        </p:sp>
      </p:grpSp>
      <p:grpSp>
        <p:nvGrpSpPr>
          <p:cNvPr id="14" name="Group 72"/>
          <p:cNvGrpSpPr/>
          <p:nvPr/>
        </p:nvGrpSpPr>
        <p:grpSpPr>
          <a:xfrm>
            <a:off x="2627787" y="174208"/>
            <a:ext cx="2664296" cy="1238568"/>
            <a:chOff x="0" y="0"/>
            <a:chExt cx="2857500" cy="1238566"/>
          </a:xfrm>
        </p:grpSpPr>
        <p:pic>
          <p:nvPicPr>
            <p:cNvPr id="15" name="image6.pdf"/>
            <p:cNvPicPr/>
            <p:nvPr/>
          </p:nvPicPr>
          <p:blipFill>
            <a:blip r:embed="rId5" cstate="print">
              <a:extLst/>
            </a:blip>
            <a:srcRect l="61223"/>
            <a:stretch>
              <a:fillRect/>
            </a:stretch>
          </p:blipFill>
          <p:spPr>
            <a:xfrm>
              <a:off x="969764" y="6667"/>
              <a:ext cx="1694061" cy="1193801"/>
            </a:xfrm>
            <a:prstGeom prst="rect">
              <a:avLst/>
            </a:prstGeom>
            <a:ln w="12700" cap="flat">
              <a:noFill/>
              <a:miter lim="400000"/>
            </a:ln>
            <a:effectLst/>
          </p:spPr>
        </p:pic>
        <p:sp>
          <p:nvSpPr>
            <p:cNvPr id="16" name="Shape 70"/>
            <p:cNvSpPr/>
            <p:nvPr/>
          </p:nvSpPr>
          <p:spPr>
            <a:xfrm>
              <a:off x="0" y="33653"/>
              <a:ext cx="2857500" cy="1204914"/>
            </a:xfrm>
            <a:prstGeom prst="rect">
              <a:avLst/>
            </a:prstGeom>
            <a:noFill/>
            <a:ln w="38100" cap="flat">
              <a:solidFill>
                <a:srgbClr val="FF0000"/>
              </a:solidFill>
              <a:prstDash val="solid"/>
              <a:miter lim="800000"/>
            </a:ln>
            <a:effectLst/>
          </p:spPr>
          <p:txBody>
            <a:bodyPr wrap="square" lIns="0" tIns="0" rIns="0" bIns="0" numCol="1" anchor="t">
              <a:noAutofit/>
            </a:bodyPr>
            <a:lstStyle/>
            <a:p>
              <a:pPr defTabSz="914111">
                <a:lnSpc>
                  <a:spcPct val="100000"/>
                </a:lnSpc>
                <a:spcBef>
                  <a:spcPts val="0"/>
                </a:spcBef>
              </a:pPr>
              <a:endParaRPr/>
            </a:p>
          </p:txBody>
        </p:sp>
        <p:pic>
          <p:nvPicPr>
            <p:cNvPr id="17" name="image6.pdf"/>
            <p:cNvPicPr/>
            <p:nvPr/>
          </p:nvPicPr>
          <p:blipFill>
            <a:blip r:embed="rId5" cstate="print">
              <a:extLst/>
            </a:blip>
            <a:srcRect r="81028"/>
            <a:stretch>
              <a:fillRect/>
            </a:stretch>
          </p:blipFill>
          <p:spPr>
            <a:xfrm>
              <a:off x="117475" y="0"/>
              <a:ext cx="828824" cy="1193800"/>
            </a:xfrm>
            <a:prstGeom prst="rect">
              <a:avLst/>
            </a:prstGeom>
            <a:ln w="12700" cap="flat">
              <a:noFill/>
              <a:miter lim="400000"/>
            </a:ln>
            <a:effectLst/>
          </p:spPr>
        </p:pic>
      </p:gr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p:nvPr/>
        </p:nvSpPr>
        <p:spPr>
          <a:xfrm>
            <a:off x="250825" y="188912"/>
            <a:ext cx="4826000" cy="683264"/>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a:spcBef>
                <a:spcPts val="1897"/>
              </a:spcBef>
              <a:defRPr sz="1800"/>
            </a:pPr>
            <a:r>
              <a:rPr sz="3200" dirty="0">
                <a:solidFill>
                  <a:srgbClr val="0000FF"/>
                </a:solidFill>
                <a:latin typeface="Arial"/>
                <a:ea typeface="Arial"/>
                <a:cs typeface="Arial"/>
                <a:sym typeface="Arial"/>
              </a:rPr>
              <a:t>3.</a:t>
            </a:r>
            <a:r>
              <a:rPr lang="en-US" sz="3200" dirty="0">
                <a:solidFill>
                  <a:srgbClr val="0000FF"/>
                </a:solidFill>
                <a:latin typeface="Arial"/>
                <a:ea typeface="Arial"/>
                <a:cs typeface="Arial"/>
                <a:sym typeface="Arial"/>
              </a:rPr>
              <a:t> </a:t>
            </a:r>
            <a:r>
              <a:rPr sz="3200" dirty="0" err="1">
                <a:solidFill>
                  <a:srgbClr val="0000FF"/>
                </a:solidFill>
                <a:latin typeface="SimHei"/>
                <a:ea typeface="SimHei"/>
                <a:cs typeface="SimHei"/>
                <a:sym typeface="SimHei"/>
              </a:rPr>
              <a:t>静电力的叠加原理</a:t>
            </a:r>
            <a:r>
              <a:rPr sz="3200" dirty="0">
                <a:solidFill>
                  <a:srgbClr val="3333FF"/>
                </a:solidFill>
                <a:latin typeface="SimHei"/>
                <a:ea typeface="SimHei"/>
                <a:cs typeface="SimHei"/>
                <a:sym typeface="SimHei"/>
              </a:rPr>
              <a:t>：</a:t>
            </a:r>
          </a:p>
        </p:txBody>
      </p:sp>
      <p:sp>
        <p:nvSpPr>
          <p:cNvPr id="94" name="Shape 94"/>
          <p:cNvSpPr/>
          <p:nvPr/>
        </p:nvSpPr>
        <p:spPr>
          <a:xfrm>
            <a:off x="250070" y="2636838"/>
            <a:ext cx="1554162" cy="609367"/>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lvl1pPr>
              <a:defRPr u="sng">
                <a:latin typeface="SimHei"/>
                <a:ea typeface="SimHei"/>
                <a:cs typeface="SimHei"/>
                <a:sym typeface="SimHei"/>
              </a:defRPr>
            </a:lvl1pPr>
          </a:lstStyle>
          <a:p>
            <a:pPr lvl="0">
              <a:defRPr sz="1800" u="none"/>
            </a:pPr>
            <a:r>
              <a:rPr sz="2800"/>
              <a:t>离散状态</a:t>
            </a:r>
          </a:p>
        </p:txBody>
      </p:sp>
      <p:pic>
        <p:nvPicPr>
          <p:cNvPr id="95" name="image13.pdf"/>
          <p:cNvPicPr/>
          <p:nvPr/>
        </p:nvPicPr>
        <p:blipFill>
          <a:blip r:embed="rId2" cstate="print">
            <a:extLst/>
          </a:blip>
          <a:stretch>
            <a:fillRect/>
          </a:stretch>
        </p:blipFill>
        <p:spPr>
          <a:xfrm>
            <a:off x="4410078" y="3905253"/>
            <a:ext cx="125413" cy="258764"/>
          </a:xfrm>
          <a:prstGeom prst="rect">
            <a:avLst/>
          </a:prstGeom>
          <a:ln w="12700">
            <a:miter lim="400000"/>
          </a:ln>
        </p:spPr>
      </p:pic>
      <p:pic>
        <p:nvPicPr>
          <p:cNvPr id="96" name="image13.pdf"/>
          <p:cNvPicPr/>
          <p:nvPr/>
        </p:nvPicPr>
        <p:blipFill>
          <a:blip r:embed="rId2" cstate="print">
            <a:extLst/>
          </a:blip>
          <a:stretch>
            <a:fillRect/>
          </a:stretch>
        </p:blipFill>
        <p:spPr>
          <a:xfrm>
            <a:off x="4410078" y="3905253"/>
            <a:ext cx="125413" cy="258764"/>
          </a:xfrm>
          <a:prstGeom prst="rect">
            <a:avLst/>
          </a:prstGeom>
          <a:ln w="12700">
            <a:miter lim="400000"/>
          </a:ln>
        </p:spPr>
      </p:pic>
      <p:pic>
        <p:nvPicPr>
          <p:cNvPr id="97" name="image13.pdf"/>
          <p:cNvPicPr/>
          <p:nvPr/>
        </p:nvPicPr>
        <p:blipFill>
          <a:blip r:embed="rId2" cstate="print">
            <a:extLst/>
          </a:blip>
          <a:stretch>
            <a:fillRect/>
          </a:stretch>
        </p:blipFill>
        <p:spPr>
          <a:xfrm>
            <a:off x="4410078" y="3905253"/>
            <a:ext cx="125413" cy="258764"/>
          </a:xfrm>
          <a:prstGeom prst="rect">
            <a:avLst/>
          </a:prstGeom>
          <a:ln w="12700">
            <a:miter lim="400000"/>
          </a:ln>
        </p:spPr>
      </p:pic>
      <p:pic>
        <p:nvPicPr>
          <p:cNvPr id="98" name="image13.pdf"/>
          <p:cNvPicPr/>
          <p:nvPr/>
        </p:nvPicPr>
        <p:blipFill>
          <a:blip r:embed="rId2" cstate="print">
            <a:extLst/>
          </a:blip>
          <a:stretch>
            <a:fillRect/>
          </a:stretch>
        </p:blipFill>
        <p:spPr>
          <a:xfrm>
            <a:off x="4410078" y="3905253"/>
            <a:ext cx="125413" cy="258764"/>
          </a:xfrm>
          <a:prstGeom prst="rect">
            <a:avLst/>
          </a:prstGeom>
          <a:ln w="12700">
            <a:miter lim="400000"/>
          </a:ln>
        </p:spPr>
      </p:pic>
      <p:pic>
        <p:nvPicPr>
          <p:cNvPr id="99" name="image13.pdf"/>
          <p:cNvPicPr/>
          <p:nvPr/>
        </p:nvPicPr>
        <p:blipFill>
          <a:blip r:embed="rId2" cstate="print">
            <a:extLst/>
          </a:blip>
          <a:stretch>
            <a:fillRect/>
          </a:stretch>
        </p:blipFill>
        <p:spPr>
          <a:xfrm>
            <a:off x="4410078" y="3905253"/>
            <a:ext cx="125413" cy="258764"/>
          </a:xfrm>
          <a:prstGeom prst="rect">
            <a:avLst/>
          </a:prstGeom>
          <a:ln w="12700">
            <a:miter lim="400000"/>
          </a:ln>
        </p:spPr>
      </p:pic>
      <p:sp>
        <p:nvSpPr>
          <p:cNvPr id="101" name="Shape 101"/>
          <p:cNvSpPr/>
          <p:nvPr/>
        </p:nvSpPr>
        <p:spPr>
          <a:xfrm>
            <a:off x="323850" y="920750"/>
            <a:ext cx="8270877" cy="1212640"/>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lvl="0">
              <a:lnSpc>
                <a:spcPct val="130000"/>
              </a:lnSpc>
              <a:defRPr sz="1800"/>
            </a:pPr>
            <a:r>
              <a:rPr sz="2800" dirty="0" err="1">
                <a:latin typeface="SimHei"/>
                <a:ea typeface="SimHei"/>
                <a:cs typeface="SimHei"/>
                <a:sym typeface="SimHei"/>
              </a:rPr>
              <a:t>作用于某电荷上的总静电力等于其他点电荷</a:t>
            </a:r>
            <a:r>
              <a:rPr sz="2800" dirty="0" err="1">
                <a:solidFill>
                  <a:srgbClr val="FF5050"/>
                </a:solidFill>
                <a:latin typeface="SimHei"/>
                <a:ea typeface="SimHei"/>
                <a:cs typeface="SimHei"/>
                <a:sym typeface="SimHei"/>
              </a:rPr>
              <a:t>单独存在</a:t>
            </a:r>
            <a:r>
              <a:rPr sz="2800" dirty="0" err="1">
                <a:latin typeface="SimHei"/>
                <a:ea typeface="SimHei"/>
                <a:cs typeface="SimHei"/>
                <a:sym typeface="SimHei"/>
              </a:rPr>
              <a:t>时作用于该电荷的静电力的</a:t>
            </a:r>
            <a:r>
              <a:rPr sz="2800" dirty="0" err="1">
                <a:solidFill>
                  <a:srgbClr val="FF0000"/>
                </a:solidFill>
                <a:latin typeface="SimHei"/>
                <a:ea typeface="SimHei"/>
                <a:cs typeface="SimHei"/>
                <a:sym typeface="SimHei"/>
              </a:rPr>
              <a:t>矢量和</a:t>
            </a:r>
            <a:r>
              <a:rPr sz="2800" dirty="0">
                <a:latin typeface="SimHei"/>
                <a:ea typeface="SimHei"/>
                <a:cs typeface="SimHei"/>
                <a:sym typeface="SimHei"/>
              </a:rPr>
              <a:t>。</a:t>
            </a:r>
          </a:p>
        </p:txBody>
      </p:sp>
      <p:grpSp>
        <p:nvGrpSpPr>
          <p:cNvPr id="123" name="Group 123"/>
          <p:cNvGrpSpPr/>
          <p:nvPr/>
        </p:nvGrpSpPr>
        <p:grpSpPr>
          <a:xfrm>
            <a:off x="6156328" y="2182816"/>
            <a:ext cx="2438402" cy="2759187"/>
            <a:chOff x="0" y="0"/>
            <a:chExt cx="2438401" cy="2759186"/>
          </a:xfrm>
        </p:grpSpPr>
        <p:sp>
          <p:nvSpPr>
            <p:cNvPr id="102" name="Shape 102"/>
            <p:cNvSpPr/>
            <p:nvPr/>
          </p:nvSpPr>
          <p:spPr>
            <a:xfrm flipV="1">
              <a:off x="1071030" y="1525090"/>
              <a:ext cx="1" cy="1115133"/>
            </a:xfrm>
            <a:prstGeom prst="line">
              <a:avLst/>
            </a:prstGeom>
            <a:noFill/>
            <a:ln w="9525" cap="flat">
              <a:solidFill>
                <a:srgbClr val="FFFFCC"/>
              </a:solidFill>
              <a:prstDash val="sysDot"/>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03" name="Shape 103"/>
            <p:cNvSpPr/>
            <p:nvPr/>
          </p:nvSpPr>
          <p:spPr>
            <a:xfrm flipV="1">
              <a:off x="318800" y="1459493"/>
              <a:ext cx="809693" cy="459173"/>
            </a:xfrm>
            <a:prstGeom prst="line">
              <a:avLst/>
            </a:prstGeom>
            <a:noFill/>
            <a:ln w="9525" cap="flat">
              <a:solidFill>
                <a:srgbClr val="000000"/>
              </a:solidFill>
              <a:prstDash val="sysDot"/>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04" name="Shape 104"/>
            <p:cNvSpPr/>
            <p:nvPr/>
          </p:nvSpPr>
          <p:spPr>
            <a:xfrm flipV="1">
              <a:off x="1196402" y="1065917"/>
              <a:ext cx="814916" cy="393577"/>
            </a:xfrm>
            <a:prstGeom prst="line">
              <a:avLst/>
            </a:prstGeom>
            <a:noFill/>
            <a:ln w="38100" cap="flat">
              <a:solidFill>
                <a:srgbClr val="FF00FF"/>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05" name="Shape 105"/>
            <p:cNvSpPr/>
            <p:nvPr/>
          </p:nvSpPr>
          <p:spPr>
            <a:xfrm flipV="1">
              <a:off x="1072300" y="737937"/>
              <a:ext cx="1" cy="787153"/>
            </a:xfrm>
            <a:prstGeom prst="line">
              <a:avLst/>
            </a:prstGeom>
            <a:noFill/>
            <a:ln w="38100" cap="flat">
              <a:solidFill>
                <a:srgbClr val="FF00FF"/>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06" name="Shape 106"/>
            <p:cNvSpPr/>
            <p:nvPr/>
          </p:nvSpPr>
          <p:spPr>
            <a:xfrm>
              <a:off x="240443" y="1787474"/>
              <a:ext cx="240297" cy="25145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66FF33"/>
            </a:solidFill>
            <a:ln w="12700" cap="flat">
              <a:noFill/>
              <a:miter lim="400000"/>
            </a:ln>
            <a:effectLst/>
          </p:spPr>
          <p:txBody>
            <a:bodyPr wrap="square" lIns="0" tIns="0" rIns="0" bIns="0" numCol="1" anchor="ctr">
              <a:noAutofit/>
            </a:bodyPr>
            <a:lstStyle/>
            <a:p>
              <a:pPr defTabSz="914111">
                <a:lnSpc>
                  <a:spcPct val="100000"/>
                </a:lnSpc>
                <a:spcBef>
                  <a:spcPts val="0"/>
                </a:spcBef>
              </a:pPr>
              <a:endParaRPr/>
            </a:p>
          </p:txBody>
        </p:sp>
        <p:sp>
          <p:nvSpPr>
            <p:cNvPr id="107" name="Shape 107"/>
            <p:cNvSpPr/>
            <p:nvPr/>
          </p:nvSpPr>
          <p:spPr>
            <a:xfrm>
              <a:off x="984067" y="2443434"/>
              <a:ext cx="240297" cy="25145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66FFFF"/>
            </a:solidFill>
            <a:ln w="12700" cap="flat">
              <a:noFill/>
              <a:miter lim="400000"/>
            </a:ln>
            <a:effectLst/>
          </p:spPr>
          <p:txBody>
            <a:bodyPr wrap="square" lIns="0" tIns="0" rIns="0" bIns="0" numCol="1" anchor="ctr">
              <a:noAutofit/>
            </a:bodyPr>
            <a:lstStyle/>
            <a:p>
              <a:pPr defTabSz="914111">
                <a:lnSpc>
                  <a:spcPct val="100000"/>
                </a:lnSpc>
                <a:spcBef>
                  <a:spcPts val="0"/>
                </a:spcBef>
              </a:pPr>
              <a:endParaRPr/>
            </a:p>
          </p:txBody>
        </p:sp>
        <p:sp>
          <p:nvSpPr>
            <p:cNvPr id="108" name="Shape 108"/>
            <p:cNvSpPr/>
            <p:nvPr/>
          </p:nvSpPr>
          <p:spPr>
            <a:xfrm flipV="1">
              <a:off x="1071030" y="278764"/>
              <a:ext cx="940289" cy="459173"/>
            </a:xfrm>
            <a:prstGeom prst="line">
              <a:avLst/>
            </a:prstGeom>
            <a:noFill/>
            <a:ln w="9525" cap="flat">
              <a:solidFill>
                <a:srgbClr val="FFFFCC"/>
              </a:solidFill>
              <a:prstDash val="sysDot"/>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09" name="Shape 109"/>
            <p:cNvSpPr/>
            <p:nvPr/>
          </p:nvSpPr>
          <p:spPr>
            <a:xfrm>
              <a:off x="2011317" y="344361"/>
              <a:ext cx="1" cy="721558"/>
            </a:xfrm>
            <a:prstGeom prst="line">
              <a:avLst/>
            </a:prstGeom>
            <a:noFill/>
            <a:ln w="9525" cap="flat">
              <a:solidFill>
                <a:srgbClr val="FFFFCC"/>
              </a:solidFill>
              <a:prstDash val="sysDot"/>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10" name="Shape 110"/>
            <p:cNvSpPr/>
            <p:nvPr/>
          </p:nvSpPr>
          <p:spPr>
            <a:xfrm flipV="1">
              <a:off x="1133716" y="278764"/>
              <a:ext cx="877602" cy="1147933"/>
            </a:xfrm>
            <a:prstGeom prst="line">
              <a:avLst/>
            </a:prstGeom>
            <a:noFill/>
            <a:ln w="38100" cap="flat">
              <a:solidFill>
                <a:srgbClr val="3333FF"/>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11" name="Shape 111"/>
            <p:cNvSpPr/>
            <p:nvPr/>
          </p:nvSpPr>
          <p:spPr>
            <a:xfrm>
              <a:off x="1008345" y="1393897"/>
              <a:ext cx="180223" cy="18858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00"/>
            </a:solidFill>
            <a:ln w="12700" cap="flat">
              <a:solidFill>
                <a:srgbClr val="000000"/>
              </a:solidFill>
              <a:prstDash val="solid"/>
              <a:round/>
            </a:ln>
            <a:effectLst/>
          </p:spPr>
          <p:txBody>
            <a:bodyPr wrap="square" lIns="0" tIns="0" rIns="0" bIns="0" numCol="1" anchor="ctr">
              <a:noAutofit/>
            </a:bodyPr>
            <a:lstStyle/>
            <a:p>
              <a:pPr defTabSz="914111">
                <a:lnSpc>
                  <a:spcPct val="100000"/>
                </a:lnSpc>
                <a:spcBef>
                  <a:spcPts val="0"/>
                </a:spcBef>
              </a:pPr>
              <a:endParaRPr/>
            </a:p>
          </p:txBody>
        </p:sp>
        <p:sp>
          <p:nvSpPr>
            <p:cNvPr id="112" name="Shape 112"/>
            <p:cNvSpPr/>
            <p:nvPr/>
          </p:nvSpPr>
          <p:spPr>
            <a:xfrm flipV="1">
              <a:off x="428501" y="1656282"/>
              <a:ext cx="376114" cy="196789"/>
            </a:xfrm>
            <a:prstGeom prst="line">
              <a:avLst/>
            </a:prstGeom>
            <a:noFill/>
            <a:ln w="38100" cap="flat">
              <a:solidFill>
                <a:srgbClr val="FF0066"/>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13" name="Shape 113"/>
            <p:cNvSpPr/>
            <p:nvPr/>
          </p:nvSpPr>
          <p:spPr>
            <a:xfrm flipV="1">
              <a:off x="1095099" y="2037826"/>
              <a:ext cx="1" cy="393577"/>
            </a:xfrm>
            <a:prstGeom prst="line">
              <a:avLst/>
            </a:prstGeom>
            <a:noFill/>
            <a:ln w="38100" cap="flat">
              <a:solidFill>
                <a:srgbClr val="FF00FF"/>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14" name="Shape 114"/>
            <p:cNvSpPr/>
            <p:nvPr/>
          </p:nvSpPr>
          <p:spPr>
            <a:xfrm>
              <a:off x="0" y="1822346"/>
              <a:ext cx="480740" cy="45326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p>
              <a:pPr lvl="0">
                <a:lnSpc>
                  <a:spcPct val="130000"/>
                </a:lnSpc>
                <a:defRPr sz="1800"/>
              </a:pPr>
              <a:r>
                <a:rPr i="1"/>
                <a:t>q</a:t>
              </a:r>
              <a:r>
                <a:rPr baseline="-25000"/>
                <a:t>1</a:t>
              </a:r>
            </a:p>
          </p:txBody>
        </p:sp>
        <p:sp>
          <p:nvSpPr>
            <p:cNvPr id="115" name="Shape 115"/>
            <p:cNvSpPr/>
            <p:nvPr/>
          </p:nvSpPr>
          <p:spPr>
            <a:xfrm>
              <a:off x="1224363" y="2305917"/>
              <a:ext cx="480740" cy="45326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p>
              <a:pPr lvl="0">
                <a:lnSpc>
                  <a:spcPct val="130000"/>
                </a:lnSpc>
                <a:defRPr sz="1800"/>
              </a:pPr>
              <a:r>
                <a:rPr i="1"/>
                <a:t>q</a:t>
              </a:r>
              <a:r>
                <a:rPr baseline="-25000"/>
                <a:t>2</a:t>
              </a:r>
            </a:p>
          </p:txBody>
        </p:sp>
        <p:pic>
          <p:nvPicPr>
            <p:cNvPr id="116" name="image14.pdf"/>
            <p:cNvPicPr/>
            <p:nvPr/>
          </p:nvPicPr>
          <p:blipFill>
            <a:blip r:embed="rId3" cstate="print">
              <a:extLst/>
            </a:blip>
            <a:stretch>
              <a:fillRect/>
            </a:stretch>
          </p:blipFill>
          <p:spPr>
            <a:xfrm>
              <a:off x="2085909" y="877222"/>
              <a:ext cx="352492" cy="703300"/>
            </a:xfrm>
            <a:prstGeom prst="rect">
              <a:avLst/>
            </a:prstGeom>
            <a:ln w="12700" cap="flat">
              <a:noFill/>
              <a:miter lim="400000"/>
            </a:ln>
            <a:effectLst/>
          </p:spPr>
        </p:pic>
        <p:pic>
          <p:nvPicPr>
            <p:cNvPr id="117" name="image15.pdf"/>
            <p:cNvPicPr/>
            <p:nvPr/>
          </p:nvPicPr>
          <p:blipFill>
            <a:blip r:embed="rId4" cstate="print">
              <a:extLst/>
            </a:blip>
            <a:stretch>
              <a:fillRect/>
            </a:stretch>
          </p:blipFill>
          <p:spPr>
            <a:xfrm>
              <a:off x="318800" y="1136045"/>
              <a:ext cx="400743" cy="614199"/>
            </a:xfrm>
            <a:prstGeom prst="rect">
              <a:avLst/>
            </a:prstGeom>
            <a:ln w="12700" cap="flat">
              <a:noFill/>
              <a:miter lim="400000"/>
            </a:ln>
            <a:effectLst/>
          </p:spPr>
        </p:pic>
        <p:pic>
          <p:nvPicPr>
            <p:cNvPr id="118" name="image16.pdf"/>
            <p:cNvPicPr/>
            <p:nvPr/>
          </p:nvPicPr>
          <p:blipFill>
            <a:blip r:embed="rId5" cstate="print">
              <a:extLst/>
            </a:blip>
            <a:stretch>
              <a:fillRect/>
            </a:stretch>
          </p:blipFill>
          <p:spPr>
            <a:xfrm>
              <a:off x="1128492" y="1972267"/>
              <a:ext cx="416072" cy="570064"/>
            </a:xfrm>
            <a:prstGeom prst="rect">
              <a:avLst/>
            </a:prstGeom>
            <a:ln w="12700" cap="flat">
              <a:noFill/>
              <a:miter lim="400000"/>
            </a:ln>
            <a:effectLst/>
          </p:spPr>
        </p:pic>
        <p:sp>
          <p:nvSpPr>
            <p:cNvPr id="119" name="Shape 119"/>
            <p:cNvSpPr/>
            <p:nvPr/>
          </p:nvSpPr>
          <p:spPr>
            <a:xfrm flipH="1" flipV="1">
              <a:off x="1097777" y="1462287"/>
              <a:ext cx="679" cy="981147"/>
            </a:xfrm>
            <a:prstGeom prst="line">
              <a:avLst/>
            </a:prstGeom>
            <a:noFill/>
            <a:ln w="9525" cap="flat">
              <a:solidFill>
                <a:srgbClr val="000000"/>
              </a:solidFill>
              <a:prstDash val="sysDot"/>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120" name="Shape 120"/>
            <p:cNvSpPr/>
            <p:nvPr/>
          </p:nvSpPr>
          <p:spPr>
            <a:xfrm>
              <a:off x="1152342" y="1318264"/>
              <a:ext cx="480740" cy="45326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p>
              <a:pPr lvl="0">
                <a:lnSpc>
                  <a:spcPct val="130000"/>
                </a:lnSpc>
                <a:defRPr sz="1800"/>
              </a:pPr>
              <a:r>
                <a:rPr i="1"/>
                <a:t>q</a:t>
              </a:r>
              <a:r>
                <a:rPr baseline="-25000"/>
                <a:t>0</a:t>
              </a:r>
            </a:p>
          </p:txBody>
        </p:sp>
        <p:pic>
          <p:nvPicPr>
            <p:cNvPr id="121" name="image17.pdf"/>
            <p:cNvPicPr/>
            <p:nvPr/>
          </p:nvPicPr>
          <p:blipFill>
            <a:blip r:embed="rId6" cstate="print">
              <a:extLst/>
            </a:blip>
            <a:stretch>
              <a:fillRect/>
            </a:stretch>
          </p:blipFill>
          <p:spPr>
            <a:xfrm>
              <a:off x="601663" y="261936"/>
              <a:ext cx="379413" cy="739776"/>
            </a:xfrm>
            <a:prstGeom prst="rect">
              <a:avLst/>
            </a:prstGeom>
            <a:ln w="12700" cap="flat">
              <a:noFill/>
              <a:miter lim="400000"/>
            </a:ln>
            <a:effectLst/>
          </p:spPr>
        </p:pic>
        <p:pic>
          <p:nvPicPr>
            <p:cNvPr id="122" name="image18.pdf"/>
            <p:cNvPicPr/>
            <p:nvPr/>
          </p:nvPicPr>
          <p:blipFill>
            <a:blip r:embed="rId7" cstate="print">
              <a:extLst/>
            </a:blip>
            <a:stretch>
              <a:fillRect/>
            </a:stretch>
          </p:blipFill>
          <p:spPr>
            <a:xfrm>
              <a:off x="2016599" y="0"/>
              <a:ext cx="352492" cy="555655"/>
            </a:xfrm>
            <a:prstGeom prst="rect">
              <a:avLst/>
            </a:prstGeom>
            <a:ln w="12700" cap="flat">
              <a:noFill/>
              <a:miter lim="400000"/>
            </a:ln>
            <a:effectLst/>
          </p:spPr>
        </p:pic>
      </p:grpSp>
      <p:pic>
        <p:nvPicPr>
          <p:cNvPr id="124" name="image19.pdf"/>
          <p:cNvPicPr/>
          <p:nvPr/>
        </p:nvPicPr>
        <p:blipFill>
          <a:blip r:embed="rId8" cstate="print">
            <a:extLst/>
          </a:blip>
          <a:stretch>
            <a:fillRect/>
          </a:stretch>
        </p:blipFill>
        <p:spPr>
          <a:xfrm>
            <a:off x="2287591" y="2397125"/>
            <a:ext cx="1581151" cy="1103313"/>
          </a:xfrm>
          <a:prstGeom prst="rect">
            <a:avLst/>
          </a:prstGeom>
          <a:ln w="12700">
            <a:miter lim="400000"/>
          </a:ln>
        </p:spPr>
      </p:pic>
      <mc:AlternateContent xmlns:mc="http://schemas.openxmlformats.org/markup-compatibility/2006" xmlns:a14="http://schemas.microsoft.com/office/drawing/2010/main">
        <mc:Choice Requires="a14">
          <p:sp>
            <p:nvSpPr>
              <p:cNvPr id="3" name="矩形 2"/>
              <p:cNvSpPr/>
              <p:nvPr/>
            </p:nvSpPr>
            <p:spPr>
              <a:xfrm>
                <a:off x="1738588" y="3529836"/>
                <a:ext cx="2682875" cy="11323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zh-CN" sz="2800" b="1" i="1" smtClean="0">
                              <a:solidFill>
                                <a:srgbClr val="0000FF"/>
                              </a:solidFill>
                              <a:latin typeface="Cambria Math" panose="02040503050406030204" pitchFamily="18" charset="0"/>
                              <a:ea typeface="Cambria Math"/>
                            </a:rPr>
                          </m:ctrlPr>
                        </m:accPr>
                        <m:e>
                          <m:sSub>
                            <m:sSubPr>
                              <m:ctrlPr>
                                <a:rPr lang="zh-CN" altLang="zh-CN" sz="2800" b="1" i="1">
                                  <a:solidFill>
                                    <a:srgbClr val="0000FF"/>
                                  </a:solidFill>
                                  <a:effectLst/>
                                  <a:latin typeface="Cambria Math" panose="02040503050406030204" pitchFamily="18" charset="0"/>
                                  <a:ea typeface="Cambria Math"/>
                                </a:rPr>
                              </m:ctrlPr>
                            </m:sSubPr>
                            <m:e>
                              <m:r>
                                <a:rPr lang="en-US" altLang="zh-CN" sz="2800" b="1" i="1">
                                  <a:solidFill>
                                    <a:srgbClr val="0000FF"/>
                                  </a:solidFill>
                                  <a:effectLst/>
                                  <a:latin typeface="Cambria Math" panose="02040503050406030204" pitchFamily="18" charset="0"/>
                                  <a:ea typeface="Cambria Math" pitchFamily="18" charset="0"/>
                                </a:rPr>
                                <m:t>𝑭</m:t>
                              </m:r>
                            </m:e>
                            <m:sub>
                              <m:r>
                                <a:rPr lang="en-US" altLang="zh-CN" sz="2800" b="1" i="1">
                                  <a:solidFill>
                                    <a:srgbClr val="0000FF"/>
                                  </a:solidFill>
                                  <a:effectLst/>
                                  <a:latin typeface="Cambria Math" panose="02040503050406030204" pitchFamily="18" charset="0"/>
                                  <a:ea typeface="Cambria Math" pitchFamily="18" charset="0"/>
                                </a:rPr>
                                <m:t>𝒊</m:t>
                              </m:r>
                            </m:sub>
                          </m:sSub>
                        </m:e>
                      </m:acc>
                      <m:r>
                        <a:rPr lang="en-US" altLang="zh-CN" sz="2800" b="1" i="1">
                          <a:solidFill>
                            <a:srgbClr val="0000FF"/>
                          </a:solidFill>
                          <a:effectLst/>
                          <a:latin typeface="Cambria Math" pitchFamily="18" charset="0"/>
                          <a:ea typeface="Cambria Math" pitchFamily="18" charset="0"/>
                        </a:rPr>
                        <m:t>=</m:t>
                      </m:r>
                      <m:f>
                        <m:fPr>
                          <m:ctrlPr>
                            <a:rPr lang="zh-CN" altLang="zh-CN" sz="2800" b="1" i="1">
                              <a:solidFill>
                                <a:srgbClr val="0000FF"/>
                              </a:solidFill>
                              <a:effectLst/>
                              <a:latin typeface="Cambria Math" panose="02040503050406030204" pitchFamily="18" charset="0"/>
                              <a:ea typeface="Cambria Math"/>
                            </a:rPr>
                          </m:ctrlPr>
                        </m:fPr>
                        <m:num>
                          <m:sSub>
                            <m:sSubPr>
                              <m:ctrlPr>
                                <a:rPr lang="zh-CN" altLang="zh-CN" sz="2800" b="1" i="1">
                                  <a:solidFill>
                                    <a:srgbClr val="0000FF"/>
                                  </a:solidFill>
                                  <a:effectLst/>
                                  <a:latin typeface="Cambria Math" panose="02040503050406030204" pitchFamily="18" charset="0"/>
                                  <a:ea typeface="Cambria Math"/>
                                </a:rPr>
                              </m:ctrlPr>
                            </m:sSubPr>
                            <m:e>
                              <m:r>
                                <a:rPr lang="en-US" altLang="zh-CN" sz="2800" b="1" i="1">
                                  <a:solidFill>
                                    <a:srgbClr val="0000FF"/>
                                  </a:solidFill>
                                  <a:effectLst/>
                                  <a:latin typeface="Cambria Math" panose="02040503050406030204" pitchFamily="18" charset="0"/>
                                  <a:ea typeface="Cambria Math" pitchFamily="18" charset="0"/>
                                </a:rPr>
                                <m:t>𝒒</m:t>
                              </m:r>
                            </m:e>
                            <m:sub>
                              <m:r>
                                <a:rPr lang="en-US" altLang="zh-CN" sz="2800" b="1" i="1">
                                  <a:solidFill>
                                    <a:srgbClr val="0000FF"/>
                                  </a:solidFill>
                                  <a:effectLst/>
                                  <a:latin typeface="Cambria Math" panose="02040503050406030204" pitchFamily="18" charset="0"/>
                                  <a:ea typeface="Cambria Math" pitchFamily="18" charset="0"/>
                                </a:rPr>
                                <m:t>𝟎</m:t>
                              </m:r>
                            </m:sub>
                          </m:sSub>
                          <m:sSub>
                            <m:sSubPr>
                              <m:ctrlPr>
                                <a:rPr lang="zh-CN" altLang="zh-CN" sz="2800" b="1" i="1">
                                  <a:solidFill>
                                    <a:srgbClr val="0000FF"/>
                                  </a:solidFill>
                                  <a:effectLst/>
                                  <a:latin typeface="Cambria Math" panose="02040503050406030204" pitchFamily="18" charset="0"/>
                                  <a:ea typeface="Cambria Math"/>
                                </a:rPr>
                              </m:ctrlPr>
                            </m:sSubPr>
                            <m:e>
                              <m:r>
                                <a:rPr lang="en-US" altLang="zh-CN" sz="2800" b="1" i="1">
                                  <a:solidFill>
                                    <a:srgbClr val="0000FF"/>
                                  </a:solidFill>
                                  <a:effectLst/>
                                  <a:latin typeface="Cambria Math" panose="02040503050406030204" pitchFamily="18" charset="0"/>
                                  <a:ea typeface="Cambria Math" pitchFamily="18" charset="0"/>
                                </a:rPr>
                                <m:t>𝒒</m:t>
                              </m:r>
                            </m:e>
                            <m:sub>
                              <m:r>
                                <a:rPr lang="en-US" altLang="zh-CN" sz="2800" b="1" i="1">
                                  <a:solidFill>
                                    <a:srgbClr val="0000FF"/>
                                  </a:solidFill>
                                  <a:effectLst/>
                                  <a:latin typeface="Cambria Math" panose="02040503050406030204" pitchFamily="18" charset="0"/>
                                  <a:ea typeface="Cambria Math" pitchFamily="18" charset="0"/>
                                </a:rPr>
                                <m:t>𝒊</m:t>
                              </m:r>
                            </m:sub>
                          </m:sSub>
                        </m:num>
                        <m:den>
                          <m:r>
                            <a:rPr lang="en-US" altLang="zh-CN" sz="2800" b="1" i="1">
                              <a:solidFill>
                                <a:srgbClr val="0000FF"/>
                              </a:solidFill>
                              <a:effectLst/>
                              <a:latin typeface="Cambria Math" pitchFamily="18" charset="0"/>
                              <a:ea typeface="Cambria Math" pitchFamily="18" charset="0"/>
                            </a:rPr>
                            <m:t>𝟒</m:t>
                          </m:r>
                          <m:r>
                            <a:rPr lang="en-US" altLang="zh-CN" sz="2800" b="1" i="1">
                              <a:solidFill>
                                <a:srgbClr val="0000FF"/>
                              </a:solidFill>
                              <a:effectLst/>
                              <a:latin typeface="Cambria Math" pitchFamily="18" charset="0"/>
                              <a:ea typeface="Cambria Math" pitchFamily="18" charset="0"/>
                            </a:rPr>
                            <m:t>𝝅</m:t>
                          </m:r>
                          <m:sSub>
                            <m:sSubPr>
                              <m:ctrlPr>
                                <a:rPr lang="zh-CN" altLang="zh-CN" sz="2800" b="1" i="1">
                                  <a:solidFill>
                                    <a:srgbClr val="0000FF"/>
                                  </a:solidFill>
                                  <a:effectLst/>
                                  <a:latin typeface="Cambria Math" panose="02040503050406030204" pitchFamily="18" charset="0"/>
                                  <a:ea typeface="Cambria Math"/>
                                </a:rPr>
                              </m:ctrlPr>
                            </m:sSubPr>
                            <m:e>
                              <m:r>
                                <a:rPr lang="en-US" altLang="zh-CN" sz="2800" b="1" i="1">
                                  <a:solidFill>
                                    <a:srgbClr val="0000FF"/>
                                  </a:solidFill>
                                  <a:effectLst/>
                                  <a:latin typeface="Cambria Math" panose="02040503050406030204" pitchFamily="18" charset="0"/>
                                  <a:ea typeface="Cambria Math" pitchFamily="18" charset="0"/>
                                </a:rPr>
                                <m:t>𝜺</m:t>
                              </m:r>
                            </m:e>
                            <m:sub>
                              <m:r>
                                <a:rPr lang="en-US" altLang="zh-CN" sz="2800" b="1" i="1">
                                  <a:solidFill>
                                    <a:srgbClr val="0000FF"/>
                                  </a:solidFill>
                                  <a:effectLst/>
                                  <a:latin typeface="Cambria Math" panose="02040503050406030204" pitchFamily="18" charset="0"/>
                                  <a:ea typeface="Cambria Math" pitchFamily="18" charset="0"/>
                                </a:rPr>
                                <m:t>𝟎</m:t>
                              </m:r>
                            </m:sub>
                          </m:sSub>
                          <m:sSubSup>
                            <m:sSubSupPr>
                              <m:ctrlPr>
                                <a:rPr lang="zh-CN" altLang="zh-CN" sz="2800" b="1" i="1">
                                  <a:solidFill>
                                    <a:srgbClr val="0000FF"/>
                                  </a:solidFill>
                                  <a:effectLst/>
                                  <a:latin typeface="Cambria Math" panose="02040503050406030204" pitchFamily="18" charset="0"/>
                                  <a:ea typeface="Cambria Math"/>
                                </a:rPr>
                              </m:ctrlPr>
                            </m:sSubSupPr>
                            <m:e>
                              <m:r>
                                <a:rPr lang="en-US" altLang="zh-CN" sz="2800" b="1" i="1">
                                  <a:solidFill>
                                    <a:srgbClr val="0000FF"/>
                                  </a:solidFill>
                                  <a:effectLst/>
                                  <a:latin typeface="Cambria Math" panose="02040503050406030204" pitchFamily="18" charset="0"/>
                                  <a:ea typeface="Cambria Math" pitchFamily="18" charset="0"/>
                                </a:rPr>
                                <m:t>𝒓</m:t>
                              </m:r>
                            </m:e>
                            <m:sub>
                              <m:r>
                                <a:rPr lang="en-US" altLang="zh-CN" sz="2800" b="1" i="1">
                                  <a:solidFill>
                                    <a:srgbClr val="0000FF"/>
                                  </a:solidFill>
                                  <a:effectLst/>
                                  <a:latin typeface="Cambria Math" panose="02040503050406030204" pitchFamily="18" charset="0"/>
                                  <a:ea typeface="Cambria Math" pitchFamily="18" charset="0"/>
                                </a:rPr>
                                <m:t>𝒊</m:t>
                              </m:r>
                            </m:sub>
                            <m:sup>
                              <m:r>
                                <a:rPr lang="en-US" altLang="zh-CN" sz="2800" b="1" i="1">
                                  <a:solidFill>
                                    <a:srgbClr val="0000FF"/>
                                  </a:solidFill>
                                  <a:effectLst/>
                                  <a:latin typeface="Cambria Math" panose="02040503050406030204" pitchFamily="18" charset="0"/>
                                  <a:ea typeface="Cambria Math" pitchFamily="18" charset="0"/>
                                </a:rPr>
                                <m:t>𝟐</m:t>
                              </m:r>
                            </m:sup>
                          </m:sSubSup>
                        </m:den>
                      </m:f>
                      <m:sSub>
                        <m:sSubPr>
                          <m:ctrlPr>
                            <a:rPr lang="zh-CN" altLang="zh-CN" sz="2800" b="1" i="1">
                              <a:solidFill>
                                <a:srgbClr val="0000FF"/>
                              </a:solidFill>
                              <a:effectLst/>
                              <a:latin typeface="Cambria Math" panose="02040503050406030204" pitchFamily="18" charset="0"/>
                              <a:ea typeface="Cambria Math"/>
                            </a:rPr>
                          </m:ctrlPr>
                        </m:sSubPr>
                        <m:e>
                          <m:acc>
                            <m:accPr>
                              <m:chr m:val="⃑"/>
                              <m:ctrlPr>
                                <a:rPr lang="zh-CN" altLang="zh-CN" sz="2800" b="1" i="1">
                                  <a:solidFill>
                                    <a:srgbClr val="0000FF"/>
                                  </a:solidFill>
                                  <a:effectLst/>
                                  <a:latin typeface="Cambria Math" panose="02040503050406030204" pitchFamily="18" charset="0"/>
                                  <a:ea typeface="Cambria Math"/>
                                </a:rPr>
                              </m:ctrlPr>
                            </m:accPr>
                            <m:e>
                              <m:r>
                                <a:rPr lang="en-US" altLang="zh-CN" sz="2800" b="1" i="1">
                                  <a:solidFill>
                                    <a:srgbClr val="0000FF"/>
                                  </a:solidFill>
                                  <a:effectLst/>
                                  <a:latin typeface="Cambria Math" panose="02040503050406030204" pitchFamily="18" charset="0"/>
                                  <a:ea typeface="Cambria Math" pitchFamily="18" charset="0"/>
                                </a:rPr>
                                <m:t>𝒆</m:t>
                              </m:r>
                            </m:e>
                          </m:acc>
                        </m:e>
                        <m:sub>
                          <m:sSub>
                            <m:sSubPr>
                              <m:ctrlPr>
                                <a:rPr lang="en-US" altLang="zh-CN" sz="2800" b="1" i="1" smtClean="0">
                                  <a:solidFill>
                                    <a:srgbClr val="0000FF"/>
                                  </a:solidFill>
                                  <a:effectLst/>
                                  <a:latin typeface="Cambria Math" panose="02040503050406030204" pitchFamily="18" charset="0"/>
                                  <a:ea typeface="Cambria Math" pitchFamily="18" charset="0"/>
                                </a:rPr>
                              </m:ctrlPr>
                            </m:sSubPr>
                            <m:e>
                              <m:r>
                                <a:rPr lang="en-US" altLang="zh-CN" sz="2800" b="1" i="1" smtClean="0">
                                  <a:solidFill>
                                    <a:srgbClr val="0000FF"/>
                                  </a:solidFill>
                                  <a:effectLst/>
                                  <a:latin typeface="Cambria Math"/>
                                  <a:ea typeface="Cambria Math" pitchFamily="18" charset="0"/>
                                </a:rPr>
                                <m:t>𝒓</m:t>
                              </m:r>
                            </m:e>
                            <m:sub>
                              <m:r>
                                <a:rPr lang="en-US" altLang="zh-CN" sz="2800" b="1" i="1" smtClean="0">
                                  <a:solidFill>
                                    <a:srgbClr val="0000FF"/>
                                  </a:solidFill>
                                  <a:effectLst/>
                                  <a:latin typeface="Cambria Math"/>
                                  <a:ea typeface="Cambria Math" pitchFamily="18" charset="0"/>
                                </a:rPr>
                                <m:t>𝒊</m:t>
                              </m:r>
                            </m:sub>
                          </m:sSub>
                        </m:sub>
                      </m:sSub>
                    </m:oMath>
                  </m:oMathPara>
                </a14:m>
                <a:endParaRPr lang="zh-CN" altLang="en-US" sz="2800" dirty="0">
                  <a:latin typeface="Cambria Math"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1738588" y="3529836"/>
                <a:ext cx="2682875" cy="1132361"/>
              </a:xfrm>
              <a:prstGeom prst="rect">
                <a:avLst/>
              </a:prstGeom>
              <a:blipFill rotWithShape="1">
                <a:blip r:embed="rId9"/>
                <a:stretch>
                  <a:fillRect/>
                </a:stretch>
              </a:blipFill>
            </p:spPr>
            <p:txBody>
              <a:bodyPr/>
              <a:lstStyle/>
              <a:p>
                <a:r>
                  <a:rPr lang="zh-CN" altLang="en-US">
                    <a:noFill/>
                  </a:rPr>
                  <a:t> </a:t>
                </a:r>
              </a:p>
            </p:txBody>
          </p:sp>
        </mc:Fallback>
      </mc:AlternateContent>
      <p:pic>
        <p:nvPicPr>
          <p:cNvPr id="10242" name="Picture 2" descr="https://bkimg.cdn.bcebos.com/pic/4b90f603738da977f5ac82bfba51f8198718e3a7?x-bce-process=image/watermark,g_7,image_d2F0ZXIvYmFpa2U5Mg==,xp_5,yp_5"/>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590207" y="4711503"/>
            <a:ext cx="3278535" cy="18391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7544" y="764704"/>
            <a:ext cx="8208912" cy="4901855"/>
          </a:xfrm>
          <a:prstGeom prst="rect">
            <a:avLst/>
          </a:prstGeom>
        </p:spPr>
        <p:txBody>
          <a:bodyPr wrap="square">
            <a:spAutoFit/>
          </a:bodyPr>
          <a:lstStyle/>
          <a:p>
            <a:r>
              <a:rPr lang="zh-CN" altLang="en-US" b="1" dirty="0"/>
              <a:t>力是矢量，合力指的是作用于同一物体上多个力加在一起的矢量和。合力是矢量，矢量的加减法满足平行四边形法则和三角形法则。</a:t>
            </a:r>
          </a:p>
          <a:p>
            <a:r>
              <a:rPr lang="zh-CN" altLang="en-US" b="1" dirty="0"/>
              <a:t>如果两个力不共线</a:t>
            </a:r>
            <a:r>
              <a:rPr lang="en-US" altLang="zh-CN" b="1" dirty="0"/>
              <a:t>,</a:t>
            </a:r>
            <a:r>
              <a:rPr lang="zh-CN" altLang="en-US" b="1" dirty="0"/>
              <a:t>则对角线的方向即为合力的方向。</a:t>
            </a:r>
          </a:p>
          <a:p>
            <a:r>
              <a:rPr lang="zh-CN" altLang="en-US" b="1" dirty="0"/>
              <a:t>如果两个力的方向相同，则合力等于两个力的和，方向不变。</a:t>
            </a:r>
          </a:p>
          <a:p>
            <a:r>
              <a:rPr lang="zh-CN" altLang="en-US" b="1" dirty="0"/>
              <a:t>如果两个力的方向相反，则合力等于两个力的差，方向和大一点的力的方向相同。</a:t>
            </a:r>
          </a:p>
          <a:p>
            <a:r>
              <a:rPr lang="zh-CN" altLang="en-US" b="1" dirty="0"/>
              <a:t>如果两个力是平衡力（大小相等，方向相反的两个</a:t>
            </a:r>
            <a:r>
              <a:rPr lang="zh-CN" altLang="en-US" b="1" dirty="0" smtClean="0"/>
              <a:t>力），</a:t>
            </a:r>
            <a:r>
              <a:rPr lang="zh-CN" altLang="en-US" b="1" dirty="0"/>
              <a:t>合力为零。∑</a:t>
            </a:r>
            <a:r>
              <a:rPr lang="en-US" altLang="zh-CN" b="1" dirty="0"/>
              <a:t>F=0</a:t>
            </a:r>
          </a:p>
        </p:txBody>
      </p:sp>
    </p:spTree>
    <p:extLst>
      <p:ext uri="{BB962C8B-B14F-4D97-AF65-F5344CB8AC3E}">
        <p14:creationId xmlns:p14="http://schemas.microsoft.com/office/powerpoint/2010/main" val="1622186117"/>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00"/>
          <p:cNvSpPr/>
          <p:nvPr/>
        </p:nvSpPr>
        <p:spPr>
          <a:xfrm>
            <a:off x="683568" y="692696"/>
            <a:ext cx="8280920" cy="1126432"/>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lvl1pPr>
              <a:defRPr u="sng">
                <a:latin typeface="SimHei"/>
                <a:ea typeface="SimHei"/>
                <a:cs typeface="SimHei"/>
                <a:sym typeface="SimHei"/>
              </a:defRPr>
            </a:lvl1pPr>
          </a:lstStyle>
          <a:p>
            <a:pPr lvl="0">
              <a:defRPr sz="1800" u="none"/>
            </a:pPr>
            <a:r>
              <a:rPr sz="2800" b="1" dirty="0" err="1" smtClean="0"/>
              <a:t>连续分布</a:t>
            </a:r>
            <a:r>
              <a:rPr lang="en-US" sz="2800" b="1" dirty="0" smtClean="0"/>
              <a:t>:</a:t>
            </a:r>
            <a:r>
              <a:rPr lang="zh-CN" altLang="en-US" sz="2800" b="1" dirty="0" smtClean="0"/>
              <a:t>对连续分布带电体，选取电荷元   ，应用库伦定律。</a:t>
            </a:r>
            <a:endParaRPr sz="2800" b="1" dirty="0"/>
          </a:p>
        </p:txBody>
      </p:sp>
      <p:pic>
        <p:nvPicPr>
          <p:cNvPr id="3" name="image21.pdf"/>
          <p:cNvPicPr/>
          <p:nvPr/>
        </p:nvPicPr>
        <p:blipFill>
          <a:blip r:embed="rId3" cstate="print">
            <a:extLst/>
          </a:blip>
          <a:stretch>
            <a:fillRect/>
          </a:stretch>
        </p:blipFill>
        <p:spPr>
          <a:xfrm>
            <a:off x="2033762" y="2358469"/>
            <a:ext cx="1800225" cy="860426"/>
          </a:xfrm>
          <a:prstGeom prst="rect">
            <a:avLst/>
          </a:prstGeom>
          <a:ln w="12700">
            <a:miter lim="400000"/>
          </a:ln>
        </p:spPr>
      </p:pic>
      <p:pic>
        <p:nvPicPr>
          <p:cNvPr id="4" name="image22.pdf"/>
          <p:cNvPicPr/>
          <p:nvPr/>
        </p:nvPicPr>
        <p:blipFill>
          <a:blip r:embed="rId4" cstate="print">
            <a:extLst/>
          </a:blip>
          <a:stretch>
            <a:fillRect/>
          </a:stretch>
        </p:blipFill>
        <p:spPr>
          <a:xfrm>
            <a:off x="1835696" y="3501008"/>
            <a:ext cx="2646363" cy="1198563"/>
          </a:xfrm>
          <a:prstGeom prst="rect">
            <a:avLst/>
          </a:prstGeom>
          <a:ln w="12700">
            <a:miter lim="400000"/>
          </a:ln>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8632" y="1729995"/>
            <a:ext cx="3312368" cy="2370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ext uri="{D42A27DB-BD31-4B8C-83A1-F6EECF244321}">
                <p14:modId xmlns:p14="http://schemas.microsoft.com/office/powerpoint/2010/main" val="3498965823"/>
              </p:ext>
            </p:extLst>
          </p:nvPr>
        </p:nvGraphicFramePr>
        <p:xfrm>
          <a:off x="7380288" y="752474"/>
          <a:ext cx="505365" cy="503437"/>
        </p:xfrm>
        <a:graphic>
          <a:graphicData uri="http://schemas.openxmlformats.org/presentationml/2006/ole">
            <mc:AlternateContent xmlns:mc="http://schemas.openxmlformats.org/markup-compatibility/2006">
              <mc:Choice xmlns:v="urn:schemas-microsoft-com:vml" Requires="v">
                <p:oleObj spid="_x0000_s2225" name="Equation" r:id="rId6" imgW="203040" imgH="203040" progId="Equation.DSMT4">
                  <p:embed/>
                </p:oleObj>
              </mc:Choice>
              <mc:Fallback>
                <p:oleObj name="Equation" r:id="rId6" imgW="203040" imgH="203040" progId="Equation.DSMT4">
                  <p:embed/>
                  <p:pic>
                    <p:nvPicPr>
                      <p:cNvPr id="0" name=""/>
                      <p:cNvPicPr/>
                      <p:nvPr/>
                    </p:nvPicPr>
                    <p:blipFill>
                      <a:blip r:embed="rId7"/>
                      <a:stretch>
                        <a:fillRect/>
                      </a:stretch>
                    </p:blipFill>
                    <p:spPr>
                      <a:xfrm>
                        <a:off x="7380288" y="752474"/>
                        <a:ext cx="505365" cy="503437"/>
                      </a:xfrm>
                      <a:prstGeom prst="rect">
                        <a:avLst/>
                      </a:prstGeom>
                    </p:spPr>
                  </p:pic>
                </p:oleObj>
              </mc:Fallback>
            </mc:AlternateContent>
          </a:graphicData>
        </a:graphic>
      </p:graphicFrame>
    </p:spTree>
    <p:extLst>
      <p:ext uri="{BB962C8B-B14F-4D97-AF65-F5344CB8AC3E}">
        <p14:creationId xmlns:p14="http://schemas.microsoft.com/office/powerpoint/2010/main" val="2960456922"/>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12242" y="1052736"/>
            <a:ext cx="8136904" cy="34778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1028700" rtl="0" latinLnBrk="1" hangingPunct="0">
              <a:lnSpc>
                <a:spcPct val="150000"/>
              </a:lnSpc>
            </a:pPr>
            <a:r>
              <a:rPr lang="zh-CN" altLang="en-US" b="1" dirty="0" smtClean="0">
                <a:solidFill>
                  <a:srgbClr val="000000"/>
                </a:solidFill>
              </a:rPr>
              <a:t>一</a:t>
            </a:r>
            <a:r>
              <a:rPr lang="en-US" altLang="zh-CN" b="1" i="1" dirty="0" smtClean="0">
                <a:solidFill>
                  <a:srgbClr val="000000"/>
                </a:solidFill>
              </a:rPr>
              <a:t>α</a:t>
            </a:r>
            <a:r>
              <a:rPr lang="zh-CN" altLang="en-US" b="1" dirty="0" smtClean="0">
                <a:solidFill>
                  <a:srgbClr val="000000"/>
                </a:solidFill>
              </a:rPr>
              <a:t>粒子（电量</a:t>
            </a:r>
            <a:r>
              <a:rPr lang="en-US" altLang="zh-CN" b="1" dirty="0" smtClean="0">
                <a:solidFill>
                  <a:srgbClr val="000000"/>
                </a:solidFill>
              </a:rPr>
              <a:t>+2</a:t>
            </a:r>
            <a:r>
              <a:rPr lang="en-US" altLang="zh-CN" b="1" i="1" dirty="0" smtClean="0">
                <a:solidFill>
                  <a:srgbClr val="000000"/>
                </a:solidFill>
              </a:rPr>
              <a:t>e</a:t>
            </a:r>
            <a:r>
              <a:rPr lang="zh-CN" altLang="en-US" b="1" dirty="0" smtClean="0">
                <a:solidFill>
                  <a:srgbClr val="000000"/>
                </a:solidFill>
              </a:rPr>
              <a:t>、质量</a:t>
            </a:r>
            <a:r>
              <a:rPr lang="en-US" altLang="zh-CN" b="1" dirty="0" smtClean="0">
                <a:solidFill>
                  <a:srgbClr val="000000"/>
                </a:solidFill>
              </a:rPr>
              <a:t>4</a:t>
            </a:r>
            <a:r>
              <a:rPr lang="en-US" altLang="zh-CN" b="1" i="1" dirty="0" smtClean="0">
                <a:solidFill>
                  <a:srgbClr val="000000"/>
                </a:solidFill>
              </a:rPr>
              <a:t>m</a:t>
            </a:r>
            <a:r>
              <a:rPr lang="en-US" altLang="zh-CN" b="1" i="1" baseline="-25000" dirty="0" smtClean="0">
                <a:solidFill>
                  <a:srgbClr val="000000"/>
                </a:solidFill>
              </a:rPr>
              <a:t>p</a:t>
            </a:r>
            <a:r>
              <a:rPr lang="zh-CN" altLang="en-US" b="1" dirty="0" smtClean="0">
                <a:solidFill>
                  <a:srgbClr val="000000"/>
                </a:solidFill>
              </a:rPr>
              <a:t>）</a:t>
            </a:r>
            <a:r>
              <a:rPr lang="zh-CN" altLang="en-US" b="1" dirty="0">
                <a:solidFill>
                  <a:srgbClr val="000000"/>
                </a:solidFill>
              </a:rPr>
              <a:t>撞</a:t>
            </a:r>
            <a:r>
              <a:rPr lang="zh-CN" altLang="en-US" b="1" dirty="0" smtClean="0">
                <a:solidFill>
                  <a:srgbClr val="000000"/>
                </a:solidFill>
              </a:rPr>
              <a:t>向一个</a:t>
            </a:r>
            <a:r>
              <a:rPr lang="zh-CN" altLang="en-US" b="1" dirty="0">
                <a:solidFill>
                  <a:srgbClr val="000000"/>
                </a:solidFill>
              </a:rPr>
              <a:t>质子（电量</a:t>
            </a:r>
            <a:r>
              <a:rPr lang="en-US" altLang="zh-CN" b="1" dirty="0" smtClean="0">
                <a:solidFill>
                  <a:srgbClr val="000000"/>
                </a:solidFill>
              </a:rPr>
              <a:t>+</a:t>
            </a:r>
            <a:r>
              <a:rPr lang="en-US" altLang="zh-CN" b="1" i="1" dirty="0" smtClean="0">
                <a:solidFill>
                  <a:srgbClr val="000000"/>
                </a:solidFill>
              </a:rPr>
              <a:t>e</a:t>
            </a:r>
            <a:r>
              <a:rPr lang="zh-CN" altLang="en-US" b="1" dirty="0">
                <a:solidFill>
                  <a:srgbClr val="000000"/>
                </a:solidFill>
              </a:rPr>
              <a:t>、</a:t>
            </a:r>
            <a:r>
              <a:rPr lang="zh-CN" altLang="en-US" b="1" dirty="0" smtClean="0">
                <a:solidFill>
                  <a:srgbClr val="000000"/>
                </a:solidFill>
              </a:rPr>
              <a:t>质量</a:t>
            </a:r>
            <a:r>
              <a:rPr lang="en-US" altLang="zh-CN" b="1" i="1" dirty="0" err="1" smtClean="0">
                <a:solidFill>
                  <a:srgbClr val="000000"/>
                </a:solidFill>
              </a:rPr>
              <a:t>m</a:t>
            </a:r>
            <a:r>
              <a:rPr lang="en-US" altLang="zh-CN" b="1" i="1" baseline="-25000" dirty="0" err="1" smtClean="0">
                <a:solidFill>
                  <a:srgbClr val="000000"/>
                </a:solidFill>
              </a:rPr>
              <a:t>p</a:t>
            </a:r>
            <a:r>
              <a:rPr lang="en-US" altLang="zh-CN" b="1" i="1" baseline="-25000" dirty="0" smtClean="0">
                <a:solidFill>
                  <a:srgbClr val="000000"/>
                </a:solidFill>
              </a:rPr>
              <a:t> </a:t>
            </a:r>
            <a:r>
              <a:rPr lang="zh-CN" altLang="en-US" b="1" dirty="0" smtClean="0">
                <a:solidFill>
                  <a:srgbClr val="000000"/>
                </a:solidFill>
              </a:rPr>
              <a:t>）。假设除静电斥力外没有其他相互作用。下列关于两个粒子的加速度的描述哪一个是正确的？</a:t>
            </a:r>
            <a:endParaRPr lang="en-US" altLang="zh-CN" b="1" dirty="0" smtClean="0">
              <a:solidFill>
                <a:srgbClr val="000000"/>
              </a:solidFill>
            </a:endParaRPr>
          </a:p>
          <a:p>
            <a:pPr algn="l" defTabSz="1028700" rtl="0" latinLnBrk="1" hangingPunct="0"/>
            <a:r>
              <a:rPr kumimoji="0" lang="en-US" altLang="zh-CN"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A.    </a:t>
            </a:r>
            <a:r>
              <a:rPr kumimoji="0" lang="en-US" altLang="zh-CN" sz="3200" b="0" i="0" u="none" strike="noStrike" cap="none" spc="0" normalizeH="0" baseline="0" dirty="0" smtClean="0">
                <a:ln>
                  <a:noFill/>
                </a:ln>
                <a:solidFill>
                  <a:srgbClr val="000000"/>
                </a:solidFill>
                <a:effectLst/>
                <a:uFillTx/>
                <a:sym typeface="Times New Roman"/>
              </a:rPr>
              <a:t>a</a:t>
            </a:r>
            <a:r>
              <a:rPr lang="en-US" altLang="zh-CN" sz="3200" i="1" baseline="-25000" dirty="0" smtClean="0">
                <a:solidFill>
                  <a:srgbClr val="000000"/>
                </a:solidFill>
              </a:rPr>
              <a:t>α</a:t>
            </a:r>
            <a:r>
              <a:rPr lang="en-US" altLang="zh-CN" sz="3200" i="1" dirty="0" smtClean="0">
                <a:solidFill>
                  <a:srgbClr val="000000"/>
                </a:solidFill>
              </a:rPr>
              <a:t> </a:t>
            </a:r>
            <a:r>
              <a:rPr kumimoji="0" lang="en-US" altLang="zh-CN" sz="3200" b="0" i="0" u="none" strike="noStrike" cap="none" spc="0" normalizeH="0" baseline="0" dirty="0" smtClean="0">
                <a:ln>
                  <a:noFill/>
                </a:ln>
                <a:solidFill>
                  <a:srgbClr val="000000"/>
                </a:solidFill>
                <a:effectLst/>
                <a:uFillTx/>
                <a:sym typeface="Times New Roman"/>
              </a:rPr>
              <a:t>=</a:t>
            </a:r>
            <a:r>
              <a:rPr kumimoji="0" lang="en-US" altLang="zh-CN" sz="3200" b="0" i="0" u="none" strike="noStrike" cap="none" spc="0" normalizeH="0" baseline="0" dirty="0" err="1" smtClean="0">
                <a:ln>
                  <a:noFill/>
                </a:ln>
                <a:solidFill>
                  <a:srgbClr val="000000"/>
                </a:solidFill>
                <a:effectLst/>
                <a:uFillTx/>
                <a:sym typeface="Times New Roman"/>
              </a:rPr>
              <a:t>a</a:t>
            </a:r>
            <a:r>
              <a:rPr kumimoji="0" lang="en-US" altLang="zh-CN" sz="3200" b="0" i="0" u="none" strike="noStrike" cap="none" spc="0" normalizeH="0" baseline="-25000" dirty="0" err="1" smtClean="0">
                <a:ln>
                  <a:noFill/>
                </a:ln>
                <a:solidFill>
                  <a:srgbClr val="000000"/>
                </a:solidFill>
                <a:effectLst/>
                <a:uFillTx/>
                <a:sym typeface="Times New Roman"/>
              </a:rPr>
              <a:t>p</a:t>
            </a:r>
            <a:r>
              <a:rPr kumimoji="0" lang="en-US" altLang="zh-CN" sz="3200" b="0" i="0" u="none" strike="noStrike" cap="none" spc="0" normalizeH="0" baseline="0" dirty="0" smtClean="0">
                <a:ln>
                  <a:noFill/>
                </a:ln>
                <a:solidFill>
                  <a:srgbClr val="000000"/>
                </a:solidFill>
                <a:effectLst/>
                <a:uFillTx/>
                <a:sym typeface="Times New Roman"/>
              </a:rPr>
              <a:t>                       </a:t>
            </a:r>
            <a:r>
              <a:rPr lang="en-US" altLang="zh-CN" dirty="0" smtClean="0">
                <a:solidFill>
                  <a:srgbClr val="000000"/>
                </a:solidFill>
              </a:rPr>
              <a:t>B. </a:t>
            </a:r>
            <a:r>
              <a:rPr lang="en-US" altLang="zh-CN" sz="2800" dirty="0">
                <a:solidFill>
                  <a:srgbClr val="000000"/>
                </a:solidFill>
              </a:rPr>
              <a:t>a</a:t>
            </a:r>
            <a:r>
              <a:rPr lang="en-US" altLang="zh-CN" sz="2800" i="1" baseline="-25000" dirty="0">
                <a:solidFill>
                  <a:srgbClr val="000000"/>
                </a:solidFill>
              </a:rPr>
              <a:t>α</a:t>
            </a:r>
            <a:r>
              <a:rPr lang="en-US" altLang="zh-CN" sz="2800" i="1" dirty="0">
                <a:solidFill>
                  <a:srgbClr val="000000"/>
                </a:solidFill>
              </a:rPr>
              <a:t> </a:t>
            </a:r>
            <a:r>
              <a:rPr lang="en-US" altLang="zh-CN" sz="2800" dirty="0" smtClean="0">
                <a:solidFill>
                  <a:srgbClr val="000000"/>
                </a:solidFill>
              </a:rPr>
              <a:t>= -2a</a:t>
            </a:r>
            <a:r>
              <a:rPr lang="en-US" altLang="zh-CN" sz="2800" baseline="-25000" dirty="0" smtClean="0">
                <a:solidFill>
                  <a:srgbClr val="000000"/>
                </a:solidFill>
              </a:rPr>
              <a:t>p</a:t>
            </a:r>
            <a:r>
              <a:rPr lang="en-US" altLang="zh-CN" sz="2800" dirty="0" smtClean="0">
                <a:solidFill>
                  <a:srgbClr val="000000"/>
                </a:solidFill>
              </a:rPr>
              <a:t> </a:t>
            </a:r>
          </a:p>
          <a:p>
            <a:pPr algn="l" defTabSz="1028700" rtl="0" latinLnBrk="1" hangingPunct="0"/>
            <a:r>
              <a:rPr kumimoji="0" lang="en-US" altLang="zh-CN"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C.     </a:t>
            </a:r>
            <a:r>
              <a:rPr lang="en-US" altLang="zh-CN" sz="2800" dirty="0" smtClean="0">
                <a:solidFill>
                  <a:srgbClr val="000000"/>
                </a:solidFill>
              </a:rPr>
              <a:t>a</a:t>
            </a:r>
            <a:r>
              <a:rPr lang="en-US" altLang="zh-CN" sz="2800" i="1" baseline="-25000" dirty="0" smtClean="0">
                <a:solidFill>
                  <a:srgbClr val="000000"/>
                </a:solidFill>
              </a:rPr>
              <a:t>α</a:t>
            </a:r>
            <a:r>
              <a:rPr lang="en-US" altLang="zh-CN" sz="2800" i="1" dirty="0" smtClean="0">
                <a:solidFill>
                  <a:srgbClr val="000000"/>
                </a:solidFill>
              </a:rPr>
              <a:t> </a:t>
            </a:r>
            <a:r>
              <a:rPr lang="en-US" altLang="zh-CN" sz="2800" dirty="0" smtClean="0">
                <a:solidFill>
                  <a:srgbClr val="000000"/>
                </a:solidFill>
              </a:rPr>
              <a:t>=4a</a:t>
            </a:r>
            <a:r>
              <a:rPr lang="en-US" altLang="zh-CN" sz="2800" baseline="-25000" dirty="0" smtClean="0">
                <a:solidFill>
                  <a:srgbClr val="000000"/>
                </a:solidFill>
              </a:rPr>
              <a:t>p</a:t>
            </a:r>
            <a:r>
              <a:rPr kumimoji="0" lang="en-US" altLang="zh-CN" sz="2800" b="0" i="0" u="none" strike="noStrike" cap="none" spc="0" normalizeH="0" baseline="0" dirty="0" smtClean="0">
                <a:ln>
                  <a:noFill/>
                </a:ln>
                <a:solidFill>
                  <a:srgbClr val="000000"/>
                </a:solidFill>
                <a:effectLst/>
                <a:uFillTx/>
                <a:sym typeface="Times New Roman"/>
              </a:rPr>
              <a:t>                          </a:t>
            </a:r>
            <a:r>
              <a:rPr lang="en-US" altLang="zh-CN" dirty="0" smtClean="0">
                <a:solidFill>
                  <a:srgbClr val="000000"/>
                </a:solidFill>
              </a:rPr>
              <a:t>D. </a:t>
            </a:r>
            <a:r>
              <a:rPr lang="en-US" altLang="zh-CN" sz="2800" dirty="0" smtClean="0">
                <a:solidFill>
                  <a:srgbClr val="000000"/>
                </a:solidFill>
              </a:rPr>
              <a:t>-4a</a:t>
            </a:r>
            <a:r>
              <a:rPr lang="en-US" altLang="zh-CN" sz="2800" i="1" baseline="-25000" dirty="0" smtClean="0">
                <a:solidFill>
                  <a:srgbClr val="000000"/>
                </a:solidFill>
              </a:rPr>
              <a:t>α</a:t>
            </a:r>
            <a:r>
              <a:rPr lang="en-US" altLang="zh-CN" sz="2800" i="1" dirty="0" smtClean="0">
                <a:solidFill>
                  <a:srgbClr val="000000"/>
                </a:solidFill>
              </a:rPr>
              <a:t> </a:t>
            </a:r>
            <a:r>
              <a:rPr lang="en-US" altLang="zh-CN" sz="2800" dirty="0" smtClean="0">
                <a:solidFill>
                  <a:srgbClr val="000000"/>
                </a:solidFill>
              </a:rPr>
              <a:t>= </a:t>
            </a:r>
            <a:r>
              <a:rPr lang="en-US" altLang="zh-CN" sz="2800" dirty="0" err="1" smtClean="0">
                <a:solidFill>
                  <a:srgbClr val="000000"/>
                </a:solidFill>
              </a:rPr>
              <a:t>a</a:t>
            </a:r>
            <a:r>
              <a:rPr lang="en-US" altLang="zh-CN" sz="2800" baseline="-25000" dirty="0" err="1" smtClean="0">
                <a:solidFill>
                  <a:srgbClr val="000000"/>
                </a:solidFill>
              </a:rPr>
              <a:t>p</a:t>
            </a:r>
            <a:r>
              <a:rPr lang="en-US" altLang="zh-CN" sz="2800" dirty="0" smtClean="0">
                <a:solidFill>
                  <a:srgbClr val="000000"/>
                </a:solidFill>
              </a:rPr>
              <a:t> </a:t>
            </a:r>
            <a:endParaRPr kumimoji="0" lang="zh-CN" altLang="en-US" sz="2800" b="0" i="0" u="none" strike="noStrike" cap="none" spc="0" normalizeH="0" baseline="0" dirty="0">
              <a:ln>
                <a:noFill/>
              </a:ln>
              <a:solidFill>
                <a:srgbClr val="000000"/>
              </a:solidFill>
              <a:effectLst/>
              <a:uFillTx/>
              <a:sym typeface="Times New Roman"/>
            </a:endParaRPr>
          </a:p>
        </p:txBody>
      </p:sp>
      <p:sp>
        <p:nvSpPr>
          <p:cNvPr id="3" name="TextBox 2"/>
          <p:cNvSpPr txBox="1"/>
          <p:nvPr/>
        </p:nvSpPr>
        <p:spPr>
          <a:xfrm>
            <a:off x="827584" y="180477"/>
            <a:ext cx="3168352" cy="88844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zh-CN" sz="3200" b="1" dirty="0">
                <a:solidFill>
                  <a:srgbClr val="0000CC"/>
                </a:solidFill>
              </a:rPr>
              <a:t>单项选择题</a:t>
            </a:r>
          </a:p>
        </p:txBody>
      </p:sp>
    </p:spTree>
    <p:extLst>
      <p:ext uri="{BB962C8B-B14F-4D97-AF65-F5344CB8AC3E}">
        <p14:creationId xmlns:p14="http://schemas.microsoft.com/office/powerpoint/2010/main" val="2038086737"/>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20700" y="716571"/>
            <a:ext cx="8102600" cy="221535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lnSpc>
                <a:spcPct val="150000"/>
              </a:lnSpc>
            </a:pPr>
            <a:r>
              <a:rPr lang="zh-CN" altLang="en-US" b="1" dirty="0">
                <a:solidFill>
                  <a:srgbClr val="000000"/>
                </a:solidFill>
              </a:rPr>
              <a:t>一</a:t>
            </a:r>
            <a:r>
              <a:rPr lang="en-US" altLang="zh-CN" b="1" i="1" dirty="0">
                <a:solidFill>
                  <a:srgbClr val="000000"/>
                </a:solidFill>
              </a:rPr>
              <a:t>α</a:t>
            </a:r>
            <a:r>
              <a:rPr lang="zh-CN" altLang="en-US" b="1" dirty="0">
                <a:solidFill>
                  <a:srgbClr val="000000"/>
                </a:solidFill>
              </a:rPr>
              <a:t>粒子（电量</a:t>
            </a:r>
            <a:r>
              <a:rPr lang="en-US" altLang="zh-CN" b="1" dirty="0">
                <a:solidFill>
                  <a:srgbClr val="000000"/>
                </a:solidFill>
              </a:rPr>
              <a:t>+2</a:t>
            </a:r>
            <a:r>
              <a:rPr lang="en-US" altLang="zh-CN" b="1" i="1" dirty="0">
                <a:solidFill>
                  <a:srgbClr val="000000"/>
                </a:solidFill>
              </a:rPr>
              <a:t>e</a:t>
            </a:r>
            <a:r>
              <a:rPr lang="zh-CN" altLang="en-US" b="1" dirty="0">
                <a:solidFill>
                  <a:srgbClr val="000000"/>
                </a:solidFill>
              </a:rPr>
              <a:t>、质量</a:t>
            </a:r>
            <a:r>
              <a:rPr lang="en-US" altLang="zh-CN" b="1" dirty="0">
                <a:solidFill>
                  <a:srgbClr val="000000"/>
                </a:solidFill>
              </a:rPr>
              <a:t>4</a:t>
            </a:r>
            <a:r>
              <a:rPr lang="en-US" altLang="zh-CN" b="1" i="1" dirty="0">
                <a:solidFill>
                  <a:srgbClr val="000000"/>
                </a:solidFill>
              </a:rPr>
              <a:t>m</a:t>
            </a:r>
            <a:r>
              <a:rPr lang="en-US" altLang="zh-CN" b="1" i="1" baseline="-25000" dirty="0">
                <a:solidFill>
                  <a:srgbClr val="000000"/>
                </a:solidFill>
              </a:rPr>
              <a:t>p</a:t>
            </a:r>
            <a:r>
              <a:rPr lang="zh-CN" altLang="en-US" b="1" dirty="0">
                <a:solidFill>
                  <a:srgbClr val="000000"/>
                </a:solidFill>
              </a:rPr>
              <a:t>）撞向一个质子（电量</a:t>
            </a:r>
            <a:r>
              <a:rPr lang="en-US" altLang="zh-CN" b="1" dirty="0">
                <a:solidFill>
                  <a:srgbClr val="000000"/>
                </a:solidFill>
              </a:rPr>
              <a:t>+</a:t>
            </a:r>
            <a:r>
              <a:rPr lang="en-US" altLang="zh-CN" b="1" i="1" dirty="0">
                <a:solidFill>
                  <a:srgbClr val="000000"/>
                </a:solidFill>
              </a:rPr>
              <a:t>e</a:t>
            </a:r>
            <a:r>
              <a:rPr lang="zh-CN" altLang="en-US" b="1" dirty="0">
                <a:solidFill>
                  <a:srgbClr val="000000"/>
                </a:solidFill>
              </a:rPr>
              <a:t>、质量</a:t>
            </a:r>
            <a:r>
              <a:rPr lang="en-US" altLang="zh-CN" b="1" i="1" dirty="0" err="1">
                <a:solidFill>
                  <a:srgbClr val="000000"/>
                </a:solidFill>
              </a:rPr>
              <a:t>m</a:t>
            </a:r>
            <a:r>
              <a:rPr lang="en-US" altLang="zh-CN" b="1" i="1" baseline="-25000" dirty="0" err="1">
                <a:solidFill>
                  <a:srgbClr val="000000"/>
                </a:solidFill>
              </a:rPr>
              <a:t>p</a:t>
            </a:r>
            <a:r>
              <a:rPr lang="en-US" altLang="zh-CN" b="1" i="1" baseline="-25000" dirty="0">
                <a:solidFill>
                  <a:srgbClr val="000000"/>
                </a:solidFill>
              </a:rPr>
              <a:t> </a:t>
            </a:r>
            <a:r>
              <a:rPr lang="zh-CN" altLang="en-US" b="1" dirty="0">
                <a:solidFill>
                  <a:srgbClr val="000000"/>
                </a:solidFill>
              </a:rPr>
              <a:t>）。假设除静电斥力外没有其他相互作用。下列关于两个粒子的加速度的描述哪一个是正确的？</a:t>
            </a:r>
            <a:endParaRPr lang="en-US" altLang="zh-CN" b="1" dirty="0">
              <a:solidFill>
                <a:srgbClr val="000000"/>
              </a:solidFill>
            </a:endParaRPr>
          </a:p>
        </p:txBody>
      </p:sp>
      <p:sp>
        <p:nvSpPr>
          <p:cNvPr id="4" name="文本框 3"/>
          <p:cNvSpPr txBox="1"/>
          <p:nvPr>
            <p:custDataLst>
              <p:tags r:id="rId3"/>
            </p:custDataLst>
          </p:nvPr>
        </p:nvSpPr>
        <p:spPr>
          <a:xfrm>
            <a:off x="1828800" y="278606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en-US" altLang="zh-CN" sz="2800" dirty="0">
                <a:solidFill>
                  <a:srgbClr val="000000"/>
                </a:solidFill>
              </a:rPr>
              <a:t>a</a:t>
            </a:r>
            <a:r>
              <a:rPr lang="en-US" altLang="zh-CN" sz="2800" i="1" baseline="-25000" dirty="0">
                <a:solidFill>
                  <a:srgbClr val="000000"/>
                </a:solidFill>
              </a:rPr>
              <a:t>α</a:t>
            </a:r>
            <a:r>
              <a:rPr lang="en-US" altLang="zh-CN" sz="2800" i="1" dirty="0">
                <a:solidFill>
                  <a:srgbClr val="000000"/>
                </a:solidFill>
              </a:rPr>
              <a:t> </a:t>
            </a:r>
            <a:r>
              <a:rPr lang="en-US" altLang="zh-CN" sz="2800" dirty="0">
                <a:solidFill>
                  <a:srgbClr val="000000"/>
                </a:solidFill>
              </a:rPr>
              <a:t>=</a:t>
            </a:r>
            <a:r>
              <a:rPr lang="en-US" altLang="zh-CN" sz="2800" dirty="0" err="1">
                <a:solidFill>
                  <a:srgbClr val="000000"/>
                </a:solidFill>
              </a:rPr>
              <a:t>a</a:t>
            </a:r>
            <a:r>
              <a:rPr lang="en-US" altLang="zh-CN" sz="2800" baseline="-25000" dirty="0" err="1">
                <a:solidFill>
                  <a:srgbClr val="000000"/>
                </a:solidFill>
              </a:rPr>
              <a:t>p</a:t>
            </a:r>
            <a:endParaRPr kumimoji="0" lang="zh-CN" altLang="en-US" sz="26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5" name="文本框 4"/>
          <p:cNvSpPr txBox="1"/>
          <p:nvPr>
            <p:custDataLst>
              <p:tags r:id="rId4"/>
            </p:custDataLst>
          </p:nvPr>
        </p:nvSpPr>
        <p:spPr>
          <a:xfrm>
            <a:off x="1828800" y="364331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en-US" altLang="zh-CN" dirty="0">
                <a:solidFill>
                  <a:srgbClr val="000000"/>
                </a:solidFill>
              </a:rPr>
              <a:t>a</a:t>
            </a:r>
            <a:r>
              <a:rPr lang="en-US" altLang="zh-CN" i="1" baseline="-25000" dirty="0">
                <a:solidFill>
                  <a:srgbClr val="000000"/>
                </a:solidFill>
              </a:rPr>
              <a:t>α</a:t>
            </a:r>
            <a:r>
              <a:rPr lang="en-US" altLang="zh-CN" i="1" dirty="0">
                <a:solidFill>
                  <a:srgbClr val="000000"/>
                </a:solidFill>
              </a:rPr>
              <a:t> </a:t>
            </a:r>
            <a:r>
              <a:rPr lang="en-US" altLang="zh-CN" dirty="0">
                <a:solidFill>
                  <a:srgbClr val="000000"/>
                </a:solidFill>
              </a:rPr>
              <a:t>= -2a</a:t>
            </a:r>
            <a:r>
              <a:rPr lang="en-US" altLang="zh-CN" baseline="-25000" dirty="0">
                <a:solidFill>
                  <a:srgbClr val="000000"/>
                </a:solidFill>
              </a:rPr>
              <a:t>p</a:t>
            </a:r>
            <a:endParaRPr kumimoji="0" lang="zh-CN" altLang="en-US" sz="26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6" name="文本框 5"/>
          <p:cNvSpPr txBox="1"/>
          <p:nvPr>
            <p:custDataLst>
              <p:tags r:id="rId5"/>
            </p:custDataLst>
          </p:nvPr>
        </p:nvSpPr>
        <p:spPr>
          <a:xfrm>
            <a:off x="1828800" y="450056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en-US" altLang="zh-CN" dirty="0">
                <a:solidFill>
                  <a:srgbClr val="000000"/>
                </a:solidFill>
              </a:rPr>
              <a:t>a</a:t>
            </a:r>
            <a:r>
              <a:rPr lang="en-US" altLang="zh-CN" i="1" baseline="-25000" dirty="0">
                <a:solidFill>
                  <a:srgbClr val="000000"/>
                </a:solidFill>
              </a:rPr>
              <a:t>α</a:t>
            </a:r>
            <a:r>
              <a:rPr lang="en-US" altLang="zh-CN" i="1" dirty="0">
                <a:solidFill>
                  <a:srgbClr val="000000"/>
                </a:solidFill>
              </a:rPr>
              <a:t> </a:t>
            </a:r>
            <a:r>
              <a:rPr lang="en-US" altLang="zh-CN" dirty="0">
                <a:solidFill>
                  <a:srgbClr val="000000"/>
                </a:solidFill>
              </a:rPr>
              <a:t>=4a</a:t>
            </a:r>
            <a:r>
              <a:rPr lang="en-US" altLang="zh-CN" baseline="-25000" dirty="0">
                <a:solidFill>
                  <a:srgbClr val="000000"/>
                </a:solidFill>
              </a:rPr>
              <a:t>p</a:t>
            </a:r>
            <a:endParaRPr kumimoji="0" lang="zh-CN" altLang="en-US" sz="26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7" name="文本框 6"/>
          <p:cNvSpPr txBox="1"/>
          <p:nvPr>
            <p:custDataLst>
              <p:tags r:id="rId6"/>
            </p:custDataLst>
          </p:nvPr>
        </p:nvSpPr>
        <p:spPr>
          <a:xfrm>
            <a:off x="1828800" y="535781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en-US" altLang="zh-CN" dirty="0">
                <a:solidFill>
                  <a:srgbClr val="000000"/>
                </a:solidFill>
              </a:rPr>
              <a:t>-4a</a:t>
            </a:r>
            <a:r>
              <a:rPr lang="en-US" altLang="zh-CN" i="1" baseline="-25000" dirty="0">
                <a:solidFill>
                  <a:srgbClr val="000000"/>
                </a:solidFill>
              </a:rPr>
              <a:t>α</a:t>
            </a:r>
            <a:r>
              <a:rPr lang="en-US" altLang="zh-CN" i="1" dirty="0">
                <a:solidFill>
                  <a:srgbClr val="000000"/>
                </a:solidFill>
              </a:rPr>
              <a:t> </a:t>
            </a:r>
            <a:r>
              <a:rPr lang="en-US" altLang="zh-CN" dirty="0">
                <a:solidFill>
                  <a:srgbClr val="000000"/>
                </a:solidFill>
              </a:rPr>
              <a:t>= </a:t>
            </a:r>
            <a:r>
              <a:rPr lang="en-US" altLang="zh-CN" dirty="0" err="1">
                <a:solidFill>
                  <a:srgbClr val="000000"/>
                </a:solidFill>
              </a:rPr>
              <a:t>a</a:t>
            </a:r>
            <a:r>
              <a:rPr lang="en-US" altLang="zh-CN" baseline="-25000" dirty="0" err="1">
                <a:solidFill>
                  <a:srgbClr val="000000"/>
                </a:solidFill>
              </a:rPr>
              <a:t>p</a:t>
            </a:r>
            <a:endParaRPr kumimoji="0" lang="zh-CN" altLang="en-US" sz="2600"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00FF00"/>
          </a:solidFill>
          <a:ln w="254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a:noFill/>
              <a:prstDash val="solid"/>
              <a:bevel/>
            </a:ln>
            <a:effectLst/>
            <a:extLst>
              <a:ext uri="{91240B29-F687-4F45-9708-019B960494DF}">
                <a14:hiddenLine xmlns:a14="http://schemas.microsoft.com/office/drawing/2010/main" w="25400" cap="flat">
                  <a:solidFill>
                    <a:srgbClr val="CC9900"/>
                  </a:solidFill>
                  <a:prstDash val="solid"/>
                  <a:bevel/>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4" name="ColorBlock"/>
            <p:cNvSpPr/>
            <p:nvPr>
              <p:custDataLst>
                <p:tags r:id="rId15"/>
              </p:custDataLst>
            </p:nvPr>
          </p:nvSpPr>
          <p:spPr>
            <a:xfrm>
              <a:off x="0" y="0"/>
              <a:ext cx="190500" cy="635000"/>
            </a:xfrm>
            <a:prstGeom prst="rect">
              <a:avLst/>
            </a:prstGeom>
            <a:solidFill>
              <a:srgbClr val="639EF4"/>
            </a:solidFill>
            <a:ln w="25400" cap="flat">
              <a:noFill/>
              <a:prstDash val="solid"/>
              <a:bevel/>
            </a:ln>
            <a:effectLst/>
            <a:extLst>
              <a:ext uri="{91240B29-F687-4F45-9708-019B960494DF}">
                <a14:hiddenLine xmlns:a14="http://schemas.microsoft.com/office/drawing/2010/main" w="25400" cap="flat">
                  <a:solidFill>
                    <a:srgbClr val="CC9900"/>
                  </a:solidFill>
                  <a:prstDash val="solid"/>
                  <a:bevel/>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ctr" anchorCtr="0">
              <a:noAutofit/>
            </a:bodyPr>
            <a:lstStyle/>
            <a:p>
              <a:pPr algn="l" defTabSz="1028700"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16" name="TipText"/>
            <p:cNvSpPr txBox="1"/>
            <p:nvPr>
              <p:custDataLst>
                <p:tags r:id="rId17"/>
              </p:custDataLst>
            </p:nvPr>
          </p:nvSpPr>
          <p:spPr>
            <a:xfrm>
              <a:off x="1434463"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ctr" anchorCtr="0">
              <a:noAutofit/>
            </a:bodyPr>
            <a:lstStyle/>
            <a:p>
              <a:pPr algn="l" defTabSz="1028700"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031602082"/>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p:nvPr/>
        </p:nvSpPr>
        <p:spPr>
          <a:xfrm>
            <a:off x="0" y="115888"/>
            <a:ext cx="9144000" cy="758312"/>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lvl="0" algn="ctr">
              <a:defRPr sz="1800"/>
            </a:pPr>
            <a:r>
              <a:rPr sz="3600" dirty="0" err="1">
                <a:solidFill>
                  <a:srgbClr val="3333FF"/>
                </a:solidFill>
                <a:latin typeface="SimHei"/>
                <a:ea typeface="SimHei"/>
                <a:cs typeface="SimHei"/>
                <a:sym typeface="SimHei"/>
              </a:rPr>
              <a:t>万有引力</a:t>
            </a:r>
            <a:r>
              <a:rPr sz="3600" dirty="0">
                <a:solidFill>
                  <a:srgbClr val="3333FF"/>
                </a:solidFill>
                <a:latin typeface="SimHei"/>
                <a:ea typeface="SimHei"/>
                <a:cs typeface="SimHei"/>
                <a:sym typeface="SimHei"/>
              </a:rPr>
              <a:t> </a:t>
            </a:r>
            <a:r>
              <a:rPr sz="3600" dirty="0" err="1">
                <a:solidFill>
                  <a:srgbClr val="3333FF"/>
                </a:solidFill>
                <a:latin typeface="SimHei"/>
                <a:ea typeface="SimHei"/>
                <a:cs typeface="SimHei"/>
                <a:sym typeface="SimHei"/>
              </a:rPr>
              <a:t>vs.静电力</a:t>
            </a:r>
            <a:endParaRPr sz="3600" dirty="0">
              <a:solidFill>
                <a:srgbClr val="3333FF"/>
              </a:solidFill>
              <a:latin typeface="SimHei"/>
              <a:ea typeface="SimHei"/>
              <a:cs typeface="SimHei"/>
              <a:sym typeface="SimHei"/>
            </a:endParaRPr>
          </a:p>
        </p:txBody>
      </p:sp>
      <p:sp>
        <p:nvSpPr>
          <p:cNvPr id="133" name="Shape 133"/>
          <p:cNvSpPr/>
          <p:nvPr/>
        </p:nvSpPr>
        <p:spPr>
          <a:xfrm>
            <a:off x="2862266" y="1341440"/>
            <a:ext cx="285751" cy="30003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C2514"/>
              </a:gs>
              <a:gs pos="100000">
                <a:srgbClr val="751109"/>
              </a:gs>
            </a:gsLst>
            <a:path path="circle">
              <a:fillToRect l="37721" t="-19636" r="62278" b="119636"/>
            </a:path>
          </a:gradFill>
          <a:ln w="12700">
            <a:miter lim="400000"/>
          </a:ln>
        </p:spPr>
        <p:txBody>
          <a:bodyPr lIns="0" tIns="0" rIns="0" bIns="0"/>
          <a:lstStyle/>
          <a:p>
            <a:pPr defTabSz="914111">
              <a:lnSpc>
                <a:spcPct val="100000"/>
              </a:lnSpc>
              <a:spcBef>
                <a:spcPts val="0"/>
              </a:spcBef>
            </a:pPr>
            <a:endParaRPr/>
          </a:p>
        </p:txBody>
      </p:sp>
      <p:sp>
        <p:nvSpPr>
          <p:cNvPr id="134" name="Shape 134"/>
          <p:cNvSpPr/>
          <p:nvPr/>
        </p:nvSpPr>
        <p:spPr>
          <a:xfrm>
            <a:off x="5416553" y="1341440"/>
            <a:ext cx="287339" cy="30003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00FF00"/>
              </a:gs>
              <a:gs pos="100000">
                <a:srgbClr val="007600"/>
              </a:gs>
            </a:gsLst>
            <a:path path="circle">
              <a:fillToRect l="37721" t="-19636" r="62278" b="119636"/>
            </a:path>
          </a:gradFill>
          <a:ln w="12700">
            <a:miter lim="400000"/>
          </a:ln>
        </p:spPr>
        <p:txBody>
          <a:bodyPr lIns="0" tIns="0" rIns="0" bIns="0"/>
          <a:lstStyle/>
          <a:p>
            <a:pPr defTabSz="914111">
              <a:lnSpc>
                <a:spcPct val="100000"/>
              </a:lnSpc>
              <a:spcBef>
                <a:spcPts val="0"/>
              </a:spcBef>
            </a:pPr>
            <a:endParaRPr/>
          </a:p>
        </p:txBody>
      </p:sp>
      <p:sp>
        <p:nvSpPr>
          <p:cNvPr id="135" name="Shape 135"/>
          <p:cNvSpPr/>
          <p:nvPr/>
        </p:nvSpPr>
        <p:spPr>
          <a:xfrm>
            <a:off x="3198816" y="2027238"/>
            <a:ext cx="2224087" cy="1589"/>
          </a:xfrm>
          <a:prstGeom prst="line">
            <a:avLst/>
          </a:prstGeom>
          <a:ln w="20701">
            <a:solidFill>
              <a:srgbClr val="006633"/>
            </a:solidFill>
            <a:round/>
            <a:headEnd type="triangle"/>
            <a:tailEnd type="triangle"/>
          </a:ln>
        </p:spPr>
        <p:txBody>
          <a:bodyPr lIns="0" tIns="0" rIns="0" bIns="0"/>
          <a:lstStyle/>
          <a:p>
            <a:pPr defTabSz="457056">
              <a:lnSpc>
                <a:spcPct val="100000"/>
              </a:lnSpc>
              <a:spcBef>
                <a:spcPts val="0"/>
              </a:spcBef>
              <a:defRPr sz="1200">
                <a:latin typeface="+mj-lt"/>
                <a:ea typeface="+mj-ea"/>
                <a:cs typeface="+mj-cs"/>
                <a:sym typeface="Helvetica"/>
              </a:defRPr>
            </a:pPr>
            <a:endParaRPr/>
          </a:p>
        </p:txBody>
      </p:sp>
      <p:sp>
        <p:nvSpPr>
          <p:cNvPr id="136" name="Shape 136"/>
          <p:cNvSpPr/>
          <p:nvPr/>
        </p:nvSpPr>
        <p:spPr>
          <a:xfrm>
            <a:off x="3135316" y="1479550"/>
            <a:ext cx="544513" cy="1588"/>
          </a:xfrm>
          <a:prstGeom prst="line">
            <a:avLst/>
          </a:prstGeom>
          <a:ln w="20701">
            <a:solidFill>
              <a:srgbClr val="FF0000"/>
            </a:solidFill>
            <a:round/>
            <a:tailEnd type="triangle"/>
          </a:ln>
        </p:spPr>
        <p:txBody>
          <a:bodyPr lIns="0" tIns="0" rIns="0" bIns="0"/>
          <a:lstStyle/>
          <a:p>
            <a:pPr defTabSz="457056">
              <a:lnSpc>
                <a:spcPct val="100000"/>
              </a:lnSpc>
              <a:spcBef>
                <a:spcPts val="0"/>
              </a:spcBef>
              <a:defRPr sz="1200">
                <a:latin typeface="+mj-lt"/>
                <a:ea typeface="+mj-ea"/>
                <a:cs typeface="+mj-cs"/>
                <a:sym typeface="Helvetica"/>
              </a:defRPr>
            </a:pPr>
            <a:endParaRPr/>
          </a:p>
        </p:txBody>
      </p:sp>
      <p:sp>
        <p:nvSpPr>
          <p:cNvPr id="137" name="Shape 137"/>
          <p:cNvSpPr/>
          <p:nvPr/>
        </p:nvSpPr>
        <p:spPr>
          <a:xfrm flipH="1">
            <a:off x="4862515" y="1479553"/>
            <a:ext cx="544513" cy="1589"/>
          </a:xfrm>
          <a:prstGeom prst="line">
            <a:avLst/>
          </a:prstGeom>
          <a:ln w="20701">
            <a:solidFill>
              <a:srgbClr val="FF0000"/>
            </a:solidFill>
            <a:round/>
            <a:tailEnd type="triangle"/>
          </a:ln>
        </p:spPr>
        <p:txBody>
          <a:bodyPr lIns="0" tIns="0" rIns="0" bIns="0"/>
          <a:lstStyle/>
          <a:p>
            <a:pPr defTabSz="457056">
              <a:lnSpc>
                <a:spcPct val="100000"/>
              </a:lnSpc>
              <a:spcBef>
                <a:spcPts val="0"/>
              </a:spcBef>
              <a:defRPr sz="1200">
                <a:latin typeface="+mj-lt"/>
                <a:ea typeface="+mj-ea"/>
                <a:cs typeface="+mj-cs"/>
                <a:sym typeface="Helvetica"/>
              </a:defRPr>
            </a:pPr>
            <a:endParaRPr/>
          </a:p>
        </p:txBody>
      </p:sp>
      <p:sp>
        <p:nvSpPr>
          <p:cNvPr id="138" name="Shape 138"/>
          <p:cNvSpPr/>
          <p:nvPr/>
        </p:nvSpPr>
        <p:spPr>
          <a:xfrm>
            <a:off x="4284978" y="2027238"/>
            <a:ext cx="77158" cy="333016"/>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gn="ctr">
              <a:defRPr sz="3100" i="1"/>
            </a:lvl1pPr>
          </a:lstStyle>
          <a:p>
            <a:pPr lvl="0">
              <a:defRPr sz="1800" i="0"/>
            </a:pPr>
            <a:r>
              <a:rPr/>
              <a:t>r</a:t>
            </a:r>
          </a:p>
        </p:txBody>
      </p:sp>
      <p:sp>
        <p:nvSpPr>
          <p:cNvPr id="139" name="Shape 139"/>
          <p:cNvSpPr/>
          <p:nvPr/>
        </p:nvSpPr>
        <p:spPr>
          <a:xfrm>
            <a:off x="2339978" y="1042990"/>
            <a:ext cx="479477" cy="1329395"/>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p>
            <a:pPr lvl="0">
              <a:defRPr sz="1800"/>
            </a:pPr>
            <a:r>
              <a:rPr sz="2800" i="1">
                <a:solidFill>
                  <a:srgbClr val="FF0000"/>
                </a:solidFill>
              </a:rPr>
              <a:t>q</a:t>
            </a:r>
            <a:r>
              <a:rPr sz="2800" baseline="-25000">
                <a:solidFill>
                  <a:srgbClr val="FF0000"/>
                </a:solidFill>
              </a:rPr>
              <a:t>1</a:t>
            </a:r>
            <a:endParaRPr/>
          </a:p>
          <a:p>
            <a:pPr lvl="0">
              <a:defRPr sz="1800"/>
            </a:pPr>
            <a:r>
              <a:rPr sz="2800" i="1">
                <a:solidFill>
                  <a:srgbClr val="FF0000"/>
                </a:solidFill>
              </a:rPr>
              <a:t>m</a:t>
            </a:r>
            <a:r>
              <a:rPr sz="2800" baseline="-25000">
                <a:solidFill>
                  <a:srgbClr val="FF0000"/>
                </a:solidFill>
              </a:rPr>
              <a:t>1</a:t>
            </a:r>
          </a:p>
        </p:txBody>
      </p:sp>
      <p:sp>
        <p:nvSpPr>
          <p:cNvPr id="140" name="Shape 140"/>
          <p:cNvSpPr/>
          <p:nvPr/>
        </p:nvSpPr>
        <p:spPr>
          <a:xfrm>
            <a:off x="5686428" y="1042990"/>
            <a:ext cx="479477" cy="1329395"/>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p>
            <a:pPr lvl="0">
              <a:defRPr sz="1800"/>
            </a:pPr>
            <a:r>
              <a:rPr sz="2800" i="1" dirty="0">
                <a:solidFill>
                  <a:srgbClr val="009900"/>
                </a:solidFill>
              </a:rPr>
              <a:t>q</a:t>
            </a:r>
            <a:r>
              <a:rPr sz="2800" baseline="-25000" dirty="0">
                <a:solidFill>
                  <a:srgbClr val="009900"/>
                </a:solidFill>
              </a:rPr>
              <a:t>2</a:t>
            </a:r>
            <a:endParaRPr dirty="0"/>
          </a:p>
          <a:p>
            <a:pPr lvl="0">
              <a:defRPr sz="1800"/>
            </a:pPr>
            <a:r>
              <a:rPr sz="2800" i="1" dirty="0">
                <a:solidFill>
                  <a:srgbClr val="009900"/>
                </a:solidFill>
              </a:rPr>
              <a:t>m</a:t>
            </a:r>
            <a:r>
              <a:rPr sz="2800" baseline="-25000" dirty="0">
                <a:solidFill>
                  <a:srgbClr val="009900"/>
                </a:solidFill>
              </a:rPr>
              <a:t>2</a:t>
            </a:r>
          </a:p>
        </p:txBody>
      </p:sp>
      <p:sp>
        <p:nvSpPr>
          <p:cNvPr id="141" name="Shape 141"/>
          <p:cNvSpPr/>
          <p:nvPr/>
        </p:nvSpPr>
        <p:spPr>
          <a:xfrm>
            <a:off x="2708278" y="1243013"/>
            <a:ext cx="606425" cy="342043"/>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lvl1pPr algn="ctr">
              <a:lnSpc>
                <a:spcPct val="90000"/>
              </a:lnSpc>
              <a:defRPr sz="2800">
                <a:solidFill>
                  <a:srgbClr val="006633"/>
                </a:solidFill>
              </a:defRPr>
            </a:lvl1pPr>
          </a:lstStyle>
          <a:p>
            <a:pPr lvl="0">
              <a:defRPr sz="1800">
                <a:solidFill>
                  <a:srgbClr val="000000"/>
                </a:solidFill>
              </a:defRPr>
            </a:pPr>
            <a:r>
              <a:rPr dirty="0"/>
              <a:t>+</a:t>
            </a:r>
          </a:p>
        </p:txBody>
      </p:sp>
      <p:sp>
        <p:nvSpPr>
          <p:cNvPr id="142" name="Shape 142"/>
          <p:cNvSpPr/>
          <p:nvPr/>
        </p:nvSpPr>
        <p:spPr>
          <a:xfrm>
            <a:off x="5262562" y="1235075"/>
            <a:ext cx="606426" cy="342043"/>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lvl1pPr algn="ctr">
              <a:lnSpc>
                <a:spcPct val="90000"/>
              </a:lnSpc>
              <a:defRPr sz="2800">
                <a:solidFill>
                  <a:srgbClr val="FFFFFF"/>
                </a:solidFill>
              </a:defRPr>
            </a:lvl1pPr>
          </a:lstStyle>
          <a:p>
            <a:pPr lvl="0">
              <a:defRPr sz="1800">
                <a:solidFill>
                  <a:srgbClr val="000000"/>
                </a:solidFill>
              </a:defRPr>
            </a:pPr>
            <a:r>
              <a:rPr/>
              <a:t>-</a:t>
            </a:r>
          </a:p>
        </p:txBody>
      </p:sp>
      <p:pic>
        <p:nvPicPr>
          <p:cNvPr id="144" name="image23.pdf"/>
          <p:cNvPicPr/>
          <p:nvPr/>
        </p:nvPicPr>
        <p:blipFill>
          <a:blip r:embed="rId3" cstate="print">
            <a:extLst/>
          </a:blip>
          <a:stretch>
            <a:fillRect/>
          </a:stretch>
        </p:blipFill>
        <p:spPr>
          <a:xfrm>
            <a:off x="3408362" y="771525"/>
            <a:ext cx="492126" cy="571500"/>
          </a:xfrm>
          <a:prstGeom prst="rect">
            <a:avLst/>
          </a:prstGeom>
          <a:ln w="12700">
            <a:miter lim="400000"/>
          </a:ln>
        </p:spPr>
      </p:pic>
      <p:pic>
        <p:nvPicPr>
          <p:cNvPr id="145" name="image24.pdf"/>
          <p:cNvPicPr/>
          <p:nvPr/>
        </p:nvPicPr>
        <p:blipFill>
          <a:blip r:embed="rId3" cstate="print">
            <a:extLst/>
          </a:blip>
          <a:stretch>
            <a:fillRect/>
          </a:stretch>
        </p:blipFill>
        <p:spPr>
          <a:xfrm>
            <a:off x="4770440" y="836615"/>
            <a:ext cx="492126" cy="571501"/>
          </a:xfrm>
          <a:prstGeom prst="rect">
            <a:avLst/>
          </a:prstGeom>
          <a:ln w="12700">
            <a:miter lim="400000"/>
          </a:ln>
        </p:spPr>
      </p:pic>
      <p:grpSp>
        <p:nvGrpSpPr>
          <p:cNvPr id="2" name="组合 1"/>
          <p:cNvGrpSpPr/>
          <p:nvPr/>
        </p:nvGrpSpPr>
        <p:grpSpPr>
          <a:xfrm>
            <a:off x="169864" y="2722568"/>
            <a:ext cx="7588247" cy="3352800"/>
            <a:chOff x="114303" y="2263778"/>
            <a:chExt cx="7588247" cy="3352800"/>
          </a:xfrm>
        </p:grpSpPr>
        <p:sp>
          <p:nvSpPr>
            <p:cNvPr id="130" name="Shape 130"/>
            <p:cNvSpPr/>
            <p:nvPr/>
          </p:nvSpPr>
          <p:spPr>
            <a:xfrm>
              <a:off x="114303" y="4469697"/>
              <a:ext cx="992547" cy="610305"/>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p>
              <a:pPr lvl="0">
                <a:defRPr sz="1800"/>
              </a:pPr>
              <a:r>
                <a:rPr sz="2800" dirty="0" err="1">
                  <a:latin typeface="SimHei"/>
                  <a:ea typeface="SimHei"/>
                  <a:cs typeface="SimHei"/>
                  <a:sym typeface="SimHei"/>
                </a:rPr>
                <a:t>电子</a:t>
              </a:r>
              <a:r>
                <a:rPr sz="2800" dirty="0">
                  <a:latin typeface="SimHei"/>
                  <a:ea typeface="SimHei"/>
                  <a:cs typeface="SimHei"/>
                  <a:sym typeface="SimHei"/>
                </a:rPr>
                <a:t>:</a:t>
              </a:r>
            </a:p>
          </p:txBody>
        </p:sp>
        <p:sp>
          <p:nvSpPr>
            <p:cNvPr id="131" name="Shape 131"/>
            <p:cNvSpPr/>
            <p:nvPr/>
          </p:nvSpPr>
          <p:spPr>
            <a:xfrm>
              <a:off x="4067946" y="4821240"/>
              <a:ext cx="533401" cy="455613"/>
            </a:xfrm>
            <a:prstGeom prst="rightArrow">
              <a:avLst>
                <a:gd name="adj1" fmla="val 50000"/>
                <a:gd name="adj2" fmla="val 29268"/>
              </a:avLst>
            </a:prstGeom>
            <a:gradFill>
              <a:gsLst>
                <a:gs pos="0">
                  <a:srgbClr val="25681A"/>
                </a:gs>
                <a:gs pos="80000">
                  <a:srgbClr val="318922"/>
                </a:gs>
                <a:gs pos="100000">
                  <a:srgbClr val="2F8B20"/>
                </a:gs>
              </a:gsLst>
              <a:lin ang="16200000"/>
            </a:gradFill>
            <a:ln w="12700">
              <a:miter lim="400000"/>
            </a:ln>
            <a:effectLst>
              <a:outerShdw blurRad="38100" dist="23000" dir="5400000" rotWithShape="0">
                <a:srgbClr val="000000">
                  <a:alpha val="35000"/>
                </a:srgbClr>
              </a:outerShdw>
            </a:effectLst>
          </p:spPr>
          <p:txBody>
            <a:bodyPr lIns="0" tIns="0" rIns="0" bIns="0" anchor="ctr"/>
            <a:lstStyle/>
            <a:p>
              <a:pPr defTabSz="914111">
                <a:lnSpc>
                  <a:spcPct val="100000"/>
                </a:lnSpc>
                <a:spcBef>
                  <a:spcPts val="0"/>
                </a:spcBef>
                <a:defRPr>
                  <a:solidFill>
                    <a:srgbClr val="FFFFFF"/>
                  </a:solidFill>
                  <a:latin typeface="Arial"/>
                  <a:ea typeface="Arial"/>
                  <a:cs typeface="Arial"/>
                  <a:sym typeface="Arial"/>
                </a:defRPr>
              </a:pPr>
              <a:endParaRPr/>
            </a:p>
          </p:txBody>
        </p:sp>
        <p:sp>
          <p:nvSpPr>
            <p:cNvPr id="132" name="Shape 132"/>
            <p:cNvSpPr/>
            <p:nvPr/>
          </p:nvSpPr>
          <p:spPr>
            <a:xfrm>
              <a:off x="4040190" y="3168653"/>
              <a:ext cx="533401" cy="455613"/>
            </a:xfrm>
            <a:prstGeom prst="rightArrow">
              <a:avLst>
                <a:gd name="adj1" fmla="val 50000"/>
                <a:gd name="adj2" fmla="val 29268"/>
              </a:avLst>
            </a:prstGeom>
            <a:gradFill>
              <a:gsLst>
                <a:gs pos="0">
                  <a:srgbClr val="25681A"/>
                </a:gs>
                <a:gs pos="80000">
                  <a:srgbClr val="318922"/>
                </a:gs>
                <a:gs pos="100000">
                  <a:srgbClr val="2F8B20"/>
                </a:gs>
              </a:gsLst>
              <a:lin ang="16200000"/>
            </a:gradFill>
            <a:ln w="12700">
              <a:miter lim="400000"/>
            </a:ln>
            <a:effectLst>
              <a:outerShdw blurRad="38100" dist="23000" dir="5400000" rotWithShape="0">
                <a:srgbClr val="000000">
                  <a:alpha val="35000"/>
                </a:srgbClr>
              </a:outerShdw>
            </a:effectLst>
          </p:spPr>
          <p:txBody>
            <a:bodyPr lIns="0" tIns="0" rIns="0" bIns="0" anchor="ctr"/>
            <a:lstStyle/>
            <a:p>
              <a:pPr defTabSz="914111">
                <a:lnSpc>
                  <a:spcPct val="100000"/>
                </a:lnSpc>
                <a:spcBef>
                  <a:spcPts val="0"/>
                </a:spcBef>
                <a:defRPr>
                  <a:solidFill>
                    <a:srgbClr val="FFFFFF"/>
                  </a:solidFill>
                  <a:latin typeface="Arial"/>
                  <a:ea typeface="Arial"/>
                  <a:cs typeface="Arial"/>
                  <a:sym typeface="Arial"/>
                </a:defRPr>
              </a:pPr>
              <a:endParaRPr/>
            </a:p>
          </p:txBody>
        </p:sp>
        <p:pic>
          <p:nvPicPr>
            <p:cNvPr id="146" name="image25.pdf"/>
            <p:cNvPicPr/>
            <p:nvPr/>
          </p:nvPicPr>
          <p:blipFill>
            <a:blip r:embed="rId4" cstate="print">
              <a:extLst/>
            </a:blip>
            <a:stretch>
              <a:fillRect/>
            </a:stretch>
          </p:blipFill>
          <p:spPr>
            <a:xfrm>
              <a:off x="1320800" y="2263778"/>
              <a:ext cx="2387600" cy="2078039"/>
            </a:xfrm>
            <a:prstGeom prst="rect">
              <a:avLst/>
            </a:prstGeom>
            <a:ln w="12700">
              <a:miter lim="400000"/>
            </a:ln>
          </p:spPr>
        </p:pic>
        <p:pic>
          <p:nvPicPr>
            <p:cNvPr id="147" name="image26.pdf"/>
            <p:cNvPicPr/>
            <p:nvPr/>
          </p:nvPicPr>
          <p:blipFill>
            <a:blip r:embed="rId5" cstate="print">
              <a:extLst/>
            </a:blip>
            <a:stretch>
              <a:fillRect/>
            </a:stretch>
          </p:blipFill>
          <p:spPr>
            <a:xfrm>
              <a:off x="5003803" y="2795591"/>
              <a:ext cx="2646364" cy="1201738"/>
            </a:xfrm>
            <a:prstGeom prst="rect">
              <a:avLst/>
            </a:prstGeom>
            <a:ln w="12700">
              <a:miter lim="400000"/>
            </a:ln>
          </p:spPr>
        </p:pic>
        <p:pic>
          <p:nvPicPr>
            <p:cNvPr id="148" name="image27.pdf"/>
            <p:cNvPicPr/>
            <p:nvPr/>
          </p:nvPicPr>
          <p:blipFill>
            <a:blip r:embed="rId6" cstate="print">
              <a:extLst/>
            </a:blip>
            <a:stretch>
              <a:fillRect/>
            </a:stretch>
          </p:blipFill>
          <p:spPr>
            <a:xfrm>
              <a:off x="1476375" y="4543427"/>
              <a:ext cx="2355850" cy="1073151"/>
            </a:xfrm>
            <a:prstGeom prst="rect">
              <a:avLst/>
            </a:prstGeom>
            <a:ln w="12700">
              <a:miter lim="400000"/>
            </a:ln>
          </p:spPr>
        </p:pic>
        <p:pic>
          <p:nvPicPr>
            <p:cNvPr id="149" name="image28.pdf"/>
            <p:cNvPicPr/>
            <p:nvPr/>
          </p:nvPicPr>
          <p:blipFill>
            <a:blip r:embed="rId7" cstate="print">
              <a:extLst/>
            </a:blip>
            <a:stretch>
              <a:fillRect/>
            </a:stretch>
          </p:blipFill>
          <p:spPr>
            <a:xfrm>
              <a:off x="4862512" y="4481515"/>
              <a:ext cx="2840038" cy="1135063"/>
            </a:xfrm>
            <a:prstGeom prst="rect">
              <a:avLst/>
            </a:prstGeom>
            <a:ln w="12700">
              <a:miter lim="400000"/>
            </a:ln>
          </p:spPr>
        </p:pic>
      </p:grpSp>
      <p:sp>
        <p:nvSpPr>
          <p:cNvPr id="150" name="Shape 150"/>
          <p:cNvSpPr/>
          <p:nvPr/>
        </p:nvSpPr>
        <p:spPr>
          <a:xfrm>
            <a:off x="7884368" y="2121183"/>
            <a:ext cx="993140" cy="3006166"/>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defTabSz="914111">
              <a:lnSpc>
                <a:spcPct val="100000"/>
              </a:lnSpc>
              <a:spcBef>
                <a:spcPts val="0"/>
              </a:spcBef>
              <a:defRPr sz="1800"/>
            </a:pPr>
            <a:r>
              <a:rPr sz="2700" dirty="0" err="1">
                <a:solidFill>
                  <a:srgbClr val="0F156A"/>
                </a:solidFill>
                <a:latin typeface="SimHei"/>
                <a:ea typeface="SimHei"/>
                <a:cs typeface="SimHei"/>
                <a:sym typeface="SimHei"/>
              </a:rPr>
              <a:t>微观世界万有引力往往可以忽略</a:t>
            </a:r>
            <a:r>
              <a:rPr sz="2700" dirty="0">
                <a:solidFill>
                  <a:srgbClr val="0F156A"/>
                </a:solidFill>
                <a:latin typeface="SimHei"/>
                <a:ea typeface="SimHei"/>
                <a:cs typeface="SimHei"/>
                <a:sym typeface="SimHei"/>
              </a:rPr>
              <a:t>.</a:t>
            </a:r>
          </a:p>
        </p:txBody>
      </p:sp>
      <mc:AlternateContent xmlns:mc="http://schemas.openxmlformats.org/markup-compatibility/2006">
        <mc:Choice xmlns:a14="http://schemas.microsoft.com/office/drawing/2010/main" Requires="a14">
          <p:sp>
            <p:nvSpPr>
              <p:cNvPr id="3" name="矩形 2"/>
              <p:cNvSpPr/>
              <p:nvPr/>
            </p:nvSpPr>
            <p:spPr>
              <a:xfrm>
                <a:off x="0" y="6191773"/>
                <a:ext cx="5868988" cy="535531"/>
              </a:xfrm>
              <a:prstGeom prst="rect">
                <a:avLst/>
              </a:prstGeom>
            </p:spPr>
            <p:txBody>
              <a:bodyPr wrap="square">
                <a:spAutoFit/>
              </a:bodyPr>
              <a:lstStyle/>
              <a:p>
                <a:r>
                  <a:rPr lang="zh-CN" altLang="en-US" dirty="0">
                    <a:sym typeface="Helvetica Neue"/>
                  </a:rPr>
                  <a:t>引力</a:t>
                </a:r>
                <a14:m>
                  <m:oMath xmlns:m="http://schemas.openxmlformats.org/officeDocument/2006/math">
                    <m:r>
                      <a:rPr lang="zh-CN" altLang="en-US" i="1">
                        <a:latin typeface="Cambria Math"/>
                        <a:sym typeface="Helvetica Neue"/>
                      </a:rPr>
                      <m:t>常量：</m:t>
                    </m:r>
                    <m:r>
                      <a:rPr lang="zh-CN" altLang="en-US" i="1">
                        <a:latin typeface="Cambria Math"/>
                        <a:sym typeface="Helvetica Neue"/>
                      </a:rPr>
                      <m:t>𝐺</m:t>
                    </m:r>
                    <m:r>
                      <a:rPr lang="zh-CN" altLang="en-US">
                        <a:latin typeface="Cambria Math"/>
                        <a:sym typeface="Helvetica Neue"/>
                      </a:rPr>
                      <m:t>=6.67×</m:t>
                    </m:r>
                    <m:sSup>
                      <m:sSupPr>
                        <m:ctrlPr>
                          <a:rPr lang="zh-CN" altLang="en-US" i="1">
                            <a:latin typeface="Cambria Math" panose="02040503050406030204" pitchFamily="18" charset="0"/>
                            <a:sym typeface="Helvetica Neue"/>
                          </a:rPr>
                        </m:ctrlPr>
                      </m:sSupPr>
                      <m:e>
                        <m:r>
                          <a:rPr lang="zh-CN" altLang="en-US">
                            <a:latin typeface="Cambria Math"/>
                            <a:sym typeface="Helvetica Neue"/>
                          </a:rPr>
                          <m:t>10</m:t>
                        </m:r>
                      </m:e>
                      <m:sup>
                        <m:r>
                          <a:rPr lang="zh-CN" altLang="en-US">
                            <a:latin typeface="Cambria Math"/>
                            <a:sym typeface="Helvetica Neue"/>
                          </a:rPr>
                          <m:t>−11</m:t>
                        </m:r>
                      </m:sup>
                    </m:sSup>
                    <m:r>
                      <m:rPr>
                        <m:sty m:val="p"/>
                      </m:rPr>
                      <a:rPr lang="zh-CN" altLang="en-US">
                        <a:latin typeface="Cambria Math"/>
                        <a:sym typeface="Helvetica Neue"/>
                      </a:rPr>
                      <m:t>N</m:t>
                    </m:r>
                    <m:r>
                      <a:rPr lang="zh-CN" altLang="en-US">
                        <a:latin typeface="Cambria Math"/>
                        <a:sym typeface="Helvetica Neue"/>
                      </a:rPr>
                      <m:t>⋅</m:t>
                    </m:r>
                    <m:sSup>
                      <m:sSupPr>
                        <m:ctrlPr>
                          <a:rPr lang="zh-CN" altLang="en-US" i="1">
                            <a:latin typeface="Cambria Math" panose="02040503050406030204" pitchFamily="18" charset="0"/>
                            <a:sym typeface="Helvetica Neue"/>
                          </a:rPr>
                        </m:ctrlPr>
                      </m:sSupPr>
                      <m:e>
                        <m:r>
                          <m:rPr>
                            <m:sty m:val="p"/>
                          </m:rPr>
                          <a:rPr lang="zh-CN" altLang="en-US">
                            <a:latin typeface="Cambria Math"/>
                            <a:sym typeface="Helvetica Neue"/>
                          </a:rPr>
                          <m:t>m</m:t>
                        </m:r>
                      </m:e>
                      <m:sup>
                        <m:r>
                          <a:rPr lang="zh-CN" altLang="en-US">
                            <a:latin typeface="Cambria Math"/>
                            <a:sym typeface="Helvetica Neue"/>
                          </a:rPr>
                          <m:t>2</m:t>
                        </m:r>
                      </m:sup>
                    </m:sSup>
                    <m:r>
                      <a:rPr lang="zh-CN" altLang="en-US">
                        <a:latin typeface="Cambria Math"/>
                        <a:sym typeface="Helvetica Neue"/>
                      </a:rPr>
                      <m:t>⋅</m:t>
                    </m:r>
                    <m:r>
                      <m:rPr>
                        <m:sty m:val="p"/>
                      </m:rPr>
                      <a:rPr lang="zh-CN" altLang="en-US">
                        <a:latin typeface="Cambria Math"/>
                        <a:sym typeface="Helvetica Neue"/>
                      </a:rPr>
                      <m:t>k</m:t>
                    </m:r>
                    <m:sSup>
                      <m:sSupPr>
                        <m:ctrlPr>
                          <a:rPr lang="zh-CN" altLang="en-US" i="1">
                            <a:latin typeface="Cambria Math" panose="02040503050406030204" pitchFamily="18" charset="0"/>
                            <a:sym typeface="Helvetica Neue"/>
                          </a:rPr>
                        </m:ctrlPr>
                      </m:sSupPr>
                      <m:e>
                        <m:r>
                          <m:rPr>
                            <m:sty m:val="p"/>
                          </m:rPr>
                          <a:rPr lang="zh-CN" altLang="en-US">
                            <a:latin typeface="Cambria Math"/>
                            <a:sym typeface="Helvetica Neue"/>
                          </a:rPr>
                          <m:t>g</m:t>
                        </m:r>
                      </m:e>
                      <m:sup>
                        <m:r>
                          <a:rPr lang="zh-CN" altLang="en-US">
                            <a:latin typeface="Cambria Math"/>
                            <a:sym typeface="Helvetica Neue"/>
                          </a:rPr>
                          <m:t>−2</m:t>
                        </m:r>
                      </m:sup>
                    </m:sSup>
                  </m:oMath>
                </a14:m>
                <a:endParaRPr lang="en-US" altLang="zh-CN" dirty="0"/>
              </a:p>
            </p:txBody>
          </p:sp>
        </mc:Choice>
        <mc:Fallback>
          <p:sp>
            <p:nvSpPr>
              <p:cNvPr id="3" name="矩形 2"/>
              <p:cNvSpPr>
                <a:spLocks noRot="1" noChangeAspect="1" noMove="1" noResize="1" noEditPoints="1" noAdjustHandles="1" noChangeArrowheads="1" noChangeShapeType="1" noTextEdit="1"/>
              </p:cNvSpPr>
              <p:nvPr/>
            </p:nvSpPr>
            <p:spPr>
              <a:xfrm>
                <a:off x="0" y="6191773"/>
                <a:ext cx="5868988" cy="535531"/>
              </a:xfrm>
              <a:prstGeom prst="rect">
                <a:avLst/>
              </a:prstGeom>
              <a:blipFill>
                <a:blip r:embed="rId8"/>
                <a:stretch>
                  <a:fillRect l="-1558" t="-6818" b="-13636"/>
                </a:stretch>
              </a:blipFill>
            </p:spPr>
            <p:txBody>
              <a:bodyPr/>
              <a:lstStyle/>
              <a:p>
                <a:r>
                  <a:rPr lang="zh-CN" altLang="en-US">
                    <a:noFill/>
                  </a:rPr>
                  <a:t> </a:t>
                </a:r>
              </a:p>
            </p:txBody>
          </p:sp>
        </mc:Fallback>
      </mc:AlternateContent>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检测题 </a:t>
            </a:r>
            <a:r>
              <a:rPr lang="en-US" altLang="zh-CN" dirty="0" smtClean="0"/>
              <a:t>16.3</a:t>
            </a:r>
            <a:endParaRPr lang="zh-CN" altLang="en-US" dirty="0"/>
          </a:p>
        </p:txBody>
      </p:sp>
      <p:sp>
        <p:nvSpPr>
          <p:cNvPr id="3" name="文本占位符 2"/>
          <p:cNvSpPr>
            <a:spLocks noGrp="1"/>
          </p:cNvSpPr>
          <p:nvPr>
            <p:ph type="body" idx="1"/>
          </p:nvPr>
        </p:nvSpPr>
        <p:spPr>
          <a:xfrm>
            <a:off x="395536" y="1124744"/>
            <a:ext cx="7416824" cy="1440160"/>
          </a:xfrm>
        </p:spPr>
        <p:txBody>
          <a:bodyPr/>
          <a:lstStyle/>
          <a:p>
            <a:r>
              <a:rPr lang="zh-CN" altLang="en-US" dirty="0" smtClean="0"/>
              <a:t>（</a:t>
            </a:r>
            <a:r>
              <a:rPr lang="en-US" altLang="zh-CN" dirty="0" smtClean="0"/>
              <a:t>a</a:t>
            </a:r>
            <a:r>
              <a:rPr lang="zh-CN" altLang="en-US" dirty="0" smtClean="0"/>
              <a:t>）请列举电力和万有引力之间的共同点。</a:t>
            </a:r>
            <a:endParaRPr lang="en-US" altLang="zh-CN" dirty="0" smtClean="0"/>
          </a:p>
          <a:p>
            <a:r>
              <a:rPr lang="zh-CN" altLang="en-US" dirty="0" smtClean="0"/>
              <a:t>（</a:t>
            </a:r>
            <a:r>
              <a:rPr lang="en-US" altLang="zh-CN" dirty="0" smtClean="0"/>
              <a:t>b</a:t>
            </a:r>
            <a:r>
              <a:rPr lang="zh-CN" altLang="en-US" dirty="0" smtClean="0"/>
              <a:t>）它们之间的主要区别是什么？</a:t>
            </a:r>
            <a:endParaRPr lang="zh-CN" altLang="en-US" dirty="0"/>
          </a:p>
        </p:txBody>
      </p:sp>
      <p:sp>
        <p:nvSpPr>
          <p:cNvPr id="4" name="TextBox 3"/>
          <p:cNvSpPr txBox="1"/>
          <p:nvPr/>
        </p:nvSpPr>
        <p:spPr>
          <a:xfrm>
            <a:off x="753798" y="2194547"/>
            <a:ext cx="7344816" cy="66684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0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长程力：作用强度随距离的增加而减少</a:t>
            </a:r>
            <a:endParaRPr kumimoji="0" lang="zh-CN" altLang="en-US" sz="20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
        <p:nvSpPr>
          <p:cNvPr id="5" name="TextBox 4"/>
          <p:cNvSpPr txBox="1"/>
          <p:nvPr/>
        </p:nvSpPr>
        <p:spPr>
          <a:xfrm>
            <a:off x="539552" y="3149070"/>
            <a:ext cx="7488832" cy="268586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库仑定律解题要点：</a:t>
            </a:r>
            <a:r>
              <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p11</a:t>
            </a:r>
          </a:p>
          <a:p>
            <a:pPr marL="0" marR="0" indent="0" algn="l" defTabSz="1028700" rtl="0" fontAlgn="auto" latinLnBrk="1" hangingPunct="0">
              <a:lnSpc>
                <a:spcPct val="120000"/>
              </a:lnSpc>
              <a:spcBef>
                <a:spcPts val="1600"/>
              </a:spcBef>
              <a:spcAft>
                <a:spcPts val="0"/>
              </a:spcAft>
              <a:buClrTx/>
              <a:buSzTx/>
              <a:buFontTx/>
              <a:buNone/>
              <a:tabLst/>
            </a:pPr>
            <a:r>
              <a:rPr lang="en-US" altLang="zh-CN" b="1" dirty="0" smtClean="0">
                <a:solidFill>
                  <a:srgbClr val="000000"/>
                </a:solidFill>
              </a:rPr>
              <a:t>1.</a:t>
            </a:r>
            <a:r>
              <a:rPr lang="zh-CN" altLang="en-US" b="1" dirty="0" smtClean="0">
                <a:solidFill>
                  <a:srgbClr val="000000"/>
                </a:solidFill>
              </a:rPr>
              <a:t>采用统一单位</a:t>
            </a:r>
            <a:endParaRPr lang="en-US" altLang="zh-CN" b="1" dirty="0" smtClean="0">
              <a:solidFill>
                <a:srgbClr val="000000"/>
              </a:solidFill>
            </a:endParaRPr>
          </a:p>
          <a:p>
            <a:pPr marL="0" marR="0" indent="0" algn="l" defTabSz="1028700" rtl="0" fontAlgn="auto" latinLnBrk="1" hangingPunct="0">
              <a:lnSpc>
                <a:spcPct val="120000"/>
              </a:lnSpc>
              <a:spcBef>
                <a:spcPts val="1600"/>
              </a:spcBef>
              <a:spcAft>
                <a:spcPts val="0"/>
              </a:spcAft>
              <a:buClrTx/>
              <a:buSzTx/>
              <a:buFontTx/>
              <a:buNone/>
              <a:tabLst/>
            </a:pPr>
            <a:r>
              <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2.</a:t>
            </a: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 求解两个或多个电荷作用在一个电荷上的电力</a:t>
            </a:r>
            <a:endPar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endParaRPr>
          </a:p>
          <a:p>
            <a:pPr marL="0" marR="0" indent="0" algn="l" defTabSz="1028700" rtl="0" fontAlgn="auto" latinLnBrk="1" hangingPunct="0">
              <a:lnSpc>
                <a:spcPct val="120000"/>
              </a:lnSpc>
              <a:spcBef>
                <a:spcPts val="1600"/>
              </a:spcBef>
              <a:spcAft>
                <a:spcPts val="0"/>
              </a:spcAft>
              <a:buClrTx/>
              <a:buSzTx/>
              <a:buFontTx/>
              <a:buNone/>
              <a:tabLst/>
            </a:pPr>
            <a:r>
              <a:rPr lang="en-US" altLang="zh-CN" b="1" dirty="0" smtClean="0">
                <a:solidFill>
                  <a:srgbClr val="000000"/>
                </a:solidFill>
              </a:rPr>
              <a:t>3.</a:t>
            </a:r>
            <a:r>
              <a:rPr lang="zh-CN" altLang="en-US" b="1" dirty="0" smtClean="0">
                <a:solidFill>
                  <a:srgbClr val="000000"/>
                </a:solidFill>
              </a:rPr>
              <a:t>几个电荷位于一条直线上</a:t>
            </a:r>
            <a:endParaRPr kumimoji="0" lang="zh-CN" altLang="en-US" sz="2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5305129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83568" y="404664"/>
            <a:ext cx="7704856" cy="53553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50000"/>
              </a:lnSpc>
              <a:spcBef>
                <a:spcPts val="0"/>
              </a:spcBef>
              <a:spcAft>
                <a:spcPts val="0"/>
              </a:spcAft>
              <a:buClrTx/>
              <a:buSzTx/>
              <a:buFontTx/>
              <a:buNone/>
              <a:tabLst/>
            </a:pPr>
            <a:r>
              <a:rPr lang="zh-CN" altLang="en-US" sz="3600" b="1" dirty="0" smtClean="0">
                <a:solidFill>
                  <a:srgbClr val="000000"/>
                </a:solidFill>
              </a:rPr>
              <a:t>单项选择题：</a:t>
            </a:r>
            <a:endParaRPr lang="en-US" altLang="zh-CN" sz="3600" b="1" dirty="0" smtClean="0">
              <a:solidFill>
                <a:srgbClr val="000000"/>
              </a:solidFill>
            </a:endParaRPr>
          </a:p>
          <a:p>
            <a:pPr marL="0" marR="0" indent="0" algn="l" defTabSz="1028700" rtl="0" fontAlgn="auto" latinLnBrk="1" hangingPunct="0">
              <a:lnSpc>
                <a:spcPct val="150000"/>
              </a:lnSpc>
              <a:spcBef>
                <a:spcPts val="0"/>
              </a:spcBef>
              <a:spcAft>
                <a:spcPts val="0"/>
              </a:spcAft>
              <a:buClrTx/>
              <a:buSzTx/>
              <a:buFontTx/>
              <a:buNone/>
              <a:tabLst/>
            </a:pPr>
            <a:r>
              <a:rPr kumimoji="0" lang="zh-CN" altLang="en-US" sz="2400" b="1" i="0" u="none" strike="noStrike" cap="none" spc="0" normalizeH="0" baseline="0" dirty="0" smtClean="0">
                <a:ln>
                  <a:noFill/>
                </a:ln>
                <a:solidFill>
                  <a:srgbClr val="FF0000"/>
                </a:solidFill>
                <a:effectLst/>
                <a:uFillTx/>
                <a:sym typeface="Times New Roman"/>
              </a:rPr>
              <a:t>下列关于电力和万有引力比较的叙述，哪些是正确的？</a:t>
            </a:r>
            <a:endParaRPr kumimoji="0" lang="en-US" altLang="zh-CN" sz="2400" b="1" i="0" u="none" strike="noStrike" cap="none" spc="0" normalizeH="0" baseline="0" dirty="0" smtClean="0">
              <a:ln>
                <a:noFill/>
              </a:ln>
              <a:solidFill>
                <a:srgbClr val="FF0000"/>
              </a:solidFill>
              <a:effectLst/>
              <a:uFillTx/>
              <a:sym typeface="Times New Roman"/>
            </a:endParaRPr>
          </a:p>
          <a:p>
            <a:pPr marL="0" marR="0" indent="0" algn="l" defTabSz="1028700" rtl="0" fontAlgn="auto" latinLnBrk="1" hangingPunct="0">
              <a:lnSpc>
                <a:spcPct val="150000"/>
              </a:lnSpc>
              <a:spcBef>
                <a:spcPts val="0"/>
              </a:spcBef>
              <a:spcAft>
                <a:spcPts val="0"/>
              </a:spcAft>
              <a:buClrTx/>
              <a:buSzTx/>
              <a:buFontTx/>
              <a:buNone/>
              <a:tabLst/>
            </a:pPr>
            <a:r>
              <a:rPr lang="en-US" altLang="zh-CN" b="1" dirty="0" smtClean="0">
                <a:solidFill>
                  <a:srgbClr val="000000"/>
                </a:solidFill>
              </a:rPr>
              <a:t>A. </a:t>
            </a:r>
            <a:r>
              <a:rPr lang="zh-CN" altLang="en-US" b="1" dirty="0" smtClean="0">
                <a:solidFill>
                  <a:srgbClr val="000000"/>
                </a:solidFill>
              </a:rPr>
              <a:t>两个点电荷之间电力作用的方向与它们之间引力作用的方向是一致的。</a:t>
            </a:r>
            <a:endParaRPr lang="en-US" altLang="zh-CN" b="1" dirty="0" smtClean="0">
              <a:solidFill>
                <a:srgbClr val="000000"/>
              </a:solidFill>
            </a:endParaRPr>
          </a:p>
          <a:p>
            <a:pPr marL="0" marR="0" indent="0" algn="l" defTabSz="1028700" rtl="0" fontAlgn="auto" latinLnBrk="1" hangingPunct="0">
              <a:lnSpc>
                <a:spcPct val="150000"/>
              </a:lnSpc>
              <a:spcBef>
                <a:spcPts val="0"/>
              </a:spcBef>
              <a:spcAft>
                <a:spcPts val="0"/>
              </a:spcAft>
              <a:buClrTx/>
              <a:buSzTx/>
              <a:buFontTx/>
              <a:buNone/>
              <a:tabLst/>
            </a:pPr>
            <a:r>
              <a:rPr kumimoji="0" lang="en-US" altLang="zh-CN" sz="2400" b="1" i="0" u="none" strike="noStrike" cap="none" spc="0" normalizeH="0" baseline="0" dirty="0" smtClean="0">
                <a:ln>
                  <a:noFill/>
                </a:ln>
                <a:solidFill>
                  <a:srgbClr val="000000"/>
                </a:solidFill>
                <a:effectLst/>
                <a:uFillTx/>
                <a:sym typeface="Times New Roman"/>
              </a:rPr>
              <a:t>B</a:t>
            </a:r>
            <a:r>
              <a:rPr lang="en-US" altLang="zh-CN" b="1" dirty="0" smtClean="0">
                <a:solidFill>
                  <a:srgbClr val="000000"/>
                </a:solidFill>
              </a:rPr>
              <a:t>. </a:t>
            </a:r>
            <a:r>
              <a:rPr lang="zh-CN" altLang="en-US" b="1" dirty="0" smtClean="0">
                <a:solidFill>
                  <a:srgbClr val="000000"/>
                </a:solidFill>
              </a:rPr>
              <a:t>两个粒子间相互作用的电力和万有引力都和其间距成反比。</a:t>
            </a:r>
            <a:endParaRPr lang="en-US" altLang="zh-CN" b="1" dirty="0" smtClean="0">
              <a:solidFill>
                <a:srgbClr val="000000"/>
              </a:solidFill>
            </a:endParaRPr>
          </a:p>
          <a:p>
            <a:pPr marL="0" marR="0" indent="0" algn="l" defTabSz="1028700" rtl="0" fontAlgn="auto" latinLnBrk="1" hangingPunct="0">
              <a:lnSpc>
                <a:spcPct val="150000"/>
              </a:lnSpc>
              <a:spcBef>
                <a:spcPts val="0"/>
              </a:spcBef>
              <a:spcAft>
                <a:spcPts val="0"/>
              </a:spcAft>
              <a:buClrTx/>
              <a:buSzTx/>
              <a:buFontTx/>
              <a:buNone/>
              <a:tabLst/>
            </a:pPr>
            <a:r>
              <a:rPr kumimoji="0" lang="en-US" altLang="zh-CN" sz="2400" b="1" i="0" u="none" strike="noStrike" cap="none" spc="0" normalizeH="0" baseline="0" dirty="0" smtClean="0">
                <a:ln>
                  <a:noFill/>
                </a:ln>
                <a:solidFill>
                  <a:srgbClr val="000000"/>
                </a:solidFill>
                <a:effectLst/>
                <a:uFillTx/>
                <a:sym typeface="Times New Roman"/>
              </a:rPr>
              <a:t>C. </a:t>
            </a:r>
            <a:r>
              <a:rPr kumimoji="0" lang="zh-CN" altLang="en-US" sz="2400" b="1" i="0" u="none" strike="noStrike" cap="none" spc="0" normalizeH="0" baseline="0" dirty="0" smtClean="0">
                <a:ln>
                  <a:noFill/>
                </a:ln>
                <a:solidFill>
                  <a:srgbClr val="000000"/>
                </a:solidFill>
                <a:effectLst/>
                <a:uFillTx/>
                <a:sym typeface="Times New Roman"/>
              </a:rPr>
              <a:t>一个行星对另外一个行星的电力作用通常比它们之间的万有引力作用强。</a:t>
            </a:r>
            <a:endParaRPr kumimoji="0" lang="en-US" altLang="zh-CN" sz="2400" b="1" i="0" u="none" strike="noStrike" cap="none" spc="0" normalizeH="0" baseline="0" dirty="0" smtClean="0">
              <a:ln>
                <a:noFill/>
              </a:ln>
              <a:solidFill>
                <a:srgbClr val="000000"/>
              </a:solidFill>
              <a:effectLst/>
              <a:uFillTx/>
              <a:sym typeface="Times New Roman"/>
            </a:endParaRPr>
          </a:p>
          <a:p>
            <a:pPr marL="0" marR="0" indent="0" algn="l" defTabSz="1028700" rtl="0" fontAlgn="auto" latinLnBrk="1" hangingPunct="0">
              <a:lnSpc>
                <a:spcPct val="150000"/>
              </a:lnSpc>
              <a:spcBef>
                <a:spcPts val="0"/>
              </a:spcBef>
              <a:spcAft>
                <a:spcPts val="0"/>
              </a:spcAft>
              <a:buClrTx/>
              <a:buSzTx/>
              <a:buFontTx/>
              <a:buNone/>
              <a:tabLst/>
            </a:pPr>
            <a:r>
              <a:rPr lang="en-US" altLang="zh-CN" b="1" dirty="0" smtClean="0">
                <a:solidFill>
                  <a:srgbClr val="000000"/>
                </a:solidFill>
              </a:rPr>
              <a:t>D. </a:t>
            </a:r>
            <a:r>
              <a:rPr lang="zh-CN" altLang="en-US" b="1" dirty="0" smtClean="0">
                <a:solidFill>
                  <a:srgbClr val="000000"/>
                </a:solidFill>
              </a:rPr>
              <a:t>以上都不对。</a:t>
            </a:r>
            <a:endParaRPr kumimoji="0" lang="zh-CN" altLang="en-US" sz="2400" b="1" i="0" u="none" strike="noStrike" cap="none" spc="0" normalizeH="0" baseline="0" dirty="0">
              <a:ln>
                <a:noFill/>
              </a:ln>
              <a:solidFill>
                <a:srgbClr val="000000"/>
              </a:solidFill>
              <a:effectLst/>
              <a:uFillTx/>
              <a:sym typeface="Times New Roman"/>
            </a:endParaRPr>
          </a:p>
        </p:txBody>
      </p:sp>
    </p:spTree>
    <p:extLst>
      <p:ext uri="{BB962C8B-B14F-4D97-AF65-F5344CB8AC3E}">
        <p14:creationId xmlns:p14="http://schemas.microsoft.com/office/powerpoint/2010/main" val="2569894421"/>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43744" y="755798"/>
            <a:ext cx="8132712" cy="214312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marL="0" marR="0" indent="0" algn="l" defTabSz="1028700" rtl="0" fontAlgn="auto" latinLnBrk="1" hangingPunct="0">
              <a:lnSpc>
                <a:spcPct val="150000"/>
              </a:lnSpc>
              <a:spcBef>
                <a:spcPts val="0"/>
              </a:spcBef>
              <a:spcAft>
                <a:spcPts val="0"/>
              </a:spcAft>
              <a:buClrTx/>
              <a:buSzTx/>
              <a:buFontTx/>
              <a:buNone/>
              <a:tabLst/>
            </a:pPr>
            <a:r>
              <a:rPr lang="zh-CN" altLang="en-US" sz="2800" b="1" dirty="0">
                <a:solidFill>
                  <a:schemeClr val="tx1"/>
                </a:solidFill>
              </a:rPr>
              <a:t>下列关于电力和万有引力比较的叙述，哪些是正确的？</a:t>
            </a:r>
            <a:endParaRPr lang="en-US" altLang="zh-CN" sz="2800" b="1" dirty="0">
              <a:solidFill>
                <a:schemeClr val="tx1"/>
              </a:solidFill>
            </a:endParaRPr>
          </a:p>
        </p:txBody>
      </p:sp>
      <p:sp>
        <p:nvSpPr>
          <p:cNvPr id="4" name="文本框 3"/>
          <p:cNvSpPr txBox="1"/>
          <p:nvPr>
            <p:custDataLst>
              <p:tags r:id="rId3"/>
            </p:custDataLst>
          </p:nvPr>
        </p:nvSpPr>
        <p:spPr>
          <a:xfrm>
            <a:off x="1828800" y="2786063"/>
            <a:ext cx="6847656"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marL="0" marR="0" indent="0" algn="l" defTabSz="1028700" rtl="0" fontAlgn="auto" latinLnBrk="1" hangingPunct="0">
              <a:lnSpc>
                <a:spcPct val="150000"/>
              </a:lnSpc>
              <a:spcBef>
                <a:spcPts val="0"/>
              </a:spcBef>
              <a:spcAft>
                <a:spcPts val="0"/>
              </a:spcAft>
              <a:buClrTx/>
              <a:buSzTx/>
              <a:buFontTx/>
              <a:buNone/>
              <a:tabLst/>
            </a:pPr>
            <a:r>
              <a:rPr lang="zh-CN" altLang="en-US" b="1" dirty="0">
                <a:solidFill>
                  <a:srgbClr val="000000"/>
                </a:solidFill>
              </a:rPr>
              <a:t>两个点电荷之间电力作用的方向与它们之间引力作用的方向是一致的。</a:t>
            </a:r>
            <a:endParaRPr lang="en-US" altLang="zh-CN" b="1" dirty="0">
              <a:solidFill>
                <a:srgbClr val="000000"/>
              </a:solidFill>
            </a:endParaRPr>
          </a:p>
        </p:txBody>
      </p:sp>
      <p:sp>
        <p:nvSpPr>
          <p:cNvPr id="5" name="文本框 4"/>
          <p:cNvSpPr txBox="1"/>
          <p:nvPr>
            <p:custDataLst>
              <p:tags r:id="rId4"/>
            </p:custDataLst>
          </p:nvPr>
        </p:nvSpPr>
        <p:spPr>
          <a:xfrm>
            <a:off x="1828800" y="3643313"/>
            <a:ext cx="706368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zh-CN" altLang="en-US" b="1" dirty="0">
                <a:solidFill>
                  <a:srgbClr val="000000"/>
                </a:solidFill>
              </a:rPr>
              <a:t>两个粒子间相互作用的电力和万有引力都和其间距成反比。</a:t>
            </a:r>
            <a:endParaRPr kumimoji="0" lang="zh-CN" altLang="en-US" b="0" i="0" u="none" strike="noStrike" cap="none" spc="0" normalizeH="0" baseline="0" dirty="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6" name="文本框 5"/>
          <p:cNvSpPr txBox="1"/>
          <p:nvPr>
            <p:custDataLst>
              <p:tags r:id="rId5"/>
            </p:custDataLst>
          </p:nvPr>
        </p:nvSpPr>
        <p:spPr>
          <a:xfrm>
            <a:off x="1828800" y="4607719"/>
            <a:ext cx="6847656"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marL="0" marR="0" indent="0" algn="l" defTabSz="1028700" rtl="0" fontAlgn="auto" latinLnBrk="1" hangingPunct="0">
              <a:lnSpc>
                <a:spcPct val="150000"/>
              </a:lnSpc>
              <a:spcBef>
                <a:spcPts val="0"/>
              </a:spcBef>
              <a:spcAft>
                <a:spcPts val="0"/>
              </a:spcAft>
              <a:buClrTx/>
              <a:buSzTx/>
              <a:buFontTx/>
              <a:buNone/>
              <a:tabLst/>
            </a:pPr>
            <a:r>
              <a:rPr lang="zh-CN" altLang="en-US" b="1" dirty="0">
                <a:solidFill>
                  <a:srgbClr val="000000"/>
                </a:solidFill>
              </a:rPr>
              <a:t>一个行星对另外一个行星的电力作用通常比它们之间的万有引力作用强。</a:t>
            </a:r>
            <a:endParaRPr lang="en-US" altLang="zh-CN" b="1" dirty="0">
              <a:solidFill>
                <a:srgbClr val="000000"/>
              </a:solidFill>
            </a:endParaRPr>
          </a:p>
        </p:txBody>
      </p:sp>
      <p:sp>
        <p:nvSpPr>
          <p:cNvPr id="7" name="文本框 6"/>
          <p:cNvSpPr txBox="1"/>
          <p:nvPr>
            <p:custDataLst>
              <p:tags r:id="rId6"/>
            </p:custDataLst>
          </p:nvPr>
        </p:nvSpPr>
        <p:spPr>
          <a:xfrm>
            <a:off x="1828800" y="535781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marL="0" marR="0" indent="0" algn="l" defTabSz="1028700" rtl="0" fontAlgn="auto" latinLnBrk="1" hangingPunct="0">
              <a:lnSpc>
                <a:spcPct val="150000"/>
              </a:lnSpc>
              <a:spcBef>
                <a:spcPts val="0"/>
              </a:spcBef>
              <a:spcAft>
                <a:spcPts val="0"/>
              </a:spcAft>
              <a:buClrTx/>
              <a:buSzTx/>
              <a:buFontTx/>
              <a:buNone/>
              <a:tabLst/>
            </a:pPr>
            <a:r>
              <a:rPr lang="zh-CN" altLang="en-US" b="1" dirty="0">
                <a:solidFill>
                  <a:srgbClr val="000000"/>
                </a:solidFill>
              </a:rPr>
              <a:t>以上都不对。</a:t>
            </a:r>
            <a:endParaRPr lang="zh-CN" altLang="en-US" b="1" dirty="0">
              <a:solidFill>
                <a:srgbClr val="000000"/>
              </a:solidFill>
            </a:endParaRPr>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00FF00"/>
          </a:solidFill>
          <a:ln w="254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a:noFill/>
              <a:prstDash val="solid"/>
              <a:bevel/>
            </a:ln>
            <a:effectLst/>
            <a:extLst>
              <a:ext uri="{91240B29-F687-4F45-9708-019B960494DF}">
                <a14:hiddenLine xmlns:a14="http://schemas.microsoft.com/office/drawing/2010/main" w="25400" cap="flat">
                  <a:solidFill>
                    <a:srgbClr val="CC9900"/>
                  </a:solidFill>
                  <a:prstDash val="solid"/>
                  <a:bevel/>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4" name="ColorBlock"/>
            <p:cNvSpPr/>
            <p:nvPr>
              <p:custDataLst>
                <p:tags r:id="rId15"/>
              </p:custDataLst>
            </p:nvPr>
          </p:nvSpPr>
          <p:spPr>
            <a:xfrm>
              <a:off x="0" y="0"/>
              <a:ext cx="190500" cy="635000"/>
            </a:xfrm>
            <a:prstGeom prst="rect">
              <a:avLst/>
            </a:prstGeom>
            <a:solidFill>
              <a:srgbClr val="639EF4"/>
            </a:solidFill>
            <a:ln w="25400" cap="flat">
              <a:noFill/>
              <a:prstDash val="solid"/>
              <a:bevel/>
            </a:ln>
            <a:effectLst/>
            <a:extLst>
              <a:ext uri="{91240B29-F687-4F45-9708-019B960494DF}">
                <a14:hiddenLine xmlns:a14="http://schemas.microsoft.com/office/drawing/2010/main" w="25400" cap="flat">
                  <a:solidFill>
                    <a:srgbClr val="CC9900"/>
                  </a:solidFill>
                  <a:prstDash val="solid"/>
                  <a:bevel/>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ctr" anchorCtr="0">
              <a:noAutofit/>
            </a:bodyPr>
            <a:lstStyle/>
            <a:p>
              <a:pPr algn="l" defTabSz="1028700"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16" name="TipText"/>
            <p:cNvSpPr txBox="1"/>
            <p:nvPr>
              <p:custDataLst>
                <p:tags r:id="rId17"/>
              </p:custDataLst>
            </p:nvPr>
          </p:nvSpPr>
          <p:spPr>
            <a:xfrm>
              <a:off x="1434463"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ctr" anchorCtr="0">
              <a:noAutofit/>
            </a:bodyPr>
            <a:lstStyle/>
            <a:p>
              <a:pPr algn="l" defTabSz="1028700"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53725767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p:nvPr/>
        </p:nvSpPr>
        <p:spPr>
          <a:xfrm>
            <a:off x="1511548" y="260648"/>
            <a:ext cx="7380935" cy="683264"/>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lvl="0">
              <a:defRPr sz="1800"/>
            </a:pPr>
            <a:r>
              <a:rPr sz="3200" b="1" dirty="0">
                <a:solidFill>
                  <a:schemeClr val="tx1"/>
                </a:solidFill>
                <a:latin typeface="宋体" panose="02010600030101010101" pitchFamily="2" charset="-122"/>
                <a:ea typeface="宋体" panose="02010600030101010101" pitchFamily="2" charset="-122"/>
                <a:cs typeface="SimHei"/>
                <a:sym typeface="SimHei"/>
              </a:rPr>
              <a:t>§</a:t>
            </a:r>
            <a:r>
              <a:rPr lang="en-US" sz="3200" b="1" dirty="0">
                <a:solidFill>
                  <a:schemeClr val="tx1"/>
                </a:solidFill>
                <a:latin typeface="宋体" panose="02010600030101010101" pitchFamily="2" charset="-122"/>
                <a:ea typeface="宋体" panose="02010600030101010101" pitchFamily="2" charset="-122"/>
                <a:cs typeface="SimHei"/>
                <a:sym typeface="SimHei"/>
              </a:rPr>
              <a:t>16</a:t>
            </a:r>
            <a:r>
              <a:rPr sz="3200" b="1" dirty="0">
                <a:solidFill>
                  <a:schemeClr val="tx1"/>
                </a:solidFill>
                <a:latin typeface="宋体" panose="02010600030101010101" pitchFamily="2" charset="-122"/>
                <a:ea typeface="宋体" panose="02010600030101010101" pitchFamily="2" charset="-122"/>
                <a:cs typeface="SimHei"/>
                <a:sym typeface="SimHei"/>
              </a:rPr>
              <a:t>.4  </a:t>
            </a:r>
            <a:r>
              <a:rPr sz="3200" b="1" dirty="0" err="1">
                <a:solidFill>
                  <a:schemeClr val="tx1"/>
                </a:solidFill>
                <a:latin typeface="宋体" panose="02010600030101010101" pitchFamily="2" charset="-122"/>
                <a:ea typeface="宋体" panose="02010600030101010101" pitchFamily="2" charset="-122"/>
                <a:cs typeface="SimHei"/>
                <a:sym typeface="SimHei"/>
              </a:rPr>
              <a:t>电场</a:t>
            </a:r>
            <a:r>
              <a:rPr sz="3200" b="1" dirty="0">
                <a:solidFill>
                  <a:schemeClr val="tx1"/>
                </a:solidFill>
                <a:latin typeface="宋体" panose="02010600030101010101" pitchFamily="2" charset="-122"/>
                <a:ea typeface="宋体" panose="02010600030101010101" pitchFamily="2" charset="-122"/>
                <a:cs typeface="SimHei"/>
                <a:sym typeface="SimHei"/>
              </a:rPr>
              <a:t> </a:t>
            </a:r>
            <a:r>
              <a:rPr sz="3200" b="1" dirty="0">
                <a:solidFill>
                  <a:schemeClr val="tx1"/>
                </a:solidFill>
                <a:latin typeface="宋体" panose="02010600030101010101" pitchFamily="2" charset="-122"/>
                <a:ea typeface="宋体" panose="02010600030101010101" pitchFamily="2" charset="-122"/>
              </a:rPr>
              <a:t>(</a:t>
            </a:r>
            <a:r>
              <a:rPr lang="en-US" altLang="zh-CN" sz="3200" b="1" dirty="0">
                <a:solidFill>
                  <a:schemeClr val="tx1"/>
                </a:solidFill>
                <a:latin typeface="宋体" panose="02010600030101010101" pitchFamily="2" charset="-122"/>
                <a:ea typeface="宋体" panose="02010600030101010101" pitchFamily="2" charset="-122"/>
              </a:rPr>
              <a:t>E</a:t>
            </a:r>
            <a:r>
              <a:rPr sz="3200" b="1" dirty="0">
                <a:solidFill>
                  <a:schemeClr val="tx1"/>
                </a:solidFill>
                <a:latin typeface="宋体" panose="02010600030101010101" pitchFamily="2" charset="-122"/>
                <a:ea typeface="宋体" panose="02010600030101010101" pitchFamily="2" charset="-122"/>
              </a:rPr>
              <a:t>lectric field)</a:t>
            </a:r>
            <a:endParaRPr sz="3200" b="1" dirty="0">
              <a:solidFill>
                <a:schemeClr val="tx1"/>
              </a:solidFill>
              <a:latin typeface="宋体" panose="02010600030101010101" pitchFamily="2" charset="-122"/>
              <a:ea typeface="宋体" panose="02010600030101010101" pitchFamily="2" charset="-122"/>
              <a:cs typeface="SimHei"/>
              <a:sym typeface="SimHei"/>
            </a:endParaRPr>
          </a:p>
        </p:txBody>
      </p:sp>
      <p:sp>
        <p:nvSpPr>
          <p:cNvPr id="33" name="Shape 182"/>
          <p:cNvSpPr/>
          <p:nvPr/>
        </p:nvSpPr>
        <p:spPr>
          <a:xfrm>
            <a:off x="644035" y="943912"/>
            <a:ext cx="1963100" cy="540695"/>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lvl="0">
              <a:defRPr sz="1800"/>
            </a:pPr>
            <a:r>
              <a:rPr sz="2800" b="1" dirty="0" err="1">
                <a:solidFill>
                  <a:srgbClr val="3333FF"/>
                </a:solidFill>
                <a:latin typeface="SimHei"/>
                <a:ea typeface="SimHei"/>
                <a:cs typeface="SimHei"/>
                <a:sym typeface="SimHei"/>
              </a:rPr>
              <a:t>一.场</a:t>
            </a:r>
            <a:endParaRPr sz="2800" b="1" dirty="0">
              <a:solidFill>
                <a:srgbClr val="3333FF"/>
              </a:solidFill>
              <a:latin typeface="SimHei"/>
              <a:ea typeface="SimHei"/>
              <a:cs typeface="SimHei"/>
              <a:sym typeface="SimHei"/>
            </a:endParaRPr>
          </a:p>
        </p:txBody>
      </p:sp>
      <p:sp>
        <p:nvSpPr>
          <p:cNvPr id="34" name="TextBox 33"/>
          <p:cNvSpPr txBox="1"/>
          <p:nvPr/>
        </p:nvSpPr>
        <p:spPr>
          <a:xfrm>
            <a:off x="539552" y="1412776"/>
            <a:ext cx="7920880" cy="140548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04" tIns="45704" rIns="45704" bIns="45704" numCol="1" spcCol="38088" rtlCol="0" anchor="t">
            <a:spAutoFit/>
          </a:bodyPr>
          <a:lstStyle/>
          <a:p>
            <a:pPr algn="l" rtl="0" latinLnBrk="1" hangingPunct="0">
              <a:lnSpc>
                <a:spcPct val="150000"/>
              </a:lnSpc>
            </a:pPr>
            <a:r>
              <a:rPr lang="zh-CN" altLang="en-US" dirty="0" smtClean="0"/>
              <a:t>       </a:t>
            </a:r>
            <a:r>
              <a:rPr lang="zh-CN" altLang="en-US" b="1" dirty="0" smtClean="0">
                <a:latin typeface="黑体" pitchFamily="49" charset="-122"/>
                <a:ea typeface="黑体" pitchFamily="49" charset="-122"/>
              </a:rPr>
              <a:t>指某种空间区域，其中具有一定性质的物体能对与之不相接触的类似物体施加一种力。</a:t>
            </a:r>
            <a:endParaRPr lang="zh-CN" altLang="en-US" b="1" dirty="0">
              <a:solidFill>
                <a:srgbClr val="000000"/>
              </a:solidFill>
              <a:latin typeface="黑体" pitchFamily="49" charset="-122"/>
              <a:ea typeface="黑体" pitchFamily="49" charset="-122"/>
            </a:endParaRPr>
          </a:p>
        </p:txBody>
      </p:sp>
      <p:grpSp>
        <p:nvGrpSpPr>
          <p:cNvPr id="2" name="组合 1"/>
          <p:cNvGrpSpPr/>
          <p:nvPr/>
        </p:nvGrpSpPr>
        <p:grpSpPr>
          <a:xfrm>
            <a:off x="1907704" y="3356623"/>
            <a:ext cx="4338641" cy="1143001"/>
            <a:chOff x="2137964" y="2708923"/>
            <a:chExt cx="4338641" cy="1143001"/>
          </a:xfrm>
        </p:grpSpPr>
        <p:sp>
          <p:nvSpPr>
            <p:cNvPr id="35" name="Shape 171"/>
            <p:cNvSpPr/>
            <p:nvPr/>
          </p:nvSpPr>
          <p:spPr>
            <a:xfrm>
              <a:off x="3806675" y="2861323"/>
              <a:ext cx="361555" cy="9906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5965" y="0"/>
                    <a:pt x="10800" y="882"/>
                    <a:pt x="10800" y="1971"/>
                  </a:cubicBezTo>
                  <a:lnTo>
                    <a:pt x="10800" y="9071"/>
                  </a:lnTo>
                  <a:cubicBezTo>
                    <a:pt x="10800" y="10159"/>
                    <a:pt x="15635" y="11042"/>
                    <a:pt x="21600" y="11042"/>
                  </a:cubicBezTo>
                  <a:cubicBezTo>
                    <a:pt x="15635" y="11042"/>
                    <a:pt x="10800" y="11924"/>
                    <a:pt x="10800" y="13013"/>
                  </a:cubicBezTo>
                  <a:lnTo>
                    <a:pt x="10800" y="19629"/>
                  </a:lnTo>
                  <a:cubicBezTo>
                    <a:pt x="10800" y="20718"/>
                    <a:pt x="5965" y="21600"/>
                    <a:pt x="0" y="21600"/>
                  </a:cubicBezTo>
                </a:path>
              </a:pathLst>
            </a:custGeom>
            <a:noFill/>
            <a:ln w="28575" cap="flat">
              <a:solidFill>
                <a:srgbClr val="FF0000"/>
              </a:solidFill>
              <a:prstDash val="solid"/>
              <a:round/>
            </a:ln>
            <a:effectLst/>
          </p:spPr>
          <p:txBody>
            <a:bodyPr wrap="square" lIns="0" tIns="0" rIns="0" bIns="0" numCol="1" anchor="ctr">
              <a:noAutofit/>
            </a:bodyPr>
            <a:lstStyle/>
            <a:p>
              <a:pPr defTabSz="914111">
                <a:lnSpc>
                  <a:spcPct val="100000"/>
                </a:lnSpc>
                <a:spcBef>
                  <a:spcPts val="0"/>
                </a:spcBef>
                <a:defRPr sz="2000" b="1">
                  <a:latin typeface="楷体_GB2312"/>
                  <a:ea typeface="楷体_GB2312"/>
                  <a:cs typeface="楷体_GB2312"/>
                  <a:sym typeface="楷体_GB2312"/>
                </a:defRPr>
              </a:pPr>
              <a:endParaRPr/>
            </a:p>
          </p:txBody>
        </p:sp>
        <p:sp>
          <p:nvSpPr>
            <p:cNvPr id="36" name="Shape 172"/>
            <p:cNvSpPr/>
            <p:nvPr/>
          </p:nvSpPr>
          <p:spPr>
            <a:xfrm>
              <a:off x="4380291" y="3005785"/>
              <a:ext cx="2096314" cy="517065"/>
            </a:xfrm>
            <a:prstGeom prst="rect">
              <a:avLst/>
            </a:prstGeom>
            <a:gradFill flip="none" rotWithShape="1">
              <a:gsLst>
                <a:gs pos="0">
                  <a:srgbClr val="DDDDDD"/>
                </a:gs>
                <a:gs pos="50000">
                  <a:srgbClr val="FFFFFF"/>
                </a:gs>
                <a:gs pos="100000">
                  <a:srgbClr val="DDDDDD"/>
                </a:gs>
              </a:gsLst>
              <a:lin ang="5400000" scaled="0"/>
            </a:gradFill>
            <a:ln w="9525" cap="flat">
              <a:solidFill>
                <a:srgbClr val="000000"/>
              </a:solidFill>
              <a:prstDash val="solid"/>
              <a:miter lim="8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ctr">
                <a:spcBef>
                  <a:spcPts val="1200"/>
                </a:spcBef>
                <a:defRPr sz="2000" b="1">
                  <a:solidFill>
                    <a:srgbClr val="1C1C1C"/>
                  </a:solidFill>
                  <a:latin typeface="楷体_GB2312"/>
                  <a:ea typeface="楷体_GB2312"/>
                  <a:cs typeface="楷体_GB2312"/>
                  <a:sym typeface="楷体_GB2312"/>
                </a:defRPr>
              </a:lvl1pPr>
            </a:lstStyle>
            <a:p>
              <a:pPr lvl="0">
                <a:defRPr sz="1800" b="0">
                  <a:solidFill>
                    <a:srgbClr val="000000"/>
                  </a:solidFill>
                </a:defRPr>
              </a:pPr>
              <a:r>
                <a:rPr sz="2800" dirty="0"/>
                <a:t>物   质</a:t>
              </a:r>
            </a:p>
          </p:txBody>
        </p:sp>
        <p:sp>
          <p:nvSpPr>
            <p:cNvPr id="37" name="Shape 173"/>
            <p:cNvSpPr/>
            <p:nvPr/>
          </p:nvSpPr>
          <p:spPr>
            <a:xfrm>
              <a:off x="2137964" y="3394724"/>
              <a:ext cx="1418402" cy="448392"/>
            </a:xfrm>
            <a:prstGeom prst="rect">
              <a:avLst/>
            </a:prstGeom>
            <a:gradFill flip="none" rotWithShape="1">
              <a:gsLst>
                <a:gs pos="0">
                  <a:srgbClr val="DDDDDD"/>
                </a:gs>
                <a:gs pos="50000">
                  <a:srgbClr val="FFFFFF"/>
                </a:gs>
                <a:gs pos="100000">
                  <a:srgbClr val="DDDDDD"/>
                </a:gs>
              </a:gsLst>
              <a:lin ang="5400000" scaled="0"/>
            </a:gradFill>
            <a:ln w="9525" cap="flat">
              <a:solidFill>
                <a:srgbClr val="000000"/>
              </a:solidFill>
              <a:prstDash val="solid"/>
              <a:miter lim="8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ctr">
                <a:spcBef>
                  <a:spcPts val="1200"/>
                </a:spcBef>
                <a:defRPr sz="2000" b="1">
                  <a:solidFill>
                    <a:srgbClr val="1C1C1C"/>
                  </a:solidFill>
                  <a:latin typeface="楷体_GB2312"/>
                  <a:ea typeface="楷体_GB2312"/>
                  <a:cs typeface="楷体_GB2312"/>
                  <a:sym typeface="楷体_GB2312"/>
                </a:defRPr>
              </a:lvl1pPr>
            </a:lstStyle>
            <a:p>
              <a:pPr lvl="0">
                <a:defRPr sz="1800" b="0">
                  <a:solidFill>
                    <a:srgbClr val="000000"/>
                  </a:solidFill>
                </a:defRPr>
              </a:pPr>
              <a:r>
                <a:rPr sz="2800" dirty="0" err="1"/>
                <a:t>实物</a:t>
              </a:r>
              <a:endParaRPr sz="2800" dirty="0"/>
            </a:p>
          </p:txBody>
        </p:sp>
        <p:sp>
          <p:nvSpPr>
            <p:cNvPr id="38" name="Shape 174"/>
            <p:cNvSpPr/>
            <p:nvPr/>
          </p:nvSpPr>
          <p:spPr>
            <a:xfrm>
              <a:off x="2137964" y="2708923"/>
              <a:ext cx="1418402" cy="517065"/>
            </a:xfrm>
            <a:prstGeom prst="rect">
              <a:avLst/>
            </a:prstGeom>
            <a:gradFill flip="none" rotWithShape="1">
              <a:gsLst>
                <a:gs pos="0">
                  <a:srgbClr val="FFCCCC"/>
                </a:gs>
                <a:gs pos="50000">
                  <a:srgbClr val="FFFFFF"/>
                </a:gs>
                <a:gs pos="100000">
                  <a:srgbClr val="FFCCCC"/>
                </a:gs>
              </a:gsLst>
              <a:lin ang="5400000" scaled="0"/>
            </a:gradFill>
            <a:ln w="9525" cap="flat">
              <a:solidFill>
                <a:srgbClr val="000000"/>
              </a:solidFill>
              <a:prstDash val="solid"/>
              <a:miter lim="8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ctr">
                <a:spcBef>
                  <a:spcPts val="1200"/>
                </a:spcBef>
                <a:defRPr sz="2000" b="1">
                  <a:solidFill>
                    <a:srgbClr val="CC0000"/>
                  </a:solidFill>
                  <a:latin typeface="楷体_GB2312"/>
                  <a:ea typeface="楷体_GB2312"/>
                  <a:cs typeface="楷体_GB2312"/>
                  <a:sym typeface="楷体_GB2312"/>
                </a:defRPr>
              </a:lvl1pPr>
            </a:lstStyle>
            <a:p>
              <a:pPr lvl="0">
                <a:defRPr sz="1800" b="0">
                  <a:solidFill>
                    <a:srgbClr val="000000"/>
                  </a:solidFill>
                </a:defRPr>
              </a:pPr>
              <a:r>
                <a:rPr sz="2800" dirty="0"/>
                <a:t>场</a:t>
              </a:r>
            </a:p>
          </p:txBody>
        </p:sp>
      </p:gr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3"/>
          <a:srcRect/>
          <a:stretch>
            <a:fillRect/>
          </a:stretch>
        </p:blipFill>
        <p:spPr bwMode="auto">
          <a:xfrm>
            <a:off x="6660232" y="1112857"/>
            <a:ext cx="2317838" cy="3002761"/>
          </a:xfrm>
          <a:prstGeom prst="rect">
            <a:avLst/>
          </a:prstGeom>
          <a:noFill/>
        </p:spPr>
      </p:pic>
      <p:sp>
        <p:nvSpPr>
          <p:cNvPr id="2" name="TextBox 1"/>
          <p:cNvSpPr txBox="1"/>
          <p:nvPr/>
        </p:nvSpPr>
        <p:spPr>
          <a:xfrm>
            <a:off x="611560" y="1441978"/>
            <a:ext cx="4502674" cy="366853"/>
          </a:xfrm>
          <a:prstGeom prst="rect">
            <a:avLst/>
          </a:prstGeom>
          <a:noFill/>
        </p:spPr>
        <p:txBody>
          <a:bodyPr wrap="square" lIns="0" tIns="0" rIns="0" bIns="45805" rtlCol="0">
            <a:spAutoFit/>
          </a:bodyPr>
          <a:lstStyle/>
          <a:p>
            <a:pPr algn="l" defTabSz="916116" rtl="0">
              <a:lnSpc>
                <a:spcPts val="2506"/>
              </a:lnSpc>
              <a:spcBef>
                <a:spcPts val="0"/>
              </a:spcBef>
            </a:pPr>
            <a:r>
              <a:rPr lang="en-US" altLang="zh-CN" sz="2800" b="1" kern="1200" dirty="0">
                <a:solidFill>
                  <a:srgbClr val="0000CC"/>
                </a:solidFill>
                <a:latin typeface="黑体" pitchFamily="18" charset="0"/>
                <a:ea typeface="宋体"/>
                <a:cs typeface="黑体" pitchFamily="18" charset="0"/>
              </a:rPr>
              <a:t>场的物质性体现在</a:t>
            </a:r>
            <a:r>
              <a:rPr lang="en-US" altLang="zh-CN" sz="2800" b="1" kern="1200" dirty="0">
                <a:solidFill>
                  <a:srgbClr val="0000CC"/>
                </a:solidFill>
                <a:latin typeface="Times New Roman" pitchFamily="18" charset="0"/>
                <a:ea typeface="宋体"/>
                <a:cs typeface="Times New Roman" pitchFamily="18" charset="0"/>
              </a:rPr>
              <a:t>:</a:t>
            </a:r>
          </a:p>
        </p:txBody>
      </p:sp>
      <p:sp>
        <p:nvSpPr>
          <p:cNvPr id="4" name="TextBox 1"/>
          <p:cNvSpPr txBox="1"/>
          <p:nvPr/>
        </p:nvSpPr>
        <p:spPr>
          <a:xfrm>
            <a:off x="467544" y="381811"/>
            <a:ext cx="8427948" cy="623354"/>
          </a:xfrm>
          <a:prstGeom prst="rect">
            <a:avLst/>
          </a:prstGeom>
          <a:noFill/>
        </p:spPr>
        <p:txBody>
          <a:bodyPr wrap="none" lIns="0" tIns="0" rIns="0" bIns="45805" rtlCol="0">
            <a:spAutoFit/>
          </a:bodyPr>
          <a:lstStyle/>
          <a:p>
            <a:pPr algn="l" defTabSz="916116" rtl="0">
              <a:lnSpc>
                <a:spcPts val="1900"/>
              </a:lnSpc>
              <a:spcBef>
                <a:spcPts val="0"/>
              </a:spcBef>
              <a:tabLst>
                <a:tab pos="6743634" algn="l"/>
              </a:tabLst>
            </a:pPr>
            <a:r>
              <a:rPr lang="en-US" altLang="zh-CN" sz="1800" kern="1200" dirty="0">
                <a:solidFill>
                  <a:prstClr val="black"/>
                </a:solidFill>
                <a:latin typeface="Calibri"/>
                <a:ea typeface="宋体"/>
                <a:cs typeface="+mn-cs"/>
              </a:rPr>
              <a:t>	</a:t>
            </a:r>
            <a:r>
              <a:rPr lang="en-US" altLang="zh-CN" sz="1800" b="1" kern="1200" dirty="0">
                <a:solidFill>
                  <a:srgbClr val="009ACC"/>
                </a:solidFill>
                <a:latin typeface="华文行楷" pitchFamily="18" charset="0"/>
                <a:ea typeface="宋体"/>
                <a:cs typeface="华文行楷" pitchFamily="18" charset="0"/>
              </a:rPr>
              <a:t>电场和电场强度</a:t>
            </a:r>
          </a:p>
          <a:p>
            <a:pPr algn="l" defTabSz="916116" rtl="0">
              <a:lnSpc>
                <a:spcPts val="2606"/>
              </a:lnSpc>
              <a:spcBef>
                <a:spcPts val="0"/>
              </a:spcBef>
              <a:tabLst>
                <a:tab pos="6743634" algn="l"/>
              </a:tabLst>
            </a:pPr>
            <a:r>
              <a:rPr lang="en-US" altLang="zh-CN" sz="2800" b="1" kern="1200" dirty="0" err="1">
                <a:solidFill>
                  <a:srgbClr val="0000CC"/>
                </a:solidFill>
                <a:latin typeface="黑体" pitchFamily="18" charset="0"/>
                <a:ea typeface="宋体"/>
                <a:cs typeface="黑体" pitchFamily="18" charset="0"/>
              </a:rPr>
              <a:t>电场</a:t>
            </a:r>
            <a:r>
              <a:rPr lang="en-US" altLang="zh-CN" sz="2800" b="1" kern="1200" dirty="0" err="1">
                <a:solidFill>
                  <a:srgbClr val="0000CC"/>
                </a:solidFill>
                <a:latin typeface="Times New Roman" pitchFamily="18" charset="0"/>
                <a:ea typeface="宋体"/>
                <a:cs typeface="Times New Roman" pitchFamily="18" charset="0"/>
              </a:rPr>
              <a:t>:</a:t>
            </a:r>
            <a:r>
              <a:rPr lang="en-US" altLang="zh-CN" sz="2800" b="1" kern="1200" dirty="0" err="1" smtClean="0">
                <a:solidFill>
                  <a:srgbClr val="000000"/>
                </a:solidFill>
                <a:latin typeface="黑体" pitchFamily="18" charset="0"/>
                <a:ea typeface="宋体"/>
                <a:cs typeface="黑体" pitchFamily="18" charset="0"/>
              </a:rPr>
              <a:t>电荷周围存在着的一种特殊</a:t>
            </a:r>
            <a:r>
              <a:rPr lang="en-US" altLang="zh-CN" sz="2800" b="1" kern="1200" dirty="0" err="1" smtClean="0">
                <a:solidFill>
                  <a:srgbClr val="0000CC"/>
                </a:solidFill>
                <a:latin typeface="黑体" pitchFamily="18" charset="0"/>
                <a:ea typeface="宋体"/>
                <a:cs typeface="黑体" pitchFamily="18" charset="0"/>
              </a:rPr>
              <a:t>物质</a:t>
            </a:r>
            <a:r>
              <a:rPr lang="zh-CN" altLang="en-US" sz="2800" b="1" kern="1200" dirty="0" smtClean="0">
                <a:solidFill>
                  <a:srgbClr val="0000CC"/>
                </a:solidFill>
                <a:latin typeface="黑体" pitchFamily="18" charset="0"/>
                <a:ea typeface="宋体"/>
                <a:cs typeface="黑体" pitchFamily="18" charset="0"/>
              </a:rPr>
              <a:t>。</a:t>
            </a:r>
            <a:endParaRPr lang="en-US" altLang="zh-CN" sz="2800" b="1" kern="1200" dirty="0">
              <a:solidFill>
                <a:srgbClr val="000000"/>
              </a:solidFill>
              <a:latin typeface="Times New Roman" pitchFamily="18" charset="0"/>
              <a:ea typeface="宋体"/>
              <a:cs typeface="Times New Roman" pitchFamily="18" charset="0"/>
            </a:endParaRPr>
          </a:p>
        </p:txBody>
      </p:sp>
      <p:sp>
        <p:nvSpPr>
          <p:cNvPr id="5" name="TextBox 1"/>
          <p:cNvSpPr txBox="1"/>
          <p:nvPr/>
        </p:nvSpPr>
        <p:spPr>
          <a:xfrm>
            <a:off x="108624" y="1988840"/>
            <a:ext cx="6717538" cy="2888056"/>
          </a:xfrm>
          <a:prstGeom prst="rect">
            <a:avLst/>
          </a:prstGeom>
          <a:noFill/>
        </p:spPr>
        <p:txBody>
          <a:bodyPr wrap="square" lIns="0" tIns="0" rIns="0" bIns="45805" rtlCol="0">
            <a:spAutoFit/>
          </a:bodyPr>
          <a:lstStyle/>
          <a:p>
            <a:pPr algn="l" defTabSz="916116" rtl="0">
              <a:lnSpc>
                <a:spcPct val="150000"/>
              </a:lnSpc>
              <a:spcBef>
                <a:spcPts val="0"/>
              </a:spcBef>
              <a:tabLst>
                <a:tab pos="38172" algn="l"/>
                <a:tab pos="381715" algn="l"/>
              </a:tabLst>
            </a:pPr>
            <a:r>
              <a:rPr lang="en-US" altLang="zh-CN" sz="1800" kern="1200" dirty="0">
                <a:solidFill>
                  <a:prstClr val="black"/>
                </a:solidFill>
                <a:latin typeface="Calibri"/>
                <a:ea typeface="宋体"/>
                <a:cs typeface="+mn-cs"/>
              </a:rPr>
              <a:t>	</a:t>
            </a:r>
            <a:r>
              <a:rPr lang="en-US" altLang="zh-CN" sz="2800" b="1" kern="1200" dirty="0">
                <a:solidFill>
                  <a:srgbClr val="000000"/>
                </a:solidFill>
                <a:latin typeface="Times New Roman" pitchFamily="18" charset="0"/>
                <a:ea typeface="宋体"/>
                <a:cs typeface="Times New Roman" pitchFamily="18" charset="0"/>
              </a:rPr>
              <a:t>(1)</a:t>
            </a:r>
            <a:r>
              <a:rPr lang="en-US" altLang="zh-CN" sz="2800" b="1" kern="1200" dirty="0">
                <a:solidFill>
                  <a:srgbClr val="000000"/>
                </a:solidFill>
                <a:latin typeface="黑体" pitchFamily="18" charset="0"/>
                <a:ea typeface="宋体"/>
                <a:cs typeface="黑体" pitchFamily="18" charset="0"/>
              </a:rPr>
              <a:t>给电场中的带电体施以力的作用</a:t>
            </a:r>
            <a:r>
              <a:rPr lang="en-US" altLang="zh-CN" sz="2800" b="1" kern="1200" dirty="0">
                <a:solidFill>
                  <a:srgbClr val="000000"/>
                </a:solidFill>
                <a:latin typeface="Times New Roman" pitchFamily="18" charset="0"/>
                <a:ea typeface="宋体"/>
                <a:cs typeface="Times New Roman" pitchFamily="18" charset="0"/>
              </a:rPr>
              <a:t>,</a:t>
            </a:r>
            <a:r>
              <a:rPr lang="en-US" altLang="zh-CN" sz="2800" b="1" kern="1200" dirty="0">
                <a:solidFill>
                  <a:prstClr val="black"/>
                </a:solidFill>
                <a:latin typeface="Times New Roman" pitchFamily="18" charset="0"/>
                <a:ea typeface="宋体"/>
                <a:cs typeface="Times New Roman" pitchFamily="18" charset="0"/>
              </a:rPr>
              <a:t> </a:t>
            </a:r>
            <a:r>
              <a:rPr lang="en-US" altLang="zh-CN" sz="2800" b="1" kern="1200" dirty="0">
                <a:solidFill>
                  <a:srgbClr val="000000"/>
                </a:solidFill>
                <a:latin typeface="黑体" pitchFamily="18" charset="0"/>
                <a:ea typeface="宋体"/>
                <a:cs typeface="黑体" pitchFamily="18" charset="0"/>
              </a:rPr>
              <a:t>表</a:t>
            </a:r>
          </a:p>
          <a:p>
            <a:pPr algn="l" defTabSz="916116" rtl="0">
              <a:lnSpc>
                <a:spcPct val="150000"/>
              </a:lnSpc>
              <a:spcBef>
                <a:spcPts val="0"/>
              </a:spcBef>
              <a:tabLst>
                <a:tab pos="38172" algn="l"/>
                <a:tab pos="381715" algn="l"/>
              </a:tabLst>
            </a:pPr>
            <a:r>
              <a:rPr lang="en-US" altLang="zh-CN" sz="2800" b="1" kern="1200" dirty="0">
                <a:solidFill>
                  <a:prstClr val="black"/>
                </a:solidFill>
                <a:latin typeface="Calibri"/>
                <a:ea typeface="宋体"/>
                <a:cs typeface="+mn-cs"/>
              </a:rPr>
              <a:t>		</a:t>
            </a:r>
            <a:r>
              <a:rPr lang="en-US" altLang="zh-CN" sz="2800" b="1" kern="1200" dirty="0" err="1" smtClean="0">
                <a:solidFill>
                  <a:srgbClr val="000000"/>
                </a:solidFill>
                <a:latin typeface="黑体" pitchFamily="18" charset="0"/>
                <a:ea typeface="宋体"/>
                <a:cs typeface="黑体" pitchFamily="18" charset="0"/>
              </a:rPr>
              <a:t>明电场具有动量</a:t>
            </a:r>
            <a:r>
              <a:rPr lang="zh-CN" altLang="en-US" sz="2800" b="1" kern="1200" dirty="0" smtClean="0">
                <a:solidFill>
                  <a:srgbClr val="000000"/>
                </a:solidFill>
                <a:latin typeface="黑体" pitchFamily="18" charset="0"/>
                <a:ea typeface="宋体"/>
                <a:cs typeface="黑体" pitchFamily="18" charset="0"/>
              </a:rPr>
              <a:t>。</a:t>
            </a:r>
            <a:endParaRPr lang="en-US" altLang="zh-CN" sz="2800" b="1" kern="1200" dirty="0" smtClean="0">
              <a:solidFill>
                <a:srgbClr val="000000"/>
              </a:solidFill>
              <a:latin typeface="黑体" pitchFamily="18" charset="0"/>
              <a:ea typeface="宋体"/>
              <a:cs typeface="黑体" pitchFamily="18" charset="0"/>
            </a:endParaRPr>
          </a:p>
          <a:p>
            <a:pPr algn="l" defTabSz="916116" rtl="0">
              <a:lnSpc>
                <a:spcPct val="150000"/>
              </a:lnSpc>
              <a:spcBef>
                <a:spcPts val="0"/>
              </a:spcBef>
              <a:tabLst>
                <a:tab pos="38172" algn="l"/>
                <a:tab pos="381715" algn="l"/>
              </a:tabLst>
            </a:pPr>
            <a:r>
              <a:rPr lang="en-US" altLang="zh-CN" sz="2800" b="1" kern="1200" dirty="0">
                <a:solidFill>
                  <a:prstClr val="black"/>
                </a:solidFill>
                <a:latin typeface="Calibri"/>
                <a:ea typeface="宋体"/>
                <a:cs typeface="+mn-cs"/>
              </a:rPr>
              <a:t>	</a:t>
            </a:r>
            <a:r>
              <a:rPr lang="en-US" altLang="zh-CN" sz="2800" b="1" kern="1200" dirty="0">
                <a:solidFill>
                  <a:srgbClr val="000000"/>
                </a:solidFill>
                <a:latin typeface="Times New Roman" pitchFamily="18" charset="0"/>
                <a:ea typeface="宋体"/>
                <a:cs typeface="Times New Roman" pitchFamily="18" charset="0"/>
              </a:rPr>
              <a:t>(2)</a:t>
            </a:r>
            <a:r>
              <a:rPr lang="en-US" altLang="zh-CN" sz="2800" b="1" kern="1200" dirty="0" err="1">
                <a:solidFill>
                  <a:srgbClr val="000000"/>
                </a:solidFill>
                <a:latin typeface="黑体" pitchFamily="18" charset="0"/>
                <a:ea typeface="宋体"/>
                <a:cs typeface="黑体" pitchFamily="18" charset="0"/>
              </a:rPr>
              <a:t>当带电体在电场中移动时</a:t>
            </a:r>
            <a:r>
              <a:rPr lang="en-US" altLang="zh-CN" sz="2800" b="1" kern="1200" dirty="0" err="1">
                <a:solidFill>
                  <a:srgbClr val="000000"/>
                </a:solidFill>
                <a:latin typeface="Times New Roman" pitchFamily="18" charset="0"/>
                <a:ea typeface="宋体"/>
                <a:cs typeface="Times New Roman" pitchFamily="18" charset="0"/>
              </a:rPr>
              <a:t>,</a:t>
            </a:r>
            <a:r>
              <a:rPr lang="en-US" altLang="zh-CN" sz="2800" b="1" kern="1200" dirty="0" err="1" smtClean="0">
                <a:solidFill>
                  <a:srgbClr val="000000"/>
                </a:solidFill>
                <a:latin typeface="黑体" pitchFamily="18" charset="0"/>
                <a:ea typeface="宋体"/>
                <a:cs typeface="黑体" pitchFamily="18" charset="0"/>
              </a:rPr>
              <a:t>电场力作功</a:t>
            </a:r>
            <a:r>
              <a:rPr lang="zh-CN" altLang="en-US" sz="2800" b="1" kern="1200" dirty="0" smtClean="0">
                <a:solidFill>
                  <a:srgbClr val="000000"/>
                </a:solidFill>
                <a:latin typeface="黑体" pitchFamily="18" charset="0"/>
                <a:ea typeface="宋体"/>
                <a:cs typeface="黑体" pitchFamily="18" charset="0"/>
              </a:rPr>
              <a:t>，</a:t>
            </a:r>
            <a:endParaRPr lang="en-US" altLang="zh-CN" sz="2800" b="1" kern="1200" dirty="0">
              <a:solidFill>
                <a:srgbClr val="000000"/>
              </a:solidFill>
              <a:latin typeface="Times New Roman" pitchFamily="18" charset="0"/>
              <a:ea typeface="宋体"/>
              <a:cs typeface="Times New Roman" pitchFamily="18" charset="0"/>
            </a:endParaRPr>
          </a:p>
          <a:p>
            <a:pPr algn="l" defTabSz="916116" rtl="0">
              <a:lnSpc>
                <a:spcPct val="150000"/>
              </a:lnSpc>
              <a:spcBef>
                <a:spcPts val="0"/>
              </a:spcBef>
              <a:tabLst>
                <a:tab pos="38172" algn="l"/>
                <a:tab pos="381715" algn="l"/>
              </a:tabLst>
            </a:pPr>
            <a:r>
              <a:rPr lang="en-US" altLang="zh-CN" sz="2800" b="1" kern="1200" dirty="0">
                <a:solidFill>
                  <a:prstClr val="black"/>
                </a:solidFill>
                <a:latin typeface="Calibri"/>
                <a:ea typeface="宋体"/>
                <a:cs typeface="+mn-cs"/>
              </a:rPr>
              <a:t>		</a:t>
            </a:r>
            <a:r>
              <a:rPr lang="en-US" altLang="zh-CN" sz="2800" b="1" kern="1200" dirty="0" err="1" smtClean="0">
                <a:solidFill>
                  <a:srgbClr val="000000"/>
                </a:solidFill>
                <a:latin typeface="黑体" pitchFamily="18" charset="0"/>
                <a:ea typeface="宋体"/>
                <a:cs typeface="黑体" pitchFamily="18" charset="0"/>
              </a:rPr>
              <a:t>表明电场具有能量</a:t>
            </a:r>
            <a:r>
              <a:rPr lang="zh-CN" altLang="en-US" sz="2800" b="1" kern="1200" dirty="0" smtClean="0">
                <a:solidFill>
                  <a:srgbClr val="000000"/>
                </a:solidFill>
                <a:latin typeface="Times New Roman" pitchFamily="18" charset="0"/>
                <a:ea typeface="宋体"/>
                <a:cs typeface="Times New Roman" pitchFamily="18" charset="0"/>
              </a:rPr>
              <a:t>。</a:t>
            </a:r>
            <a:endParaRPr lang="en-US" altLang="zh-CN" sz="2800" b="1" kern="1200" dirty="0">
              <a:solidFill>
                <a:srgbClr val="000000"/>
              </a:solidFill>
              <a:latin typeface="Times New Roman" pitchFamily="18" charset="0"/>
              <a:ea typeface="宋体"/>
              <a:cs typeface="Times New Roman" pitchFamily="18" charset="0"/>
            </a:endParaRPr>
          </a:p>
          <a:p>
            <a:pPr algn="l" defTabSz="916116" rtl="0">
              <a:lnSpc>
                <a:spcPts val="1002"/>
              </a:lnSpc>
              <a:spcBef>
                <a:spcPts val="0"/>
              </a:spcBef>
            </a:pPr>
            <a:endParaRPr lang="en-US" altLang="zh-CN" sz="1800" kern="1200" dirty="0">
              <a:solidFill>
                <a:prstClr val="black"/>
              </a:solidFill>
              <a:latin typeface="Calibri"/>
              <a:ea typeface="宋体"/>
              <a:cs typeface="+mn-cs"/>
            </a:endParaRPr>
          </a:p>
          <a:p>
            <a:pPr algn="l" defTabSz="916116" rtl="0">
              <a:lnSpc>
                <a:spcPts val="1002"/>
              </a:lnSpc>
              <a:spcBef>
                <a:spcPts val="0"/>
              </a:spcBef>
            </a:pPr>
            <a:endParaRPr lang="en-US" altLang="zh-CN" sz="1800" kern="1200" dirty="0">
              <a:solidFill>
                <a:prstClr val="black"/>
              </a:solidFill>
              <a:latin typeface="Calibri"/>
              <a:ea typeface="宋体"/>
              <a:cs typeface="+mn-cs"/>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899592" y="377816"/>
            <a:ext cx="5260562" cy="88844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1028700" rtl="0" latinLnBrk="1" hangingPunct="0"/>
            <a:r>
              <a:rPr lang="en-US" altLang="zh-CN" sz="3200" b="1" kern="1200" dirty="0" err="1">
                <a:solidFill>
                  <a:srgbClr val="0000CC"/>
                </a:solidFill>
                <a:latin typeface="黑体" pitchFamily="18" charset="0"/>
                <a:ea typeface="宋体"/>
                <a:cs typeface="黑体" pitchFamily="18" charset="0"/>
              </a:rPr>
              <a:t>电场与实物的比较</a:t>
            </a:r>
            <a:r>
              <a:rPr lang="en-US" altLang="zh-CN" sz="3200" b="1" kern="1200" dirty="0" err="1">
                <a:solidFill>
                  <a:srgbClr val="0000CC"/>
                </a:solidFill>
                <a:latin typeface="Times New Roman" pitchFamily="18" charset="0"/>
                <a:ea typeface="宋体"/>
                <a:cs typeface="Times New Roman" pitchFamily="18" charset="0"/>
              </a:rPr>
              <a:t>:</a:t>
            </a:r>
            <a:r>
              <a:rPr lang="en-US" altLang="zh-CN" sz="3200" b="1" kern="1200" dirty="0" err="1" smtClean="0">
                <a:solidFill>
                  <a:srgbClr val="0000CC"/>
                </a:solidFill>
                <a:latin typeface="黑体" pitchFamily="18" charset="0"/>
                <a:ea typeface="宋体"/>
                <a:cs typeface="黑体" pitchFamily="18" charset="0"/>
              </a:rPr>
              <a:t>共同点</a:t>
            </a:r>
            <a:endParaRPr lang="en-US" altLang="zh-CN" sz="3200" b="1" kern="1200" dirty="0">
              <a:solidFill>
                <a:srgbClr val="0000CC"/>
              </a:solidFill>
              <a:latin typeface="Times New Roman" pitchFamily="18" charset="0"/>
              <a:ea typeface="宋体"/>
              <a:cs typeface="Times New Roman" pitchFamily="18" charset="0"/>
            </a:endParaRPr>
          </a:p>
        </p:txBody>
      </p:sp>
      <p:sp>
        <p:nvSpPr>
          <p:cNvPr id="10" name="TextBox 9"/>
          <p:cNvSpPr txBox="1"/>
          <p:nvPr/>
        </p:nvSpPr>
        <p:spPr>
          <a:xfrm>
            <a:off x="467544" y="1266262"/>
            <a:ext cx="8424935" cy="397031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1028700" rtl="0" latinLnBrk="1" hangingPunct="0">
              <a:lnSpc>
                <a:spcPct val="150000"/>
              </a:lnSpc>
              <a:spcBef>
                <a:spcPts val="0"/>
              </a:spcBef>
            </a:pPr>
            <a:r>
              <a:rPr lang="en-US" altLang="zh-CN" sz="2800" b="1" kern="1200" dirty="0" smtClean="0">
                <a:solidFill>
                  <a:srgbClr val="000000"/>
                </a:solidFill>
                <a:latin typeface="Times New Roman" pitchFamily="18" charset="0"/>
                <a:ea typeface="宋体"/>
                <a:cs typeface="Times New Roman" pitchFamily="18" charset="0"/>
              </a:rPr>
              <a:t>(</a:t>
            </a:r>
            <a:r>
              <a:rPr lang="en-US" altLang="zh-CN" sz="2800" b="1" kern="1200" dirty="0">
                <a:solidFill>
                  <a:srgbClr val="000000"/>
                </a:solidFill>
                <a:latin typeface="Times New Roman" pitchFamily="18" charset="0"/>
                <a:ea typeface="宋体"/>
                <a:cs typeface="Times New Roman" pitchFamily="18" charset="0"/>
              </a:rPr>
              <a:t>1)</a:t>
            </a:r>
            <a:r>
              <a:rPr lang="en-US" altLang="zh-CN" sz="2800" b="1" kern="1200" dirty="0">
                <a:solidFill>
                  <a:prstClr val="black"/>
                </a:solidFill>
                <a:latin typeface="Times New Roman" pitchFamily="18" charset="0"/>
                <a:ea typeface="宋体"/>
                <a:cs typeface="Times New Roman" pitchFamily="18" charset="0"/>
              </a:rPr>
              <a:t> </a:t>
            </a:r>
            <a:r>
              <a:rPr lang="en-US" altLang="zh-CN" sz="2800" b="1" kern="1200" dirty="0" err="1">
                <a:solidFill>
                  <a:srgbClr val="000000"/>
                </a:solidFill>
                <a:latin typeface="黑体" pitchFamily="18" charset="0"/>
                <a:ea typeface="宋体"/>
                <a:cs typeface="黑体" pitchFamily="18" charset="0"/>
              </a:rPr>
              <a:t>都是客观存在的</a:t>
            </a:r>
            <a:r>
              <a:rPr lang="en-US" altLang="zh-CN" sz="2800" b="1" kern="1200" dirty="0">
                <a:solidFill>
                  <a:srgbClr val="000000"/>
                </a:solidFill>
                <a:latin typeface="Times New Roman" pitchFamily="18" charset="0"/>
                <a:ea typeface="宋体"/>
                <a:cs typeface="Times New Roman" pitchFamily="18" charset="0"/>
              </a:rPr>
              <a:t>,</a:t>
            </a:r>
            <a:r>
              <a:rPr lang="en-US" altLang="zh-CN" sz="2800" b="1" kern="1200" dirty="0">
                <a:solidFill>
                  <a:prstClr val="black"/>
                </a:solidFill>
                <a:latin typeface="Times New Roman" pitchFamily="18" charset="0"/>
                <a:ea typeface="宋体"/>
                <a:cs typeface="Times New Roman" pitchFamily="18" charset="0"/>
              </a:rPr>
              <a:t> </a:t>
            </a:r>
            <a:r>
              <a:rPr lang="en-US" altLang="zh-CN" sz="2800" b="1" kern="1200" dirty="0" err="1">
                <a:solidFill>
                  <a:srgbClr val="000000"/>
                </a:solidFill>
                <a:latin typeface="黑体" pitchFamily="18" charset="0"/>
                <a:ea typeface="宋体"/>
                <a:cs typeface="黑体" pitchFamily="18" charset="0"/>
              </a:rPr>
              <a:t>是可知的</a:t>
            </a:r>
            <a:r>
              <a:rPr lang="en-US" altLang="zh-CN" sz="2800" b="1" kern="1200" dirty="0">
                <a:solidFill>
                  <a:srgbClr val="000000"/>
                </a:solidFill>
                <a:latin typeface="黑体" pitchFamily="18" charset="0"/>
                <a:ea typeface="宋体"/>
                <a:cs typeface="黑体" pitchFamily="18" charset="0"/>
              </a:rPr>
              <a:t>；</a:t>
            </a:r>
          </a:p>
          <a:p>
            <a:pPr algn="l" defTabSz="1028700" rtl="0" latinLnBrk="1" hangingPunct="0">
              <a:lnSpc>
                <a:spcPct val="150000"/>
              </a:lnSpc>
              <a:spcBef>
                <a:spcPts val="0"/>
              </a:spcBef>
            </a:pPr>
            <a:r>
              <a:rPr lang="en-US" altLang="zh-CN" sz="2800" b="1" kern="1200" dirty="0">
                <a:solidFill>
                  <a:srgbClr val="000000"/>
                </a:solidFill>
                <a:latin typeface="Times New Roman" pitchFamily="18" charset="0"/>
                <a:ea typeface="宋体"/>
                <a:cs typeface="Times New Roman" pitchFamily="18" charset="0"/>
              </a:rPr>
              <a:t>(2)</a:t>
            </a:r>
            <a:r>
              <a:rPr lang="en-US" altLang="zh-CN" sz="2800" b="1" kern="1200" dirty="0">
                <a:solidFill>
                  <a:prstClr val="black"/>
                </a:solidFill>
                <a:latin typeface="Times New Roman" pitchFamily="18" charset="0"/>
                <a:ea typeface="宋体"/>
                <a:cs typeface="Times New Roman" pitchFamily="18" charset="0"/>
              </a:rPr>
              <a:t> </a:t>
            </a:r>
            <a:r>
              <a:rPr lang="en-US" altLang="zh-CN" sz="2800" b="1" kern="1200" dirty="0" err="1" smtClean="0">
                <a:solidFill>
                  <a:srgbClr val="000000"/>
                </a:solidFill>
                <a:latin typeface="黑体" pitchFamily="18" charset="0"/>
                <a:ea typeface="宋体"/>
                <a:cs typeface="黑体" pitchFamily="18" charset="0"/>
              </a:rPr>
              <a:t>与实物的多样性一样</a:t>
            </a:r>
            <a:r>
              <a:rPr lang="en-US" altLang="zh-CN" sz="2800" b="1" kern="1200" dirty="0" err="1">
                <a:solidFill>
                  <a:srgbClr val="000000"/>
                </a:solidFill>
                <a:latin typeface="Times New Roman" pitchFamily="18" charset="0"/>
                <a:ea typeface="宋体"/>
                <a:cs typeface="Times New Roman" pitchFamily="18" charset="0"/>
              </a:rPr>
              <a:t>,</a:t>
            </a:r>
            <a:r>
              <a:rPr lang="en-US" altLang="zh-CN" sz="2800" b="1" kern="1200" dirty="0" err="1" smtClean="0">
                <a:solidFill>
                  <a:srgbClr val="000000"/>
                </a:solidFill>
                <a:latin typeface="黑体" pitchFamily="18" charset="0"/>
                <a:ea typeface="宋体"/>
                <a:cs typeface="黑体" pitchFamily="18" charset="0"/>
              </a:rPr>
              <a:t>场的存在形式也是多样的</a:t>
            </a:r>
            <a:r>
              <a:rPr lang="en-US" altLang="zh-CN" sz="2800" b="1" kern="1200" dirty="0" smtClean="0">
                <a:solidFill>
                  <a:srgbClr val="000000"/>
                </a:solidFill>
                <a:latin typeface="黑体" pitchFamily="18" charset="0"/>
                <a:ea typeface="宋体"/>
                <a:cs typeface="黑体" pitchFamily="18" charset="0"/>
              </a:rPr>
              <a:t>；</a:t>
            </a:r>
          </a:p>
          <a:p>
            <a:pPr algn="l" defTabSz="1028700" rtl="0" latinLnBrk="1" hangingPunct="0">
              <a:lnSpc>
                <a:spcPct val="150000"/>
              </a:lnSpc>
              <a:spcBef>
                <a:spcPts val="0"/>
              </a:spcBef>
            </a:pPr>
            <a:r>
              <a:rPr lang="en-US" altLang="zh-CN" sz="2800" b="1" kern="1200" dirty="0">
                <a:solidFill>
                  <a:srgbClr val="000000"/>
                </a:solidFill>
                <a:latin typeface="Times New Roman" pitchFamily="18" charset="0"/>
                <a:ea typeface="宋体"/>
                <a:cs typeface="Times New Roman" pitchFamily="18" charset="0"/>
              </a:rPr>
              <a:t>(3)</a:t>
            </a:r>
            <a:r>
              <a:rPr lang="en-US" altLang="zh-CN" sz="2800" b="1" kern="1200" dirty="0">
                <a:solidFill>
                  <a:prstClr val="black"/>
                </a:solidFill>
                <a:latin typeface="Times New Roman" pitchFamily="18" charset="0"/>
                <a:ea typeface="宋体"/>
                <a:cs typeface="Times New Roman" pitchFamily="18" charset="0"/>
              </a:rPr>
              <a:t> </a:t>
            </a:r>
            <a:r>
              <a:rPr lang="en-US" altLang="zh-CN" sz="2800" b="1" kern="1200" dirty="0" err="1">
                <a:solidFill>
                  <a:srgbClr val="000000"/>
                </a:solidFill>
                <a:latin typeface="黑体" pitchFamily="18" charset="0"/>
                <a:ea typeface="宋体"/>
                <a:cs typeface="黑体" pitchFamily="18" charset="0"/>
              </a:rPr>
              <a:t>在场内进行的物理过程也遵循质量守恒、能量守恒、</a:t>
            </a:r>
            <a:r>
              <a:rPr lang="en-US" altLang="zh-CN" sz="2800" b="1" kern="1200" dirty="0" err="1" smtClean="0">
                <a:solidFill>
                  <a:srgbClr val="000000"/>
                </a:solidFill>
                <a:latin typeface="黑体" pitchFamily="18" charset="0"/>
                <a:ea typeface="宋体"/>
                <a:cs typeface="黑体" pitchFamily="18" charset="0"/>
              </a:rPr>
              <a:t>动量</a:t>
            </a:r>
            <a:r>
              <a:rPr lang="en-US" altLang="zh-CN" sz="2800" b="1" kern="1200" dirty="0" err="1">
                <a:solidFill>
                  <a:srgbClr val="000000"/>
                </a:solidFill>
                <a:latin typeface="黑体" pitchFamily="18" charset="0"/>
                <a:ea typeface="宋体"/>
                <a:cs typeface="黑体" pitchFamily="18" charset="0"/>
              </a:rPr>
              <a:t>守恒和角动量守恒等规律</a:t>
            </a:r>
            <a:r>
              <a:rPr lang="en-US" altLang="zh-CN" sz="2800" b="1" kern="1200" dirty="0" smtClean="0">
                <a:solidFill>
                  <a:srgbClr val="000000"/>
                </a:solidFill>
                <a:latin typeface="黑体" pitchFamily="18" charset="0"/>
                <a:ea typeface="宋体"/>
                <a:cs typeface="黑体" pitchFamily="18" charset="0"/>
              </a:rPr>
              <a:t>；</a:t>
            </a:r>
          </a:p>
          <a:p>
            <a:pPr algn="l" defTabSz="1028700" rtl="0" latinLnBrk="1" hangingPunct="0">
              <a:lnSpc>
                <a:spcPct val="150000"/>
              </a:lnSpc>
              <a:spcBef>
                <a:spcPts val="0"/>
              </a:spcBef>
            </a:pPr>
            <a:r>
              <a:rPr lang="en-US" altLang="zh-CN" sz="2800" b="1" kern="1200" dirty="0">
                <a:solidFill>
                  <a:srgbClr val="000000"/>
                </a:solidFill>
                <a:latin typeface="Times New Roman" pitchFamily="18" charset="0"/>
                <a:ea typeface="宋体"/>
                <a:cs typeface="Times New Roman" pitchFamily="18" charset="0"/>
              </a:rPr>
              <a:t>(4)</a:t>
            </a:r>
            <a:r>
              <a:rPr lang="en-US" altLang="zh-CN" sz="2800" b="1" kern="1200" dirty="0">
                <a:solidFill>
                  <a:prstClr val="black"/>
                </a:solidFill>
                <a:latin typeface="Times New Roman" pitchFamily="18" charset="0"/>
                <a:ea typeface="宋体"/>
                <a:cs typeface="Times New Roman" pitchFamily="18" charset="0"/>
              </a:rPr>
              <a:t> </a:t>
            </a:r>
            <a:r>
              <a:rPr lang="en-US" altLang="zh-CN" sz="2800" b="1" kern="1200" dirty="0" err="1">
                <a:solidFill>
                  <a:srgbClr val="000000"/>
                </a:solidFill>
                <a:latin typeface="黑体" pitchFamily="18" charset="0"/>
                <a:ea typeface="宋体"/>
                <a:cs typeface="黑体" pitchFamily="18" charset="0"/>
              </a:rPr>
              <a:t>场也不能创生、不能消灭</a:t>
            </a:r>
            <a:r>
              <a:rPr lang="en-US" altLang="zh-CN" sz="2800" b="1" kern="1200" dirty="0" err="1">
                <a:solidFill>
                  <a:srgbClr val="000000"/>
                </a:solidFill>
                <a:latin typeface="Times New Roman" pitchFamily="18" charset="0"/>
                <a:ea typeface="宋体"/>
                <a:cs typeface="Times New Roman" pitchFamily="18" charset="0"/>
              </a:rPr>
              <a:t>,</a:t>
            </a:r>
            <a:r>
              <a:rPr lang="en-US" altLang="zh-CN" sz="2800" b="1" kern="1200" dirty="0" err="1" smtClean="0">
                <a:solidFill>
                  <a:srgbClr val="000000"/>
                </a:solidFill>
                <a:latin typeface="黑体" pitchFamily="18" charset="0"/>
                <a:ea typeface="宋体"/>
                <a:cs typeface="黑体" pitchFamily="18" charset="0"/>
              </a:rPr>
              <a:t>只能由一种形式转变为另一种形</a:t>
            </a:r>
            <a:r>
              <a:rPr lang="zh-CN" altLang="en-US" sz="2800" b="1" kern="1200" dirty="0" smtClean="0">
                <a:solidFill>
                  <a:srgbClr val="000000"/>
                </a:solidFill>
                <a:latin typeface="黑体" pitchFamily="18" charset="0"/>
                <a:ea typeface="宋体"/>
                <a:cs typeface="黑体" pitchFamily="18" charset="0"/>
              </a:rPr>
              <a:t>式。</a:t>
            </a:r>
            <a:endParaRPr kumimoji="0" lang="zh-CN" altLang="en-US" sz="2800" b="1" i="0" u="none" strike="noStrike" cap="none" spc="0" normalizeH="0" baseline="0" dirty="0">
              <a:ln>
                <a:noFill/>
              </a:ln>
              <a:solidFill>
                <a:srgbClr val="000000"/>
              </a:solidFill>
              <a:effectLst/>
              <a:uFillTx/>
              <a:sym typeface="Times New Roman"/>
            </a:endParaRPr>
          </a:p>
        </p:txBody>
      </p:sp>
    </p:spTree>
    <p:extLst>
      <p:ext uri="{BB962C8B-B14F-4D97-AF65-F5344CB8AC3E}">
        <p14:creationId xmlns:p14="http://schemas.microsoft.com/office/powerpoint/2010/main" val="747258823"/>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0765" y="447819"/>
            <a:ext cx="4024852" cy="377882"/>
          </a:xfrm>
          <a:prstGeom prst="rect">
            <a:avLst/>
          </a:prstGeom>
          <a:noFill/>
        </p:spPr>
        <p:txBody>
          <a:bodyPr wrap="square" lIns="0" tIns="0" rIns="0" bIns="45805" rtlCol="0">
            <a:spAutoFit/>
          </a:bodyPr>
          <a:lstStyle/>
          <a:p>
            <a:pPr algn="l" defTabSz="916116" rtl="0">
              <a:lnSpc>
                <a:spcPts val="2506"/>
              </a:lnSpc>
              <a:spcBef>
                <a:spcPts val="0"/>
              </a:spcBef>
            </a:pPr>
            <a:r>
              <a:rPr lang="en-US" altLang="zh-CN" sz="3200" b="1" kern="1200" dirty="0">
                <a:solidFill>
                  <a:srgbClr val="0000CC"/>
                </a:solidFill>
                <a:latin typeface="黑体" pitchFamily="18" charset="0"/>
                <a:ea typeface="宋体"/>
                <a:cs typeface="黑体" pitchFamily="18" charset="0"/>
              </a:rPr>
              <a:t>电场与实物的区别</a:t>
            </a:r>
            <a:r>
              <a:rPr lang="en-US" altLang="zh-CN" sz="3200" b="1" kern="1200" dirty="0">
                <a:solidFill>
                  <a:srgbClr val="0000CC"/>
                </a:solidFill>
                <a:latin typeface="Times New Roman" pitchFamily="18" charset="0"/>
                <a:ea typeface="宋体"/>
                <a:cs typeface="Times New Roman" pitchFamily="18" charset="0"/>
              </a:rPr>
              <a:t>:</a:t>
            </a:r>
          </a:p>
        </p:txBody>
      </p:sp>
      <p:sp>
        <p:nvSpPr>
          <p:cNvPr id="3" name="TextBox 2"/>
          <p:cNvSpPr txBox="1"/>
          <p:nvPr/>
        </p:nvSpPr>
        <p:spPr>
          <a:xfrm>
            <a:off x="410765" y="828354"/>
            <a:ext cx="8227678" cy="461664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916116" rtl="0">
              <a:lnSpc>
                <a:spcPct val="150000"/>
              </a:lnSpc>
              <a:spcBef>
                <a:spcPts val="0"/>
              </a:spcBef>
              <a:tabLst>
                <a:tab pos="458057" algn="l"/>
              </a:tabLst>
            </a:pPr>
            <a:r>
              <a:rPr lang="en-US" altLang="zh-CN" sz="2800" b="1" kern="1200" dirty="0" smtClean="0">
                <a:solidFill>
                  <a:srgbClr val="000000"/>
                </a:solidFill>
                <a:latin typeface="Times New Roman" pitchFamily="18" charset="0"/>
                <a:ea typeface="宋体"/>
                <a:cs typeface="Times New Roman" pitchFamily="18" charset="0"/>
              </a:rPr>
              <a:t>(1</a:t>
            </a:r>
            <a:r>
              <a:rPr lang="en-US" altLang="zh-CN" sz="2800" b="1" kern="1200" dirty="0">
                <a:solidFill>
                  <a:srgbClr val="000000"/>
                </a:solidFill>
                <a:latin typeface="Times New Roman" pitchFamily="18" charset="0"/>
                <a:ea typeface="宋体"/>
                <a:cs typeface="Times New Roman" pitchFamily="18" charset="0"/>
              </a:rPr>
              <a:t>)</a:t>
            </a:r>
            <a:r>
              <a:rPr lang="en-US" altLang="zh-CN" sz="2800" b="1" kern="1200" dirty="0">
                <a:solidFill>
                  <a:prstClr val="black"/>
                </a:solidFill>
                <a:latin typeface="Times New Roman" pitchFamily="18" charset="0"/>
                <a:ea typeface="宋体"/>
                <a:cs typeface="Times New Roman" pitchFamily="18" charset="0"/>
              </a:rPr>
              <a:t>  </a:t>
            </a:r>
            <a:r>
              <a:rPr lang="en-US" altLang="zh-CN" sz="2800" b="1" kern="1200" dirty="0" err="1" smtClean="0">
                <a:solidFill>
                  <a:srgbClr val="000000"/>
                </a:solidFill>
                <a:latin typeface="黑体" pitchFamily="18" charset="0"/>
                <a:ea typeface="宋体"/>
                <a:cs typeface="黑体" pitchFamily="18" charset="0"/>
              </a:rPr>
              <a:t>实物质量密度大</a:t>
            </a:r>
            <a:r>
              <a:rPr lang="zh-CN" altLang="en-US" sz="2800" b="1" kern="1200" dirty="0" smtClean="0">
                <a:solidFill>
                  <a:srgbClr val="000000"/>
                </a:solidFill>
                <a:latin typeface="黑体" pitchFamily="18" charset="0"/>
                <a:ea typeface="宋体"/>
                <a:cs typeface="黑体" pitchFamily="18" charset="0"/>
              </a:rPr>
              <a:t>，</a:t>
            </a:r>
            <a:r>
              <a:rPr lang="en-US" altLang="zh-CN" sz="2800" b="1" kern="1200" dirty="0" err="1" smtClean="0">
                <a:solidFill>
                  <a:srgbClr val="000000"/>
                </a:solidFill>
                <a:latin typeface="黑体" pitchFamily="18" charset="0"/>
                <a:ea typeface="宋体"/>
                <a:cs typeface="黑体" pitchFamily="18" charset="0"/>
              </a:rPr>
              <a:t>场质量密度很小</a:t>
            </a:r>
            <a:r>
              <a:rPr lang="zh-CN" altLang="en-US" sz="2800" b="1" kern="1200" dirty="0" smtClean="0">
                <a:solidFill>
                  <a:srgbClr val="000000"/>
                </a:solidFill>
                <a:latin typeface="黑体" pitchFamily="18" charset="0"/>
                <a:ea typeface="宋体"/>
                <a:cs typeface="黑体" pitchFamily="18" charset="0"/>
              </a:rPr>
              <a:t>，</a:t>
            </a:r>
            <a:r>
              <a:rPr lang="en-US" altLang="zh-CN" sz="2800" b="1" kern="1200" dirty="0" smtClean="0">
                <a:solidFill>
                  <a:prstClr val="black"/>
                </a:solidFill>
                <a:latin typeface="Times New Roman" pitchFamily="18" charset="0"/>
                <a:ea typeface="宋体"/>
                <a:cs typeface="Times New Roman" pitchFamily="18" charset="0"/>
              </a:rPr>
              <a:t> </a:t>
            </a:r>
            <a:r>
              <a:rPr lang="en-US" altLang="zh-CN" sz="2800" b="1" kern="1200" dirty="0" err="1">
                <a:solidFill>
                  <a:srgbClr val="000000"/>
                </a:solidFill>
                <a:latin typeface="黑体" pitchFamily="18" charset="0"/>
                <a:ea typeface="宋体"/>
                <a:cs typeface="黑体" pitchFamily="18" charset="0"/>
              </a:rPr>
              <a:t>无静止质量</a:t>
            </a:r>
            <a:r>
              <a:rPr lang="en-US" altLang="zh-CN" sz="2800" b="1" kern="1200" dirty="0">
                <a:solidFill>
                  <a:srgbClr val="000000"/>
                </a:solidFill>
                <a:latin typeface="黑体" pitchFamily="18" charset="0"/>
                <a:ea typeface="宋体"/>
                <a:cs typeface="黑体" pitchFamily="18" charset="0"/>
              </a:rPr>
              <a:t>；</a:t>
            </a:r>
          </a:p>
          <a:p>
            <a:pPr algn="l" defTabSz="916116" rtl="0">
              <a:lnSpc>
                <a:spcPct val="150000"/>
              </a:lnSpc>
              <a:spcBef>
                <a:spcPts val="0"/>
              </a:spcBef>
              <a:tabLst>
                <a:tab pos="458057" algn="l"/>
              </a:tabLst>
            </a:pPr>
            <a:r>
              <a:rPr lang="en-US" altLang="zh-CN" sz="2800" b="1" kern="1200" dirty="0">
                <a:solidFill>
                  <a:srgbClr val="000000"/>
                </a:solidFill>
                <a:latin typeface="Times New Roman" pitchFamily="18" charset="0"/>
                <a:ea typeface="宋体"/>
                <a:cs typeface="Times New Roman" pitchFamily="18" charset="0"/>
              </a:rPr>
              <a:t>(2)</a:t>
            </a:r>
            <a:r>
              <a:rPr lang="en-US" altLang="zh-CN" sz="2800" b="1" kern="1200" dirty="0">
                <a:solidFill>
                  <a:prstClr val="black"/>
                </a:solidFill>
                <a:latin typeface="Times New Roman" pitchFamily="18" charset="0"/>
                <a:ea typeface="宋体"/>
                <a:cs typeface="Times New Roman" pitchFamily="18" charset="0"/>
              </a:rPr>
              <a:t>  </a:t>
            </a:r>
            <a:r>
              <a:rPr lang="en-US" altLang="zh-CN" sz="2800" b="1" kern="1200" dirty="0" err="1" smtClean="0">
                <a:solidFill>
                  <a:srgbClr val="000000"/>
                </a:solidFill>
                <a:latin typeface="黑体" pitchFamily="18" charset="0"/>
                <a:ea typeface="宋体"/>
                <a:cs typeface="黑体" pitchFamily="18" charset="0"/>
              </a:rPr>
              <a:t>实物不能达到光速</a:t>
            </a:r>
            <a:r>
              <a:rPr lang="zh-CN" altLang="en-US" sz="2800" b="1" kern="1200" dirty="0" smtClean="0">
                <a:solidFill>
                  <a:srgbClr val="000000"/>
                </a:solidFill>
                <a:latin typeface="黑体" pitchFamily="18" charset="0"/>
                <a:ea typeface="宋体"/>
                <a:cs typeface="黑体" pitchFamily="18" charset="0"/>
              </a:rPr>
              <a:t>，</a:t>
            </a:r>
            <a:r>
              <a:rPr lang="en-US" altLang="zh-CN" sz="2800" b="1" kern="1200" dirty="0" err="1" smtClean="0">
                <a:solidFill>
                  <a:srgbClr val="000000"/>
                </a:solidFill>
                <a:latin typeface="黑体" pitchFamily="18" charset="0"/>
                <a:ea typeface="宋体"/>
                <a:cs typeface="黑体" pitchFamily="18" charset="0"/>
              </a:rPr>
              <a:t>场则以光速传播</a:t>
            </a:r>
            <a:r>
              <a:rPr lang="en-US" altLang="zh-CN" sz="2800" b="1" kern="1200" dirty="0">
                <a:solidFill>
                  <a:srgbClr val="000000"/>
                </a:solidFill>
                <a:latin typeface="黑体" pitchFamily="18" charset="0"/>
                <a:ea typeface="宋体"/>
                <a:cs typeface="黑体" pitchFamily="18" charset="0"/>
              </a:rPr>
              <a:t>；</a:t>
            </a:r>
          </a:p>
          <a:p>
            <a:pPr marL="457200" indent="-457200" algn="l" defTabSz="916116" rtl="0">
              <a:lnSpc>
                <a:spcPct val="150000"/>
              </a:lnSpc>
              <a:spcBef>
                <a:spcPts val="0"/>
              </a:spcBef>
              <a:buAutoNum type="arabicParenBoth" startAt="3"/>
              <a:tabLst>
                <a:tab pos="458057" algn="l"/>
              </a:tabLst>
            </a:pPr>
            <a:r>
              <a:rPr lang="en-US" altLang="zh-CN" sz="2800" b="1" kern="1200" dirty="0" err="1" smtClean="0">
                <a:solidFill>
                  <a:srgbClr val="000000"/>
                </a:solidFill>
                <a:latin typeface="黑体" pitchFamily="18" charset="0"/>
                <a:ea typeface="宋体"/>
                <a:cs typeface="黑体" pitchFamily="18" charset="0"/>
              </a:rPr>
              <a:t>实物受力产生加速度</a:t>
            </a:r>
            <a:r>
              <a:rPr lang="zh-CN" altLang="en-US" sz="2800" b="1" kern="1200" dirty="0" smtClean="0">
                <a:solidFill>
                  <a:srgbClr val="000000"/>
                </a:solidFill>
                <a:latin typeface="黑体" pitchFamily="18" charset="0"/>
                <a:ea typeface="宋体"/>
                <a:cs typeface="黑体" pitchFamily="18" charset="0"/>
              </a:rPr>
              <a:t>，</a:t>
            </a:r>
            <a:r>
              <a:rPr lang="en-US" altLang="zh-CN" sz="2800" b="1" kern="1200" dirty="0" err="1" smtClean="0">
                <a:solidFill>
                  <a:srgbClr val="000000"/>
                </a:solidFill>
                <a:latin typeface="黑体" pitchFamily="18" charset="0"/>
                <a:ea typeface="宋体"/>
                <a:cs typeface="黑体" pitchFamily="18" charset="0"/>
              </a:rPr>
              <a:t>场则不能被加速</a:t>
            </a:r>
            <a:r>
              <a:rPr lang="en-US" altLang="zh-CN" sz="2800" b="1" kern="1200" dirty="0" smtClean="0">
                <a:solidFill>
                  <a:srgbClr val="000000"/>
                </a:solidFill>
                <a:latin typeface="黑体" pitchFamily="18" charset="0"/>
                <a:ea typeface="宋体"/>
                <a:cs typeface="黑体" pitchFamily="18" charset="0"/>
              </a:rPr>
              <a:t>；</a:t>
            </a:r>
          </a:p>
          <a:p>
            <a:pPr algn="l" defTabSz="916116" rtl="0">
              <a:lnSpc>
                <a:spcPct val="150000"/>
              </a:lnSpc>
              <a:spcBef>
                <a:spcPts val="0"/>
              </a:spcBef>
              <a:tabLst>
                <a:tab pos="458057" algn="l"/>
              </a:tabLst>
            </a:pPr>
            <a:r>
              <a:rPr lang="en-US" altLang="zh-CN" sz="2800" b="1" kern="1200" dirty="0" smtClean="0">
                <a:solidFill>
                  <a:srgbClr val="000000"/>
                </a:solidFill>
                <a:latin typeface="Times New Roman" pitchFamily="18" charset="0"/>
                <a:ea typeface="宋体"/>
                <a:cs typeface="Times New Roman" pitchFamily="18" charset="0"/>
              </a:rPr>
              <a:t>(</a:t>
            </a:r>
            <a:r>
              <a:rPr lang="en-US" altLang="zh-CN" sz="2800" b="1" kern="1200" dirty="0">
                <a:solidFill>
                  <a:srgbClr val="000000"/>
                </a:solidFill>
                <a:latin typeface="Times New Roman" pitchFamily="18" charset="0"/>
                <a:ea typeface="宋体"/>
                <a:cs typeface="Times New Roman" pitchFamily="18" charset="0"/>
              </a:rPr>
              <a:t>4</a:t>
            </a:r>
            <a:r>
              <a:rPr lang="en-US" altLang="zh-CN" sz="2800" b="1" kern="1200" dirty="0" smtClean="0">
                <a:solidFill>
                  <a:srgbClr val="000000"/>
                </a:solidFill>
                <a:latin typeface="Times New Roman" pitchFamily="18" charset="0"/>
                <a:ea typeface="宋体"/>
                <a:cs typeface="Times New Roman" pitchFamily="18" charset="0"/>
              </a:rPr>
              <a:t>)</a:t>
            </a:r>
            <a:r>
              <a:rPr lang="en-US" altLang="zh-CN" sz="2800" b="1" kern="1200" dirty="0">
                <a:solidFill>
                  <a:srgbClr val="000000"/>
                </a:solidFill>
                <a:latin typeface="黑体" pitchFamily="18" charset="0"/>
                <a:ea typeface="宋体"/>
                <a:cs typeface="黑体" pitchFamily="18" charset="0"/>
              </a:rPr>
              <a:t> </a:t>
            </a:r>
            <a:r>
              <a:rPr lang="en-US" altLang="zh-CN" sz="2800" b="1" kern="1200" dirty="0" err="1" smtClean="0">
                <a:solidFill>
                  <a:srgbClr val="000000"/>
                </a:solidFill>
                <a:latin typeface="黑体" pitchFamily="18" charset="0"/>
                <a:ea typeface="宋体"/>
                <a:cs typeface="黑体" pitchFamily="18" charset="0"/>
              </a:rPr>
              <a:t>实物具有不可入性</a:t>
            </a:r>
            <a:r>
              <a:rPr lang="zh-CN" altLang="en-US" sz="2800" b="1" kern="1200" dirty="0" smtClean="0">
                <a:solidFill>
                  <a:srgbClr val="000000"/>
                </a:solidFill>
                <a:latin typeface="黑体" pitchFamily="18" charset="0"/>
                <a:ea typeface="宋体"/>
                <a:cs typeface="黑体" pitchFamily="18" charset="0"/>
              </a:rPr>
              <a:t>，</a:t>
            </a:r>
            <a:r>
              <a:rPr lang="en-US" altLang="zh-CN" sz="2800" b="1" kern="1200" dirty="0" err="1" smtClean="0">
                <a:solidFill>
                  <a:srgbClr val="000000"/>
                </a:solidFill>
                <a:latin typeface="黑体" pitchFamily="18" charset="0"/>
                <a:ea typeface="宋体"/>
                <a:cs typeface="黑体" pitchFamily="18" charset="0"/>
              </a:rPr>
              <a:t>以空间间断形式存在</a:t>
            </a:r>
            <a:r>
              <a:rPr lang="en-US" altLang="zh-CN" sz="2800" b="1" kern="1200" dirty="0" err="1" smtClean="0">
                <a:solidFill>
                  <a:srgbClr val="000000"/>
                </a:solidFill>
                <a:latin typeface="Times New Roman" pitchFamily="18" charset="0"/>
                <a:ea typeface="宋体"/>
                <a:cs typeface="Times New Roman" pitchFamily="18" charset="0"/>
              </a:rPr>
              <a:t>,</a:t>
            </a:r>
            <a:r>
              <a:rPr lang="en-US" altLang="zh-CN" sz="2800" b="1" kern="1200" dirty="0" err="1" smtClean="0">
                <a:solidFill>
                  <a:srgbClr val="000000"/>
                </a:solidFill>
                <a:latin typeface="黑体" pitchFamily="18" charset="0"/>
                <a:ea typeface="宋体"/>
                <a:cs typeface="黑体" pitchFamily="18" charset="0"/>
              </a:rPr>
              <a:t>可以作参考系；场具有可入性</a:t>
            </a:r>
            <a:r>
              <a:rPr lang="zh-CN" altLang="en-US" sz="2800" b="1" kern="1200" dirty="0" smtClean="0">
                <a:solidFill>
                  <a:srgbClr val="000000"/>
                </a:solidFill>
                <a:latin typeface="黑体" pitchFamily="18" charset="0"/>
                <a:ea typeface="宋体"/>
                <a:cs typeface="黑体" pitchFamily="18" charset="0"/>
              </a:rPr>
              <a:t>，</a:t>
            </a:r>
            <a:r>
              <a:rPr lang="en-US" altLang="zh-CN" sz="2800" b="1" kern="1200" dirty="0" err="1" smtClean="0">
                <a:solidFill>
                  <a:srgbClr val="000000"/>
                </a:solidFill>
                <a:latin typeface="黑体" pitchFamily="18" charset="0"/>
                <a:ea typeface="宋体"/>
                <a:cs typeface="黑体" pitchFamily="18" charset="0"/>
              </a:rPr>
              <a:t>以连续形式存在</a:t>
            </a:r>
            <a:r>
              <a:rPr lang="en-US" altLang="zh-CN" sz="2800" b="1" kern="1200" dirty="0" err="1" smtClean="0">
                <a:solidFill>
                  <a:srgbClr val="000000"/>
                </a:solidFill>
                <a:latin typeface="Times New Roman" pitchFamily="18" charset="0"/>
                <a:ea typeface="宋体"/>
                <a:cs typeface="Times New Roman" pitchFamily="18" charset="0"/>
              </a:rPr>
              <a:t>,</a:t>
            </a:r>
            <a:r>
              <a:rPr lang="en-US" altLang="zh-CN" sz="2800" b="1" kern="1200" dirty="0" err="1" smtClean="0">
                <a:solidFill>
                  <a:srgbClr val="000000"/>
                </a:solidFill>
                <a:latin typeface="黑体" pitchFamily="18" charset="0"/>
                <a:ea typeface="宋体"/>
                <a:cs typeface="黑体" pitchFamily="18" charset="0"/>
              </a:rPr>
              <a:t>具有可叠加性</a:t>
            </a:r>
            <a:r>
              <a:rPr lang="zh-CN" altLang="en-US" sz="2800" b="1" kern="1200" dirty="0" smtClean="0">
                <a:solidFill>
                  <a:srgbClr val="000000"/>
                </a:solidFill>
                <a:latin typeface="黑体" pitchFamily="18" charset="0"/>
                <a:ea typeface="宋体"/>
                <a:cs typeface="黑体" pitchFamily="18" charset="0"/>
              </a:rPr>
              <a:t>，</a:t>
            </a:r>
            <a:r>
              <a:rPr lang="en-US" altLang="zh-CN" sz="2800" b="1" kern="1200" dirty="0" err="1" smtClean="0">
                <a:solidFill>
                  <a:srgbClr val="000000"/>
                </a:solidFill>
                <a:latin typeface="黑体" pitchFamily="18" charset="0"/>
                <a:ea typeface="宋体"/>
                <a:cs typeface="黑体" pitchFamily="18" charset="0"/>
              </a:rPr>
              <a:t>不能作为参考系</a:t>
            </a:r>
            <a:r>
              <a:rPr lang="zh-CN" altLang="en-US" sz="2800" b="1" kern="1200" dirty="0" smtClean="0">
                <a:solidFill>
                  <a:srgbClr val="000000"/>
                </a:solidFill>
                <a:latin typeface="黑体" pitchFamily="18" charset="0"/>
                <a:ea typeface="宋体"/>
                <a:cs typeface="黑体" pitchFamily="18" charset="0"/>
              </a:rPr>
              <a:t>。</a:t>
            </a:r>
            <a:endParaRPr kumimoji="0" lang="zh-CN" altLang="en-US" sz="2800" b="1" i="0" u="none" strike="noStrike" cap="none" spc="0" normalizeH="0" baseline="0" dirty="0">
              <a:ln>
                <a:noFill/>
              </a:ln>
              <a:solidFill>
                <a:srgbClr val="000000"/>
              </a:solidFill>
              <a:effectLst/>
              <a:uFillTx/>
              <a:sym typeface="Times New Roman"/>
            </a:endParaRPr>
          </a:p>
        </p:txBody>
      </p:sp>
      <p:sp>
        <p:nvSpPr>
          <p:cNvPr id="5" name="TextBox 1"/>
          <p:cNvSpPr txBox="1"/>
          <p:nvPr/>
        </p:nvSpPr>
        <p:spPr>
          <a:xfrm>
            <a:off x="544881" y="5445000"/>
            <a:ext cx="8093562" cy="1282488"/>
          </a:xfrm>
          <a:prstGeom prst="rect">
            <a:avLst/>
          </a:prstGeom>
          <a:noFill/>
        </p:spPr>
        <p:txBody>
          <a:bodyPr wrap="none" lIns="0" tIns="0" rIns="0" bIns="45805" rtlCol="0">
            <a:spAutoFit/>
          </a:bodyPr>
          <a:lstStyle/>
          <a:p>
            <a:pPr algn="l" defTabSz="916116" rtl="0">
              <a:lnSpc>
                <a:spcPts val="1002"/>
              </a:lnSpc>
              <a:spcBef>
                <a:spcPts val="0"/>
              </a:spcBef>
            </a:pPr>
            <a:endParaRPr lang="en-US" altLang="zh-CN" sz="1800" kern="1200" dirty="0">
              <a:solidFill>
                <a:prstClr val="black"/>
              </a:solidFill>
              <a:latin typeface="Calibri"/>
              <a:ea typeface="宋体"/>
              <a:cs typeface="+mn-cs"/>
            </a:endParaRPr>
          </a:p>
          <a:p>
            <a:pPr algn="l" defTabSz="916116" rtl="0">
              <a:lnSpc>
                <a:spcPct val="150000"/>
              </a:lnSpc>
              <a:spcBef>
                <a:spcPts val="0"/>
              </a:spcBef>
              <a:tabLst>
                <a:tab pos="38172" algn="l"/>
                <a:tab pos="712535" algn="l"/>
              </a:tabLst>
            </a:pPr>
            <a:r>
              <a:rPr lang="en-US" altLang="zh-CN" b="1" kern="1200" dirty="0" err="1" smtClean="0">
                <a:solidFill>
                  <a:srgbClr val="0000CC"/>
                </a:solidFill>
                <a:latin typeface="黑体" pitchFamily="18" charset="0"/>
                <a:ea typeface="宋体"/>
                <a:cs typeface="黑体" pitchFamily="18" charset="0"/>
              </a:rPr>
              <a:t>联系</a:t>
            </a:r>
            <a:r>
              <a:rPr lang="en-US" altLang="zh-CN" b="1" kern="1200" dirty="0" smtClean="0">
                <a:solidFill>
                  <a:prstClr val="black"/>
                </a:solidFill>
                <a:latin typeface="Times New Roman" pitchFamily="18" charset="0"/>
                <a:ea typeface="宋体"/>
                <a:cs typeface="Times New Roman" pitchFamily="18" charset="0"/>
              </a:rPr>
              <a:t> </a:t>
            </a:r>
            <a:r>
              <a:rPr lang="en-US" altLang="zh-CN" b="1" kern="1200" dirty="0">
                <a:solidFill>
                  <a:srgbClr val="000000"/>
                </a:solidFill>
                <a:latin typeface="Times New Roman" pitchFamily="18" charset="0"/>
                <a:ea typeface="宋体"/>
                <a:cs typeface="Times New Roman" pitchFamily="18" charset="0"/>
              </a:rPr>
              <a:t>--</a:t>
            </a:r>
            <a:r>
              <a:rPr lang="en-US" altLang="zh-CN" b="1" kern="1200" dirty="0">
                <a:solidFill>
                  <a:prstClr val="black"/>
                </a:solidFill>
                <a:latin typeface="Times New Roman" pitchFamily="18" charset="0"/>
                <a:ea typeface="宋体"/>
                <a:cs typeface="Times New Roman" pitchFamily="18" charset="0"/>
              </a:rPr>
              <a:t> </a:t>
            </a:r>
            <a:r>
              <a:rPr lang="en-US" altLang="zh-CN" b="1" kern="1200" dirty="0" err="1" smtClean="0">
                <a:solidFill>
                  <a:srgbClr val="000000"/>
                </a:solidFill>
                <a:latin typeface="黑体" pitchFamily="18" charset="0"/>
                <a:ea typeface="宋体"/>
                <a:cs typeface="黑体" pitchFamily="18" charset="0"/>
              </a:rPr>
              <a:t>实物周围存在相关的场</a:t>
            </a:r>
            <a:r>
              <a:rPr lang="zh-CN" altLang="en-US" b="1" kern="1200" dirty="0" smtClean="0">
                <a:solidFill>
                  <a:srgbClr val="000000"/>
                </a:solidFill>
                <a:latin typeface="Times New Roman" pitchFamily="18" charset="0"/>
                <a:ea typeface="宋体"/>
                <a:cs typeface="Times New Roman" pitchFamily="18" charset="0"/>
              </a:rPr>
              <a:t>，</a:t>
            </a:r>
            <a:r>
              <a:rPr lang="en-US" altLang="zh-CN" b="1" kern="1200" dirty="0" err="1" smtClean="0">
                <a:solidFill>
                  <a:srgbClr val="000000"/>
                </a:solidFill>
                <a:latin typeface="黑体" pitchFamily="18" charset="0"/>
                <a:ea typeface="宋体"/>
                <a:cs typeface="黑体" pitchFamily="18" charset="0"/>
              </a:rPr>
              <a:t>场传递实物间的相互作用</a:t>
            </a:r>
            <a:r>
              <a:rPr lang="zh-CN" altLang="en-US" b="1" kern="1200" dirty="0" smtClean="0">
                <a:solidFill>
                  <a:srgbClr val="000000"/>
                </a:solidFill>
                <a:latin typeface="黑体" pitchFamily="18" charset="0"/>
                <a:ea typeface="宋体"/>
                <a:cs typeface="黑体" pitchFamily="18" charset="0"/>
              </a:rPr>
              <a:t>。</a:t>
            </a:r>
            <a:endParaRPr lang="en-US" altLang="zh-CN" b="1" kern="1200" dirty="0">
              <a:solidFill>
                <a:srgbClr val="000000"/>
              </a:solidFill>
              <a:latin typeface="Times New Roman" pitchFamily="18" charset="0"/>
              <a:ea typeface="宋体"/>
              <a:cs typeface="Times New Roman" pitchFamily="18" charset="0"/>
            </a:endParaRPr>
          </a:p>
          <a:p>
            <a:pPr algn="l" defTabSz="916116" rtl="0">
              <a:lnSpc>
                <a:spcPct val="150000"/>
              </a:lnSpc>
              <a:spcBef>
                <a:spcPts val="0"/>
              </a:spcBef>
              <a:tabLst>
                <a:tab pos="38172" algn="l"/>
                <a:tab pos="712535" algn="l"/>
              </a:tabLst>
            </a:pPr>
            <a:r>
              <a:rPr lang="en-US" altLang="zh-CN" b="1" kern="1200" dirty="0">
                <a:solidFill>
                  <a:prstClr val="black"/>
                </a:solidFill>
                <a:latin typeface="Calibri"/>
                <a:ea typeface="宋体"/>
                <a:cs typeface="+mn-cs"/>
              </a:rPr>
              <a:t>	</a:t>
            </a:r>
            <a:endParaRPr lang="en-US" altLang="zh-CN" b="1" kern="1200" dirty="0">
              <a:solidFill>
                <a:srgbClr val="000000"/>
              </a:solidFill>
              <a:latin typeface="Times New Roman" pitchFamily="18" charset="0"/>
              <a:ea typeface="宋体"/>
              <a:cs typeface="Times New Roman" pitchFamily="18" charset="0"/>
            </a:endParaRPr>
          </a:p>
        </p:txBody>
      </p:sp>
    </p:spTree>
    <p:extLst>
      <p:ext uri="{BB962C8B-B14F-4D97-AF65-F5344CB8AC3E}">
        <p14:creationId xmlns:p14="http://schemas.microsoft.com/office/powerpoint/2010/main" val="2655713969"/>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82"/>
          <p:cNvSpPr/>
          <p:nvPr/>
        </p:nvSpPr>
        <p:spPr>
          <a:xfrm>
            <a:off x="400586" y="242322"/>
            <a:ext cx="1963100" cy="609398"/>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lvl="0">
              <a:defRPr sz="1800"/>
            </a:pPr>
            <a:r>
              <a:rPr lang="zh-CN" altLang="en-US" sz="2800" dirty="0">
                <a:solidFill>
                  <a:srgbClr val="3333FF"/>
                </a:solidFill>
                <a:latin typeface="SimHei"/>
                <a:ea typeface="SimHei"/>
                <a:cs typeface="SimHei"/>
                <a:sym typeface="SimHei"/>
              </a:rPr>
              <a:t>二</a:t>
            </a:r>
            <a:r>
              <a:rPr sz="2800" dirty="0">
                <a:solidFill>
                  <a:srgbClr val="3333FF"/>
                </a:solidFill>
                <a:latin typeface="SimHei"/>
                <a:ea typeface="SimHei"/>
                <a:cs typeface="SimHei"/>
                <a:sym typeface="SimHei"/>
              </a:rPr>
              <a:t>.</a:t>
            </a:r>
            <a:r>
              <a:rPr lang="zh-CN" altLang="en-US" sz="2800" dirty="0">
                <a:solidFill>
                  <a:srgbClr val="3333FF"/>
                </a:solidFill>
                <a:latin typeface="SimHei"/>
                <a:ea typeface="SimHei"/>
                <a:cs typeface="SimHei"/>
                <a:sym typeface="SimHei"/>
              </a:rPr>
              <a:t>电</a:t>
            </a:r>
            <a:r>
              <a:rPr sz="2800" dirty="0">
                <a:solidFill>
                  <a:srgbClr val="3333FF"/>
                </a:solidFill>
                <a:latin typeface="SimHei"/>
                <a:ea typeface="SimHei"/>
                <a:cs typeface="SimHei"/>
                <a:sym typeface="SimHei"/>
              </a:rPr>
              <a:t>场</a:t>
            </a:r>
          </a:p>
        </p:txBody>
      </p:sp>
      <p:grpSp>
        <p:nvGrpSpPr>
          <p:cNvPr id="5" name="Group 180"/>
          <p:cNvGrpSpPr/>
          <p:nvPr/>
        </p:nvGrpSpPr>
        <p:grpSpPr>
          <a:xfrm>
            <a:off x="685138" y="3177274"/>
            <a:ext cx="6926265" cy="1481158"/>
            <a:chOff x="-2" y="-166167"/>
            <a:chExt cx="6926264" cy="1481158"/>
          </a:xfrm>
        </p:grpSpPr>
        <p:grpSp>
          <p:nvGrpSpPr>
            <p:cNvPr id="6" name="Group 170"/>
            <p:cNvGrpSpPr/>
            <p:nvPr/>
          </p:nvGrpSpPr>
          <p:grpSpPr>
            <a:xfrm>
              <a:off x="-2" y="101598"/>
              <a:ext cx="6926264" cy="914402"/>
              <a:chOff x="-1" y="-1"/>
              <a:chExt cx="6926263" cy="914401"/>
            </a:xfrm>
          </p:grpSpPr>
          <p:sp>
            <p:nvSpPr>
              <p:cNvPr id="11" name="Shape 161"/>
              <p:cNvSpPr/>
              <p:nvPr/>
            </p:nvSpPr>
            <p:spPr>
              <a:xfrm>
                <a:off x="-1" y="152400"/>
                <a:ext cx="1335184" cy="443198"/>
              </a:xfrm>
              <a:prstGeom prst="rect">
                <a:avLst/>
              </a:prstGeom>
              <a:gradFill flip="none" rotWithShape="1">
                <a:gsLst>
                  <a:gs pos="0">
                    <a:srgbClr val="EBEBEB"/>
                  </a:gs>
                  <a:gs pos="50000">
                    <a:srgbClr val="FFFFFF"/>
                  </a:gs>
                  <a:gs pos="100000">
                    <a:srgbClr val="EBEBEB"/>
                  </a:gs>
                </a:gsLst>
                <a:lin ang="5400000" scaled="0"/>
              </a:gradFill>
              <a:ln w="9525" cap="flat">
                <a:solidFill>
                  <a:srgbClr val="000000"/>
                </a:solidFill>
                <a:prstDash val="solid"/>
                <a:miter lim="8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ctr">
                  <a:spcBef>
                    <a:spcPts val="1200"/>
                  </a:spcBef>
                  <a:defRPr sz="2000" b="1">
                    <a:latin typeface="楷体_GB2312"/>
                    <a:ea typeface="楷体_GB2312"/>
                    <a:cs typeface="楷体_GB2312"/>
                    <a:sym typeface="楷体_GB2312"/>
                  </a:defRPr>
                </a:lvl1pPr>
              </a:lstStyle>
              <a:p>
                <a:pPr lvl="0">
                  <a:defRPr sz="1800" b="0"/>
                </a:pPr>
                <a:r>
                  <a:rPr sz="2400" dirty="0"/>
                  <a:t>电 荷</a:t>
                </a:r>
              </a:p>
            </p:txBody>
          </p:sp>
          <p:sp>
            <p:nvSpPr>
              <p:cNvPr id="12" name="Shape 162"/>
              <p:cNvSpPr/>
              <p:nvPr/>
            </p:nvSpPr>
            <p:spPr>
              <a:xfrm>
                <a:off x="1585529" y="152400"/>
                <a:ext cx="1001389" cy="304800"/>
              </a:xfrm>
              <a:prstGeom prst="rightArrow">
                <a:avLst>
                  <a:gd name="adj1" fmla="val 50000"/>
                  <a:gd name="adj2" fmla="val 75000"/>
                </a:avLst>
              </a:prstGeom>
              <a:gradFill flip="none" rotWithShape="1">
                <a:gsLst>
                  <a:gs pos="0">
                    <a:srgbClr val="A4D6DA"/>
                  </a:gs>
                  <a:gs pos="50000">
                    <a:srgbClr val="FFFFFF"/>
                  </a:gs>
                  <a:gs pos="100000">
                    <a:srgbClr val="A4D6DA"/>
                  </a:gs>
                </a:gsLst>
                <a:lin ang="5400000" scaled="0"/>
              </a:gradFill>
              <a:ln w="9525" cap="flat">
                <a:solidFill>
                  <a:srgbClr val="000000"/>
                </a:solidFill>
                <a:prstDash val="solid"/>
                <a:miter lim="800000"/>
              </a:ln>
              <a:effectLst/>
            </p:spPr>
            <p:txBody>
              <a:bodyPr wrap="square" lIns="0" tIns="0" rIns="0" bIns="0" numCol="1" anchor="ctr">
                <a:noAutofit/>
              </a:bodyPr>
              <a:lstStyle/>
              <a:p>
                <a:pPr defTabSz="914111">
                  <a:lnSpc>
                    <a:spcPct val="100000"/>
                  </a:lnSpc>
                  <a:spcBef>
                    <a:spcPts val="0"/>
                  </a:spcBef>
                  <a:defRPr sz="2000" b="1">
                    <a:latin typeface="楷体_GB2312"/>
                    <a:ea typeface="楷体_GB2312"/>
                    <a:cs typeface="楷体_GB2312"/>
                    <a:sym typeface="楷体_GB2312"/>
                  </a:defRPr>
                </a:pPr>
                <a:endParaRPr/>
              </a:p>
            </p:txBody>
          </p:sp>
          <p:sp>
            <p:nvSpPr>
              <p:cNvPr id="13" name="Shape 163"/>
              <p:cNvSpPr/>
              <p:nvPr/>
            </p:nvSpPr>
            <p:spPr>
              <a:xfrm>
                <a:off x="1502080" y="457200"/>
                <a:ext cx="1001389" cy="304800"/>
              </a:xfrm>
              <a:prstGeom prst="leftArrow">
                <a:avLst>
                  <a:gd name="adj1" fmla="val 50000"/>
                  <a:gd name="adj2" fmla="val 75000"/>
                </a:avLst>
              </a:prstGeom>
              <a:gradFill flip="none" rotWithShape="1">
                <a:gsLst>
                  <a:gs pos="0">
                    <a:srgbClr val="6464CC"/>
                  </a:gs>
                  <a:gs pos="50000">
                    <a:srgbClr val="FFFFFF"/>
                  </a:gs>
                  <a:gs pos="100000">
                    <a:srgbClr val="6464CC"/>
                  </a:gs>
                </a:gsLst>
                <a:lin ang="5400000" scaled="0"/>
              </a:gradFill>
              <a:ln w="9525" cap="flat">
                <a:solidFill>
                  <a:srgbClr val="000000"/>
                </a:solidFill>
                <a:prstDash val="solid"/>
                <a:miter lim="800000"/>
              </a:ln>
              <a:effectLst/>
            </p:spPr>
            <p:txBody>
              <a:bodyPr wrap="square" lIns="0" tIns="0" rIns="0" bIns="0" numCol="1" anchor="ctr">
                <a:noAutofit/>
              </a:bodyPr>
              <a:lstStyle/>
              <a:p>
                <a:pPr defTabSz="914111">
                  <a:lnSpc>
                    <a:spcPct val="100000"/>
                  </a:lnSpc>
                  <a:spcBef>
                    <a:spcPts val="0"/>
                  </a:spcBef>
                  <a:defRPr sz="2000" b="1">
                    <a:latin typeface="楷体_GB2312"/>
                    <a:ea typeface="楷体_GB2312"/>
                    <a:cs typeface="楷体_GB2312"/>
                    <a:sym typeface="楷体_GB2312"/>
                  </a:defRPr>
                </a:pPr>
                <a:endParaRPr/>
              </a:p>
            </p:txBody>
          </p:sp>
          <p:sp>
            <p:nvSpPr>
              <p:cNvPr id="14" name="Shape 164"/>
              <p:cNvSpPr/>
              <p:nvPr/>
            </p:nvSpPr>
            <p:spPr>
              <a:xfrm>
                <a:off x="4422793" y="152400"/>
                <a:ext cx="1001388" cy="304800"/>
              </a:xfrm>
              <a:prstGeom prst="rightArrow">
                <a:avLst>
                  <a:gd name="adj1" fmla="val 50000"/>
                  <a:gd name="adj2" fmla="val 75000"/>
                </a:avLst>
              </a:prstGeom>
              <a:gradFill flip="none" rotWithShape="1">
                <a:gsLst>
                  <a:gs pos="0">
                    <a:srgbClr val="A4D6DA"/>
                  </a:gs>
                  <a:gs pos="50000">
                    <a:srgbClr val="FFFFFF"/>
                  </a:gs>
                  <a:gs pos="100000">
                    <a:srgbClr val="A4D6DA"/>
                  </a:gs>
                </a:gsLst>
                <a:lin ang="5400000" scaled="0"/>
              </a:gradFill>
              <a:ln w="9525" cap="flat">
                <a:solidFill>
                  <a:srgbClr val="000000"/>
                </a:solidFill>
                <a:prstDash val="solid"/>
                <a:miter lim="800000"/>
              </a:ln>
              <a:effectLst/>
            </p:spPr>
            <p:txBody>
              <a:bodyPr wrap="square" lIns="0" tIns="0" rIns="0" bIns="0" numCol="1" anchor="ctr">
                <a:noAutofit/>
              </a:bodyPr>
              <a:lstStyle/>
              <a:p>
                <a:pPr defTabSz="914111">
                  <a:lnSpc>
                    <a:spcPct val="100000"/>
                  </a:lnSpc>
                  <a:spcBef>
                    <a:spcPts val="0"/>
                  </a:spcBef>
                  <a:defRPr sz="2000" b="1">
                    <a:latin typeface="楷体_GB2312"/>
                    <a:ea typeface="楷体_GB2312"/>
                    <a:cs typeface="楷体_GB2312"/>
                    <a:sym typeface="楷体_GB2312"/>
                  </a:defRPr>
                </a:pPr>
                <a:endParaRPr/>
              </a:p>
            </p:txBody>
          </p:sp>
          <p:sp>
            <p:nvSpPr>
              <p:cNvPr id="15" name="Shape 165"/>
              <p:cNvSpPr/>
              <p:nvPr/>
            </p:nvSpPr>
            <p:spPr>
              <a:xfrm>
                <a:off x="4339344" y="457200"/>
                <a:ext cx="1001389" cy="304800"/>
              </a:xfrm>
              <a:prstGeom prst="leftArrow">
                <a:avLst>
                  <a:gd name="adj1" fmla="val 50000"/>
                  <a:gd name="adj2" fmla="val 75000"/>
                </a:avLst>
              </a:prstGeom>
              <a:gradFill flip="none" rotWithShape="1">
                <a:gsLst>
                  <a:gs pos="0">
                    <a:srgbClr val="6464CC"/>
                  </a:gs>
                  <a:gs pos="50000">
                    <a:srgbClr val="FFFFFF"/>
                  </a:gs>
                  <a:gs pos="100000">
                    <a:srgbClr val="6464CC"/>
                  </a:gs>
                </a:gsLst>
                <a:lin ang="5400000" scaled="0"/>
              </a:gradFill>
              <a:ln w="9525" cap="flat">
                <a:solidFill>
                  <a:srgbClr val="000000"/>
                </a:solidFill>
                <a:prstDash val="solid"/>
                <a:miter lim="800000"/>
              </a:ln>
              <a:effectLst/>
            </p:spPr>
            <p:txBody>
              <a:bodyPr wrap="square" lIns="0" tIns="0" rIns="0" bIns="0" numCol="1" anchor="ctr">
                <a:noAutofit/>
              </a:bodyPr>
              <a:lstStyle/>
              <a:p>
                <a:pPr defTabSz="914111">
                  <a:lnSpc>
                    <a:spcPct val="100000"/>
                  </a:lnSpc>
                  <a:spcBef>
                    <a:spcPts val="0"/>
                  </a:spcBef>
                  <a:defRPr sz="2000" b="1">
                    <a:latin typeface="楷体_GB2312"/>
                    <a:ea typeface="楷体_GB2312"/>
                    <a:cs typeface="楷体_GB2312"/>
                    <a:sym typeface="楷体_GB2312"/>
                  </a:defRPr>
                </a:pPr>
                <a:endParaRPr/>
              </a:p>
            </p:txBody>
          </p:sp>
          <p:grpSp>
            <p:nvGrpSpPr>
              <p:cNvPr id="16" name="Group 168"/>
              <p:cNvGrpSpPr/>
              <p:nvPr/>
            </p:nvGrpSpPr>
            <p:grpSpPr>
              <a:xfrm>
                <a:off x="2753813" y="-1"/>
                <a:ext cx="1416896" cy="914401"/>
                <a:chOff x="-1" y="0"/>
                <a:chExt cx="1416895" cy="914400"/>
              </a:xfrm>
            </p:grpSpPr>
            <p:sp>
              <p:nvSpPr>
                <p:cNvPr id="18" name="Shape 166"/>
                <p:cNvSpPr/>
                <p:nvPr/>
              </p:nvSpPr>
              <p:spPr>
                <a:xfrm>
                  <a:off x="-1" y="0"/>
                  <a:ext cx="1416895" cy="9144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FFCCFF"/>
                    </a:gs>
                    <a:gs pos="50000">
                      <a:srgbClr val="FFFFFF"/>
                    </a:gs>
                    <a:gs pos="100000">
                      <a:srgbClr val="FFCCFF"/>
                    </a:gs>
                  </a:gsLst>
                  <a:lin ang="5400000" scaled="0"/>
                </a:gradFill>
                <a:ln w="9525" cap="flat">
                  <a:solidFill>
                    <a:srgbClr val="000000"/>
                  </a:solidFill>
                  <a:prstDash val="solid"/>
                  <a:round/>
                </a:ln>
                <a:effectLst/>
              </p:spPr>
              <p:txBody>
                <a:bodyPr wrap="square" lIns="0" tIns="0" rIns="0" bIns="0" numCol="1" anchor="ctr">
                  <a:noAutofit/>
                </a:bodyPr>
                <a:lstStyle/>
                <a:p>
                  <a:pPr algn="ctr" defTabSz="914111">
                    <a:lnSpc>
                      <a:spcPct val="100000"/>
                    </a:lnSpc>
                    <a:spcBef>
                      <a:spcPts val="0"/>
                    </a:spcBef>
                  </a:pPr>
                  <a:endParaRPr/>
                </a:p>
              </p:txBody>
            </p:sp>
            <p:sp>
              <p:nvSpPr>
                <p:cNvPr id="19" name="Shape 167"/>
                <p:cNvSpPr/>
                <p:nvPr/>
              </p:nvSpPr>
              <p:spPr>
                <a:xfrm>
                  <a:off x="323727" y="235601"/>
                  <a:ext cx="769440" cy="44319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ctr">
                  <a:spAutoFit/>
                </a:bodyPr>
                <a:lstStyle>
                  <a:lvl1pPr algn="ctr">
                    <a:defRPr sz="2000" b="1">
                      <a:solidFill>
                        <a:srgbClr val="BD240F"/>
                      </a:solidFill>
                      <a:latin typeface="楷体_GB2312"/>
                      <a:ea typeface="楷体_GB2312"/>
                      <a:cs typeface="楷体_GB2312"/>
                      <a:sym typeface="楷体_GB2312"/>
                    </a:defRPr>
                  </a:lvl1pPr>
                </a:lstStyle>
                <a:p>
                  <a:pPr lvl="0">
                    <a:defRPr sz="1800" b="0">
                      <a:solidFill>
                        <a:srgbClr val="000000"/>
                      </a:solidFill>
                    </a:defRPr>
                  </a:pPr>
                  <a:r>
                    <a:rPr sz="2400" dirty="0"/>
                    <a:t>电 场</a:t>
                  </a:r>
                </a:p>
              </p:txBody>
            </p:sp>
          </p:grpSp>
          <p:sp>
            <p:nvSpPr>
              <p:cNvPr id="17" name="Shape 169"/>
              <p:cNvSpPr/>
              <p:nvPr/>
            </p:nvSpPr>
            <p:spPr>
              <a:xfrm>
                <a:off x="5591078" y="152400"/>
                <a:ext cx="1335184" cy="443198"/>
              </a:xfrm>
              <a:prstGeom prst="rect">
                <a:avLst/>
              </a:prstGeom>
              <a:gradFill flip="none" rotWithShape="1">
                <a:gsLst>
                  <a:gs pos="0">
                    <a:srgbClr val="EBEBEB"/>
                  </a:gs>
                  <a:gs pos="50000">
                    <a:srgbClr val="FFFFFF"/>
                  </a:gs>
                  <a:gs pos="100000">
                    <a:srgbClr val="EBEBEB"/>
                  </a:gs>
                </a:gsLst>
                <a:lin ang="5400000" scaled="0"/>
              </a:gradFill>
              <a:ln w="9525" cap="flat">
                <a:solidFill>
                  <a:srgbClr val="000000"/>
                </a:solidFill>
                <a:prstDash val="solid"/>
                <a:miter lim="8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ctr">
                  <a:spcBef>
                    <a:spcPts val="1200"/>
                  </a:spcBef>
                  <a:defRPr sz="2000" b="1">
                    <a:latin typeface="楷体_GB2312"/>
                    <a:ea typeface="楷体_GB2312"/>
                    <a:cs typeface="楷体_GB2312"/>
                    <a:sym typeface="楷体_GB2312"/>
                  </a:defRPr>
                </a:lvl1pPr>
              </a:lstStyle>
              <a:p>
                <a:pPr lvl="0">
                  <a:defRPr sz="1800" b="0"/>
                </a:pPr>
                <a:r>
                  <a:rPr sz="2400"/>
                  <a:t>电 荷</a:t>
                </a:r>
              </a:p>
            </p:txBody>
          </p:sp>
        </p:grpSp>
        <p:sp>
          <p:nvSpPr>
            <p:cNvPr id="7" name="Shape 176"/>
            <p:cNvSpPr/>
            <p:nvPr/>
          </p:nvSpPr>
          <p:spPr>
            <a:xfrm>
              <a:off x="1624012" y="-103259"/>
              <a:ext cx="817563" cy="53552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algn="ctr">
                <a:spcBef>
                  <a:spcPts val="1200"/>
                </a:spcBef>
                <a:defRPr sz="2000">
                  <a:latin typeface="宋体"/>
                  <a:ea typeface="宋体"/>
                  <a:cs typeface="宋体"/>
                  <a:sym typeface="宋体"/>
                </a:defRPr>
              </a:lvl1pPr>
            </a:lstStyle>
            <a:p>
              <a:pPr lvl="0">
                <a:defRPr sz="1800"/>
              </a:pPr>
              <a:r>
                <a:rPr sz="2400" dirty="0" err="1"/>
                <a:t>产生</a:t>
              </a:r>
              <a:endParaRPr sz="2400" dirty="0"/>
            </a:p>
          </p:txBody>
        </p:sp>
        <p:sp>
          <p:nvSpPr>
            <p:cNvPr id="8" name="Shape 177"/>
            <p:cNvSpPr/>
            <p:nvPr/>
          </p:nvSpPr>
          <p:spPr>
            <a:xfrm>
              <a:off x="1600200" y="779462"/>
              <a:ext cx="903287" cy="53552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algn="ctr">
                <a:spcBef>
                  <a:spcPts val="1200"/>
                </a:spcBef>
                <a:defRPr sz="2000">
                  <a:latin typeface="宋体"/>
                  <a:ea typeface="宋体"/>
                  <a:cs typeface="宋体"/>
                  <a:sym typeface="宋体"/>
                </a:defRPr>
              </a:lvl1pPr>
            </a:lstStyle>
            <a:p>
              <a:pPr lvl="0">
                <a:defRPr sz="1800"/>
              </a:pPr>
              <a:r>
                <a:rPr sz="2400"/>
                <a:t>作用</a:t>
              </a:r>
            </a:p>
          </p:txBody>
        </p:sp>
        <p:sp>
          <p:nvSpPr>
            <p:cNvPr id="9" name="Shape 178"/>
            <p:cNvSpPr/>
            <p:nvPr/>
          </p:nvSpPr>
          <p:spPr>
            <a:xfrm>
              <a:off x="4494211" y="-166167"/>
              <a:ext cx="750888" cy="53552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algn="ctr">
                <a:spcBef>
                  <a:spcPts val="1200"/>
                </a:spcBef>
                <a:defRPr sz="2000">
                  <a:latin typeface="宋体"/>
                  <a:ea typeface="宋体"/>
                  <a:cs typeface="宋体"/>
                  <a:sym typeface="宋体"/>
                </a:defRPr>
              </a:lvl1pPr>
            </a:lstStyle>
            <a:p>
              <a:pPr lvl="0">
                <a:defRPr sz="1800"/>
              </a:pPr>
              <a:r>
                <a:rPr sz="2400"/>
                <a:t>作用</a:t>
              </a:r>
            </a:p>
          </p:txBody>
        </p:sp>
        <p:sp>
          <p:nvSpPr>
            <p:cNvPr id="10" name="Shape 179"/>
            <p:cNvSpPr/>
            <p:nvPr/>
          </p:nvSpPr>
          <p:spPr>
            <a:xfrm>
              <a:off x="4457699" y="749300"/>
              <a:ext cx="804862" cy="53552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algn="ctr">
                <a:spcBef>
                  <a:spcPts val="1200"/>
                </a:spcBef>
                <a:defRPr sz="2000">
                  <a:latin typeface="宋体"/>
                  <a:ea typeface="宋体"/>
                  <a:cs typeface="宋体"/>
                  <a:sym typeface="宋体"/>
                </a:defRPr>
              </a:lvl1pPr>
            </a:lstStyle>
            <a:p>
              <a:pPr lvl="0">
                <a:defRPr sz="1800"/>
              </a:pPr>
              <a:r>
                <a:rPr sz="2400" dirty="0" err="1"/>
                <a:t>产生</a:t>
              </a:r>
              <a:endParaRPr sz="2400" dirty="0"/>
            </a:p>
          </p:txBody>
        </p:sp>
      </p:grpSp>
      <p:sp>
        <p:nvSpPr>
          <p:cNvPr id="20" name="Shape 160"/>
          <p:cNvSpPr/>
          <p:nvPr/>
        </p:nvSpPr>
        <p:spPr>
          <a:xfrm>
            <a:off x="755853" y="4693368"/>
            <a:ext cx="7639226" cy="1305968"/>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a:spcBef>
                <a:spcPts val="1400"/>
              </a:spcBef>
              <a:defRPr sz="1800"/>
            </a:pPr>
            <a:r>
              <a:rPr sz="2800" b="1" dirty="0" err="1">
                <a:solidFill>
                  <a:srgbClr val="FF0000"/>
                </a:solidFill>
                <a:latin typeface="黑体" pitchFamily="49" charset="-122"/>
                <a:ea typeface="黑体" pitchFamily="49" charset="-122"/>
                <a:cs typeface="SimHei"/>
                <a:sym typeface="SimHei"/>
              </a:rPr>
              <a:t>静电场</a:t>
            </a:r>
            <a:r>
              <a:rPr lang="zh-CN" altLang="en-US" sz="2800" b="1" dirty="0">
                <a:solidFill>
                  <a:srgbClr val="FF0000"/>
                </a:solidFill>
                <a:latin typeface="黑体" pitchFamily="49" charset="-122"/>
                <a:ea typeface="黑体" pitchFamily="49" charset="-122"/>
                <a:cs typeface="SimHei"/>
                <a:sym typeface="SimHei"/>
              </a:rPr>
              <a:t>：</a:t>
            </a:r>
            <a:r>
              <a:rPr sz="2800" b="1" dirty="0" err="1">
                <a:latin typeface="黑体" pitchFamily="49" charset="-122"/>
                <a:ea typeface="黑体" pitchFamily="49" charset="-122"/>
                <a:cs typeface="SimHei"/>
                <a:sym typeface="SimHei"/>
              </a:rPr>
              <a:t>相对于观察者静止的电荷所产生的场</a:t>
            </a:r>
            <a:r>
              <a:rPr sz="2800" b="1" dirty="0" smtClean="0">
                <a:latin typeface="黑体" pitchFamily="49" charset="-122"/>
                <a:ea typeface="黑体" pitchFamily="49" charset="-122"/>
                <a:cs typeface="SimHei"/>
                <a:sym typeface="SimHei"/>
              </a:rPr>
              <a:t>。</a:t>
            </a:r>
            <a:endParaRPr lang="en-US" sz="2800" b="1" dirty="0" smtClean="0">
              <a:latin typeface="黑体" pitchFamily="49" charset="-122"/>
              <a:ea typeface="黑体" pitchFamily="49" charset="-122"/>
              <a:cs typeface="SimHei"/>
              <a:sym typeface="SimHei"/>
            </a:endParaRPr>
          </a:p>
          <a:p>
            <a:pPr>
              <a:spcBef>
                <a:spcPts val="1400"/>
              </a:spcBef>
              <a:defRPr sz="1800"/>
            </a:pPr>
            <a:r>
              <a:rPr lang="zh-CN" altLang="en-US" sz="2800" b="1" dirty="0" smtClean="0">
                <a:latin typeface="黑体" pitchFamily="49" charset="-122"/>
                <a:ea typeface="黑体" pitchFamily="49" charset="-122"/>
                <a:cs typeface="SimHei"/>
                <a:sym typeface="SimHei"/>
              </a:rPr>
              <a:t>是电磁场的一种特殊形式</a:t>
            </a:r>
            <a:endParaRPr sz="2800" b="1" dirty="0">
              <a:latin typeface="黑体" pitchFamily="49" charset="-122"/>
              <a:ea typeface="黑体" pitchFamily="49" charset="-122"/>
              <a:cs typeface="SimHei"/>
              <a:sym typeface="SimHei"/>
            </a:endParaRPr>
          </a:p>
        </p:txBody>
      </p:sp>
      <p:sp>
        <p:nvSpPr>
          <p:cNvPr id="21" name="TextBox 20"/>
          <p:cNvSpPr txBox="1"/>
          <p:nvPr/>
        </p:nvSpPr>
        <p:spPr>
          <a:xfrm>
            <a:off x="685138" y="692696"/>
            <a:ext cx="6408712" cy="239039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0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rPr>
              <a:t>电荷周围存在电场。</a:t>
            </a:r>
            <a:endParaRPr kumimoji="0" lang="en-US" altLang="zh-CN" sz="24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endParaRPr>
          </a:p>
          <a:p>
            <a:pPr marL="0" marR="0" indent="0" algn="l" defTabSz="1028700" rtl="0" fontAlgn="auto" latinLnBrk="1" hangingPunct="0">
              <a:lnSpc>
                <a:spcPct val="100000"/>
              </a:lnSpc>
              <a:spcBef>
                <a:spcPts val="1600"/>
              </a:spcBef>
              <a:spcAft>
                <a:spcPts val="0"/>
              </a:spcAft>
              <a:buClrTx/>
              <a:buSzTx/>
              <a:buFontTx/>
              <a:buNone/>
              <a:tabLst/>
            </a:pPr>
            <a:r>
              <a:rPr lang="zh-CN" altLang="en-US" b="1" dirty="0" smtClean="0">
                <a:solidFill>
                  <a:srgbClr val="000000"/>
                </a:solidFill>
                <a:latin typeface="黑体" pitchFamily="49" charset="-122"/>
                <a:ea typeface="黑体" pitchFamily="49" charset="-122"/>
              </a:rPr>
              <a:t>电场的基本性质：</a:t>
            </a:r>
            <a:endParaRPr lang="en-US" altLang="zh-CN" b="1" dirty="0" smtClean="0">
              <a:solidFill>
                <a:srgbClr val="000000"/>
              </a:solidFill>
              <a:latin typeface="黑体" pitchFamily="49" charset="-122"/>
              <a:ea typeface="黑体" pitchFamily="49" charset="-122"/>
            </a:endParaRPr>
          </a:p>
          <a:p>
            <a:pPr marL="0" marR="0" indent="0" algn="l" defTabSz="1028700" rtl="0" fontAlgn="auto" latinLnBrk="1" hangingPunct="0">
              <a:lnSpc>
                <a:spcPct val="10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rPr>
              <a:t>对置于其中的任何电荷都有作用力（电场力）</a:t>
            </a:r>
            <a:endParaRPr kumimoji="0" lang="en-US" altLang="zh-CN" sz="24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endParaRPr>
          </a:p>
          <a:p>
            <a:pPr marL="0" marR="0" indent="0" algn="l" defTabSz="1028700" rtl="0" fontAlgn="auto" latinLnBrk="1" hangingPunct="0">
              <a:lnSpc>
                <a:spcPct val="100000"/>
              </a:lnSpc>
              <a:spcBef>
                <a:spcPts val="1600"/>
              </a:spcBef>
              <a:spcAft>
                <a:spcPts val="0"/>
              </a:spcAft>
              <a:buClrTx/>
              <a:buSzTx/>
              <a:buFontTx/>
              <a:buNone/>
              <a:tabLst/>
            </a:pPr>
            <a:r>
              <a:rPr lang="zh-CN" altLang="en-US" b="1" dirty="0">
                <a:solidFill>
                  <a:srgbClr val="000000"/>
                </a:solidFill>
                <a:latin typeface="黑体" pitchFamily="49" charset="-122"/>
                <a:ea typeface="黑体" pitchFamily="49" charset="-122"/>
              </a:rPr>
              <a:t>电场</a:t>
            </a:r>
            <a:r>
              <a:rPr lang="zh-CN" altLang="en-US" b="1" dirty="0" smtClean="0">
                <a:solidFill>
                  <a:srgbClr val="000000"/>
                </a:solidFill>
                <a:latin typeface="黑体" pitchFamily="49" charset="-122"/>
                <a:ea typeface="黑体" pitchFamily="49" charset="-122"/>
              </a:rPr>
              <a:t>力对移动电荷做功</a:t>
            </a:r>
            <a:endParaRPr kumimoji="0" lang="zh-CN" altLang="en-US" sz="2400" b="1" i="0" u="none" strike="noStrike" cap="none" spc="0" normalizeH="0" baseline="0" dirty="0">
              <a:ln>
                <a:noFill/>
              </a:ln>
              <a:solidFill>
                <a:srgbClr val="000000"/>
              </a:solidFill>
              <a:effectLst/>
              <a:uFillTx/>
              <a:latin typeface="黑体" pitchFamily="49" charset="-122"/>
              <a:ea typeface="黑体" pitchFamily="49" charset="-122"/>
              <a:sym typeface="Times New Roman"/>
            </a:endParaRPr>
          </a:p>
        </p:txBody>
      </p:sp>
    </p:spTree>
    <p:extLst>
      <p:ext uri="{BB962C8B-B14F-4D97-AF65-F5344CB8AC3E}">
        <p14:creationId xmlns:p14="http://schemas.microsoft.com/office/powerpoint/2010/main" val="3691906462"/>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Shape 184"/>
          <p:cNvSpPr/>
          <p:nvPr/>
        </p:nvSpPr>
        <p:spPr>
          <a:xfrm>
            <a:off x="694441" y="476672"/>
            <a:ext cx="6553200" cy="540695"/>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lvl="0">
              <a:defRPr sz="1800"/>
            </a:pPr>
            <a:r>
              <a:rPr sz="2800" b="1" dirty="0" err="1">
                <a:solidFill>
                  <a:schemeClr val="tx1"/>
                </a:solidFill>
                <a:latin typeface="SimHei"/>
                <a:ea typeface="SimHei"/>
                <a:cs typeface="SimHei"/>
                <a:sym typeface="SimHei"/>
              </a:rPr>
              <a:t>电场的宏观表现</a:t>
            </a:r>
            <a:r>
              <a:rPr sz="2800" b="1" dirty="0">
                <a:solidFill>
                  <a:schemeClr val="tx1"/>
                </a:solidFill>
                <a:latin typeface="SimHei"/>
                <a:ea typeface="SimHei"/>
                <a:cs typeface="SimHei"/>
                <a:sym typeface="SimHei"/>
              </a:rPr>
              <a:t>:</a:t>
            </a:r>
          </a:p>
        </p:txBody>
      </p:sp>
      <p:sp>
        <p:nvSpPr>
          <p:cNvPr id="185" name="Shape 185"/>
          <p:cNvSpPr/>
          <p:nvPr/>
        </p:nvSpPr>
        <p:spPr>
          <a:xfrm>
            <a:off x="609603" y="1179515"/>
            <a:ext cx="7543800" cy="1262944"/>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lvl="0">
              <a:buSzPct val="100000"/>
              <a:buFont typeface="SimHei"/>
              <a:buChar char="•"/>
              <a:defRPr sz="1800"/>
            </a:pPr>
            <a:r>
              <a:rPr sz="2800" dirty="0">
                <a:latin typeface="SimHei"/>
                <a:ea typeface="SimHei"/>
                <a:cs typeface="SimHei"/>
                <a:sym typeface="SimHei"/>
              </a:rPr>
              <a:t>  </a:t>
            </a:r>
            <a:r>
              <a:rPr sz="2800" b="1" dirty="0" err="1">
                <a:solidFill>
                  <a:srgbClr val="FF0000"/>
                </a:solidFill>
                <a:latin typeface="宋体" panose="02010600030101010101" pitchFamily="2" charset="-122"/>
                <a:ea typeface="宋体" panose="02010600030101010101" pitchFamily="2" charset="-122"/>
                <a:cs typeface="SimHei"/>
                <a:sym typeface="SimHei"/>
              </a:rPr>
              <a:t>力</a:t>
            </a:r>
            <a:r>
              <a:rPr sz="2800" b="1" dirty="0" err="1">
                <a:latin typeface="宋体" panose="02010600030101010101" pitchFamily="2" charset="-122"/>
                <a:ea typeface="宋体" panose="02010600030101010101" pitchFamily="2" charset="-122"/>
                <a:cs typeface="SimHei"/>
                <a:sym typeface="SimHei"/>
              </a:rPr>
              <a:t>的性质：对放其内的任何电荷都有作用力</a:t>
            </a:r>
            <a:r>
              <a:rPr sz="2800" b="1" dirty="0">
                <a:latin typeface="宋体" panose="02010600030101010101" pitchFamily="2" charset="-122"/>
                <a:ea typeface="宋体" panose="02010600030101010101" pitchFamily="2" charset="-122"/>
                <a:cs typeface="SimHei"/>
                <a:sym typeface="SimHei"/>
              </a:rPr>
              <a:t>    </a:t>
            </a:r>
            <a:endParaRPr b="1" dirty="0">
              <a:latin typeface="宋体" panose="02010600030101010101" pitchFamily="2" charset="-122"/>
              <a:ea typeface="宋体" panose="02010600030101010101" pitchFamily="2" charset="-122"/>
            </a:endParaRPr>
          </a:p>
          <a:p>
            <a:pPr lvl="0">
              <a:defRPr sz="1800"/>
            </a:pPr>
            <a:r>
              <a:rPr sz="2800" b="1" dirty="0">
                <a:latin typeface="宋体" panose="02010600030101010101" pitchFamily="2" charset="-122"/>
                <a:ea typeface="宋体" panose="02010600030101010101" pitchFamily="2" charset="-122"/>
                <a:cs typeface="SimHei"/>
                <a:sym typeface="SimHei"/>
              </a:rPr>
              <a:t>            </a:t>
            </a:r>
            <a:r>
              <a:rPr sz="2800" b="1" dirty="0">
                <a:solidFill>
                  <a:srgbClr val="FF0000"/>
                </a:solidFill>
                <a:latin typeface="宋体" panose="02010600030101010101" pitchFamily="2" charset="-122"/>
                <a:ea typeface="宋体" panose="02010600030101010101" pitchFamily="2" charset="-122"/>
                <a:cs typeface="SimHei"/>
                <a:sym typeface="SimHei"/>
              </a:rPr>
              <a:t>（</a:t>
            </a:r>
            <a:r>
              <a:rPr sz="2800" b="1" dirty="0" err="1">
                <a:latin typeface="宋体" panose="02010600030101010101" pitchFamily="2" charset="-122"/>
                <a:ea typeface="宋体" panose="02010600030101010101" pitchFamily="2" charset="-122"/>
                <a:cs typeface="SimHei"/>
                <a:sym typeface="SimHei"/>
              </a:rPr>
              <a:t>用</a:t>
            </a:r>
            <a:r>
              <a:rPr sz="2800" b="1" dirty="0" err="1">
                <a:solidFill>
                  <a:srgbClr val="FF0000"/>
                </a:solidFill>
                <a:latin typeface="宋体" panose="02010600030101010101" pitchFamily="2" charset="-122"/>
                <a:ea typeface="宋体" panose="02010600030101010101" pitchFamily="2" charset="-122"/>
                <a:cs typeface="SimHei"/>
                <a:sym typeface="SimHei"/>
              </a:rPr>
              <a:t>电场强度</a:t>
            </a:r>
            <a:r>
              <a:rPr sz="2800" b="1" dirty="0" err="1">
                <a:latin typeface="宋体" panose="02010600030101010101" pitchFamily="2" charset="-122"/>
                <a:ea typeface="宋体" panose="02010600030101010101" pitchFamily="2" charset="-122"/>
                <a:cs typeface="SimHei"/>
                <a:sym typeface="SimHei"/>
              </a:rPr>
              <a:t>来描述</a:t>
            </a:r>
            <a:r>
              <a:rPr sz="2800" b="1" dirty="0">
                <a:solidFill>
                  <a:srgbClr val="FF0000"/>
                </a:solidFill>
                <a:latin typeface="宋体" panose="02010600030101010101" pitchFamily="2" charset="-122"/>
                <a:ea typeface="宋体" panose="02010600030101010101" pitchFamily="2" charset="-122"/>
                <a:cs typeface="SimHei"/>
                <a:sym typeface="SimHei"/>
              </a:rPr>
              <a:t>）</a:t>
            </a:r>
          </a:p>
        </p:txBody>
      </p:sp>
      <p:sp>
        <p:nvSpPr>
          <p:cNvPr id="186" name="Shape 186"/>
          <p:cNvSpPr/>
          <p:nvPr/>
        </p:nvSpPr>
        <p:spPr>
          <a:xfrm>
            <a:off x="609600" y="2700341"/>
            <a:ext cx="7315200" cy="1262944"/>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lvl="0">
              <a:buSzPct val="100000"/>
              <a:buFont typeface="SimHei"/>
              <a:buChar char="•"/>
              <a:defRPr sz="1800"/>
            </a:pPr>
            <a:r>
              <a:rPr sz="2800" dirty="0">
                <a:latin typeface="宋体" panose="02010600030101010101" pitchFamily="2" charset="-122"/>
                <a:ea typeface="宋体" panose="02010600030101010101" pitchFamily="2" charset="-122"/>
                <a:cs typeface="SimHei"/>
                <a:sym typeface="SimHei"/>
              </a:rPr>
              <a:t>  </a:t>
            </a:r>
            <a:r>
              <a:rPr sz="2800" b="1" dirty="0" err="1">
                <a:solidFill>
                  <a:srgbClr val="FF0000"/>
                </a:solidFill>
                <a:latin typeface="宋体" panose="02010600030101010101" pitchFamily="2" charset="-122"/>
                <a:ea typeface="宋体" panose="02010600030101010101" pitchFamily="2" charset="-122"/>
                <a:cs typeface="SimHei"/>
                <a:sym typeface="SimHei"/>
              </a:rPr>
              <a:t>能量</a:t>
            </a:r>
            <a:r>
              <a:rPr sz="2800" b="1" dirty="0" err="1">
                <a:latin typeface="宋体" panose="02010600030101010101" pitchFamily="2" charset="-122"/>
                <a:ea typeface="宋体" panose="02010600030101010101" pitchFamily="2" charset="-122"/>
                <a:cs typeface="SimHei"/>
                <a:sym typeface="SimHei"/>
              </a:rPr>
              <a:t>的性质：移动电荷时，电场力要作功</a:t>
            </a:r>
            <a:r>
              <a:rPr b="1" dirty="0">
                <a:latin typeface="宋体" panose="02010600030101010101" pitchFamily="2" charset="-122"/>
                <a:ea typeface="宋体" panose="02010600030101010101" pitchFamily="2" charset="-122"/>
                <a:cs typeface="SimHei"/>
                <a:sym typeface="SimHei"/>
              </a:rPr>
              <a:t> </a:t>
            </a:r>
            <a:endParaRPr b="1" dirty="0">
              <a:latin typeface="宋体" panose="02010600030101010101" pitchFamily="2" charset="-122"/>
              <a:ea typeface="宋体" panose="02010600030101010101" pitchFamily="2" charset="-122"/>
            </a:endParaRPr>
          </a:p>
          <a:p>
            <a:pPr lvl="0">
              <a:defRPr sz="1800"/>
            </a:pPr>
            <a:r>
              <a:rPr sz="2800" b="1" dirty="0">
                <a:solidFill>
                  <a:srgbClr val="FF0000"/>
                </a:solidFill>
                <a:latin typeface="宋体" panose="02010600030101010101" pitchFamily="2" charset="-122"/>
                <a:ea typeface="宋体" panose="02010600030101010101" pitchFamily="2" charset="-122"/>
                <a:cs typeface="SimHei"/>
                <a:sym typeface="SimHei"/>
              </a:rPr>
              <a:t>            （</a:t>
            </a:r>
            <a:r>
              <a:rPr sz="2800" b="1" dirty="0" err="1">
                <a:latin typeface="宋体" panose="02010600030101010101" pitchFamily="2" charset="-122"/>
                <a:ea typeface="宋体" panose="02010600030101010101" pitchFamily="2" charset="-122"/>
                <a:cs typeface="SimHei"/>
                <a:sym typeface="SimHei"/>
              </a:rPr>
              <a:t>用</a:t>
            </a:r>
            <a:r>
              <a:rPr sz="2800" b="1" dirty="0" err="1">
                <a:solidFill>
                  <a:srgbClr val="FF0000"/>
                </a:solidFill>
                <a:latin typeface="宋体" panose="02010600030101010101" pitchFamily="2" charset="-122"/>
                <a:ea typeface="宋体" panose="02010600030101010101" pitchFamily="2" charset="-122"/>
                <a:cs typeface="SimHei"/>
                <a:sym typeface="SimHei"/>
              </a:rPr>
              <a:t>电势</a:t>
            </a:r>
            <a:r>
              <a:rPr sz="2800" b="1" dirty="0" err="1">
                <a:latin typeface="宋体" panose="02010600030101010101" pitchFamily="2" charset="-122"/>
                <a:ea typeface="宋体" panose="02010600030101010101" pitchFamily="2" charset="-122"/>
                <a:cs typeface="SimHei"/>
                <a:sym typeface="SimHei"/>
              </a:rPr>
              <a:t>来描述</a:t>
            </a:r>
            <a:r>
              <a:rPr sz="2800" b="1" dirty="0">
                <a:solidFill>
                  <a:srgbClr val="FF0000"/>
                </a:solidFill>
                <a:latin typeface="宋体" panose="02010600030101010101" pitchFamily="2" charset="-122"/>
                <a:ea typeface="宋体" panose="02010600030101010101" pitchFamily="2" charset="-122"/>
                <a:cs typeface="SimHei"/>
                <a:sym typeface="SimHei"/>
              </a:rPr>
              <a:t>）</a:t>
            </a:r>
          </a:p>
        </p:txBody>
      </p:sp>
      <p:sp>
        <p:nvSpPr>
          <p:cNvPr id="187" name="Shape 187"/>
          <p:cNvSpPr/>
          <p:nvPr/>
        </p:nvSpPr>
        <p:spPr>
          <a:xfrm rot="10800000">
            <a:off x="3962401" y="4005064"/>
            <a:ext cx="304800" cy="504057"/>
          </a:xfrm>
          <a:custGeom>
            <a:avLst/>
            <a:gdLst/>
            <a:ahLst/>
            <a:cxnLst>
              <a:cxn ang="0">
                <a:pos x="wd2" y="hd2"/>
              </a:cxn>
              <a:cxn ang="5400000">
                <a:pos x="wd2" y="hd2"/>
              </a:cxn>
              <a:cxn ang="10800000">
                <a:pos x="wd2" y="hd2"/>
              </a:cxn>
              <a:cxn ang="16200000">
                <a:pos x="wd2" y="hd2"/>
              </a:cxn>
            </a:cxnLst>
            <a:rect l="0" t="0" r="r" b="b"/>
            <a:pathLst>
              <a:path w="21600" h="21600" extrusionOk="0">
                <a:moveTo>
                  <a:pt x="0" y="6531"/>
                </a:moveTo>
                <a:lnTo>
                  <a:pt x="10800" y="0"/>
                </a:lnTo>
                <a:lnTo>
                  <a:pt x="21600" y="6531"/>
                </a:lnTo>
                <a:lnTo>
                  <a:pt x="16200" y="6531"/>
                </a:lnTo>
                <a:lnTo>
                  <a:pt x="16200" y="21600"/>
                </a:lnTo>
                <a:lnTo>
                  <a:pt x="5400" y="21600"/>
                </a:lnTo>
                <a:lnTo>
                  <a:pt x="5400" y="6531"/>
                </a:lnTo>
                <a:close/>
              </a:path>
            </a:pathLst>
          </a:custGeom>
          <a:gradFill>
            <a:gsLst>
              <a:gs pos="0">
                <a:srgbClr val="25681A"/>
              </a:gs>
              <a:gs pos="80000">
                <a:srgbClr val="318922"/>
              </a:gs>
              <a:gs pos="100000">
                <a:srgbClr val="2F8B20"/>
              </a:gs>
            </a:gsLst>
            <a:lin ang="16200000"/>
          </a:gradFill>
          <a:ln>
            <a:solidFill>
              <a:srgbClr val="38802C"/>
            </a:solidFill>
          </a:ln>
          <a:effectLst>
            <a:outerShdw blurRad="38100" dist="23000" dir="5400000" rotWithShape="0">
              <a:srgbClr val="000000">
                <a:alpha val="35000"/>
              </a:srgbClr>
            </a:outerShdw>
          </a:effectLst>
        </p:spPr>
        <p:txBody>
          <a:bodyPr lIns="0" tIns="0" rIns="0" bIns="0"/>
          <a:lstStyle/>
          <a:p>
            <a:pPr defTabSz="914111">
              <a:lnSpc>
                <a:spcPct val="100000"/>
              </a:lnSpc>
              <a:spcBef>
                <a:spcPts val="0"/>
              </a:spcBef>
            </a:pPr>
            <a:endParaRPr/>
          </a:p>
        </p:txBody>
      </p:sp>
      <p:sp>
        <p:nvSpPr>
          <p:cNvPr id="188" name="Shape 188"/>
          <p:cNvSpPr/>
          <p:nvPr/>
        </p:nvSpPr>
        <p:spPr>
          <a:xfrm>
            <a:off x="3563889" y="4509123"/>
            <a:ext cx="1175931" cy="540695"/>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lvl1pPr>
              <a:defRPr>
                <a:latin typeface="SimHei"/>
                <a:ea typeface="SimHei"/>
                <a:cs typeface="SimHei"/>
                <a:sym typeface="SimHei"/>
              </a:defRPr>
            </a:lvl1pPr>
          </a:lstStyle>
          <a:p>
            <a:pPr lvl="0">
              <a:defRPr sz="1800"/>
            </a:pPr>
            <a:r>
              <a:rPr sz="2800" b="1" dirty="0"/>
              <a:t>第</a:t>
            </a:r>
            <a:r>
              <a:rPr lang="en-US" sz="2800" b="1" dirty="0"/>
              <a:t>17</a:t>
            </a:r>
            <a:r>
              <a:rPr sz="2800" b="1" dirty="0"/>
              <a:t>章</a:t>
            </a:r>
          </a:p>
        </p:txBody>
      </p:sp>
      <p:sp>
        <p:nvSpPr>
          <p:cNvPr id="7" name="Shape 187"/>
          <p:cNvSpPr/>
          <p:nvPr/>
        </p:nvSpPr>
        <p:spPr>
          <a:xfrm rot="5400000">
            <a:off x="6372200" y="1916835"/>
            <a:ext cx="304800" cy="504057"/>
          </a:xfrm>
          <a:custGeom>
            <a:avLst/>
            <a:gdLst/>
            <a:ahLst/>
            <a:cxnLst>
              <a:cxn ang="0">
                <a:pos x="wd2" y="hd2"/>
              </a:cxn>
              <a:cxn ang="5400000">
                <a:pos x="wd2" y="hd2"/>
              </a:cxn>
              <a:cxn ang="10800000">
                <a:pos x="wd2" y="hd2"/>
              </a:cxn>
              <a:cxn ang="16200000">
                <a:pos x="wd2" y="hd2"/>
              </a:cxn>
            </a:cxnLst>
            <a:rect l="0" t="0" r="r" b="b"/>
            <a:pathLst>
              <a:path w="21600" h="21600" extrusionOk="0">
                <a:moveTo>
                  <a:pt x="0" y="6531"/>
                </a:moveTo>
                <a:lnTo>
                  <a:pt x="10800" y="0"/>
                </a:lnTo>
                <a:lnTo>
                  <a:pt x="21600" y="6531"/>
                </a:lnTo>
                <a:lnTo>
                  <a:pt x="16200" y="6531"/>
                </a:lnTo>
                <a:lnTo>
                  <a:pt x="16200" y="21600"/>
                </a:lnTo>
                <a:lnTo>
                  <a:pt x="5400" y="21600"/>
                </a:lnTo>
                <a:lnTo>
                  <a:pt x="5400" y="6531"/>
                </a:lnTo>
                <a:close/>
              </a:path>
            </a:pathLst>
          </a:custGeom>
          <a:gradFill>
            <a:gsLst>
              <a:gs pos="0">
                <a:srgbClr val="25681A"/>
              </a:gs>
              <a:gs pos="80000">
                <a:srgbClr val="318922"/>
              </a:gs>
              <a:gs pos="100000">
                <a:srgbClr val="2F8B20"/>
              </a:gs>
            </a:gsLst>
            <a:lin ang="16200000"/>
          </a:gradFill>
          <a:ln>
            <a:solidFill>
              <a:srgbClr val="38802C"/>
            </a:solidFill>
          </a:ln>
          <a:effectLst>
            <a:outerShdw blurRad="38100" dist="23000" dir="5400000" rotWithShape="0">
              <a:srgbClr val="000000">
                <a:alpha val="35000"/>
              </a:srgbClr>
            </a:outerShdw>
          </a:effectLst>
        </p:spPr>
        <p:txBody>
          <a:bodyPr lIns="0" tIns="0" rIns="0" bIns="0"/>
          <a:lstStyle/>
          <a:p>
            <a:pPr defTabSz="914111">
              <a:lnSpc>
                <a:spcPct val="100000"/>
              </a:lnSpc>
              <a:spcBef>
                <a:spcPts val="0"/>
              </a:spcBef>
            </a:pPr>
            <a:endParaRPr/>
          </a:p>
        </p:txBody>
      </p:sp>
      <p:sp>
        <p:nvSpPr>
          <p:cNvPr id="8" name="Shape 188"/>
          <p:cNvSpPr/>
          <p:nvPr/>
        </p:nvSpPr>
        <p:spPr>
          <a:xfrm>
            <a:off x="6876257" y="1844827"/>
            <a:ext cx="1175931" cy="540695"/>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lvl1pPr>
              <a:defRPr>
                <a:latin typeface="SimHei"/>
                <a:ea typeface="SimHei"/>
                <a:cs typeface="SimHei"/>
                <a:sym typeface="SimHei"/>
              </a:defRPr>
            </a:lvl1pPr>
          </a:lstStyle>
          <a:p>
            <a:pPr lvl="0">
              <a:defRPr sz="1800"/>
            </a:pPr>
            <a:r>
              <a:rPr sz="2800" b="1" dirty="0"/>
              <a:t>第</a:t>
            </a:r>
            <a:r>
              <a:rPr lang="en-US" sz="2800" b="1" dirty="0"/>
              <a:t>16</a:t>
            </a:r>
            <a:r>
              <a:rPr sz="2800" b="1" dirty="0"/>
              <a:t>章</a:t>
            </a: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hape 191"/>
          <p:cNvSpPr/>
          <p:nvPr/>
        </p:nvSpPr>
        <p:spPr>
          <a:xfrm>
            <a:off x="300037" y="115890"/>
            <a:ext cx="8736460" cy="559867"/>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lvl="0">
              <a:defRPr sz="1800"/>
            </a:pPr>
            <a:r>
              <a:rPr sz="2800" b="1" dirty="0">
                <a:solidFill>
                  <a:srgbClr val="0000FF"/>
                </a:solidFill>
                <a:latin typeface="Arial"/>
                <a:ea typeface="Arial"/>
                <a:cs typeface="Arial"/>
                <a:sym typeface="Arial"/>
              </a:rPr>
              <a:t>1</a:t>
            </a:r>
            <a:r>
              <a:rPr sz="2800" b="1" spc="100" dirty="0">
                <a:solidFill>
                  <a:srgbClr val="0000FF"/>
                </a:solidFill>
                <a:latin typeface="Arial"/>
                <a:ea typeface="Arial"/>
                <a:cs typeface="Arial"/>
                <a:sym typeface="Arial"/>
              </a:rPr>
              <a:t>. </a:t>
            </a:r>
            <a:r>
              <a:rPr sz="2800" b="1" spc="100" dirty="0" err="1">
                <a:solidFill>
                  <a:srgbClr val="0000FF"/>
                </a:solidFill>
                <a:latin typeface="SimHei"/>
                <a:ea typeface="SimHei"/>
                <a:cs typeface="SimHei"/>
                <a:sym typeface="SimHei"/>
              </a:rPr>
              <a:t>电场强度：</a:t>
            </a:r>
            <a:r>
              <a:rPr sz="2800" b="1" spc="100" dirty="0" err="1">
                <a:latin typeface="楷体_GB2312"/>
                <a:ea typeface="楷体_GB2312"/>
                <a:cs typeface="楷体_GB2312"/>
                <a:sym typeface="楷体_GB2312"/>
              </a:rPr>
              <a:t>场中各点电场强弱和方向的物理量</a:t>
            </a:r>
            <a:endParaRPr sz="2800" b="1" spc="100" dirty="0">
              <a:solidFill>
                <a:srgbClr val="0000CC"/>
              </a:solidFill>
            </a:endParaRPr>
          </a:p>
        </p:txBody>
      </p:sp>
      <p:grpSp>
        <p:nvGrpSpPr>
          <p:cNvPr id="3" name="组合 2"/>
          <p:cNvGrpSpPr/>
          <p:nvPr/>
        </p:nvGrpSpPr>
        <p:grpSpPr>
          <a:xfrm>
            <a:off x="822545" y="727770"/>
            <a:ext cx="2903739" cy="3603981"/>
            <a:chOff x="824676" y="689115"/>
            <a:chExt cx="3240357" cy="4180046"/>
          </a:xfrm>
        </p:grpSpPr>
        <p:sp>
          <p:nvSpPr>
            <p:cNvPr id="190" name="Shape 190"/>
            <p:cNvSpPr/>
            <p:nvPr/>
          </p:nvSpPr>
          <p:spPr>
            <a:xfrm>
              <a:off x="824676" y="689115"/>
              <a:ext cx="3240357" cy="4180046"/>
            </a:xfrm>
            <a:prstGeom prst="roundRect">
              <a:avLst>
                <a:gd name="adj" fmla="val 16667"/>
              </a:avLst>
            </a:prstGeom>
            <a:solidFill>
              <a:srgbClr val="FFFFFF"/>
            </a:solidFill>
            <a:ln w="25400">
              <a:solidFill>
                <a:srgbClr val="3B812F"/>
              </a:solidFill>
            </a:ln>
          </p:spPr>
          <p:txBody>
            <a:bodyPr lIns="0" tIns="0" rIns="0" bIns="0"/>
            <a:lstStyle/>
            <a:p>
              <a:pPr defTabSz="914111">
                <a:lnSpc>
                  <a:spcPct val="100000"/>
                </a:lnSpc>
                <a:spcBef>
                  <a:spcPts val="0"/>
                </a:spcBef>
              </a:pPr>
              <a:endParaRPr/>
            </a:p>
          </p:txBody>
        </p:sp>
        <p:sp>
          <p:nvSpPr>
            <p:cNvPr id="192" name="Shape 192"/>
            <p:cNvSpPr/>
            <p:nvPr/>
          </p:nvSpPr>
          <p:spPr>
            <a:xfrm>
              <a:off x="1069286" y="856269"/>
              <a:ext cx="2751139" cy="552826"/>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lvl1pPr defTabSz="762000">
                <a:defRPr sz="2800">
                  <a:latin typeface="SimHei"/>
                  <a:ea typeface="SimHei"/>
                  <a:cs typeface="SimHei"/>
                  <a:sym typeface="SimHei"/>
                </a:defRPr>
              </a:lvl1pPr>
            </a:lstStyle>
            <a:p>
              <a:pPr lvl="0">
                <a:defRPr sz="1800"/>
              </a:pPr>
              <a:r>
                <a:rPr sz="2400" b="1" dirty="0" err="1"/>
                <a:t>引力场</a:t>
              </a:r>
              <a:endParaRPr sz="2400" b="1" dirty="0"/>
            </a:p>
          </p:txBody>
        </p:sp>
        <p:grpSp>
          <p:nvGrpSpPr>
            <p:cNvPr id="195" name="Group 195"/>
            <p:cNvGrpSpPr/>
            <p:nvPr/>
          </p:nvGrpSpPr>
          <p:grpSpPr>
            <a:xfrm>
              <a:off x="1511666" y="1556804"/>
              <a:ext cx="1641476" cy="648117"/>
              <a:chOff x="0" y="0"/>
              <a:chExt cx="1641475" cy="648114"/>
            </a:xfrm>
          </p:grpSpPr>
          <p:sp>
            <p:nvSpPr>
              <p:cNvPr id="193" name="Shape 193"/>
              <p:cNvSpPr/>
              <p:nvPr/>
            </p:nvSpPr>
            <p:spPr>
              <a:xfrm>
                <a:off x="0" y="26987"/>
                <a:ext cx="1641475" cy="62112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defTabSz="762000">
                  <a:defRPr sz="2800">
                    <a:latin typeface="SimHei"/>
                    <a:ea typeface="SimHei"/>
                    <a:cs typeface="SimHei"/>
                    <a:sym typeface="SimHei"/>
                  </a:defRPr>
                </a:lvl1pPr>
              </a:lstStyle>
              <a:p>
                <a:pPr lvl="0">
                  <a:defRPr sz="1800"/>
                </a:pPr>
                <a:r>
                  <a:rPr sz="2400" b="1" dirty="0" err="1"/>
                  <a:t>重力</a:t>
                </a:r>
                <a:endParaRPr sz="2400" b="1" dirty="0"/>
              </a:p>
            </p:txBody>
          </p:sp>
          <p:pic>
            <p:nvPicPr>
              <p:cNvPr id="194" name="image29.pdf"/>
              <p:cNvPicPr/>
              <p:nvPr/>
            </p:nvPicPr>
            <p:blipFill>
              <a:blip r:embed="rId2" cstate="print">
                <a:extLst/>
              </a:blip>
              <a:stretch>
                <a:fillRect/>
              </a:stretch>
            </p:blipFill>
            <p:spPr>
              <a:xfrm>
                <a:off x="1008189" y="0"/>
                <a:ext cx="374821" cy="514395"/>
              </a:xfrm>
              <a:prstGeom prst="rect">
                <a:avLst/>
              </a:prstGeom>
              <a:ln w="12700" cap="flat">
                <a:noFill/>
                <a:miter lim="400000"/>
              </a:ln>
              <a:effectLst/>
            </p:spPr>
          </p:pic>
        </p:grpSp>
        <p:sp>
          <p:nvSpPr>
            <p:cNvPr id="196" name="Shape 196"/>
            <p:cNvSpPr/>
            <p:nvPr/>
          </p:nvSpPr>
          <p:spPr>
            <a:xfrm>
              <a:off x="1602814" y="2202567"/>
              <a:ext cx="1643061" cy="610305"/>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defTabSz="761758">
                <a:defRPr sz="1800"/>
              </a:pPr>
              <a:r>
                <a:rPr sz="2800" dirty="0" err="1">
                  <a:latin typeface="SimHei"/>
                  <a:ea typeface="SimHei"/>
                  <a:cs typeface="SimHei"/>
                  <a:sym typeface="SimHei"/>
                </a:rPr>
                <a:t>质量</a:t>
              </a:r>
              <a:r>
                <a:rPr sz="2800" dirty="0">
                  <a:latin typeface="SimHei"/>
                  <a:ea typeface="SimHei"/>
                  <a:cs typeface="SimHei"/>
                  <a:sym typeface="SimHei"/>
                </a:rPr>
                <a:t> </a:t>
              </a:r>
              <a:r>
                <a:rPr sz="2800" dirty="0">
                  <a:latin typeface="Arial"/>
                  <a:ea typeface="Arial"/>
                  <a:cs typeface="Arial"/>
                  <a:sym typeface="Arial"/>
                </a:rPr>
                <a:t>m</a:t>
              </a:r>
            </a:p>
          </p:txBody>
        </p:sp>
        <p:pic>
          <p:nvPicPr>
            <p:cNvPr id="197" name="image31.pdf"/>
            <p:cNvPicPr/>
            <p:nvPr/>
          </p:nvPicPr>
          <p:blipFill>
            <a:blip r:embed="rId3" cstate="print">
              <a:extLst/>
            </a:blip>
            <a:stretch>
              <a:fillRect/>
            </a:stretch>
          </p:blipFill>
          <p:spPr>
            <a:xfrm>
              <a:off x="1533182" y="3512916"/>
              <a:ext cx="1511301" cy="1257301"/>
            </a:xfrm>
            <a:prstGeom prst="rect">
              <a:avLst/>
            </a:prstGeom>
            <a:ln w="12700">
              <a:miter lim="400000"/>
            </a:ln>
          </p:spPr>
        </p:pic>
        <p:sp>
          <p:nvSpPr>
            <p:cNvPr id="198" name="Shape 198"/>
            <p:cNvSpPr/>
            <p:nvPr/>
          </p:nvSpPr>
          <p:spPr>
            <a:xfrm>
              <a:off x="1266258" y="2908582"/>
              <a:ext cx="2507192" cy="621096"/>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lvl1pPr>
                <a:defRPr sz="2800">
                  <a:latin typeface="SimHei"/>
                  <a:ea typeface="SimHei"/>
                  <a:cs typeface="SimHei"/>
                  <a:sym typeface="SimHei"/>
                </a:defRPr>
              </a:lvl1pPr>
            </a:lstStyle>
            <a:p>
              <a:pPr lvl="0">
                <a:defRPr sz="1800"/>
              </a:pPr>
              <a:r>
                <a:rPr sz="2400" dirty="0" err="1"/>
                <a:t>地球重力场强度</a:t>
              </a:r>
              <a:endParaRPr sz="2400" dirty="0"/>
            </a:p>
          </p:txBody>
        </p:sp>
      </p:grpSp>
      <p:grpSp>
        <p:nvGrpSpPr>
          <p:cNvPr id="207" name="Group 207"/>
          <p:cNvGrpSpPr/>
          <p:nvPr/>
        </p:nvGrpSpPr>
        <p:grpSpPr>
          <a:xfrm>
            <a:off x="4738691" y="770424"/>
            <a:ext cx="2929653" cy="3518671"/>
            <a:chOff x="27851" y="170673"/>
            <a:chExt cx="3329503" cy="4081100"/>
          </a:xfrm>
        </p:grpSpPr>
        <p:sp>
          <p:nvSpPr>
            <p:cNvPr id="199" name="Shape 199"/>
            <p:cNvSpPr/>
            <p:nvPr/>
          </p:nvSpPr>
          <p:spPr>
            <a:xfrm>
              <a:off x="27851" y="170673"/>
              <a:ext cx="3155910" cy="4081100"/>
            </a:xfrm>
            <a:prstGeom prst="roundRect">
              <a:avLst>
                <a:gd name="adj" fmla="val 16667"/>
              </a:avLst>
            </a:prstGeom>
            <a:solidFill>
              <a:srgbClr val="FFFFFF"/>
            </a:solidFill>
            <a:ln w="25400" cap="flat">
              <a:solidFill>
                <a:srgbClr val="3B812F"/>
              </a:solidFill>
              <a:prstDash val="solid"/>
              <a:bevel/>
            </a:ln>
            <a:effectLst/>
          </p:spPr>
          <p:txBody>
            <a:bodyPr wrap="square" lIns="0" tIns="0" rIns="0" bIns="0" numCol="1" anchor="t">
              <a:noAutofit/>
            </a:bodyPr>
            <a:lstStyle/>
            <a:p>
              <a:pPr defTabSz="914111">
                <a:lnSpc>
                  <a:spcPct val="100000"/>
                </a:lnSpc>
                <a:spcBef>
                  <a:spcPts val="0"/>
                </a:spcBef>
              </a:pPr>
              <a:endParaRPr/>
            </a:p>
          </p:txBody>
        </p:sp>
        <p:pic>
          <p:nvPicPr>
            <p:cNvPr id="200" name="image30.pdf"/>
            <p:cNvPicPr/>
            <p:nvPr/>
          </p:nvPicPr>
          <p:blipFill>
            <a:blip r:embed="rId4" cstate="print">
              <a:extLst/>
            </a:blip>
            <a:stretch>
              <a:fillRect/>
            </a:stretch>
          </p:blipFill>
          <p:spPr>
            <a:xfrm>
              <a:off x="800080" y="2569497"/>
              <a:ext cx="1555751" cy="1333501"/>
            </a:xfrm>
            <a:prstGeom prst="rect">
              <a:avLst/>
            </a:prstGeom>
            <a:ln w="12700" cap="flat">
              <a:noFill/>
              <a:miter lim="400000"/>
            </a:ln>
            <a:effectLst/>
          </p:spPr>
        </p:pic>
        <p:sp>
          <p:nvSpPr>
            <p:cNvPr id="201" name="Shape 201"/>
            <p:cNvSpPr/>
            <p:nvPr/>
          </p:nvSpPr>
          <p:spPr>
            <a:xfrm>
              <a:off x="487152" y="2007094"/>
              <a:ext cx="2870202" cy="62112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defTabSz="762000">
                <a:defRPr sz="2800">
                  <a:solidFill>
                    <a:srgbClr val="0000FF"/>
                  </a:solidFill>
                  <a:latin typeface="SimHei"/>
                  <a:ea typeface="SimHei"/>
                  <a:cs typeface="SimHei"/>
                  <a:sym typeface="SimHei"/>
                </a:defRPr>
              </a:lvl1pPr>
            </a:lstStyle>
            <a:p>
              <a:pPr lvl="0">
                <a:defRPr sz="1800">
                  <a:solidFill>
                    <a:srgbClr val="000000"/>
                  </a:solidFill>
                </a:defRPr>
              </a:pPr>
              <a:r>
                <a:rPr sz="2400" dirty="0" err="1"/>
                <a:t>电场强度</a:t>
              </a:r>
              <a:endParaRPr sz="2400" dirty="0"/>
            </a:p>
          </p:txBody>
        </p:sp>
        <p:sp>
          <p:nvSpPr>
            <p:cNvPr id="202" name="Shape 202"/>
            <p:cNvSpPr/>
            <p:nvPr/>
          </p:nvSpPr>
          <p:spPr>
            <a:xfrm>
              <a:off x="181471" y="389401"/>
              <a:ext cx="1506117" cy="55285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defTabSz="762000">
                <a:defRPr sz="2800">
                  <a:latin typeface="SimHei"/>
                  <a:ea typeface="SimHei"/>
                  <a:cs typeface="SimHei"/>
                  <a:sym typeface="SimHei"/>
                </a:defRPr>
              </a:lvl1pPr>
            </a:lstStyle>
            <a:p>
              <a:pPr lvl="0">
                <a:defRPr sz="1800"/>
              </a:pPr>
              <a:r>
                <a:rPr sz="2400" b="1" dirty="0" err="1"/>
                <a:t>电场</a:t>
              </a:r>
              <a:endParaRPr sz="2400" b="1" dirty="0"/>
            </a:p>
          </p:txBody>
        </p:sp>
        <p:grpSp>
          <p:nvGrpSpPr>
            <p:cNvPr id="205" name="Group 205"/>
            <p:cNvGrpSpPr/>
            <p:nvPr/>
          </p:nvGrpSpPr>
          <p:grpSpPr>
            <a:xfrm>
              <a:off x="301779" y="905693"/>
              <a:ext cx="2552350" cy="621129"/>
              <a:chOff x="-212371" y="-281086"/>
              <a:chExt cx="2552349" cy="621126"/>
            </a:xfrm>
          </p:grpSpPr>
          <p:sp>
            <p:nvSpPr>
              <p:cNvPr id="203" name="Shape 203"/>
              <p:cNvSpPr/>
              <p:nvPr/>
            </p:nvSpPr>
            <p:spPr>
              <a:xfrm>
                <a:off x="-212371" y="-281086"/>
                <a:ext cx="2552349" cy="62112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defTabSz="762000">
                  <a:defRPr sz="2800">
                    <a:latin typeface="SimHei"/>
                    <a:ea typeface="SimHei"/>
                    <a:cs typeface="SimHei"/>
                    <a:sym typeface="SimHei"/>
                  </a:defRPr>
                </a:lvl1pPr>
              </a:lstStyle>
              <a:p>
                <a:pPr lvl="0">
                  <a:defRPr sz="1800"/>
                </a:pPr>
                <a:r>
                  <a:rPr sz="2400" b="1" dirty="0"/>
                  <a:t>电</a:t>
                </a:r>
                <a:r>
                  <a:rPr lang="en-US" altLang="zh-CN" sz="2400" b="1" dirty="0"/>
                  <a:t>(</a:t>
                </a:r>
                <a:r>
                  <a:rPr lang="zh-CN" altLang="en-US" sz="2400" b="1" dirty="0"/>
                  <a:t>场</a:t>
                </a:r>
                <a:r>
                  <a:rPr lang="en-US" altLang="zh-CN" sz="2400" b="1" dirty="0"/>
                  <a:t>)</a:t>
                </a:r>
                <a:r>
                  <a:rPr sz="2400" b="1" dirty="0"/>
                  <a:t>力</a:t>
                </a:r>
              </a:p>
            </p:txBody>
          </p:sp>
          <p:pic>
            <p:nvPicPr>
              <p:cNvPr id="204" name="image29.pdf"/>
              <p:cNvPicPr/>
              <p:nvPr/>
            </p:nvPicPr>
            <p:blipFill>
              <a:blip r:embed="rId2" cstate="print">
                <a:extLst/>
              </a:blip>
              <a:stretch>
                <a:fillRect/>
              </a:stretch>
            </p:blipFill>
            <p:spPr>
              <a:xfrm>
                <a:off x="1372199" y="-272166"/>
                <a:ext cx="374821" cy="514396"/>
              </a:xfrm>
              <a:prstGeom prst="rect">
                <a:avLst/>
              </a:prstGeom>
              <a:ln w="12700" cap="flat">
                <a:noFill/>
                <a:miter lim="400000"/>
              </a:ln>
              <a:effectLst/>
            </p:spPr>
          </p:pic>
        </p:grpSp>
        <p:sp>
          <p:nvSpPr>
            <p:cNvPr id="206" name="Shape 206"/>
            <p:cNvSpPr/>
            <p:nvPr/>
          </p:nvSpPr>
          <p:spPr>
            <a:xfrm>
              <a:off x="618109" y="1396567"/>
              <a:ext cx="1643061" cy="61052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p>
              <a:pPr defTabSz="761758">
                <a:defRPr sz="1800"/>
              </a:pPr>
              <a:r>
                <a:rPr sz="2800" dirty="0" err="1">
                  <a:latin typeface="SimHei"/>
                  <a:ea typeface="SimHei"/>
                  <a:cs typeface="SimHei"/>
                  <a:sym typeface="SimHei"/>
                </a:rPr>
                <a:t>电量</a:t>
              </a:r>
              <a:r>
                <a:rPr sz="2800" dirty="0">
                  <a:latin typeface="SimHei"/>
                  <a:ea typeface="SimHei"/>
                  <a:cs typeface="SimHei"/>
                  <a:sym typeface="SimHei"/>
                </a:rPr>
                <a:t> </a:t>
              </a:r>
              <a:r>
                <a:rPr sz="2800" dirty="0">
                  <a:latin typeface="Arial"/>
                  <a:ea typeface="Arial"/>
                  <a:cs typeface="Arial"/>
                  <a:sym typeface="Arial"/>
                </a:rPr>
                <a:t>q</a:t>
              </a:r>
            </a:p>
          </p:txBody>
        </p:sp>
      </p:grpSp>
      <p:sp>
        <p:nvSpPr>
          <p:cNvPr id="2" name="TextBox 1"/>
          <p:cNvSpPr txBox="1"/>
          <p:nvPr/>
        </p:nvSpPr>
        <p:spPr>
          <a:xfrm>
            <a:off x="241646" y="4581128"/>
            <a:ext cx="4199955" cy="147732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50000"/>
              </a:lnSpc>
              <a:spcBef>
                <a:spcPts val="0"/>
              </a:spcBef>
              <a:spcAft>
                <a:spcPts val="0"/>
              </a:spcAft>
              <a:buClrTx/>
              <a:buSzTx/>
              <a:buFontTx/>
              <a:buNone/>
              <a:tabLst/>
            </a:pPr>
            <a:r>
              <a:rPr lang="zh-CN" altLang="en-US" sz="2000" b="1" dirty="0" smtClean="0">
                <a:solidFill>
                  <a:srgbClr val="000000"/>
                </a:solidFill>
                <a:latin typeface="黑体" pitchFamily="49" charset="-122"/>
                <a:ea typeface="黑体" pitchFamily="49" charset="-122"/>
              </a:rPr>
              <a:t>引力场定义为在该点一个单位质量物体受到的万有引力的大小</a:t>
            </a:r>
            <a:endParaRPr lang="en-US" altLang="zh-CN" sz="2000" b="1" dirty="0" smtClean="0">
              <a:solidFill>
                <a:srgbClr val="000000"/>
              </a:solidFill>
              <a:latin typeface="黑体" pitchFamily="49" charset="-122"/>
              <a:ea typeface="黑体" pitchFamily="49" charset="-122"/>
            </a:endParaRPr>
          </a:p>
          <a:p>
            <a:pPr marL="0" marR="0" indent="0" algn="l" defTabSz="1028700" rtl="0" fontAlgn="auto" latinLnBrk="1" hangingPunct="0">
              <a:lnSpc>
                <a:spcPct val="150000"/>
              </a:lnSpc>
              <a:spcBef>
                <a:spcPts val="0"/>
              </a:spcBef>
              <a:spcAft>
                <a:spcPts val="0"/>
              </a:spcAft>
              <a:buClrTx/>
              <a:buSzTx/>
              <a:buFontTx/>
              <a:buNone/>
              <a:tabLst/>
            </a:pPr>
            <a:r>
              <a:rPr lang="zh-CN" altLang="en-US" sz="2000" b="1" dirty="0" smtClean="0">
                <a:solidFill>
                  <a:srgbClr val="000000"/>
                </a:solidFill>
                <a:latin typeface="黑体" pitchFamily="49" charset="-122"/>
                <a:ea typeface="黑体" pitchFamily="49" charset="-122"/>
              </a:rPr>
              <a:t>方向：和所受到的引力方向一致</a:t>
            </a:r>
            <a:endParaRPr kumimoji="0" lang="zh-CN" altLang="en-US" sz="2000" b="1" i="0" u="none" strike="noStrike" cap="none" spc="0" normalizeH="0" baseline="0" dirty="0">
              <a:ln>
                <a:noFill/>
              </a:ln>
              <a:solidFill>
                <a:srgbClr val="000000"/>
              </a:solidFill>
              <a:effectLst/>
              <a:uFillTx/>
              <a:latin typeface="黑体" pitchFamily="49" charset="-122"/>
              <a:ea typeface="黑体" pitchFamily="49" charset="-122"/>
              <a:sym typeface="Times New Roman"/>
            </a:endParaRPr>
          </a:p>
        </p:txBody>
      </p:sp>
      <p:sp>
        <p:nvSpPr>
          <p:cNvPr id="21" name="TextBox 20"/>
          <p:cNvSpPr txBox="1"/>
          <p:nvPr/>
        </p:nvSpPr>
        <p:spPr>
          <a:xfrm>
            <a:off x="4738691" y="4581128"/>
            <a:ext cx="4384162" cy="147732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50000"/>
              </a:lnSpc>
              <a:spcBef>
                <a:spcPts val="0"/>
              </a:spcBef>
              <a:spcAft>
                <a:spcPts val="0"/>
              </a:spcAft>
              <a:buClrTx/>
              <a:buSzTx/>
              <a:buFontTx/>
              <a:buNone/>
              <a:tabLst/>
            </a:pPr>
            <a:r>
              <a:rPr kumimoji="0" lang="zh-CN" altLang="en-US" sz="20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rPr>
              <a:t>电场定义为单位电荷在该点所受的力</a:t>
            </a:r>
            <a:r>
              <a:rPr lang="zh-CN" altLang="en-US" sz="2000" b="1" dirty="0" smtClean="0">
                <a:solidFill>
                  <a:srgbClr val="000000"/>
                </a:solidFill>
                <a:latin typeface="黑体" pitchFamily="49" charset="-122"/>
                <a:ea typeface="黑体" pitchFamily="49" charset="-122"/>
              </a:rPr>
              <a:t>的大小</a:t>
            </a:r>
            <a:endParaRPr kumimoji="0" lang="en-US" altLang="zh-CN" sz="2000" b="1" i="0" u="none" strike="noStrike" cap="none" spc="0" normalizeH="0" baseline="0" dirty="0" smtClean="0">
              <a:ln>
                <a:noFill/>
              </a:ln>
              <a:solidFill>
                <a:srgbClr val="000000"/>
              </a:solidFill>
              <a:effectLst/>
              <a:uFillTx/>
              <a:latin typeface="黑体" pitchFamily="49" charset="-122"/>
              <a:ea typeface="黑体" pitchFamily="49" charset="-122"/>
              <a:sym typeface="Times New Roman"/>
            </a:endParaRPr>
          </a:p>
          <a:p>
            <a:pPr marL="0" marR="0" indent="0" algn="l" defTabSz="1028700" rtl="0" fontAlgn="auto" latinLnBrk="1" hangingPunct="0">
              <a:lnSpc>
                <a:spcPct val="150000"/>
              </a:lnSpc>
              <a:spcBef>
                <a:spcPts val="0"/>
              </a:spcBef>
              <a:spcAft>
                <a:spcPts val="0"/>
              </a:spcAft>
              <a:buClrTx/>
              <a:buSzTx/>
              <a:buFontTx/>
              <a:buNone/>
              <a:tabLst/>
            </a:pPr>
            <a:r>
              <a:rPr lang="zh-CN" altLang="en-US" sz="2000" b="1" dirty="0" smtClean="0">
                <a:solidFill>
                  <a:srgbClr val="000000"/>
                </a:solidFill>
                <a:latin typeface="黑体" pitchFamily="49" charset="-122"/>
                <a:ea typeface="黑体" pitchFamily="49" charset="-122"/>
              </a:rPr>
              <a:t>方向：正电荷受到的电场力的方向</a:t>
            </a:r>
            <a:endParaRPr kumimoji="0" lang="zh-CN" altLang="en-US" sz="2000" b="1" i="0" u="none" strike="noStrike" cap="none" spc="0" normalizeH="0" baseline="0" dirty="0">
              <a:ln>
                <a:noFill/>
              </a:ln>
              <a:solidFill>
                <a:srgbClr val="000000"/>
              </a:solidFill>
              <a:effectLst/>
              <a:uFillTx/>
              <a:latin typeface="黑体" pitchFamily="49" charset="-122"/>
              <a:ea typeface="黑体" pitchFamily="49" charset="-122"/>
              <a:sym typeface="Times New Roman"/>
            </a:endParaRPr>
          </a:p>
        </p:txBody>
      </p:sp>
    </p:spTree>
  </p:cSld>
  <p:clrMapOvr>
    <a:masterClrMapping/>
  </p:clrMapOvr>
  <p:transition spd="med"/>
  <p:timing>
    <p:tnLst>
      <p:par>
        <p:cTn id="1" dur="indefinite" restart="never" fill="hold"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roup 219"/>
          <p:cNvGrpSpPr/>
          <p:nvPr/>
        </p:nvGrpSpPr>
        <p:grpSpPr>
          <a:xfrm>
            <a:off x="4579936" y="436564"/>
            <a:ext cx="1144191" cy="2478090"/>
            <a:chOff x="-1" y="-1"/>
            <a:chExt cx="1166813" cy="2478088"/>
          </a:xfrm>
        </p:grpSpPr>
        <p:pic>
          <p:nvPicPr>
            <p:cNvPr id="209" name="image32.pdf"/>
            <p:cNvPicPr/>
            <p:nvPr/>
          </p:nvPicPr>
          <p:blipFill>
            <a:blip r:embed="rId2" cstate="print">
              <a:extLst/>
            </a:blip>
            <a:stretch>
              <a:fillRect/>
            </a:stretch>
          </p:blipFill>
          <p:spPr>
            <a:xfrm>
              <a:off x="-1" y="1354137"/>
              <a:ext cx="373064" cy="495301"/>
            </a:xfrm>
            <a:prstGeom prst="rect">
              <a:avLst/>
            </a:prstGeom>
            <a:ln w="12700" cap="flat">
              <a:noFill/>
              <a:miter lim="400000"/>
            </a:ln>
            <a:effectLst/>
          </p:spPr>
        </p:pic>
        <p:grpSp>
          <p:nvGrpSpPr>
            <p:cNvPr id="212" name="Group 212"/>
            <p:cNvGrpSpPr/>
            <p:nvPr/>
          </p:nvGrpSpPr>
          <p:grpSpPr>
            <a:xfrm>
              <a:off x="68262" y="-1"/>
              <a:ext cx="914401" cy="1163639"/>
              <a:chOff x="0" y="0"/>
              <a:chExt cx="914399" cy="1163637"/>
            </a:xfrm>
          </p:grpSpPr>
          <p:pic>
            <p:nvPicPr>
              <p:cNvPr id="210" name="image33.pdf"/>
              <p:cNvPicPr/>
              <p:nvPr/>
            </p:nvPicPr>
            <p:blipFill>
              <a:blip r:embed="rId3" cstate="print">
                <a:extLst/>
              </a:blip>
              <a:stretch>
                <a:fillRect/>
              </a:stretch>
            </p:blipFill>
            <p:spPr>
              <a:xfrm>
                <a:off x="457199" y="-1"/>
                <a:ext cx="457201" cy="650876"/>
              </a:xfrm>
              <a:prstGeom prst="rect">
                <a:avLst/>
              </a:prstGeom>
              <a:ln w="12700" cap="flat">
                <a:noFill/>
                <a:miter lim="400000"/>
              </a:ln>
              <a:effectLst/>
            </p:spPr>
          </p:pic>
          <p:sp>
            <p:nvSpPr>
              <p:cNvPr id="211" name="Shape 211"/>
              <p:cNvSpPr/>
              <p:nvPr/>
            </p:nvSpPr>
            <p:spPr>
              <a:xfrm>
                <a:off x="0" y="554037"/>
                <a:ext cx="838201" cy="6096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CCCCFF"/>
                  </a:gs>
                  <a:gs pos="100000">
                    <a:srgbClr val="6699FF"/>
                  </a:gs>
                </a:gsLst>
                <a:path path="circle">
                  <a:fillToRect l="37721" t="-19636" r="62278" b="119636"/>
                </a:path>
              </a:gradFill>
              <a:ln w="12699" cap="flat">
                <a:solidFill>
                  <a:srgbClr val="000000"/>
                </a:solidFill>
                <a:prstDash val="solid"/>
                <a:round/>
              </a:ln>
              <a:effectLst/>
            </p:spPr>
            <p:txBody>
              <a:bodyPr wrap="square" lIns="0" tIns="0" rIns="0" bIns="0" numCol="1" anchor="ctr">
                <a:noAutofit/>
              </a:bodyPr>
              <a:lstStyle/>
              <a:p>
                <a:pPr defTabSz="914111">
                  <a:lnSpc>
                    <a:spcPct val="100000"/>
                  </a:lnSpc>
                  <a:spcBef>
                    <a:spcPts val="0"/>
                  </a:spcBef>
                  <a:defRPr>
                    <a:latin typeface="Arial"/>
                    <a:ea typeface="Arial"/>
                    <a:cs typeface="Arial"/>
                    <a:sym typeface="Arial"/>
                  </a:defRPr>
                </a:pPr>
                <a:endParaRPr/>
              </a:p>
            </p:txBody>
          </p:sp>
        </p:grpSp>
        <p:grpSp>
          <p:nvGrpSpPr>
            <p:cNvPr id="215" name="Group 215"/>
            <p:cNvGrpSpPr/>
            <p:nvPr/>
          </p:nvGrpSpPr>
          <p:grpSpPr>
            <a:xfrm>
              <a:off x="339724" y="1316036"/>
              <a:ext cx="588579" cy="533402"/>
              <a:chOff x="0" y="152398"/>
              <a:chExt cx="588577" cy="533400"/>
            </a:xfrm>
          </p:grpSpPr>
          <p:pic>
            <p:nvPicPr>
              <p:cNvPr id="213" name="image34.pdf"/>
              <p:cNvPicPr/>
              <p:nvPr/>
            </p:nvPicPr>
            <p:blipFill>
              <a:blip r:embed="rId4" cstate="print">
                <a:extLst/>
              </a:blip>
              <a:stretch>
                <a:fillRect/>
              </a:stretch>
            </p:blipFill>
            <p:spPr>
              <a:xfrm>
                <a:off x="98038" y="152398"/>
                <a:ext cx="490539" cy="533400"/>
              </a:xfrm>
              <a:prstGeom prst="rect">
                <a:avLst/>
              </a:prstGeom>
              <a:ln w="12700" cap="flat">
                <a:noFill/>
                <a:miter lim="400000"/>
              </a:ln>
              <a:effectLst/>
            </p:spPr>
          </p:pic>
          <p:sp>
            <p:nvSpPr>
              <p:cNvPr id="214" name="Shape 214"/>
              <p:cNvSpPr/>
              <p:nvPr/>
            </p:nvSpPr>
            <p:spPr>
              <a:xfrm>
                <a:off x="0" y="457199"/>
                <a:ext cx="76201" cy="762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0000"/>
              </a:solidFill>
              <a:ln w="12699" cap="flat">
                <a:solidFill>
                  <a:srgbClr val="000000"/>
                </a:solidFill>
                <a:prstDash val="solid"/>
                <a:round/>
              </a:ln>
              <a:effectLst/>
            </p:spPr>
            <p:txBody>
              <a:bodyPr wrap="square" lIns="0" tIns="0" rIns="0" bIns="0" numCol="1" anchor="ctr">
                <a:noAutofit/>
              </a:bodyPr>
              <a:lstStyle/>
              <a:p>
                <a:pPr defTabSz="914111">
                  <a:lnSpc>
                    <a:spcPct val="100000"/>
                  </a:lnSpc>
                  <a:spcBef>
                    <a:spcPts val="0"/>
                  </a:spcBef>
                  <a:defRPr>
                    <a:latin typeface="Arial"/>
                    <a:ea typeface="Arial"/>
                    <a:cs typeface="Arial"/>
                    <a:sym typeface="Arial"/>
                  </a:defRPr>
                </a:pPr>
                <a:endParaRPr/>
              </a:p>
            </p:txBody>
          </p:sp>
        </p:grpSp>
        <p:grpSp>
          <p:nvGrpSpPr>
            <p:cNvPr id="218" name="Group 218"/>
            <p:cNvGrpSpPr/>
            <p:nvPr/>
          </p:nvGrpSpPr>
          <p:grpSpPr>
            <a:xfrm>
              <a:off x="220663" y="1666874"/>
              <a:ext cx="946149" cy="811213"/>
              <a:chOff x="0" y="0"/>
              <a:chExt cx="946148" cy="811212"/>
            </a:xfrm>
          </p:grpSpPr>
          <p:pic>
            <p:nvPicPr>
              <p:cNvPr id="216" name="image35.pdf"/>
              <p:cNvPicPr/>
              <p:nvPr/>
            </p:nvPicPr>
            <p:blipFill>
              <a:blip r:embed="rId5" cstate="print">
                <a:extLst/>
              </a:blip>
              <a:stretch>
                <a:fillRect/>
              </a:stretch>
            </p:blipFill>
            <p:spPr>
              <a:xfrm>
                <a:off x="120649" y="209549"/>
                <a:ext cx="825501" cy="601664"/>
              </a:xfrm>
              <a:prstGeom prst="rect">
                <a:avLst/>
              </a:prstGeom>
              <a:ln w="12700" cap="flat">
                <a:noFill/>
                <a:miter lim="400000"/>
              </a:ln>
              <a:effectLst/>
            </p:spPr>
          </p:pic>
          <p:sp>
            <p:nvSpPr>
              <p:cNvPr id="217" name="Shape 217"/>
              <p:cNvSpPr/>
              <p:nvPr/>
            </p:nvSpPr>
            <p:spPr>
              <a:xfrm flipH="1">
                <a:off x="0" y="0"/>
                <a:ext cx="152400" cy="609599"/>
              </a:xfrm>
              <a:prstGeom prst="line">
                <a:avLst/>
              </a:prstGeom>
              <a:noFill/>
              <a:ln w="38100" cap="flat">
                <a:solidFill>
                  <a:srgbClr val="000000"/>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grpSp>
      </p:grpSp>
      <p:sp>
        <p:nvSpPr>
          <p:cNvPr id="220" name="Shape 220"/>
          <p:cNvSpPr/>
          <p:nvPr/>
        </p:nvSpPr>
        <p:spPr>
          <a:xfrm>
            <a:off x="304800" y="838203"/>
            <a:ext cx="5181600" cy="558008"/>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defTabSz="761758">
              <a:defRPr sz="1800"/>
            </a:pPr>
            <a:r>
              <a:rPr sz="2800" b="1" dirty="0">
                <a:latin typeface="SimHei"/>
                <a:ea typeface="SimHei"/>
                <a:cs typeface="SimHei"/>
                <a:sym typeface="SimHei"/>
              </a:rPr>
              <a:t>试验电荷放到场点</a:t>
            </a:r>
            <a:r>
              <a:rPr sz="2800" b="1" dirty="0">
                <a:latin typeface="Arial"/>
                <a:ea typeface="Arial"/>
                <a:cs typeface="Arial"/>
                <a:sym typeface="Arial"/>
              </a:rPr>
              <a:t>P</a:t>
            </a:r>
            <a:r>
              <a:rPr sz="2800" b="1" dirty="0">
                <a:latin typeface="SimHei"/>
                <a:ea typeface="SimHei"/>
                <a:cs typeface="SimHei"/>
                <a:sym typeface="SimHei"/>
              </a:rPr>
              <a:t>处，</a:t>
            </a:r>
          </a:p>
        </p:txBody>
      </p:sp>
      <p:grpSp>
        <p:nvGrpSpPr>
          <p:cNvPr id="223" name="Group 223"/>
          <p:cNvGrpSpPr/>
          <p:nvPr/>
        </p:nvGrpSpPr>
        <p:grpSpPr>
          <a:xfrm>
            <a:off x="562697" y="1554014"/>
            <a:ext cx="3073199" cy="557517"/>
            <a:chOff x="-297278" y="8289"/>
            <a:chExt cx="4734270" cy="514351"/>
          </a:xfrm>
        </p:grpSpPr>
        <p:sp>
          <p:nvSpPr>
            <p:cNvPr id="221" name="Shape 221"/>
            <p:cNvSpPr/>
            <p:nvPr/>
          </p:nvSpPr>
          <p:spPr>
            <a:xfrm>
              <a:off x="-297278" y="28575"/>
              <a:ext cx="4734270" cy="49406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defTabSz="762000">
                <a:defRPr sz="2800">
                  <a:latin typeface="SimHei"/>
                  <a:ea typeface="SimHei"/>
                  <a:cs typeface="SimHei"/>
                  <a:sym typeface="SimHei"/>
                </a:defRPr>
              </a:lvl1pPr>
            </a:lstStyle>
            <a:p>
              <a:pPr lvl="0">
                <a:defRPr sz="1800"/>
              </a:pPr>
              <a:r>
                <a:rPr sz="2400" dirty="0" err="1"/>
                <a:t>试验电荷受力为</a:t>
              </a:r>
              <a:endParaRPr sz="2400" dirty="0"/>
            </a:p>
          </p:txBody>
        </p:sp>
        <p:pic>
          <p:nvPicPr>
            <p:cNvPr id="222" name="image29.pdf"/>
            <p:cNvPicPr/>
            <p:nvPr/>
          </p:nvPicPr>
          <p:blipFill>
            <a:blip r:embed="rId6" cstate="print">
              <a:extLst/>
            </a:blip>
            <a:stretch>
              <a:fillRect/>
            </a:stretch>
          </p:blipFill>
          <p:spPr>
            <a:xfrm>
              <a:off x="3268384" y="8289"/>
              <a:ext cx="908051" cy="514351"/>
            </a:xfrm>
            <a:prstGeom prst="rect">
              <a:avLst/>
            </a:prstGeom>
            <a:ln w="12700" cap="flat">
              <a:noFill/>
              <a:miter lim="400000"/>
            </a:ln>
            <a:effectLst/>
          </p:spPr>
        </p:pic>
      </p:grpSp>
      <p:grpSp>
        <p:nvGrpSpPr>
          <p:cNvPr id="233" name="Group 233"/>
          <p:cNvGrpSpPr/>
          <p:nvPr/>
        </p:nvGrpSpPr>
        <p:grpSpPr>
          <a:xfrm>
            <a:off x="424712" y="2739233"/>
            <a:ext cx="4878307" cy="2292347"/>
            <a:chOff x="0" y="0"/>
            <a:chExt cx="4878307" cy="2292345"/>
          </a:xfrm>
        </p:grpSpPr>
        <p:sp>
          <p:nvSpPr>
            <p:cNvPr id="229" name="Shape 229"/>
            <p:cNvSpPr/>
            <p:nvPr/>
          </p:nvSpPr>
          <p:spPr>
            <a:xfrm>
              <a:off x="0" y="0"/>
              <a:ext cx="4267200" cy="61052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p>
              <a:pPr defTabSz="761758">
                <a:defRPr sz="1800"/>
              </a:pPr>
              <a:r>
                <a:rPr sz="2800" dirty="0" err="1">
                  <a:solidFill>
                    <a:srgbClr val="0070C0"/>
                  </a:solidFill>
                  <a:latin typeface="SimHei"/>
                  <a:ea typeface="SimHei"/>
                  <a:cs typeface="SimHei"/>
                  <a:sym typeface="SimHei"/>
                </a:rPr>
                <a:t>试验表明</a:t>
              </a:r>
              <a:r>
                <a:rPr sz="2800" dirty="0">
                  <a:solidFill>
                    <a:srgbClr val="0070C0"/>
                  </a:solidFill>
                  <a:latin typeface="SimHei"/>
                  <a:ea typeface="SimHei"/>
                  <a:cs typeface="SimHei"/>
                  <a:sym typeface="SimHei"/>
                </a:rPr>
                <a:t>：</a:t>
              </a:r>
              <a:endParaRPr sz="2800" dirty="0">
                <a:latin typeface="SimHei"/>
                <a:ea typeface="SimHei"/>
                <a:cs typeface="SimHei"/>
                <a:sym typeface="SimHei"/>
              </a:endParaRPr>
            </a:p>
          </p:txBody>
        </p:sp>
        <p:pic>
          <p:nvPicPr>
            <p:cNvPr id="230" name="image36.pdf"/>
            <p:cNvPicPr/>
            <p:nvPr/>
          </p:nvPicPr>
          <p:blipFill>
            <a:blip r:embed="rId7" cstate="print">
              <a:extLst/>
            </a:blip>
            <a:stretch>
              <a:fillRect/>
            </a:stretch>
          </p:blipFill>
          <p:spPr>
            <a:xfrm>
              <a:off x="312455" y="843753"/>
              <a:ext cx="784225" cy="1366838"/>
            </a:xfrm>
            <a:prstGeom prst="rect">
              <a:avLst/>
            </a:prstGeom>
            <a:ln w="12700" cap="flat">
              <a:noFill/>
              <a:miter lim="400000"/>
            </a:ln>
            <a:effectLst/>
          </p:spPr>
        </p:pic>
        <p:sp>
          <p:nvSpPr>
            <p:cNvPr id="231" name="Shape 231"/>
            <p:cNvSpPr/>
            <p:nvPr/>
          </p:nvSpPr>
          <p:spPr>
            <a:xfrm>
              <a:off x="1282833" y="843753"/>
              <a:ext cx="3595474" cy="112645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p>
              <a:pPr defTabSz="761758">
                <a:defRPr sz="1800"/>
              </a:pPr>
              <a:r>
                <a:rPr sz="2800" dirty="0" err="1">
                  <a:solidFill>
                    <a:srgbClr val="FF0000"/>
                  </a:solidFill>
                  <a:latin typeface="SimHei"/>
                  <a:ea typeface="SimHei"/>
                  <a:cs typeface="SimHei"/>
                  <a:sym typeface="SimHei"/>
                </a:rPr>
                <a:t>与试验电荷无关</a:t>
              </a:r>
              <a:r>
                <a:rPr sz="2800" dirty="0" err="1">
                  <a:solidFill>
                    <a:srgbClr val="FF0000"/>
                  </a:solidFill>
                  <a:latin typeface="Arial"/>
                  <a:ea typeface="Arial"/>
                  <a:cs typeface="Arial"/>
                  <a:sym typeface="Arial"/>
                </a:rPr>
                <a:t>,</a:t>
              </a:r>
              <a:r>
                <a:rPr sz="2800" dirty="0" err="1">
                  <a:solidFill>
                    <a:srgbClr val="FF0000"/>
                  </a:solidFill>
                  <a:latin typeface="SimHei"/>
                  <a:ea typeface="SimHei"/>
                  <a:cs typeface="SimHei"/>
                  <a:sym typeface="SimHei"/>
                </a:rPr>
                <a:t>只与场点的空间位置有关</a:t>
              </a:r>
              <a:r>
                <a:rPr sz="2800" dirty="0">
                  <a:solidFill>
                    <a:srgbClr val="FF0000"/>
                  </a:solidFill>
                  <a:latin typeface="Arial"/>
                  <a:ea typeface="Arial"/>
                  <a:cs typeface="Arial"/>
                  <a:sym typeface="Arial"/>
                </a:rPr>
                <a:t>.</a:t>
              </a:r>
            </a:p>
          </p:txBody>
        </p:sp>
        <p:sp>
          <p:nvSpPr>
            <p:cNvPr id="232" name="Shape 232"/>
            <p:cNvSpPr/>
            <p:nvPr/>
          </p:nvSpPr>
          <p:spPr>
            <a:xfrm>
              <a:off x="240448" y="762000"/>
              <a:ext cx="4531578" cy="1530345"/>
            </a:xfrm>
            <a:prstGeom prst="rect">
              <a:avLst/>
            </a:prstGeom>
            <a:noFill/>
            <a:ln w="28575" cap="flat">
              <a:solidFill>
                <a:srgbClr val="FF00FF"/>
              </a:solidFill>
              <a:prstDash val="dash"/>
              <a:miter lim="800000"/>
            </a:ln>
            <a:effectLst/>
          </p:spPr>
          <p:txBody>
            <a:bodyPr wrap="square" lIns="0" tIns="0" rIns="0" bIns="0" numCol="1" anchor="ctr">
              <a:noAutofit/>
            </a:bodyPr>
            <a:lstStyle/>
            <a:p>
              <a:pPr defTabSz="914111">
                <a:lnSpc>
                  <a:spcPct val="100000"/>
                </a:lnSpc>
                <a:spcBef>
                  <a:spcPts val="0"/>
                </a:spcBef>
                <a:defRPr>
                  <a:latin typeface="Arial"/>
                  <a:ea typeface="Arial"/>
                  <a:cs typeface="Arial"/>
                  <a:sym typeface="Arial"/>
                </a:defRPr>
              </a:pPr>
              <a:endParaRPr/>
            </a:p>
          </p:txBody>
        </p:sp>
      </p:grpSp>
      <p:sp>
        <p:nvSpPr>
          <p:cNvPr id="234" name="Shape 234"/>
          <p:cNvSpPr/>
          <p:nvPr/>
        </p:nvSpPr>
        <p:spPr>
          <a:xfrm>
            <a:off x="300040" y="115887"/>
            <a:ext cx="3106739" cy="540695"/>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lvl1pPr>
              <a:spcBef>
                <a:spcPts val="1900"/>
              </a:spcBef>
              <a:defRPr sz="3200">
                <a:solidFill>
                  <a:srgbClr val="0000FF"/>
                </a:solidFill>
                <a:latin typeface="SimHei"/>
                <a:ea typeface="SimHei"/>
                <a:cs typeface="SimHei"/>
                <a:sym typeface="SimHei"/>
              </a:defRPr>
            </a:lvl1pPr>
          </a:lstStyle>
          <a:p>
            <a:pPr lvl="0">
              <a:defRPr sz="1800">
                <a:solidFill>
                  <a:srgbClr val="000000"/>
                </a:solidFill>
              </a:defRPr>
            </a:pPr>
            <a:r>
              <a:rPr sz="2800" b="1" dirty="0" err="1">
                <a:solidFill>
                  <a:srgbClr val="0070C0"/>
                </a:solidFill>
              </a:rPr>
              <a:t>定义方法</a:t>
            </a:r>
            <a:r>
              <a:rPr sz="2800" b="1" dirty="0">
                <a:solidFill>
                  <a:srgbClr val="0070C0"/>
                </a:solidFill>
              </a:rPr>
              <a:t>：</a:t>
            </a:r>
          </a:p>
        </p:txBody>
      </p:sp>
      <p:sp>
        <p:nvSpPr>
          <p:cNvPr id="235" name="Shape 235"/>
          <p:cNvSpPr/>
          <p:nvPr/>
        </p:nvSpPr>
        <p:spPr>
          <a:xfrm>
            <a:off x="5940428" y="3041653"/>
            <a:ext cx="3079750" cy="684309"/>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defTabSz="761758">
              <a:spcBef>
                <a:spcPts val="1897"/>
              </a:spcBef>
              <a:defRPr sz="1800"/>
            </a:pPr>
            <a:endParaRPr sz="3200" dirty="0">
              <a:latin typeface="SimHei"/>
              <a:ea typeface="SimHei"/>
              <a:cs typeface="SimHei"/>
              <a:sym typeface="SimHei"/>
            </a:endParaRPr>
          </a:p>
        </p:txBody>
      </p:sp>
      <p:sp>
        <p:nvSpPr>
          <p:cNvPr id="236" name="Shape 236"/>
          <p:cNvSpPr/>
          <p:nvPr/>
        </p:nvSpPr>
        <p:spPr>
          <a:xfrm>
            <a:off x="5940428" y="1143355"/>
            <a:ext cx="2743200" cy="4244721"/>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defTabSz="761758">
              <a:lnSpc>
                <a:spcPct val="100000"/>
              </a:lnSpc>
              <a:spcBef>
                <a:spcPts val="1897"/>
              </a:spcBef>
              <a:defRPr sz="1800"/>
            </a:pPr>
            <a:r>
              <a:rPr sz="3200" b="1" dirty="0" err="1">
                <a:solidFill>
                  <a:srgbClr val="0070C0"/>
                </a:solidFill>
                <a:latin typeface="SimHei"/>
                <a:ea typeface="SimHei"/>
                <a:cs typeface="SimHei"/>
                <a:sym typeface="SimHei"/>
              </a:rPr>
              <a:t>思考</a:t>
            </a:r>
            <a:r>
              <a:rPr sz="3200" b="1" dirty="0">
                <a:solidFill>
                  <a:srgbClr val="0070C0"/>
                </a:solidFill>
                <a:latin typeface="Arial"/>
                <a:ea typeface="Arial"/>
                <a:cs typeface="Arial"/>
                <a:sym typeface="Arial"/>
              </a:rPr>
              <a:t>:</a:t>
            </a:r>
            <a:endParaRPr lang="en-US" sz="3200" b="1" dirty="0">
              <a:solidFill>
                <a:srgbClr val="0070C0"/>
              </a:solidFill>
              <a:latin typeface="Arial"/>
              <a:ea typeface="Arial"/>
              <a:cs typeface="Arial"/>
              <a:sym typeface="Arial"/>
            </a:endParaRPr>
          </a:p>
          <a:p>
            <a:pPr defTabSz="761758">
              <a:lnSpc>
                <a:spcPct val="150000"/>
              </a:lnSpc>
              <a:spcBef>
                <a:spcPts val="1897"/>
              </a:spcBef>
              <a:defRPr sz="1800"/>
            </a:pPr>
            <a:r>
              <a:rPr lang="zh-CN" altLang="en-US" sz="3200" b="1" dirty="0">
                <a:solidFill>
                  <a:srgbClr val="0070C0"/>
                </a:solidFill>
              </a:rPr>
              <a:t>试验电荷必须满足两小：</a:t>
            </a:r>
            <a:endParaRPr lang="en-US" altLang="zh-CN" sz="3200" b="1" dirty="0">
              <a:solidFill>
                <a:srgbClr val="0070C0"/>
              </a:solidFill>
            </a:endParaRPr>
          </a:p>
          <a:p>
            <a:pPr defTabSz="761758">
              <a:lnSpc>
                <a:spcPct val="150000"/>
              </a:lnSpc>
              <a:spcBef>
                <a:spcPts val="0"/>
              </a:spcBef>
              <a:defRPr sz="1800"/>
            </a:pPr>
            <a:r>
              <a:rPr lang="zh-CN" altLang="en-US" sz="2800" b="1" dirty="0">
                <a:latin typeface="Arial"/>
                <a:ea typeface="Arial"/>
                <a:cs typeface="Arial"/>
                <a:sym typeface="Arial"/>
              </a:rPr>
              <a:t>①</a:t>
            </a:r>
            <a:r>
              <a:rPr lang="zh-CN" altLang="en-US" sz="2800" b="1" dirty="0">
                <a:latin typeface="SimHei"/>
                <a:ea typeface="SimHei"/>
                <a:cs typeface="SimHei"/>
                <a:sym typeface="SimHei"/>
              </a:rPr>
              <a:t>电量充分地小</a:t>
            </a:r>
            <a:endParaRPr lang="zh-CN" altLang="en-US" sz="2800" b="1" dirty="0"/>
          </a:p>
          <a:p>
            <a:pPr defTabSz="761758">
              <a:lnSpc>
                <a:spcPct val="150000"/>
              </a:lnSpc>
              <a:spcBef>
                <a:spcPts val="0"/>
              </a:spcBef>
              <a:defRPr sz="1800"/>
            </a:pPr>
            <a:r>
              <a:rPr lang="zh-CN" altLang="en-US" sz="2800" b="1" dirty="0">
                <a:latin typeface="Arial"/>
                <a:ea typeface="Arial"/>
                <a:cs typeface="Arial"/>
                <a:sym typeface="Arial"/>
              </a:rPr>
              <a:t>②</a:t>
            </a:r>
            <a:r>
              <a:rPr lang="zh-CN" altLang="en-US" sz="2800" b="1" dirty="0">
                <a:latin typeface="SimHei"/>
                <a:ea typeface="SimHei"/>
                <a:cs typeface="SimHei"/>
                <a:sym typeface="SimHei"/>
              </a:rPr>
              <a:t>线度足够地小</a:t>
            </a:r>
            <a:r>
              <a:rPr lang="en-US" altLang="zh-CN" sz="2800" b="1" dirty="0">
                <a:latin typeface="SimHei"/>
                <a:ea typeface="SimHei"/>
                <a:cs typeface="SimHei"/>
                <a:sym typeface="SimHei"/>
              </a:rPr>
              <a:t>(</a:t>
            </a:r>
            <a:r>
              <a:rPr lang="zh-CN" altLang="en-US" sz="2800" b="1" dirty="0">
                <a:latin typeface="SimHei"/>
                <a:ea typeface="SimHei"/>
                <a:cs typeface="SimHei"/>
                <a:sym typeface="SimHei"/>
              </a:rPr>
              <a:t>点电荷</a:t>
            </a:r>
            <a:r>
              <a:rPr lang="en-US" altLang="zh-CN" sz="2800" b="1" dirty="0" smtClean="0">
                <a:latin typeface="SimHei"/>
                <a:ea typeface="SimHei"/>
                <a:cs typeface="SimHei"/>
                <a:sym typeface="SimHei"/>
              </a:rPr>
              <a:t>)</a:t>
            </a:r>
            <a:endParaRPr lang="zh-CN" altLang="en-US" sz="2800" b="1" dirty="0">
              <a:latin typeface="SimHei"/>
              <a:ea typeface="SimHei"/>
              <a:cs typeface="SimHei"/>
              <a:sym typeface="SimHei"/>
            </a:endParaRPr>
          </a:p>
        </p:txBody>
      </p:sp>
      <p:sp>
        <p:nvSpPr>
          <p:cNvPr id="237" name="Shape 237"/>
          <p:cNvSpPr/>
          <p:nvPr/>
        </p:nvSpPr>
        <p:spPr>
          <a:xfrm flipH="1">
            <a:off x="5943603" y="1295400"/>
            <a:ext cx="1" cy="4038600"/>
          </a:xfrm>
          <a:prstGeom prst="line">
            <a:avLst/>
          </a:prstGeom>
          <a:ln w="19050">
            <a:solidFill>
              <a:srgbClr val="FF00FF"/>
            </a:solidFill>
            <a:prstDash val="dash"/>
            <a:round/>
          </a:ln>
        </p:spPr>
        <p:txBody>
          <a:bodyPr lIns="0" tIns="0" rIns="0" bIns="0"/>
          <a:lstStyle/>
          <a:p>
            <a:pPr defTabSz="457056">
              <a:lnSpc>
                <a:spcPct val="100000"/>
              </a:lnSpc>
              <a:spcBef>
                <a:spcPts val="0"/>
              </a:spcBef>
              <a:defRPr sz="1200">
                <a:latin typeface="+mj-lt"/>
                <a:ea typeface="+mj-ea"/>
                <a:cs typeface="+mj-cs"/>
                <a:sym typeface="Helvetica"/>
              </a:defRPr>
            </a:pPr>
            <a:endParaRPr/>
          </a:p>
        </p:txBody>
      </p:sp>
      <p:sp>
        <p:nvSpPr>
          <p:cNvPr id="239" name="Shape 239"/>
          <p:cNvSpPr/>
          <p:nvPr/>
        </p:nvSpPr>
        <p:spPr>
          <a:xfrm>
            <a:off x="6019800" y="1905001"/>
            <a:ext cx="2944814" cy="425298"/>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lvl1pPr>
              <a:spcBef>
                <a:spcPts val="1900"/>
              </a:spcBef>
              <a:defRPr sz="3200">
                <a:solidFill>
                  <a:srgbClr val="0000FF"/>
                </a:solidFill>
                <a:latin typeface="SimHei"/>
                <a:ea typeface="SimHei"/>
                <a:cs typeface="SimHei"/>
                <a:sym typeface="SimHei"/>
              </a:defRPr>
            </a:lvl1pPr>
          </a:lstStyle>
          <a:p>
            <a:pPr lvl="0">
              <a:defRPr sz="1800">
                <a:solidFill>
                  <a:srgbClr val="000000"/>
                </a:solidFill>
              </a:defRPr>
            </a:pPr>
            <a:endParaRPr dirty="0">
              <a:solidFill>
                <a:srgbClr val="0070C0"/>
              </a:solidFill>
            </a:endParaRPr>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电场强度（矢量）</a:t>
            </a:r>
            <a:endParaRPr lang="zh-CN" altLang="en-US" b="1" dirty="0"/>
          </a:p>
        </p:txBody>
      </p:sp>
      <p:grpSp>
        <p:nvGrpSpPr>
          <p:cNvPr id="4" name="组合 3"/>
          <p:cNvGrpSpPr/>
          <p:nvPr/>
        </p:nvGrpSpPr>
        <p:grpSpPr>
          <a:xfrm>
            <a:off x="347079" y="1494972"/>
            <a:ext cx="8194612" cy="2067624"/>
            <a:chOff x="900112" y="5010150"/>
            <a:chExt cx="7452875" cy="1715056"/>
          </a:xfrm>
        </p:grpSpPr>
        <p:grpSp>
          <p:nvGrpSpPr>
            <p:cNvPr id="5" name="组合 4"/>
            <p:cNvGrpSpPr/>
            <p:nvPr/>
          </p:nvGrpSpPr>
          <p:grpSpPr>
            <a:xfrm>
              <a:off x="900112" y="5010150"/>
              <a:ext cx="4114801" cy="1715056"/>
              <a:chOff x="900112" y="5010150"/>
              <a:chExt cx="4114801" cy="1715056"/>
            </a:xfrm>
          </p:grpSpPr>
          <p:grpSp>
            <p:nvGrpSpPr>
              <p:cNvPr id="7" name="Group 228"/>
              <p:cNvGrpSpPr/>
              <p:nvPr/>
            </p:nvGrpSpPr>
            <p:grpSpPr>
              <a:xfrm>
                <a:off x="900112" y="5010150"/>
                <a:ext cx="4114801" cy="1371600"/>
                <a:chOff x="0" y="0"/>
                <a:chExt cx="4114800" cy="1371600"/>
              </a:xfrm>
            </p:grpSpPr>
            <p:sp>
              <p:nvSpPr>
                <p:cNvPr id="9" name="Shape 224"/>
                <p:cNvSpPr/>
                <p:nvPr/>
              </p:nvSpPr>
              <p:spPr>
                <a:xfrm>
                  <a:off x="0" y="0"/>
                  <a:ext cx="4114800" cy="1371600"/>
                </a:xfrm>
                <a:prstGeom prst="rect">
                  <a:avLst/>
                </a:prstGeom>
                <a:noFill/>
                <a:ln w="38100" cap="flat">
                  <a:solidFill>
                    <a:srgbClr val="FF0000"/>
                  </a:solidFill>
                  <a:prstDash val="solid"/>
                  <a:miter lim="800000"/>
                </a:ln>
                <a:effectLst/>
              </p:spPr>
              <p:txBody>
                <a:bodyPr wrap="square" lIns="0" tIns="0" rIns="0" bIns="0" numCol="1" anchor="ctr">
                  <a:noAutofit/>
                </a:bodyPr>
                <a:lstStyle/>
                <a:p>
                  <a:pPr defTabSz="914111">
                    <a:lnSpc>
                      <a:spcPct val="100000"/>
                    </a:lnSpc>
                    <a:spcBef>
                      <a:spcPts val="0"/>
                    </a:spcBef>
                    <a:defRPr>
                      <a:latin typeface="Arial"/>
                      <a:ea typeface="Arial"/>
                      <a:cs typeface="Arial"/>
                      <a:sym typeface="Arial"/>
                    </a:defRPr>
                  </a:pPr>
                  <a:endParaRPr/>
                </a:p>
              </p:txBody>
            </p:sp>
            <p:grpSp>
              <p:nvGrpSpPr>
                <p:cNvPr id="10" name="Group 227"/>
                <p:cNvGrpSpPr/>
                <p:nvPr/>
              </p:nvGrpSpPr>
              <p:grpSpPr>
                <a:xfrm>
                  <a:off x="152400" y="19050"/>
                  <a:ext cx="3330575" cy="1333500"/>
                  <a:chOff x="0" y="0"/>
                  <a:chExt cx="3330575" cy="1333500"/>
                </a:xfrm>
              </p:grpSpPr>
              <p:pic>
                <p:nvPicPr>
                  <p:cNvPr id="11" name="image30.pdf"/>
                  <p:cNvPicPr/>
                  <p:nvPr/>
                </p:nvPicPr>
                <p:blipFill>
                  <a:blip r:embed="rId2" cstate="print">
                    <a:extLst/>
                  </a:blip>
                  <a:stretch>
                    <a:fillRect/>
                  </a:stretch>
                </p:blipFill>
                <p:spPr>
                  <a:xfrm>
                    <a:off x="1774825" y="0"/>
                    <a:ext cx="1555750" cy="1333500"/>
                  </a:xfrm>
                  <a:prstGeom prst="rect">
                    <a:avLst/>
                  </a:prstGeom>
                  <a:ln w="12700" cap="flat">
                    <a:noFill/>
                    <a:miter lim="400000"/>
                  </a:ln>
                  <a:effectLst/>
                </p:spPr>
              </p:pic>
              <p:sp>
                <p:nvSpPr>
                  <p:cNvPr id="12" name="Shape 226"/>
                  <p:cNvSpPr/>
                  <p:nvPr/>
                </p:nvSpPr>
                <p:spPr>
                  <a:xfrm>
                    <a:off x="0" y="230635"/>
                    <a:ext cx="1774825" cy="49326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defTabSz="762000">
                      <a:spcBef>
                        <a:spcPts val="1900"/>
                      </a:spcBef>
                      <a:defRPr sz="3200">
                        <a:solidFill>
                          <a:srgbClr val="0000FF"/>
                        </a:solidFill>
                        <a:latin typeface="SimHei"/>
                        <a:ea typeface="SimHei"/>
                        <a:cs typeface="SimHei"/>
                        <a:sym typeface="SimHei"/>
                      </a:defRPr>
                    </a:lvl1pPr>
                  </a:lstStyle>
                  <a:p>
                    <a:pPr lvl="0">
                      <a:defRPr sz="1800">
                        <a:solidFill>
                          <a:srgbClr val="000000"/>
                        </a:solidFill>
                      </a:defRPr>
                    </a:pPr>
                    <a:r>
                      <a:rPr sz="2400" dirty="0" err="1">
                        <a:solidFill>
                          <a:srgbClr val="0070C0"/>
                        </a:solidFill>
                      </a:rPr>
                      <a:t>电场强度定义</a:t>
                    </a:r>
                    <a:endParaRPr sz="2400" dirty="0">
                      <a:solidFill>
                        <a:srgbClr val="0070C0"/>
                      </a:solidFill>
                    </a:endParaRPr>
                  </a:p>
                </p:txBody>
              </p:sp>
            </p:grpSp>
          </p:grpSp>
          <p:sp>
            <p:nvSpPr>
              <p:cNvPr id="8" name="Shape 241"/>
              <p:cNvSpPr/>
              <p:nvPr/>
            </p:nvSpPr>
            <p:spPr>
              <a:xfrm>
                <a:off x="3863975" y="6392190"/>
                <a:ext cx="585788" cy="333016"/>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defRPr sz="2000" b="1">
                    <a:latin typeface="楷体_GB2312"/>
                    <a:ea typeface="楷体_GB2312"/>
                    <a:cs typeface="楷体_GB2312"/>
                    <a:sym typeface="楷体_GB2312"/>
                  </a:defRPr>
                </a:lvl1pPr>
              </a:lstStyle>
              <a:p>
                <a:pPr lvl="0">
                  <a:defRPr sz="1800" b="0"/>
                </a:pPr>
                <a:endParaRPr dirty="0"/>
              </a:p>
            </p:txBody>
          </p:sp>
        </p:grpSp>
        <p:sp>
          <p:nvSpPr>
            <p:cNvPr id="6" name="Shape 244"/>
            <p:cNvSpPr/>
            <p:nvPr/>
          </p:nvSpPr>
          <p:spPr>
            <a:xfrm>
              <a:off x="5273236" y="5038716"/>
              <a:ext cx="3079751" cy="1672560"/>
            </a:xfrm>
            <a:prstGeom prst="rect">
              <a:avLst/>
            </a:prstGeom>
            <a:solidFill>
              <a:srgbClr val="FFFFFF"/>
            </a:solidFill>
            <a:ln w="25400">
              <a:solidFill>
                <a:srgbClr val="CC9900"/>
              </a:solidFill>
            </a:ln>
            <a:extLst>
              <a:ext uri="{C572A759-6A51-4108-AA02-DFA0A04FC94B}">
                <ma14:wrappingTextBoxFlag xmlns="" xmlns:ma14="http://schemas.microsoft.com/office/mac/drawingml/2011/main" val="1"/>
              </a:ext>
            </a:extLst>
          </p:spPr>
          <p:txBody>
            <a:bodyPr lIns="45719" rIns="45719">
              <a:spAutoFit/>
            </a:bodyPr>
            <a:lstStyle>
              <a:lvl1pPr defTabSz="914400">
                <a:lnSpc>
                  <a:spcPct val="100000"/>
                </a:lnSpc>
                <a:spcBef>
                  <a:spcPts val="0"/>
                </a:spcBef>
                <a:defRPr>
                  <a:latin typeface="Arial"/>
                  <a:ea typeface="Arial"/>
                  <a:cs typeface="Arial"/>
                  <a:sym typeface="Arial"/>
                </a:defRPr>
              </a:lvl1pPr>
            </a:lstStyle>
            <a:p>
              <a:pPr lvl="0">
                <a:defRPr sz="1800"/>
              </a:pPr>
              <a:r>
                <a:rPr lang="zh-CN" altLang="en-US" sz="2800" dirty="0">
                  <a:latin typeface="黑体" pitchFamily="49" charset="-122"/>
                  <a:ea typeface="黑体" pitchFamily="49" charset="-122"/>
                </a:rPr>
                <a:t>电场中任一点的电场强度，在数值和方向上</a:t>
              </a:r>
              <a:r>
                <a:rPr lang="zh-CN" altLang="en-US" sz="2800" dirty="0" smtClean="0">
                  <a:latin typeface="黑体" pitchFamily="49" charset="-122"/>
                  <a:ea typeface="黑体" pitchFamily="49" charset="-122"/>
                </a:rPr>
                <a:t>等于静止</a:t>
              </a:r>
              <a:r>
                <a:rPr lang="zh-CN" altLang="en-US" sz="2800" dirty="0">
                  <a:latin typeface="黑体" pitchFamily="49" charset="-122"/>
                  <a:ea typeface="黑体" pitchFamily="49" charset="-122"/>
                </a:rPr>
                <a:t>于该点的</a:t>
              </a:r>
              <a:r>
                <a:rPr lang="zh-CN" altLang="en-US" sz="2800" dirty="0">
                  <a:solidFill>
                    <a:srgbClr val="FF0000"/>
                  </a:solidFill>
                  <a:latin typeface="黑体" pitchFamily="49" charset="-122"/>
                  <a:ea typeface="黑体" pitchFamily="49" charset="-122"/>
                </a:rPr>
                <a:t>单位正电荷</a:t>
              </a:r>
              <a:r>
                <a:rPr lang="zh-CN" altLang="en-US" sz="2800" dirty="0">
                  <a:latin typeface="黑体" pitchFamily="49" charset="-122"/>
                  <a:ea typeface="黑体" pitchFamily="49" charset="-122"/>
                </a:rPr>
                <a:t>所受的力。</a:t>
              </a:r>
              <a:endParaRPr sz="2800" dirty="0">
                <a:latin typeface="黑体" pitchFamily="49" charset="-122"/>
                <a:ea typeface="黑体" pitchFamily="49" charset="-122"/>
              </a:endParaRPr>
            </a:p>
          </p:txBody>
        </p:sp>
      </p:grpSp>
      <p:sp>
        <p:nvSpPr>
          <p:cNvPr id="13" name="TextBox 12"/>
          <p:cNvSpPr txBox="1"/>
          <p:nvPr/>
        </p:nvSpPr>
        <p:spPr>
          <a:xfrm>
            <a:off x="827584" y="3579205"/>
            <a:ext cx="4248472" cy="81458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1028700" rtl="0" latinLnBrk="1" hangingPunct="0"/>
            <a:r>
              <a:rPr lang="zh-CN" altLang="en-US" sz="2800" b="1" dirty="0">
                <a:solidFill>
                  <a:srgbClr val="000000"/>
                </a:solidFill>
                <a:latin typeface="黑体" pitchFamily="49" charset="-122"/>
                <a:ea typeface="黑体" pitchFamily="49" charset="-122"/>
              </a:rPr>
              <a:t>单位： </a:t>
            </a:r>
            <a:r>
              <a:rPr lang="en-US" altLang="zh-CN" sz="2800" b="1" dirty="0" smtClean="0">
                <a:solidFill>
                  <a:srgbClr val="000000"/>
                </a:solidFill>
                <a:latin typeface="黑体" pitchFamily="49" charset="-122"/>
                <a:ea typeface="黑体" pitchFamily="49" charset="-122"/>
              </a:rPr>
              <a:t>N/C </a:t>
            </a:r>
            <a:r>
              <a:rPr lang="en-US" altLang="zh-CN" sz="2800" b="1" dirty="0" smtClean="0">
                <a:solidFill>
                  <a:srgbClr val="000000"/>
                </a:solidFill>
                <a:latin typeface="黑体" pitchFamily="49" charset="-122"/>
                <a:ea typeface="黑体" pitchFamily="49" charset="-122"/>
              </a:rPr>
              <a:t>  </a:t>
            </a:r>
            <a:r>
              <a:rPr lang="en-US" altLang="zh-CN" sz="2800" b="1" dirty="0" smtClean="0">
                <a:solidFill>
                  <a:srgbClr val="000000"/>
                </a:solidFill>
                <a:latin typeface="黑体" pitchFamily="49" charset="-122"/>
                <a:ea typeface="黑体" pitchFamily="49" charset="-122"/>
              </a:rPr>
              <a:t>or   V/m</a:t>
            </a:r>
            <a:endParaRPr kumimoji="0" lang="zh-CN" altLang="en-US" sz="2800" b="1" i="0" u="none" strike="noStrike" cap="none" spc="0" normalizeH="0" baseline="0" dirty="0">
              <a:ln>
                <a:noFill/>
              </a:ln>
              <a:solidFill>
                <a:srgbClr val="000000"/>
              </a:solidFill>
              <a:effectLst/>
              <a:uFillTx/>
              <a:latin typeface="黑体" pitchFamily="49" charset="-122"/>
              <a:ea typeface="黑体" pitchFamily="49" charset="-122"/>
              <a:sym typeface="Times New Roman"/>
            </a:endParaRPr>
          </a:p>
        </p:txBody>
      </p:sp>
    </p:spTree>
    <p:extLst>
      <p:ext uri="{BB962C8B-B14F-4D97-AF65-F5344CB8AC3E}">
        <p14:creationId xmlns:p14="http://schemas.microsoft.com/office/powerpoint/2010/main" val="1701738910"/>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899592" y="548680"/>
            <a:ext cx="7704856" cy="442582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zh-CN" sz="2800" b="1" dirty="0">
                <a:solidFill>
                  <a:srgbClr val="0000CC"/>
                </a:solidFill>
              </a:rPr>
              <a:t>单项选择题</a:t>
            </a:r>
          </a:p>
          <a:p>
            <a:r>
              <a:rPr lang="zh-CN" altLang="zh-CN" sz="2800" b="1" dirty="0" smtClean="0">
                <a:solidFill>
                  <a:srgbClr val="0000CC"/>
                </a:solidFill>
              </a:rPr>
              <a:t>空间</a:t>
            </a:r>
            <a:r>
              <a:rPr lang="zh-CN" altLang="zh-CN" sz="2800" b="1" dirty="0">
                <a:solidFill>
                  <a:srgbClr val="0000CC"/>
                </a:solidFill>
              </a:rPr>
              <a:t>某点的电场反映了（</a:t>
            </a:r>
            <a:r>
              <a:rPr lang="en-US" altLang="zh-CN" sz="2800" b="1" dirty="0">
                <a:solidFill>
                  <a:srgbClr val="0000CC"/>
                </a:solidFill>
              </a:rPr>
              <a:t>  </a:t>
            </a:r>
            <a:r>
              <a:rPr lang="zh-CN" altLang="zh-CN" sz="2800" b="1" dirty="0">
                <a:solidFill>
                  <a:srgbClr val="0000CC"/>
                </a:solidFill>
              </a:rPr>
              <a:t>）</a:t>
            </a:r>
          </a:p>
          <a:p>
            <a:r>
              <a:rPr lang="en-US" altLang="zh-CN" sz="2800" b="1" dirty="0"/>
              <a:t>A</a:t>
            </a:r>
            <a:r>
              <a:rPr lang="zh-CN" altLang="zh-CN" sz="2800" b="1" dirty="0"/>
              <a:t>．位于该点的点电荷单位质量所受的电力。</a:t>
            </a:r>
          </a:p>
          <a:p>
            <a:r>
              <a:rPr lang="en-US" altLang="zh-CN" sz="2800" b="1" dirty="0"/>
              <a:t>B</a:t>
            </a:r>
            <a:r>
              <a:rPr lang="zh-CN" altLang="zh-CN" sz="2800" b="1" dirty="0"/>
              <a:t>．位于该点的</a:t>
            </a:r>
            <a:r>
              <a:rPr lang="zh-CN" altLang="zh-CN" sz="2800" b="1" dirty="0" smtClean="0"/>
              <a:t>物体</a:t>
            </a:r>
            <a:r>
              <a:rPr lang="zh-CN" altLang="en-US" sz="2800" b="1" dirty="0" smtClean="0"/>
              <a:t>的荷质比</a:t>
            </a:r>
            <a:r>
              <a:rPr lang="zh-CN" altLang="zh-CN" sz="2800" b="1" dirty="0" smtClean="0"/>
              <a:t>。</a:t>
            </a:r>
            <a:endParaRPr lang="zh-CN" altLang="zh-CN" sz="2800" b="1" dirty="0"/>
          </a:p>
          <a:p>
            <a:r>
              <a:rPr lang="en-US" altLang="zh-CN" sz="2800" b="1" dirty="0"/>
              <a:t>C</a:t>
            </a:r>
            <a:r>
              <a:rPr lang="zh-CN" altLang="zh-CN" sz="2800" b="1" dirty="0"/>
              <a:t>．位于该点的点电荷单位电荷所受的电力。</a:t>
            </a:r>
          </a:p>
          <a:p>
            <a:r>
              <a:rPr lang="en-US" altLang="zh-CN" sz="2800" b="1" dirty="0"/>
              <a:t>D</a:t>
            </a:r>
            <a:r>
              <a:rPr lang="zh-CN" altLang="zh-CN" sz="2800" b="1" dirty="0"/>
              <a:t>．位于该点的任意带电物体所受的电力。</a:t>
            </a:r>
          </a:p>
        </p:txBody>
      </p:sp>
    </p:spTree>
    <p:extLst>
      <p:ext uri="{BB962C8B-B14F-4D97-AF65-F5344CB8AC3E}">
        <p14:creationId xmlns:p14="http://schemas.microsoft.com/office/powerpoint/2010/main" val="3487561094"/>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r>
              <a:rPr lang="zh-CN" altLang="zh-CN" b="1" dirty="0">
                <a:solidFill>
                  <a:srgbClr val="0000CC"/>
                </a:solidFill>
              </a:rPr>
              <a:t>空间某点的电场反映了（</a:t>
            </a:r>
            <a:r>
              <a:rPr lang="en-US" altLang="zh-CN" b="1" dirty="0">
                <a:solidFill>
                  <a:srgbClr val="0000CC"/>
                </a:solidFill>
              </a:rPr>
              <a:t>  </a:t>
            </a:r>
            <a:r>
              <a:rPr lang="zh-CN" altLang="zh-CN" b="1" dirty="0">
                <a:solidFill>
                  <a:srgbClr val="0000CC"/>
                </a:solidFill>
              </a:rPr>
              <a:t>）</a:t>
            </a:r>
            <a:endParaRPr lang="zh-CN" altLang="zh-CN" b="1" dirty="0">
              <a:solidFill>
                <a:srgbClr val="0000CC"/>
              </a:solidFill>
            </a:endParaRPr>
          </a:p>
        </p:txBody>
      </p:sp>
      <p:sp>
        <p:nvSpPr>
          <p:cNvPr id="4" name="文本框 3"/>
          <p:cNvSpPr txBox="1"/>
          <p:nvPr>
            <p:custDataLst>
              <p:tags r:id="rId3"/>
            </p:custDataLst>
          </p:nvPr>
        </p:nvSpPr>
        <p:spPr>
          <a:xfrm>
            <a:off x="1828800" y="278606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r>
              <a:rPr lang="zh-CN" altLang="zh-CN" b="1" dirty="0"/>
              <a:t>位于该点的点电荷单位质量所受的电力。</a:t>
            </a:r>
            <a:endParaRPr lang="zh-CN" altLang="zh-CN" b="1" dirty="0"/>
          </a:p>
        </p:txBody>
      </p:sp>
      <p:sp>
        <p:nvSpPr>
          <p:cNvPr id="5" name="文本框 4"/>
          <p:cNvSpPr txBox="1"/>
          <p:nvPr>
            <p:custDataLst>
              <p:tags r:id="rId4"/>
            </p:custDataLst>
          </p:nvPr>
        </p:nvSpPr>
        <p:spPr>
          <a:xfrm>
            <a:off x="1828800" y="364331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r>
              <a:rPr lang="zh-CN" altLang="zh-CN" b="1" dirty="0"/>
              <a:t>位于该点的物体</a:t>
            </a:r>
            <a:r>
              <a:rPr lang="zh-CN" altLang="en-US" b="1" dirty="0"/>
              <a:t>的荷质比</a:t>
            </a:r>
            <a:r>
              <a:rPr lang="zh-CN" altLang="zh-CN" b="1" dirty="0"/>
              <a:t>。</a:t>
            </a:r>
            <a:endParaRPr lang="zh-CN" altLang="zh-CN" b="1" dirty="0"/>
          </a:p>
        </p:txBody>
      </p:sp>
      <p:sp>
        <p:nvSpPr>
          <p:cNvPr id="6" name="文本框 5"/>
          <p:cNvSpPr txBox="1"/>
          <p:nvPr>
            <p:custDataLst>
              <p:tags r:id="rId5"/>
            </p:custDataLst>
          </p:nvPr>
        </p:nvSpPr>
        <p:spPr>
          <a:xfrm>
            <a:off x="1828800" y="450056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r>
              <a:rPr lang="zh-CN" altLang="zh-CN" b="1" dirty="0"/>
              <a:t>位于该点的点电荷单位电荷所受的电力。</a:t>
            </a:r>
            <a:endParaRPr lang="zh-CN" altLang="zh-CN" b="1" dirty="0"/>
          </a:p>
        </p:txBody>
      </p:sp>
      <p:sp>
        <p:nvSpPr>
          <p:cNvPr id="7" name="文本框 6"/>
          <p:cNvSpPr txBox="1"/>
          <p:nvPr>
            <p:custDataLst>
              <p:tags r:id="rId6"/>
            </p:custDataLst>
          </p:nvPr>
        </p:nvSpPr>
        <p:spPr>
          <a:xfrm>
            <a:off x="1828800" y="535781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r>
              <a:rPr lang="zh-CN" altLang="zh-CN" b="1" dirty="0"/>
              <a:t>位于该点的任意带电物体所受的电力。</a:t>
            </a:r>
            <a:endParaRPr lang="zh-CN" altLang="zh-CN" b="1" dirty="0"/>
          </a:p>
        </p:txBody>
      </p:sp>
      <p:sp>
        <p:nvSpPr>
          <p:cNvPr id="8" name="椭圆 7"/>
          <p:cNvSpPr>
            <a:spLocks noChangeAspect="1"/>
          </p:cNvSpPr>
          <p:nvPr>
            <p:custDataLst>
              <p:tags r:id="rId7"/>
            </p:custDataLst>
          </p:nvPr>
        </p:nvSpPr>
        <p:spPr>
          <a:xfrm>
            <a:off x="1114425" y="285035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9" name="椭圆 8"/>
          <p:cNvSpPr>
            <a:spLocks noChangeAspect="1"/>
          </p:cNvSpPr>
          <p:nvPr>
            <p:custDataLst>
              <p:tags r:id="rId8"/>
            </p:custDataLst>
          </p:nvPr>
        </p:nvSpPr>
        <p:spPr>
          <a:xfrm>
            <a:off x="1114425" y="370760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0" name="椭圆 9"/>
          <p:cNvSpPr>
            <a:spLocks noChangeAspect="1"/>
          </p:cNvSpPr>
          <p:nvPr>
            <p:custDataLst>
              <p:tags r:id="rId9"/>
            </p:custDataLst>
          </p:nvPr>
        </p:nvSpPr>
        <p:spPr>
          <a:xfrm>
            <a:off x="1114425" y="4564856"/>
            <a:ext cx="514350" cy="514350"/>
          </a:xfrm>
          <a:prstGeom prst="ellipse">
            <a:avLst/>
          </a:prstGeom>
          <a:solidFill>
            <a:srgbClr val="00FF00"/>
          </a:solidFill>
          <a:ln w="254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1" name="椭圆 10"/>
          <p:cNvSpPr>
            <a:spLocks noChangeAspect="1"/>
          </p:cNvSpPr>
          <p:nvPr>
            <p:custDataLst>
              <p:tags r:id="rId10"/>
            </p:custDataLst>
          </p:nvPr>
        </p:nvSpPr>
        <p:spPr>
          <a:xfrm>
            <a:off x="1114425" y="542210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2" name="圆角矩形 11"/>
          <p:cNvSpPr/>
          <p:nvPr>
            <p:custDataLst>
              <p:tags r:id="rId11"/>
            </p:custDataLst>
          </p:nvPr>
        </p:nvSpPr>
        <p:spPr>
          <a:xfrm>
            <a:off x="6172200" y="6215063"/>
            <a:ext cx="1543050" cy="411480"/>
          </a:xfrm>
          <a:prstGeom prst="roundRect">
            <a:avLst/>
          </a:prstGeom>
          <a:solidFill>
            <a:srgbClr val="808080"/>
          </a:solidFill>
          <a:ln w="381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grpSp>
        <p:nvGrpSpPr>
          <p:cNvPr id="17" name="组合 16"/>
          <p:cNvGrpSpPr/>
          <p:nvPr>
            <p:custDataLst>
              <p:tags r:id="rId12"/>
            </p:custDataLst>
          </p:nvPr>
        </p:nvGrpSpPr>
        <p:grpSpPr>
          <a:xfrm>
            <a:off x="0" y="0"/>
            <a:ext cx="9144000" cy="635000"/>
            <a:chOff x="0" y="0"/>
            <a:chExt cx="9144000" cy="635000"/>
          </a:xfrm>
        </p:grpSpPr>
        <p:sp>
          <p:nvSpPr>
            <p:cNvPr id="13" name="TitleBackground"/>
            <p:cNvSpPr/>
            <p:nvPr>
              <p:custDataLst>
                <p:tags r:id="rId14"/>
              </p:custDataLst>
            </p:nvPr>
          </p:nvSpPr>
          <p:spPr>
            <a:xfrm>
              <a:off x="0" y="0"/>
              <a:ext cx="9144000" cy="635000"/>
            </a:xfrm>
            <a:prstGeom prst="rect">
              <a:avLst/>
            </a:prstGeom>
            <a:solidFill>
              <a:srgbClr val="F6F7F8"/>
            </a:solidFill>
            <a:ln w="25400" cap="flat">
              <a:noFill/>
              <a:prstDash val="solid"/>
              <a:bevel/>
            </a:ln>
            <a:effectLst/>
            <a:extLst>
              <a:ext uri="{91240B29-F687-4F45-9708-019B960494DF}">
                <a14:hiddenLine xmlns:a14="http://schemas.microsoft.com/office/drawing/2010/main" w="25400" cap="flat">
                  <a:solidFill>
                    <a:srgbClr val="CC9900"/>
                  </a:solidFill>
                  <a:prstDash val="solid"/>
                  <a:bevel/>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4" name="ColorBlock"/>
            <p:cNvSpPr/>
            <p:nvPr>
              <p:custDataLst>
                <p:tags r:id="rId15"/>
              </p:custDataLst>
            </p:nvPr>
          </p:nvSpPr>
          <p:spPr>
            <a:xfrm>
              <a:off x="0" y="0"/>
              <a:ext cx="190500" cy="635000"/>
            </a:xfrm>
            <a:prstGeom prst="rect">
              <a:avLst/>
            </a:prstGeom>
            <a:solidFill>
              <a:srgbClr val="639EF4"/>
            </a:solidFill>
            <a:ln w="25400" cap="flat">
              <a:noFill/>
              <a:prstDash val="solid"/>
              <a:bevel/>
            </a:ln>
            <a:effectLst/>
            <a:extLst>
              <a:ext uri="{91240B29-F687-4F45-9708-019B960494DF}">
                <a14:hiddenLine xmlns:a14="http://schemas.microsoft.com/office/drawing/2010/main" w="25400" cap="flat">
                  <a:solidFill>
                    <a:srgbClr val="CC9900"/>
                  </a:solidFill>
                  <a:prstDash val="solid"/>
                  <a:bevel/>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ctr" anchorCtr="0">
              <a:noAutofit/>
            </a:bodyPr>
            <a:lstStyle/>
            <a:p>
              <a:pPr algn="l" defTabSz="1028700"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16" name="TipText"/>
            <p:cNvSpPr txBox="1"/>
            <p:nvPr>
              <p:custDataLst>
                <p:tags r:id="rId17"/>
              </p:custDataLst>
            </p:nvPr>
          </p:nvSpPr>
          <p:spPr>
            <a:xfrm>
              <a:off x="1434463"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ctr" anchorCtr="0">
              <a:noAutofit/>
            </a:bodyPr>
            <a:lstStyle/>
            <a:p>
              <a:pPr algn="l" defTabSz="1028700"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75114823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39552" y="1378346"/>
            <a:ext cx="8236128" cy="398262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sym typeface="Times New Roman"/>
              </a:rPr>
              <a:t>根据场强定义式            ，下列说法正确的是：</a:t>
            </a:r>
            <a:endParaRPr kumimoji="0" lang="en-US" altLang="zh-CN" sz="2400" b="1" i="0" u="none" strike="noStrike" cap="none" spc="0" normalizeH="0" baseline="0" dirty="0" smtClean="0">
              <a:ln>
                <a:noFill/>
              </a:ln>
              <a:solidFill>
                <a:srgbClr val="000000"/>
              </a:solidFill>
              <a:effectLst/>
              <a:uFillTx/>
              <a:sym typeface="Times New Roman"/>
            </a:endParaRPr>
          </a:p>
          <a:p>
            <a:pPr marL="0" marR="0" indent="0" algn="l" defTabSz="1028700" rtl="0" fontAlgn="auto" latinLnBrk="1" hangingPunct="0">
              <a:lnSpc>
                <a:spcPct val="120000"/>
              </a:lnSpc>
              <a:spcBef>
                <a:spcPts val="1600"/>
              </a:spcBef>
              <a:spcAft>
                <a:spcPts val="0"/>
              </a:spcAft>
              <a:buClrTx/>
              <a:buSzTx/>
              <a:buFontTx/>
              <a:buNone/>
              <a:tabLst/>
            </a:pPr>
            <a:r>
              <a:rPr kumimoji="0" lang="en-US" altLang="zh-CN" sz="2400" b="1" i="0" u="none" strike="noStrike" cap="none" spc="0" normalizeH="0" baseline="0" dirty="0" smtClean="0">
                <a:ln>
                  <a:noFill/>
                </a:ln>
                <a:solidFill>
                  <a:srgbClr val="000000"/>
                </a:solidFill>
                <a:effectLst/>
                <a:uFillTx/>
                <a:sym typeface="Times New Roman"/>
              </a:rPr>
              <a:t>A.</a:t>
            </a:r>
            <a:r>
              <a:rPr kumimoji="0" lang="zh-CN" altLang="en-US" sz="2400" b="1" i="0" u="none" strike="noStrike" cap="none" spc="0" normalizeH="0" baseline="0" dirty="0" smtClean="0">
                <a:ln>
                  <a:noFill/>
                </a:ln>
                <a:solidFill>
                  <a:srgbClr val="000000"/>
                </a:solidFill>
                <a:effectLst/>
                <a:uFillTx/>
                <a:sym typeface="Times New Roman"/>
              </a:rPr>
              <a:t>在定义式中，  必须是正电荷；</a:t>
            </a:r>
            <a:endParaRPr kumimoji="0" lang="en-US" altLang="zh-CN" sz="2400" b="1" i="0" u="none" strike="noStrike" cap="none" spc="0" normalizeH="0" baseline="0" dirty="0" smtClean="0">
              <a:ln>
                <a:noFill/>
              </a:ln>
              <a:solidFill>
                <a:srgbClr val="000000"/>
              </a:solidFill>
              <a:effectLst/>
              <a:uFillTx/>
              <a:sym typeface="Times New Roman"/>
            </a:endParaRPr>
          </a:p>
          <a:p>
            <a:pPr algn="l" defTabSz="1028700" rtl="0" latinLnBrk="1" hangingPunct="0"/>
            <a:r>
              <a:rPr lang="en-US" altLang="zh-CN" b="1" dirty="0" smtClean="0">
                <a:solidFill>
                  <a:srgbClr val="000000"/>
                </a:solidFill>
              </a:rPr>
              <a:t>B.      </a:t>
            </a:r>
            <a:r>
              <a:rPr lang="zh-CN" altLang="en-US" b="1" dirty="0" smtClean="0">
                <a:solidFill>
                  <a:srgbClr val="000000"/>
                </a:solidFill>
              </a:rPr>
              <a:t>的</a:t>
            </a:r>
            <a:r>
              <a:rPr lang="zh-CN" altLang="en-US" b="1" dirty="0">
                <a:solidFill>
                  <a:srgbClr val="000000"/>
                </a:solidFill>
              </a:rPr>
              <a:t>方向一定与     的方向相同。</a:t>
            </a:r>
            <a:endParaRPr lang="en-US" altLang="zh-CN" b="1" dirty="0">
              <a:solidFill>
                <a:srgbClr val="000000"/>
              </a:solidFill>
            </a:endParaRPr>
          </a:p>
          <a:p>
            <a:pPr marL="0" marR="0" indent="0" algn="l" defTabSz="1028700" rtl="0" fontAlgn="auto" latinLnBrk="1" hangingPunct="0">
              <a:lnSpc>
                <a:spcPct val="120000"/>
              </a:lnSpc>
              <a:spcBef>
                <a:spcPts val="1600"/>
              </a:spcBef>
              <a:spcAft>
                <a:spcPts val="0"/>
              </a:spcAft>
              <a:buClrTx/>
              <a:buSzTx/>
              <a:buFontTx/>
              <a:buNone/>
              <a:tabLst/>
            </a:pPr>
            <a:r>
              <a:rPr lang="en-US" altLang="zh-CN" b="1" dirty="0" smtClean="0">
                <a:solidFill>
                  <a:srgbClr val="000000"/>
                </a:solidFill>
              </a:rPr>
              <a:t>C.</a:t>
            </a:r>
            <a:r>
              <a:rPr lang="zh-CN" altLang="en-US" b="1" dirty="0" smtClean="0">
                <a:solidFill>
                  <a:srgbClr val="000000"/>
                </a:solidFill>
              </a:rPr>
              <a:t>从定义中明显看出，场强反比与     ；</a:t>
            </a:r>
            <a:endParaRPr lang="en-US" altLang="zh-CN" b="1" dirty="0" smtClean="0">
              <a:solidFill>
                <a:srgbClr val="000000"/>
              </a:solidFill>
            </a:endParaRPr>
          </a:p>
          <a:p>
            <a:pPr algn="l" defTabSz="1028700" rtl="0" latinLnBrk="1" hangingPunct="0"/>
            <a:r>
              <a:rPr lang="en-US" altLang="zh-CN" b="1" dirty="0" smtClean="0">
                <a:solidFill>
                  <a:srgbClr val="000000"/>
                </a:solidFill>
              </a:rPr>
              <a:t>D.</a:t>
            </a:r>
            <a:r>
              <a:rPr lang="zh-CN" altLang="en-US" b="1" dirty="0">
                <a:solidFill>
                  <a:srgbClr val="000000"/>
                </a:solidFill>
              </a:rPr>
              <a:t>电场中某点处的电场强度就是该处单位正电荷所受的力；</a:t>
            </a:r>
            <a:endParaRPr lang="en-US" altLang="zh-CN" b="1" dirty="0">
              <a:solidFill>
                <a:srgbClr val="000000"/>
              </a:solidFill>
            </a:endParaRPr>
          </a:p>
          <a:p>
            <a:pPr marL="457200" marR="0" indent="-457200" algn="l" defTabSz="1028700" rtl="0" fontAlgn="auto" latinLnBrk="1" hangingPunct="0">
              <a:lnSpc>
                <a:spcPct val="120000"/>
              </a:lnSpc>
              <a:spcBef>
                <a:spcPts val="1600"/>
              </a:spcBef>
              <a:spcAft>
                <a:spcPts val="0"/>
              </a:spcAft>
              <a:buClrTx/>
              <a:buSzTx/>
              <a:buFontTx/>
              <a:buAutoNum type="alphaUcPeriod" startAt="4"/>
              <a:tabLst/>
            </a:pPr>
            <a:endParaRPr kumimoji="0" lang="zh-CN" altLang="en-US" sz="2400" b="1" i="0" u="none" strike="noStrike" cap="none" spc="0" normalizeH="0" baseline="0" dirty="0">
              <a:ln>
                <a:noFill/>
              </a:ln>
              <a:solidFill>
                <a:srgbClr val="000000"/>
              </a:solidFill>
              <a:effectLst/>
              <a:uFillTx/>
              <a:sym typeface="Times New Roman"/>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7879300"/>
              </p:ext>
            </p:extLst>
          </p:nvPr>
        </p:nvGraphicFramePr>
        <p:xfrm>
          <a:off x="2843808" y="1378346"/>
          <a:ext cx="864096" cy="840742"/>
        </p:xfrm>
        <a:graphic>
          <a:graphicData uri="http://schemas.openxmlformats.org/presentationml/2006/ole">
            <mc:AlternateContent xmlns:mc="http://schemas.openxmlformats.org/markup-compatibility/2006">
              <mc:Choice xmlns:v="urn:schemas-microsoft-com:vml" Requires="v">
                <p:oleObj spid="_x0000_s7804" name="Equation" r:id="rId4" imgW="469800" imgH="457200" progId="Equation.DSMT4">
                  <p:embed/>
                </p:oleObj>
              </mc:Choice>
              <mc:Fallback>
                <p:oleObj name="Equation" r:id="rId4" imgW="469800" imgH="457200" progId="Equation.DSMT4">
                  <p:embed/>
                  <p:pic>
                    <p:nvPicPr>
                      <p:cNvPr id="0" name=""/>
                      <p:cNvPicPr/>
                      <p:nvPr/>
                    </p:nvPicPr>
                    <p:blipFill>
                      <a:blip r:embed="rId5"/>
                      <a:stretch>
                        <a:fillRect/>
                      </a:stretch>
                    </p:blipFill>
                    <p:spPr>
                      <a:xfrm>
                        <a:off x="2843808" y="1378346"/>
                        <a:ext cx="864096" cy="84074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859273617"/>
              </p:ext>
            </p:extLst>
          </p:nvPr>
        </p:nvGraphicFramePr>
        <p:xfrm>
          <a:off x="2627784" y="2157984"/>
          <a:ext cx="341892" cy="473389"/>
        </p:xfrm>
        <a:graphic>
          <a:graphicData uri="http://schemas.openxmlformats.org/presentationml/2006/ole">
            <mc:AlternateContent xmlns:mc="http://schemas.openxmlformats.org/markup-compatibility/2006">
              <mc:Choice xmlns:v="urn:schemas-microsoft-com:vml" Requires="v">
                <p:oleObj spid="_x0000_s7805" name="Equation" r:id="rId6" imgW="164880" imgH="228600" progId="Equation.DSMT4">
                  <p:embed/>
                </p:oleObj>
              </mc:Choice>
              <mc:Fallback>
                <p:oleObj name="Equation" r:id="rId6" imgW="164880" imgH="228600" progId="Equation.DSMT4">
                  <p:embed/>
                  <p:pic>
                    <p:nvPicPr>
                      <p:cNvPr id="0" name=""/>
                      <p:cNvPicPr/>
                      <p:nvPr/>
                    </p:nvPicPr>
                    <p:blipFill>
                      <a:blip r:embed="rId7"/>
                      <a:stretch>
                        <a:fillRect/>
                      </a:stretch>
                    </p:blipFill>
                    <p:spPr>
                      <a:xfrm>
                        <a:off x="2627784" y="2157984"/>
                        <a:ext cx="341892" cy="473389"/>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2285311"/>
              </p:ext>
            </p:extLst>
          </p:nvPr>
        </p:nvGraphicFramePr>
        <p:xfrm>
          <a:off x="5220072" y="3501008"/>
          <a:ext cx="360362" cy="498475"/>
        </p:xfrm>
        <a:graphic>
          <a:graphicData uri="http://schemas.openxmlformats.org/presentationml/2006/ole">
            <mc:AlternateContent xmlns:mc="http://schemas.openxmlformats.org/markup-compatibility/2006">
              <mc:Choice xmlns:v="urn:schemas-microsoft-com:vml" Requires="v">
                <p:oleObj spid="_x0000_s7806" name="Equation" r:id="rId8" imgW="164880" imgH="228600" progId="Equation.DSMT4">
                  <p:embed/>
                </p:oleObj>
              </mc:Choice>
              <mc:Fallback>
                <p:oleObj name="Equation" r:id="rId8" imgW="164880" imgH="228600" progId="Equation.DSMT4">
                  <p:embed/>
                  <p:pic>
                    <p:nvPicPr>
                      <p:cNvPr id="0"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20072" y="3501008"/>
                        <a:ext cx="3603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232397818"/>
              </p:ext>
            </p:extLst>
          </p:nvPr>
        </p:nvGraphicFramePr>
        <p:xfrm>
          <a:off x="971600" y="2852936"/>
          <a:ext cx="288032" cy="360040"/>
        </p:xfrm>
        <a:graphic>
          <a:graphicData uri="http://schemas.openxmlformats.org/presentationml/2006/ole">
            <mc:AlternateContent xmlns:mc="http://schemas.openxmlformats.org/markup-compatibility/2006">
              <mc:Choice xmlns:v="urn:schemas-microsoft-com:vml" Requires="v">
                <p:oleObj spid="_x0000_s7807" name="Equation" r:id="rId10" imgW="152280" imgH="190440" progId="Equation.DSMT4">
                  <p:embed/>
                </p:oleObj>
              </mc:Choice>
              <mc:Fallback>
                <p:oleObj name="Equation" r:id="rId10" imgW="152280" imgH="190440" progId="Equation.DSMT4">
                  <p:embed/>
                  <p:pic>
                    <p:nvPicPr>
                      <p:cNvPr id="0" name=""/>
                      <p:cNvPicPr/>
                      <p:nvPr/>
                    </p:nvPicPr>
                    <p:blipFill>
                      <a:blip r:embed="rId11"/>
                      <a:stretch>
                        <a:fillRect/>
                      </a:stretch>
                    </p:blipFill>
                    <p:spPr>
                      <a:xfrm>
                        <a:off x="971600" y="2852936"/>
                        <a:ext cx="288032" cy="36004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2078437"/>
              </p:ext>
            </p:extLst>
          </p:nvPr>
        </p:nvGraphicFramePr>
        <p:xfrm>
          <a:off x="3275856" y="2852936"/>
          <a:ext cx="311150" cy="360362"/>
        </p:xfrm>
        <a:graphic>
          <a:graphicData uri="http://schemas.openxmlformats.org/presentationml/2006/ole">
            <mc:AlternateContent xmlns:mc="http://schemas.openxmlformats.org/markup-compatibility/2006">
              <mc:Choice xmlns:v="urn:schemas-microsoft-com:vml" Requires="v">
                <p:oleObj spid="_x0000_s7808" name="Equation" r:id="rId12" imgW="164880" imgH="190440" progId="Equation.DSMT4">
                  <p:embed/>
                </p:oleObj>
              </mc:Choice>
              <mc:Fallback>
                <p:oleObj name="Equation" r:id="rId12" imgW="164880" imgH="190440" progId="Equation.DSMT4">
                  <p:embed/>
                  <p:pic>
                    <p:nvPicPr>
                      <p:cNvPr id="0" name="对象 10"/>
                      <p:cNvPicPr>
                        <a:picLocks noChangeAspect="1" noChangeArrowheads="1"/>
                      </p:cNvPicPr>
                      <p:nvPr/>
                    </p:nvPicPr>
                    <p:blipFill>
                      <a:blip r:embed="rId13"/>
                      <a:srcRect/>
                      <a:stretch>
                        <a:fillRect/>
                      </a:stretch>
                    </p:blipFill>
                    <p:spPr bwMode="auto">
                      <a:xfrm>
                        <a:off x="3275856" y="2852936"/>
                        <a:ext cx="3111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827584" y="332656"/>
            <a:ext cx="4896544" cy="81458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zh-CN" sz="2800" b="1" dirty="0">
                <a:solidFill>
                  <a:srgbClr val="0000CC"/>
                </a:solidFill>
              </a:rPr>
              <a:t>单项选择题</a:t>
            </a:r>
          </a:p>
        </p:txBody>
      </p:sp>
    </p:spTree>
    <p:extLst>
      <p:ext uri="{BB962C8B-B14F-4D97-AF65-F5344CB8AC3E}">
        <p14:creationId xmlns:p14="http://schemas.microsoft.com/office/powerpoint/2010/main" val="2520639527"/>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3"/>
            </p:custDataLst>
          </p:nvPr>
        </p:nvSpPr>
        <p:spPr>
          <a:xfrm>
            <a:off x="914400" y="635000"/>
            <a:ext cx="7315200" cy="214312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zh-CN" altLang="en-US" sz="2800" b="1" dirty="0">
                <a:solidFill>
                  <a:srgbClr val="000000"/>
                </a:solidFill>
              </a:rPr>
              <a:t>根据场强定义式            ，下列说法正确的是：</a:t>
            </a:r>
            <a:endParaRPr lang="en-US" altLang="zh-CN" sz="2800" b="1" dirty="0">
              <a:solidFill>
                <a:srgbClr val="000000"/>
              </a:solidFill>
            </a:endParaRPr>
          </a:p>
        </p:txBody>
      </p:sp>
      <p:sp>
        <p:nvSpPr>
          <p:cNvPr id="4" name="文本框 3"/>
          <p:cNvSpPr txBox="1"/>
          <p:nvPr>
            <p:custDataLst>
              <p:tags r:id="rId4"/>
            </p:custDataLst>
          </p:nvPr>
        </p:nvSpPr>
        <p:spPr>
          <a:xfrm>
            <a:off x="1828800" y="278606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zh-CN" altLang="en-US" sz="2800" b="1" dirty="0">
                <a:solidFill>
                  <a:srgbClr val="000000"/>
                </a:solidFill>
              </a:rPr>
              <a:t>在定义式中，  </a:t>
            </a:r>
            <a:r>
              <a:rPr lang="en-US" altLang="zh-CN" sz="2800" b="1" i="1" dirty="0" smtClean="0">
                <a:solidFill>
                  <a:srgbClr val="000000"/>
                </a:solidFill>
              </a:rPr>
              <a:t>q</a:t>
            </a:r>
            <a:r>
              <a:rPr lang="en-US" altLang="zh-CN" sz="2800" b="1" baseline="-25000" dirty="0" smtClean="0">
                <a:solidFill>
                  <a:srgbClr val="000000"/>
                </a:solidFill>
              </a:rPr>
              <a:t>0</a:t>
            </a:r>
            <a:r>
              <a:rPr lang="zh-CN" altLang="en-US" sz="2800" b="1" dirty="0" smtClean="0">
                <a:solidFill>
                  <a:srgbClr val="000000"/>
                </a:solidFill>
              </a:rPr>
              <a:t>必须</a:t>
            </a:r>
            <a:r>
              <a:rPr lang="zh-CN" altLang="en-US" sz="2800" b="1" dirty="0">
                <a:solidFill>
                  <a:srgbClr val="000000"/>
                </a:solidFill>
              </a:rPr>
              <a:t>是正电荷；</a:t>
            </a:r>
            <a:endParaRPr lang="en-US" altLang="zh-CN" sz="2800" b="1" dirty="0">
              <a:solidFill>
                <a:srgbClr val="000000"/>
              </a:solidFill>
            </a:endParaRPr>
          </a:p>
        </p:txBody>
      </p:sp>
      <p:sp>
        <p:nvSpPr>
          <p:cNvPr id="5" name="文本框 4"/>
          <p:cNvSpPr txBox="1"/>
          <p:nvPr>
            <p:custDataLst>
              <p:tags r:id="rId5"/>
            </p:custDataLst>
          </p:nvPr>
        </p:nvSpPr>
        <p:spPr>
          <a:xfrm>
            <a:off x="1828800" y="364331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en-US" altLang="zh-CN" sz="2800" b="1" i="1" dirty="0" smtClean="0">
                <a:solidFill>
                  <a:srgbClr val="000000"/>
                </a:solidFill>
              </a:rPr>
              <a:t>E</a:t>
            </a:r>
            <a:r>
              <a:rPr lang="zh-CN" altLang="en-US" sz="2800" b="1" dirty="0" smtClean="0">
                <a:solidFill>
                  <a:srgbClr val="000000"/>
                </a:solidFill>
              </a:rPr>
              <a:t>的</a:t>
            </a:r>
            <a:r>
              <a:rPr lang="zh-CN" altLang="en-US" sz="2800" b="1" dirty="0">
                <a:solidFill>
                  <a:srgbClr val="000000"/>
                </a:solidFill>
              </a:rPr>
              <a:t>方向一定</a:t>
            </a:r>
            <a:r>
              <a:rPr lang="zh-CN" altLang="en-US" sz="2800" b="1" dirty="0" smtClean="0">
                <a:solidFill>
                  <a:srgbClr val="000000"/>
                </a:solidFill>
              </a:rPr>
              <a:t>与</a:t>
            </a:r>
            <a:r>
              <a:rPr lang="en-US" altLang="zh-CN" sz="2800" b="1" i="1" dirty="0" smtClean="0">
                <a:solidFill>
                  <a:srgbClr val="000000"/>
                </a:solidFill>
              </a:rPr>
              <a:t>F</a:t>
            </a:r>
            <a:r>
              <a:rPr lang="zh-CN" altLang="en-US" sz="2800" b="1" dirty="0" smtClean="0">
                <a:solidFill>
                  <a:srgbClr val="000000"/>
                </a:solidFill>
              </a:rPr>
              <a:t>的</a:t>
            </a:r>
            <a:r>
              <a:rPr lang="zh-CN" altLang="en-US" sz="2800" b="1" dirty="0">
                <a:solidFill>
                  <a:srgbClr val="000000"/>
                </a:solidFill>
              </a:rPr>
              <a:t>方向相同。</a:t>
            </a:r>
            <a:endParaRPr lang="en-US" altLang="zh-CN" sz="2800" b="1" dirty="0">
              <a:solidFill>
                <a:srgbClr val="000000"/>
              </a:solidFill>
            </a:endParaRPr>
          </a:p>
        </p:txBody>
      </p:sp>
      <p:sp>
        <p:nvSpPr>
          <p:cNvPr id="6" name="文本框 5"/>
          <p:cNvSpPr txBox="1"/>
          <p:nvPr>
            <p:custDataLst>
              <p:tags r:id="rId6"/>
            </p:custDataLst>
          </p:nvPr>
        </p:nvSpPr>
        <p:spPr>
          <a:xfrm>
            <a:off x="1828800" y="4500563"/>
            <a:ext cx="640080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zh-CN" altLang="en-US" sz="2800" b="1" dirty="0">
                <a:solidFill>
                  <a:srgbClr val="000000"/>
                </a:solidFill>
              </a:rPr>
              <a:t>从定义中明显看出，场强反比与 </a:t>
            </a:r>
            <a:r>
              <a:rPr lang="en-US" altLang="zh-CN" sz="2800" b="1" i="1" dirty="0">
                <a:solidFill>
                  <a:srgbClr val="000000"/>
                </a:solidFill>
              </a:rPr>
              <a:t>q</a:t>
            </a:r>
            <a:r>
              <a:rPr lang="en-US" altLang="zh-CN" sz="2800" b="1" baseline="-25000" dirty="0">
                <a:solidFill>
                  <a:srgbClr val="000000"/>
                </a:solidFill>
              </a:rPr>
              <a:t>0</a:t>
            </a:r>
            <a:r>
              <a:rPr lang="zh-CN" altLang="en-US" sz="2800" b="1" dirty="0" smtClean="0">
                <a:solidFill>
                  <a:srgbClr val="000000"/>
                </a:solidFill>
              </a:rPr>
              <a:t> ；</a:t>
            </a:r>
            <a:endParaRPr lang="en-US" altLang="zh-CN" sz="2800" b="1" dirty="0">
              <a:solidFill>
                <a:srgbClr val="000000"/>
              </a:solidFill>
            </a:endParaRPr>
          </a:p>
        </p:txBody>
      </p:sp>
      <p:sp>
        <p:nvSpPr>
          <p:cNvPr id="7" name="文本框 6"/>
          <p:cNvSpPr txBox="1"/>
          <p:nvPr>
            <p:custDataLst>
              <p:tags r:id="rId7"/>
            </p:custDataLst>
          </p:nvPr>
        </p:nvSpPr>
        <p:spPr>
          <a:xfrm>
            <a:off x="1828800" y="5357813"/>
            <a:ext cx="7063680" cy="64293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0">
            <a:noAutofit/>
          </a:bodyPr>
          <a:lstStyle/>
          <a:p>
            <a:pPr algn="l" defTabSz="1028700" rtl="0" latinLnBrk="1" hangingPunct="0"/>
            <a:r>
              <a:rPr lang="zh-CN" altLang="en-US" sz="2800" b="1" dirty="0">
                <a:solidFill>
                  <a:srgbClr val="000000"/>
                </a:solidFill>
              </a:rPr>
              <a:t>电场中某点处的电场强度就是该处单位正电荷所受的力；</a:t>
            </a:r>
            <a:endParaRPr lang="en-US" altLang="zh-CN" sz="2800" b="1" dirty="0">
              <a:solidFill>
                <a:srgbClr val="000000"/>
              </a:solidFill>
            </a:endParaRPr>
          </a:p>
        </p:txBody>
      </p:sp>
      <p:sp>
        <p:nvSpPr>
          <p:cNvPr id="8" name="椭圆 7"/>
          <p:cNvSpPr>
            <a:spLocks noChangeAspect="1"/>
          </p:cNvSpPr>
          <p:nvPr>
            <p:custDataLst>
              <p:tags r:id="rId8"/>
            </p:custDataLst>
          </p:nvPr>
        </p:nvSpPr>
        <p:spPr>
          <a:xfrm>
            <a:off x="1114425" y="285035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9" name="椭圆 8"/>
          <p:cNvSpPr>
            <a:spLocks noChangeAspect="1"/>
          </p:cNvSpPr>
          <p:nvPr>
            <p:custDataLst>
              <p:tags r:id="rId9"/>
            </p:custDataLst>
          </p:nvPr>
        </p:nvSpPr>
        <p:spPr>
          <a:xfrm>
            <a:off x="1114425" y="370760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0" name="椭圆 9"/>
          <p:cNvSpPr>
            <a:spLocks noChangeAspect="1"/>
          </p:cNvSpPr>
          <p:nvPr>
            <p:custDataLst>
              <p:tags r:id="rId10"/>
            </p:custDataLst>
          </p:nvPr>
        </p:nvSpPr>
        <p:spPr>
          <a:xfrm>
            <a:off x="1114425" y="4564856"/>
            <a:ext cx="514350" cy="514350"/>
          </a:xfrm>
          <a:prstGeom prst="ellipse">
            <a:avLst/>
          </a:prstGeom>
          <a:solidFill>
            <a:srgbClr val="808080"/>
          </a:solidFill>
          <a:ln w="127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1" name="椭圆 10"/>
          <p:cNvSpPr>
            <a:spLocks noChangeAspect="1"/>
          </p:cNvSpPr>
          <p:nvPr>
            <p:custDataLst>
              <p:tags r:id="rId11"/>
            </p:custDataLst>
          </p:nvPr>
        </p:nvSpPr>
        <p:spPr>
          <a:xfrm>
            <a:off x="1114425" y="5422106"/>
            <a:ext cx="514350" cy="514350"/>
          </a:xfrm>
          <a:prstGeom prst="ellipse">
            <a:avLst/>
          </a:prstGeom>
          <a:solidFill>
            <a:srgbClr val="00FF00"/>
          </a:solidFill>
          <a:ln w="254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sp>
        <p:nvSpPr>
          <p:cNvPr id="12" name="圆角矩形 11"/>
          <p:cNvSpPr/>
          <p:nvPr>
            <p:custDataLst>
              <p:tags r:id="rId12"/>
            </p:custDataLst>
          </p:nvPr>
        </p:nvSpPr>
        <p:spPr>
          <a:xfrm>
            <a:off x="6172200" y="6215063"/>
            <a:ext cx="1543050" cy="411480"/>
          </a:xfrm>
          <a:prstGeom prst="roundRect">
            <a:avLst/>
          </a:prstGeom>
          <a:solidFill>
            <a:srgbClr val="808080"/>
          </a:solidFill>
          <a:ln w="38100" cap="flat" cmpd="sng">
            <a:solidFill>
              <a:srgbClr val="00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chorCtr="1">
            <a:noAutofit/>
          </a:bodyPr>
          <a:lstStyle/>
          <a:p>
            <a:pPr marL="0" marR="0" indent="0" algn="l" defTabSz="9144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Arial"/>
              <a:sym typeface="Microsoft Yahei" panose="020B0503020204020204" pitchFamily="34" charset="-122"/>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2546802205"/>
              </p:ext>
            </p:extLst>
          </p:nvPr>
        </p:nvGraphicFramePr>
        <p:xfrm>
          <a:off x="3491880" y="1417794"/>
          <a:ext cx="864096" cy="840742"/>
        </p:xfrm>
        <a:graphic>
          <a:graphicData uri="http://schemas.openxmlformats.org/presentationml/2006/ole">
            <mc:AlternateContent xmlns:mc="http://schemas.openxmlformats.org/markup-compatibility/2006">
              <mc:Choice xmlns:v="urn:schemas-microsoft-com:vml" Requires="v">
                <p:oleObj spid="_x0000_s10247" name="Equation" r:id="rId20" imgW="469800" imgH="457200" progId="Equation.DSMT4">
                  <p:embed/>
                </p:oleObj>
              </mc:Choice>
              <mc:Fallback>
                <p:oleObj name="Equation" r:id="rId20" imgW="469800" imgH="457200" progId="Equation.DSMT4">
                  <p:embed/>
                  <p:pic>
                    <p:nvPicPr>
                      <p:cNvPr id="4" name="对象 3"/>
                      <p:cNvPicPr/>
                      <p:nvPr/>
                    </p:nvPicPr>
                    <p:blipFill>
                      <a:blip r:embed="rId21"/>
                      <a:stretch>
                        <a:fillRect/>
                      </a:stretch>
                    </p:blipFill>
                    <p:spPr>
                      <a:xfrm>
                        <a:off x="3491880" y="1417794"/>
                        <a:ext cx="864096" cy="840742"/>
                      </a:xfrm>
                      <a:prstGeom prst="rect">
                        <a:avLst/>
                      </a:prstGeom>
                    </p:spPr>
                  </p:pic>
                </p:oleObj>
              </mc:Fallback>
            </mc:AlternateContent>
          </a:graphicData>
        </a:graphic>
      </p:graphicFrame>
      <p:grpSp>
        <p:nvGrpSpPr>
          <p:cNvPr id="17" name="组合 16"/>
          <p:cNvGrpSpPr/>
          <p:nvPr>
            <p:custDataLst>
              <p:tags r:id="rId13"/>
            </p:custDataLst>
          </p:nvPr>
        </p:nvGrpSpPr>
        <p:grpSpPr>
          <a:xfrm>
            <a:off x="0" y="0"/>
            <a:ext cx="9144000" cy="635000"/>
            <a:chOff x="0" y="0"/>
            <a:chExt cx="9144000" cy="635000"/>
          </a:xfrm>
        </p:grpSpPr>
        <p:sp>
          <p:nvSpPr>
            <p:cNvPr id="13" name="TitleBackground"/>
            <p:cNvSpPr/>
            <p:nvPr>
              <p:custDataLst>
                <p:tags r:id="rId15"/>
              </p:custDataLst>
            </p:nvPr>
          </p:nvSpPr>
          <p:spPr>
            <a:xfrm>
              <a:off x="0" y="0"/>
              <a:ext cx="9144000" cy="635000"/>
            </a:xfrm>
            <a:prstGeom prst="rect">
              <a:avLst/>
            </a:prstGeom>
            <a:solidFill>
              <a:srgbClr val="F6F7F8"/>
            </a:solidFill>
            <a:ln w="25400" cap="flat">
              <a:noFill/>
              <a:prstDash val="solid"/>
              <a:bevel/>
            </a:ln>
            <a:effectLst/>
            <a:extLst>
              <a:ext uri="{91240B29-F687-4F45-9708-019B960494DF}">
                <a14:hiddenLine xmlns:a14="http://schemas.microsoft.com/office/drawing/2010/main" w="25400" cap="flat">
                  <a:solidFill>
                    <a:srgbClr val="CC9900"/>
                  </a:solidFill>
                  <a:prstDash val="solid"/>
                  <a:bevel/>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4" name="ColorBlock"/>
            <p:cNvSpPr/>
            <p:nvPr>
              <p:custDataLst>
                <p:tags r:id="rId16"/>
              </p:custDataLst>
            </p:nvPr>
          </p:nvSpPr>
          <p:spPr>
            <a:xfrm>
              <a:off x="0" y="0"/>
              <a:ext cx="190500" cy="635000"/>
            </a:xfrm>
            <a:prstGeom prst="rect">
              <a:avLst/>
            </a:prstGeom>
            <a:solidFill>
              <a:srgbClr val="639EF4"/>
            </a:solidFill>
            <a:ln w="25400" cap="flat">
              <a:noFill/>
              <a:prstDash val="solid"/>
              <a:bevel/>
            </a:ln>
            <a:effectLst/>
            <a:extLst>
              <a:ext uri="{91240B29-F687-4F45-9708-019B960494DF}">
                <a14:hiddenLine xmlns:a14="http://schemas.microsoft.com/office/drawing/2010/main" w="25400" cap="flat">
                  <a:solidFill>
                    <a:srgbClr val="CC9900"/>
                  </a:solidFill>
                  <a:prstDash val="solid"/>
                  <a:bevel/>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5" name="TypeText"/>
            <p:cNvSpPr txBox="1"/>
            <p:nvPr>
              <p:custDataLst>
                <p:tags r:id="rId17"/>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ctr" anchorCtr="0">
              <a:noAutofit/>
            </a:bodyPr>
            <a:lstStyle/>
            <a:p>
              <a:pPr algn="l" defTabSz="1028700"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sp>
          <p:nvSpPr>
            <p:cNvPr id="16" name="TipText"/>
            <p:cNvSpPr txBox="1"/>
            <p:nvPr>
              <p:custDataLst>
                <p:tags r:id="rId18"/>
              </p:custDataLst>
            </p:nvPr>
          </p:nvSpPr>
          <p:spPr>
            <a:xfrm>
              <a:off x="1434463"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ctr" anchorCtr="0">
              <a:noAutofit/>
            </a:bodyPr>
            <a:lstStyle/>
            <a:p>
              <a:pPr algn="l" defTabSz="1028700"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Times New Roman"/>
                <a:sym typeface="Microsoft Yahei" panose="020B0503020204020204" pitchFamily="34" charset="-122"/>
              </a:endParaRPr>
            </a:p>
          </p:txBody>
        </p:sp>
      </p:grpSp>
      <p:pic>
        <p:nvPicPr>
          <p:cNvPr id="2" name="图片 1"/>
          <p:cNvPicPr>
            <a:picLocks/>
          </p:cNvPicPr>
          <p:nvPr>
            <p:custDataLst>
              <p:tags r:id="rId14"/>
            </p:custDataLst>
          </p:nvPr>
        </p:nvPicPr>
        <p:blipFill>
          <a:blip r:embed="rId2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2"/>
    </p:custDataLst>
    <p:extLst>
      <p:ext uri="{BB962C8B-B14F-4D97-AF65-F5344CB8AC3E}">
        <p14:creationId xmlns:p14="http://schemas.microsoft.com/office/powerpoint/2010/main" val="172752781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p:nvPr/>
        </p:nvSpPr>
        <p:spPr>
          <a:xfrm>
            <a:off x="323851" y="188915"/>
            <a:ext cx="3671888" cy="610305"/>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lvl="0">
              <a:defRPr sz="1800"/>
            </a:pPr>
            <a:r>
              <a:rPr sz="2800" b="1" dirty="0">
                <a:solidFill>
                  <a:srgbClr val="0000FF"/>
                </a:solidFill>
              </a:rPr>
              <a:t>2.</a:t>
            </a:r>
            <a:r>
              <a:rPr lang="en-US" sz="2800" b="1" dirty="0">
                <a:solidFill>
                  <a:srgbClr val="0000FF"/>
                </a:solidFill>
              </a:rPr>
              <a:t> </a:t>
            </a:r>
            <a:r>
              <a:rPr sz="2800" dirty="0" err="1">
                <a:solidFill>
                  <a:srgbClr val="0000FF"/>
                </a:solidFill>
                <a:latin typeface="SimHei"/>
                <a:ea typeface="SimHei"/>
                <a:cs typeface="SimHei"/>
                <a:sym typeface="SimHei"/>
              </a:rPr>
              <a:t>电场强度叠加原理</a:t>
            </a:r>
            <a:endParaRPr sz="2800" dirty="0">
              <a:solidFill>
                <a:srgbClr val="0000FF"/>
              </a:solidFill>
              <a:latin typeface="SimHei"/>
              <a:ea typeface="SimHei"/>
              <a:cs typeface="SimHei"/>
              <a:sym typeface="SimHei"/>
            </a:endParaRPr>
          </a:p>
        </p:txBody>
      </p:sp>
      <p:grpSp>
        <p:nvGrpSpPr>
          <p:cNvPr id="273" name="Group 273"/>
          <p:cNvGrpSpPr/>
          <p:nvPr/>
        </p:nvGrpSpPr>
        <p:grpSpPr>
          <a:xfrm>
            <a:off x="4648200" y="120476"/>
            <a:ext cx="3956050" cy="2300412"/>
            <a:chOff x="0" y="0"/>
            <a:chExt cx="3956050" cy="2300411"/>
          </a:xfrm>
        </p:grpSpPr>
        <p:grpSp>
          <p:nvGrpSpPr>
            <p:cNvPr id="255" name="Group 255"/>
            <p:cNvGrpSpPr/>
            <p:nvPr/>
          </p:nvGrpSpPr>
          <p:grpSpPr>
            <a:xfrm>
              <a:off x="0" y="0"/>
              <a:ext cx="3956050" cy="2300288"/>
              <a:chOff x="0" y="0"/>
              <a:chExt cx="3956050" cy="2300287"/>
            </a:xfrm>
          </p:grpSpPr>
          <p:sp>
            <p:nvSpPr>
              <p:cNvPr id="247" name="Shape 247"/>
              <p:cNvSpPr/>
              <p:nvPr/>
            </p:nvSpPr>
            <p:spPr>
              <a:xfrm>
                <a:off x="0" y="0"/>
                <a:ext cx="3956050" cy="2300288"/>
              </a:xfrm>
              <a:prstGeom prst="rect">
                <a:avLst/>
              </a:prstGeom>
              <a:solidFill>
                <a:srgbClr val="FFFFFF"/>
              </a:solidFill>
              <a:ln w="9525" cap="flat">
                <a:solidFill>
                  <a:srgbClr val="006666"/>
                </a:solidFill>
                <a:prstDash val="solid"/>
                <a:miter lim="800000"/>
              </a:ln>
              <a:effectLst/>
            </p:spPr>
            <p:txBody>
              <a:bodyPr wrap="square" lIns="0" tIns="0" rIns="0" bIns="0" numCol="1" anchor="ctr">
                <a:noAutofit/>
              </a:bodyPr>
              <a:lstStyle/>
              <a:p>
                <a:pPr defTabSz="914111">
                  <a:lnSpc>
                    <a:spcPct val="100000"/>
                  </a:lnSpc>
                  <a:spcBef>
                    <a:spcPts val="0"/>
                  </a:spcBef>
                </a:pPr>
                <a:endParaRPr/>
              </a:p>
            </p:txBody>
          </p:sp>
          <p:grpSp>
            <p:nvGrpSpPr>
              <p:cNvPr id="251" name="Group 251"/>
              <p:cNvGrpSpPr/>
              <p:nvPr/>
            </p:nvGrpSpPr>
            <p:grpSpPr>
              <a:xfrm>
                <a:off x="211931" y="-1"/>
                <a:ext cx="734401" cy="2228405"/>
                <a:chOff x="0" y="0"/>
                <a:chExt cx="734400" cy="2228403"/>
              </a:xfrm>
            </p:grpSpPr>
            <p:pic>
              <p:nvPicPr>
                <p:cNvPr id="248" name="image37.pdf"/>
                <p:cNvPicPr/>
                <p:nvPr/>
              </p:nvPicPr>
              <p:blipFill>
                <a:blip r:embed="rId2" cstate="print">
                  <a:extLst/>
                </a:blip>
                <a:stretch>
                  <a:fillRect/>
                </a:stretch>
              </p:blipFill>
              <p:spPr>
                <a:xfrm>
                  <a:off x="286990" y="-1"/>
                  <a:ext cx="447411" cy="646957"/>
                </a:xfrm>
                <a:prstGeom prst="rect">
                  <a:avLst/>
                </a:prstGeom>
                <a:ln w="12700" cap="flat">
                  <a:noFill/>
                  <a:miter lim="400000"/>
                </a:ln>
                <a:effectLst/>
              </p:spPr>
            </p:pic>
            <p:pic>
              <p:nvPicPr>
                <p:cNvPr id="249" name="image38.pdf"/>
                <p:cNvPicPr/>
                <p:nvPr/>
              </p:nvPicPr>
              <p:blipFill>
                <a:blip r:embed="rId3" cstate="print">
                  <a:extLst/>
                </a:blip>
                <a:stretch>
                  <a:fillRect/>
                </a:stretch>
              </p:blipFill>
              <p:spPr>
                <a:xfrm>
                  <a:off x="0" y="862607"/>
                  <a:ext cx="522470" cy="646957"/>
                </a:xfrm>
                <a:prstGeom prst="rect">
                  <a:avLst/>
                </a:prstGeom>
                <a:ln w="12700" cap="flat">
                  <a:noFill/>
                  <a:miter lim="400000"/>
                </a:ln>
                <a:effectLst/>
              </p:spPr>
            </p:pic>
            <p:pic>
              <p:nvPicPr>
                <p:cNvPr id="250" name="image39.pdf"/>
                <p:cNvPicPr/>
                <p:nvPr/>
              </p:nvPicPr>
              <p:blipFill>
                <a:blip r:embed="rId4" cstate="print">
                  <a:extLst/>
                </a:blip>
                <a:stretch>
                  <a:fillRect/>
                </a:stretch>
              </p:blipFill>
              <p:spPr>
                <a:xfrm>
                  <a:off x="36793" y="1538018"/>
                  <a:ext cx="485677" cy="690386"/>
                </a:xfrm>
                <a:prstGeom prst="rect">
                  <a:avLst/>
                </a:prstGeom>
                <a:ln w="12700" cap="flat">
                  <a:noFill/>
                  <a:miter lim="400000"/>
                </a:ln>
                <a:effectLst/>
              </p:spPr>
            </p:pic>
          </p:grpSp>
          <p:pic>
            <p:nvPicPr>
              <p:cNvPr id="252" name="image40.png"/>
              <p:cNvPicPr/>
              <p:nvPr/>
            </p:nvPicPr>
            <p:blipFill>
              <a:blip r:embed="rId5" cstate="print">
                <a:extLst/>
              </a:blip>
              <a:stretch>
                <a:fillRect/>
              </a:stretch>
            </p:blipFill>
            <p:spPr>
              <a:xfrm>
                <a:off x="429749" y="718839"/>
                <a:ext cx="276689" cy="287537"/>
              </a:xfrm>
              <a:prstGeom prst="rect">
                <a:avLst/>
              </a:prstGeom>
              <a:ln w="12700" cap="flat">
                <a:noFill/>
                <a:miter lim="400000"/>
              </a:ln>
              <a:effectLst/>
            </p:spPr>
          </p:pic>
          <p:pic>
            <p:nvPicPr>
              <p:cNvPr id="253" name="image41.png"/>
              <p:cNvPicPr/>
              <p:nvPr/>
            </p:nvPicPr>
            <p:blipFill>
              <a:blip r:embed="rId6" cstate="print">
                <a:extLst/>
              </a:blip>
              <a:stretch>
                <a:fillRect/>
              </a:stretch>
            </p:blipFill>
            <p:spPr>
              <a:xfrm>
                <a:off x="924255" y="143767"/>
                <a:ext cx="276689" cy="287537"/>
              </a:xfrm>
              <a:prstGeom prst="rect">
                <a:avLst/>
              </a:prstGeom>
              <a:ln w="12700" cap="flat">
                <a:noFill/>
                <a:miter lim="400000"/>
              </a:ln>
              <a:effectLst/>
            </p:spPr>
          </p:pic>
          <p:pic>
            <p:nvPicPr>
              <p:cNvPr id="254" name="image57.png" descr="BD14866_"/>
              <p:cNvPicPr/>
              <p:nvPr/>
            </p:nvPicPr>
            <p:blipFill>
              <a:blip r:embed="rId7" cstate="print">
                <a:extLst/>
              </a:blip>
              <a:stretch>
                <a:fillRect/>
              </a:stretch>
            </p:blipFill>
            <p:spPr>
              <a:xfrm>
                <a:off x="768250" y="1644346"/>
                <a:ext cx="291407" cy="296523"/>
              </a:xfrm>
              <a:prstGeom prst="rect">
                <a:avLst/>
              </a:prstGeom>
              <a:ln w="12700" cap="flat">
                <a:noFill/>
                <a:miter lim="400000"/>
              </a:ln>
              <a:effectLst/>
            </p:spPr>
          </p:pic>
        </p:grpSp>
        <p:grpSp>
          <p:nvGrpSpPr>
            <p:cNvPr id="258" name="Group 258"/>
            <p:cNvGrpSpPr/>
            <p:nvPr/>
          </p:nvGrpSpPr>
          <p:grpSpPr>
            <a:xfrm>
              <a:off x="2371725" y="1076449"/>
              <a:ext cx="360364" cy="549276"/>
              <a:chOff x="0" y="0"/>
              <a:chExt cx="360363" cy="549274"/>
            </a:xfrm>
          </p:grpSpPr>
          <p:sp>
            <p:nvSpPr>
              <p:cNvPr id="256" name="Shape 256"/>
              <p:cNvSpPr/>
              <p:nvPr/>
            </p:nvSpPr>
            <p:spPr>
              <a:xfrm>
                <a:off x="104832" y="0"/>
                <a:ext cx="104833" cy="11438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ED3921"/>
              </a:solidFill>
              <a:ln w="9525" cap="flat">
                <a:solidFill>
                  <a:srgbClr val="000000"/>
                </a:solidFill>
                <a:prstDash val="solid"/>
                <a:round/>
              </a:ln>
              <a:effectLst/>
            </p:spPr>
            <p:txBody>
              <a:bodyPr wrap="square" lIns="0" tIns="0" rIns="0" bIns="0" numCol="1" anchor="ctr">
                <a:noAutofit/>
              </a:bodyPr>
              <a:lstStyle/>
              <a:p>
                <a:pPr defTabSz="914111">
                  <a:lnSpc>
                    <a:spcPct val="100000"/>
                  </a:lnSpc>
                  <a:spcBef>
                    <a:spcPts val="0"/>
                  </a:spcBef>
                </a:pPr>
                <a:endParaRPr/>
              </a:p>
            </p:txBody>
          </p:sp>
          <p:pic>
            <p:nvPicPr>
              <p:cNvPr id="257" name="image42.pdf"/>
              <p:cNvPicPr/>
              <p:nvPr/>
            </p:nvPicPr>
            <p:blipFill>
              <a:blip r:embed="rId8" cstate="print">
                <a:extLst/>
              </a:blip>
              <a:stretch>
                <a:fillRect/>
              </a:stretch>
            </p:blipFill>
            <p:spPr>
              <a:xfrm>
                <a:off x="0" y="0"/>
                <a:ext cx="360364" cy="549275"/>
              </a:xfrm>
              <a:prstGeom prst="rect">
                <a:avLst/>
              </a:prstGeom>
              <a:ln w="12700" cap="flat">
                <a:noFill/>
                <a:miter lim="400000"/>
              </a:ln>
              <a:effectLst/>
            </p:spPr>
          </p:pic>
        </p:grpSp>
        <p:grpSp>
          <p:nvGrpSpPr>
            <p:cNvPr id="263" name="Group 263"/>
            <p:cNvGrpSpPr/>
            <p:nvPr/>
          </p:nvGrpSpPr>
          <p:grpSpPr>
            <a:xfrm>
              <a:off x="1065213" y="220787"/>
              <a:ext cx="2530476" cy="2079625"/>
              <a:chOff x="0" y="0"/>
              <a:chExt cx="2530474" cy="2079624"/>
            </a:xfrm>
          </p:grpSpPr>
          <p:sp>
            <p:nvSpPr>
              <p:cNvPr id="259" name="Shape 259"/>
              <p:cNvSpPr/>
              <p:nvPr/>
            </p:nvSpPr>
            <p:spPr>
              <a:xfrm>
                <a:off x="0" y="63440"/>
                <a:ext cx="1442646" cy="829376"/>
              </a:xfrm>
              <a:prstGeom prst="line">
                <a:avLst/>
              </a:prstGeom>
              <a:noFill/>
              <a:ln w="28575" cap="flat">
                <a:solidFill>
                  <a:srgbClr val="000000"/>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pic>
            <p:nvPicPr>
              <p:cNvPr id="260" name="image43.pdf"/>
              <p:cNvPicPr/>
              <p:nvPr/>
            </p:nvPicPr>
            <p:blipFill>
              <a:blip r:embed="rId9" cstate="print">
                <a:extLst/>
              </a:blip>
              <a:stretch>
                <a:fillRect/>
              </a:stretch>
            </p:blipFill>
            <p:spPr>
              <a:xfrm>
                <a:off x="742639" y="-1"/>
                <a:ext cx="440083" cy="623579"/>
              </a:xfrm>
              <a:prstGeom prst="rect">
                <a:avLst/>
              </a:prstGeom>
              <a:ln w="12700" cap="flat">
                <a:noFill/>
                <a:miter lim="400000"/>
              </a:ln>
              <a:effectLst/>
            </p:spPr>
          </p:pic>
          <p:sp>
            <p:nvSpPr>
              <p:cNvPr id="261" name="Shape 261"/>
              <p:cNvSpPr/>
              <p:nvPr/>
            </p:nvSpPr>
            <p:spPr>
              <a:xfrm>
                <a:off x="1521035" y="942329"/>
                <a:ext cx="990186" cy="594180"/>
              </a:xfrm>
              <a:prstGeom prst="line">
                <a:avLst/>
              </a:prstGeom>
              <a:noFill/>
              <a:ln w="28575" cap="flat">
                <a:solidFill>
                  <a:srgbClr val="ED3921"/>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pic>
            <p:nvPicPr>
              <p:cNvPr id="262" name="image44.pdf"/>
              <p:cNvPicPr/>
              <p:nvPr/>
            </p:nvPicPr>
            <p:blipFill>
              <a:blip r:embed="rId10" cstate="print">
                <a:extLst/>
              </a:blip>
              <a:stretch>
                <a:fillRect/>
              </a:stretch>
            </p:blipFill>
            <p:spPr>
              <a:xfrm>
                <a:off x="2128899" y="1485446"/>
                <a:ext cx="401577" cy="594179"/>
              </a:xfrm>
              <a:prstGeom prst="rect">
                <a:avLst/>
              </a:prstGeom>
              <a:ln w="12700" cap="flat">
                <a:noFill/>
                <a:miter lim="400000"/>
              </a:ln>
              <a:effectLst/>
            </p:spPr>
          </p:pic>
        </p:grpSp>
        <p:grpSp>
          <p:nvGrpSpPr>
            <p:cNvPr id="272" name="Group 272"/>
            <p:cNvGrpSpPr/>
            <p:nvPr/>
          </p:nvGrpSpPr>
          <p:grpSpPr>
            <a:xfrm>
              <a:off x="571499" y="284287"/>
              <a:ext cx="3240089" cy="1706563"/>
              <a:chOff x="0" y="0"/>
              <a:chExt cx="3240087" cy="1706562"/>
            </a:xfrm>
          </p:grpSpPr>
          <p:sp>
            <p:nvSpPr>
              <p:cNvPr id="264" name="Shape 264"/>
              <p:cNvSpPr/>
              <p:nvPr/>
            </p:nvSpPr>
            <p:spPr>
              <a:xfrm>
                <a:off x="0" y="568346"/>
                <a:ext cx="1904414" cy="274270"/>
              </a:xfrm>
              <a:prstGeom prst="line">
                <a:avLst/>
              </a:prstGeom>
              <a:noFill/>
              <a:ln w="28575" cap="flat">
                <a:solidFill>
                  <a:srgbClr val="000000"/>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pic>
            <p:nvPicPr>
              <p:cNvPr id="265" name="image45.pdf"/>
              <p:cNvPicPr/>
              <p:nvPr/>
            </p:nvPicPr>
            <p:blipFill>
              <a:blip r:embed="rId11" cstate="print">
                <a:extLst/>
              </a:blip>
              <a:stretch>
                <a:fillRect/>
              </a:stretch>
            </p:blipFill>
            <p:spPr>
              <a:xfrm>
                <a:off x="560121" y="585107"/>
                <a:ext cx="511292" cy="614059"/>
              </a:xfrm>
              <a:prstGeom prst="rect">
                <a:avLst/>
              </a:prstGeom>
              <a:ln w="12700" cap="flat">
                <a:noFill/>
                <a:miter lim="400000"/>
              </a:ln>
              <a:effectLst/>
            </p:spPr>
          </p:pic>
          <p:sp>
            <p:nvSpPr>
              <p:cNvPr id="266" name="Shape 266"/>
              <p:cNvSpPr/>
              <p:nvPr/>
            </p:nvSpPr>
            <p:spPr>
              <a:xfrm flipV="1">
                <a:off x="374850" y="880708"/>
                <a:ext cx="1532436" cy="615582"/>
              </a:xfrm>
              <a:prstGeom prst="line">
                <a:avLst/>
              </a:prstGeom>
              <a:noFill/>
              <a:ln w="28575" cap="flat">
                <a:solidFill>
                  <a:srgbClr val="000000"/>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pic>
            <p:nvPicPr>
              <p:cNvPr id="267" name="image46.pdf"/>
              <p:cNvPicPr/>
              <p:nvPr/>
            </p:nvPicPr>
            <p:blipFill>
              <a:blip r:embed="rId12" cstate="print">
                <a:extLst/>
              </a:blip>
              <a:stretch>
                <a:fillRect/>
              </a:stretch>
            </p:blipFill>
            <p:spPr>
              <a:xfrm>
                <a:off x="1071412" y="1052888"/>
                <a:ext cx="511291" cy="653675"/>
              </a:xfrm>
              <a:prstGeom prst="rect">
                <a:avLst/>
              </a:prstGeom>
              <a:ln w="12700" cap="flat">
                <a:noFill/>
                <a:miter lim="400000"/>
              </a:ln>
              <a:effectLst/>
            </p:spPr>
          </p:pic>
          <p:sp>
            <p:nvSpPr>
              <p:cNvPr id="268" name="Shape 268"/>
              <p:cNvSpPr/>
              <p:nvPr/>
            </p:nvSpPr>
            <p:spPr>
              <a:xfrm>
                <a:off x="2019310" y="857852"/>
                <a:ext cx="1103009" cy="146277"/>
              </a:xfrm>
              <a:prstGeom prst="line">
                <a:avLst/>
              </a:prstGeom>
              <a:noFill/>
              <a:ln w="28575" cap="flat">
                <a:solidFill>
                  <a:srgbClr val="ED3921"/>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269" name="Shape 269"/>
              <p:cNvSpPr/>
              <p:nvPr/>
            </p:nvSpPr>
            <p:spPr>
              <a:xfrm flipV="1">
                <a:off x="2017874" y="467781"/>
                <a:ext cx="914866" cy="361121"/>
              </a:xfrm>
              <a:prstGeom prst="line">
                <a:avLst/>
              </a:prstGeom>
              <a:noFill/>
              <a:ln w="28575" cap="flat">
                <a:solidFill>
                  <a:srgbClr val="ED3921"/>
                </a:solidFill>
                <a:prstDash val="solid"/>
                <a:round/>
                <a:tailEnd type="triangle"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pic>
            <p:nvPicPr>
              <p:cNvPr id="270" name="image47.pdf"/>
              <p:cNvPicPr/>
              <p:nvPr/>
            </p:nvPicPr>
            <p:blipFill>
              <a:blip r:embed="rId13" cstate="print">
                <a:extLst/>
              </a:blip>
              <a:stretch>
                <a:fillRect/>
              </a:stretch>
            </p:blipFill>
            <p:spPr>
              <a:xfrm>
                <a:off x="2794863" y="394642"/>
                <a:ext cx="445225" cy="585108"/>
              </a:xfrm>
              <a:prstGeom prst="rect">
                <a:avLst/>
              </a:prstGeom>
              <a:ln w="12700" cap="flat">
                <a:noFill/>
                <a:miter lim="400000"/>
              </a:ln>
              <a:effectLst/>
            </p:spPr>
          </p:pic>
          <p:pic>
            <p:nvPicPr>
              <p:cNvPr id="271" name="image48.pdf"/>
              <p:cNvPicPr/>
              <p:nvPr/>
            </p:nvPicPr>
            <p:blipFill>
              <a:blip r:embed="rId14" cstate="print">
                <a:extLst/>
              </a:blip>
              <a:stretch>
                <a:fillRect/>
              </a:stretch>
            </p:blipFill>
            <p:spPr>
              <a:xfrm>
                <a:off x="2243358" y="-1"/>
                <a:ext cx="452407" cy="614059"/>
              </a:xfrm>
              <a:prstGeom prst="rect">
                <a:avLst/>
              </a:prstGeom>
              <a:ln w="12700" cap="flat">
                <a:noFill/>
                <a:miter lim="400000"/>
              </a:ln>
              <a:effectLst/>
            </p:spPr>
          </p:pic>
        </p:grpSp>
      </p:grpSp>
      <p:grpSp>
        <p:nvGrpSpPr>
          <p:cNvPr id="278" name="Group 278"/>
          <p:cNvGrpSpPr/>
          <p:nvPr/>
        </p:nvGrpSpPr>
        <p:grpSpPr>
          <a:xfrm>
            <a:off x="715012" y="2564907"/>
            <a:ext cx="5512753" cy="850903"/>
            <a:chOff x="463129" y="0"/>
            <a:chExt cx="5512752" cy="850901"/>
          </a:xfrm>
        </p:grpSpPr>
        <p:pic>
          <p:nvPicPr>
            <p:cNvPr id="274" name="image49.pdf"/>
            <p:cNvPicPr/>
            <p:nvPr/>
          </p:nvPicPr>
          <p:blipFill>
            <a:blip r:embed="rId15" cstate="print">
              <a:extLst/>
            </a:blip>
            <a:stretch>
              <a:fillRect/>
            </a:stretch>
          </p:blipFill>
          <p:spPr>
            <a:xfrm>
              <a:off x="2521462" y="0"/>
              <a:ext cx="431803" cy="583728"/>
            </a:xfrm>
            <a:prstGeom prst="rect">
              <a:avLst/>
            </a:prstGeom>
            <a:ln w="12700" cap="flat">
              <a:noFill/>
              <a:miter lim="400000"/>
            </a:ln>
            <a:effectLst/>
          </p:spPr>
        </p:pic>
        <p:grpSp>
          <p:nvGrpSpPr>
            <p:cNvPr id="277" name="Group 277"/>
            <p:cNvGrpSpPr/>
            <p:nvPr/>
          </p:nvGrpSpPr>
          <p:grpSpPr>
            <a:xfrm>
              <a:off x="463129" y="60778"/>
              <a:ext cx="5512752" cy="790123"/>
              <a:chOff x="463129" y="0"/>
              <a:chExt cx="5512751" cy="790122"/>
            </a:xfrm>
          </p:grpSpPr>
          <p:sp>
            <p:nvSpPr>
              <p:cNvPr id="275" name="Shape 275"/>
              <p:cNvSpPr/>
              <p:nvPr/>
            </p:nvSpPr>
            <p:spPr>
              <a:xfrm>
                <a:off x="463129" y="97431"/>
                <a:ext cx="4395223" cy="4616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p>
                <a:pPr>
                  <a:spcBef>
                    <a:spcPts val="1400"/>
                  </a:spcBef>
                  <a:defRPr sz="1800"/>
                </a:pPr>
                <a:r>
                  <a:rPr sz="2000" dirty="0" err="1">
                    <a:latin typeface="SimHei"/>
                    <a:ea typeface="SimHei"/>
                    <a:cs typeface="SimHei"/>
                    <a:sym typeface="SimHei"/>
                  </a:rPr>
                  <a:t>由力的叠加原理得</a:t>
                </a:r>
                <a:r>
                  <a:rPr sz="2000" dirty="0">
                    <a:latin typeface="SimHei"/>
                    <a:ea typeface="SimHei"/>
                    <a:cs typeface="SimHei"/>
                    <a:sym typeface="SimHei"/>
                  </a:rPr>
                  <a:t>   </a:t>
                </a:r>
                <a:r>
                  <a:rPr sz="2000" dirty="0" err="1">
                    <a:latin typeface="SimHei"/>
                    <a:ea typeface="SimHei"/>
                    <a:cs typeface="SimHei"/>
                    <a:sym typeface="SimHei"/>
                  </a:rPr>
                  <a:t>所受合力</a:t>
                </a:r>
                <a:r>
                  <a:rPr sz="2000" dirty="0">
                    <a:solidFill>
                      <a:srgbClr val="CC0000"/>
                    </a:solidFill>
                  </a:rPr>
                  <a:t> </a:t>
                </a:r>
              </a:p>
            </p:txBody>
          </p:sp>
          <p:pic>
            <p:nvPicPr>
              <p:cNvPr id="276" name="image50.pdf"/>
              <p:cNvPicPr/>
              <p:nvPr/>
            </p:nvPicPr>
            <p:blipFill>
              <a:blip r:embed="rId16" cstate="print">
                <a:extLst/>
              </a:blip>
              <a:stretch>
                <a:fillRect/>
              </a:stretch>
            </p:blipFill>
            <p:spPr>
              <a:xfrm>
                <a:off x="4342882" y="0"/>
                <a:ext cx="1632998" cy="790122"/>
              </a:xfrm>
              <a:prstGeom prst="rect">
                <a:avLst/>
              </a:prstGeom>
              <a:ln w="12700" cap="flat">
                <a:noFill/>
                <a:miter lim="400000"/>
              </a:ln>
              <a:effectLst/>
            </p:spPr>
          </p:pic>
        </p:grpSp>
      </p:grpSp>
      <p:grpSp>
        <p:nvGrpSpPr>
          <p:cNvPr id="288" name="Group 288"/>
          <p:cNvGrpSpPr/>
          <p:nvPr/>
        </p:nvGrpSpPr>
        <p:grpSpPr>
          <a:xfrm>
            <a:off x="323528" y="3355456"/>
            <a:ext cx="4830766" cy="1009651"/>
            <a:chOff x="-1" y="0"/>
            <a:chExt cx="4830764" cy="1009650"/>
          </a:xfrm>
        </p:grpSpPr>
        <p:sp>
          <p:nvSpPr>
            <p:cNvPr id="285" name="Shape 285"/>
            <p:cNvSpPr/>
            <p:nvPr/>
          </p:nvSpPr>
          <p:spPr>
            <a:xfrm>
              <a:off x="-1" y="202194"/>
              <a:ext cx="3072781" cy="46166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a:spcBef>
                  <a:spcPts val="1400"/>
                </a:spcBef>
                <a:defRPr>
                  <a:latin typeface="SimHei"/>
                  <a:ea typeface="SimHei"/>
                  <a:cs typeface="SimHei"/>
                  <a:sym typeface="SimHei"/>
                </a:defRPr>
              </a:lvl1pPr>
            </a:lstStyle>
            <a:p>
              <a:pPr lvl="0">
                <a:defRPr sz="1800"/>
              </a:pPr>
              <a:r>
                <a:rPr sz="2000" dirty="0"/>
                <a:t>故   </a:t>
              </a:r>
              <a:r>
                <a:rPr sz="2000" dirty="0" err="1"/>
                <a:t>处总电场强度</a:t>
              </a:r>
              <a:r>
                <a:rPr sz="2000" dirty="0"/>
                <a:t> </a:t>
              </a:r>
            </a:p>
          </p:txBody>
        </p:sp>
        <p:pic>
          <p:nvPicPr>
            <p:cNvPr id="286" name="image54.pdf"/>
            <p:cNvPicPr/>
            <p:nvPr/>
          </p:nvPicPr>
          <p:blipFill>
            <a:blip r:embed="rId17" cstate="print">
              <a:extLst/>
            </a:blip>
            <a:stretch>
              <a:fillRect/>
            </a:stretch>
          </p:blipFill>
          <p:spPr>
            <a:xfrm>
              <a:off x="2880730" y="0"/>
              <a:ext cx="1950033" cy="1009650"/>
            </a:xfrm>
            <a:prstGeom prst="rect">
              <a:avLst/>
            </a:prstGeom>
            <a:ln w="12700" cap="flat">
              <a:noFill/>
              <a:miter lim="400000"/>
            </a:ln>
            <a:effectLst/>
          </p:spPr>
        </p:pic>
        <p:pic>
          <p:nvPicPr>
            <p:cNvPr id="287" name="image55.pdf"/>
            <p:cNvPicPr/>
            <p:nvPr/>
          </p:nvPicPr>
          <p:blipFill>
            <a:blip r:embed="rId18" cstate="print">
              <a:extLst/>
            </a:blip>
            <a:stretch>
              <a:fillRect/>
            </a:stretch>
          </p:blipFill>
          <p:spPr>
            <a:xfrm>
              <a:off x="391483" y="171799"/>
              <a:ext cx="345935" cy="507469"/>
            </a:xfrm>
            <a:prstGeom prst="rect">
              <a:avLst/>
            </a:prstGeom>
            <a:ln w="12700" cap="flat">
              <a:noFill/>
              <a:miter lim="400000"/>
            </a:ln>
            <a:effectLst/>
          </p:spPr>
        </p:pic>
      </p:grpSp>
      <p:grpSp>
        <p:nvGrpSpPr>
          <p:cNvPr id="293" name="Group 293"/>
          <p:cNvGrpSpPr/>
          <p:nvPr/>
        </p:nvGrpSpPr>
        <p:grpSpPr>
          <a:xfrm>
            <a:off x="317422" y="4545271"/>
            <a:ext cx="4514852" cy="625477"/>
            <a:chOff x="-1" y="0"/>
            <a:chExt cx="4514851" cy="625475"/>
          </a:xfrm>
        </p:grpSpPr>
        <p:grpSp>
          <p:nvGrpSpPr>
            <p:cNvPr id="291" name="Group 291"/>
            <p:cNvGrpSpPr/>
            <p:nvPr/>
          </p:nvGrpSpPr>
          <p:grpSpPr>
            <a:xfrm>
              <a:off x="3025414" y="22213"/>
              <a:ext cx="1489436" cy="603262"/>
              <a:chOff x="0" y="0"/>
              <a:chExt cx="1489435" cy="603261"/>
            </a:xfrm>
          </p:grpSpPr>
          <p:sp>
            <p:nvSpPr>
              <p:cNvPr id="289" name="Shape 289"/>
              <p:cNvSpPr/>
              <p:nvPr/>
            </p:nvSpPr>
            <p:spPr>
              <a:xfrm>
                <a:off x="0" y="0"/>
                <a:ext cx="1489436" cy="603262"/>
              </a:xfrm>
              <a:prstGeom prst="rect">
                <a:avLst/>
              </a:prstGeom>
              <a:gradFill flip="none" rotWithShape="1">
                <a:gsLst>
                  <a:gs pos="0">
                    <a:srgbClr val="000000"/>
                  </a:gs>
                  <a:gs pos="100000">
                    <a:srgbClr val="CC9900"/>
                  </a:gs>
                </a:gsLst>
                <a:lin ang="16200000" scaled="0"/>
              </a:gradFill>
              <a:ln w="12700" cap="flat">
                <a:noFill/>
                <a:miter lim="400000"/>
              </a:ln>
              <a:effectLst/>
            </p:spPr>
            <p:txBody>
              <a:bodyPr wrap="square" lIns="0" tIns="0" rIns="0" bIns="0" numCol="1" anchor="t">
                <a:noAutofit/>
              </a:bodyPr>
              <a:lstStyle/>
              <a:p>
                <a:pPr defTabSz="914111">
                  <a:lnSpc>
                    <a:spcPct val="100000"/>
                  </a:lnSpc>
                  <a:spcBef>
                    <a:spcPts val="0"/>
                  </a:spcBef>
                  <a:defRPr>
                    <a:latin typeface="Arial"/>
                    <a:ea typeface="Arial"/>
                    <a:cs typeface="Arial"/>
                    <a:sym typeface="Arial"/>
                  </a:defRPr>
                </a:pPr>
                <a:endParaRPr/>
              </a:p>
            </p:txBody>
          </p:sp>
          <p:pic>
            <p:nvPicPr>
              <p:cNvPr id="290" name="image56.pdf"/>
              <p:cNvPicPr/>
              <p:nvPr/>
            </p:nvPicPr>
            <p:blipFill>
              <a:blip r:embed="rId19" cstate="print">
                <a:extLst/>
              </a:blip>
              <a:stretch>
                <a:fillRect/>
              </a:stretch>
            </p:blipFill>
            <p:spPr>
              <a:xfrm>
                <a:off x="0" y="0"/>
                <a:ext cx="1489436" cy="603262"/>
              </a:xfrm>
              <a:prstGeom prst="rect">
                <a:avLst/>
              </a:prstGeom>
              <a:ln w="12700" cap="flat">
                <a:solidFill>
                  <a:srgbClr val="006633"/>
                </a:solidFill>
                <a:prstDash val="solid"/>
                <a:miter lim="800000"/>
              </a:ln>
              <a:effectLst/>
            </p:spPr>
          </p:pic>
        </p:grpSp>
        <p:sp>
          <p:nvSpPr>
            <p:cNvPr id="292" name="Shape 292"/>
            <p:cNvSpPr/>
            <p:nvPr/>
          </p:nvSpPr>
          <p:spPr>
            <a:xfrm>
              <a:off x="-1" y="0"/>
              <a:ext cx="3150729" cy="46166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a:defRPr>
                  <a:latin typeface="SimHei"/>
                  <a:ea typeface="SimHei"/>
                  <a:cs typeface="SimHei"/>
                  <a:sym typeface="SimHei"/>
                </a:defRPr>
              </a:lvl1pPr>
            </a:lstStyle>
            <a:p>
              <a:pPr lvl="0">
                <a:defRPr sz="1800"/>
              </a:pPr>
              <a:r>
                <a:rPr sz="2000" dirty="0" err="1"/>
                <a:t>电场强度的叠加原理</a:t>
              </a:r>
              <a:endParaRPr sz="2000" dirty="0"/>
            </a:p>
          </p:txBody>
        </p:sp>
      </p:grpSp>
      <p:sp>
        <p:nvSpPr>
          <p:cNvPr id="294" name="Shape 294"/>
          <p:cNvSpPr/>
          <p:nvPr/>
        </p:nvSpPr>
        <p:spPr>
          <a:xfrm>
            <a:off x="107504" y="5301213"/>
            <a:ext cx="8784975" cy="1169521"/>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a:lnSpc>
                <a:spcPct val="125000"/>
              </a:lnSpc>
              <a:spcBef>
                <a:spcPts val="100"/>
              </a:spcBef>
              <a:defRPr sz="1800"/>
            </a:pPr>
            <a:r>
              <a:rPr sz="2800" b="1" dirty="0" err="1">
                <a:solidFill>
                  <a:srgbClr val="3333FF"/>
                </a:solidFill>
                <a:latin typeface="黑体" pitchFamily="49" charset="-122"/>
                <a:ea typeface="黑体" pitchFamily="49" charset="-122"/>
                <a:cs typeface="SimHei"/>
                <a:sym typeface="SimHei"/>
              </a:rPr>
              <a:t>点电荷系在某点产生的场强，等于各点电荷单独存在时在该点分别产生的场强的矢量和</a:t>
            </a:r>
            <a:r>
              <a:rPr sz="2800" b="1" dirty="0">
                <a:solidFill>
                  <a:srgbClr val="3333FF"/>
                </a:solidFill>
                <a:latin typeface="黑体" pitchFamily="49" charset="-122"/>
                <a:ea typeface="黑体" pitchFamily="49" charset="-122"/>
                <a:cs typeface="SimHei"/>
                <a:sym typeface="SimHei"/>
              </a:rPr>
              <a:t>。</a:t>
            </a:r>
            <a:r>
              <a:rPr sz="2800" b="1" dirty="0">
                <a:solidFill>
                  <a:srgbClr val="FF0000"/>
                </a:solidFill>
                <a:latin typeface="黑体" pitchFamily="49" charset="-122"/>
                <a:ea typeface="黑体" pitchFamily="49" charset="-122"/>
              </a:rPr>
              <a:t>——</a:t>
            </a:r>
            <a:r>
              <a:rPr sz="2800" b="1" dirty="0" err="1">
                <a:solidFill>
                  <a:srgbClr val="FF0000"/>
                </a:solidFill>
                <a:latin typeface="黑体" pitchFamily="49" charset="-122"/>
                <a:ea typeface="黑体" pitchFamily="49" charset="-122"/>
                <a:cs typeface="SimHei"/>
                <a:sym typeface="SimHei"/>
              </a:rPr>
              <a:t>场强叠加原理</a:t>
            </a:r>
            <a:endParaRPr sz="2800" b="1" dirty="0">
              <a:solidFill>
                <a:srgbClr val="FF0000"/>
              </a:solidFill>
              <a:latin typeface="黑体" pitchFamily="49" charset="-122"/>
              <a:ea typeface="黑体" pitchFamily="49" charset="-122"/>
              <a:cs typeface="SimHei"/>
              <a:sym typeface="SimHei"/>
            </a:endParaRPr>
          </a:p>
        </p:txBody>
      </p:sp>
      <p:grpSp>
        <p:nvGrpSpPr>
          <p:cNvPr id="284" name="Group 284"/>
          <p:cNvGrpSpPr/>
          <p:nvPr/>
        </p:nvGrpSpPr>
        <p:grpSpPr>
          <a:xfrm>
            <a:off x="323529" y="663054"/>
            <a:ext cx="3634110" cy="1829845"/>
            <a:chOff x="0" y="-74868"/>
            <a:chExt cx="3327400" cy="1829844"/>
          </a:xfrm>
        </p:grpSpPr>
        <p:sp>
          <p:nvSpPr>
            <p:cNvPr id="279" name="Shape 279"/>
            <p:cNvSpPr/>
            <p:nvPr/>
          </p:nvSpPr>
          <p:spPr>
            <a:xfrm>
              <a:off x="0" y="135333"/>
              <a:ext cx="3327400" cy="42551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a:spcBef>
                  <a:spcPts val="1400"/>
                </a:spcBef>
                <a:defRPr>
                  <a:latin typeface="SimHei"/>
                  <a:ea typeface="SimHei"/>
                  <a:cs typeface="SimHei"/>
                  <a:sym typeface="SimHei"/>
                </a:defRPr>
              </a:lvl1pPr>
            </a:lstStyle>
            <a:p>
              <a:pPr lvl="0">
                <a:defRPr sz="1800"/>
              </a:pPr>
              <a:r>
                <a:rPr dirty="0" err="1"/>
                <a:t>点电荷</a:t>
              </a:r>
              <a:r>
                <a:rPr dirty="0"/>
                <a:t>   </a:t>
              </a:r>
              <a:r>
                <a:rPr lang="en-US" dirty="0"/>
                <a:t> </a:t>
              </a:r>
              <a:r>
                <a:rPr dirty="0"/>
                <a:t>对   </a:t>
              </a:r>
              <a:r>
                <a:rPr dirty="0" err="1"/>
                <a:t>的作用力</a:t>
              </a:r>
              <a:endParaRPr dirty="0"/>
            </a:p>
          </p:txBody>
        </p:sp>
        <p:grpSp>
          <p:nvGrpSpPr>
            <p:cNvPr id="283" name="Group 283"/>
            <p:cNvGrpSpPr/>
            <p:nvPr/>
          </p:nvGrpSpPr>
          <p:grpSpPr>
            <a:xfrm>
              <a:off x="500000" y="-74868"/>
              <a:ext cx="2400951" cy="1829844"/>
              <a:chOff x="1" y="-24068"/>
              <a:chExt cx="2400949" cy="1829843"/>
            </a:xfrm>
          </p:grpSpPr>
          <p:pic>
            <p:nvPicPr>
              <p:cNvPr id="280" name="image51.pdf"/>
              <p:cNvPicPr/>
              <p:nvPr/>
            </p:nvPicPr>
            <p:blipFill>
              <a:blip r:embed="rId20" cstate="print">
                <a:extLst/>
              </a:blip>
              <a:stretch>
                <a:fillRect/>
              </a:stretch>
            </p:blipFill>
            <p:spPr>
              <a:xfrm>
                <a:off x="1" y="797664"/>
                <a:ext cx="2400949" cy="1008111"/>
              </a:xfrm>
              <a:prstGeom prst="rect">
                <a:avLst/>
              </a:prstGeom>
              <a:ln w="12700" cap="flat">
                <a:noFill/>
                <a:miter lim="400000"/>
              </a:ln>
              <a:effectLst/>
            </p:spPr>
          </p:pic>
          <p:pic>
            <p:nvPicPr>
              <p:cNvPr id="281" name="image52.pdf"/>
              <p:cNvPicPr/>
              <p:nvPr/>
            </p:nvPicPr>
            <p:blipFill>
              <a:blip r:embed="rId21" cstate="print">
                <a:extLst/>
              </a:blip>
              <a:stretch>
                <a:fillRect/>
              </a:stretch>
            </p:blipFill>
            <p:spPr>
              <a:xfrm>
                <a:off x="742168" y="-24068"/>
                <a:ext cx="421531" cy="649886"/>
              </a:xfrm>
              <a:prstGeom prst="rect">
                <a:avLst/>
              </a:prstGeom>
              <a:ln w="12700" cap="flat">
                <a:noFill/>
                <a:miter lim="400000"/>
              </a:ln>
              <a:effectLst/>
            </p:spPr>
          </p:pic>
          <p:pic>
            <p:nvPicPr>
              <p:cNvPr id="282" name="image53.pdf"/>
              <p:cNvPicPr/>
              <p:nvPr/>
            </p:nvPicPr>
            <p:blipFill>
              <a:blip r:embed="rId22" cstate="print">
                <a:extLst/>
              </a:blip>
              <a:stretch>
                <a:fillRect/>
              </a:stretch>
            </p:blipFill>
            <p:spPr>
              <a:xfrm>
                <a:off x="162538" y="74380"/>
                <a:ext cx="321594" cy="541337"/>
              </a:xfrm>
              <a:prstGeom prst="rect">
                <a:avLst/>
              </a:prstGeom>
              <a:ln w="12700" cap="flat">
                <a:noFill/>
                <a:miter lim="400000"/>
              </a:ln>
              <a:effectLst/>
            </p:spPr>
          </p:pic>
        </p:grpSp>
      </p:gr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电场强度的计算</a:t>
            </a:r>
            <a:endParaRPr lang="zh-CN" altLang="en-US"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385" y="1062209"/>
            <a:ext cx="8038040"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6654686"/>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980728"/>
            <a:ext cx="5832648"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lang="zh-CN" altLang="en-US" b="1" dirty="0" smtClean="0">
                <a:solidFill>
                  <a:srgbClr val="0000CC"/>
                </a:solidFill>
              </a:rPr>
              <a:t>点电荷</a:t>
            </a:r>
            <a:r>
              <a:rPr lang="en-US" altLang="zh-CN" b="1" i="1" dirty="0" smtClean="0">
                <a:solidFill>
                  <a:srgbClr val="0000CC"/>
                </a:solidFill>
              </a:rPr>
              <a:t>Q</a:t>
            </a:r>
            <a:r>
              <a:rPr lang="zh-CN" altLang="en-US" b="1" dirty="0" smtClean="0">
                <a:solidFill>
                  <a:srgbClr val="0000CC"/>
                </a:solidFill>
              </a:rPr>
              <a:t>作用在实验电荷</a:t>
            </a:r>
            <a:r>
              <a:rPr lang="en-US" altLang="zh-CN" b="1" i="1" dirty="0" smtClean="0">
                <a:solidFill>
                  <a:srgbClr val="0000CC"/>
                </a:solidFill>
              </a:rPr>
              <a:t>q</a:t>
            </a:r>
            <a:r>
              <a:rPr lang="zh-CN" altLang="en-US" b="1" dirty="0" smtClean="0">
                <a:solidFill>
                  <a:srgbClr val="0000CC"/>
                </a:solidFill>
              </a:rPr>
              <a:t>上的电力：</a:t>
            </a:r>
            <a:endParaRPr kumimoji="0" lang="zh-CN" altLang="en-US" b="1" i="0" u="none" strike="noStrike" cap="none" spc="0" normalizeH="0" baseline="0" dirty="0">
              <a:ln>
                <a:noFill/>
              </a:ln>
              <a:solidFill>
                <a:srgbClr val="0000CC"/>
              </a:solidFill>
              <a:effectLst/>
              <a:uFillTx/>
              <a:sym typeface="Times New Roman"/>
            </a:endParaRPr>
          </a:p>
        </p:txBody>
      </p:sp>
      <p:sp>
        <p:nvSpPr>
          <p:cNvPr id="3" name="TextBox 2"/>
          <p:cNvSpPr txBox="1"/>
          <p:nvPr/>
        </p:nvSpPr>
        <p:spPr>
          <a:xfrm>
            <a:off x="467544" y="332656"/>
            <a:ext cx="2016224"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课本</a:t>
            </a:r>
            <a:r>
              <a:rPr kumimoji="0" lang="en-US" altLang="zh-CN"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P13</a:t>
            </a:r>
            <a:endParaRPr kumimoji="0" lang="zh-CN" altLang="en-US" sz="2400" b="1" i="0" u="none" strike="noStrike" cap="none" spc="0" normalizeH="0" baseline="0">
              <a:ln>
                <a:noFill/>
              </a:ln>
              <a:solidFill>
                <a:srgbClr val="000000"/>
              </a:solidFill>
              <a:effectLst/>
              <a:uFillTx/>
              <a:latin typeface="Times New Roman"/>
              <a:ea typeface="Times New Roman"/>
              <a:cs typeface="Times New Roman"/>
              <a:sym typeface="Times New Roman"/>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04141877"/>
              </p:ext>
            </p:extLst>
          </p:nvPr>
        </p:nvGraphicFramePr>
        <p:xfrm>
          <a:off x="1907704" y="1988840"/>
          <a:ext cx="2405625" cy="1368152"/>
        </p:xfrm>
        <a:graphic>
          <a:graphicData uri="http://schemas.openxmlformats.org/presentationml/2006/ole">
            <mc:AlternateContent xmlns:mc="http://schemas.openxmlformats.org/markup-compatibility/2006">
              <mc:Choice xmlns:v="urn:schemas-microsoft-com:vml" Requires="v">
                <p:oleObj spid="_x0000_s4376" name="Equation" r:id="rId3" imgW="736560" imgH="419040" progId="Equation.DSMT4">
                  <p:embed/>
                </p:oleObj>
              </mc:Choice>
              <mc:Fallback>
                <p:oleObj name="Equation" r:id="rId3" imgW="736560" imgH="41904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1988840"/>
                        <a:ext cx="2405625" cy="1368152"/>
                      </a:xfrm>
                      <a:prstGeom prst="rect">
                        <a:avLst/>
                      </a:prstGeom>
                      <a:noFill/>
                      <a:ln>
                        <a:noFill/>
                      </a:ln>
                    </p:spPr>
                  </p:pic>
                </p:oleObj>
              </mc:Fallback>
            </mc:AlternateContent>
          </a:graphicData>
        </a:graphic>
      </p:graphicFrame>
      <p:sp>
        <p:nvSpPr>
          <p:cNvPr id="5" name="TextBox 4"/>
          <p:cNvSpPr txBox="1"/>
          <p:nvPr/>
        </p:nvSpPr>
        <p:spPr>
          <a:xfrm>
            <a:off x="755576" y="3212976"/>
            <a:ext cx="5832648"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lang="zh-CN" altLang="en-US" b="1" dirty="0" smtClean="0">
                <a:solidFill>
                  <a:srgbClr val="0000CC"/>
                </a:solidFill>
              </a:rPr>
              <a:t>电场强度的大小为：</a:t>
            </a:r>
            <a:endParaRPr kumimoji="0" lang="zh-CN" altLang="en-US" b="1" i="0" u="none" strike="noStrike" cap="none" spc="0" normalizeH="0" baseline="0" dirty="0">
              <a:ln>
                <a:noFill/>
              </a:ln>
              <a:solidFill>
                <a:srgbClr val="0000CC"/>
              </a:solidFill>
              <a:effectLst/>
              <a:uFillTx/>
              <a:sym typeface="Times New Roman"/>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985695520"/>
              </p:ext>
            </p:extLst>
          </p:nvPr>
        </p:nvGraphicFramePr>
        <p:xfrm>
          <a:off x="2195736" y="4077072"/>
          <a:ext cx="2592288" cy="1350943"/>
        </p:xfrm>
        <a:graphic>
          <a:graphicData uri="http://schemas.openxmlformats.org/presentationml/2006/ole">
            <mc:AlternateContent xmlns:mc="http://schemas.openxmlformats.org/markup-compatibility/2006">
              <mc:Choice xmlns:v="urn:schemas-microsoft-com:vml" Requires="v">
                <p:oleObj spid="_x0000_s4377" name="Equation" r:id="rId5" imgW="901440" imgH="469800" progId="Equation.DSMT4">
                  <p:embed/>
                </p:oleObj>
              </mc:Choice>
              <mc:Fallback>
                <p:oleObj name="Equation" r:id="rId5" imgW="901440" imgH="469800"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736" y="4077072"/>
                        <a:ext cx="2592288" cy="135094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71451772"/>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Shape 297"/>
          <p:cNvSpPr/>
          <p:nvPr/>
        </p:nvSpPr>
        <p:spPr>
          <a:xfrm>
            <a:off x="287395" y="421319"/>
            <a:ext cx="4239270" cy="559867"/>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lvl1pPr>
              <a:defRPr sz="3200"/>
            </a:lvl1pPr>
          </a:lstStyle>
          <a:p>
            <a:pPr lvl="0">
              <a:defRPr sz="1800"/>
            </a:pPr>
            <a:r>
              <a:rPr sz="2800" b="1" dirty="0" smtClean="0">
                <a:solidFill>
                  <a:srgbClr val="0000CC"/>
                </a:solidFill>
              </a:rPr>
              <a:t>例题</a:t>
            </a:r>
            <a:r>
              <a:rPr lang="en-US" sz="2800" b="1" dirty="0" smtClean="0">
                <a:solidFill>
                  <a:srgbClr val="0000CC"/>
                </a:solidFill>
              </a:rPr>
              <a:t>1</a:t>
            </a:r>
            <a:r>
              <a:rPr sz="2800" b="1" dirty="0" smtClean="0">
                <a:solidFill>
                  <a:srgbClr val="0000CC"/>
                </a:solidFill>
              </a:rPr>
              <a:t>：</a:t>
            </a:r>
            <a:r>
              <a:rPr sz="2800" b="1" dirty="0">
                <a:solidFill>
                  <a:srgbClr val="0000CC"/>
                </a:solidFill>
              </a:rPr>
              <a:t>点电荷的电场强度</a:t>
            </a:r>
          </a:p>
        </p:txBody>
      </p:sp>
      <p:sp>
        <p:nvSpPr>
          <p:cNvPr id="298" name="Shape 298"/>
          <p:cNvSpPr/>
          <p:nvPr/>
        </p:nvSpPr>
        <p:spPr>
          <a:xfrm>
            <a:off x="539552" y="1340768"/>
            <a:ext cx="7740989" cy="1126432"/>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lvl1pPr>
              <a:defRPr sz="3000"/>
            </a:lvl1pPr>
          </a:lstStyle>
          <a:p>
            <a:pPr lvl="0">
              <a:defRPr sz="1800"/>
            </a:pPr>
            <a:r>
              <a:rPr sz="2800" b="1" dirty="0" err="1"/>
              <a:t>设在真空中有一个静止的点电荷</a:t>
            </a:r>
            <a:r>
              <a:rPr sz="2800" b="1" i="1" dirty="0" err="1"/>
              <a:t>q</a:t>
            </a:r>
            <a:r>
              <a:rPr sz="2800" b="1" dirty="0" err="1"/>
              <a:t>，则距</a:t>
            </a:r>
            <a:r>
              <a:rPr sz="2800" b="1" i="1" dirty="0" err="1"/>
              <a:t>q</a:t>
            </a:r>
            <a:r>
              <a:rPr sz="2800" b="1" dirty="0" err="1"/>
              <a:t>为</a:t>
            </a:r>
            <a:r>
              <a:rPr sz="2800" b="1" i="1" dirty="0" err="1"/>
              <a:t>r</a:t>
            </a:r>
            <a:r>
              <a:rPr sz="2800" b="1" dirty="0" err="1"/>
              <a:t>的P点的电场强度</a:t>
            </a:r>
            <a:r>
              <a:rPr sz="2800" b="1" dirty="0"/>
              <a:t>？</a:t>
            </a:r>
          </a:p>
        </p:txBody>
      </p:sp>
      <p:grpSp>
        <p:nvGrpSpPr>
          <p:cNvPr id="2" name="组合 1"/>
          <p:cNvGrpSpPr/>
          <p:nvPr/>
        </p:nvGrpSpPr>
        <p:grpSpPr>
          <a:xfrm>
            <a:off x="1947863" y="3212976"/>
            <a:ext cx="3210532" cy="1052061"/>
            <a:chOff x="2184400" y="1556795"/>
            <a:chExt cx="3210532" cy="1052061"/>
          </a:xfrm>
        </p:grpSpPr>
        <p:sp>
          <p:nvSpPr>
            <p:cNvPr id="299" name="Shape 299"/>
            <p:cNvSpPr/>
            <p:nvPr/>
          </p:nvSpPr>
          <p:spPr>
            <a:xfrm>
              <a:off x="2184400" y="1556795"/>
              <a:ext cx="487834" cy="48783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215E17"/>
                </a:gs>
                <a:gs pos="80000">
                  <a:srgbClr val="2C7B1E"/>
                </a:gs>
                <a:gs pos="100000">
                  <a:srgbClr val="2B7D1C"/>
                </a:gs>
              </a:gsLst>
              <a:lin ang="16200000"/>
            </a:gradFill>
            <a:ln w="12700">
              <a:miter lim="400000"/>
            </a:ln>
            <a:effectLst>
              <a:outerShdw blurRad="38100" dist="23000" dir="5400000" rotWithShape="0">
                <a:srgbClr val="000000">
                  <a:alpha val="35000"/>
                </a:srgbClr>
              </a:outerShdw>
            </a:effectLst>
          </p:spPr>
          <p:txBody>
            <a:bodyPr lIns="45704" tIns="45705" rIns="45704" bIns="45705"/>
            <a:lstStyle/>
            <a:p>
              <a:pPr defTabSz="914111">
                <a:lnSpc>
                  <a:spcPct val="100000"/>
                </a:lnSpc>
                <a:spcBef>
                  <a:spcPts val="0"/>
                </a:spcBef>
                <a:defRPr>
                  <a:solidFill>
                    <a:srgbClr val="FFFFFF"/>
                  </a:solidFill>
                  <a:latin typeface="Arial"/>
                  <a:ea typeface="Arial"/>
                  <a:cs typeface="Arial"/>
                  <a:sym typeface="Arial"/>
                </a:defRPr>
              </a:pPr>
              <a:endParaRPr/>
            </a:p>
          </p:txBody>
        </p:sp>
        <p:sp>
          <p:nvSpPr>
            <p:cNvPr id="300" name="Shape 300"/>
            <p:cNvSpPr/>
            <p:nvPr/>
          </p:nvSpPr>
          <p:spPr>
            <a:xfrm>
              <a:off x="5109790" y="1586582"/>
              <a:ext cx="97210" cy="9721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ED3921"/>
            </a:solidFill>
            <a:ln>
              <a:solidFill/>
              <a:round/>
            </a:ln>
          </p:spPr>
          <p:txBody>
            <a:bodyPr lIns="0" tIns="0" rIns="0" bIns="0"/>
            <a:lstStyle/>
            <a:p>
              <a:pPr defTabSz="914111">
                <a:lnSpc>
                  <a:spcPct val="100000"/>
                </a:lnSpc>
                <a:spcBef>
                  <a:spcPts val="0"/>
                </a:spcBef>
              </a:pPr>
              <a:endParaRPr/>
            </a:p>
          </p:txBody>
        </p:sp>
        <p:sp>
          <p:nvSpPr>
            <p:cNvPr id="301" name="Shape 301"/>
            <p:cNvSpPr/>
            <p:nvPr/>
          </p:nvSpPr>
          <p:spPr>
            <a:xfrm>
              <a:off x="2348048" y="2044629"/>
              <a:ext cx="271837" cy="564227"/>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p>
              <a:pPr lvl="0">
                <a:spcBef>
                  <a:spcPts val="0"/>
                </a:spcBef>
                <a:defRPr sz="1800"/>
              </a:pPr>
              <a:r>
                <a:rPr lang="en-US" sz="2800" dirty="0" smtClean="0"/>
                <a:t>q</a:t>
              </a:r>
              <a:endParaRPr sz="2800" dirty="0"/>
            </a:p>
          </p:txBody>
        </p:sp>
        <p:sp>
          <p:nvSpPr>
            <p:cNvPr id="10" name="Shape 301"/>
            <p:cNvSpPr/>
            <p:nvPr/>
          </p:nvSpPr>
          <p:spPr>
            <a:xfrm>
              <a:off x="5173969" y="2063521"/>
              <a:ext cx="220963" cy="425298"/>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p>
              <a:pPr lvl="0">
                <a:defRPr sz="1800"/>
              </a:pPr>
              <a:r>
                <a:rPr dirty="0"/>
                <a:t>P</a:t>
              </a:r>
            </a:p>
          </p:txBody>
        </p:sp>
      </p:grpSp>
      <p:sp>
        <p:nvSpPr>
          <p:cNvPr id="3" name="TextBox 2"/>
          <p:cNvSpPr txBox="1"/>
          <p:nvPr/>
        </p:nvSpPr>
        <p:spPr>
          <a:xfrm>
            <a:off x="5796136" y="4797152"/>
            <a:ext cx="2160240" cy="88844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1028700" rtl="0" latinLnBrk="1" hangingPunct="0"/>
            <a:r>
              <a:rPr lang="en-US" altLang="zh-CN" sz="3200" dirty="0" smtClean="0"/>
              <a:t>E=</a:t>
            </a:r>
            <a:r>
              <a:rPr lang="en-US" altLang="zh-CN" sz="3200" dirty="0" err="1" smtClean="0"/>
              <a:t>kq</a:t>
            </a:r>
            <a:r>
              <a:rPr lang="en-US" altLang="zh-CN" sz="3200" dirty="0" smtClean="0"/>
              <a:t>/r</a:t>
            </a:r>
            <a:r>
              <a:rPr lang="en-US" altLang="zh-CN" sz="3200" baseline="30000" dirty="0" smtClean="0"/>
              <a:t>2</a:t>
            </a:r>
            <a:endParaRPr kumimoji="0" lang="zh-CN" altLang="en-US" sz="3200" b="0" i="0" u="none" strike="noStrike" cap="none" spc="0" normalizeH="0" baseline="0" dirty="0">
              <a:ln>
                <a:noFill/>
              </a:ln>
              <a:solidFill>
                <a:srgbClr val="000000"/>
              </a:solidFill>
              <a:effectLst/>
              <a:uFillTx/>
              <a:sym typeface="Times New Roman"/>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836350"/>
            <a:ext cx="8748464" cy="18486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04" tIns="45704" rIns="45704" bIns="45704" numCol="1" spcCol="38088" rtlCol="0" anchor="t">
            <a:spAutoFit/>
          </a:bodyPr>
          <a:lstStyle/>
          <a:p>
            <a:pPr algn="l" rtl="0" latinLnBrk="1" hangingPunct="0"/>
            <a:r>
              <a:rPr lang="zh-CN" altLang="zh-CN" sz="2800" b="1" dirty="0" smtClean="0"/>
              <a:t>如</a:t>
            </a:r>
            <a:r>
              <a:rPr lang="zh-CN" altLang="zh-CN" sz="2800" b="1" dirty="0"/>
              <a:t>图所示，将四个带正电，且带电量均为</a:t>
            </a:r>
            <a:r>
              <a:rPr lang="en-US" altLang="zh-CN" sz="2800" b="1" dirty="0"/>
              <a:t>q</a:t>
            </a:r>
            <a:r>
              <a:rPr lang="zh-CN" altLang="zh-CN" sz="2800" b="1" dirty="0"/>
              <a:t>的点电荷分别放在边长为</a:t>
            </a:r>
            <a:r>
              <a:rPr lang="en-US" altLang="zh-CN" sz="2800" b="1" dirty="0"/>
              <a:t>a</a:t>
            </a:r>
            <a:r>
              <a:rPr lang="zh-CN" altLang="zh-CN" sz="2800" b="1" dirty="0"/>
              <a:t>的正方形的四个顶点上，</a:t>
            </a:r>
            <a:r>
              <a:rPr lang="zh-CN" altLang="en-US" sz="2800" b="1" dirty="0"/>
              <a:t>求</a:t>
            </a:r>
            <a:r>
              <a:rPr lang="zh-CN" altLang="zh-CN" sz="2800" b="1" dirty="0"/>
              <a:t>正方形对角线交点</a:t>
            </a:r>
            <a:r>
              <a:rPr lang="en-US" altLang="zh-CN" sz="2800" b="1" dirty="0"/>
              <a:t>O</a:t>
            </a:r>
            <a:r>
              <a:rPr lang="zh-CN" altLang="zh-CN" sz="2800" b="1" dirty="0"/>
              <a:t>处的电场强度</a:t>
            </a:r>
            <a:r>
              <a:rPr lang="zh-CN" altLang="en-US" sz="2800" b="1" dirty="0" smtClean="0"/>
              <a:t>。</a:t>
            </a:r>
            <a:endParaRPr lang="zh-CN" altLang="zh-CN" sz="2800" b="1" dirty="0"/>
          </a:p>
        </p:txBody>
      </p:sp>
      <p:pic>
        <p:nvPicPr>
          <p:cNvPr id="3" name="Picture 1"/>
          <p:cNvPicPr>
            <a:picLocks noChangeAspect="1" noChangeArrowheads="1"/>
          </p:cNvPicPr>
          <p:nvPr/>
        </p:nvPicPr>
        <p:blipFill>
          <a:blip r:embed="rId3" cstate="print"/>
          <a:srcRect/>
          <a:stretch>
            <a:fillRect/>
          </a:stretch>
        </p:blipFill>
        <p:spPr bwMode="auto">
          <a:xfrm>
            <a:off x="3131840" y="2924944"/>
            <a:ext cx="2109769" cy="1872208"/>
          </a:xfrm>
          <a:prstGeom prst="rect">
            <a:avLst/>
          </a:prstGeom>
          <a:noFill/>
          <a:ln w="9525">
            <a:noFill/>
            <a:miter lim="800000"/>
            <a:headEnd/>
            <a:tailEnd/>
          </a:ln>
        </p:spPr>
      </p:pic>
      <p:sp>
        <p:nvSpPr>
          <p:cNvPr id="4" name="Shape 297"/>
          <p:cNvSpPr/>
          <p:nvPr/>
        </p:nvSpPr>
        <p:spPr>
          <a:xfrm>
            <a:off x="323528" y="260648"/>
            <a:ext cx="4239270" cy="559867"/>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lvl1pPr>
              <a:defRPr sz="3200"/>
            </a:lvl1pPr>
          </a:lstStyle>
          <a:p>
            <a:pPr lvl="0">
              <a:defRPr sz="1800"/>
            </a:pPr>
            <a:r>
              <a:rPr sz="2800" b="1" dirty="0" smtClean="0">
                <a:solidFill>
                  <a:srgbClr val="0000CC"/>
                </a:solidFill>
              </a:rPr>
              <a:t>例题</a:t>
            </a:r>
            <a:r>
              <a:rPr lang="en-US" sz="2800" b="1" dirty="0" smtClean="0">
                <a:solidFill>
                  <a:srgbClr val="0000CC"/>
                </a:solidFill>
              </a:rPr>
              <a:t>2</a:t>
            </a:r>
            <a:r>
              <a:rPr sz="2800" b="1" dirty="0" smtClean="0">
                <a:solidFill>
                  <a:srgbClr val="0000CC"/>
                </a:solidFill>
              </a:rPr>
              <a:t>：</a:t>
            </a:r>
            <a:r>
              <a:rPr sz="2800" b="1" dirty="0">
                <a:solidFill>
                  <a:srgbClr val="0000CC"/>
                </a:solidFill>
              </a:rPr>
              <a:t>点电荷的电场强度</a:t>
            </a:r>
          </a:p>
        </p:txBody>
      </p:sp>
    </p:spTree>
    <p:extLst>
      <p:ext uri="{BB962C8B-B14F-4D97-AF65-F5344CB8AC3E}">
        <p14:creationId xmlns:p14="http://schemas.microsoft.com/office/powerpoint/2010/main" val="3145887671"/>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97"/>
          <p:cNvSpPr/>
          <p:nvPr/>
        </p:nvSpPr>
        <p:spPr>
          <a:xfrm>
            <a:off x="323528" y="260648"/>
            <a:ext cx="2256355" cy="559867"/>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lvl1pPr>
              <a:defRPr sz="3200"/>
            </a:lvl1pPr>
          </a:lstStyle>
          <a:p>
            <a:pPr lvl="0">
              <a:defRPr sz="1800"/>
            </a:pPr>
            <a:r>
              <a:rPr lang="zh-CN" altLang="en-US" sz="2800" b="1" smtClean="0">
                <a:solidFill>
                  <a:srgbClr val="0000CC"/>
                </a:solidFill>
              </a:rPr>
              <a:t>单项选择题：</a:t>
            </a:r>
            <a:endParaRPr sz="2800" b="1" dirty="0">
              <a:solidFill>
                <a:srgbClr val="0000CC"/>
              </a:solidFill>
            </a:endParaRPr>
          </a:p>
        </p:txBody>
      </p:sp>
      <p:sp>
        <p:nvSpPr>
          <p:cNvPr id="3" name="TextBox 2"/>
          <p:cNvSpPr txBox="1"/>
          <p:nvPr/>
        </p:nvSpPr>
        <p:spPr>
          <a:xfrm>
            <a:off x="539552" y="1124744"/>
            <a:ext cx="7560840" cy="34163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1028700" rtl="0" latinLnBrk="1" hangingPunct="0">
              <a:lnSpc>
                <a:spcPct val="150000"/>
              </a:lnSpc>
              <a:spcBef>
                <a:spcPts val="0"/>
              </a:spcBef>
            </a:pPr>
            <a:r>
              <a:rPr lang="zh-CN" altLang="zh-CN" b="1" dirty="0"/>
              <a:t>正方形的两对角上，各置电荷</a:t>
            </a:r>
            <a:r>
              <a:rPr lang="en-US" altLang="zh-CN" b="1" i="1" dirty="0"/>
              <a:t>Q</a:t>
            </a:r>
            <a:r>
              <a:rPr lang="zh-CN" altLang="zh-CN" b="1" dirty="0"/>
              <a:t>，在其余两对角上各置电荷</a:t>
            </a:r>
            <a:r>
              <a:rPr lang="en-US" altLang="zh-CN" b="1" i="1" dirty="0"/>
              <a:t>q</a:t>
            </a:r>
            <a:r>
              <a:rPr lang="zh-CN" altLang="zh-CN" b="1" dirty="0"/>
              <a:t>，若</a:t>
            </a:r>
            <a:r>
              <a:rPr lang="en-US" altLang="zh-CN" b="1" i="1" dirty="0"/>
              <a:t>Q</a:t>
            </a:r>
            <a:r>
              <a:rPr lang="zh-CN" altLang="zh-CN" b="1" dirty="0"/>
              <a:t>所受合力为零，则</a:t>
            </a:r>
            <a:r>
              <a:rPr lang="en-US" altLang="zh-CN" b="1" i="1" dirty="0"/>
              <a:t>Q</a:t>
            </a:r>
            <a:r>
              <a:rPr lang="zh-CN" altLang="zh-CN" b="1" dirty="0"/>
              <a:t>与</a:t>
            </a:r>
            <a:r>
              <a:rPr lang="en-US" altLang="zh-CN" b="1" i="1" dirty="0"/>
              <a:t>q</a:t>
            </a:r>
            <a:r>
              <a:rPr lang="zh-CN" altLang="zh-CN" b="1" dirty="0"/>
              <a:t>的大小关系</a:t>
            </a:r>
            <a:r>
              <a:rPr lang="zh-CN" altLang="zh-CN" b="1" dirty="0" smtClean="0"/>
              <a:t>为</a:t>
            </a:r>
            <a:r>
              <a:rPr lang="zh-CN" altLang="en-US" b="1" dirty="0" smtClean="0"/>
              <a:t>？</a:t>
            </a:r>
            <a:endParaRPr lang="en-US" altLang="zh-CN" b="1" dirty="0" smtClean="0"/>
          </a:p>
          <a:p>
            <a:pPr algn="l" defTabSz="1028700" rtl="0" latinLnBrk="1" hangingPunct="0">
              <a:lnSpc>
                <a:spcPct val="150000"/>
              </a:lnSpc>
              <a:spcBef>
                <a:spcPts val="0"/>
              </a:spcBef>
            </a:pPr>
            <a:r>
              <a:rPr kumimoji="0" lang="en-US" altLang="zh-CN"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A.</a:t>
            </a:r>
          </a:p>
          <a:p>
            <a:pPr algn="l" defTabSz="1028700" rtl="0" latinLnBrk="1" hangingPunct="0">
              <a:lnSpc>
                <a:spcPct val="150000"/>
              </a:lnSpc>
              <a:spcBef>
                <a:spcPts val="0"/>
              </a:spcBef>
            </a:pPr>
            <a:r>
              <a:rPr lang="en-US" altLang="zh-CN" dirty="0" smtClean="0">
                <a:solidFill>
                  <a:srgbClr val="000000"/>
                </a:solidFill>
              </a:rPr>
              <a:t>B.</a:t>
            </a:r>
          </a:p>
          <a:p>
            <a:pPr algn="l" defTabSz="1028700" rtl="0" latinLnBrk="1" hangingPunct="0">
              <a:lnSpc>
                <a:spcPct val="150000"/>
              </a:lnSpc>
              <a:spcBef>
                <a:spcPts val="0"/>
              </a:spcBef>
            </a:pPr>
            <a:r>
              <a:rPr kumimoji="0" lang="en-US" altLang="zh-CN" sz="2400" b="0" i="0" u="none" strike="noStrike" cap="none" spc="0" normalizeH="0" baseline="0" dirty="0" smtClean="0">
                <a:ln>
                  <a:noFill/>
                </a:ln>
                <a:solidFill>
                  <a:srgbClr val="000000"/>
                </a:solidFill>
                <a:effectLst/>
                <a:uFillTx/>
                <a:latin typeface="Times New Roman"/>
                <a:ea typeface="Times New Roman"/>
                <a:cs typeface="Times New Roman"/>
                <a:sym typeface="Times New Roman"/>
              </a:rPr>
              <a:t>C.</a:t>
            </a:r>
          </a:p>
          <a:p>
            <a:pPr algn="l" defTabSz="1028700" rtl="0" latinLnBrk="1" hangingPunct="0">
              <a:lnSpc>
                <a:spcPct val="150000"/>
              </a:lnSpc>
              <a:spcBef>
                <a:spcPts val="0"/>
              </a:spcBef>
            </a:pPr>
            <a:r>
              <a:rPr lang="en-US" altLang="zh-CN" dirty="0" smtClean="0">
                <a:solidFill>
                  <a:srgbClr val="000000"/>
                </a:solidFill>
              </a:rPr>
              <a:t>D.</a:t>
            </a:r>
            <a:endParaRPr kumimoji="0" lang="zh-CN" altLang="en-US" sz="2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46732257"/>
              </p:ext>
            </p:extLst>
          </p:nvPr>
        </p:nvGraphicFramePr>
        <p:xfrm>
          <a:off x="1031875" y="3429000"/>
          <a:ext cx="1235869" cy="451568"/>
        </p:xfrm>
        <a:graphic>
          <a:graphicData uri="http://schemas.openxmlformats.org/presentationml/2006/ole">
            <mc:AlternateContent xmlns:mc="http://schemas.openxmlformats.org/markup-compatibility/2006">
              <mc:Choice xmlns:v="urn:schemas-microsoft-com:vml" Requires="v">
                <p:oleObj spid="_x0000_s5682" name="Equation" r:id="rId4" imgW="660240" imgH="241200" progId="Equation.DSMT4">
                  <p:embed/>
                </p:oleObj>
              </mc:Choice>
              <mc:Fallback>
                <p:oleObj name="Equation" r:id="rId4" imgW="660240" imgH="241200" progId="Equation.DSMT4">
                  <p:embed/>
                  <p:pic>
                    <p:nvPicPr>
                      <p:cNvPr id="0" name=""/>
                      <p:cNvPicPr/>
                      <p:nvPr/>
                    </p:nvPicPr>
                    <p:blipFill>
                      <a:blip r:embed="rId5"/>
                      <a:stretch>
                        <a:fillRect/>
                      </a:stretch>
                    </p:blipFill>
                    <p:spPr>
                      <a:xfrm>
                        <a:off x="1031875" y="3429000"/>
                        <a:ext cx="1235869" cy="45156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909572352"/>
              </p:ext>
            </p:extLst>
          </p:nvPr>
        </p:nvGraphicFramePr>
        <p:xfrm>
          <a:off x="1031875" y="2318499"/>
          <a:ext cx="1091853" cy="397037"/>
        </p:xfrm>
        <a:graphic>
          <a:graphicData uri="http://schemas.openxmlformats.org/presentationml/2006/ole">
            <mc:AlternateContent xmlns:mc="http://schemas.openxmlformats.org/markup-compatibility/2006">
              <mc:Choice xmlns:v="urn:schemas-microsoft-com:vml" Requires="v">
                <p:oleObj spid="_x0000_s5683" name="Equation" r:id="rId6" imgW="558720" imgH="203040" progId="Equation.DSMT4">
                  <p:embed/>
                </p:oleObj>
              </mc:Choice>
              <mc:Fallback>
                <p:oleObj name="Equation" r:id="rId6" imgW="558720" imgH="203040" progId="Equation.DSMT4">
                  <p:embed/>
                  <p:pic>
                    <p:nvPicPr>
                      <p:cNvPr id="0" name=""/>
                      <p:cNvPicPr/>
                      <p:nvPr/>
                    </p:nvPicPr>
                    <p:blipFill>
                      <a:blip r:embed="rId7"/>
                      <a:stretch>
                        <a:fillRect/>
                      </a:stretch>
                    </p:blipFill>
                    <p:spPr>
                      <a:xfrm>
                        <a:off x="1031875" y="2318499"/>
                        <a:ext cx="1091853" cy="397037"/>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446922519"/>
              </p:ext>
            </p:extLst>
          </p:nvPr>
        </p:nvGraphicFramePr>
        <p:xfrm>
          <a:off x="1031875" y="2832903"/>
          <a:ext cx="1091853" cy="396928"/>
        </p:xfrm>
        <a:graphic>
          <a:graphicData uri="http://schemas.openxmlformats.org/presentationml/2006/ole">
            <mc:AlternateContent xmlns:mc="http://schemas.openxmlformats.org/markup-compatibility/2006">
              <mc:Choice xmlns:v="urn:schemas-microsoft-com:vml" Requires="v">
                <p:oleObj spid="_x0000_s5684" name="Equation" r:id="rId8" imgW="558720" imgH="203040" progId="Equation.DSMT4">
                  <p:embed/>
                </p:oleObj>
              </mc:Choice>
              <mc:Fallback>
                <p:oleObj name="Equation" r:id="rId8" imgW="558720" imgH="203040" progId="Equation.DSMT4">
                  <p:embed/>
                  <p:pic>
                    <p:nvPicPr>
                      <p:cNvPr id="0" name="对象 5"/>
                      <p:cNvPicPr>
                        <a:picLocks noChangeAspect="1" noChangeArrowheads="1"/>
                      </p:cNvPicPr>
                      <p:nvPr/>
                    </p:nvPicPr>
                    <p:blipFill>
                      <a:blip r:embed="rId9"/>
                      <a:srcRect/>
                      <a:stretch>
                        <a:fillRect/>
                      </a:stretch>
                    </p:blipFill>
                    <p:spPr bwMode="auto">
                      <a:xfrm>
                        <a:off x="1031875" y="2832903"/>
                        <a:ext cx="1091853" cy="396928"/>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86898006"/>
              </p:ext>
            </p:extLst>
          </p:nvPr>
        </p:nvGraphicFramePr>
        <p:xfrm>
          <a:off x="1031875" y="3998913"/>
          <a:ext cx="1307877" cy="427917"/>
        </p:xfrm>
        <a:graphic>
          <a:graphicData uri="http://schemas.openxmlformats.org/presentationml/2006/ole">
            <mc:AlternateContent xmlns:mc="http://schemas.openxmlformats.org/markup-compatibility/2006">
              <mc:Choice xmlns:v="urn:schemas-microsoft-com:vml" Requires="v">
                <p:oleObj spid="_x0000_s5685" name="Equation" r:id="rId10" imgW="736560" imgH="241200" progId="Equation.DSMT4">
                  <p:embed/>
                </p:oleObj>
              </mc:Choice>
              <mc:Fallback>
                <p:oleObj name="Equation" r:id="rId10" imgW="736560" imgH="241200" progId="Equation.DSMT4">
                  <p:embed/>
                  <p:pic>
                    <p:nvPicPr>
                      <p:cNvPr id="0" name="对象 4"/>
                      <p:cNvPicPr>
                        <a:picLocks noChangeAspect="1" noChangeArrowheads="1"/>
                      </p:cNvPicPr>
                      <p:nvPr/>
                    </p:nvPicPr>
                    <p:blipFill>
                      <a:blip r:embed="rId11"/>
                      <a:srcRect/>
                      <a:stretch>
                        <a:fillRect/>
                      </a:stretch>
                    </p:blipFill>
                    <p:spPr bwMode="auto">
                      <a:xfrm>
                        <a:off x="1031875" y="3998913"/>
                        <a:ext cx="1307877" cy="427917"/>
                      </a:xfrm>
                      <a:prstGeom prst="rect">
                        <a:avLst/>
                      </a:prstGeom>
                      <a:noFill/>
                      <a:ln>
                        <a:noFill/>
                      </a:ln>
                    </p:spPr>
                  </p:pic>
                </p:oleObj>
              </mc:Fallback>
            </mc:AlternateContent>
          </a:graphicData>
        </a:graphic>
      </p:graphicFrame>
      <p:grpSp>
        <p:nvGrpSpPr>
          <p:cNvPr id="19" name="组合 18"/>
          <p:cNvGrpSpPr/>
          <p:nvPr/>
        </p:nvGrpSpPr>
        <p:grpSpPr>
          <a:xfrm rot="18964183">
            <a:off x="4671011" y="2477712"/>
            <a:ext cx="2442458" cy="2127178"/>
            <a:chOff x="4601921" y="2478088"/>
            <a:chExt cx="2442458" cy="2127178"/>
          </a:xfrm>
        </p:grpSpPr>
        <p:sp>
          <p:nvSpPr>
            <p:cNvPr id="9" name="矩形 8"/>
            <p:cNvSpPr/>
            <p:nvPr/>
          </p:nvSpPr>
          <p:spPr>
            <a:xfrm>
              <a:off x="5004048" y="2708920"/>
              <a:ext cx="1656184" cy="1656184"/>
            </a:xfrm>
            <a:prstGeom prst="rect">
              <a:avLst/>
            </a:prstGeom>
            <a:solidFill>
              <a:srgbClr val="FFFFFF"/>
            </a:solidFill>
            <a:ln w="25400" cap="flat">
              <a:solidFill>
                <a:schemeClr val="tx1"/>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1" name="椭圆 10"/>
            <p:cNvSpPr/>
            <p:nvPr/>
          </p:nvSpPr>
          <p:spPr>
            <a:xfrm>
              <a:off x="4932040" y="2688693"/>
              <a:ext cx="144016" cy="144016"/>
            </a:xfrm>
            <a:prstGeom prst="ellipse">
              <a:avLst/>
            </a:prstGeom>
            <a:solidFill>
              <a:srgbClr val="FF0000"/>
            </a:solid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2" name="椭圆 11"/>
            <p:cNvSpPr/>
            <p:nvPr/>
          </p:nvSpPr>
          <p:spPr>
            <a:xfrm>
              <a:off x="6588224" y="4221088"/>
              <a:ext cx="144016" cy="144016"/>
            </a:xfrm>
            <a:prstGeom prst="ellipse">
              <a:avLst/>
            </a:prstGeom>
            <a:solidFill>
              <a:srgbClr val="FF0000"/>
            </a:solid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3" name="椭圆 12"/>
            <p:cNvSpPr/>
            <p:nvPr/>
          </p:nvSpPr>
          <p:spPr>
            <a:xfrm>
              <a:off x="4914060" y="4280117"/>
              <a:ext cx="144016" cy="144016"/>
            </a:xfrm>
            <a:prstGeom prst="ellipse">
              <a:avLst/>
            </a:prstGeom>
            <a:solidFill>
              <a:srgbClr val="0000CC"/>
            </a:solidFill>
            <a:ln w="25400" cap="flat">
              <a:solidFill>
                <a:srgbClr val="0000CC"/>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4" name="椭圆 13"/>
            <p:cNvSpPr/>
            <p:nvPr/>
          </p:nvSpPr>
          <p:spPr>
            <a:xfrm>
              <a:off x="6588224" y="2636912"/>
              <a:ext cx="144016" cy="144016"/>
            </a:xfrm>
            <a:prstGeom prst="ellipse">
              <a:avLst/>
            </a:prstGeom>
            <a:solidFill>
              <a:srgbClr val="0000CC"/>
            </a:solidFill>
            <a:ln w="25400" cap="flat">
              <a:solidFill>
                <a:srgbClr val="0000CC"/>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5" name="TextBox 14"/>
            <p:cNvSpPr txBox="1"/>
            <p:nvPr/>
          </p:nvSpPr>
          <p:spPr>
            <a:xfrm>
              <a:off x="6732240" y="4134272"/>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a:solidFill>
                    <a:srgbClr val="000000"/>
                  </a:solidFill>
                </a:rPr>
                <a:t>Q</a:t>
              </a:r>
              <a:endParaRPr kumimoji="0" lang="zh-CN" altLang="en-US" sz="2000" b="1" i="1" u="none" strike="noStrike" cap="none" spc="0" normalizeH="0" baseline="0">
                <a:ln>
                  <a:noFill/>
                </a:ln>
                <a:solidFill>
                  <a:srgbClr val="000000"/>
                </a:solidFill>
                <a:effectLst/>
                <a:uFillTx/>
                <a:sym typeface="Times New Roman"/>
              </a:endParaRPr>
            </a:p>
          </p:txBody>
        </p:sp>
        <p:sp>
          <p:nvSpPr>
            <p:cNvPr id="16" name="TextBox 15"/>
            <p:cNvSpPr txBox="1"/>
            <p:nvPr/>
          </p:nvSpPr>
          <p:spPr>
            <a:xfrm>
              <a:off x="4601921" y="2492936"/>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a:solidFill>
                    <a:srgbClr val="000000"/>
                  </a:solidFill>
                </a:rPr>
                <a:t>Q</a:t>
              </a:r>
              <a:endParaRPr kumimoji="0" lang="zh-CN" altLang="en-US" sz="2000" b="1" i="1" u="none" strike="noStrike" cap="none" spc="0" normalizeH="0" baseline="0">
                <a:ln>
                  <a:noFill/>
                </a:ln>
                <a:solidFill>
                  <a:srgbClr val="000000"/>
                </a:solidFill>
                <a:effectLst/>
                <a:uFillTx/>
                <a:sym typeface="Times New Roman"/>
              </a:endParaRPr>
            </a:p>
          </p:txBody>
        </p:sp>
        <p:sp>
          <p:nvSpPr>
            <p:cNvPr id="17" name="TextBox 16"/>
            <p:cNvSpPr txBox="1"/>
            <p:nvPr/>
          </p:nvSpPr>
          <p:spPr>
            <a:xfrm>
              <a:off x="4618261" y="4143603"/>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q</a:t>
              </a:r>
              <a:endParaRPr kumimoji="0" lang="zh-CN" altLang="en-US" sz="2000" b="1" i="1" u="none" strike="noStrike" cap="none" spc="0" normalizeH="0" baseline="0">
                <a:ln>
                  <a:noFill/>
                </a:ln>
                <a:solidFill>
                  <a:srgbClr val="000000"/>
                </a:solidFill>
                <a:effectLst/>
                <a:uFillTx/>
                <a:sym typeface="Times New Roman"/>
              </a:endParaRPr>
            </a:p>
          </p:txBody>
        </p:sp>
        <p:sp>
          <p:nvSpPr>
            <p:cNvPr id="18" name="TextBox 17"/>
            <p:cNvSpPr txBox="1"/>
            <p:nvPr/>
          </p:nvSpPr>
          <p:spPr>
            <a:xfrm>
              <a:off x="6732240" y="2478088"/>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q</a:t>
              </a:r>
              <a:endParaRPr kumimoji="0" lang="zh-CN" altLang="en-US" sz="2000" b="1" i="1" u="none" strike="noStrike" cap="none" spc="0" normalizeH="0" baseline="0">
                <a:ln>
                  <a:noFill/>
                </a:ln>
                <a:solidFill>
                  <a:srgbClr val="000000"/>
                </a:solidFill>
                <a:effectLst/>
                <a:uFillTx/>
                <a:sym typeface="Times New Roman"/>
              </a:endParaRPr>
            </a:p>
          </p:txBody>
        </p:sp>
      </p:grpSp>
    </p:spTree>
    <p:extLst>
      <p:ext uri="{BB962C8B-B14F-4D97-AF65-F5344CB8AC3E}">
        <p14:creationId xmlns:p14="http://schemas.microsoft.com/office/powerpoint/2010/main" val="389770803"/>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5576" y="548680"/>
            <a:ext cx="7704856" cy="198002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3200" b="1" i="0" u="none" strike="noStrike" cap="none" spc="0" normalizeH="0" baseline="0" dirty="0" smtClean="0">
                <a:ln>
                  <a:noFill/>
                </a:ln>
                <a:solidFill>
                  <a:srgbClr val="0000CC"/>
                </a:solidFill>
                <a:effectLst/>
                <a:uFillTx/>
                <a:latin typeface="Times New Roman"/>
                <a:ea typeface="Times New Roman"/>
                <a:cs typeface="Times New Roman"/>
                <a:sym typeface="Times New Roman"/>
              </a:rPr>
              <a:t>计算题</a:t>
            </a:r>
            <a:r>
              <a:rPr kumimoji="0" lang="en-US" altLang="zh-CN" sz="3200" b="1" i="0" u="none" strike="noStrike" cap="none" spc="0" normalizeH="0" baseline="0" dirty="0" smtClean="0">
                <a:ln>
                  <a:noFill/>
                </a:ln>
                <a:solidFill>
                  <a:srgbClr val="0000CC"/>
                </a:solidFill>
                <a:effectLst/>
                <a:uFillTx/>
                <a:latin typeface="Times New Roman"/>
                <a:ea typeface="Times New Roman"/>
                <a:cs typeface="Times New Roman"/>
                <a:sym typeface="Times New Roman"/>
              </a:rPr>
              <a:t>1</a:t>
            </a:r>
            <a:r>
              <a:rPr kumimoji="0" lang="zh-CN" altLang="en-US" sz="3200" b="1" i="0" u="none" strike="noStrike" cap="none" spc="0" normalizeH="0" baseline="0" dirty="0" smtClean="0">
                <a:ln>
                  <a:noFill/>
                </a:ln>
                <a:solidFill>
                  <a:srgbClr val="0000CC"/>
                </a:solidFill>
                <a:effectLst/>
                <a:uFillTx/>
                <a:latin typeface="Times New Roman"/>
                <a:ea typeface="Times New Roman"/>
                <a:cs typeface="Times New Roman"/>
                <a:sym typeface="Times New Roman"/>
              </a:rPr>
              <a:t>：</a:t>
            </a:r>
            <a:endParaRPr kumimoji="0" lang="en-US" altLang="zh-CN" sz="3200" b="1" i="0" u="none" strike="noStrike" cap="none" spc="0" normalizeH="0" baseline="0" dirty="0" smtClean="0">
              <a:ln>
                <a:noFill/>
              </a:ln>
              <a:solidFill>
                <a:srgbClr val="0000CC"/>
              </a:solidFill>
              <a:effectLst/>
              <a:uFillTx/>
              <a:latin typeface="Times New Roman"/>
              <a:ea typeface="Times New Roman"/>
              <a:cs typeface="Times New Roman"/>
              <a:sym typeface="Times New Roman"/>
            </a:endParaRPr>
          </a:p>
          <a:p>
            <a:pPr marL="0" marR="0" indent="0" algn="l" defTabSz="1028700" rtl="0" fontAlgn="auto" latinLnBrk="1" hangingPunct="0">
              <a:lnSpc>
                <a:spcPct val="150000"/>
              </a:lnSpc>
              <a:spcBef>
                <a:spcPts val="0"/>
              </a:spcBef>
              <a:spcAft>
                <a:spcPts val="0"/>
              </a:spcAft>
              <a:buClrTx/>
              <a:buSzTx/>
              <a:buFontTx/>
              <a:buNone/>
              <a:tabLst/>
            </a:pPr>
            <a:r>
              <a:rPr lang="zh-CN" altLang="en-US" b="1" dirty="0" smtClean="0">
                <a:solidFill>
                  <a:srgbClr val="000000"/>
                </a:solidFill>
              </a:rPr>
              <a:t>边长为</a:t>
            </a:r>
            <a:r>
              <a:rPr lang="en-US" altLang="zh-CN" b="1" dirty="0" smtClean="0">
                <a:solidFill>
                  <a:srgbClr val="000000"/>
                </a:solidFill>
              </a:rPr>
              <a:t>a</a:t>
            </a:r>
            <a:r>
              <a:rPr lang="zh-CN" altLang="en-US" b="1" dirty="0" smtClean="0">
                <a:solidFill>
                  <a:srgbClr val="000000"/>
                </a:solidFill>
              </a:rPr>
              <a:t>的正方形的四个顶点上放置如图所示的点电荷，则中心</a:t>
            </a:r>
            <a:r>
              <a:rPr lang="en-US" altLang="zh-CN" b="1" dirty="0" smtClean="0">
                <a:solidFill>
                  <a:srgbClr val="000000"/>
                </a:solidFill>
              </a:rPr>
              <a:t>O</a:t>
            </a:r>
            <a:r>
              <a:rPr lang="zh-CN" altLang="en-US" b="1" dirty="0" smtClean="0">
                <a:solidFill>
                  <a:srgbClr val="000000"/>
                </a:solidFill>
              </a:rPr>
              <a:t>点处的场强为多少？</a:t>
            </a:r>
            <a:endParaRPr kumimoji="0" lang="zh-CN" altLang="en-US" sz="2400" b="1" i="0" u="none" strike="noStrike" cap="none" spc="0" normalizeH="0" baseline="0" dirty="0">
              <a:ln>
                <a:noFill/>
              </a:ln>
              <a:solidFill>
                <a:srgbClr val="000000"/>
              </a:solidFill>
              <a:effectLst/>
              <a:uFillTx/>
              <a:sym typeface="Times New Roman"/>
            </a:endParaRPr>
          </a:p>
        </p:txBody>
      </p:sp>
      <p:grpSp>
        <p:nvGrpSpPr>
          <p:cNvPr id="24" name="组合 23"/>
          <p:cNvGrpSpPr/>
          <p:nvPr/>
        </p:nvGrpSpPr>
        <p:grpSpPr>
          <a:xfrm>
            <a:off x="2416317" y="2528707"/>
            <a:ext cx="2875409" cy="2557139"/>
            <a:chOff x="3466122" y="2649677"/>
            <a:chExt cx="2875409" cy="2557139"/>
          </a:xfrm>
        </p:grpSpPr>
        <p:grpSp>
          <p:nvGrpSpPr>
            <p:cNvPr id="4" name="组合 3"/>
            <p:cNvGrpSpPr/>
            <p:nvPr/>
          </p:nvGrpSpPr>
          <p:grpSpPr>
            <a:xfrm>
              <a:off x="3466122" y="3079638"/>
              <a:ext cx="2762062" cy="2127178"/>
              <a:chOff x="4601921" y="2478088"/>
              <a:chExt cx="2762062" cy="2127178"/>
            </a:xfrm>
          </p:grpSpPr>
          <p:sp>
            <p:nvSpPr>
              <p:cNvPr id="5" name="矩形 4"/>
              <p:cNvSpPr/>
              <p:nvPr/>
            </p:nvSpPr>
            <p:spPr>
              <a:xfrm>
                <a:off x="5004048" y="2708920"/>
                <a:ext cx="1656184" cy="1656184"/>
              </a:xfrm>
              <a:prstGeom prst="rect">
                <a:avLst/>
              </a:prstGeom>
              <a:solidFill>
                <a:srgbClr val="FFFFFF"/>
              </a:solidFill>
              <a:ln w="25400" cap="flat">
                <a:solidFill>
                  <a:schemeClr val="tx1"/>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6" name="椭圆 5"/>
              <p:cNvSpPr/>
              <p:nvPr/>
            </p:nvSpPr>
            <p:spPr>
              <a:xfrm>
                <a:off x="4932040" y="2688693"/>
                <a:ext cx="144016" cy="144016"/>
              </a:xfrm>
              <a:prstGeom prst="ellipse">
                <a:avLst/>
              </a:prstGeom>
              <a:solidFill>
                <a:srgbClr val="FF0000"/>
              </a:solid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7" name="椭圆 6"/>
              <p:cNvSpPr/>
              <p:nvPr/>
            </p:nvSpPr>
            <p:spPr>
              <a:xfrm>
                <a:off x="6588224" y="4221088"/>
                <a:ext cx="144016" cy="144016"/>
              </a:xfrm>
              <a:prstGeom prst="ellipse">
                <a:avLst/>
              </a:prstGeom>
              <a:solidFill>
                <a:srgbClr val="FF0000"/>
              </a:solid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8" name="椭圆 7"/>
              <p:cNvSpPr/>
              <p:nvPr/>
            </p:nvSpPr>
            <p:spPr>
              <a:xfrm>
                <a:off x="4914060" y="4280117"/>
                <a:ext cx="144016" cy="144016"/>
              </a:xfrm>
              <a:prstGeom prst="ellipse">
                <a:avLst/>
              </a:prstGeom>
              <a:solidFill>
                <a:srgbClr val="0000CC"/>
              </a:solidFill>
              <a:ln w="25400" cap="flat">
                <a:solidFill>
                  <a:srgbClr val="0000CC"/>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9" name="椭圆 8"/>
              <p:cNvSpPr/>
              <p:nvPr/>
            </p:nvSpPr>
            <p:spPr>
              <a:xfrm>
                <a:off x="6588224" y="2636912"/>
                <a:ext cx="144016" cy="144016"/>
              </a:xfrm>
              <a:prstGeom prst="ellipse">
                <a:avLst/>
              </a:prstGeom>
              <a:solidFill>
                <a:srgbClr val="0000CC"/>
              </a:solidFill>
              <a:ln w="25400" cap="flat">
                <a:solidFill>
                  <a:srgbClr val="0000CC"/>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000000"/>
                  </a:solidFill>
                  <a:effectLst/>
                  <a:uFillTx/>
                  <a:latin typeface="Arial"/>
                  <a:ea typeface="Arial"/>
                  <a:cs typeface="Arial"/>
                  <a:sym typeface="Arial"/>
                </a:endParaRPr>
              </a:p>
            </p:txBody>
          </p:sp>
          <p:sp>
            <p:nvSpPr>
              <p:cNvPr id="10" name="TextBox 9"/>
              <p:cNvSpPr txBox="1"/>
              <p:nvPr/>
            </p:nvSpPr>
            <p:spPr>
              <a:xfrm>
                <a:off x="6732240" y="4134272"/>
                <a:ext cx="487727"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2q</a:t>
                </a:r>
                <a:endParaRPr kumimoji="0" lang="zh-CN" altLang="en-US" sz="2000" b="1" i="1" u="none" strike="noStrike" cap="none" spc="0" normalizeH="0" baseline="0">
                  <a:ln>
                    <a:noFill/>
                  </a:ln>
                  <a:solidFill>
                    <a:srgbClr val="000000"/>
                  </a:solidFill>
                  <a:effectLst/>
                  <a:uFillTx/>
                  <a:sym typeface="Times New Roman"/>
                </a:endParaRPr>
              </a:p>
            </p:txBody>
          </p:sp>
          <p:sp>
            <p:nvSpPr>
              <p:cNvPr id="11" name="TextBox 10"/>
              <p:cNvSpPr txBox="1"/>
              <p:nvPr/>
            </p:nvSpPr>
            <p:spPr>
              <a:xfrm>
                <a:off x="4601921" y="2492936"/>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q</a:t>
                </a:r>
                <a:endParaRPr kumimoji="0" lang="zh-CN" altLang="en-US" sz="2000" b="1" i="1" u="none" strike="noStrike" cap="none" spc="0" normalizeH="0" baseline="0">
                  <a:ln>
                    <a:noFill/>
                  </a:ln>
                  <a:solidFill>
                    <a:srgbClr val="000000"/>
                  </a:solidFill>
                  <a:effectLst/>
                  <a:uFillTx/>
                  <a:sym typeface="Times New Roman"/>
                </a:endParaRPr>
              </a:p>
            </p:txBody>
          </p:sp>
          <p:sp>
            <p:nvSpPr>
              <p:cNvPr id="12" name="TextBox 11"/>
              <p:cNvSpPr txBox="1"/>
              <p:nvPr/>
            </p:nvSpPr>
            <p:spPr>
              <a:xfrm>
                <a:off x="4618261" y="4143603"/>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-q</a:t>
                </a:r>
                <a:endParaRPr kumimoji="0" lang="zh-CN" altLang="en-US" sz="2000" b="1" i="1" u="none" strike="noStrike" cap="none" spc="0" normalizeH="0" baseline="0">
                  <a:ln>
                    <a:noFill/>
                  </a:ln>
                  <a:solidFill>
                    <a:srgbClr val="000000"/>
                  </a:solidFill>
                  <a:effectLst/>
                  <a:uFillTx/>
                  <a:sym typeface="Times New Roman"/>
                </a:endParaRPr>
              </a:p>
            </p:txBody>
          </p:sp>
          <p:sp>
            <p:nvSpPr>
              <p:cNvPr id="13" name="TextBox 12"/>
              <p:cNvSpPr txBox="1"/>
              <p:nvPr/>
            </p:nvSpPr>
            <p:spPr>
              <a:xfrm>
                <a:off x="6732240" y="2478088"/>
                <a:ext cx="631743"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-2q</a:t>
                </a:r>
                <a:endParaRPr kumimoji="0" lang="zh-CN" altLang="en-US" sz="2000" b="1" i="1" u="none" strike="noStrike" cap="none" spc="0" normalizeH="0" baseline="0">
                  <a:ln>
                    <a:noFill/>
                  </a:ln>
                  <a:solidFill>
                    <a:srgbClr val="000000"/>
                  </a:solidFill>
                  <a:effectLst/>
                  <a:uFillTx/>
                  <a:sym typeface="Times New Roman"/>
                </a:endParaRPr>
              </a:p>
            </p:txBody>
          </p:sp>
        </p:grpSp>
        <p:cxnSp>
          <p:nvCxnSpPr>
            <p:cNvPr id="16" name="直接箭头连接符 15"/>
            <p:cNvCxnSpPr/>
            <p:nvPr/>
          </p:nvCxnSpPr>
          <p:spPr>
            <a:xfrm>
              <a:off x="4696341" y="4138562"/>
              <a:ext cx="1387827" cy="0"/>
            </a:xfrm>
            <a:prstGeom prst="straightConnector1">
              <a:avLst/>
            </a:prstGeom>
            <a:noFill/>
            <a:ln w="25400" cap="flat">
              <a:solidFill>
                <a:schemeClr val="tx1"/>
              </a:solidFill>
              <a:prstDash val="solid"/>
              <a:bevel/>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18" name="直接箭头连接符 17"/>
            <p:cNvCxnSpPr/>
            <p:nvPr/>
          </p:nvCxnSpPr>
          <p:spPr>
            <a:xfrm flipV="1">
              <a:off x="4696341" y="2880509"/>
              <a:ext cx="0" cy="1258053"/>
            </a:xfrm>
            <a:prstGeom prst="straightConnector1">
              <a:avLst/>
            </a:prstGeom>
            <a:noFill/>
            <a:ln w="25400" cap="flat">
              <a:solidFill>
                <a:schemeClr val="tx1"/>
              </a:solidFill>
              <a:prstDash val="solid"/>
              <a:bevel/>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1" name="TextBox 20"/>
            <p:cNvSpPr txBox="1"/>
            <p:nvPr/>
          </p:nvSpPr>
          <p:spPr>
            <a:xfrm>
              <a:off x="4384202" y="3907730"/>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O</a:t>
              </a:r>
              <a:endParaRPr kumimoji="0" lang="zh-CN" altLang="en-US" sz="2000" b="1" i="1" u="none" strike="noStrike" cap="none" spc="0" normalizeH="0" baseline="0">
                <a:ln>
                  <a:noFill/>
                </a:ln>
                <a:solidFill>
                  <a:srgbClr val="000000"/>
                </a:solidFill>
                <a:effectLst/>
                <a:uFillTx/>
                <a:sym typeface="Times New Roman"/>
              </a:endParaRPr>
            </a:p>
          </p:txBody>
        </p:sp>
        <p:sp>
          <p:nvSpPr>
            <p:cNvPr id="22" name="TextBox 21"/>
            <p:cNvSpPr txBox="1"/>
            <p:nvPr/>
          </p:nvSpPr>
          <p:spPr>
            <a:xfrm>
              <a:off x="4779444" y="2649677"/>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y</a:t>
              </a:r>
              <a:endParaRPr kumimoji="0" lang="zh-CN" altLang="en-US" sz="2000" b="1" i="1" u="none" strike="noStrike" cap="none" spc="0" normalizeH="0" baseline="0">
                <a:ln>
                  <a:noFill/>
                </a:ln>
                <a:solidFill>
                  <a:srgbClr val="000000"/>
                </a:solidFill>
                <a:effectLst/>
                <a:uFillTx/>
                <a:sym typeface="Times New Roman"/>
              </a:endParaRPr>
            </a:p>
          </p:txBody>
        </p:sp>
        <p:sp>
          <p:nvSpPr>
            <p:cNvPr id="23" name="TextBox 22"/>
            <p:cNvSpPr txBox="1"/>
            <p:nvPr/>
          </p:nvSpPr>
          <p:spPr>
            <a:xfrm>
              <a:off x="6029392" y="3685015"/>
              <a:ext cx="312139" cy="46166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lang="en-US" altLang="zh-CN" sz="2000" b="1" i="1" smtClean="0">
                  <a:solidFill>
                    <a:srgbClr val="000000"/>
                  </a:solidFill>
                </a:rPr>
                <a:t>x</a:t>
              </a:r>
              <a:endParaRPr kumimoji="0" lang="zh-CN" altLang="en-US" sz="2000" b="1" i="1" u="none" strike="noStrike" cap="none" spc="0" normalizeH="0" baseline="0">
                <a:ln>
                  <a:noFill/>
                </a:ln>
                <a:solidFill>
                  <a:srgbClr val="000000"/>
                </a:solidFill>
                <a:effectLst/>
                <a:uFillTx/>
                <a:sym typeface="Times New Roman"/>
              </a:endParaRPr>
            </a:p>
          </p:txBody>
        </p:sp>
      </p:grpSp>
    </p:spTree>
    <p:extLst>
      <p:ext uri="{BB962C8B-B14F-4D97-AF65-F5344CB8AC3E}">
        <p14:creationId xmlns:p14="http://schemas.microsoft.com/office/powerpoint/2010/main" val="2049391972"/>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603291305"/>
              </p:ext>
            </p:extLst>
          </p:nvPr>
        </p:nvGraphicFramePr>
        <p:xfrm>
          <a:off x="2123728" y="2060848"/>
          <a:ext cx="1152525" cy="1092200"/>
        </p:xfrm>
        <a:graphic>
          <a:graphicData uri="http://schemas.openxmlformats.org/presentationml/2006/ole">
            <mc:AlternateContent xmlns:mc="http://schemas.openxmlformats.org/markup-compatibility/2006">
              <mc:Choice xmlns:v="urn:schemas-microsoft-com:vml" Requires="v">
                <p:oleObj spid="_x0000_s9415" name="Equation" r:id="rId3" imgW="495085" imgH="469696" progId="Equation.DSMT4">
                  <p:embed/>
                </p:oleObj>
              </mc:Choice>
              <mc:Fallback>
                <p:oleObj name="Equation" r:id="rId3" imgW="495085" imgH="469696"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2060848"/>
                        <a:ext cx="1152525" cy="1092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p:nvPr/>
        </p:nvSpPr>
        <p:spPr>
          <a:xfrm>
            <a:off x="3851920" y="2276872"/>
            <a:ext cx="2689660" cy="5355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spcBef>
                <a:spcPts val="0"/>
              </a:spcBef>
            </a:pPr>
            <a:r>
              <a:rPr lang="zh-CN" altLang="zh-CN" b="1"/>
              <a:t>方向沿</a:t>
            </a:r>
            <a:r>
              <a:rPr lang="en-US" altLang="zh-CN" b="1"/>
              <a:t>y</a:t>
            </a:r>
            <a:r>
              <a:rPr lang="zh-CN" altLang="zh-CN" b="1"/>
              <a:t>轴正方向</a:t>
            </a:r>
          </a:p>
        </p:txBody>
      </p:sp>
      <p:graphicFrame>
        <p:nvGraphicFramePr>
          <p:cNvPr id="4" name="对象 3"/>
          <p:cNvGraphicFramePr>
            <a:graphicFrameLocks noChangeAspect="1"/>
          </p:cNvGraphicFramePr>
          <p:nvPr>
            <p:extLst>
              <p:ext uri="{D42A27DB-BD31-4B8C-83A1-F6EECF244321}">
                <p14:modId xmlns:p14="http://schemas.microsoft.com/office/powerpoint/2010/main" val="2286106347"/>
              </p:ext>
            </p:extLst>
          </p:nvPr>
        </p:nvGraphicFramePr>
        <p:xfrm>
          <a:off x="2123728" y="3429000"/>
          <a:ext cx="1080120" cy="966423"/>
        </p:xfrm>
        <a:graphic>
          <a:graphicData uri="http://schemas.openxmlformats.org/presentationml/2006/ole">
            <mc:AlternateContent xmlns:mc="http://schemas.openxmlformats.org/markup-compatibility/2006">
              <mc:Choice xmlns:v="urn:schemas-microsoft-com:vml" Requires="v">
                <p:oleObj spid="_x0000_s9416" name="Equation" r:id="rId5" imgW="482400" imgH="431640" progId="Equation.DSMT4">
                  <p:embed/>
                </p:oleObj>
              </mc:Choice>
              <mc:Fallback>
                <p:oleObj name="Equation" r:id="rId5" imgW="482400" imgH="431640" progId="Equation.DSMT4">
                  <p:embed/>
                  <p:pic>
                    <p:nvPicPr>
                      <p:cNvPr id="0" name=""/>
                      <p:cNvPicPr/>
                      <p:nvPr/>
                    </p:nvPicPr>
                    <p:blipFill>
                      <a:blip r:embed="rId6"/>
                      <a:stretch>
                        <a:fillRect/>
                      </a:stretch>
                    </p:blipFill>
                    <p:spPr>
                      <a:xfrm>
                        <a:off x="2123728" y="3429000"/>
                        <a:ext cx="1080120" cy="966423"/>
                      </a:xfrm>
                      <a:prstGeom prst="rect">
                        <a:avLst/>
                      </a:prstGeom>
                    </p:spPr>
                  </p:pic>
                </p:oleObj>
              </mc:Fallback>
            </mc:AlternateContent>
          </a:graphicData>
        </a:graphic>
      </p:graphicFrame>
    </p:spTree>
    <p:extLst>
      <p:ext uri="{BB962C8B-B14F-4D97-AF65-F5344CB8AC3E}">
        <p14:creationId xmlns:p14="http://schemas.microsoft.com/office/powerpoint/2010/main" val="2334195806"/>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3" name="Group 323"/>
          <p:cNvGrpSpPr/>
          <p:nvPr/>
        </p:nvGrpSpPr>
        <p:grpSpPr>
          <a:xfrm>
            <a:off x="6154737" y="2492374"/>
            <a:ext cx="2847976" cy="1982790"/>
            <a:chOff x="0" y="0"/>
            <a:chExt cx="2847975" cy="1982788"/>
          </a:xfrm>
        </p:grpSpPr>
        <p:grpSp>
          <p:nvGrpSpPr>
            <p:cNvPr id="321" name="Group 321"/>
            <p:cNvGrpSpPr/>
            <p:nvPr/>
          </p:nvGrpSpPr>
          <p:grpSpPr>
            <a:xfrm>
              <a:off x="-1" y="-1"/>
              <a:ext cx="2847977" cy="1982790"/>
              <a:chOff x="0" y="0"/>
              <a:chExt cx="2847975" cy="1982788"/>
            </a:xfrm>
          </p:grpSpPr>
          <p:sp>
            <p:nvSpPr>
              <p:cNvPr id="316" name="Shape 316"/>
              <p:cNvSpPr/>
              <p:nvPr/>
            </p:nvSpPr>
            <p:spPr>
              <a:xfrm>
                <a:off x="48270" y="-1"/>
                <a:ext cx="2654893" cy="145793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29"/>
                      <a:pt x="11929" y="21599"/>
                      <a:pt x="0" y="21600"/>
                    </a:cubicBezTo>
                  </a:path>
                </a:pathLst>
              </a:custGeom>
              <a:noFill/>
              <a:ln w="25400" cap="rnd">
                <a:solidFill>
                  <a:srgbClr val="3B812F"/>
                </a:solidFill>
                <a:prstDash val="solid"/>
                <a:round/>
                <a:headEnd type="triangle" w="med" len="med"/>
              </a:ln>
              <a:effectLst/>
            </p:spPr>
            <p:txBody>
              <a:bodyPr wrap="square" lIns="0" tIns="0" rIns="0" bIns="0" numCol="1" anchor="t">
                <a:noAutofit/>
              </a:bodyPr>
              <a:lstStyle/>
              <a:p>
                <a:pPr defTabSz="914111">
                  <a:lnSpc>
                    <a:spcPct val="100000"/>
                  </a:lnSpc>
                  <a:spcBef>
                    <a:spcPts val="0"/>
                  </a:spcBef>
                </a:pPr>
                <a:endParaRPr/>
              </a:p>
            </p:txBody>
          </p:sp>
          <p:sp>
            <p:nvSpPr>
              <p:cNvPr id="317" name="Shape 317"/>
              <p:cNvSpPr/>
              <p:nvPr/>
            </p:nvSpPr>
            <p:spPr>
              <a:xfrm>
                <a:off x="193082" y="1049711"/>
                <a:ext cx="2461811" cy="6998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29"/>
                      <a:pt x="11929" y="21599"/>
                      <a:pt x="0" y="21600"/>
                    </a:cubicBezTo>
                  </a:path>
                </a:pathLst>
              </a:custGeom>
              <a:noFill/>
              <a:ln w="25400" cap="rnd">
                <a:solidFill>
                  <a:srgbClr val="3B812F"/>
                </a:solidFill>
                <a:prstDash val="solid"/>
                <a:round/>
                <a:headEnd type="triangle" w="med" len="med"/>
              </a:ln>
              <a:effectLst/>
            </p:spPr>
            <p:txBody>
              <a:bodyPr wrap="square" lIns="0" tIns="0" rIns="0" bIns="0" numCol="1" anchor="t">
                <a:noAutofit/>
              </a:bodyPr>
              <a:lstStyle/>
              <a:p>
                <a:pPr defTabSz="914111">
                  <a:lnSpc>
                    <a:spcPct val="100000"/>
                  </a:lnSpc>
                  <a:spcBef>
                    <a:spcPts val="0"/>
                  </a:spcBef>
                </a:pPr>
                <a:endParaRPr/>
              </a:p>
            </p:txBody>
          </p:sp>
          <p:sp>
            <p:nvSpPr>
              <p:cNvPr id="318" name="Shape 318"/>
              <p:cNvSpPr/>
              <p:nvPr/>
            </p:nvSpPr>
            <p:spPr>
              <a:xfrm>
                <a:off x="-1" y="408480"/>
                <a:ext cx="1830181" cy="75786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9184" y="12675"/>
                      <a:pt x="10258" y="21599"/>
                      <a:pt x="0" y="21600"/>
                    </a:cubicBezTo>
                  </a:path>
                </a:pathLst>
              </a:custGeom>
              <a:noFill/>
              <a:ln w="25400" cap="rnd">
                <a:solidFill>
                  <a:srgbClr val="3B812F"/>
                </a:solidFill>
                <a:prstDash val="solid"/>
                <a:round/>
                <a:headEnd type="triangle" w="med" len="med"/>
              </a:ln>
              <a:effectLst/>
            </p:spPr>
            <p:txBody>
              <a:bodyPr wrap="square" lIns="0" tIns="0" rIns="0" bIns="0" numCol="1" anchor="t">
                <a:noAutofit/>
              </a:bodyPr>
              <a:lstStyle/>
              <a:p>
                <a:pPr defTabSz="914111">
                  <a:lnSpc>
                    <a:spcPct val="100000"/>
                  </a:lnSpc>
                  <a:spcBef>
                    <a:spcPts val="0"/>
                  </a:spcBef>
                </a:pPr>
                <a:endParaRPr/>
              </a:p>
            </p:txBody>
          </p:sp>
          <p:sp>
            <p:nvSpPr>
              <p:cNvPr id="319" name="Shape 319"/>
              <p:cNvSpPr/>
              <p:nvPr/>
            </p:nvSpPr>
            <p:spPr>
              <a:xfrm>
                <a:off x="143806" y="1632884"/>
                <a:ext cx="2704170" cy="34990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29"/>
                      <a:pt x="12070" y="21600"/>
                      <a:pt x="314" y="21600"/>
                    </a:cubicBezTo>
                    <a:cubicBezTo>
                      <a:pt x="209" y="21600"/>
                      <a:pt x="104" y="21599"/>
                      <a:pt x="0" y="21597"/>
                    </a:cubicBezTo>
                  </a:path>
                </a:pathLst>
              </a:custGeom>
              <a:noFill/>
              <a:ln w="25400" cap="rnd">
                <a:solidFill>
                  <a:srgbClr val="3B812F"/>
                </a:solidFill>
                <a:prstDash val="solid"/>
                <a:round/>
                <a:headEnd type="triangle" w="med" len="med"/>
              </a:ln>
              <a:effectLst/>
            </p:spPr>
            <p:txBody>
              <a:bodyPr wrap="square" lIns="0" tIns="0" rIns="0" bIns="0" numCol="1" anchor="t">
                <a:noAutofit/>
              </a:bodyPr>
              <a:lstStyle/>
              <a:p>
                <a:pPr defTabSz="914111">
                  <a:lnSpc>
                    <a:spcPct val="100000"/>
                  </a:lnSpc>
                  <a:spcBef>
                    <a:spcPts val="0"/>
                  </a:spcBef>
                </a:pPr>
                <a:endParaRPr/>
              </a:p>
            </p:txBody>
          </p:sp>
          <p:sp>
            <p:nvSpPr>
              <p:cNvPr id="320" name="Shape 320"/>
              <p:cNvSpPr/>
              <p:nvPr/>
            </p:nvSpPr>
            <p:spPr>
              <a:xfrm flipV="1">
                <a:off x="820602" y="1224664"/>
                <a:ext cx="965416" cy="174952"/>
              </a:xfrm>
              <a:prstGeom prst="line">
                <a:avLst/>
              </a:prstGeom>
              <a:noFill/>
              <a:ln w="25400" cap="flat">
                <a:solidFill>
                  <a:srgbClr val="CC0066"/>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grpSp>
        <p:pic>
          <p:nvPicPr>
            <p:cNvPr id="322" name="image65.pdf"/>
            <p:cNvPicPr/>
            <p:nvPr/>
          </p:nvPicPr>
          <p:blipFill>
            <a:blip r:embed="rId3" cstate="print">
              <a:extLst/>
            </a:blip>
            <a:stretch>
              <a:fillRect/>
            </a:stretch>
          </p:blipFill>
          <p:spPr>
            <a:xfrm>
              <a:off x="1834323" y="1049257"/>
              <a:ext cx="289468" cy="466766"/>
            </a:xfrm>
            <a:prstGeom prst="rect">
              <a:avLst/>
            </a:prstGeom>
            <a:ln w="12700" cap="flat">
              <a:noFill/>
              <a:miter lim="400000"/>
            </a:ln>
            <a:effectLst/>
          </p:spPr>
        </p:pic>
      </p:grpSp>
      <p:sp>
        <p:nvSpPr>
          <p:cNvPr id="306" name="Shape 306"/>
          <p:cNvSpPr/>
          <p:nvPr/>
        </p:nvSpPr>
        <p:spPr>
          <a:xfrm>
            <a:off x="186836" y="4297087"/>
            <a:ext cx="6048672" cy="2352409"/>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defTabSz="761758">
              <a:spcBef>
                <a:spcPts val="1897"/>
              </a:spcBef>
              <a:defRPr sz="1800"/>
            </a:pPr>
            <a:r>
              <a:rPr lang="zh-CN" altLang="en-US" sz="3200" b="1" dirty="0" smtClean="0">
                <a:solidFill>
                  <a:schemeClr val="tx1"/>
                </a:solidFill>
                <a:latin typeface="华文行楷" panose="02010800040101010101" pitchFamily="2" charset="-122"/>
                <a:ea typeface="华文行楷" panose="02010800040101010101" pitchFamily="2" charset="-122"/>
                <a:cs typeface="楷体_GB2312"/>
                <a:sym typeface="楷体_GB2312"/>
              </a:rPr>
              <a:t>电场线的解释</a:t>
            </a:r>
            <a:r>
              <a:rPr lang="zh-CN" altLang="en-US" sz="3200" b="1" dirty="0" smtClean="0">
                <a:solidFill>
                  <a:schemeClr val="tx1"/>
                </a:solidFill>
                <a:latin typeface="宋体" pitchFamily="2" charset="-122"/>
                <a:ea typeface="宋体" pitchFamily="2" charset="-122"/>
                <a:cs typeface="楷体_GB2312"/>
                <a:sym typeface="楷体_GB2312"/>
              </a:rPr>
              <a:t>：</a:t>
            </a:r>
            <a:endParaRPr lang="en-US" altLang="zh-CN" sz="3200" b="1" dirty="0" smtClean="0">
              <a:solidFill>
                <a:schemeClr val="tx1"/>
              </a:solidFill>
              <a:latin typeface="宋体" pitchFamily="2" charset="-122"/>
              <a:ea typeface="宋体" pitchFamily="2" charset="-122"/>
              <a:cs typeface="楷体_GB2312"/>
              <a:sym typeface="楷体_GB2312"/>
            </a:endParaRPr>
          </a:p>
          <a:p>
            <a:pPr defTabSz="761758">
              <a:spcBef>
                <a:spcPts val="1897"/>
              </a:spcBef>
              <a:defRPr sz="1800"/>
            </a:pPr>
            <a:r>
              <a:rPr lang="zh-CN" altLang="en-US" sz="3200" b="1" dirty="0" smtClean="0">
                <a:solidFill>
                  <a:schemeClr val="tx1"/>
                </a:solidFill>
                <a:latin typeface="宋体" pitchFamily="2" charset="-122"/>
                <a:ea typeface="宋体" pitchFamily="2" charset="-122"/>
                <a:cs typeface="楷体_GB2312"/>
                <a:sym typeface="楷体_GB2312"/>
              </a:rPr>
              <a:t>大小</a:t>
            </a:r>
            <a:r>
              <a:rPr lang="en-US" altLang="zh-CN" sz="3200" b="1" dirty="0">
                <a:solidFill>
                  <a:schemeClr val="tx1"/>
                </a:solidFill>
                <a:latin typeface="宋体" pitchFamily="2" charset="-122"/>
                <a:ea typeface="宋体" pitchFamily="2" charset="-122"/>
                <a:cs typeface="楷体_GB2312"/>
                <a:sym typeface="楷体_GB2312"/>
              </a:rPr>
              <a:t>:</a:t>
            </a:r>
            <a:r>
              <a:rPr lang="zh-CN" altLang="en-US" sz="3200" b="1" dirty="0">
                <a:solidFill>
                  <a:schemeClr val="tx1"/>
                </a:solidFill>
                <a:latin typeface="宋体" pitchFamily="2" charset="-122"/>
                <a:ea typeface="宋体" pitchFamily="2" charset="-122"/>
                <a:cs typeface="楷体_GB2312"/>
                <a:sym typeface="楷体_GB2312"/>
              </a:rPr>
              <a:t>  定性</a:t>
            </a:r>
            <a:r>
              <a:rPr lang="en-US" altLang="zh-CN" sz="3200" b="1" dirty="0">
                <a:solidFill>
                  <a:schemeClr val="tx1"/>
                </a:solidFill>
                <a:latin typeface="宋体" pitchFamily="2" charset="-122"/>
                <a:ea typeface="宋体" pitchFamily="2" charset="-122"/>
              </a:rPr>
              <a:t>: </a:t>
            </a:r>
            <a:r>
              <a:rPr lang="zh-CN" altLang="en-US" sz="3200" b="1" dirty="0">
                <a:solidFill>
                  <a:srgbClr val="FF0000"/>
                </a:solidFill>
                <a:latin typeface="宋体" pitchFamily="2" charset="-122"/>
                <a:ea typeface="宋体" pitchFamily="2" charset="-122"/>
                <a:cs typeface="楷体_GB2312"/>
                <a:sym typeface="楷体_GB2312"/>
              </a:rPr>
              <a:t>疏：小；密：大</a:t>
            </a:r>
            <a:endParaRPr lang="zh-CN" altLang="en-US" sz="3200" b="1" dirty="0">
              <a:solidFill>
                <a:srgbClr val="FF0000"/>
              </a:solidFill>
              <a:latin typeface="宋体" pitchFamily="2" charset="-122"/>
              <a:ea typeface="宋体" pitchFamily="2" charset="-122"/>
            </a:endParaRPr>
          </a:p>
          <a:p>
            <a:pPr defTabSz="761758">
              <a:spcBef>
                <a:spcPts val="1897"/>
              </a:spcBef>
              <a:defRPr sz="1800"/>
            </a:pPr>
            <a:r>
              <a:rPr lang="zh-CN" altLang="en-US" sz="3200" b="1" dirty="0">
                <a:solidFill>
                  <a:schemeClr val="tx1"/>
                </a:solidFill>
                <a:latin typeface="宋体" pitchFamily="2" charset="-122"/>
                <a:ea typeface="宋体" pitchFamily="2" charset="-122"/>
                <a:cs typeface="楷体_GB2312"/>
                <a:sym typeface="楷体_GB2312"/>
              </a:rPr>
              <a:t>       定量</a:t>
            </a:r>
            <a:r>
              <a:rPr lang="en-US" altLang="zh-CN" sz="3200" b="1" dirty="0">
                <a:solidFill>
                  <a:schemeClr val="tx1"/>
                </a:solidFill>
                <a:latin typeface="宋体" pitchFamily="2" charset="-122"/>
                <a:ea typeface="宋体" pitchFamily="2" charset="-122"/>
              </a:rPr>
              <a:t>: </a:t>
            </a:r>
            <a:r>
              <a:rPr lang="zh-CN" altLang="en-US" sz="3200" b="1" dirty="0">
                <a:solidFill>
                  <a:srgbClr val="FF0000"/>
                </a:solidFill>
                <a:latin typeface="宋体" pitchFamily="2" charset="-122"/>
                <a:ea typeface="宋体" pitchFamily="2" charset="-122"/>
                <a:cs typeface="楷体_GB2312"/>
                <a:sym typeface="楷体_GB2312"/>
              </a:rPr>
              <a:t>垂直面积   条数</a:t>
            </a:r>
            <a:endParaRPr lang="en-US" altLang="zh-CN" sz="3200" b="1" dirty="0">
              <a:solidFill>
                <a:schemeClr val="tx1"/>
              </a:solidFill>
              <a:latin typeface="宋体" pitchFamily="2" charset="-122"/>
              <a:ea typeface="宋体" pitchFamily="2" charset="-122"/>
            </a:endParaRPr>
          </a:p>
        </p:txBody>
      </p:sp>
      <p:sp>
        <p:nvSpPr>
          <p:cNvPr id="307" name="Shape 307"/>
          <p:cNvSpPr/>
          <p:nvPr/>
        </p:nvSpPr>
        <p:spPr>
          <a:xfrm>
            <a:off x="7116766" y="938215"/>
            <a:ext cx="1752601" cy="16764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487" y="17755"/>
                  <a:pt x="2974" y="13909"/>
                  <a:pt x="5635" y="11782"/>
                </a:cubicBezTo>
                <a:cubicBezTo>
                  <a:pt x="8296" y="9655"/>
                  <a:pt x="13304" y="10800"/>
                  <a:pt x="15965" y="8836"/>
                </a:cubicBezTo>
                <a:cubicBezTo>
                  <a:pt x="18626" y="6873"/>
                  <a:pt x="20113" y="3436"/>
                  <a:pt x="21600" y="0"/>
                </a:cubicBezTo>
              </a:path>
            </a:pathLst>
          </a:custGeom>
          <a:ln>
            <a:solidFill/>
            <a:round/>
          </a:ln>
        </p:spPr>
        <p:txBody>
          <a:bodyPr lIns="0" tIns="0" rIns="0" bIns="0" anchor="ctr"/>
          <a:lstStyle/>
          <a:p>
            <a:pPr defTabSz="914111">
              <a:lnSpc>
                <a:spcPct val="100000"/>
              </a:lnSpc>
              <a:spcBef>
                <a:spcPts val="0"/>
              </a:spcBef>
            </a:pPr>
            <a:endParaRPr/>
          </a:p>
        </p:txBody>
      </p:sp>
      <p:sp>
        <p:nvSpPr>
          <p:cNvPr id="308" name="Shape 308"/>
          <p:cNvSpPr/>
          <p:nvPr/>
        </p:nvSpPr>
        <p:spPr>
          <a:xfrm flipV="1">
            <a:off x="7535866" y="1179515"/>
            <a:ext cx="685801" cy="685801"/>
          </a:xfrm>
          <a:prstGeom prst="line">
            <a:avLst/>
          </a:prstGeom>
          <a:ln w="19050">
            <a:solidFill/>
            <a:round/>
            <a:tailEnd type="triangle"/>
          </a:ln>
        </p:spPr>
        <p:txBody>
          <a:bodyPr lIns="0" tIns="0" rIns="0" bIns="0"/>
          <a:lstStyle/>
          <a:p>
            <a:pPr defTabSz="457056">
              <a:lnSpc>
                <a:spcPct val="100000"/>
              </a:lnSpc>
              <a:spcBef>
                <a:spcPts val="0"/>
              </a:spcBef>
              <a:defRPr sz="1200">
                <a:latin typeface="+mj-lt"/>
                <a:ea typeface="+mj-ea"/>
                <a:cs typeface="+mj-cs"/>
                <a:sym typeface="Helvetica"/>
              </a:defRPr>
            </a:pPr>
            <a:endParaRPr/>
          </a:p>
        </p:txBody>
      </p:sp>
      <p:pic>
        <p:nvPicPr>
          <p:cNvPr id="310" name="image63.pdf"/>
          <p:cNvPicPr/>
          <p:nvPr/>
        </p:nvPicPr>
        <p:blipFill>
          <a:blip r:embed="rId4" cstate="print">
            <a:extLst/>
          </a:blip>
          <a:stretch>
            <a:fillRect/>
          </a:stretch>
        </p:blipFill>
        <p:spPr>
          <a:xfrm>
            <a:off x="7458050" y="1112837"/>
            <a:ext cx="381001" cy="508000"/>
          </a:xfrm>
          <a:prstGeom prst="rect">
            <a:avLst/>
          </a:prstGeom>
          <a:ln w="12700">
            <a:miter lim="400000"/>
          </a:ln>
        </p:spPr>
      </p:pic>
      <p:sp>
        <p:nvSpPr>
          <p:cNvPr id="311" name="Shape 311"/>
          <p:cNvSpPr/>
          <p:nvPr/>
        </p:nvSpPr>
        <p:spPr>
          <a:xfrm>
            <a:off x="131532" y="107804"/>
            <a:ext cx="5545189" cy="626680"/>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a:spcBef>
                <a:spcPts val="1897"/>
              </a:spcBef>
              <a:defRPr sz="1800"/>
            </a:pPr>
            <a:r>
              <a:rPr sz="3200" b="1" dirty="0">
                <a:solidFill>
                  <a:schemeClr val="tx1"/>
                </a:solidFill>
                <a:latin typeface="楷体_GB2312"/>
                <a:ea typeface="楷体_GB2312"/>
                <a:cs typeface="楷体_GB2312"/>
                <a:sym typeface="楷体_GB2312"/>
              </a:rPr>
              <a:t>二</a:t>
            </a:r>
            <a:r>
              <a:rPr sz="3200" b="1" dirty="0">
                <a:solidFill>
                  <a:schemeClr val="tx1"/>
                </a:solidFill>
              </a:rPr>
              <a:t>. </a:t>
            </a:r>
            <a:r>
              <a:rPr lang="en-US" sz="3200" b="1" dirty="0">
                <a:solidFill>
                  <a:schemeClr val="tx1"/>
                </a:solidFill>
              </a:rPr>
              <a:t> </a:t>
            </a:r>
            <a:r>
              <a:rPr sz="3200" b="1" dirty="0" err="1">
                <a:solidFill>
                  <a:schemeClr val="tx1"/>
                </a:solidFill>
                <a:latin typeface="楷体_GB2312"/>
                <a:ea typeface="楷体_GB2312"/>
                <a:cs typeface="楷体_GB2312"/>
                <a:sym typeface="楷体_GB2312"/>
              </a:rPr>
              <a:t>电场线</a:t>
            </a:r>
            <a:endParaRPr sz="3200" b="1" dirty="0">
              <a:solidFill>
                <a:schemeClr val="tx1"/>
              </a:solidFill>
              <a:latin typeface="楷体_GB2312"/>
              <a:ea typeface="楷体_GB2312"/>
              <a:cs typeface="楷体_GB2312"/>
              <a:sym typeface="楷体_GB2312"/>
            </a:endParaRPr>
          </a:p>
        </p:txBody>
      </p:sp>
      <p:sp>
        <p:nvSpPr>
          <p:cNvPr id="312" name="Shape 312"/>
          <p:cNvSpPr/>
          <p:nvPr/>
        </p:nvSpPr>
        <p:spPr>
          <a:xfrm>
            <a:off x="135016" y="766876"/>
            <a:ext cx="7805740" cy="1056926"/>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lvl="0">
              <a:lnSpc>
                <a:spcPct val="125000"/>
              </a:lnSpc>
              <a:spcBef>
                <a:spcPts val="0"/>
              </a:spcBef>
              <a:defRPr sz="1800"/>
            </a:pPr>
            <a:r>
              <a:rPr sz="2500" b="1" dirty="0" err="1" smtClean="0">
                <a:latin typeface="宋体" panose="02010600030101010101" pitchFamily="2" charset="-122"/>
                <a:ea typeface="宋体" panose="02010600030101010101" pitchFamily="2" charset="-122"/>
                <a:cs typeface="楷体_GB2312"/>
                <a:sym typeface="楷体_GB2312"/>
              </a:rPr>
              <a:t>用一</a:t>
            </a:r>
            <a:r>
              <a:rPr lang="zh-CN" altLang="en-US" sz="2500" b="1" dirty="0" smtClean="0">
                <a:latin typeface="宋体" panose="02010600030101010101" pitchFamily="2" charset="-122"/>
                <a:ea typeface="宋体" panose="02010600030101010101" pitchFamily="2" charset="-122"/>
                <a:cs typeface="楷体_GB2312"/>
                <a:sym typeface="楷体_GB2312"/>
              </a:rPr>
              <a:t>簇</a:t>
            </a:r>
            <a:r>
              <a:rPr sz="2500" b="1" dirty="0" err="1" smtClean="0">
                <a:latin typeface="宋体" panose="02010600030101010101" pitchFamily="2" charset="-122"/>
                <a:ea typeface="宋体" panose="02010600030101010101" pitchFamily="2" charset="-122"/>
                <a:cs typeface="楷体_GB2312"/>
                <a:sym typeface="楷体_GB2312"/>
              </a:rPr>
              <a:t>空间曲线形象描述场强</a:t>
            </a:r>
            <a:r>
              <a:rPr lang="zh-CN" altLang="en-US" sz="2500" b="1" dirty="0">
                <a:latin typeface="宋体" panose="02010600030101010101" pitchFamily="2" charset="-122"/>
                <a:ea typeface="宋体" panose="02010600030101010101" pitchFamily="2" charset="-122"/>
                <a:cs typeface="楷体_GB2312"/>
                <a:sym typeface="楷体_GB2312"/>
              </a:rPr>
              <a:t>在空间各点的大小和方向。</a:t>
            </a:r>
            <a:endParaRPr sz="2500" b="1" dirty="0">
              <a:latin typeface="宋体" panose="02010600030101010101" pitchFamily="2" charset="-122"/>
              <a:ea typeface="宋体" panose="02010600030101010101" pitchFamily="2" charset="-122"/>
            </a:endParaRPr>
          </a:p>
          <a:p>
            <a:pPr lvl="0">
              <a:lnSpc>
                <a:spcPct val="125000"/>
              </a:lnSpc>
              <a:spcBef>
                <a:spcPts val="0"/>
              </a:spcBef>
              <a:defRPr sz="1800"/>
            </a:pPr>
            <a:r>
              <a:rPr sz="2800" b="1" dirty="0" err="1">
                <a:solidFill>
                  <a:schemeClr val="tx1"/>
                </a:solidFill>
                <a:latin typeface="楷体_GB2312"/>
                <a:ea typeface="楷体_GB2312"/>
                <a:cs typeface="楷体_GB2312"/>
                <a:sym typeface="楷体_GB2312"/>
              </a:rPr>
              <a:t>电场线</a:t>
            </a:r>
            <a:r>
              <a:rPr lang="en-US" sz="2800" b="1" dirty="0">
                <a:solidFill>
                  <a:schemeClr val="tx1"/>
                </a:solidFill>
                <a:latin typeface="楷体_GB2312"/>
                <a:ea typeface="楷体_GB2312"/>
                <a:cs typeface="楷体_GB2312"/>
                <a:sym typeface="楷体_GB2312"/>
              </a:rPr>
              <a:t> </a:t>
            </a:r>
            <a:r>
              <a:rPr sz="2800" b="1" dirty="0">
                <a:solidFill>
                  <a:schemeClr val="tx1"/>
                </a:solidFill>
              </a:rPr>
              <a:t>(</a:t>
            </a:r>
            <a:r>
              <a:rPr lang="en-US" altLang="zh-CN" sz="2800" b="1" dirty="0">
                <a:solidFill>
                  <a:schemeClr val="tx1"/>
                </a:solidFill>
              </a:rPr>
              <a:t>E</a:t>
            </a:r>
            <a:r>
              <a:rPr sz="2800" b="1" dirty="0">
                <a:solidFill>
                  <a:schemeClr val="tx1"/>
                </a:solidFill>
              </a:rPr>
              <a:t>lectric field line)</a:t>
            </a:r>
            <a:endParaRPr sz="2800" b="1" dirty="0">
              <a:solidFill>
                <a:schemeClr val="tx1"/>
              </a:solidFill>
              <a:latin typeface="楷体_GB2312"/>
              <a:ea typeface="楷体_GB2312"/>
              <a:cs typeface="楷体_GB2312"/>
              <a:sym typeface="楷体_GB2312"/>
            </a:endParaRPr>
          </a:p>
        </p:txBody>
      </p:sp>
      <p:grpSp>
        <p:nvGrpSpPr>
          <p:cNvPr id="315" name="Group 315"/>
          <p:cNvGrpSpPr/>
          <p:nvPr/>
        </p:nvGrpSpPr>
        <p:grpSpPr>
          <a:xfrm>
            <a:off x="7019925" y="1606549"/>
            <a:ext cx="685800" cy="425518"/>
            <a:chOff x="0" y="0"/>
            <a:chExt cx="685800" cy="425516"/>
          </a:xfrm>
        </p:grpSpPr>
        <p:sp>
          <p:nvSpPr>
            <p:cNvPr id="313" name="Shape 313"/>
            <p:cNvSpPr/>
            <p:nvPr/>
          </p:nvSpPr>
          <p:spPr>
            <a:xfrm>
              <a:off x="0" y="0"/>
              <a:ext cx="685800" cy="42551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9" tIns="45719" rIns="45719" bIns="45719" numCol="1" anchor="t">
              <a:spAutoFit/>
            </a:bodyPr>
            <a:lstStyle>
              <a:lvl1pPr algn="ctr">
                <a:spcBef>
                  <a:spcPts val="1400"/>
                </a:spcBef>
                <a:defRPr i="1"/>
              </a:lvl1pPr>
            </a:lstStyle>
            <a:p>
              <a:pPr lvl="0">
                <a:defRPr sz="1800" i="0"/>
              </a:pPr>
              <a:r>
                <a:rPr/>
                <a:t>P</a:t>
              </a:r>
            </a:p>
          </p:txBody>
        </p:sp>
        <p:pic>
          <p:nvPicPr>
            <p:cNvPr id="314" name="image64.pdf"/>
            <p:cNvPicPr/>
            <p:nvPr/>
          </p:nvPicPr>
          <p:blipFill>
            <a:blip r:embed="rId5" cstate="print">
              <a:extLst/>
            </a:blip>
            <a:stretch>
              <a:fillRect/>
            </a:stretch>
          </p:blipFill>
          <p:spPr>
            <a:xfrm>
              <a:off x="401637" y="134937"/>
              <a:ext cx="222251" cy="254001"/>
            </a:xfrm>
            <a:prstGeom prst="rect">
              <a:avLst/>
            </a:prstGeom>
            <a:ln w="12700" cap="flat">
              <a:noFill/>
              <a:miter lim="400000"/>
            </a:ln>
            <a:effectLst/>
          </p:spPr>
        </p:pic>
      </p:grpSp>
      <p:sp>
        <p:nvSpPr>
          <p:cNvPr id="20" name="TextBox 19"/>
          <p:cNvSpPr txBox="1"/>
          <p:nvPr/>
        </p:nvSpPr>
        <p:spPr>
          <a:xfrm>
            <a:off x="323528" y="1916835"/>
            <a:ext cx="6336704" cy="25873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04" tIns="45704" rIns="45704" bIns="45704" numCol="1" spcCol="38088" rtlCol="0" anchor="t">
            <a:spAutoFit/>
          </a:bodyPr>
          <a:lstStyle/>
          <a:p>
            <a:pPr defTabSz="761758">
              <a:lnSpc>
                <a:spcPct val="125000"/>
              </a:lnSpc>
              <a:spcBef>
                <a:spcPts val="0"/>
              </a:spcBef>
              <a:defRPr sz="1800"/>
            </a:pPr>
            <a:r>
              <a:rPr lang="en-US" altLang="zh-CN" sz="3200" b="1" dirty="0">
                <a:solidFill>
                  <a:schemeClr val="tx1"/>
                </a:solidFill>
                <a:latin typeface="宋体" pitchFamily="2" charset="-122"/>
                <a:ea typeface="宋体" pitchFamily="2" charset="-122"/>
              </a:rPr>
              <a:t>(1</a:t>
            </a:r>
            <a:r>
              <a:rPr lang="en-US" altLang="zh-CN" sz="3200" b="1" dirty="0">
                <a:solidFill>
                  <a:schemeClr val="tx1"/>
                </a:solidFill>
                <a:latin typeface="宋体" pitchFamily="2" charset="-122"/>
                <a:ea typeface="宋体" pitchFamily="2" charset="-122"/>
                <a:cs typeface="楷体_GB2312"/>
                <a:sym typeface="楷体_GB2312"/>
              </a:rPr>
              <a:t>)</a:t>
            </a:r>
            <a:r>
              <a:rPr lang="zh-CN" altLang="en-US" sz="3200" b="1" dirty="0">
                <a:solidFill>
                  <a:schemeClr val="tx1"/>
                </a:solidFill>
                <a:latin typeface="宋体" pitchFamily="2" charset="-122"/>
                <a:ea typeface="宋体" pitchFamily="2" charset="-122"/>
                <a:cs typeface="楷体_GB2312"/>
                <a:sym typeface="楷体_GB2312"/>
              </a:rPr>
              <a:t>规定</a:t>
            </a:r>
            <a:r>
              <a:rPr lang="zh-CN" altLang="en-US" sz="3200" b="1" dirty="0">
                <a:solidFill>
                  <a:schemeClr val="tx1"/>
                </a:solidFill>
                <a:latin typeface="宋体" pitchFamily="2" charset="-122"/>
                <a:ea typeface="宋体" pitchFamily="2" charset="-122"/>
              </a:rPr>
              <a:t> </a:t>
            </a:r>
            <a:endParaRPr lang="en-US" altLang="zh-CN" sz="3200" dirty="0">
              <a:solidFill>
                <a:schemeClr val="tx1"/>
              </a:solidFill>
              <a:latin typeface="宋体" pitchFamily="2" charset="-122"/>
              <a:ea typeface="宋体" pitchFamily="2" charset="-122"/>
            </a:endParaRPr>
          </a:p>
          <a:p>
            <a:pPr defTabSz="761758">
              <a:lnSpc>
                <a:spcPct val="125000"/>
              </a:lnSpc>
              <a:spcBef>
                <a:spcPts val="0"/>
              </a:spcBef>
              <a:defRPr sz="1800"/>
            </a:pPr>
            <a:r>
              <a:rPr lang="zh-CN" altLang="en-US" sz="3200" b="1" dirty="0">
                <a:solidFill>
                  <a:schemeClr val="tx1"/>
                </a:solidFill>
                <a:latin typeface="宋体" pitchFamily="2" charset="-122"/>
                <a:ea typeface="宋体" pitchFamily="2" charset="-122"/>
                <a:cs typeface="楷体_GB2312"/>
                <a:sym typeface="楷体_GB2312"/>
              </a:rPr>
              <a:t>方向：电场线上每一点的</a:t>
            </a:r>
            <a:r>
              <a:rPr lang="zh-CN" altLang="en-US" sz="3200" b="1" dirty="0">
                <a:solidFill>
                  <a:srgbClr val="FF0000"/>
                </a:solidFill>
                <a:latin typeface="宋体" pitchFamily="2" charset="-122"/>
                <a:ea typeface="宋体" pitchFamily="2" charset="-122"/>
                <a:cs typeface="楷体_GB2312"/>
                <a:sym typeface="楷体_GB2312"/>
              </a:rPr>
              <a:t>切线方向</a:t>
            </a:r>
            <a:r>
              <a:rPr lang="zh-CN" altLang="en-US" sz="3200" b="1" dirty="0">
                <a:solidFill>
                  <a:schemeClr val="tx1"/>
                </a:solidFill>
                <a:latin typeface="宋体" pitchFamily="2" charset="-122"/>
                <a:ea typeface="宋体" pitchFamily="2" charset="-122"/>
                <a:cs typeface="楷体_GB2312"/>
                <a:sym typeface="楷体_GB2312"/>
              </a:rPr>
              <a:t>表示该点的电场强度方向；</a:t>
            </a:r>
            <a:r>
              <a:rPr lang="zh-CN" altLang="en-US" sz="3200" b="1" dirty="0">
                <a:solidFill>
                  <a:srgbClr val="006633"/>
                </a:solidFill>
                <a:latin typeface="宋体" pitchFamily="2" charset="-122"/>
                <a:ea typeface="宋体" pitchFamily="2" charset="-122"/>
                <a:cs typeface="楷体_GB2312"/>
                <a:sym typeface="楷体_GB2312"/>
              </a:rPr>
              <a:t> </a:t>
            </a:r>
            <a:endParaRPr lang="zh-CN" altLang="en-US" sz="3200" dirty="0">
              <a:latin typeface="宋体" pitchFamily="2" charset="-122"/>
              <a:ea typeface="宋体" pitchFamily="2" charset="-122"/>
            </a:endParaRPr>
          </a:p>
          <a:p>
            <a:pPr algn="l" rtl="0" latinLnBrk="1" hangingPunct="0"/>
            <a:endParaRPr lang="zh-CN" altLang="en-US" dirty="0">
              <a:solidFill>
                <a:srgbClr val="000000"/>
              </a:solidFill>
            </a:endParaRPr>
          </a:p>
        </p:txBody>
      </p:sp>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Shape 371"/>
          <p:cNvSpPr/>
          <p:nvPr/>
        </p:nvSpPr>
        <p:spPr>
          <a:xfrm>
            <a:off x="763557" y="3054619"/>
            <a:ext cx="7994252" cy="604751"/>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defTabSz="761758">
              <a:spcBef>
                <a:spcPts val="1897"/>
              </a:spcBef>
              <a:defRPr sz="1800"/>
            </a:pPr>
            <a:endParaRPr sz="3200" dirty="0">
              <a:solidFill>
                <a:schemeClr val="tx1"/>
              </a:solidFill>
              <a:latin typeface="宋体" panose="02010600030101010101" pitchFamily="2" charset="-122"/>
              <a:ea typeface="宋体" panose="02010600030101010101" pitchFamily="2" charset="-122"/>
              <a:cs typeface="SimHei"/>
              <a:sym typeface="SimHei"/>
            </a:endParaRPr>
          </a:p>
        </p:txBody>
      </p:sp>
      <p:sp>
        <p:nvSpPr>
          <p:cNvPr id="372" name="Shape 372"/>
          <p:cNvSpPr/>
          <p:nvPr/>
        </p:nvSpPr>
        <p:spPr>
          <a:xfrm>
            <a:off x="611560" y="260353"/>
            <a:ext cx="5025257" cy="604751"/>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a:spcBef>
                <a:spcPts val="1897"/>
              </a:spcBef>
              <a:defRPr sz="1800"/>
            </a:pPr>
            <a:r>
              <a:rPr lang="zh-CN" altLang="en-US" sz="3200" b="1" dirty="0" smtClean="0">
                <a:solidFill>
                  <a:srgbClr val="0000CC"/>
                </a:solidFill>
                <a:latin typeface="宋体" panose="02010600030101010101" pitchFamily="2" charset="-122"/>
                <a:ea typeface="宋体" panose="02010600030101010101" pitchFamily="2" charset="-122"/>
                <a:cs typeface="SimHei"/>
                <a:sym typeface="SimHei"/>
              </a:rPr>
              <a:t>静电场中</a:t>
            </a:r>
            <a:r>
              <a:rPr sz="3200" b="1" dirty="0" err="1" smtClean="0">
                <a:solidFill>
                  <a:srgbClr val="0000CC"/>
                </a:solidFill>
                <a:latin typeface="宋体" panose="02010600030101010101" pitchFamily="2" charset="-122"/>
                <a:ea typeface="宋体" panose="02010600030101010101" pitchFamily="2" charset="-122"/>
                <a:cs typeface="SimHei"/>
                <a:sym typeface="SimHei"/>
              </a:rPr>
              <a:t>电场线的性质</a:t>
            </a:r>
            <a:endParaRPr sz="3200" dirty="0">
              <a:solidFill>
                <a:srgbClr val="0000CC"/>
              </a:solidFill>
              <a:latin typeface="宋体" panose="02010600030101010101" pitchFamily="2" charset="-122"/>
              <a:ea typeface="宋体" panose="02010600030101010101" pitchFamily="2" charset="-122"/>
              <a:cs typeface="SimHei"/>
              <a:sym typeface="SimHei"/>
            </a:endParaRPr>
          </a:p>
        </p:txBody>
      </p:sp>
      <p:sp>
        <p:nvSpPr>
          <p:cNvPr id="373" name="Shape 373"/>
          <p:cNvSpPr/>
          <p:nvPr/>
        </p:nvSpPr>
        <p:spPr>
          <a:xfrm>
            <a:off x="567281" y="865104"/>
            <a:ext cx="7777113" cy="2677626"/>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marL="355489" indent="-355489">
              <a:lnSpc>
                <a:spcPct val="150000"/>
              </a:lnSpc>
              <a:spcBef>
                <a:spcPts val="0"/>
              </a:spcBef>
              <a:defRPr sz="1800"/>
            </a:pP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a:t>
            </a:r>
            <a:r>
              <a:rPr lang="en-US" altLang="zh-CN" sz="2800" b="1" dirty="0" smtClean="0">
                <a:solidFill>
                  <a:schemeClr val="tx1"/>
                </a:solidFill>
                <a:latin typeface="宋体" panose="02010600030101010101" pitchFamily="2" charset="-122"/>
                <a:ea typeface="宋体" panose="02010600030101010101" pitchFamily="2" charset="-122"/>
                <a:cs typeface="SimHei"/>
                <a:sym typeface="SimHei"/>
              </a:rPr>
              <a:t>1</a:t>
            </a: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a:t>
            </a:r>
            <a:r>
              <a:rPr sz="2800" b="1" dirty="0" err="1" smtClean="0">
                <a:solidFill>
                  <a:schemeClr val="tx1"/>
                </a:solidFill>
                <a:latin typeface="宋体" panose="02010600030101010101" pitchFamily="2" charset="-122"/>
                <a:ea typeface="宋体" panose="02010600030101010101" pitchFamily="2" charset="-122"/>
                <a:cs typeface="SimHei"/>
                <a:sym typeface="SimHei"/>
              </a:rPr>
              <a:t>电场线起始于正电荷</a:t>
            </a:r>
            <a:r>
              <a:rPr sz="2800" b="1" dirty="0">
                <a:solidFill>
                  <a:schemeClr val="tx1"/>
                </a:solidFill>
                <a:latin typeface="宋体" panose="02010600030101010101" pitchFamily="2" charset="-122"/>
                <a:ea typeface="宋体" panose="02010600030101010101" pitchFamily="2" charset="-122"/>
                <a:cs typeface="SimHei"/>
                <a:sym typeface="SimHei"/>
              </a:rPr>
              <a:t>(</a:t>
            </a:r>
            <a:r>
              <a:rPr sz="2800" b="1" dirty="0" err="1">
                <a:solidFill>
                  <a:schemeClr val="tx1"/>
                </a:solidFill>
                <a:latin typeface="宋体" panose="02010600030101010101" pitchFamily="2" charset="-122"/>
                <a:ea typeface="宋体" panose="02010600030101010101" pitchFamily="2" charset="-122"/>
                <a:cs typeface="SimHei"/>
                <a:sym typeface="SimHei"/>
              </a:rPr>
              <a:t>或无穷远处</a:t>
            </a:r>
            <a:r>
              <a:rPr sz="2800" b="1" dirty="0">
                <a:solidFill>
                  <a:schemeClr val="tx1"/>
                </a:solidFill>
                <a:latin typeface="宋体" panose="02010600030101010101" pitchFamily="2" charset="-122"/>
                <a:ea typeface="宋体" panose="02010600030101010101" pitchFamily="2" charset="-122"/>
                <a:cs typeface="SimHei"/>
                <a:sym typeface="SimHei"/>
              </a:rPr>
              <a:t>)，</a:t>
            </a:r>
            <a:r>
              <a:rPr sz="2800" b="1" dirty="0" err="1">
                <a:solidFill>
                  <a:schemeClr val="tx1"/>
                </a:solidFill>
                <a:latin typeface="宋体" panose="02010600030101010101" pitchFamily="2" charset="-122"/>
                <a:ea typeface="宋体" panose="02010600030101010101" pitchFamily="2" charset="-122"/>
                <a:cs typeface="SimHei"/>
                <a:sym typeface="SimHei"/>
              </a:rPr>
              <a:t>终止于负电荷</a:t>
            </a:r>
            <a:r>
              <a:rPr sz="2800" b="1" dirty="0">
                <a:solidFill>
                  <a:schemeClr val="tx1"/>
                </a:solidFill>
                <a:latin typeface="宋体" panose="02010600030101010101" pitchFamily="2" charset="-122"/>
                <a:ea typeface="宋体" panose="02010600030101010101" pitchFamily="2" charset="-122"/>
                <a:cs typeface="SimHei"/>
                <a:sym typeface="SimHei"/>
              </a:rPr>
              <a:t>(</a:t>
            </a:r>
            <a:r>
              <a:rPr sz="2800" b="1" dirty="0" err="1">
                <a:solidFill>
                  <a:schemeClr val="tx1"/>
                </a:solidFill>
                <a:latin typeface="宋体" panose="02010600030101010101" pitchFamily="2" charset="-122"/>
                <a:ea typeface="宋体" panose="02010600030101010101" pitchFamily="2" charset="-122"/>
                <a:cs typeface="SimHei"/>
                <a:sym typeface="SimHei"/>
              </a:rPr>
              <a:t>或无穷远处</a:t>
            </a:r>
            <a:r>
              <a:rPr sz="2800" b="1" dirty="0">
                <a:solidFill>
                  <a:schemeClr val="tx1"/>
                </a:solidFill>
                <a:latin typeface="宋体" panose="02010600030101010101" pitchFamily="2" charset="-122"/>
                <a:ea typeface="宋体" panose="02010600030101010101" pitchFamily="2" charset="-122"/>
                <a:cs typeface="SimHei"/>
                <a:sym typeface="SimHei"/>
              </a:rPr>
              <a:t>)，</a:t>
            </a:r>
            <a:r>
              <a:rPr sz="2800" b="1" dirty="0" err="1" smtClean="0">
                <a:solidFill>
                  <a:schemeClr val="tx1"/>
                </a:solidFill>
                <a:latin typeface="宋体" panose="02010600030101010101" pitchFamily="2" charset="-122"/>
                <a:ea typeface="宋体" panose="02010600030101010101" pitchFamily="2" charset="-122"/>
                <a:cs typeface="SimHei"/>
                <a:sym typeface="SimHei"/>
              </a:rPr>
              <a:t>不会在没有电荷处中断</a:t>
            </a: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a:t>
            </a:r>
            <a:endParaRPr lang="en-US" altLang="zh-CN" sz="2800" b="1" dirty="0" smtClean="0">
              <a:solidFill>
                <a:schemeClr val="tx1"/>
              </a:solidFill>
              <a:latin typeface="宋体" panose="02010600030101010101" pitchFamily="2" charset="-122"/>
              <a:ea typeface="宋体" panose="02010600030101010101" pitchFamily="2" charset="-122"/>
              <a:cs typeface="SimHei"/>
              <a:sym typeface="SimHei"/>
            </a:endParaRPr>
          </a:p>
          <a:p>
            <a:pPr marL="355489" indent="-355489">
              <a:lnSpc>
                <a:spcPct val="150000"/>
              </a:lnSpc>
              <a:spcBef>
                <a:spcPts val="0"/>
              </a:spcBef>
              <a:defRPr sz="1800"/>
            </a:pPr>
            <a:r>
              <a:rPr lang="zh-CN" altLang="en-US" sz="2800" b="1" dirty="0">
                <a:solidFill>
                  <a:schemeClr val="tx1"/>
                </a:solidFill>
                <a:latin typeface="宋体" panose="02010600030101010101" pitchFamily="2" charset="-122"/>
                <a:ea typeface="宋体" panose="02010600030101010101" pitchFamily="2" charset="-122"/>
                <a:cs typeface="SimHei"/>
                <a:sym typeface="SimHei"/>
              </a:rPr>
              <a:t>（</a:t>
            </a:r>
            <a:r>
              <a:rPr lang="en-US" altLang="zh-CN" sz="2800" b="1" dirty="0">
                <a:solidFill>
                  <a:schemeClr val="tx1"/>
                </a:solidFill>
                <a:latin typeface="宋体" panose="02010600030101010101" pitchFamily="2" charset="-122"/>
                <a:ea typeface="宋体" panose="02010600030101010101" pitchFamily="2" charset="-122"/>
                <a:cs typeface="SimHei"/>
                <a:sym typeface="SimHei"/>
              </a:rPr>
              <a:t>2</a:t>
            </a: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a:t>
            </a:r>
            <a:r>
              <a:rPr lang="zh-CN" altLang="en-US" sz="2800" b="1" dirty="0">
                <a:solidFill>
                  <a:schemeClr val="tx1"/>
                </a:solidFill>
                <a:latin typeface="宋体" panose="02010600030101010101" pitchFamily="2" charset="-122"/>
                <a:ea typeface="宋体" panose="02010600030101010101" pitchFamily="2" charset="-122"/>
                <a:cs typeface="SimHei"/>
                <a:sym typeface="SimHei"/>
              </a:rPr>
              <a:t>任何</a:t>
            </a: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两</a:t>
            </a:r>
            <a:r>
              <a:rPr lang="zh-CN" altLang="en-US" sz="2800" b="1" dirty="0">
                <a:solidFill>
                  <a:schemeClr val="tx1"/>
                </a:solidFill>
                <a:latin typeface="宋体" panose="02010600030101010101" pitchFamily="2" charset="-122"/>
                <a:ea typeface="宋体" panose="02010600030101010101" pitchFamily="2" charset="-122"/>
                <a:cs typeface="SimHei"/>
                <a:sym typeface="SimHei"/>
              </a:rPr>
              <a:t>条电场线不会相交</a:t>
            </a: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a:t>
            </a:r>
            <a:endParaRPr lang="en-US" altLang="zh-CN" sz="2800" b="1" dirty="0" smtClean="0">
              <a:solidFill>
                <a:schemeClr val="tx1"/>
              </a:solidFill>
              <a:latin typeface="宋体" panose="02010600030101010101" pitchFamily="2" charset="-122"/>
              <a:ea typeface="宋体" panose="02010600030101010101" pitchFamily="2" charset="-122"/>
              <a:cs typeface="SimHei"/>
              <a:sym typeface="SimHei"/>
            </a:endParaRPr>
          </a:p>
          <a:p>
            <a:pPr marL="355489" indent="-355489">
              <a:lnSpc>
                <a:spcPct val="150000"/>
              </a:lnSpc>
              <a:spcBef>
                <a:spcPts val="0"/>
              </a:spcBef>
              <a:defRPr sz="1800"/>
            </a:pPr>
            <a:r>
              <a:rPr lang="zh-CN" altLang="en-US" sz="2800" b="1" dirty="0">
                <a:solidFill>
                  <a:schemeClr val="tx1"/>
                </a:solidFill>
                <a:latin typeface="宋体" panose="02010600030101010101" pitchFamily="2" charset="-122"/>
                <a:ea typeface="宋体" panose="02010600030101010101" pitchFamily="2" charset="-122"/>
                <a:cs typeface="SimHei"/>
                <a:sym typeface="SimHei"/>
              </a:rPr>
              <a:t>（</a:t>
            </a:r>
            <a:r>
              <a:rPr lang="en-US" altLang="zh-CN" sz="2800" b="1" dirty="0">
                <a:solidFill>
                  <a:schemeClr val="tx1"/>
                </a:solidFill>
                <a:latin typeface="宋体" panose="02010600030101010101" pitchFamily="2" charset="-122"/>
                <a:ea typeface="宋体" panose="02010600030101010101" pitchFamily="2" charset="-122"/>
                <a:cs typeface="SimHei"/>
                <a:sym typeface="SimHei"/>
              </a:rPr>
              <a:t>3</a:t>
            </a:r>
            <a:r>
              <a:rPr lang="zh-CN" altLang="en-US" sz="2800" b="1" dirty="0">
                <a:solidFill>
                  <a:schemeClr val="tx1"/>
                </a:solidFill>
                <a:latin typeface="宋体" panose="02010600030101010101" pitchFamily="2" charset="-122"/>
                <a:ea typeface="宋体" panose="02010600030101010101" pitchFamily="2" charset="-122"/>
                <a:cs typeface="SimHei"/>
                <a:sym typeface="SimHei"/>
              </a:rPr>
              <a:t>）电场线有头有尾，不会形成闭合曲线</a:t>
            </a: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a:t>
            </a:r>
            <a:endParaRPr lang="zh-CN" altLang="en-US" sz="2800" b="1" dirty="0">
              <a:solidFill>
                <a:schemeClr val="tx1"/>
              </a:solidFill>
              <a:latin typeface="宋体" panose="02010600030101010101" pitchFamily="2" charset="-122"/>
              <a:ea typeface="宋体" panose="02010600030101010101" pitchFamily="2" charset="-122"/>
              <a:cs typeface="SimHei"/>
              <a:sym typeface="SimHei"/>
            </a:endParaRPr>
          </a:p>
        </p:txBody>
      </p:sp>
      <p:sp>
        <p:nvSpPr>
          <p:cNvPr id="374" name="Shape 374"/>
          <p:cNvSpPr/>
          <p:nvPr/>
        </p:nvSpPr>
        <p:spPr>
          <a:xfrm>
            <a:off x="754464" y="2697782"/>
            <a:ext cx="7744263" cy="604751"/>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p>
            <a:pPr>
              <a:spcBef>
                <a:spcPts val="1897"/>
              </a:spcBef>
              <a:defRPr sz="1800"/>
            </a:pPr>
            <a:endParaRPr sz="3200" dirty="0">
              <a:solidFill>
                <a:schemeClr val="tx1"/>
              </a:solidFill>
              <a:latin typeface="宋体" panose="02010600030101010101" pitchFamily="2" charset="-122"/>
              <a:ea typeface="宋体" panose="02010600030101010101" pitchFamily="2" charset="-122"/>
              <a:cs typeface="SimHei"/>
              <a:sym typeface="SimHei"/>
            </a:endParaRPr>
          </a:p>
        </p:txBody>
      </p:sp>
      <p:sp>
        <p:nvSpPr>
          <p:cNvPr id="375" name="Shape 375"/>
          <p:cNvSpPr/>
          <p:nvPr/>
        </p:nvSpPr>
        <p:spPr>
          <a:xfrm>
            <a:off x="665599" y="3564488"/>
            <a:ext cx="7921992" cy="2335545"/>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algn="just">
              <a:spcBef>
                <a:spcPts val="1897"/>
              </a:spcBef>
              <a:defRPr sz="1800"/>
            </a:pPr>
            <a:r>
              <a:rPr sz="2800" b="1" dirty="0" err="1" smtClean="0">
                <a:solidFill>
                  <a:schemeClr val="tx1"/>
                </a:solidFill>
                <a:latin typeface="宋体" panose="02010600030101010101" pitchFamily="2" charset="-122"/>
                <a:ea typeface="宋体" panose="02010600030101010101" pitchFamily="2" charset="-122"/>
                <a:cs typeface="SimHei"/>
                <a:sym typeface="SimHei"/>
              </a:rPr>
              <a:t>这些性质是由静电场的基本性质和场的单值性</a:t>
            </a:r>
            <a:r>
              <a:rPr sz="2800" b="1" dirty="0" err="1">
                <a:solidFill>
                  <a:schemeClr val="tx1"/>
                </a:solidFill>
                <a:latin typeface="宋体" panose="02010600030101010101" pitchFamily="2" charset="-122"/>
                <a:ea typeface="宋体" panose="02010600030101010101" pitchFamily="2" charset="-122"/>
                <a:cs typeface="SimHei"/>
                <a:sym typeface="SimHei"/>
              </a:rPr>
              <a:t>、</a:t>
            </a:r>
            <a:r>
              <a:rPr sz="2800" b="1" dirty="0" err="1" smtClean="0">
                <a:solidFill>
                  <a:schemeClr val="tx1"/>
                </a:solidFill>
                <a:latin typeface="宋体" panose="02010600030101010101" pitchFamily="2" charset="-122"/>
                <a:ea typeface="宋体" panose="02010600030101010101" pitchFamily="2" charset="-122"/>
                <a:cs typeface="SimHei"/>
                <a:sym typeface="SimHei"/>
              </a:rPr>
              <a:t>有限大小性决定的</a:t>
            </a: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a:t>
            </a:r>
            <a:r>
              <a:rPr sz="2800" b="1" dirty="0" err="1" smtClean="0">
                <a:solidFill>
                  <a:schemeClr val="tx1"/>
                </a:solidFill>
                <a:latin typeface="宋体" panose="02010600030101010101" pitchFamily="2" charset="-122"/>
                <a:ea typeface="宋体" panose="02010600030101010101" pitchFamily="2" charset="-122"/>
                <a:cs typeface="SimHei"/>
                <a:sym typeface="SimHei"/>
              </a:rPr>
              <a:t>并且可用静电场的基本性质方程加以证明</a:t>
            </a: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a:t>
            </a:r>
            <a:endParaRPr lang="en-US" altLang="zh-CN" sz="2800" b="1" dirty="0" smtClean="0">
              <a:solidFill>
                <a:schemeClr val="tx1"/>
              </a:solidFill>
              <a:latin typeface="宋体" panose="02010600030101010101" pitchFamily="2" charset="-122"/>
              <a:ea typeface="宋体" panose="02010600030101010101" pitchFamily="2" charset="-122"/>
              <a:cs typeface="SimHei"/>
              <a:sym typeface="SimHei"/>
            </a:endParaRPr>
          </a:p>
          <a:p>
            <a:pPr algn="just">
              <a:spcBef>
                <a:spcPts val="1897"/>
              </a:spcBef>
              <a:defRPr sz="1800"/>
            </a:pPr>
            <a:r>
              <a:rPr lang="zh-CN" altLang="en-US" sz="2800" b="1" dirty="0" smtClean="0">
                <a:solidFill>
                  <a:schemeClr val="tx1"/>
                </a:solidFill>
                <a:latin typeface="宋体" panose="02010600030101010101" pitchFamily="2" charset="-122"/>
                <a:ea typeface="宋体" panose="02010600030101010101" pitchFamily="2" charset="-122"/>
                <a:cs typeface="SimHei"/>
                <a:sym typeface="SimHei"/>
              </a:rPr>
              <a:t>绘制电场线的规则</a:t>
            </a:r>
            <a:r>
              <a:rPr lang="en-US" altLang="zh-CN" sz="2800" b="1" dirty="0" smtClean="0">
                <a:solidFill>
                  <a:schemeClr val="tx1"/>
                </a:solidFill>
                <a:latin typeface="宋体" panose="02010600030101010101" pitchFamily="2" charset="-122"/>
                <a:ea typeface="宋体" panose="02010600030101010101" pitchFamily="2" charset="-122"/>
                <a:cs typeface="SimHei"/>
                <a:sym typeface="SimHei"/>
              </a:rPr>
              <a:t>P13</a:t>
            </a:r>
            <a:endParaRPr sz="2800" b="1" dirty="0">
              <a:solidFill>
                <a:schemeClr val="tx1"/>
              </a:solidFill>
              <a:latin typeface="宋体" panose="02010600030101010101" pitchFamily="2" charset="-122"/>
              <a:ea typeface="宋体" panose="02010600030101010101" pitchFamily="2" charset="-122"/>
              <a:cs typeface="SimHei"/>
              <a:sym typeface="SimHei"/>
            </a:endParaRPr>
          </a:p>
        </p:txBody>
      </p:sp>
    </p:spTree>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38921" y="64582"/>
            <a:ext cx="3307859" cy="510742"/>
          </a:xfrm>
          <a:prstGeom prst="roundRect">
            <a:avLst/>
          </a:prstGeom>
          <a:solidFill>
            <a:srgbClr val="FFFFFF"/>
          </a:solidFill>
          <a:ln w="25400" cap="flat">
            <a:solidFill>
              <a:srgbClr val="CC99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04" tIns="45704" rIns="45704" bIns="45704" numCol="1" spcCol="38088" rtlCol="0" anchor="t">
            <a:spAutoFit/>
          </a:bodyPr>
          <a:lstStyle/>
          <a:p>
            <a:pPr algn="l" defTabSz="914111" rtl="0" latinLnBrk="1" hangingPunct="0">
              <a:lnSpc>
                <a:spcPct val="100000"/>
              </a:lnSpc>
              <a:spcBef>
                <a:spcPts val="0"/>
              </a:spcBef>
            </a:pPr>
            <a:endParaRPr lang="zh-CN" altLang="en-US">
              <a:solidFill>
                <a:srgbClr val="000000"/>
              </a:solidFill>
              <a:latin typeface="Arial"/>
              <a:ea typeface="Arial"/>
              <a:cs typeface="Arial"/>
              <a:sym typeface="Arial"/>
            </a:endParaRPr>
          </a:p>
        </p:txBody>
      </p:sp>
      <p:sp>
        <p:nvSpPr>
          <p:cNvPr id="50" name="Shape 377"/>
          <p:cNvSpPr/>
          <p:nvPr/>
        </p:nvSpPr>
        <p:spPr>
          <a:xfrm>
            <a:off x="-31573" y="21591"/>
            <a:ext cx="3378353" cy="413229"/>
          </a:xfrm>
          <a:prstGeom prst="rect">
            <a:avLst/>
          </a:prstGeom>
          <a:ln w="12700">
            <a:miter lim="400000"/>
          </a:ln>
          <a:extLst>
            <a:ext uri="{C572A759-6A51-4108-AA02-DFA0A04FC94B}">
              <ma14:wrappingTextBoxFlag xmlns="" xmlns:ma14="http://schemas.microsoft.com/office/mac/drawingml/2011/main" val="1"/>
            </a:ext>
          </a:extLst>
        </p:spPr>
        <p:txBody>
          <a:bodyPr wrap="square" lIns="46025" tIns="46025" rIns="46025" bIns="46025">
            <a:spAutoFit/>
          </a:bodyPr>
          <a:lstStyle>
            <a:lvl1pPr algn="ctr">
              <a:defRPr b="1">
                <a:latin typeface="楷体_GB2312"/>
                <a:ea typeface="楷体_GB2312"/>
                <a:cs typeface="楷体_GB2312"/>
                <a:sym typeface="楷体_GB2312"/>
              </a:defRPr>
            </a:lvl1pPr>
          </a:lstStyle>
          <a:p>
            <a:pPr lvl="0">
              <a:defRPr sz="1800" b="0"/>
            </a:pPr>
            <a:r>
              <a:rPr lang="zh-CN" altLang="en-US" sz="2000" dirty="0" smtClean="0">
                <a:solidFill>
                  <a:srgbClr val="00B0F0"/>
                </a:solidFill>
                <a:latin typeface="宋体" panose="02010600030101010101" pitchFamily="2" charset="-122"/>
                <a:ea typeface="宋体" panose="02010600030101010101" pitchFamily="2" charset="-122"/>
              </a:rPr>
              <a:t>绘制电场线的规律</a:t>
            </a:r>
            <a:endParaRPr sz="2000" dirty="0">
              <a:solidFill>
                <a:srgbClr val="00B0F0"/>
              </a:solidFill>
              <a:latin typeface="宋体" panose="02010600030101010101" pitchFamily="2" charset="-122"/>
              <a:ea typeface="宋体" panose="02010600030101010101" pitchFamily="2" charset="-122"/>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9" y="929934"/>
            <a:ext cx="9084477"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5576" y="1052736"/>
            <a:ext cx="7560840" cy="34081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altLang="zh-CN" sz="2800" b="1" dirty="0"/>
              <a:t>2</a:t>
            </a:r>
            <a:r>
              <a:rPr lang="zh-CN" altLang="zh-CN" sz="2800" b="1" dirty="0"/>
              <a:t>、图中各点电场强度从大到小的顺序为（</a:t>
            </a:r>
            <a:r>
              <a:rPr lang="en-US" altLang="zh-CN" sz="2800" b="1" dirty="0"/>
              <a:t>  </a:t>
            </a:r>
            <a:r>
              <a:rPr lang="zh-CN" altLang="zh-CN" sz="2800" b="1" dirty="0"/>
              <a:t>）</a:t>
            </a:r>
          </a:p>
          <a:p>
            <a:r>
              <a:rPr lang="en-US" altLang="zh-CN" dirty="0"/>
              <a:t>A</a:t>
            </a:r>
            <a:r>
              <a:rPr lang="zh-CN" altLang="zh-CN" dirty="0"/>
              <a:t>．</a:t>
            </a:r>
            <a:r>
              <a:rPr lang="en-US" altLang="zh-CN" dirty="0"/>
              <a:t>2</a:t>
            </a:r>
            <a:r>
              <a:rPr lang="zh-CN" altLang="zh-CN" dirty="0"/>
              <a:t>，</a:t>
            </a:r>
            <a:r>
              <a:rPr lang="en-US" altLang="zh-CN" dirty="0"/>
              <a:t>4</a:t>
            </a:r>
            <a:r>
              <a:rPr lang="zh-CN" altLang="zh-CN" dirty="0"/>
              <a:t>，</a:t>
            </a:r>
            <a:r>
              <a:rPr lang="en-US" altLang="zh-CN" dirty="0"/>
              <a:t>1</a:t>
            </a:r>
            <a:r>
              <a:rPr lang="zh-CN" altLang="zh-CN" dirty="0"/>
              <a:t>，</a:t>
            </a:r>
            <a:r>
              <a:rPr lang="en-US" altLang="zh-CN" dirty="0"/>
              <a:t>3</a:t>
            </a:r>
            <a:endParaRPr lang="zh-CN" altLang="zh-CN" dirty="0"/>
          </a:p>
          <a:p>
            <a:r>
              <a:rPr lang="en-US" altLang="zh-CN" dirty="0"/>
              <a:t>B</a:t>
            </a:r>
            <a:r>
              <a:rPr lang="zh-CN" altLang="zh-CN" dirty="0"/>
              <a:t>．</a:t>
            </a:r>
            <a:r>
              <a:rPr lang="en-US" altLang="zh-CN" dirty="0"/>
              <a:t>2</a:t>
            </a:r>
            <a:r>
              <a:rPr lang="zh-CN" altLang="zh-CN" dirty="0"/>
              <a:t>，</a:t>
            </a:r>
            <a:r>
              <a:rPr lang="en-US" altLang="zh-CN" dirty="0"/>
              <a:t>3</a:t>
            </a:r>
            <a:r>
              <a:rPr lang="zh-CN" altLang="zh-CN" dirty="0"/>
              <a:t>，</a:t>
            </a:r>
            <a:r>
              <a:rPr lang="en-US" altLang="zh-CN" dirty="0"/>
              <a:t>4</a:t>
            </a:r>
            <a:r>
              <a:rPr lang="zh-CN" altLang="zh-CN" dirty="0"/>
              <a:t>，</a:t>
            </a:r>
            <a:r>
              <a:rPr lang="en-US" altLang="zh-CN" dirty="0"/>
              <a:t>1</a:t>
            </a:r>
            <a:endParaRPr lang="zh-CN" altLang="zh-CN" dirty="0"/>
          </a:p>
          <a:p>
            <a:r>
              <a:rPr lang="en-US" altLang="zh-CN" dirty="0"/>
              <a:t>C</a:t>
            </a:r>
            <a:r>
              <a:rPr lang="zh-CN" altLang="zh-CN" dirty="0"/>
              <a:t>．</a:t>
            </a:r>
            <a:r>
              <a:rPr lang="en-US" altLang="zh-CN" dirty="0"/>
              <a:t>2</a:t>
            </a:r>
            <a:r>
              <a:rPr lang="zh-CN" altLang="zh-CN" dirty="0"/>
              <a:t>，</a:t>
            </a:r>
            <a:r>
              <a:rPr lang="en-US" altLang="zh-CN" dirty="0"/>
              <a:t>1</a:t>
            </a:r>
            <a:r>
              <a:rPr lang="zh-CN" altLang="zh-CN" dirty="0"/>
              <a:t>，</a:t>
            </a:r>
            <a:r>
              <a:rPr lang="en-US" altLang="zh-CN" dirty="0"/>
              <a:t>3</a:t>
            </a:r>
            <a:r>
              <a:rPr lang="zh-CN" altLang="zh-CN" dirty="0"/>
              <a:t>，</a:t>
            </a:r>
            <a:r>
              <a:rPr lang="en-US" altLang="zh-CN" dirty="0"/>
              <a:t>4</a:t>
            </a:r>
            <a:endParaRPr lang="zh-CN" altLang="zh-CN" dirty="0"/>
          </a:p>
          <a:p>
            <a:r>
              <a:rPr lang="en-US" altLang="zh-CN" dirty="0"/>
              <a:t>D</a:t>
            </a:r>
            <a:r>
              <a:rPr lang="zh-CN" altLang="zh-CN" dirty="0"/>
              <a:t>．</a:t>
            </a:r>
            <a:r>
              <a:rPr lang="en-US" altLang="zh-CN" dirty="0"/>
              <a:t>4</a:t>
            </a:r>
            <a:r>
              <a:rPr lang="zh-CN" altLang="zh-CN" dirty="0"/>
              <a:t>，</a:t>
            </a:r>
            <a:r>
              <a:rPr lang="en-US" altLang="zh-CN" dirty="0"/>
              <a:t>3</a:t>
            </a:r>
            <a:r>
              <a:rPr lang="zh-CN" altLang="zh-CN" dirty="0"/>
              <a:t>，</a:t>
            </a:r>
            <a:r>
              <a:rPr lang="en-US" altLang="zh-CN" dirty="0"/>
              <a:t>1</a:t>
            </a:r>
            <a:r>
              <a:rPr lang="zh-CN" altLang="zh-CN" dirty="0"/>
              <a:t>，</a:t>
            </a:r>
            <a:r>
              <a:rPr lang="en-US" altLang="zh-CN" dirty="0"/>
              <a:t>2</a:t>
            </a:r>
            <a:endParaRPr lang="zh-CN" altLang="zh-CN" dirty="0"/>
          </a:p>
        </p:txBody>
      </p:sp>
      <p:pic>
        <p:nvPicPr>
          <p:cNvPr id="2" name="图片 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3968" y="1782361"/>
            <a:ext cx="2592288" cy="2448272"/>
          </a:xfrm>
          <a:prstGeom prst="rect">
            <a:avLst/>
          </a:prstGeom>
          <a:noFill/>
        </p:spPr>
      </p:pic>
      <p:sp>
        <p:nvSpPr>
          <p:cNvPr id="4" name="Shape 297"/>
          <p:cNvSpPr/>
          <p:nvPr/>
        </p:nvSpPr>
        <p:spPr>
          <a:xfrm>
            <a:off x="323528" y="260648"/>
            <a:ext cx="2256355" cy="559867"/>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lvl1pPr>
              <a:defRPr sz="3200"/>
            </a:lvl1pPr>
          </a:lstStyle>
          <a:p>
            <a:pPr lvl="0">
              <a:defRPr sz="1800"/>
            </a:pPr>
            <a:r>
              <a:rPr lang="zh-CN" altLang="en-US" sz="2800" b="1" smtClean="0">
                <a:solidFill>
                  <a:srgbClr val="0000CC"/>
                </a:solidFill>
              </a:rPr>
              <a:t>单项选择题：</a:t>
            </a:r>
            <a:endParaRPr sz="2800" b="1" dirty="0">
              <a:solidFill>
                <a:srgbClr val="0000CC"/>
              </a:solidFill>
            </a:endParaRPr>
          </a:p>
        </p:txBody>
      </p:sp>
    </p:spTree>
    <p:extLst>
      <p:ext uri="{BB962C8B-B14F-4D97-AF65-F5344CB8AC3E}">
        <p14:creationId xmlns:p14="http://schemas.microsoft.com/office/powerpoint/2010/main" val="1084114456"/>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7432" y="548680"/>
            <a:ext cx="8136904" cy="248067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1028700" rtl="0" latinLnBrk="1" hangingPunct="0"/>
            <a:r>
              <a:rPr lang="zh-CN" altLang="zh-CN" dirty="0"/>
              <a:t>下图为四种不同的电场分布，假定图中没有电荷。那么哪个图表示的是静电场</a:t>
            </a:r>
            <a:r>
              <a:rPr lang="zh-CN" altLang="zh-CN" dirty="0" smtClean="0"/>
              <a:t>？</a:t>
            </a:r>
            <a:endParaRPr lang="en-US" altLang="zh-CN" dirty="0" smtClean="0"/>
          </a:p>
          <a:p>
            <a:r>
              <a:rPr lang="en-US" altLang="zh-CN" dirty="0" smtClean="0"/>
              <a:t>A. A	B. b	C</a:t>
            </a:r>
            <a:r>
              <a:rPr lang="en-US" altLang="zh-CN" dirty="0"/>
              <a:t>. </a:t>
            </a:r>
            <a:r>
              <a:rPr lang="en-US" altLang="zh-CN" dirty="0" smtClean="0"/>
              <a:t> b</a:t>
            </a:r>
            <a:r>
              <a:rPr lang="zh-CN" altLang="zh-CN" dirty="0"/>
              <a:t>和</a:t>
            </a:r>
            <a:r>
              <a:rPr lang="en-US" altLang="zh-CN" dirty="0" smtClean="0"/>
              <a:t>d	D. a</a:t>
            </a:r>
            <a:r>
              <a:rPr lang="zh-CN" altLang="zh-CN" dirty="0"/>
              <a:t>和</a:t>
            </a:r>
            <a:r>
              <a:rPr lang="en-US" altLang="zh-CN" dirty="0"/>
              <a:t>c</a:t>
            </a:r>
            <a:endParaRPr lang="zh-CN" altLang="zh-CN" dirty="0"/>
          </a:p>
          <a:p>
            <a:pPr algn="l" defTabSz="1028700" rtl="0" latinLnBrk="1" hangingPunct="0"/>
            <a:endParaRPr kumimoji="0" lang="zh-CN" altLang="en-US" sz="2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pic>
        <p:nvPicPr>
          <p:cNvPr id="3" name="图片 2" descr="https://img-ph-mirror.nosdn.127.net/I3F818Qd6Fs6r7lBYTNKhA==/6619455823397664720.jpg"/>
          <p:cNvPicPr/>
          <p:nvPr/>
        </p:nvPicPr>
        <p:blipFill>
          <a:blip r:embed="rId3">
            <a:extLst>
              <a:ext uri="{28A0092B-C50C-407E-A947-70E740481C1C}">
                <a14:useLocalDpi xmlns:a14="http://schemas.microsoft.com/office/drawing/2010/main" val="0"/>
              </a:ext>
            </a:extLst>
          </a:blip>
          <a:srcRect/>
          <a:stretch>
            <a:fillRect/>
          </a:stretch>
        </p:blipFill>
        <p:spPr bwMode="auto">
          <a:xfrm>
            <a:off x="2339752" y="2564904"/>
            <a:ext cx="3888432" cy="3726180"/>
          </a:xfrm>
          <a:prstGeom prst="rect">
            <a:avLst/>
          </a:prstGeom>
          <a:noFill/>
          <a:ln>
            <a:noFill/>
          </a:ln>
        </p:spPr>
      </p:pic>
      <p:sp>
        <p:nvSpPr>
          <p:cNvPr id="4" name="Shape 297"/>
          <p:cNvSpPr/>
          <p:nvPr/>
        </p:nvSpPr>
        <p:spPr>
          <a:xfrm>
            <a:off x="323528" y="116632"/>
            <a:ext cx="2256355" cy="559867"/>
          </a:xfrm>
          <a:prstGeom prst="rect">
            <a:avLst/>
          </a:prstGeom>
          <a:ln w="12700">
            <a:miter lim="400000"/>
          </a:ln>
          <a:extLst>
            <a:ext uri="{C572A759-6A51-4108-AA02-DFA0A04FC94B}">
              <ma14:wrappingTextBoxFlag xmlns="" xmlns:ma14="http://schemas.microsoft.com/office/mac/drawingml/2011/main" val="1"/>
            </a:ext>
          </a:extLst>
        </p:spPr>
        <p:txBody>
          <a:bodyPr wrap="none" lIns="45704" tIns="45705" rIns="45704" bIns="45705">
            <a:spAutoFit/>
          </a:bodyPr>
          <a:lstStyle>
            <a:lvl1pPr>
              <a:defRPr sz="3200"/>
            </a:lvl1pPr>
          </a:lstStyle>
          <a:p>
            <a:pPr lvl="0">
              <a:defRPr sz="1800"/>
            </a:pPr>
            <a:r>
              <a:rPr lang="zh-CN" altLang="en-US" sz="2800" b="1" smtClean="0">
                <a:solidFill>
                  <a:srgbClr val="0000CC"/>
                </a:solidFill>
              </a:rPr>
              <a:t>单项选择题：</a:t>
            </a:r>
            <a:endParaRPr sz="2800" b="1" dirty="0">
              <a:solidFill>
                <a:srgbClr val="0000CC"/>
              </a:solidFill>
            </a:endParaRPr>
          </a:p>
        </p:txBody>
      </p:sp>
    </p:spTree>
    <p:extLst>
      <p:ext uri="{BB962C8B-B14F-4D97-AF65-F5344CB8AC3E}">
        <p14:creationId xmlns:p14="http://schemas.microsoft.com/office/powerpoint/2010/main" val="518824417"/>
      </p:ext>
    </p:extLst>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93994" y="1700808"/>
            <a:ext cx="5688632" cy="1980029"/>
          </a:xfrm>
          <a:prstGeom prst="rect">
            <a:avLst/>
          </a:prstGeom>
        </p:spPr>
        <p:txBody>
          <a:bodyPr wrap="square">
            <a:spAutoFit/>
          </a:bodyPr>
          <a:lstStyle/>
          <a:p>
            <a:r>
              <a:rPr lang="zh-CN" altLang="zh-CN" b="1" dirty="0" smtClean="0"/>
              <a:t>【作业</a:t>
            </a:r>
            <a:r>
              <a:rPr lang="zh-CN" altLang="en-US" b="1" dirty="0" smtClean="0"/>
              <a:t>，第</a:t>
            </a:r>
            <a:r>
              <a:rPr lang="en-US" altLang="zh-CN" b="1" dirty="0" smtClean="0"/>
              <a:t>2</a:t>
            </a:r>
            <a:r>
              <a:rPr lang="zh-CN" altLang="en-US" b="1" dirty="0" smtClean="0"/>
              <a:t>周</a:t>
            </a:r>
            <a:r>
              <a:rPr lang="zh-CN" altLang="zh-CN" b="1" dirty="0" smtClean="0"/>
              <a:t>】</a:t>
            </a:r>
            <a:endParaRPr lang="zh-CN" altLang="zh-CN" b="1" dirty="0"/>
          </a:p>
          <a:p>
            <a:r>
              <a:rPr lang="zh-CN" altLang="en-US" sz="2800" b="1" dirty="0" smtClean="0"/>
              <a:t>计算题：</a:t>
            </a:r>
            <a:r>
              <a:rPr lang="en-US" altLang="zh-CN" sz="2800" b="1" dirty="0" smtClean="0"/>
              <a:t>5</a:t>
            </a:r>
            <a:r>
              <a:rPr lang="zh-CN" altLang="en-US" sz="2800" b="1" dirty="0" smtClean="0"/>
              <a:t>，</a:t>
            </a:r>
            <a:r>
              <a:rPr lang="en-US" altLang="zh-CN" sz="2800" b="1" dirty="0" smtClean="0"/>
              <a:t>9</a:t>
            </a:r>
            <a:r>
              <a:rPr lang="zh-CN" altLang="en-US" sz="2800" b="1" dirty="0" smtClean="0"/>
              <a:t>；</a:t>
            </a:r>
            <a:endParaRPr lang="en-US" altLang="zh-CN" sz="2800" b="1" dirty="0" smtClean="0"/>
          </a:p>
          <a:p>
            <a:r>
              <a:rPr lang="zh-CN" altLang="en-US" sz="2800" b="1" dirty="0" smtClean="0"/>
              <a:t>计算题：</a:t>
            </a:r>
            <a:r>
              <a:rPr lang="en-US" altLang="zh-CN" sz="2800" b="1" dirty="0" smtClean="0"/>
              <a:t>15</a:t>
            </a:r>
            <a:r>
              <a:rPr lang="zh-CN" altLang="en-US" sz="2800" b="1" dirty="0" smtClean="0"/>
              <a:t>，</a:t>
            </a:r>
            <a:r>
              <a:rPr lang="en-US" altLang="zh-CN" sz="2800" b="1" dirty="0" smtClean="0"/>
              <a:t>16,17,18,19</a:t>
            </a:r>
          </a:p>
        </p:txBody>
      </p:sp>
    </p:spTree>
    <p:extLst>
      <p:ext uri="{BB962C8B-B14F-4D97-AF65-F5344CB8AC3E}">
        <p14:creationId xmlns:p14="http://schemas.microsoft.com/office/powerpoint/2010/main" val="916048524"/>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286824" y="421651"/>
            <a:ext cx="3744416" cy="510776"/>
          </a:xfrm>
          <a:prstGeom prst="roundRect">
            <a:avLst/>
          </a:prstGeom>
          <a:solidFill>
            <a:srgbClr val="FFFFFF"/>
          </a:solidFill>
          <a:ln w="25400" cap="flat">
            <a:solidFill>
              <a:srgbClr val="CC99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04" tIns="45704" rIns="45704" bIns="45704" numCol="1" spcCol="38088" rtlCol="0" anchor="t">
            <a:spAutoFit/>
          </a:bodyPr>
          <a:lstStyle/>
          <a:p>
            <a:pPr algn="l" defTabSz="914111" rtl="0" latinLnBrk="1" hangingPunct="0">
              <a:lnSpc>
                <a:spcPct val="100000"/>
              </a:lnSpc>
              <a:spcBef>
                <a:spcPts val="0"/>
              </a:spcBef>
            </a:pPr>
            <a:endParaRPr lang="zh-CN" altLang="en-US">
              <a:solidFill>
                <a:srgbClr val="000000"/>
              </a:solidFill>
              <a:latin typeface="Arial"/>
              <a:ea typeface="Arial"/>
              <a:cs typeface="Arial"/>
              <a:sym typeface="Arial"/>
            </a:endParaRPr>
          </a:p>
        </p:txBody>
      </p:sp>
      <p:sp>
        <p:nvSpPr>
          <p:cNvPr id="379" name="Shape 379"/>
          <p:cNvSpPr/>
          <p:nvPr/>
        </p:nvSpPr>
        <p:spPr>
          <a:xfrm>
            <a:off x="395535" y="4653136"/>
            <a:ext cx="5020371" cy="972100"/>
          </a:xfrm>
          <a:prstGeom prst="rect">
            <a:avLst/>
          </a:prstGeom>
          <a:ln w="12700">
            <a:miter lim="400000"/>
          </a:ln>
          <a:extLst>
            <a:ext uri="{C572A759-6A51-4108-AA02-DFA0A04FC94B}">
              <ma14:wrappingTextBoxFlag xmlns="" xmlns:ma14="http://schemas.microsoft.com/office/mac/drawingml/2011/main" val="1"/>
            </a:ext>
          </a:extLst>
        </p:spPr>
        <p:txBody>
          <a:bodyPr wrap="square" lIns="46025" tIns="46025" rIns="46025" bIns="46025">
            <a:spAutoFit/>
          </a:bodyPr>
          <a:lstStyle>
            <a:lvl1pPr algn="ctr">
              <a:defRPr b="1">
                <a:latin typeface="楷体_GB2312"/>
                <a:ea typeface="楷体_GB2312"/>
                <a:cs typeface="楷体_GB2312"/>
                <a:sym typeface="楷体_GB2312"/>
              </a:defRPr>
            </a:lvl1pPr>
          </a:lstStyle>
          <a:p>
            <a:pPr lvl="0">
              <a:defRPr sz="1800" b="0"/>
            </a:pPr>
            <a:r>
              <a:rPr lang="zh-CN" altLang="en-US" sz="2500" dirty="0">
                <a:solidFill>
                  <a:srgbClr val="000000"/>
                </a:solidFill>
                <a:latin typeface="Times New Roman"/>
                <a:ea typeface="Times New Roman"/>
                <a:cs typeface="Times New Roman"/>
                <a:sym typeface="Times New Roman"/>
              </a:rPr>
              <a:t>图</a:t>
            </a:r>
            <a:r>
              <a:rPr lang="en-US" altLang="zh-CN" sz="2500" dirty="0">
                <a:solidFill>
                  <a:srgbClr val="000000"/>
                </a:solidFill>
                <a:latin typeface="Times New Roman"/>
                <a:ea typeface="Times New Roman"/>
                <a:cs typeface="Times New Roman"/>
                <a:sym typeface="Times New Roman"/>
              </a:rPr>
              <a:t>18.18   </a:t>
            </a:r>
            <a:r>
              <a:rPr lang="zh-CN" altLang="en-US" sz="2500" dirty="0">
                <a:solidFill>
                  <a:srgbClr val="000000"/>
                </a:solidFill>
                <a:latin typeface="Times New Roman"/>
                <a:ea typeface="Times New Roman"/>
                <a:cs typeface="Times New Roman"/>
                <a:sym typeface="Times New Roman"/>
              </a:rPr>
              <a:t>孤立点电荷的电场线（</a:t>
            </a:r>
            <a:r>
              <a:rPr lang="en-US" altLang="zh-CN" sz="2500" dirty="0">
                <a:solidFill>
                  <a:srgbClr val="000000"/>
                </a:solidFill>
                <a:latin typeface="Times New Roman"/>
                <a:ea typeface="Times New Roman"/>
                <a:cs typeface="Times New Roman"/>
                <a:sym typeface="Times New Roman"/>
              </a:rPr>
              <a:t>(a),(b)</a:t>
            </a:r>
            <a:r>
              <a:rPr lang="zh-CN" altLang="en-US" sz="2500" dirty="0">
                <a:solidFill>
                  <a:srgbClr val="000000"/>
                </a:solidFill>
                <a:latin typeface="Times New Roman"/>
                <a:ea typeface="Times New Roman"/>
                <a:cs typeface="Times New Roman"/>
                <a:sym typeface="Times New Roman"/>
              </a:rPr>
              <a:t>为平面图，</a:t>
            </a:r>
            <a:r>
              <a:rPr lang="en-US" altLang="zh-CN" sz="2500" dirty="0">
                <a:solidFill>
                  <a:srgbClr val="000000"/>
                </a:solidFill>
                <a:latin typeface="Times New Roman"/>
                <a:ea typeface="Times New Roman"/>
                <a:cs typeface="Times New Roman"/>
                <a:sym typeface="Times New Roman"/>
              </a:rPr>
              <a:t>(c)</a:t>
            </a:r>
            <a:r>
              <a:rPr lang="zh-CN" altLang="en-US" sz="2500" dirty="0">
                <a:solidFill>
                  <a:srgbClr val="000000"/>
                </a:solidFill>
                <a:latin typeface="Times New Roman"/>
                <a:ea typeface="Times New Roman"/>
                <a:cs typeface="Times New Roman"/>
                <a:sym typeface="Times New Roman"/>
              </a:rPr>
              <a:t>为立体图）</a:t>
            </a:r>
          </a:p>
        </p:txBody>
      </p:sp>
      <p:pic>
        <p:nvPicPr>
          <p:cNvPr id="52" name="Picture 3" descr="gia12141_16_3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7268"/>
          <a:stretch/>
        </p:blipFill>
        <p:spPr bwMode="auto">
          <a:xfrm>
            <a:off x="107504" y="1268760"/>
            <a:ext cx="8686800" cy="2981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 name="Shape 377"/>
          <p:cNvSpPr/>
          <p:nvPr/>
        </p:nvSpPr>
        <p:spPr>
          <a:xfrm>
            <a:off x="233072" y="372020"/>
            <a:ext cx="3851920" cy="610038"/>
          </a:xfrm>
          <a:prstGeom prst="rect">
            <a:avLst/>
          </a:prstGeom>
          <a:ln w="12700">
            <a:miter lim="400000"/>
          </a:ln>
          <a:extLst>
            <a:ext uri="{C572A759-6A51-4108-AA02-DFA0A04FC94B}">
              <ma14:wrappingTextBoxFlag xmlns="" xmlns:ma14="http://schemas.microsoft.com/office/mac/drawingml/2011/main" val="1"/>
            </a:ext>
          </a:extLst>
        </p:spPr>
        <p:txBody>
          <a:bodyPr wrap="square" lIns="46025" tIns="46025" rIns="46025" bIns="46025">
            <a:spAutoFit/>
          </a:bodyPr>
          <a:lstStyle>
            <a:lvl1pPr algn="ctr">
              <a:defRPr b="1">
                <a:latin typeface="楷体_GB2312"/>
                <a:ea typeface="楷体_GB2312"/>
                <a:cs typeface="楷体_GB2312"/>
                <a:sym typeface="楷体_GB2312"/>
              </a:defRPr>
            </a:lvl1pPr>
          </a:lstStyle>
          <a:p>
            <a:pPr lvl="0">
              <a:defRPr sz="1800" b="0"/>
            </a:pPr>
            <a:r>
              <a:rPr sz="2800" b="0" dirty="0" err="1">
                <a:solidFill>
                  <a:srgbClr val="00B0F0"/>
                </a:solidFill>
                <a:latin typeface="宋体" panose="02010600030101010101" pitchFamily="2" charset="-122"/>
                <a:ea typeface="宋体" panose="02010600030101010101" pitchFamily="2" charset="-122"/>
              </a:rPr>
              <a:t>几种典型</a:t>
            </a:r>
            <a:r>
              <a:rPr lang="zh-CN" altLang="en-US" sz="2800" b="0" dirty="0">
                <a:solidFill>
                  <a:srgbClr val="00B0F0"/>
                </a:solidFill>
                <a:latin typeface="宋体" panose="02010600030101010101" pitchFamily="2" charset="-122"/>
                <a:ea typeface="宋体" panose="02010600030101010101" pitchFamily="2" charset="-122"/>
              </a:rPr>
              <a:t>的</a:t>
            </a:r>
            <a:r>
              <a:rPr sz="2800" b="0" dirty="0" err="1">
                <a:solidFill>
                  <a:srgbClr val="00B0F0"/>
                </a:solidFill>
                <a:latin typeface="宋体" panose="02010600030101010101" pitchFamily="2" charset="-122"/>
                <a:ea typeface="宋体" panose="02010600030101010101" pitchFamily="2" charset="-122"/>
              </a:rPr>
              <a:t>电场线分布</a:t>
            </a:r>
            <a:endParaRPr sz="2800" b="0" dirty="0">
              <a:solidFill>
                <a:srgbClr val="00B0F0"/>
              </a:solidFill>
              <a:latin typeface="宋体" panose="02010600030101010101" pitchFamily="2" charset="-122"/>
              <a:ea typeface="宋体" panose="02010600030101010101" pitchFamily="2" charset="-122"/>
            </a:endParaRPr>
          </a:p>
        </p:txBody>
      </p:sp>
      <p:sp>
        <p:nvSpPr>
          <p:cNvPr id="3" name="TextBox 2"/>
          <p:cNvSpPr txBox="1"/>
          <p:nvPr/>
        </p:nvSpPr>
        <p:spPr>
          <a:xfrm>
            <a:off x="6397851" y="4365104"/>
            <a:ext cx="2396453" cy="142192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点电荷电场线方向沿径向方向，</a:t>
            </a:r>
            <a:r>
              <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E</a:t>
            </a: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具有球对称性</a:t>
            </a:r>
            <a:endParaRPr kumimoji="0" lang="zh-CN" altLang="en-US" sz="2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cSld>
  <p:clrMapOvr>
    <a:masterClrMapping/>
  </p:clrMapOvr>
  <p:transition spd="med"/>
  <p:timing>
    <p:tnLst>
      <p:par>
        <p:cTn id="1" dur="indefinite" restart="never" fill="hold"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Shape 430"/>
          <p:cNvSpPr/>
          <p:nvPr/>
        </p:nvSpPr>
        <p:spPr>
          <a:xfrm>
            <a:off x="1155658" y="267137"/>
            <a:ext cx="7200800" cy="1159932"/>
          </a:xfrm>
          <a:prstGeom prst="rect">
            <a:avLst/>
          </a:prstGeom>
          <a:ln w="12700">
            <a:miter lim="400000"/>
          </a:ln>
          <a:extLst>
            <a:ext uri="{C572A759-6A51-4108-AA02-DFA0A04FC94B}">
              <ma14:wrappingTextBoxFlag xmlns="" xmlns:ma14="http://schemas.microsoft.com/office/mac/drawingml/2011/main" val="1"/>
            </a:ext>
          </a:extLst>
        </p:spPr>
        <p:txBody>
          <a:bodyPr wrap="square" lIns="46025" tIns="46025" rIns="46025" bIns="46025">
            <a:spAutoFit/>
          </a:bodyPr>
          <a:lstStyle>
            <a:lvl1pPr algn="ctr">
              <a:defRPr b="1">
                <a:latin typeface="楷体_GB2312"/>
                <a:ea typeface="楷体_GB2312"/>
                <a:cs typeface="楷体_GB2312"/>
                <a:sym typeface="楷体_GB2312"/>
              </a:defRPr>
            </a:lvl1pPr>
          </a:lstStyle>
          <a:p>
            <a:pPr lvl="0">
              <a:lnSpc>
                <a:spcPct val="100000"/>
              </a:lnSpc>
              <a:defRPr sz="1800" b="0"/>
            </a:pPr>
            <a:r>
              <a:rPr lang="zh-CN" altLang="en-US" sz="2800" dirty="0">
                <a:latin typeface="黑体" pitchFamily="49" charset="-122"/>
                <a:ea typeface="黑体" pitchFamily="49" charset="-122"/>
              </a:rPr>
              <a:t>电偶极子的电场</a:t>
            </a:r>
            <a:endParaRPr lang="en-US" altLang="zh-CN" sz="2800" dirty="0">
              <a:latin typeface="黑体" pitchFamily="49" charset="-122"/>
              <a:ea typeface="黑体" pitchFamily="49" charset="-122"/>
            </a:endParaRPr>
          </a:p>
          <a:p>
            <a:pPr lvl="0">
              <a:lnSpc>
                <a:spcPct val="100000"/>
              </a:lnSpc>
              <a:defRPr sz="1800" b="0"/>
            </a:pPr>
            <a:r>
              <a:rPr lang="zh-CN" altLang="en-US" sz="2800" dirty="0">
                <a:latin typeface="黑体" pitchFamily="49" charset="-122"/>
                <a:ea typeface="黑体" pitchFamily="49" charset="-122"/>
              </a:rPr>
              <a:t>电偶极子：</a:t>
            </a:r>
            <a:r>
              <a:rPr sz="2800" b="0" dirty="0" err="1">
                <a:latin typeface="黑体" pitchFamily="49" charset="-122"/>
                <a:ea typeface="黑体" pitchFamily="49" charset="-122"/>
              </a:rPr>
              <a:t>一对</a:t>
            </a:r>
            <a:r>
              <a:rPr lang="zh-CN" altLang="en-US" sz="2800" b="0" dirty="0">
                <a:latin typeface="黑体" pitchFamily="49" charset="-122"/>
                <a:ea typeface="黑体" pitchFamily="49" charset="-122"/>
              </a:rPr>
              <a:t>相距很近的</a:t>
            </a:r>
            <a:r>
              <a:rPr sz="2800" b="0" dirty="0" err="1">
                <a:latin typeface="黑体" pitchFamily="49" charset="-122"/>
                <a:ea typeface="黑体" pitchFamily="49" charset="-122"/>
              </a:rPr>
              <a:t>等量异号电荷</a:t>
            </a:r>
            <a:r>
              <a:rPr lang="zh-CN" altLang="en-US" sz="2800" b="0" dirty="0">
                <a:latin typeface="黑体" pitchFamily="49" charset="-122"/>
                <a:ea typeface="黑体" pitchFamily="49" charset="-122"/>
              </a:rPr>
              <a:t>。</a:t>
            </a:r>
            <a:endParaRPr sz="2800" b="0" dirty="0">
              <a:latin typeface="黑体" pitchFamily="49" charset="-122"/>
              <a:ea typeface="黑体" pitchFamily="49" charset="-122"/>
            </a:endParaRPr>
          </a:p>
        </p:txBody>
      </p:sp>
      <p:sp>
        <p:nvSpPr>
          <p:cNvPr id="2" name="文本框 1"/>
          <p:cNvSpPr txBox="1"/>
          <p:nvPr/>
        </p:nvSpPr>
        <p:spPr>
          <a:xfrm>
            <a:off x="5755506" y="5301208"/>
            <a:ext cx="2554513" cy="74068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04" tIns="45704" rIns="45704" bIns="45704" numCol="1" spcCol="38088" rtlCol="0" anchor="t">
            <a:spAutoFit/>
          </a:bodyPr>
          <a:lstStyle/>
          <a:p>
            <a:pPr algn="l" rtl="0" latinLnBrk="1" hangingPunct="0"/>
            <a:r>
              <a:rPr lang="zh-CN" altLang="en-US" b="1" dirty="0" smtClean="0">
                <a:solidFill>
                  <a:srgbClr val="000000"/>
                </a:solidFill>
              </a:rPr>
              <a:t>电偶极子</a:t>
            </a:r>
            <a:r>
              <a:rPr lang="zh-CN" altLang="en-US" b="1" dirty="0">
                <a:solidFill>
                  <a:srgbClr val="000000"/>
                </a:solidFill>
              </a:rPr>
              <a:t>的电场线</a:t>
            </a:r>
          </a:p>
        </p:txBody>
      </p:sp>
      <p:pic>
        <p:nvPicPr>
          <p:cNvPr id="52" name="Picture 3" descr="gia12141_16_3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3116"/>
          <a:stretch/>
        </p:blipFill>
        <p:spPr bwMode="auto">
          <a:xfrm>
            <a:off x="611560" y="1529210"/>
            <a:ext cx="5143946" cy="4708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组合 3"/>
          <p:cNvGrpSpPr/>
          <p:nvPr/>
        </p:nvGrpSpPr>
        <p:grpSpPr>
          <a:xfrm>
            <a:off x="41913" y="224724"/>
            <a:ext cx="3379440" cy="511723"/>
            <a:chOff x="-1335" y="64580"/>
            <a:chExt cx="3236914" cy="511723"/>
          </a:xfrm>
        </p:grpSpPr>
        <p:sp>
          <p:nvSpPr>
            <p:cNvPr id="3" name="圆角矩形 2"/>
            <p:cNvSpPr/>
            <p:nvPr/>
          </p:nvSpPr>
          <p:spPr>
            <a:xfrm>
              <a:off x="35945" y="64580"/>
              <a:ext cx="3168352" cy="511723"/>
            </a:xfrm>
            <a:prstGeom prst="roundRect">
              <a:avLst/>
            </a:prstGeom>
            <a:solidFill>
              <a:srgbClr val="FFFFFF"/>
            </a:solidFill>
            <a:ln w="25400" cap="flat">
              <a:solidFill>
                <a:srgbClr val="CC99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defTabSz="914111" rtl="0" latinLnBrk="1" hangingPunct="0">
                <a:lnSpc>
                  <a:spcPct val="100000"/>
                </a:lnSpc>
                <a:spcBef>
                  <a:spcPts val="0"/>
                </a:spcBef>
              </a:pPr>
              <a:endParaRPr lang="zh-CN" altLang="en-US">
                <a:solidFill>
                  <a:srgbClr val="000000"/>
                </a:solidFill>
                <a:latin typeface="Arial"/>
                <a:ea typeface="Arial"/>
                <a:cs typeface="Arial"/>
                <a:sym typeface="Arial"/>
              </a:endParaRPr>
            </a:p>
          </p:txBody>
        </p:sp>
        <p:sp>
          <p:nvSpPr>
            <p:cNvPr id="53" name="Shape 377"/>
            <p:cNvSpPr/>
            <p:nvPr/>
          </p:nvSpPr>
          <p:spPr>
            <a:xfrm>
              <a:off x="-1335" y="99392"/>
              <a:ext cx="3236914" cy="381194"/>
            </a:xfrm>
            <a:prstGeom prst="rect">
              <a:avLst/>
            </a:prstGeom>
            <a:ln w="12700">
              <a:miter lim="400000"/>
            </a:ln>
            <a:extLst>
              <a:ext uri="{C572A759-6A51-4108-AA02-DFA0A04FC94B}">
                <ma14:wrappingTextBoxFlag xmlns="" xmlns:ma14="http://schemas.microsoft.com/office/mac/drawingml/2011/main" val="1"/>
              </a:ext>
            </a:extLst>
          </p:spPr>
          <p:txBody>
            <a:bodyPr lIns="46037" tIns="46037" rIns="46037" bIns="46037">
              <a:spAutoFit/>
            </a:bodyPr>
            <a:lstStyle>
              <a:lvl1pPr algn="ctr">
                <a:defRPr b="1">
                  <a:latin typeface="楷体_GB2312"/>
                  <a:ea typeface="楷体_GB2312"/>
                  <a:cs typeface="楷体_GB2312"/>
                  <a:sym typeface="楷体_GB2312"/>
                </a:defRPr>
              </a:lvl1pPr>
            </a:lstStyle>
            <a:p>
              <a:pPr lvl="0">
                <a:defRPr sz="1800" b="0"/>
              </a:pPr>
              <a:r>
                <a:rPr dirty="0" err="1">
                  <a:solidFill>
                    <a:srgbClr val="00B0F0"/>
                  </a:solidFill>
                  <a:latin typeface="宋体" panose="02010600030101010101" pitchFamily="2" charset="-122"/>
                  <a:ea typeface="宋体" panose="02010600030101010101" pitchFamily="2" charset="-122"/>
                </a:rPr>
                <a:t>几种典型</a:t>
              </a:r>
              <a:r>
                <a:rPr lang="zh-CN" altLang="en-US" dirty="0">
                  <a:solidFill>
                    <a:srgbClr val="00B0F0"/>
                  </a:solidFill>
                  <a:latin typeface="宋体" panose="02010600030101010101" pitchFamily="2" charset="-122"/>
                  <a:ea typeface="宋体" panose="02010600030101010101" pitchFamily="2" charset="-122"/>
                </a:rPr>
                <a:t>的</a:t>
              </a:r>
              <a:r>
                <a:rPr dirty="0" err="1">
                  <a:solidFill>
                    <a:srgbClr val="00B0F0"/>
                  </a:solidFill>
                  <a:latin typeface="宋体" panose="02010600030101010101" pitchFamily="2" charset="-122"/>
                  <a:ea typeface="宋体" panose="02010600030101010101" pitchFamily="2" charset="-122"/>
                </a:rPr>
                <a:t>电场线分布</a:t>
              </a:r>
              <a:endParaRPr dirty="0">
                <a:solidFill>
                  <a:srgbClr val="00B0F0"/>
                </a:solidFill>
                <a:latin typeface="宋体" panose="02010600030101010101" pitchFamily="2" charset="-122"/>
                <a:ea typeface="宋体" panose="02010600030101010101" pitchFamily="2" charset="-122"/>
              </a:endParaRPr>
            </a:p>
          </p:txBody>
        </p:sp>
      </p:grpSp>
      <p:sp>
        <p:nvSpPr>
          <p:cNvPr id="5" name="TextBox 4"/>
          <p:cNvSpPr txBox="1"/>
          <p:nvPr/>
        </p:nvSpPr>
        <p:spPr>
          <a:xfrm>
            <a:off x="6084168" y="1772816"/>
            <a:ext cx="2664296" cy="27186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A</a:t>
            </a: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点的电场指向什么方向？</a:t>
            </a:r>
            <a:endPar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endParaRPr>
          </a:p>
          <a:p>
            <a:pPr marL="0" marR="0" indent="0" algn="l" defTabSz="1028700" rtl="0" fontAlgn="auto" latinLnBrk="1" hangingPunct="0">
              <a:lnSpc>
                <a:spcPct val="120000"/>
              </a:lnSpc>
              <a:spcBef>
                <a:spcPts val="1600"/>
              </a:spcBef>
              <a:spcAft>
                <a:spcPts val="0"/>
              </a:spcAft>
              <a:buClrTx/>
              <a:buSzTx/>
              <a:buFontTx/>
              <a:buNone/>
              <a:tabLst/>
            </a:pPr>
            <a:r>
              <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A</a:t>
            </a: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点和</a:t>
            </a:r>
            <a:r>
              <a:rPr kumimoji="0" lang="en-US" altLang="zh-CN"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P</a:t>
            </a: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点相比较，哪点处的电场较弱？</a:t>
            </a:r>
            <a:endParaRPr kumimoji="0" lang="zh-CN" altLang="en-US" sz="2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258790" y="2449108"/>
            <a:ext cx="1511051" cy="782880"/>
          </a:xfrm>
          <a:custGeom>
            <a:avLst/>
            <a:gdLst>
              <a:gd name="connsiteX0" fmla="*/ 14287 w 1506854"/>
              <a:gd name="connsiteY0" fmla="*/ 767143 h 781430"/>
              <a:gd name="connsiteX1" fmla="*/ 14287 w 1506854"/>
              <a:gd name="connsiteY1" fmla="*/ 14287 h 781430"/>
              <a:gd name="connsiteX2" fmla="*/ 1492567 w 1506854"/>
              <a:gd name="connsiteY2" fmla="*/ 14287 h 781430"/>
              <a:gd name="connsiteX3" fmla="*/ 1492567 w 1506854"/>
              <a:gd name="connsiteY3" fmla="*/ 767143 h 781430"/>
              <a:gd name="connsiteX4" fmla="*/ 14287 w 1506854"/>
              <a:gd name="connsiteY4" fmla="*/ 767143 h 78143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506854" h="781430">
                <a:moveTo>
                  <a:pt x="14287" y="767143"/>
                </a:moveTo>
                <a:lnTo>
                  <a:pt x="14287" y="14287"/>
                </a:lnTo>
                <a:lnTo>
                  <a:pt x="1492567" y="14287"/>
                </a:lnTo>
                <a:lnTo>
                  <a:pt x="1492567" y="767143"/>
                </a:lnTo>
                <a:lnTo>
                  <a:pt x="14287" y="767143"/>
                </a:lnTo>
              </a:path>
            </a:pathLst>
          </a:custGeom>
          <a:solidFill>
            <a:srgbClr val="000000">
              <a:alpha val="0"/>
            </a:srgbClr>
          </a:solidFill>
          <a:ln w="25400">
            <a:solidFill>
              <a:srgbClr val="FF00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620" tIns="45810" rIns="91620" bIns="45810" rtlCol="0" anchor="ctr"/>
          <a:lstStyle/>
          <a:p>
            <a:pPr algn="ctr" defTabSz="916213" rtl="0">
              <a:lnSpc>
                <a:spcPct val="100000"/>
              </a:lnSpc>
              <a:spcBef>
                <a:spcPts val="0"/>
              </a:spcBef>
            </a:pPr>
            <a:endParaRPr lang="zh-CN" altLang="en-US" sz="1800" kern="1200">
              <a:solidFill>
                <a:prstClr val="white"/>
              </a:solidFill>
            </a:endParaRPr>
          </a:p>
        </p:txBody>
      </p:sp>
      <p:sp>
        <p:nvSpPr>
          <p:cNvPr id="3" name="Freeform 3"/>
          <p:cNvSpPr/>
          <p:nvPr/>
        </p:nvSpPr>
        <p:spPr>
          <a:xfrm>
            <a:off x="6020652" y="4381230"/>
            <a:ext cx="22287" cy="318089"/>
          </a:xfrm>
          <a:custGeom>
            <a:avLst/>
            <a:gdLst>
              <a:gd name="connsiteX0" fmla="*/ 6350 w 22225"/>
              <a:gd name="connsiteY0" fmla="*/ 6350 h 317500"/>
              <a:gd name="connsiteX1" fmla="*/ 6350 w 22225"/>
              <a:gd name="connsiteY1" fmla="*/ 311150 h 317500"/>
            </a:gdLst>
            <a:ahLst/>
            <a:cxnLst>
              <a:cxn ang="0">
                <a:pos x="connsiteX0" y="connsiteY0"/>
              </a:cxn>
              <a:cxn ang="1">
                <a:pos x="connsiteX1" y="connsiteY1"/>
              </a:cxn>
            </a:cxnLst>
            <a:rect l="l" t="t" r="r" b="b"/>
            <a:pathLst>
              <a:path w="22225" h="317500">
                <a:moveTo>
                  <a:pt x="6350" y="6350"/>
                </a:moveTo>
                <a:lnTo>
                  <a:pt x="6350" y="31115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lIns="91620" tIns="45810" rIns="91620" bIns="45810" rtlCol="0" anchor="ctr"/>
          <a:lstStyle/>
          <a:p>
            <a:pPr algn="ctr" defTabSz="916213" rtl="0">
              <a:lnSpc>
                <a:spcPct val="100000"/>
              </a:lnSpc>
              <a:spcBef>
                <a:spcPts val="0"/>
              </a:spcBef>
            </a:pPr>
            <a:endParaRPr lang="zh-CN" altLang="en-US" sz="1800" kern="1200">
              <a:solidFill>
                <a:prstClr val="black"/>
              </a:solidFill>
            </a:endParaRPr>
          </a:p>
        </p:txBody>
      </p:sp>
      <p:sp>
        <p:nvSpPr>
          <p:cNvPr id="5" name="Freeform 3"/>
          <p:cNvSpPr/>
          <p:nvPr/>
        </p:nvSpPr>
        <p:spPr>
          <a:xfrm>
            <a:off x="7090424" y="4381230"/>
            <a:ext cx="22287" cy="318089"/>
          </a:xfrm>
          <a:custGeom>
            <a:avLst/>
            <a:gdLst>
              <a:gd name="connsiteX0" fmla="*/ 6350 w 22225"/>
              <a:gd name="connsiteY0" fmla="*/ 6350 h 317500"/>
              <a:gd name="connsiteX1" fmla="*/ 6350 w 22225"/>
              <a:gd name="connsiteY1" fmla="*/ 311150 h 317500"/>
            </a:gdLst>
            <a:ahLst/>
            <a:cxnLst>
              <a:cxn ang="0">
                <a:pos x="connsiteX0" y="connsiteY0"/>
              </a:cxn>
              <a:cxn ang="1">
                <a:pos x="connsiteX1" y="connsiteY1"/>
              </a:cxn>
            </a:cxnLst>
            <a:rect l="l" t="t" r="r" b="b"/>
            <a:pathLst>
              <a:path w="22225" h="317500">
                <a:moveTo>
                  <a:pt x="6350" y="6350"/>
                </a:moveTo>
                <a:lnTo>
                  <a:pt x="6350" y="31115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lIns="91620" tIns="45810" rIns="91620" bIns="45810" rtlCol="0" anchor="ctr"/>
          <a:lstStyle/>
          <a:p>
            <a:pPr algn="ctr" defTabSz="916213" rtl="0">
              <a:lnSpc>
                <a:spcPct val="100000"/>
              </a:lnSpc>
              <a:spcBef>
                <a:spcPts val="0"/>
              </a:spcBef>
            </a:pPr>
            <a:endParaRPr lang="zh-CN" altLang="en-US" sz="1800" kern="1200">
              <a:solidFill>
                <a:prstClr val="black"/>
              </a:solidFill>
            </a:endParaRPr>
          </a:p>
        </p:txBody>
      </p:sp>
      <p:sp>
        <p:nvSpPr>
          <p:cNvPr id="6" name="Freeform 3"/>
          <p:cNvSpPr/>
          <p:nvPr/>
        </p:nvSpPr>
        <p:spPr>
          <a:xfrm>
            <a:off x="5907558" y="4075868"/>
            <a:ext cx="237387" cy="318089"/>
          </a:xfrm>
          <a:custGeom>
            <a:avLst/>
            <a:gdLst>
              <a:gd name="connsiteX0" fmla="*/ 118364 w 236728"/>
              <a:gd name="connsiteY0" fmla="*/ 6350 h 317500"/>
              <a:gd name="connsiteX1" fmla="*/ 6350 w 236728"/>
              <a:gd name="connsiteY1" fmla="*/ 158750 h 317500"/>
              <a:gd name="connsiteX2" fmla="*/ 118364 w 236728"/>
              <a:gd name="connsiteY2" fmla="*/ 311150 h 317500"/>
              <a:gd name="connsiteX3" fmla="*/ 230378 w 236728"/>
              <a:gd name="connsiteY3" fmla="*/ 158750 h 317500"/>
              <a:gd name="connsiteX4" fmla="*/ 118364 w 236728"/>
              <a:gd name="connsiteY4" fmla="*/ 6350 h 317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36728" h="317500">
                <a:moveTo>
                  <a:pt x="118364" y="6350"/>
                </a:moveTo>
                <a:cubicBezTo>
                  <a:pt x="56654" y="6350"/>
                  <a:pt x="6350" y="74929"/>
                  <a:pt x="6350" y="158750"/>
                </a:cubicBezTo>
                <a:cubicBezTo>
                  <a:pt x="6350" y="243332"/>
                  <a:pt x="56654" y="311150"/>
                  <a:pt x="118364" y="311150"/>
                </a:cubicBezTo>
                <a:cubicBezTo>
                  <a:pt x="180085" y="311150"/>
                  <a:pt x="230378" y="243332"/>
                  <a:pt x="230378" y="158750"/>
                </a:cubicBezTo>
                <a:cubicBezTo>
                  <a:pt x="230378" y="74929"/>
                  <a:pt x="180085" y="6350"/>
                  <a:pt x="118364" y="6350"/>
                </a:cubicBezTo>
              </a:path>
            </a:pathLst>
          </a:custGeom>
          <a:solidFill>
            <a:srgbClr val="000000">
              <a:alpha val="0"/>
            </a:srgbClr>
          </a:solidFill>
          <a:ln w="12700">
            <a:solidFill>
              <a:srgbClr val="009999">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620" tIns="45810" rIns="91620" bIns="45810" rtlCol="0" anchor="ctr"/>
          <a:lstStyle/>
          <a:p>
            <a:pPr algn="ctr" defTabSz="916213" rtl="0">
              <a:lnSpc>
                <a:spcPct val="100000"/>
              </a:lnSpc>
              <a:spcBef>
                <a:spcPts val="0"/>
              </a:spcBef>
            </a:pPr>
            <a:endParaRPr lang="zh-CN" altLang="en-US" sz="1800" kern="1200">
              <a:solidFill>
                <a:prstClr val="white"/>
              </a:solidFill>
            </a:endParaRPr>
          </a:p>
        </p:txBody>
      </p:sp>
      <p:sp>
        <p:nvSpPr>
          <p:cNvPr id="7" name="Freeform 3"/>
          <p:cNvSpPr/>
          <p:nvPr/>
        </p:nvSpPr>
        <p:spPr>
          <a:xfrm>
            <a:off x="6978861" y="4075868"/>
            <a:ext cx="237387" cy="318089"/>
          </a:xfrm>
          <a:custGeom>
            <a:avLst/>
            <a:gdLst>
              <a:gd name="connsiteX0" fmla="*/ 118364 w 236728"/>
              <a:gd name="connsiteY0" fmla="*/ 6350 h 317500"/>
              <a:gd name="connsiteX1" fmla="*/ 6350 w 236728"/>
              <a:gd name="connsiteY1" fmla="*/ 158750 h 317500"/>
              <a:gd name="connsiteX2" fmla="*/ 118364 w 236728"/>
              <a:gd name="connsiteY2" fmla="*/ 311150 h 317500"/>
              <a:gd name="connsiteX3" fmla="*/ 230378 w 236728"/>
              <a:gd name="connsiteY3" fmla="*/ 158750 h 317500"/>
              <a:gd name="connsiteX4" fmla="*/ 118364 w 236728"/>
              <a:gd name="connsiteY4" fmla="*/ 6350 h 317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36728" h="317500">
                <a:moveTo>
                  <a:pt x="118364" y="6350"/>
                </a:moveTo>
                <a:cubicBezTo>
                  <a:pt x="56654" y="6350"/>
                  <a:pt x="6350" y="74929"/>
                  <a:pt x="6350" y="158750"/>
                </a:cubicBezTo>
                <a:cubicBezTo>
                  <a:pt x="6350" y="243332"/>
                  <a:pt x="56654" y="311150"/>
                  <a:pt x="118364" y="311150"/>
                </a:cubicBezTo>
                <a:cubicBezTo>
                  <a:pt x="180099" y="311150"/>
                  <a:pt x="230378" y="243332"/>
                  <a:pt x="230378" y="158750"/>
                </a:cubicBezTo>
                <a:cubicBezTo>
                  <a:pt x="230378" y="74929"/>
                  <a:pt x="180099" y="6350"/>
                  <a:pt x="118364" y="6350"/>
                </a:cubicBezTo>
              </a:path>
            </a:pathLst>
          </a:custGeom>
          <a:solidFill>
            <a:srgbClr val="000000">
              <a:alpha val="0"/>
            </a:srgbClr>
          </a:solidFill>
          <a:ln w="12700">
            <a:solidFill>
              <a:srgbClr val="009999">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620" tIns="45810" rIns="91620" bIns="45810" rtlCol="0" anchor="ctr"/>
          <a:lstStyle/>
          <a:p>
            <a:pPr algn="ctr" defTabSz="916213" rtl="0">
              <a:lnSpc>
                <a:spcPct val="100000"/>
              </a:lnSpc>
              <a:spcBef>
                <a:spcPts val="0"/>
              </a:spcBef>
            </a:pPr>
            <a:endParaRPr lang="zh-CN" altLang="en-US" sz="1800" kern="1200">
              <a:solidFill>
                <a:prstClr val="white"/>
              </a:solidFill>
            </a:endParaRPr>
          </a:p>
        </p:txBody>
      </p:sp>
      <p:pic>
        <p:nvPicPr>
          <p:cNvPr id="8" name="Picture 3"/>
          <p:cNvPicPr>
            <a:picLocks noChangeAspect="1" noChangeArrowheads="1"/>
          </p:cNvPicPr>
          <p:nvPr/>
        </p:nvPicPr>
        <p:blipFill>
          <a:blip r:embed="rId2"/>
          <a:srcRect/>
          <a:stretch>
            <a:fillRect/>
          </a:stretch>
        </p:blipFill>
        <p:spPr bwMode="auto">
          <a:xfrm>
            <a:off x="5896479" y="4084263"/>
            <a:ext cx="1324479" cy="318089"/>
          </a:xfrm>
          <a:prstGeom prst="rect">
            <a:avLst/>
          </a:prstGeom>
          <a:noFill/>
        </p:spPr>
      </p:pic>
      <p:pic>
        <p:nvPicPr>
          <p:cNvPr id="9" name="Picture 3"/>
          <p:cNvPicPr>
            <a:picLocks noChangeAspect="1" noChangeArrowheads="1"/>
          </p:cNvPicPr>
          <p:nvPr/>
        </p:nvPicPr>
        <p:blipFill>
          <a:blip r:embed="rId3"/>
          <a:srcRect/>
          <a:stretch>
            <a:fillRect/>
          </a:stretch>
        </p:blipFill>
        <p:spPr bwMode="auto">
          <a:xfrm>
            <a:off x="6036568" y="4478694"/>
            <a:ext cx="1057036" cy="127236"/>
          </a:xfrm>
          <a:prstGeom prst="rect">
            <a:avLst/>
          </a:prstGeom>
          <a:noFill/>
        </p:spPr>
      </p:pic>
      <p:sp>
        <p:nvSpPr>
          <p:cNvPr id="10" name="TextBox 1"/>
          <p:cNvSpPr txBox="1"/>
          <p:nvPr/>
        </p:nvSpPr>
        <p:spPr>
          <a:xfrm>
            <a:off x="425626" y="325997"/>
            <a:ext cx="8659422" cy="687474"/>
          </a:xfrm>
          <a:prstGeom prst="rect">
            <a:avLst/>
          </a:prstGeom>
          <a:noFill/>
        </p:spPr>
        <p:txBody>
          <a:bodyPr wrap="none" lIns="0" tIns="0" rIns="0" bIns="45810" rtlCol="0">
            <a:spAutoFit/>
          </a:bodyPr>
          <a:lstStyle/>
          <a:p>
            <a:pPr algn="l" defTabSz="916213" rtl="0">
              <a:lnSpc>
                <a:spcPts val="1901"/>
              </a:lnSpc>
              <a:spcBef>
                <a:spcPts val="0"/>
              </a:spcBef>
              <a:tabLst>
                <a:tab pos="6973399" algn="l"/>
              </a:tabLst>
            </a:pPr>
            <a:r>
              <a:rPr lang="en-US" altLang="zh-CN" sz="1800" kern="1200" dirty="0">
                <a:solidFill>
                  <a:prstClr val="black"/>
                </a:solidFill>
                <a:latin typeface="Calibri"/>
                <a:ea typeface="宋体"/>
                <a:cs typeface="+mn-cs"/>
              </a:rPr>
              <a:t>	</a:t>
            </a:r>
            <a:r>
              <a:rPr lang="en-US" altLang="zh-CN" sz="1800" b="1" kern="1200" dirty="0">
                <a:solidFill>
                  <a:srgbClr val="009ACC"/>
                </a:solidFill>
                <a:latin typeface="华文行楷" pitchFamily="18" charset="0"/>
                <a:ea typeface="宋体"/>
                <a:cs typeface="华文行楷" pitchFamily="18" charset="0"/>
              </a:rPr>
              <a:t>电场和电场强度</a:t>
            </a:r>
          </a:p>
          <a:p>
            <a:pPr algn="l" defTabSz="916213" rtl="0">
              <a:lnSpc>
                <a:spcPts val="3107"/>
              </a:lnSpc>
              <a:spcBef>
                <a:spcPts val="0"/>
              </a:spcBef>
              <a:tabLst>
                <a:tab pos="6973399" algn="l"/>
              </a:tabLst>
            </a:pPr>
            <a:r>
              <a:rPr lang="en-US" altLang="zh-CN" sz="3600" kern="1200" dirty="0" err="1" smtClean="0">
                <a:solidFill>
                  <a:srgbClr val="000000"/>
                </a:solidFill>
                <a:latin typeface="微软雅黑" pitchFamily="34" charset="-122"/>
                <a:ea typeface="微软雅黑" pitchFamily="34" charset="-122"/>
                <a:cs typeface="黑体" pitchFamily="18" charset="0"/>
              </a:rPr>
              <a:t>电偶极子</a:t>
            </a:r>
            <a:endParaRPr lang="en-US" altLang="zh-CN" sz="3600" kern="1200" dirty="0">
              <a:solidFill>
                <a:srgbClr val="000000"/>
              </a:solidFill>
              <a:latin typeface="微软雅黑" pitchFamily="34" charset="-122"/>
              <a:ea typeface="微软雅黑" pitchFamily="34" charset="-122"/>
              <a:cs typeface="黑体" pitchFamily="18" charset="0"/>
            </a:endParaRPr>
          </a:p>
        </p:txBody>
      </p:sp>
      <p:sp>
        <p:nvSpPr>
          <p:cNvPr id="11" name="TextBox 1"/>
          <p:cNvSpPr txBox="1"/>
          <p:nvPr/>
        </p:nvSpPr>
        <p:spPr>
          <a:xfrm>
            <a:off x="795833" y="1361057"/>
            <a:ext cx="1417055" cy="1726204"/>
          </a:xfrm>
          <a:prstGeom prst="rect">
            <a:avLst/>
          </a:prstGeom>
          <a:noFill/>
        </p:spPr>
        <p:txBody>
          <a:bodyPr wrap="none" lIns="0" tIns="0" rIns="0" bIns="45810" rtlCol="0">
            <a:spAutoFit/>
          </a:bodyPr>
          <a:lstStyle/>
          <a:p>
            <a:pPr algn="l" defTabSz="916213" rtl="0">
              <a:lnSpc>
                <a:spcPts val="2506"/>
              </a:lnSpc>
              <a:spcBef>
                <a:spcPts val="0"/>
              </a:spcBef>
              <a:tabLst>
                <a:tab pos="76351" algn="l"/>
              </a:tabLst>
            </a:pPr>
            <a:r>
              <a:rPr lang="en-US" altLang="zh-CN" sz="1800" kern="1200" dirty="0">
                <a:solidFill>
                  <a:prstClr val="black"/>
                </a:solidFill>
                <a:latin typeface="Calibri"/>
                <a:ea typeface="宋体"/>
                <a:cs typeface="+mn-cs"/>
              </a:rPr>
              <a:t>	</a:t>
            </a:r>
            <a:r>
              <a:rPr lang="en-US" altLang="zh-CN" b="1" kern="1200" dirty="0">
                <a:solidFill>
                  <a:srgbClr val="000000"/>
                </a:solidFill>
                <a:latin typeface="黑体" pitchFamily="18" charset="0"/>
                <a:ea typeface="宋体"/>
                <a:cs typeface="黑体" pitchFamily="18" charset="0"/>
              </a:rPr>
              <a:t>电偶极子</a:t>
            </a:r>
            <a:r>
              <a:rPr lang="en-US" altLang="zh-CN" b="1" kern="1200" dirty="0">
                <a:solidFill>
                  <a:srgbClr val="000000"/>
                </a:solidFill>
                <a:latin typeface="Times New Roman" pitchFamily="18" charset="0"/>
                <a:ea typeface="宋体"/>
                <a:cs typeface="Times New Roman" pitchFamily="18" charset="0"/>
              </a:rPr>
              <a:t>:</a:t>
            </a:r>
          </a:p>
          <a:p>
            <a:pPr algn="l" defTabSz="916213" rtl="0">
              <a:lnSpc>
                <a:spcPts val="1002"/>
              </a:lnSpc>
              <a:spcBef>
                <a:spcPts val="0"/>
              </a:spcBef>
            </a:pPr>
            <a:endParaRPr lang="en-US" altLang="zh-CN" sz="1800" b="1" kern="1200" dirty="0">
              <a:solidFill>
                <a:prstClr val="black"/>
              </a:solidFill>
              <a:latin typeface="Calibri"/>
              <a:ea typeface="宋体"/>
              <a:cs typeface="+mn-cs"/>
            </a:endParaRPr>
          </a:p>
          <a:p>
            <a:pPr algn="l" defTabSz="916213" rtl="0">
              <a:lnSpc>
                <a:spcPts val="1002"/>
              </a:lnSpc>
              <a:spcBef>
                <a:spcPts val="0"/>
              </a:spcBef>
            </a:pPr>
            <a:endParaRPr lang="en-US" altLang="zh-CN" sz="1800" b="1" kern="1200" dirty="0">
              <a:solidFill>
                <a:prstClr val="black"/>
              </a:solidFill>
              <a:latin typeface="Calibri"/>
              <a:ea typeface="宋体"/>
              <a:cs typeface="+mn-cs"/>
            </a:endParaRPr>
          </a:p>
          <a:p>
            <a:pPr algn="l" defTabSz="916213" rtl="0">
              <a:lnSpc>
                <a:spcPts val="1002"/>
              </a:lnSpc>
              <a:spcBef>
                <a:spcPts val="0"/>
              </a:spcBef>
            </a:pPr>
            <a:endParaRPr lang="en-US" altLang="zh-CN" sz="1800" b="1" kern="1200" dirty="0">
              <a:solidFill>
                <a:prstClr val="black"/>
              </a:solidFill>
              <a:latin typeface="Calibri"/>
              <a:ea typeface="宋体"/>
              <a:cs typeface="+mn-cs"/>
            </a:endParaRPr>
          </a:p>
          <a:p>
            <a:pPr algn="l" defTabSz="916213" rtl="0">
              <a:lnSpc>
                <a:spcPts val="1002"/>
              </a:lnSpc>
              <a:spcBef>
                <a:spcPts val="0"/>
              </a:spcBef>
            </a:pPr>
            <a:endParaRPr lang="en-US" altLang="zh-CN" sz="1800" b="1" kern="1200" dirty="0">
              <a:solidFill>
                <a:prstClr val="black"/>
              </a:solidFill>
              <a:latin typeface="Calibri"/>
              <a:ea typeface="宋体"/>
              <a:cs typeface="+mn-cs"/>
            </a:endParaRPr>
          </a:p>
          <a:p>
            <a:pPr algn="l" defTabSz="916213" rtl="0">
              <a:lnSpc>
                <a:spcPts val="1002"/>
              </a:lnSpc>
              <a:spcBef>
                <a:spcPts val="0"/>
              </a:spcBef>
            </a:pPr>
            <a:endParaRPr lang="en-US" altLang="zh-CN" sz="1800" b="1" kern="1200" dirty="0">
              <a:solidFill>
                <a:prstClr val="black"/>
              </a:solidFill>
              <a:latin typeface="Calibri"/>
              <a:ea typeface="宋体"/>
              <a:cs typeface="+mn-cs"/>
            </a:endParaRPr>
          </a:p>
          <a:p>
            <a:pPr algn="l" defTabSz="916213" rtl="0">
              <a:lnSpc>
                <a:spcPts val="1002"/>
              </a:lnSpc>
              <a:spcBef>
                <a:spcPts val="0"/>
              </a:spcBef>
            </a:pPr>
            <a:endParaRPr lang="en-US" altLang="zh-CN" sz="1800" b="1" kern="1200" dirty="0">
              <a:solidFill>
                <a:prstClr val="black"/>
              </a:solidFill>
              <a:latin typeface="Calibri"/>
              <a:ea typeface="宋体"/>
              <a:cs typeface="+mn-cs"/>
            </a:endParaRPr>
          </a:p>
          <a:p>
            <a:pPr algn="l" defTabSz="916213" rtl="0">
              <a:lnSpc>
                <a:spcPts val="1002"/>
              </a:lnSpc>
              <a:spcBef>
                <a:spcPts val="0"/>
              </a:spcBef>
            </a:pPr>
            <a:endParaRPr lang="en-US" altLang="zh-CN" sz="1800" b="1" kern="1200" dirty="0">
              <a:solidFill>
                <a:prstClr val="black"/>
              </a:solidFill>
              <a:latin typeface="Calibri"/>
              <a:ea typeface="宋体"/>
              <a:cs typeface="+mn-cs"/>
            </a:endParaRPr>
          </a:p>
          <a:p>
            <a:pPr algn="l" defTabSz="916213" rtl="0">
              <a:lnSpc>
                <a:spcPts val="1002"/>
              </a:lnSpc>
              <a:spcBef>
                <a:spcPts val="0"/>
              </a:spcBef>
            </a:pPr>
            <a:endParaRPr lang="en-US" altLang="zh-CN" sz="1800" b="1" kern="1200" dirty="0">
              <a:solidFill>
                <a:prstClr val="black"/>
              </a:solidFill>
              <a:latin typeface="Calibri"/>
              <a:ea typeface="宋体"/>
              <a:cs typeface="+mn-cs"/>
            </a:endParaRPr>
          </a:p>
          <a:p>
            <a:pPr algn="l" defTabSz="916213" rtl="0">
              <a:lnSpc>
                <a:spcPts val="2606"/>
              </a:lnSpc>
              <a:spcBef>
                <a:spcPts val="0"/>
              </a:spcBef>
              <a:tabLst>
                <a:tab pos="76351" algn="l"/>
              </a:tabLst>
            </a:pPr>
            <a:r>
              <a:rPr lang="en-US" altLang="zh-CN" b="1" kern="1200" dirty="0">
                <a:solidFill>
                  <a:srgbClr val="0000CC"/>
                </a:solidFill>
                <a:latin typeface="黑体" pitchFamily="18" charset="0"/>
                <a:ea typeface="宋体"/>
                <a:cs typeface="黑体" pitchFamily="18" charset="0"/>
              </a:rPr>
              <a:t>电偶极矩</a:t>
            </a:r>
            <a:r>
              <a:rPr lang="en-US" altLang="zh-CN" b="1" kern="1200" dirty="0">
                <a:solidFill>
                  <a:srgbClr val="0000CC"/>
                </a:solidFill>
                <a:latin typeface="Times New Roman" pitchFamily="18" charset="0"/>
                <a:ea typeface="宋体"/>
                <a:cs typeface="Times New Roman" pitchFamily="18" charset="0"/>
              </a:rPr>
              <a:t>:</a:t>
            </a:r>
          </a:p>
        </p:txBody>
      </p:sp>
      <mc:AlternateContent xmlns:mc="http://schemas.openxmlformats.org/markup-compatibility/2006" xmlns:a14="http://schemas.microsoft.com/office/drawing/2010/main">
        <mc:Choice Requires="a14">
          <p:sp>
            <p:nvSpPr>
              <p:cNvPr id="12" name="TextBox 1"/>
              <p:cNvSpPr txBox="1"/>
              <p:nvPr/>
            </p:nvSpPr>
            <p:spPr>
              <a:xfrm>
                <a:off x="2627784" y="1022153"/>
                <a:ext cx="5464166" cy="2128879"/>
              </a:xfrm>
              <a:prstGeom prst="rect">
                <a:avLst/>
              </a:prstGeom>
              <a:noFill/>
            </p:spPr>
            <p:txBody>
              <a:bodyPr wrap="square" lIns="0" tIns="0" rIns="0" bIns="45810" rtlCol="0">
                <a:spAutoFit/>
              </a:bodyPr>
              <a:lstStyle/>
              <a:p>
                <a:pPr algn="l" defTabSz="916213" rtl="0">
                  <a:lnSpc>
                    <a:spcPct val="150000"/>
                  </a:lnSpc>
                  <a:spcBef>
                    <a:spcPts val="0"/>
                  </a:spcBef>
                  <a:tabLst>
                    <a:tab pos="763510" algn="l"/>
                  </a:tabLst>
                </a:pPr>
                <a:r>
                  <a:rPr lang="en-US" altLang="zh-CN" b="1" kern="1200" dirty="0" err="1" smtClean="0">
                    <a:solidFill>
                      <a:srgbClr val="000000"/>
                    </a:solidFill>
                    <a:latin typeface="黑体" pitchFamily="18" charset="0"/>
                    <a:ea typeface="宋体"/>
                    <a:cs typeface="黑体" pitchFamily="18" charset="0"/>
                  </a:rPr>
                  <a:t>大小相等，符号相反且存在一微小间距的两个点电荷构成的复合体</a:t>
                </a:r>
                <a:r>
                  <a:rPr lang="zh-CN" altLang="en-US" b="1" kern="1200" dirty="0" smtClean="0">
                    <a:solidFill>
                      <a:srgbClr val="000000"/>
                    </a:solidFill>
                    <a:latin typeface="黑体" pitchFamily="18" charset="0"/>
                    <a:ea typeface="宋体"/>
                    <a:cs typeface="黑体" pitchFamily="18" charset="0"/>
                  </a:rPr>
                  <a:t>。</a:t>
                </a:r>
                <a:endParaRPr lang="en-US" altLang="zh-CN" sz="1800" b="1" kern="1200" dirty="0" smtClean="0">
                  <a:solidFill>
                    <a:srgbClr val="000000"/>
                  </a:solidFill>
                  <a:latin typeface="Times New Roman" pitchFamily="18" charset="0"/>
                  <a:ea typeface="宋体"/>
                  <a:cs typeface="Times New Roman" pitchFamily="18" charset="0"/>
                </a:endParaRPr>
              </a:p>
              <a:p>
                <a:pPr algn="l" defTabSz="916213" rtl="0">
                  <a:lnSpc>
                    <a:spcPts val="2803"/>
                  </a:lnSpc>
                  <a:spcBef>
                    <a:spcPts val="0"/>
                  </a:spcBef>
                  <a:tabLst>
                    <a:tab pos="763510" algn="l"/>
                  </a:tabLst>
                </a:pPr>
                <a:endParaRPr lang="en-US" altLang="zh-CN" sz="1800" kern="1200" dirty="0" smtClean="0">
                  <a:solidFill>
                    <a:prstClr val="black"/>
                  </a:solidFill>
                  <a:latin typeface="Calibri"/>
                  <a:ea typeface="宋体"/>
                  <a:cs typeface="+mn-cs"/>
                </a:endParaRPr>
              </a:p>
              <a:p>
                <a:pPr algn="l" defTabSz="916213" rtl="0">
                  <a:lnSpc>
                    <a:spcPts val="4808"/>
                  </a:lnSpc>
                  <a:spcBef>
                    <a:spcPts val="0"/>
                  </a:spcBef>
                  <a:tabLst>
                    <a:tab pos="763510" algn="l"/>
                  </a:tabLst>
                </a:pPr>
                <a:r>
                  <a:rPr lang="en-US" altLang="zh-CN" sz="1800" kern="1200" dirty="0">
                    <a:solidFill>
                      <a:prstClr val="black"/>
                    </a:solidFill>
                    <a:latin typeface="Calibri"/>
                    <a:ea typeface="宋体"/>
                    <a:cs typeface="+mn-cs"/>
                  </a:rPr>
                  <a:t>	</a:t>
                </a:r>
                <a14:m>
                  <m:oMath xmlns:m="http://schemas.openxmlformats.org/officeDocument/2006/math">
                    <m:acc>
                      <m:accPr>
                        <m:chr m:val="⃑"/>
                        <m:ctrlPr>
                          <a:rPr lang="en-US" altLang="zh-CN" sz="3600" i="1" kern="1200" smtClean="0">
                            <a:solidFill>
                              <a:prstClr val="black"/>
                            </a:solidFill>
                            <a:latin typeface="Cambria Math" panose="02040503050406030204" pitchFamily="18" charset="0"/>
                            <a:ea typeface="宋体"/>
                            <a:cs typeface="+mn-cs"/>
                          </a:rPr>
                        </m:ctrlPr>
                      </m:accPr>
                      <m:e>
                        <m:r>
                          <a:rPr lang="en-US" altLang="zh-CN" sz="3600" b="0" i="1" kern="1200" smtClean="0">
                            <a:solidFill>
                              <a:prstClr val="black"/>
                            </a:solidFill>
                            <a:latin typeface="Cambria Math"/>
                            <a:ea typeface="宋体"/>
                            <a:cs typeface="+mn-cs"/>
                          </a:rPr>
                          <m:t>𝑝</m:t>
                        </m:r>
                      </m:e>
                    </m:acc>
                  </m:oMath>
                </a14:m>
                <a:r>
                  <a:rPr lang="en-US" altLang="zh-CN" sz="3600" kern="1200" dirty="0" smtClean="0">
                    <a:solidFill>
                      <a:prstClr val="black"/>
                    </a:solidFill>
                    <a:latin typeface="Times New Roman" pitchFamily="18" charset="0"/>
                    <a:ea typeface="宋体"/>
                    <a:cs typeface="Times New Roman" pitchFamily="18" charset="0"/>
                  </a:rPr>
                  <a:t> </a:t>
                </a:r>
                <a:r>
                  <a:rPr lang="en-US" altLang="zh-CN" sz="3800" kern="1200" dirty="0">
                    <a:solidFill>
                      <a:srgbClr val="000000"/>
                    </a:solidFill>
                    <a:latin typeface="Symbol" pitchFamily="18" charset="0"/>
                    <a:ea typeface="宋体"/>
                    <a:cs typeface="Symbol" pitchFamily="18" charset="0"/>
                  </a:rPr>
                  <a:t>=</a:t>
                </a:r>
                <a:r>
                  <a:rPr lang="en-US" altLang="zh-CN" sz="3800" kern="1200" dirty="0">
                    <a:solidFill>
                      <a:prstClr val="black"/>
                    </a:solidFill>
                    <a:latin typeface="Times New Roman" pitchFamily="18" charset="0"/>
                    <a:ea typeface="宋体"/>
                    <a:cs typeface="Times New Roman" pitchFamily="18" charset="0"/>
                  </a:rPr>
                  <a:t> </a:t>
                </a:r>
                <a:r>
                  <a:rPr lang="en-US" altLang="zh-CN" sz="3600" i="1" kern="1200" dirty="0" smtClean="0">
                    <a:solidFill>
                      <a:srgbClr val="000000"/>
                    </a:solidFill>
                    <a:latin typeface="Times New Roman" pitchFamily="18" charset="0"/>
                    <a:ea typeface="宋体"/>
                    <a:cs typeface="Times New Roman" pitchFamily="18" charset="0"/>
                  </a:rPr>
                  <a:t>q</a:t>
                </a:r>
                <a14:m>
                  <m:oMath xmlns:m="http://schemas.openxmlformats.org/officeDocument/2006/math">
                    <m:acc>
                      <m:accPr>
                        <m:chr m:val="⃑"/>
                        <m:ctrlPr>
                          <a:rPr lang="en-US" altLang="zh-CN" sz="3600" i="1" kern="1200" smtClean="0">
                            <a:solidFill>
                              <a:srgbClr val="000000"/>
                            </a:solidFill>
                            <a:latin typeface="Cambria Math" panose="02040503050406030204" pitchFamily="18" charset="0"/>
                            <a:ea typeface="宋体"/>
                            <a:cs typeface="Times New Roman" pitchFamily="18" charset="0"/>
                          </a:rPr>
                        </m:ctrlPr>
                      </m:accPr>
                      <m:e>
                        <m:r>
                          <a:rPr lang="en-US" altLang="zh-CN" sz="3600" b="0" i="1" kern="1200" smtClean="0">
                            <a:solidFill>
                              <a:srgbClr val="000000"/>
                            </a:solidFill>
                            <a:latin typeface="Cambria Math"/>
                            <a:ea typeface="宋体"/>
                            <a:cs typeface="Times New Roman" pitchFamily="18" charset="0"/>
                          </a:rPr>
                          <m:t>𝑙</m:t>
                        </m:r>
                      </m:e>
                    </m:acc>
                  </m:oMath>
                </a14:m>
                <a:endParaRPr lang="en-US" altLang="zh-CN" sz="3600" i="1" kern="1200" dirty="0">
                  <a:solidFill>
                    <a:srgbClr val="000000"/>
                  </a:solidFill>
                  <a:latin typeface="Times New Roman" pitchFamily="18" charset="0"/>
                  <a:ea typeface="宋体"/>
                  <a:cs typeface="Times New Roman" pitchFamily="18" charset="0"/>
                </a:endParaRPr>
              </a:p>
            </p:txBody>
          </p:sp>
        </mc:Choice>
        <mc:Fallback xmlns="">
          <p:sp>
            <p:nvSpPr>
              <p:cNvPr id="12" name="TextBox 1"/>
              <p:cNvSpPr txBox="1">
                <a:spLocks noRot="1" noChangeAspect="1" noMove="1" noResize="1" noEditPoints="1" noAdjustHandles="1" noChangeArrowheads="1" noChangeShapeType="1" noTextEdit="1"/>
              </p:cNvSpPr>
              <p:nvPr/>
            </p:nvSpPr>
            <p:spPr>
              <a:xfrm>
                <a:off x="2627784" y="1022153"/>
                <a:ext cx="5464166" cy="2128879"/>
              </a:xfrm>
              <a:prstGeom prst="rect">
                <a:avLst/>
              </a:prstGeom>
              <a:blipFill rotWithShape="1">
                <a:blip r:embed="rId4"/>
                <a:stretch>
                  <a:fillRect l="-3348" b="-10029"/>
                </a:stretch>
              </a:blipFill>
            </p:spPr>
            <p:txBody>
              <a:bodyPr/>
              <a:lstStyle/>
              <a:p>
                <a:r>
                  <a:rPr lang="zh-CN" altLang="en-US">
                    <a:noFill/>
                  </a:rPr>
                  <a:t> </a:t>
                </a:r>
              </a:p>
            </p:txBody>
          </p:sp>
        </mc:Fallback>
      </mc:AlternateContent>
      <p:sp>
        <p:nvSpPr>
          <p:cNvPr id="13" name="TextBox 1"/>
          <p:cNvSpPr txBox="1"/>
          <p:nvPr/>
        </p:nvSpPr>
        <p:spPr>
          <a:xfrm>
            <a:off x="764126" y="4109713"/>
            <a:ext cx="4021935" cy="1708251"/>
          </a:xfrm>
          <a:prstGeom prst="rect">
            <a:avLst/>
          </a:prstGeom>
          <a:noFill/>
        </p:spPr>
        <p:txBody>
          <a:bodyPr wrap="none" lIns="0" tIns="0" rIns="0" bIns="45810" rtlCol="0">
            <a:spAutoFit/>
          </a:bodyPr>
          <a:lstStyle/>
          <a:p>
            <a:pPr algn="l" defTabSz="916213" rtl="0">
              <a:lnSpc>
                <a:spcPct val="150000"/>
              </a:lnSpc>
              <a:spcBef>
                <a:spcPts val="0"/>
              </a:spcBef>
              <a:tabLst>
                <a:tab pos="305405" algn="l"/>
              </a:tabLst>
            </a:pPr>
            <a:r>
              <a:rPr lang="en-US" altLang="zh-CN" sz="1800" kern="1200" dirty="0">
                <a:solidFill>
                  <a:prstClr val="black"/>
                </a:solidFill>
                <a:latin typeface="Calibri"/>
                <a:ea typeface="宋体"/>
                <a:cs typeface="+mn-cs"/>
              </a:rPr>
              <a:t>	</a:t>
            </a:r>
            <a:r>
              <a:rPr lang="en-US" altLang="zh-CN" b="1" kern="1200" dirty="0">
                <a:solidFill>
                  <a:srgbClr val="000000"/>
                </a:solidFill>
                <a:latin typeface="黑体" pitchFamily="18" charset="0"/>
                <a:ea typeface="宋体"/>
                <a:cs typeface="黑体" pitchFamily="18" charset="0"/>
              </a:rPr>
              <a:t>电偶极子是个很重要的物理</a:t>
            </a:r>
          </a:p>
          <a:p>
            <a:pPr algn="l" defTabSz="916213" rtl="0">
              <a:lnSpc>
                <a:spcPct val="150000"/>
              </a:lnSpc>
              <a:spcBef>
                <a:spcPts val="0"/>
              </a:spcBef>
              <a:tabLst>
                <a:tab pos="305405" algn="l"/>
              </a:tabLst>
            </a:pPr>
            <a:r>
              <a:rPr lang="en-US" altLang="zh-CN" b="1" kern="1200" dirty="0" err="1" smtClean="0">
                <a:solidFill>
                  <a:srgbClr val="000000"/>
                </a:solidFill>
                <a:latin typeface="黑体" pitchFamily="18" charset="0"/>
                <a:ea typeface="宋体"/>
                <a:cs typeface="黑体" pitchFamily="18" charset="0"/>
              </a:rPr>
              <a:t>模型</a:t>
            </a:r>
            <a:r>
              <a:rPr lang="en-US" altLang="zh-CN" b="1" kern="1200" dirty="0" err="1">
                <a:solidFill>
                  <a:srgbClr val="000000"/>
                </a:solidFill>
                <a:latin typeface="黑体" pitchFamily="18" charset="0"/>
                <a:ea typeface="宋体"/>
                <a:cs typeface="黑体" pitchFamily="18" charset="0"/>
              </a:rPr>
              <a:t>，在研究电极化，电磁波</a:t>
            </a:r>
            <a:endParaRPr lang="en-US" altLang="zh-CN" b="1" kern="1200" dirty="0">
              <a:solidFill>
                <a:srgbClr val="000000"/>
              </a:solidFill>
              <a:latin typeface="黑体" pitchFamily="18" charset="0"/>
              <a:ea typeface="宋体"/>
              <a:cs typeface="黑体" pitchFamily="18" charset="0"/>
            </a:endParaRPr>
          </a:p>
          <a:p>
            <a:pPr algn="l" defTabSz="916213" rtl="0">
              <a:lnSpc>
                <a:spcPct val="150000"/>
              </a:lnSpc>
              <a:spcBef>
                <a:spcPts val="0"/>
              </a:spcBef>
              <a:tabLst>
                <a:tab pos="305405" algn="l"/>
              </a:tabLst>
            </a:pPr>
            <a:r>
              <a:rPr lang="en-US" altLang="zh-CN" b="1" kern="1200" dirty="0" err="1" smtClean="0">
                <a:solidFill>
                  <a:srgbClr val="000000"/>
                </a:solidFill>
                <a:latin typeface="黑体" pitchFamily="18" charset="0"/>
                <a:ea typeface="宋体"/>
                <a:cs typeface="黑体" pitchFamily="18" charset="0"/>
              </a:rPr>
              <a:t>的发射和接收</a:t>
            </a:r>
            <a:r>
              <a:rPr lang="zh-CN" altLang="en-US" b="1" kern="1200" dirty="0" smtClean="0">
                <a:solidFill>
                  <a:srgbClr val="000000"/>
                </a:solidFill>
                <a:latin typeface="黑体" pitchFamily="18" charset="0"/>
                <a:ea typeface="宋体"/>
                <a:cs typeface="黑体" pitchFamily="18" charset="0"/>
              </a:rPr>
              <a:t>时</a:t>
            </a:r>
            <a:r>
              <a:rPr lang="en-US" altLang="zh-CN" b="1" kern="1200" dirty="0" err="1" smtClean="0">
                <a:solidFill>
                  <a:srgbClr val="000000"/>
                </a:solidFill>
                <a:latin typeface="黑体" pitchFamily="18" charset="0"/>
                <a:ea typeface="宋体"/>
                <a:cs typeface="黑体" pitchFamily="18" charset="0"/>
              </a:rPr>
              <a:t>都会用到</a:t>
            </a:r>
            <a:r>
              <a:rPr lang="zh-CN" altLang="en-US" b="1" kern="1200" dirty="0" smtClean="0">
                <a:solidFill>
                  <a:srgbClr val="000000"/>
                </a:solidFill>
                <a:latin typeface="黑体" pitchFamily="18" charset="0"/>
                <a:ea typeface="宋体"/>
                <a:cs typeface="黑体" pitchFamily="18" charset="0"/>
              </a:rPr>
              <a:t>。</a:t>
            </a:r>
            <a:endParaRPr lang="en-US" altLang="zh-CN" b="1" kern="1200" dirty="0">
              <a:solidFill>
                <a:srgbClr val="000000"/>
              </a:solidFill>
              <a:latin typeface="Times New Roman" pitchFamily="18" charset="0"/>
              <a:ea typeface="宋体"/>
              <a:cs typeface="Times New Roman" pitchFamily="18" charset="0"/>
            </a:endParaRPr>
          </a:p>
        </p:txBody>
      </p:sp>
      <p:sp>
        <p:nvSpPr>
          <p:cNvPr id="14" name="TextBox 1"/>
          <p:cNvSpPr txBox="1"/>
          <p:nvPr/>
        </p:nvSpPr>
        <p:spPr>
          <a:xfrm>
            <a:off x="7068137" y="3728007"/>
            <a:ext cx="384721" cy="366873"/>
          </a:xfrm>
          <a:prstGeom prst="rect">
            <a:avLst/>
          </a:prstGeom>
          <a:noFill/>
        </p:spPr>
        <p:txBody>
          <a:bodyPr wrap="none" lIns="0" tIns="0" rIns="0" bIns="45810" rtlCol="0">
            <a:spAutoFit/>
          </a:bodyPr>
          <a:lstStyle/>
          <a:p>
            <a:pPr algn="l" defTabSz="916213" rtl="0">
              <a:lnSpc>
                <a:spcPts val="2506"/>
              </a:lnSpc>
              <a:spcBef>
                <a:spcPts val="0"/>
              </a:spcBef>
            </a:pPr>
            <a:r>
              <a:rPr lang="en-US" altLang="zh-CN" sz="2800" b="1" i="1" kern="1200" dirty="0">
                <a:solidFill>
                  <a:srgbClr val="000000"/>
                </a:solidFill>
                <a:latin typeface="Times New Roman" pitchFamily="18" charset="0"/>
                <a:ea typeface="宋体"/>
                <a:cs typeface="Times New Roman" pitchFamily="18" charset="0"/>
              </a:rPr>
              <a:t>+q</a:t>
            </a:r>
          </a:p>
        </p:txBody>
      </p:sp>
      <mc:AlternateContent xmlns:mc="http://schemas.openxmlformats.org/markup-compatibility/2006" xmlns:a14="http://schemas.microsoft.com/office/drawing/2010/main">
        <mc:Choice Requires="a14">
          <p:sp>
            <p:nvSpPr>
              <p:cNvPr id="15" name="TextBox 1"/>
              <p:cNvSpPr txBox="1"/>
              <p:nvPr/>
            </p:nvSpPr>
            <p:spPr>
              <a:xfrm>
                <a:off x="5883747" y="3537150"/>
                <a:ext cx="791883" cy="1623612"/>
              </a:xfrm>
              <a:prstGeom prst="rect">
                <a:avLst/>
              </a:prstGeom>
              <a:noFill/>
            </p:spPr>
            <p:txBody>
              <a:bodyPr wrap="none" lIns="0" tIns="0" rIns="0" bIns="45810" rtlCol="0">
                <a:spAutoFit/>
              </a:bodyPr>
              <a:lstStyle/>
              <a:p>
                <a:pPr algn="l" defTabSz="916213" rtl="0">
                  <a:lnSpc>
                    <a:spcPts val="4808"/>
                  </a:lnSpc>
                  <a:spcBef>
                    <a:spcPts val="0"/>
                  </a:spcBef>
                  <a:tabLst>
                    <a:tab pos="572632" algn="l"/>
                  </a:tabLst>
                </a:pPr>
                <a:r>
                  <a:rPr lang="en-US" altLang="zh-CN" sz="2800" b="1" i="1" kern="1200" dirty="0" smtClean="0">
                    <a:solidFill>
                      <a:srgbClr val="000000"/>
                    </a:solidFill>
                    <a:latin typeface="Times New Roman" pitchFamily="18" charset="0"/>
                    <a:ea typeface="宋体"/>
                    <a:cs typeface="Times New Roman" pitchFamily="18" charset="0"/>
                  </a:rPr>
                  <a:t>-q   </a:t>
                </a:r>
                <a14:m>
                  <m:oMath xmlns:m="http://schemas.openxmlformats.org/officeDocument/2006/math">
                    <m:acc>
                      <m:accPr>
                        <m:chr m:val="⃑"/>
                        <m:ctrlPr>
                          <a:rPr lang="en-US" altLang="zh-CN" sz="2800" b="1" i="1" kern="1200" smtClean="0">
                            <a:solidFill>
                              <a:srgbClr val="000000"/>
                            </a:solidFill>
                            <a:latin typeface="Cambria Math" panose="02040503050406030204" pitchFamily="18" charset="0"/>
                            <a:ea typeface="宋体"/>
                            <a:cs typeface="Times New Roman" pitchFamily="18" charset="0"/>
                          </a:rPr>
                        </m:ctrlPr>
                      </m:accPr>
                      <m:e>
                        <m:r>
                          <a:rPr lang="en-US" altLang="zh-CN" sz="2800" b="1" i="1" kern="1200" smtClean="0">
                            <a:solidFill>
                              <a:srgbClr val="000000"/>
                            </a:solidFill>
                            <a:latin typeface="Cambria Math"/>
                            <a:ea typeface="宋体"/>
                            <a:cs typeface="Times New Roman" pitchFamily="18" charset="0"/>
                          </a:rPr>
                          <m:t>𝒑</m:t>
                        </m:r>
                      </m:e>
                    </m:acc>
                  </m:oMath>
                </a14:m>
                <a:endParaRPr lang="en-US" altLang="zh-CN" sz="3000" kern="1200" dirty="0">
                  <a:solidFill>
                    <a:srgbClr val="000000"/>
                  </a:solidFill>
                  <a:latin typeface="MT Extra" pitchFamily="18" charset="0"/>
                  <a:ea typeface="宋体"/>
                  <a:cs typeface="MT Extra" pitchFamily="18" charset="0"/>
                </a:endParaRPr>
              </a:p>
              <a:p>
                <a:pPr algn="l" defTabSz="916213" rtl="0">
                  <a:lnSpc>
                    <a:spcPts val="1002"/>
                  </a:lnSpc>
                  <a:spcBef>
                    <a:spcPts val="0"/>
                  </a:spcBef>
                </a:pPr>
                <a:endParaRPr lang="en-US" altLang="zh-CN" sz="1800" kern="1200" dirty="0">
                  <a:solidFill>
                    <a:prstClr val="black"/>
                  </a:solidFill>
                  <a:latin typeface="Calibri"/>
                  <a:ea typeface="宋体"/>
                  <a:cs typeface="+mn-cs"/>
                </a:endParaRPr>
              </a:p>
              <a:p>
                <a:pPr algn="l" defTabSz="916213" rtl="0">
                  <a:lnSpc>
                    <a:spcPts val="1002"/>
                  </a:lnSpc>
                  <a:spcBef>
                    <a:spcPts val="0"/>
                  </a:spcBef>
                </a:pPr>
                <a:endParaRPr lang="en-US" altLang="zh-CN" sz="1800" kern="1200" dirty="0">
                  <a:solidFill>
                    <a:prstClr val="black"/>
                  </a:solidFill>
                  <a:latin typeface="Calibri"/>
                  <a:ea typeface="宋体"/>
                  <a:cs typeface="+mn-cs"/>
                </a:endParaRPr>
              </a:p>
              <a:p>
                <a:pPr algn="l" defTabSz="916213" rtl="0">
                  <a:lnSpc>
                    <a:spcPts val="1002"/>
                  </a:lnSpc>
                  <a:spcBef>
                    <a:spcPts val="0"/>
                  </a:spcBef>
                </a:pPr>
                <a:endParaRPr lang="en-US" altLang="zh-CN" sz="1800" kern="1200" dirty="0">
                  <a:solidFill>
                    <a:prstClr val="black"/>
                  </a:solidFill>
                  <a:latin typeface="Calibri"/>
                  <a:ea typeface="宋体"/>
                  <a:cs typeface="+mn-cs"/>
                </a:endParaRPr>
              </a:p>
              <a:p>
                <a:pPr algn="l" defTabSz="916213" rtl="0">
                  <a:lnSpc>
                    <a:spcPts val="1002"/>
                  </a:lnSpc>
                  <a:spcBef>
                    <a:spcPts val="0"/>
                  </a:spcBef>
                </a:pPr>
                <a:endParaRPr lang="en-US" altLang="zh-CN" sz="1800" kern="1200" dirty="0">
                  <a:solidFill>
                    <a:prstClr val="black"/>
                  </a:solidFill>
                  <a:latin typeface="Calibri"/>
                  <a:ea typeface="宋体"/>
                  <a:cs typeface="+mn-cs"/>
                </a:endParaRPr>
              </a:p>
              <a:p>
                <a:pPr algn="l" defTabSz="916213" rtl="0">
                  <a:lnSpc>
                    <a:spcPts val="3508"/>
                  </a:lnSpc>
                  <a:spcBef>
                    <a:spcPts val="0"/>
                  </a:spcBef>
                  <a:tabLst>
                    <a:tab pos="572632" algn="l"/>
                  </a:tabLst>
                </a:pPr>
                <a:r>
                  <a:rPr lang="en-US" altLang="zh-CN" sz="1800" kern="1200" dirty="0">
                    <a:solidFill>
                      <a:prstClr val="black"/>
                    </a:solidFill>
                    <a:latin typeface="Calibri"/>
                    <a:ea typeface="宋体"/>
                    <a:cs typeface="+mn-cs"/>
                  </a:rPr>
                  <a:t>	</a:t>
                </a:r>
                <a:r>
                  <a:rPr lang="en-US" altLang="zh-CN" sz="3600" i="1" kern="1200" dirty="0">
                    <a:solidFill>
                      <a:srgbClr val="000000"/>
                    </a:solidFill>
                    <a:latin typeface="Times New Roman" pitchFamily="18" charset="0"/>
                    <a:ea typeface="宋体"/>
                    <a:cs typeface="Times New Roman" pitchFamily="18" charset="0"/>
                  </a:rPr>
                  <a:t>l</a:t>
                </a:r>
              </a:p>
            </p:txBody>
          </p:sp>
        </mc:Choice>
        <mc:Fallback xmlns="">
          <p:sp>
            <p:nvSpPr>
              <p:cNvPr id="15" name="TextBox 1"/>
              <p:cNvSpPr txBox="1">
                <a:spLocks noRot="1" noChangeAspect="1" noMove="1" noResize="1" noEditPoints="1" noAdjustHandles="1" noChangeArrowheads="1" noChangeShapeType="1" noTextEdit="1"/>
              </p:cNvSpPr>
              <p:nvPr/>
            </p:nvSpPr>
            <p:spPr>
              <a:xfrm>
                <a:off x="5883747" y="3537150"/>
                <a:ext cx="791883" cy="1623612"/>
              </a:xfrm>
              <a:prstGeom prst="rect">
                <a:avLst/>
              </a:prstGeom>
              <a:blipFill rotWithShape="1">
                <a:blip r:embed="rId5"/>
                <a:stretch>
                  <a:fillRect l="-26923" r="-23846" b="-13109"/>
                </a:stretch>
              </a:blipFill>
            </p:spPr>
            <p:txBody>
              <a:bodyPr/>
              <a:lstStyle/>
              <a:p>
                <a:r>
                  <a:rPr lang="zh-CN" altLang="en-US">
                    <a:noFill/>
                  </a:rPr>
                  <a:t> </a:t>
                </a:r>
              </a:p>
            </p:txBody>
          </p:sp>
        </mc:Fallback>
      </mc:AlternateContent>
      <p:sp>
        <p:nvSpPr>
          <p:cNvPr id="2" name="TextBox 1"/>
          <p:cNvSpPr txBox="1"/>
          <p:nvPr/>
        </p:nvSpPr>
        <p:spPr>
          <a:xfrm>
            <a:off x="5254220" y="2615501"/>
            <a:ext cx="3672408" cy="535531"/>
          </a:xfrm>
          <a:prstGeom prst="rect">
            <a:avLst/>
          </a:prstGeom>
          <a:noFill/>
        </p:spPr>
        <p:txBody>
          <a:bodyPr wrap="square" rtlCol="0">
            <a:spAutoFit/>
          </a:bodyPr>
          <a:lstStyle/>
          <a:p>
            <a:r>
              <a:rPr lang="zh-CN" altLang="en-US" b="1" dirty="0" smtClean="0"/>
              <a:t>方向从负电荷指向正电荷</a:t>
            </a:r>
            <a:endParaRPr lang="zh-CN" altLang="en-US" b="1" dirty="0"/>
          </a:p>
        </p:txBody>
      </p:sp>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Shape 480"/>
          <p:cNvSpPr/>
          <p:nvPr/>
        </p:nvSpPr>
        <p:spPr>
          <a:xfrm>
            <a:off x="2307278" y="598078"/>
            <a:ext cx="5556251" cy="605397"/>
          </a:xfrm>
          <a:prstGeom prst="rect">
            <a:avLst/>
          </a:prstGeom>
          <a:ln w="12700">
            <a:miter lim="400000"/>
          </a:ln>
          <a:extLst>
            <a:ext uri="{C572A759-6A51-4108-AA02-DFA0A04FC94B}">
              <ma14:wrappingTextBoxFlag xmlns="" xmlns:ma14="http://schemas.microsoft.com/office/mac/drawingml/2011/main" val="1"/>
            </a:ext>
          </a:extLst>
        </p:spPr>
        <p:txBody>
          <a:bodyPr lIns="46025" tIns="46025" rIns="46025" bIns="46025">
            <a:spAutoFit/>
          </a:bodyPr>
          <a:lstStyle>
            <a:lvl1pPr algn="ctr">
              <a:defRPr b="1">
                <a:latin typeface="楷体_GB2312"/>
                <a:ea typeface="楷体_GB2312"/>
                <a:cs typeface="楷体_GB2312"/>
                <a:sym typeface="楷体_GB2312"/>
              </a:defRPr>
            </a:lvl1pPr>
          </a:lstStyle>
          <a:p>
            <a:pPr lvl="0">
              <a:defRPr sz="1800" b="0"/>
            </a:pPr>
            <a:r>
              <a:rPr sz="3200" dirty="0" err="1"/>
              <a:t>一对等量正点电荷的电场线</a:t>
            </a:r>
            <a:endParaRPr sz="3200" dirty="0"/>
          </a:p>
        </p:txBody>
      </p:sp>
      <p:grpSp>
        <p:nvGrpSpPr>
          <p:cNvPr id="509" name="Group 509"/>
          <p:cNvGrpSpPr/>
          <p:nvPr/>
        </p:nvGrpSpPr>
        <p:grpSpPr>
          <a:xfrm>
            <a:off x="663593" y="1541398"/>
            <a:ext cx="8402623" cy="4361084"/>
            <a:chOff x="21696" y="209947"/>
            <a:chExt cx="8402621" cy="4361082"/>
          </a:xfrm>
        </p:grpSpPr>
        <p:sp>
          <p:nvSpPr>
            <p:cNvPr id="481" name="Shape 481"/>
            <p:cNvSpPr/>
            <p:nvPr/>
          </p:nvSpPr>
          <p:spPr>
            <a:xfrm rot="21360000">
              <a:off x="5579285" y="2513718"/>
              <a:ext cx="2827345" cy="72104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2901" y="20044"/>
                    <a:pt x="5024" y="12168"/>
                    <a:pt x="0" y="0"/>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82" name="Shape 482"/>
            <p:cNvSpPr/>
            <p:nvPr/>
          </p:nvSpPr>
          <p:spPr>
            <a:xfrm rot="240000">
              <a:off x="21696" y="2463035"/>
              <a:ext cx="2828766" cy="72085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6577" y="12174"/>
                    <a:pt x="8699" y="20050"/>
                    <a:pt x="0" y="2160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grpSp>
          <p:nvGrpSpPr>
            <p:cNvPr id="508" name="Group 508"/>
            <p:cNvGrpSpPr/>
            <p:nvPr/>
          </p:nvGrpSpPr>
          <p:grpSpPr>
            <a:xfrm>
              <a:off x="23487" y="209947"/>
              <a:ext cx="8400830" cy="4361082"/>
              <a:chOff x="21705" y="209948"/>
              <a:chExt cx="8400829" cy="4361080"/>
            </a:xfrm>
          </p:grpSpPr>
          <p:sp>
            <p:nvSpPr>
              <p:cNvPr id="483" name="Shape 483"/>
              <p:cNvSpPr/>
              <p:nvPr/>
            </p:nvSpPr>
            <p:spPr>
              <a:xfrm rot="10560000">
                <a:off x="21705" y="1727098"/>
                <a:ext cx="2827346" cy="72104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2901" y="20044"/>
                      <a:pt x="5024" y="12168"/>
                      <a:pt x="0" y="0"/>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84" name="Shape 484"/>
              <p:cNvSpPr/>
              <p:nvPr/>
            </p:nvSpPr>
            <p:spPr>
              <a:xfrm rot="11040000">
                <a:off x="5577873" y="1777973"/>
                <a:ext cx="2828766" cy="72085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6577" y="12174"/>
                      <a:pt x="8699" y="20050"/>
                      <a:pt x="0" y="2160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grpSp>
            <p:nvGrpSpPr>
              <p:cNvPr id="507" name="Group 507"/>
              <p:cNvGrpSpPr/>
              <p:nvPr/>
            </p:nvGrpSpPr>
            <p:grpSpPr>
              <a:xfrm>
                <a:off x="40532" y="209948"/>
                <a:ext cx="8382002" cy="4361080"/>
                <a:chOff x="0" y="209948"/>
                <a:chExt cx="8382001" cy="4361079"/>
              </a:xfrm>
            </p:grpSpPr>
            <p:sp>
              <p:nvSpPr>
                <p:cNvPr id="485" name="Shape 485"/>
                <p:cNvSpPr/>
                <p:nvPr/>
              </p:nvSpPr>
              <p:spPr>
                <a:xfrm>
                  <a:off x="3224462" y="284560"/>
                  <a:ext cx="585538" cy="2078102"/>
                </a:xfrm>
                <a:custGeom>
                  <a:avLst/>
                  <a:gdLst/>
                  <a:ahLst/>
                  <a:cxnLst>
                    <a:cxn ang="0">
                      <a:pos x="wd2" y="hd2"/>
                    </a:cxn>
                    <a:cxn ang="5400000">
                      <a:pos x="wd2" y="hd2"/>
                    </a:cxn>
                    <a:cxn ang="10800000">
                      <a:pos x="wd2" y="hd2"/>
                    </a:cxn>
                    <a:cxn ang="16200000">
                      <a:pos x="wd2" y="hd2"/>
                    </a:cxn>
                  </a:cxnLst>
                  <a:rect l="0" t="0" r="r" b="b"/>
                  <a:pathLst>
                    <a:path w="21600" h="21600" extrusionOk="0">
                      <a:moveTo>
                        <a:pt x="16269" y="0"/>
                      </a:moveTo>
                      <a:cubicBezTo>
                        <a:pt x="19742" y="2362"/>
                        <a:pt x="21600" y="5150"/>
                        <a:pt x="21600" y="8004"/>
                      </a:cubicBezTo>
                      <a:cubicBezTo>
                        <a:pt x="21600" y="14224"/>
                        <a:pt x="12858" y="19725"/>
                        <a:pt x="0" y="21600"/>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86" name="Shape 486"/>
                <p:cNvSpPr/>
                <p:nvPr/>
              </p:nvSpPr>
              <p:spPr>
                <a:xfrm rot="10800000">
                  <a:off x="4419600" y="2453212"/>
                  <a:ext cx="666641" cy="1957389"/>
                </a:xfrm>
                <a:custGeom>
                  <a:avLst/>
                  <a:gdLst/>
                  <a:ahLst/>
                  <a:cxnLst>
                    <a:cxn ang="0">
                      <a:pos x="wd2" y="hd2"/>
                    </a:cxn>
                    <a:cxn ang="5400000">
                      <a:pos x="wd2" y="hd2"/>
                    </a:cxn>
                    <a:cxn ang="10800000">
                      <a:pos x="wd2" y="hd2"/>
                    </a:cxn>
                    <a:cxn ang="16200000">
                      <a:pos x="wd2" y="hd2"/>
                    </a:cxn>
                  </a:cxnLst>
                  <a:rect l="0" t="0" r="r" b="b"/>
                  <a:pathLst>
                    <a:path w="21600" h="21600" extrusionOk="0">
                      <a:moveTo>
                        <a:pt x="18722" y="0"/>
                      </a:moveTo>
                      <a:cubicBezTo>
                        <a:pt x="20614" y="2105"/>
                        <a:pt x="21600" y="4427"/>
                        <a:pt x="21600" y="6782"/>
                      </a:cubicBezTo>
                      <a:cubicBezTo>
                        <a:pt x="21600" y="13949"/>
                        <a:pt x="12585" y="20133"/>
                        <a:pt x="0" y="21600"/>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87" name="Shape 487"/>
                <p:cNvSpPr/>
                <p:nvPr/>
              </p:nvSpPr>
              <p:spPr>
                <a:xfrm rot="10800000">
                  <a:off x="3125787" y="2426161"/>
                  <a:ext cx="838201" cy="2043177"/>
                </a:xfrm>
                <a:custGeom>
                  <a:avLst/>
                  <a:gdLst/>
                  <a:ahLst/>
                  <a:cxnLst>
                    <a:cxn ang="0">
                      <a:pos x="wd2" y="hd2"/>
                    </a:cxn>
                    <a:cxn ang="5400000">
                      <a:pos x="wd2" y="hd2"/>
                    </a:cxn>
                    <a:cxn ang="10800000">
                      <a:pos x="wd2" y="hd2"/>
                    </a:cxn>
                    <a:cxn ang="16200000">
                      <a:pos x="wd2" y="hd2"/>
                    </a:cxn>
                  </a:cxnLst>
                  <a:rect l="0" t="0" r="r" b="b"/>
                  <a:pathLst>
                    <a:path w="21599" h="21600" extrusionOk="0">
                      <a:moveTo>
                        <a:pt x="21599" y="21600"/>
                      </a:moveTo>
                      <a:cubicBezTo>
                        <a:pt x="9670" y="21600"/>
                        <a:pt x="0" y="15106"/>
                        <a:pt x="0" y="7095"/>
                      </a:cubicBezTo>
                      <a:cubicBezTo>
                        <a:pt x="-1" y="4610"/>
                        <a:pt x="950" y="2167"/>
                        <a:pt x="2759" y="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88" name="Shape 488"/>
                <p:cNvSpPr/>
                <p:nvPr/>
              </p:nvSpPr>
              <p:spPr>
                <a:xfrm>
                  <a:off x="4497387" y="209948"/>
                  <a:ext cx="566601" cy="2143126"/>
                </a:xfrm>
                <a:custGeom>
                  <a:avLst/>
                  <a:gdLst/>
                  <a:ahLst/>
                  <a:cxnLst>
                    <a:cxn ang="0">
                      <a:pos x="wd2" y="hd2"/>
                    </a:cxn>
                    <a:cxn ang="5400000">
                      <a:pos x="wd2" y="hd2"/>
                    </a:cxn>
                    <a:cxn ang="10800000">
                      <a:pos x="wd2" y="hd2"/>
                    </a:cxn>
                    <a:cxn ang="16200000">
                      <a:pos x="wd2" y="hd2"/>
                    </a:cxn>
                  </a:cxnLst>
                  <a:rect l="0" t="0" r="r" b="b"/>
                  <a:pathLst>
                    <a:path w="21599" h="21600" extrusionOk="0">
                      <a:moveTo>
                        <a:pt x="21599" y="21600"/>
                      </a:moveTo>
                      <a:cubicBezTo>
                        <a:pt x="8679" y="19686"/>
                        <a:pt x="0" y="14430"/>
                        <a:pt x="0" y="8523"/>
                      </a:cubicBezTo>
                      <a:cubicBezTo>
                        <a:pt x="-1" y="5433"/>
                        <a:pt x="2391" y="2433"/>
                        <a:pt x="6793" y="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89" name="Shape 489"/>
                <p:cNvSpPr/>
                <p:nvPr/>
              </p:nvSpPr>
              <p:spPr>
                <a:xfrm>
                  <a:off x="2825749" y="2280111"/>
                  <a:ext cx="368301" cy="3683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CC3300"/>
                    </a:gs>
                    <a:gs pos="100000">
                      <a:srgbClr val="5E1800"/>
                    </a:gs>
                  </a:gsLst>
                  <a:path path="circle">
                    <a:fillToRect l="37721" t="-19636" r="62278" b="119636"/>
                  </a:path>
                </a:gradFill>
                <a:ln w="28575" cap="flat">
                  <a:solidFill>
                    <a:srgbClr val="CC3300"/>
                  </a:solidFill>
                  <a:prstDash val="solid"/>
                  <a:round/>
                </a:ln>
                <a:effectLst/>
              </p:spPr>
              <p:txBody>
                <a:bodyPr wrap="square" lIns="0" tIns="0" rIns="0" bIns="0" numCol="1" anchor="ctr">
                  <a:noAutofit/>
                </a:bodyPr>
                <a:lstStyle/>
                <a:p>
                  <a:pPr algn="ctr" defTabSz="914111">
                    <a:lnSpc>
                      <a:spcPct val="100000"/>
                    </a:lnSpc>
                    <a:spcBef>
                      <a:spcPts val="0"/>
                    </a:spcBef>
                    <a:defRPr>
                      <a:latin typeface="Arial"/>
                      <a:ea typeface="Arial"/>
                      <a:cs typeface="Arial"/>
                      <a:sym typeface="Arial"/>
                    </a:defRPr>
                  </a:pPr>
                  <a:endParaRPr/>
                </a:p>
              </p:txBody>
            </p:sp>
            <p:sp>
              <p:nvSpPr>
                <p:cNvPr id="490" name="Shape 490"/>
                <p:cNvSpPr/>
                <p:nvPr/>
              </p:nvSpPr>
              <p:spPr>
                <a:xfrm>
                  <a:off x="2756027" y="2302632"/>
                  <a:ext cx="458788" cy="33301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dirty="0"/>
                    <a:t>+</a:t>
                  </a:r>
                </a:p>
              </p:txBody>
            </p:sp>
            <p:sp>
              <p:nvSpPr>
                <p:cNvPr id="491" name="Shape 491"/>
                <p:cNvSpPr/>
                <p:nvPr/>
              </p:nvSpPr>
              <p:spPr>
                <a:xfrm rot="3360000">
                  <a:off x="4776073" y="313450"/>
                  <a:ext cx="1571553" cy="173998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1358" y="20749"/>
                        <a:pt x="2687" y="12078"/>
                        <a:pt x="0" y="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92" name="Shape 492"/>
                <p:cNvSpPr/>
                <p:nvPr/>
              </p:nvSpPr>
              <p:spPr>
                <a:xfrm rot="14160000">
                  <a:off x="2017852" y="2915257"/>
                  <a:ext cx="1571553" cy="173998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1358" y="20749"/>
                        <a:pt x="2687" y="12078"/>
                        <a:pt x="0" y="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93" name="Shape 493"/>
                <p:cNvSpPr/>
                <p:nvPr/>
              </p:nvSpPr>
              <p:spPr>
                <a:xfrm rot="7440000">
                  <a:off x="4714140" y="2914630"/>
                  <a:ext cx="1571606" cy="173946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8910" y="12085"/>
                        <a:pt x="10237" y="20759"/>
                        <a:pt x="0" y="21600"/>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94" name="Shape 494"/>
                <p:cNvSpPr/>
                <p:nvPr/>
              </p:nvSpPr>
              <p:spPr>
                <a:xfrm rot="18240000">
                  <a:off x="2016879" y="268074"/>
                  <a:ext cx="1571606" cy="173946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8910" y="12085"/>
                        <a:pt x="10237" y="20759"/>
                        <a:pt x="0" y="21600"/>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95" name="Shape 495"/>
                <p:cNvSpPr/>
                <p:nvPr/>
              </p:nvSpPr>
              <p:spPr>
                <a:xfrm rot="1260000">
                  <a:off x="4997650" y="3064698"/>
                  <a:ext cx="2238376" cy="101614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0784" y="21600"/>
                        <a:pt x="1598" y="12413"/>
                        <a:pt x="0" y="0"/>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96" name="Shape 496"/>
                <p:cNvSpPr/>
                <p:nvPr/>
              </p:nvSpPr>
              <p:spPr>
                <a:xfrm rot="12060000">
                  <a:off x="1022148" y="842921"/>
                  <a:ext cx="2238377" cy="101614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0784" y="21600"/>
                        <a:pt x="1598" y="12413"/>
                        <a:pt x="0" y="0"/>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97" name="Shape 497"/>
                <p:cNvSpPr/>
                <p:nvPr/>
              </p:nvSpPr>
              <p:spPr>
                <a:xfrm rot="20340000">
                  <a:off x="1020584" y="2988624"/>
                  <a:ext cx="2238272" cy="101603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0001" y="12413"/>
                        <a:pt x="10815" y="21599"/>
                        <a:pt x="0" y="2160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98" name="Shape 498"/>
                <p:cNvSpPr/>
                <p:nvPr/>
              </p:nvSpPr>
              <p:spPr>
                <a:xfrm rot="9540000">
                  <a:off x="5072344" y="919106"/>
                  <a:ext cx="2238272" cy="101603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0001" y="12413"/>
                        <a:pt x="10815" y="21599"/>
                        <a:pt x="0" y="2160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499" name="Shape 499"/>
                <p:cNvSpPr/>
                <p:nvPr/>
              </p:nvSpPr>
              <p:spPr>
                <a:xfrm>
                  <a:off x="5413233" y="1208549"/>
                  <a:ext cx="2740203" cy="107165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022" y="8392"/>
                        <a:pt x="12407" y="7"/>
                        <a:pt x="21600" y="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500" name="Shape 500"/>
                <p:cNvSpPr/>
                <p:nvPr/>
              </p:nvSpPr>
              <p:spPr>
                <a:xfrm rot="10800000">
                  <a:off x="5487987" y="2728051"/>
                  <a:ext cx="2741614" cy="1071338"/>
                </a:xfrm>
                <a:custGeom>
                  <a:avLst/>
                  <a:gdLst/>
                  <a:ahLst/>
                  <a:cxnLst>
                    <a:cxn ang="0">
                      <a:pos x="wd2" y="hd2"/>
                    </a:cxn>
                    <a:cxn ang="5400000">
                      <a:pos x="wd2" y="hd2"/>
                    </a:cxn>
                    <a:cxn ang="10800000">
                      <a:pos x="wd2" y="hd2"/>
                    </a:cxn>
                    <a:cxn ang="16200000">
                      <a:pos x="wd2" y="hd2"/>
                    </a:cxn>
                  </a:cxnLst>
                  <a:rect l="0" t="0" r="r" b="b"/>
                  <a:pathLst>
                    <a:path w="21600" h="21599" extrusionOk="0">
                      <a:moveTo>
                        <a:pt x="0" y="1"/>
                      </a:moveTo>
                      <a:cubicBezTo>
                        <a:pt x="3" y="1"/>
                        <a:pt x="8" y="-1"/>
                        <a:pt x="12" y="1"/>
                      </a:cubicBezTo>
                      <a:cubicBezTo>
                        <a:pt x="9198" y="1"/>
                        <a:pt x="17580" y="8386"/>
                        <a:pt x="21600" y="21599"/>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501" name="Shape 501"/>
                <p:cNvSpPr/>
                <p:nvPr/>
              </p:nvSpPr>
              <p:spPr>
                <a:xfrm>
                  <a:off x="152399" y="1130722"/>
                  <a:ext cx="2741614" cy="1071338"/>
                </a:xfrm>
                <a:custGeom>
                  <a:avLst/>
                  <a:gdLst/>
                  <a:ahLst/>
                  <a:cxnLst>
                    <a:cxn ang="0">
                      <a:pos x="wd2" y="hd2"/>
                    </a:cxn>
                    <a:cxn ang="5400000">
                      <a:pos x="wd2" y="hd2"/>
                    </a:cxn>
                    <a:cxn ang="10800000">
                      <a:pos x="wd2" y="hd2"/>
                    </a:cxn>
                    <a:cxn ang="16200000">
                      <a:pos x="wd2" y="hd2"/>
                    </a:cxn>
                  </a:cxnLst>
                  <a:rect l="0" t="0" r="r" b="b"/>
                  <a:pathLst>
                    <a:path w="21600" h="21599" extrusionOk="0">
                      <a:moveTo>
                        <a:pt x="0" y="1"/>
                      </a:moveTo>
                      <a:cubicBezTo>
                        <a:pt x="3" y="1"/>
                        <a:pt x="8" y="-1"/>
                        <a:pt x="12" y="1"/>
                      </a:cubicBezTo>
                      <a:cubicBezTo>
                        <a:pt x="9198" y="1"/>
                        <a:pt x="17580" y="8386"/>
                        <a:pt x="21600" y="21599"/>
                      </a:cubicBezTo>
                    </a:path>
                  </a:pathLst>
                </a:custGeom>
                <a:noFill/>
                <a:ln w="28575" cap="rnd">
                  <a:solidFill>
                    <a:srgbClr val="CC33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502" name="Shape 502"/>
                <p:cNvSpPr/>
                <p:nvPr/>
              </p:nvSpPr>
              <p:spPr>
                <a:xfrm rot="10800000">
                  <a:off x="155539" y="2651498"/>
                  <a:ext cx="2740202" cy="107165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022" y="8392"/>
                        <a:pt x="12407" y="7"/>
                        <a:pt x="21600" y="0"/>
                      </a:cubicBezTo>
                    </a:path>
                  </a:pathLst>
                </a:custGeom>
                <a:noFill/>
                <a:ln w="28575" cap="rnd">
                  <a:solidFill>
                    <a:srgbClr val="CC33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503" name="Shape 503"/>
                <p:cNvSpPr/>
                <p:nvPr/>
              </p:nvSpPr>
              <p:spPr>
                <a:xfrm>
                  <a:off x="5486400" y="2426161"/>
                  <a:ext cx="2895601" cy="1"/>
                </a:xfrm>
                <a:prstGeom prst="line">
                  <a:avLst/>
                </a:prstGeom>
                <a:noFill/>
                <a:ln w="28575" cap="flat">
                  <a:solidFill>
                    <a:srgbClr val="CC33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04" name="Shape 504"/>
                <p:cNvSpPr/>
                <p:nvPr/>
              </p:nvSpPr>
              <p:spPr>
                <a:xfrm flipH="1" flipV="1">
                  <a:off x="0" y="2426161"/>
                  <a:ext cx="2743200" cy="1"/>
                </a:xfrm>
                <a:prstGeom prst="line">
                  <a:avLst/>
                </a:prstGeom>
                <a:noFill/>
                <a:ln w="28575" cap="flat">
                  <a:solidFill>
                    <a:srgbClr val="CC33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05" name="Shape 505"/>
                <p:cNvSpPr/>
                <p:nvPr/>
              </p:nvSpPr>
              <p:spPr>
                <a:xfrm>
                  <a:off x="5111750" y="2280111"/>
                  <a:ext cx="368300" cy="3683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flip="none" rotWithShape="1">
                  <a:gsLst>
                    <a:gs pos="0">
                      <a:srgbClr val="CC3300"/>
                    </a:gs>
                    <a:gs pos="100000">
                      <a:srgbClr val="5E1800"/>
                    </a:gs>
                  </a:gsLst>
                  <a:path path="circle">
                    <a:fillToRect l="37721" t="-19636" r="62278" b="119636"/>
                  </a:path>
                </a:gradFill>
                <a:ln w="28575" cap="flat">
                  <a:solidFill>
                    <a:srgbClr val="CC3300"/>
                  </a:solidFill>
                  <a:prstDash val="solid"/>
                  <a:round/>
                </a:ln>
                <a:effectLst/>
              </p:spPr>
              <p:txBody>
                <a:bodyPr wrap="square" lIns="0" tIns="0" rIns="0" bIns="0" numCol="1" anchor="ctr">
                  <a:noAutofit/>
                </a:bodyPr>
                <a:lstStyle/>
                <a:p>
                  <a:pPr algn="ctr" defTabSz="914111">
                    <a:lnSpc>
                      <a:spcPct val="100000"/>
                    </a:lnSpc>
                    <a:spcBef>
                      <a:spcPts val="0"/>
                    </a:spcBef>
                    <a:defRPr>
                      <a:latin typeface="Arial"/>
                      <a:ea typeface="Arial"/>
                      <a:cs typeface="Arial"/>
                      <a:sym typeface="Arial"/>
                    </a:defRPr>
                  </a:pPr>
                  <a:endParaRPr/>
                </a:p>
              </p:txBody>
            </p:sp>
            <p:sp>
              <p:nvSpPr>
                <p:cNvPr id="506" name="Shape 506"/>
                <p:cNvSpPr/>
                <p:nvPr/>
              </p:nvSpPr>
              <p:spPr>
                <a:xfrm>
                  <a:off x="5220250" y="2304404"/>
                  <a:ext cx="239003" cy="33301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dirty="0"/>
                    <a:t>+</a:t>
                  </a:r>
                </a:p>
              </p:txBody>
            </p:sp>
          </p:grpSp>
        </p:grpSp>
      </p:grpSp>
      <p:sp>
        <p:nvSpPr>
          <p:cNvPr id="33" name="圆角矩形 32"/>
          <p:cNvSpPr/>
          <p:nvPr/>
        </p:nvSpPr>
        <p:spPr>
          <a:xfrm>
            <a:off x="38921" y="64582"/>
            <a:ext cx="3307859" cy="511477"/>
          </a:xfrm>
          <a:prstGeom prst="roundRect">
            <a:avLst/>
          </a:prstGeom>
          <a:solidFill>
            <a:srgbClr val="FFFFFF"/>
          </a:solidFill>
          <a:ln w="25400" cap="flat">
            <a:solidFill>
              <a:srgbClr val="CC99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04" tIns="45704" rIns="45704" bIns="45704" numCol="1" spcCol="38088" rtlCol="0" anchor="t">
            <a:spAutoFit/>
          </a:bodyPr>
          <a:lstStyle/>
          <a:p>
            <a:pPr algn="l" defTabSz="914111" rtl="0" latinLnBrk="1" hangingPunct="0">
              <a:lnSpc>
                <a:spcPct val="100000"/>
              </a:lnSpc>
              <a:spcBef>
                <a:spcPts val="0"/>
              </a:spcBef>
            </a:pPr>
            <a:endParaRPr lang="zh-CN" altLang="en-US">
              <a:solidFill>
                <a:srgbClr val="000000"/>
              </a:solidFill>
              <a:latin typeface="Arial"/>
              <a:ea typeface="Arial"/>
              <a:cs typeface="Arial"/>
              <a:sym typeface="Arial"/>
            </a:endParaRPr>
          </a:p>
        </p:txBody>
      </p:sp>
      <p:sp>
        <p:nvSpPr>
          <p:cNvPr id="34" name="Shape 377"/>
          <p:cNvSpPr/>
          <p:nvPr/>
        </p:nvSpPr>
        <p:spPr>
          <a:xfrm>
            <a:off x="-31573" y="21591"/>
            <a:ext cx="3379440" cy="413229"/>
          </a:xfrm>
          <a:prstGeom prst="rect">
            <a:avLst/>
          </a:prstGeom>
          <a:ln w="12700">
            <a:miter lim="400000"/>
          </a:ln>
          <a:extLst>
            <a:ext uri="{C572A759-6A51-4108-AA02-DFA0A04FC94B}">
              <ma14:wrappingTextBoxFlag xmlns="" xmlns:ma14="http://schemas.microsoft.com/office/mac/drawingml/2011/main" val="1"/>
            </a:ext>
          </a:extLst>
        </p:spPr>
        <p:txBody>
          <a:bodyPr lIns="46025" tIns="46025" rIns="46025" bIns="46025">
            <a:spAutoFit/>
          </a:bodyPr>
          <a:lstStyle>
            <a:lvl1pPr algn="ctr">
              <a:defRPr b="1">
                <a:latin typeface="楷体_GB2312"/>
                <a:ea typeface="楷体_GB2312"/>
                <a:cs typeface="楷体_GB2312"/>
                <a:sym typeface="楷体_GB2312"/>
              </a:defRPr>
            </a:lvl1pPr>
          </a:lstStyle>
          <a:p>
            <a:pPr lvl="0">
              <a:defRPr sz="1800" b="0"/>
            </a:pPr>
            <a:r>
              <a:rPr sz="2000" dirty="0" err="1">
                <a:solidFill>
                  <a:srgbClr val="00B0F0"/>
                </a:solidFill>
                <a:latin typeface="宋体" panose="02010600030101010101" pitchFamily="2" charset="-122"/>
                <a:ea typeface="宋体" panose="02010600030101010101" pitchFamily="2" charset="-122"/>
              </a:rPr>
              <a:t>几种典型</a:t>
            </a:r>
            <a:r>
              <a:rPr lang="zh-CN" altLang="en-US" sz="2000" dirty="0">
                <a:solidFill>
                  <a:srgbClr val="00B0F0"/>
                </a:solidFill>
                <a:latin typeface="宋体" panose="02010600030101010101" pitchFamily="2" charset="-122"/>
                <a:ea typeface="宋体" panose="02010600030101010101" pitchFamily="2" charset="-122"/>
              </a:rPr>
              <a:t>的</a:t>
            </a:r>
            <a:r>
              <a:rPr sz="2000" dirty="0" err="1">
                <a:solidFill>
                  <a:srgbClr val="00B0F0"/>
                </a:solidFill>
                <a:latin typeface="宋体" panose="02010600030101010101" pitchFamily="2" charset="-122"/>
                <a:ea typeface="宋体" panose="02010600030101010101" pitchFamily="2" charset="-122"/>
              </a:rPr>
              <a:t>电场线分布</a:t>
            </a:r>
            <a:endParaRPr sz="2000" dirty="0">
              <a:solidFill>
                <a:srgbClr val="00B0F0"/>
              </a:solidFill>
              <a:latin typeface="宋体" panose="02010600030101010101" pitchFamily="2" charset="-122"/>
              <a:ea typeface="宋体" panose="02010600030101010101" pitchFamily="2" charset="-122"/>
            </a:endParaRPr>
          </a:p>
        </p:txBody>
      </p:sp>
    </p:spTree>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Shape 560"/>
          <p:cNvSpPr/>
          <p:nvPr/>
        </p:nvSpPr>
        <p:spPr>
          <a:xfrm>
            <a:off x="2309171" y="1186850"/>
            <a:ext cx="5045076" cy="610014"/>
          </a:xfrm>
          <a:prstGeom prst="rect">
            <a:avLst/>
          </a:prstGeom>
          <a:ln w="12700">
            <a:miter lim="400000"/>
          </a:ln>
          <a:extLst>
            <a:ext uri="{C572A759-6A51-4108-AA02-DFA0A04FC94B}">
              <ma14:wrappingTextBoxFlag xmlns="" xmlns:ma14="http://schemas.microsoft.com/office/mac/drawingml/2011/main" val="1"/>
            </a:ext>
          </a:extLst>
        </p:spPr>
        <p:txBody>
          <a:bodyPr lIns="46025" tIns="46025" rIns="46025" bIns="46025">
            <a:spAutoFit/>
          </a:bodyPr>
          <a:lstStyle>
            <a:lvl1pPr algn="ctr">
              <a:defRPr b="1">
                <a:latin typeface="楷体_GB2312"/>
                <a:ea typeface="楷体_GB2312"/>
                <a:cs typeface="楷体_GB2312"/>
                <a:sym typeface="楷体_GB2312"/>
              </a:defRPr>
            </a:lvl1pPr>
          </a:lstStyle>
          <a:p>
            <a:pPr lvl="0">
              <a:defRPr sz="1800" b="0"/>
            </a:pPr>
            <a:r>
              <a:rPr sz="2800" dirty="0" err="1">
                <a:latin typeface="黑体" pitchFamily="49" charset="-122"/>
                <a:ea typeface="黑体" pitchFamily="49" charset="-122"/>
              </a:rPr>
              <a:t>带电平行板电容器的电场</a:t>
            </a:r>
            <a:endParaRPr sz="2800" dirty="0">
              <a:latin typeface="黑体" pitchFamily="49" charset="-122"/>
              <a:ea typeface="黑体" pitchFamily="49" charset="-122"/>
            </a:endParaRPr>
          </a:p>
        </p:txBody>
      </p:sp>
      <p:grpSp>
        <p:nvGrpSpPr>
          <p:cNvPr id="608" name="Group 608"/>
          <p:cNvGrpSpPr/>
          <p:nvPr/>
        </p:nvGrpSpPr>
        <p:grpSpPr>
          <a:xfrm>
            <a:off x="2155976" y="2398496"/>
            <a:ext cx="5351465" cy="1747840"/>
            <a:chOff x="-1" y="-1"/>
            <a:chExt cx="5351464" cy="1747839"/>
          </a:xfrm>
        </p:grpSpPr>
        <p:sp>
          <p:nvSpPr>
            <p:cNvPr id="561" name="Shape 561"/>
            <p:cNvSpPr/>
            <p:nvPr/>
          </p:nvSpPr>
          <p:spPr>
            <a:xfrm>
              <a:off x="625475" y="1455737"/>
              <a:ext cx="4102100" cy="292101"/>
            </a:xfrm>
            <a:prstGeom prst="rect">
              <a:avLst/>
            </a:prstGeom>
            <a:solidFill>
              <a:srgbClr val="99FF99"/>
            </a:solidFill>
            <a:ln w="28575" cap="flat">
              <a:solidFill>
                <a:srgbClr val="000000"/>
              </a:solidFill>
              <a:prstDash val="solid"/>
              <a:miter lim="800000"/>
            </a:ln>
            <a:effectLst/>
          </p:spPr>
          <p:txBody>
            <a:bodyPr wrap="square" lIns="0" tIns="0" rIns="0" bIns="0" numCol="1" anchor="ctr">
              <a:noAutofit/>
            </a:bodyPr>
            <a:lstStyle/>
            <a:p>
              <a:pPr algn="ctr" defTabSz="914111">
                <a:lnSpc>
                  <a:spcPct val="100000"/>
                </a:lnSpc>
                <a:spcBef>
                  <a:spcPts val="0"/>
                </a:spcBef>
                <a:defRPr>
                  <a:latin typeface="Arial"/>
                  <a:ea typeface="Arial"/>
                  <a:cs typeface="Arial"/>
                  <a:sym typeface="Arial"/>
                </a:defRPr>
              </a:pPr>
              <a:endParaRPr/>
            </a:p>
          </p:txBody>
        </p:sp>
        <p:sp>
          <p:nvSpPr>
            <p:cNvPr id="562" name="Shape 562"/>
            <p:cNvSpPr/>
            <p:nvPr/>
          </p:nvSpPr>
          <p:spPr>
            <a:xfrm>
              <a:off x="625475" y="160337"/>
              <a:ext cx="4102100" cy="292101"/>
            </a:xfrm>
            <a:prstGeom prst="rect">
              <a:avLst/>
            </a:prstGeom>
            <a:solidFill>
              <a:srgbClr val="CC0066"/>
            </a:solidFill>
            <a:ln w="28575" cap="flat">
              <a:solidFill>
                <a:srgbClr val="CC3300"/>
              </a:solidFill>
              <a:prstDash val="solid"/>
              <a:miter lim="800000"/>
            </a:ln>
            <a:effectLst/>
          </p:spPr>
          <p:txBody>
            <a:bodyPr wrap="square" lIns="0" tIns="0" rIns="0" bIns="0" numCol="1" anchor="ctr">
              <a:noAutofit/>
            </a:bodyPr>
            <a:lstStyle/>
            <a:p>
              <a:pPr algn="ctr" defTabSz="914111">
                <a:lnSpc>
                  <a:spcPct val="100000"/>
                </a:lnSpc>
                <a:spcBef>
                  <a:spcPts val="0"/>
                </a:spcBef>
                <a:defRPr>
                  <a:latin typeface="Arial"/>
                  <a:ea typeface="Arial"/>
                  <a:cs typeface="Arial"/>
                  <a:sym typeface="Arial"/>
                </a:defRPr>
              </a:pPr>
              <a:endParaRPr/>
            </a:p>
          </p:txBody>
        </p:sp>
        <p:sp>
          <p:nvSpPr>
            <p:cNvPr id="563" name="Shape 563"/>
            <p:cNvSpPr/>
            <p:nvPr/>
          </p:nvSpPr>
          <p:spPr>
            <a:xfrm>
              <a:off x="3841107" y="-1"/>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64" name="Shape 564"/>
            <p:cNvSpPr/>
            <p:nvPr/>
          </p:nvSpPr>
          <p:spPr>
            <a:xfrm>
              <a:off x="1631306" y="-1"/>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65" name="Shape 565"/>
            <p:cNvSpPr/>
            <p:nvPr/>
          </p:nvSpPr>
          <p:spPr>
            <a:xfrm>
              <a:off x="4298307" y="-1"/>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66" name="Shape 566"/>
            <p:cNvSpPr/>
            <p:nvPr/>
          </p:nvSpPr>
          <p:spPr>
            <a:xfrm>
              <a:off x="3383907" y="-1"/>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67" name="Shape 567"/>
            <p:cNvSpPr/>
            <p:nvPr/>
          </p:nvSpPr>
          <p:spPr>
            <a:xfrm>
              <a:off x="2469507" y="-1"/>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68" name="Shape 568"/>
            <p:cNvSpPr/>
            <p:nvPr/>
          </p:nvSpPr>
          <p:spPr>
            <a:xfrm>
              <a:off x="793106" y="-1"/>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69" name="Shape 569"/>
            <p:cNvSpPr/>
            <p:nvPr/>
          </p:nvSpPr>
          <p:spPr>
            <a:xfrm>
              <a:off x="2926707" y="1587"/>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70" name="Shape 570"/>
            <p:cNvSpPr/>
            <p:nvPr/>
          </p:nvSpPr>
          <p:spPr>
            <a:xfrm>
              <a:off x="2012306" y="-1"/>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71" name="Shape 571"/>
            <p:cNvSpPr/>
            <p:nvPr/>
          </p:nvSpPr>
          <p:spPr>
            <a:xfrm>
              <a:off x="1174106" y="-1"/>
              <a:ext cx="231474" cy="42616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6037" tIns="46037" rIns="46037" bIns="46037" numCol="1" anchor="t">
              <a:spAutoFit/>
            </a:bodyPr>
            <a:lstStyle>
              <a:lvl1pPr algn="ctr">
                <a:defRPr sz="36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a:t>+</a:t>
              </a:r>
            </a:p>
          </p:txBody>
        </p:sp>
        <p:sp>
          <p:nvSpPr>
            <p:cNvPr id="572" name="Shape 572"/>
            <p:cNvSpPr/>
            <p:nvPr/>
          </p:nvSpPr>
          <p:spPr>
            <a:xfrm>
              <a:off x="1228725"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73" name="Shape 573"/>
            <p:cNvSpPr/>
            <p:nvPr/>
          </p:nvSpPr>
          <p:spPr>
            <a:xfrm>
              <a:off x="2066925"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74" name="Shape 574"/>
            <p:cNvSpPr/>
            <p:nvPr/>
          </p:nvSpPr>
          <p:spPr>
            <a:xfrm>
              <a:off x="2981325"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75" name="Shape 575"/>
            <p:cNvSpPr/>
            <p:nvPr/>
          </p:nvSpPr>
          <p:spPr>
            <a:xfrm>
              <a:off x="3895725"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76" name="Shape 576"/>
            <p:cNvSpPr/>
            <p:nvPr/>
          </p:nvSpPr>
          <p:spPr>
            <a:xfrm>
              <a:off x="1609725"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77" name="Shape 577"/>
            <p:cNvSpPr/>
            <p:nvPr/>
          </p:nvSpPr>
          <p:spPr>
            <a:xfrm>
              <a:off x="3438525"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78" name="Shape 578"/>
            <p:cNvSpPr/>
            <p:nvPr/>
          </p:nvSpPr>
          <p:spPr>
            <a:xfrm>
              <a:off x="2524125"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79" name="Shape 579"/>
            <p:cNvSpPr/>
            <p:nvPr/>
          </p:nvSpPr>
          <p:spPr>
            <a:xfrm>
              <a:off x="4352925"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0" name="Shape 580"/>
            <p:cNvSpPr/>
            <p:nvPr/>
          </p:nvSpPr>
          <p:spPr>
            <a:xfrm>
              <a:off x="771524" y="1601788"/>
              <a:ext cx="228601" cy="1588"/>
            </a:xfrm>
            <a:prstGeom prst="line">
              <a:avLst/>
            </a:prstGeom>
            <a:noFill/>
            <a:ln w="28575" cap="flat">
              <a:solidFill>
                <a:srgbClr val="FF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1" name="Shape 581"/>
            <p:cNvSpPr/>
            <p:nvPr/>
          </p:nvSpPr>
          <p:spPr>
            <a:xfrm>
              <a:off x="2600325" y="460375"/>
              <a:ext cx="1588" cy="836613"/>
            </a:xfrm>
            <a:prstGeom prst="line">
              <a:avLst/>
            </a:prstGeom>
            <a:noFill/>
            <a:ln w="28575" cap="flat">
              <a:solidFill>
                <a:srgbClr val="CC33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2" name="Shape 582"/>
            <p:cNvSpPr/>
            <p:nvPr/>
          </p:nvSpPr>
          <p:spPr>
            <a:xfrm>
              <a:off x="2600325" y="460375"/>
              <a:ext cx="1588"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3" name="Shape 583"/>
            <p:cNvSpPr/>
            <p:nvPr/>
          </p:nvSpPr>
          <p:spPr>
            <a:xfrm>
              <a:off x="3057525" y="460375"/>
              <a:ext cx="1588"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4" name="Shape 584"/>
            <p:cNvSpPr/>
            <p:nvPr/>
          </p:nvSpPr>
          <p:spPr>
            <a:xfrm>
              <a:off x="2219325" y="460375"/>
              <a:ext cx="1588"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5" name="Shape 585"/>
            <p:cNvSpPr/>
            <p:nvPr/>
          </p:nvSpPr>
          <p:spPr>
            <a:xfrm>
              <a:off x="1762125" y="460375"/>
              <a:ext cx="1588"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6" name="Shape 586"/>
            <p:cNvSpPr/>
            <p:nvPr/>
          </p:nvSpPr>
          <p:spPr>
            <a:xfrm>
              <a:off x="1304924" y="460375"/>
              <a:ext cx="1589"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7" name="Shape 587"/>
            <p:cNvSpPr/>
            <p:nvPr/>
          </p:nvSpPr>
          <p:spPr>
            <a:xfrm>
              <a:off x="923924" y="460375"/>
              <a:ext cx="1589"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8" name="Shape 588"/>
            <p:cNvSpPr/>
            <p:nvPr/>
          </p:nvSpPr>
          <p:spPr>
            <a:xfrm>
              <a:off x="3514725" y="460375"/>
              <a:ext cx="1588"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89" name="Shape 589"/>
            <p:cNvSpPr/>
            <p:nvPr/>
          </p:nvSpPr>
          <p:spPr>
            <a:xfrm>
              <a:off x="3971925" y="460375"/>
              <a:ext cx="1588"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0" name="Shape 590"/>
            <p:cNvSpPr/>
            <p:nvPr/>
          </p:nvSpPr>
          <p:spPr>
            <a:xfrm>
              <a:off x="4429125" y="460375"/>
              <a:ext cx="1588" cy="455613"/>
            </a:xfrm>
            <a:prstGeom prst="line">
              <a:avLst/>
            </a:prstGeom>
            <a:noFill/>
            <a:ln w="28575" cap="flat">
              <a:solidFill>
                <a:srgbClr val="000000"/>
              </a:solidFill>
              <a:prstDash val="solid"/>
              <a:round/>
              <a:tailEnd type="stealth" w="med" len="me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1" name="Shape 591"/>
            <p:cNvSpPr/>
            <p:nvPr/>
          </p:nvSpPr>
          <p:spPr>
            <a:xfrm>
              <a:off x="2600325" y="917575"/>
              <a:ext cx="1588" cy="5318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2" name="Shape 592"/>
            <p:cNvSpPr/>
            <p:nvPr/>
          </p:nvSpPr>
          <p:spPr>
            <a:xfrm>
              <a:off x="3057525" y="917575"/>
              <a:ext cx="1588" cy="5318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3" name="Shape 593"/>
            <p:cNvSpPr/>
            <p:nvPr/>
          </p:nvSpPr>
          <p:spPr>
            <a:xfrm>
              <a:off x="2219325" y="917575"/>
              <a:ext cx="1588" cy="5318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4" name="Shape 594"/>
            <p:cNvSpPr/>
            <p:nvPr/>
          </p:nvSpPr>
          <p:spPr>
            <a:xfrm>
              <a:off x="1762125" y="917575"/>
              <a:ext cx="1588" cy="5318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5" name="Shape 595"/>
            <p:cNvSpPr/>
            <p:nvPr/>
          </p:nvSpPr>
          <p:spPr>
            <a:xfrm>
              <a:off x="1304925" y="841375"/>
              <a:ext cx="1588" cy="6080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6" name="Shape 596"/>
            <p:cNvSpPr/>
            <p:nvPr/>
          </p:nvSpPr>
          <p:spPr>
            <a:xfrm>
              <a:off x="923924" y="765175"/>
              <a:ext cx="1589" cy="6842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7" name="Shape 597"/>
            <p:cNvSpPr/>
            <p:nvPr/>
          </p:nvSpPr>
          <p:spPr>
            <a:xfrm>
              <a:off x="3514725" y="841375"/>
              <a:ext cx="1588" cy="6080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8" name="Shape 598"/>
            <p:cNvSpPr/>
            <p:nvPr/>
          </p:nvSpPr>
          <p:spPr>
            <a:xfrm>
              <a:off x="3971925" y="917575"/>
              <a:ext cx="1588" cy="5318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599" name="Shape 599"/>
            <p:cNvSpPr/>
            <p:nvPr/>
          </p:nvSpPr>
          <p:spPr>
            <a:xfrm>
              <a:off x="4429125" y="917575"/>
              <a:ext cx="1588" cy="531813"/>
            </a:xfrm>
            <a:prstGeom prst="line">
              <a:avLst/>
            </a:prstGeom>
            <a:noFill/>
            <a:ln w="28575" cap="flat">
              <a:solidFill>
                <a:srgbClr val="000000"/>
              </a:solidFill>
              <a:prstDash val="solid"/>
              <a:round/>
            </a:ln>
            <a:effectLst/>
          </p:spPr>
          <p:txBody>
            <a:bodyPr wrap="square" lIns="0" tIns="0" rIns="0" bIns="0" numCol="1" anchor="t">
              <a:noAutofit/>
            </a:bodyPr>
            <a:lstStyle/>
            <a:p>
              <a:pPr defTabSz="457056">
                <a:lnSpc>
                  <a:spcPct val="100000"/>
                </a:lnSpc>
                <a:spcBef>
                  <a:spcPts val="0"/>
                </a:spcBef>
                <a:defRPr sz="1200">
                  <a:latin typeface="+mj-lt"/>
                  <a:ea typeface="+mj-ea"/>
                  <a:cs typeface="+mj-cs"/>
                  <a:sym typeface="Helvetica"/>
                </a:defRPr>
              </a:pPr>
              <a:endParaRPr/>
            </a:p>
          </p:txBody>
        </p:sp>
        <p:sp>
          <p:nvSpPr>
            <p:cNvPr id="600" name="Shape 600"/>
            <p:cNvSpPr/>
            <p:nvPr/>
          </p:nvSpPr>
          <p:spPr>
            <a:xfrm>
              <a:off x="4761293" y="912761"/>
              <a:ext cx="136145" cy="725489"/>
            </a:xfrm>
            <a:custGeom>
              <a:avLst/>
              <a:gdLst/>
              <a:ahLst/>
              <a:cxnLst>
                <a:cxn ang="0">
                  <a:pos x="wd2" y="hd2"/>
                </a:cxn>
                <a:cxn ang="5400000">
                  <a:pos x="wd2" y="hd2"/>
                </a:cxn>
                <a:cxn ang="10800000">
                  <a:pos x="wd2" y="hd2"/>
                </a:cxn>
                <a:cxn ang="16200000">
                  <a:pos x="wd2" y="hd2"/>
                </a:cxn>
              </a:cxnLst>
              <a:rect l="0" t="0" r="r" b="b"/>
              <a:pathLst>
                <a:path w="21600" h="21600" extrusionOk="0">
                  <a:moveTo>
                    <a:pt x="21560" y="0"/>
                  </a:moveTo>
                  <a:cubicBezTo>
                    <a:pt x="21587" y="316"/>
                    <a:pt x="21600" y="630"/>
                    <a:pt x="21600" y="946"/>
                  </a:cubicBezTo>
                  <a:cubicBezTo>
                    <a:pt x="21600" y="8466"/>
                    <a:pt x="13975" y="15759"/>
                    <a:pt x="0" y="21600"/>
                  </a:cubicBezTo>
                </a:path>
              </a:pathLst>
            </a:custGeom>
            <a:noFill/>
            <a:ln w="28575" cap="rnd">
              <a:solidFill>
                <a:srgbClr val="000000"/>
              </a:solidFill>
              <a:prstDash val="solid"/>
              <a:round/>
            </a:ln>
            <a:effectLst/>
          </p:spPr>
          <p:txBody>
            <a:bodyPr wrap="square" lIns="0" tIns="0" rIns="0" bIns="0" numCol="1" anchor="t">
              <a:noAutofit/>
            </a:bodyPr>
            <a:lstStyle/>
            <a:p>
              <a:pPr defTabSz="914111">
                <a:lnSpc>
                  <a:spcPct val="100000"/>
                </a:lnSpc>
                <a:spcBef>
                  <a:spcPts val="0"/>
                </a:spcBef>
              </a:pPr>
              <a:endParaRPr/>
            </a:p>
          </p:txBody>
        </p:sp>
        <p:sp>
          <p:nvSpPr>
            <p:cNvPr id="601" name="Shape 601"/>
            <p:cNvSpPr/>
            <p:nvPr/>
          </p:nvSpPr>
          <p:spPr>
            <a:xfrm>
              <a:off x="480984" y="1093357"/>
              <a:ext cx="134112" cy="61955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8878" y="15443"/>
                    <a:pt x="1336" y="7898"/>
                    <a:pt x="0" y="0"/>
                  </a:cubicBezTo>
                </a:path>
              </a:pathLst>
            </a:custGeom>
            <a:noFill/>
            <a:ln w="28575" cap="rnd">
              <a:solidFill>
                <a:srgbClr val="000000"/>
              </a:solidFill>
              <a:prstDash val="solid"/>
              <a:round/>
            </a:ln>
            <a:effectLst/>
          </p:spPr>
          <p:txBody>
            <a:bodyPr wrap="square" lIns="0" tIns="0" rIns="0" bIns="0" numCol="1" anchor="t">
              <a:noAutofit/>
            </a:bodyPr>
            <a:lstStyle/>
            <a:p>
              <a:pPr defTabSz="914111">
                <a:lnSpc>
                  <a:spcPct val="100000"/>
                </a:lnSpc>
                <a:spcBef>
                  <a:spcPts val="0"/>
                </a:spcBef>
              </a:pPr>
              <a:endParaRPr/>
            </a:p>
          </p:txBody>
        </p:sp>
        <p:sp>
          <p:nvSpPr>
            <p:cNvPr id="602" name="Shape 602"/>
            <p:cNvSpPr/>
            <p:nvPr/>
          </p:nvSpPr>
          <p:spPr>
            <a:xfrm>
              <a:off x="4768083" y="341312"/>
              <a:ext cx="129327" cy="66356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3694" y="6175"/>
                    <a:pt x="21279" y="13761"/>
                    <a:pt x="21600" y="21600"/>
                  </a:cubicBezTo>
                </a:path>
              </a:pathLst>
            </a:custGeom>
            <a:noFill/>
            <a:ln w="28575" cap="rnd">
              <a:solidFill>
                <a:srgbClr val="0000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603" name="Shape 603"/>
            <p:cNvSpPr/>
            <p:nvPr/>
          </p:nvSpPr>
          <p:spPr>
            <a:xfrm>
              <a:off x="479424" y="265112"/>
              <a:ext cx="128779" cy="784226"/>
            </a:xfrm>
            <a:custGeom>
              <a:avLst/>
              <a:gdLst/>
              <a:ahLst/>
              <a:cxnLst>
                <a:cxn ang="0">
                  <a:pos x="wd2" y="hd2"/>
                </a:cxn>
                <a:cxn ang="5400000">
                  <a:pos x="wd2" y="hd2"/>
                </a:cxn>
                <a:cxn ang="10800000">
                  <a:pos x="wd2" y="hd2"/>
                </a:cxn>
                <a:cxn ang="16200000">
                  <a:pos x="wd2" y="hd2"/>
                </a:cxn>
              </a:cxnLst>
              <a:rect l="0" t="0" r="r" b="b"/>
              <a:pathLst>
                <a:path w="21595" h="21600" extrusionOk="0">
                  <a:moveTo>
                    <a:pt x="468" y="21600"/>
                  </a:moveTo>
                  <a:cubicBezTo>
                    <a:pt x="156" y="20629"/>
                    <a:pt x="0" y="19654"/>
                    <a:pt x="0" y="18681"/>
                  </a:cubicBezTo>
                  <a:cubicBezTo>
                    <a:pt x="-5" y="11912"/>
                    <a:pt x="7596" y="5338"/>
                    <a:pt x="21595" y="0"/>
                  </a:cubicBezTo>
                </a:path>
              </a:pathLst>
            </a:custGeom>
            <a:noFill/>
            <a:ln w="28575" cap="rnd">
              <a:solidFill>
                <a:srgbClr val="0000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604" name="Shape 604"/>
            <p:cNvSpPr/>
            <p:nvPr/>
          </p:nvSpPr>
          <p:spPr>
            <a:xfrm>
              <a:off x="4722784" y="1084372"/>
              <a:ext cx="623889" cy="60314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0274" y="12342"/>
                    <a:pt x="11300" y="21599"/>
                    <a:pt x="662" y="21600"/>
                  </a:cubicBezTo>
                  <a:cubicBezTo>
                    <a:pt x="442" y="21600"/>
                    <a:pt x="221" y="21595"/>
                    <a:pt x="0" y="21587"/>
                  </a:cubicBezTo>
                </a:path>
              </a:pathLst>
            </a:custGeom>
            <a:noFill/>
            <a:ln w="28575" cap="rnd">
              <a:solidFill>
                <a:srgbClr val="000000"/>
              </a:solidFill>
              <a:prstDash val="solid"/>
              <a:round/>
            </a:ln>
            <a:effectLst/>
          </p:spPr>
          <p:txBody>
            <a:bodyPr wrap="square" lIns="0" tIns="0" rIns="0" bIns="0" numCol="1" anchor="t">
              <a:noAutofit/>
            </a:bodyPr>
            <a:lstStyle/>
            <a:p>
              <a:pPr defTabSz="914111">
                <a:lnSpc>
                  <a:spcPct val="100000"/>
                </a:lnSpc>
                <a:spcBef>
                  <a:spcPts val="0"/>
                </a:spcBef>
              </a:pPr>
              <a:endParaRPr/>
            </a:p>
          </p:txBody>
        </p:sp>
        <p:sp>
          <p:nvSpPr>
            <p:cNvPr id="605" name="Shape 605"/>
            <p:cNvSpPr/>
            <p:nvPr/>
          </p:nvSpPr>
          <p:spPr>
            <a:xfrm>
              <a:off x="-1" y="1031774"/>
              <a:ext cx="627064" cy="655740"/>
            </a:xfrm>
            <a:custGeom>
              <a:avLst/>
              <a:gdLst/>
              <a:ahLst/>
              <a:cxnLst>
                <a:cxn ang="0">
                  <a:pos x="wd2" y="hd2"/>
                </a:cxn>
                <a:cxn ang="5400000">
                  <a:pos x="wd2" y="hd2"/>
                </a:cxn>
                <a:cxn ang="10800000">
                  <a:pos x="wd2" y="hd2"/>
                </a:cxn>
                <a:cxn ang="16200000">
                  <a:pos x="wd2" y="hd2"/>
                </a:cxn>
              </a:cxnLst>
              <a:rect l="0" t="0" r="r" b="b"/>
              <a:pathLst>
                <a:path w="21600" h="21600" extrusionOk="0">
                  <a:moveTo>
                    <a:pt x="21600" y="21591"/>
                  </a:moveTo>
                  <a:cubicBezTo>
                    <a:pt x="21399" y="21597"/>
                    <a:pt x="21197" y="21599"/>
                    <a:pt x="20996" y="21600"/>
                  </a:cubicBezTo>
                  <a:cubicBezTo>
                    <a:pt x="9781" y="21600"/>
                    <a:pt x="541" y="12094"/>
                    <a:pt x="0" y="0"/>
                  </a:cubicBezTo>
                </a:path>
              </a:pathLst>
            </a:custGeom>
            <a:noFill/>
            <a:ln w="28575" cap="rnd">
              <a:solidFill>
                <a:srgbClr val="000000"/>
              </a:solidFill>
              <a:prstDash val="solid"/>
              <a:round/>
            </a:ln>
            <a:effectLst/>
          </p:spPr>
          <p:txBody>
            <a:bodyPr wrap="square" lIns="0" tIns="0" rIns="0" bIns="0" numCol="1" anchor="t">
              <a:noAutofit/>
            </a:bodyPr>
            <a:lstStyle/>
            <a:p>
              <a:pPr defTabSz="914111">
                <a:lnSpc>
                  <a:spcPct val="100000"/>
                </a:lnSpc>
                <a:spcBef>
                  <a:spcPts val="0"/>
                </a:spcBef>
              </a:pPr>
              <a:endParaRPr/>
            </a:p>
          </p:txBody>
        </p:sp>
        <p:sp>
          <p:nvSpPr>
            <p:cNvPr id="606" name="Shape 606"/>
            <p:cNvSpPr/>
            <p:nvPr/>
          </p:nvSpPr>
          <p:spPr>
            <a:xfrm>
              <a:off x="4741834" y="309562"/>
              <a:ext cx="609629" cy="81435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8181"/>
                    <a:pt x="21600" y="18274"/>
                  </a:cubicBezTo>
                  <a:cubicBezTo>
                    <a:pt x="21600" y="19389"/>
                    <a:pt x="21479" y="20503"/>
                    <a:pt x="21238" y="21600"/>
                  </a:cubicBezTo>
                </a:path>
              </a:pathLst>
            </a:custGeom>
            <a:noFill/>
            <a:ln w="28575" cap="rnd">
              <a:solidFill>
                <a:srgbClr val="000000"/>
              </a:solidFill>
              <a:prstDash val="solid"/>
              <a:round/>
              <a:tailEnd type="stealth" w="med" len="med"/>
            </a:ln>
            <a:effectLst/>
          </p:spPr>
          <p:txBody>
            <a:bodyPr wrap="square" lIns="0" tIns="0" rIns="0" bIns="0" numCol="1" anchor="t">
              <a:noAutofit/>
            </a:bodyPr>
            <a:lstStyle/>
            <a:p>
              <a:pPr defTabSz="914111">
                <a:lnSpc>
                  <a:spcPct val="100000"/>
                </a:lnSpc>
                <a:spcBef>
                  <a:spcPts val="0"/>
                </a:spcBef>
              </a:pPr>
              <a:endParaRPr/>
            </a:p>
          </p:txBody>
        </p:sp>
        <p:sp>
          <p:nvSpPr>
            <p:cNvPr id="607" name="Shape 607"/>
            <p:cNvSpPr/>
            <p:nvPr/>
          </p:nvSpPr>
          <p:spPr>
            <a:xfrm>
              <a:off x="-1" y="307975"/>
              <a:ext cx="608021" cy="747713"/>
            </a:xfrm>
            <a:custGeom>
              <a:avLst/>
              <a:gdLst/>
              <a:ahLst/>
              <a:cxnLst>
                <a:cxn ang="0">
                  <a:pos x="wd2" y="hd2"/>
                </a:cxn>
                <a:cxn ang="5400000">
                  <a:pos x="wd2" y="hd2"/>
                </a:cxn>
                <a:cxn ang="10800000">
                  <a:pos x="wd2" y="hd2"/>
                </a:cxn>
                <a:cxn ang="16200000">
                  <a:pos x="wd2" y="hd2"/>
                </a:cxn>
              </a:cxnLst>
              <a:rect l="0" t="0" r="r" b="b"/>
              <a:pathLst>
                <a:path w="21599" h="21600" extrusionOk="0">
                  <a:moveTo>
                    <a:pt x="82" y="21600"/>
                  </a:moveTo>
                  <a:cubicBezTo>
                    <a:pt x="27" y="21022"/>
                    <a:pt x="0" y="20443"/>
                    <a:pt x="0" y="19865"/>
                  </a:cubicBezTo>
                  <a:cubicBezTo>
                    <a:pt x="-1" y="8913"/>
                    <a:pt x="9661" y="28"/>
                    <a:pt x="21599" y="0"/>
                  </a:cubicBezTo>
                </a:path>
              </a:pathLst>
            </a:custGeom>
            <a:noFill/>
            <a:ln w="28575" cap="rnd">
              <a:solidFill>
                <a:srgbClr val="000000"/>
              </a:solidFill>
              <a:prstDash val="solid"/>
              <a:round/>
              <a:headEnd type="stealth" w="med" len="med"/>
            </a:ln>
            <a:effectLst/>
          </p:spPr>
          <p:txBody>
            <a:bodyPr wrap="square" lIns="0" tIns="0" rIns="0" bIns="0" numCol="1" anchor="t">
              <a:noAutofit/>
            </a:bodyPr>
            <a:lstStyle/>
            <a:p>
              <a:pPr defTabSz="914111">
                <a:lnSpc>
                  <a:spcPct val="100000"/>
                </a:lnSpc>
                <a:spcBef>
                  <a:spcPts val="0"/>
                </a:spcBef>
              </a:pPr>
              <a:endParaRPr/>
            </a:p>
          </p:txBody>
        </p:sp>
      </p:grpSp>
      <p:sp>
        <p:nvSpPr>
          <p:cNvPr id="52" name="圆角矩形 51"/>
          <p:cNvSpPr/>
          <p:nvPr/>
        </p:nvSpPr>
        <p:spPr>
          <a:xfrm>
            <a:off x="38921" y="64582"/>
            <a:ext cx="3307859" cy="511477"/>
          </a:xfrm>
          <a:prstGeom prst="roundRect">
            <a:avLst/>
          </a:prstGeom>
          <a:solidFill>
            <a:srgbClr val="FFFFFF"/>
          </a:solidFill>
          <a:ln w="25400" cap="flat">
            <a:solidFill>
              <a:srgbClr val="CC99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04" tIns="45704" rIns="45704" bIns="45704" numCol="1" spcCol="38088" rtlCol="0" anchor="t">
            <a:spAutoFit/>
          </a:bodyPr>
          <a:lstStyle/>
          <a:p>
            <a:pPr algn="l" defTabSz="914111" rtl="0" latinLnBrk="1" hangingPunct="0">
              <a:lnSpc>
                <a:spcPct val="100000"/>
              </a:lnSpc>
              <a:spcBef>
                <a:spcPts val="0"/>
              </a:spcBef>
            </a:pPr>
            <a:endParaRPr lang="zh-CN" altLang="en-US">
              <a:solidFill>
                <a:srgbClr val="000000"/>
              </a:solidFill>
              <a:latin typeface="Arial"/>
              <a:ea typeface="Arial"/>
              <a:cs typeface="Arial"/>
              <a:sym typeface="Arial"/>
            </a:endParaRPr>
          </a:p>
        </p:txBody>
      </p:sp>
      <p:sp>
        <p:nvSpPr>
          <p:cNvPr id="53" name="Shape 377"/>
          <p:cNvSpPr/>
          <p:nvPr/>
        </p:nvSpPr>
        <p:spPr>
          <a:xfrm>
            <a:off x="-31573" y="21591"/>
            <a:ext cx="3379440" cy="425939"/>
          </a:xfrm>
          <a:prstGeom prst="rect">
            <a:avLst/>
          </a:prstGeom>
          <a:ln w="12700">
            <a:miter lim="400000"/>
          </a:ln>
          <a:extLst>
            <a:ext uri="{C572A759-6A51-4108-AA02-DFA0A04FC94B}">
              <ma14:wrappingTextBoxFlag xmlns="" xmlns:ma14="http://schemas.microsoft.com/office/mac/drawingml/2011/main" val="1"/>
            </a:ext>
          </a:extLst>
        </p:spPr>
        <p:txBody>
          <a:bodyPr lIns="46025" tIns="46025" rIns="46025" bIns="46025">
            <a:spAutoFit/>
          </a:bodyPr>
          <a:lstStyle>
            <a:lvl1pPr algn="ctr">
              <a:defRPr b="1">
                <a:latin typeface="楷体_GB2312"/>
                <a:ea typeface="楷体_GB2312"/>
                <a:cs typeface="楷体_GB2312"/>
                <a:sym typeface="楷体_GB2312"/>
              </a:defRPr>
            </a:lvl1pPr>
          </a:lstStyle>
          <a:p>
            <a:pPr lvl="0">
              <a:defRPr sz="1800" b="0"/>
            </a:pPr>
            <a:r>
              <a:rPr b="0" dirty="0" err="1">
                <a:solidFill>
                  <a:srgbClr val="00B0F0"/>
                </a:solidFill>
                <a:latin typeface="宋体" panose="02010600030101010101" pitchFamily="2" charset="-122"/>
                <a:ea typeface="宋体" panose="02010600030101010101" pitchFamily="2" charset="-122"/>
              </a:rPr>
              <a:t>几种典型</a:t>
            </a:r>
            <a:r>
              <a:rPr lang="zh-CN" altLang="en-US" b="0" dirty="0">
                <a:solidFill>
                  <a:srgbClr val="00B0F0"/>
                </a:solidFill>
                <a:latin typeface="宋体" panose="02010600030101010101" pitchFamily="2" charset="-122"/>
                <a:ea typeface="宋体" panose="02010600030101010101" pitchFamily="2" charset="-122"/>
              </a:rPr>
              <a:t>的</a:t>
            </a:r>
            <a:r>
              <a:rPr b="0" dirty="0" err="1">
                <a:solidFill>
                  <a:srgbClr val="00B0F0"/>
                </a:solidFill>
                <a:latin typeface="宋体" panose="02010600030101010101" pitchFamily="2" charset="-122"/>
                <a:ea typeface="宋体" panose="02010600030101010101" pitchFamily="2" charset="-122"/>
              </a:rPr>
              <a:t>电场线分布</a:t>
            </a:r>
            <a:endParaRPr b="0" dirty="0">
              <a:solidFill>
                <a:srgbClr val="00B0F0"/>
              </a:solidFill>
              <a:latin typeface="宋体" panose="02010600030101010101" pitchFamily="2" charset="-122"/>
              <a:ea typeface="宋体" panose="02010600030101010101" pitchFamily="2" charset="-122"/>
            </a:endParaRPr>
          </a:p>
        </p:txBody>
      </p:sp>
      <p:sp>
        <p:nvSpPr>
          <p:cNvPr id="2" name="TextBox 1"/>
          <p:cNvSpPr txBox="1"/>
          <p:nvPr/>
        </p:nvSpPr>
        <p:spPr>
          <a:xfrm>
            <a:off x="2002214" y="4833714"/>
            <a:ext cx="5584376"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1600"/>
              </a:spcBef>
              <a:spcAft>
                <a:spcPts val="0"/>
              </a:spcAft>
              <a:buClrTx/>
              <a:buSzTx/>
              <a:buFontTx/>
              <a:buNone/>
              <a:tabLst/>
            </a:pPr>
            <a:r>
              <a:rPr kumimoji="0" lang="zh-CN" altLang="en-US" sz="2400" b="1" i="0" u="none" strike="noStrike" cap="none" spc="0" normalizeH="0" baseline="0" dirty="0" smtClean="0">
                <a:ln>
                  <a:noFill/>
                </a:ln>
                <a:solidFill>
                  <a:srgbClr val="000000"/>
                </a:solidFill>
                <a:effectLst/>
                <a:uFillTx/>
                <a:latin typeface="Times New Roman"/>
                <a:ea typeface="Times New Roman"/>
                <a:cs typeface="Times New Roman"/>
                <a:sym typeface="Times New Roman"/>
              </a:rPr>
              <a:t>不考虑边缘，可用来提供均匀电场</a:t>
            </a:r>
            <a:endParaRPr kumimoji="0" lang="zh-CN" altLang="en-US" sz="2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 name="Shape 611"/>
          <p:cNvSpPr/>
          <p:nvPr/>
        </p:nvSpPr>
        <p:spPr>
          <a:xfrm>
            <a:off x="350403" y="171297"/>
            <a:ext cx="1053245" cy="609367"/>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a:spcBef>
                <a:spcPts val="1400"/>
              </a:spcBef>
              <a:defRPr sz="1800"/>
            </a:pPr>
            <a:r>
              <a:rPr sz="2800" b="1" dirty="0">
                <a:solidFill>
                  <a:srgbClr val="0000CC"/>
                </a:solidFill>
                <a:latin typeface="SimHei"/>
                <a:ea typeface="SimHei"/>
                <a:cs typeface="SimHei"/>
                <a:sym typeface="SimHei"/>
              </a:rPr>
              <a:t>问题1</a:t>
            </a:r>
          </a:p>
        </p:txBody>
      </p:sp>
      <p:sp>
        <p:nvSpPr>
          <p:cNvPr id="612" name="Shape 612"/>
          <p:cNvSpPr/>
          <p:nvPr/>
        </p:nvSpPr>
        <p:spPr>
          <a:xfrm>
            <a:off x="1619672" y="188640"/>
            <a:ext cx="5688632" cy="540695"/>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lvl1pPr>
              <a:defRPr>
                <a:latin typeface="SimHei"/>
                <a:ea typeface="SimHei"/>
                <a:cs typeface="SimHei"/>
                <a:sym typeface="SimHei"/>
              </a:defRPr>
            </a:lvl1pPr>
          </a:lstStyle>
          <a:p>
            <a:pPr lvl="0">
              <a:defRPr sz="1800"/>
            </a:pPr>
            <a:r>
              <a:rPr sz="2800" b="1" dirty="0" err="1">
                <a:solidFill>
                  <a:srgbClr val="0000CC"/>
                </a:solidFill>
              </a:rPr>
              <a:t>薄金属球壳中电场线的分布</a:t>
            </a:r>
            <a:endParaRPr sz="2800" b="1" dirty="0">
              <a:solidFill>
                <a:srgbClr val="0000CC"/>
              </a:solidFill>
            </a:endParaRPr>
          </a:p>
        </p:txBody>
      </p:sp>
      <p:sp>
        <p:nvSpPr>
          <p:cNvPr id="613" name="Shape 613"/>
          <p:cNvSpPr/>
          <p:nvPr/>
        </p:nvSpPr>
        <p:spPr>
          <a:xfrm>
            <a:off x="350403" y="908720"/>
            <a:ext cx="8614087" cy="1246465"/>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lvl="0">
              <a:lnSpc>
                <a:spcPct val="125000"/>
              </a:lnSpc>
              <a:defRPr sz="1800"/>
            </a:pPr>
            <a:r>
              <a:rPr lang="en-US" sz="2000" dirty="0">
                <a:latin typeface="宋体" panose="02010600030101010101" pitchFamily="2" charset="-122"/>
                <a:ea typeface="宋体" panose="02010600030101010101" pitchFamily="2" charset="-122"/>
                <a:cs typeface="SimHei"/>
                <a:sym typeface="SimHei"/>
              </a:rPr>
              <a:t>    </a:t>
            </a:r>
            <a:r>
              <a:rPr sz="2000" dirty="0" err="1">
                <a:latin typeface="黑体" pitchFamily="49" charset="-122"/>
                <a:ea typeface="黑体" pitchFamily="49" charset="-122"/>
                <a:cs typeface="SimHei"/>
                <a:sym typeface="SimHei"/>
              </a:rPr>
              <a:t>一个半径为</a:t>
            </a:r>
            <a:r>
              <a:rPr sz="2000" dirty="0" err="1">
                <a:latin typeface="黑体" pitchFamily="49" charset="-122"/>
                <a:ea typeface="黑体" pitchFamily="49" charset="-122"/>
                <a:cs typeface="Arial"/>
                <a:sym typeface="Arial"/>
              </a:rPr>
              <a:t>R,</a:t>
            </a:r>
            <a:r>
              <a:rPr sz="2000" dirty="0" err="1">
                <a:latin typeface="黑体" pitchFamily="49" charset="-122"/>
                <a:ea typeface="黑体" pitchFamily="49" charset="-122"/>
                <a:cs typeface="SimHei"/>
                <a:sym typeface="SimHei"/>
              </a:rPr>
              <a:t>带电量为</a:t>
            </a:r>
            <a:r>
              <a:rPr sz="2000" dirty="0" err="1">
                <a:latin typeface="黑体" pitchFamily="49" charset="-122"/>
                <a:ea typeface="黑体" pitchFamily="49" charset="-122"/>
                <a:cs typeface="Arial"/>
                <a:sym typeface="Arial"/>
              </a:rPr>
              <a:t>+Q</a:t>
            </a:r>
            <a:r>
              <a:rPr sz="2000" dirty="0" err="1">
                <a:latin typeface="黑体" pitchFamily="49" charset="-122"/>
                <a:ea typeface="黑体" pitchFamily="49" charset="-122"/>
                <a:cs typeface="SimHei"/>
                <a:sym typeface="SimHei"/>
              </a:rPr>
              <a:t>的薄金属球壳，电荷均匀的分布于外表面。画出以下两种情况的电场线</a:t>
            </a:r>
            <a:r>
              <a:rPr sz="2000" dirty="0">
                <a:latin typeface="黑体" pitchFamily="49" charset="-122"/>
                <a:ea typeface="黑体" pitchFamily="49" charset="-122"/>
                <a:cs typeface="SimHei"/>
                <a:sym typeface="SimHei"/>
              </a:rPr>
              <a:t>：</a:t>
            </a:r>
            <a:r>
              <a:rPr lang="en-US" sz="2000" dirty="0">
                <a:latin typeface="黑体" pitchFamily="49" charset="-122"/>
                <a:ea typeface="黑体" pitchFamily="49" charset="-122"/>
                <a:cs typeface="SimHei"/>
                <a:sym typeface="SimHei"/>
              </a:rPr>
              <a:t>(1)</a:t>
            </a:r>
            <a:r>
              <a:rPr sz="2000" dirty="0" err="1">
                <a:latin typeface="黑体" pitchFamily="49" charset="-122"/>
                <a:ea typeface="黑体" pitchFamily="49" charset="-122"/>
                <a:cs typeface="SimHei"/>
                <a:sym typeface="SimHei"/>
              </a:rPr>
              <a:t>球壳很小</a:t>
            </a:r>
            <a:r>
              <a:rPr sz="2000" dirty="0">
                <a:latin typeface="黑体" pitchFamily="49" charset="-122"/>
                <a:ea typeface="黑体" pitchFamily="49" charset="-122"/>
                <a:cs typeface="SimHei"/>
                <a:sym typeface="SimHei"/>
              </a:rPr>
              <a:t>，</a:t>
            </a:r>
            <a:r>
              <a:rPr lang="zh-CN" altLang="en-US" sz="2000" dirty="0">
                <a:latin typeface="黑体" pitchFamily="49" charset="-122"/>
                <a:ea typeface="黑体" pitchFamily="49" charset="-122"/>
                <a:cs typeface="SimHei"/>
                <a:sym typeface="SimHei"/>
              </a:rPr>
              <a:t>并且在距离球壳</a:t>
            </a:r>
            <a:r>
              <a:rPr sz="2000" dirty="0" err="1">
                <a:latin typeface="黑体" pitchFamily="49" charset="-122"/>
                <a:ea typeface="黑体" pitchFamily="49" charset="-122"/>
                <a:cs typeface="SimHei"/>
                <a:sym typeface="SimHei"/>
              </a:rPr>
              <a:t>很远的地方</a:t>
            </a:r>
            <a:r>
              <a:rPr lang="zh-CN" altLang="en-US" sz="2000" dirty="0">
                <a:latin typeface="黑体" pitchFamily="49" charset="-122"/>
                <a:ea typeface="黑体" pitchFamily="49" charset="-122"/>
                <a:cs typeface="SimHei"/>
                <a:sym typeface="SimHei"/>
              </a:rPr>
              <a:t>观察电场</a:t>
            </a:r>
            <a:r>
              <a:rPr sz="2000" dirty="0">
                <a:latin typeface="黑体" pitchFamily="49" charset="-122"/>
                <a:ea typeface="黑体" pitchFamily="49" charset="-122"/>
                <a:cs typeface="SimHei"/>
                <a:sym typeface="SimHei"/>
              </a:rPr>
              <a:t>。</a:t>
            </a:r>
            <a:r>
              <a:rPr lang="zh-CN" altLang="en-US" sz="2000" dirty="0">
                <a:latin typeface="黑体" pitchFamily="49" charset="-122"/>
                <a:ea typeface="黑体" pitchFamily="49" charset="-122"/>
                <a:cs typeface="SimHei"/>
                <a:sym typeface="SimHei"/>
              </a:rPr>
              <a:t>并</a:t>
            </a:r>
            <a:r>
              <a:rPr sz="2000" dirty="0">
                <a:latin typeface="黑体" pitchFamily="49" charset="-122"/>
                <a:ea typeface="黑体" pitchFamily="49" charset="-122"/>
                <a:cs typeface="SimHei"/>
                <a:sym typeface="SimHei"/>
              </a:rPr>
              <a:t>画出球外</a:t>
            </a:r>
            <a:r>
              <a:rPr sz="2000" dirty="0">
                <a:latin typeface="黑体" pitchFamily="49" charset="-122"/>
                <a:ea typeface="黑体" pitchFamily="49" charset="-122"/>
                <a:cs typeface="Arial"/>
                <a:sym typeface="Arial"/>
              </a:rPr>
              <a:t>2</a:t>
            </a:r>
            <a:r>
              <a:rPr sz="2000" dirty="0">
                <a:latin typeface="黑体" pitchFamily="49" charset="-122"/>
                <a:ea typeface="黑体" pitchFamily="49" charset="-122"/>
                <a:cs typeface="SimHei"/>
                <a:sym typeface="SimHei"/>
              </a:rPr>
              <a:t>个不同点的电场强度矢量</a:t>
            </a:r>
            <a:r>
              <a:rPr lang="en-US" sz="2000" dirty="0">
                <a:latin typeface="黑体" pitchFamily="49" charset="-122"/>
                <a:ea typeface="黑体" pitchFamily="49" charset="-122"/>
                <a:cs typeface="SimHei"/>
                <a:sym typeface="SimHei"/>
              </a:rPr>
              <a:t>.(</a:t>
            </a:r>
            <a:r>
              <a:rPr lang="en-US" sz="2000" dirty="0" smtClean="0">
                <a:latin typeface="黑体" pitchFamily="49" charset="-122"/>
                <a:ea typeface="黑体" pitchFamily="49" charset="-122"/>
                <a:cs typeface="SimHei"/>
                <a:sym typeface="SimHei"/>
              </a:rPr>
              <a:t>2</a:t>
            </a:r>
            <a:r>
              <a:rPr lang="zh-CN" altLang="en-US" sz="2000" dirty="0" smtClean="0">
                <a:latin typeface="黑体" pitchFamily="49" charset="-122"/>
                <a:ea typeface="黑体" pitchFamily="49" charset="-122"/>
                <a:cs typeface="SimHei"/>
                <a:sym typeface="SimHei"/>
              </a:rPr>
              <a:t>）空</a:t>
            </a:r>
            <a:r>
              <a:rPr lang="zh-CN" altLang="en-US" sz="2000" dirty="0">
                <a:latin typeface="黑体" pitchFamily="49" charset="-122"/>
                <a:ea typeface="黑体" pitchFamily="49" charset="-122"/>
                <a:cs typeface="SimHei"/>
                <a:sym typeface="SimHei"/>
              </a:rPr>
              <a:t>腔内观察电场。</a:t>
            </a:r>
            <a:endParaRPr sz="2000" dirty="0">
              <a:latin typeface="黑体" pitchFamily="49" charset="-122"/>
              <a:ea typeface="黑体" pitchFamily="49" charset="-122"/>
              <a:cs typeface="SimHei"/>
              <a:sym typeface="SimHei"/>
            </a:endParaRPr>
          </a:p>
        </p:txBody>
      </p:sp>
      <p:pic>
        <p:nvPicPr>
          <p:cNvPr id="53" name="Picture 3" descr="gia12141_16_3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935"/>
          <a:stretch/>
        </p:blipFill>
        <p:spPr bwMode="auto">
          <a:xfrm>
            <a:off x="22591" y="2606586"/>
            <a:ext cx="2907936" cy="3126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3" descr="gia12141_16_35"/>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351" r="7230" b="5309"/>
          <a:stretch/>
        </p:blipFill>
        <p:spPr bwMode="auto">
          <a:xfrm>
            <a:off x="2930527" y="2943781"/>
            <a:ext cx="2952328" cy="280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683571" y="5822162"/>
            <a:ext cx="1092605"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04" tIns="45704" rIns="45704" bIns="45704" numCol="1" spcCol="38088" rtlCol="0" anchor="t">
            <a:spAutoFit/>
          </a:bodyPr>
          <a:lstStyle/>
          <a:p>
            <a:pPr algn="l" rtl="0" latinLnBrk="1" hangingPunct="0"/>
            <a:r>
              <a:rPr lang="zh-CN" altLang="en-US" dirty="0">
                <a:solidFill>
                  <a:srgbClr val="000000"/>
                </a:solidFill>
              </a:rPr>
              <a:t>图</a:t>
            </a:r>
            <a:r>
              <a:rPr lang="en-US" altLang="zh-CN" dirty="0">
                <a:solidFill>
                  <a:srgbClr val="000000"/>
                </a:solidFill>
              </a:rPr>
              <a:t>16.20</a:t>
            </a:r>
            <a:endParaRPr lang="zh-CN" altLang="en-US" dirty="0">
              <a:solidFill>
                <a:srgbClr val="000000"/>
              </a:solidFill>
            </a:endParaRPr>
          </a:p>
        </p:txBody>
      </p:sp>
      <p:sp>
        <p:nvSpPr>
          <p:cNvPr id="3" name="文本框 2"/>
          <p:cNvSpPr txBox="1"/>
          <p:nvPr/>
        </p:nvSpPr>
        <p:spPr>
          <a:xfrm>
            <a:off x="3563891" y="5750443"/>
            <a:ext cx="1092605"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04" tIns="45704" rIns="45704" bIns="45704" numCol="1" spcCol="38088" rtlCol="0" anchor="t">
            <a:spAutoFit/>
          </a:bodyPr>
          <a:lstStyle/>
          <a:p>
            <a:pPr algn="l" rtl="0" latinLnBrk="1" hangingPunct="0"/>
            <a:r>
              <a:rPr lang="zh-CN" altLang="en-US" dirty="0">
                <a:solidFill>
                  <a:srgbClr val="000000"/>
                </a:solidFill>
              </a:rPr>
              <a:t>图</a:t>
            </a:r>
            <a:r>
              <a:rPr lang="en-US" altLang="zh-CN" dirty="0">
                <a:solidFill>
                  <a:srgbClr val="000000"/>
                </a:solidFill>
              </a:rPr>
              <a:t>16.21</a:t>
            </a:r>
            <a:endParaRPr lang="zh-CN" altLang="en-US" dirty="0">
              <a:solidFill>
                <a:srgbClr val="000000"/>
              </a:solidFill>
            </a:endParaRPr>
          </a:p>
        </p:txBody>
      </p:sp>
      <p:pic>
        <p:nvPicPr>
          <p:cNvPr id="57" name="Picture 3" descr="gia12141_16_3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8117" r="6646" b="5582"/>
          <a:stretch/>
        </p:blipFill>
        <p:spPr bwMode="auto">
          <a:xfrm>
            <a:off x="5940155" y="2941842"/>
            <a:ext cx="3024336"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 name="文本框 57"/>
          <p:cNvSpPr txBox="1"/>
          <p:nvPr/>
        </p:nvSpPr>
        <p:spPr>
          <a:xfrm>
            <a:off x="6906017" y="5795023"/>
            <a:ext cx="1092605" cy="74071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45704" tIns="45704" rIns="45704" bIns="45704" numCol="1" spcCol="38088" rtlCol="0" anchor="t">
            <a:spAutoFit/>
          </a:bodyPr>
          <a:lstStyle/>
          <a:p>
            <a:pPr algn="l" rtl="0" latinLnBrk="1" hangingPunct="0"/>
            <a:r>
              <a:rPr lang="zh-CN" altLang="en-US" dirty="0">
                <a:solidFill>
                  <a:srgbClr val="000000"/>
                </a:solidFill>
              </a:rPr>
              <a:t>图</a:t>
            </a:r>
            <a:r>
              <a:rPr lang="en-US" altLang="zh-CN" dirty="0">
                <a:solidFill>
                  <a:srgbClr val="000000"/>
                </a:solidFill>
              </a:rPr>
              <a:t>16.22</a:t>
            </a:r>
            <a:endParaRPr lang="zh-CN" altLang="en-US" dirty="0">
              <a:solidFill>
                <a:srgbClr val="000000"/>
              </a:solidFill>
            </a:endParaRP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
                                        </p:tgtEl>
                                        <p:attrNameLst>
                                          <p:attrName>style.visibility</p:attrName>
                                        </p:attrNameLst>
                                      </p:cBhvr>
                                      <p:to>
                                        <p:strVal val="visible"/>
                                      </p:to>
                                    </p:set>
                                    <p:anim calcmode="lin" valueType="num">
                                      <p:cBhvr additive="base">
                                        <p:cTn id="13" dur="500" fill="hold"/>
                                        <p:tgtEl>
                                          <p:spTgt spid="54"/>
                                        </p:tgtEl>
                                        <p:attrNameLst>
                                          <p:attrName>ppt_x</p:attrName>
                                        </p:attrNameLst>
                                      </p:cBhvr>
                                      <p:tavLst>
                                        <p:tav tm="0">
                                          <p:val>
                                            <p:strVal val="#ppt_x"/>
                                          </p:val>
                                        </p:tav>
                                        <p:tav tm="100000">
                                          <p:val>
                                            <p:strVal val="#ppt_x"/>
                                          </p:val>
                                        </p:tav>
                                      </p:tavLst>
                                    </p:anim>
                                    <p:anim calcmode="lin" valueType="num">
                                      <p:cBhvr additive="base">
                                        <p:cTn id="1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7"/>
                                        </p:tgtEl>
                                        <p:attrNameLst>
                                          <p:attrName>style.visibility</p:attrName>
                                        </p:attrNameLst>
                                      </p:cBhvr>
                                      <p:to>
                                        <p:strVal val="visible"/>
                                      </p:to>
                                    </p:set>
                                    <p:anim calcmode="lin" valueType="num">
                                      <p:cBhvr additive="base">
                                        <p:cTn id="19" dur="500" fill="hold"/>
                                        <p:tgtEl>
                                          <p:spTgt spid="57"/>
                                        </p:tgtEl>
                                        <p:attrNameLst>
                                          <p:attrName>ppt_x</p:attrName>
                                        </p:attrNameLst>
                                      </p:cBhvr>
                                      <p:tavLst>
                                        <p:tav tm="0">
                                          <p:val>
                                            <p:strVal val="#ppt_x"/>
                                          </p:val>
                                        </p:tav>
                                        <p:tav tm="100000">
                                          <p:val>
                                            <p:strVal val="#ppt_x"/>
                                          </p:val>
                                        </p:tav>
                                      </p:tavLst>
                                    </p:anim>
                                    <p:anim calcmode="lin" valueType="num">
                                      <p:cBhvr additive="base">
                                        <p:cTn id="20"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9" name="Group 669"/>
          <p:cNvGrpSpPr/>
          <p:nvPr/>
        </p:nvGrpSpPr>
        <p:grpSpPr>
          <a:xfrm>
            <a:off x="1427135" y="2708920"/>
            <a:ext cx="2244124" cy="2016227"/>
            <a:chOff x="0" y="-1"/>
            <a:chExt cx="2244123" cy="2016226"/>
          </a:xfrm>
        </p:grpSpPr>
        <p:sp>
          <p:nvSpPr>
            <p:cNvPr id="663" name="Shape 663"/>
            <p:cNvSpPr/>
            <p:nvPr/>
          </p:nvSpPr>
          <p:spPr>
            <a:xfrm>
              <a:off x="648071" y="288032"/>
              <a:ext cx="1596052" cy="159605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t">
              <a:noAutofit/>
            </a:bodyPr>
            <a:lstStyle/>
            <a:p>
              <a:pPr defTabSz="914111">
                <a:lnSpc>
                  <a:spcPct val="100000"/>
                </a:lnSpc>
                <a:spcBef>
                  <a:spcPts val="0"/>
                </a:spcBef>
              </a:pPr>
              <a:endParaRPr/>
            </a:p>
          </p:txBody>
        </p:sp>
        <p:sp>
          <p:nvSpPr>
            <p:cNvPr id="664" name="Shape 664"/>
            <p:cNvSpPr/>
            <p:nvPr/>
          </p:nvSpPr>
          <p:spPr>
            <a:xfrm>
              <a:off x="0" y="-1"/>
              <a:ext cx="2016225" cy="201622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A6A6A6"/>
            </a:solidFill>
            <a:ln w="25400" cap="flat">
              <a:solidFill>
                <a:srgbClr val="000000"/>
              </a:solidFill>
              <a:prstDash val="solid"/>
              <a:bevel/>
            </a:ln>
            <a:effectLst/>
          </p:spPr>
          <p:txBody>
            <a:bodyPr wrap="square" lIns="0" tIns="0" rIns="0" bIns="0" numCol="1" anchor="t">
              <a:noAutofit/>
            </a:bodyPr>
            <a:lstStyle/>
            <a:p>
              <a:pPr defTabSz="914111">
                <a:lnSpc>
                  <a:spcPct val="100000"/>
                </a:lnSpc>
                <a:spcBef>
                  <a:spcPts val="0"/>
                </a:spcBef>
              </a:pPr>
              <a:endParaRPr/>
            </a:p>
          </p:txBody>
        </p:sp>
        <p:sp>
          <p:nvSpPr>
            <p:cNvPr id="665" name="Shape 665"/>
            <p:cNvSpPr/>
            <p:nvPr/>
          </p:nvSpPr>
          <p:spPr>
            <a:xfrm>
              <a:off x="255897" y="251648"/>
              <a:ext cx="1520554" cy="152055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25400" cap="flat">
              <a:solidFill>
                <a:srgbClr val="000000"/>
              </a:solidFill>
              <a:prstDash val="solid"/>
              <a:bevel/>
            </a:ln>
            <a:effectLst/>
          </p:spPr>
          <p:txBody>
            <a:bodyPr wrap="square" lIns="0" tIns="0" rIns="0" bIns="0" numCol="1" anchor="t">
              <a:noAutofit/>
            </a:bodyPr>
            <a:lstStyle/>
            <a:p>
              <a:pPr defTabSz="914111">
                <a:lnSpc>
                  <a:spcPct val="100000"/>
                </a:lnSpc>
                <a:spcBef>
                  <a:spcPts val="0"/>
                </a:spcBef>
              </a:pPr>
              <a:endParaRPr/>
            </a:p>
          </p:txBody>
        </p:sp>
        <p:grpSp>
          <p:nvGrpSpPr>
            <p:cNvPr id="668" name="Group 668"/>
            <p:cNvGrpSpPr/>
            <p:nvPr/>
          </p:nvGrpSpPr>
          <p:grpSpPr>
            <a:xfrm>
              <a:off x="761134" y="764379"/>
              <a:ext cx="510080" cy="510078"/>
              <a:chOff x="-1" y="0"/>
              <a:chExt cx="510078" cy="510077"/>
            </a:xfrm>
          </p:grpSpPr>
          <p:sp>
            <p:nvSpPr>
              <p:cNvPr id="666" name="Shape 666"/>
              <p:cNvSpPr/>
              <p:nvPr/>
            </p:nvSpPr>
            <p:spPr>
              <a:xfrm>
                <a:off x="0" y="0"/>
                <a:ext cx="510077" cy="51007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CC9900"/>
              </a:solidFill>
              <a:ln w="25400" cap="flat">
                <a:solidFill>
                  <a:srgbClr val="957000"/>
                </a:solidFill>
                <a:prstDash val="solid"/>
                <a:bevel/>
              </a:ln>
              <a:effectLst/>
            </p:spPr>
            <p:txBody>
              <a:bodyPr wrap="square" lIns="0" tIns="0" rIns="0" bIns="0" numCol="1" anchor="t">
                <a:noAutofit/>
              </a:bodyPr>
              <a:lstStyle/>
              <a:p>
                <a:pPr defTabSz="914111">
                  <a:lnSpc>
                    <a:spcPct val="100000"/>
                  </a:lnSpc>
                  <a:spcBef>
                    <a:spcPts val="0"/>
                  </a:spcBef>
                </a:pPr>
                <a:endParaRPr/>
              </a:p>
            </p:txBody>
          </p:sp>
          <p:sp>
            <p:nvSpPr>
              <p:cNvPr id="667" name="Shape 667"/>
              <p:cNvSpPr/>
              <p:nvPr/>
            </p:nvSpPr>
            <p:spPr>
              <a:xfrm>
                <a:off x="-1" y="0"/>
                <a:ext cx="336922" cy="42551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45719" tIns="45719" rIns="45719" bIns="45719" numCol="1" anchor="t">
                <a:spAutoFit/>
              </a:bodyPr>
              <a:lstStyle/>
              <a:p>
                <a:pPr lvl="0">
                  <a:defRPr sz="1800"/>
                </a:pPr>
                <a:r>
                  <a:rPr/>
                  <a:t>-Q</a:t>
                </a:r>
              </a:p>
            </p:txBody>
          </p:sp>
        </p:grpSp>
      </p:grpSp>
      <p:sp>
        <p:nvSpPr>
          <p:cNvPr id="670" name="Shape 670"/>
          <p:cNvSpPr/>
          <p:nvPr/>
        </p:nvSpPr>
        <p:spPr>
          <a:xfrm>
            <a:off x="323851" y="836712"/>
            <a:ext cx="8640637" cy="1643497"/>
          </a:xfrm>
          <a:prstGeom prst="rect">
            <a:avLst/>
          </a:prstGeom>
          <a:ln w="12700">
            <a:miter lim="400000"/>
          </a:ln>
          <a:extLst>
            <a:ext uri="{C572A759-6A51-4108-AA02-DFA0A04FC94B}">
              <ma14:wrappingTextBoxFlag xmlns="" xmlns:ma14="http://schemas.microsoft.com/office/mac/drawingml/2011/main" val="1"/>
            </a:ext>
          </a:extLst>
        </p:spPr>
        <p:txBody>
          <a:bodyPr wrap="square" lIns="45704" tIns="45705" rIns="45704" bIns="45705">
            <a:spAutoFit/>
          </a:bodyPr>
          <a:lstStyle/>
          <a:p>
            <a:pPr lvl="0">
              <a:defRPr sz="1800"/>
            </a:pPr>
            <a:r>
              <a:rPr sz="2800" b="1" dirty="0">
                <a:latin typeface="SimHei"/>
                <a:ea typeface="SimHei"/>
                <a:cs typeface="SimHei"/>
                <a:sym typeface="SimHei"/>
              </a:rPr>
              <a:t>一个半径为</a:t>
            </a:r>
            <a:r>
              <a:rPr sz="2800" b="1" dirty="0">
                <a:latin typeface="Arial"/>
                <a:ea typeface="Arial"/>
                <a:cs typeface="Arial"/>
                <a:sym typeface="Arial"/>
              </a:rPr>
              <a:t>R,</a:t>
            </a:r>
            <a:r>
              <a:rPr sz="2800" b="1" dirty="0">
                <a:latin typeface="SimHei"/>
                <a:ea typeface="SimHei"/>
                <a:cs typeface="SimHei"/>
                <a:sym typeface="SimHei"/>
              </a:rPr>
              <a:t>带电量为</a:t>
            </a:r>
            <a:r>
              <a:rPr sz="2800" b="1" dirty="0">
                <a:latin typeface="Arial"/>
                <a:ea typeface="Arial"/>
                <a:cs typeface="Arial"/>
                <a:sym typeface="Arial"/>
              </a:rPr>
              <a:t>+Q</a:t>
            </a:r>
            <a:r>
              <a:rPr sz="2800" b="1" dirty="0">
                <a:latin typeface="SimHei"/>
                <a:ea typeface="SimHei"/>
                <a:cs typeface="SimHei"/>
                <a:sym typeface="SimHei"/>
              </a:rPr>
              <a:t>的薄金属球壳，电荷均匀的分布于外表面。将一个带</a:t>
            </a:r>
            <a:r>
              <a:rPr sz="2800" b="1" dirty="0">
                <a:latin typeface="Arial"/>
                <a:ea typeface="Arial"/>
                <a:cs typeface="Arial"/>
                <a:sym typeface="Arial"/>
              </a:rPr>
              <a:t>-Q</a:t>
            </a:r>
            <a:r>
              <a:rPr sz="2800" b="1" dirty="0">
                <a:latin typeface="SimHei"/>
                <a:ea typeface="SimHei"/>
                <a:cs typeface="SimHei"/>
                <a:sym typeface="SimHei"/>
              </a:rPr>
              <a:t>的点电荷放在球壳中心。</a:t>
            </a:r>
            <a:r>
              <a:rPr sz="2800" b="1" dirty="0" err="1">
                <a:latin typeface="SimHei"/>
                <a:ea typeface="SimHei"/>
                <a:cs typeface="SimHei"/>
                <a:sym typeface="SimHei"/>
              </a:rPr>
              <a:t>画出以上情况的电场线</a:t>
            </a:r>
            <a:r>
              <a:rPr sz="2800" b="1" dirty="0">
                <a:latin typeface="SimHei"/>
                <a:ea typeface="SimHei"/>
                <a:cs typeface="SimHei"/>
                <a:sym typeface="SimHei"/>
              </a:rPr>
              <a:t>：</a:t>
            </a:r>
          </a:p>
        </p:txBody>
      </p:sp>
      <p:sp>
        <p:nvSpPr>
          <p:cNvPr id="671" name="Shape 671"/>
          <p:cNvSpPr/>
          <p:nvPr/>
        </p:nvSpPr>
        <p:spPr>
          <a:xfrm>
            <a:off x="323851" y="188913"/>
            <a:ext cx="3671888" cy="540695"/>
          </a:xfrm>
          <a:prstGeom prst="rect">
            <a:avLst/>
          </a:prstGeom>
          <a:ln w="12700">
            <a:miter lim="400000"/>
          </a:ln>
          <a:extLst>
            <a:ext uri="{C572A759-6A51-4108-AA02-DFA0A04FC94B}">
              <ma14:wrappingTextBoxFlag xmlns="" xmlns:ma14="http://schemas.microsoft.com/office/mac/drawingml/2011/main" val="1"/>
            </a:ext>
          </a:extLst>
        </p:spPr>
        <p:txBody>
          <a:bodyPr lIns="45704" tIns="45705" rIns="45704" bIns="45705">
            <a:spAutoFit/>
          </a:bodyPr>
          <a:lstStyle>
            <a:lvl1pPr>
              <a:spcBef>
                <a:spcPts val="1400"/>
              </a:spcBef>
              <a:defRPr>
                <a:solidFill>
                  <a:srgbClr val="0000CC"/>
                </a:solidFill>
                <a:latin typeface="SimHei"/>
                <a:ea typeface="SimHei"/>
                <a:cs typeface="SimHei"/>
                <a:sym typeface="SimHei"/>
              </a:defRPr>
            </a:lvl1pPr>
          </a:lstStyle>
          <a:p>
            <a:pPr lvl="0">
              <a:defRPr sz="1800">
                <a:solidFill>
                  <a:srgbClr val="000000"/>
                </a:solidFill>
              </a:defRPr>
            </a:pPr>
            <a:r>
              <a:rPr sz="2800" b="1" dirty="0" err="1"/>
              <a:t>思考题</a:t>
            </a:r>
            <a:endParaRPr sz="2800" b="1"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2746690"/>
            <a:ext cx="2304256"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167301" y="2590212"/>
            <a:ext cx="612611" cy="5355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1028700" rtl="0" fontAlgn="auto" latinLnBrk="1" hangingPunct="0">
              <a:lnSpc>
                <a:spcPct val="120000"/>
              </a:lnSpc>
              <a:spcBef>
                <a:spcPts val="0"/>
              </a:spcBef>
              <a:spcAft>
                <a:spcPts val="0"/>
              </a:spcAft>
              <a:buClrTx/>
              <a:buSzTx/>
              <a:buFontTx/>
              <a:buNone/>
              <a:tabLst/>
            </a:pPr>
            <a:r>
              <a:rPr kumimoji="0" lang="en-US" altLang="zh-CN" sz="2400" b="1" i="0" u="none" strike="noStrike" cap="none" spc="0" normalizeH="0" baseline="0" smtClean="0">
                <a:ln>
                  <a:noFill/>
                </a:ln>
                <a:solidFill>
                  <a:srgbClr val="000000"/>
                </a:solidFill>
                <a:effectLst/>
                <a:uFillTx/>
                <a:latin typeface="Times New Roman"/>
                <a:ea typeface="Times New Roman"/>
                <a:cs typeface="Times New Roman"/>
                <a:sym typeface="Times New Roman"/>
              </a:rPr>
              <a:t>+Q</a:t>
            </a:r>
            <a:endParaRPr kumimoji="0" lang="zh-CN" altLang="en-US" sz="2400" b="1" i="0" u="none" strike="noStrike" cap="none" spc="0" normalizeH="0" baseline="0">
              <a:ln>
                <a:noFill/>
              </a:ln>
              <a:solidFill>
                <a:srgbClr val="000000"/>
              </a:solidFill>
              <a:effectLst/>
              <a:uFillTx/>
              <a:latin typeface="Times New Roman"/>
              <a:ea typeface="Times New Roman"/>
              <a:cs typeface="Times New Roman"/>
              <a:sym typeface="Times New Roman"/>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ppt_x"/>
                                          </p:val>
                                        </p:tav>
                                        <p:tav tm="100000">
                                          <p:val>
                                            <p:strVal val="#ppt_x"/>
                                          </p:val>
                                        </p:tav>
                                      </p:tavLst>
                                    </p:anim>
                                    <p:anim calcmode="lin" valueType="num">
                                      <p:cBhvr additive="base">
                                        <p:cTn id="8" dur="500" fill="hold"/>
                                        <p:tgtEl>
                                          <p:spTgt spid="81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83614" y="1988840"/>
            <a:ext cx="5688632" cy="1257780"/>
          </a:xfrm>
          <a:prstGeom prst="rect">
            <a:avLst/>
          </a:prstGeom>
        </p:spPr>
        <p:txBody>
          <a:bodyPr wrap="square">
            <a:spAutoFit/>
          </a:bodyPr>
          <a:lstStyle/>
          <a:p>
            <a:r>
              <a:rPr lang="zh-CN" altLang="zh-CN" b="1" dirty="0" smtClean="0"/>
              <a:t>【作业】</a:t>
            </a:r>
            <a:endParaRPr lang="zh-CN" altLang="zh-CN" b="1" dirty="0"/>
          </a:p>
          <a:p>
            <a:r>
              <a:rPr lang="zh-CN" altLang="en-US" sz="2800" b="1" dirty="0" smtClean="0"/>
              <a:t>计算题：</a:t>
            </a:r>
            <a:r>
              <a:rPr lang="en-US" altLang="zh-CN" sz="2800" b="1" dirty="0" smtClean="0"/>
              <a:t>21</a:t>
            </a:r>
            <a:r>
              <a:rPr lang="zh-CN" altLang="en-US" sz="2800" b="1" dirty="0" smtClean="0"/>
              <a:t>，</a:t>
            </a:r>
            <a:r>
              <a:rPr lang="en-US" altLang="zh-CN" sz="2800" b="1" dirty="0" smtClean="0"/>
              <a:t>23</a:t>
            </a:r>
            <a:r>
              <a:rPr lang="zh-CN" altLang="en-US" sz="2800" b="1" dirty="0" smtClean="0"/>
              <a:t>；</a:t>
            </a:r>
            <a:endParaRPr lang="zh-CN" altLang="zh-CN" sz="2800" b="1" dirty="0"/>
          </a:p>
        </p:txBody>
      </p:sp>
    </p:spTree>
    <p:extLst>
      <p:ext uri="{BB962C8B-B14F-4D97-AF65-F5344CB8AC3E}">
        <p14:creationId xmlns:p14="http://schemas.microsoft.com/office/powerpoint/2010/main" val="1450386149"/>
      </p:ext>
    </p:extLst>
  </p:cSld>
  <p:clrMapOvr>
    <a:masterClrMapping/>
  </p:clrMapOvr>
  <p:transition spd="med"/>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CC9900"/>
      </a:accent1>
      <a:accent2>
        <a:srgbClr val="3B812F"/>
      </a:accent2>
      <a:accent3>
        <a:srgbClr val="8F8F8F"/>
      </a:accent3>
      <a:accent4>
        <a:srgbClr val="707070"/>
      </a:accent4>
      <a:accent5>
        <a:srgbClr val="E2CAAA"/>
      </a:accent5>
      <a:accent6>
        <a:srgbClr val="35742A"/>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CC990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CC990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1028700" rtl="0" fontAlgn="auto" latinLnBrk="1" hangingPunct="0">
          <a:lnSpc>
            <a:spcPct val="120000"/>
          </a:lnSpc>
          <a:spcBef>
            <a:spcPts val="1600"/>
          </a:spcBef>
          <a:spcAft>
            <a:spcPts val="0"/>
          </a:spcAft>
          <a:buClrTx/>
          <a:buSzTx/>
          <a:buFontTx/>
          <a:buNone/>
          <a:tabLst/>
          <a:defRPr kumimoji="0" sz="2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Default">
  <a:themeElements>
    <a:clrScheme name="Default">
      <a:dk1>
        <a:srgbClr val="000000"/>
      </a:dk1>
      <a:lt1>
        <a:srgbClr val="FFFFFF"/>
      </a:lt1>
      <a:dk2>
        <a:srgbClr val="A7A7A7"/>
      </a:dk2>
      <a:lt2>
        <a:srgbClr val="535353"/>
      </a:lt2>
      <a:accent1>
        <a:srgbClr val="CC9900"/>
      </a:accent1>
      <a:accent2>
        <a:srgbClr val="3B812F"/>
      </a:accent2>
      <a:accent3>
        <a:srgbClr val="8F8F8F"/>
      </a:accent3>
      <a:accent4>
        <a:srgbClr val="707070"/>
      </a:accent4>
      <a:accent5>
        <a:srgbClr val="E2CAAA"/>
      </a:accent5>
      <a:accent6>
        <a:srgbClr val="35742A"/>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CC990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CC990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1028700" rtl="0" fontAlgn="auto" latinLnBrk="1" hangingPunct="0">
          <a:lnSpc>
            <a:spcPct val="120000"/>
          </a:lnSpc>
          <a:spcBef>
            <a:spcPts val="1600"/>
          </a:spcBef>
          <a:spcAft>
            <a:spcPts val="0"/>
          </a:spcAft>
          <a:buClrTx/>
          <a:buSzTx/>
          <a:buFontTx/>
          <a:buNone/>
          <a:tabLst/>
          <a:defRPr kumimoji="0" sz="2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4736</TotalTime>
  <Words>2845</Words>
  <Application>Microsoft Office PowerPoint</Application>
  <PresentationFormat>全屏显示(4:3)</PresentationFormat>
  <Paragraphs>373</Paragraphs>
  <Slides>49</Slides>
  <Notes>21</Notes>
  <HiddenSlides>4</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1</vt:i4>
      </vt:variant>
      <vt:variant>
        <vt:lpstr>幻灯片标题</vt:lpstr>
      </vt:variant>
      <vt:variant>
        <vt:i4>49</vt:i4>
      </vt:variant>
    </vt:vector>
  </HeadingPairs>
  <TitlesOfParts>
    <vt:vector size="70" baseType="lpstr">
      <vt:lpstr>Helvetica Neue</vt:lpstr>
      <vt:lpstr>Microsoft Yahei</vt:lpstr>
      <vt:lpstr>黑体</vt:lpstr>
      <vt:lpstr>黑体</vt:lpstr>
      <vt:lpstr>华文行楷</vt:lpstr>
      <vt:lpstr>楷体_GB2312</vt:lpstr>
      <vt:lpstr>宋体</vt:lpstr>
      <vt:lpstr>微软雅黑</vt:lpstr>
      <vt:lpstr>Arial</vt:lpstr>
      <vt:lpstr>Bookman Old Style</vt:lpstr>
      <vt:lpstr>Calibri</vt:lpstr>
      <vt:lpstr>Cambria Math</vt:lpstr>
      <vt:lpstr>Helvetica</vt:lpstr>
      <vt:lpstr>MT Extra</vt:lpstr>
      <vt:lpstr>Symbol</vt:lpstr>
      <vt:lpstr>Times New Roman</vt:lpstr>
      <vt:lpstr>Wingdings</vt:lpstr>
      <vt:lpstr>Default</vt:lpstr>
      <vt:lpstr>Office Theme</vt:lpstr>
      <vt:lpstr>2_Office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检测题 16.3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电场强度（矢量）</vt:lpstr>
      <vt:lpstr>PowerPoint 演示文稿</vt:lpstr>
      <vt:lpstr>PowerPoint 演示文稿</vt:lpstr>
      <vt:lpstr>PowerPoint 演示文稿</vt:lpstr>
      <vt:lpstr>PowerPoint 演示文稿</vt:lpstr>
      <vt:lpstr>PowerPoint 演示文稿</vt:lpstr>
      <vt:lpstr>电场强度的计算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普通物理学</dc:title>
  <dc:creator>hsl</dc:creator>
  <cp:lastModifiedBy>hsl</cp:lastModifiedBy>
  <cp:revision>318</cp:revision>
  <cp:lastPrinted>2017-09-21T08:22:00Z</cp:lastPrinted>
  <dcterms:modified xsi:type="dcterms:W3CDTF">2021-03-14T11:14:55Z</dcterms:modified>
</cp:coreProperties>
</file>