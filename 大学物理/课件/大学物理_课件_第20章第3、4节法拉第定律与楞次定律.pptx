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75" r:id="rId2"/>
    <p:sldId id="276" r:id="rId3"/>
    <p:sldId id="277" r:id="rId4"/>
    <p:sldId id="278" r:id="rId5"/>
    <p:sldId id="279" r:id="rId6"/>
    <p:sldId id="280" r:id="rId7"/>
    <p:sldId id="287" r:id="rId8"/>
    <p:sldId id="258" r:id="rId9"/>
    <p:sldId id="282" r:id="rId10"/>
    <p:sldId id="284" r:id="rId11"/>
    <p:sldId id="285" r:id="rId12"/>
    <p:sldId id="286" r:id="rId13"/>
    <p:sldId id="260" r:id="rId14"/>
    <p:sldId id="261" r:id="rId15"/>
    <p:sldId id="262" r:id="rId16"/>
    <p:sldId id="263" r:id="rId17"/>
    <p:sldId id="264" r:id="rId18"/>
    <p:sldId id="266" r:id="rId19"/>
    <p:sldId id="268" r:id="rId20"/>
    <p:sldId id="269" r:id="rId21"/>
    <p:sldId id="270" r:id="rId22"/>
    <p:sldId id="273" r:id="rId23"/>
    <p:sldId id="274" r:id="rId24"/>
    <p:sldId id="271" r:id="rId25"/>
    <p:sldId id="272" r:id="rId26"/>
    <p:sldId id="281" r:id="rId27"/>
    <p:sldId id="283" r:id="rId2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923" autoAdjust="0"/>
    <p:restoredTop sz="91124" autoAdjust="0"/>
  </p:normalViewPr>
  <p:slideViewPr>
    <p:cSldViewPr snapToGrid="0">
      <p:cViewPr varScale="1">
        <p:scale>
          <a:sx n="82" d="100"/>
          <a:sy n="82" d="100"/>
        </p:scale>
        <p:origin x="996" y="9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image" Target="../media/image10.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image" Target="../media/image12.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17.emf"/><Relationship Id="rId1" Type="http://schemas.openxmlformats.org/officeDocument/2006/relationships/image" Target="../media/image16.emf"/><Relationship Id="rId6" Type="http://schemas.openxmlformats.org/officeDocument/2006/relationships/image" Target="../media/image21.emf"/><Relationship Id="rId5" Type="http://schemas.openxmlformats.org/officeDocument/2006/relationships/image" Target="../media/image20.wmf"/><Relationship Id="rId4" Type="http://schemas.openxmlformats.org/officeDocument/2006/relationships/image" Target="../media/image19.e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23.emf"/><Relationship Id="rId1" Type="http://schemas.openxmlformats.org/officeDocument/2006/relationships/image" Target="../media/image22.emf"/><Relationship Id="rId6" Type="http://schemas.openxmlformats.org/officeDocument/2006/relationships/image" Target="../media/image27.emf"/><Relationship Id="rId5" Type="http://schemas.openxmlformats.org/officeDocument/2006/relationships/image" Target="../media/image26.emf"/><Relationship Id="rId4" Type="http://schemas.openxmlformats.org/officeDocument/2006/relationships/image" Target="../media/image25.e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image" Target="../media/image29.wmf"/><Relationship Id="rId1" Type="http://schemas.openxmlformats.org/officeDocument/2006/relationships/image" Target="../media/image28.emf"/><Relationship Id="rId5" Type="http://schemas.openxmlformats.org/officeDocument/2006/relationships/image" Target="../media/image32.wmf"/><Relationship Id="rId4" Type="http://schemas.openxmlformats.org/officeDocument/2006/relationships/image" Target="../media/image31.e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40.wmf"/><Relationship Id="rId2" Type="http://schemas.openxmlformats.org/officeDocument/2006/relationships/image" Target="../media/image39.wmf"/><Relationship Id="rId1" Type="http://schemas.openxmlformats.org/officeDocument/2006/relationships/image" Target="../media/image38.wmf"/><Relationship Id="rId6" Type="http://schemas.openxmlformats.org/officeDocument/2006/relationships/image" Target="../media/image43.wmf"/><Relationship Id="rId5" Type="http://schemas.openxmlformats.org/officeDocument/2006/relationships/image" Target="../media/image42.wmf"/><Relationship Id="rId4" Type="http://schemas.openxmlformats.org/officeDocument/2006/relationships/image" Target="../media/image41.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46.wmf"/><Relationship Id="rId1" Type="http://schemas.openxmlformats.org/officeDocument/2006/relationships/image" Target="../media/image45.wmf"/></Relationships>
</file>

<file path=ppt/drawings/_rels/vmlDrawing11.vml.rels><?xml version="1.0" encoding="UTF-8" standalone="yes"?>
<Relationships xmlns="http://schemas.openxmlformats.org/package/2006/relationships"><Relationship Id="rId8" Type="http://schemas.openxmlformats.org/officeDocument/2006/relationships/image" Target="../media/image54.wmf"/><Relationship Id="rId3" Type="http://schemas.openxmlformats.org/officeDocument/2006/relationships/image" Target="../media/image49.wmf"/><Relationship Id="rId7" Type="http://schemas.openxmlformats.org/officeDocument/2006/relationships/image" Target="../media/image53.wmf"/><Relationship Id="rId2" Type="http://schemas.openxmlformats.org/officeDocument/2006/relationships/image" Target="../media/image48.wmf"/><Relationship Id="rId1" Type="http://schemas.openxmlformats.org/officeDocument/2006/relationships/image" Target="../media/image47.wmf"/><Relationship Id="rId6" Type="http://schemas.openxmlformats.org/officeDocument/2006/relationships/image" Target="../media/image52.wmf"/><Relationship Id="rId5" Type="http://schemas.openxmlformats.org/officeDocument/2006/relationships/image" Target="../media/image51.wmf"/><Relationship Id="rId4" Type="http://schemas.openxmlformats.org/officeDocument/2006/relationships/image" Target="../media/image50.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58.wmf"/><Relationship Id="rId1" Type="http://schemas.openxmlformats.org/officeDocument/2006/relationships/image" Target="../media/image5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DA8BD25-5BB0-4970-9BC8-A867E97BBE06}" type="datetimeFigureOut">
              <a:rPr lang="zh-CN" altLang="en-US" smtClean="0"/>
              <a:t>2021/6/28</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0AC87C1-8720-44BC-97C4-3E56FDE22118}" type="slidenum">
              <a:rPr lang="zh-CN" altLang="en-US" smtClean="0"/>
              <a:t>‹#›</a:t>
            </a:fld>
            <a:endParaRPr lang="zh-CN" altLang="en-US"/>
          </a:p>
        </p:txBody>
      </p:sp>
    </p:spTree>
    <p:extLst>
      <p:ext uri="{BB962C8B-B14F-4D97-AF65-F5344CB8AC3E}">
        <p14:creationId xmlns:p14="http://schemas.microsoft.com/office/powerpoint/2010/main" val="41758466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0AC87C1-8720-44BC-97C4-3E56FDE22118}" type="slidenum">
              <a:rPr lang="zh-CN" altLang="en-US" smtClean="0"/>
              <a:t>1</a:t>
            </a:fld>
            <a:endParaRPr lang="zh-CN" altLang="en-US"/>
          </a:p>
        </p:txBody>
      </p:sp>
    </p:spTree>
    <p:extLst>
      <p:ext uri="{BB962C8B-B14F-4D97-AF65-F5344CB8AC3E}">
        <p14:creationId xmlns:p14="http://schemas.microsoft.com/office/powerpoint/2010/main" val="28917269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由于磁场变化产生的感应电动势为感生电动势，产生感生电动势的非静电力为感生电场力或涡旋电场力，涡旋电场是</a:t>
            </a:r>
            <a:r>
              <a:rPr lang="en-US" altLang="zh-CN" dirty="0" smtClean="0"/>
              <a:t>Maxwell</a:t>
            </a:r>
            <a:r>
              <a:rPr lang="zh-CN" altLang="en-US" dirty="0" smtClean="0"/>
              <a:t>的一个重要假设。</a:t>
            </a:r>
            <a:endParaRPr lang="zh-CN" altLang="en-US" dirty="0"/>
          </a:p>
        </p:txBody>
      </p:sp>
      <p:sp>
        <p:nvSpPr>
          <p:cNvPr id="4" name="灯片编号占位符 3"/>
          <p:cNvSpPr>
            <a:spLocks noGrp="1"/>
          </p:cNvSpPr>
          <p:nvPr>
            <p:ph type="sldNum" sz="quarter" idx="10"/>
          </p:nvPr>
        </p:nvSpPr>
        <p:spPr/>
        <p:txBody>
          <a:bodyPr/>
          <a:lstStyle/>
          <a:p>
            <a:fld id="{E0AC87C1-8720-44BC-97C4-3E56FDE22118}" type="slidenum">
              <a:rPr lang="zh-CN" altLang="en-US" smtClean="0"/>
              <a:t>8</a:t>
            </a:fld>
            <a:endParaRPr lang="zh-CN" altLang="en-US"/>
          </a:p>
        </p:txBody>
      </p:sp>
    </p:spTree>
    <p:extLst>
      <p:ext uri="{BB962C8B-B14F-4D97-AF65-F5344CB8AC3E}">
        <p14:creationId xmlns:p14="http://schemas.microsoft.com/office/powerpoint/2010/main" val="26846126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F3ABF01-521B-4894-89FE-07593F83B60A}" type="slidenum">
              <a:rPr lang="zh-CN" altLang="en-US" smtClean="0"/>
              <a:t>9</a:t>
            </a:fld>
            <a:endParaRPr lang="zh-CN" altLang="en-US"/>
          </a:p>
        </p:txBody>
      </p:sp>
    </p:spTree>
    <p:extLst>
      <p:ext uri="{BB962C8B-B14F-4D97-AF65-F5344CB8AC3E}">
        <p14:creationId xmlns:p14="http://schemas.microsoft.com/office/powerpoint/2010/main" val="11206788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F3ABF01-521B-4894-89FE-07593F83B60A}" type="slidenum">
              <a:rPr lang="zh-CN" altLang="en-US" smtClean="0"/>
              <a:t>10</a:t>
            </a:fld>
            <a:endParaRPr lang="zh-CN" altLang="en-US"/>
          </a:p>
        </p:txBody>
      </p:sp>
    </p:spTree>
    <p:extLst>
      <p:ext uri="{BB962C8B-B14F-4D97-AF65-F5344CB8AC3E}">
        <p14:creationId xmlns:p14="http://schemas.microsoft.com/office/powerpoint/2010/main" val="17038829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mtClean="0"/>
              <a:t> enclosed</a:t>
            </a:r>
            <a:r>
              <a:rPr lang="zh-CN" altLang="en-US" smtClean="0"/>
              <a:t>被包围的</a:t>
            </a:r>
            <a:endParaRPr lang="en-US" altLang="zh-CN" smtClean="0"/>
          </a:p>
          <a:p>
            <a:r>
              <a:rPr lang="zh-CN" altLang="en-US" smtClean="0"/>
              <a:t>处理的非保守场的情况。这个开曲面必须接到这个回路上。</a:t>
            </a:r>
            <a:endParaRPr lang="zh-CN" altLang="en-US"/>
          </a:p>
        </p:txBody>
      </p:sp>
      <p:sp>
        <p:nvSpPr>
          <p:cNvPr id="4" name="灯片编号占位符 3"/>
          <p:cNvSpPr>
            <a:spLocks noGrp="1"/>
          </p:cNvSpPr>
          <p:nvPr>
            <p:ph type="sldNum" sz="quarter" idx="10"/>
          </p:nvPr>
        </p:nvSpPr>
        <p:spPr/>
        <p:txBody>
          <a:bodyPr/>
          <a:lstStyle/>
          <a:p>
            <a:fld id="{2F3ABF01-521B-4894-89FE-07593F83B60A}" type="slidenum">
              <a:rPr lang="zh-CN" altLang="en-US" smtClean="0"/>
              <a:t>12</a:t>
            </a:fld>
            <a:endParaRPr lang="zh-CN" altLang="en-US"/>
          </a:p>
        </p:txBody>
      </p:sp>
    </p:spTree>
    <p:extLst>
      <p:ext uri="{BB962C8B-B14F-4D97-AF65-F5344CB8AC3E}">
        <p14:creationId xmlns:p14="http://schemas.microsoft.com/office/powerpoint/2010/main" val="23691283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C389F43E-6A00-409D-9E79-CE23F37409A4}" type="datetimeFigureOut">
              <a:rPr lang="zh-CN" altLang="en-US" smtClean="0"/>
              <a:pPr/>
              <a:t>2021/6/28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88088746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C389F43E-6A00-409D-9E79-CE23F37409A4}" type="datetimeFigureOut">
              <a:rPr lang="zh-CN" altLang="en-US" smtClean="0"/>
              <a:pPr/>
              <a:t>2021/6/28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291678599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C389F43E-6A00-409D-9E79-CE23F37409A4}" type="datetimeFigureOut">
              <a:rPr lang="zh-CN" altLang="en-US" smtClean="0"/>
              <a:pPr/>
              <a:t>2021/6/28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253035017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C389F43E-6A00-409D-9E79-CE23F37409A4}" type="datetimeFigureOut">
              <a:rPr lang="zh-CN" altLang="en-US" smtClean="0"/>
              <a:pPr/>
              <a:t>2021/6/28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207085936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C389F43E-6A00-409D-9E79-CE23F37409A4}" type="datetimeFigureOut">
              <a:rPr lang="zh-CN" altLang="en-US" smtClean="0"/>
              <a:pPr/>
              <a:t>2021/6/28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408736472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C389F43E-6A00-409D-9E79-CE23F37409A4}" type="datetimeFigureOut">
              <a:rPr lang="zh-CN" altLang="en-US" smtClean="0"/>
              <a:pPr/>
              <a:t>2021/6/28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22460526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C389F43E-6A00-409D-9E79-CE23F37409A4}" type="datetimeFigureOut">
              <a:rPr lang="zh-CN" altLang="en-US" smtClean="0"/>
              <a:pPr/>
              <a:t>2021/6/28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477690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C389F43E-6A00-409D-9E79-CE23F37409A4}" type="datetimeFigureOut">
              <a:rPr lang="zh-CN" altLang="en-US" smtClean="0"/>
              <a:pPr/>
              <a:t>2021/6/28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305476087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C389F43E-6A00-409D-9E79-CE23F37409A4}" type="datetimeFigureOut">
              <a:rPr lang="zh-CN" altLang="en-US" smtClean="0"/>
              <a:pPr/>
              <a:t>2021/6/28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269455562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C389F43E-6A00-409D-9E79-CE23F37409A4}" type="datetimeFigureOut">
              <a:rPr lang="zh-CN" altLang="en-US" smtClean="0"/>
              <a:pPr/>
              <a:t>2021/6/28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394184368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C389F43E-6A00-409D-9E79-CE23F37409A4}" type="datetimeFigureOut">
              <a:rPr lang="zh-CN" altLang="en-US" smtClean="0"/>
              <a:pPr/>
              <a:t>2021/6/28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423217001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389F43E-6A00-409D-9E79-CE23F37409A4}" type="datetimeFigureOut">
              <a:rPr lang="zh-CN" altLang="en-US" smtClean="0"/>
              <a:pPr/>
              <a:t>2021/6/28</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4AFD4FE-A112-4FD9-972C-EC47903A5140}" type="slidenum">
              <a:rPr lang="zh-CN" altLang="en-US" smtClean="0"/>
              <a:pPr/>
              <a:t>‹#›</a:t>
            </a:fld>
            <a:endParaRPr lang="zh-CN" altLang="en-US"/>
          </a:p>
        </p:txBody>
      </p:sp>
    </p:spTree>
    <p:extLst>
      <p:ext uri="{BB962C8B-B14F-4D97-AF65-F5344CB8AC3E}">
        <p14:creationId xmlns:p14="http://schemas.microsoft.com/office/powerpoint/2010/main" val="7358308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2000"/>
    </mc:Choice>
    <mc:Fallback xmlns="">
      <p:transition spd="slow"/>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vmlDrawing" Target="../drawings/vmlDrawing1.vml"/><Relationship Id="rId5" Type="http://schemas.openxmlformats.org/officeDocument/2006/relationships/image" Target="../media/image9.wmf"/><Relationship Id="rId4" Type="http://schemas.openxmlformats.org/officeDocument/2006/relationships/oleObject" Target="../embeddings/oleObject1.bin"/></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3.xml"/><Relationship Id="rId7" Type="http://schemas.openxmlformats.org/officeDocument/2006/relationships/image" Target="../media/image11.wmf"/><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oleObject" Target="../embeddings/oleObject3.bin"/><Relationship Id="rId5" Type="http://schemas.openxmlformats.org/officeDocument/2006/relationships/image" Target="../media/image10.wmf"/><Relationship Id="rId4" Type="http://schemas.openxmlformats.org/officeDocument/2006/relationships/oleObject" Target="../embeddings/oleObject2.bin"/></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4.xml"/><Relationship Id="rId7" Type="http://schemas.openxmlformats.org/officeDocument/2006/relationships/image" Target="../media/image13.wmf"/><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oleObject" Target="../embeddings/oleObject5.bin"/><Relationship Id="rId5" Type="http://schemas.openxmlformats.org/officeDocument/2006/relationships/image" Target="../media/image12.wmf"/><Relationship Id="rId4" Type="http://schemas.openxmlformats.org/officeDocument/2006/relationships/oleObject" Target="../embeddings/oleObject4.bin"/></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7.xml"/><Relationship Id="rId1" Type="http://schemas.openxmlformats.org/officeDocument/2006/relationships/vmlDrawing" Target="../drawings/vmlDrawing4.vml"/><Relationship Id="rId4" Type="http://schemas.openxmlformats.org/officeDocument/2006/relationships/image" Target="../media/image14.wmf"/></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vmlDrawing" Target="../drawings/vmlDrawing5.vml"/><Relationship Id="rId5" Type="http://schemas.openxmlformats.org/officeDocument/2006/relationships/image" Target="../media/image15.wmf"/><Relationship Id="rId4" Type="http://schemas.openxmlformats.org/officeDocument/2006/relationships/oleObject" Target="../embeddings/oleObject7.bin"/></Relationships>
</file>

<file path=ppt/slides/_rels/slide13.xml.rels><?xml version="1.0" encoding="UTF-8" standalone="yes"?>
<Relationships xmlns="http://schemas.openxmlformats.org/package/2006/relationships"><Relationship Id="rId8" Type="http://schemas.openxmlformats.org/officeDocument/2006/relationships/image" Target="../media/image18.emf"/><Relationship Id="rId13" Type="http://schemas.openxmlformats.org/officeDocument/2006/relationships/oleObject" Target="../embeddings/oleObject13.bin"/><Relationship Id="rId3" Type="http://schemas.openxmlformats.org/officeDocument/2006/relationships/oleObject" Target="../embeddings/oleObject8.bin"/><Relationship Id="rId7" Type="http://schemas.openxmlformats.org/officeDocument/2006/relationships/oleObject" Target="../embeddings/oleObject10.bin"/><Relationship Id="rId12" Type="http://schemas.openxmlformats.org/officeDocument/2006/relationships/image" Target="../media/image20.wmf"/><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17.emf"/><Relationship Id="rId11" Type="http://schemas.openxmlformats.org/officeDocument/2006/relationships/oleObject" Target="../embeddings/oleObject12.bin"/><Relationship Id="rId5" Type="http://schemas.openxmlformats.org/officeDocument/2006/relationships/oleObject" Target="../embeddings/oleObject9.bin"/><Relationship Id="rId10" Type="http://schemas.openxmlformats.org/officeDocument/2006/relationships/image" Target="../media/image19.emf"/><Relationship Id="rId4" Type="http://schemas.openxmlformats.org/officeDocument/2006/relationships/image" Target="../media/image16.emf"/><Relationship Id="rId9" Type="http://schemas.openxmlformats.org/officeDocument/2006/relationships/oleObject" Target="../embeddings/oleObject11.bin"/><Relationship Id="rId14" Type="http://schemas.openxmlformats.org/officeDocument/2006/relationships/image" Target="../media/image21.emf"/></Relationships>
</file>

<file path=ppt/slides/_rels/slide14.xml.rels><?xml version="1.0" encoding="UTF-8" standalone="yes"?>
<Relationships xmlns="http://schemas.openxmlformats.org/package/2006/relationships"><Relationship Id="rId8" Type="http://schemas.openxmlformats.org/officeDocument/2006/relationships/image" Target="../media/image24.emf"/><Relationship Id="rId13" Type="http://schemas.openxmlformats.org/officeDocument/2006/relationships/oleObject" Target="../embeddings/oleObject19.bin"/><Relationship Id="rId3" Type="http://schemas.openxmlformats.org/officeDocument/2006/relationships/oleObject" Target="../embeddings/oleObject14.bin"/><Relationship Id="rId7" Type="http://schemas.openxmlformats.org/officeDocument/2006/relationships/oleObject" Target="../embeddings/oleObject16.bin"/><Relationship Id="rId12" Type="http://schemas.openxmlformats.org/officeDocument/2006/relationships/image" Target="../media/image26.emf"/><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image" Target="../media/image23.emf"/><Relationship Id="rId11" Type="http://schemas.openxmlformats.org/officeDocument/2006/relationships/oleObject" Target="../embeddings/oleObject18.bin"/><Relationship Id="rId5" Type="http://schemas.openxmlformats.org/officeDocument/2006/relationships/oleObject" Target="../embeddings/oleObject15.bin"/><Relationship Id="rId10" Type="http://schemas.openxmlformats.org/officeDocument/2006/relationships/image" Target="../media/image25.emf"/><Relationship Id="rId4" Type="http://schemas.openxmlformats.org/officeDocument/2006/relationships/image" Target="../media/image22.emf"/><Relationship Id="rId9" Type="http://schemas.openxmlformats.org/officeDocument/2006/relationships/oleObject" Target="../embeddings/oleObject17.bin"/><Relationship Id="rId14" Type="http://schemas.openxmlformats.org/officeDocument/2006/relationships/image" Target="../media/image27.emf"/></Relationships>
</file>

<file path=ppt/slides/_rels/slide15.xml.rels><?xml version="1.0" encoding="UTF-8" standalone="yes"?>
<Relationships xmlns="http://schemas.openxmlformats.org/package/2006/relationships"><Relationship Id="rId8" Type="http://schemas.openxmlformats.org/officeDocument/2006/relationships/image" Target="../media/image30.wmf"/><Relationship Id="rId13" Type="http://schemas.openxmlformats.org/officeDocument/2006/relationships/image" Target="../media/image33.jpeg"/><Relationship Id="rId3" Type="http://schemas.openxmlformats.org/officeDocument/2006/relationships/oleObject" Target="../embeddings/oleObject20.bin"/><Relationship Id="rId7" Type="http://schemas.openxmlformats.org/officeDocument/2006/relationships/oleObject" Target="../embeddings/oleObject22.bin"/><Relationship Id="rId12" Type="http://schemas.openxmlformats.org/officeDocument/2006/relationships/image" Target="../media/image32.wmf"/><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image" Target="../media/image29.wmf"/><Relationship Id="rId11" Type="http://schemas.openxmlformats.org/officeDocument/2006/relationships/oleObject" Target="../embeddings/oleObject24.bin"/><Relationship Id="rId5" Type="http://schemas.openxmlformats.org/officeDocument/2006/relationships/oleObject" Target="../embeddings/oleObject21.bin"/><Relationship Id="rId10" Type="http://schemas.openxmlformats.org/officeDocument/2006/relationships/image" Target="../media/image31.emf"/><Relationship Id="rId4" Type="http://schemas.openxmlformats.org/officeDocument/2006/relationships/image" Target="../media/image28.emf"/><Relationship Id="rId9" Type="http://schemas.openxmlformats.org/officeDocument/2006/relationships/oleObject" Target="../embeddings/oleObject23.bin"/></Relationships>
</file>

<file path=ppt/slides/_rels/slide1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image" Target="../media/image36.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27.bin"/><Relationship Id="rId13" Type="http://schemas.openxmlformats.org/officeDocument/2006/relationships/image" Target="../media/image42.wmf"/><Relationship Id="rId3" Type="http://schemas.openxmlformats.org/officeDocument/2006/relationships/image" Target="../media/image44.gif"/><Relationship Id="rId7" Type="http://schemas.openxmlformats.org/officeDocument/2006/relationships/image" Target="../media/image39.wmf"/><Relationship Id="rId12" Type="http://schemas.openxmlformats.org/officeDocument/2006/relationships/oleObject" Target="../embeddings/oleObject29.bin"/><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oleObject" Target="../embeddings/oleObject26.bin"/><Relationship Id="rId11" Type="http://schemas.openxmlformats.org/officeDocument/2006/relationships/image" Target="../media/image41.wmf"/><Relationship Id="rId5" Type="http://schemas.openxmlformats.org/officeDocument/2006/relationships/image" Target="../media/image38.wmf"/><Relationship Id="rId15" Type="http://schemas.openxmlformats.org/officeDocument/2006/relationships/image" Target="../media/image43.wmf"/><Relationship Id="rId10" Type="http://schemas.openxmlformats.org/officeDocument/2006/relationships/oleObject" Target="../embeddings/oleObject28.bin"/><Relationship Id="rId4" Type="http://schemas.openxmlformats.org/officeDocument/2006/relationships/oleObject" Target="../embeddings/oleObject25.bin"/><Relationship Id="rId9" Type="http://schemas.openxmlformats.org/officeDocument/2006/relationships/image" Target="../media/image40.wmf"/><Relationship Id="rId14" Type="http://schemas.openxmlformats.org/officeDocument/2006/relationships/oleObject" Target="../embeddings/oleObject30.bin"/></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image" Target="../media/image46.wmf"/><Relationship Id="rId5" Type="http://schemas.openxmlformats.org/officeDocument/2006/relationships/oleObject" Target="../embeddings/oleObject32.bin"/><Relationship Id="rId4" Type="http://schemas.openxmlformats.org/officeDocument/2006/relationships/image" Target="../media/image45.wmf"/></Relationships>
</file>

<file path=ppt/slides/_rels/slide21.xml.rels><?xml version="1.0" encoding="UTF-8" standalone="yes"?>
<Relationships xmlns="http://schemas.openxmlformats.org/package/2006/relationships"><Relationship Id="rId8" Type="http://schemas.openxmlformats.org/officeDocument/2006/relationships/image" Target="../media/image49.wmf"/><Relationship Id="rId13" Type="http://schemas.openxmlformats.org/officeDocument/2006/relationships/oleObject" Target="../embeddings/oleObject38.bin"/><Relationship Id="rId18" Type="http://schemas.openxmlformats.org/officeDocument/2006/relationships/image" Target="../media/image54.wmf"/><Relationship Id="rId3" Type="http://schemas.openxmlformats.org/officeDocument/2006/relationships/oleObject" Target="../embeddings/oleObject33.bin"/><Relationship Id="rId7" Type="http://schemas.openxmlformats.org/officeDocument/2006/relationships/oleObject" Target="../embeddings/oleObject35.bin"/><Relationship Id="rId12" Type="http://schemas.openxmlformats.org/officeDocument/2006/relationships/image" Target="../media/image51.wmf"/><Relationship Id="rId17" Type="http://schemas.openxmlformats.org/officeDocument/2006/relationships/oleObject" Target="../embeddings/oleObject40.bin"/><Relationship Id="rId2" Type="http://schemas.openxmlformats.org/officeDocument/2006/relationships/slideLayout" Target="../slideLayouts/slideLayout7.xml"/><Relationship Id="rId16" Type="http://schemas.openxmlformats.org/officeDocument/2006/relationships/image" Target="../media/image53.wmf"/><Relationship Id="rId1" Type="http://schemas.openxmlformats.org/officeDocument/2006/relationships/vmlDrawing" Target="../drawings/vmlDrawing11.vml"/><Relationship Id="rId6" Type="http://schemas.openxmlformats.org/officeDocument/2006/relationships/image" Target="../media/image48.wmf"/><Relationship Id="rId11" Type="http://schemas.openxmlformats.org/officeDocument/2006/relationships/oleObject" Target="../embeddings/oleObject37.bin"/><Relationship Id="rId5" Type="http://schemas.openxmlformats.org/officeDocument/2006/relationships/oleObject" Target="../embeddings/oleObject34.bin"/><Relationship Id="rId15" Type="http://schemas.openxmlformats.org/officeDocument/2006/relationships/oleObject" Target="../embeddings/oleObject39.bin"/><Relationship Id="rId10" Type="http://schemas.openxmlformats.org/officeDocument/2006/relationships/image" Target="../media/image50.wmf"/><Relationship Id="rId4" Type="http://schemas.openxmlformats.org/officeDocument/2006/relationships/image" Target="../media/image47.wmf"/><Relationship Id="rId9" Type="http://schemas.openxmlformats.org/officeDocument/2006/relationships/oleObject" Target="../embeddings/oleObject36.bin"/><Relationship Id="rId14" Type="http://schemas.openxmlformats.org/officeDocument/2006/relationships/image" Target="../media/image52.wmf"/></Relationships>
</file>

<file path=ppt/slides/_rels/slide22.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59.jpeg"/><Relationship Id="rId7" Type="http://schemas.openxmlformats.org/officeDocument/2006/relationships/image" Target="../media/image58.wmf"/><Relationship Id="rId2" Type="http://schemas.openxmlformats.org/officeDocument/2006/relationships/slideLayout" Target="../slideLayouts/slideLayout7.xml"/><Relationship Id="rId1" Type="http://schemas.openxmlformats.org/officeDocument/2006/relationships/vmlDrawing" Target="../drawings/vmlDrawing12.vml"/><Relationship Id="rId6" Type="http://schemas.openxmlformats.org/officeDocument/2006/relationships/oleObject" Target="../embeddings/oleObject42.bin"/><Relationship Id="rId5" Type="http://schemas.openxmlformats.org/officeDocument/2006/relationships/image" Target="../media/image57.wmf"/><Relationship Id="rId4" Type="http://schemas.openxmlformats.org/officeDocument/2006/relationships/oleObject" Target="../embeddings/oleObject41.bin"/></Relationships>
</file>

<file path=ppt/slides/_rels/slide25.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image" Target="../media/image60.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ine 52"/>
          <p:cNvSpPr>
            <a:spLocks noChangeShapeType="1"/>
          </p:cNvSpPr>
          <p:nvPr/>
        </p:nvSpPr>
        <p:spPr bwMode="auto">
          <a:xfrm>
            <a:off x="0" y="908720"/>
            <a:ext cx="12192000" cy="0"/>
          </a:xfrm>
          <a:prstGeom prst="line">
            <a:avLst/>
          </a:prstGeom>
          <a:noFill/>
          <a:ln w="3810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kumimoji="1" lang="zh-CN" altLang="en-US" sz="3600" b="1" smtClean="0">
              <a:solidFill>
                <a:srgbClr val="FF3300"/>
              </a:solidFill>
              <a:ea typeface="黑体" pitchFamily="49" charset="-122"/>
            </a:endParaRPr>
          </a:p>
        </p:txBody>
      </p:sp>
      <p:sp>
        <p:nvSpPr>
          <p:cNvPr id="3" name="文本框 7"/>
          <p:cNvSpPr txBox="1"/>
          <p:nvPr/>
        </p:nvSpPr>
        <p:spPr>
          <a:xfrm>
            <a:off x="3311691" y="188641"/>
            <a:ext cx="5338321" cy="584775"/>
          </a:xfrm>
          <a:prstGeom prst="rect">
            <a:avLst/>
          </a:prstGeom>
          <a:noFill/>
        </p:spPr>
        <p:txBody>
          <a:bodyPr wrap="none" rtlCol="0">
            <a:spAutoFit/>
          </a:bodyPr>
          <a:lstStyle/>
          <a:p>
            <a:pPr eaLnBrk="0" fontAlgn="base" hangingPunct="0">
              <a:spcBef>
                <a:spcPct val="0"/>
              </a:spcBef>
              <a:spcAft>
                <a:spcPct val="0"/>
              </a:spcAft>
            </a:pPr>
            <a:r>
              <a:rPr lang="en-US" altLang="zh-CN" sz="3200" b="1" dirty="0" smtClean="0">
                <a:latin typeface="+mn-ea"/>
                <a:cs typeface="SimHei"/>
                <a:sym typeface="SimHei"/>
              </a:rPr>
              <a:t>§</a:t>
            </a:r>
            <a:r>
              <a:rPr lang="en-US" altLang="zh-CN" sz="3200" b="1" dirty="0" smtClean="0">
                <a:latin typeface="+mn-ea"/>
              </a:rPr>
              <a:t>20.3 </a:t>
            </a:r>
            <a:r>
              <a:rPr lang="zh-CN" altLang="en-US" sz="3200" b="1" dirty="0" smtClean="0">
                <a:latin typeface="+mn-ea"/>
              </a:rPr>
              <a:t>法拉第电磁感应定律</a:t>
            </a:r>
            <a:endParaRPr lang="zh-CN" altLang="en-US" sz="3200" b="1" dirty="0">
              <a:latin typeface="+mn-ea"/>
            </a:endParaRPr>
          </a:p>
        </p:txBody>
      </p:sp>
      <p:pic>
        <p:nvPicPr>
          <p:cNvPr id="2355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4793" y="908720"/>
            <a:ext cx="11222414" cy="532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6444344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4263" y="1047750"/>
            <a:ext cx="10269537" cy="5100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774700" y="203200"/>
            <a:ext cx="4191000" cy="646331"/>
          </a:xfrm>
          <a:prstGeom prst="rect">
            <a:avLst/>
          </a:prstGeom>
          <a:noFill/>
        </p:spPr>
        <p:txBody>
          <a:bodyPr wrap="square" rtlCol="0">
            <a:spAutoFit/>
          </a:bodyPr>
          <a:lstStyle/>
          <a:p>
            <a:r>
              <a:rPr lang="zh-CN" altLang="en-US" sz="3600" b="1" dirty="0" smtClean="0">
                <a:solidFill>
                  <a:srgbClr val="FF3300"/>
                </a:solidFill>
                <a:latin typeface="黑体" pitchFamily="49" charset="-122"/>
                <a:ea typeface="黑体" pitchFamily="49" charset="-122"/>
              </a:rPr>
              <a:t>电磁感应现象</a:t>
            </a:r>
            <a:endParaRPr lang="zh-CN" altLang="en-US" sz="3600" b="1" dirty="0">
              <a:solidFill>
                <a:srgbClr val="FF3300"/>
              </a:solidFill>
              <a:latin typeface="黑体" pitchFamily="49" charset="-122"/>
              <a:ea typeface="黑体" pitchFamily="49" charset="-122"/>
            </a:endParaRPr>
          </a:p>
        </p:txBody>
      </p:sp>
    </p:spTree>
    <p:extLst>
      <p:ext uri="{BB962C8B-B14F-4D97-AF65-F5344CB8AC3E}">
        <p14:creationId xmlns:p14="http://schemas.microsoft.com/office/powerpoint/2010/main" val="147938466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4523" y="1077913"/>
            <a:ext cx="10500762" cy="5195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774700" y="203200"/>
            <a:ext cx="5257800" cy="646331"/>
          </a:xfrm>
          <a:prstGeom prst="rect">
            <a:avLst/>
          </a:prstGeom>
          <a:noFill/>
        </p:spPr>
        <p:txBody>
          <a:bodyPr wrap="square" rtlCol="0">
            <a:spAutoFit/>
          </a:bodyPr>
          <a:lstStyle/>
          <a:p>
            <a:r>
              <a:rPr lang="zh-CN" altLang="en-US" sz="3600" b="1" smtClean="0">
                <a:solidFill>
                  <a:srgbClr val="FF3300"/>
                </a:solidFill>
                <a:latin typeface="黑体" pitchFamily="49" charset="-122"/>
                <a:ea typeface="黑体" pitchFamily="49" charset="-122"/>
              </a:rPr>
              <a:t>法拉第电磁感应定律</a:t>
            </a:r>
            <a:endParaRPr lang="zh-CN" altLang="en-US" sz="3600" b="1">
              <a:solidFill>
                <a:srgbClr val="FF3300"/>
              </a:solidFill>
              <a:latin typeface="黑体" pitchFamily="49" charset="-122"/>
              <a:ea typeface="黑体" pitchFamily="49" charset="-122"/>
            </a:endParaRPr>
          </a:p>
        </p:txBody>
      </p:sp>
    </p:spTree>
    <p:extLst>
      <p:ext uri="{BB962C8B-B14F-4D97-AF65-F5344CB8AC3E}">
        <p14:creationId xmlns:p14="http://schemas.microsoft.com/office/powerpoint/2010/main" val="170139447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66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7874" y="231898"/>
            <a:ext cx="10702926" cy="60185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3810166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62753"/>
            <a:ext cx="11229473" cy="609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1193075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9763" y="295399"/>
            <a:ext cx="10844115" cy="599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1949186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22031" y="589729"/>
            <a:ext cx="10972800" cy="2554545"/>
          </a:xfrm>
          <a:prstGeom prst="rect">
            <a:avLst/>
          </a:prstGeom>
        </p:spPr>
        <p:txBody>
          <a:bodyPr wrap="square">
            <a:spAutoFit/>
          </a:bodyPr>
          <a:lstStyle/>
          <a:p>
            <a:r>
              <a:rPr lang="zh-CN" altLang="en-US" sz="3200" dirty="0" smtClean="0"/>
              <a:t>例</a:t>
            </a:r>
            <a:r>
              <a:rPr lang="en-US" altLang="zh-CN" sz="3200" dirty="0" smtClean="0"/>
              <a:t>20.3    </a:t>
            </a:r>
            <a:r>
              <a:rPr lang="zh-CN" altLang="en-US" sz="3200" dirty="0" smtClean="0"/>
              <a:t>一</a:t>
            </a:r>
            <a:r>
              <a:rPr lang="zh-CN" altLang="en-US" sz="3200" dirty="0"/>
              <a:t>半径为 </a:t>
            </a:r>
            <a:r>
              <a:rPr lang="en-US" altLang="zh-CN" sz="3200" dirty="0"/>
              <a:t>3.0 cm</a:t>
            </a:r>
            <a:r>
              <a:rPr lang="zh-CN" altLang="en-US" sz="3200" dirty="0"/>
              <a:t>、</a:t>
            </a:r>
            <a:r>
              <a:rPr lang="en-US" altLang="zh-CN" sz="3200" dirty="0"/>
              <a:t>40.0 </a:t>
            </a:r>
            <a:r>
              <a:rPr lang="zh-CN" altLang="en-US" sz="3200" dirty="0"/>
              <a:t>匝的线圈置于电磁铁的两极之间。 磁感应强度在 </a:t>
            </a:r>
            <a:r>
              <a:rPr lang="en-US" altLang="zh-CN" sz="3200" dirty="0"/>
              <a:t>225 s </a:t>
            </a:r>
            <a:r>
              <a:rPr lang="zh-CN" altLang="en-US" sz="3200" dirty="0"/>
              <a:t>的时间间隔以恒定的速率从 </a:t>
            </a:r>
            <a:r>
              <a:rPr lang="en-US" altLang="zh-CN" sz="3200" dirty="0"/>
              <a:t>0 </a:t>
            </a:r>
            <a:r>
              <a:rPr lang="zh-CN" altLang="en-US" sz="3200" dirty="0"/>
              <a:t>增至 </a:t>
            </a:r>
            <a:r>
              <a:rPr lang="en-US" altLang="zh-CN" sz="3200" dirty="0"/>
              <a:t>0.75 T</a:t>
            </a:r>
            <a:r>
              <a:rPr lang="zh-CN" altLang="en-US" sz="3200" dirty="0"/>
              <a:t>。 若（</a:t>
            </a:r>
            <a:r>
              <a:rPr lang="en-US" altLang="zh-CN" sz="3200" dirty="0"/>
              <a:t>a</a:t>
            </a:r>
            <a:r>
              <a:rPr lang="zh-CN" altLang="en-US" sz="3200" dirty="0"/>
              <a:t>）该磁场垂直于线圈平面；（</a:t>
            </a:r>
            <a:r>
              <a:rPr lang="en-US" altLang="zh-CN" sz="3200" dirty="0"/>
              <a:t>b</a:t>
            </a:r>
            <a:r>
              <a:rPr lang="zh-CN" altLang="en-US" sz="3200" dirty="0"/>
              <a:t>）该磁场与线圈平面成 </a:t>
            </a:r>
            <a:r>
              <a:rPr lang="en-US" altLang="zh-CN" sz="3200" dirty="0"/>
              <a:t>30.0° </a:t>
            </a:r>
            <a:r>
              <a:rPr lang="zh-CN" altLang="en-US" sz="3200" dirty="0"/>
              <a:t>的角，线圈中感应电动势的大小分别是多少？</a:t>
            </a:r>
          </a:p>
        </p:txBody>
      </p:sp>
      <p:pic>
        <p:nvPicPr>
          <p:cNvPr id="3" name="图片 2"/>
          <p:cNvPicPr>
            <a:picLocks noChangeAspect="1"/>
          </p:cNvPicPr>
          <p:nvPr/>
        </p:nvPicPr>
        <p:blipFill>
          <a:blip r:embed="rId2"/>
          <a:stretch>
            <a:fillRect/>
          </a:stretch>
        </p:blipFill>
        <p:spPr>
          <a:xfrm>
            <a:off x="2187969" y="2671455"/>
            <a:ext cx="6147138" cy="2439341"/>
          </a:xfrm>
          <a:prstGeom prst="rect">
            <a:avLst/>
          </a:prstGeom>
        </p:spPr>
      </p:pic>
      <p:pic>
        <p:nvPicPr>
          <p:cNvPr id="4" name="图片 3"/>
          <p:cNvPicPr>
            <a:picLocks noChangeAspect="1"/>
          </p:cNvPicPr>
          <p:nvPr/>
        </p:nvPicPr>
        <p:blipFill>
          <a:blip r:embed="rId3"/>
          <a:stretch>
            <a:fillRect/>
          </a:stretch>
        </p:blipFill>
        <p:spPr>
          <a:xfrm>
            <a:off x="1811032" y="5226000"/>
            <a:ext cx="7747496" cy="1078131"/>
          </a:xfrm>
          <a:prstGeom prst="rect">
            <a:avLst/>
          </a:prstGeom>
        </p:spPr>
      </p:pic>
    </p:spTree>
    <p:extLst>
      <p:ext uri="{BB962C8B-B14F-4D97-AF65-F5344CB8AC3E}">
        <p14:creationId xmlns:p14="http://schemas.microsoft.com/office/powerpoint/2010/main" val="367698894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ext Box 2"/>
          <p:cNvSpPr txBox="1">
            <a:spLocks noChangeArrowheads="1"/>
          </p:cNvSpPr>
          <p:nvPr/>
        </p:nvSpPr>
        <p:spPr bwMode="auto">
          <a:xfrm>
            <a:off x="190460" y="285729"/>
            <a:ext cx="820843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zh-CN" altLang="en-US" sz="3600" b="1" dirty="0" smtClean="0">
                <a:solidFill>
                  <a:srgbClr val="000000"/>
                </a:solidFill>
                <a:latin typeface="Times New Roman" pitchFamily="18" charset="0"/>
                <a:ea typeface="黑体" pitchFamily="49" charset="-122"/>
                <a:cs typeface="Times New Roman" pitchFamily="18" charset="0"/>
              </a:rPr>
              <a:t>二、感生电动势与感生电场</a:t>
            </a:r>
          </a:p>
        </p:txBody>
      </p:sp>
      <p:sp>
        <p:nvSpPr>
          <p:cNvPr id="36867" name="Text Box 3"/>
          <p:cNvSpPr txBox="1">
            <a:spLocks noChangeArrowheads="1"/>
          </p:cNvSpPr>
          <p:nvPr/>
        </p:nvSpPr>
        <p:spPr bwMode="auto">
          <a:xfrm>
            <a:off x="143933" y="950789"/>
            <a:ext cx="41656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en-US" altLang="zh-CN" sz="2800" b="1" dirty="0" smtClean="0">
                <a:solidFill>
                  <a:srgbClr val="000000"/>
                </a:solidFill>
                <a:latin typeface="Times New Roman" pitchFamily="18" charset="0"/>
                <a:ea typeface="黑体" pitchFamily="49" charset="-122"/>
                <a:cs typeface="Times New Roman" pitchFamily="18" charset="0"/>
              </a:rPr>
              <a:t>1. </a:t>
            </a:r>
            <a:r>
              <a:rPr kumimoji="1" lang="zh-CN" altLang="en-US" sz="2800" b="1" dirty="0" smtClean="0">
                <a:solidFill>
                  <a:srgbClr val="000000"/>
                </a:solidFill>
                <a:latin typeface="Times New Roman" pitchFamily="18" charset="0"/>
                <a:ea typeface="黑体" pitchFamily="49" charset="-122"/>
                <a:cs typeface="Times New Roman" pitchFamily="18" charset="0"/>
              </a:rPr>
              <a:t>感生电场</a:t>
            </a:r>
            <a:endParaRPr kumimoji="1" lang="zh-CN" altLang="en-US" sz="2800" dirty="0" smtClean="0">
              <a:solidFill>
                <a:srgbClr val="000000"/>
              </a:solidFill>
              <a:latin typeface="Times New Roman" pitchFamily="18" charset="0"/>
              <a:ea typeface="黑体" pitchFamily="49" charset="-122"/>
              <a:cs typeface="Times New Roman" pitchFamily="18" charset="0"/>
            </a:endParaRPr>
          </a:p>
        </p:txBody>
      </p:sp>
      <p:sp>
        <p:nvSpPr>
          <p:cNvPr id="36868" name="Text Box 4"/>
          <p:cNvSpPr txBox="1">
            <a:spLocks noChangeArrowheads="1"/>
          </p:cNvSpPr>
          <p:nvPr/>
        </p:nvSpPr>
        <p:spPr bwMode="auto">
          <a:xfrm>
            <a:off x="431371" y="2903648"/>
            <a:ext cx="969681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50000"/>
              </a:spcBef>
              <a:spcAft>
                <a:spcPct val="0"/>
              </a:spcAft>
            </a:pPr>
            <a:r>
              <a:rPr kumimoji="1" lang="en-US" altLang="zh-CN" sz="2800" b="1" dirty="0" smtClean="0">
                <a:solidFill>
                  <a:srgbClr val="000000"/>
                </a:solidFill>
                <a:latin typeface="Times New Roman" pitchFamily="18" charset="0"/>
                <a:ea typeface="黑体" pitchFamily="49" charset="-122"/>
                <a:cs typeface="Times New Roman" pitchFamily="18" charset="0"/>
              </a:rPr>
              <a:t>1861</a:t>
            </a:r>
            <a:r>
              <a:rPr kumimoji="1" lang="zh-CN" altLang="en-US" sz="2800" b="1" dirty="0" smtClean="0">
                <a:solidFill>
                  <a:srgbClr val="000000"/>
                </a:solidFill>
                <a:latin typeface="Times New Roman" pitchFamily="18" charset="0"/>
                <a:ea typeface="黑体" pitchFamily="49" charset="-122"/>
                <a:cs typeface="Times New Roman" pitchFamily="18" charset="0"/>
              </a:rPr>
              <a:t>年，</a:t>
            </a:r>
            <a:r>
              <a:rPr kumimoji="1" lang="zh-CN" altLang="en-US" sz="2400" b="1" dirty="0" smtClean="0">
                <a:solidFill>
                  <a:srgbClr val="000000"/>
                </a:solidFill>
                <a:latin typeface="Times New Roman" pitchFamily="18" charset="0"/>
                <a:ea typeface="黑体" pitchFamily="49" charset="-122"/>
                <a:cs typeface="Times New Roman" pitchFamily="18" charset="0"/>
              </a:rPr>
              <a:t>麦克斯韦提出了感应电场的假设。</a:t>
            </a:r>
          </a:p>
        </p:txBody>
      </p:sp>
      <p:sp>
        <p:nvSpPr>
          <p:cNvPr id="36869" name="Text Box 5"/>
          <p:cNvSpPr txBox="1">
            <a:spLocks noChangeArrowheads="1"/>
          </p:cNvSpPr>
          <p:nvPr/>
        </p:nvSpPr>
        <p:spPr bwMode="auto">
          <a:xfrm>
            <a:off x="431371" y="3564374"/>
            <a:ext cx="8832983"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lnSpc>
                <a:spcPct val="120000"/>
              </a:lnSpc>
              <a:spcBef>
                <a:spcPct val="50000"/>
              </a:spcBef>
              <a:spcAft>
                <a:spcPct val="0"/>
              </a:spcAft>
            </a:pPr>
            <a:r>
              <a:rPr kumimoji="1" lang="en-US" altLang="zh-CN" sz="2400" b="1" dirty="0" smtClean="0">
                <a:solidFill>
                  <a:srgbClr val="000000"/>
                </a:solidFill>
                <a:latin typeface="Times New Roman" pitchFamily="18" charset="0"/>
                <a:ea typeface="黑体" pitchFamily="49" charset="-122"/>
                <a:cs typeface="Times New Roman" pitchFamily="18" charset="0"/>
              </a:rPr>
              <a:t>        </a:t>
            </a:r>
            <a:r>
              <a:rPr kumimoji="1" lang="zh-CN" altLang="en-US" sz="2400" b="1" dirty="0" smtClean="0">
                <a:solidFill>
                  <a:srgbClr val="000000"/>
                </a:solidFill>
                <a:latin typeface="Times New Roman" pitchFamily="18" charset="0"/>
                <a:ea typeface="黑体" pitchFamily="49" charset="-122"/>
                <a:cs typeface="Times New Roman" pitchFamily="18" charset="0"/>
              </a:rPr>
              <a:t>变化的磁场在周围空间激发出的电场，称为</a:t>
            </a:r>
            <a:r>
              <a:rPr kumimoji="1" lang="zh-CN" altLang="en-US" sz="2400" b="1" dirty="0" smtClean="0">
                <a:solidFill>
                  <a:srgbClr val="0000FF"/>
                </a:solidFill>
                <a:latin typeface="Times New Roman" pitchFamily="18" charset="0"/>
                <a:ea typeface="黑体" pitchFamily="49" charset="-122"/>
                <a:cs typeface="Times New Roman" pitchFamily="18" charset="0"/>
              </a:rPr>
              <a:t>感生电场</a:t>
            </a:r>
            <a:r>
              <a:rPr kumimoji="1" lang="zh-CN" altLang="en-US" sz="2400" b="1" dirty="0" smtClean="0">
                <a:solidFill>
                  <a:srgbClr val="000000"/>
                </a:solidFill>
                <a:latin typeface="Times New Roman" pitchFamily="18" charset="0"/>
                <a:ea typeface="黑体" pitchFamily="49" charset="-122"/>
                <a:cs typeface="Times New Roman" pitchFamily="18" charset="0"/>
              </a:rPr>
              <a:t>。感生电流的产生就是这一电场作用于导体中的自由电荷的结果。</a:t>
            </a:r>
            <a:r>
              <a:rPr kumimoji="1" lang="zh-CN" altLang="en-US" sz="2400" b="1" dirty="0">
                <a:solidFill>
                  <a:srgbClr val="0000FF"/>
                </a:solidFill>
                <a:latin typeface="Times New Roman" pitchFamily="18" charset="0"/>
                <a:ea typeface="黑体" pitchFamily="49" charset="-122"/>
                <a:cs typeface="Times New Roman" pitchFamily="18" charset="0"/>
              </a:rPr>
              <a:t>感应电动势</a:t>
            </a:r>
            <a:r>
              <a:rPr kumimoji="1" lang="zh-CN" altLang="en-US" sz="2400" b="1" dirty="0" smtClean="0">
                <a:solidFill>
                  <a:srgbClr val="000000"/>
                </a:solidFill>
                <a:latin typeface="Times New Roman" pitchFamily="18" charset="0"/>
                <a:ea typeface="黑体" pitchFamily="49" charset="-122"/>
                <a:cs typeface="Times New Roman" pitchFamily="18" charset="0"/>
              </a:rPr>
              <a:t>就等于移动单位正电荷沿闭合回路一周这种非静电力做的功</a:t>
            </a:r>
            <a:r>
              <a:rPr kumimoji="1" lang="zh-CN" altLang="en-US" sz="2800" b="1" dirty="0" smtClean="0">
                <a:solidFill>
                  <a:srgbClr val="000000"/>
                </a:solidFill>
                <a:latin typeface="Times New Roman" pitchFamily="18" charset="0"/>
                <a:ea typeface="黑体" pitchFamily="49" charset="-122"/>
                <a:cs typeface="Times New Roman" pitchFamily="18" charset="0"/>
              </a:rPr>
              <a:t>。如果用</a:t>
            </a:r>
            <a:r>
              <a:rPr kumimoji="1" lang="en-US" altLang="zh-CN" sz="2800" b="1" dirty="0" err="1" smtClean="0">
                <a:solidFill>
                  <a:srgbClr val="000000"/>
                </a:solidFill>
                <a:latin typeface="Times New Roman" pitchFamily="18" charset="0"/>
                <a:ea typeface="黑体" pitchFamily="49" charset="-122"/>
                <a:cs typeface="Times New Roman" pitchFamily="18" charset="0"/>
              </a:rPr>
              <a:t>E</a:t>
            </a:r>
            <a:r>
              <a:rPr kumimoji="1" lang="en-US" altLang="zh-CN" sz="2800" b="1" baseline="-25000" dirty="0" err="1" smtClean="0">
                <a:solidFill>
                  <a:srgbClr val="000000"/>
                </a:solidFill>
                <a:latin typeface="Times New Roman" pitchFamily="18" charset="0"/>
                <a:ea typeface="黑体" pitchFamily="49" charset="-122"/>
                <a:cs typeface="Times New Roman" pitchFamily="18" charset="0"/>
              </a:rPr>
              <a:t>k</a:t>
            </a:r>
            <a:r>
              <a:rPr kumimoji="1" lang="zh-CN" altLang="en-US" sz="2800" b="1" dirty="0" smtClean="0">
                <a:solidFill>
                  <a:srgbClr val="000000"/>
                </a:solidFill>
                <a:latin typeface="Times New Roman" pitchFamily="18" charset="0"/>
                <a:ea typeface="黑体" pitchFamily="49" charset="-122"/>
                <a:cs typeface="Times New Roman" pitchFamily="18" charset="0"/>
              </a:rPr>
              <a:t>表示等效的非静电力场的场强，则</a:t>
            </a:r>
          </a:p>
        </p:txBody>
      </p:sp>
      <p:sp>
        <p:nvSpPr>
          <p:cNvPr id="36872" name="Rectangle 8"/>
          <p:cNvSpPr>
            <a:spLocks noChangeArrowheads="1"/>
          </p:cNvSpPr>
          <p:nvPr/>
        </p:nvSpPr>
        <p:spPr bwMode="auto">
          <a:xfrm>
            <a:off x="1534880" y="2417163"/>
            <a:ext cx="893021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400" b="1" dirty="0" smtClean="0">
                <a:solidFill>
                  <a:srgbClr val="FF0000"/>
                </a:solidFill>
                <a:latin typeface="Times New Roman" pitchFamily="18" charset="0"/>
                <a:ea typeface="黑体" pitchFamily="49" charset="-122"/>
                <a:cs typeface="Times New Roman" pitchFamily="18" charset="0"/>
              </a:rPr>
              <a:t>产生感生电动势的非静电力是什么？</a:t>
            </a:r>
          </a:p>
        </p:txBody>
      </p:sp>
      <p:graphicFrame>
        <p:nvGraphicFramePr>
          <p:cNvPr id="36873" name="Object 9"/>
          <p:cNvGraphicFramePr>
            <a:graphicFrameLocks noChangeAspect="1"/>
          </p:cNvGraphicFramePr>
          <p:nvPr>
            <p:extLst>
              <p:ext uri="{D42A27DB-BD31-4B8C-83A1-F6EECF244321}">
                <p14:modId xmlns:p14="http://schemas.microsoft.com/office/powerpoint/2010/main" val="23946719"/>
              </p:ext>
            </p:extLst>
          </p:nvPr>
        </p:nvGraphicFramePr>
        <p:xfrm>
          <a:off x="4294676" y="5636964"/>
          <a:ext cx="3383786" cy="711695"/>
        </p:xfrm>
        <a:graphic>
          <a:graphicData uri="http://schemas.openxmlformats.org/presentationml/2006/ole">
            <mc:AlternateContent xmlns:mc="http://schemas.openxmlformats.org/markup-compatibility/2006">
              <mc:Choice xmlns:v="urn:schemas-microsoft-com:vml" Requires="v">
                <p:oleObj spid="_x0000_s12360" name="Equation" r:id="rId4" imgW="1054080" imgH="291960" progId="Equation.DSMT4">
                  <p:embed/>
                </p:oleObj>
              </mc:Choice>
              <mc:Fallback>
                <p:oleObj name="Equation" r:id="rId4" imgW="1054080" imgH="291960" progId="Equation.DSMT4">
                  <p:embed/>
                  <p:pic>
                    <p:nvPicPr>
                      <p:cNvPr id="0" name=""/>
                      <p:cNvPicPr>
                        <a:picLocks noChangeAspect="1" noChangeArrowheads="1"/>
                      </p:cNvPicPr>
                      <p:nvPr/>
                    </p:nvPicPr>
                    <p:blipFill>
                      <a:blip r:embed="rId5"/>
                      <a:srcRect/>
                      <a:stretch>
                        <a:fillRect/>
                      </a:stretch>
                    </p:blipFill>
                    <p:spPr bwMode="auto">
                      <a:xfrm>
                        <a:off x="4294676" y="5636964"/>
                        <a:ext cx="3383786" cy="711695"/>
                      </a:xfrm>
                      <a:prstGeom prst="rect">
                        <a:avLst/>
                      </a:prstGeom>
                      <a:noFill/>
                      <a:ln>
                        <a:noFill/>
                      </a:ln>
                      <a:effectLst/>
                      <a:extLst/>
                    </p:spPr>
                  </p:pic>
                </p:oleObj>
              </mc:Fallback>
            </mc:AlternateContent>
          </a:graphicData>
        </a:graphic>
      </p:graphicFrame>
      <p:sp>
        <p:nvSpPr>
          <p:cNvPr id="36874" name="Text Box 10"/>
          <p:cNvSpPr txBox="1">
            <a:spLocks noChangeArrowheads="1"/>
          </p:cNvSpPr>
          <p:nvPr/>
        </p:nvSpPr>
        <p:spPr bwMode="auto">
          <a:xfrm>
            <a:off x="1391477" y="5733256"/>
            <a:ext cx="41656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zh-CN" altLang="en-US" sz="2800" b="1" dirty="0" smtClean="0">
                <a:solidFill>
                  <a:srgbClr val="000000"/>
                </a:solidFill>
                <a:latin typeface="Times New Roman" pitchFamily="18" charset="0"/>
                <a:ea typeface="黑体" pitchFamily="49" charset="-122"/>
                <a:cs typeface="Times New Roman" pitchFamily="18" charset="0"/>
              </a:rPr>
              <a:t>感生电动势：</a:t>
            </a:r>
          </a:p>
        </p:txBody>
      </p:sp>
      <p:sp>
        <p:nvSpPr>
          <p:cNvPr id="10" name="TextBox 9"/>
          <p:cNvSpPr txBox="1"/>
          <p:nvPr/>
        </p:nvSpPr>
        <p:spPr>
          <a:xfrm>
            <a:off x="9360363" y="3659772"/>
            <a:ext cx="1980029" cy="523220"/>
          </a:xfrm>
          <a:prstGeom prst="rect">
            <a:avLst/>
          </a:prstGeom>
          <a:solidFill>
            <a:srgbClr val="00B050"/>
          </a:solidFill>
          <a:ln>
            <a:solidFill>
              <a:srgbClr val="00B050"/>
            </a:solidFill>
          </a:ln>
        </p:spPr>
        <p:style>
          <a:lnRef idx="2">
            <a:schemeClr val="accent2">
              <a:shade val="50000"/>
            </a:schemeClr>
          </a:lnRef>
          <a:fillRef idx="1">
            <a:schemeClr val="accent2"/>
          </a:fillRef>
          <a:effectRef idx="0">
            <a:schemeClr val="accent2"/>
          </a:effectRef>
          <a:fontRef idx="minor">
            <a:schemeClr val="lt1"/>
          </a:fontRef>
        </p:style>
        <p:txBody>
          <a:bodyPr wrap="none" rtlCol="0">
            <a:spAutoFit/>
          </a:bodyPr>
          <a:lstStyle/>
          <a:p>
            <a:r>
              <a:rPr lang="zh-CN" altLang="en-US" sz="2800" dirty="0" smtClean="0">
                <a:solidFill>
                  <a:schemeClr val="tx1"/>
                </a:solidFill>
                <a:latin typeface="黑体" pitchFamily="49" charset="-122"/>
                <a:ea typeface="黑体" pitchFamily="49" charset="-122"/>
              </a:rPr>
              <a:t>变化的磁场</a:t>
            </a:r>
            <a:endParaRPr lang="zh-CN" altLang="en-US" sz="2800" dirty="0">
              <a:solidFill>
                <a:schemeClr val="tx1"/>
              </a:solidFill>
              <a:latin typeface="黑体" pitchFamily="49" charset="-122"/>
              <a:ea typeface="黑体" pitchFamily="49" charset="-122"/>
            </a:endParaRPr>
          </a:p>
        </p:txBody>
      </p:sp>
      <p:sp>
        <p:nvSpPr>
          <p:cNvPr id="11" name="下箭头 10"/>
          <p:cNvSpPr/>
          <p:nvPr/>
        </p:nvSpPr>
        <p:spPr bwMode="auto">
          <a:xfrm>
            <a:off x="10416480" y="4293096"/>
            <a:ext cx="480053" cy="432048"/>
          </a:xfrm>
          <a:prstGeom prst="downArrow">
            <a:avLst/>
          </a:prstGeom>
          <a:ln>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2">
              <a:shade val="50000"/>
            </a:schemeClr>
          </a:lnRef>
          <a:fillRef idx="1">
            <a:schemeClr val="accent2"/>
          </a:fillRef>
          <a:effectRef idx="0">
            <a:schemeClr val="accent2"/>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800" b="1" i="0" u="none" strike="noStrike" cap="none" normalizeH="0" baseline="0" smtClean="0">
              <a:ln>
                <a:noFill/>
              </a:ln>
              <a:solidFill>
                <a:schemeClr val="tx1"/>
              </a:solidFill>
              <a:effectLst/>
              <a:latin typeface="Times New Roman" pitchFamily="18" charset="0"/>
              <a:ea typeface="宋体" charset="-122"/>
            </a:endParaRPr>
          </a:p>
        </p:txBody>
      </p:sp>
      <p:sp>
        <p:nvSpPr>
          <p:cNvPr id="12" name="TextBox 11"/>
          <p:cNvSpPr txBox="1"/>
          <p:nvPr/>
        </p:nvSpPr>
        <p:spPr>
          <a:xfrm>
            <a:off x="9599354" y="4777988"/>
            <a:ext cx="1620957" cy="523220"/>
          </a:xfrm>
          <a:prstGeom prst="rect">
            <a:avLst/>
          </a:prstGeom>
          <a:solidFill>
            <a:srgbClr val="00B050"/>
          </a:solidFill>
          <a:ln>
            <a:solidFill>
              <a:srgbClr val="00B050"/>
            </a:solidFill>
          </a:ln>
        </p:spPr>
        <p:style>
          <a:lnRef idx="2">
            <a:schemeClr val="accent2">
              <a:shade val="50000"/>
            </a:schemeClr>
          </a:lnRef>
          <a:fillRef idx="1">
            <a:schemeClr val="accent2"/>
          </a:fillRef>
          <a:effectRef idx="0">
            <a:schemeClr val="accent2"/>
          </a:effectRef>
          <a:fontRef idx="minor">
            <a:schemeClr val="lt1"/>
          </a:fontRef>
        </p:style>
        <p:txBody>
          <a:bodyPr wrap="none" rtlCol="0">
            <a:spAutoFit/>
          </a:bodyPr>
          <a:lstStyle/>
          <a:p>
            <a:r>
              <a:rPr lang="zh-CN" altLang="en-US" sz="2800" dirty="0" smtClean="0">
                <a:solidFill>
                  <a:schemeClr val="tx1"/>
                </a:solidFill>
                <a:latin typeface="黑体" pitchFamily="49" charset="-122"/>
                <a:ea typeface="黑体" pitchFamily="49" charset="-122"/>
              </a:rPr>
              <a:t>感应电场</a:t>
            </a:r>
            <a:endParaRPr lang="zh-CN" altLang="en-US" sz="2800" dirty="0">
              <a:solidFill>
                <a:schemeClr val="tx1"/>
              </a:solidFill>
              <a:latin typeface="黑体" pitchFamily="49" charset="-122"/>
              <a:ea typeface="黑体" pitchFamily="49" charset="-122"/>
            </a:endParaRPr>
          </a:p>
        </p:txBody>
      </p:sp>
      <p:sp>
        <p:nvSpPr>
          <p:cNvPr id="13" name="下箭头 12"/>
          <p:cNvSpPr/>
          <p:nvPr/>
        </p:nvSpPr>
        <p:spPr bwMode="auto">
          <a:xfrm>
            <a:off x="10416480" y="5354052"/>
            <a:ext cx="480053" cy="432048"/>
          </a:xfrm>
          <a:prstGeom prst="downArrow">
            <a:avLst/>
          </a:prstGeom>
          <a:ln>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2">
              <a:shade val="50000"/>
            </a:schemeClr>
          </a:lnRef>
          <a:fillRef idx="1">
            <a:schemeClr val="accent2"/>
          </a:fillRef>
          <a:effectRef idx="0">
            <a:schemeClr val="accent2"/>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800" b="1" i="0" u="none" strike="noStrike" cap="none" normalizeH="0" baseline="0" smtClean="0">
              <a:ln>
                <a:noFill/>
              </a:ln>
              <a:solidFill>
                <a:schemeClr val="tx1"/>
              </a:solidFill>
              <a:effectLst/>
              <a:latin typeface="Times New Roman" pitchFamily="18" charset="0"/>
              <a:ea typeface="宋体" charset="-122"/>
            </a:endParaRPr>
          </a:p>
        </p:txBody>
      </p:sp>
      <p:sp>
        <p:nvSpPr>
          <p:cNvPr id="14" name="TextBox 13"/>
          <p:cNvSpPr txBox="1"/>
          <p:nvPr/>
        </p:nvSpPr>
        <p:spPr>
          <a:xfrm>
            <a:off x="9648395" y="5858108"/>
            <a:ext cx="1620957" cy="523220"/>
          </a:xfrm>
          <a:prstGeom prst="rect">
            <a:avLst/>
          </a:prstGeom>
          <a:solidFill>
            <a:srgbClr val="00B050"/>
          </a:solidFill>
          <a:ln>
            <a:solidFill>
              <a:srgbClr val="00B050"/>
            </a:solidFill>
          </a:ln>
        </p:spPr>
        <p:style>
          <a:lnRef idx="2">
            <a:schemeClr val="accent2">
              <a:shade val="50000"/>
            </a:schemeClr>
          </a:lnRef>
          <a:fillRef idx="1">
            <a:schemeClr val="accent2"/>
          </a:fillRef>
          <a:effectRef idx="0">
            <a:schemeClr val="accent2"/>
          </a:effectRef>
          <a:fontRef idx="minor">
            <a:schemeClr val="lt1"/>
          </a:fontRef>
        </p:style>
        <p:txBody>
          <a:bodyPr wrap="none" rtlCol="0">
            <a:spAutoFit/>
          </a:bodyPr>
          <a:lstStyle/>
          <a:p>
            <a:r>
              <a:rPr lang="zh-CN" altLang="en-US" sz="2800" dirty="0" smtClean="0">
                <a:solidFill>
                  <a:schemeClr val="tx1"/>
                </a:solidFill>
                <a:latin typeface="黑体" pitchFamily="49" charset="-122"/>
                <a:ea typeface="黑体" pitchFamily="49" charset="-122"/>
              </a:rPr>
              <a:t>感应电流</a:t>
            </a:r>
            <a:endParaRPr lang="zh-CN" altLang="en-US" sz="2800" dirty="0">
              <a:solidFill>
                <a:schemeClr val="tx1"/>
              </a:solidFill>
              <a:latin typeface="黑体" pitchFamily="49" charset="-122"/>
              <a:ea typeface="黑体" pitchFamily="49" charset="-122"/>
            </a:endParaRPr>
          </a:p>
        </p:txBody>
      </p:sp>
      <p:sp>
        <p:nvSpPr>
          <p:cNvPr id="15" name="TextBox 14"/>
          <p:cNvSpPr txBox="1"/>
          <p:nvPr/>
        </p:nvSpPr>
        <p:spPr>
          <a:xfrm>
            <a:off x="335360" y="1556792"/>
            <a:ext cx="11329259" cy="936347"/>
          </a:xfrm>
          <a:prstGeom prst="rect">
            <a:avLst/>
          </a:prstGeom>
          <a:noFill/>
        </p:spPr>
        <p:txBody>
          <a:bodyPr wrap="square" rtlCol="0">
            <a:spAutoFit/>
          </a:bodyPr>
          <a:lstStyle/>
          <a:p>
            <a:pPr algn="just" fontAlgn="base">
              <a:lnSpc>
                <a:spcPct val="120000"/>
              </a:lnSpc>
              <a:spcBef>
                <a:spcPct val="0"/>
              </a:spcBef>
              <a:spcAft>
                <a:spcPct val="0"/>
              </a:spcAft>
            </a:pPr>
            <a:r>
              <a:rPr kumimoji="1" lang="zh-CN" altLang="en-US" sz="2400" b="1" dirty="0" smtClean="0">
                <a:solidFill>
                  <a:srgbClr val="000000"/>
                </a:solidFill>
                <a:latin typeface="Times New Roman" pitchFamily="18" charset="0"/>
                <a:ea typeface="黑体" pitchFamily="49" charset="-122"/>
                <a:cs typeface="Times New Roman" pitchFamily="18" charset="0"/>
              </a:rPr>
              <a:t>导体静止，磁场变化时出现感生电动势。显然产生感生电动势的非静电力一定不是洛伦兹力。</a:t>
            </a:r>
          </a:p>
        </p:txBody>
      </p:sp>
    </p:spTree>
    <p:extLst>
      <p:ext uri="{BB962C8B-B14F-4D97-AF65-F5344CB8AC3E}">
        <p14:creationId xmlns:p14="http://schemas.microsoft.com/office/powerpoint/2010/main" val="144160520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687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686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686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687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68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8" grpId="0"/>
      <p:bldP spid="36869" grpId="0"/>
      <p:bldP spid="36872" grpId="0"/>
      <p:bldP spid="36874" grpId="0"/>
      <p:bldP spid="1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74153" y="571641"/>
            <a:ext cx="3927344" cy="523220"/>
          </a:xfrm>
          <a:prstGeom prst="rect">
            <a:avLst/>
          </a:prstGeom>
          <a:noFill/>
        </p:spPr>
        <p:txBody>
          <a:bodyPr wrap="square" rtlCol="0">
            <a:spAutoFit/>
          </a:bodyPr>
          <a:lstStyle/>
          <a:p>
            <a:r>
              <a:rPr lang="en-US" altLang="zh-CN" sz="2800" b="1" dirty="0" smtClean="0">
                <a:solidFill>
                  <a:srgbClr val="FF0000"/>
                </a:solidFill>
              </a:rPr>
              <a:t>4.</a:t>
            </a:r>
            <a:r>
              <a:rPr lang="zh-CN" altLang="en-US" sz="2800" b="1" dirty="0" smtClean="0">
                <a:solidFill>
                  <a:srgbClr val="FF0000"/>
                </a:solidFill>
              </a:rPr>
              <a:t>法拉第电磁感应定律</a:t>
            </a:r>
            <a:endParaRPr lang="en-US" altLang="zh-CN" sz="2800" b="1" dirty="0" smtClean="0">
              <a:solidFill>
                <a:srgbClr val="FF0000"/>
              </a:solidFill>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3865656447"/>
              </p:ext>
            </p:extLst>
          </p:nvPr>
        </p:nvGraphicFramePr>
        <p:xfrm>
          <a:off x="2637825" y="2708078"/>
          <a:ext cx="6224587" cy="1099594"/>
        </p:xfrm>
        <a:graphic>
          <a:graphicData uri="http://schemas.openxmlformats.org/presentationml/2006/ole">
            <mc:AlternateContent xmlns:mc="http://schemas.openxmlformats.org/markup-compatibility/2006">
              <mc:Choice xmlns:v="urn:schemas-microsoft-com:vml" Requires="v">
                <p:oleObj spid="_x0000_s21584" name="Equation" r:id="rId4" imgW="1498320" imgH="393480" progId="Equation.DSMT4">
                  <p:embed/>
                </p:oleObj>
              </mc:Choice>
              <mc:Fallback>
                <p:oleObj name="Equation" r:id="rId4" imgW="1498320" imgH="393480" progId="Equation.DSMT4">
                  <p:embed/>
                  <p:pic>
                    <p:nvPicPr>
                      <p:cNvPr id="0" name=""/>
                      <p:cNvPicPr>
                        <a:picLocks noChangeAspect="1" noChangeArrowheads="1"/>
                      </p:cNvPicPr>
                      <p:nvPr/>
                    </p:nvPicPr>
                    <p:blipFill>
                      <a:blip r:embed="rId5"/>
                      <a:srcRect/>
                      <a:stretch>
                        <a:fillRect/>
                      </a:stretch>
                    </p:blipFill>
                    <p:spPr bwMode="auto">
                      <a:xfrm>
                        <a:off x="2637825" y="2708078"/>
                        <a:ext cx="6224587" cy="1099594"/>
                      </a:xfrm>
                      <a:prstGeom prst="rect">
                        <a:avLst/>
                      </a:prstGeom>
                      <a:noFill/>
                      <a:ln w="38100">
                        <a:solidFill>
                          <a:srgbClr val="00B0F0"/>
                        </a:solidFill>
                      </a:ln>
                      <a:extLst/>
                    </p:spPr>
                  </p:pic>
                </p:oleObj>
              </mc:Fallback>
            </mc:AlternateContent>
          </a:graphicData>
        </a:graphic>
      </p:graphicFrame>
      <p:sp>
        <p:nvSpPr>
          <p:cNvPr id="8" name="TextBox 7"/>
          <p:cNvSpPr txBox="1"/>
          <p:nvPr/>
        </p:nvSpPr>
        <p:spPr>
          <a:xfrm>
            <a:off x="0" y="3823176"/>
            <a:ext cx="12192000" cy="523220"/>
          </a:xfrm>
          <a:prstGeom prst="rect">
            <a:avLst/>
          </a:prstGeom>
          <a:noFill/>
        </p:spPr>
        <p:txBody>
          <a:bodyPr wrap="square" rtlCol="0">
            <a:spAutoFit/>
          </a:bodyPr>
          <a:lstStyle/>
          <a:p>
            <a:r>
              <a:rPr lang="zh-CN" altLang="en-US" sz="2800" b="1" dirty="0" smtClean="0"/>
              <a:t>变化的磁场可以产生电动势，式中积分面</a:t>
            </a:r>
            <a:r>
              <a:rPr lang="en-US" altLang="zh-CN" sz="2800" b="1" dirty="0" smtClean="0"/>
              <a:t>S</a:t>
            </a:r>
            <a:r>
              <a:rPr lang="zh-CN" altLang="en-US" sz="2800" b="1" dirty="0" smtClean="0"/>
              <a:t>是以闭合回路</a:t>
            </a:r>
            <a:r>
              <a:rPr lang="en-US" altLang="zh-CN" sz="2800" b="1" dirty="0" smtClean="0"/>
              <a:t>L</a:t>
            </a:r>
            <a:r>
              <a:rPr lang="zh-CN" altLang="en-US" sz="2800" b="1" dirty="0" smtClean="0"/>
              <a:t>为边界的任意曲面。</a:t>
            </a:r>
            <a:endParaRPr lang="zh-CN" altLang="en-US" sz="2800" b="1" dirty="0"/>
          </a:p>
        </p:txBody>
      </p:sp>
      <p:graphicFrame>
        <p:nvGraphicFramePr>
          <p:cNvPr id="7" name="对象 6"/>
          <p:cNvGraphicFramePr>
            <a:graphicFrameLocks noChangeAspect="1"/>
          </p:cNvGraphicFramePr>
          <p:nvPr>
            <p:extLst>
              <p:ext uri="{D42A27DB-BD31-4B8C-83A1-F6EECF244321}">
                <p14:modId xmlns:p14="http://schemas.microsoft.com/office/powerpoint/2010/main" val="1009097072"/>
              </p:ext>
            </p:extLst>
          </p:nvPr>
        </p:nvGraphicFramePr>
        <p:xfrm>
          <a:off x="4601497" y="1489521"/>
          <a:ext cx="2225675" cy="1123950"/>
        </p:xfrm>
        <a:graphic>
          <a:graphicData uri="http://schemas.openxmlformats.org/presentationml/2006/ole">
            <mc:AlternateContent xmlns:mc="http://schemas.openxmlformats.org/markup-compatibility/2006">
              <mc:Choice xmlns:v="urn:schemas-microsoft-com:vml" Requires="v">
                <p:oleObj spid="_x0000_s21585" name="Equation" r:id="rId6" imgW="583920" imgH="393480" progId="Equation.DSMT4">
                  <p:embed/>
                </p:oleObj>
              </mc:Choice>
              <mc:Fallback>
                <p:oleObj name="Equation" r:id="rId6" imgW="583920" imgH="393480" progId="Equation.DSMT4">
                  <p:embed/>
                  <p:pic>
                    <p:nvPicPr>
                      <p:cNvPr id="6" name="对象 5"/>
                      <p:cNvPicPr>
                        <a:picLocks noChangeAspect="1" noChangeArrowheads="1"/>
                      </p:cNvPicPr>
                      <p:nvPr/>
                    </p:nvPicPr>
                    <p:blipFill>
                      <a:blip r:embed="rId7"/>
                      <a:srcRect/>
                      <a:stretch>
                        <a:fillRect/>
                      </a:stretch>
                    </p:blipFill>
                    <p:spPr bwMode="auto">
                      <a:xfrm>
                        <a:off x="4601497" y="1489521"/>
                        <a:ext cx="2225675"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Text Box 10"/>
          <p:cNvSpPr txBox="1">
            <a:spLocks noChangeArrowheads="1"/>
          </p:cNvSpPr>
          <p:nvPr/>
        </p:nvSpPr>
        <p:spPr bwMode="auto">
          <a:xfrm>
            <a:off x="0" y="5226172"/>
            <a:ext cx="12192000" cy="11633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lnSpc>
                <a:spcPct val="120000"/>
              </a:lnSpc>
              <a:spcBef>
                <a:spcPct val="50000"/>
              </a:spcBef>
              <a:spcAft>
                <a:spcPct val="0"/>
              </a:spcAft>
            </a:pPr>
            <a:r>
              <a:rPr kumimoji="1" lang="zh-CN" altLang="en-US" sz="2400" b="1" dirty="0" smtClean="0">
                <a:solidFill>
                  <a:srgbClr val="000000"/>
                </a:solidFill>
                <a:latin typeface="Times New Roman" pitchFamily="18" charset="0"/>
                <a:ea typeface="黑体" pitchFamily="49" charset="-122"/>
                <a:cs typeface="Times New Roman" pitchFamily="18" charset="0"/>
              </a:rPr>
              <a:t>（</a:t>
            </a:r>
            <a:r>
              <a:rPr kumimoji="1" lang="en-US" altLang="zh-CN" sz="2400" b="1" dirty="0" smtClean="0">
                <a:solidFill>
                  <a:srgbClr val="000000"/>
                </a:solidFill>
                <a:latin typeface="Times New Roman" pitchFamily="18" charset="0"/>
                <a:ea typeface="黑体" pitchFamily="49" charset="-122"/>
                <a:cs typeface="Times New Roman" pitchFamily="18" charset="0"/>
              </a:rPr>
              <a:t>1</a:t>
            </a:r>
            <a:r>
              <a:rPr kumimoji="1" lang="zh-CN" altLang="en-US" sz="2400" b="1" dirty="0" smtClean="0">
                <a:solidFill>
                  <a:srgbClr val="000000"/>
                </a:solidFill>
                <a:latin typeface="Times New Roman" pitchFamily="18" charset="0"/>
                <a:ea typeface="黑体" pitchFamily="49" charset="-122"/>
                <a:cs typeface="Times New Roman" pitchFamily="18" charset="0"/>
              </a:rPr>
              <a:t>）变化的磁场能够在周围空间</a:t>
            </a:r>
            <a:r>
              <a:rPr kumimoji="1" lang="en-US" altLang="zh-CN" sz="2400" b="1" dirty="0" smtClean="0">
                <a:solidFill>
                  <a:srgbClr val="000000"/>
                </a:solidFill>
                <a:latin typeface="Times New Roman" pitchFamily="18" charset="0"/>
                <a:ea typeface="黑体" pitchFamily="49" charset="-122"/>
                <a:cs typeface="Times New Roman" pitchFamily="18" charset="0"/>
              </a:rPr>
              <a:t>(</a:t>
            </a:r>
            <a:r>
              <a:rPr kumimoji="1" lang="zh-CN" altLang="en-US" sz="2400" b="1" dirty="0" smtClean="0">
                <a:solidFill>
                  <a:srgbClr val="000000"/>
                </a:solidFill>
                <a:latin typeface="Times New Roman" pitchFamily="18" charset="0"/>
                <a:ea typeface="黑体" pitchFamily="49" charset="-122"/>
                <a:cs typeface="Times New Roman" pitchFamily="18" charset="0"/>
              </a:rPr>
              <a:t>包括无磁场区域</a:t>
            </a:r>
            <a:r>
              <a:rPr kumimoji="1" lang="en-US" altLang="zh-CN" sz="2400" b="1" dirty="0" smtClean="0">
                <a:solidFill>
                  <a:srgbClr val="000000"/>
                </a:solidFill>
                <a:latin typeface="Times New Roman" pitchFamily="18" charset="0"/>
                <a:ea typeface="黑体" pitchFamily="49" charset="-122"/>
                <a:cs typeface="Times New Roman" pitchFamily="18" charset="0"/>
              </a:rPr>
              <a:t>)</a:t>
            </a:r>
            <a:r>
              <a:rPr kumimoji="1" lang="zh-CN" altLang="en-US" sz="2400" b="1" dirty="0" smtClean="0">
                <a:solidFill>
                  <a:srgbClr val="000000"/>
                </a:solidFill>
                <a:latin typeface="Times New Roman" pitchFamily="18" charset="0"/>
                <a:ea typeface="黑体" pitchFamily="49" charset="-122"/>
                <a:cs typeface="Times New Roman" pitchFamily="18" charset="0"/>
              </a:rPr>
              <a:t>激发感应电场。</a:t>
            </a:r>
            <a:endParaRPr kumimoji="1" lang="en-US" altLang="zh-CN" sz="2400" b="1" dirty="0" smtClean="0">
              <a:solidFill>
                <a:srgbClr val="000000"/>
              </a:solidFill>
              <a:latin typeface="Times New Roman" pitchFamily="18" charset="0"/>
              <a:ea typeface="黑体" pitchFamily="49" charset="-122"/>
              <a:cs typeface="Times New Roman" pitchFamily="18" charset="0"/>
            </a:endParaRPr>
          </a:p>
          <a:p>
            <a:pPr fontAlgn="base">
              <a:lnSpc>
                <a:spcPct val="120000"/>
              </a:lnSpc>
              <a:spcBef>
                <a:spcPct val="50000"/>
              </a:spcBef>
              <a:spcAft>
                <a:spcPct val="0"/>
              </a:spcAft>
            </a:pPr>
            <a:r>
              <a:rPr kumimoji="1" lang="zh-CN" altLang="en-US" sz="2400" b="1" dirty="0" smtClean="0">
                <a:solidFill>
                  <a:srgbClr val="000000"/>
                </a:solidFill>
                <a:latin typeface="Times New Roman" pitchFamily="18" charset="0"/>
                <a:ea typeface="黑体" pitchFamily="49" charset="-122"/>
                <a:cs typeface="Times New Roman" pitchFamily="18" charset="0"/>
              </a:rPr>
              <a:t>（</a:t>
            </a:r>
            <a:r>
              <a:rPr kumimoji="1" lang="en-US" altLang="zh-CN" sz="2400" b="1" dirty="0" smtClean="0">
                <a:solidFill>
                  <a:srgbClr val="000000"/>
                </a:solidFill>
                <a:latin typeface="Times New Roman" pitchFamily="18" charset="0"/>
                <a:ea typeface="黑体" pitchFamily="49" charset="-122"/>
                <a:cs typeface="Times New Roman" pitchFamily="18" charset="0"/>
              </a:rPr>
              <a:t>2</a:t>
            </a:r>
            <a:r>
              <a:rPr kumimoji="1" lang="zh-CN" altLang="en-US" sz="2400" b="1" dirty="0" smtClean="0">
                <a:solidFill>
                  <a:srgbClr val="000000"/>
                </a:solidFill>
                <a:latin typeface="Times New Roman" pitchFamily="18" charset="0"/>
                <a:ea typeface="黑体" pitchFamily="49" charset="-122"/>
                <a:cs typeface="Times New Roman" pitchFamily="18" charset="0"/>
              </a:rPr>
              <a:t>）感应电场的环流不等于零，表明感应电场为涡旋场，所以又称为“</a:t>
            </a:r>
            <a:r>
              <a:rPr kumimoji="1" lang="zh-CN" altLang="en-US" sz="2400" b="1" dirty="0" smtClean="0">
                <a:solidFill>
                  <a:srgbClr val="0000FF"/>
                </a:solidFill>
                <a:latin typeface="Times New Roman" pitchFamily="18" charset="0"/>
                <a:ea typeface="黑体" pitchFamily="49" charset="-122"/>
                <a:cs typeface="Times New Roman" pitchFamily="18" charset="0"/>
              </a:rPr>
              <a:t>涡旋电场</a:t>
            </a:r>
            <a:r>
              <a:rPr kumimoji="1" lang="zh-CN" altLang="en-US" sz="2400" b="1" dirty="0" smtClean="0">
                <a:solidFill>
                  <a:srgbClr val="000000"/>
                </a:solidFill>
                <a:latin typeface="Times New Roman" pitchFamily="18" charset="0"/>
                <a:ea typeface="黑体" pitchFamily="49" charset="-122"/>
                <a:cs typeface="Times New Roman" pitchFamily="18" charset="0"/>
              </a:rPr>
              <a:t>”。</a:t>
            </a:r>
          </a:p>
        </p:txBody>
      </p:sp>
      <p:sp>
        <p:nvSpPr>
          <p:cNvPr id="10" name="AutoShape 12"/>
          <p:cNvSpPr>
            <a:spLocks noChangeArrowheads="1"/>
          </p:cNvSpPr>
          <p:nvPr/>
        </p:nvSpPr>
        <p:spPr bwMode="auto">
          <a:xfrm>
            <a:off x="239350" y="4362077"/>
            <a:ext cx="1631949" cy="936625"/>
          </a:xfrm>
          <a:prstGeom prst="horizontalScroll">
            <a:avLst>
              <a:gd name="adj" fmla="val 12500"/>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r>
              <a:rPr kumimoji="1" lang="zh-CN" altLang="en-US" sz="2800" b="1" dirty="0" smtClean="0">
                <a:solidFill>
                  <a:srgbClr val="FF0000"/>
                </a:solidFill>
                <a:latin typeface="Times New Roman" pitchFamily="18" charset="0"/>
                <a:ea typeface="黑体" pitchFamily="49" charset="-122"/>
                <a:cs typeface="Times New Roman" pitchFamily="18" charset="0"/>
              </a:rPr>
              <a:t>说明</a:t>
            </a:r>
            <a:r>
              <a:rPr kumimoji="1" lang="zh-CN" altLang="en-US" sz="2800" b="1" dirty="0" smtClean="0">
                <a:solidFill>
                  <a:srgbClr val="000000"/>
                </a:solidFill>
                <a:latin typeface="Times New Roman" pitchFamily="18" charset="0"/>
                <a:ea typeface="黑体" pitchFamily="49" charset="-122"/>
                <a:cs typeface="Times New Roman" pitchFamily="18" charset="0"/>
              </a:rPr>
              <a:t> </a:t>
            </a:r>
          </a:p>
        </p:txBody>
      </p:sp>
      <p:sp>
        <p:nvSpPr>
          <p:cNvPr id="2" name="文本框 1"/>
          <p:cNvSpPr txBox="1"/>
          <p:nvPr/>
        </p:nvSpPr>
        <p:spPr>
          <a:xfrm>
            <a:off x="4601498" y="176981"/>
            <a:ext cx="7477432" cy="1384995"/>
          </a:xfrm>
          <a:prstGeom prst="rect">
            <a:avLst/>
          </a:prstGeom>
          <a:noFill/>
        </p:spPr>
        <p:txBody>
          <a:bodyPr wrap="square" rtlCol="0">
            <a:spAutoFit/>
          </a:bodyPr>
          <a:lstStyle/>
          <a:p>
            <a:r>
              <a:rPr lang="zh-CN" altLang="en-US" sz="2800" b="1" dirty="0" smtClean="0"/>
              <a:t>通过回路所包围面积的磁通量发生变化时回路中产生的感应电动势与磁通量对时间的变化率成正比。</a:t>
            </a:r>
            <a:endParaRPr lang="zh-CN" altLang="en-US" sz="2800" b="1" dirty="0"/>
          </a:p>
        </p:txBody>
      </p:sp>
    </p:spTree>
    <p:extLst>
      <p:ext uri="{BB962C8B-B14F-4D97-AF65-F5344CB8AC3E}">
        <p14:creationId xmlns:p14="http://schemas.microsoft.com/office/powerpoint/2010/main" val="181048988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P spid="1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79576" y="332656"/>
            <a:ext cx="6912768" cy="523220"/>
          </a:xfrm>
          <a:prstGeom prst="rect">
            <a:avLst/>
          </a:prstGeom>
          <a:noFill/>
        </p:spPr>
        <p:txBody>
          <a:bodyPr wrap="square" rtlCol="0">
            <a:spAutoFit/>
          </a:bodyPr>
          <a:lstStyle/>
          <a:p>
            <a:r>
              <a:rPr lang="zh-CN" altLang="en-US" sz="2800" b="1" dirty="0" smtClean="0">
                <a:solidFill>
                  <a:srgbClr val="0000FF"/>
                </a:solidFill>
              </a:rPr>
              <a:t>麦克斯韦方程组（电磁学的四个基本定律）</a:t>
            </a:r>
            <a:endParaRPr lang="zh-CN" altLang="en-US" sz="2800" b="1" dirty="0">
              <a:solidFill>
                <a:srgbClr val="0000FF"/>
              </a:solidFill>
            </a:endParaRPr>
          </a:p>
        </p:txBody>
      </p:sp>
      <p:sp>
        <p:nvSpPr>
          <p:cNvPr id="3" name="TextBox 2"/>
          <p:cNvSpPr txBox="1"/>
          <p:nvPr/>
        </p:nvSpPr>
        <p:spPr>
          <a:xfrm>
            <a:off x="1814881" y="1052737"/>
            <a:ext cx="3456384" cy="523220"/>
          </a:xfrm>
          <a:prstGeom prst="rect">
            <a:avLst/>
          </a:prstGeom>
          <a:noFill/>
        </p:spPr>
        <p:txBody>
          <a:bodyPr wrap="square" rtlCol="0">
            <a:spAutoFit/>
          </a:bodyPr>
          <a:lstStyle/>
          <a:p>
            <a:r>
              <a:rPr lang="en-US" altLang="zh-CN" sz="2800" b="1" dirty="0">
                <a:solidFill>
                  <a:srgbClr val="FF0000"/>
                </a:solidFill>
              </a:rPr>
              <a:t>1.</a:t>
            </a:r>
            <a:r>
              <a:rPr lang="zh-CN" altLang="en-US" sz="2800" b="1" dirty="0">
                <a:solidFill>
                  <a:srgbClr val="FF0000"/>
                </a:solidFill>
              </a:rPr>
              <a:t>电场的高斯定理</a:t>
            </a:r>
            <a:endParaRPr lang="en-US" altLang="zh-CN" sz="2800" b="1" dirty="0">
              <a:solidFill>
                <a:srgbClr val="FF0000"/>
              </a:solidFill>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1376987482"/>
              </p:ext>
            </p:extLst>
          </p:nvPr>
        </p:nvGraphicFramePr>
        <p:xfrm>
          <a:off x="5102771" y="990007"/>
          <a:ext cx="4424362" cy="1306513"/>
        </p:xfrm>
        <a:graphic>
          <a:graphicData uri="http://schemas.openxmlformats.org/presentationml/2006/ole">
            <mc:AlternateContent xmlns:mc="http://schemas.openxmlformats.org/markup-compatibility/2006">
              <mc:Choice xmlns:v="urn:schemas-microsoft-com:vml" Requires="v">
                <p:oleObj spid="_x0000_s22582" name="Equation" r:id="rId4" imgW="1549080" imgH="457200" progId="Equation.DSMT4">
                  <p:embed/>
                </p:oleObj>
              </mc:Choice>
              <mc:Fallback>
                <p:oleObj name="Equation" r:id="rId4" imgW="1549080" imgH="457200" progId="Equation.DSMT4">
                  <p:embed/>
                  <p:pic>
                    <p:nvPicPr>
                      <p:cNvPr id="4" name="对象 3"/>
                      <p:cNvPicPr/>
                      <p:nvPr/>
                    </p:nvPicPr>
                    <p:blipFill>
                      <a:blip r:embed="rId5"/>
                      <a:stretch>
                        <a:fillRect/>
                      </a:stretch>
                    </p:blipFill>
                    <p:spPr>
                      <a:xfrm>
                        <a:off x="5102771" y="990007"/>
                        <a:ext cx="4424362" cy="1306513"/>
                      </a:xfrm>
                      <a:prstGeom prst="rect">
                        <a:avLst/>
                      </a:prstGeom>
                    </p:spPr>
                  </p:pic>
                </p:oleObj>
              </mc:Fallback>
            </mc:AlternateContent>
          </a:graphicData>
        </a:graphic>
      </p:graphicFrame>
      <p:sp>
        <p:nvSpPr>
          <p:cNvPr id="5" name="TextBox 4"/>
          <p:cNvSpPr txBox="1"/>
          <p:nvPr/>
        </p:nvSpPr>
        <p:spPr>
          <a:xfrm>
            <a:off x="1919536" y="4005064"/>
            <a:ext cx="3456384" cy="523220"/>
          </a:xfrm>
          <a:prstGeom prst="rect">
            <a:avLst/>
          </a:prstGeom>
          <a:noFill/>
        </p:spPr>
        <p:txBody>
          <a:bodyPr wrap="square" rtlCol="0">
            <a:spAutoFit/>
          </a:bodyPr>
          <a:lstStyle/>
          <a:p>
            <a:r>
              <a:rPr lang="en-US" altLang="zh-CN" sz="2800" b="1">
                <a:solidFill>
                  <a:srgbClr val="FF0000"/>
                </a:solidFill>
              </a:rPr>
              <a:t>2.</a:t>
            </a:r>
            <a:r>
              <a:rPr lang="zh-CN" altLang="en-US" sz="2800" b="1">
                <a:solidFill>
                  <a:srgbClr val="FF0000"/>
                </a:solidFill>
              </a:rPr>
              <a:t>磁场的高斯定理</a:t>
            </a:r>
            <a:endParaRPr lang="en-US" altLang="zh-CN" sz="2800" b="1">
              <a:solidFill>
                <a:srgbClr val="FF0000"/>
              </a:solidFill>
            </a:endParaRPr>
          </a:p>
        </p:txBody>
      </p:sp>
      <p:graphicFrame>
        <p:nvGraphicFramePr>
          <p:cNvPr id="6" name="对象 5"/>
          <p:cNvGraphicFramePr>
            <a:graphicFrameLocks noChangeAspect="1"/>
          </p:cNvGraphicFramePr>
          <p:nvPr>
            <p:extLst/>
          </p:nvPr>
        </p:nvGraphicFramePr>
        <p:xfrm>
          <a:off x="5663952" y="3947259"/>
          <a:ext cx="3302000" cy="1162050"/>
        </p:xfrm>
        <a:graphic>
          <a:graphicData uri="http://schemas.openxmlformats.org/presentationml/2006/ole">
            <mc:AlternateContent xmlns:mc="http://schemas.openxmlformats.org/markup-compatibility/2006">
              <mc:Choice xmlns:v="urn:schemas-microsoft-com:vml" Requires="v">
                <p:oleObj spid="_x0000_s22583" name="Equation" r:id="rId6" imgW="1155600" imgH="406080" progId="Equation.DSMT4">
                  <p:embed/>
                </p:oleObj>
              </mc:Choice>
              <mc:Fallback>
                <p:oleObj name="Equation" r:id="rId6" imgW="1155600" imgH="406080" progId="Equation.DSMT4">
                  <p:embed/>
                  <p:pic>
                    <p:nvPicPr>
                      <p:cNvPr id="6" name="对象 5"/>
                      <p:cNvPicPr>
                        <a:picLocks noChangeAspect="1" noChangeArrowheads="1"/>
                      </p:cNvPicPr>
                      <p:nvPr/>
                    </p:nvPicPr>
                    <p:blipFill>
                      <a:blip r:embed="rId7"/>
                      <a:srcRect/>
                      <a:stretch>
                        <a:fillRect/>
                      </a:stretch>
                    </p:blipFill>
                    <p:spPr bwMode="auto">
                      <a:xfrm>
                        <a:off x="5663952" y="3947259"/>
                        <a:ext cx="3302000" cy="116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矩形 8"/>
          <p:cNvSpPr/>
          <p:nvPr/>
        </p:nvSpPr>
        <p:spPr>
          <a:xfrm>
            <a:off x="2040480" y="3196021"/>
            <a:ext cx="8352928" cy="461665"/>
          </a:xfrm>
          <a:prstGeom prst="rect">
            <a:avLst/>
          </a:prstGeom>
        </p:spPr>
        <p:txBody>
          <a:bodyPr wrap="square">
            <a:spAutoFit/>
          </a:bodyPr>
          <a:lstStyle/>
          <a:p>
            <a:r>
              <a:rPr lang="zh-CN" altLang="zh-CN" sz="2400" b="1" dirty="0"/>
              <a:t>说明静电场是有源场，电场线起始于正电荷，终止于负电荷。</a:t>
            </a:r>
          </a:p>
        </p:txBody>
      </p:sp>
      <p:sp>
        <p:nvSpPr>
          <p:cNvPr id="10" name="矩形 9"/>
          <p:cNvSpPr/>
          <p:nvPr/>
        </p:nvSpPr>
        <p:spPr>
          <a:xfrm>
            <a:off x="1894741" y="5456687"/>
            <a:ext cx="8498667" cy="830997"/>
          </a:xfrm>
          <a:prstGeom prst="rect">
            <a:avLst/>
          </a:prstGeom>
        </p:spPr>
        <p:txBody>
          <a:bodyPr wrap="square">
            <a:spAutoFit/>
          </a:bodyPr>
          <a:lstStyle/>
          <a:p>
            <a:r>
              <a:rPr kumimoji="1" lang="zh-CN" altLang="en-US" sz="2400" b="1" dirty="0">
                <a:solidFill>
                  <a:srgbClr val="FF0000"/>
                </a:solidFill>
                <a:latin typeface="+mn-ea"/>
                <a:cs typeface="Heiti SC Light"/>
              </a:rPr>
              <a:t>穿过任意闭合曲面</a:t>
            </a:r>
            <a:r>
              <a:rPr kumimoji="1" lang="en-US" altLang="zh-CN" sz="2400" b="1" i="1" dirty="0">
                <a:solidFill>
                  <a:srgbClr val="FF0000"/>
                </a:solidFill>
                <a:latin typeface="Times New Roman" panose="02020603050405020304" pitchFamily="18" charset="0"/>
                <a:cs typeface="Times New Roman" panose="02020603050405020304" pitchFamily="18" charset="0"/>
              </a:rPr>
              <a:t>S</a:t>
            </a:r>
            <a:r>
              <a:rPr kumimoji="1" lang="zh-CN" altLang="en-US" sz="2400" b="1" dirty="0">
                <a:solidFill>
                  <a:srgbClr val="FF0000"/>
                </a:solidFill>
                <a:latin typeface="+mn-ea"/>
                <a:cs typeface="Heiti SC Light"/>
              </a:rPr>
              <a:t>的总磁通必然为</a:t>
            </a:r>
            <a:r>
              <a:rPr kumimoji="1" lang="zh-CN" altLang="en-US" sz="2400" b="1" dirty="0" smtClean="0">
                <a:solidFill>
                  <a:srgbClr val="FF0000"/>
                </a:solidFill>
                <a:latin typeface="+mn-ea"/>
                <a:cs typeface="Heiti SC Light"/>
              </a:rPr>
              <a:t>零。</a:t>
            </a:r>
            <a:r>
              <a:rPr lang="zh-CN" altLang="zh-CN" sz="2400" b="1" dirty="0" smtClean="0"/>
              <a:t>说明</a:t>
            </a:r>
            <a:r>
              <a:rPr lang="zh-CN" altLang="en-US" sz="2400" b="1" dirty="0"/>
              <a:t>磁场是无源场，</a:t>
            </a:r>
            <a:r>
              <a:rPr lang="zh-CN" altLang="zh-CN" sz="2400" b="1" dirty="0"/>
              <a:t>磁感应线是无头无尾的闭合曲线。</a:t>
            </a:r>
          </a:p>
        </p:txBody>
      </p:sp>
      <p:sp>
        <p:nvSpPr>
          <p:cNvPr id="7" name="矩形 6"/>
          <p:cNvSpPr/>
          <p:nvPr/>
        </p:nvSpPr>
        <p:spPr>
          <a:xfrm>
            <a:off x="2040480" y="2330772"/>
            <a:ext cx="8451674" cy="830997"/>
          </a:xfrm>
          <a:prstGeom prst="rect">
            <a:avLst/>
          </a:prstGeom>
        </p:spPr>
        <p:txBody>
          <a:bodyPr wrap="square">
            <a:spAutoFit/>
          </a:bodyPr>
          <a:lstStyle/>
          <a:p>
            <a:r>
              <a:rPr lang="zh-CN" altLang="en-US" sz="2400" b="1" dirty="0">
                <a:latin typeface="宋体" pitchFamily="2" charset="-122"/>
                <a:cs typeface="Arial Unicode MS" pitchFamily="34" charset="-122"/>
                <a:sym typeface="楷体_GB2312"/>
              </a:rPr>
              <a:t>在静电场内</a:t>
            </a:r>
            <a:r>
              <a:rPr lang="en-US" altLang="zh-CN" sz="2400" b="1" dirty="0">
                <a:latin typeface="宋体" pitchFamily="2" charset="-122"/>
                <a:cs typeface="Arial Unicode MS" pitchFamily="34" charset="-122"/>
                <a:sym typeface="楷体_GB2312"/>
              </a:rPr>
              <a:t>,</a:t>
            </a:r>
            <a:r>
              <a:rPr lang="zh-CN" altLang="en-US" sz="2400" b="1" dirty="0">
                <a:latin typeface="宋体" pitchFamily="2" charset="-122"/>
                <a:cs typeface="Arial Unicode MS" pitchFamily="34" charset="-122"/>
                <a:sym typeface="楷体_GB2312"/>
              </a:rPr>
              <a:t>任一闭合面的电通量等于这</a:t>
            </a:r>
            <a:r>
              <a:rPr lang="zh-CN" altLang="en-US" sz="2400" b="1" dirty="0">
                <a:solidFill>
                  <a:srgbClr val="FF0000"/>
                </a:solidFill>
                <a:latin typeface="宋体" pitchFamily="2" charset="-122"/>
                <a:cs typeface="Arial Unicode MS" pitchFamily="34" charset="-122"/>
                <a:sym typeface="楷体_GB2312"/>
              </a:rPr>
              <a:t>闭合面所包围的电量</a:t>
            </a:r>
            <a:r>
              <a:rPr lang="zh-CN" altLang="en-US" sz="2400" b="1" dirty="0">
                <a:latin typeface="宋体" pitchFamily="2" charset="-122"/>
                <a:cs typeface="Arial Unicode MS" pitchFamily="34" charset="-122"/>
                <a:sym typeface="楷体_GB2312"/>
              </a:rPr>
              <a:t>的代数和</a:t>
            </a:r>
            <a:r>
              <a:rPr lang="en-US" altLang="zh-CN" sz="2400" b="1" dirty="0">
                <a:latin typeface="宋体" pitchFamily="2" charset="-122"/>
                <a:cs typeface="Arial Unicode MS" pitchFamily="34" charset="-122"/>
                <a:sym typeface="Times New Roman"/>
              </a:rPr>
              <a:t>(</a:t>
            </a:r>
            <a:r>
              <a:rPr lang="zh-CN" altLang="en-US" sz="2400" b="1" dirty="0">
                <a:latin typeface="宋体" pitchFamily="2" charset="-122"/>
                <a:cs typeface="Arial Unicode MS" pitchFamily="34" charset="-122"/>
                <a:sym typeface="楷体_GB2312"/>
              </a:rPr>
              <a:t>净电荷</a:t>
            </a:r>
            <a:r>
              <a:rPr lang="en-US" altLang="zh-CN" sz="2400" b="1" dirty="0">
                <a:latin typeface="宋体" pitchFamily="2" charset="-122"/>
                <a:cs typeface="Arial Unicode MS" pitchFamily="34" charset="-122"/>
                <a:sym typeface="Times New Roman"/>
              </a:rPr>
              <a:t>)</a:t>
            </a:r>
            <a:r>
              <a:rPr lang="zh-CN" altLang="en-US" sz="2400" b="1" dirty="0">
                <a:latin typeface="宋体" pitchFamily="2" charset="-122"/>
                <a:cs typeface="Arial Unicode MS" pitchFamily="34" charset="-122"/>
                <a:sym typeface="楷体_GB2312"/>
              </a:rPr>
              <a:t>除以</a:t>
            </a:r>
            <a:r>
              <a:rPr lang="en-US" altLang="zh-CN" sz="2400" dirty="0">
                <a:latin typeface="Arial Unicode MS" pitchFamily="34" charset="-122"/>
                <a:cs typeface="Arial Unicode MS" pitchFamily="34" charset="-122"/>
                <a:sym typeface="Symbol"/>
              </a:rPr>
              <a:t>ε</a:t>
            </a:r>
            <a:r>
              <a:rPr lang="en-US" altLang="zh-CN" sz="2400" b="1" baseline="-21199" dirty="0">
                <a:latin typeface="宋体" pitchFamily="2" charset="-122"/>
                <a:cs typeface="Arial Unicode MS" pitchFamily="34" charset="-122"/>
                <a:sym typeface="Times New Roman"/>
              </a:rPr>
              <a:t>0</a:t>
            </a:r>
            <a:r>
              <a:rPr lang="zh-CN" altLang="en-US" sz="2400" b="1" dirty="0">
                <a:latin typeface="宋体" pitchFamily="2" charset="-122"/>
                <a:cs typeface="Arial Unicode MS" pitchFamily="34" charset="-122"/>
                <a:sym typeface="Times New Roman"/>
              </a:rPr>
              <a:t> </a:t>
            </a:r>
            <a:endParaRPr lang="zh-CN" altLang="en-US" sz="2400" dirty="0"/>
          </a:p>
        </p:txBody>
      </p:sp>
    </p:spTree>
    <p:extLst>
      <p:ext uri="{BB962C8B-B14F-4D97-AF65-F5344CB8AC3E}">
        <p14:creationId xmlns:p14="http://schemas.microsoft.com/office/powerpoint/2010/main" val="288498124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008294" y="1772816"/>
            <a:ext cx="3456384" cy="523220"/>
          </a:xfrm>
          <a:prstGeom prst="rect">
            <a:avLst/>
          </a:prstGeom>
          <a:noFill/>
        </p:spPr>
        <p:txBody>
          <a:bodyPr wrap="square" rtlCol="0">
            <a:spAutoFit/>
          </a:bodyPr>
          <a:lstStyle/>
          <a:p>
            <a:r>
              <a:rPr lang="en-US" altLang="zh-CN" sz="2800" b="1">
                <a:solidFill>
                  <a:srgbClr val="FF0000"/>
                </a:solidFill>
              </a:rPr>
              <a:t>3.</a:t>
            </a:r>
            <a:r>
              <a:rPr lang="zh-CN" altLang="en-US" sz="2800" b="1">
                <a:solidFill>
                  <a:srgbClr val="FF0000"/>
                </a:solidFill>
              </a:rPr>
              <a:t>安培定律（磁场）</a:t>
            </a:r>
            <a:endParaRPr lang="en-US" altLang="zh-CN" sz="2800" b="1">
              <a:solidFill>
                <a:srgbClr val="FF0000"/>
              </a:solidFill>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135333856"/>
              </p:ext>
            </p:extLst>
          </p:nvPr>
        </p:nvGraphicFramePr>
        <p:xfrm>
          <a:off x="5972175" y="1733550"/>
          <a:ext cx="3228975" cy="1123950"/>
        </p:xfrm>
        <a:graphic>
          <a:graphicData uri="http://schemas.openxmlformats.org/presentationml/2006/ole">
            <mc:AlternateContent xmlns:mc="http://schemas.openxmlformats.org/markup-compatibility/2006">
              <mc:Choice xmlns:v="urn:schemas-microsoft-com:vml" Requires="v">
                <p:oleObj spid="_x0000_s23580" name="Equation" r:id="rId3" imgW="1130040" imgH="393480" progId="Equation.DSMT4">
                  <p:embed/>
                </p:oleObj>
              </mc:Choice>
              <mc:Fallback>
                <p:oleObj name="Equation" r:id="rId3" imgW="1130040" imgH="393480" progId="Equation.DSMT4">
                  <p:embed/>
                  <p:pic>
                    <p:nvPicPr>
                      <p:cNvPr id="3" name="对象 2"/>
                      <p:cNvPicPr/>
                      <p:nvPr/>
                    </p:nvPicPr>
                    <p:blipFill>
                      <a:blip r:embed="rId4"/>
                      <a:stretch>
                        <a:fillRect/>
                      </a:stretch>
                    </p:blipFill>
                    <p:spPr>
                      <a:xfrm>
                        <a:off x="5972175" y="1733550"/>
                        <a:ext cx="3228975" cy="1123950"/>
                      </a:xfrm>
                      <a:prstGeom prst="rect">
                        <a:avLst/>
                      </a:prstGeom>
                    </p:spPr>
                  </p:pic>
                </p:oleObj>
              </mc:Fallback>
            </mc:AlternateContent>
          </a:graphicData>
        </a:graphic>
      </p:graphicFrame>
      <p:sp>
        <p:nvSpPr>
          <p:cNvPr id="4" name="矩形 3"/>
          <p:cNvSpPr/>
          <p:nvPr/>
        </p:nvSpPr>
        <p:spPr>
          <a:xfrm>
            <a:off x="3252519" y="4995374"/>
            <a:ext cx="5109091" cy="461665"/>
          </a:xfrm>
          <a:prstGeom prst="rect">
            <a:avLst/>
          </a:prstGeom>
        </p:spPr>
        <p:txBody>
          <a:bodyPr wrap="none">
            <a:spAutoFit/>
          </a:bodyPr>
          <a:lstStyle/>
          <a:p>
            <a:r>
              <a:rPr lang="zh-CN" altLang="zh-CN" sz="2400" b="1" dirty="0"/>
              <a:t>说明恒定磁场是非保守场，无势场。</a:t>
            </a:r>
          </a:p>
        </p:txBody>
      </p:sp>
      <p:sp>
        <p:nvSpPr>
          <p:cNvPr id="5" name="矩形 4"/>
          <p:cNvSpPr/>
          <p:nvPr/>
        </p:nvSpPr>
        <p:spPr>
          <a:xfrm>
            <a:off x="2034797" y="3387173"/>
            <a:ext cx="8423763" cy="978729"/>
          </a:xfrm>
          <a:prstGeom prst="rect">
            <a:avLst/>
          </a:prstGeom>
        </p:spPr>
        <p:txBody>
          <a:bodyPr wrap="square">
            <a:spAutoFit/>
          </a:bodyPr>
          <a:lstStyle/>
          <a:p>
            <a:pPr fontAlgn="base">
              <a:lnSpc>
                <a:spcPct val="120000"/>
              </a:lnSpc>
              <a:spcBef>
                <a:spcPct val="50000"/>
              </a:spcBef>
              <a:spcAft>
                <a:spcPct val="0"/>
              </a:spcAft>
            </a:pPr>
            <a:r>
              <a:rPr kumimoji="1" lang="zh-CN" altLang="en-US" sz="2400" b="1" dirty="0">
                <a:solidFill>
                  <a:srgbClr val="000000"/>
                </a:solidFill>
                <a:latin typeface="Times New Roman" pitchFamily="18" charset="0"/>
                <a:ea typeface="黑体" pitchFamily="49" charset="-122"/>
                <a:cs typeface="Times New Roman" pitchFamily="18" charset="0"/>
              </a:rPr>
              <a:t>在真空中的恒定磁场内，磁感应强度</a:t>
            </a:r>
            <a:r>
              <a:rPr kumimoji="1" lang="en-US" altLang="zh-CN" sz="2400" b="1" i="1" dirty="0">
                <a:solidFill>
                  <a:srgbClr val="000000"/>
                </a:solidFill>
                <a:latin typeface="Times New Roman" pitchFamily="18" charset="0"/>
                <a:ea typeface="黑体" pitchFamily="49" charset="-122"/>
                <a:cs typeface="Times New Roman" pitchFamily="18" charset="0"/>
              </a:rPr>
              <a:t>B</a:t>
            </a:r>
            <a:r>
              <a:rPr kumimoji="1" lang="zh-CN" altLang="en-US" sz="2400" b="1" dirty="0">
                <a:solidFill>
                  <a:srgbClr val="000000"/>
                </a:solidFill>
                <a:latin typeface="Times New Roman" pitchFamily="18" charset="0"/>
                <a:ea typeface="黑体" pitchFamily="49" charset="-122"/>
                <a:cs typeface="Times New Roman" pitchFamily="18" charset="0"/>
              </a:rPr>
              <a:t>矢量沿任何闭合曲线</a:t>
            </a:r>
            <a:r>
              <a:rPr kumimoji="1" lang="en-US" altLang="zh-CN" sz="2400" b="1" i="1" dirty="0">
                <a:solidFill>
                  <a:srgbClr val="000000"/>
                </a:solidFill>
                <a:latin typeface="Times New Roman" pitchFamily="18" charset="0"/>
                <a:ea typeface="黑体" pitchFamily="49" charset="-122"/>
                <a:cs typeface="Times New Roman" pitchFamily="18" charset="0"/>
              </a:rPr>
              <a:t>L</a:t>
            </a:r>
            <a:r>
              <a:rPr kumimoji="1" lang="zh-CN" altLang="en-US" sz="2400" b="1" dirty="0">
                <a:solidFill>
                  <a:srgbClr val="000000"/>
                </a:solidFill>
                <a:latin typeface="Times New Roman" pitchFamily="18" charset="0"/>
                <a:ea typeface="黑体" pitchFamily="49" charset="-122"/>
                <a:cs typeface="Times New Roman" pitchFamily="18" charset="0"/>
              </a:rPr>
              <a:t>的环流等于穿过闭合曲线回路所有传导电流的代数和的</a:t>
            </a:r>
            <a:r>
              <a:rPr kumimoji="1" lang="zh-CN" altLang="en-US" sz="2400" b="1" i="1" dirty="0">
                <a:solidFill>
                  <a:srgbClr val="000000"/>
                </a:solidFill>
                <a:latin typeface="Times New Roman" pitchFamily="18" charset="0"/>
                <a:ea typeface="黑体" pitchFamily="49" charset="-122"/>
                <a:cs typeface="Times New Roman" pitchFamily="18" charset="0"/>
                <a:sym typeface="Symbol" pitchFamily="18" charset="2"/>
              </a:rPr>
              <a:t></a:t>
            </a:r>
            <a:r>
              <a:rPr kumimoji="1" lang="en-US" altLang="zh-CN" sz="2400" b="1" baseline="-25000" dirty="0">
                <a:solidFill>
                  <a:srgbClr val="000000"/>
                </a:solidFill>
                <a:latin typeface="Times New Roman" pitchFamily="18" charset="0"/>
                <a:ea typeface="黑体" pitchFamily="49" charset="-122"/>
                <a:cs typeface="Times New Roman" pitchFamily="18" charset="0"/>
                <a:sym typeface="Symbol" pitchFamily="18" charset="2"/>
              </a:rPr>
              <a:t>0</a:t>
            </a:r>
            <a:r>
              <a:rPr kumimoji="1" lang="zh-CN" altLang="zh-CN" sz="2400" b="1" dirty="0">
                <a:solidFill>
                  <a:srgbClr val="000000"/>
                </a:solidFill>
                <a:latin typeface="Times New Roman" pitchFamily="18" charset="0"/>
                <a:ea typeface="黑体" pitchFamily="49" charset="-122"/>
                <a:cs typeface="Times New Roman" pitchFamily="18" charset="0"/>
                <a:sym typeface="Symbol" pitchFamily="18" charset="2"/>
              </a:rPr>
              <a:t>倍</a:t>
            </a:r>
            <a:r>
              <a:rPr kumimoji="1" lang="zh-CN" altLang="en-US" sz="2400" b="1" dirty="0">
                <a:solidFill>
                  <a:srgbClr val="000000"/>
                </a:solidFill>
                <a:latin typeface="Times New Roman" pitchFamily="18" charset="0"/>
                <a:ea typeface="黑体" pitchFamily="49" charset="-122"/>
                <a:cs typeface="Times New Roman" pitchFamily="18" charset="0"/>
                <a:sym typeface="Symbol" pitchFamily="18" charset="2"/>
              </a:rPr>
              <a:t>。</a:t>
            </a:r>
          </a:p>
        </p:txBody>
      </p:sp>
    </p:spTree>
    <p:extLst>
      <p:ext uri="{BB962C8B-B14F-4D97-AF65-F5344CB8AC3E}">
        <p14:creationId xmlns:p14="http://schemas.microsoft.com/office/powerpoint/2010/main" val="354162605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051066" y="865226"/>
            <a:ext cx="6483334" cy="523220"/>
          </a:xfrm>
          <a:prstGeom prst="rect">
            <a:avLst/>
          </a:prstGeom>
          <a:noFill/>
        </p:spPr>
        <p:txBody>
          <a:bodyPr wrap="square" rtlCol="0">
            <a:spAutoFit/>
          </a:bodyPr>
          <a:lstStyle/>
          <a:p>
            <a:r>
              <a:rPr lang="en-US" altLang="zh-CN" sz="2800" b="1" dirty="0">
                <a:solidFill>
                  <a:srgbClr val="FF0000"/>
                </a:solidFill>
              </a:rPr>
              <a:t>4.</a:t>
            </a:r>
            <a:r>
              <a:rPr lang="zh-CN" altLang="en-US" sz="2800" b="1" dirty="0" smtClean="0">
                <a:solidFill>
                  <a:srgbClr val="FF0000"/>
                </a:solidFill>
              </a:rPr>
              <a:t>法拉第电磁感应定律（积分形式）</a:t>
            </a:r>
            <a:endParaRPr lang="en-US" altLang="zh-CN" sz="2800" b="1" dirty="0">
              <a:solidFill>
                <a:srgbClr val="FF0000"/>
              </a:solidFill>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775659946"/>
              </p:ext>
            </p:extLst>
          </p:nvPr>
        </p:nvGraphicFramePr>
        <p:xfrm>
          <a:off x="3063989" y="1980171"/>
          <a:ext cx="5805488" cy="1306512"/>
        </p:xfrm>
        <a:graphic>
          <a:graphicData uri="http://schemas.openxmlformats.org/presentationml/2006/ole">
            <mc:AlternateContent xmlns:mc="http://schemas.openxmlformats.org/markup-compatibility/2006">
              <mc:Choice xmlns:v="urn:schemas-microsoft-com:vml" Requires="v">
                <p:oleObj spid="_x0000_s24603" name="Equation" r:id="rId4" imgW="2031840" imgH="457200" progId="Equation.DSMT4">
                  <p:embed/>
                </p:oleObj>
              </mc:Choice>
              <mc:Fallback>
                <p:oleObj name="Equation" r:id="rId4" imgW="2031840" imgH="457200" progId="Equation.DSMT4">
                  <p:embed/>
                  <p:pic>
                    <p:nvPicPr>
                      <p:cNvPr id="6" name="对象 5"/>
                      <p:cNvPicPr>
                        <a:picLocks noChangeAspect="1" noChangeArrowheads="1"/>
                      </p:cNvPicPr>
                      <p:nvPr/>
                    </p:nvPicPr>
                    <p:blipFill>
                      <a:blip r:embed="rId5"/>
                      <a:srcRect/>
                      <a:stretch>
                        <a:fillRect/>
                      </a:stretch>
                    </p:blipFill>
                    <p:spPr bwMode="auto">
                      <a:xfrm>
                        <a:off x="3063989" y="1980171"/>
                        <a:ext cx="5805488" cy="1306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TextBox 7"/>
          <p:cNvSpPr txBox="1"/>
          <p:nvPr/>
        </p:nvSpPr>
        <p:spPr>
          <a:xfrm>
            <a:off x="2470819" y="3971395"/>
            <a:ext cx="6480720" cy="523220"/>
          </a:xfrm>
          <a:prstGeom prst="rect">
            <a:avLst/>
          </a:prstGeom>
          <a:noFill/>
        </p:spPr>
        <p:txBody>
          <a:bodyPr wrap="square" rtlCol="0">
            <a:spAutoFit/>
          </a:bodyPr>
          <a:lstStyle/>
          <a:p>
            <a:r>
              <a:rPr lang="zh-CN" altLang="en-US" sz="2800" b="1" dirty="0"/>
              <a:t>变化的磁场可以产生电动势</a:t>
            </a:r>
          </a:p>
        </p:txBody>
      </p:sp>
    </p:spTree>
    <p:extLst>
      <p:ext uri="{BB962C8B-B14F-4D97-AF65-F5344CB8AC3E}">
        <p14:creationId xmlns:p14="http://schemas.microsoft.com/office/powerpoint/2010/main" val="123072487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8925" name="Text Box 13"/>
          <p:cNvSpPr txBox="1">
            <a:spLocks noChangeArrowheads="1"/>
          </p:cNvSpPr>
          <p:nvPr/>
        </p:nvSpPr>
        <p:spPr bwMode="auto">
          <a:xfrm>
            <a:off x="814918" y="2734742"/>
            <a:ext cx="5598583" cy="1126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20000"/>
              </a:lnSpc>
              <a:spcBef>
                <a:spcPct val="50000"/>
              </a:spcBef>
              <a:spcAft>
                <a:spcPct val="0"/>
              </a:spcAft>
            </a:pPr>
            <a:r>
              <a:rPr kumimoji="1" lang="zh-CN" altLang="en-US" sz="2800" b="1" dirty="0" smtClean="0">
                <a:solidFill>
                  <a:srgbClr val="000000"/>
                </a:solidFill>
                <a:latin typeface="黑体" pitchFamily="49" charset="-122"/>
                <a:ea typeface="黑体" pitchFamily="49" charset="-122"/>
              </a:rPr>
              <a:t>式中负号表示感应电场与磁场增量的方向成</a:t>
            </a:r>
            <a:r>
              <a:rPr kumimoji="1" lang="zh-CN" altLang="en-US" sz="2800" b="1" dirty="0" smtClean="0">
                <a:solidFill>
                  <a:srgbClr val="FF0000"/>
                </a:solidFill>
                <a:latin typeface="黑体" pitchFamily="49" charset="-122"/>
                <a:ea typeface="黑体" pitchFamily="49" charset="-122"/>
              </a:rPr>
              <a:t>左手螺旋关系</a:t>
            </a:r>
            <a:r>
              <a:rPr kumimoji="1" lang="zh-CN" altLang="en-US" sz="2800" b="1" dirty="0" smtClean="0">
                <a:solidFill>
                  <a:srgbClr val="000000"/>
                </a:solidFill>
                <a:latin typeface="黑体" pitchFamily="49" charset="-122"/>
                <a:ea typeface="黑体" pitchFamily="49" charset="-122"/>
              </a:rPr>
              <a:t>。</a:t>
            </a:r>
            <a:endParaRPr kumimoji="1" lang="zh-CN" altLang="en-US" sz="2400" b="1" dirty="0" smtClean="0">
              <a:solidFill>
                <a:srgbClr val="000000"/>
              </a:solidFill>
              <a:latin typeface="黑体" pitchFamily="49" charset="-122"/>
              <a:ea typeface="黑体" pitchFamily="49" charset="-122"/>
            </a:endParaRPr>
          </a:p>
        </p:txBody>
      </p:sp>
      <p:grpSp>
        <p:nvGrpSpPr>
          <p:cNvPr id="38926" name="Group 14"/>
          <p:cNvGrpSpPr>
            <a:grpSpLocks/>
          </p:cNvGrpSpPr>
          <p:nvPr/>
        </p:nvGrpSpPr>
        <p:grpSpPr bwMode="auto">
          <a:xfrm>
            <a:off x="1526117" y="4686301"/>
            <a:ext cx="3556000" cy="1357313"/>
            <a:chOff x="3696" y="2160"/>
            <a:chExt cx="1680" cy="855"/>
          </a:xfrm>
        </p:grpSpPr>
        <p:sp>
          <p:nvSpPr>
            <p:cNvPr id="38927" name="Oval 15"/>
            <p:cNvSpPr>
              <a:spLocks noChangeArrowheads="1"/>
            </p:cNvSpPr>
            <p:nvPr/>
          </p:nvSpPr>
          <p:spPr bwMode="auto">
            <a:xfrm>
              <a:off x="3696" y="2160"/>
              <a:ext cx="1680" cy="816"/>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800" b="1" smtClean="0">
                <a:solidFill>
                  <a:srgbClr val="000000"/>
                </a:solidFill>
                <a:latin typeface="Times New Roman" pitchFamily="18" charset="0"/>
              </a:endParaRPr>
            </a:p>
          </p:txBody>
        </p:sp>
        <p:sp>
          <p:nvSpPr>
            <p:cNvPr id="38928" name="Line 16"/>
            <p:cNvSpPr>
              <a:spLocks noChangeShapeType="1"/>
            </p:cNvSpPr>
            <p:nvPr/>
          </p:nvSpPr>
          <p:spPr bwMode="auto">
            <a:xfrm>
              <a:off x="4464" y="2976"/>
              <a:ext cx="192" cy="0"/>
            </a:xfrm>
            <a:prstGeom prst="line">
              <a:avLst/>
            </a:prstGeom>
            <a:noFill/>
            <a:ln w="38100">
              <a:solidFill>
                <a:srgbClr val="FF33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800" b="1" smtClean="0">
                <a:solidFill>
                  <a:srgbClr val="000000"/>
                </a:solidFill>
                <a:latin typeface="Times New Roman" pitchFamily="18" charset="0"/>
              </a:endParaRPr>
            </a:p>
          </p:txBody>
        </p:sp>
        <p:graphicFrame>
          <p:nvGraphicFramePr>
            <p:cNvPr id="38929" name="Object 17"/>
            <p:cNvGraphicFramePr>
              <a:graphicFrameLocks noChangeAspect="1"/>
            </p:cNvGraphicFramePr>
            <p:nvPr/>
          </p:nvGraphicFramePr>
          <p:xfrm>
            <a:off x="4501" y="2582"/>
            <a:ext cx="434" cy="433"/>
          </p:xfrm>
          <a:graphic>
            <a:graphicData uri="http://schemas.openxmlformats.org/presentationml/2006/ole">
              <mc:AlternateContent xmlns:mc="http://schemas.openxmlformats.org/markup-compatibility/2006">
                <mc:Choice xmlns:v="urn:schemas-microsoft-com:vml" Requires="v">
                  <p:oleObj spid="_x0000_s14740" name="公式" r:id="rId3" imgW="406080" imgH="407160" progId="Equations">
                    <p:embed/>
                  </p:oleObj>
                </mc:Choice>
                <mc:Fallback>
                  <p:oleObj name="公式" r:id="rId3" imgW="406080" imgH="407160" progId="Equations">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01" y="2582"/>
                          <a:ext cx="434" cy="433"/>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28398" dir="1593903" algn="ctr" rotWithShape="0">
                                  <a:srgbClr val="808080"/>
                                </a:outerShdw>
                              </a:effectLst>
                            </a14:hiddenEffects>
                          </a:ext>
                        </a:extLst>
                      </p:spPr>
                    </p:pic>
                  </p:oleObj>
                </mc:Fallback>
              </mc:AlternateContent>
            </a:graphicData>
          </a:graphic>
        </p:graphicFrame>
      </p:grpSp>
      <p:grpSp>
        <p:nvGrpSpPr>
          <p:cNvPr id="38930" name="Group 18"/>
          <p:cNvGrpSpPr>
            <a:grpSpLocks/>
          </p:cNvGrpSpPr>
          <p:nvPr/>
        </p:nvGrpSpPr>
        <p:grpSpPr bwMode="auto">
          <a:xfrm>
            <a:off x="7628467" y="4520208"/>
            <a:ext cx="3556000" cy="1789113"/>
            <a:chOff x="3264" y="2425"/>
            <a:chExt cx="1680" cy="1127"/>
          </a:xfrm>
        </p:grpSpPr>
        <p:sp>
          <p:nvSpPr>
            <p:cNvPr id="38931" name="Line 19"/>
            <p:cNvSpPr>
              <a:spLocks noChangeShapeType="1"/>
            </p:cNvSpPr>
            <p:nvPr/>
          </p:nvSpPr>
          <p:spPr bwMode="auto">
            <a:xfrm flipV="1">
              <a:off x="4128" y="2425"/>
              <a:ext cx="0" cy="672"/>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800" b="1" smtClean="0">
                <a:solidFill>
                  <a:srgbClr val="000000"/>
                </a:solidFill>
                <a:latin typeface="Times New Roman" pitchFamily="18" charset="0"/>
              </a:endParaRPr>
            </a:p>
          </p:txBody>
        </p:sp>
        <p:graphicFrame>
          <p:nvGraphicFramePr>
            <p:cNvPr id="38932" name="Object 20"/>
            <p:cNvGraphicFramePr>
              <a:graphicFrameLocks noChangeAspect="1"/>
            </p:cNvGraphicFramePr>
            <p:nvPr/>
          </p:nvGraphicFramePr>
          <p:xfrm>
            <a:off x="4245" y="2451"/>
            <a:ext cx="146" cy="174"/>
          </p:xfrm>
          <a:graphic>
            <a:graphicData uri="http://schemas.openxmlformats.org/presentationml/2006/ole">
              <mc:AlternateContent xmlns:mc="http://schemas.openxmlformats.org/markup-compatibility/2006">
                <mc:Choice xmlns:v="urn:schemas-microsoft-com:vml" Requires="v">
                  <p:oleObj spid="_x0000_s14741" name="公式" r:id="rId5" imgW="203040" imgH="241560" progId="Equations">
                    <p:embed/>
                  </p:oleObj>
                </mc:Choice>
                <mc:Fallback>
                  <p:oleObj name="公式" r:id="rId5" imgW="203040" imgH="241560" progId="Equations">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45" y="2451"/>
                          <a:ext cx="146" cy="174"/>
                        </a:xfrm>
                        <a:prstGeom prst="rect">
                          <a:avLst/>
                        </a:prstGeom>
                        <a:noFill/>
                        <a:effectLst>
                          <a:outerShdw dist="28398" dir="1593903" algn="ctr" rotWithShape="0">
                            <a:srgbClr val="808080"/>
                          </a:outerShdw>
                        </a:effectLst>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8933" name="Oval 21"/>
            <p:cNvSpPr>
              <a:spLocks noChangeArrowheads="1"/>
            </p:cNvSpPr>
            <p:nvPr/>
          </p:nvSpPr>
          <p:spPr bwMode="auto">
            <a:xfrm>
              <a:off x="3264" y="2736"/>
              <a:ext cx="1680" cy="816"/>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800" b="1" smtClean="0">
                <a:solidFill>
                  <a:srgbClr val="000000"/>
                </a:solidFill>
                <a:latin typeface="Times New Roman" pitchFamily="18" charset="0"/>
              </a:endParaRPr>
            </a:p>
          </p:txBody>
        </p:sp>
        <p:sp>
          <p:nvSpPr>
            <p:cNvPr id="38934" name="Line 22"/>
            <p:cNvSpPr>
              <a:spLocks noChangeShapeType="1"/>
            </p:cNvSpPr>
            <p:nvPr/>
          </p:nvSpPr>
          <p:spPr bwMode="auto">
            <a:xfrm flipH="1">
              <a:off x="3936" y="3552"/>
              <a:ext cx="240" cy="0"/>
            </a:xfrm>
            <a:prstGeom prst="line">
              <a:avLst/>
            </a:prstGeom>
            <a:noFill/>
            <a:ln w="38100">
              <a:solidFill>
                <a:srgbClr val="FF33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800" b="1" smtClean="0">
                <a:solidFill>
                  <a:srgbClr val="000000"/>
                </a:solidFill>
                <a:latin typeface="Times New Roman" pitchFamily="18" charset="0"/>
              </a:endParaRPr>
            </a:p>
          </p:txBody>
        </p:sp>
        <p:graphicFrame>
          <p:nvGraphicFramePr>
            <p:cNvPr id="38935" name="Object 23"/>
            <p:cNvGraphicFramePr>
              <a:graphicFrameLocks noChangeAspect="1"/>
            </p:cNvGraphicFramePr>
            <p:nvPr/>
          </p:nvGraphicFramePr>
          <p:xfrm>
            <a:off x="4185" y="3185"/>
            <a:ext cx="194" cy="260"/>
          </p:xfrm>
          <a:graphic>
            <a:graphicData uri="http://schemas.openxmlformats.org/presentationml/2006/ole">
              <mc:AlternateContent xmlns:mc="http://schemas.openxmlformats.org/markup-compatibility/2006">
                <mc:Choice xmlns:v="urn:schemas-microsoft-com:vml" Requires="v">
                  <p:oleObj spid="_x0000_s14742" name="公式" r:id="rId7" imgW="241200" imgH="330840" progId="Equations">
                    <p:embed/>
                  </p:oleObj>
                </mc:Choice>
                <mc:Fallback>
                  <p:oleObj name="公式" r:id="rId7" imgW="241200" imgH="330840" progId="Equations">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185" y="3185"/>
                          <a:ext cx="194" cy="260"/>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28398" dir="1593903" algn="ctr" rotWithShape="0">
                                  <a:srgbClr val="808080"/>
                                </a:outerShdw>
                              </a:effectLst>
                            </a14:hiddenEffects>
                          </a:ext>
                        </a:extLst>
                      </p:spPr>
                    </p:pic>
                  </p:oleObj>
                </mc:Fallback>
              </mc:AlternateContent>
            </a:graphicData>
          </a:graphic>
        </p:graphicFrame>
      </p:grpSp>
      <p:grpSp>
        <p:nvGrpSpPr>
          <p:cNvPr id="38936" name="Group 24"/>
          <p:cNvGrpSpPr>
            <a:grpSpLocks/>
          </p:cNvGrpSpPr>
          <p:nvPr/>
        </p:nvGrpSpPr>
        <p:grpSpPr bwMode="auto">
          <a:xfrm>
            <a:off x="3253318" y="3860800"/>
            <a:ext cx="804333" cy="1398588"/>
            <a:chOff x="4512" y="1663"/>
            <a:chExt cx="380" cy="881"/>
          </a:xfrm>
        </p:grpSpPr>
        <p:sp>
          <p:nvSpPr>
            <p:cNvPr id="38937" name="Line 25"/>
            <p:cNvSpPr>
              <a:spLocks noChangeShapeType="1"/>
            </p:cNvSpPr>
            <p:nvPr/>
          </p:nvSpPr>
          <p:spPr bwMode="auto">
            <a:xfrm flipV="1">
              <a:off x="4512" y="1872"/>
              <a:ext cx="0" cy="672"/>
            </a:xfrm>
            <a:prstGeom prst="line">
              <a:avLst/>
            </a:prstGeom>
            <a:noFill/>
            <a:ln w="2857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zh-CN" altLang="en-US" sz="2800" b="1" smtClean="0">
                <a:solidFill>
                  <a:srgbClr val="000000"/>
                </a:solidFill>
                <a:latin typeface="Times New Roman" pitchFamily="18" charset="0"/>
              </a:endParaRPr>
            </a:p>
          </p:txBody>
        </p:sp>
        <p:graphicFrame>
          <p:nvGraphicFramePr>
            <p:cNvPr id="38938" name="Object 26"/>
            <p:cNvGraphicFramePr>
              <a:graphicFrameLocks noChangeAspect="1"/>
            </p:cNvGraphicFramePr>
            <p:nvPr/>
          </p:nvGraphicFramePr>
          <p:xfrm>
            <a:off x="4552" y="1663"/>
            <a:ext cx="340" cy="598"/>
          </p:xfrm>
          <a:graphic>
            <a:graphicData uri="http://schemas.openxmlformats.org/presentationml/2006/ole">
              <mc:AlternateContent xmlns:mc="http://schemas.openxmlformats.org/markup-compatibility/2006">
                <mc:Choice xmlns:v="urn:schemas-microsoft-com:vml" Requires="v">
                  <p:oleObj spid="_x0000_s14743" name="公式" r:id="rId9" imgW="406080" imgH="725040" progId="Equations">
                    <p:embed/>
                  </p:oleObj>
                </mc:Choice>
                <mc:Fallback>
                  <p:oleObj name="公式" r:id="rId9" imgW="406080" imgH="725040" progId="Equations">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552" y="1663"/>
                          <a:ext cx="340" cy="598"/>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28398" dir="1593903" algn="ctr" rotWithShape="0">
                                  <a:srgbClr val="808080"/>
                                </a:outerShdw>
                              </a:effectLst>
                            </a14:hiddenEffects>
                          </a:ext>
                        </a:extLst>
                      </p:spPr>
                    </p:pic>
                  </p:oleObj>
                </mc:Fallback>
              </mc:AlternateContent>
            </a:graphicData>
          </a:graphic>
        </p:graphicFrame>
      </p:grpSp>
      <p:sp>
        <p:nvSpPr>
          <p:cNvPr id="38939" name="Text Box 27"/>
          <p:cNvSpPr txBox="1">
            <a:spLocks noChangeArrowheads="1"/>
          </p:cNvSpPr>
          <p:nvPr/>
        </p:nvSpPr>
        <p:spPr bwMode="auto">
          <a:xfrm>
            <a:off x="7344833" y="1135657"/>
            <a:ext cx="4108451" cy="111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20000"/>
              </a:lnSpc>
              <a:spcBef>
                <a:spcPct val="0"/>
              </a:spcBef>
              <a:spcAft>
                <a:spcPct val="0"/>
              </a:spcAft>
            </a:pPr>
            <a:r>
              <a:rPr kumimoji="1" lang="zh-CN" altLang="en-US" sz="2800" b="1" dirty="0" smtClean="0">
                <a:solidFill>
                  <a:srgbClr val="000000"/>
                </a:solidFill>
                <a:latin typeface="黑体" pitchFamily="49" charset="-122"/>
                <a:ea typeface="黑体" pitchFamily="49" charset="-122"/>
              </a:rPr>
              <a:t>与恒定电流产生的磁场作类比。</a:t>
            </a:r>
          </a:p>
        </p:txBody>
      </p:sp>
      <p:graphicFrame>
        <p:nvGraphicFramePr>
          <p:cNvPr id="38940" name="Object 28"/>
          <p:cNvGraphicFramePr>
            <a:graphicFrameLocks noChangeAspect="1"/>
          </p:cNvGraphicFramePr>
          <p:nvPr/>
        </p:nvGraphicFramePr>
        <p:xfrm>
          <a:off x="7823201" y="2646958"/>
          <a:ext cx="2976033" cy="809625"/>
        </p:xfrm>
        <a:graphic>
          <a:graphicData uri="http://schemas.openxmlformats.org/presentationml/2006/ole">
            <mc:AlternateContent xmlns:mc="http://schemas.openxmlformats.org/markup-compatibility/2006">
              <mc:Choice xmlns:v="urn:schemas-microsoft-com:vml" Requires="v">
                <p:oleObj spid="_x0000_s14744" name="公式" r:id="rId11" imgW="837836" imgH="304668" progId="Equations">
                  <p:embed/>
                </p:oleObj>
              </mc:Choice>
              <mc:Fallback>
                <p:oleObj name="公式" r:id="rId11" imgW="837836" imgH="304668" progId="Equations">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823201" y="2646958"/>
                        <a:ext cx="2976033" cy="809625"/>
                      </a:xfrm>
                      <a:prstGeom prst="rect">
                        <a:avLst/>
                      </a:prstGeom>
                      <a:noFill/>
                      <a:ln>
                        <a:noFill/>
                      </a:ln>
                      <a:extLst>
                        <a:ext uri="{909E8E84-426E-40DD-AFC4-6F175D3DCCD1}">
                          <a14:hiddenFill xmlns:a14="http://schemas.microsoft.com/office/drawing/2010/main">
                            <a:solidFill>
                              <a:srgbClr val="FFCCCC"/>
                            </a:solidFill>
                          </a14:hiddenFill>
                        </a:ext>
                        <a:ext uri="{91240B29-F687-4F45-9708-019B960494DF}">
                          <a14:hiddenLine xmlns:a14="http://schemas.microsoft.com/office/drawing/2010/main" w="19050">
                            <a:solidFill>
                              <a:srgbClr val="FF0000"/>
                            </a:solidFill>
                            <a:miter lim="800000"/>
                            <a:headEnd/>
                            <a:tailEnd/>
                          </a14:hiddenLine>
                        </a:ext>
                      </a:extLst>
                    </p:spPr>
                  </p:pic>
                </p:oleObj>
              </mc:Fallback>
            </mc:AlternateContent>
          </a:graphicData>
        </a:graphic>
      </p:graphicFrame>
      <p:sp>
        <p:nvSpPr>
          <p:cNvPr id="38941" name="Line 29"/>
          <p:cNvSpPr>
            <a:spLocks noChangeShapeType="1"/>
          </p:cNvSpPr>
          <p:nvPr/>
        </p:nvSpPr>
        <p:spPr bwMode="auto">
          <a:xfrm>
            <a:off x="6864351" y="1207096"/>
            <a:ext cx="0" cy="496887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sz="2800" b="1" smtClean="0">
              <a:solidFill>
                <a:srgbClr val="000000"/>
              </a:solidFill>
              <a:latin typeface="Times New Roman" pitchFamily="18" charset="0"/>
            </a:endParaRPr>
          </a:p>
        </p:txBody>
      </p:sp>
      <p:graphicFrame>
        <p:nvGraphicFramePr>
          <p:cNvPr id="38943" name="Object 31"/>
          <p:cNvGraphicFramePr>
            <a:graphicFrameLocks noChangeAspect="1"/>
          </p:cNvGraphicFramePr>
          <p:nvPr/>
        </p:nvGraphicFramePr>
        <p:xfrm>
          <a:off x="719667" y="1366317"/>
          <a:ext cx="5662084" cy="1084263"/>
        </p:xfrm>
        <a:graphic>
          <a:graphicData uri="http://schemas.openxmlformats.org/presentationml/2006/ole">
            <mc:AlternateContent xmlns:mc="http://schemas.openxmlformats.org/markup-compatibility/2006">
              <mc:Choice xmlns:v="urn:schemas-microsoft-com:vml" Requires="v">
                <p:oleObj spid="_x0000_s14745" name="公式" r:id="rId13" imgW="2804400" imgH="712440" progId="Equations">
                  <p:embed/>
                </p:oleObj>
              </mc:Choice>
              <mc:Fallback>
                <p:oleObj name="公式" r:id="rId13" imgW="2804400" imgH="712440" progId="Equations">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19667" y="1366317"/>
                        <a:ext cx="5662084" cy="1084263"/>
                      </a:xfrm>
                      <a:prstGeom prst="rect">
                        <a:avLst/>
                      </a:prstGeom>
                      <a:noFill/>
                      <a:ln>
                        <a:noFill/>
                      </a:ln>
                      <a:effectLst/>
                      <a:extLst>
                        <a:ext uri="{909E8E84-426E-40DD-AFC4-6F175D3DCCD1}">
                          <a14:hiddenFill xmlns:a14="http://schemas.microsoft.com/office/drawing/2010/main">
                            <a:solidFill>
                              <a:srgbClr val="FFCCCC"/>
                            </a:solidFill>
                          </a14:hiddenFill>
                        </a:ext>
                        <a:ext uri="{91240B29-F687-4F45-9708-019B960494DF}">
                          <a14:hiddenLine xmlns:a14="http://schemas.microsoft.com/office/drawing/2010/main" w="19050">
                            <a:solidFill>
                              <a:srgbClr val="FF0000"/>
                            </a:solidFill>
                            <a:miter lim="800000"/>
                            <a:headEnd/>
                            <a:tailEnd/>
                          </a14:hiddenLine>
                        </a:ext>
                        <a:ext uri="{AF507438-7753-43E0-B8FC-AC1667EBCBE1}">
                          <a14:hiddenEffects xmlns:a14="http://schemas.microsoft.com/office/drawing/2010/main">
                            <a:effectLst>
                              <a:outerShdw dist="107763" dir="18900000" algn="ctr" rotWithShape="0">
                                <a:srgbClr val="808080"/>
                              </a:outerShdw>
                            </a:effectLst>
                          </a14:hiddenEffects>
                        </a:ext>
                      </a:extLst>
                    </p:spPr>
                  </p:pic>
                </p:oleObj>
              </mc:Fallback>
            </mc:AlternateContent>
          </a:graphicData>
        </a:graphic>
      </p:graphicFrame>
      <p:sp>
        <p:nvSpPr>
          <p:cNvPr id="2" name="TextBox 1"/>
          <p:cNvSpPr txBox="1"/>
          <p:nvPr/>
        </p:nvSpPr>
        <p:spPr>
          <a:xfrm>
            <a:off x="5372100" y="3947637"/>
            <a:ext cx="1358900" cy="923330"/>
          </a:xfrm>
          <a:prstGeom prst="rect">
            <a:avLst/>
          </a:prstGeom>
          <a:noFill/>
        </p:spPr>
        <p:txBody>
          <a:bodyPr wrap="square" rtlCol="0">
            <a:spAutoFit/>
          </a:bodyPr>
          <a:lstStyle/>
          <a:p>
            <a:r>
              <a:rPr lang="zh-CN" altLang="en-US" b="1" smtClean="0"/>
              <a:t>用楞次定律判别方向更加方便。</a:t>
            </a:r>
            <a:endParaRPr lang="zh-CN" altLang="en-US" b="1"/>
          </a:p>
        </p:txBody>
      </p:sp>
    </p:spTree>
    <p:extLst>
      <p:ext uri="{BB962C8B-B14F-4D97-AF65-F5344CB8AC3E}">
        <p14:creationId xmlns:p14="http://schemas.microsoft.com/office/powerpoint/2010/main" val="59749855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39939" name="Group 3"/>
          <p:cNvGrpSpPr>
            <a:grpSpLocks/>
          </p:cNvGrpSpPr>
          <p:nvPr/>
        </p:nvGrpSpPr>
        <p:grpSpPr bwMode="auto">
          <a:xfrm>
            <a:off x="2446868" y="1124373"/>
            <a:ext cx="2783417" cy="676275"/>
            <a:chOff x="1667" y="361"/>
            <a:chExt cx="1127" cy="479"/>
          </a:xfrm>
        </p:grpSpPr>
        <p:sp>
          <p:nvSpPr>
            <p:cNvPr id="39940" name="Text Box 4"/>
            <p:cNvSpPr txBox="1">
              <a:spLocks noChangeArrowheads="1"/>
            </p:cNvSpPr>
            <p:nvPr/>
          </p:nvSpPr>
          <p:spPr bwMode="auto">
            <a:xfrm>
              <a:off x="1667" y="383"/>
              <a:ext cx="718" cy="368"/>
            </a:xfrm>
            <a:prstGeom prst="rect">
              <a:avLst/>
            </a:prstGeom>
            <a:noFill/>
            <a:ln>
              <a:noFill/>
            </a:ln>
            <a:effectLst/>
            <a:extLst>
              <a:ext uri="{909E8E84-426E-40DD-AFC4-6F175D3DCCD1}">
                <a14:hiddenFill xmlns:a14="http://schemas.microsoft.com/office/drawing/2010/main">
                  <a:solidFill>
                    <a:srgbClr val="FF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ctr" fontAlgn="base">
                <a:spcBef>
                  <a:spcPct val="0"/>
                </a:spcBef>
                <a:spcAft>
                  <a:spcPct val="0"/>
                </a:spcAft>
              </a:pPr>
              <a:r>
                <a:rPr kumimoji="1" lang="zh-CN" altLang="en-US" sz="2800" b="1" smtClean="0">
                  <a:solidFill>
                    <a:srgbClr val="000000"/>
                  </a:solidFill>
                  <a:latin typeface="Times New Roman" pitchFamily="18" charset="0"/>
                  <a:ea typeface="黑体" pitchFamily="49" charset="-122"/>
                  <a:cs typeface="Times New Roman" pitchFamily="18" charset="0"/>
                </a:rPr>
                <a:t>静电场</a:t>
              </a:r>
            </a:p>
          </p:txBody>
        </p:sp>
        <p:graphicFrame>
          <p:nvGraphicFramePr>
            <p:cNvPr id="39941" name="Object 5"/>
            <p:cNvGraphicFramePr>
              <a:graphicFrameLocks noChangeAspect="1"/>
            </p:cNvGraphicFramePr>
            <p:nvPr/>
          </p:nvGraphicFramePr>
          <p:xfrm>
            <a:off x="2436" y="361"/>
            <a:ext cx="358" cy="479"/>
          </p:xfrm>
          <a:graphic>
            <a:graphicData uri="http://schemas.openxmlformats.org/presentationml/2006/ole">
              <mc:AlternateContent xmlns:mc="http://schemas.openxmlformats.org/markup-compatibility/2006">
                <mc:Choice xmlns:v="urn:schemas-microsoft-com:vml" Requires="v">
                  <p:oleObj spid="_x0000_s15764" name="公式" r:id="rId3" imgW="304560" imgH="407160" progId="Equations">
                    <p:embed/>
                  </p:oleObj>
                </mc:Choice>
                <mc:Fallback>
                  <p:oleObj name="公式" r:id="rId3" imgW="304560" imgH="407160" progId="Equations">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36" y="361"/>
                          <a:ext cx="358" cy="479"/>
                        </a:xfrm>
                        <a:prstGeom prst="rect">
                          <a:avLst/>
                        </a:prstGeom>
                        <a:noFill/>
                        <a:extLst>
                          <a:ext uri="{909E8E84-426E-40DD-AFC4-6F175D3DCCD1}">
                            <a14:hiddenFill xmlns:a14="http://schemas.microsoft.com/office/drawing/2010/main">
                              <a:solidFill>
                                <a:srgbClr val="FFCCCC"/>
                              </a:solidFill>
                            </a14:hiddenFill>
                          </a:ext>
                        </a:extLst>
                      </p:spPr>
                    </p:pic>
                  </p:oleObj>
                </mc:Fallback>
              </mc:AlternateContent>
            </a:graphicData>
          </a:graphic>
        </p:graphicFrame>
      </p:grpSp>
      <p:grpSp>
        <p:nvGrpSpPr>
          <p:cNvPr id="39942" name="Group 6"/>
          <p:cNvGrpSpPr>
            <a:grpSpLocks/>
          </p:cNvGrpSpPr>
          <p:nvPr/>
        </p:nvGrpSpPr>
        <p:grpSpPr bwMode="auto">
          <a:xfrm>
            <a:off x="7247467" y="1091035"/>
            <a:ext cx="3649133" cy="676275"/>
            <a:chOff x="3164" y="312"/>
            <a:chExt cx="1537" cy="480"/>
          </a:xfrm>
        </p:grpSpPr>
        <p:sp>
          <p:nvSpPr>
            <p:cNvPr id="39943" name="Text Box 7"/>
            <p:cNvSpPr txBox="1">
              <a:spLocks noChangeArrowheads="1"/>
            </p:cNvSpPr>
            <p:nvPr/>
          </p:nvSpPr>
          <p:spPr bwMode="auto">
            <a:xfrm>
              <a:off x="3164" y="383"/>
              <a:ext cx="1148" cy="368"/>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ctr" fontAlgn="base">
                <a:spcBef>
                  <a:spcPct val="50000"/>
                </a:spcBef>
                <a:spcAft>
                  <a:spcPct val="0"/>
                </a:spcAft>
              </a:pPr>
              <a:r>
                <a:rPr kumimoji="1" lang="zh-CN" altLang="en-US" sz="2800" b="1" dirty="0" smtClean="0">
                  <a:solidFill>
                    <a:srgbClr val="000000"/>
                  </a:solidFill>
                  <a:latin typeface="Times New Roman" pitchFamily="18" charset="0"/>
                  <a:ea typeface="黑体" pitchFamily="49" charset="-122"/>
                  <a:cs typeface="Times New Roman" pitchFamily="18" charset="0"/>
                </a:rPr>
                <a:t>感应电场</a:t>
              </a:r>
            </a:p>
          </p:txBody>
        </p:sp>
        <p:graphicFrame>
          <p:nvGraphicFramePr>
            <p:cNvPr id="39944" name="Object 8"/>
            <p:cNvGraphicFramePr>
              <a:graphicFrameLocks noChangeAspect="1"/>
            </p:cNvGraphicFramePr>
            <p:nvPr/>
          </p:nvGraphicFramePr>
          <p:xfrm>
            <a:off x="4368" y="312"/>
            <a:ext cx="333" cy="480"/>
          </p:xfrm>
          <a:graphic>
            <a:graphicData uri="http://schemas.openxmlformats.org/presentationml/2006/ole">
              <mc:AlternateContent xmlns:mc="http://schemas.openxmlformats.org/markup-compatibility/2006">
                <mc:Choice xmlns:v="urn:schemas-microsoft-com:vml" Requires="v">
                  <p:oleObj spid="_x0000_s15765" name="公式" r:id="rId5" imgW="279360" imgH="407160" progId="Equations">
                    <p:embed/>
                  </p:oleObj>
                </mc:Choice>
                <mc:Fallback>
                  <p:oleObj name="公式" r:id="rId5" imgW="279360" imgH="407160" progId="Equations">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68" y="312"/>
                          <a:ext cx="333" cy="480"/>
                        </a:xfrm>
                        <a:prstGeom prst="rect">
                          <a:avLst/>
                        </a:prstGeom>
                        <a:noFill/>
                        <a:ln>
                          <a:noFill/>
                        </a:ln>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9525">
                              <a:solidFill>
                                <a:schemeClr val="accent2"/>
                              </a:solidFill>
                              <a:miter lim="800000"/>
                              <a:headEnd/>
                              <a:tailEnd/>
                            </a14:hiddenLine>
                          </a:ext>
                        </a:extLst>
                      </p:spPr>
                    </p:pic>
                  </p:oleObj>
                </mc:Fallback>
              </mc:AlternateContent>
            </a:graphicData>
          </a:graphic>
        </p:graphicFrame>
      </p:grpSp>
      <p:sp>
        <p:nvSpPr>
          <p:cNvPr id="39945" name="Text Box 9"/>
          <p:cNvSpPr txBox="1">
            <a:spLocks noChangeArrowheads="1"/>
          </p:cNvSpPr>
          <p:nvPr/>
        </p:nvSpPr>
        <p:spPr bwMode="auto">
          <a:xfrm>
            <a:off x="719668" y="1845097"/>
            <a:ext cx="1919817"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fontAlgn="base">
              <a:spcBef>
                <a:spcPct val="50000"/>
              </a:spcBef>
              <a:spcAft>
                <a:spcPct val="0"/>
              </a:spcAft>
            </a:pPr>
            <a:r>
              <a:rPr kumimoji="1" lang="zh-CN" altLang="en-US" sz="2800" b="1" smtClean="0">
                <a:solidFill>
                  <a:srgbClr val="000000"/>
                </a:solidFill>
                <a:latin typeface="Times New Roman" pitchFamily="18" charset="0"/>
                <a:ea typeface="黑体" pitchFamily="49" charset="-122"/>
                <a:cs typeface="Times New Roman" pitchFamily="18" charset="0"/>
              </a:rPr>
              <a:t>场源</a:t>
            </a:r>
          </a:p>
        </p:txBody>
      </p:sp>
      <p:sp>
        <p:nvSpPr>
          <p:cNvPr id="39946" name="Text Box 10"/>
          <p:cNvSpPr txBox="1">
            <a:spLocks noChangeArrowheads="1"/>
          </p:cNvSpPr>
          <p:nvPr/>
        </p:nvSpPr>
        <p:spPr bwMode="auto">
          <a:xfrm>
            <a:off x="2872317" y="1891135"/>
            <a:ext cx="2072216"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fontAlgn="base">
              <a:spcBef>
                <a:spcPct val="0"/>
              </a:spcBef>
              <a:spcAft>
                <a:spcPct val="0"/>
              </a:spcAft>
            </a:pPr>
            <a:r>
              <a:rPr kumimoji="1" lang="zh-CN" altLang="en-US" sz="2800" b="1" smtClean="0">
                <a:solidFill>
                  <a:srgbClr val="000000"/>
                </a:solidFill>
                <a:latin typeface="Times New Roman" pitchFamily="18" charset="0"/>
                <a:ea typeface="黑体" pitchFamily="49" charset="-122"/>
                <a:cs typeface="Times New Roman" pitchFamily="18" charset="0"/>
              </a:rPr>
              <a:t>静电荷</a:t>
            </a:r>
          </a:p>
        </p:txBody>
      </p:sp>
      <p:sp>
        <p:nvSpPr>
          <p:cNvPr id="39947" name="Text Box 11"/>
          <p:cNvSpPr txBox="1">
            <a:spLocks noChangeArrowheads="1"/>
          </p:cNvSpPr>
          <p:nvPr/>
        </p:nvSpPr>
        <p:spPr bwMode="auto">
          <a:xfrm>
            <a:off x="7535333" y="1845097"/>
            <a:ext cx="3185584"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fontAlgn="base">
              <a:spcBef>
                <a:spcPct val="0"/>
              </a:spcBef>
              <a:spcAft>
                <a:spcPct val="0"/>
              </a:spcAft>
            </a:pPr>
            <a:r>
              <a:rPr kumimoji="1" lang="zh-CN" altLang="en-US" sz="2800" b="1" smtClean="0">
                <a:solidFill>
                  <a:srgbClr val="000000"/>
                </a:solidFill>
                <a:latin typeface="Times New Roman" pitchFamily="18" charset="0"/>
                <a:ea typeface="黑体" pitchFamily="49" charset="-122"/>
                <a:cs typeface="Times New Roman" pitchFamily="18" charset="0"/>
              </a:rPr>
              <a:t>变化的磁场</a:t>
            </a:r>
          </a:p>
        </p:txBody>
      </p:sp>
      <p:sp>
        <p:nvSpPr>
          <p:cNvPr id="39948" name="Text Box 12"/>
          <p:cNvSpPr txBox="1">
            <a:spLocks noChangeArrowheads="1"/>
          </p:cNvSpPr>
          <p:nvPr/>
        </p:nvSpPr>
        <p:spPr bwMode="auto">
          <a:xfrm>
            <a:off x="749300" y="2708697"/>
            <a:ext cx="1507067"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fontAlgn="base">
              <a:spcBef>
                <a:spcPct val="0"/>
              </a:spcBef>
              <a:spcAft>
                <a:spcPct val="0"/>
              </a:spcAft>
            </a:pPr>
            <a:r>
              <a:rPr kumimoji="1" lang="zh-CN" altLang="en-US" sz="2800" b="1" smtClean="0">
                <a:solidFill>
                  <a:srgbClr val="000000"/>
                </a:solidFill>
                <a:latin typeface="Times New Roman" pitchFamily="18" charset="0"/>
                <a:ea typeface="黑体" pitchFamily="49" charset="-122"/>
                <a:cs typeface="Times New Roman" pitchFamily="18" charset="0"/>
              </a:rPr>
              <a:t>环流</a:t>
            </a:r>
          </a:p>
        </p:txBody>
      </p:sp>
      <p:graphicFrame>
        <p:nvGraphicFramePr>
          <p:cNvPr id="39949" name="Object 13"/>
          <p:cNvGraphicFramePr>
            <a:graphicFrameLocks noChangeAspect="1"/>
          </p:cNvGraphicFramePr>
          <p:nvPr/>
        </p:nvGraphicFramePr>
        <p:xfrm>
          <a:off x="2662767" y="2626147"/>
          <a:ext cx="2857500" cy="1039812"/>
        </p:xfrm>
        <a:graphic>
          <a:graphicData uri="http://schemas.openxmlformats.org/presentationml/2006/ole">
            <mc:AlternateContent xmlns:mc="http://schemas.openxmlformats.org/markup-compatibility/2006">
              <mc:Choice xmlns:v="urn:schemas-microsoft-com:vml" Requires="v">
                <p:oleObj spid="_x0000_s15766" name="公式" r:id="rId7" imgW="1256400" imgH="648720" progId="Equations">
                  <p:embed/>
                </p:oleObj>
              </mc:Choice>
              <mc:Fallback>
                <p:oleObj name="公式" r:id="rId7" imgW="1256400" imgH="648720" progId="Equations">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62767" y="2626147"/>
                        <a:ext cx="2857500" cy="10398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9950" name="Object 14"/>
          <p:cNvGraphicFramePr>
            <a:graphicFrameLocks noChangeAspect="1"/>
          </p:cNvGraphicFramePr>
          <p:nvPr/>
        </p:nvGraphicFramePr>
        <p:xfrm>
          <a:off x="6982884" y="2405484"/>
          <a:ext cx="4792133" cy="1169988"/>
        </p:xfrm>
        <a:graphic>
          <a:graphicData uri="http://schemas.openxmlformats.org/presentationml/2006/ole">
            <mc:AlternateContent xmlns:mc="http://schemas.openxmlformats.org/markup-compatibility/2006">
              <mc:Choice xmlns:v="urn:schemas-microsoft-com:vml" Requires="v">
                <p:oleObj spid="_x0000_s15767" name="公式" r:id="rId9" imgW="2182680" imgH="775800" progId="Equations">
                  <p:embed/>
                </p:oleObj>
              </mc:Choice>
              <mc:Fallback>
                <p:oleObj name="公式" r:id="rId9" imgW="2182680" imgH="775800" progId="Equations">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982884" y="2405484"/>
                        <a:ext cx="4792133" cy="11699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9951" name="Text Box 15"/>
          <p:cNvSpPr txBox="1">
            <a:spLocks noChangeArrowheads="1"/>
          </p:cNvSpPr>
          <p:nvPr/>
        </p:nvSpPr>
        <p:spPr bwMode="auto">
          <a:xfrm>
            <a:off x="781051" y="4197772"/>
            <a:ext cx="1507067"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fontAlgn="base">
              <a:spcBef>
                <a:spcPct val="0"/>
              </a:spcBef>
              <a:spcAft>
                <a:spcPct val="0"/>
              </a:spcAft>
            </a:pPr>
            <a:r>
              <a:rPr kumimoji="1" lang="zh-CN" altLang="en-US" sz="2800" b="1" smtClean="0">
                <a:solidFill>
                  <a:srgbClr val="000000"/>
                </a:solidFill>
                <a:latin typeface="Times New Roman" pitchFamily="18" charset="0"/>
                <a:ea typeface="黑体" pitchFamily="49" charset="-122"/>
                <a:cs typeface="Times New Roman" pitchFamily="18" charset="0"/>
              </a:rPr>
              <a:t>通量</a:t>
            </a:r>
          </a:p>
        </p:txBody>
      </p:sp>
      <p:graphicFrame>
        <p:nvGraphicFramePr>
          <p:cNvPr id="39952" name="Object 16"/>
          <p:cNvGraphicFramePr>
            <a:graphicFrameLocks noChangeAspect="1"/>
          </p:cNvGraphicFramePr>
          <p:nvPr/>
        </p:nvGraphicFramePr>
        <p:xfrm>
          <a:off x="2351088" y="3914775"/>
          <a:ext cx="3552825" cy="1241425"/>
        </p:xfrm>
        <a:graphic>
          <a:graphicData uri="http://schemas.openxmlformats.org/presentationml/2006/ole">
            <mc:AlternateContent xmlns:mc="http://schemas.openxmlformats.org/markup-compatibility/2006">
              <mc:Choice xmlns:v="urn:schemas-microsoft-com:vml" Requires="v">
                <p:oleObj spid="_x0000_s15768" name="Equation" r:id="rId11" imgW="1535400" imgH="750600" progId="Equation.DSMT4">
                  <p:embed/>
                </p:oleObj>
              </mc:Choice>
              <mc:Fallback>
                <p:oleObj name="Equation" r:id="rId11" imgW="1535400" imgH="750600" progId="Equation.DSMT4">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351088" y="3914775"/>
                        <a:ext cx="3552825" cy="1241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9953" name="Object 17"/>
          <p:cNvGraphicFramePr>
            <a:graphicFrameLocks noChangeAspect="1"/>
          </p:cNvGraphicFramePr>
          <p:nvPr/>
        </p:nvGraphicFramePr>
        <p:xfrm>
          <a:off x="7344834" y="4131097"/>
          <a:ext cx="3026833" cy="1003300"/>
        </p:xfrm>
        <a:graphic>
          <a:graphicData uri="http://schemas.openxmlformats.org/presentationml/2006/ole">
            <mc:AlternateContent xmlns:mc="http://schemas.openxmlformats.org/markup-compatibility/2006">
              <mc:Choice xmlns:v="urn:schemas-microsoft-com:vml" Requires="v">
                <p:oleObj spid="_x0000_s15769" name="公式" r:id="rId13" imgW="1383120" imgH="648720" progId="Equations">
                  <p:embed/>
                </p:oleObj>
              </mc:Choice>
              <mc:Fallback>
                <p:oleObj name="公式" r:id="rId13" imgW="1383120" imgH="648720" progId="Equations">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344834" y="4131097"/>
                        <a:ext cx="3026833" cy="1003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9954" name="Text Box 18"/>
          <p:cNvSpPr txBox="1">
            <a:spLocks noChangeArrowheads="1"/>
          </p:cNvSpPr>
          <p:nvPr/>
        </p:nvSpPr>
        <p:spPr bwMode="auto">
          <a:xfrm>
            <a:off x="2832101" y="3429422"/>
            <a:ext cx="2156884"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fontAlgn="base">
              <a:spcBef>
                <a:spcPct val="0"/>
              </a:spcBef>
              <a:spcAft>
                <a:spcPct val="0"/>
              </a:spcAft>
            </a:pPr>
            <a:r>
              <a:rPr kumimoji="1" lang="zh-CN" altLang="en-US" sz="2800" b="1" dirty="0" smtClean="0">
                <a:solidFill>
                  <a:srgbClr val="FF0000"/>
                </a:solidFill>
                <a:latin typeface="Times New Roman" pitchFamily="18" charset="0"/>
                <a:ea typeface="黑体" pitchFamily="49" charset="-122"/>
                <a:cs typeface="Times New Roman" pitchFamily="18" charset="0"/>
              </a:rPr>
              <a:t>无旋场</a:t>
            </a:r>
          </a:p>
        </p:txBody>
      </p:sp>
      <p:sp>
        <p:nvSpPr>
          <p:cNvPr id="39955" name="Rectangle 19"/>
          <p:cNvSpPr>
            <a:spLocks noChangeArrowheads="1"/>
          </p:cNvSpPr>
          <p:nvPr/>
        </p:nvSpPr>
        <p:spPr bwMode="auto">
          <a:xfrm>
            <a:off x="7632700" y="3413547"/>
            <a:ext cx="2159000"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fontAlgn="base">
              <a:spcBef>
                <a:spcPct val="0"/>
              </a:spcBef>
              <a:spcAft>
                <a:spcPct val="0"/>
              </a:spcAft>
            </a:pPr>
            <a:r>
              <a:rPr kumimoji="1" lang="zh-CN" altLang="en-US" sz="2800" b="1" dirty="0" smtClean="0">
                <a:solidFill>
                  <a:srgbClr val="FF0000"/>
                </a:solidFill>
                <a:latin typeface="Times New Roman" pitchFamily="18" charset="0"/>
                <a:ea typeface="黑体" pitchFamily="49" charset="-122"/>
                <a:cs typeface="Times New Roman" pitchFamily="18" charset="0"/>
              </a:rPr>
              <a:t>有旋场</a:t>
            </a:r>
          </a:p>
        </p:txBody>
      </p:sp>
      <p:sp>
        <p:nvSpPr>
          <p:cNvPr id="39956" name="Text Box 20"/>
          <p:cNvSpPr txBox="1">
            <a:spLocks noChangeArrowheads="1"/>
          </p:cNvSpPr>
          <p:nvPr/>
        </p:nvSpPr>
        <p:spPr bwMode="auto">
          <a:xfrm>
            <a:off x="2927351" y="5069310"/>
            <a:ext cx="23495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fontAlgn="base">
              <a:spcBef>
                <a:spcPct val="0"/>
              </a:spcBef>
              <a:spcAft>
                <a:spcPct val="0"/>
              </a:spcAft>
            </a:pPr>
            <a:r>
              <a:rPr kumimoji="1" lang="zh-CN" altLang="en-US" sz="2800" b="1" dirty="0" smtClean="0">
                <a:solidFill>
                  <a:srgbClr val="FF0000"/>
                </a:solidFill>
                <a:latin typeface="Times New Roman" pitchFamily="18" charset="0"/>
                <a:ea typeface="黑体" pitchFamily="49" charset="-122"/>
                <a:cs typeface="Times New Roman" pitchFamily="18" charset="0"/>
              </a:rPr>
              <a:t>有源场</a:t>
            </a:r>
          </a:p>
        </p:txBody>
      </p:sp>
      <p:sp>
        <p:nvSpPr>
          <p:cNvPr id="39957" name="Rectangle 21"/>
          <p:cNvSpPr>
            <a:spLocks noChangeArrowheads="1"/>
          </p:cNvSpPr>
          <p:nvPr/>
        </p:nvSpPr>
        <p:spPr bwMode="auto">
          <a:xfrm>
            <a:off x="7727951" y="5012160"/>
            <a:ext cx="2080683"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fontAlgn="base">
              <a:spcBef>
                <a:spcPct val="0"/>
              </a:spcBef>
              <a:spcAft>
                <a:spcPct val="0"/>
              </a:spcAft>
            </a:pPr>
            <a:r>
              <a:rPr kumimoji="1" lang="zh-CN" altLang="en-US" sz="2800" b="1" dirty="0" smtClean="0">
                <a:solidFill>
                  <a:srgbClr val="FF0000"/>
                </a:solidFill>
                <a:latin typeface="Times New Roman" pitchFamily="18" charset="0"/>
                <a:ea typeface="黑体" pitchFamily="49" charset="-122"/>
                <a:cs typeface="Times New Roman" pitchFamily="18" charset="0"/>
              </a:rPr>
              <a:t>无源场</a:t>
            </a:r>
          </a:p>
        </p:txBody>
      </p:sp>
      <p:sp>
        <p:nvSpPr>
          <p:cNvPr id="39958" name="Text Box 22"/>
          <p:cNvSpPr txBox="1">
            <a:spLocks noChangeArrowheads="1"/>
          </p:cNvSpPr>
          <p:nvPr/>
        </p:nvSpPr>
        <p:spPr bwMode="auto">
          <a:xfrm>
            <a:off x="380961" y="214290"/>
            <a:ext cx="818303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en-US" altLang="zh-CN" sz="3200" b="1" dirty="0" smtClean="0">
                <a:latin typeface="Times New Roman" pitchFamily="18" charset="0"/>
                <a:ea typeface="黑体" pitchFamily="49" charset="-122"/>
                <a:cs typeface="Times New Roman" pitchFamily="18" charset="0"/>
              </a:rPr>
              <a:t>2. </a:t>
            </a:r>
            <a:r>
              <a:rPr kumimoji="1" lang="zh-CN" altLang="en-US" sz="3200" b="1" dirty="0" smtClean="0">
                <a:latin typeface="Times New Roman" pitchFamily="18" charset="0"/>
                <a:ea typeface="黑体" pitchFamily="49" charset="-122"/>
                <a:cs typeface="Times New Roman" pitchFamily="18" charset="0"/>
              </a:rPr>
              <a:t>感应电场与静电场的比较</a:t>
            </a:r>
          </a:p>
        </p:txBody>
      </p:sp>
      <p:sp>
        <p:nvSpPr>
          <p:cNvPr id="39959" name="Text Box 23"/>
          <p:cNvSpPr txBox="1">
            <a:spLocks noChangeArrowheads="1"/>
          </p:cNvSpPr>
          <p:nvPr/>
        </p:nvSpPr>
        <p:spPr bwMode="auto">
          <a:xfrm>
            <a:off x="749300" y="5723360"/>
            <a:ext cx="1507067" cy="519113"/>
          </a:xfrm>
          <a:prstGeom prst="rect">
            <a:avLst/>
          </a:prstGeom>
          <a:noFill/>
          <a:ln>
            <a:noFill/>
          </a:ln>
          <a:effectLst/>
          <a:extLst>
            <a:ext uri="{909E8E84-426E-40DD-AFC4-6F175D3DCCD1}">
              <a14:hiddenFill xmlns:a14="http://schemas.microsoft.com/office/drawing/2010/main">
                <a:solidFill>
                  <a:srgbClr val="FF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smtClean="0">
                <a:solidFill>
                  <a:srgbClr val="000000"/>
                </a:solidFill>
                <a:latin typeface="Times New Roman" pitchFamily="18" charset="0"/>
                <a:ea typeface="黑体" pitchFamily="49" charset="-122"/>
                <a:cs typeface="Times New Roman" pitchFamily="18" charset="0"/>
              </a:rPr>
              <a:t>场线</a:t>
            </a:r>
          </a:p>
        </p:txBody>
      </p:sp>
      <p:sp>
        <p:nvSpPr>
          <p:cNvPr id="39960" name="Text Box 24"/>
          <p:cNvSpPr txBox="1">
            <a:spLocks noChangeArrowheads="1"/>
          </p:cNvSpPr>
          <p:nvPr/>
        </p:nvSpPr>
        <p:spPr bwMode="auto">
          <a:xfrm>
            <a:off x="2639485" y="5794797"/>
            <a:ext cx="3337983" cy="946150"/>
          </a:xfrm>
          <a:prstGeom prst="rect">
            <a:avLst/>
          </a:prstGeom>
          <a:noFill/>
          <a:ln>
            <a:noFill/>
          </a:ln>
          <a:effectLst/>
          <a:extLst>
            <a:ext uri="{909E8E84-426E-40DD-AFC4-6F175D3DCCD1}">
              <a14:hiddenFill xmlns:a14="http://schemas.microsoft.com/office/drawing/2010/main">
                <a:solidFill>
                  <a:srgbClr val="FF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dirty="0" smtClean="0">
                <a:solidFill>
                  <a:srgbClr val="000000"/>
                </a:solidFill>
                <a:latin typeface="Times New Roman" pitchFamily="18" charset="0"/>
                <a:ea typeface="黑体" pitchFamily="49" charset="-122"/>
                <a:cs typeface="Times New Roman" pitchFamily="18" charset="0"/>
              </a:rPr>
              <a:t>始于正电荷，  止于负电荷</a:t>
            </a:r>
          </a:p>
        </p:txBody>
      </p:sp>
      <p:sp>
        <p:nvSpPr>
          <p:cNvPr id="39961" name="Text Box 25"/>
          <p:cNvSpPr txBox="1">
            <a:spLocks noChangeArrowheads="1"/>
          </p:cNvSpPr>
          <p:nvPr/>
        </p:nvSpPr>
        <p:spPr bwMode="auto">
          <a:xfrm>
            <a:off x="7823200" y="5732885"/>
            <a:ext cx="2626784" cy="519113"/>
          </a:xfrm>
          <a:prstGeom prst="rect">
            <a:avLst/>
          </a:prstGeom>
          <a:noFill/>
          <a:ln>
            <a:noFill/>
          </a:ln>
          <a:effectLst/>
          <a:extLst>
            <a:ext uri="{909E8E84-426E-40DD-AFC4-6F175D3DCCD1}">
              <a14:hiddenFill xmlns:a14="http://schemas.microsoft.com/office/drawing/2010/main">
                <a:solidFill>
                  <a:srgbClr val="FFCCC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kumimoji="1" lang="zh-CN" altLang="en-US" sz="2800" b="1" smtClean="0">
                <a:solidFill>
                  <a:srgbClr val="000000"/>
                </a:solidFill>
                <a:latin typeface="Times New Roman" pitchFamily="18" charset="0"/>
                <a:ea typeface="黑体" pitchFamily="49" charset="-122"/>
                <a:cs typeface="Times New Roman" pitchFamily="18" charset="0"/>
              </a:rPr>
              <a:t>闭合曲线</a:t>
            </a:r>
          </a:p>
        </p:txBody>
      </p:sp>
      <p:sp>
        <p:nvSpPr>
          <p:cNvPr id="39962" name="Line 26"/>
          <p:cNvSpPr>
            <a:spLocks noChangeShapeType="1"/>
          </p:cNvSpPr>
          <p:nvPr/>
        </p:nvSpPr>
        <p:spPr bwMode="auto">
          <a:xfrm>
            <a:off x="6288617" y="1340273"/>
            <a:ext cx="0" cy="496887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zh-CN" altLang="en-US" sz="2800" b="1" smtClean="0">
              <a:solidFill>
                <a:srgbClr val="000000"/>
              </a:solidFill>
              <a:latin typeface="Times New Roman" pitchFamily="18" charset="0"/>
              <a:ea typeface="黑体" pitchFamily="49" charset="-122"/>
              <a:cs typeface="Times New Roman" pitchFamily="18" charset="0"/>
            </a:endParaRPr>
          </a:p>
        </p:txBody>
      </p:sp>
    </p:spTree>
    <p:extLst>
      <p:ext uri="{BB962C8B-B14F-4D97-AF65-F5344CB8AC3E}">
        <p14:creationId xmlns:p14="http://schemas.microsoft.com/office/powerpoint/2010/main" val="135068611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435" name="Text Box 3"/>
          <p:cNvSpPr txBox="1">
            <a:spLocks noChangeArrowheads="1"/>
          </p:cNvSpPr>
          <p:nvPr/>
        </p:nvSpPr>
        <p:spPr bwMode="auto">
          <a:xfrm>
            <a:off x="239019" y="1916832"/>
            <a:ext cx="105644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50000"/>
              </a:spcBef>
              <a:spcAft>
                <a:spcPct val="0"/>
              </a:spcAft>
            </a:pPr>
            <a:r>
              <a:rPr kumimoji="1" lang="zh-CN" altLang="en-US" sz="2800" b="1" dirty="0" smtClean="0">
                <a:solidFill>
                  <a:srgbClr val="0000FF"/>
                </a:solidFill>
                <a:latin typeface="Times New Roman" pitchFamily="18" charset="0"/>
              </a:rPr>
              <a:t>解：</a:t>
            </a:r>
            <a:endParaRPr kumimoji="1" lang="zh-CN" altLang="en-US" sz="2400" dirty="0" smtClean="0">
              <a:solidFill>
                <a:srgbClr val="0000FF"/>
              </a:solidFill>
              <a:latin typeface="Times New Roman" pitchFamily="18" charset="0"/>
            </a:endParaRPr>
          </a:p>
        </p:txBody>
      </p:sp>
      <p:grpSp>
        <p:nvGrpSpPr>
          <p:cNvPr id="18467" name="Group 35"/>
          <p:cNvGrpSpPr>
            <a:grpSpLocks/>
          </p:cNvGrpSpPr>
          <p:nvPr/>
        </p:nvGrpSpPr>
        <p:grpSpPr bwMode="auto">
          <a:xfrm>
            <a:off x="487187" y="201762"/>
            <a:ext cx="11379200" cy="1127125"/>
            <a:chOff x="226" y="-68"/>
            <a:chExt cx="5376" cy="710"/>
          </a:xfrm>
        </p:grpSpPr>
        <p:sp>
          <p:nvSpPr>
            <p:cNvPr id="18436" name="Text Box 4"/>
            <p:cNvSpPr txBox="1">
              <a:spLocks noChangeArrowheads="1"/>
            </p:cNvSpPr>
            <p:nvPr/>
          </p:nvSpPr>
          <p:spPr bwMode="auto">
            <a:xfrm>
              <a:off x="226" y="-68"/>
              <a:ext cx="5376" cy="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lnSpc>
                  <a:spcPct val="120000"/>
                </a:lnSpc>
                <a:spcBef>
                  <a:spcPct val="50000"/>
                </a:spcBef>
                <a:spcAft>
                  <a:spcPct val="0"/>
                </a:spcAft>
              </a:pPr>
              <a:r>
                <a:rPr kumimoji="1" lang="zh-CN" altLang="en-US" sz="2800" b="1" dirty="0" smtClean="0">
                  <a:solidFill>
                    <a:srgbClr val="0000FF"/>
                  </a:solidFill>
                  <a:ea typeface="黑体" pitchFamily="49" charset="-122"/>
                </a:rPr>
                <a:t>例</a:t>
              </a:r>
              <a:r>
                <a:rPr kumimoji="1" lang="en-US" altLang="zh-CN" sz="2800" b="1" dirty="0" smtClean="0">
                  <a:solidFill>
                    <a:srgbClr val="000000"/>
                  </a:solidFill>
                  <a:ea typeface="黑体" pitchFamily="49" charset="-122"/>
                </a:rPr>
                <a:t>  </a:t>
              </a:r>
              <a:r>
                <a:rPr kumimoji="1" lang="zh-CN" altLang="en-US" sz="2800" b="1" dirty="0" smtClean="0">
                  <a:solidFill>
                    <a:srgbClr val="000000"/>
                  </a:solidFill>
                  <a:ea typeface="黑体" pitchFamily="49" charset="-122"/>
                </a:rPr>
                <a:t>一长直导线通以电流                                    ，旁边</a:t>
              </a:r>
              <a:r>
                <a:rPr kumimoji="1" lang="en-US" altLang="zh-CN" sz="2800" b="1" i="1" dirty="0" smtClean="0">
                  <a:solidFill>
                    <a:srgbClr val="000000"/>
                  </a:solidFill>
                  <a:latin typeface="Times New Roman" pitchFamily="18" charset="0"/>
                  <a:ea typeface="黑体" pitchFamily="49" charset="-122"/>
                  <a:cs typeface="Times New Roman" pitchFamily="18" charset="0"/>
                </a:rPr>
                <a:t>d</a:t>
              </a:r>
              <a:r>
                <a:rPr kumimoji="1" lang="zh-CN" altLang="en-US" sz="2800" b="1" dirty="0" smtClean="0">
                  <a:solidFill>
                    <a:srgbClr val="000000"/>
                  </a:solidFill>
                  <a:ea typeface="黑体" pitchFamily="49" charset="-122"/>
                </a:rPr>
                <a:t>距离处有一个共面的矩形线圈，边长分别为</a:t>
              </a:r>
              <a:r>
                <a:rPr kumimoji="1" lang="en-US" altLang="zh-CN" sz="2800" b="1" i="1" dirty="0" smtClean="0">
                  <a:solidFill>
                    <a:srgbClr val="000000"/>
                  </a:solidFill>
                  <a:latin typeface="Times New Roman" pitchFamily="18" charset="0"/>
                  <a:ea typeface="黑体" pitchFamily="49" charset="-122"/>
                  <a:cs typeface="Times New Roman" pitchFamily="18" charset="0"/>
                </a:rPr>
                <a:t>b</a:t>
              </a:r>
              <a:r>
                <a:rPr kumimoji="1" lang="zh-CN" altLang="en-US" sz="2800" b="1" dirty="0" smtClean="0">
                  <a:solidFill>
                    <a:srgbClr val="000000"/>
                  </a:solidFill>
                  <a:latin typeface="Times New Roman" pitchFamily="18" charset="0"/>
                  <a:ea typeface="黑体" pitchFamily="49" charset="-122"/>
                  <a:cs typeface="Times New Roman" pitchFamily="18" charset="0"/>
                </a:rPr>
                <a:t>和</a:t>
              </a:r>
              <a:r>
                <a:rPr kumimoji="1" lang="en-US" altLang="zh-CN" sz="2800" b="1" i="1" dirty="0" smtClean="0">
                  <a:solidFill>
                    <a:srgbClr val="000000"/>
                  </a:solidFill>
                  <a:latin typeface="Times New Roman" pitchFamily="18" charset="0"/>
                  <a:ea typeface="黑体" pitchFamily="49" charset="-122"/>
                  <a:cs typeface="Times New Roman" pitchFamily="18" charset="0"/>
                </a:rPr>
                <a:t>l</a:t>
              </a:r>
              <a:r>
                <a:rPr kumimoji="1" lang="zh-CN" altLang="en-US" sz="2800" b="1" dirty="0" smtClean="0">
                  <a:solidFill>
                    <a:srgbClr val="000000"/>
                  </a:solidFill>
                  <a:ea typeface="黑体" pitchFamily="49" charset="-122"/>
                </a:rPr>
                <a:t>。求：线圈中的感应电动势。</a:t>
              </a:r>
            </a:p>
          </p:txBody>
        </p:sp>
        <p:graphicFrame>
          <p:nvGraphicFramePr>
            <p:cNvPr id="18437" name="Object 5"/>
            <p:cNvGraphicFramePr>
              <a:graphicFrameLocks noChangeAspect="1"/>
            </p:cNvGraphicFramePr>
            <p:nvPr>
              <p:extLst>
                <p:ext uri="{D42A27DB-BD31-4B8C-83A1-F6EECF244321}">
                  <p14:modId xmlns:p14="http://schemas.microsoft.com/office/powerpoint/2010/main" val="1377635640"/>
                </p:ext>
              </p:extLst>
            </p:nvPr>
          </p:nvGraphicFramePr>
          <p:xfrm>
            <a:off x="2140" y="-60"/>
            <a:ext cx="1339" cy="389"/>
          </p:xfrm>
          <a:graphic>
            <a:graphicData uri="http://schemas.openxmlformats.org/presentationml/2006/ole">
              <mc:AlternateContent xmlns:mc="http://schemas.openxmlformats.org/markup-compatibility/2006">
                <mc:Choice xmlns:v="urn:schemas-microsoft-com:vml" Requires="v">
                  <p:oleObj spid="_x0000_s16726" name="公式" r:id="rId3" imgW="1294560" imgH="369000" progId="Equations">
                    <p:embed/>
                  </p:oleObj>
                </mc:Choice>
                <mc:Fallback>
                  <p:oleObj name="公式" r:id="rId3" imgW="1294560" imgH="369000" progId="Equations">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40" y="-60"/>
                          <a:ext cx="1339" cy="389"/>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28398" dir="1593903" algn="ctr" rotWithShape="0">
                                  <a:schemeClr val="folHlink"/>
                                </a:outerShdw>
                              </a:effectLst>
                            </a14:hiddenEffects>
                          </a:ext>
                        </a:extLst>
                      </p:spPr>
                    </p:pic>
                  </p:oleObj>
                </mc:Fallback>
              </mc:AlternateContent>
            </a:graphicData>
          </a:graphic>
        </p:graphicFrame>
      </p:grpSp>
      <p:graphicFrame>
        <p:nvGraphicFramePr>
          <p:cNvPr id="18461" name="Object 29"/>
          <p:cNvGraphicFramePr>
            <a:graphicFrameLocks noChangeAspect="1"/>
          </p:cNvGraphicFramePr>
          <p:nvPr>
            <p:extLst>
              <p:ext uri="{D42A27DB-BD31-4B8C-83A1-F6EECF244321}">
                <p14:modId xmlns:p14="http://schemas.microsoft.com/office/powerpoint/2010/main" val="815873234"/>
              </p:ext>
            </p:extLst>
          </p:nvPr>
        </p:nvGraphicFramePr>
        <p:xfrm>
          <a:off x="1487489" y="1916833"/>
          <a:ext cx="4857455" cy="898153"/>
        </p:xfrm>
        <a:graphic>
          <a:graphicData uri="http://schemas.openxmlformats.org/presentationml/2006/ole">
            <mc:AlternateContent xmlns:mc="http://schemas.openxmlformats.org/markup-compatibility/2006">
              <mc:Choice xmlns:v="urn:schemas-microsoft-com:vml" Requires="v">
                <p:oleObj spid="_x0000_s16727" name="Equation" r:id="rId5" imgW="1600200" imgH="393480" progId="Equation.DSMT4">
                  <p:embed/>
                </p:oleObj>
              </mc:Choice>
              <mc:Fallback>
                <p:oleObj name="Equation" r:id="rId5" imgW="1600200" imgH="39348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87489" y="1916833"/>
                        <a:ext cx="4857455" cy="89815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462" name="Object 30"/>
          <p:cNvGraphicFramePr>
            <a:graphicFrameLocks noChangeAspect="1"/>
          </p:cNvGraphicFramePr>
          <p:nvPr/>
        </p:nvGraphicFramePr>
        <p:xfrm>
          <a:off x="1957160" y="2995612"/>
          <a:ext cx="4379217" cy="937444"/>
        </p:xfrm>
        <a:graphic>
          <a:graphicData uri="http://schemas.openxmlformats.org/presentationml/2006/ole">
            <mc:AlternateContent xmlns:mc="http://schemas.openxmlformats.org/markup-compatibility/2006">
              <mc:Choice xmlns:v="urn:schemas-microsoft-com:vml" Requires="v">
                <p:oleObj spid="_x0000_s16728" name="公式" r:id="rId7" imgW="1384200" imgH="393480" progId="Equations">
                  <p:embed/>
                </p:oleObj>
              </mc:Choice>
              <mc:Fallback>
                <p:oleObj name="公式" r:id="rId7" imgW="1384200" imgH="393480" progId="Equations">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57160" y="2995612"/>
                        <a:ext cx="4379217" cy="937444"/>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28398" dir="1593903" algn="ctr" rotWithShape="0">
                                <a:srgbClr val="808080"/>
                              </a:outerShdw>
                            </a:effectLst>
                          </a14:hiddenEffects>
                        </a:ext>
                      </a:extLst>
                    </p:spPr>
                  </p:pic>
                </p:oleObj>
              </mc:Fallback>
            </mc:AlternateContent>
          </a:graphicData>
        </a:graphic>
      </p:graphicFrame>
      <p:graphicFrame>
        <p:nvGraphicFramePr>
          <p:cNvPr id="18463" name="Object 31"/>
          <p:cNvGraphicFramePr>
            <a:graphicFrameLocks noChangeAspect="1"/>
          </p:cNvGraphicFramePr>
          <p:nvPr/>
        </p:nvGraphicFramePr>
        <p:xfrm>
          <a:off x="1412611" y="3985048"/>
          <a:ext cx="2379133" cy="1100137"/>
        </p:xfrm>
        <a:graphic>
          <a:graphicData uri="http://schemas.openxmlformats.org/presentationml/2006/ole">
            <mc:AlternateContent xmlns:mc="http://schemas.openxmlformats.org/markup-compatibility/2006">
              <mc:Choice xmlns:v="urn:schemas-microsoft-com:vml" Requires="v">
                <p:oleObj spid="_x0000_s16729" name="公式" r:id="rId9" imgW="1040760" imgH="648720" progId="Equations">
                  <p:embed/>
                </p:oleObj>
              </mc:Choice>
              <mc:Fallback>
                <p:oleObj name="公式" r:id="rId9" imgW="1040760" imgH="648720" progId="Equations">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12611" y="3985048"/>
                        <a:ext cx="2379133" cy="1100137"/>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28398" dir="1593903" algn="ctr" rotWithShape="0">
                                <a:srgbClr val="808080"/>
                              </a:outerShdw>
                            </a:effectLst>
                          </a14:hiddenEffects>
                        </a:ext>
                      </a:extLst>
                    </p:spPr>
                  </p:pic>
                </p:oleObj>
              </mc:Fallback>
            </mc:AlternateContent>
          </a:graphicData>
        </a:graphic>
      </p:graphicFrame>
      <p:graphicFrame>
        <p:nvGraphicFramePr>
          <p:cNvPr id="18464" name="Object 32"/>
          <p:cNvGraphicFramePr>
            <a:graphicFrameLocks noChangeAspect="1"/>
          </p:cNvGraphicFramePr>
          <p:nvPr/>
        </p:nvGraphicFramePr>
        <p:xfrm>
          <a:off x="2070882" y="5157192"/>
          <a:ext cx="5177247" cy="936104"/>
        </p:xfrm>
        <a:graphic>
          <a:graphicData uri="http://schemas.openxmlformats.org/presentationml/2006/ole">
            <mc:AlternateContent xmlns:mc="http://schemas.openxmlformats.org/markup-compatibility/2006">
              <mc:Choice xmlns:v="urn:schemas-microsoft-com:vml" Requires="v">
                <p:oleObj spid="_x0000_s16730" name="公式" r:id="rId11" imgW="1638000" imgH="393480" progId="Equations">
                  <p:embed/>
                </p:oleObj>
              </mc:Choice>
              <mc:Fallback>
                <p:oleObj name="公式" r:id="rId11" imgW="1638000" imgH="393480" progId="Equations">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070882" y="5157192"/>
                        <a:ext cx="5177247" cy="936104"/>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28398" dir="1593903" algn="ctr" rotWithShape="0">
                                <a:srgbClr val="808080"/>
                              </a:outerShdw>
                            </a:effectLst>
                          </a14:hiddenEffects>
                        </a:ext>
                      </a:extLst>
                    </p:spPr>
                  </p:pic>
                </p:oleObj>
              </mc:Fallback>
            </mc:AlternateContent>
          </a:graphicData>
        </a:graphic>
      </p:graphicFrame>
      <p:pic>
        <p:nvPicPr>
          <p:cNvPr id="18469" name="Picture 37" descr="图13-1-8"/>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8113184" y="1773238"/>
            <a:ext cx="3562349" cy="3887787"/>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1295467" y="1393612"/>
            <a:ext cx="5054533" cy="523220"/>
          </a:xfrm>
          <a:prstGeom prst="rect">
            <a:avLst/>
          </a:prstGeom>
          <a:noFill/>
        </p:spPr>
        <p:txBody>
          <a:bodyPr wrap="square" rtlCol="0">
            <a:spAutoFit/>
          </a:bodyPr>
          <a:lstStyle/>
          <a:p>
            <a:r>
              <a:rPr lang="zh-CN" altLang="en-US" sz="2800" b="1" dirty="0" smtClean="0"/>
              <a:t>根据法拉第电磁感应定律求解：</a:t>
            </a:r>
            <a:endParaRPr lang="zh-CN" altLang="en-US" sz="2800" b="1" dirty="0"/>
          </a:p>
        </p:txBody>
      </p:sp>
    </p:spTree>
    <p:extLst>
      <p:ext uri="{BB962C8B-B14F-4D97-AF65-F5344CB8AC3E}">
        <p14:creationId xmlns:p14="http://schemas.microsoft.com/office/powerpoint/2010/main" val="187231845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46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46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46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84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图片 1"/>
          <p:cNvPicPr>
            <a:picLocks noChangeAspect="1"/>
          </p:cNvPicPr>
          <p:nvPr/>
        </p:nvPicPr>
        <p:blipFill>
          <a:blip r:embed="rId2" cstate="print"/>
          <a:stretch>
            <a:fillRect/>
          </a:stretch>
        </p:blipFill>
        <p:spPr>
          <a:xfrm>
            <a:off x="5903979" y="3717032"/>
            <a:ext cx="6093949" cy="2920696"/>
          </a:xfrm>
          <a:prstGeom prst="rect">
            <a:avLst/>
          </a:prstGeom>
        </p:spPr>
      </p:pic>
      <p:sp>
        <p:nvSpPr>
          <p:cNvPr id="3" name="文本框 2"/>
          <p:cNvSpPr txBox="1"/>
          <p:nvPr/>
        </p:nvSpPr>
        <p:spPr>
          <a:xfrm>
            <a:off x="239350" y="188641"/>
            <a:ext cx="5727850" cy="584775"/>
          </a:xfrm>
          <a:prstGeom prst="rect">
            <a:avLst/>
          </a:prstGeom>
          <a:noFill/>
        </p:spPr>
        <p:txBody>
          <a:bodyPr wrap="none" rtlCol="0">
            <a:spAutoFit/>
          </a:bodyPr>
          <a:lstStyle/>
          <a:p>
            <a:r>
              <a:rPr lang="en-US" altLang="zh-CN" sz="3200" b="1" dirty="0" smtClean="0">
                <a:latin typeface="黑体" pitchFamily="49" charset="-122"/>
                <a:ea typeface="黑体" pitchFamily="49" charset="-122"/>
              </a:rPr>
              <a:t>3. </a:t>
            </a:r>
            <a:r>
              <a:rPr lang="zh-CN" altLang="en-US" sz="3200" b="1" dirty="0" smtClean="0">
                <a:latin typeface="黑体" pitchFamily="49" charset="-122"/>
                <a:ea typeface="黑体" pitchFamily="49" charset="-122"/>
              </a:rPr>
              <a:t>应用：</a:t>
            </a:r>
            <a:r>
              <a:rPr lang="zh-CN" altLang="en-US" sz="3200" b="1" dirty="0" smtClean="0"/>
              <a:t>接地故障断路器</a:t>
            </a:r>
            <a:r>
              <a:rPr lang="en-US" altLang="zh-CN" sz="3200" dirty="0"/>
              <a:t>(</a:t>
            </a:r>
            <a:r>
              <a:rPr lang="en-US" altLang="zh-CN" sz="3200" dirty="0" smtClean="0"/>
              <a:t>GFI</a:t>
            </a:r>
            <a:r>
              <a:rPr lang="en-US" altLang="zh-CN" sz="3200" dirty="0"/>
              <a:t>)</a:t>
            </a:r>
            <a:endParaRPr lang="zh-CN" altLang="en-US" sz="3200" b="1" dirty="0"/>
          </a:p>
        </p:txBody>
      </p:sp>
      <p:sp>
        <p:nvSpPr>
          <p:cNvPr id="4" name="矩形 3"/>
          <p:cNvSpPr/>
          <p:nvPr/>
        </p:nvSpPr>
        <p:spPr>
          <a:xfrm>
            <a:off x="265892" y="773415"/>
            <a:ext cx="11425269" cy="4939814"/>
          </a:xfrm>
          <a:prstGeom prst="rect">
            <a:avLst/>
          </a:prstGeom>
        </p:spPr>
        <p:txBody>
          <a:bodyPr wrap="square">
            <a:spAutoFit/>
          </a:bodyPr>
          <a:lstStyle/>
          <a:p>
            <a:pPr algn="just">
              <a:lnSpc>
                <a:spcPct val="125000"/>
              </a:lnSpc>
            </a:pPr>
            <a:r>
              <a:rPr lang="zh-CN" altLang="en-US" sz="2400" dirty="0" smtClean="0"/>
              <a:t>      </a:t>
            </a:r>
            <a:r>
              <a:rPr lang="zh-CN" altLang="en-US" sz="2800" b="1" dirty="0" smtClean="0"/>
              <a:t>该断路器</a:t>
            </a:r>
            <a:r>
              <a:rPr lang="zh-CN" altLang="en-US" sz="2800" b="1" dirty="0"/>
              <a:t>，不仅能预防房屋配线损毁，</a:t>
            </a:r>
            <a:r>
              <a:rPr lang="zh-CN" altLang="en-US" sz="2800" b="1" dirty="0" smtClean="0"/>
              <a:t>而且能</a:t>
            </a:r>
            <a:r>
              <a:rPr lang="zh-CN" altLang="en-US" sz="2800" b="1" dirty="0"/>
              <a:t>保护人免遭电击。</a:t>
            </a:r>
            <a:r>
              <a:rPr lang="en-US" altLang="zh-CN" sz="2800" b="1" dirty="0" smtClean="0">
                <a:solidFill>
                  <a:srgbClr val="333333"/>
                </a:solidFill>
                <a:latin typeface="arial" panose="020B0604020202020204" pitchFamily="34" charset="0"/>
              </a:rPr>
              <a:t>GFI</a:t>
            </a:r>
            <a:r>
              <a:rPr lang="zh-CN" altLang="en-US" sz="2800" b="1" dirty="0">
                <a:solidFill>
                  <a:srgbClr val="333333"/>
                </a:solidFill>
                <a:latin typeface="arial" panose="020B0604020202020204" pitchFamily="34" charset="0"/>
              </a:rPr>
              <a:t>会不断监测电路中零线和火线上的电流。一切正常时，两条线上的电流应当完全相同。一旦火线直接接地</a:t>
            </a:r>
            <a:r>
              <a:rPr lang="en-US" altLang="zh-CN" sz="2800" b="1" dirty="0">
                <a:solidFill>
                  <a:srgbClr val="333333"/>
                </a:solidFill>
                <a:latin typeface="arial" panose="020B0604020202020204" pitchFamily="34" charset="0"/>
              </a:rPr>
              <a:t>(</a:t>
            </a:r>
            <a:r>
              <a:rPr lang="zh-CN" altLang="en-US" sz="2800" b="1" dirty="0">
                <a:solidFill>
                  <a:srgbClr val="333333"/>
                </a:solidFill>
                <a:latin typeface="arial" panose="020B0604020202020204" pitchFamily="34" charset="0"/>
              </a:rPr>
              <a:t>例如有人不慎触碰火线</a:t>
            </a:r>
            <a:r>
              <a:rPr lang="en-US" altLang="zh-CN" sz="2800" b="1" dirty="0">
                <a:solidFill>
                  <a:srgbClr val="333333"/>
                </a:solidFill>
                <a:latin typeface="arial" panose="020B0604020202020204" pitchFamily="34" charset="0"/>
              </a:rPr>
              <a:t>)</a:t>
            </a:r>
            <a:r>
              <a:rPr lang="zh-CN" altLang="en-US" sz="2800" b="1" dirty="0">
                <a:solidFill>
                  <a:srgbClr val="333333"/>
                </a:solidFill>
                <a:latin typeface="arial" panose="020B0604020202020204" pitchFamily="34" charset="0"/>
              </a:rPr>
              <a:t>，火线上的电流会突然猛增，而零线则不会。</a:t>
            </a:r>
            <a:r>
              <a:rPr lang="en-US" altLang="zh-CN" sz="2800" b="1" dirty="0" smtClean="0">
                <a:solidFill>
                  <a:srgbClr val="333333"/>
                </a:solidFill>
                <a:latin typeface="arial" panose="020B0604020202020204" pitchFamily="34" charset="0"/>
              </a:rPr>
              <a:t>GFI</a:t>
            </a:r>
            <a:r>
              <a:rPr lang="zh-CN" altLang="en-US" sz="2800" b="1" dirty="0">
                <a:solidFill>
                  <a:srgbClr val="333333"/>
                </a:solidFill>
                <a:latin typeface="arial" panose="020B0604020202020204" pitchFamily="34" charset="0"/>
              </a:rPr>
              <a:t>在检测到这种情况后会立即切断电路，以防止触电</a:t>
            </a:r>
            <a:r>
              <a:rPr lang="zh-CN" altLang="en-US" sz="2800" b="1" dirty="0" smtClean="0">
                <a:solidFill>
                  <a:srgbClr val="333333"/>
                </a:solidFill>
                <a:latin typeface="arial" panose="020B0604020202020204" pitchFamily="34" charset="0"/>
              </a:rPr>
              <a:t>伤亡</a:t>
            </a:r>
            <a:endParaRPr lang="en-US" altLang="zh-CN" sz="2800" b="1" dirty="0" smtClean="0">
              <a:solidFill>
                <a:srgbClr val="333333"/>
              </a:solidFill>
              <a:latin typeface="arial" panose="020B0604020202020204" pitchFamily="34" charset="0"/>
            </a:endParaRPr>
          </a:p>
          <a:p>
            <a:pPr algn="just">
              <a:lnSpc>
                <a:spcPct val="125000"/>
              </a:lnSpc>
            </a:pPr>
            <a:r>
              <a:rPr lang="zh-CN" altLang="en-US" sz="2800" b="1" dirty="0" smtClean="0">
                <a:solidFill>
                  <a:srgbClr val="333333"/>
                </a:solidFill>
                <a:latin typeface="arial" panose="020B0604020202020204" pitchFamily="34" charset="0"/>
              </a:rPr>
              <a:t>事故</a:t>
            </a:r>
            <a:r>
              <a:rPr lang="zh-CN" altLang="en-US" sz="2800" b="1" dirty="0">
                <a:solidFill>
                  <a:srgbClr val="333333"/>
                </a:solidFill>
                <a:latin typeface="arial" panose="020B0604020202020204" pitchFamily="34" charset="0"/>
              </a:rPr>
              <a:t>。由于</a:t>
            </a:r>
            <a:r>
              <a:rPr lang="en-US" altLang="zh-CN" sz="2800" b="1" dirty="0" smtClean="0">
                <a:solidFill>
                  <a:srgbClr val="333333"/>
                </a:solidFill>
                <a:latin typeface="arial" panose="020B0604020202020204" pitchFamily="34" charset="0"/>
              </a:rPr>
              <a:t>GFI</a:t>
            </a:r>
            <a:r>
              <a:rPr lang="zh-CN" altLang="en-US" sz="2800" b="1" dirty="0">
                <a:solidFill>
                  <a:srgbClr val="333333"/>
                </a:solidFill>
                <a:latin typeface="arial" panose="020B0604020202020204" pitchFamily="34" charset="0"/>
              </a:rPr>
              <a:t>无需等到电流</a:t>
            </a:r>
            <a:r>
              <a:rPr lang="zh-CN" altLang="en-US" sz="2800" b="1" dirty="0" smtClean="0">
                <a:solidFill>
                  <a:srgbClr val="333333"/>
                </a:solidFill>
                <a:latin typeface="arial" panose="020B0604020202020204" pitchFamily="34" charset="0"/>
              </a:rPr>
              <a:t>上升</a:t>
            </a:r>
            <a:endParaRPr lang="en-US" altLang="zh-CN" sz="2800" b="1" dirty="0" smtClean="0">
              <a:solidFill>
                <a:srgbClr val="333333"/>
              </a:solidFill>
              <a:latin typeface="arial" panose="020B0604020202020204" pitchFamily="34" charset="0"/>
            </a:endParaRPr>
          </a:p>
          <a:p>
            <a:pPr algn="just">
              <a:lnSpc>
                <a:spcPct val="125000"/>
              </a:lnSpc>
            </a:pPr>
            <a:r>
              <a:rPr lang="zh-CN" altLang="en-US" sz="2800" b="1" dirty="0" smtClean="0">
                <a:solidFill>
                  <a:srgbClr val="333333"/>
                </a:solidFill>
                <a:latin typeface="arial" panose="020B0604020202020204" pitchFamily="34" charset="0"/>
              </a:rPr>
              <a:t>到危险水平</a:t>
            </a:r>
            <a:r>
              <a:rPr lang="zh-CN" altLang="en-US" sz="2800" b="1" dirty="0">
                <a:solidFill>
                  <a:srgbClr val="333333"/>
                </a:solidFill>
                <a:latin typeface="arial" panose="020B0604020202020204" pitchFamily="34" charset="0"/>
              </a:rPr>
              <a:t>就能采取行动</a:t>
            </a:r>
            <a:r>
              <a:rPr lang="zh-CN" altLang="en-US" sz="2800" b="1" dirty="0" smtClean="0">
                <a:solidFill>
                  <a:srgbClr val="333333"/>
                </a:solidFill>
                <a:latin typeface="arial" panose="020B0604020202020204" pitchFamily="34" charset="0"/>
              </a:rPr>
              <a:t>，</a:t>
            </a:r>
            <a:endParaRPr lang="en-US" altLang="zh-CN" sz="2800" b="1" dirty="0" smtClean="0">
              <a:solidFill>
                <a:srgbClr val="333333"/>
              </a:solidFill>
              <a:latin typeface="arial" panose="020B0604020202020204" pitchFamily="34" charset="0"/>
            </a:endParaRPr>
          </a:p>
          <a:p>
            <a:pPr algn="just">
              <a:lnSpc>
                <a:spcPct val="125000"/>
              </a:lnSpc>
            </a:pPr>
            <a:r>
              <a:rPr lang="zh-CN" altLang="en-US" sz="2800" b="1" dirty="0" smtClean="0">
                <a:solidFill>
                  <a:srgbClr val="333333"/>
                </a:solidFill>
                <a:latin typeface="arial" panose="020B0604020202020204" pitchFamily="34" charset="0"/>
              </a:rPr>
              <a:t>因而其反应</a:t>
            </a:r>
            <a:r>
              <a:rPr lang="zh-CN" altLang="en-US" sz="2800" b="1" dirty="0">
                <a:solidFill>
                  <a:srgbClr val="333333"/>
                </a:solidFill>
                <a:latin typeface="arial" panose="020B0604020202020204" pitchFamily="34" charset="0"/>
              </a:rPr>
              <a:t>速度要比</a:t>
            </a:r>
            <a:r>
              <a:rPr lang="zh-CN" altLang="en-US" sz="2800" b="1" dirty="0" smtClean="0">
                <a:solidFill>
                  <a:srgbClr val="333333"/>
                </a:solidFill>
                <a:latin typeface="arial" panose="020B0604020202020204" pitchFamily="34" charset="0"/>
              </a:rPr>
              <a:t>传统</a:t>
            </a:r>
            <a:endParaRPr lang="en-US" altLang="zh-CN" sz="2800" b="1" dirty="0" smtClean="0">
              <a:solidFill>
                <a:srgbClr val="333333"/>
              </a:solidFill>
              <a:latin typeface="arial" panose="020B0604020202020204" pitchFamily="34" charset="0"/>
            </a:endParaRPr>
          </a:p>
          <a:p>
            <a:pPr algn="just">
              <a:lnSpc>
                <a:spcPct val="125000"/>
              </a:lnSpc>
            </a:pPr>
            <a:r>
              <a:rPr lang="zh-CN" altLang="en-US" sz="2800" b="1" dirty="0" smtClean="0">
                <a:solidFill>
                  <a:srgbClr val="333333"/>
                </a:solidFill>
                <a:latin typeface="arial" panose="020B0604020202020204" pitchFamily="34" charset="0"/>
              </a:rPr>
              <a:t>断路器快得多</a:t>
            </a:r>
            <a:r>
              <a:rPr lang="zh-CN" altLang="en-US" sz="2800" b="1" dirty="0">
                <a:solidFill>
                  <a:srgbClr val="333333"/>
                </a:solidFill>
                <a:latin typeface="arial" panose="020B0604020202020204" pitchFamily="34" charset="0"/>
              </a:rPr>
              <a:t>。</a:t>
            </a:r>
            <a:endParaRPr lang="zh-CN" altLang="en-US" sz="2800" b="1" dirty="0"/>
          </a:p>
        </p:txBody>
      </p:sp>
    </p:spTree>
    <p:extLst>
      <p:ext uri="{BB962C8B-B14F-4D97-AF65-F5344CB8AC3E}">
        <p14:creationId xmlns:p14="http://schemas.microsoft.com/office/powerpoint/2010/main" val="202351645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文本框 1"/>
          <p:cNvSpPr txBox="1"/>
          <p:nvPr/>
        </p:nvSpPr>
        <p:spPr>
          <a:xfrm>
            <a:off x="143339" y="1714830"/>
            <a:ext cx="3892412" cy="584775"/>
          </a:xfrm>
          <a:prstGeom prst="rect">
            <a:avLst/>
          </a:prstGeom>
          <a:noFill/>
        </p:spPr>
        <p:txBody>
          <a:bodyPr wrap="none" rtlCol="0">
            <a:spAutoFit/>
          </a:bodyPr>
          <a:lstStyle/>
          <a:p>
            <a:r>
              <a:rPr lang="zh-CN" altLang="en-US" sz="3200" b="1" dirty="0" smtClean="0"/>
              <a:t>应用：动圈式麦克风</a:t>
            </a:r>
            <a:endParaRPr lang="zh-CN" altLang="en-US" sz="3200" b="1" dirty="0"/>
          </a:p>
        </p:txBody>
      </p:sp>
      <p:pic>
        <p:nvPicPr>
          <p:cNvPr id="3" name="图片 2"/>
          <p:cNvPicPr>
            <a:picLocks noChangeAspect="1"/>
          </p:cNvPicPr>
          <p:nvPr/>
        </p:nvPicPr>
        <p:blipFill>
          <a:blip r:embed="rId2" cstate="print"/>
          <a:stretch>
            <a:fillRect/>
          </a:stretch>
        </p:blipFill>
        <p:spPr>
          <a:xfrm>
            <a:off x="5524497" y="46334"/>
            <a:ext cx="6094476" cy="3168352"/>
          </a:xfrm>
          <a:prstGeom prst="rect">
            <a:avLst/>
          </a:prstGeom>
        </p:spPr>
      </p:pic>
      <p:sp>
        <p:nvSpPr>
          <p:cNvPr id="4" name="矩形 3"/>
          <p:cNvSpPr/>
          <p:nvPr/>
        </p:nvSpPr>
        <p:spPr>
          <a:xfrm>
            <a:off x="-677" y="2786059"/>
            <a:ext cx="11425269" cy="1708160"/>
          </a:xfrm>
          <a:prstGeom prst="rect">
            <a:avLst/>
          </a:prstGeom>
        </p:spPr>
        <p:txBody>
          <a:bodyPr wrap="square">
            <a:spAutoFit/>
          </a:bodyPr>
          <a:lstStyle/>
          <a:p>
            <a:pPr>
              <a:lnSpc>
                <a:spcPct val="125000"/>
              </a:lnSpc>
            </a:pPr>
            <a:r>
              <a:rPr lang="zh-CN" altLang="en-US" sz="2400" dirty="0" smtClean="0"/>
              <a:t>        </a:t>
            </a:r>
            <a:r>
              <a:rPr lang="zh-CN" altLang="en-US" sz="2800" b="1" dirty="0" smtClean="0"/>
              <a:t>线圈与一个膜片连接，膜片可以前后移动以响应空气中的声波。磁铁固定在适当的位置。由于磁通量的变化，线圈中出现感应电动势。另一种常见类型的麦克风中，磁铁与膜片连接，而线圈固定在适当位置。</a:t>
            </a:r>
            <a:endParaRPr lang="en-US" altLang="zh-CN" sz="2800" b="1" dirty="0" smtClean="0"/>
          </a:p>
        </p:txBody>
      </p:sp>
    </p:spTree>
    <p:extLst>
      <p:ext uri="{BB962C8B-B14F-4D97-AF65-F5344CB8AC3E}">
        <p14:creationId xmlns:p14="http://schemas.microsoft.com/office/powerpoint/2010/main" val="383293786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矩形 1"/>
          <p:cNvSpPr/>
          <p:nvPr/>
        </p:nvSpPr>
        <p:spPr>
          <a:xfrm>
            <a:off x="1000324" y="815877"/>
            <a:ext cx="10657184" cy="1957524"/>
          </a:xfrm>
          <a:prstGeom prst="rect">
            <a:avLst/>
          </a:prstGeom>
        </p:spPr>
        <p:txBody>
          <a:bodyPr wrap="square">
            <a:spAutoFit/>
          </a:bodyPr>
          <a:lstStyle/>
          <a:p>
            <a:pPr>
              <a:lnSpc>
                <a:spcPct val="150000"/>
              </a:lnSpc>
            </a:pPr>
            <a:r>
              <a:rPr lang="en-US" altLang="zh-CN" b="1" dirty="0" smtClean="0"/>
              <a:t> </a:t>
            </a:r>
            <a:r>
              <a:rPr lang="zh-CN" altLang="en-US" sz="2800" b="1" dirty="0" smtClean="0"/>
              <a:t>计算机硬盘驱动器的读取也是基于电磁感应。随着磁盘的旋转，只要盘片表面磁化强度变化，通过磁头的磁通量就会变化，从而感应出电动势。</a:t>
            </a:r>
            <a:endParaRPr lang="zh-CN" altLang="en-US" sz="2800" dirty="0"/>
          </a:p>
        </p:txBody>
      </p:sp>
      <p:pic>
        <p:nvPicPr>
          <p:cNvPr id="166914" name="Picture 2" descr="http://p0.so.qhimgs1.com/bdr/_240_/t01ba66dc1ef3a806aa.jpg"/>
          <p:cNvPicPr>
            <a:picLocks noChangeAspect="1" noChangeArrowheads="1"/>
          </p:cNvPicPr>
          <p:nvPr/>
        </p:nvPicPr>
        <p:blipFill>
          <a:blip r:embed="rId2" cstate="print"/>
          <a:srcRect/>
          <a:stretch>
            <a:fillRect/>
          </a:stretch>
        </p:blipFill>
        <p:spPr bwMode="auto">
          <a:xfrm>
            <a:off x="143339" y="4094336"/>
            <a:ext cx="5715000" cy="1905000"/>
          </a:xfrm>
          <a:prstGeom prst="rect">
            <a:avLst/>
          </a:prstGeom>
          <a:noFill/>
        </p:spPr>
      </p:pic>
      <p:pic>
        <p:nvPicPr>
          <p:cNvPr id="166920" name="Picture 8" descr="http://p3.so.qhmsg.com/t017e20dc472b4ffc35.jpg"/>
          <p:cNvPicPr>
            <a:picLocks noChangeAspect="1" noChangeArrowheads="1"/>
          </p:cNvPicPr>
          <p:nvPr/>
        </p:nvPicPr>
        <p:blipFill>
          <a:blip r:embed="rId3" cstate="print"/>
          <a:srcRect/>
          <a:stretch>
            <a:fillRect/>
          </a:stretch>
        </p:blipFill>
        <p:spPr bwMode="auto">
          <a:xfrm>
            <a:off x="5858339" y="3456813"/>
            <a:ext cx="6384032" cy="3180045"/>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Box 2"/>
          <p:cNvSpPr txBox="1">
            <a:spLocks noChangeArrowheads="1"/>
          </p:cNvSpPr>
          <p:nvPr/>
        </p:nvSpPr>
        <p:spPr bwMode="auto">
          <a:xfrm>
            <a:off x="99483" y="2204865"/>
            <a:ext cx="11853167"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3200">
                <a:solidFill>
                  <a:schemeClr val="tx1"/>
                </a:solidFill>
                <a:latin typeface="Times New Roman" pitchFamily="18" charset="0"/>
                <a:ea typeface="宋体" charset="-122"/>
              </a:defRPr>
            </a:lvl1pPr>
            <a:lvl2pPr marL="542925">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hangingPunct="0">
              <a:defRPr kumimoji="1" sz="2000">
                <a:solidFill>
                  <a:schemeClr val="tx1"/>
                </a:solidFill>
                <a:latin typeface="Times New Roman" pitchFamily="18" charset="0"/>
                <a:ea typeface="宋体" charset="-122"/>
              </a:defRPr>
            </a:lvl6pPr>
            <a:lvl7pPr eaLnBrk="0" hangingPunct="0">
              <a:defRPr kumimoji="1" sz="2000">
                <a:solidFill>
                  <a:schemeClr val="tx1"/>
                </a:solidFill>
                <a:latin typeface="Times New Roman" pitchFamily="18" charset="0"/>
                <a:ea typeface="宋体" charset="-122"/>
              </a:defRPr>
            </a:lvl7pPr>
            <a:lvl8pPr eaLnBrk="0" hangingPunct="0">
              <a:defRPr kumimoji="1" sz="2000">
                <a:solidFill>
                  <a:schemeClr val="tx1"/>
                </a:solidFill>
                <a:latin typeface="Times New Roman" pitchFamily="18" charset="0"/>
                <a:ea typeface="宋体" charset="-122"/>
              </a:defRPr>
            </a:lvl8pPr>
            <a:lvl9pPr eaLnBrk="0" hangingPunct="0">
              <a:defRPr kumimoji="1" sz="2000">
                <a:solidFill>
                  <a:schemeClr val="tx1"/>
                </a:solidFill>
                <a:latin typeface="Times New Roman" pitchFamily="18" charset="0"/>
                <a:ea typeface="宋体" charset="-122"/>
              </a:defRPr>
            </a:lvl9pPr>
          </a:lstStyle>
          <a:p>
            <a:pPr fontAlgn="base">
              <a:spcBef>
                <a:spcPct val="0"/>
              </a:spcBef>
              <a:spcAft>
                <a:spcPct val="0"/>
              </a:spcAft>
            </a:pPr>
            <a:r>
              <a:rPr lang="en-US" altLang="zh-CN" sz="2800" b="1" dirty="0" smtClean="0">
                <a:solidFill>
                  <a:srgbClr val="3333FF"/>
                </a:solidFill>
                <a:latin typeface="+mn-lt"/>
                <a:ea typeface="黑体" pitchFamily="49" charset="-122"/>
              </a:rPr>
              <a:t>1</a:t>
            </a:r>
            <a:r>
              <a:rPr lang="zh-CN" altLang="en-US" sz="2800" b="1" dirty="0" smtClean="0">
                <a:solidFill>
                  <a:srgbClr val="3333FF"/>
                </a:solidFill>
                <a:latin typeface="+mn-lt"/>
                <a:ea typeface="黑体" pitchFamily="49" charset="-122"/>
              </a:rPr>
              <a:t>、楞次定律内容：</a:t>
            </a:r>
          </a:p>
          <a:p>
            <a:pPr lvl="1" fontAlgn="base">
              <a:spcBef>
                <a:spcPct val="0"/>
              </a:spcBef>
              <a:spcAft>
                <a:spcPct val="0"/>
              </a:spcAft>
            </a:pPr>
            <a:r>
              <a:rPr lang="zh-CN" altLang="en-US" b="1" dirty="0" smtClean="0">
                <a:solidFill>
                  <a:srgbClr val="FF3300"/>
                </a:solidFill>
                <a:latin typeface="+mn-lt"/>
                <a:ea typeface="黑体" pitchFamily="49" charset="-122"/>
              </a:rPr>
              <a:t>闭合回路中感应电流的方向总是阻碍引起感应电流的磁通量的变化。</a:t>
            </a:r>
          </a:p>
        </p:txBody>
      </p:sp>
      <p:sp>
        <p:nvSpPr>
          <p:cNvPr id="15363" name="Text Box 5"/>
          <p:cNvSpPr txBox="1">
            <a:spLocks noChangeArrowheads="1"/>
          </p:cNvSpPr>
          <p:nvPr/>
        </p:nvSpPr>
        <p:spPr bwMode="auto">
          <a:xfrm>
            <a:off x="818277" y="989840"/>
            <a:ext cx="10555446"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hangingPunct="0">
              <a:defRPr kumimoji="1" sz="2000">
                <a:solidFill>
                  <a:schemeClr val="tx1"/>
                </a:solidFill>
                <a:latin typeface="Times New Roman" pitchFamily="18" charset="0"/>
                <a:ea typeface="宋体" charset="-122"/>
              </a:defRPr>
            </a:lvl6pPr>
            <a:lvl7pPr eaLnBrk="0" hangingPunct="0">
              <a:defRPr kumimoji="1" sz="2000">
                <a:solidFill>
                  <a:schemeClr val="tx1"/>
                </a:solidFill>
                <a:latin typeface="Times New Roman" pitchFamily="18" charset="0"/>
                <a:ea typeface="宋体" charset="-122"/>
              </a:defRPr>
            </a:lvl7pPr>
            <a:lvl8pPr eaLnBrk="0" hangingPunct="0">
              <a:defRPr kumimoji="1" sz="2000">
                <a:solidFill>
                  <a:schemeClr val="tx1"/>
                </a:solidFill>
                <a:latin typeface="Times New Roman" pitchFamily="18" charset="0"/>
                <a:ea typeface="宋体" charset="-122"/>
              </a:defRPr>
            </a:lvl8pPr>
            <a:lvl9pPr eaLnBrk="0" hangingPunct="0">
              <a:defRPr kumimoji="1" sz="2000">
                <a:solidFill>
                  <a:schemeClr val="tx1"/>
                </a:solidFill>
                <a:latin typeface="Times New Roman" pitchFamily="18" charset="0"/>
                <a:ea typeface="宋体" charset="-122"/>
              </a:defRPr>
            </a:lvl9pPr>
          </a:lstStyle>
          <a:p>
            <a:pPr fontAlgn="base">
              <a:lnSpc>
                <a:spcPct val="125000"/>
              </a:lnSpc>
              <a:spcBef>
                <a:spcPct val="0"/>
              </a:spcBef>
              <a:spcAft>
                <a:spcPct val="0"/>
              </a:spcAft>
            </a:pPr>
            <a:r>
              <a:rPr lang="en-US" altLang="zh-CN" sz="2800" b="1" dirty="0" smtClean="0">
                <a:solidFill>
                  <a:srgbClr val="000000"/>
                </a:solidFill>
                <a:latin typeface="+mn-lt"/>
                <a:ea typeface="黑体" pitchFamily="49" charset="-122"/>
              </a:rPr>
              <a:t>1834</a:t>
            </a:r>
            <a:r>
              <a:rPr lang="zh-CN" altLang="en-US" sz="2800" b="1" dirty="0" smtClean="0">
                <a:solidFill>
                  <a:srgbClr val="000000"/>
                </a:solidFill>
                <a:latin typeface="+mn-lt"/>
                <a:ea typeface="黑体" pitchFamily="49" charset="-122"/>
              </a:rPr>
              <a:t>年楞次提出一种判断感应电流的方法，再由感应电流来判断感应电动势的方向。</a:t>
            </a:r>
          </a:p>
        </p:txBody>
      </p:sp>
      <p:sp>
        <p:nvSpPr>
          <p:cNvPr id="13354" name="Freeform 47"/>
          <p:cNvSpPr>
            <a:spLocks/>
          </p:cNvSpPr>
          <p:nvPr/>
        </p:nvSpPr>
        <p:spPr bwMode="auto">
          <a:xfrm>
            <a:off x="4978401" y="4525666"/>
            <a:ext cx="12700" cy="600075"/>
          </a:xfrm>
          <a:custGeom>
            <a:avLst/>
            <a:gdLst>
              <a:gd name="T0" fmla="*/ 0 w 6"/>
              <a:gd name="T1" fmla="*/ 2147483646 h 378"/>
              <a:gd name="T2" fmla="*/ 2147483646 w 6"/>
              <a:gd name="T3" fmla="*/ 0 h 378"/>
              <a:gd name="T4" fmla="*/ 0 60000 65536"/>
              <a:gd name="T5" fmla="*/ 0 60000 65536"/>
            </a:gdLst>
            <a:ahLst/>
            <a:cxnLst>
              <a:cxn ang="T4">
                <a:pos x="T0" y="T1"/>
              </a:cxn>
              <a:cxn ang="T5">
                <a:pos x="T2" y="T3"/>
              </a:cxn>
            </a:cxnLst>
            <a:rect l="0" t="0" r="r" b="b"/>
            <a:pathLst>
              <a:path w="6" h="378">
                <a:moveTo>
                  <a:pt x="0" y="378"/>
                </a:moveTo>
                <a:lnTo>
                  <a:pt x="6" y="0"/>
                </a:lnTo>
              </a:path>
            </a:pathLst>
          </a:custGeom>
          <a:noFill/>
          <a:ln w="50800" cap="flat" cmpd="sng">
            <a:solidFill>
              <a:srgbClr val="FF0000"/>
            </a:solidFill>
            <a:prstDash val="solid"/>
            <a:round/>
            <a:headEnd type="none" w="med" len="med"/>
            <a:tailEnd type="arrow"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kumimoji="1" lang="zh-CN" altLang="en-US" sz="3600" b="1" smtClean="0">
              <a:solidFill>
                <a:srgbClr val="FF3300"/>
              </a:solidFill>
              <a:ea typeface="楷体_GB2312" pitchFamily="49" charset="-122"/>
            </a:endParaRPr>
          </a:p>
        </p:txBody>
      </p:sp>
      <p:sp>
        <p:nvSpPr>
          <p:cNvPr id="13345" name="Oval 7"/>
          <p:cNvSpPr>
            <a:spLocks noChangeArrowheads="1"/>
          </p:cNvSpPr>
          <p:nvPr/>
        </p:nvSpPr>
        <p:spPr bwMode="auto">
          <a:xfrm>
            <a:off x="5994400" y="5060652"/>
            <a:ext cx="2540000" cy="609600"/>
          </a:xfrm>
          <a:prstGeom prst="ellipse">
            <a:avLst/>
          </a:prstGeom>
          <a:noFill/>
          <a:ln w="44450">
            <a:solidFill>
              <a:srgbClr val="FF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20000"/>
              </a:spcBef>
              <a:spcAft>
                <a:spcPct val="0"/>
              </a:spcAft>
            </a:pPr>
            <a:endParaRPr kumimoji="1" lang="zh-CN" altLang="en-US" sz="3600" b="1" smtClean="0">
              <a:solidFill>
                <a:srgbClr val="FF3300"/>
              </a:solidFill>
              <a:ea typeface="楷体_GB2312" pitchFamily="49" charset="-122"/>
            </a:endParaRPr>
          </a:p>
        </p:txBody>
      </p:sp>
      <p:sp>
        <p:nvSpPr>
          <p:cNvPr id="13346" name="Freeform 14"/>
          <p:cNvSpPr>
            <a:spLocks/>
          </p:cNvSpPr>
          <p:nvPr/>
        </p:nvSpPr>
        <p:spPr bwMode="auto">
          <a:xfrm>
            <a:off x="6096000" y="5517852"/>
            <a:ext cx="812800" cy="152400"/>
          </a:xfrm>
          <a:custGeom>
            <a:avLst/>
            <a:gdLst>
              <a:gd name="T0" fmla="*/ 0 w 384"/>
              <a:gd name="T1" fmla="*/ 0 h 96"/>
              <a:gd name="T2" fmla="*/ 2147483646 w 384"/>
              <a:gd name="T3" fmla="*/ 2147483646 h 96"/>
              <a:gd name="T4" fmla="*/ 2147483646 w 384"/>
              <a:gd name="T5" fmla="*/ 2147483646 h 96"/>
              <a:gd name="T6" fmla="*/ 0 60000 65536"/>
              <a:gd name="T7" fmla="*/ 0 60000 65536"/>
              <a:gd name="T8" fmla="*/ 0 60000 65536"/>
            </a:gdLst>
            <a:ahLst/>
            <a:cxnLst>
              <a:cxn ang="T6">
                <a:pos x="T0" y="T1"/>
              </a:cxn>
              <a:cxn ang="T7">
                <a:pos x="T2" y="T3"/>
              </a:cxn>
              <a:cxn ang="T8">
                <a:pos x="T4" y="T5"/>
              </a:cxn>
            </a:cxnLst>
            <a:rect l="0" t="0" r="r" b="b"/>
            <a:pathLst>
              <a:path w="384" h="96">
                <a:moveTo>
                  <a:pt x="0" y="0"/>
                </a:moveTo>
                <a:lnTo>
                  <a:pt x="202" y="68"/>
                </a:lnTo>
                <a:lnTo>
                  <a:pt x="384" y="96"/>
                </a:lnTo>
              </a:path>
            </a:pathLst>
          </a:custGeom>
          <a:noFill/>
          <a:ln w="41275" cap="flat" cmpd="sng">
            <a:solidFill>
              <a:srgbClr val="FFCC00"/>
            </a:solidFill>
            <a:prstDash val="solid"/>
            <a:round/>
            <a:headEnd type="none" w="med" len="med"/>
            <a:tailEnd type="arrow"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kumimoji="1" lang="zh-CN" altLang="en-US" sz="3600" b="1" smtClean="0">
              <a:solidFill>
                <a:srgbClr val="FF3300"/>
              </a:solidFill>
              <a:ea typeface="楷体_GB2312" pitchFamily="49" charset="-122"/>
            </a:endParaRPr>
          </a:p>
        </p:txBody>
      </p:sp>
      <p:sp>
        <p:nvSpPr>
          <p:cNvPr id="13348" name="Rectangle 75"/>
          <p:cNvSpPr>
            <a:spLocks noChangeArrowheads="1"/>
          </p:cNvSpPr>
          <p:nvPr/>
        </p:nvSpPr>
        <p:spPr bwMode="auto">
          <a:xfrm>
            <a:off x="7198784" y="4155777"/>
            <a:ext cx="201083" cy="38100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20000"/>
              </a:spcBef>
              <a:spcAft>
                <a:spcPct val="0"/>
              </a:spcAft>
            </a:pPr>
            <a:endParaRPr kumimoji="1" lang="zh-CN" altLang="en-US" sz="3600" b="1" smtClean="0">
              <a:solidFill>
                <a:srgbClr val="FF3300"/>
              </a:solidFill>
              <a:ea typeface="楷体_GB2312" pitchFamily="49" charset="-122"/>
            </a:endParaRPr>
          </a:p>
        </p:txBody>
      </p:sp>
      <p:sp>
        <p:nvSpPr>
          <p:cNvPr id="13349" name="Rectangle 76"/>
          <p:cNvSpPr>
            <a:spLocks noChangeArrowheads="1"/>
          </p:cNvSpPr>
          <p:nvPr/>
        </p:nvSpPr>
        <p:spPr bwMode="auto">
          <a:xfrm>
            <a:off x="7211484" y="4536777"/>
            <a:ext cx="203200" cy="381000"/>
          </a:xfrm>
          <a:prstGeom prst="rect">
            <a:avLst/>
          </a:prstGeom>
          <a:solidFill>
            <a:srgbClr val="FF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20000"/>
              </a:spcBef>
              <a:spcAft>
                <a:spcPct val="0"/>
              </a:spcAft>
            </a:pPr>
            <a:endParaRPr kumimoji="1" lang="zh-CN" altLang="en-US" sz="3600" b="1" smtClean="0">
              <a:solidFill>
                <a:srgbClr val="FF3300"/>
              </a:solidFill>
              <a:ea typeface="楷体_GB2312" pitchFamily="49" charset="-122"/>
            </a:endParaRPr>
          </a:p>
        </p:txBody>
      </p:sp>
      <p:sp>
        <p:nvSpPr>
          <p:cNvPr id="13350" name="Line 77"/>
          <p:cNvSpPr>
            <a:spLocks noChangeShapeType="1"/>
          </p:cNvSpPr>
          <p:nvPr/>
        </p:nvSpPr>
        <p:spPr bwMode="auto">
          <a:xfrm>
            <a:off x="7740651" y="4222452"/>
            <a:ext cx="0" cy="762000"/>
          </a:xfrm>
          <a:prstGeom prst="line">
            <a:avLst/>
          </a:prstGeom>
          <a:noFill/>
          <a:ln w="44450">
            <a:solidFill>
              <a:srgbClr val="3333FF"/>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kumimoji="1" lang="zh-CN" altLang="en-US" sz="3600" b="1" smtClean="0">
              <a:solidFill>
                <a:srgbClr val="FF3300"/>
              </a:solidFill>
              <a:ea typeface="楷体_GB2312" pitchFamily="49" charset="-122"/>
            </a:endParaRPr>
          </a:p>
        </p:txBody>
      </p:sp>
      <p:pic>
        <p:nvPicPr>
          <p:cNvPr id="111697" name="Picture 81" descr="lenz_exp"/>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839200" y="3612852"/>
            <a:ext cx="3048000"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5371" name="Group 88"/>
          <p:cNvGrpSpPr>
            <a:grpSpLocks/>
          </p:cNvGrpSpPr>
          <p:nvPr/>
        </p:nvGrpSpPr>
        <p:grpSpPr bwMode="auto">
          <a:xfrm>
            <a:off x="4019551" y="4098628"/>
            <a:ext cx="1073149" cy="1281113"/>
            <a:chOff x="1947" y="288"/>
            <a:chExt cx="507" cy="807"/>
          </a:xfrm>
        </p:grpSpPr>
        <p:sp>
          <p:nvSpPr>
            <p:cNvPr id="15396" name="Line 89"/>
            <p:cNvSpPr>
              <a:spLocks noChangeShapeType="1"/>
            </p:cNvSpPr>
            <p:nvPr/>
          </p:nvSpPr>
          <p:spPr bwMode="auto">
            <a:xfrm>
              <a:off x="2027" y="366"/>
              <a:ext cx="427" cy="0"/>
            </a:xfrm>
            <a:prstGeom prst="line">
              <a:avLst/>
            </a:prstGeom>
            <a:noFill/>
            <a:ln w="444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kumimoji="1" lang="zh-CN" altLang="en-US" sz="3600" b="1" smtClean="0">
                <a:solidFill>
                  <a:srgbClr val="FF3300"/>
                </a:solidFill>
                <a:ea typeface="楷体_GB2312" pitchFamily="49" charset="-122"/>
              </a:endParaRPr>
            </a:p>
          </p:txBody>
        </p:sp>
        <p:sp>
          <p:nvSpPr>
            <p:cNvPr id="15397" name="Rectangle 90"/>
            <p:cNvSpPr>
              <a:spLocks noChangeArrowheads="1"/>
            </p:cNvSpPr>
            <p:nvPr/>
          </p:nvSpPr>
          <p:spPr bwMode="auto">
            <a:xfrm>
              <a:off x="1947" y="288"/>
              <a:ext cx="84" cy="807"/>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20000"/>
                </a:spcBef>
                <a:spcAft>
                  <a:spcPct val="0"/>
                </a:spcAft>
              </a:pPr>
              <a:endParaRPr kumimoji="1" lang="zh-CN" altLang="en-US" sz="3600" b="1" smtClean="0">
                <a:solidFill>
                  <a:srgbClr val="FF3300"/>
                </a:solidFill>
                <a:ea typeface="楷体_GB2312" pitchFamily="49" charset="-122"/>
              </a:endParaRPr>
            </a:p>
          </p:txBody>
        </p:sp>
      </p:grpSp>
      <p:sp>
        <p:nvSpPr>
          <p:cNvPr id="15372" name="Line 91"/>
          <p:cNvSpPr>
            <a:spLocks noChangeShapeType="1"/>
          </p:cNvSpPr>
          <p:nvPr/>
        </p:nvSpPr>
        <p:spPr bwMode="auto">
          <a:xfrm>
            <a:off x="2190751" y="4327227"/>
            <a:ext cx="2463800" cy="0"/>
          </a:xfrm>
          <a:prstGeom prst="line">
            <a:avLst/>
          </a:prstGeom>
          <a:noFill/>
          <a:ln w="444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kumimoji="1" lang="zh-CN" altLang="en-US" sz="3600" b="1" smtClean="0">
              <a:solidFill>
                <a:srgbClr val="FF3300"/>
              </a:solidFill>
              <a:ea typeface="楷体_GB2312" pitchFamily="49" charset="-122"/>
            </a:endParaRPr>
          </a:p>
        </p:txBody>
      </p:sp>
      <p:sp>
        <p:nvSpPr>
          <p:cNvPr id="15373" name="Line 92"/>
          <p:cNvSpPr>
            <a:spLocks noChangeShapeType="1"/>
          </p:cNvSpPr>
          <p:nvPr/>
        </p:nvSpPr>
        <p:spPr bwMode="auto">
          <a:xfrm>
            <a:off x="2152651" y="5189240"/>
            <a:ext cx="2383367" cy="0"/>
          </a:xfrm>
          <a:prstGeom prst="line">
            <a:avLst/>
          </a:prstGeom>
          <a:noFill/>
          <a:ln w="444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kumimoji="1" lang="zh-CN" altLang="en-US" sz="3600" b="1" smtClean="0">
              <a:solidFill>
                <a:srgbClr val="FF3300"/>
              </a:solidFill>
              <a:ea typeface="楷体_GB2312" pitchFamily="49" charset="-122"/>
            </a:endParaRPr>
          </a:p>
        </p:txBody>
      </p:sp>
      <p:sp>
        <p:nvSpPr>
          <p:cNvPr id="15374" name="Oval 93"/>
          <p:cNvSpPr>
            <a:spLocks noChangeArrowheads="1"/>
          </p:cNvSpPr>
          <p:nvPr/>
        </p:nvSpPr>
        <p:spPr bwMode="auto">
          <a:xfrm>
            <a:off x="1016000" y="4551065"/>
            <a:ext cx="508000" cy="381000"/>
          </a:xfrm>
          <a:prstGeom prst="ellipse">
            <a:avLst/>
          </a:prstGeom>
          <a:noFill/>
          <a:ln w="44450">
            <a:solidFill>
              <a:srgbClr val="FF33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20000"/>
              </a:spcBef>
              <a:spcAft>
                <a:spcPct val="0"/>
              </a:spcAft>
            </a:pPr>
            <a:endParaRPr kumimoji="1" lang="zh-CN" altLang="en-US" sz="3600" b="1" smtClean="0">
              <a:solidFill>
                <a:srgbClr val="FF3300"/>
              </a:solidFill>
              <a:ea typeface="楷体_GB2312" pitchFamily="49" charset="-122"/>
            </a:endParaRPr>
          </a:p>
        </p:txBody>
      </p:sp>
      <p:sp>
        <p:nvSpPr>
          <p:cNvPr id="15375" name="Line 94"/>
          <p:cNvSpPr>
            <a:spLocks noChangeShapeType="1"/>
          </p:cNvSpPr>
          <p:nvPr/>
        </p:nvSpPr>
        <p:spPr bwMode="auto">
          <a:xfrm flipH="1">
            <a:off x="1016000" y="4503440"/>
            <a:ext cx="508000" cy="457200"/>
          </a:xfrm>
          <a:prstGeom prst="line">
            <a:avLst/>
          </a:prstGeom>
          <a:noFill/>
          <a:ln w="44450">
            <a:solidFill>
              <a:srgbClr val="FF3300"/>
            </a:solidFill>
            <a:round/>
            <a:headEnd type="arrow" w="sm"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kumimoji="1" lang="zh-CN" altLang="en-US" sz="3600" b="1" smtClean="0">
              <a:solidFill>
                <a:srgbClr val="FF3300"/>
              </a:solidFill>
              <a:ea typeface="楷体_GB2312" pitchFamily="49" charset="-122"/>
            </a:endParaRPr>
          </a:p>
        </p:txBody>
      </p:sp>
      <p:sp>
        <p:nvSpPr>
          <p:cNvPr id="15376" name="Freeform 95"/>
          <p:cNvSpPr>
            <a:spLocks/>
          </p:cNvSpPr>
          <p:nvPr/>
        </p:nvSpPr>
        <p:spPr bwMode="auto">
          <a:xfrm>
            <a:off x="2150534" y="4808240"/>
            <a:ext cx="2117" cy="387350"/>
          </a:xfrm>
          <a:custGeom>
            <a:avLst/>
            <a:gdLst>
              <a:gd name="T0" fmla="*/ 0 w 1"/>
              <a:gd name="T1" fmla="*/ 0 h 244"/>
              <a:gd name="T2" fmla="*/ 2147483646 w 1"/>
              <a:gd name="T3" fmla="*/ 2147483646 h 244"/>
              <a:gd name="T4" fmla="*/ 0 60000 65536"/>
              <a:gd name="T5" fmla="*/ 0 60000 65536"/>
            </a:gdLst>
            <a:ahLst/>
            <a:cxnLst>
              <a:cxn ang="T4">
                <a:pos x="T0" y="T1"/>
              </a:cxn>
              <a:cxn ang="T5">
                <a:pos x="T2" y="T3"/>
              </a:cxn>
            </a:cxnLst>
            <a:rect l="0" t="0" r="r" b="b"/>
            <a:pathLst>
              <a:path w="1" h="244">
                <a:moveTo>
                  <a:pt x="0" y="0"/>
                </a:moveTo>
                <a:lnTo>
                  <a:pt x="1" y="244"/>
                </a:lnTo>
              </a:path>
            </a:pathLst>
          </a:custGeom>
          <a:noFill/>
          <a:ln w="44450" cap="flat" cmpd="sng">
            <a:solidFill>
              <a:srgbClr val="FF33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kumimoji="1" lang="zh-CN" altLang="en-US" sz="3600" b="1" smtClean="0">
              <a:solidFill>
                <a:srgbClr val="FF3300"/>
              </a:solidFill>
              <a:ea typeface="楷体_GB2312" pitchFamily="49" charset="-122"/>
            </a:endParaRPr>
          </a:p>
        </p:txBody>
      </p:sp>
      <p:sp>
        <p:nvSpPr>
          <p:cNvPr id="15377" name="Freeform 96"/>
          <p:cNvSpPr>
            <a:spLocks/>
          </p:cNvSpPr>
          <p:nvPr/>
        </p:nvSpPr>
        <p:spPr bwMode="auto">
          <a:xfrm>
            <a:off x="2152651" y="4303415"/>
            <a:ext cx="2116" cy="387350"/>
          </a:xfrm>
          <a:custGeom>
            <a:avLst/>
            <a:gdLst>
              <a:gd name="T0" fmla="*/ 0 w 1"/>
              <a:gd name="T1" fmla="*/ 0 h 244"/>
              <a:gd name="T2" fmla="*/ 2147483646 w 1"/>
              <a:gd name="T3" fmla="*/ 2147483646 h 244"/>
              <a:gd name="T4" fmla="*/ 0 60000 65536"/>
              <a:gd name="T5" fmla="*/ 0 60000 65536"/>
            </a:gdLst>
            <a:ahLst/>
            <a:cxnLst>
              <a:cxn ang="T4">
                <a:pos x="T0" y="T1"/>
              </a:cxn>
              <a:cxn ang="T5">
                <a:pos x="T2" y="T3"/>
              </a:cxn>
            </a:cxnLst>
            <a:rect l="0" t="0" r="r" b="b"/>
            <a:pathLst>
              <a:path w="1" h="244">
                <a:moveTo>
                  <a:pt x="0" y="0"/>
                </a:moveTo>
                <a:lnTo>
                  <a:pt x="1" y="244"/>
                </a:lnTo>
              </a:path>
            </a:pathLst>
          </a:custGeom>
          <a:noFill/>
          <a:ln w="44450" cap="flat" cmpd="sng">
            <a:solidFill>
              <a:srgbClr val="FF33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kumimoji="1" lang="zh-CN" altLang="en-US" sz="3600" b="1" smtClean="0">
              <a:solidFill>
                <a:srgbClr val="FF3300"/>
              </a:solidFill>
              <a:ea typeface="楷体_GB2312" pitchFamily="49" charset="-122"/>
            </a:endParaRPr>
          </a:p>
        </p:txBody>
      </p:sp>
      <p:sp>
        <p:nvSpPr>
          <p:cNvPr id="15378" name="Freeform 97"/>
          <p:cNvSpPr>
            <a:spLocks/>
          </p:cNvSpPr>
          <p:nvPr/>
        </p:nvSpPr>
        <p:spPr bwMode="auto">
          <a:xfrm>
            <a:off x="1543051" y="4809827"/>
            <a:ext cx="605367" cy="1588"/>
          </a:xfrm>
          <a:custGeom>
            <a:avLst/>
            <a:gdLst>
              <a:gd name="T0" fmla="*/ 0 w 286"/>
              <a:gd name="T1" fmla="*/ 0 h 6"/>
              <a:gd name="T2" fmla="*/ 2147483646 w 286"/>
              <a:gd name="T3" fmla="*/ 0 h 6"/>
              <a:gd name="T4" fmla="*/ 0 60000 65536"/>
              <a:gd name="T5" fmla="*/ 0 60000 65536"/>
            </a:gdLst>
            <a:ahLst/>
            <a:cxnLst>
              <a:cxn ang="T4">
                <a:pos x="T0" y="T1"/>
              </a:cxn>
              <a:cxn ang="T5">
                <a:pos x="T2" y="T3"/>
              </a:cxn>
            </a:cxnLst>
            <a:rect l="0" t="0" r="r" b="b"/>
            <a:pathLst>
              <a:path w="286" h="6">
                <a:moveTo>
                  <a:pt x="0" y="6"/>
                </a:moveTo>
                <a:lnTo>
                  <a:pt x="286" y="0"/>
                </a:lnTo>
              </a:path>
            </a:pathLst>
          </a:custGeom>
          <a:noFill/>
          <a:ln w="44450" cap="flat" cmpd="sng">
            <a:solidFill>
              <a:srgbClr val="FF33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kumimoji="1" lang="zh-CN" altLang="en-US" sz="3600" b="1" smtClean="0">
              <a:solidFill>
                <a:srgbClr val="FF3300"/>
              </a:solidFill>
              <a:ea typeface="楷体_GB2312" pitchFamily="49" charset="-122"/>
            </a:endParaRPr>
          </a:p>
        </p:txBody>
      </p:sp>
      <p:sp>
        <p:nvSpPr>
          <p:cNvPr id="15379" name="Freeform 98"/>
          <p:cNvSpPr>
            <a:spLocks/>
          </p:cNvSpPr>
          <p:nvPr/>
        </p:nvSpPr>
        <p:spPr bwMode="auto">
          <a:xfrm>
            <a:off x="1524001" y="4679652"/>
            <a:ext cx="605367" cy="1588"/>
          </a:xfrm>
          <a:custGeom>
            <a:avLst/>
            <a:gdLst>
              <a:gd name="T0" fmla="*/ 0 w 286"/>
              <a:gd name="T1" fmla="*/ 0 h 6"/>
              <a:gd name="T2" fmla="*/ 2147483646 w 286"/>
              <a:gd name="T3" fmla="*/ 0 h 6"/>
              <a:gd name="T4" fmla="*/ 0 60000 65536"/>
              <a:gd name="T5" fmla="*/ 0 60000 65536"/>
            </a:gdLst>
            <a:ahLst/>
            <a:cxnLst>
              <a:cxn ang="T4">
                <a:pos x="T0" y="T1"/>
              </a:cxn>
              <a:cxn ang="T5">
                <a:pos x="T2" y="T3"/>
              </a:cxn>
            </a:cxnLst>
            <a:rect l="0" t="0" r="r" b="b"/>
            <a:pathLst>
              <a:path w="286" h="6">
                <a:moveTo>
                  <a:pt x="0" y="6"/>
                </a:moveTo>
                <a:lnTo>
                  <a:pt x="286" y="0"/>
                </a:lnTo>
              </a:path>
            </a:pathLst>
          </a:custGeom>
          <a:noFill/>
          <a:ln w="44450" cap="flat" cmpd="sng">
            <a:solidFill>
              <a:srgbClr val="FF33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kumimoji="1" lang="zh-CN" altLang="en-US" sz="3600" b="1" smtClean="0">
              <a:solidFill>
                <a:srgbClr val="FF3300"/>
              </a:solidFill>
              <a:ea typeface="楷体_GB2312" pitchFamily="49" charset="-122"/>
            </a:endParaRPr>
          </a:p>
        </p:txBody>
      </p:sp>
      <p:graphicFrame>
        <p:nvGraphicFramePr>
          <p:cNvPr id="15380" name="对象 1"/>
          <p:cNvGraphicFramePr>
            <a:graphicFrameLocks noChangeAspect="1"/>
          </p:cNvGraphicFramePr>
          <p:nvPr>
            <p:extLst/>
          </p:nvPr>
        </p:nvGraphicFramePr>
        <p:xfrm>
          <a:off x="2544233" y="4482802"/>
          <a:ext cx="592667" cy="554038"/>
        </p:xfrm>
        <a:graphic>
          <a:graphicData uri="http://schemas.openxmlformats.org/presentationml/2006/ole">
            <mc:AlternateContent xmlns:mc="http://schemas.openxmlformats.org/markup-compatibility/2006">
              <mc:Choice xmlns:v="urn:schemas-microsoft-com:vml" Requires="v">
                <p:oleObj spid="_x0000_s17812" name="Equation" r:id="rId4" imgW="152334" imgH="190417" progId="Equation.DSMT4">
                  <p:embed/>
                </p:oleObj>
              </mc:Choice>
              <mc:Fallback>
                <p:oleObj name="Equation" r:id="rId4" imgW="152334" imgH="190417"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44233" y="4482802"/>
                        <a:ext cx="592667" cy="5540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381" name="对象 2"/>
          <p:cNvGraphicFramePr>
            <a:graphicFrameLocks noChangeAspect="1"/>
          </p:cNvGraphicFramePr>
          <p:nvPr>
            <p:extLst/>
          </p:nvPr>
        </p:nvGraphicFramePr>
        <p:xfrm>
          <a:off x="3475567" y="4659016"/>
          <a:ext cx="543984" cy="517525"/>
        </p:xfrm>
        <a:graphic>
          <a:graphicData uri="http://schemas.openxmlformats.org/presentationml/2006/ole">
            <mc:AlternateContent xmlns:mc="http://schemas.openxmlformats.org/markup-compatibility/2006">
              <mc:Choice xmlns:v="urn:schemas-microsoft-com:vml" Requires="v">
                <p:oleObj spid="_x0000_s17813" name="Equation" r:id="rId6" imgW="139579" imgH="177646" progId="Equation.DSMT4">
                  <p:embed/>
                </p:oleObj>
              </mc:Choice>
              <mc:Fallback>
                <p:oleObj name="Equation" r:id="rId6" imgW="139579" imgH="177646"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75567" y="4659016"/>
                        <a:ext cx="543984" cy="517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对象 3"/>
          <p:cNvGraphicFramePr>
            <a:graphicFrameLocks noChangeAspect="1"/>
          </p:cNvGraphicFramePr>
          <p:nvPr>
            <p:extLst/>
          </p:nvPr>
        </p:nvGraphicFramePr>
        <p:xfrm>
          <a:off x="5175251" y="4908253"/>
          <a:ext cx="495300" cy="479425"/>
        </p:xfrm>
        <a:graphic>
          <a:graphicData uri="http://schemas.openxmlformats.org/presentationml/2006/ole">
            <mc:AlternateContent xmlns:mc="http://schemas.openxmlformats.org/markup-compatibility/2006">
              <mc:Choice xmlns:v="urn:schemas-microsoft-com:vml" Requires="v">
                <p:oleObj spid="_x0000_s17814" name="Equation" r:id="rId8" imgW="126780" imgH="164814" progId="Equation.DSMT4">
                  <p:embed/>
                </p:oleObj>
              </mc:Choice>
              <mc:Fallback>
                <p:oleObj name="Equation" r:id="rId8" imgW="126780" imgH="164814"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175251" y="4908253"/>
                        <a:ext cx="495300" cy="479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对象 4"/>
          <p:cNvGraphicFramePr>
            <a:graphicFrameLocks noChangeAspect="1"/>
          </p:cNvGraphicFramePr>
          <p:nvPr>
            <p:extLst/>
          </p:nvPr>
        </p:nvGraphicFramePr>
        <p:xfrm>
          <a:off x="5166785" y="4154190"/>
          <a:ext cx="444500" cy="406400"/>
        </p:xfrm>
        <a:graphic>
          <a:graphicData uri="http://schemas.openxmlformats.org/presentationml/2006/ole">
            <mc:AlternateContent xmlns:mc="http://schemas.openxmlformats.org/markup-compatibility/2006">
              <mc:Choice xmlns:v="urn:schemas-microsoft-com:vml" Requires="v">
                <p:oleObj spid="_x0000_s17815" name="Equation" r:id="rId10" imgW="114201" imgH="139579" progId="Equation.DSMT4">
                  <p:embed/>
                </p:oleObj>
              </mc:Choice>
              <mc:Fallback>
                <p:oleObj name="Equation" r:id="rId10" imgW="114201" imgH="139579"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166785" y="4154190"/>
                        <a:ext cx="444500"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对象 5"/>
          <p:cNvGraphicFramePr>
            <a:graphicFrameLocks noChangeAspect="1"/>
          </p:cNvGraphicFramePr>
          <p:nvPr>
            <p:extLst/>
          </p:nvPr>
        </p:nvGraphicFramePr>
        <p:xfrm>
          <a:off x="6637867" y="3897016"/>
          <a:ext cx="541867" cy="517525"/>
        </p:xfrm>
        <a:graphic>
          <a:graphicData uri="http://schemas.openxmlformats.org/presentationml/2006/ole">
            <mc:AlternateContent xmlns:mc="http://schemas.openxmlformats.org/markup-compatibility/2006">
              <mc:Choice xmlns:v="urn:schemas-microsoft-com:vml" Requires="v">
                <p:oleObj spid="_x0000_s17816" name="Equation" r:id="rId12" imgW="139579" imgH="177646" progId="Equation.DSMT4">
                  <p:embed/>
                </p:oleObj>
              </mc:Choice>
              <mc:Fallback>
                <p:oleObj name="Equation" r:id="rId12" imgW="139579" imgH="177646" progId="Equation.DSMT4">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637867" y="3897016"/>
                        <a:ext cx="541867" cy="517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对象 6"/>
          <p:cNvGraphicFramePr>
            <a:graphicFrameLocks noChangeAspect="1"/>
          </p:cNvGraphicFramePr>
          <p:nvPr>
            <p:extLst/>
          </p:nvPr>
        </p:nvGraphicFramePr>
        <p:xfrm>
          <a:off x="6500285" y="4485978"/>
          <a:ext cx="690033" cy="517525"/>
        </p:xfrm>
        <a:graphic>
          <a:graphicData uri="http://schemas.openxmlformats.org/presentationml/2006/ole">
            <mc:AlternateContent xmlns:mc="http://schemas.openxmlformats.org/markup-compatibility/2006">
              <mc:Choice xmlns:v="urn:schemas-microsoft-com:vml" Requires="v">
                <p:oleObj spid="_x0000_s17817" name="Equation" r:id="rId14" imgW="177492" imgH="177492" progId="Equation.DSMT4">
                  <p:embed/>
                </p:oleObj>
              </mc:Choice>
              <mc:Fallback>
                <p:oleObj name="Equation" r:id="rId14" imgW="177492" imgH="177492" progId="Equation.DSMT4">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500285" y="4485978"/>
                        <a:ext cx="690033" cy="517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5386" name="组合 39"/>
          <p:cNvGrpSpPr>
            <a:grpSpLocks/>
          </p:cNvGrpSpPr>
          <p:nvPr/>
        </p:nvGrpSpPr>
        <p:grpSpPr bwMode="auto">
          <a:xfrm>
            <a:off x="2159001" y="3866853"/>
            <a:ext cx="2373452" cy="1839991"/>
            <a:chOff x="1331640" y="292586"/>
            <a:chExt cx="1780341" cy="1840348"/>
          </a:xfrm>
        </p:grpSpPr>
        <p:sp>
          <p:nvSpPr>
            <p:cNvPr id="15387" name="矩形 40"/>
            <p:cNvSpPr>
              <a:spLocks noChangeArrowheads="1"/>
            </p:cNvSpPr>
            <p:nvPr/>
          </p:nvSpPr>
          <p:spPr bwMode="auto">
            <a:xfrm>
              <a:off x="2779871" y="292586"/>
              <a:ext cx="332110" cy="40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fontAlgn="base">
                <a:spcBef>
                  <a:spcPct val="20000"/>
                </a:spcBef>
                <a:spcAft>
                  <a:spcPct val="0"/>
                </a:spcAft>
              </a:pPr>
              <a:r>
                <a:rPr kumimoji="1" lang="zh-CN" altLang="zh-CN" sz="2000" b="1" smtClean="0">
                  <a:solidFill>
                    <a:srgbClr val="000000"/>
                  </a:solidFill>
                  <a:ea typeface="楷体_GB2312" pitchFamily="49" charset="-122"/>
                </a:rPr>
                <a:t>╳</a:t>
              </a:r>
            </a:p>
          </p:txBody>
        </p:sp>
        <p:sp>
          <p:nvSpPr>
            <p:cNvPr id="15388" name="矩形 41"/>
            <p:cNvSpPr>
              <a:spLocks noChangeArrowheads="1"/>
            </p:cNvSpPr>
            <p:nvPr/>
          </p:nvSpPr>
          <p:spPr bwMode="auto">
            <a:xfrm>
              <a:off x="2771800" y="1012666"/>
              <a:ext cx="332110" cy="40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fontAlgn="base">
                <a:spcBef>
                  <a:spcPct val="20000"/>
                </a:spcBef>
                <a:spcAft>
                  <a:spcPct val="0"/>
                </a:spcAft>
              </a:pPr>
              <a:r>
                <a:rPr kumimoji="1" lang="zh-CN" altLang="zh-CN" sz="2000" b="1" smtClean="0">
                  <a:solidFill>
                    <a:srgbClr val="000000"/>
                  </a:solidFill>
                  <a:ea typeface="楷体_GB2312" pitchFamily="49" charset="-122"/>
                </a:rPr>
                <a:t>╳</a:t>
              </a:r>
            </a:p>
          </p:txBody>
        </p:sp>
        <p:sp>
          <p:nvSpPr>
            <p:cNvPr id="15389" name="矩形 42"/>
            <p:cNvSpPr>
              <a:spLocks noChangeArrowheads="1"/>
            </p:cNvSpPr>
            <p:nvPr/>
          </p:nvSpPr>
          <p:spPr bwMode="auto">
            <a:xfrm>
              <a:off x="2771800" y="1732746"/>
              <a:ext cx="332110" cy="40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fontAlgn="base">
                <a:spcBef>
                  <a:spcPct val="20000"/>
                </a:spcBef>
                <a:spcAft>
                  <a:spcPct val="0"/>
                </a:spcAft>
              </a:pPr>
              <a:r>
                <a:rPr kumimoji="1" lang="zh-CN" altLang="zh-CN" sz="2000" b="1" smtClean="0">
                  <a:solidFill>
                    <a:srgbClr val="000000"/>
                  </a:solidFill>
                  <a:ea typeface="楷体_GB2312" pitchFamily="49" charset="-122"/>
                </a:rPr>
                <a:t>╳</a:t>
              </a:r>
            </a:p>
          </p:txBody>
        </p:sp>
        <p:sp>
          <p:nvSpPr>
            <p:cNvPr id="15390" name="矩形 43"/>
            <p:cNvSpPr>
              <a:spLocks noChangeArrowheads="1"/>
            </p:cNvSpPr>
            <p:nvPr/>
          </p:nvSpPr>
          <p:spPr bwMode="auto">
            <a:xfrm>
              <a:off x="2041018" y="292586"/>
              <a:ext cx="332110" cy="40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fontAlgn="base">
                <a:spcBef>
                  <a:spcPct val="20000"/>
                </a:spcBef>
                <a:spcAft>
                  <a:spcPct val="0"/>
                </a:spcAft>
              </a:pPr>
              <a:r>
                <a:rPr kumimoji="1" lang="zh-CN" altLang="zh-CN" sz="2000" b="1" smtClean="0">
                  <a:solidFill>
                    <a:srgbClr val="000000"/>
                  </a:solidFill>
                  <a:ea typeface="楷体_GB2312" pitchFamily="49" charset="-122"/>
                </a:rPr>
                <a:t>╳</a:t>
              </a:r>
            </a:p>
          </p:txBody>
        </p:sp>
        <p:sp>
          <p:nvSpPr>
            <p:cNvPr id="15391" name="矩形 44"/>
            <p:cNvSpPr>
              <a:spLocks noChangeArrowheads="1"/>
            </p:cNvSpPr>
            <p:nvPr/>
          </p:nvSpPr>
          <p:spPr bwMode="auto">
            <a:xfrm>
              <a:off x="2032947" y="1012666"/>
              <a:ext cx="332110" cy="40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fontAlgn="base">
                <a:spcBef>
                  <a:spcPct val="20000"/>
                </a:spcBef>
                <a:spcAft>
                  <a:spcPct val="0"/>
                </a:spcAft>
              </a:pPr>
              <a:r>
                <a:rPr kumimoji="1" lang="zh-CN" altLang="zh-CN" sz="2000" b="1" smtClean="0">
                  <a:solidFill>
                    <a:srgbClr val="000000"/>
                  </a:solidFill>
                  <a:ea typeface="楷体_GB2312" pitchFamily="49" charset="-122"/>
                </a:rPr>
                <a:t>╳</a:t>
              </a:r>
            </a:p>
          </p:txBody>
        </p:sp>
        <p:sp>
          <p:nvSpPr>
            <p:cNvPr id="15392" name="矩形 45"/>
            <p:cNvSpPr>
              <a:spLocks noChangeArrowheads="1"/>
            </p:cNvSpPr>
            <p:nvPr/>
          </p:nvSpPr>
          <p:spPr bwMode="auto">
            <a:xfrm>
              <a:off x="2032947" y="1732746"/>
              <a:ext cx="332110" cy="40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fontAlgn="base">
                <a:spcBef>
                  <a:spcPct val="20000"/>
                </a:spcBef>
                <a:spcAft>
                  <a:spcPct val="0"/>
                </a:spcAft>
              </a:pPr>
              <a:r>
                <a:rPr kumimoji="1" lang="zh-CN" altLang="zh-CN" sz="2000" b="1" smtClean="0">
                  <a:solidFill>
                    <a:srgbClr val="000000"/>
                  </a:solidFill>
                  <a:ea typeface="楷体_GB2312" pitchFamily="49" charset="-122"/>
                </a:rPr>
                <a:t>╳</a:t>
              </a:r>
            </a:p>
          </p:txBody>
        </p:sp>
        <p:sp>
          <p:nvSpPr>
            <p:cNvPr id="15393" name="矩形 46"/>
            <p:cNvSpPr>
              <a:spLocks noChangeArrowheads="1"/>
            </p:cNvSpPr>
            <p:nvPr/>
          </p:nvSpPr>
          <p:spPr bwMode="auto">
            <a:xfrm>
              <a:off x="1339711" y="292586"/>
              <a:ext cx="332110" cy="40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fontAlgn="base">
                <a:spcBef>
                  <a:spcPct val="20000"/>
                </a:spcBef>
                <a:spcAft>
                  <a:spcPct val="0"/>
                </a:spcAft>
              </a:pPr>
              <a:r>
                <a:rPr kumimoji="1" lang="zh-CN" altLang="zh-CN" sz="2000" b="1" smtClean="0">
                  <a:solidFill>
                    <a:srgbClr val="000000"/>
                  </a:solidFill>
                  <a:ea typeface="楷体_GB2312" pitchFamily="49" charset="-122"/>
                </a:rPr>
                <a:t>╳</a:t>
              </a:r>
            </a:p>
          </p:txBody>
        </p:sp>
        <p:sp>
          <p:nvSpPr>
            <p:cNvPr id="15394" name="矩形 47"/>
            <p:cNvSpPr>
              <a:spLocks noChangeArrowheads="1"/>
            </p:cNvSpPr>
            <p:nvPr/>
          </p:nvSpPr>
          <p:spPr bwMode="auto">
            <a:xfrm>
              <a:off x="1331640" y="1012666"/>
              <a:ext cx="332110" cy="40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fontAlgn="base">
                <a:spcBef>
                  <a:spcPct val="20000"/>
                </a:spcBef>
                <a:spcAft>
                  <a:spcPct val="0"/>
                </a:spcAft>
              </a:pPr>
              <a:r>
                <a:rPr kumimoji="1" lang="zh-CN" altLang="zh-CN" sz="2000" b="1" smtClean="0">
                  <a:solidFill>
                    <a:srgbClr val="000000"/>
                  </a:solidFill>
                  <a:ea typeface="楷体_GB2312" pitchFamily="49" charset="-122"/>
                </a:rPr>
                <a:t>╳</a:t>
              </a:r>
            </a:p>
          </p:txBody>
        </p:sp>
        <p:sp>
          <p:nvSpPr>
            <p:cNvPr id="15395" name="矩形 48"/>
            <p:cNvSpPr>
              <a:spLocks noChangeArrowheads="1"/>
            </p:cNvSpPr>
            <p:nvPr/>
          </p:nvSpPr>
          <p:spPr bwMode="auto">
            <a:xfrm>
              <a:off x="1331640" y="1732746"/>
              <a:ext cx="332110" cy="40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fontAlgn="base">
                <a:spcBef>
                  <a:spcPct val="20000"/>
                </a:spcBef>
                <a:spcAft>
                  <a:spcPct val="0"/>
                </a:spcAft>
              </a:pPr>
              <a:r>
                <a:rPr kumimoji="1" lang="zh-CN" altLang="zh-CN" sz="2000" b="1" smtClean="0">
                  <a:solidFill>
                    <a:srgbClr val="000000"/>
                  </a:solidFill>
                  <a:ea typeface="楷体_GB2312" pitchFamily="49" charset="-122"/>
                </a:rPr>
                <a:t>╳</a:t>
              </a:r>
            </a:p>
          </p:txBody>
        </p:sp>
      </p:grpSp>
      <p:sp>
        <p:nvSpPr>
          <p:cNvPr id="38" name="Line 52"/>
          <p:cNvSpPr>
            <a:spLocks noChangeShapeType="1"/>
          </p:cNvSpPr>
          <p:nvPr/>
        </p:nvSpPr>
        <p:spPr bwMode="auto">
          <a:xfrm>
            <a:off x="0" y="908720"/>
            <a:ext cx="12192000" cy="0"/>
          </a:xfrm>
          <a:prstGeom prst="line">
            <a:avLst/>
          </a:prstGeom>
          <a:noFill/>
          <a:ln w="3810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kumimoji="1" lang="zh-CN" altLang="en-US" sz="3600" b="1" smtClean="0">
              <a:solidFill>
                <a:srgbClr val="FF3300"/>
              </a:solidFill>
              <a:ea typeface="黑体" pitchFamily="49" charset="-122"/>
            </a:endParaRPr>
          </a:p>
        </p:txBody>
      </p:sp>
      <p:sp>
        <p:nvSpPr>
          <p:cNvPr id="39" name="文本框 7"/>
          <p:cNvSpPr txBox="1"/>
          <p:nvPr/>
        </p:nvSpPr>
        <p:spPr>
          <a:xfrm>
            <a:off x="3311691" y="188641"/>
            <a:ext cx="3278462" cy="584775"/>
          </a:xfrm>
          <a:prstGeom prst="rect">
            <a:avLst/>
          </a:prstGeom>
          <a:noFill/>
        </p:spPr>
        <p:txBody>
          <a:bodyPr wrap="none" rtlCol="0">
            <a:spAutoFit/>
          </a:bodyPr>
          <a:lstStyle/>
          <a:p>
            <a:pPr eaLnBrk="0" fontAlgn="base" hangingPunct="0">
              <a:spcBef>
                <a:spcPct val="0"/>
              </a:spcBef>
              <a:spcAft>
                <a:spcPct val="0"/>
              </a:spcAft>
            </a:pPr>
            <a:r>
              <a:rPr lang="en-US" altLang="zh-CN" sz="3200" b="1" dirty="0" smtClean="0">
                <a:latin typeface="+mn-ea"/>
                <a:cs typeface="SimHei"/>
                <a:sym typeface="SimHei"/>
              </a:rPr>
              <a:t>§</a:t>
            </a:r>
            <a:r>
              <a:rPr lang="en-US" altLang="zh-CN" sz="3200" b="1" dirty="0" smtClean="0">
                <a:latin typeface="+mn-ea"/>
              </a:rPr>
              <a:t>20.4 </a:t>
            </a:r>
            <a:r>
              <a:rPr lang="zh-CN" altLang="en-US" sz="3200" b="1" dirty="0" smtClean="0">
                <a:latin typeface="+mn-ea"/>
                <a:sym typeface="Symbol" pitchFamily="18" charset="2"/>
              </a:rPr>
              <a:t>楞次定律</a:t>
            </a:r>
            <a:endParaRPr lang="zh-CN" altLang="en-US" sz="3200" b="1" dirty="0">
              <a:latin typeface="+mn-ea"/>
            </a:endParaRPr>
          </a:p>
        </p:txBody>
      </p:sp>
      <p:sp>
        <p:nvSpPr>
          <p:cNvPr id="40" name="Text Box 2"/>
          <p:cNvSpPr txBox="1">
            <a:spLocks noChangeArrowheads="1"/>
          </p:cNvSpPr>
          <p:nvPr/>
        </p:nvSpPr>
        <p:spPr bwMode="auto">
          <a:xfrm>
            <a:off x="64559" y="5867895"/>
            <a:ext cx="7909984"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hangingPunct="0">
              <a:defRPr kumimoji="1" sz="2000">
                <a:solidFill>
                  <a:schemeClr val="tx1"/>
                </a:solidFill>
                <a:latin typeface="Times New Roman" pitchFamily="18" charset="0"/>
                <a:ea typeface="宋体" charset="-122"/>
              </a:defRPr>
            </a:lvl6pPr>
            <a:lvl7pPr eaLnBrk="0" hangingPunct="0">
              <a:defRPr kumimoji="1" sz="2000">
                <a:solidFill>
                  <a:schemeClr val="tx1"/>
                </a:solidFill>
                <a:latin typeface="Times New Roman" pitchFamily="18" charset="0"/>
                <a:ea typeface="宋体" charset="-122"/>
              </a:defRPr>
            </a:lvl7pPr>
            <a:lvl8pPr eaLnBrk="0" hangingPunct="0">
              <a:defRPr kumimoji="1" sz="2000">
                <a:solidFill>
                  <a:schemeClr val="tx1"/>
                </a:solidFill>
                <a:latin typeface="Times New Roman" pitchFamily="18" charset="0"/>
                <a:ea typeface="宋体" charset="-122"/>
              </a:defRPr>
            </a:lvl8pPr>
            <a:lvl9pPr eaLnBrk="0" hangingPunct="0">
              <a:defRPr kumimoji="1" sz="2000">
                <a:solidFill>
                  <a:schemeClr val="tx1"/>
                </a:solidFill>
                <a:latin typeface="Times New Roman" pitchFamily="18" charset="0"/>
                <a:ea typeface="宋体" charset="-122"/>
              </a:defRPr>
            </a:lvl9pPr>
          </a:lstStyle>
          <a:p>
            <a:pPr fontAlgn="base">
              <a:spcBef>
                <a:spcPct val="0"/>
              </a:spcBef>
              <a:spcAft>
                <a:spcPct val="0"/>
              </a:spcAft>
            </a:pPr>
            <a:r>
              <a:rPr lang="en-US" altLang="zh-CN" sz="2800" b="1" dirty="0" smtClean="0">
                <a:solidFill>
                  <a:srgbClr val="3333FF"/>
                </a:solidFill>
                <a:ea typeface="黑体" pitchFamily="49" charset="-122"/>
                <a:cs typeface="Times New Roman" pitchFamily="18" charset="0"/>
              </a:rPr>
              <a:t>2</a:t>
            </a:r>
            <a:r>
              <a:rPr lang="zh-CN" altLang="en-US" sz="2800" b="1" dirty="0" smtClean="0">
                <a:solidFill>
                  <a:srgbClr val="3333FF"/>
                </a:solidFill>
                <a:ea typeface="黑体" pitchFamily="49" charset="-122"/>
                <a:cs typeface="Times New Roman" pitchFamily="18" charset="0"/>
              </a:rPr>
              <a:t>、应用：判断感应电动势的方向</a:t>
            </a:r>
            <a:endParaRPr lang="zh-CN" altLang="en-US" sz="2800" b="1" dirty="0" smtClean="0">
              <a:solidFill>
                <a:srgbClr val="000000"/>
              </a:solidFill>
              <a:ea typeface="黑体" pitchFamily="49" charset="-122"/>
              <a:cs typeface="Times New Roman" pitchFamily="18" charset="0"/>
            </a:endParaRPr>
          </a:p>
        </p:txBody>
      </p:sp>
    </p:spTree>
    <p:extLst>
      <p:ext uri="{BB962C8B-B14F-4D97-AF65-F5344CB8AC3E}">
        <p14:creationId xmlns:p14="http://schemas.microsoft.com/office/powerpoint/2010/main" val="341434748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169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36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36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p:bldP spid="15363" grpId="0"/>
      <p:bldP spid="4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600" name="Text Box 56"/>
          <p:cNvSpPr txBox="1">
            <a:spLocks noChangeArrowheads="1"/>
          </p:cNvSpPr>
          <p:nvPr/>
        </p:nvSpPr>
        <p:spPr bwMode="auto">
          <a:xfrm>
            <a:off x="508001" y="691804"/>
            <a:ext cx="8077200"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marL="895350" indent="-895350">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hangingPunct="0">
              <a:defRPr kumimoji="1" sz="2000">
                <a:solidFill>
                  <a:schemeClr val="tx1"/>
                </a:solidFill>
                <a:latin typeface="Times New Roman" pitchFamily="18" charset="0"/>
                <a:ea typeface="宋体" charset="-122"/>
              </a:defRPr>
            </a:lvl6pPr>
            <a:lvl7pPr eaLnBrk="0" hangingPunct="0">
              <a:defRPr kumimoji="1" sz="2000">
                <a:solidFill>
                  <a:schemeClr val="tx1"/>
                </a:solidFill>
                <a:latin typeface="Times New Roman" pitchFamily="18" charset="0"/>
                <a:ea typeface="宋体" charset="-122"/>
              </a:defRPr>
            </a:lvl7pPr>
            <a:lvl8pPr eaLnBrk="0" hangingPunct="0">
              <a:defRPr kumimoji="1" sz="2000">
                <a:solidFill>
                  <a:schemeClr val="tx1"/>
                </a:solidFill>
                <a:latin typeface="Times New Roman" pitchFamily="18" charset="0"/>
                <a:ea typeface="宋体" charset="-122"/>
              </a:defRPr>
            </a:lvl8pPr>
            <a:lvl9pPr eaLnBrk="0" hangingPunct="0">
              <a:defRPr kumimoji="1" sz="2000">
                <a:solidFill>
                  <a:schemeClr val="tx1"/>
                </a:solidFill>
                <a:latin typeface="Times New Roman" pitchFamily="18" charset="0"/>
                <a:ea typeface="宋体" charset="-122"/>
              </a:defRPr>
            </a:lvl9pPr>
          </a:lstStyle>
          <a:p>
            <a:pPr fontAlgn="base">
              <a:lnSpc>
                <a:spcPct val="150000"/>
              </a:lnSpc>
              <a:spcBef>
                <a:spcPct val="0"/>
              </a:spcBef>
              <a:spcAft>
                <a:spcPct val="0"/>
              </a:spcAft>
            </a:pPr>
            <a:r>
              <a:rPr lang="zh-CN" altLang="en-US" sz="2800" b="1" dirty="0" smtClean="0">
                <a:solidFill>
                  <a:srgbClr val="FF3300"/>
                </a:solidFill>
                <a:ea typeface="黑体" pitchFamily="49" charset="-122"/>
                <a:cs typeface="Times New Roman" pitchFamily="18" charset="0"/>
              </a:rPr>
              <a:t>问题：</a:t>
            </a:r>
            <a:r>
              <a:rPr lang="zh-CN" altLang="en-US" sz="2800" b="1" dirty="0" smtClean="0">
                <a:solidFill>
                  <a:srgbClr val="000000"/>
                </a:solidFill>
                <a:ea typeface="黑体" pitchFamily="49" charset="-122"/>
                <a:cs typeface="Times New Roman" pitchFamily="18" charset="0"/>
              </a:rPr>
              <a:t>将磁铁插入非金属环中，环内有无感生电动势？有无感应电流？环内将发生何种现象？</a:t>
            </a:r>
          </a:p>
        </p:txBody>
      </p:sp>
      <p:sp>
        <p:nvSpPr>
          <p:cNvPr id="108628" name="Text Box 84"/>
          <p:cNvSpPr txBox="1">
            <a:spLocks noChangeArrowheads="1"/>
          </p:cNvSpPr>
          <p:nvPr/>
        </p:nvSpPr>
        <p:spPr bwMode="auto">
          <a:xfrm>
            <a:off x="1054099" y="2648892"/>
            <a:ext cx="6225931"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hangingPunct="0">
              <a:defRPr kumimoji="1" sz="2000">
                <a:solidFill>
                  <a:schemeClr val="tx1"/>
                </a:solidFill>
                <a:latin typeface="Times New Roman" pitchFamily="18" charset="0"/>
                <a:ea typeface="宋体" charset="-122"/>
              </a:defRPr>
            </a:lvl6pPr>
            <a:lvl7pPr eaLnBrk="0" hangingPunct="0">
              <a:defRPr kumimoji="1" sz="2000">
                <a:solidFill>
                  <a:schemeClr val="tx1"/>
                </a:solidFill>
                <a:latin typeface="Times New Roman" pitchFamily="18" charset="0"/>
                <a:ea typeface="宋体" charset="-122"/>
              </a:defRPr>
            </a:lvl7pPr>
            <a:lvl8pPr eaLnBrk="0" hangingPunct="0">
              <a:defRPr kumimoji="1" sz="2000">
                <a:solidFill>
                  <a:schemeClr val="tx1"/>
                </a:solidFill>
                <a:latin typeface="Times New Roman" pitchFamily="18" charset="0"/>
                <a:ea typeface="宋体" charset="-122"/>
              </a:defRPr>
            </a:lvl8pPr>
            <a:lvl9pPr eaLnBrk="0" hangingPunct="0">
              <a:defRPr kumimoji="1" sz="2000">
                <a:solidFill>
                  <a:schemeClr val="tx1"/>
                </a:solidFill>
                <a:latin typeface="Times New Roman" pitchFamily="18" charset="0"/>
                <a:ea typeface="宋体" charset="-122"/>
              </a:defRPr>
            </a:lvl9pPr>
          </a:lstStyle>
          <a:p>
            <a:pPr fontAlgn="base">
              <a:lnSpc>
                <a:spcPct val="150000"/>
              </a:lnSpc>
              <a:spcBef>
                <a:spcPct val="0"/>
              </a:spcBef>
              <a:spcAft>
                <a:spcPct val="0"/>
              </a:spcAft>
            </a:pPr>
            <a:r>
              <a:rPr lang="zh-CN" altLang="en-US" sz="2800" b="1" dirty="0" smtClean="0">
                <a:solidFill>
                  <a:srgbClr val="000000"/>
                </a:solidFill>
                <a:ea typeface="黑体" pitchFamily="49" charset="-122"/>
                <a:cs typeface="Times New Roman" pitchFamily="18" charset="0"/>
              </a:rPr>
              <a:t>有感生电动势存在，有电场存在将引起介质极化，而无感生电流。</a:t>
            </a:r>
          </a:p>
        </p:txBody>
      </p:sp>
      <p:grpSp>
        <p:nvGrpSpPr>
          <p:cNvPr id="2" name="组合 1"/>
          <p:cNvGrpSpPr/>
          <p:nvPr/>
        </p:nvGrpSpPr>
        <p:grpSpPr>
          <a:xfrm>
            <a:off x="8585200" y="1033464"/>
            <a:ext cx="2540000" cy="2307926"/>
            <a:chOff x="7823200" y="4005264"/>
            <a:chExt cx="2540000" cy="2307926"/>
          </a:xfrm>
        </p:grpSpPr>
        <p:sp>
          <p:nvSpPr>
            <p:cNvPr id="14374" name="Oval 127"/>
            <p:cNvSpPr>
              <a:spLocks noChangeArrowheads="1"/>
            </p:cNvSpPr>
            <p:nvPr/>
          </p:nvSpPr>
          <p:spPr bwMode="auto">
            <a:xfrm>
              <a:off x="7823200" y="5105400"/>
              <a:ext cx="2540000" cy="609600"/>
            </a:xfrm>
            <a:prstGeom prst="ellipse">
              <a:avLst/>
            </a:prstGeom>
            <a:noFill/>
            <a:ln w="44450">
              <a:solidFill>
                <a:srgbClr val="FF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20000"/>
                </a:spcBef>
                <a:spcAft>
                  <a:spcPct val="0"/>
                </a:spcAft>
              </a:pPr>
              <a:endParaRPr kumimoji="1" lang="zh-CN" altLang="en-US" sz="3600" b="1" smtClean="0">
                <a:solidFill>
                  <a:srgbClr val="FF3300"/>
                </a:solidFill>
                <a:latin typeface="Times New Roman" pitchFamily="18" charset="0"/>
                <a:ea typeface="黑体" pitchFamily="49" charset="-122"/>
                <a:cs typeface="Times New Roman" pitchFamily="18" charset="0"/>
              </a:endParaRPr>
            </a:p>
          </p:txBody>
        </p:sp>
        <p:sp>
          <p:nvSpPr>
            <p:cNvPr id="14376" name="Rectangle 130"/>
            <p:cNvSpPr>
              <a:spLocks noChangeArrowheads="1"/>
            </p:cNvSpPr>
            <p:nvPr/>
          </p:nvSpPr>
          <p:spPr bwMode="auto">
            <a:xfrm>
              <a:off x="9063567" y="4200525"/>
              <a:ext cx="201084" cy="38100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20000"/>
                </a:spcBef>
                <a:spcAft>
                  <a:spcPct val="0"/>
                </a:spcAft>
              </a:pPr>
              <a:endParaRPr kumimoji="1" lang="zh-CN" altLang="en-US" sz="3600" b="1" smtClean="0">
                <a:solidFill>
                  <a:srgbClr val="FF3300"/>
                </a:solidFill>
                <a:latin typeface="Times New Roman" pitchFamily="18" charset="0"/>
                <a:ea typeface="黑体" pitchFamily="49" charset="-122"/>
                <a:cs typeface="Times New Roman" pitchFamily="18" charset="0"/>
              </a:endParaRPr>
            </a:p>
          </p:txBody>
        </p:sp>
        <p:sp>
          <p:nvSpPr>
            <p:cNvPr id="14377" name="Rectangle 131"/>
            <p:cNvSpPr>
              <a:spLocks noChangeArrowheads="1"/>
            </p:cNvSpPr>
            <p:nvPr/>
          </p:nvSpPr>
          <p:spPr bwMode="auto">
            <a:xfrm>
              <a:off x="9061451" y="4581525"/>
              <a:ext cx="203200" cy="381000"/>
            </a:xfrm>
            <a:prstGeom prst="rect">
              <a:avLst/>
            </a:prstGeom>
            <a:solidFill>
              <a:srgbClr val="FF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20000"/>
                </a:spcBef>
                <a:spcAft>
                  <a:spcPct val="0"/>
                </a:spcAft>
              </a:pPr>
              <a:endParaRPr kumimoji="1" lang="zh-CN" altLang="en-US" sz="3600" b="1" smtClean="0">
                <a:solidFill>
                  <a:srgbClr val="FF3300"/>
                </a:solidFill>
                <a:latin typeface="Times New Roman" pitchFamily="18" charset="0"/>
                <a:ea typeface="黑体" pitchFamily="49" charset="-122"/>
                <a:cs typeface="Times New Roman" pitchFamily="18" charset="0"/>
              </a:endParaRPr>
            </a:p>
          </p:txBody>
        </p:sp>
        <p:sp>
          <p:nvSpPr>
            <p:cNvPr id="14378" name="Line 132"/>
            <p:cNvSpPr>
              <a:spLocks noChangeShapeType="1"/>
            </p:cNvSpPr>
            <p:nvPr/>
          </p:nvSpPr>
          <p:spPr bwMode="auto">
            <a:xfrm>
              <a:off x="9569451" y="4267200"/>
              <a:ext cx="0" cy="762000"/>
            </a:xfrm>
            <a:prstGeom prst="line">
              <a:avLst/>
            </a:prstGeom>
            <a:noFill/>
            <a:ln w="44450">
              <a:solidFill>
                <a:srgbClr val="3333FF"/>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kumimoji="1" lang="zh-CN" altLang="en-US" sz="3600" b="1" smtClean="0">
                <a:solidFill>
                  <a:srgbClr val="FF3300"/>
                </a:solidFill>
                <a:latin typeface="Times New Roman" pitchFamily="18" charset="0"/>
                <a:ea typeface="黑体" pitchFamily="49" charset="-122"/>
                <a:cs typeface="Times New Roman" pitchFamily="18" charset="0"/>
              </a:endParaRPr>
            </a:p>
          </p:txBody>
        </p:sp>
        <p:sp>
          <p:nvSpPr>
            <p:cNvPr id="14373" name="Text Box 135"/>
            <p:cNvSpPr txBox="1">
              <a:spLocks noChangeArrowheads="1"/>
            </p:cNvSpPr>
            <p:nvPr/>
          </p:nvSpPr>
          <p:spPr bwMode="auto">
            <a:xfrm>
              <a:off x="8153400" y="5851525"/>
              <a:ext cx="14221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hangingPunct="0">
                <a:defRPr kumimoji="1" sz="2000">
                  <a:solidFill>
                    <a:schemeClr val="tx1"/>
                  </a:solidFill>
                  <a:latin typeface="Times New Roman" pitchFamily="18" charset="0"/>
                  <a:ea typeface="宋体" charset="-122"/>
                </a:defRPr>
              </a:lvl6pPr>
              <a:lvl7pPr eaLnBrk="0" hangingPunct="0">
                <a:defRPr kumimoji="1" sz="2000">
                  <a:solidFill>
                    <a:schemeClr val="tx1"/>
                  </a:solidFill>
                  <a:latin typeface="Times New Roman" pitchFamily="18" charset="0"/>
                  <a:ea typeface="宋体" charset="-122"/>
                </a:defRPr>
              </a:lvl7pPr>
              <a:lvl8pPr eaLnBrk="0" hangingPunct="0">
                <a:defRPr kumimoji="1" sz="2000">
                  <a:solidFill>
                    <a:schemeClr val="tx1"/>
                  </a:solidFill>
                  <a:latin typeface="Times New Roman" pitchFamily="18" charset="0"/>
                  <a:ea typeface="宋体" charset="-122"/>
                </a:defRPr>
              </a:lvl8pPr>
              <a:lvl9pPr eaLnBrk="0" hangingPunct="0">
                <a:defRPr kumimoji="1" sz="2000">
                  <a:solidFill>
                    <a:schemeClr val="tx1"/>
                  </a:solidFill>
                  <a:latin typeface="Times New Roman" pitchFamily="18" charset="0"/>
                  <a:ea typeface="宋体" charset="-122"/>
                </a:defRPr>
              </a:lvl9pPr>
            </a:lstStyle>
            <a:p>
              <a:pPr fontAlgn="base">
                <a:spcBef>
                  <a:spcPct val="20000"/>
                </a:spcBef>
                <a:spcAft>
                  <a:spcPct val="0"/>
                </a:spcAft>
              </a:pPr>
              <a:r>
                <a:rPr lang="zh-CN" altLang="en-US" sz="2400" b="1" smtClean="0">
                  <a:solidFill>
                    <a:srgbClr val="000000"/>
                  </a:solidFill>
                  <a:ea typeface="黑体" pitchFamily="49" charset="-122"/>
                  <a:cs typeface="Times New Roman" pitchFamily="18" charset="0"/>
                </a:rPr>
                <a:t>非金属环</a:t>
              </a:r>
            </a:p>
          </p:txBody>
        </p:sp>
        <p:graphicFrame>
          <p:nvGraphicFramePr>
            <p:cNvPr id="6" name="对象 5"/>
            <p:cNvGraphicFramePr>
              <a:graphicFrameLocks noChangeAspect="1"/>
            </p:cNvGraphicFramePr>
            <p:nvPr>
              <p:extLst>
                <p:ext uri="{D42A27DB-BD31-4B8C-83A1-F6EECF244321}">
                  <p14:modId xmlns:p14="http://schemas.microsoft.com/office/powerpoint/2010/main" val="3997391852"/>
                </p:ext>
              </p:extLst>
            </p:nvPr>
          </p:nvGraphicFramePr>
          <p:xfrm>
            <a:off x="8441267" y="4005264"/>
            <a:ext cx="541867" cy="517525"/>
          </p:xfrm>
          <a:graphic>
            <a:graphicData uri="http://schemas.openxmlformats.org/presentationml/2006/ole">
              <mc:AlternateContent xmlns:mc="http://schemas.openxmlformats.org/markup-compatibility/2006">
                <mc:Choice xmlns:v="urn:schemas-microsoft-com:vml" Requires="v">
                  <p:oleObj spid="_x0000_s18628" name="Equation" r:id="rId3" imgW="139579" imgH="177646" progId="Equation.DSMT4">
                    <p:embed/>
                  </p:oleObj>
                </mc:Choice>
                <mc:Fallback>
                  <p:oleObj name="Equation" r:id="rId3" imgW="139579" imgH="177646"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41267" y="4005264"/>
                          <a:ext cx="541867" cy="517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1952656890"/>
                </p:ext>
              </p:extLst>
            </p:nvPr>
          </p:nvGraphicFramePr>
          <p:xfrm>
            <a:off x="8303685" y="4611688"/>
            <a:ext cx="690033" cy="481012"/>
          </p:xfrm>
          <a:graphic>
            <a:graphicData uri="http://schemas.openxmlformats.org/presentationml/2006/ole">
              <mc:AlternateContent xmlns:mc="http://schemas.openxmlformats.org/markup-compatibility/2006">
                <mc:Choice xmlns:v="urn:schemas-microsoft-com:vml" Requires="v">
                  <p:oleObj spid="_x0000_s18629" name="Equation" r:id="rId5" imgW="177492" imgH="164814" progId="Equation.DSMT4">
                    <p:embed/>
                  </p:oleObj>
                </mc:Choice>
                <mc:Fallback>
                  <p:oleObj name="Equation" r:id="rId5" imgW="177492" imgH="164814"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03685" y="4611688"/>
                          <a:ext cx="690033" cy="4810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extLst>
      <p:ext uri="{BB962C8B-B14F-4D97-AF65-F5344CB8AC3E}">
        <p14:creationId xmlns:p14="http://schemas.microsoft.com/office/powerpoint/2010/main" val="172447739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86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628" grpId="0"/>
    </p:bld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410" name="Rectangle 65"/>
          <p:cNvSpPr>
            <a:spLocks noChangeArrowheads="1"/>
          </p:cNvSpPr>
          <p:nvPr/>
        </p:nvSpPr>
        <p:spPr bwMode="auto">
          <a:xfrm>
            <a:off x="9345084" y="3589338"/>
            <a:ext cx="177800" cy="1281112"/>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20000"/>
              </a:spcBef>
              <a:spcAft>
                <a:spcPct val="0"/>
              </a:spcAft>
            </a:pPr>
            <a:endParaRPr kumimoji="1" lang="zh-CN" altLang="en-US" sz="3600" b="1" smtClean="0">
              <a:solidFill>
                <a:srgbClr val="FF3300"/>
              </a:solidFill>
              <a:ea typeface="楷体_GB2312" pitchFamily="49" charset="-122"/>
            </a:endParaRPr>
          </a:p>
        </p:txBody>
      </p:sp>
      <p:sp>
        <p:nvSpPr>
          <p:cNvPr id="17411" name="Line 66"/>
          <p:cNvSpPr>
            <a:spLocks noChangeShapeType="1"/>
          </p:cNvSpPr>
          <p:nvPr/>
        </p:nvSpPr>
        <p:spPr bwMode="auto">
          <a:xfrm>
            <a:off x="7516284" y="3817938"/>
            <a:ext cx="2463800" cy="0"/>
          </a:xfrm>
          <a:prstGeom prst="line">
            <a:avLst/>
          </a:prstGeom>
          <a:noFill/>
          <a:ln w="444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kumimoji="1" lang="zh-CN" altLang="en-US" sz="3600" b="1" smtClean="0">
              <a:solidFill>
                <a:srgbClr val="FF3300"/>
              </a:solidFill>
              <a:ea typeface="楷体_GB2312" pitchFamily="49" charset="-122"/>
            </a:endParaRPr>
          </a:p>
        </p:txBody>
      </p:sp>
      <p:sp>
        <p:nvSpPr>
          <p:cNvPr id="17412" name="Line 67"/>
          <p:cNvSpPr>
            <a:spLocks noChangeShapeType="1"/>
          </p:cNvSpPr>
          <p:nvPr/>
        </p:nvSpPr>
        <p:spPr bwMode="auto">
          <a:xfrm>
            <a:off x="7478185" y="4679950"/>
            <a:ext cx="2383367" cy="0"/>
          </a:xfrm>
          <a:prstGeom prst="line">
            <a:avLst/>
          </a:prstGeom>
          <a:noFill/>
          <a:ln w="4445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kumimoji="1" lang="zh-CN" altLang="en-US" sz="3600" b="1" smtClean="0">
              <a:solidFill>
                <a:srgbClr val="FF3300"/>
              </a:solidFill>
              <a:ea typeface="楷体_GB2312" pitchFamily="49" charset="-122"/>
            </a:endParaRPr>
          </a:p>
        </p:txBody>
      </p:sp>
      <p:sp>
        <p:nvSpPr>
          <p:cNvPr id="17413" name="Oval 68"/>
          <p:cNvSpPr>
            <a:spLocks noChangeArrowheads="1"/>
          </p:cNvSpPr>
          <p:nvPr/>
        </p:nvSpPr>
        <p:spPr bwMode="auto">
          <a:xfrm>
            <a:off x="6341533" y="4041775"/>
            <a:ext cx="508000" cy="381000"/>
          </a:xfrm>
          <a:prstGeom prst="ellipse">
            <a:avLst/>
          </a:prstGeom>
          <a:noFill/>
          <a:ln w="44450">
            <a:solidFill>
              <a:srgbClr val="FF33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20000"/>
              </a:spcBef>
              <a:spcAft>
                <a:spcPct val="0"/>
              </a:spcAft>
            </a:pPr>
            <a:endParaRPr kumimoji="1" lang="zh-CN" altLang="en-US" sz="3600" b="1" smtClean="0">
              <a:solidFill>
                <a:srgbClr val="FF3300"/>
              </a:solidFill>
              <a:ea typeface="楷体_GB2312" pitchFamily="49" charset="-122"/>
            </a:endParaRPr>
          </a:p>
        </p:txBody>
      </p:sp>
      <p:sp>
        <p:nvSpPr>
          <p:cNvPr id="17414" name="Line 69"/>
          <p:cNvSpPr>
            <a:spLocks noChangeShapeType="1"/>
          </p:cNvSpPr>
          <p:nvPr/>
        </p:nvSpPr>
        <p:spPr bwMode="auto">
          <a:xfrm flipH="1">
            <a:off x="6341533" y="3994150"/>
            <a:ext cx="508000" cy="457200"/>
          </a:xfrm>
          <a:prstGeom prst="line">
            <a:avLst/>
          </a:prstGeom>
          <a:noFill/>
          <a:ln w="44450">
            <a:solidFill>
              <a:srgbClr val="FF3300"/>
            </a:solidFill>
            <a:round/>
            <a:headEnd type="arrow" w="sm"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kumimoji="1" lang="zh-CN" altLang="en-US" sz="3600" b="1" smtClean="0">
              <a:solidFill>
                <a:srgbClr val="FF3300"/>
              </a:solidFill>
              <a:ea typeface="楷体_GB2312" pitchFamily="49" charset="-122"/>
            </a:endParaRPr>
          </a:p>
        </p:txBody>
      </p:sp>
      <p:sp>
        <p:nvSpPr>
          <p:cNvPr id="17415" name="Freeform 70"/>
          <p:cNvSpPr>
            <a:spLocks/>
          </p:cNvSpPr>
          <p:nvPr/>
        </p:nvSpPr>
        <p:spPr bwMode="auto">
          <a:xfrm>
            <a:off x="7476067" y="4298950"/>
            <a:ext cx="2117" cy="387350"/>
          </a:xfrm>
          <a:custGeom>
            <a:avLst/>
            <a:gdLst>
              <a:gd name="T0" fmla="*/ 0 w 1"/>
              <a:gd name="T1" fmla="*/ 0 h 244"/>
              <a:gd name="T2" fmla="*/ 2147483646 w 1"/>
              <a:gd name="T3" fmla="*/ 2147483646 h 244"/>
              <a:gd name="T4" fmla="*/ 0 60000 65536"/>
              <a:gd name="T5" fmla="*/ 0 60000 65536"/>
            </a:gdLst>
            <a:ahLst/>
            <a:cxnLst>
              <a:cxn ang="T4">
                <a:pos x="T0" y="T1"/>
              </a:cxn>
              <a:cxn ang="T5">
                <a:pos x="T2" y="T3"/>
              </a:cxn>
            </a:cxnLst>
            <a:rect l="0" t="0" r="r" b="b"/>
            <a:pathLst>
              <a:path w="1" h="244">
                <a:moveTo>
                  <a:pt x="0" y="0"/>
                </a:moveTo>
                <a:lnTo>
                  <a:pt x="1" y="244"/>
                </a:lnTo>
              </a:path>
            </a:pathLst>
          </a:custGeom>
          <a:noFill/>
          <a:ln w="44450" cap="flat" cmpd="sng">
            <a:solidFill>
              <a:srgbClr val="FF33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kumimoji="1" lang="zh-CN" altLang="en-US" sz="3600" b="1" smtClean="0">
              <a:solidFill>
                <a:srgbClr val="FF3300"/>
              </a:solidFill>
              <a:ea typeface="楷体_GB2312" pitchFamily="49" charset="-122"/>
            </a:endParaRPr>
          </a:p>
        </p:txBody>
      </p:sp>
      <p:sp>
        <p:nvSpPr>
          <p:cNvPr id="17416" name="Freeform 71"/>
          <p:cNvSpPr>
            <a:spLocks/>
          </p:cNvSpPr>
          <p:nvPr/>
        </p:nvSpPr>
        <p:spPr bwMode="auto">
          <a:xfrm>
            <a:off x="7478185" y="3794125"/>
            <a:ext cx="2116" cy="387350"/>
          </a:xfrm>
          <a:custGeom>
            <a:avLst/>
            <a:gdLst>
              <a:gd name="T0" fmla="*/ 0 w 1"/>
              <a:gd name="T1" fmla="*/ 0 h 244"/>
              <a:gd name="T2" fmla="*/ 2147483646 w 1"/>
              <a:gd name="T3" fmla="*/ 2147483646 h 244"/>
              <a:gd name="T4" fmla="*/ 0 60000 65536"/>
              <a:gd name="T5" fmla="*/ 0 60000 65536"/>
            </a:gdLst>
            <a:ahLst/>
            <a:cxnLst>
              <a:cxn ang="T4">
                <a:pos x="T0" y="T1"/>
              </a:cxn>
              <a:cxn ang="T5">
                <a:pos x="T2" y="T3"/>
              </a:cxn>
            </a:cxnLst>
            <a:rect l="0" t="0" r="r" b="b"/>
            <a:pathLst>
              <a:path w="1" h="244">
                <a:moveTo>
                  <a:pt x="0" y="0"/>
                </a:moveTo>
                <a:lnTo>
                  <a:pt x="1" y="244"/>
                </a:lnTo>
              </a:path>
            </a:pathLst>
          </a:custGeom>
          <a:noFill/>
          <a:ln w="44450" cap="flat" cmpd="sng">
            <a:solidFill>
              <a:srgbClr val="FF33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kumimoji="1" lang="zh-CN" altLang="en-US" sz="3600" b="1" smtClean="0">
              <a:solidFill>
                <a:srgbClr val="FF3300"/>
              </a:solidFill>
              <a:ea typeface="楷体_GB2312" pitchFamily="49" charset="-122"/>
            </a:endParaRPr>
          </a:p>
        </p:txBody>
      </p:sp>
      <p:sp>
        <p:nvSpPr>
          <p:cNvPr id="17417" name="Freeform 72"/>
          <p:cNvSpPr>
            <a:spLocks/>
          </p:cNvSpPr>
          <p:nvPr/>
        </p:nvSpPr>
        <p:spPr bwMode="auto">
          <a:xfrm>
            <a:off x="6868584" y="4300539"/>
            <a:ext cx="605367" cy="1587"/>
          </a:xfrm>
          <a:custGeom>
            <a:avLst/>
            <a:gdLst>
              <a:gd name="T0" fmla="*/ 0 w 286"/>
              <a:gd name="T1" fmla="*/ 0 h 6"/>
              <a:gd name="T2" fmla="*/ 2147483646 w 286"/>
              <a:gd name="T3" fmla="*/ 0 h 6"/>
              <a:gd name="T4" fmla="*/ 0 60000 65536"/>
              <a:gd name="T5" fmla="*/ 0 60000 65536"/>
            </a:gdLst>
            <a:ahLst/>
            <a:cxnLst>
              <a:cxn ang="T4">
                <a:pos x="T0" y="T1"/>
              </a:cxn>
              <a:cxn ang="T5">
                <a:pos x="T2" y="T3"/>
              </a:cxn>
            </a:cxnLst>
            <a:rect l="0" t="0" r="r" b="b"/>
            <a:pathLst>
              <a:path w="286" h="6">
                <a:moveTo>
                  <a:pt x="0" y="6"/>
                </a:moveTo>
                <a:lnTo>
                  <a:pt x="286" y="0"/>
                </a:lnTo>
              </a:path>
            </a:pathLst>
          </a:custGeom>
          <a:noFill/>
          <a:ln w="44450" cap="flat" cmpd="sng">
            <a:solidFill>
              <a:srgbClr val="FF33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kumimoji="1" lang="zh-CN" altLang="en-US" sz="3600" b="1" smtClean="0">
              <a:solidFill>
                <a:srgbClr val="FF3300"/>
              </a:solidFill>
              <a:ea typeface="楷体_GB2312" pitchFamily="49" charset="-122"/>
            </a:endParaRPr>
          </a:p>
        </p:txBody>
      </p:sp>
      <p:sp>
        <p:nvSpPr>
          <p:cNvPr id="17418" name="Freeform 73"/>
          <p:cNvSpPr>
            <a:spLocks/>
          </p:cNvSpPr>
          <p:nvPr/>
        </p:nvSpPr>
        <p:spPr bwMode="auto">
          <a:xfrm>
            <a:off x="6849534" y="4170364"/>
            <a:ext cx="605367" cy="1587"/>
          </a:xfrm>
          <a:custGeom>
            <a:avLst/>
            <a:gdLst>
              <a:gd name="T0" fmla="*/ 0 w 286"/>
              <a:gd name="T1" fmla="*/ 0 h 6"/>
              <a:gd name="T2" fmla="*/ 2147483646 w 286"/>
              <a:gd name="T3" fmla="*/ 0 h 6"/>
              <a:gd name="T4" fmla="*/ 0 60000 65536"/>
              <a:gd name="T5" fmla="*/ 0 60000 65536"/>
            </a:gdLst>
            <a:ahLst/>
            <a:cxnLst>
              <a:cxn ang="T4">
                <a:pos x="T0" y="T1"/>
              </a:cxn>
              <a:cxn ang="T5">
                <a:pos x="T2" y="T3"/>
              </a:cxn>
            </a:cxnLst>
            <a:rect l="0" t="0" r="r" b="b"/>
            <a:pathLst>
              <a:path w="286" h="6">
                <a:moveTo>
                  <a:pt x="0" y="6"/>
                </a:moveTo>
                <a:lnTo>
                  <a:pt x="286" y="0"/>
                </a:lnTo>
              </a:path>
            </a:pathLst>
          </a:custGeom>
          <a:noFill/>
          <a:ln w="44450" cap="flat" cmpd="sng">
            <a:solidFill>
              <a:srgbClr val="FF33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kumimoji="1" lang="zh-CN" altLang="en-US" sz="3600" b="1" smtClean="0">
              <a:solidFill>
                <a:srgbClr val="FF3300"/>
              </a:solidFill>
              <a:ea typeface="楷体_GB2312" pitchFamily="49" charset="-122"/>
            </a:endParaRPr>
          </a:p>
        </p:txBody>
      </p:sp>
      <p:sp>
        <p:nvSpPr>
          <p:cNvPr id="17419" name="Text Box 2"/>
          <p:cNvSpPr txBox="1">
            <a:spLocks noChangeArrowheads="1"/>
          </p:cNvSpPr>
          <p:nvPr/>
        </p:nvSpPr>
        <p:spPr bwMode="auto">
          <a:xfrm>
            <a:off x="0" y="214291"/>
            <a:ext cx="11906291" cy="246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kumimoji="1" sz="3200">
                <a:solidFill>
                  <a:schemeClr val="tx1"/>
                </a:solidFill>
                <a:latin typeface="Times New Roman" pitchFamily="18" charset="0"/>
                <a:ea typeface="宋体" charset="-122"/>
              </a:defRPr>
            </a:lvl1pPr>
            <a:lvl2pPr marL="457200">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hangingPunct="0">
              <a:defRPr kumimoji="1" sz="2000">
                <a:solidFill>
                  <a:schemeClr val="tx1"/>
                </a:solidFill>
                <a:latin typeface="Times New Roman" pitchFamily="18" charset="0"/>
                <a:ea typeface="宋体" charset="-122"/>
              </a:defRPr>
            </a:lvl6pPr>
            <a:lvl7pPr eaLnBrk="0" hangingPunct="0">
              <a:defRPr kumimoji="1" sz="2000">
                <a:solidFill>
                  <a:schemeClr val="tx1"/>
                </a:solidFill>
                <a:latin typeface="Times New Roman" pitchFamily="18" charset="0"/>
                <a:ea typeface="宋体" charset="-122"/>
              </a:defRPr>
            </a:lvl7pPr>
            <a:lvl8pPr eaLnBrk="0" hangingPunct="0">
              <a:defRPr kumimoji="1" sz="2000">
                <a:solidFill>
                  <a:schemeClr val="tx1"/>
                </a:solidFill>
                <a:latin typeface="Times New Roman" pitchFamily="18" charset="0"/>
                <a:ea typeface="宋体" charset="-122"/>
              </a:defRPr>
            </a:lvl8pPr>
            <a:lvl9pPr eaLnBrk="0" hangingPunct="0">
              <a:defRPr kumimoji="1" sz="2000">
                <a:solidFill>
                  <a:schemeClr val="tx1"/>
                </a:solidFill>
                <a:latin typeface="Times New Roman" pitchFamily="18" charset="0"/>
                <a:ea typeface="宋体" charset="-122"/>
              </a:defRPr>
            </a:lvl9pPr>
          </a:lstStyle>
          <a:p>
            <a:pPr fontAlgn="base">
              <a:spcBef>
                <a:spcPct val="0"/>
              </a:spcBef>
              <a:spcAft>
                <a:spcPct val="0"/>
              </a:spcAft>
            </a:pPr>
            <a:r>
              <a:rPr lang="en-US" altLang="zh-CN" sz="2800" b="1" dirty="0" smtClean="0">
                <a:solidFill>
                  <a:srgbClr val="3333FF"/>
                </a:solidFill>
                <a:ea typeface="黑体" pitchFamily="49" charset="-122"/>
                <a:cs typeface="Times New Roman" pitchFamily="18" charset="0"/>
              </a:rPr>
              <a:t>3</a:t>
            </a:r>
            <a:r>
              <a:rPr lang="zh-CN" altLang="en-US" sz="2800" b="1" dirty="0" smtClean="0">
                <a:solidFill>
                  <a:srgbClr val="3333FF"/>
                </a:solidFill>
                <a:ea typeface="黑体" pitchFamily="49" charset="-122"/>
                <a:cs typeface="Times New Roman" pitchFamily="18" charset="0"/>
              </a:rPr>
              <a:t>、</a:t>
            </a:r>
            <a:r>
              <a:rPr lang="zh-CN" altLang="en-US" sz="2800" b="1" dirty="0" smtClean="0">
                <a:solidFill>
                  <a:srgbClr val="3333FF"/>
                </a:solidFill>
                <a:ea typeface="黑体" pitchFamily="49" charset="-122"/>
                <a:cs typeface="Times New Roman" pitchFamily="18" charset="0"/>
                <a:sym typeface="Symbol" pitchFamily="18" charset="2"/>
              </a:rPr>
              <a:t>楞次定律与</a:t>
            </a:r>
            <a:r>
              <a:rPr lang="zh-CN" altLang="en-US" sz="2800" b="1" dirty="0" smtClean="0">
                <a:solidFill>
                  <a:srgbClr val="3333FF"/>
                </a:solidFill>
                <a:ea typeface="黑体" pitchFamily="49" charset="-122"/>
                <a:cs typeface="Times New Roman" pitchFamily="18" charset="0"/>
              </a:rPr>
              <a:t>能量守恒定律</a:t>
            </a:r>
          </a:p>
          <a:p>
            <a:pPr lvl="1" fontAlgn="base">
              <a:lnSpc>
                <a:spcPct val="150000"/>
              </a:lnSpc>
              <a:spcBef>
                <a:spcPct val="0"/>
              </a:spcBef>
              <a:spcAft>
                <a:spcPct val="0"/>
              </a:spcAft>
            </a:pPr>
            <a:r>
              <a:rPr lang="zh-CN" altLang="en-US" dirty="0" smtClean="0">
                <a:solidFill>
                  <a:srgbClr val="000000"/>
                </a:solidFill>
                <a:ea typeface="黑体" pitchFamily="49" charset="-122"/>
                <a:cs typeface="Times New Roman" pitchFamily="18" charset="0"/>
              </a:rPr>
              <a:t>感应电流产生的磁场力（安培力），将反抗外力。即可以说</a:t>
            </a:r>
            <a:r>
              <a:rPr lang="zh-CN" altLang="en-US" dirty="0" smtClean="0">
                <a:solidFill>
                  <a:srgbClr val="FF0000"/>
                </a:solidFill>
                <a:ea typeface="黑体" pitchFamily="49" charset="-122"/>
                <a:cs typeface="Times New Roman" pitchFamily="18" charset="0"/>
              </a:rPr>
              <a:t>外力反抗磁场力做功</a:t>
            </a:r>
            <a:r>
              <a:rPr lang="zh-CN" altLang="en-US" dirty="0" smtClean="0">
                <a:solidFill>
                  <a:srgbClr val="000000"/>
                </a:solidFill>
                <a:ea typeface="黑体" pitchFamily="49" charset="-122"/>
                <a:cs typeface="Times New Roman" pitchFamily="18" charset="0"/>
              </a:rPr>
              <a:t>，从而产生感应电流转化为电路中的焦耳热，这是符合能量守恒规律的。</a:t>
            </a:r>
          </a:p>
        </p:txBody>
      </p:sp>
      <p:sp>
        <p:nvSpPr>
          <p:cNvPr id="112643" name="Text Box 3"/>
          <p:cNvSpPr txBox="1">
            <a:spLocks noChangeArrowheads="1"/>
          </p:cNvSpPr>
          <p:nvPr/>
        </p:nvSpPr>
        <p:spPr bwMode="auto">
          <a:xfrm>
            <a:off x="380960" y="3037786"/>
            <a:ext cx="5810291"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hangingPunct="0">
              <a:defRPr kumimoji="1" sz="2000">
                <a:solidFill>
                  <a:schemeClr val="tx1"/>
                </a:solidFill>
                <a:latin typeface="Times New Roman" pitchFamily="18" charset="0"/>
                <a:ea typeface="宋体" charset="-122"/>
              </a:defRPr>
            </a:lvl6pPr>
            <a:lvl7pPr eaLnBrk="0" hangingPunct="0">
              <a:defRPr kumimoji="1" sz="2000">
                <a:solidFill>
                  <a:schemeClr val="tx1"/>
                </a:solidFill>
                <a:latin typeface="Times New Roman" pitchFamily="18" charset="0"/>
                <a:ea typeface="宋体" charset="-122"/>
              </a:defRPr>
            </a:lvl7pPr>
            <a:lvl8pPr eaLnBrk="0" hangingPunct="0">
              <a:defRPr kumimoji="1" sz="2000">
                <a:solidFill>
                  <a:schemeClr val="tx1"/>
                </a:solidFill>
                <a:latin typeface="Times New Roman" pitchFamily="18" charset="0"/>
                <a:ea typeface="宋体" charset="-122"/>
              </a:defRPr>
            </a:lvl8pPr>
            <a:lvl9pPr eaLnBrk="0" hangingPunct="0">
              <a:defRPr kumimoji="1" sz="2000">
                <a:solidFill>
                  <a:schemeClr val="tx1"/>
                </a:solidFill>
                <a:latin typeface="Times New Roman" pitchFamily="18" charset="0"/>
                <a:ea typeface="宋体" charset="-122"/>
              </a:defRPr>
            </a:lvl9pPr>
          </a:lstStyle>
          <a:p>
            <a:pPr fontAlgn="base">
              <a:lnSpc>
                <a:spcPct val="150000"/>
              </a:lnSpc>
              <a:spcBef>
                <a:spcPct val="0"/>
              </a:spcBef>
              <a:spcAft>
                <a:spcPct val="0"/>
              </a:spcAft>
            </a:pPr>
            <a:r>
              <a:rPr lang="zh-CN" altLang="en-US" sz="2800" dirty="0" smtClean="0">
                <a:solidFill>
                  <a:srgbClr val="000000"/>
                </a:solidFill>
                <a:latin typeface="黑体" pitchFamily="49" charset="-122"/>
                <a:ea typeface="黑体" pitchFamily="49" charset="-122"/>
              </a:rPr>
              <a:t>否则只需一点力开始使导线移动，若洛仑兹力不去阻挠它的运动，将有无限大的电能出现，显然，这是不符合能量守恒定律的。</a:t>
            </a:r>
          </a:p>
        </p:txBody>
      </p:sp>
      <p:graphicFrame>
        <p:nvGraphicFramePr>
          <p:cNvPr id="17421" name="对象 1"/>
          <p:cNvGraphicFramePr>
            <a:graphicFrameLocks noChangeAspect="1"/>
          </p:cNvGraphicFramePr>
          <p:nvPr/>
        </p:nvGraphicFramePr>
        <p:xfrm>
          <a:off x="8015817" y="3182939"/>
          <a:ext cx="592667" cy="554037"/>
        </p:xfrm>
        <a:graphic>
          <a:graphicData uri="http://schemas.openxmlformats.org/presentationml/2006/ole">
            <mc:AlternateContent xmlns:mc="http://schemas.openxmlformats.org/markup-compatibility/2006">
              <mc:Choice xmlns:v="urn:schemas-microsoft-com:vml" Requires="v">
                <p:oleObj spid="_x0000_s19994" name="Equation" r:id="rId3" imgW="152334" imgH="190417" progId="Equation.DSMT4">
                  <p:embed/>
                </p:oleObj>
              </mc:Choice>
              <mc:Fallback>
                <p:oleObj name="Equation" r:id="rId3" imgW="152334" imgH="190417"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15817" y="3182939"/>
                        <a:ext cx="592667" cy="5540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422" name="对象 2"/>
          <p:cNvGraphicFramePr>
            <a:graphicFrameLocks noChangeAspect="1"/>
          </p:cNvGraphicFramePr>
          <p:nvPr/>
        </p:nvGraphicFramePr>
        <p:xfrm>
          <a:off x="8013700" y="4117976"/>
          <a:ext cx="543984" cy="517525"/>
        </p:xfrm>
        <a:graphic>
          <a:graphicData uri="http://schemas.openxmlformats.org/presentationml/2006/ole">
            <mc:AlternateContent xmlns:mc="http://schemas.openxmlformats.org/markup-compatibility/2006">
              <mc:Choice xmlns:v="urn:schemas-microsoft-com:vml" Requires="v">
                <p:oleObj spid="_x0000_s19995" name="Equation" r:id="rId5" imgW="139579" imgH="177646" progId="Equation.DSMT4">
                  <p:embed/>
                </p:oleObj>
              </mc:Choice>
              <mc:Fallback>
                <p:oleObj name="Equation" r:id="rId5" imgW="139579" imgH="177646"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013700" y="4117976"/>
                        <a:ext cx="543984" cy="517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8" name="组合 7"/>
          <p:cNvGrpSpPr>
            <a:grpSpLocks/>
          </p:cNvGrpSpPr>
          <p:nvPr/>
        </p:nvGrpSpPr>
        <p:grpSpPr bwMode="auto">
          <a:xfrm>
            <a:off x="9948333" y="3971926"/>
            <a:ext cx="1746251" cy="777875"/>
            <a:chOff x="9828584" y="2132614"/>
            <a:chExt cx="1309905" cy="777259"/>
          </a:xfrm>
        </p:grpSpPr>
        <p:sp>
          <p:nvSpPr>
            <p:cNvPr id="17451" name="Line 64"/>
            <p:cNvSpPr>
              <a:spLocks noChangeShapeType="1"/>
            </p:cNvSpPr>
            <p:nvPr/>
          </p:nvSpPr>
          <p:spPr bwMode="auto">
            <a:xfrm>
              <a:off x="9828584" y="2502029"/>
              <a:ext cx="678080" cy="0"/>
            </a:xfrm>
            <a:prstGeom prst="line">
              <a:avLst/>
            </a:prstGeom>
            <a:noFill/>
            <a:ln w="444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kumimoji="1" lang="zh-CN" altLang="en-US" sz="3600" b="1" smtClean="0">
                <a:solidFill>
                  <a:srgbClr val="FF3300"/>
                </a:solidFill>
                <a:ea typeface="楷体_GB2312" pitchFamily="49" charset="-122"/>
              </a:endParaRPr>
            </a:p>
          </p:txBody>
        </p:sp>
        <p:graphicFrame>
          <p:nvGraphicFramePr>
            <p:cNvPr id="17452" name="对象 4"/>
            <p:cNvGraphicFramePr>
              <a:graphicFrameLocks noChangeAspect="1"/>
            </p:cNvGraphicFramePr>
            <p:nvPr/>
          </p:nvGraphicFramePr>
          <p:xfrm>
            <a:off x="10506559" y="2132614"/>
            <a:ext cx="631930" cy="777259"/>
          </p:xfrm>
          <a:graphic>
            <a:graphicData uri="http://schemas.openxmlformats.org/presentationml/2006/ole">
              <mc:AlternateContent xmlns:mc="http://schemas.openxmlformats.org/markup-compatibility/2006">
                <mc:Choice xmlns:v="urn:schemas-microsoft-com:vml" Requires="v">
                  <p:oleObj spid="_x0000_s19996" name="Equation" r:id="rId7" imgW="215619" imgH="266353" progId="Equation.DSMT4">
                    <p:embed/>
                  </p:oleObj>
                </mc:Choice>
                <mc:Fallback>
                  <p:oleObj name="Equation" r:id="rId7" imgW="215619" imgH="266353"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506559" y="2132614"/>
                          <a:ext cx="631930" cy="7772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17450" name="对象 9"/>
          <p:cNvGraphicFramePr>
            <a:graphicFrameLocks noChangeAspect="1"/>
          </p:cNvGraphicFramePr>
          <p:nvPr/>
        </p:nvGraphicFramePr>
        <p:xfrm>
          <a:off x="9482667" y="4268789"/>
          <a:ext cx="491067" cy="441325"/>
        </p:xfrm>
        <a:graphic>
          <a:graphicData uri="http://schemas.openxmlformats.org/presentationml/2006/ole">
            <mc:AlternateContent xmlns:mc="http://schemas.openxmlformats.org/markup-compatibility/2006">
              <mc:Choice xmlns:v="urn:schemas-microsoft-com:vml" Requires="v">
                <p:oleObj spid="_x0000_s19997" name="Equation" r:id="rId9" imgW="126835" imgH="152202" progId="Equation.DSMT4">
                  <p:embed/>
                </p:oleObj>
              </mc:Choice>
              <mc:Fallback>
                <p:oleObj name="Equation" r:id="rId9" imgW="126835" imgH="152202"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482667" y="4268789"/>
                        <a:ext cx="491067" cy="441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3" name="组合 12"/>
          <p:cNvGrpSpPr>
            <a:grpSpLocks/>
          </p:cNvGrpSpPr>
          <p:nvPr/>
        </p:nvGrpSpPr>
        <p:grpSpPr bwMode="auto">
          <a:xfrm>
            <a:off x="9450918" y="3584576"/>
            <a:ext cx="1581149" cy="701675"/>
            <a:chOff x="10350053" y="1866475"/>
            <a:chExt cx="1186166" cy="701675"/>
          </a:xfrm>
        </p:grpSpPr>
        <p:sp>
          <p:nvSpPr>
            <p:cNvPr id="17449" name="Line 40"/>
            <p:cNvSpPr>
              <a:spLocks noChangeShapeType="1"/>
            </p:cNvSpPr>
            <p:nvPr/>
          </p:nvSpPr>
          <p:spPr bwMode="auto">
            <a:xfrm>
              <a:off x="10350053" y="2319395"/>
              <a:ext cx="667254" cy="8148"/>
            </a:xfrm>
            <a:prstGeom prst="line">
              <a:avLst/>
            </a:prstGeom>
            <a:noFill/>
            <a:ln w="44450">
              <a:solidFill>
                <a:srgbClr val="3333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kumimoji="1" lang="zh-CN" altLang="en-US" sz="3600" b="1" smtClean="0">
                <a:solidFill>
                  <a:srgbClr val="FF3300"/>
                </a:solidFill>
                <a:ea typeface="楷体_GB2312" pitchFamily="49" charset="-122"/>
              </a:endParaRPr>
            </a:p>
          </p:txBody>
        </p:sp>
        <p:graphicFrame>
          <p:nvGraphicFramePr>
            <p:cNvPr id="2" name="对象 11"/>
            <p:cNvGraphicFramePr>
              <a:graphicFrameLocks noChangeAspect="1"/>
            </p:cNvGraphicFramePr>
            <p:nvPr/>
          </p:nvGraphicFramePr>
          <p:xfrm>
            <a:off x="10980594" y="1866475"/>
            <a:ext cx="555625" cy="701675"/>
          </p:xfrm>
          <a:graphic>
            <a:graphicData uri="http://schemas.openxmlformats.org/presentationml/2006/ole">
              <mc:AlternateContent xmlns:mc="http://schemas.openxmlformats.org/markup-compatibility/2006">
                <mc:Choice xmlns:v="urn:schemas-microsoft-com:vml" Requires="v">
                  <p:oleObj spid="_x0000_s19998" name="Equation" r:id="rId11" imgW="190417" imgH="241195" progId="Equation.DSMT4">
                    <p:embed/>
                  </p:oleObj>
                </mc:Choice>
                <mc:Fallback>
                  <p:oleObj name="Equation" r:id="rId11" imgW="190417" imgH="241195" progId="Equation.DSMT4">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980594" y="1866475"/>
                          <a:ext cx="555625" cy="701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17426" name="组合 44"/>
          <p:cNvGrpSpPr>
            <a:grpSpLocks/>
          </p:cNvGrpSpPr>
          <p:nvPr/>
        </p:nvGrpSpPr>
        <p:grpSpPr bwMode="auto">
          <a:xfrm>
            <a:off x="7535333" y="3317876"/>
            <a:ext cx="2375072" cy="1839991"/>
            <a:chOff x="1331640" y="292586"/>
            <a:chExt cx="1780062" cy="1840348"/>
          </a:xfrm>
        </p:grpSpPr>
        <p:sp>
          <p:nvSpPr>
            <p:cNvPr id="17440" name="矩形 45"/>
            <p:cNvSpPr>
              <a:spLocks noChangeArrowheads="1"/>
            </p:cNvSpPr>
            <p:nvPr/>
          </p:nvSpPr>
          <p:spPr bwMode="auto">
            <a:xfrm>
              <a:off x="2779871" y="292586"/>
              <a:ext cx="331831" cy="40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fontAlgn="base">
                <a:spcBef>
                  <a:spcPct val="20000"/>
                </a:spcBef>
                <a:spcAft>
                  <a:spcPct val="0"/>
                </a:spcAft>
              </a:pPr>
              <a:r>
                <a:rPr kumimoji="1" lang="zh-CN" altLang="zh-CN" sz="2000" b="1" smtClean="0">
                  <a:solidFill>
                    <a:srgbClr val="000000"/>
                  </a:solidFill>
                  <a:ea typeface="楷体_GB2312" pitchFamily="49" charset="-122"/>
                </a:rPr>
                <a:t>╳</a:t>
              </a:r>
            </a:p>
          </p:txBody>
        </p:sp>
        <p:sp>
          <p:nvSpPr>
            <p:cNvPr id="17441" name="矩形 46"/>
            <p:cNvSpPr>
              <a:spLocks noChangeArrowheads="1"/>
            </p:cNvSpPr>
            <p:nvPr/>
          </p:nvSpPr>
          <p:spPr bwMode="auto">
            <a:xfrm>
              <a:off x="2771800" y="1012666"/>
              <a:ext cx="331831" cy="40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fontAlgn="base">
                <a:spcBef>
                  <a:spcPct val="20000"/>
                </a:spcBef>
                <a:spcAft>
                  <a:spcPct val="0"/>
                </a:spcAft>
              </a:pPr>
              <a:r>
                <a:rPr kumimoji="1" lang="zh-CN" altLang="zh-CN" sz="2000" b="1" smtClean="0">
                  <a:solidFill>
                    <a:srgbClr val="000000"/>
                  </a:solidFill>
                  <a:ea typeface="楷体_GB2312" pitchFamily="49" charset="-122"/>
                </a:rPr>
                <a:t>╳</a:t>
              </a:r>
            </a:p>
          </p:txBody>
        </p:sp>
        <p:sp>
          <p:nvSpPr>
            <p:cNvPr id="17442" name="矩形 47"/>
            <p:cNvSpPr>
              <a:spLocks noChangeArrowheads="1"/>
            </p:cNvSpPr>
            <p:nvPr/>
          </p:nvSpPr>
          <p:spPr bwMode="auto">
            <a:xfrm>
              <a:off x="2771800" y="1732746"/>
              <a:ext cx="331831" cy="40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fontAlgn="base">
                <a:spcBef>
                  <a:spcPct val="20000"/>
                </a:spcBef>
                <a:spcAft>
                  <a:spcPct val="0"/>
                </a:spcAft>
              </a:pPr>
              <a:r>
                <a:rPr kumimoji="1" lang="zh-CN" altLang="zh-CN" sz="2000" b="1" smtClean="0">
                  <a:solidFill>
                    <a:srgbClr val="000000"/>
                  </a:solidFill>
                  <a:ea typeface="楷体_GB2312" pitchFamily="49" charset="-122"/>
                </a:rPr>
                <a:t>╳</a:t>
              </a:r>
            </a:p>
          </p:txBody>
        </p:sp>
        <p:sp>
          <p:nvSpPr>
            <p:cNvPr id="17443" name="矩形 48"/>
            <p:cNvSpPr>
              <a:spLocks noChangeArrowheads="1"/>
            </p:cNvSpPr>
            <p:nvPr/>
          </p:nvSpPr>
          <p:spPr bwMode="auto">
            <a:xfrm>
              <a:off x="2041018" y="292586"/>
              <a:ext cx="331831" cy="40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fontAlgn="base">
                <a:spcBef>
                  <a:spcPct val="20000"/>
                </a:spcBef>
                <a:spcAft>
                  <a:spcPct val="0"/>
                </a:spcAft>
              </a:pPr>
              <a:r>
                <a:rPr kumimoji="1" lang="zh-CN" altLang="zh-CN" sz="2000" b="1" smtClean="0">
                  <a:solidFill>
                    <a:srgbClr val="000000"/>
                  </a:solidFill>
                  <a:ea typeface="楷体_GB2312" pitchFamily="49" charset="-122"/>
                </a:rPr>
                <a:t>╳</a:t>
              </a:r>
            </a:p>
          </p:txBody>
        </p:sp>
        <p:sp>
          <p:nvSpPr>
            <p:cNvPr id="17444" name="矩形 49"/>
            <p:cNvSpPr>
              <a:spLocks noChangeArrowheads="1"/>
            </p:cNvSpPr>
            <p:nvPr/>
          </p:nvSpPr>
          <p:spPr bwMode="auto">
            <a:xfrm>
              <a:off x="2032947" y="1012666"/>
              <a:ext cx="331831" cy="40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fontAlgn="base">
                <a:spcBef>
                  <a:spcPct val="20000"/>
                </a:spcBef>
                <a:spcAft>
                  <a:spcPct val="0"/>
                </a:spcAft>
              </a:pPr>
              <a:r>
                <a:rPr kumimoji="1" lang="zh-CN" altLang="zh-CN" sz="2000" b="1" smtClean="0">
                  <a:solidFill>
                    <a:srgbClr val="000000"/>
                  </a:solidFill>
                  <a:ea typeface="楷体_GB2312" pitchFamily="49" charset="-122"/>
                </a:rPr>
                <a:t>╳</a:t>
              </a:r>
            </a:p>
          </p:txBody>
        </p:sp>
        <p:sp>
          <p:nvSpPr>
            <p:cNvPr id="17445" name="矩形 50"/>
            <p:cNvSpPr>
              <a:spLocks noChangeArrowheads="1"/>
            </p:cNvSpPr>
            <p:nvPr/>
          </p:nvSpPr>
          <p:spPr bwMode="auto">
            <a:xfrm>
              <a:off x="2032947" y="1732746"/>
              <a:ext cx="331831" cy="40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fontAlgn="base">
                <a:spcBef>
                  <a:spcPct val="20000"/>
                </a:spcBef>
                <a:spcAft>
                  <a:spcPct val="0"/>
                </a:spcAft>
              </a:pPr>
              <a:r>
                <a:rPr kumimoji="1" lang="zh-CN" altLang="zh-CN" sz="2000" b="1" smtClean="0">
                  <a:solidFill>
                    <a:srgbClr val="000000"/>
                  </a:solidFill>
                  <a:ea typeface="楷体_GB2312" pitchFamily="49" charset="-122"/>
                </a:rPr>
                <a:t>╳</a:t>
              </a:r>
            </a:p>
          </p:txBody>
        </p:sp>
        <p:sp>
          <p:nvSpPr>
            <p:cNvPr id="17446" name="矩形 51"/>
            <p:cNvSpPr>
              <a:spLocks noChangeArrowheads="1"/>
            </p:cNvSpPr>
            <p:nvPr/>
          </p:nvSpPr>
          <p:spPr bwMode="auto">
            <a:xfrm>
              <a:off x="1339711" y="292586"/>
              <a:ext cx="331831" cy="40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fontAlgn="base">
                <a:spcBef>
                  <a:spcPct val="20000"/>
                </a:spcBef>
                <a:spcAft>
                  <a:spcPct val="0"/>
                </a:spcAft>
              </a:pPr>
              <a:r>
                <a:rPr kumimoji="1" lang="zh-CN" altLang="zh-CN" sz="2000" b="1" dirty="0" smtClean="0">
                  <a:solidFill>
                    <a:srgbClr val="000000"/>
                  </a:solidFill>
                  <a:ea typeface="楷体_GB2312" pitchFamily="49" charset="-122"/>
                </a:rPr>
                <a:t>╳</a:t>
              </a:r>
            </a:p>
          </p:txBody>
        </p:sp>
        <p:sp>
          <p:nvSpPr>
            <p:cNvPr id="17447" name="矩形 52"/>
            <p:cNvSpPr>
              <a:spLocks noChangeArrowheads="1"/>
            </p:cNvSpPr>
            <p:nvPr/>
          </p:nvSpPr>
          <p:spPr bwMode="auto">
            <a:xfrm>
              <a:off x="1331640" y="1012666"/>
              <a:ext cx="331831" cy="40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fontAlgn="base">
                <a:spcBef>
                  <a:spcPct val="20000"/>
                </a:spcBef>
                <a:spcAft>
                  <a:spcPct val="0"/>
                </a:spcAft>
              </a:pPr>
              <a:r>
                <a:rPr kumimoji="1" lang="zh-CN" altLang="zh-CN" sz="2000" b="1" smtClean="0">
                  <a:solidFill>
                    <a:srgbClr val="000000"/>
                  </a:solidFill>
                  <a:ea typeface="楷体_GB2312" pitchFamily="49" charset="-122"/>
                </a:rPr>
                <a:t>╳</a:t>
              </a:r>
            </a:p>
          </p:txBody>
        </p:sp>
        <p:sp>
          <p:nvSpPr>
            <p:cNvPr id="17448" name="矩形 53"/>
            <p:cNvSpPr>
              <a:spLocks noChangeArrowheads="1"/>
            </p:cNvSpPr>
            <p:nvPr/>
          </p:nvSpPr>
          <p:spPr bwMode="auto">
            <a:xfrm>
              <a:off x="1331640" y="1732746"/>
              <a:ext cx="331831" cy="40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fontAlgn="base">
                <a:spcBef>
                  <a:spcPct val="20000"/>
                </a:spcBef>
                <a:spcAft>
                  <a:spcPct val="0"/>
                </a:spcAft>
              </a:pPr>
              <a:r>
                <a:rPr kumimoji="1" lang="zh-CN" altLang="zh-CN" sz="2000" b="1" smtClean="0">
                  <a:solidFill>
                    <a:srgbClr val="000000"/>
                  </a:solidFill>
                  <a:ea typeface="楷体_GB2312" pitchFamily="49" charset="-122"/>
                </a:rPr>
                <a:t>╳</a:t>
              </a:r>
            </a:p>
          </p:txBody>
        </p:sp>
      </p:grpSp>
      <p:sp>
        <p:nvSpPr>
          <p:cNvPr id="17427" name="矩形 1"/>
          <p:cNvSpPr>
            <a:spLocks noChangeArrowheads="1"/>
          </p:cNvSpPr>
          <p:nvPr/>
        </p:nvSpPr>
        <p:spPr bwMode="auto">
          <a:xfrm>
            <a:off x="6028267" y="2689226"/>
            <a:ext cx="5666317" cy="3979863"/>
          </a:xfrm>
          <a:prstGeom prst="rect">
            <a:avLst/>
          </a:prstGeom>
          <a:noFill/>
          <a:ln w="12700" algn="ctr">
            <a:solidFill>
              <a:srgbClr val="00B05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20000"/>
              </a:spcBef>
              <a:spcAft>
                <a:spcPct val="0"/>
              </a:spcAft>
            </a:pPr>
            <a:endParaRPr kumimoji="1" lang="zh-CN" altLang="en-US" sz="3600" b="1" smtClean="0">
              <a:solidFill>
                <a:srgbClr val="FF3300"/>
              </a:solidFill>
              <a:ea typeface="楷体_GB2312" pitchFamily="49" charset="-122"/>
            </a:endParaRPr>
          </a:p>
        </p:txBody>
      </p:sp>
      <p:sp>
        <p:nvSpPr>
          <p:cNvPr id="46" name="Text Box 3"/>
          <p:cNvSpPr txBox="1">
            <a:spLocks noChangeArrowheads="1"/>
          </p:cNvSpPr>
          <p:nvPr/>
        </p:nvSpPr>
        <p:spPr bwMode="auto">
          <a:xfrm>
            <a:off x="6364817" y="2763987"/>
            <a:ext cx="280076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sz="3200">
                <a:solidFill>
                  <a:schemeClr val="tx1"/>
                </a:solidFill>
                <a:latin typeface="Times New Roman" pitchFamily="18" charset="0"/>
                <a:ea typeface="宋体" charset="-122"/>
              </a:defRPr>
            </a:lvl1pPr>
            <a:lvl2pPr>
              <a:defRPr kumimoji="1" sz="2800">
                <a:solidFill>
                  <a:schemeClr val="tx1"/>
                </a:solidFill>
                <a:latin typeface="Times New Roman" pitchFamily="18" charset="0"/>
                <a:ea typeface="宋体" charset="-122"/>
              </a:defRPr>
            </a:lvl2pPr>
            <a:lvl3pPr>
              <a:defRPr kumimoji="1" sz="2400">
                <a:solidFill>
                  <a:schemeClr val="tx1"/>
                </a:solidFill>
                <a:latin typeface="Times New Roman" pitchFamily="18" charset="0"/>
                <a:ea typeface="宋体" charset="-122"/>
              </a:defRPr>
            </a:lvl3pPr>
            <a:lvl4pPr>
              <a:defRPr kumimoji="1" sz="2000">
                <a:solidFill>
                  <a:schemeClr val="tx1"/>
                </a:solidFill>
                <a:latin typeface="Times New Roman" pitchFamily="18" charset="0"/>
                <a:ea typeface="宋体" charset="-122"/>
              </a:defRPr>
            </a:lvl4pPr>
            <a:lvl5pPr>
              <a:defRPr kumimoji="1" sz="2000">
                <a:solidFill>
                  <a:schemeClr val="tx1"/>
                </a:solidFill>
                <a:latin typeface="Times New Roman" pitchFamily="18" charset="0"/>
                <a:ea typeface="宋体" charset="-122"/>
              </a:defRPr>
            </a:lvl5pPr>
            <a:lvl6pPr eaLnBrk="0" hangingPunct="0">
              <a:defRPr kumimoji="1" sz="2000">
                <a:solidFill>
                  <a:schemeClr val="tx1"/>
                </a:solidFill>
                <a:latin typeface="Times New Roman" pitchFamily="18" charset="0"/>
                <a:ea typeface="宋体" charset="-122"/>
              </a:defRPr>
            </a:lvl6pPr>
            <a:lvl7pPr eaLnBrk="0" hangingPunct="0">
              <a:defRPr kumimoji="1" sz="2000">
                <a:solidFill>
                  <a:schemeClr val="tx1"/>
                </a:solidFill>
                <a:latin typeface="Times New Roman" pitchFamily="18" charset="0"/>
                <a:ea typeface="宋体" charset="-122"/>
              </a:defRPr>
            </a:lvl7pPr>
            <a:lvl8pPr eaLnBrk="0" hangingPunct="0">
              <a:defRPr kumimoji="1" sz="2000">
                <a:solidFill>
                  <a:schemeClr val="tx1"/>
                </a:solidFill>
                <a:latin typeface="Times New Roman" pitchFamily="18" charset="0"/>
                <a:ea typeface="宋体" charset="-122"/>
              </a:defRPr>
            </a:lvl8pPr>
            <a:lvl9pPr eaLnBrk="0" hangingPunct="0">
              <a:defRPr kumimoji="1" sz="2000">
                <a:solidFill>
                  <a:schemeClr val="tx1"/>
                </a:solidFill>
                <a:latin typeface="Times New Roman" pitchFamily="18" charset="0"/>
                <a:ea typeface="宋体" charset="-122"/>
              </a:defRPr>
            </a:lvl9pPr>
          </a:lstStyle>
          <a:p>
            <a:pPr fontAlgn="base">
              <a:spcBef>
                <a:spcPct val="0"/>
              </a:spcBef>
              <a:spcAft>
                <a:spcPct val="0"/>
              </a:spcAft>
            </a:pPr>
            <a:r>
              <a:rPr lang="zh-CN" altLang="en-US" sz="2400" dirty="0" smtClean="0">
                <a:solidFill>
                  <a:srgbClr val="000000"/>
                </a:solidFill>
                <a:latin typeface="黑体" pitchFamily="49" charset="-122"/>
                <a:ea typeface="黑体" pitchFamily="49" charset="-122"/>
              </a:rPr>
              <a:t>若楞次定律反过来</a:t>
            </a:r>
            <a:r>
              <a:rPr lang="en-US" altLang="zh-CN" sz="2400" dirty="0" smtClean="0">
                <a:solidFill>
                  <a:srgbClr val="000000"/>
                </a:solidFill>
                <a:latin typeface="黑体" pitchFamily="49" charset="-122"/>
                <a:ea typeface="黑体" pitchFamily="49" charset="-122"/>
              </a:rPr>
              <a:t>:</a:t>
            </a:r>
            <a:endParaRPr lang="zh-CN" altLang="en-US" sz="2400" dirty="0" smtClean="0">
              <a:solidFill>
                <a:srgbClr val="000000"/>
              </a:solidFill>
              <a:latin typeface="黑体" pitchFamily="49" charset="-122"/>
              <a:ea typeface="黑体" pitchFamily="49" charset="-122"/>
            </a:endParaRPr>
          </a:p>
        </p:txBody>
      </p:sp>
      <p:cxnSp>
        <p:nvCxnSpPr>
          <p:cNvPr id="3" name="直接箭头连接符 2"/>
          <p:cNvCxnSpPr>
            <a:cxnSpLocks noChangeShapeType="1"/>
          </p:cNvCxnSpPr>
          <p:nvPr/>
        </p:nvCxnSpPr>
        <p:spPr bwMode="auto">
          <a:xfrm>
            <a:off x="9427633" y="3897313"/>
            <a:ext cx="0" cy="692150"/>
          </a:xfrm>
          <a:prstGeom prst="straightConnector1">
            <a:avLst/>
          </a:prstGeom>
          <a:noFill/>
          <a:ln w="38100" algn="ctr">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5" name="组合 4"/>
          <p:cNvGrpSpPr>
            <a:grpSpLocks/>
          </p:cNvGrpSpPr>
          <p:nvPr/>
        </p:nvGrpSpPr>
        <p:grpSpPr bwMode="auto">
          <a:xfrm>
            <a:off x="7260168" y="5376863"/>
            <a:ext cx="3012017" cy="1079500"/>
            <a:chOff x="5538865" y="5517917"/>
            <a:chExt cx="2259676" cy="1079435"/>
          </a:xfrm>
        </p:grpSpPr>
        <p:sp>
          <p:nvSpPr>
            <p:cNvPr id="17431" name="Line 5"/>
            <p:cNvSpPr>
              <a:spLocks noChangeShapeType="1"/>
            </p:cNvSpPr>
            <p:nvPr/>
          </p:nvSpPr>
          <p:spPr bwMode="auto">
            <a:xfrm>
              <a:off x="6463587" y="5813480"/>
              <a:ext cx="690658" cy="1248"/>
            </a:xfrm>
            <a:prstGeom prst="line">
              <a:avLst/>
            </a:prstGeom>
            <a:noFill/>
            <a:ln w="44450">
              <a:solidFill>
                <a:srgbClr val="3333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kumimoji="1" lang="zh-CN" altLang="en-US" sz="3600" b="1" smtClean="0">
                <a:solidFill>
                  <a:srgbClr val="FF3300"/>
                </a:solidFill>
                <a:ea typeface="楷体_GB2312" pitchFamily="49" charset="-122"/>
              </a:endParaRPr>
            </a:p>
          </p:txBody>
        </p:sp>
        <p:grpSp>
          <p:nvGrpSpPr>
            <p:cNvPr id="17432" name="Group 9"/>
            <p:cNvGrpSpPr>
              <a:grpSpLocks/>
            </p:cNvGrpSpPr>
            <p:nvPr/>
          </p:nvGrpSpPr>
          <p:grpSpPr bwMode="auto">
            <a:xfrm>
              <a:off x="6082410" y="5656485"/>
              <a:ext cx="381179" cy="305032"/>
              <a:chOff x="3264" y="3504"/>
              <a:chExt cx="240" cy="192"/>
            </a:xfrm>
          </p:grpSpPr>
          <p:sp>
            <p:nvSpPr>
              <p:cNvPr id="17437" name="Oval 10"/>
              <p:cNvSpPr>
                <a:spLocks noChangeArrowheads="1"/>
              </p:cNvSpPr>
              <p:nvPr/>
            </p:nvSpPr>
            <p:spPr bwMode="auto">
              <a:xfrm>
                <a:off x="3264" y="3504"/>
                <a:ext cx="240" cy="192"/>
              </a:xfrm>
              <a:prstGeom prst="ellipse">
                <a:avLst/>
              </a:prstGeom>
              <a:noFill/>
              <a:ln w="9525">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20000"/>
                  </a:spcBef>
                  <a:spcAft>
                    <a:spcPct val="0"/>
                  </a:spcAft>
                </a:pPr>
                <a:endParaRPr kumimoji="1" lang="zh-CN" altLang="en-US" sz="3600" b="1" smtClean="0">
                  <a:solidFill>
                    <a:srgbClr val="FF3300"/>
                  </a:solidFill>
                  <a:ea typeface="楷体_GB2312" pitchFamily="49" charset="-122"/>
                </a:endParaRPr>
              </a:p>
            </p:txBody>
          </p:sp>
          <p:sp>
            <p:nvSpPr>
              <p:cNvPr id="17438" name="Line 11"/>
              <p:cNvSpPr>
                <a:spLocks noChangeShapeType="1"/>
              </p:cNvSpPr>
              <p:nvPr/>
            </p:nvSpPr>
            <p:spPr bwMode="auto">
              <a:xfrm flipH="1">
                <a:off x="3312" y="3507"/>
                <a:ext cx="132" cy="189"/>
              </a:xfrm>
              <a:prstGeom prst="line">
                <a:avLst/>
              </a:prstGeom>
              <a:noFill/>
              <a:ln w="41275">
                <a:solidFill>
                  <a:srgbClr val="FFCC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kumimoji="1" lang="zh-CN" altLang="en-US" sz="3600" b="1" smtClean="0">
                  <a:solidFill>
                    <a:srgbClr val="FF3300"/>
                  </a:solidFill>
                  <a:ea typeface="楷体_GB2312" pitchFamily="49" charset="-122"/>
                </a:endParaRPr>
              </a:p>
            </p:txBody>
          </p:sp>
          <p:sp>
            <p:nvSpPr>
              <p:cNvPr id="17439" name="Line 12"/>
              <p:cNvSpPr>
                <a:spLocks noChangeShapeType="1"/>
              </p:cNvSpPr>
              <p:nvPr/>
            </p:nvSpPr>
            <p:spPr bwMode="auto">
              <a:xfrm>
                <a:off x="3312" y="3507"/>
                <a:ext cx="132" cy="189"/>
              </a:xfrm>
              <a:prstGeom prst="line">
                <a:avLst/>
              </a:prstGeom>
              <a:noFill/>
              <a:ln w="41275">
                <a:solidFill>
                  <a:srgbClr val="FFCC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kumimoji="1" lang="zh-CN" altLang="en-US" sz="3600" b="1" smtClean="0">
                  <a:solidFill>
                    <a:srgbClr val="FF3300"/>
                  </a:solidFill>
                  <a:ea typeface="楷体_GB2312" pitchFamily="49" charset="-122"/>
                </a:endParaRPr>
              </a:p>
            </p:txBody>
          </p:sp>
        </p:grpSp>
        <p:graphicFrame>
          <p:nvGraphicFramePr>
            <p:cNvPr id="17433" name="对象 52"/>
            <p:cNvGraphicFramePr>
              <a:graphicFrameLocks noChangeAspect="1"/>
            </p:cNvGraphicFramePr>
            <p:nvPr/>
          </p:nvGraphicFramePr>
          <p:xfrm>
            <a:off x="6381642" y="6042725"/>
            <a:ext cx="369888" cy="479425"/>
          </p:xfrm>
          <a:graphic>
            <a:graphicData uri="http://schemas.openxmlformats.org/presentationml/2006/ole">
              <mc:AlternateContent xmlns:mc="http://schemas.openxmlformats.org/markup-compatibility/2006">
                <mc:Choice xmlns:v="urn:schemas-microsoft-com:vml" Requires="v">
                  <p:oleObj spid="_x0000_s19999" name="Equation" r:id="rId13" imgW="126780" imgH="164814" progId="Equation.DSMT4">
                    <p:embed/>
                  </p:oleObj>
                </mc:Choice>
                <mc:Fallback>
                  <p:oleObj name="Equation" r:id="rId13" imgW="126780" imgH="164814" progId="Equation.DSMT4">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381642" y="6042725"/>
                          <a:ext cx="369888" cy="479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434" name="对象 55"/>
            <p:cNvGraphicFramePr>
              <a:graphicFrameLocks noChangeAspect="1"/>
            </p:cNvGraphicFramePr>
            <p:nvPr/>
          </p:nvGraphicFramePr>
          <p:xfrm>
            <a:off x="7242855" y="5540217"/>
            <a:ext cx="555686" cy="702208"/>
          </p:xfrm>
          <a:graphic>
            <a:graphicData uri="http://schemas.openxmlformats.org/presentationml/2006/ole">
              <mc:AlternateContent xmlns:mc="http://schemas.openxmlformats.org/markup-compatibility/2006">
                <mc:Choice xmlns:v="urn:schemas-microsoft-com:vml" Requires="v">
                  <p:oleObj spid="_x0000_s20000" name="Equation" r:id="rId15" imgW="190417" imgH="241195" progId="Equation.DSMT4">
                    <p:embed/>
                  </p:oleObj>
                </mc:Choice>
                <mc:Fallback>
                  <p:oleObj name="Equation" r:id="rId15" imgW="190417" imgH="241195" progId="Equation.DSMT4">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242855" y="5540217"/>
                          <a:ext cx="555686" cy="70220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435" name="对象 13"/>
            <p:cNvGraphicFramePr>
              <a:graphicFrameLocks noChangeAspect="1"/>
            </p:cNvGraphicFramePr>
            <p:nvPr/>
          </p:nvGraphicFramePr>
          <p:xfrm>
            <a:off x="5538865" y="5517917"/>
            <a:ext cx="444549" cy="554459"/>
          </p:xfrm>
          <a:graphic>
            <a:graphicData uri="http://schemas.openxmlformats.org/presentationml/2006/ole">
              <mc:AlternateContent xmlns:mc="http://schemas.openxmlformats.org/markup-compatibility/2006">
                <mc:Choice xmlns:v="urn:schemas-microsoft-com:vml" Requires="v">
                  <p:oleObj spid="_x0000_s20001" name="Equation" r:id="rId17" imgW="152334" imgH="190417" progId="Equation.DSMT4">
                    <p:embed/>
                  </p:oleObj>
                </mc:Choice>
                <mc:Fallback>
                  <p:oleObj name="Equation" r:id="rId17" imgW="152334" imgH="190417" progId="Equation.DSMT4">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538865" y="5517917"/>
                          <a:ext cx="444549" cy="5544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17436" name="直接箭头连接符 48"/>
            <p:cNvCxnSpPr>
              <a:cxnSpLocks noChangeShapeType="1"/>
            </p:cNvCxnSpPr>
            <p:nvPr/>
          </p:nvCxnSpPr>
          <p:spPr bwMode="auto">
            <a:xfrm>
              <a:off x="6272999" y="5967525"/>
              <a:ext cx="0" cy="629827"/>
            </a:xfrm>
            <a:prstGeom prst="straightConnector1">
              <a:avLst/>
            </a:prstGeom>
            <a:noFill/>
            <a:ln w="38100" algn="ctr">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Tree>
    <p:extLst>
      <p:ext uri="{BB962C8B-B14F-4D97-AF65-F5344CB8AC3E}">
        <p14:creationId xmlns:p14="http://schemas.microsoft.com/office/powerpoint/2010/main" val="3255513765"/>
      </p:ext>
    </p:extLst>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15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90488"/>
            <a:ext cx="11328400" cy="6345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4851400" y="5681365"/>
            <a:ext cx="298450" cy="461665"/>
          </a:xfrm>
          <a:prstGeom prst="rect">
            <a:avLst/>
          </a:prstGeom>
          <a:noFill/>
        </p:spPr>
        <p:txBody>
          <a:bodyPr wrap="square" rtlCol="0">
            <a:spAutoFit/>
          </a:bodyPr>
          <a:lstStyle/>
          <a:p>
            <a:r>
              <a:rPr lang="en-US" altLang="zh-CN" sz="2400" b="1" smtClean="0">
                <a:solidFill>
                  <a:srgbClr val="FF0000"/>
                </a:solidFill>
              </a:rPr>
              <a:t>N</a:t>
            </a:r>
            <a:endParaRPr lang="zh-CN" altLang="en-US" sz="2400" b="1">
              <a:solidFill>
                <a:srgbClr val="FF0000"/>
              </a:solidFill>
            </a:endParaRPr>
          </a:p>
        </p:txBody>
      </p:sp>
      <p:sp>
        <p:nvSpPr>
          <p:cNvPr id="4" name="TextBox 3"/>
          <p:cNvSpPr txBox="1"/>
          <p:nvPr/>
        </p:nvSpPr>
        <p:spPr>
          <a:xfrm>
            <a:off x="4857750" y="4991099"/>
            <a:ext cx="298450" cy="461665"/>
          </a:xfrm>
          <a:prstGeom prst="rect">
            <a:avLst/>
          </a:prstGeom>
          <a:noFill/>
        </p:spPr>
        <p:txBody>
          <a:bodyPr wrap="square" rtlCol="0">
            <a:spAutoFit/>
          </a:bodyPr>
          <a:lstStyle/>
          <a:p>
            <a:r>
              <a:rPr lang="en-US" altLang="zh-CN" sz="2400" b="1" smtClean="0">
                <a:solidFill>
                  <a:srgbClr val="FF0000"/>
                </a:solidFill>
              </a:rPr>
              <a:t>S</a:t>
            </a:r>
            <a:endParaRPr lang="zh-CN" altLang="en-US" sz="2400" b="1">
              <a:solidFill>
                <a:srgbClr val="FF0000"/>
              </a:solidFill>
            </a:endParaRPr>
          </a:p>
        </p:txBody>
      </p:sp>
      <p:sp>
        <p:nvSpPr>
          <p:cNvPr id="5" name="TextBox 4"/>
          <p:cNvSpPr txBox="1"/>
          <p:nvPr/>
        </p:nvSpPr>
        <p:spPr>
          <a:xfrm>
            <a:off x="10629900" y="4965699"/>
            <a:ext cx="298450" cy="461665"/>
          </a:xfrm>
          <a:prstGeom prst="rect">
            <a:avLst/>
          </a:prstGeom>
          <a:noFill/>
        </p:spPr>
        <p:txBody>
          <a:bodyPr wrap="square" rtlCol="0">
            <a:spAutoFit/>
          </a:bodyPr>
          <a:lstStyle/>
          <a:p>
            <a:r>
              <a:rPr lang="en-US" altLang="zh-CN" sz="2400" b="1" smtClean="0">
                <a:solidFill>
                  <a:srgbClr val="FF0000"/>
                </a:solidFill>
              </a:rPr>
              <a:t>N</a:t>
            </a:r>
            <a:endParaRPr lang="zh-CN" altLang="en-US" sz="2400" b="1">
              <a:solidFill>
                <a:srgbClr val="FF0000"/>
              </a:solidFill>
            </a:endParaRPr>
          </a:p>
        </p:txBody>
      </p:sp>
      <p:sp>
        <p:nvSpPr>
          <p:cNvPr id="6" name="TextBox 5"/>
          <p:cNvSpPr txBox="1"/>
          <p:nvPr/>
        </p:nvSpPr>
        <p:spPr>
          <a:xfrm>
            <a:off x="10629900" y="5681364"/>
            <a:ext cx="298450" cy="461665"/>
          </a:xfrm>
          <a:prstGeom prst="rect">
            <a:avLst/>
          </a:prstGeom>
          <a:noFill/>
        </p:spPr>
        <p:txBody>
          <a:bodyPr wrap="square" rtlCol="0">
            <a:spAutoFit/>
          </a:bodyPr>
          <a:lstStyle/>
          <a:p>
            <a:r>
              <a:rPr lang="en-US" altLang="zh-CN" sz="2400" b="1" smtClean="0">
                <a:solidFill>
                  <a:srgbClr val="FF0000"/>
                </a:solidFill>
              </a:rPr>
              <a:t>S</a:t>
            </a:r>
            <a:endParaRPr lang="zh-CN" altLang="en-US" sz="2400" b="1">
              <a:solidFill>
                <a:srgbClr val="FF0000"/>
              </a:solidFill>
            </a:endParaRPr>
          </a:p>
        </p:txBody>
      </p:sp>
    </p:spTree>
    <p:extLst>
      <p:ext uri="{BB962C8B-B14F-4D97-AF65-F5344CB8AC3E}">
        <p14:creationId xmlns:p14="http://schemas.microsoft.com/office/powerpoint/2010/main" val="336714853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8788" y="364394"/>
            <a:ext cx="10881811" cy="6107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9544128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8362" y="548680"/>
            <a:ext cx="4599336" cy="523220"/>
          </a:xfrm>
          <a:prstGeom prst="rect">
            <a:avLst/>
          </a:prstGeom>
          <a:noFill/>
        </p:spPr>
        <p:txBody>
          <a:bodyPr wrap="none" rtlCol="0">
            <a:spAutoFit/>
          </a:bodyPr>
          <a:lstStyle/>
          <a:p>
            <a:r>
              <a:rPr lang="zh-CN" altLang="en-US" sz="2800" b="1" dirty="0" smtClean="0"/>
              <a:t>例</a:t>
            </a:r>
            <a:r>
              <a:rPr lang="en-US" altLang="zh-CN" sz="2800" b="1" dirty="0" smtClean="0"/>
              <a:t>20.1  </a:t>
            </a:r>
            <a:r>
              <a:rPr lang="zh-CN" altLang="en-US" sz="2800" b="1" dirty="0" smtClean="0"/>
              <a:t>在磁场中运动的线框</a:t>
            </a:r>
            <a:endParaRPr lang="zh-CN" altLang="en-US" sz="2800" b="1" dirty="0"/>
          </a:p>
        </p:txBody>
      </p:sp>
      <p:sp>
        <p:nvSpPr>
          <p:cNvPr id="3" name="文本框 2"/>
          <p:cNvSpPr txBox="1"/>
          <p:nvPr/>
        </p:nvSpPr>
        <p:spPr>
          <a:xfrm>
            <a:off x="54224" y="1196753"/>
            <a:ext cx="11952651" cy="1708160"/>
          </a:xfrm>
          <a:prstGeom prst="rect">
            <a:avLst/>
          </a:prstGeom>
          <a:noFill/>
        </p:spPr>
        <p:txBody>
          <a:bodyPr wrap="square" rtlCol="0">
            <a:spAutoFit/>
          </a:bodyPr>
          <a:lstStyle/>
          <a:p>
            <a:pPr>
              <a:lnSpc>
                <a:spcPct val="125000"/>
              </a:lnSpc>
            </a:pPr>
            <a:r>
              <a:rPr lang="zh-CN" altLang="en-US" sz="2800" dirty="0" smtClean="0">
                <a:latin typeface="Times New Roman" panose="02020603050405020304" pitchFamily="18" charset="0"/>
                <a:cs typeface="Times New Roman" panose="02020603050405020304" pitchFamily="18" charset="0"/>
              </a:rPr>
              <a:t>         </a:t>
            </a:r>
            <a:r>
              <a:rPr lang="zh-CN" altLang="en-US" sz="2800" b="1" dirty="0" smtClean="0">
                <a:latin typeface="Times New Roman" panose="02020603050405020304" pitchFamily="18" charset="0"/>
                <a:cs typeface="Times New Roman" panose="02020603050405020304" pitchFamily="18" charset="0"/>
              </a:rPr>
              <a:t>一个由四根长度为</a:t>
            </a:r>
            <a:r>
              <a:rPr lang="en-US" altLang="zh-CN" sz="2800" b="1" i="1" dirty="0" smtClean="0">
                <a:latin typeface="Times New Roman" panose="02020603050405020304" pitchFamily="18" charset="0"/>
                <a:cs typeface="Times New Roman" panose="02020603050405020304" pitchFamily="18" charset="0"/>
              </a:rPr>
              <a:t>L</a:t>
            </a:r>
            <a:r>
              <a:rPr lang="zh-CN" altLang="en-US" sz="2800" b="1" dirty="0" smtClean="0">
                <a:latin typeface="Times New Roman" panose="02020603050405020304" pitchFamily="18" charset="0"/>
                <a:cs typeface="Times New Roman" panose="02020603050405020304" pitchFamily="18" charset="0"/>
              </a:rPr>
              <a:t>的杆制成的正方形金属线框以</a:t>
            </a:r>
            <a:r>
              <a:rPr lang="en-US" altLang="zh-CN" sz="2800" b="1" i="1" dirty="0" smtClean="0">
                <a:latin typeface="Times New Roman" panose="02020603050405020304" pitchFamily="18" charset="0"/>
                <a:cs typeface="Times New Roman" panose="02020603050405020304" pitchFamily="18" charset="0"/>
              </a:rPr>
              <a:t>v</a:t>
            </a:r>
            <a:r>
              <a:rPr lang="zh-CN" altLang="en-US" sz="2800" b="1" dirty="0" smtClean="0">
                <a:latin typeface="Times New Roman" panose="02020603050405020304" pitchFamily="18" charset="0"/>
                <a:cs typeface="Times New Roman" panose="02020603050405020304" pitchFamily="18" charset="0"/>
              </a:rPr>
              <a:t>匀速运动。中央区域的磁感应强度大小为</a:t>
            </a:r>
            <a:r>
              <a:rPr lang="en-US" altLang="zh-CN" sz="2800" b="1" i="1" dirty="0" smtClean="0">
                <a:latin typeface="Times New Roman" panose="02020603050405020304" pitchFamily="18" charset="0"/>
                <a:cs typeface="Times New Roman" panose="02020603050405020304" pitchFamily="18" charset="0"/>
              </a:rPr>
              <a:t>B</a:t>
            </a:r>
            <a:r>
              <a:rPr lang="zh-CN" altLang="en-US" sz="2800" b="1" dirty="0" smtClean="0">
                <a:latin typeface="Times New Roman" panose="02020603050405020304" pitchFamily="18" charset="0"/>
                <a:cs typeface="Times New Roman" panose="02020603050405020304" pitchFamily="18" charset="0"/>
              </a:rPr>
              <a:t>，其他地方，磁感应强度为零。线框的电阻为</a:t>
            </a:r>
            <a:r>
              <a:rPr lang="en-US" altLang="zh-CN" sz="2800" b="1" i="1" dirty="0" smtClean="0">
                <a:latin typeface="Times New Roman" panose="02020603050405020304" pitchFamily="18" charset="0"/>
                <a:cs typeface="Times New Roman" panose="02020603050405020304" pitchFamily="18" charset="0"/>
              </a:rPr>
              <a:t>R</a:t>
            </a:r>
            <a:r>
              <a:rPr lang="zh-CN" altLang="en-US" sz="2800" b="1" dirty="0" smtClean="0">
                <a:latin typeface="Times New Roman" panose="02020603050405020304" pitchFamily="18" charset="0"/>
                <a:cs typeface="Times New Roman" panose="02020603050405020304" pitchFamily="18" charset="0"/>
              </a:rPr>
              <a:t>，在</a:t>
            </a:r>
            <a:r>
              <a:rPr lang="en-US" altLang="zh-CN" sz="2800" b="1" dirty="0" smtClean="0">
                <a:latin typeface="Times New Roman" panose="02020603050405020304" pitchFamily="18" charset="0"/>
                <a:cs typeface="Times New Roman" panose="02020603050405020304" pitchFamily="18" charset="0"/>
              </a:rPr>
              <a:t>1~5</a:t>
            </a:r>
            <a:r>
              <a:rPr lang="zh-CN" altLang="en-US" sz="2800" b="1" dirty="0" smtClean="0">
                <a:latin typeface="Times New Roman" panose="02020603050405020304" pitchFamily="18" charset="0"/>
                <a:cs typeface="Times New Roman" panose="02020603050405020304" pitchFamily="18" charset="0"/>
              </a:rPr>
              <a:t>各位置，说明线框中的电流大小及方向。</a:t>
            </a:r>
            <a:endParaRPr lang="zh-CN" altLang="en-US" sz="2800" b="1" dirty="0">
              <a:latin typeface="Times New Roman" panose="02020603050405020304" pitchFamily="18" charset="0"/>
              <a:cs typeface="Times New Roman" panose="02020603050405020304" pitchFamily="18" charset="0"/>
            </a:endParaRPr>
          </a:p>
        </p:txBody>
      </p:sp>
      <p:pic>
        <p:nvPicPr>
          <p:cNvPr id="4" name="Picture 3" descr="gia12141_20_04"/>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b="10161"/>
          <a:stretch/>
        </p:blipFill>
        <p:spPr bwMode="auto">
          <a:xfrm>
            <a:off x="424475" y="3060374"/>
            <a:ext cx="11582400" cy="17328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5" name="对象 4"/>
          <p:cNvGraphicFramePr>
            <a:graphicFrameLocks noChangeAspect="1"/>
          </p:cNvGraphicFramePr>
          <p:nvPr>
            <p:extLst>
              <p:ext uri="{D42A27DB-BD31-4B8C-83A1-F6EECF244321}">
                <p14:modId xmlns:p14="http://schemas.microsoft.com/office/powerpoint/2010/main" val="1250624462"/>
              </p:ext>
            </p:extLst>
          </p:nvPr>
        </p:nvGraphicFramePr>
        <p:xfrm>
          <a:off x="2378075" y="5397500"/>
          <a:ext cx="3851275" cy="817563"/>
        </p:xfrm>
        <a:graphic>
          <a:graphicData uri="http://schemas.openxmlformats.org/presentationml/2006/ole">
            <mc:AlternateContent xmlns:mc="http://schemas.openxmlformats.org/markup-compatibility/2006">
              <mc:Choice xmlns:v="urn:schemas-microsoft-com:vml" Requires="v">
                <p:oleObj spid="_x0000_s20613" name="Equation" r:id="rId4" imgW="1854000" imgH="393480" progId="Equation.DSMT4">
                  <p:embed/>
                </p:oleObj>
              </mc:Choice>
              <mc:Fallback>
                <p:oleObj name="Equation" r:id="rId4" imgW="1854000" imgH="393480" progId="Equation.DSMT4">
                  <p:embed/>
                  <p:pic>
                    <p:nvPicPr>
                      <p:cNvPr id="0" name=""/>
                      <p:cNvPicPr/>
                      <p:nvPr/>
                    </p:nvPicPr>
                    <p:blipFill>
                      <a:blip r:embed="rId5"/>
                      <a:stretch>
                        <a:fillRect/>
                      </a:stretch>
                    </p:blipFill>
                    <p:spPr>
                      <a:xfrm>
                        <a:off x="2378075" y="5397500"/>
                        <a:ext cx="3851275" cy="817563"/>
                      </a:xfrm>
                      <a:prstGeom prst="rect">
                        <a:avLst/>
                      </a:prstGeom>
                    </p:spPr>
                  </p:pic>
                </p:oleObj>
              </mc:Fallback>
            </mc:AlternateContent>
          </a:graphicData>
        </a:graphic>
      </p:graphicFrame>
      <p:sp>
        <p:nvSpPr>
          <p:cNvPr id="6" name="TextBox 5"/>
          <p:cNvSpPr txBox="1"/>
          <p:nvPr/>
        </p:nvSpPr>
        <p:spPr>
          <a:xfrm>
            <a:off x="190500" y="5384800"/>
            <a:ext cx="2137530" cy="830997"/>
          </a:xfrm>
          <a:prstGeom prst="rect">
            <a:avLst/>
          </a:prstGeom>
          <a:noFill/>
        </p:spPr>
        <p:txBody>
          <a:bodyPr wrap="square" rtlCol="0">
            <a:spAutoFit/>
          </a:bodyPr>
          <a:lstStyle/>
          <a:p>
            <a:r>
              <a:rPr lang="zh-CN" altLang="en-US" sz="2400" b="1" smtClean="0"/>
              <a:t>根据法拉第电磁感应定律：</a:t>
            </a:r>
            <a:endParaRPr lang="zh-CN" altLang="en-US" sz="2400" b="1"/>
          </a:p>
        </p:txBody>
      </p:sp>
      <p:graphicFrame>
        <p:nvGraphicFramePr>
          <p:cNvPr id="7" name="对象 6"/>
          <p:cNvGraphicFramePr>
            <a:graphicFrameLocks noChangeAspect="1"/>
          </p:cNvGraphicFramePr>
          <p:nvPr>
            <p:extLst>
              <p:ext uri="{D42A27DB-BD31-4B8C-83A1-F6EECF244321}">
                <p14:modId xmlns:p14="http://schemas.microsoft.com/office/powerpoint/2010/main" val="360690794"/>
              </p:ext>
            </p:extLst>
          </p:nvPr>
        </p:nvGraphicFramePr>
        <p:xfrm>
          <a:off x="7708900" y="5272822"/>
          <a:ext cx="1943100" cy="942975"/>
        </p:xfrm>
        <a:graphic>
          <a:graphicData uri="http://schemas.openxmlformats.org/presentationml/2006/ole">
            <mc:AlternateContent xmlns:mc="http://schemas.openxmlformats.org/markup-compatibility/2006">
              <mc:Choice xmlns:v="urn:schemas-microsoft-com:vml" Requires="v">
                <p:oleObj spid="_x0000_s20614" name="Equation" r:id="rId6" imgW="863280" imgH="419040" progId="Equation.DSMT4">
                  <p:embed/>
                </p:oleObj>
              </mc:Choice>
              <mc:Fallback>
                <p:oleObj name="Equation" r:id="rId6" imgW="863280" imgH="419040" progId="Equation.DSMT4">
                  <p:embed/>
                  <p:pic>
                    <p:nvPicPr>
                      <p:cNvPr id="0" name=""/>
                      <p:cNvPicPr/>
                      <p:nvPr/>
                    </p:nvPicPr>
                    <p:blipFill>
                      <a:blip r:embed="rId7"/>
                      <a:stretch>
                        <a:fillRect/>
                      </a:stretch>
                    </p:blipFill>
                    <p:spPr>
                      <a:xfrm>
                        <a:off x="7708900" y="5272822"/>
                        <a:ext cx="1943100" cy="942975"/>
                      </a:xfrm>
                      <a:prstGeom prst="rect">
                        <a:avLst/>
                      </a:prstGeom>
                    </p:spPr>
                  </p:pic>
                </p:oleObj>
              </mc:Fallback>
            </mc:AlternateContent>
          </a:graphicData>
        </a:graphic>
      </p:graphicFrame>
    </p:spTree>
    <p:extLst>
      <p:ext uri="{BB962C8B-B14F-4D97-AF65-F5344CB8AC3E}">
        <p14:creationId xmlns:p14="http://schemas.microsoft.com/office/powerpoint/2010/main" val="98655681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descr="gia12141_20_17"/>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8053"/>
          <a:stretch/>
        </p:blipFill>
        <p:spPr bwMode="auto">
          <a:xfrm>
            <a:off x="623392" y="1916832"/>
            <a:ext cx="5664629" cy="1923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文本框 2"/>
          <p:cNvSpPr txBox="1"/>
          <p:nvPr/>
        </p:nvSpPr>
        <p:spPr>
          <a:xfrm>
            <a:off x="38944" y="-24787"/>
            <a:ext cx="11952651" cy="1169551"/>
          </a:xfrm>
          <a:prstGeom prst="rect">
            <a:avLst/>
          </a:prstGeom>
          <a:noFill/>
        </p:spPr>
        <p:txBody>
          <a:bodyPr wrap="square" rtlCol="0">
            <a:spAutoFit/>
          </a:bodyPr>
          <a:lstStyle/>
          <a:p>
            <a:pPr>
              <a:lnSpc>
                <a:spcPct val="125000"/>
              </a:lnSpc>
            </a:pPr>
            <a:r>
              <a:rPr lang="zh-CN" altLang="en-US" sz="2800" b="1" dirty="0" smtClean="0">
                <a:latin typeface="Times New Roman" panose="02020603050405020304" pitchFamily="18" charset="0"/>
                <a:cs typeface="Times New Roman" panose="02020603050405020304" pitchFamily="18" charset="0"/>
              </a:rPr>
              <a:t>例</a:t>
            </a:r>
            <a:r>
              <a:rPr lang="en-US" altLang="zh-CN" sz="2800" b="1" dirty="0" smtClean="0">
                <a:latin typeface="Times New Roman" panose="02020603050405020304" pitchFamily="18" charset="0"/>
                <a:cs typeface="Times New Roman" panose="02020603050405020304" pitchFamily="18" charset="0"/>
              </a:rPr>
              <a:t>20.6  </a:t>
            </a:r>
            <a:r>
              <a:rPr lang="zh-CN" altLang="en-US" sz="2800" b="1" dirty="0" smtClean="0">
                <a:latin typeface="Times New Roman" panose="02020603050405020304" pitchFamily="18" charset="0"/>
                <a:cs typeface="Times New Roman" panose="02020603050405020304" pitchFamily="18" charset="0"/>
              </a:rPr>
              <a:t>一个圆线圈向着条形磁铁匀速运动。线圈通过磁铁并继续向远离它的另一侧运动。利用楞次定律求该线圈在位置</a:t>
            </a:r>
            <a:r>
              <a:rPr lang="en-US" altLang="zh-CN" sz="2800" b="1" dirty="0" smtClean="0">
                <a:latin typeface="Times New Roman" panose="02020603050405020304" pitchFamily="18" charset="0"/>
                <a:cs typeface="Times New Roman" panose="02020603050405020304" pitchFamily="18" charset="0"/>
              </a:rPr>
              <a:t>1</a:t>
            </a:r>
            <a:r>
              <a:rPr lang="zh-CN" altLang="en-US" sz="2800" b="1" dirty="0" smtClean="0">
                <a:latin typeface="Times New Roman" panose="02020603050405020304" pitchFamily="18" charset="0"/>
                <a:cs typeface="Times New Roman" panose="02020603050405020304" pitchFamily="18" charset="0"/>
              </a:rPr>
              <a:t>和位置</a:t>
            </a:r>
            <a:r>
              <a:rPr lang="en-US" altLang="zh-CN" sz="2800" b="1" dirty="0" smtClean="0">
                <a:latin typeface="Times New Roman" panose="02020603050405020304" pitchFamily="18" charset="0"/>
                <a:cs typeface="Times New Roman" panose="02020603050405020304" pitchFamily="18" charset="0"/>
              </a:rPr>
              <a:t>2</a:t>
            </a:r>
            <a:r>
              <a:rPr lang="zh-CN" altLang="en-US" sz="2800" b="1" dirty="0" smtClean="0">
                <a:latin typeface="Times New Roman" panose="02020603050405020304" pitchFamily="18" charset="0"/>
                <a:cs typeface="Times New Roman" panose="02020603050405020304" pitchFamily="18" charset="0"/>
              </a:rPr>
              <a:t>时的电流方向。</a:t>
            </a:r>
            <a:endParaRPr lang="zh-CN" altLang="en-US" sz="2800" b="1" dirty="0">
              <a:latin typeface="Times New Roman" panose="02020603050405020304" pitchFamily="18" charset="0"/>
              <a:cs typeface="Times New Roman" panose="02020603050405020304" pitchFamily="18" charset="0"/>
            </a:endParaRPr>
          </a:p>
        </p:txBody>
      </p:sp>
      <p:pic>
        <p:nvPicPr>
          <p:cNvPr id="4" name="Picture 3" descr="gia12141_20_20"/>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b="6895"/>
          <a:stretch/>
        </p:blipFill>
        <p:spPr bwMode="auto">
          <a:xfrm>
            <a:off x="335360" y="4221088"/>
            <a:ext cx="6393517" cy="2232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文本框 4"/>
          <p:cNvSpPr txBox="1"/>
          <p:nvPr/>
        </p:nvSpPr>
        <p:spPr>
          <a:xfrm>
            <a:off x="6630762" y="2420888"/>
            <a:ext cx="3791423" cy="523220"/>
          </a:xfrm>
          <a:prstGeom prst="rect">
            <a:avLst/>
          </a:prstGeom>
          <a:noFill/>
        </p:spPr>
        <p:txBody>
          <a:bodyPr wrap="none" rtlCol="0">
            <a:spAutoFit/>
          </a:bodyPr>
          <a:lstStyle/>
          <a:p>
            <a:r>
              <a:rPr lang="zh-CN" altLang="en-US" sz="2800" b="1" dirty="0" smtClean="0"/>
              <a:t>利用磁通量的变化来求</a:t>
            </a:r>
            <a:endParaRPr lang="zh-CN" altLang="en-US" sz="2800" b="1" dirty="0"/>
          </a:p>
        </p:txBody>
      </p:sp>
      <p:sp>
        <p:nvSpPr>
          <p:cNvPr id="6" name="文本框 5"/>
          <p:cNvSpPr txBox="1"/>
          <p:nvPr/>
        </p:nvSpPr>
        <p:spPr>
          <a:xfrm>
            <a:off x="6096000" y="4769804"/>
            <a:ext cx="6077448" cy="954107"/>
          </a:xfrm>
          <a:prstGeom prst="rect">
            <a:avLst/>
          </a:prstGeom>
          <a:noFill/>
        </p:spPr>
        <p:txBody>
          <a:bodyPr wrap="square" rtlCol="0">
            <a:spAutoFit/>
          </a:bodyPr>
          <a:lstStyle/>
          <a:p>
            <a:r>
              <a:rPr lang="zh-CN" altLang="en-US" sz="2800" b="1" dirty="0" smtClean="0"/>
              <a:t>将电流环看做是一个磁偶极子，且是一个小的条形磁铁</a:t>
            </a:r>
            <a:endParaRPr lang="zh-CN" altLang="en-US" sz="2800" b="1"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22500" y="2133600"/>
            <a:ext cx="5283200" cy="707886"/>
          </a:xfrm>
          <a:prstGeom prst="rect">
            <a:avLst/>
          </a:prstGeom>
          <a:noFill/>
        </p:spPr>
        <p:txBody>
          <a:bodyPr wrap="square" rtlCol="0">
            <a:spAutoFit/>
          </a:bodyPr>
          <a:lstStyle/>
          <a:p>
            <a:r>
              <a:rPr lang="zh-CN" altLang="en-US" sz="4000" b="1" smtClean="0"/>
              <a:t>作业：计算题</a:t>
            </a:r>
            <a:r>
              <a:rPr lang="en-US" altLang="zh-CN" sz="4000" b="1" smtClean="0"/>
              <a:t>7</a:t>
            </a:r>
            <a:r>
              <a:rPr lang="zh-CN" altLang="en-US" sz="4000" b="1" smtClean="0"/>
              <a:t>，</a:t>
            </a:r>
            <a:r>
              <a:rPr lang="en-US" altLang="zh-CN" sz="4000" b="1" smtClean="0"/>
              <a:t>8</a:t>
            </a:r>
            <a:r>
              <a:rPr lang="zh-CN" altLang="en-US" sz="4000" b="1" smtClean="0"/>
              <a:t>，</a:t>
            </a:r>
            <a:r>
              <a:rPr lang="en-US" altLang="zh-CN" sz="4000" b="1" smtClean="0"/>
              <a:t>9</a:t>
            </a:r>
            <a:endParaRPr lang="zh-CN" altLang="en-US" sz="4000" b="1"/>
          </a:p>
        </p:txBody>
      </p:sp>
    </p:spTree>
    <p:extLst>
      <p:ext uri="{BB962C8B-B14F-4D97-AF65-F5344CB8AC3E}">
        <p14:creationId xmlns:p14="http://schemas.microsoft.com/office/powerpoint/2010/main" val="313367302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3771" y="62056"/>
            <a:ext cx="10010899" cy="66663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5960260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2418</TotalTime>
  <Words>1155</Words>
  <Application>Microsoft Office PowerPoint</Application>
  <PresentationFormat>宽屏</PresentationFormat>
  <Paragraphs>110</Paragraphs>
  <Slides>27</Slides>
  <Notes>5</Notes>
  <HiddenSlides>9</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2</vt:i4>
      </vt:variant>
      <vt:variant>
        <vt:lpstr>幻灯片标题</vt:lpstr>
      </vt:variant>
      <vt:variant>
        <vt:i4>27</vt:i4>
      </vt:variant>
    </vt:vector>
  </HeadingPairs>
  <TitlesOfParts>
    <vt:vector size="42" baseType="lpstr">
      <vt:lpstr>Arial Unicode MS</vt:lpstr>
      <vt:lpstr>Heiti SC Light</vt:lpstr>
      <vt:lpstr>黑体</vt:lpstr>
      <vt:lpstr>黑体</vt:lpstr>
      <vt:lpstr>楷体_GB2312</vt:lpstr>
      <vt:lpstr>宋体</vt:lpstr>
      <vt:lpstr>Arial</vt:lpstr>
      <vt:lpstr>Arial</vt:lpstr>
      <vt:lpstr>Calibri</vt:lpstr>
      <vt:lpstr>Calibri Light</vt:lpstr>
      <vt:lpstr>Symbol</vt:lpstr>
      <vt:lpstr>Times New Roman</vt:lpstr>
      <vt:lpstr>Office 主题</vt:lpstr>
      <vt:lpstr>Equation</vt:lpstr>
      <vt:lpstr>公式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Www.SangSan.Cn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桑三博客</dc:creator>
  <cp:lastModifiedBy>hsl</cp:lastModifiedBy>
  <cp:revision>187</cp:revision>
  <dcterms:created xsi:type="dcterms:W3CDTF">2017-10-22T09:48:47Z</dcterms:created>
  <dcterms:modified xsi:type="dcterms:W3CDTF">2021-06-27T22:36:11Z</dcterms:modified>
</cp:coreProperties>
</file>