
<file path=[Content_Types].xml><?xml version="1.0" encoding="utf-8"?>
<Types xmlns="http://schemas.openxmlformats.org/package/2006/content-types">
  <Default Extension="png" ContentType="image/png"/>
  <Default Extension="bin" ContentType="application/vnd.openxmlformats-officedocument.oleObject"/>
  <Default Extension="tmp" ContentType="image/png"/>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7" r:id="rId2"/>
    <p:sldId id="258" r:id="rId3"/>
    <p:sldId id="271" r:id="rId4"/>
    <p:sldId id="274" r:id="rId5"/>
    <p:sldId id="275" r:id="rId6"/>
    <p:sldId id="278" r:id="rId7"/>
    <p:sldId id="259" r:id="rId8"/>
    <p:sldId id="272" r:id="rId9"/>
    <p:sldId id="277" r:id="rId10"/>
    <p:sldId id="260" r:id="rId11"/>
    <p:sldId id="273" r:id="rId12"/>
    <p:sldId id="261" r:id="rId13"/>
    <p:sldId id="262" r:id="rId14"/>
    <p:sldId id="263" r:id="rId15"/>
    <p:sldId id="264" r:id="rId16"/>
    <p:sldId id="265" r:id="rId17"/>
    <p:sldId id="266" r:id="rId18"/>
    <p:sldId id="267" r:id="rId19"/>
    <p:sldId id="268" r:id="rId20"/>
    <p:sldId id="276"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775" autoAdjust="0"/>
  </p:normalViewPr>
  <p:slideViewPr>
    <p:cSldViewPr snapToGrid="0">
      <p:cViewPr varScale="1">
        <p:scale>
          <a:sx n="86" d="100"/>
          <a:sy n="86" d="100"/>
        </p:scale>
        <p:origin x="708" y="9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DA8BD25-5BB0-4970-9BC8-A867E97BBE06}" type="datetimeFigureOut">
              <a:rPr lang="zh-CN" altLang="en-US" smtClean="0"/>
              <a:t>2021/5/16</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0AC87C1-8720-44BC-97C4-3E56FDE22118}" type="slidenum">
              <a:rPr lang="zh-CN" altLang="en-US" smtClean="0"/>
              <a:t>‹#›</a:t>
            </a:fld>
            <a:endParaRPr lang="zh-CN" altLang="en-US"/>
          </a:p>
        </p:txBody>
      </p:sp>
    </p:spTree>
    <p:extLst>
      <p:ext uri="{BB962C8B-B14F-4D97-AF65-F5344CB8AC3E}">
        <p14:creationId xmlns:p14="http://schemas.microsoft.com/office/powerpoint/2010/main" val="4175846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答案：</a:t>
            </a:r>
            <a:r>
              <a:rPr lang="en-US" altLang="zh-CN" smtClean="0"/>
              <a:t>C</a:t>
            </a:r>
          </a:p>
          <a:p>
            <a:endParaRPr lang="zh-CN" altLang="en-US"/>
          </a:p>
        </p:txBody>
      </p:sp>
      <p:sp>
        <p:nvSpPr>
          <p:cNvPr id="4" name="灯片编号占位符 3"/>
          <p:cNvSpPr>
            <a:spLocks noGrp="1"/>
          </p:cNvSpPr>
          <p:nvPr>
            <p:ph type="sldNum" sz="quarter" idx="10"/>
          </p:nvPr>
        </p:nvSpPr>
        <p:spPr/>
        <p:txBody>
          <a:bodyPr/>
          <a:lstStyle/>
          <a:p>
            <a:fld id="{96CF16E5-AA14-4893-9889-6F733FB9C82D}" type="slidenum">
              <a:rPr lang="zh-CN" altLang="en-US" smtClean="0"/>
              <a:t>5</a:t>
            </a:fld>
            <a:endParaRPr lang="zh-CN" altLang="en-US"/>
          </a:p>
        </p:txBody>
      </p:sp>
    </p:spTree>
    <p:extLst>
      <p:ext uri="{BB962C8B-B14F-4D97-AF65-F5344CB8AC3E}">
        <p14:creationId xmlns:p14="http://schemas.microsoft.com/office/powerpoint/2010/main" val="38178937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AC87C1-8720-44BC-97C4-3E56FDE22118}" type="slidenum">
              <a:rPr lang="zh-CN" altLang="en-US" smtClean="0"/>
              <a:t>20</a:t>
            </a:fld>
            <a:endParaRPr lang="zh-CN" altLang="en-US"/>
          </a:p>
        </p:txBody>
      </p:sp>
    </p:spTree>
    <p:extLst>
      <p:ext uri="{BB962C8B-B14F-4D97-AF65-F5344CB8AC3E}">
        <p14:creationId xmlns:p14="http://schemas.microsoft.com/office/powerpoint/2010/main" val="1562861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C389F43E-6A00-409D-9E79-CE23F37409A4}" type="datetimeFigureOut">
              <a:rPr lang="zh-CN" altLang="en-US" smtClean="0"/>
              <a:pPr/>
              <a:t>2021/5/16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8808874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389F43E-6A00-409D-9E79-CE23F37409A4}" type="datetimeFigureOut">
              <a:rPr lang="zh-CN" altLang="en-US" smtClean="0"/>
              <a:pPr/>
              <a:t>2021/5/16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2916785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C389F43E-6A00-409D-9E79-CE23F37409A4}" type="datetimeFigureOut">
              <a:rPr lang="zh-CN" altLang="en-US" smtClean="0"/>
              <a:pPr/>
              <a:t>2021/5/16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2530350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C389F43E-6A00-409D-9E79-CE23F37409A4}" type="datetimeFigureOut">
              <a:rPr lang="zh-CN" altLang="en-US" smtClean="0"/>
              <a:pPr/>
              <a:t>2021/5/16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20708593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C389F43E-6A00-409D-9E79-CE23F37409A4}" type="datetimeFigureOut">
              <a:rPr lang="zh-CN" altLang="en-US" smtClean="0"/>
              <a:pPr/>
              <a:t>2021/5/16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40873647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C389F43E-6A00-409D-9E79-CE23F37409A4}" type="datetimeFigureOut">
              <a:rPr lang="zh-CN" altLang="en-US" smtClean="0"/>
              <a:pPr/>
              <a:t>2021/5/16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2246052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389F43E-6A00-409D-9E79-CE23F37409A4}" type="datetimeFigureOut">
              <a:rPr lang="zh-CN" altLang="en-US" smtClean="0"/>
              <a:pPr/>
              <a:t>2021/5/16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47769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C389F43E-6A00-409D-9E79-CE23F37409A4}" type="datetimeFigureOut">
              <a:rPr lang="zh-CN" altLang="en-US" smtClean="0"/>
              <a:pPr/>
              <a:t>2021/5/16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3054760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C389F43E-6A00-409D-9E79-CE23F37409A4}" type="datetimeFigureOut">
              <a:rPr lang="zh-CN" altLang="en-US" smtClean="0"/>
              <a:pPr/>
              <a:t>2021/5/16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26945556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389F43E-6A00-409D-9E79-CE23F37409A4}" type="datetimeFigureOut">
              <a:rPr lang="zh-CN" altLang="en-US" smtClean="0"/>
              <a:pPr/>
              <a:t>2021/5/16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39418436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389F43E-6A00-409D-9E79-CE23F37409A4}" type="datetimeFigureOut">
              <a:rPr lang="zh-CN" altLang="en-US" smtClean="0"/>
              <a:pPr/>
              <a:t>2021/5/16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4232170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89F43E-6A00-409D-9E79-CE23F37409A4}" type="datetimeFigureOut">
              <a:rPr lang="zh-CN" altLang="en-US" smtClean="0"/>
              <a:pPr/>
              <a:t>2021/5/16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7358308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5.wmf"/><Relationship Id="rId5" Type="http://schemas.openxmlformats.org/officeDocument/2006/relationships/oleObject" Target="../embeddings/oleObject1.bin"/><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9.wmf"/><Relationship Id="rId5" Type="http://schemas.openxmlformats.org/officeDocument/2006/relationships/oleObject" Target="../embeddings/oleObject2.bin"/><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tags" Target="../tags/tag7.xml"/><Relationship Id="rId13" Type="http://schemas.openxmlformats.org/officeDocument/2006/relationships/tags" Target="../tags/tag12.xml"/><Relationship Id="rId18" Type="http://schemas.openxmlformats.org/officeDocument/2006/relationships/tags" Target="../tags/tag17.xml"/><Relationship Id="rId3" Type="http://schemas.openxmlformats.org/officeDocument/2006/relationships/tags" Target="../tags/tag2.xml"/><Relationship Id="rId21" Type="http://schemas.openxmlformats.org/officeDocument/2006/relationships/oleObject" Target="../embeddings/oleObject2.bin"/><Relationship Id="rId7" Type="http://schemas.openxmlformats.org/officeDocument/2006/relationships/tags" Target="../tags/tag6.xml"/><Relationship Id="rId12" Type="http://schemas.openxmlformats.org/officeDocument/2006/relationships/tags" Target="../tags/tag11.xml"/><Relationship Id="rId17" Type="http://schemas.openxmlformats.org/officeDocument/2006/relationships/tags" Target="../tags/tag16.xml"/><Relationship Id="rId2" Type="http://schemas.openxmlformats.org/officeDocument/2006/relationships/tags" Target="../tags/tag1.xml"/><Relationship Id="rId16" Type="http://schemas.openxmlformats.org/officeDocument/2006/relationships/tags" Target="../tags/tag15.xml"/><Relationship Id="rId20" Type="http://schemas.openxmlformats.org/officeDocument/2006/relationships/image" Target="../media/image10.png"/><Relationship Id="rId1" Type="http://schemas.openxmlformats.org/officeDocument/2006/relationships/vmlDrawing" Target="../drawings/vmlDrawing3.vml"/><Relationship Id="rId6" Type="http://schemas.openxmlformats.org/officeDocument/2006/relationships/tags" Target="../tags/tag5.xml"/><Relationship Id="rId11" Type="http://schemas.openxmlformats.org/officeDocument/2006/relationships/tags" Target="../tags/tag10.xml"/><Relationship Id="rId5" Type="http://schemas.openxmlformats.org/officeDocument/2006/relationships/tags" Target="../tags/tag4.xml"/><Relationship Id="rId15" Type="http://schemas.openxmlformats.org/officeDocument/2006/relationships/tags" Target="../tags/tag14.xml"/><Relationship Id="rId23" Type="http://schemas.openxmlformats.org/officeDocument/2006/relationships/image" Target="../media/image11.tmp"/><Relationship Id="rId10" Type="http://schemas.openxmlformats.org/officeDocument/2006/relationships/tags" Target="../tags/tag9.xml"/><Relationship Id="rId19" Type="http://schemas.openxmlformats.org/officeDocument/2006/relationships/slideLayout" Target="../slideLayouts/slideLayout7.xml"/><Relationship Id="rId4" Type="http://schemas.openxmlformats.org/officeDocument/2006/relationships/tags" Target="../tags/tag3.xml"/><Relationship Id="rId9" Type="http://schemas.openxmlformats.org/officeDocument/2006/relationships/tags" Target="../tags/tag8.xml"/><Relationship Id="rId14" Type="http://schemas.openxmlformats.org/officeDocument/2006/relationships/tags" Target="../tags/tag13.xml"/><Relationship Id="rId22" Type="http://schemas.openxmlformats.org/officeDocument/2006/relationships/image" Target="../media/image9.wmf"/></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6.jpeg"/><Relationship Id="rId1" Type="http://schemas.openxmlformats.org/officeDocument/2006/relationships/slideLayout" Target="../slideLayouts/slideLayout2.xml"/><Relationship Id="rId5" Type="http://schemas.openxmlformats.org/officeDocument/2006/relationships/image" Target="../media/image28.jpe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0303" y="47812"/>
            <a:ext cx="5846472" cy="707886"/>
          </a:xfrm>
          <a:prstGeom prst="rect">
            <a:avLst/>
          </a:prstGeom>
          <a:noFill/>
        </p:spPr>
        <p:txBody>
          <a:bodyPr wrap="none" rtlCol="0">
            <a:spAutoFit/>
          </a:bodyPr>
          <a:lstStyle/>
          <a:p>
            <a:r>
              <a:rPr lang="en-US" altLang="zh-CN" sz="4000" b="1" dirty="0" smtClean="0">
                <a:solidFill>
                  <a:srgbClr val="000099"/>
                </a:solidFill>
              </a:rPr>
              <a:t>18.8 </a:t>
            </a:r>
            <a:r>
              <a:rPr lang="zh-CN" altLang="en-US" sz="4000" b="1" dirty="0" smtClean="0">
                <a:solidFill>
                  <a:srgbClr val="000099"/>
                </a:solidFill>
              </a:rPr>
              <a:t>电路中的功率与能量</a:t>
            </a:r>
            <a:endParaRPr lang="zh-CN" altLang="en-US" sz="4000" b="1" dirty="0">
              <a:solidFill>
                <a:srgbClr val="000099"/>
              </a:solidFill>
            </a:endParaRPr>
          </a:p>
        </p:txBody>
      </p:sp>
      <p:sp>
        <p:nvSpPr>
          <p:cNvPr id="5" name="文本框 4"/>
          <p:cNvSpPr txBox="1"/>
          <p:nvPr/>
        </p:nvSpPr>
        <p:spPr>
          <a:xfrm>
            <a:off x="156858" y="2084641"/>
            <a:ext cx="2691849" cy="707886"/>
          </a:xfrm>
          <a:prstGeom prst="rect">
            <a:avLst/>
          </a:prstGeom>
          <a:noFill/>
        </p:spPr>
        <p:txBody>
          <a:bodyPr wrap="square" rtlCol="0">
            <a:spAutoFit/>
          </a:bodyPr>
          <a:lstStyle/>
          <a:p>
            <a:pPr>
              <a:lnSpc>
                <a:spcPct val="125000"/>
              </a:lnSpc>
            </a:pPr>
            <a:r>
              <a:rPr lang="en-US" altLang="zh-CN" sz="3200" b="1" dirty="0" smtClean="0"/>
              <a:t>1. </a:t>
            </a:r>
            <a:r>
              <a:rPr lang="zh-CN" altLang="en-US" sz="3200" b="1" dirty="0" smtClean="0"/>
              <a:t>功率</a:t>
            </a:r>
            <a:endParaRPr lang="zh-CN" altLang="en-US" sz="3200" dirty="0"/>
          </a:p>
        </p:txBody>
      </p:sp>
      <p:sp>
        <p:nvSpPr>
          <p:cNvPr id="6" name="文本框 5"/>
          <p:cNvSpPr txBox="1"/>
          <p:nvPr/>
        </p:nvSpPr>
        <p:spPr>
          <a:xfrm>
            <a:off x="0" y="840426"/>
            <a:ext cx="12011696" cy="584071"/>
          </a:xfrm>
          <a:prstGeom prst="rect">
            <a:avLst/>
          </a:prstGeom>
          <a:noFill/>
        </p:spPr>
        <p:txBody>
          <a:bodyPr wrap="square" rtlCol="0">
            <a:spAutoFit/>
          </a:bodyPr>
          <a:lstStyle/>
          <a:p>
            <a:pPr>
              <a:lnSpc>
                <a:spcPct val="125000"/>
              </a:lnSpc>
            </a:pPr>
            <a:r>
              <a:rPr lang="zh-CN" altLang="en-US" sz="2800" b="1" dirty="0" smtClean="0"/>
              <a:t>当电荷</a:t>
            </a:r>
            <a:r>
              <a:rPr lang="en-US" altLang="zh-CN" sz="2800" b="1" i="1" dirty="0" smtClean="0">
                <a:latin typeface="Times New Roman" panose="02020603050405020304" pitchFamily="18" charset="0"/>
                <a:cs typeface="Times New Roman" panose="02020603050405020304" pitchFamily="18" charset="0"/>
              </a:rPr>
              <a:t>q</a:t>
            </a:r>
            <a:r>
              <a:rPr lang="zh-CN" altLang="en-US" sz="2800" b="1" dirty="0" smtClean="0"/>
              <a:t>经过电势差为</a:t>
            </a:r>
            <a:r>
              <a:rPr lang="el-GR" altLang="zh-CN" sz="2800" b="1" dirty="0" smtClean="0">
                <a:latin typeface="Times New Roman" panose="02020603050405020304" pitchFamily="18" charset="0"/>
                <a:cs typeface="Times New Roman" panose="02020603050405020304" pitchFamily="18" charset="0"/>
              </a:rPr>
              <a:t>Δ</a:t>
            </a:r>
            <a:r>
              <a:rPr lang="en-US" altLang="zh-CN" sz="2800" b="1" i="1" dirty="0" smtClean="0">
                <a:latin typeface="Times New Roman" panose="02020603050405020304" pitchFamily="18" charset="0"/>
                <a:cs typeface="Times New Roman" panose="02020603050405020304" pitchFamily="18" charset="0"/>
              </a:rPr>
              <a:t>V</a:t>
            </a:r>
            <a:r>
              <a:rPr lang="zh-CN" altLang="en-US" sz="2800" b="1" dirty="0" smtClean="0"/>
              <a:t>的两点，其电势能的改变为：</a:t>
            </a:r>
            <a:endParaRPr lang="zh-CN" altLang="en-US" sz="2800" b="1" dirty="0"/>
          </a:p>
        </p:txBody>
      </p:sp>
      <p:pic>
        <p:nvPicPr>
          <p:cNvPr id="7"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65940" y="931369"/>
            <a:ext cx="2599985" cy="664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4" name="组合 13"/>
          <p:cNvGrpSpPr/>
          <p:nvPr/>
        </p:nvGrpSpPr>
        <p:grpSpPr>
          <a:xfrm>
            <a:off x="293078" y="3633725"/>
            <a:ext cx="5049047" cy="1269963"/>
            <a:chOff x="-1" y="3431499"/>
            <a:chExt cx="5049047" cy="1269963"/>
          </a:xfrm>
        </p:grpSpPr>
        <p:pic>
          <p:nvPicPr>
            <p:cNvPr id="9"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89694" y="4125323"/>
              <a:ext cx="1359352" cy="547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文本框 9"/>
            <p:cNvSpPr txBox="1"/>
            <p:nvPr/>
          </p:nvSpPr>
          <p:spPr>
            <a:xfrm>
              <a:off x="-1" y="3431499"/>
              <a:ext cx="3651700" cy="1269963"/>
            </a:xfrm>
            <a:prstGeom prst="rect">
              <a:avLst/>
            </a:prstGeom>
            <a:noFill/>
          </p:spPr>
          <p:txBody>
            <a:bodyPr wrap="square" rtlCol="0">
              <a:spAutoFit/>
            </a:bodyPr>
            <a:lstStyle/>
            <a:p>
              <a:pPr>
                <a:lnSpc>
                  <a:spcPct val="125000"/>
                </a:lnSpc>
              </a:pPr>
              <a:r>
                <a:rPr lang="zh-CN" altLang="en-US" sz="3200" b="1" dirty="0" smtClean="0"/>
                <a:t>电源的功率：</a:t>
              </a:r>
              <a:endParaRPr lang="en-US" altLang="zh-CN" sz="3200" b="1" dirty="0" smtClean="0"/>
            </a:p>
            <a:p>
              <a:pPr>
                <a:lnSpc>
                  <a:spcPct val="125000"/>
                </a:lnSpc>
              </a:pPr>
              <a:r>
                <a:rPr lang="zh-CN" altLang="en-US" sz="3200" b="1" dirty="0" smtClean="0"/>
                <a:t>电池所做的功</a:t>
              </a:r>
              <a:endParaRPr lang="zh-CN" altLang="en-US" sz="3200" b="1" dirty="0"/>
            </a:p>
          </p:txBody>
        </p:sp>
      </p:grpSp>
      <p:sp>
        <p:nvSpPr>
          <p:cNvPr id="11" name="文本框 10"/>
          <p:cNvSpPr txBox="1"/>
          <p:nvPr/>
        </p:nvSpPr>
        <p:spPr>
          <a:xfrm>
            <a:off x="332703" y="5110595"/>
            <a:ext cx="9643636" cy="654410"/>
          </a:xfrm>
          <a:prstGeom prst="rect">
            <a:avLst/>
          </a:prstGeom>
          <a:noFill/>
        </p:spPr>
        <p:txBody>
          <a:bodyPr wrap="square" rtlCol="0">
            <a:spAutoFit/>
          </a:bodyPr>
          <a:lstStyle/>
          <a:p>
            <a:pPr>
              <a:lnSpc>
                <a:spcPct val="125000"/>
              </a:lnSpc>
            </a:pPr>
            <a:r>
              <a:rPr lang="zh-CN" altLang="en-US" sz="3200" b="1" dirty="0" smtClean="0"/>
              <a:t>电源的功率即为其做功的时间变化率：</a:t>
            </a:r>
            <a:endParaRPr lang="en-US" altLang="zh-CN" sz="3200" b="1" dirty="0" smtClean="0"/>
          </a:p>
        </p:txBody>
      </p:sp>
      <p:pic>
        <p:nvPicPr>
          <p:cNvPr id="8"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568879" y="1933624"/>
            <a:ext cx="3600451"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5" name="组合 14"/>
          <p:cNvGrpSpPr/>
          <p:nvPr/>
        </p:nvGrpSpPr>
        <p:grpSpPr>
          <a:xfrm>
            <a:off x="2973447" y="5985946"/>
            <a:ext cx="7964680" cy="762000"/>
            <a:chOff x="4018839" y="5769518"/>
            <a:chExt cx="7964680" cy="762000"/>
          </a:xfrm>
        </p:grpSpPr>
        <p:pic>
          <p:nvPicPr>
            <p:cNvPr id="12"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018839" y="5769518"/>
              <a:ext cx="29527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文本框 12"/>
            <p:cNvSpPr txBox="1"/>
            <p:nvPr/>
          </p:nvSpPr>
          <p:spPr>
            <a:xfrm>
              <a:off x="10239131" y="5888908"/>
              <a:ext cx="1744388" cy="523220"/>
            </a:xfrm>
            <a:prstGeom prst="rect">
              <a:avLst/>
            </a:prstGeom>
            <a:noFill/>
          </p:spPr>
          <p:txBody>
            <a:bodyPr wrap="none" rtlCol="0">
              <a:spAutoFit/>
            </a:bodyPr>
            <a:lstStyle/>
            <a:p>
              <a:r>
                <a:rPr lang="zh-CN" altLang="en-US" sz="2800" dirty="0" smtClean="0"/>
                <a:t>（</a:t>
              </a:r>
              <a:r>
                <a:rPr lang="en-US" altLang="zh-CN" sz="2800" dirty="0" smtClean="0"/>
                <a:t>18-20</a:t>
              </a:r>
              <a:r>
                <a:rPr lang="zh-CN" altLang="en-US" sz="2800" dirty="0" smtClean="0"/>
                <a:t>）</a:t>
              </a:r>
              <a:endParaRPr lang="zh-CN" altLang="en-US" sz="2800" dirty="0"/>
            </a:p>
          </p:txBody>
        </p:sp>
      </p:grpSp>
      <p:sp>
        <p:nvSpPr>
          <p:cNvPr id="16" name="文本框 15"/>
          <p:cNvSpPr txBox="1"/>
          <p:nvPr/>
        </p:nvSpPr>
        <p:spPr>
          <a:xfrm>
            <a:off x="263193" y="3024320"/>
            <a:ext cx="4743606" cy="584775"/>
          </a:xfrm>
          <a:prstGeom prst="rect">
            <a:avLst/>
          </a:prstGeom>
          <a:noFill/>
        </p:spPr>
        <p:txBody>
          <a:bodyPr wrap="none" rtlCol="0">
            <a:spAutoFit/>
          </a:bodyPr>
          <a:lstStyle/>
          <a:p>
            <a:r>
              <a:rPr lang="zh-CN" altLang="en-US" sz="3200" b="1" dirty="0" smtClean="0">
                <a:latin typeface="Times New Roman" panose="02020603050405020304" pitchFamily="18" charset="0"/>
                <a:cs typeface="Times New Roman" panose="02020603050405020304" pitchFamily="18" charset="0"/>
              </a:rPr>
              <a:t>功率的单位：</a:t>
            </a:r>
            <a:r>
              <a:rPr lang="en-US" altLang="zh-CN" sz="3200" b="1" dirty="0" smtClean="0">
                <a:latin typeface="Times New Roman" panose="02020603050405020304" pitchFamily="18" charset="0"/>
                <a:cs typeface="Times New Roman" panose="02020603050405020304" pitchFamily="18" charset="0"/>
              </a:rPr>
              <a:t>J/s=A·V=W</a:t>
            </a:r>
            <a:endParaRPr lang="zh-CN" altLang="en-US" sz="3200" b="1" dirty="0">
              <a:latin typeface="Times New Roman" panose="02020603050405020304" pitchFamily="18" charset="0"/>
              <a:cs typeface="Times New Roman" panose="02020603050405020304" pitchFamily="18" charset="0"/>
            </a:endParaRPr>
          </a:p>
        </p:txBody>
      </p:sp>
      <p:grpSp>
        <p:nvGrpSpPr>
          <p:cNvPr id="21" name="组合 20"/>
          <p:cNvGrpSpPr/>
          <p:nvPr/>
        </p:nvGrpSpPr>
        <p:grpSpPr>
          <a:xfrm>
            <a:off x="6309750" y="2388083"/>
            <a:ext cx="6292557" cy="1869251"/>
            <a:chOff x="6635892" y="2247405"/>
            <a:chExt cx="5626447" cy="1869251"/>
          </a:xfrm>
        </p:grpSpPr>
        <p:grpSp>
          <p:nvGrpSpPr>
            <p:cNvPr id="19" name="组合 18"/>
            <p:cNvGrpSpPr/>
            <p:nvPr/>
          </p:nvGrpSpPr>
          <p:grpSpPr>
            <a:xfrm>
              <a:off x="6717134" y="2700778"/>
              <a:ext cx="5545205" cy="1415878"/>
              <a:chOff x="6636241" y="2919401"/>
              <a:chExt cx="5545205" cy="1415878"/>
            </a:xfrm>
          </p:grpSpPr>
          <p:sp>
            <p:nvSpPr>
              <p:cNvPr id="18" name="圆角矩形 17"/>
              <p:cNvSpPr/>
              <p:nvPr/>
            </p:nvSpPr>
            <p:spPr>
              <a:xfrm>
                <a:off x="6733197" y="2919401"/>
                <a:ext cx="4919730" cy="1415878"/>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17" name="文本框 16"/>
              <p:cNvSpPr txBox="1"/>
              <p:nvPr/>
            </p:nvSpPr>
            <p:spPr>
              <a:xfrm>
                <a:off x="6636241" y="3042493"/>
                <a:ext cx="5545205" cy="1122680"/>
              </a:xfrm>
              <a:prstGeom prst="rect">
                <a:avLst/>
              </a:prstGeom>
              <a:noFill/>
            </p:spPr>
            <p:txBody>
              <a:bodyPr wrap="square" rtlCol="0">
                <a:spAutoFit/>
              </a:bodyPr>
              <a:lstStyle/>
              <a:p>
                <a:pPr>
                  <a:lnSpc>
                    <a:spcPct val="125000"/>
                  </a:lnSpc>
                </a:pPr>
                <a:r>
                  <a:rPr lang="zh-CN" altLang="en-US" sz="2800" b="1" dirty="0" smtClean="0"/>
                  <a:t>任何电器元件的功率都</a:t>
                </a:r>
                <a:endParaRPr lang="en-US" altLang="zh-CN" sz="2800" b="1" dirty="0" smtClean="0"/>
              </a:p>
              <a:p>
                <a:pPr>
                  <a:lnSpc>
                    <a:spcPct val="125000"/>
                  </a:lnSpc>
                </a:pPr>
                <a:r>
                  <a:rPr lang="zh-CN" altLang="en-US" sz="2800" b="1" dirty="0" smtClean="0"/>
                  <a:t>等于电流和电势差的乘积。</a:t>
                </a:r>
                <a:endParaRPr lang="zh-CN" altLang="en-US" sz="2800" b="1" dirty="0"/>
              </a:p>
            </p:txBody>
          </p:sp>
        </p:grpSp>
        <p:sp>
          <p:nvSpPr>
            <p:cNvPr id="20" name="右箭头 19"/>
            <p:cNvSpPr/>
            <p:nvPr/>
          </p:nvSpPr>
          <p:spPr>
            <a:xfrm rot="2256248">
              <a:off x="6635892" y="2247405"/>
              <a:ext cx="620026" cy="434014"/>
            </a:xfrm>
            <a:prstGeom prst="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grpSp>
      <p:sp>
        <p:nvSpPr>
          <p:cNvPr id="2" name="TextBox 1"/>
          <p:cNvSpPr txBox="1"/>
          <p:nvPr/>
        </p:nvSpPr>
        <p:spPr>
          <a:xfrm>
            <a:off x="6509045" y="1933624"/>
            <a:ext cx="5093147" cy="461665"/>
          </a:xfrm>
          <a:prstGeom prst="rect">
            <a:avLst/>
          </a:prstGeom>
          <a:noFill/>
        </p:spPr>
        <p:txBody>
          <a:bodyPr wrap="square" rtlCol="0">
            <a:spAutoFit/>
          </a:bodyPr>
          <a:lstStyle/>
          <a:p>
            <a:r>
              <a:rPr lang="zh-CN" altLang="en-US" sz="2400" b="1" dirty="0" smtClean="0">
                <a:solidFill>
                  <a:srgbClr val="FF0000"/>
                </a:solidFill>
              </a:rPr>
              <a:t>能量转化的时间变化率就是功率</a:t>
            </a:r>
            <a:r>
              <a:rPr lang="en-US" altLang="zh-CN" sz="2400" b="1" dirty="0" smtClean="0">
                <a:solidFill>
                  <a:srgbClr val="FF0000"/>
                </a:solidFill>
              </a:rPr>
              <a:t>P</a:t>
            </a:r>
            <a:r>
              <a:rPr lang="zh-CN" altLang="en-US" sz="2400" b="1" dirty="0" smtClean="0">
                <a:solidFill>
                  <a:srgbClr val="FF0000"/>
                </a:solidFill>
              </a:rPr>
              <a:t>。</a:t>
            </a:r>
            <a:endParaRPr lang="zh-CN" altLang="en-US" sz="2400" b="1" dirty="0">
              <a:solidFill>
                <a:srgbClr val="FF0000"/>
              </a:solidFill>
            </a:endParaRPr>
          </a:p>
        </p:txBody>
      </p:sp>
    </p:spTree>
    <p:extLst>
      <p:ext uri="{BB962C8B-B14F-4D97-AF65-F5344CB8AC3E}">
        <p14:creationId xmlns:p14="http://schemas.microsoft.com/office/powerpoint/2010/main" val="2281807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P spid="1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35733" y="3193496"/>
            <a:ext cx="11320531" cy="1485407"/>
          </a:xfrm>
          <a:prstGeom prst="rect">
            <a:avLst/>
          </a:prstGeom>
          <a:noFill/>
        </p:spPr>
        <p:txBody>
          <a:bodyPr wrap="square" rtlCol="0">
            <a:spAutoFit/>
          </a:bodyPr>
          <a:lstStyle/>
          <a:p>
            <a:pPr>
              <a:lnSpc>
                <a:spcPct val="150000"/>
              </a:lnSpc>
            </a:pPr>
            <a:r>
              <a:rPr lang="zh-CN" altLang="en-US" sz="3200" b="1" dirty="0" smtClean="0"/>
              <a:t>单位时间耗散（有规则运动的能量转变为无规则运动的能量）在电阻上的能量可表示为                                             </a:t>
            </a:r>
            <a:endParaRPr lang="zh-CN" altLang="en-US" sz="3200" b="1" dirty="0"/>
          </a:p>
        </p:txBody>
      </p:sp>
      <p:sp>
        <p:nvSpPr>
          <p:cNvPr id="4" name="文本框 3"/>
          <p:cNvSpPr txBox="1"/>
          <p:nvPr/>
        </p:nvSpPr>
        <p:spPr>
          <a:xfrm>
            <a:off x="218941" y="161478"/>
            <a:ext cx="5877059" cy="654410"/>
          </a:xfrm>
          <a:prstGeom prst="rect">
            <a:avLst/>
          </a:prstGeom>
          <a:noFill/>
        </p:spPr>
        <p:txBody>
          <a:bodyPr wrap="square" rtlCol="0">
            <a:spAutoFit/>
          </a:bodyPr>
          <a:lstStyle/>
          <a:p>
            <a:pPr>
              <a:lnSpc>
                <a:spcPct val="125000"/>
              </a:lnSpc>
            </a:pPr>
            <a:r>
              <a:rPr lang="en-US" altLang="zh-CN" sz="3200" b="1" dirty="0" smtClean="0">
                <a:solidFill>
                  <a:srgbClr val="000099"/>
                </a:solidFill>
              </a:rPr>
              <a:t>2. </a:t>
            </a:r>
            <a:r>
              <a:rPr lang="zh-CN" altLang="en-US" sz="3200" b="1" dirty="0" smtClean="0">
                <a:solidFill>
                  <a:srgbClr val="000099"/>
                </a:solidFill>
              </a:rPr>
              <a:t>电阻器消耗的功率</a:t>
            </a:r>
            <a:endParaRPr lang="zh-CN" altLang="en-US" sz="3200" dirty="0">
              <a:solidFill>
                <a:srgbClr val="000099"/>
              </a:solidFill>
            </a:endParaRPr>
          </a:p>
        </p:txBody>
      </p:sp>
      <p:pic>
        <p:nvPicPr>
          <p:cNvPr id="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30577" y="4901429"/>
            <a:ext cx="3101487" cy="637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24155" y="4767031"/>
            <a:ext cx="2333625" cy="77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文本框 9"/>
          <p:cNvSpPr txBox="1"/>
          <p:nvPr/>
        </p:nvSpPr>
        <p:spPr>
          <a:xfrm>
            <a:off x="301783" y="904929"/>
            <a:ext cx="11320531" cy="2308324"/>
          </a:xfrm>
          <a:prstGeom prst="rect">
            <a:avLst/>
          </a:prstGeom>
          <a:noFill/>
        </p:spPr>
        <p:txBody>
          <a:bodyPr wrap="square" rtlCol="0">
            <a:spAutoFit/>
          </a:bodyPr>
          <a:lstStyle/>
          <a:p>
            <a:pPr>
              <a:lnSpc>
                <a:spcPct val="150000"/>
              </a:lnSpc>
            </a:pPr>
            <a:r>
              <a:rPr lang="zh-CN" altLang="en-US" sz="3200" b="1" dirty="0" smtClean="0"/>
              <a:t>电流流过导线的净效果实际上是电动势提供的能量转变为金属原子的振动能量。原子的振动能量是金属内能的一部分，因此金属的温度会增高。</a:t>
            </a:r>
            <a:endParaRPr lang="zh-CN" altLang="en-US" sz="3200" b="1" dirty="0"/>
          </a:p>
        </p:txBody>
      </p:sp>
      <p:graphicFrame>
        <p:nvGraphicFramePr>
          <p:cNvPr id="2" name="对象 1"/>
          <p:cNvGraphicFramePr>
            <a:graphicFrameLocks noChangeAspect="1"/>
          </p:cNvGraphicFramePr>
          <p:nvPr>
            <p:extLst>
              <p:ext uri="{D42A27DB-BD31-4B8C-83A1-F6EECF244321}">
                <p14:modId xmlns:p14="http://schemas.microsoft.com/office/powerpoint/2010/main" val="2506738677"/>
              </p:ext>
            </p:extLst>
          </p:nvPr>
        </p:nvGraphicFramePr>
        <p:xfrm>
          <a:off x="669801" y="4901429"/>
          <a:ext cx="2025732" cy="616527"/>
        </p:xfrm>
        <a:graphic>
          <a:graphicData uri="http://schemas.openxmlformats.org/presentationml/2006/ole">
            <mc:AlternateContent xmlns:mc="http://schemas.openxmlformats.org/markup-compatibility/2006">
              <mc:Choice xmlns:v="urn:schemas-microsoft-com:vml" Requires="v">
                <p:oleObj spid="_x0000_s1081" name="Equation" r:id="rId5" imgW="583920" imgH="177480" progId="Equation.DSMT4">
                  <p:embed/>
                </p:oleObj>
              </mc:Choice>
              <mc:Fallback>
                <p:oleObj name="Equation" r:id="rId5" imgW="583920" imgH="177480" progId="Equation.DSMT4">
                  <p:embed/>
                  <p:pic>
                    <p:nvPicPr>
                      <p:cNvPr id="0" name=""/>
                      <p:cNvPicPr/>
                      <p:nvPr/>
                    </p:nvPicPr>
                    <p:blipFill>
                      <a:blip r:embed="rId6"/>
                      <a:stretch>
                        <a:fillRect/>
                      </a:stretch>
                    </p:blipFill>
                    <p:spPr>
                      <a:xfrm>
                        <a:off x="669801" y="4901429"/>
                        <a:ext cx="2025732" cy="616527"/>
                      </a:xfrm>
                      <a:prstGeom prst="rect">
                        <a:avLst/>
                      </a:prstGeom>
                    </p:spPr>
                  </p:pic>
                </p:oleObj>
              </mc:Fallback>
            </mc:AlternateContent>
          </a:graphicData>
        </a:graphic>
      </p:graphicFrame>
    </p:spTree>
    <p:extLst>
      <p:ext uri="{BB962C8B-B14F-4D97-AF65-F5344CB8AC3E}">
        <p14:creationId xmlns:p14="http://schemas.microsoft.com/office/powerpoint/2010/main" val="2831380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76135" y="4173797"/>
            <a:ext cx="1951512" cy="584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10"/>
          <p:cNvSpPr txBox="1"/>
          <p:nvPr/>
        </p:nvSpPr>
        <p:spPr>
          <a:xfrm>
            <a:off x="503708" y="1195008"/>
            <a:ext cx="11320531" cy="2224070"/>
          </a:xfrm>
          <a:prstGeom prst="rect">
            <a:avLst/>
          </a:prstGeom>
          <a:noFill/>
        </p:spPr>
        <p:txBody>
          <a:bodyPr wrap="square" rtlCol="0">
            <a:spAutoFit/>
          </a:bodyPr>
          <a:lstStyle/>
          <a:p>
            <a:pPr>
              <a:lnSpc>
                <a:spcPct val="150000"/>
              </a:lnSpc>
            </a:pPr>
            <a:r>
              <a:rPr lang="zh-CN" altLang="en-US" sz="3200" b="1" dirty="0" smtClean="0"/>
              <a:t>电阻器耗散电能的应用：在电加热器</a:t>
            </a:r>
            <a:r>
              <a:rPr lang="en-US" altLang="zh-CN" sz="3200" b="1" dirty="0" smtClean="0"/>
              <a:t>----</a:t>
            </a:r>
            <a:r>
              <a:rPr lang="zh-CN" altLang="en-US" sz="3200" b="1" dirty="0" smtClean="0"/>
              <a:t>电取暖炉、电烤炉、电烘箱、烤面包机、电吹风机、烘干机，以及白炽灯等，耗散的能量及电阻器相应的温度升高都得到了很好的应用。</a:t>
            </a:r>
            <a:endParaRPr lang="zh-CN" altLang="en-US" sz="3200" b="1" dirty="0"/>
          </a:p>
        </p:txBody>
      </p:sp>
      <p:sp>
        <p:nvSpPr>
          <p:cNvPr id="4" name="文本框 11"/>
          <p:cNvSpPr txBox="1"/>
          <p:nvPr/>
        </p:nvSpPr>
        <p:spPr>
          <a:xfrm>
            <a:off x="598711" y="4050321"/>
            <a:ext cx="5415147" cy="707886"/>
          </a:xfrm>
          <a:prstGeom prst="rect">
            <a:avLst/>
          </a:prstGeom>
          <a:noFill/>
        </p:spPr>
        <p:txBody>
          <a:bodyPr wrap="square" rtlCol="0">
            <a:spAutoFit/>
          </a:bodyPr>
          <a:lstStyle/>
          <a:p>
            <a:pPr>
              <a:lnSpc>
                <a:spcPct val="125000"/>
              </a:lnSpc>
            </a:pPr>
            <a:r>
              <a:rPr lang="zh-CN" altLang="en-US" sz="3200" b="1" dirty="0" smtClean="0"/>
              <a:t>有内阻的电源提供的功率</a:t>
            </a:r>
            <a:endParaRPr lang="zh-CN" altLang="en-US" sz="3200" b="1" dirty="0"/>
          </a:p>
        </p:txBody>
      </p:sp>
      <p:sp>
        <p:nvSpPr>
          <p:cNvPr id="5" name="TextBox 4"/>
          <p:cNvSpPr txBox="1"/>
          <p:nvPr/>
        </p:nvSpPr>
        <p:spPr>
          <a:xfrm>
            <a:off x="3955547" y="5059730"/>
            <a:ext cx="6792687" cy="523220"/>
          </a:xfrm>
          <a:prstGeom prst="rect">
            <a:avLst/>
          </a:prstGeom>
          <a:noFill/>
        </p:spPr>
        <p:txBody>
          <a:bodyPr wrap="square" rtlCol="0">
            <a:spAutoFit/>
          </a:bodyPr>
          <a:lstStyle/>
          <a:p>
            <a:r>
              <a:rPr lang="zh-CN" altLang="en-US" sz="2800" b="1" dirty="0" smtClean="0">
                <a:solidFill>
                  <a:srgbClr val="FF0000"/>
                </a:solidFill>
              </a:rPr>
              <a:t>电源提供的一部分能量将耗散在其内阻上。</a:t>
            </a:r>
            <a:endParaRPr lang="zh-CN" altLang="en-US" sz="2800" b="1" dirty="0">
              <a:solidFill>
                <a:srgbClr val="FF0000"/>
              </a:solidFill>
            </a:endParaRPr>
          </a:p>
        </p:txBody>
      </p:sp>
    </p:spTree>
    <p:extLst>
      <p:ext uri="{BB962C8B-B14F-4D97-AF65-F5344CB8AC3E}">
        <p14:creationId xmlns:p14="http://schemas.microsoft.com/office/powerpoint/2010/main" val="3293024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72074" y="1357317"/>
            <a:ext cx="10319657" cy="738664"/>
          </a:xfrm>
          <a:prstGeom prst="rect">
            <a:avLst/>
          </a:prstGeom>
        </p:spPr>
        <p:txBody>
          <a:bodyPr wrap="square">
            <a:spAutoFit/>
          </a:bodyPr>
          <a:lstStyle/>
          <a:p>
            <a:pPr>
              <a:lnSpc>
                <a:spcPct val="150000"/>
              </a:lnSpc>
            </a:pPr>
            <a:r>
              <a:rPr lang="zh-CN" altLang="en-US" sz="2800" b="1" dirty="0" smtClean="0"/>
              <a:t>如果输电线的电阻为</a:t>
            </a:r>
            <a:r>
              <a:rPr lang="en-US" altLang="zh-CN" sz="2800" b="1" dirty="0" smtClean="0"/>
              <a:t>3Ω</a:t>
            </a:r>
            <a:r>
              <a:rPr lang="zh-CN" altLang="en-US" sz="2800" b="1" dirty="0" smtClean="0"/>
              <a:t>，电流为</a:t>
            </a:r>
            <a:r>
              <a:rPr lang="en-US" altLang="zh-CN" sz="2800" b="1" dirty="0" smtClean="0"/>
              <a:t>2 A </a:t>
            </a:r>
            <a:r>
              <a:rPr lang="zh-CN" altLang="en-US" sz="2800" b="1" dirty="0" smtClean="0"/>
              <a:t>，其上消耗了多少热功率？</a:t>
            </a:r>
          </a:p>
        </p:txBody>
      </p:sp>
      <p:sp>
        <p:nvSpPr>
          <p:cNvPr id="3" name="TextBox 2"/>
          <p:cNvSpPr txBox="1"/>
          <p:nvPr/>
        </p:nvSpPr>
        <p:spPr>
          <a:xfrm>
            <a:off x="815413" y="404664"/>
            <a:ext cx="1824203" cy="523220"/>
          </a:xfrm>
          <a:prstGeom prst="rect">
            <a:avLst/>
          </a:prstGeom>
          <a:noFill/>
        </p:spPr>
        <p:txBody>
          <a:bodyPr wrap="square" rtlCol="0">
            <a:spAutoFit/>
          </a:bodyPr>
          <a:lstStyle/>
          <a:p>
            <a:r>
              <a:rPr lang="zh-CN" altLang="en-US" sz="2800" b="1" smtClean="0">
                <a:solidFill>
                  <a:srgbClr val="0000CC"/>
                </a:solidFill>
              </a:rPr>
              <a:t>思考题</a:t>
            </a:r>
            <a:endParaRPr lang="zh-CN" altLang="en-US" sz="2800" b="1">
              <a:solidFill>
                <a:srgbClr val="0000CC"/>
              </a:solidFill>
            </a:endParaRPr>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9905" y="3069917"/>
            <a:ext cx="4135316" cy="637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a:off x="3407702" y="3933056"/>
            <a:ext cx="875561" cy="523220"/>
          </a:xfrm>
          <a:prstGeom prst="rect">
            <a:avLst/>
          </a:prstGeom>
        </p:spPr>
        <p:txBody>
          <a:bodyPr wrap="none">
            <a:spAutoFit/>
          </a:bodyPr>
          <a:lstStyle/>
          <a:p>
            <a:r>
              <a:rPr lang="en-US" altLang="zh-CN" sz="2800" b="1"/>
              <a:t>12W</a:t>
            </a:r>
            <a:endParaRPr lang="zh-CN" altLang="en-US" sz="2800" b="1"/>
          </a:p>
        </p:txBody>
      </p:sp>
    </p:spTree>
    <p:extLst>
      <p:ext uri="{BB962C8B-B14F-4D97-AF65-F5344CB8AC3E}">
        <p14:creationId xmlns:p14="http://schemas.microsoft.com/office/powerpoint/2010/main" val="2667272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矩形 1"/>
              <p:cNvSpPr/>
              <p:nvPr/>
            </p:nvSpPr>
            <p:spPr>
              <a:xfrm>
                <a:off x="1103445" y="1412777"/>
                <a:ext cx="8352928" cy="3402663"/>
              </a:xfrm>
              <a:prstGeom prst="rect">
                <a:avLst/>
              </a:prstGeom>
            </p:spPr>
            <p:txBody>
              <a:bodyPr wrap="square">
                <a:spAutoFit/>
              </a:bodyPr>
              <a:lstStyle/>
              <a:p>
                <a:pPr>
                  <a:lnSpc>
                    <a:spcPct val="150000"/>
                  </a:lnSpc>
                </a:pPr>
                <a:r>
                  <a:rPr lang="zh-CN" altLang="zh-CN" sz="2400" b="1" dirty="0"/>
                  <a:t>如果住宅在</a:t>
                </a:r>
                <a:r>
                  <a:rPr lang="en-US" altLang="zh-CN" sz="2400" b="1" dirty="0"/>
                  <a:t>120V</a:t>
                </a:r>
                <a:r>
                  <a:rPr lang="zh-CN" altLang="zh-CN" sz="2400" b="1" dirty="0"/>
                  <a:t>供电时的用电功率为 </a:t>
                </a:r>
                <a14:m>
                  <m:oMath xmlns:m="http://schemas.openxmlformats.org/officeDocument/2006/math">
                    <m:r>
                      <a:rPr lang="en-US" altLang="zh-CN" sz="2400" b="1" i="1">
                        <a:latin typeface="Cambria Math"/>
                      </a:rPr>
                      <m:t>𝟏</m:t>
                    </m:r>
                    <m:r>
                      <a:rPr lang="en-US" altLang="zh-CN" sz="2400" b="1">
                        <a:latin typeface="Cambria Math"/>
                      </a:rPr>
                      <m:t>.</m:t>
                    </m:r>
                    <m:r>
                      <a:rPr lang="en-US" altLang="zh-CN" sz="2400" b="1" i="1">
                        <a:latin typeface="Cambria Math"/>
                      </a:rPr>
                      <m:t>𝟐</m:t>
                    </m:r>
                    <m:r>
                      <a:rPr lang="en-US" altLang="zh-CN" sz="2400" b="1">
                        <a:latin typeface="Cambria Math"/>
                      </a:rPr>
                      <m:t>×</m:t>
                    </m:r>
                    <m:sSup>
                      <m:sSupPr>
                        <m:ctrlPr>
                          <a:rPr lang="zh-CN" altLang="zh-CN" sz="2400" b="1" i="1">
                            <a:latin typeface="Cambria Math" panose="02040503050406030204" pitchFamily="18" charset="0"/>
                          </a:rPr>
                        </m:ctrlPr>
                      </m:sSupPr>
                      <m:e>
                        <m:r>
                          <a:rPr lang="en-US" altLang="zh-CN" sz="2400" b="1" i="1">
                            <a:latin typeface="Cambria Math"/>
                          </a:rPr>
                          <m:t>𝟏𝟎</m:t>
                        </m:r>
                      </m:e>
                      <m:sup>
                        <m:r>
                          <a:rPr lang="en-US" altLang="zh-CN" sz="2400" b="1" i="1">
                            <a:latin typeface="Cambria Math"/>
                          </a:rPr>
                          <m:t>𝟒</m:t>
                        </m:r>
                      </m:sup>
                    </m:sSup>
                  </m:oMath>
                </a14:m>
                <a:r>
                  <a:rPr lang="en-US" altLang="zh-CN" sz="2400" b="1" dirty="0"/>
                  <a:t> W </a:t>
                </a:r>
                <a:r>
                  <a:rPr lang="zh-CN" altLang="zh-CN" sz="2400" b="1" dirty="0"/>
                  <a:t>，需要提供多大的电流？（</a:t>
                </a:r>
                <a:r>
                  <a:rPr lang="en-US" altLang="zh-CN" sz="2400" b="1" dirty="0"/>
                  <a:t>  </a:t>
                </a:r>
                <a:r>
                  <a:rPr lang="zh-CN" altLang="zh-CN" sz="2400" b="1" dirty="0"/>
                  <a:t>）</a:t>
                </a:r>
              </a:p>
              <a:p>
                <a:pPr>
                  <a:lnSpc>
                    <a:spcPct val="150000"/>
                  </a:lnSpc>
                </a:pPr>
                <a:r>
                  <a:rPr lang="en-US" altLang="zh-CN" sz="2400" b="1" dirty="0"/>
                  <a:t>A</a:t>
                </a:r>
                <a:r>
                  <a:rPr lang="zh-CN" altLang="zh-CN" sz="2400" b="1" dirty="0"/>
                  <a:t>．</a:t>
                </a:r>
                <a:r>
                  <a:rPr lang="en-US" altLang="zh-CN" sz="2400" b="1" dirty="0"/>
                  <a:t>10 A </a:t>
                </a:r>
                <a:endParaRPr lang="zh-CN" altLang="zh-CN" sz="2400" b="1" dirty="0"/>
              </a:p>
              <a:p>
                <a:pPr>
                  <a:lnSpc>
                    <a:spcPct val="150000"/>
                  </a:lnSpc>
                </a:pPr>
                <a:r>
                  <a:rPr lang="en-US" altLang="zh-CN" sz="2400" b="1" dirty="0"/>
                  <a:t>B</a:t>
                </a:r>
                <a:r>
                  <a:rPr lang="zh-CN" altLang="zh-CN" sz="2400" b="1" dirty="0"/>
                  <a:t>．</a:t>
                </a:r>
                <a:r>
                  <a:rPr lang="en-US" altLang="zh-CN" sz="2400" b="1" dirty="0"/>
                  <a:t>12 A </a:t>
                </a:r>
                <a:endParaRPr lang="zh-CN" altLang="zh-CN" sz="2400" b="1" dirty="0"/>
              </a:p>
              <a:p>
                <a:pPr>
                  <a:lnSpc>
                    <a:spcPct val="150000"/>
                  </a:lnSpc>
                </a:pPr>
                <a:r>
                  <a:rPr lang="en-US" altLang="zh-CN" sz="2400" b="1" dirty="0"/>
                  <a:t>C</a:t>
                </a:r>
                <a:r>
                  <a:rPr lang="zh-CN" altLang="zh-CN" sz="2400" b="1" dirty="0"/>
                  <a:t>．</a:t>
                </a:r>
                <a:r>
                  <a:rPr lang="en-US" altLang="zh-CN" sz="2400" b="1" dirty="0"/>
                  <a:t>100 A </a:t>
                </a:r>
                <a:endParaRPr lang="zh-CN" altLang="zh-CN" sz="2400" b="1" dirty="0"/>
              </a:p>
              <a:p>
                <a:pPr>
                  <a:lnSpc>
                    <a:spcPct val="150000"/>
                  </a:lnSpc>
                </a:pPr>
                <a:r>
                  <a:rPr lang="en-US" altLang="zh-CN" sz="2400" b="1" dirty="0"/>
                  <a:t>D</a:t>
                </a:r>
                <a:r>
                  <a:rPr lang="zh-CN" altLang="zh-CN" sz="2400" b="1" dirty="0"/>
                  <a:t>．</a:t>
                </a:r>
                <a:r>
                  <a:rPr lang="en-US" altLang="zh-CN" sz="2400" b="1" dirty="0"/>
                  <a:t>120 A </a:t>
                </a:r>
                <a:endParaRPr lang="zh-CN" altLang="zh-CN" sz="2400" b="1" dirty="0"/>
              </a:p>
            </p:txBody>
          </p:sp>
        </mc:Choice>
        <mc:Fallback xmlns="">
          <p:sp>
            <p:nvSpPr>
              <p:cNvPr id="2" name="矩形 1"/>
              <p:cNvSpPr>
                <a:spLocks noRot="1" noChangeAspect="1" noMove="1" noResize="1" noEditPoints="1" noAdjustHandles="1" noChangeArrowheads="1" noChangeShapeType="1" noTextEdit="1"/>
              </p:cNvSpPr>
              <p:nvPr/>
            </p:nvSpPr>
            <p:spPr>
              <a:xfrm>
                <a:off x="827584" y="1412776"/>
                <a:ext cx="6264696" cy="3402663"/>
              </a:xfrm>
              <a:prstGeom prst="rect">
                <a:avLst/>
              </a:prstGeom>
              <a:blipFill rotWithShape="1">
                <a:blip r:embed="rId4"/>
                <a:stretch>
                  <a:fillRect l="-1558" b="-3405"/>
                </a:stretch>
              </a:blipFill>
            </p:spPr>
            <p:txBody>
              <a:bodyPr/>
              <a:lstStyle/>
              <a:p>
                <a:r>
                  <a:rPr lang="zh-CN" altLang="en-US">
                    <a:noFill/>
                  </a:rPr>
                  <a:t> </a:t>
                </a:r>
              </a:p>
            </p:txBody>
          </p:sp>
        </mc:Fallback>
      </mc:AlternateContent>
      <p:sp>
        <p:nvSpPr>
          <p:cNvPr id="3" name="TextBox 2"/>
          <p:cNvSpPr txBox="1"/>
          <p:nvPr/>
        </p:nvSpPr>
        <p:spPr>
          <a:xfrm>
            <a:off x="754671" y="249378"/>
            <a:ext cx="2958353" cy="523220"/>
          </a:xfrm>
          <a:prstGeom prst="rect">
            <a:avLst/>
          </a:prstGeom>
          <a:noFill/>
        </p:spPr>
        <p:txBody>
          <a:bodyPr wrap="square" rtlCol="0">
            <a:spAutoFit/>
          </a:bodyPr>
          <a:lstStyle/>
          <a:p>
            <a:r>
              <a:rPr lang="zh-CN" altLang="en-US" sz="2800" b="1" smtClean="0">
                <a:solidFill>
                  <a:srgbClr val="000099"/>
                </a:solidFill>
              </a:rPr>
              <a:t>单项选择题</a:t>
            </a:r>
            <a:endParaRPr lang="zh-CN" altLang="en-US" sz="2800" b="1">
              <a:solidFill>
                <a:srgbClr val="000099"/>
              </a:solidFill>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3896955121"/>
              </p:ext>
            </p:extLst>
          </p:nvPr>
        </p:nvGraphicFramePr>
        <p:xfrm>
          <a:off x="5279909" y="3114108"/>
          <a:ext cx="3515456" cy="830926"/>
        </p:xfrm>
        <a:graphic>
          <a:graphicData uri="http://schemas.openxmlformats.org/presentationml/2006/ole">
            <mc:AlternateContent xmlns:mc="http://schemas.openxmlformats.org/markup-compatibility/2006">
              <mc:Choice xmlns:v="urn:schemas-microsoft-com:vml" Requires="v">
                <p:oleObj spid="_x0000_s2078" name="Equation" r:id="rId5" imgW="698400" imgH="164880" progId="Equation.DSMT4">
                  <p:embed/>
                </p:oleObj>
              </mc:Choice>
              <mc:Fallback>
                <p:oleObj name="Equation" r:id="rId5" imgW="698400" imgH="164880" progId="Equation.DSMT4">
                  <p:embed/>
                  <p:pic>
                    <p:nvPicPr>
                      <p:cNvPr id="0" name=""/>
                      <p:cNvPicPr/>
                      <p:nvPr/>
                    </p:nvPicPr>
                    <p:blipFill>
                      <a:blip r:embed="rId6"/>
                      <a:stretch>
                        <a:fillRect/>
                      </a:stretch>
                    </p:blipFill>
                    <p:spPr>
                      <a:xfrm>
                        <a:off x="5279909" y="3114108"/>
                        <a:ext cx="3515456" cy="830926"/>
                      </a:xfrm>
                      <a:prstGeom prst="rect">
                        <a:avLst/>
                      </a:prstGeom>
                    </p:spPr>
                  </p:pic>
                </p:oleObj>
              </mc:Fallback>
            </mc:AlternateContent>
          </a:graphicData>
        </a:graphic>
      </p:graphicFrame>
    </p:spTree>
    <p:extLst>
      <p:ext uri="{BB962C8B-B14F-4D97-AF65-F5344CB8AC3E}">
        <p14:creationId xmlns:p14="http://schemas.microsoft.com/office/powerpoint/2010/main" val="243058887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文本框 2"/>
              <p:cNvSpPr txBox="1"/>
              <p:nvPr>
                <p:custDataLst>
                  <p:tags r:id="rId3"/>
                </p:custDataLst>
              </p:nvPr>
            </p:nvSpPr>
            <p:spPr>
              <a:xfrm>
                <a:off x="1219200" y="635000"/>
                <a:ext cx="9753600" cy="2143125"/>
              </a:xfrm>
              <a:prstGeom prst="rect">
                <a:avLst/>
              </a:prstGeom>
              <a:noFill/>
            </p:spPr>
            <p:txBody>
              <a:bodyPr vert="horz" wrap="square" rtlCol="0" anchor="ctr" anchorCtr="0">
                <a:noAutofit/>
              </a:bodyPr>
              <a:lstStyle/>
              <a:p>
                <a:pPr>
                  <a:lnSpc>
                    <a:spcPct val="150000"/>
                  </a:lnSpc>
                </a:pPr>
                <a:r>
                  <a:rPr lang="zh-CN" altLang="zh-CN" sz="2800" b="1" dirty="0"/>
                  <a:t>如果住宅在</a:t>
                </a:r>
                <a:r>
                  <a:rPr lang="en-US" altLang="zh-CN" sz="2800" b="1" dirty="0"/>
                  <a:t>120V</a:t>
                </a:r>
                <a:r>
                  <a:rPr lang="zh-CN" altLang="zh-CN" sz="2800" b="1" dirty="0"/>
                  <a:t>供电时的用电功率为 </a:t>
                </a:r>
                <a14:m>
                  <m:oMath xmlns:m="http://schemas.openxmlformats.org/officeDocument/2006/math">
                    <m:r>
                      <a:rPr lang="en-US" altLang="zh-CN" sz="2800" b="1" i="1">
                        <a:latin typeface="Cambria Math"/>
                      </a:rPr>
                      <m:t>𝟏</m:t>
                    </m:r>
                    <m:r>
                      <a:rPr lang="en-US" altLang="zh-CN" sz="2800" b="1">
                        <a:latin typeface="Cambria Math"/>
                      </a:rPr>
                      <m:t>.</m:t>
                    </m:r>
                    <m:r>
                      <a:rPr lang="en-US" altLang="zh-CN" sz="2800" b="1" i="1">
                        <a:latin typeface="Cambria Math"/>
                      </a:rPr>
                      <m:t>𝟐</m:t>
                    </m:r>
                    <m:r>
                      <a:rPr lang="en-US" altLang="zh-CN" sz="2800" b="1">
                        <a:latin typeface="Cambria Math"/>
                      </a:rPr>
                      <m:t>×</m:t>
                    </m:r>
                    <m:sSup>
                      <m:sSupPr>
                        <m:ctrlPr>
                          <a:rPr lang="zh-CN" altLang="zh-CN" sz="2800" b="1" i="1">
                            <a:latin typeface="Cambria Math" panose="02040503050406030204" pitchFamily="18" charset="0"/>
                          </a:rPr>
                        </m:ctrlPr>
                      </m:sSupPr>
                      <m:e>
                        <m:r>
                          <a:rPr lang="en-US" altLang="zh-CN" sz="2800" b="1" i="1">
                            <a:latin typeface="Cambria Math"/>
                          </a:rPr>
                          <m:t>𝟏𝟎</m:t>
                        </m:r>
                      </m:e>
                      <m:sup>
                        <m:r>
                          <a:rPr lang="en-US" altLang="zh-CN" sz="2800" b="1" i="1">
                            <a:latin typeface="Cambria Math"/>
                          </a:rPr>
                          <m:t>𝟒</m:t>
                        </m:r>
                      </m:sup>
                    </m:sSup>
                  </m:oMath>
                </a14:m>
                <a:r>
                  <a:rPr lang="en-US" altLang="zh-CN" sz="2800" b="1" dirty="0"/>
                  <a:t> W </a:t>
                </a:r>
                <a:r>
                  <a:rPr lang="zh-CN" altLang="zh-CN" sz="2800" b="1" dirty="0"/>
                  <a:t>，需要提供多大的电流？（</a:t>
                </a:r>
                <a:r>
                  <a:rPr lang="en-US" altLang="zh-CN" sz="2800" b="1" dirty="0"/>
                  <a:t>  </a:t>
                </a:r>
                <a:r>
                  <a:rPr lang="zh-CN" altLang="zh-CN" sz="2800" b="1" dirty="0"/>
                  <a:t>）</a:t>
                </a:r>
              </a:p>
            </p:txBody>
          </p:sp>
        </mc:Choice>
        <mc:Fallback>
          <p:sp>
            <p:nvSpPr>
              <p:cNvPr id="3" name="文本框 2"/>
              <p:cNvSpPr txBox="1">
                <a:spLocks noRot="1" noChangeAspect="1" noMove="1" noResize="1" noEditPoints="1" noAdjustHandles="1" noChangeArrowheads="1" noChangeShapeType="1" noTextEdit="1"/>
              </p:cNvSpPr>
              <p:nvPr>
                <p:custDataLst>
                  <p:tags r:id="rId3"/>
                </p:custDataLst>
              </p:nvPr>
            </p:nvSpPr>
            <p:spPr>
              <a:xfrm>
                <a:off x="1219200" y="635000"/>
                <a:ext cx="9753600" cy="2143125"/>
              </a:xfrm>
              <a:prstGeom prst="rect">
                <a:avLst/>
              </a:prstGeom>
              <a:blipFill>
                <a:blip r:embed="rId20"/>
                <a:stretch>
                  <a:fillRect l="-1250"/>
                </a:stretch>
              </a:blipFill>
            </p:spPr>
            <p:txBody>
              <a:bodyPr/>
              <a:lstStyle/>
              <a:p>
                <a:r>
                  <a:rPr lang="zh-CN" altLang="en-US">
                    <a:noFill/>
                  </a:rPr>
                  <a:t> </a:t>
                </a:r>
              </a:p>
            </p:txBody>
          </p:sp>
        </mc:Fallback>
      </mc:AlternateContent>
      <p:sp>
        <p:nvSpPr>
          <p:cNvPr id="4" name="文本框 3"/>
          <p:cNvSpPr txBox="1"/>
          <p:nvPr>
            <p:custDataLst>
              <p:tags r:id="rId4"/>
            </p:custDataLst>
          </p:nvPr>
        </p:nvSpPr>
        <p:spPr>
          <a:xfrm>
            <a:off x="2438400" y="2786063"/>
            <a:ext cx="8534400" cy="642938"/>
          </a:xfrm>
          <a:prstGeom prst="rect">
            <a:avLst/>
          </a:prstGeom>
          <a:noFill/>
        </p:spPr>
        <p:txBody>
          <a:bodyPr vert="horz" rtlCol="0" anchor="ctr" anchorCtr="0">
            <a:noAutofit/>
          </a:bodyPr>
          <a:lstStyle/>
          <a:p>
            <a:pPr>
              <a:lnSpc>
                <a:spcPct val="150000"/>
              </a:lnSpc>
            </a:pPr>
            <a:r>
              <a:rPr lang="en-US" altLang="zh-CN" sz="2800" b="1" dirty="0"/>
              <a:t>10 A </a:t>
            </a:r>
            <a:endParaRPr lang="zh-CN" altLang="zh-CN" sz="2800" b="1" dirty="0"/>
          </a:p>
        </p:txBody>
      </p:sp>
      <p:sp>
        <p:nvSpPr>
          <p:cNvPr id="5" name="文本框 4"/>
          <p:cNvSpPr txBox="1"/>
          <p:nvPr>
            <p:custDataLst>
              <p:tags r:id="rId5"/>
            </p:custDataLst>
          </p:nvPr>
        </p:nvSpPr>
        <p:spPr>
          <a:xfrm>
            <a:off x="2438400" y="3643313"/>
            <a:ext cx="8534400" cy="642938"/>
          </a:xfrm>
          <a:prstGeom prst="rect">
            <a:avLst/>
          </a:prstGeom>
          <a:noFill/>
        </p:spPr>
        <p:txBody>
          <a:bodyPr vert="horz" rtlCol="0" anchor="ctr" anchorCtr="0">
            <a:noAutofit/>
          </a:bodyPr>
          <a:lstStyle/>
          <a:p>
            <a:pPr>
              <a:lnSpc>
                <a:spcPct val="150000"/>
              </a:lnSpc>
            </a:pPr>
            <a:r>
              <a:rPr lang="en-US" altLang="zh-CN" sz="2800" b="1" dirty="0" smtClean="0"/>
              <a:t>12 </a:t>
            </a:r>
            <a:r>
              <a:rPr lang="en-US" altLang="zh-CN" sz="2800" b="1" dirty="0"/>
              <a:t>A </a:t>
            </a:r>
            <a:endParaRPr lang="zh-CN" altLang="zh-CN" sz="2800" b="1" dirty="0"/>
          </a:p>
        </p:txBody>
      </p:sp>
      <p:sp>
        <p:nvSpPr>
          <p:cNvPr id="6" name="文本框 5"/>
          <p:cNvSpPr txBox="1"/>
          <p:nvPr>
            <p:custDataLst>
              <p:tags r:id="rId6"/>
            </p:custDataLst>
          </p:nvPr>
        </p:nvSpPr>
        <p:spPr>
          <a:xfrm>
            <a:off x="2438400" y="4500563"/>
            <a:ext cx="8534400" cy="642938"/>
          </a:xfrm>
          <a:prstGeom prst="rect">
            <a:avLst/>
          </a:prstGeom>
          <a:noFill/>
        </p:spPr>
        <p:txBody>
          <a:bodyPr vert="horz" rtlCol="0" anchor="ctr" anchorCtr="0">
            <a:noAutofit/>
          </a:bodyPr>
          <a:lstStyle/>
          <a:p>
            <a:pPr>
              <a:lnSpc>
                <a:spcPct val="150000"/>
              </a:lnSpc>
            </a:pPr>
            <a:r>
              <a:rPr lang="en-US" altLang="zh-CN" sz="2800" b="1" dirty="0" smtClean="0"/>
              <a:t>100 </a:t>
            </a:r>
            <a:r>
              <a:rPr lang="en-US" altLang="zh-CN" sz="2800" b="1" dirty="0"/>
              <a:t>A </a:t>
            </a:r>
            <a:endParaRPr lang="zh-CN" altLang="zh-CN" sz="2800" b="1" dirty="0"/>
          </a:p>
        </p:txBody>
      </p:sp>
      <p:sp>
        <p:nvSpPr>
          <p:cNvPr id="7" name="文本框 6"/>
          <p:cNvSpPr txBox="1"/>
          <p:nvPr>
            <p:custDataLst>
              <p:tags r:id="rId7"/>
            </p:custDataLst>
          </p:nvPr>
        </p:nvSpPr>
        <p:spPr>
          <a:xfrm>
            <a:off x="2438400" y="5357813"/>
            <a:ext cx="8534400" cy="642938"/>
          </a:xfrm>
          <a:prstGeom prst="rect">
            <a:avLst/>
          </a:prstGeom>
          <a:noFill/>
        </p:spPr>
        <p:txBody>
          <a:bodyPr vert="horz" rtlCol="0" anchor="ctr" anchorCtr="0">
            <a:noAutofit/>
          </a:bodyPr>
          <a:lstStyle/>
          <a:p>
            <a:pPr>
              <a:lnSpc>
                <a:spcPct val="150000"/>
              </a:lnSpc>
            </a:pPr>
            <a:r>
              <a:rPr lang="en-US" altLang="zh-CN" sz="2800" b="1" dirty="0" smtClean="0"/>
              <a:t>120 </a:t>
            </a:r>
            <a:r>
              <a:rPr lang="en-US" altLang="zh-CN" sz="2800" b="1" dirty="0"/>
              <a:t>A </a:t>
            </a:r>
            <a:endParaRPr lang="zh-CN" altLang="zh-CN" sz="2800" b="1" dirty="0"/>
          </a:p>
        </p:txBody>
      </p:sp>
      <p:sp>
        <p:nvSpPr>
          <p:cNvPr id="8" name="椭圆 7"/>
          <p:cNvSpPr>
            <a:spLocks noChangeAspect="1"/>
          </p:cNvSpPr>
          <p:nvPr>
            <p:custDataLst>
              <p:tags r:id="rId8"/>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9"/>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10"/>
            </p:custDataLst>
          </p:nvPr>
        </p:nvSpPr>
        <p:spPr>
          <a:xfrm>
            <a:off x="1571625" y="45648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1"/>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2"/>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aphicFrame>
        <p:nvGraphicFramePr>
          <p:cNvPr id="19" name="对象 18"/>
          <p:cNvGraphicFramePr>
            <a:graphicFrameLocks noChangeAspect="1"/>
          </p:cNvGraphicFramePr>
          <p:nvPr>
            <p:extLst>
              <p:ext uri="{D42A27DB-BD31-4B8C-83A1-F6EECF244321}">
                <p14:modId xmlns:p14="http://schemas.microsoft.com/office/powerpoint/2010/main" val="3526716256"/>
              </p:ext>
            </p:extLst>
          </p:nvPr>
        </p:nvGraphicFramePr>
        <p:xfrm>
          <a:off x="5279909" y="3114108"/>
          <a:ext cx="3515456" cy="830926"/>
        </p:xfrm>
        <a:graphic>
          <a:graphicData uri="http://schemas.openxmlformats.org/presentationml/2006/ole">
            <mc:AlternateContent xmlns:mc="http://schemas.openxmlformats.org/markup-compatibility/2006">
              <mc:Choice xmlns:v="urn:schemas-microsoft-com:vml" Requires="v">
                <p:oleObj spid="_x0000_s3075" name="Equation" r:id="rId21" imgW="698400" imgH="164880" progId="Equation.DSMT4">
                  <p:embed/>
                </p:oleObj>
              </mc:Choice>
              <mc:Fallback>
                <p:oleObj name="Equation" r:id="rId21" imgW="698400" imgH="164880" progId="Equation.DSMT4">
                  <p:embed/>
                  <p:pic>
                    <p:nvPicPr>
                      <p:cNvPr id="5" name="对象 4"/>
                      <p:cNvPicPr/>
                      <p:nvPr/>
                    </p:nvPicPr>
                    <p:blipFill>
                      <a:blip r:embed="rId22"/>
                      <a:stretch>
                        <a:fillRect/>
                      </a:stretch>
                    </p:blipFill>
                    <p:spPr>
                      <a:xfrm>
                        <a:off x="5279909" y="3114108"/>
                        <a:ext cx="3515456" cy="830926"/>
                      </a:xfrm>
                      <a:prstGeom prst="rect">
                        <a:avLst/>
                      </a:prstGeom>
                    </p:spPr>
                  </p:pic>
                </p:oleObj>
              </mc:Fallback>
            </mc:AlternateContent>
          </a:graphicData>
        </a:graphic>
      </p:graphicFrame>
      <p:grpSp>
        <p:nvGrpSpPr>
          <p:cNvPr id="17" name="组合 16"/>
          <p:cNvGrpSpPr/>
          <p:nvPr>
            <p:custDataLst>
              <p:tags r:id="rId13"/>
            </p:custDataLst>
          </p:nvPr>
        </p:nvGrpSpPr>
        <p:grpSpPr>
          <a:xfrm>
            <a:off x="0" y="0"/>
            <a:ext cx="12192000" cy="635000"/>
            <a:chOff x="0" y="0"/>
            <a:chExt cx="12192000" cy="635000"/>
          </a:xfrm>
        </p:grpSpPr>
        <p:sp>
          <p:nvSpPr>
            <p:cNvPr id="13" name="TitleBackground"/>
            <p:cNvSpPr/>
            <p:nvPr>
              <p:custDataLst>
                <p:tags r:id="rId15"/>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6"/>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7"/>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TipText"/>
            <p:cNvSpPr txBox="1"/>
            <p:nvPr>
              <p:custDataLst>
                <p:tags r:id="rId18"/>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2" name="图片 1"/>
          <p:cNvPicPr>
            <a:picLocks/>
          </p:cNvPicPr>
          <p:nvPr>
            <p:custDataLst>
              <p:tags r:id="rId14"/>
            </p:custDataLst>
          </p:nvPr>
        </p:nvPicPr>
        <p:blipFill>
          <a:blip r:embed="rId2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2"/>
    </p:custDataLst>
    <p:extLst>
      <p:ext uri="{BB962C8B-B14F-4D97-AF65-F5344CB8AC3E}">
        <p14:creationId xmlns:p14="http://schemas.microsoft.com/office/powerpoint/2010/main" val="1597503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stretch>
            <a:fillRect/>
          </a:stretch>
        </p:blipFill>
        <p:spPr>
          <a:xfrm>
            <a:off x="4396153" y="2759851"/>
            <a:ext cx="7397261" cy="3256937"/>
          </a:xfrm>
          <a:prstGeom prst="rect">
            <a:avLst/>
          </a:prstGeom>
        </p:spPr>
      </p:pic>
      <p:sp>
        <p:nvSpPr>
          <p:cNvPr id="4" name="文本框 3"/>
          <p:cNvSpPr txBox="1"/>
          <p:nvPr/>
        </p:nvSpPr>
        <p:spPr>
          <a:xfrm>
            <a:off x="180303" y="47813"/>
            <a:ext cx="4820550" cy="646331"/>
          </a:xfrm>
          <a:prstGeom prst="rect">
            <a:avLst/>
          </a:prstGeom>
          <a:noFill/>
        </p:spPr>
        <p:txBody>
          <a:bodyPr wrap="none" rtlCol="0">
            <a:spAutoFit/>
          </a:bodyPr>
          <a:lstStyle/>
          <a:p>
            <a:r>
              <a:rPr lang="en-US" altLang="zh-CN" sz="3600" b="1" dirty="0" smtClean="0">
                <a:solidFill>
                  <a:srgbClr val="000099"/>
                </a:solidFill>
              </a:rPr>
              <a:t>18.9 </a:t>
            </a:r>
            <a:r>
              <a:rPr lang="zh-CN" altLang="en-US" sz="3600" b="1" dirty="0" smtClean="0">
                <a:solidFill>
                  <a:srgbClr val="000099"/>
                </a:solidFill>
              </a:rPr>
              <a:t>电流与电压的测量</a:t>
            </a:r>
            <a:endParaRPr lang="zh-CN" altLang="en-US" sz="3600" b="1" dirty="0">
              <a:solidFill>
                <a:srgbClr val="000099"/>
              </a:solidFill>
            </a:endParaRPr>
          </a:p>
        </p:txBody>
      </p:sp>
      <p:pic>
        <p:nvPicPr>
          <p:cNvPr id="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06155" y="1"/>
            <a:ext cx="3985845" cy="27015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文本框 7"/>
          <p:cNvSpPr txBox="1"/>
          <p:nvPr/>
        </p:nvSpPr>
        <p:spPr>
          <a:xfrm>
            <a:off x="1" y="755700"/>
            <a:ext cx="8772659" cy="954107"/>
          </a:xfrm>
          <a:prstGeom prst="rect">
            <a:avLst/>
          </a:prstGeom>
          <a:noFill/>
        </p:spPr>
        <p:txBody>
          <a:bodyPr wrap="square" rtlCol="0">
            <a:spAutoFit/>
          </a:bodyPr>
          <a:lstStyle/>
          <a:p>
            <a:r>
              <a:rPr lang="zh-CN" altLang="en-US" sz="2800" b="1" dirty="0" smtClean="0"/>
              <a:t>检流计</a:t>
            </a:r>
            <a:r>
              <a:rPr lang="en-US" altLang="zh-CN" sz="2800" b="1" dirty="0" smtClean="0"/>
              <a:t>----</a:t>
            </a:r>
            <a:r>
              <a:rPr lang="zh-CN" altLang="en-US" sz="2800" b="1" dirty="0" smtClean="0"/>
              <a:t>一种基于磁场力的灵敏的电流检测器，是模拟电压表和电流表的核心部分。</a:t>
            </a:r>
            <a:endParaRPr lang="zh-CN" altLang="en-US" sz="2800" b="1" dirty="0"/>
          </a:p>
        </p:txBody>
      </p:sp>
      <p:sp>
        <p:nvSpPr>
          <p:cNvPr id="3" name="文本框 2"/>
          <p:cNvSpPr txBox="1"/>
          <p:nvPr/>
        </p:nvSpPr>
        <p:spPr>
          <a:xfrm>
            <a:off x="2579077" y="6007996"/>
            <a:ext cx="9482936" cy="830997"/>
          </a:xfrm>
          <a:prstGeom prst="rect">
            <a:avLst/>
          </a:prstGeom>
          <a:noFill/>
        </p:spPr>
        <p:txBody>
          <a:bodyPr wrap="square" rtlCol="0">
            <a:spAutoFit/>
          </a:bodyPr>
          <a:lstStyle/>
          <a:p>
            <a:r>
              <a:rPr lang="zh-CN" altLang="en-US" sz="2400" b="1" dirty="0" smtClean="0"/>
              <a:t>图</a:t>
            </a:r>
            <a:r>
              <a:rPr lang="en-US" altLang="zh-CN" sz="2400" b="1" dirty="0" smtClean="0"/>
              <a:t>18.27 a</a:t>
            </a:r>
            <a:r>
              <a:rPr lang="zh-CN" altLang="en-US" sz="2400" b="1" dirty="0" smtClean="0"/>
              <a:t>）利用一个检流计制作电流表。</a:t>
            </a:r>
            <a:r>
              <a:rPr lang="en-US" altLang="zh-CN" sz="2400" b="1" dirty="0" smtClean="0"/>
              <a:t>b</a:t>
            </a:r>
            <a:r>
              <a:rPr lang="zh-CN" altLang="en-US" sz="2400" b="1" dirty="0" smtClean="0"/>
              <a:t>）电流表的电路图。其中检流计表示成一个</a:t>
            </a:r>
            <a:r>
              <a:rPr lang="en-US" altLang="zh-CN" sz="2400" b="1" dirty="0" smtClean="0"/>
              <a:t>100</a:t>
            </a:r>
            <a:r>
              <a:rPr lang="zh-CN" altLang="en-US" sz="2400" b="1" dirty="0" smtClean="0"/>
              <a:t>欧姆的电阻器</a:t>
            </a:r>
            <a:endParaRPr lang="zh-CN" altLang="en-US" sz="2400" b="1" dirty="0"/>
          </a:p>
        </p:txBody>
      </p:sp>
      <p:sp>
        <p:nvSpPr>
          <p:cNvPr id="9" name="文本框 8"/>
          <p:cNvSpPr txBox="1"/>
          <p:nvPr/>
        </p:nvSpPr>
        <p:spPr>
          <a:xfrm>
            <a:off x="-1" y="3779578"/>
            <a:ext cx="4454769" cy="1384995"/>
          </a:xfrm>
          <a:prstGeom prst="rect">
            <a:avLst/>
          </a:prstGeom>
          <a:noFill/>
        </p:spPr>
        <p:txBody>
          <a:bodyPr wrap="square" rtlCol="0">
            <a:spAutoFit/>
          </a:bodyPr>
          <a:lstStyle/>
          <a:p>
            <a:r>
              <a:rPr lang="zh-CN" altLang="en-US" sz="2800" b="1" dirty="0" smtClean="0"/>
              <a:t>将检流计（分流</a:t>
            </a:r>
            <a:r>
              <a:rPr lang="en-US" altLang="zh-CN" sz="2800" b="1" dirty="0" smtClean="0"/>
              <a:t>100μA</a:t>
            </a:r>
            <a:r>
              <a:rPr lang="zh-CN" altLang="en-US" sz="2800" b="1" dirty="0" smtClean="0"/>
              <a:t>）与一电阻器（分流</a:t>
            </a:r>
            <a:r>
              <a:rPr lang="en-US" altLang="zh-CN" sz="2800" b="1" dirty="0" smtClean="0"/>
              <a:t>10A-100μA =9.9999A</a:t>
            </a:r>
            <a:r>
              <a:rPr lang="zh-CN" altLang="en-US" sz="2800" b="1" dirty="0" smtClean="0"/>
              <a:t>）并联</a:t>
            </a:r>
            <a:endParaRPr lang="zh-CN" altLang="en-US" sz="2800" b="1" dirty="0"/>
          </a:p>
        </p:txBody>
      </p:sp>
      <p:sp>
        <p:nvSpPr>
          <p:cNvPr id="10" name="文本框 9"/>
          <p:cNvSpPr txBox="1"/>
          <p:nvPr/>
        </p:nvSpPr>
        <p:spPr>
          <a:xfrm>
            <a:off x="90553" y="2079138"/>
            <a:ext cx="4910300" cy="1311193"/>
          </a:xfrm>
          <a:prstGeom prst="rect">
            <a:avLst/>
          </a:prstGeom>
          <a:noFill/>
        </p:spPr>
        <p:txBody>
          <a:bodyPr wrap="square" rtlCol="0">
            <a:spAutoFit/>
          </a:bodyPr>
          <a:lstStyle/>
          <a:p>
            <a:pPr>
              <a:lnSpc>
                <a:spcPct val="150000"/>
              </a:lnSpc>
            </a:pPr>
            <a:r>
              <a:rPr lang="zh-CN" altLang="en-US" sz="2800" b="1" dirty="0" smtClean="0"/>
              <a:t>将量程为</a:t>
            </a:r>
            <a:r>
              <a:rPr lang="en-US" altLang="zh-CN" sz="2800" b="1" dirty="0" smtClean="0"/>
              <a:t>0-100μA</a:t>
            </a:r>
            <a:r>
              <a:rPr lang="zh-CN" altLang="en-US" sz="2800" b="1" dirty="0" smtClean="0"/>
              <a:t>的检流计制作成量程为</a:t>
            </a:r>
            <a:r>
              <a:rPr lang="en-US" altLang="zh-CN" sz="2800" b="1" dirty="0" smtClean="0"/>
              <a:t>0-10A</a:t>
            </a:r>
            <a:r>
              <a:rPr lang="zh-CN" altLang="en-US" sz="2800" b="1" dirty="0" smtClean="0"/>
              <a:t>的电流表。</a:t>
            </a:r>
            <a:endParaRPr lang="zh-CN" altLang="en-US" sz="2800" b="1" dirty="0"/>
          </a:p>
        </p:txBody>
      </p:sp>
      <p:sp>
        <p:nvSpPr>
          <p:cNvPr id="11" name="文本框 6"/>
          <p:cNvSpPr txBox="1"/>
          <p:nvPr/>
        </p:nvSpPr>
        <p:spPr>
          <a:xfrm>
            <a:off x="7805855" y="2701517"/>
            <a:ext cx="4090733" cy="513859"/>
          </a:xfrm>
          <a:prstGeom prst="rect">
            <a:avLst/>
          </a:prstGeom>
          <a:noFill/>
        </p:spPr>
        <p:txBody>
          <a:bodyPr wrap="square" rtlCol="0">
            <a:spAutoFit/>
          </a:bodyPr>
          <a:lstStyle/>
          <a:p>
            <a:pPr>
              <a:lnSpc>
                <a:spcPct val="125000"/>
              </a:lnSpc>
            </a:pPr>
            <a:r>
              <a:rPr lang="zh-CN" altLang="en-US" sz="2400" b="1" dirty="0" smtClean="0">
                <a:solidFill>
                  <a:srgbClr val="FF0000"/>
                </a:solidFill>
              </a:rPr>
              <a:t>一个理想的电流表内阻为零。</a:t>
            </a:r>
            <a:endParaRPr lang="zh-CN" altLang="en-US" sz="2400" b="1" dirty="0">
              <a:solidFill>
                <a:srgbClr val="FF0000"/>
              </a:solidFill>
            </a:endParaRPr>
          </a:p>
        </p:txBody>
      </p:sp>
      <p:sp>
        <p:nvSpPr>
          <p:cNvPr id="12" name="TextBox 11"/>
          <p:cNvSpPr txBox="1"/>
          <p:nvPr/>
        </p:nvSpPr>
        <p:spPr>
          <a:xfrm>
            <a:off x="7805855" y="5403273"/>
            <a:ext cx="2755076" cy="400110"/>
          </a:xfrm>
          <a:prstGeom prst="rect">
            <a:avLst/>
          </a:prstGeom>
          <a:noFill/>
        </p:spPr>
        <p:txBody>
          <a:bodyPr wrap="square" rtlCol="0">
            <a:spAutoFit/>
          </a:bodyPr>
          <a:lstStyle/>
          <a:p>
            <a:r>
              <a:rPr lang="zh-CN" altLang="en-US" sz="2000" b="1" dirty="0" smtClean="0">
                <a:solidFill>
                  <a:srgbClr val="FF0000"/>
                </a:solidFill>
              </a:rPr>
              <a:t>计算得到：</a:t>
            </a:r>
            <a:r>
              <a:rPr lang="en-US" altLang="zh-CN" sz="2000" b="1" dirty="0" smtClean="0">
                <a:solidFill>
                  <a:srgbClr val="FF0000"/>
                </a:solidFill>
              </a:rPr>
              <a:t>R</a:t>
            </a:r>
            <a:r>
              <a:rPr lang="en-US" altLang="zh-CN" sz="2000" b="1" baseline="-25000" dirty="0" smtClean="0">
                <a:solidFill>
                  <a:srgbClr val="FF0000"/>
                </a:solidFill>
              </a:rPr>
              <a:t>S</a:t>
            </a:r>
            <a:r>
              <a:rPr lang="en-US" altLang="zh-CN" sz="2000" b="1" dirty="0" smtClean="0">
                <a:solidFill>
                  <a:srgbClr val="FF0000"/>
                </a:solidFill>
              </a:rPr>
              <a:t>=0.001Ω</a:t>
            </a:r>
            <a:endParaRPr lang="zh-CN" altLang="en-US" sz="2000" b="1" dirty="0">
              <a:solidFill>
                <a:srgbClr val="FF0000"/>
              </a:solidFill>
            </a:endParaRPr>
          </a:p>
        </p:txBody>
      </p:sp>
      <p:sp>
        <p:nvSpPr>
          <p:cNvPr id="13" name="文本框 6"/>
          <p:cNvSpPr txBox="1"/>
          <p:nvPr/>
        </p:nvSpPr>
        <p:spPr>
          <a:xfrm>
            <a:off x="5605447" y="1704531"/>
            <a:ext cx="2030388" cy="654410"/>
          </a:xfrm>
          <a:prstGeom prst="rect">
            <a:avLst/>
          </a:prstGeom>
          <a:noFill/>
        </p:spPr>
        <p:txBody>
          <a:bodyPr wrap="square" rtlCol="0">
            <a:spAutoFit/>
          </a:bodyPr>
          <a:lstStyle/>
          <a:p>
            <a:pPr>
              <a:lnSpc>
                <a:spcPct val="125000"/>
              </a:lnSpc>
            </a:pPr>
            <a:r>
              <a:rPr lang="zh-CN" altLang="en-US" sz="3200" b="1" smtClean="0">
                <a:solidFill>
                  <a:srgbClr val="FF0000"/>
                </a:solidFill>
              </a:rPr>
              <a:t>电流表</a:t>
            </a:r>
            <a:endParaRPr lang="zh-CN" altLang="en-US" sz="3200" b="1" dirty="0">
              <a:solidFill>
                <a:srgbClr val="FF0000"/>
              </a:solidFill>
            </a:endParaRPr>
          </a:p>
        </p:txBody>
      </p:sp>
    </p:spTree>
    <p:extLst>
      <p:ext uri="{BB962C8B-B14F-4D97-AF65-F5344CB8AC3E}">
        <p14:creationId xmlns:p14="http://schemas.microsoft.com/office/powerpoint/2010/main" val="3846906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9388" y="320634"/>
            <a:ext cx="10973250" cy="1200329"/>
          </a:xfrm>
          <a:prstGeom prst="rect">
            <a:avLst/>
          </a:prstGeom>
          <a:noFill/>
        </p:spPr>
        <p:txBody>
          <a:bodyPr wrap="square" rtlCol="0">
            <a:spAutoFit/>
          </a:bodyPr>
          <a:lstStyle/>
          <a:p>
            <a:pPr>
              <a:lnSpc>
                <a:spcPct val="150000"/>
              </a:lnSpc>
            </a:pPr>
            <a:r>
              <a:rPr lang="zh-CN" altLang="en-US" sz="2400" b="1" dirty="0" smtClean="0"/>
              <a:t>例</a:t>
            </a:r>
            <a:r>
              <a:rPr lang="en-US" altLang="zh-CN" sz="2400" b="1" dirty="0" smtClean="0"/>
              <a:t>18.5 </a:t>
            </a:r>
            <a:r>
              <a:rPr lang="zh-CN" altLang="en-US" sz="2400" b="1" dirty="0" smtClean="0"/>
              <a:t>一个检流计的线圈电阻为</a:t>
            </a:r>
            <a:r>
              <a:rPr lang="en-US" altLang="zh-CN" sz="2400" b="1" dirty="0" smtClean="0"/>
              <a:t>100</a:t>
            </a:r>
            <a:r>
              <a:rPr lang="en-US" altLang="zh-CN" sz="2400" b="1" dirty="0" smtClean="0">
                <a:sym typeface="Symbol Tiger Expert"/>
              </a:rPr>
              <a:t></a:t>
            </a:r>
            <a:r>
              <a:rPr lang="zh-CN" altLang="en-US" sz="2400" b="1" dirty="0" smtClean="0">
                <a:sym typeface="Symbol Tiger Expert"/>
              </a:rPr>
              <a:t>，要利用它制作一个量程为</a:t>
            </a:r>
            <a:r>
              <a:rPr lang="en-US" altLang="zh-CN" sz="2400" b="1" dirty="0" smtClean="0">
                <a:sym typeface="Symbol Tiger Expert"/>
              </a:rPr>
              <a:t>10.0</a:t>
            </a:r>
            <a:r>
              <a:rPr lang="en-US" altLang="zh-CN" sz="2400" b="1" dirty="0">
                <a:sym typeface="Symbol Tiger Expert"/>
              </a:rPr>
              <a:t> </a:t>
            </a:r>
            <a:r>
              <a:rPr lang="en-US" altLang="zh-CN" sz="2400" b="1" dirty="0" smtClean="0">
                <a:sym typeface="Symbol Tiger Expert"/>
              </a:rPr>
              <a:t>A</a:t>
            </a:r>
            <a:r>
              <a:rPr lang="zh-CN" altLang="en-US" sz="2400" b="1" dirty="0" smtClean="0">
                <a:sym typeface="Symbol Tiger Expert"/>
              </a:rPr>
              <a:t>的电流表。如果检流计的满偏电流为</a:t>
            </a:r>
            <a:r>
              <a:rPr lang="en-US" altLang="zh-CN" sz="2400" b="1" dirty="0" smtClean="0">
                <a:sym typeface="Symbol Tiger Expert"/>
              </a:rPr>
              <a:t>100</a:t>
            </a:r>
            <a:r>
              <a:rPr lang="en-US" altLang="zh-CN" sz="2400" b="1" dirty="0"/>
              <a:t>μA</a:t>
            </a:r>
            <a:r>
              <a:rPr lang="zh-CN" altLang="en-US" sz="2400" b="1" dirty="0" smtClean="0">
                <a:sym typeface="Symbol Tiger Expert"/>
              </a:rPr>
              <a:t>，则分流电阻器的阻值为多少？</a:t>
            </a:r>
            <a:endParaRPr lang="zh-CN" altLang="en-US" sz="2400" b="1" dirty="0"/>
          </a:p>
        </p:txBody>
      </p:sp>
      <p:pic>
        <p:nvPicPr>
          <p:cNvPr id="3" name="Picture 3" descr="gia12141_18_3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38106" y="2281342"/>
            <a:ext cx="6849094" cy="3273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653143" y="1881412"/>
            <a:ext cx="3669475" cy="3353097"/>
          </a:xfrm>
          <a:prstGeom prst="rect">
            <a:avLst/>
          </a:prstGeom>
          <a:noFill/>
        </p:spPr>
        <p:txBody>
          <a:bodyPr wrap="square" rtlCol="0">
            <a:spAutoFit/>
          </a:bodyPr>
          <a:lstStyle/>
          <a:p>
            <a:pPr>
              <a:lnSpc>
                <a:spcPct val="150000"/>
              </a:lnSpc>
            </a:pPr>
            <a:r>
              <a:rPr lang="zh-CN" altLang="en-US" sz="2400" b="1" dirty="0" smtClean="0"/>
              <a:t>分析：当</a:t>
            </a:r>
            <a:r>
              <a:rPr lang="en-US" altLang="zh-CN" sz="2400" b="1" dirty="0" smtClean="0"/>
              <a:t>10A</a:t>
            </a:r>
            <a:r>
              <a:rPr lang="zh-CN" altLang="en-US" sz="2400" b="1" dirty="0" smtClean="0"/>
              <a:t>电流流过电流表，其中</a:t>
            </a:r>
            <a:r>
              <a:rPr lang="en-US" altLang="zh-CN" sz="2400" b="1" dirty="0">
                <a:sym typeface="Symbol Tiger Expert"/>
              </a:rPr>
              <a:t>100</a:t>
            </a:r>
            <a:r>
              <a:rPr lang="en-US" altLang="zh-CN" sz="2400" b="1" dirty="0"/>
              <a:t>μA</a:t>
            </a:r>
            <a:r>
              <a:rPr lang="zh-CN" altLang="en-US" sz="2400" b="1" dirty="0" smtClean="0"/>
              <a:t>将流过检流计，另外</a:t>
            </a:r>
            <a:r>
              <a:rPr lang="en-US" altLang="zh-CN" sz="2400" b="1" dirty="0" smtClean="0"/>
              <a:t>9.9999A</a:t>
            </a:r>
            <a:r>
              <a:rPr lang="zh-CN" altLang="en-US" sz="2400" b="1" dirty="0" smtClean="0"/>
              <a:t>电流将流过分流电阻，由于检流计和分流电阻并联，因此它们两端的电势差相等。</a:t>
            </a:r>
            <a:endParaRPr lang="zh-CN" altLang="en-US" sz="2400" b="1"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0650" y="2021179"/>
            <a:ext cx="6991350" cy="346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2512766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64556" y="919409"/>
            <a:ext cx="9799900" cy="2554545"/>
          </a:xfrm>
          <a:prstGeom prst="rect">
            <a:avLst/>
          </a:prstGeom>
        </p:spPr>
        <p:txBody>
          <a:bodyPr wrap="square">
            <a:spAutoFit/>
          </a:bodyPr>
          <a:lstStyle/>
          <a:p>
            <a:r>
              <a:rPr lang="zh-CN" altLang="en-US" sz="3200" dirty="0"/>
              <a:t>练习题</a:t>
            </a:r>
            <a:r>
              <a:rPr lang="en-US" altLang="zh-CN" sz="3200" dirty="0"/>
              <a:t>18.5 </a:t>
            </a:r>
            <a:r>
              <a:rPr lang="en-US" altLang="zh-CN" sz="3200" dirty="0" smtClean="0"/>
              <a:t>    </a:t>
            </a:r>
            <a:r>
              <a:rPr lang="zh-CN" altLang="en-US" sz="3200" dirty="0" smtClean="0"/>
              <a:t>改变</a:t>
            </a:r>
            <a:r>
              <a:rPr lang="zh-CN" altLang="en-US" sz="3200" dirty="0"/>
              <a:t>电流表的量程</a:t>
            </a:r>
          </a:p>
          <a:p>
            <a:r>
              <a:rPr lang="zh-CN" altLang="en-US" sz="3200" dirty="0" smtClean="0"/>
              <a:t>如果</a:t>
            </a:r>
            <a:r>
              <a:rPr lang="zh-CN" altLang="en-US" sz="3200" dirty="0"/>
              <a:t>电流表要测量</a:t>
            </a:r>
            <a:r>
              <a:rPr lang="en-US" altLang="zh-CN" sz="3200" dirty="0"/>
              <a:t>0 </a:t>
            </a:r>
            <a:r>
              <a:rPr lang="zh-CN" altLang="en-US" sz="3200" dirty="0"/>
              <a:t>～ </a:t>
            </a:r>
            <a:r>
              <a:rPr lang="en-US" altLang="zh-CN" sz="3200" dirty="0"/>
              <a:t>1.00A </a:t>
            </a:r>
            <a:r>
              <a:rPr lang="zh-CN" altLang="en-US" sz="3200" dirty="0"/>
              <a:t>的电流（检流计内阻为</a:t>
            </a:r>
            <a:r>
              <a:rPr lang="en-US" altLang="zh-CN" sz="3200" dirty="0"/>
              <a:t>100</a:t>
            </a:r>
            <a:r>
              <a:rPr lang="en-US" altLang="zh-CN" sz="3200" dirty="0">
                <a:sym typeface="Symbol Tiger Expert"/>
              </a:rPr>
              <a:t></a:t>
            </a:r>
            <a:r>
              <a:rPr lang="zh-CN" altLang="en-US" sz="3200" dirty="0">
                <a:sym typeface="Symbol Tiger Expert"/>
              </a:rPr>
              <a:t>，满偏电流为</a:t>
            </a:r>
            <a:r>
              <a:rPr lang="en-US" altLang="zh-CN" sz="3200" dirty="0">
                <a:sym typeface="Symbol Tiger Expert"/>
              </a:rPr>
              <a:t>100</a:t>
            </a:r>
            <a:r>
              <a:rPr lang="en-US" altLang="zh-CN" sz="3200" dirty="0"/>
              <a:t>μA </a:t>
            </a:r>
            <a:r>
              <a:rPr lang="zh-CN" altLang="en-US" sz="3200" dirty="0"/>
              <a:t>），需要选用多大</a:t>
            </a:r>
            <a:r>
              <a:rPr lang="zh-CN" altLang="en-US" sz="3200" dirty="0" smtClean="0"/>
              <a:t>的分流</a:t>
            </a:r>
            <a:r>
              <a:rPr lang="zh-CN" altLang="en-US" sz="3200" dirty="0"/>
              <a:t>电阻？此时电流表的内阻为多少？利用例</a:t>
            </a:r>
            <a:r>
              <a:rPr lang="en-US" altLang="zh-CN" sz="3200" dirty="0"/>
              <a:t>18.5 </a:t>
            </a:r>
            <a:r>
              <a:rPr lang="zh-CN" altLang="en-US" sz="3200" dirty="0"/>
              <a:t>中相同的</a:t>
            </a:r>
          </a:p>
          <a:p>
            <a:r>
              <a:rPr lang="zh-CN" altLang="en-US" sz="3200" dirty="0"/>
              <a:t>检流计。</a:t>
            </a:r>
          </a:p>
        </p:txBody>
      </p:sp>
      <p:sp>
        <p:nvSpPr>
          <p:cNvPr id="3" name="TextBox 2"/>
          <p:cNvSpPr txBox="1"/>
          <p:nvPr/>
        </p:nvSpPr>
        <p:spPr>
          <a:xfrm>
            <a:off x="3217761" y="3508678"/>
            <a:ext cx="7041361" cy="584775"/>
          </a:xfrm>
          <a:prstGeom prst="rect">
            <a:avLst/>
          </a:prstGeom>
          <a:noFill/>
        </p:spPr>
        <p:txBody>
          <a:bodyPr wrap="square" rtlCol="0">
            <a:spAutoFit/>
          </a:bodyPr>
          <a:lstStyle/>
          <a:p>
            <a:r>
              <a:rPr lang="en-US" altLang="zh-CN" sz="3200" dirty="0" smtClean="0"/>
              <a:t>10m</a:t>
            </a:r>
            <a:r>
              <a:rPr lang="en-US" altLang="zh-CN" sz="3200" dirty="0">
                <a:sym typeface="Symbol Tiger Expert"/>
              </a:rPr>
              <a:t> </a:t>
            </a:r>
            <a:r>
              <a:rPr lang="en-US" altLang="zh-CN" sz="3200" dirty="0" smtClean="0">
                <a:sym typeface="Symbol Tiger Expert"/>
              </a:rPr>
              <a:t></a:t>
            </a:r>
            <a:r>
              <a:rPr lang="zh-CN" altLang="en-US" sz="3200" dirty="0" smtClean="0">
                <a:sym typeface="Symbol Tiger Expert"/>
              </a:rPr>
              <a:t>，</a:t>
            </a:r>
            <a:r>
              <a:rPr lang="en-US" altLang="zh-CN" sz="3200" dirty="0" smtClean="0">
                <a:sym typeface="Symbol Tiger Expert"/>
              </a:rPr>
              <a:t>R</a:t>
            </a:r>
            <a:r>
              <a:rPr lang="en-US" altLang="zh-CN" sz="3200" baseline="-25000" dirty="0" smtClean="0">
                <a:sym typeface="Symbol Tiger Expert"/>
              </a:rPr>
              <a:t>S</a:t>
            </a:r>
            <a:r>
              <a:rPr lang="en-US" altLang="zh-CN" sz="3200" dirty="0" smtClean="0">
                <a:sym typeface="Symbol Tiger Expert"/>
              </a:rPr>
              <a:t>=100</a:t>
            </a:r>
            <a:r>
              <a:rPr lang="zh-CN" altLang="en-US" sz="3200" dirty="0" smtClean="0">
                <a:sym typeface="Symbol Tiger Expert"/>
              </a:rPr>
              <a:t>*</a:t>
            </a:r>
            <a:r>
              <a:rPr lang="en-US" altLang="zh-CN" sz="3200" dirty="0" smtClean="0">
                <a:sym typeface="Symbol Tiger Expert"/>
              </a:rPr>
              <a:t>0.0001/0.9999</a:t>
            </a:r>
            <a:endParaRPr lang="zh-CN" altLang="en-US" sz="3200" dirty="0"/>
          </a:p>
        </p:txBody>
      </p:sp>
      <p:sp>
        <p:nvSpPr>
          <p:cNvPr id="4" name="TextBox 3"/>
          <p:cNvSpPr txBox="1"/>
          <p:nvPr/>
        </p:nvSpPr>
        <p:spPr>
          <a:xfrm>
            <a:off x="3217761" y="4633351"/>
            <a:ext cx="5474825" cy="584775"/>
          </a:xfrm>
          <a:prstGeom prst="rect">
            <a:avLst/>
          </a:prstGeom>
          <a:noFill/>
        </p:spPr>
        <p:txBody>
          <a:bodyPr wrap="square" rtlCol="0">
            <a:spAutoFit/>
          </a:bodyPr>
          <a:lstStyle/>
          <a:p>
            <a:r>
              <a:rPr lang="en-US" altLang="zh-CN" sz="3200" dirty="0" smtClean="0"/>
              <a:t>10m</a:t>
            </a:r>
            <a:r>
              <a:rPr lang="en-US" altLang="zh-CN" sz="3200" dirty="0">
                <a:sym typeface="Symbol Tiger Expert"/>
              </a:rPr>
              <a:t> </a:t>
            </a:r>
            <a:r>
              <a:rPr lang="en-US" altLang="zh-CN" sz="3200" dirty="0" smtClean="0">
                <a:sym typeface="Symbol Tiger Expert"/>
              </a:rPr>
              <a:t></a:t>
            </a:r>
            <a:r>
              <a:rPr lang="zh-CN" altLang="en-US" sz="3200" dirty="0" smtClean="0">
                <a:sym typeface="Symbol Tiger Expert"/>
              </a:rPr>
              <a:t>，</a:t>
            </a:r>
            <a:r>
              <a:rPr lang="en-US" altLang="zh-CN" sz="3200" dirty="0" smtClean="0">
                <a:sym typeface="Symbol Tiger Expert"/>
              </a:rPr>
              <a:t>(1/100+1/0.01)</a:t>
            </a:r>
            <a:r>
              <a:rPr lang="en-US" altLang="zh-CN" sz="3200" baseline="30000" dirty="0" smtClean="0">
                <a:sym typeface="Symbol Tiger Expert"/>
              </a:rPr>
              <a:t>-1</a:t>
            </a:r>
            <a:endParaRPr lang="zh-CN" altLang="en-US" sz="3200" baseline="30000" dirty="0"/>
          </a:p>
        </p:txBody>
      </p:sp>
    </p:spTree>
    <p:extLst>
      <p:ext uri="{BB962C8B-B14F-4D97-AF65-F5344CB8AC3E}">
        <p14:creationId xmlns:p14="http://schemas.microsoft.com/office/powerpoint/2010/main" val="4160971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610998" y="1376389"/>
            <a:ext cx="6907695" cy="4165575"/>
            <a:chOff x="4125166" y="1317812"/>
            <a:chExt cx="8066834" cy="5660976"/>
          </a:xfrm>
        </p:grpSpPr>
        <p:pic>
          <p:nvPicPr>
            <p:cNvPr id="4" name="图片 3"/>
            <p:cNvPicPr>
              <a:picLocks noChangeAspect="1"/>
            </p:cNvPicPr>
            <p:nvPr/>
          </p:nvPicPr>
          <p:blipFill>
            <a:blip r:embed="rId2" cstate="print"/>
            <a:stretch>
              <a:fillRect/>
            </a:stretch>
          </p:blipFill>
          <p:spPr>
            <a:xfrm>
              <a:off x="4125166" y="1317812"/>
              <a:ext cx="8066834" cy="4372930"/>
            </a:xfrm>
            <a:prstGeom prst="rect">
              <a:avLst/>
            </a:prstGeom>
          </p:spPr>
        </p:pic>
        <p:sp>
          <p:nvSpPr>
            <p:cNvPr id="5" name="文本框 4"/>
            <p:cNvSpPr txBox="1"/>
            <p:nvPr/>
          </p:nvSpPr>
          <p:spPr>
            <a:xfrm>
              <a:off x="4373886" y="5849471"/>
              <a:ext cx="7428445" cy="1129317"/>
            </a:xfrm>
            <a:prstGeom prst="rect">
              <a:avLst/>
            </a:prstGeom>
            <a:noFill/>
          </p:spPr>
          <p:txBody>
            <a:bodyPr wrap="none" rtlCol="0">
              <a:spAutoFit/>
            </a:bodyPr>
            <a:lstStyle/>
            <a:p>
              <a:r>
                <a:rPr lang="zh-CN" altLang="en-US" sz="2400" b="1" dirty="0" smtClean="0"/>
                <a:t>图</a:t>
              </a:r>
              <a:r>
                <a:rPr lang="en-US" altLang="zh-CN" sz="2400" b="1" dirty="0" smtClean="0"/>
                <a:t>18.28  a</a:t>
              </a:r>
              <a:r>
                <a:rPr lang="zh-CN" altLang="en-US" sz="2400" b="1" dirty="0" smtClean="0"/>
                <a:t>）利用一个检流计制作电压表；</a:t>
              </a:r>
              <a:endParaRPr lang="en-US" altLang="zh-CN" sz="2400" b="1" dirty="0" smtClean="0"/>
            </a:p>
            <a:p>
              <a:r>
                <a:rPr lang="en-US" altLang="zh-CN" sz="2400" b="1" dirty="0" smtClean="0"/>
                <a:t>b</a:t>
              </a:r>
              <a:r>
                <a:rPr lang="zh-CN" altLang="en-US" sz="2400" b="1" dirty="0" smtClean="0"/>
                <a:t>）利用电压表测量电阻器</a:t>
              </a:r>
              <a:r>
                <a:rPr lang="en-US" altLang="zh-CN" sz="2400" b="1" dirty="0" smtClean="0"/>
                <a:t>R</a:t>
              </a:r>
              <a:r>
                <a:rPr lang="zh-CN" altLang="en-US" sz="2400" b="1" dirty="0" smtClean="0"/>
                <a:t>两端电压的电路图</a:t>
              </a:r>
              <a:endParaRPr lang="zh-CN" altLang="en-US" sz="2400" b="1" dirty="0"/>
            </a:p>
          </p:txBody>
        </p:sp>
      </p:grpSp>
      <p:sp>
        <p:nvSpPr>
          <p:cNvPr id="6" name="文本框 5"/>
          <p:cNvSpPr txBox="1"/>
          <p:nvPr/>
        </p:nvSpPr>
        <p:spPr>
          <a:xfrm>
            <a:off x="374517" y="823676"/>
            <a:ext cx="11817483" cy="523220"/>
          </a:xfrm>
          <a:prstGeom prst="rect">
            <a:avLst/>
          </a:prstGeom>
          <a:noFill/>
        </p:spPr>
        <p:txBody>
          <a:bodyPr wrap="square" rtlCol="0">
            <a:spAutoFit/>
          </a:bodyPr>
          <a:lstStyle/>
          <a:p>
            <a:r>
              <a:rPr lang="zh-CN" altLang="en-US" sz="2800" b="1" dirty="0" smtClean="0"/>
              <a:t>将一个电阻器（</a:t>
            </a:r>
            <a:r>
              <a:rPr lang="en-US" altLang="zh-CN" sz="2800" b="1" i="1" dirty="0" smtClean="0">
                <a:latin typeface="Times New Roman" panose="02020603050405020304" pitchFamily="18" charset="0"/>
                <a:cs typeface="Times New Roman" panose="02020603050405020304" pitchFamily="18" charset="0"/>
              </a:rPr>
              <a:t>R</a:t>
            </a:r>
            <a:r>
              <a:rPr lang="en-US" altLang="zh-CN" sz="2800" b="1" baseline="-25000" dirty="0" smtClean="0">
                <a:latin typeface="Times New Roman" panose="02020603050405020304" pitchFamily="18" charset="0"/>
                <a:cs typeface="Times New Roman" panose="02020603050405020304" pitchFamily="18" charset="0"/>
              </a:rPr>
              <a:t>S</a:t>
            </a:r>
            <a:r>
              <a:rPr lang="zh-CN" altLang="en-US" sz="2800" b="1" dirty="0" smtClean="0"/>
              <a:t>）与检流计串联来制作一个电压表。</a:t>
            </a:r>
            <a:endParaRPr lang="zh-CN" altLang="en-US" sz="2800" b="1" dirty="0"/>
          </a:p>
        </p:txBody>
      </p:sp>
      <p:sp>
        <p:nvSpPr>
          <p:cNvPr id="7" name="文本框 6"/>
          <p:cNvSpPr txBox="1"/>
          <p:nvPr/>
        </p:nvSpPr>
        <p:spPr>
          <a:xfrm>
            <a:off x="273426" y="65610"/>
            <a:ext cx="2030388" cy="654410"/>
          </a:xfrm>
          <a:prstGeom prst="rect">
            <a:avLst/>
          </a:prstGeom>
          <a:noFill/>
        </p:spPr>
        <p:txBody>
          <a:bodyPr wrap="square" rtlCol="0">
            <a:spAutoFit/>
          </a:bodyPr>
          <a:lstStyle/>
          <a:p>
            <a:pPr>
              <a:lnSpc>
                <a:spcPct val="125000"/>
              </a:lnSpc>
            </a:pPr>
            <a:r>
              <a:rPr lang="zh-CN" altLang="en-US" sz="3200" b="1" smtClean="0">
                <a:solidFill>
                  <a:srgbClr val="FF0000"/>
                </a:solidFill>
              </a:rPr>
              <a:t>电压表</a:t>
            </a:r>
            <a:endParaRPr lang="zh-CN" altLang="en-US" sz="3200" b="1" dirty="0">
              <a:solidFill>
                <a:srgbClr val="FF0000"/>
              </a:solidFill>
            </a:endParaRPr>
          </a:p>
        </p:txBody>
      </p:sp>
      <p:sp>
        <p:nvSpPr>
          <p:cNvPr id="8" name="文本框 7"/>
          <p:cNvSpPr txBox="1"/>
          <p:nvPr/>
        </p:nvSpPr>
        <p:spPr>
          <a:xfrm>
            <a:off x="9741195" y="1708005"/>
            <a:ext cx="2195753" cy="1661289"/>
          </a:xfrm>
          <a:prstGeom prst="rect">
            <a:avLst/>
          </a:prstGeom>
          <a:noFill/>
        </p:spPr>
        <p:txBody>
          <a:bodyPr wrap="square" rtlCol="0">
            <a:spAutoFit/>
          </a:bodyPr>
          <a:lstStyle/>
          <a:p>
            <a:pPr>
              <a:lnSpc>
                <a:spcPct val="125000"/>
              </a:lnSpc>
            </a:pPr>
            <a:r>
              <a:rPr lang="zh-CN" altLang="en-US" sz="2800" b="1" dirty="0" smtClean="0">
                <a:solidFill>
                  <a:srgbClr val="FF0000"/>
                </a:solidFill>
              </a:rPr>
              <a:t>一个理想的电压表内阻无限大。</a:t>
            </a:r>
            <a:endParaRPr lang="zh-CN" altLang="en-US" sz="2800" b="1" dirty="0">
              <a:solidFill>
                <a:srgbClr val="FF0000"/>
              </a:solidFill>
            </a:endParaRPr>
          </a:p>
        </p:txBody>
      </p:sp>
    </p:spTree>
    <p:extLst>
      <p:ext uri="{BB962C8B-B14F-4D97-AF65-F5344CB8AC3E}">
        <p14:creationId xmlns:p14="http://schemas.microsoft.com/office/powerpoint/2010/main" val="2512984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2519" y="368134"/>
            <a:ext cx="10521537" cy="1384995"/>
          </a:xfrm>
          <a:prstGeom prst="rect">
            <a:avLst/>
          </a:prstGeom>
          <a:noFill/>
        </p:spPr>
        <p:txBody>
          <a:bodyPr wrap="square" rtlCol="0">
            <a:spAutoFit/>
          </a:bodyPr>
          <a:lstStyle/>
          <a:p>
            <a:pPr>
              <a:lnSpc>
                <a:spcPct val="150000"/>
              </a:lnSpc>
            </a:pPr>
            <a:r>
              <a:rPr lang="zh-CN" altLang="en-US" sz="2800" b="1" dirty="0" smtClean="0"/>
              <a:t>利用检流计制作一个量程为</a:t>
            </a:r>
            <a:r>
              <a:rPr lang="en-US" altLang="zh-CN" sz="2800" b="1" dirty="0" smtClean="0"/>
              <a:t>100</a:t>
            </a:r>
            <a:r>
              <a:rPr lang="en-US" altLang="zh-CN" sz="2800" b="1" dirty="0"/>
              <a:t>.</a:t>
            </a:r>
            <a:r>
              <a:rPr lang="en-US" altLang="zh-CN" sz="2800" b="1" dirty="0" smtClean="0"/>
              <a:t>0V</a:t>
            </a:r>
            <a:r>
              <a:rPr lang="zh-CN" altLang="en-US" sz="2800" b="1" dirty="0" smtClean="0"/>
              <a:t>的电压表。如果检流计的内阻为</a:t>
            </a:r>
            <a:r>
              <a:rPr lang="en-US" altLang="zh-CN" sz="2800" b="1" dirty="0" smtClean="0"/>
              <a:t>75</a:t>
            </a:r>
            <a:r>
              <a:rPr lang="en-US" altLang="zh-CN" sz="2800" b="1" dirty="0">
                <a:sym typeface="Symbol Tiger Expert"/>
              </a:rPr>
              <a:t> </a:t>
            </a:r>
            <a:r>
              <a:rPr lang="en-US" altLang="zh-CN" sz="2800" b="1" dirty="0" smtClean="0">
                <a:sym typeface="Symbol Tiger Expert"/>
              </a:rPr>
              <a:t></a:t>
            </a:r>
            <a:r>
              <a:rPr lang="zh-CN" altLang="en-US" sz="2800" b="1" dirty="0" smtClean="0">
                <a:sym typeface="Symbol Tiger Expert"/>
              </a:rPr>
              <a:t>，满偏电流为</a:t>
            </a:r>
            <a:r>
              <a:rPr lang="en-US" altLang="zh-CN" sz="2800" b="1" dirty="0" smtClean="0">
                <a:sym typeface="Symbol Tiger Expert"/>
              </a:rPr>
              <a:t>2.0mA</a:t>
            </a:r>
            <a:r>
              <a:rPr lang="zh-CN" altLang="en-US" sz="2800" b="1" dirty="0" smtClean="0">
                <a:sym typeface="Symbol Tiger Expert"/>
              </a:rPr>
              <a:t>，问与检流计串联的电阻器的阻值为多少？</a:t>
            </a:r>
            <a:endParaRPr lang="zh-CN" altLang="en-US" sz="2800" b="1" dirty="0"/>
          </a:p>
        </p:txBody>
      </p:sp>
      <p:pic>
        <p:nvPicPr>
          <p:cNvPr id="6" name="Picture 3" descr="gia12141_18_3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3840" y="2397661"/>
            <a:ext cx="6728160" cy="3646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498763" y="2231406"/>
            <a:ext cx="4858199" cy="3416320"/>
          </a:xfrm>
          <a:prstGeom prst="rect">
            <a:avLst/>
          </a:prstGeom>
          <a:noFill/>
        </p:spPr>
        <p:txBody>
          <a:bodyPr wrap="square" rtlCol="0">
            <a:spAutoFit/>
          </a:bodyPr>
          <a:lstStyle/>
          <a:p>
            <a:pPr>
              <a:lnSpc>
                <a:spcPct val="150000"/>
              </a:lnSpc>
            </a:pPr>
            <a:r>
              <a:rPr lang="zh-CN" altLang="en-US" sz="2400" b="1" dirty="0" smtClean="0"/>
              <a:t>分析：当电压表两端的电压为</a:t>
            </a:r>
            <a:r>
              <a:rPr lang="en-US" altLang="zh-CN" sz="2400" b="1" dirty="0" smtClean="0"/>
              <a:t>100V</a:t>
            </a:r>
            <a:r>
              <a:rPr lang="zh-CN" altLang="en-US" sz="2400" b="1" dirty="0" smtClean="0"/>
              <a:t>时，流过检流计的电流为满偏电流</a:t>
            </a:r>
            <a:r>
              <a:rPr lang="en-US" altLang="zh-CN" sz="2400" b="1" dirty="0" smtClean="0"/>
              <a:t>2.0mA</a:t>
            </a:r>
            <a:r>
              <a:rPr lang="zh-CN" altLang="en-US" sz="2400" b="1" dirty="0" smtClean="0"/>
              <a:t>，流过串联电阻的电流也为</a:t>
            </a:r>
            <a:r>
              <a:rPr lang="en-US" altLang="zh-CN" sz="2400" b="1" dirty="0" smtClean="0"/>
              <a:t>2.0mA</a:t>
            </a:r>
            <a:r>
              <a:rPr lang="zh-CN" altLang="en-US" sz="2400" b="1" dirty="0" smtClean="0"/>
              <a:t>。因电压表两端的电压为检流计两端的电压加上串联电阻器两端的电压。</a:t>
            </a:r>
            <a:endParaRPr lang="zh-CN" altLang="en-US" sz="2400" b="1" dirty="0"/>
          </a:p>
        </p:txBody>
      </p:sp>
      <p:sp>
        <p:nvSpPr>
          <p:cNvPr id="3" name="TextBox 2"/>
          <p:cNvSpPr txBox="1"/>
          <p:nvPr/>
        </p:nvSpPr>
        <p:spPr>
          <a:xfrm>
            <a:off x="712519" y="5896708"/>
            <a:ext cx="4375296" cy="523220"/>
          </a:xfrm>
          <a:prstGeom prst="rect">
            <a:avLst/>
          </a:prstGeom>
          <a:noFill/>
        </p:spPr>
        <p:txBody>
          <a:bodyPr wrap="square" rtlCol="0">
            <a:spAutoFit/>
          </a:bodyPr>
          <a:lstStyle/>
          <a:p>
            <a:r>
              <a:rPr lang="en-US" altLang="zh-CN" sz="2800" b="1" dirty="0" smtClean="0"/>
              <a:t>49925</a:t>
            </a:r>
            <a:r>
              <a:rPr lang="en-US" altLang="zh-CN" sz="2800" b="1" dirty="0" smtClean="0">
                <a:sym typeface="Symbol Tiger Expert"/>
              </a:rPr>
              <a:t> </a:t>
            </a:r>
            <a:r>
              <a:rPr lang="en-US" altLang="zh-CN" sz="2800" b="1" smtClean="0">
                <a:sym typeface="Symbol Tiger Expert"/>
              </a:rPr>
              <a:t>,   0.002(75+R</a:t>
            </a:r>
            <a:r>
              <a:rPr lang="en-US" altLang="zh-CN" sz="2800" b="1" baseline="-25000" smtClean="0">
                <a:sym typeface="Symbol Tiger Expert"/>
              </a:rPr>
              <a:t>S</a:t>
            </a:r>
            <a:r>
              <a:rPr lang="en-US" altLang="zh-CN" sz="2800" b="1" dirty="0" smtClean="0">
                <a:sym typeface="Symbol Tiger Expert"/>
              </a:rPr>
              <a:t>)=100</a:t>
            </a:r>
            <a:endParaRPr lang="zh-CN" altLang="en-US" sz="2800" dirty="0"/>
          </a:p>
        </p:txBody>
      </p:sp>
    </p:spTree>
    <p:extLst>
      <p:ext uri="{BB962C8B-B14F-4D97-AF65-F5344CB8AC3E}">
        <p14:creationId xmlns:p14="http://schemas.microsoft.com/office/powerpoint/2010/main" val="4291088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gia12141_18_34"/>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9146"/>
          <a:stretch/>
        </p:blipFill>
        <p:spPr bwMode="auto">
          <a:xfrm>
            <a:off x="1586753" y="704258"/>
            <a:ext cx="8323729" cy="2430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2"/>
          <p:cNvSpPr txBox="1"/>
          <p:nvPr/>
        </p:nvSpPr>
        <p:spPr>
          <a:xfrm>
            <a:off x="760276" y="3273154"/>
            <a:ext cx="10287001" cy="1708160"/>
          </a:xfrm>
          <a:prstGeom prst="rect">
            <a:avLst/>
          </a:prstGeom>
          <a:noFill/>
        </p:spPr>
        <p:txBody>
          <a:bodyPr wrap="square" rtlCol="0">
            <a:spAutoFit/>
          </a:bodyPr>
          <a:lstStyle/>
          <a:p>
            <a:pPr>
              <a:lnSpc>
                <a:spcPct val="125000"/>
              </a:lnSpc>
            </a:pPr>
            <a:r>
              <a:rPr lang="zh-CN" altLang="en-US" sz="2800" b="1" dirty="0" smtClean="0"/>
              <a:t>图</a:t>
            </a:r>
            <a:r>
              <a:rPr lang="en-US" altLang="zh-CN" sz="2800" b="1" dirty="0" smtClean="0"/>
              <a:t>18.29 </a:t>
            </a:r>
            <a:r>
              <a:rPr lang="zh-CN" altLang="en-US" sz="2800" b="1" dirty="0" smtClean="0"/>
              <a:t>利用电流表和电压表测量电阻</a:t>
            </a:r>
            <a:r>
              <a:rPr lang="en-US" altLang="zh-CN" sz="2800" b="1" dirty="0" smtClean="0"/>
              <a:t>R</a:t>
            </a:r>
            <a:r>
              <a:rPr lang="zh-CN" altLang="en-US" sz="2800" b="1" dirty="0" smtClean="0"/>
              <a:t>的两种接法。如果电流表和电压表是理想的（</a:t>
            </a:r>
            <a:r>
              <a:rPr lang="zh-CN" altLang="en-US" sz="2800" b="1" dirty="0" smtClean="0">
                <a:solidFill>
                  <a:srgbClr val="FF0000"/>
                </a:solidFill>
              </a:rPr>
              <a:t>电流表的内阻为零，电压表的内阻为无限大</a:t>
            </a:r>
            <a:r>
              <a:rPr lang="zh-CN" altLang="en-US" sz="2800" b="1" dirty="0" smtClean="0"/>
              <a:t>），两种接法会得到几乎完全相同的测量结果。</a:t>
            </a:r>
            <a:endParaRPr lang="zh-CN" altLang="en-US" sz="2800" b="1" dirty="0"/>
          </a:p>
        </p:txBody>
      </p:sp>
    </p:spTree>
    <p:extLst>
      <p:ext uri="{BB962C8B-B14F-4D97-AF65-F5344CB8AC3E}">
        <p14:creationId xmlns:p14="http://schemas.microsoft.com/office/powerpoint/2010/main" val="243280504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80304" y="47812"/>
            <a:ext cx="3441968" cy="707886"/>
          </a:xfrm>
          <a:prstGeom prst="rect">
            <a:avLst/>
          </a:prstGeom>
          <a:noFill/>
        </p:spPr>
        <p:txBody>
          <a:bodyPr wrap="none" rtlCol="0">
            <a:spAutoFit/>
          </a:bodyPr>
          <a:lstStyle/>
          <a:p>
            <a:r>
              <a:rPr lang="en-US" altLang="zh-CN" sz="4000" b="1" dirty="0" smtClean="0">
                <a:solidFill>
                  <a:srgbClr val="000099"/>
                </a:solidFill>
              </a:rPr>
              <a:t>18.10 </a:t>
            </a:r>
            <a:r>
              <a:rPr lang="en-US" altLang="zh-CN" sz="4000" b="1" i="1" dirty="0" smtClean="0">
                <a:solidFill>
                  <a:srgbClr val="000099"/>
                </a:solidFill>
                <a:latin typeface="Times New Roman" panose="02020603050405020304" pitchFamily="18" charset="0"/>
                <a:cs typeface="Times New Roman" panose="02020603050405020304" pitchFamily="18" charset="0"/>
              </a:rPr>
              <a:t>RC</a:t>
            </a:r>
            <a:r>
              <a:rPr lang="zh-CN" altLang="en-US" sz="4000" b="1" dirty="0" smtClean="0">
                <a:solidFill>
                  <a:srgbClr val="000099"/>
                </a:solidFill>
              </a:rPr>
              <a:t>电路</a:t>
            </a:r>
            <a:r>
              <a:rPr lang="en-US" altLang="zh-CN" sz="4000" b="1" dirty="0" smtClean="0">
                <a:solidFill>
                  <a:srgbClr val="000099"/>
                </a:solidFill>
              </a:rPr>
              <a:t>*</a:t>
            </a:r>
            <a:endParaRPr lang="zh-CN" altLang="en-US" sz="4000" b="1" dirty="0">
              <a:solidFill>
                <a:srgbClr val="000099"/>
              </a:solidFill>
            </a:endParaRPr>
          </a:p>
        </p:txBody>
      </p:sp>
      <p:sp>
        <p:nvSpPr>
          <p:cNvPr id="5" name="文本框 4"/>
          <p:cNvSpPr txBox="1"/>
          <p:nvPr/>
        </p:nvSpPr>
        <p:spPr>
          <a:xfrm>
            <a:off x="180304" y="2025215"/>
            <a:ext cx="7357635" cy="707886"/>
          </a:xfrm>
          <a:prstGeom prst="rect">
            <a:avLst/>
          </a:prstGeom>
          <a:noFill/>
        </p:spPr>
        <p:txBody>
          <a:bodyPr wrap="square" rtlCol="0">
            <a:spAutoFit/>
          </a:bodyPr>
          <a:lstStyle/>
          <a:p>
            <a:pPr>
              <a:lnSpc>
                <a:spcPct val="125000"/>
              </a:lnSpc>
            </a:pPr>
            <a:r>
              <a:rPr lang="en-US" altLang="zh-CN" sz="3200" b="1" dirty="0" smtClean="0"/>
              <a:t>1. </a:t>
            </a:r>
            <a:r>
              <a:rPr lang="en-US" altLang="zh-CN" sz="3200" b="1" i="1" dirty="0" smtClean="0">
                <a:latin typeface="Times New Roman" panose="02020603050405020304" pitchFamily="18" charset="0"/>
                <a:cs typeface="Times New Roman" panose="02020603050405020304" pitchFamily="18" charset="0"/>
              </a:rPr>
              <a:t>RC</a:t>
            </a:r>
            <a:r>
              <a:rPr lang="zh-CN" altLang="en-US" sz="3200" b="1" dirty="0" smtClean="0"/>
              <a:t>电路的充电</a:t>
            </a:r>
            <a:endParaRPr lang="zh-CN" altLang="en-US" sz="3200" dirty="0"/>
          </a:p>
        </p:txBody>
      </p:sp>
      <p:sp>
        <p:nvSpPr>
          <p:cNvPr id="6" name="文本框 5"/>
          <p:cNvSpPr txBox="1"/>
          <p:nvPr/>
        </p:nvSpPr>
        <p:spPr>
          <a:xfrm>
            <a:off x="335671" y="783968"/>
            <a:ext cx="11611631" cy="1384995"/>
          </a:xfrm>
          <a:prstGeom prst="rect">
            <a:avLst/>
          </a:prstGeom>
          <a:noFill/>
        </p:spPr>
        <p:txBody>
          <a:bodyPr wrap="square" rtlCol="0">
            <a:spAutoFit/>
          </a:bodyPr>
          <a:lstStyle/>
          <a:p>
            <a:r>
              <a:rPr lang="en-US" altLang="zh-CN" sz="2800" b="1" i="1" dirty="0" smtClean="0">
                <a:latin typeface="Times New Roman" panose="02020603050405020304" pitchFamily="18" charset="0"/>
                <a:cs typeface="Times New Roman" panose="02020603050405020304" pitchFamily="18" charset="0"/>
              </a:rPr>
              <a:t>RC</a:t>
            </a:r>
            <a:r>
              <a:rPr lang="zh-CN" altLang="en-US" sz="2800" b="1" dirty="0" smtClean="0"/>
              <a:t>电路通常被用来控制定时。如：雨刷的间歇性工作，闪光灯及某些心脏起搏器中的时间延迟，或作为神经脉冲传输的简单模型。连续两次刷动之间的时间延迟由电路中的电阻值和电容值决定。</a:t>
            </a:r>
            <a:endParaRPr lang="zh-CN" altLang="en-US" sz="2800" b="1" dirty="0"/>
          </a:p>
        </p:txBody>
      </p:sp>
      <p:pic>
        <p:nvPicPr>
          <p:cNvPr id="7"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66259" y="1711874"/>
            <a:ext cx="3514725" cy="156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文本框 7"/>
          <p:cNvSpPr txBox="1"/>
          <p:nvPr/>
        </p:nvSpPr>
        <p:spPr>
          <a:xfrm>
            <a:off x="8888860" y="3451076"/>
            <a:ext cx="2270173" cy="461665"/>
          </a:xfrm>
          <a:prstGeom prst="rect">
            <a:avLst/>
          </a:prstGeom>
          <a:noFill/>
        </p:spPr>
        <p:txBody>
          <a:bodyPr wrap="none" rtlCol="0">
            <a:spAutoFit/>
          </a:bodyPr>
          <a:lstStyle/>
          <a:p>
            <a:r>
              <a:rPr lang="zh-CN" altLang="en-US" sz="2400" dirty="0" smtClean="0">
                <a:latin typeface="Times New Roman" panose="02020603050405020304" pitchFamily="18" charset="0"/>
                <a:cs typeface="Times New Roman" panose="02020603050405020304" pitchFamily="18" charset="0"/>
              </a:rPr>
              <a:t>图</a:t>
            </a:r>
            <a:r>
              <a:rPr lang="en-US" altLang="zh-CN" sz="2400" dirty="0" smtClean="0">
                <a:latin typeface="Times New Roman" panose="02020603050405020304" pitchFamily="18" charset="0"/>
                <a:cs typeface="Times New Roman" panose="02020603050405020304" pitchFamily="18" charset="0"/>
              </a:rPr>
              <a:t>18.30 </a:t>
            </a:r>
            <a:r>
              <a:rPr lang="en-US" altLang="zh-CN" sz="2400" i="1" dirty="0" smtClean="0">
                <a:latin typeface="Times New Roman" panose="02020603050405020304" pitchFamily="18" charset="0"/>
                <a:cs typeface="Times New Roman" panose="02020603050405020304" pitchFamily="18" charset="0"/>
              </a:rPr>
              <a:t>RC</a:t>
            </a:r>
            <a:r>
              <a:rPr lang="zh-CN" altLang="en-US" sz="2400" dirty="0" smtClean="0">
                <a:latin typeface="Times New Roman" panose="02020603050405020304" pitchFamily="18" charset="0"/>
                <a:cs typeface="Times New Roman" panose="02020603050405020304" pitchFamily="18" charset="0"/>
              </a:rPr>
              <a:t>电路</a:t>
            </a:r>
            <a:endParaRPr lang="zh-CN" altLang="en-US" sz="2400" dirty="0">
              <a:latin typeface="Times New Roman" panose="02020603050405020304" pitchFamily="18" charset="0"/>
              <a:cs typeface="Times New Roman" panose="02020603050405020304" pitchFamily="18" charset="0"/>
            </a:endParaRPr>
          </a:p>
        </p:txBody>
      </p:sp>
      <p:pic>
        <p:nvPicPr>
          <p:cNvPr id="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41678" y="3273975"/>
            <a:ext cx="2400300"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文本框 9"/>
          <p:cNvSpPr txBox="1"/>
          <p:nvPr/>
        </p:nvSpPr>
        <p:spPr>
          <a:xfrm>
            <a:off x="1" y="2641736"/>
            <a:ext cx="9460523" cy="553998"/>
          </a:xfrm>
          <a:prstGeom prst="rect">
            <a:avLst/>
          </a:prstGeom>
          <a:noFill/>
        </p:spPr>
        <p:txBody>
          <a:bodyPr wrap="square" rtlCol="0">
            <a:spAutoFit/>
          </a:bodyPr>
          <a:lstStyle/>
          <a:p>
            <a:pPr>
              <a:lnSpc>
                <a:spcPct val="125000"/>
              </a:lnSpc>
            </a:pPr>
            <a:r>
              <a:rPr lang="zh-CN" altLang="en-US" sz="2400" dirty="0" smtClean="0"/>
              <a:t>在任意时刻，基尔霍夫回路电压定律都要求</a:t>
            </a:r>
            <a:endParaRPr lang="zh-CN" altLang="en-US" sz="2400" dirty="0"/>
          </a:p>
        </p:txBody>
      </p:sp>
      <p:sp>
        <p:nvSpPr>
          <p:cNvPr id="11" name="文本框 10"/>
          <p:cNvSpPr txBox="1"/>
          <p:nvPr/>
        </p:nvSpPr>
        <p:spPr>
          <a:xfrm>
            <a:off x="1" y="3801439"/>
            <a:ext cx="8510631" cy="553998"/>
          </a:xfrm>
          <a:prstGeom prst="rect">
            <a:avLst/>
          </a:prstGeom>
          <a:noFill/>
        </p:spPr>
        <p:txBody>
          <a:bodyPr wrap="square" rtlCol="0">
            <a:spAutoFit/>
          </a:bodyPr>
          <a:lstStyle/>
          <a:p>
            <a:pPr>
              <a:lnSpc>
                <a:spcPct val="125000"/>
              </a:lnSpc>
            </a:pPr>
            <a:r>
              <a:rPr lang="zh-CN" altLang="en-US" sz="2400" dirty="0" smtClean="0"/>
              <a:t>电容器两端的电压降随时间的变化是指数函数：</a:t>
            </a:r>
            <a:endParaRPr lang="zh-CN" altLang="en-US" sz="2400" dirty="0"/>
          </a:p>
        </p:txBody>
      </p:sp>
      <p:pic>
        <p:nvPicPr>
          <p:cNvPr id="12"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77934" y="4499524"/>
            <a:ext cx="3547020" cy="642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文本框 12"/>
          <p:cNvSpPr txBox="1"/>
          <p:nvPr/>
        </p:nvSpPr>
        <p:spPr>
          <a:xfrm>
            <a:off x="1" y="5240267"/>
            <a:ext cx="8393721" cy="630942"/>
          </a:xfrm>
          <a:prstGeom prst="rect">
            <a:avLst/>
          </a:prstGeom>
          <a:noFill/>
        </p:spPr>
        <p:txBody>
          <a:bodyPr wrap="square" rtlCol="0">
            <a:spAutoFit/>
          </a:bodyPr>
          <a:lstStyle/>
          <a:p>
            <a:pPr>
              <a:lnSpc>
                <a:spcPct val="125000"/>
              </a:lnSpc>
            </a:pPr>
            <a:r>
              <a:rPr lang="zh-CN" altLang="en-US" sz="2800" dirty="0" smtClean="0"/>
              <a:t>常量</a:t>
            </a:r>
            <a:r>
              <a:rPr lang="el-GR" altLang="zh-CN" sz="2800" b="1" i="1" dirty="0" smtClean="0">
                <a:solidFill>
                  <a:srgbClr val="FF0000"/>
                </a:solidFill>
                <a:latin typeface="Times New Roman" panose="02020603050405020304" pitchFamily="18" charset="0"/>
                <a:cs typeface="Times New Roman" panose="02020603050405020304" pitchFamily="18" charset="0"/>
              </a:rPr>
              <a:t>τ</a:t>
            </a:r>
            <a:r>
              <a:rPr lang="en-US" altLang="zh-CN" sz="2800" b="1" dirty="0" smtClean="0">
                <a:solidFill>
                  <a:srgbClr val="FF0000"/>
                </a:solidFill>
                <a:latin typeface="Times New Roman" panose="02020603050405020304" pitchFamily="18" charset="0"/>
                <a:cs typeface="Times New Roman" panose="02020603050405020304" pitchFamily="18" charset="0"/>
              </a:rPr>
              <a:t>=</a:t>
            </a:r>
            <a:r>
              <a:rPr lang="en-US" altLang="zh-CN" sz="2800" b="1" i="1" dirty="0" smtClean="0">
                <a:solidFill>
                  <a:srgbClr val="FF0000"/>
                </a:solidFill>
                <a:latin typeface="Times New Roman" panose="02020603050405020304" pitchFamily="18" charset="0"/>
                <a:cs typeface="Times New Roman" panose="02020603050405020304" pitchFamily="18" charset="0"/>
              </a:rPr>
              <a:t>RC</a:t>
            </a:r>
            <a:r>
              <a:rPr lang="zh-CN" altLang="en-US" sz="2800" dirty="0" smtClean="0">
                <a:latin typeface="Times New Roman" panose="02020603050405020304" pitchFamily="18" charset="0"/>
                <a:cs typeface="Times New Roman" panose="02020603050405020304" pitchFamily="18" charset="0"/>
              </a:rPr>
              <a:t>称为</a:t>
            </a:r>
            <a:r>
              <a:rPr lang="en-US" altLang="zh-CN" sz="2800" i="1" dirty="0" smtClean="0">
                <a:latin typeface="Times New Roman" panose="02020603050405020304" pitchFamily="18" charset="0"/>
                <a:cs typeface="Times New Roman" panose="02020603050405020304" pitchFamily="18" charset="0"/>
              </a:rPr>
              <a:t>RC</a:t>
            </a:r>
            <a:r>
              <a:rPr lang="zh-CN" altLang="en-US" sz="2800" dirty="0" smtClean="0"/>
              <a:t>电路的</a:t>
            </a:r>
            <a:r>
              <a:rPr lang="zh-CN" altLang="en-US" sz="2800" b="1" dirty="0" smtClean="0">
                <a:solidFill>
                  <a:srgbClr val="FF0000"/>
                </a:solidFill>
              </a:rPr>
              <a:t>时间常数</a:t>
            </a:r>
            <a:r>
              <a:rPr lang="zh-CN" altLang="en-US" sz="2800" dirty="0" smtClean="0"/>
              <a:t>。</a:t>
            </a:r>
            <a:endParaRPr lang="zh-CN" altLang="en-US" sz="2800" dirty="0"/>
          </a:p>
        </p:txBody>
      </p:sp>
      <p:sp>
        <p:nvSpPr>
          <p:cNvPr id="2" name="文本框 1"/>
          <p:cNvSpPr txBox="1"/>
          <p:nvPr/>
        </p:nvSpPr>
        <p:spPr>
          <a:xfrm>
            <a:off x="7049200" y="4341902"/>
            <a:ext cx="2924198" cy="523220"/>
          </a:xfrm>
          <a:prstGeom prst="rect">
            <a:avLst/>
          </a:prstGeom>
          <a:noFill/>
        </p:spPr>
        <p:txBody>
          <a:bodyPr wrap="none" rtlCol="0">
            <a:spAutoFit/>
          </a:bodyPr>
          <a:lstStyle/>
          <a:p>
            <a:r>
              <a:rPr lang="en-US" altLang="zh-CN" sz="2800" dirty="0" smtClean="0">
                <a:latin typeface="Times New Roman" panose="02020603050405020304" pitchFamily="18" charset="0"/>
                <a:cs typeface="Times New Roman" panose="02020603050405020304" pitchFamily="18" charset="0"/>
              </a:rPr>
              <a:t>[</a:t>
            </a:r>
            <a:r>
              <a:rPr lang="en-US" altLang="zh-CN" sz="2800" i="1" dirty="0" smtClean="0">
                <a:latin typeface="Times New Roman" panose="02020603050405020304" pitchFamily="18" charset="0"/>
                <a:cs typeface="Times New Roman" panose="02020603050405020304" pitchFamily="18" charset="0"/>
              </a:rPr>
              <a:t>R</a:t>
            </a:r>
            <a:r>
              <a:rPr lang="en-US" altLang="zh-CN" sz="2800" dirty="0" smtClean="0">
                <a:latin typeface="Times New Roman" panose="02020603050405020304" pitchFamily="18" charset="0"/>
                <a:cs typeface="Times New Roman" panose="02020603050405020304" pitchFamily="18" charset="0"/>
              </a:rPr>
              <a:t>]=V/A, [</a:t>
            </a:r>
            <a:r>
              <a:rPr lang="en-US" altLang="zh-CN" sz="2800" i="1" dirty="0" smtClean="0">
                <a:latin typeface="Times New Roman" panose="02020603050405020304" pitchFamily="18" charset="0"/>
                <a:cs typeface="Times New Roman" panose="02020603050405020304" pitchFamily="18" charset="0"/>
              </a:rPr>
              <a:t>C</a:t>
            </a:r>
            <a:r>
              <a:rPr lang="en-US" altLang="zh-CN" sz="2800" dirty="0" smtClean="0">
                <a:latin typeface="Times New Roman" panose="02020603050405020304" pitchFamily="18" charset="0"/>
                <a:cs typeface="Times New Roman" panose="02020603050405020304" pitchFamily="18" charset="0"/>
              </a:rPr>
              <a:t>]=C/V</a:t>
            </a:r>
            <a:endParaRPr lang="zh-CN" altLang="en-US" sz="2800" dirty="0">
              <a:latin typeface="Times New Roman" panose="02020603050405020304" pitchFamily="18" charset="0"/>
              <a:cs typeface="Times New Roman" panose="02020603050405020304" pitchFamily="18" charset="0"/>
            </a:endParaRPr>
          </a:p>
        </p:txBody>
      </p:sp>
      <p:sp>
        <p:nvSpPr>
          <p:cNvPr id="14" name="文本框 13"/>
          <p:cNvSpPr txBox="1"/>
          <p:nvPr/>
        </p:nvSpPr>
        <p:spPr>
          <a:xfrm>
            <a:off x="7400892" y="5017250"/>
            <a:ext cx="2563522" cy="523220"/>
          </a:xfrm>
          <a:prstGeom prst="rect">
            <a:avLst/>
          </a:prstGeom>
          <a:noFill/>
        </p:spPr>
        <p:txBody>
          <a:bodyPr wrap="none" rtlCol="0">
            <a:spAutoFit/>
          </a:bodyPr>
          <a:lstStyle/>
          <a:p>
            <a:r>
              <a:rPr lang="en-US" altLang="zh-CN" sz="2800" dirty="0" smtClean="0">
                <a:latin typeface="Times New Roman" panose="02020603050405020304" pitchFamily="18" charset="0"/>
                <a:cs typeface="Times New Roman" panose="02020603050405020304" pitchFamily="18" charset="0"/>
              </a:rPr>
              <a:t>→  [</a:t>
            </a:r>
            <a:r>
              <a:rPr lang="en-US" altLang="zh-CN" sz="2800" i="1" dirty="0" smtClean="0">
                <a:latin typeface="Times New Roman" panose="02020603050405020304" pitchFamily="18" charset="0"/>
                <a:cs typeface="Times New Roman" panose="02020603050405020304" pitchFamily="18" charset="0"/>
              </a:rPr>
              <a:t>RC</a:t>
            </a:r>
            <a:r>
              <a:rPr lang="en-US" altLang="zh-CN" sz="2800" dirty="0" smtClean="0">
                <a:latin typeface="Times New Roman" panose="02020603050405020304" pitchFamily="18" charset="0"/>
                <a:cs typeface="Times New Roman" panose="02020603050405020304" pitchFamily="18" charset="0"/>
              </a:rPr>
              <a:t>]=C/A=s</a:t>
            </a:r>
            <a:endParaRPr lang="zh-CN" altLang="en-US" sz="2800" dirty="0">
              <a:latin typeface="Times New Roman" panose="02020603050405020304" pitchFamily="18" charset="0"/>
              <a:cs typeface="Times New Roman" panose="02020603050405020304" pitchFamily="18" charset="0"/>
            </a:endParaRPr>
          </a:p>
        </p:txBody>
      </p:sp>
      <p:sp>
        <p:nvSpPr>
          <p:cNvPr id="3" name="文本框 2"/>
          <p:cNvSpPr txBox="1"/>
          <p:nvPr/>
        </p:nvSpPr>
        <p:spPr>
          <a:xfrm>
            <a:off x="621369" y="6055016"/>
            <a:ext cx="7571303" cy="584775"/>
          </a:xfrm>
          <a:prstGeom prst="rect">
            <a:avLst/>
          </a:prstGeom>
          <a:noFill/>
        </p:spPr>
        <p:txBody>
          <a:bodyPr wrap="none" rtlCol="0">
            <a:spAutoFit/>
          </a:bodyPr>
          <a:lstStyle/>
          <a:p>
            <a:r>
              <a:rPr lang="zh-CN" altLang="en-US" sz="3200" b="1" dirty="0" smtClean="0">
                <a:solidFill>
                  <a:srgbClr val="FF0000"/>
                </a:solidFill>
              </a:rPr>
              <a:t>时间常数是电容器充电快慢程度的量度。</a:t>
            </a:r>
            <a:endParaRPr lang="zh-CN" altLang="en-US" sz="3200" b="1" dirty="0">
              <a:solidFill>
                <a:srgbClr val="FF0000"/>
              </a:solidFill>
            </a:endParaRPr>
          </a:p>
        </p:txBody>
      </p:sp>
      <p:sp>
        <p:nvSpPr>
          <p:cNvPr id="15" name="TextBox 14"/>
          <p:cNvSpPr txBox="1"/>
          <p:nvPr/>
        </p:nvSpPr>
        <p:spPr>
          <a:xfrm>
            <a:off x="4279029" y="170922"/>
            <a:ext cx="4475634" cy="461665"/>
          </a:xfrm>
          <a:prstGeom prst="rect">
            <a:avLst/>
          </a:prstGeom>
          <a:noFill/>
        </p:spPr>
        <p:txBody>
          <a:bodyPr wrap="square" rtlCol="0">
            <a:spAutoFit/>
          </a:bodyPr>
          <a:lstStyle/>
          <a:p>
            <a:r>
              <a:rPr lang="zh-CN" altLang="en-US" sz="2400" b="1" dirty="0" smtClean="0"/>
              <a:t>同时包含电阻器和电容器的电路。</a:t>
            </a:r>
            <a:endParaRPr lang="zh-CN" altLang="en-US" sz="2400" b="1" dirty="0"/>
          </a:p>
        </p:txBody>
      </p:sp>
    </p:spTree>
    <p:extLst>
      <p:ext uri="{BB962C8B-B14F-4D97-AF65-F5344CB8AC3E}">
        <p14:creationId xmlns:p14="http://schemas.microsoft.com/office/powerpoint/2010/main" val="1143505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P spid="10" grpId="0"/>
      <p:bldP spid="11" grpId="0"/>
      <p:bldP spid="13" grpId="0"/>
      <p:bldP spid="2" grpId="0"/>
      <p:bldP spid="14" grpId="0"/>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51085" y="805791"/>
            <a:ext cx="35052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20103" y="1367314"/>
            <a:ext cx="1762125" cy="79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文本框 6"/>
          <p:cNvSpPr txBox="1"/>
          <p:nvPr/>
        </p:nvSpPr>
        <p:spPr>
          <a:xfrm>
            <a:off x="165765" y="136704"/>
            <a:ext cx="11627651" cy="584071"/>
          </a:xfrm>
          <a:prstGeom prst="rect">
            <a:avLst/>
          </a:prstGeom>
          <a:noFill/>
        </p:spPr>
        <p:txBody>
          <a:bodyPr wrap="square" rtlCol="0">
            <a:spAutoFit/>
          </a:bodyPr>
          <a:lstStyle/>
          <a:p>
            <a:pPr>
              <a:lnSpc>
                <a:spcPct val="125000"/>
              </a:lnSpc>
            </a:pPr>
            <a:r>
              <a:rPr lang="zh-CN" altLang="en-US" sz="2800" b="1" dirty="0" smtClean="0"/>
              <a:t>再根据回路电压定律可求得电流随时间变化的关系为：</a:t>
            </a:r>
            <a:endParaRPr lang="zh-CN" altLang="en-US" sz="2800" b="1" dirty="0"/>
          </a:p>
        </p:txBody>
      </p:sp>
      <p:sp>
        <p:nvSpPr>
          <p:cNvPr id="8" name="文本框 7"/>
          <p:cNvSpPr txBox="1"/>
          <p:nvPr/>
        </p:nvSpPr>
        <p:spPr>
          <a:xfrm>
            <a:off x="1" y="1464027"/>
            <a:ext cx="3915508" cy="630942"/>
          </a:xfrm>
          <a:prstGeom prst="rect">
            <a:avLst/>
          </a:prstGeom>
          <a:noFill/>
        </p:spPr>
        <p:txBody>
          <a:bodyPr wrap="square" rtlCol="0">
            <a:spAutoFit/>
          </a:bodyPr>
          <a:lstStyle/>
          <a:p>
            <a:pPr>
              <a:lnSpc>
                <a:spcPct val="125000"/>
              </a:lnSpc>
            </a:pPr>
            <a:r>
              <a:rPr lang="zh-CN" altLang="en-US" sz="2800" dirty="0" smtClean="0"/>
              <a:t>由此解得电流</a:t>
            </a:r>
            <a:endParaRPr lang="zh-CN" altLang="en-US" sz="2800" dirty="0"/>
          </a:p>
        </p:txBody>
      </p:sp>
      <p:pic>
        <p:nvPicPr>
          <p:cNvPr id="9" name="Picture 3" descr="gia12141_18_36"/>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7148"/>
          <a:stretch/>
        </p:blipFill>
        <p:spPr bwMode="auto">
          <a:xfrm>
            <a:off x="1476448" y="2176803"/>
            <a:ext cx="8686800" cy="3300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文本框 9"/>
          <p:cNvSpPr txBox="1"/>
          <p:nvPr/>
        </p:nvSpPr>
        <p:spPr>
          <a:xfrm>
            <a:off x="386861" y="5617836"/>
            <a:ext cx="11805139" cy="975523"/>
          </a:xfrm>
          <a:prstGeom prst="rect">
            <a:avLst/>
          </a:prstGeom>
          <a:noFill/>
        </p:spPr>
        <p:txBody>
          <a:bodyPr wrap="square" rtlCol="0">
            <a:spAutoFit/>
          </a:bodyPr>
          <a:lstStyle/>
          <a:p>
            <a:pPr>
              <a:lnSpc>
                <a:spcPct val="125000"/>
              </a:lnSpc>
            </a:pPr>
            <a:r>
              <a:rPr lang="en-US" altLang="zh-CN" sz="2400" b="1" dirty="0" smtClean="0"/>
              <a:t>a</a:t>
            </a:r>
            <a:r>
              <a:rPr lang="zh-CN" altLang="en-US" sz="2400" b="1" dirty="0" smtClean="0"/>
              <a:t>）电容器充电过程中其两端的电势差随时间的变化的关系曲线； </a:t>
            </a:r>
            <a:r>
              <a:rPr lang="en-US" altLang="zh-CN" sz="2400" b="1" dirty="0" smtClean="0"/>
              <a:t>b</a:t>
            </a:r>
            <a:r>
              <a:rPr lang="zh-CN" altLang="en-US" sz="2400" b="1" dirty="0" smtClean="0"/>
              <a:t>）此过程中电阻器上流过的电流随时间变化的关系曲线。</a:t>
            </a:r>
            <a:endParaRPr lang="zh-CN" altLang="en-US" sz="2400" b="1" dirty="0"/>
          </a:p>
        </p:txBody>
      </p:sp>
    </p:spTree>
    <p:extLst>
      <p:ext uri="{BB962C8B-B14F-4D97-AF65-F5344CB8AC3E}">
        <p14:creationId xmlns:p14="http://schemas.microsoft.com/office/powerpoint/2010/main" val="38649189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文本框 4"/>
          <p:cNvSpPr txBox="1"/>
          <p:nvPr/>
        </p:nvSpPr>
        <p:spPr>
          <a:xfrm>
            <a:off x="206063" y="109041"/>
            <a:ext cx="1008609" cy="584775"/>
          </a:xfrm>
          <a:prstGeom prst="rect">
            <a:avLst/>
          </a:prstGeom>
          <a:noFill/>
        </p:spPr>
        <p:txBody>
          <a:bodyPr wrap="none" rtlCol="0">
            <a:spAutoFit/>
          </a:bodyPr>
          <a:lstStyle/>
          <a:p>
            <a:r>
              <a:rPr lang="zh-CN" altLang="en-US" sz="3200" b="1" dirty="0" smtClean="0"/>
              <a:t>功率</a:t>
            </a:r>
            <a:endParaRPr lang="zh-CN" altLang="en-US" sz="3200" b="1" dirty="0"/>
          </a:p>
        </p:txBody>
      </p:sp>
      <p:sp>
        <p:nvSpPr>
          <p:cNvPr id="6" name="文本框 5"/>
          <p:cNvSpPr txBox="1"/>
          <p:nvPr/>
        </p:nvSpPr>
        <p:spPr>
          <a:xfrm>
            <a:off x="206063" y="693814"/>
            <a:ext cx="11611631" cy="1384995"/>
          </a:xfrm>
          <a:prstGeom prst="rect">
            <a:avLst/>
          </a:prstGeom>
          <a:noFill/>
        </p:spPr>
        <p:txBody>
          <a:bodyPr wrap="square" rtlCol="0">
            <a:spAutoFit/>
          </a:bodyPr>
          <a:lstStyle/>
          <a:p>
            <a:r>
              <a:rPr lang="zh-CN" altLang="en-US" sz="2800" dirty="0" smtClean="0">
                <a:latin typeface="Times New Roman" panose="02020603050405020304" pitchFamily="18" charset="0"/>
                <a:cs typeface="Times New Roman" panose="02020603050405020304" pitchFamily="18" charset="0"/>
              </a:rPr>
              <a:t>对于一个充电电容器，功率</a:t>
            </a:r>
            <a:r>
              <a:rPr lang="en-US" altLang="zh-CN" sz="2800" i="1" dirty="0" smtClean="0">
                <a:latin typeface="Times New Roman" panose="02020603050405020304" pitchFamily="18" charset="0"/>
                <a:cs typeface="Times New Roman" panose="02020603050405020304" pitchFamily="18" charset="0"/>
              </a:rPr>
              <a:t>P=IV</a:t>
            </a:r>
            <a:r>
              <a:rPr lang="en-US" altLang="zh-CN" sz="2800" i="1" baseline="-25000" dirty="0" smtClean="0">
                <a:latin typeface="Times New Roman" panose="02020603050405020304" pitchFamily="18" charset="0"/>
                <a:cs typeface="Times New Roman" panose="02020603050405020304" pitchFamily="18" charset="0"/>
              </a:rPr>
              <a:t>C</a:t>
            </a:r>
            <a:r>
              <a:rPr lang="zh-CN" altLang="en-US" sz="2800" dirty="0">
                <a:latin typeface="Times New Roman" panose="02020603050405020304" pitchFamily="18" charset="0"/>
                <a:cs typeface="Times New Roman" panose="02020603050405020304" pitchFamily="18" charset="0"/>
              </a:rPr>
              <a:t> </a:t>
            </a:r>
            <a:r>
              <a:rPr lang="zh-CN" altLang="en-US" sz="2800" dirty="0" smtClean="0">
                <a:latin typeface="Times New Roman" panose="02020603050405020304" pitchFamily="18" charset="0"/>
                <a:cs typeface="Times New Roman" panose="02020603050405020304" pitchFamily="18" charset="0"/>
              </a:rPr>
              <a:t>，表示电容器储存能量的时间变化率。在电容器充电时，电源提供的功率为</a:t>
            </a:r>
            <a:r>
              <a:rPr lang="en-US" altLang="zh-CN" sz="2800" i="1" dirty="0">
                <a:latin typeface="Times New Roman" panose="02020603050405020304" pitchFamily="18" charset="0"/>
                <a:cs typeface="Times New Roman" panose="02020603050405020304" pitchFamily="18" charset="0"/>
              </a:rPr>
              <a:t>P </a:t>
            </a:r>
            <a:r>
              <a:rPr lang="en-US" altLang="zh-CN" sz="2800" dirty="0">
                <a:latin typeface="Times New Roman" panose="02020603050405020304" pitchFamily="18" charset="0"/>
                <a:cs typeface="Times New Roman" panose="02020603050405020304" pitchFamily="18" charset="0"/>
              </a:rPr>
              <a:t>= </a:t>
            </a:r>
            <a:r>
              <a:rPr lang="en-US" altLang="zh-CN" sz="2800" i="1" dirty="0" smtClean="0">
                <a:latin typeface="Times New Roman" panose="02020603050405020304" pitchFamily="18" charset="0"/>
                <a:cs typeface="Times New Roman" panose="02020603050405020304" pitchFamily="18" charset="0"/>
              </a:rPr>
              <a:t>I</a:t>
            </a:r>
            <a:r>
              <a:rPr lang="en-US" altLang="zh-CN" sz="2800" dirty="0" smtClean="0">
                <a:latin typeface="Times New Roman" panose="02020603050405020304" pitchFamily="18" charset="0"/>
                <a:cs typeface="Times New Roman" panose="02020603050405020304" pitchFamily="18" charset="0"/>
              </a:rPr>
              <a:t>ℰ</a:t>
            </a:r>
            <a:r>
              <a:rPr lang="zh-CN" altLang="en-US" sz="2800" dirty="0" smtClean="0"/>
              <a:t>。这等于耗散在电阻上的功率</a:t>
            </a:r>
            <a:r>
              <a:rPr lang="en-US" altLang="zh-CN" sz="2800" dirty="0"/>
              <a:t>( </a:t>
            </a:r>
            <a:r>
              <a:rPr lang="en-US" altLang="zh-CN" sz="2800" i="1" dirty="0">
                <a:latin typeface="Times New Roman" panose="02020603050405020304" pitchFamily="18" charset="0"/>
                <a:cs typeface="Times New Roman" panose="02020603050405020304" pitchFamily="18" charset="0"/>
              </a:rPr>
              <a:t>IV</a:t>
            </a:r>
            <a:r>
              <a:rPr lang="en-US" altLang="zh-CN" sz="2800" baseline="-25000" dirty="0">
                <a:latin typeface="Times New Roman" panose="02020603050405020304" pitchFamily="18" charset="0"/>
                <a:cs typeface="Times New Roman" panose="02020603050405020304" pitchFamily="18" charset="0"/>
              </a:rPr>
              <a:t>R</a:t>
            </a:r>
            <a:r>
              <a:rPr lang="en-US" altLang="zh-CN" sz="2800" dirty="0"/>
              <a:t> )</a:t>
            </a:r>
            <a:r>
              <a:rPr lang="zh-CN" altLang="en-US" sz="2800" dirty="0" smtClean="0"/>
              <a:t>与电容器储存能量的功率</a:t>
            </a:r>
            <a:r>
              <a:rPr lang="en-US" altLang="zh-CN" sz="2800" dirty="0">
                <a:latin typeface="Times New Roman" panose="02020603050405020304" pitchFamily="18" charset="0"/>
                <a:cs typeface="Times New Roman" panose="02020603050405020304" pitchFamily="18" charset="0"/>
              </a:rPr>
              <a:t>( </a:t>
            </a:r>
            <a:r>
              <a:rPr lang="en-US" altLang="zh-CN" sz="2800" i="1" dirty="0">
                <a:latin typeface="Times New Roman" panose="02020603050405020304" pitchFamily="18" charset="0"/>
                <a:cs typeface="Times New Roman" panose="02020603050405020304" pitchFamily="18" charset="0"/>
              </a:rPr>
              <a:t>IV</a:t>
            </a:r>
            <a:r>
              <a:rPr lang="en-US" altLang="zh-CN" sz="2800" baseline="-25000" dirty="0">
                <a:latin typeface="Times New Roman" panose="02020603050405020304" pitchFamily="18" charset="0"/>
                <a:cs typeface="Times New Roman" panose="02020603050405020304" pitchFamily="18" charset="0"/>
              </a:rPr>
              <a:t>C</a:t>
            </a:r>
            <a:r>
              <a:rPr lang="en-US" altLang="zh-CN" sz="2800" dirty="0">
                <a:latin typeface="Times New Roman" panose="02020603050405020304" pitchFamily="18" charset="0"/>
                <a:cs typeface="Times New Roman" panose="02020603050405020304" pitchFamily="18" charset="0"/>
              </a:rPr>
              <a:t> </a:t>
            </a:r>
            <a:r>
              <a:rPr lang="en-US" altLang="zh-CN" sz="2800" dirty="0" smtClean="0">
                <a:latin typeface="Times New Roman" panose="02020603050405020304" pitchFamily="18" charset="0"/>
                <a:cs typeface="Times New Roman" panose="02020603050405020304" pitchFamily="18" charset="0"/>
              </a:rPr>
              <a:t>)</a:t>
            </a:r>
            <a:r>
              <a:rPr lang="zh-CN" altLang="en-US" sz="2800" dirty="0" smtClean="0"/>
              <a:t>之和。</a:t>
            </a:r>
            <a:endParaRPr lang="zh-CN" altLang="en-US" sz="2800" baseline="-25000" dirty="0"/>
          </a:p>
        </p:txBody>
      </p:sp>
      <p:sp>
        <p:nvSpPr>
          <p:cNvPr id="4" name="文本框 3"/>
          <p:cNvSpPr txBox="1"/>
          <p:nvPr/>
        </p:nvSpPr>
        <p:spPr>
          <a:xfrm>
            <a:off x="234461" y="2621782"/>
            <a:ext cx="11805139" cy="2354491"/>
          </a:xfrm>
          <a:prstGeom prst="rect">
            <a:avLst/>
          </a:prstGeom>
          <a:noFill/>
        </p:spPr>
        <p:txBody>
          <a:bodyPr wrap="square" rtlCol="0">
            <a:spAutoFit/>
          </a:bodyPr>
          <a:lstStyle/>
          <a:p>
            <a:r>
              <a:rPr lang="zh-CN" altLang="en-US" sz="2800" b="1" dirty="0" smtClean="0">
                <a:latin typeface="Times New Roman" panose="02020603050405020304" pitchFamily="18" charset="0"/>
                <a:cs typeface="Times New Roman" panose="02020603050405020304" pitchFamily="18" charset="0"/>
              </a:rPr>
              <a:t>例</a:t>
            </a:r>
            <a:r>
              <a:rPr lang="en-US" altLang="zh-CN" sz="2800" b="1" dirty="0" smtClean="0">
                <a:latin typeface="Times New Roman" panose="02020603050405020304" pitchFamily="18" charset="0"/>
                <a:cs typeface="Times New Roman" panose="02020603050405020304" pitchFamily="18" charset="0"/>
              </a:rPr>
              <a:t>18.6 </a:t>
            </a:r>
            <a:r>
              <a:rPr lang="zh-CN" altLang="en-US" sz="2800" b="1" dirty="0" smtClean="0">
                <a:latin typeface="Times New Roman" panose="02020603050405020304" pitchFamily="18" charset="0"/>
                <a:cs typeface="Times New Roman" panose="02020603050405020304" pitchFamily="18" charset="0"/>
              </a:rPr>
              <a:t>有两个电容器串联的</a:t>
            </a:r>
            <a:r>
              <a:rPr lang="en-US" altLang="zh-CN" sz="2800" b="1" i="1" dirty="0" smtClean="0">
                <a:latin typeface="Times New Roman" panose="02020603050405020304" pitchFamily="18" charset="0"/>
                <a:cs typeface="Times New Roman" panose="02020603050405020304" pitchFamily="18" charset="0"/>
              </a:rPr>
              <a:t>RC</a:t>
            </a:r>
            <a:r>
              <a:rPr lang="zh-CN" altLang="en-US" sz="2800" b="1" dirty="0" smtClean="0">
                <a:latin typeface="Times New Roman" panose="02020603050405020304" pitchFamily="18" charset="0"/>
                <a:cs typeface="Times New Roman" panose="02020603050405020304" pitchFamily="18" charset="0"/>
              </a:rPr>
              <a:t>电路</a:t>
            </a:r>
            <a:endParaRPr lang="en-US" altLang="zh-CN" sz="2800" b="1" dirty="0" smtClean="0">
              <a:latin typeface="Times New Roman" panose="02020603050405020304" pitchFamily="18" charset="0"/>
              <a:cs typeface="Times New Roman" panose="02020603050405020304" pitchFamily="18" charset="0"/>
            </a:endParaRPr>
          </a:p>
          <a:p>
            <a:r>
              <a:rPr lang="en-US" altLang="zh-CN" sz="2800" i="1" dirty="0" smtClean="0">
                <a:latin typeface="Times New Roman" panose="02020603050405020304" pitchFamily="18" charset="0"/>
                <a:cs typeface="Times New Roman" panose="02020603050405020304" pitchFamily="18" charset="0"/>
              </a:rPr>
              <a:t>t</a:t>
            </a:r>
            <a:r>
              <a:rPr lang="en-US" altLang="zh-CN" sz="2800" dirty="0" smtClean="0">
                <a:latin typeface="Times New Roman" panose="02020603050405020304" pitchFamily="18" charset="0"/>
                <a:cs typeface="Times New Roman" panose="02020603050405020304" pitchFamily="18" charset="0"/>
              </a:rPr>
              <a:t>=0</a:t>
            </a:r>
            <a:r>
              <a:rPr lang="zh-CN" altLang="en-US" sz="2800" dirty="0" smtClean="0">
                <a:latin typeface="Times New Roman" panose="02020603050405020304" pitchFamily="18" charset="0"/>
                <a:cs typeface="Times New Roman" panose="02020603050405020304" pitchFamily="18" charset="0"/>
              </a:rPr>
              <a:t>时刻，将两个</a:t>
            </a:r>
            <a:r>
              <a:rPr lang="en-US" altLang="zh-CN" sz="2800" dirty="0" smtClean="0">
                <a:latin typeface="Times New Roman" panose="02020603050405020304" pitchFamily="18" charset="0"/>
                <a:cs typeface="Times New Roman" panose="02020603050405020304" pitchFamily="18" charset="0"/>
              </a:rPr>
              <a:t>0.500μF</a:t>
            </a:r>
            <a:r>
              <a:rPr lang="zh-CN" altLang="en-US" sz="2800" dirty="0" smtClean="0">
                <a:latin typeface="Times New Roman" panose="02020603050405020304" pitchFamily="18" charset="0"/>
                <a:cs typeface="Times New Roman" panose="02020603050405020304" pitchFamily="18" charset="0"/>
              </a:rPr>
              <a:t>电容器串联，并通过</a:t>
            </a:r>
            <a:r>
              <a:rPr lang="en-US" altLang="zh-CN" sz="2800" dirty="0" smtClean="0">
                <a:latin typeface="Times New Roman" panose="02020603050405020304" pitchFamily="18" charset="0"/>
                <a:cs typeface="Times New Roman" panose="02020603050405020304" pitchFamily="18" charset="0"/>
              </a:rPr>
              <a:t>4.00MΩ</a:t>
            </a:r>
            <a:r>
              <a:rPr lang="zh-CN" altLang="en-US" sz="2800" dirty="0" smtClean="0">
                <a:latin typeface="Times New Roman" panose="02020603050405020304" pitchFamily="18" charset="0"/>
                <a:cs typeface="Times New Roman" panose="02020603050405020304" pitchFamily="18" charset="0"/>
              </a:rPr>
              <a:t>电阻器与一</a:t>
            </a:r>
            <a:r>
              <a:rPr lang="en-US" altLang="zh-CN" sz="2800" dirty="0" smtClean="0">
                <a:latin typeface="Times New Roman" panose="02020603050405020304" pitchFamily="18" charset="0"/>
                <a:cs typeface="Times New Roman" panose="02020603050405020304" pitchFamily="18" charset="0"/>
              </a:rPr>
              <a:t>50.0V</a:t>
            </a:r>
            <a:r>
              <a:rPr lang="zh-CN" altLang="en-US" sz="2800" dirty="0" smtClean="0">
                <a:latin typeface="Times New Roman" panose="02020603050405020304" pitchFamily="18" charset="0"/>
                <a:cs typeface="Times New Roman" panose="02020603050405020304" pitchFamily="18" charset="0"/>
              </a:rPr>
              <a:t>的电池相连接，此时电容器没有被充电。（</a:t>
            </a:r>
            <a:r>
              <a:rPr lang="en-US" altLang="zh-CN" sz="2800" dirty="0" smtClean="0">
                <a:latin typeface="Times New Roman" panose="02020603050405020304" pitchFamily="18" charset="0"/>
                <a:cs typeface="Times New Roman" panose="02020603050405020304" pitchFamily="18" charset="0"/>
              </a:rPr>
              <a:t>a</a:t>
            </a:r>
            <a:r>
              <a:rPr lang="zh-CN" altLang="en-US" sz="2800" dirty="0" smtClean="0">
                <a:latin typeface="Times New Roman" panose="02020603050405020304" pitchFamily="18" charset="0"/>
                <a:cs typeface="Times New Roman" panose="02020603050405020304" pitchFamily="18" charset="0"/>
              </a:rPr>
              <a:t>）</a:t>
            </a:r>
            <a:r>
              <a:rPr lang="en-US" altLang="zh-CN" sz="2800" dirty="0" smtClean="0">
                <a:latin typeface="Times New Roman" panose="02020603050405020304" pitchFamily="18" charset="0"/>
                <a:cs typeface="Times New Roman" panose="02020603050405020304" pitchFamily="18" charset="0"/>
              </a:rPr>
              <a:t>t=1.00s</a:t>
            </a:r>
            <a:r>
              <a:rPr lang="zh-CN" altLang="en-US" sz="2800" dirty="0" smtClean="0">
                <a:latin typeface="Times New Roman" panose="02020603050405020304" pitchFamily="18" charset="0"/>
                <a:cs typeface="Times New Roman" panose="02020603050405020304" pitchFamily="18" charset="0"/>
              </a:rPr>
              <a:t>和</a:t>
            </a:r>
            <a:r>
              <a:rPr lang="en-US" altLang="zh-CN" sz="2800" dirty="0" smtClean="0">
                <a:latin typeface="Times New Roman" panose="02020603050405020304" pitchFamily="18" charset="0"/>
                <a:cs typeface="Times New Roman" panose="02020603050405020304" pitchFamily="18" charset="0"/>
              </a:rPr>
              <a:t>t=3.00s</a:t>
            </a:r>
            <a:r>
              <a:rPr lang="zh-CN" altLang="en-US" sz="2800" dirty="0" smtClean="0">
                <a:latin typeface="Times New Roman" panose="02020603050405020304" pitchFamily="18" charset="0"/>
                <a:cs typeface="Times New Roman" panose="02020603050405020304" pitchFamily="18" charset="0"/>
              </a:rPr>
              <a:t>时电容器上所带的电量。（</a:t>
            </a:r>
            <a:r>
              <a:rPr lang="en-US" altLang="zh-CN" sz="2800" dirty="0" smtClean="0">
                <a:latin typeface="Times New Roman" panose="02020603050405020304" pitchFamily="18" charset="0"/>
                <a:cs typeface="Times New Roman" panose="02020603050405020304" pitchFamily="18" charset="0"/>
              </a:rPr>
              <a:t>b</a:t>
            </a:r>
            <a:r>
              <a:rPr lang="zh-CN" altLang="en-US" sz="2800" dirty="0" smtClean="0">
                <a:latin typeface="Times New Roman" panose="02020603050405020304" pitchFamily="18" charset="0"/>
                <a:cs typeface="Times New Roman" panose="02020603050405020304" pitchFamily="18" charset="0"/>
              </a:rPr>
              <a:t>）求这两个时刻电路中的电流。</a:t>
            </a:r>
            <a:endParaRPr lang="en-US" altLang="zh-CN" sz="2800" dirty="0" smtClean="0">
              <a:latin typeface="Times New Roman" panose="02020603050405020304" pitchFamily="18" charset="0"/>
              <a:cs typeface="Times New Roman" panose="02020603050405020304" pitchFamily="18" charset="0"/>
            </a:endParaRPr>
          </a:p>
          <a:p>
            <a:pPr>
              <a:lnSpc>
                <a:spcPct val="125000"/>
              </a:lnSpc>
            </a:pPr>
            <a:endParaRPr lang="en-US" altLang="zh-CN" sz="2800" dirty="0" smtClean="0">
              <a:latin typeface="Times New Roman" panose="02020603050405020304" pitchFamily="18" charset="0"/>
              <a:cs typeface="Times New Roman" panose="02020603050405020304" pitchFamily="18" charset="0"/>
            </a:endParaRPr>
          </a:p>
        </p:txBody>
      </p:sp>
      <p:pic>
        <p:nvPicPr>
          <p:cNvPr id="7"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88670" y="4497999"/>
            <a:ext cx="4733925" cy="221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0294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框 1"/>
          <p:cNvSpPr txBox="1"/>
          <p:nvPr/>
        </p:nvSpPr>
        <p:spPr>
          <a:xfrm>
            <a:off x="128790" y="58915"/>
            <a:ext cx="4134119" cy="707886"/>
          </a:xfrm>
          <a:prstGeom prst="rect">
            <a:avLst/>
          </a:prstGeom>
          <a:noFill/>
        </p:spPr>
        <p:txBody>
          <a:bodyPr wrap="square" rtlCol="0">
            <a:spAutoFit/>
          </a:bodyPr>
          <a:lstStyle/>
          <a:p>
            <a:pPr>
              <a:lnSpc>
                <a:spcPct val="125000"/>
              </a:lnSpc>
            </a:pPr>
            <a:r>
              <a:rPr lang="en-US" altLang="zh-CN" sz="3200" b="1" dirty="0" smtClean="0"/>
              <a:t>2. RC</a:t>
            </a:r>
            <a:r>
              <a:rPr lang="zh-CN" altLang="en-US" sz="3200" b="1" dirty="0" smtClean="0"/>
              <a:t>电路的放电</a:t>
            </a:r>
            <a:endParaRPr lang="zh-CN" altLang="en-US" sz="3200" dirty="0"/>
          </a:p>
        </p:txBody>
      </p:sp>
      <p:pic>
        <p:nvPicPr>
          <p:cNvPr id="3" name="Picture 3" descr="gia12141_18_38"/>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6513" r="5924" b="5280"/>
          <a:stretch/>
        </p:blipFill>
        <p:spPr bwMode="auto">
          <a:xfrm>
            <a:off x="1" y="3083932"/>
            <a:ext cx="3530964" cy="24037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框 3"/>
          <p:cNvSpPr txBox="1"/>
          <p:nvPr/>
        </p:nvSpPr>
        <p:spPr>
          <a:xfrm>
            <a:off x="150757" y="5852700"/>
            <a:ext cx="2800767" cy="830997"/>
          </a:xfrm>
          <a:prstGeom prst="rect">
            <a:avLst/>
          </a:prstGeom>
          <a:noFill/>
        </p:spPr>
        <p:txBody>
          <a:bodyPr wrap="none" rtlCol="0">
            <a:spAutoFit/>
          </a:bodyPr>
          <a:lstStyle/>
          <a:p>
            <a:r>
              <a:rPr lang="zh-CN" altLang="en-US" sz="2400" dirty="0" smtClean="0">
                <a:latin typeface="Times New Roman" panose="02020603050405020304" pitchFamily="18" charset="0"/>
                <a:cs typeface="Times New Roman" panose="02020603050405020304" pitchFamily="18" charset="0"/>
              </a:rPr>
              <a:t>图</a:t>
            </a:r>
            <a:r>
              <a:rPr lang="en-US" altLang="zh-CN" sz="2400" dirty="0" smtClean="0">
                <a:latin typeface="Times New Roman" panose="02020603050405020304" pitchFamily="18" charset="0"/>
                <a:cs typeface="Times New Roman" panose="02020603050405020304" pitchFamily="18" charset="0"/>
              </a:rPr>
              <a:t>18.33 </a:t>
            </a:r>
            <a:r>
              <a:rPr lang="zh-CN" altLang="en-US" sz="2400" dirty="0" smtClean="0">
                <a:latin typeface="Times New Roman" panose="02020603050405020304" pitchFamily="18" charset="0"/>
                <a:cs typeface="Times New Roman" panose="02020603050405020304" pitchFamily="18" charset="0"/>
              </a:rPr>
              <a:t>电容器通过</a:t>
            </a:r>
            <a:endParaRPr lang="en-US" altLang="zh-CN" sz="2400" dirty="0" smtClean="0">
              <a:latin typeface="Times New Roman" panose="02020603050405020304" pitchFamily="18" charset="0"/>
              <a:cs typeface="Times New Roman" panose="02020603050405020304" pitchFamily="18" charset="0"/>
            </a:endParaRPr>
          </a:p>
          <a:p>
            <a:r>
              <a:rPr lang="zh-CN" altLang="en-US" sz="2400" dirty="0" smtClean="0">
                <a:latin typeface="Times New Roman" panose="02020603050405020304" pitchFamily="18" charset="0"/>
                <a:cs typeface="Times New Roman" panose="02020603050405020304" pitchFamily="18" charset="0"/>
              </a:rPr>
              <a:t>电阻器</a:t>
            </a:r>
            <a:r>
              <a:rPr lang="en-US" altLang="zh-CN" sz="2400" i="1" dirty="0" smtClean="0">
                <a:latin typeface="Times New Roman" panose="02020603050405020304" pitchFamily="18" charset="0"/>
                <a:cs typeface="Times New Roman" panose="02020603050405020304" pitchFamily="18" charset="0"/>
              </a:rPr>
              <a:t>R</a:t>
            </a:r>
            <a:r>
              <a:rPr lang="zh-CN" altLang="en-US" sz="2400" dirty="0" smtClean="0">
                <a:latin typeface="Times New Roman" panose="02020603050405020304" pitchFamily="18" charset="0"/>
                <a:cs typeface="Times New Roman" panose="02020603050405020304" pitchFamily="18" charset="0"/>
              </a:rPr>
              <a:t>放电。</a:t>
            </a:r>
            <a:endParaRPr lang="zh-CN" altLang="en-US" sz="2400" dirty="0">
              <a:latin typeface="Times New Roman" panose="02020603050405020304" pitchFamily="18" charset="0"/>
              <a:cs typeface="Times New Roman" panose="02020603050405020304" pitchFamily="18" charset="0"/>
            </a:endParaRPr>
          </a:p>
        </p:txBody>
      </p:sp>
      <p:sp>
        <p:nvSpPr>
          <p:cNvPr id="5" name="文本框 4"/>
          <p:cNvSpPr txBox="1"/>
          <p:nvPr/>
        </p:nvSpPr>
        <p:spPr>
          <a:xfrm>
            <a:off x="327339" y="713719"/>
            <a:ext cx="11864661" cy="1169551"/>
          </a:xfrm>
          <a:prstGeom prst="rect">
            <a:avLst/>
          </a:prstGeom>
          <a:noFill/>
        </p:spPr>
        <p:txBody>
          <a:bodyPr wrap="square" rtlCol="0">
            <a:spAutoFit/>
          </a:bodyPr>
          <a:lstStyle/>
          <a:p>
            <a:pPr>
              <a:lnSpc>
                <a:spcPct val="125000"/>
              </a:lnSpc>
            </a:pPr>
            <a:r>
              <a:rPr lang="zh-CN" altLang="en-US" sz="2800" dirty="0" smtClean="0">
                <a:latin typeface="Times New Roman" pitchFamily="18" charset="0"/>
                <a:cs typeface="Times New Roman" pitchFamily="18" charset="0"/>
              </a:rPr>
              <a:t>闭合</a:t>
            </a:r>
            <a:r>
              <a:rPr lang="en-US" altLang="zh-CN" sz="2800" dirty="0" smtClean="0">
                <a:latin typeface="Times New Roman" pitchFamily="18" charset="0"/>
                <a:cs typeface="Times New Roman" pitchFamily="18" charset="0"/>
              </a:rPr>
              <a:t>S</a:t>
            </a:r>
            <a:r>
              <a:rPr lang="en-US" altLang="zh-CN" sz="2800" baseline="-25000" dirty="0" smtClean="0">
                <a:latin typeface="Times New Roman" pitchFamily="18" charset="0"/>
                <a:cs typeface="Times New Roman" pitchFamily="18" charset="0"/>
              </a:rPr>
              <a:t>1</a:t>
            </a:r>
            <a:r>
              <a:rPr lang="zh-CN" altLang="en-US" sz="2800" dirty="0" smtClean="0">
                <a:latin typeface="Times New Roman" pitchFamily="18" charset="0"/>
                <a:cs typeface="Times New Roman" pitchFamily="18" charset="0"/>
              </a:rPr>
              <a:t>并断开</a:t>
            </a:r>
            <a:r>
              <a:rPr lang="en-US" altLang="zh-CN" sz="2800" dirty="0" smtClean="0">
                <a:latin typeface="Times New Roman" pitchFamily="18" charset="0"/>
                <a:cs typeface="Times New Roman" pitchFamily="18" charset="0"/>
              </a:rPr>
              <a:t>S</a:t>
            </a:r>
            <a:r>
              <a:rPr lang="en-US" altLang="zh-CN" sz="2800" baseline="-25000" dirty="0" smtClean="0">
                <a:latin typeface="Times New Roman" pitchFamily="18" charset="0"/>
                <a:cs typeface="Times New Roman" pitchFamily="18" charset="0"/>
              </a:rPr>
              <a:t>2</a:t>
            </a:r>
            <a:r>
              <a:rPr lang="zh-CN" altLang="en-US" sz="2800" dirty="0" smtClean="0">
                <a:latin typeface="Times New Roman" pitchFamily="18" charset="0"/>
                <a:cs typeface="Times New Roman" pitchFamily="18" charset="0"/>
              </a:rPr>
              <a:t>，电容器首先被充电至电压</a:t>
            </a:r>
            <a:r>
              <a:rPr lang="en-US" altLang="zh-CN" sz="2800" dirty="0" smtClean="0">
                <a:latin typeface="Times New Roman" pitchFamily="18" charset="0"/>
                <a:cs typeface="Times New Roman" pitchFamily="18" charset="0"/>
              </a:rPr>
              <a:t>ℰ</a:t>
            </a:r>
            <a:r>
              <a:rPr lang="zh-CN" altLang="en-US" sz="2800" dirty="0" smtClean="0">
                <a:latin typeface="Times New Roman" pitchFamily="18" charset="0"/>
                <a:cs typeface="Times New Roman" pitchFamily="18" charset="0"/>
              </a:rPr>
              <a:t>。当电容器完全充电后，在</a:t>
            </a:r>
            <a:r>
              <a:rPr lang="en-US" altLang="zh-CN" sz="2800" dirty="0" smtClean="0">
                <a:latin typeface="Times New Roman" pitchFamily="18" charset="0"/>
                <a:cs typeface="Times New Roman" pitchFamily="18" charset="0"/>
              </a:rPr>
              <a:t>t=0</a:t>
            </a:r>
            <a:r>
              <a:rPr lang="zh-CN" altLang="en-US" sz="2800" dirty="0" smtClean="0">
                <a:latin typeface="Times New Roman" pitchFamily="18" charset="0"/>
                <a:cs typeface="Times New Roman" pitchFamily="18" charset="0"/>
              </a:rPr>
              <a:t>时刻，断开</a:t>
            </a:r>
            <a:r>
              <a:rPr lang="en-US" altLang="zh-CN" sz="2800" dirty="0">
                <a:latin typeface="Times New Roman" pitchFamily="18" charset="0"/>
                <a:cs typeface="Times New Roman" pitchFamily="18" charset="0"/>
              </a:rPr>
              <a:t>S</a:t>
            </a:r>
            <a:r>
              <a:rPr lang="en-US" altLang="zh-CN" sz="2800" baseline="-25000" dirty="0">
                <a:latin typeface="Times New Roman" pitchFamily="18" charset="0"/>
                <a:cs typeface="Times New Roman" pitchFamily="18" charset="0"/>
              </a:rPr>
              <a:t>1</a:t>
            </a:r>
            <a:r>
              <a:rPr lang="en-US" altLang="zh-CN" sz="2800" dirty="0" smtClean="0">
                <a:latin typeface="Times New Roman" pitchFamily="18" charset="0"/>
                <a:cs typeface="Times New Roman" pitchFamily="18" charset="0"/>
              </a:rPr>
              <a:t>,</a:t>
            </a:r>
            <a:r>
              <a:rPr lang="zh-CN" altLang="en-US" sz="2800" dirty="0" smtClean="0">
                <a:latin typeface="Times New Roman" pitchFamily="18" charset="0"/>
                <a:cs typeface="Times New Roman" pitchFamily="18" charset="0"/>
              </a:rPr>
              <a:t>闭合</a:t>
            </a:r>
            <a:r>
              <a:rPr lang="en-US" altLang="zh-CN" sz="2800" dirty="0">
                <a:latin typeface="Times New Roman" pitchFamily="18" charset="0"/>
                <a:cs typeface="Times New Roman" pitchFamily="18" charset="0"/>
              </a:rPr>
              <a:t>S</a:t>
            </a:r>
            <a:r>
              <a:rPr lang="en-US" altLang="zh-CN" sz="2800" baseline="-25000" dirty="0">
                <a:latin typeface="Times New Roman" pitchFamily="18" charset="0"/>
                <a:cs typeface="Times New Roman" pitchFamily="18" charset="0"/>
              </a:rPr>
              <a:t>2 </a:t>
            </a:r>
            <a:r>
              <a:rPr lang="zh-CN" altLang="en-US" sz="2800" dirty="0" smtClean="0">
                <a:latin typeface="Times New Roman" pitchFamily="18" charset="0"/>
                <a:cs typeface="Times New Roman" pitchFamily="18" charset="0"/>
              </a:rPr>
              <a:t>，电容器开始放电。</a:t>
            </a:r>
            <a:endParaRPr lang="zh-CN" altLang="en-US" sz="2800" baseline="-25000" dirty="0">
              <a:latin typeface="Times New Roman" pitchFamily="18" charset="0"/>
              <a:cs typeface="Times New Roman" pitchFamily="18" charset="0"/>
            </a:endParaRPr>
          </a:p>
        </p:txBody>
      </p:sp>
      <p:pic>
        <p:nvPicPr>
          <p:cNvPr id="6"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14587" y="1973924"/>
            <a:ext cx="1762125" cy="79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80371" y="2005996"/>
            <a:ext cx="2038351"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3" descr="gia12141_18_39"/>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b="6404"/>
          <a:stretch/>
        </p:blipFill>
        <p:spPr bwMode="auto">
          <a:xfrm>
            <a:off x="4472725" y="2677813"/>
            <a:ext cx="7401059" cy="3286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文本框 8"/>
          <p:cNvSpPr txBox="1"/>
          <p:nvPr/>
        </p:nvSpPr>
        <p:spPr>
          <a:xfrm>
            <a:off x="4472725" y="6027005"/>
            <a:ext cx="7820695" cy="830997"/>
          </a:xfrm>
          <a:prstGeom prst="rect">
            <a:avLst/>
          </a:prstGeom>
          <a:noFill/>
        </p:spPr>
        <p:txBody>
          <a:bodyPr wrap="square" rtlCol="0">
            <a:spAutoFit/>
          </a:bodyPr>
          <a:lstStyle/>
          <a:p>
            <a:r>
              <a:rPr lang="zh-CN" altLang="en-US" sz="2400" dirty="0" smtClean="0">
                <a:latin typeface="Times New Roman" panose="02020603050405020304" pitchFamily="18" charset="0"/>
                <a:cs typeface="Times New Roman" panose="02020603050405020304" pitchFamily="18" charset="0"/>
              </a:rPr>
              <a:t>图</a:t>
            </a:r>
            <a:r>
              <a:rPr lang="en-US" altLang="zh-CN" sz="2400" dirty="0" smtClean="0">
                <a:latin typeface="Times New Roman" panose="02020603050405020304" pitchFamily="18" charset="0"/>
                <a:cs typeface="Times New Roman" panose="02020603050405020304" pitchFamily="18" charset="0"/>
              </a:rPr>
              <a:t>18.34 </a:t>
            </a:r>
            <a:r>
              <a:rPr lang="zh-CN" altLang="en-US" sz="2400" dirty="0" smtClean="0">
                <a:latin typeface="Times New Roman" panose="02020603050405020304" pitchFamily="18" charset="0"/>
                <a:cs typeface="Times New Roman" panose="02020603050405020304" pitchFamily="18" charset="0"/>
              </a:rPr>
              <a:t>电容器通过电阻器</a:t>
            </a:r>
            <a:r>
              <a:rPr lang="en-US" altLang="zh-CN" sz="2400" i="1" dirty="0" smtClean="0">
                <a:latin typeface="Times New Roman" panose="02020603050405020304" pitchFamily="18" charset="0"/>
                <a:cs typeface="Times New Roman" panose="02020603050405020304" pitchFamily="18" charset="0"/>
              </a:rPr>
              <a:t>R</a:t>
            </a:r>
            <a:r>
              <a:rPr lang="zh-CN" altLang="en-US" sz="2400" dirty="0" smtClean="0">
                <a:latin typeface="Times New Roman" panose="02020603050405020304" pitchFamily="18" charset="0"/>
                <a:cs typeface="Times New Roman" panose="02020603050405020304" pitchFamily="18" charset="0"/>
              </a:rPr>
              <a:t>放电时，电压或电流随时间变化的关系曲线。</a:t>
            </a:r>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60361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框 1"/>
          <p:cNvSpPr txBox="1"/>
          <p:nvPr/>
        </p:nvSpPr>
        <p:spPr>
          <a:xfrm>
            <a:off x="193182" y="0"/>
            <a:ext cx="6130345" cy="707886"/>
          </a:xfrm>
          <a:prstGeom prst="rect">
            <a:avLst/>
          </a:prstGeom>
          <a:noFill/>
        </p:spPr>
        <p:txBody>
          <a:bodyPr wrap="square" rtlCol="0">
            <a:spAutoFit/>
          </a:bodyPr>
          <a:lstStyle/>
          <a:p>
            <a:pPr>
              <a:lnSpc>
                <a:spcPct val="125000"/>
              </a:lnSpc>
            </a:pPr>
            <a:r>
              <a:rPr lang="en-US" altLang="zh-CN" sz="3200" b="1" dirty="0" smtClean="0"/>
              <a:t>3. </a:t>
            </a:r>
            <a:r>
              <a:rPr lang="zh-CN" altLang="en-US" sz="3200" b="1" dirty="0" smtClean="0"/>
              <a:t>应用：照相机闪光灯</a:t>
            </a:r>
            <a:endParaRPr lang="zh-CN" altLang="en-US" sz="3200" dirty="0"/>
          </a:p>
        </p:txBody>
      </p:sp>
      <p:pic>
        <p:nvPicPr>
          <p:cNvPr id="3" name="Picture 3" descr="gia12141_18_40"/>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7284" r="7349" b="8041"/>
          <a:stretch/>
        </p:blipFill>
        <p:spPr bwMode="auto">
          <a:xfrm>
            <a:off x="7212170" y="2"/>
            <a:ext cx="4889679" cy="5682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框 3"/>
          <p:cNvSpPr txBox="1"/>
          <p:nvPr/>
        </p:nvSpPr>
        <p:spPr>
          <a:xfrm>
            <a:off x="218940" y="898358"/>
            <a:ext cx="7083381" cy="4401205"/>
          </a:xfrm>
          <a:prstGeom prst="rect">
            <a:avLst/>
          </a:prstGeom>
          <a:noFill/>
        </p:spPr>
        <p:txBody>
          <a:bodyPr wrap="square" rtlCol="0">
            <a:spAutoFit/>
          </a:bodyPr>
          <a:lstStyle/>
          <a:p>
            <a:pPr>
              <a:lnSpc>
                <a:spcPct val="125000"/>
              </a:lnSpc>
            </a:pPr>
            <a:r>
              <a:rPr lang="zh-CN" altLang="en-US" sz="2800" b="1" dirty="0" smtClean="0">
                <a:latin typeface="Times New Roman" panose="02020603050405020304" pitchFamily="18" charset="0"/>
                <a:cs typeface="Times New Roman" panose="02020603050405020304" pitchFamily="18" charset="0"/>
              </a:rPr>
              <a:t>照相机闪光灯中的灯泡需要一个比小电池所能提供的电流（由于电池具有内阻）大得多的电流脉冲来点亮。因此首先用电池给电容器充电。当完全充电后，闪光灯准备就绪；在拍摄照片时，电容器迅速放电。一次闪光后，需要</a:t>
            </a:r>
            <a:r>
              <a:rPr lang="en-US" altLang="zh-CN" sz="2800" b="1" dirty="0" smtClean="0">
                <a:latin typeface="Times New Roman" panose="02020603050405020304" pitchFamily="18" charset="0"/>
                <a:cs typeface="Times New Roman" panose="02020603050405020304" pitchFamily="18" charset="0"/>
              </a:rPr>
              <a:t>1-2s</a:t>
            </a:r>
            <a:r>
              <a:rPr lang="zh-CN" altLang="en-US" sz="2800" b="1" dirty="0" smtClean="0">
                <a:latin typeface="Times New Roman" panose="02020603050405020304" pitchFamily="18" charset="0"/>
                <a:cs typeface="Times New Roman" panose="02020603050405020304" pitchFamily="18" charset="0"/>
              </a:rPr>
              <a:t>的延迟时间闪光灯才能重新充电。由于电池都具有内阻，所以充电电路的时间常数会变得更长。</a:t>
            </a:r>
            <a:endParaRPr lang="zh-CN" altLang="en-US" sz="2800" b="1" baseline="-25000" dirty="0"/>
          </a:p>
        </p:txBody>
      </p:sp>
      <p:sp>
        <p:nvSpPr>
          <p:cNvPr id="5" name="文本框 4"/>
          <p:cNvSpPr txBox="1"/>
          <p:nvPr/>
        </p:nvSpPr>
        <p:spPr>
          <a:xfrm>
            <a:off x="7486380" y="5682601"/>
            <a:ext cx="3924301" cy="461665"/>
          </a:xfrm>
          <a:prstGeom prst="rect">
            <a:avLst/>
          </a:prstGeom>
          <a:noFill/>
        </p:spPr>
        <p:txBody>
          <a:bodyPr wrap="square" rtlCol="0">
            <a:spAutoFit/>
          </a:bodyPr>
          <a:lstStyle/>
          <a:p>
            <a:r>
              <a:rPr lang="zh-CN" altLang="en-US" sz="2400" dirty="0" smtClean="0">
                <a:latin typeface="Times New Roman" panose="02020603050405020304" pitchFamily="18" charset="0"/>
                <a:cs typeface="Times New Roman" panose="02020603050405020304" pitchFamily="18" charset="0"/>
              </a:rPr>
              <a:t>图</a:t>
            </a:r>
            <a:r>
              <a:rPr lang="en-US" altLang="zh-CN" sz="2400" dirty="0" smtClean="0">
                <a:latin typeface="Times New Roman" panose="02020603050405020304" pitchFamily="18" charset="0"/>
                <a:cs typeface="Times New Roman" panose="02020603050405020304" pitchFamily="18" charset="0"/>
              </a:rPr>
              <a:t>18.35 </a:t>
            </a:r>
            <a:r>
              <a:rPr lang="zh-CN" altLang="en-US" sz="2400" dirty="0" smtClean="0">
                <a:latin typeface="Times New Roman" panose="02020603050405020304" pitchFamily="18" charset="0"/>
                <a:cs typeface="Times New Roman" panose="02020603050405020304" pitchFamily="18" charset="0"/>
              </a:rPr>
              <a:t>照相机中的闪光灯</a:t>
            </a:r>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25747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180303" y="47812"/>
            <a:ext cx="3533340" cy="707886"/>
          </a:xfrm>
          <a:prstGeom prst="rect">
            <a:avLst/>
          </a:prstGeom>
          <a:noFill/>
        </p:spPr>
        <p:txBody>
          <a:bodyPr wrap="none" rtlCol="0">
            <a:spAutoFit/>
          </a:bodyPr>
          <a:lstStyle/>
          <a:p>
            <a:r>
              <a:rPr lang="en-US" altLang="zh-CN" sz="4000" b="1" dirty="0" smtClean="0"/>
              <a:t>18.11 </a:t>
            </a:r>
            <a:r>
              <a:rPr lang="zh-CN" altLang="en-US" sz="4000" b="1" dirty="0" smtClean="0"/>
              <a:t>安全用电</a:t>
            </a:r>
            <a:endParaRPr lang="zh-CN" altLang="en-US" sz="4000" b="1" dirty="0"/>
          </a:p>
        </p:txBody>
      </p:sp>
      <p:sp>
        <p:nvSpPr>
          <p:cNvPr id="5" name="文本框 4"/>
          <p:cNvSpPr txBox="1"/>
          <p:nvPr/>
        </p:nvSpPr>
        <p:spPr>
          <a:xfrm>
            <a:off x="180302" y="755698"/>
            <a:ext cx="6130345" cy="707886"/>
          </a:xfrm>
          <a:prstGeom prst="rect">
            <a:avLst/>
          </a:prstGeom>
          <a:noFill/>
        </p:spPr>
        <p:txBody>
          <a:bodyPr wrap="square" rtlCol="0">
            <a:spAutoFit/>
          </a:bodyPr>
          <a:lstStyle/>
          <a:p>
            <a:pPr>
              <a:lnSpc>
                <a:spcPct val="125000"/>
              </a:lnSpc>
            </a:pPr>
            <a:r>
              <a:rPr lang="en-US" altLang="zh-CN" sz="3200" b="1" dirty="0" smtClean="0"/>
              <a:t>1. </a:t>
            </a:r>
            <a:r>
              <a:rPr lang="zh-CN" altLang="en-US" sz="3200" b="1" dirty="0" smtClean="0"/>
              <a:t>电流对人体的影响</a:t>
            </a:r>
            <a:endParaRPr lang="zh-CN" altLang="en-US" sz="3200" dirty="0"/>
          </a:p>
        </p:txBody>
      </p:sp>
      <p:sp>
        <p:nvSpPr>
          <p:cNvPr id="6" name="文本框 5"/>
          <p:cNvSpPr txBox="1"/>
          <p:nvPr/>
        </p:nvSpPr>
        <p:spPr>
          <a:xfrm>
            <a:off x="180304" y="1962577"/>
            <a:ext cx="6130345" cy="707886"/>
          </a:xfrm>
          <a:prstGeom prst="rect">
            <a:avLst/>
          </a:prstGeom>
          <a:noFill/>
        </p:spPr>
        <p:txBody>
          <a:bodyPr wrap="square" rtlCol="0">
            <a:spAutoFit/>
          </a:bodyPr>
          <a:lstStyle/>
          <a:p>
            <a:pPr>
              <a:lnSpc>
                <a:spcPct val="125000"/>
              </a:lnSpc>
            </a:pPr>
            <a:r>
              <a:rPr lang="en-US" altLang="zh-CN" sz="3200" b="1" dirty="0" smtClean="0"/>
              <a:t>2. </a:t>
            </a:r>
            <a:r>
              <a:rPr lang="zh-CN" altLang="en-US" sz="3200" b="1" dirty="0" smtClean="0"/>
              <a:t>电器的接地</a:t>
            </a:r>
            <a:endParaRPr lang="zh-CN" altLang="en-US" sz="3200" dirty="0"/>
          </a:p>
        </p:txBody>
      </p:sp>
      <p:sp>
        <p:nvSpPr>
          <p:cNvPr id="7" name="文本框 6"/>
          <p:cNvSpPr txBox="1"/>
          <p:nvPr/>
        </p:nvSpPr>
        <p:spPr>
          <a:xfrm>
            <a:off x="180305" y="3312744"/>
            <a:ext cx="6130345" cy="707886"/>
          </a:xfrm>
          <a:prstGeom prst="rect">
            <a:avLst/>
          </a:prstGeom>
          <a:noFill/>
        </p:spPr>
        <p:txBody>
          <a:bodyPr wrap="square" rtlCol="0">
            <a:spAutoFit/>
          </a:bodyPr>
          <a:lstStyle/>
          <a:p>
            <a:pPr>
              <a:lnSpc>
                <a:spcPct val="125000"/>
              </a:lnSpc>
            </a:pPr>
            <a:r>
              <a:rPr lang="en-US" altLang="zh-CN" sz="3200" b="1" dirty="0" smtClean="0"/>
              <a:t>3. </a:t>
            </a:r>
            <a:r>
              <a:rPr lang="zh-CN" altLang="en-US" sz="3200" b="1" dirty="0" smtClean="0"/>
              <a:t>熔丝和断路器</a:t>
            </a:r>
            <a:endParaRPr lang="zh-CN" altLang="en-US" sz="3200" dirty="0"/>
          </a:p>
        </p:txBody>
      </p:sp>
      <p:pic>
        <p:nvPicPr>
          <p:cNvPr id="8" name="Picture 3" descr="gia12141_18_42"/>
          <p:cNvPicPr>
            <a:picLocks noChangeAspect="1" noChangeArrowheads="1"/>
          </p:cNvPicPr>
          <p:nvPr/>
        </p:nvPicPr>
        <p:blipFill>
          <a:blip r:embed="rId2" cstate="print">
            <a:extLst>
              <a:ext uri="{28A0092B-C50C-407E-A947-70E740481C1C}">
                <a14:useLocalDpi xmlns:a14="http://schemas.microsoft.com/office/drawing/2010/main" val="0"/>
              </a:ext>
            </a:extLst>
          </a:blip>
          <a:srcRect l="9656" b="4509"/>
          <a:stretch>
            <a:fillRect/>
          </a:stretch>
        </p:blipFill>
        <p:spPr bwMode="auto">
          <a:xfrm>
            <a:off x="5509848" y="223499"/>
            <a:ext cx="6682153" cy="5983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424056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3" descr="gia12141_18_4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36700" y="177800"/>
            <a:ext cx="6069013" cy="651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574859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69900" y="1616277"/>
            <a:ext cx="9060874" cy="4247317"/>
          </a:xfrm>
          <a:prstGeom prst="rect">
            <a:avLst/>
          </a:prstGeom>
          <a:noFill/>
        </p:spPr>
        <p:txBody>
          <a:bodyPr wrap="square" rtlCol="0">
            <a:spAutoFit/>
          </a:bodyPr>
          <a:lstStyle/>
          <a:p>
            <a:pPr>
              <a:lnSpc>
                <a:spcPct val="150000"/>
              </a:lnSpc>
            </a:pPr>
            <a:r>
              <a:rPr lang="zh-CN" altLang="en-US" sz="3600" b="1" dirty="0" smtClean="0">
                <a:solidFill>
                  <a:srgbClr val="000099"/>
                </a:solidFill>
              </a:rPr>
              <a:t>作业：</a:t>
            </a:r>
            <a:endParaRPr lang="en-US" altLang="zh-CN" sz="3600" b="1" dirty="0" smtClean="0">
              <a:solidFill>
                <a:srgbClr val="000099"/>
              </a:solidFill>
            </a:endParaRPr>
          </a:p>
          <a:p>
            <a:pPr>
              <a:lnSpc>
                <a:spcPct val="150000"/>
              </a:lnSpc>
            </a:pPr>
            <a:r>
              <a:rPr lang="en-US" altLang="zh-CN" sz="3600" b="1" dirty="0" smtClean="0">
                <a:solidFill>
                  <a:srgbClr val="000099"/>
                </a:solidFill>
              </a:rPr>
              <a:t>95</a:t>
            </a:r>
            <a:r>
              <a:rPr lang="zh-CN" altLang="en-US" sz="3600" b="1" dirty="0" smtClean="0">
                <a:solidFill>
                  <a:srgbClr val="000099"/>
                </a:solidFill>
              </a:rPr>
              <a:t>页计算题</a:t>
            </a:r>
            <a:r>
              <a:rPr lang="en-US" altLang="zh-CN" sz="3600" b="1" dirty="0" smtClean="0">
                <a:solidFill>
                  <a:srgbClr val="000099"/>
                </a:solidFill>
              </a:rPr>
              <a:t>12</a:t>
            </a:r>
            <a:r>
              <a:rPr lang="zh-CN" altLang="en-US" sz="3600" b="1" dirty="0" smtClean="0">
                <a:solidFill>
                  <a:srgbClr val="000099"/>
                </a:solidFill>
              </a:rPr>
              <a:t>，计算题</a:t>
            </a:r>
            <a:r>
              <a:rPr lang="en-US" altLang="zh-CN" sz="3600" b="1" dirty="0" smtClean="0">
                <a:solidFill>
                  <a:srgbClr val="000099"/>
                </a:solidFill>
              </a:rPr>
              <a:t>17</a:t>
            </a:r>
            <a:r>
              <a:rPr lang="zh-CN" altLang="en-US" sz="3600" b="1" dirty="0" smtClean="0">
                <a:solidFill>
                  <a:srgbClr val="000099"/>
                </a:solidFill>
              </a:rPr>
              <a:t>，计算题</a:t>
            </a:r>
            <a:r>
              <a:rPr lang="en-US" altLang="zh-CN" sz="3600" b="1" dirty="0" smtClean="0">
                <a:solidFill>
                  <a:srgbClr val="000099"/>
                </a:solidFill>
              </a:rPr>
              <a:t>21</a:t>
            </a:r>
          </a:p>
          <a:p>
            <a:pPr>
              <a:lnSpc>
                <a:spcPct val="150000"/>
              </a:lnSpc>
            </a:pPr>
            <a:r>
              <a:rPr lang="en-US" altLang="zh-CN" sz="3600" b="1" dirty="0">
                <a:solidFill>
                  <a:srgbClr val="0000CC"/>
                </a:solidFill>
              </a:rPr>
              <a:t>96</a:t>
            </a:r>
            <a:r>
              <a:rPr lang="zh-CN" altLang="en-US" sz="3600" b="1" dirty="0">
                <a:solidFill>
                  <a:srgbClr val="0000CC"/>
                </a:solidFill>
              </a:rPr>
              <a:t>页计算题</a:t>
            </a:r>
            <a:r>
              <a:rPr lang="en-US" altLang="zh-CN" sz="3600" b="1" dirty="0">
                <a:solidFill>
                  <a:srgbClr val="0000CC"/>
                </a:solidFill>
              </a:rPr>
              <a:t>31</a:t>
            </a:r>
            <a:r>
              <a:rPr lang="zh-CN" altLang="en-US" sz="3600" b="1" dirty="0">
                <a:solidFill>
                  <a:srgbClr val="0000CC"/>
                </a:solidFill>
              </a:rPr>
              <a:t>，</a:t>
            </a:r>
            <a:r>
              <a:rPr lang="en-US" altLang="zh-CN" sz="3600" b="1" dirty="0">
                <a:solidFill>
                  <a:srgbClr val="0000CC"/>
                </a:solidFill>
              </a:rPr>
              <a:t>32</a:t>
            </a:r>
            <a:r>
              <a:rPr lang="zh-CN" altLang="en-US" sz="3600" b="1" dirty="0">
                <a:solidFill>
                  <a:srgbClr val="0000CC"/>
                </a:solidFill>
              </a:rPr>
              <a:t>，</a:t>
            </a:r>
            <a:r>
              <a:rPr lang="en-US" altLang="zh-CN" sz="3600" b="1" dirty="0">
                <a:solidFill>
                  <a:srgbClr val="0000CC"/>
                </a:solidFill>
              </a:rPr>
              <a:t>33</a:t>
            </a:r>
            <a:r>
              <a:rPr lang="zh-CN" altLang="en-US" sz="3600" b="1" dirty="0">
                <a:solidFill>
                  <a:srgbClr val="0000CC"/>
                </a:solidFill>
              </a:rPr>
              <a:t>，</a:t>
            </a:r>
            <a:r>
              <a:rPr lang="en-US" altLang="zh-CN" sz="3600" b="1" dirty="0">
                <a:solidFill>
                  <a:srgbClr val="0000CC"/>
                </a:solidFill>
              </a:rPr>
              <a:t>34</a:t>
            </a:r>
            <a:r>
              <a:rPr lang="zh-CN" altLang="en-US" sz="3600" b="1" dirty="0">
                <a:solidFill>
                  <a:srgbClr val="0000CC"/>
                </a:solidFill>
              </a:rPr>
              <a:t>（理想电池）</a:t>
            </a:r>
            <a:endParaRPr lang="en-US" altLang="zh-CN" sz="3600" b="1" dirty="0">
              <a:solidFill>
                <a:srgbClr val="0000CC"/>
              </a:solidFill>
            </a:endParaRPr>
          </a:p>
          <a:p>
            <a:pPr>
              <a:lnSpc>
                <a:spcPct val="150000"/>
              </a:lnSpc>
            </a:pPr>
            <a:r>
              <a:rPr lang="en-US" altLang="zh-CN" sz="3600" b="1" dirty="0" smtClean="0">
                <a:solidFill>
                  <a:srgbClr val="0000CC"/>
                </a:solidFill>
              </a:rPr>
              <a:t>97</a:t>
            </a:r>
            <a:r>
              <a:rPr lang="zh-CN" altLang="en-US" sz="3600" b="1" dirty="0">
                <a:solidFill>
                  <a:srgbClr val="0000CC"/>
                </a:solidFill>
              </a:rPr>
              <a:t>页计算题</a:t>
            </a:r>
            <a:r>
              <a:rPr lang="en-US" altLang="zh-CN" sz="3600" b="1" dirty="0">
                <a:solidFill>
                  <a:srgbClr val="0000CC"/>
                </a:solidFill>
              </a:rPr>
              <a:t>40</a:t>
            </a:r>
            <a:r>
              <a:rPr lang="zh-CN" altLang="en-US" sz="3600" b="1" dirty="0">
                <a:solidFill>
                  <a:srgbClr val="0000CC"/>
                </a:solidFill>
              </a:rPr>
              <a:t>，</a:t>
            </a:r>
            <a:r>
              <a:rPr lang="en-US" altLang="zh-CN" sz="3600" b="1" dirty="0" smtClean="0">
                <a:solidFill>
                  <a:srgbClr val="0000CC"/>
                </a:solidFill>
              </a:rPr>
              <a:t>41</a:t>
            </a:r>
            <a:r>
              <a:rPr lang="zh-CN" altLang="en-US" sz="3600" b="1" dirty="0" smtClean="0">
                <a:solidFill>
                  <a:srgbClr val="0000CC"/>
                </a:solidFill>
              </a:rPr>
              <a:t>，</a:t>
            </a:r>
            <a:r>
              <a:rPr lang="en-US" altLang="zh-CN" sz="3600" b="1" dirty="0" smtClean="0">
                <a:solidFill>
                  <a:srgbClr val="0000CC"/>
                </a:solidFill>
              </a:rPr>
              <a:t>50</a:t>
            </a:r>
            <a:endParaRPr lang="zh-CN" altLang="en-US" sz="3600" b="1" dirty="0">
              <a:solidFill>
                <a:srgbClr val="0000CC"/>
              </a:solidFill>
            </a:endParaRPr>
          </a:p>
          <a:p>
            <a:pPr>
              <a:lnSpc>
                <a:spcPct val="150000"/>
              </a:lnSpc>
            </a:pPr>
            <a:endParaRPr lang="zh-CN" altLang="en-US" sz="3600" b="1" dirty="0">
              <a:solidFill>
                <a:srgbClr val="000099"/>
              </a:solidFill>
            </a:endParaRPr>
          </a:p>
        </p:txBody>
      </p:sp>
    </p:spTree>
    <p:extLst>
      <p:ext uri="{BB962C8B-B14F-4D97-AF65-F5344CB8AC3E}">
        <p14:creationId xmlns:p14="http://schemas.microsoft.com/office/powerpoint/2010/main" val="3321703459"/>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2614</TotalTime>
  <Words>1286</Words>
  <Application>Microsoft Office PowerPoint</Application>
  <PresentationFormat>宽屏</PresentationFormat>
  <Paragraphs>99</Paragraphs>
  <Slides>20</Slides>
  <Notes>2</Notes>
  <HiddenSlides>7</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20</vt:i4>
      </vt:variant>
    </vt:vector>
  </HeadingPairs>
  <TitlesOfParts>
    <vt:vector size="30" baseType="lpstr">
      <vt:lpstr>Microsoft Yahei</vt:lpstr>
      <vt:lpstr>宋体</vt:lpstr>
      <vt:lpstr>Arial</vt:lpstr>
      <vt:lpstr>Calibri</vt:lpstr>
      <vt:lpstr>Calibri Light</vt:lpstr>
      <vt:lpstr>Cambria Math</vt:lpstr>
      <vt:lpstr>Symbol Tiger Expert</vt:lpstr>
      <vt:lpstr>Times New Roman</vt:lpstr>
      <vt:lpstr>Office 主题</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Www.SangSan.Cn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桑三博客</dc:creator>
  <cp:lastModifiedBy>hsl</cp:lastModifiedBy>
  <cp:revision>158</cp:revision>
  <dcterms:created xsi:type="dcterms:W3CDTF">2017-10-22T09:48:47Z</dcterms:created>
  <dcterms:modified xsi:type="dcterms:W3CDTF">2021-05-16T09:37:27Z</dcterms:modified>
</cp:coreProperties>
</file>