
<file path=[Content_Types].xml><?xml version="1.0" encoding="utf-8"?>
<Types xmlns="http://schemas.openxmlformats.org/package/2006/content-types">
  <Default Extension="png" ContentType="image/png"/>
  <Default Extension="bin" ContentType="application/vnd.openxmlformats-officedocument.oleObject"/>
  <Default Extension="tmp"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11.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12.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13.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sldIdLst>
    <p:sldId id="313" r:id="rId2"/>
    <p:sldId id="322" r:id="rId3"/>
    <p:sldId id="258" r:id="rId4"/>
    <p:sldId id="327" r:id="rId5"/>
    <p:sldId id="336" r:id="rId6"/>
    <p:sldId id="338" r:id="rId7"/>
    <p:sldId id="331" r:id="rId8"/>
    <p:sldId id="350" r:id="rId9"/>
    <p:sldId id="271" r:id="rId10"/>
    <p:sldId id="340" r:id="rId11"/>
    <p:sldId id="332" r:id="rId12"/>
    <p:sldId id="339" r:id="rId13"/>
    <p:sldId id="335" r:id="rId14"/>
    <p:sldId id="272" r:id="rId15"/>
    <p:sldId id="342" r:id="rId16"/>
    <p:sldId id="314" r:id="rId17"/>
    <p:sldId id="316" r:id="rId18"/>
    <p:sldId id="355" r:id="rId19"/>
    <p:sldId id="315" r:id="rId20"/>
    <p:sldId id="323" r:id="rId21"/>
    <p:sldId id="274" r:id="rId22"/>
    <p:sldId id="275" r:id="rId23"/>
    <p:sldId id="333" r:id="rId24"/>
    <p:sldId id="276" r:id="rId25"/>
    <p:sldId id="351" r:id="rId26"/>
    <p:sldId id="368" r:id="rId27"/>
    <p:sldId id="352" r:id="rId28"/>
    <p:sldId id="369" r:id="rId29"/>
    <p:sldId id="354" r:id="rId30"/>
    <p:sldId id="370" r:id="rId31"/>
    <p:sldId id="343" r:id="rId32"/>
    <p:sldId id="353" r:id="rId33"/>
    <p:sldId id="371" r:id="rId34"/>
    <p:sldId id="318" r:id="rId35"/>
    <p:sldId id="359" r:id="rId36"/>
    <p:sldId id="372" r:id="rId37"/>
    <p:sldId id="317" r:id="rId38"/>
    <p:sldId id="344" r:id="rId39"/>
    <p:sldId id="364" r:id="rId40"/>
    <p:sldId id="279" r:id="rId41"/>
    <p:sldId id="363" r:id="rId42"/>
    <p:sldId id="373" r:id="rId43"/>
    <p:sldId id="347" r:id="rId44"/>
    <p:sldId id="281" r:id="rId45"/>
    <p:sldId id="367" r:id="rId46"/>
    <p:sldId id="324" r:id="rId47"/>
    <p:sldId id="361" r:id="rId48"/>
    <p:sldId id="374" r:id="rId49"/>
    <p:sldId id="312" r:id="rId50"/>
    <p:sldId id="357" r:id="rId51"/>
    <p:sldId id="345" r:id="rId52"/>
    <p:sldId id="348" r:id="rId53"/>
    <p:sldId id="282" r:id="rId54"/>
    <p:sldId id="356" r:id="rId55"/>
    <p:sldId id="362" r:id="rId56"/>
    <p:sldId id="366" r:id="rId57"/>
    <p:sldId id="319" r:id="rId58"/>
    <p:sldId id="320" r:id="rId59"/>
    <p:sldId id="321" r:id="rId60"/>
    <p:sldId id="334" r:id="rId6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25" autoAdjust="0"/>
    <p:restoredTop sz="90950" autoAdjust="0"/>
  </p:normalViewPr>
  <p:slideViewPr>
    <p:cSldViewPr>
      <p:cViewPr varScale="1">
        <p:scale>
          <a:sx n="82" d="100"/>
          <a:sy n="82" d="100"/>
        </p:scale>
        <p:origin x="1752"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image" Target="../media/image15.wmf"/><Relationship Id="rId7" Type="http://schemas.openxmlformats.org/officeDocument/2006/relationships/image" Target="../media/image19.wmf"/><Relationship Id="rId2" Type="http://schemas.openxmlformats.org/officeDocument/2006/relationships/image" Target="../media/image14.wmf"/><Relationship Id="rId1" Type="http://schemas.openxmlformats.org/officeDocument/2006/relationships/image" Target="../media/image13.wmf"/><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emf"/><Relationship Id="rId1" Type="http://schemas.openxmlformats.org/officeDocument/2006/relationships/image" Target="../media/image22.wmf"/><Relationship Id="rId5" Type="http://schemas.openxmlformats.org/officeDocument/2006/relationships/image" Target="../media/image26.wmf"/><Relationship Id="rId4" Type="http://schemas.openxmlformats.org/officeDocument/2006/relationships/image" Target="../media/image25.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 Id="rId4" Type="http://schemas.openxmlformats.org/officeDocument/2006/relationships/image" Target="../media/image3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49.wmf"/><Relationship Id="rId1" Type="http://schemas.openxmlformats.org/officeDocument/2006/relationships/image" Target="../media/image48.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 Id="rId4" Type="http://schemas.openxmlformats.org/officeDocument/2006/relationships/image" Target="../media/image55.e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59.emf"/><Relationship Id="rId5" Type="http://schemas.openxmlformats.org/officeDocument/2006/relationships/image" Target="../media/image63.wmf"/><Relationship Id="rId4" Type="http://schemas.openxmlformats.org/officeDocument/2006/relationships/image" Target="../media/image62.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image" Target="../media/image69.wmf"/><Relationship Id="rId1" Type="http://schemas.openxmlformats.org/officeDocument/2006/relationships/image" Target="../media/image68.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image" Target="../media/image74.wmf"/><Relationship Id="rId1" Type="http://schemas.openxmlformats.org/officeDocument/2006/relationships/image" Target="../media/image73.wmf"/><Relationship Id="rId6" Type="http://schemas.openxmlformats.org/officeDocument/2006/relationships/image" Target="../media/image78.wmf"/><Relationship Id="rId5" Type="http://schemas.openxmlformats.org/officeDocument/2006/relationships/image" Target="../media/image77.wmf"/><Relationship Id="rId4" Type="http://schemas.openxmlformats.org/officeDocument/2006/relationships/image" Target="../media/image76.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image" Target="../media/image80.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90.wmf"/><Relationship Id="rId1" Type="http://schemas.openxmlformats.org/officeDocument/2006/relationships/image" Target="../media/image89.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94.wmf"/><Relationship Id="rId2" Type="http://schemas.openxmlformats.org/officeDocument/2006/relationships/image" Target="../media/image93.wmf"/><Relationship Id="rId1" Type="http://schemas.openxmlformats.org/officeDocument/2006/relationships/image" Target="../media/image92.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image" Target="../media/image96.wmf"/><Relationship Id="rId1" Type="http://schemas.openxmlformats.org/officeDocument/2006/relationships/image" Target="../media/image9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2925DA7-5074-49E5-9DA1-059A2FAA0750}" type="datetimeFigureOut">
              <a:rPr lang="zh-CN" altLang="en-US" smtClean="0"/>
              <a:pPr/>
              <a:t>2021/4/18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0181850-4DE9-443F-B797-ED48581C5210}" type="slidenum">
              <a:rPr lang="zh-CN" altLang="en-US" smtClean="0"/>
              <a:pPr/>
              <a:t>‹#›</a:t>
            </a:fld>
            <a:endParaRPr lang="zh-CN" altLang="en-US"/>
          </a:p>
        </p:txBody>
      </p:sp>
    </p:spTree>
    <p:extLst>
      <p:ext uri="{BB962C8B-B14F-4D97-AF65-F5344CB8AC3E}">
        <p14:creationId xmlns:p14="http://schemas.microsoft.com/office/powerpoint/2010/main" val="921493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心电图仪测量的是胸部不同部位之间的电势差随时间的变化曲线。</a:t>
            </a:r>
            <a:endParaRPr lang="zh-CN" altLang="en-US" dirty="0"/>
          </a:p>
        </p:txBody>
      </p:sp>
      <p:sp>
        <p:nvSpPr>
          <p:cNvPr id="4" name="灯片编号占位符 3"/>
          <p:cNvSpPr>
            <a:spLocks noGrp="1"/>
          </p:cNvSpPr>
          <p:nvPr>
            <p:ph type="sldNum" sz="quarter" idx="10"/>
          </p:nvPr>
        </p:nvSpPr>
        <p:spPr/>
        <p:txBody>
          <a:bodyPr/>
          <a:lstStyle/>
          <a:p>
            <a:fld id="{10181850-4DE9-443F-B797-ED48581C5210}" type="slidenum">
              <a:rPr lang="zh-CN" altLang="en-US" smtClean="0"/>
              <a:pPr/>
              <a:t>1</a:t>
            </a:fld>
            <a:endParaRPr lang="zh-CN" altLang="en-US"/>
          </a:p>
        </p:txBody>
      </p:sp>
    </p:spTree>
    <p:extLst>
      <p:ext uri="{BB962C8B-B14F-4D97-AF65-F5344CB8AC3E}">
        <p14:creationId xmlns:p14="http://schemas.microsoft.com/office/powerpoint/2010/main" val="37898362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Arial" pitchFamily="34" charset="0"/>
                <a:ea typeface="宋体" pitchFamily="2" charset="-122"/>
              </a:defRPr>
            </a:lvl1pPr>
            <a:lvl2pPr marL="742950" indent="-285750">
              <a:defRPr sz="2800" b="1">
                <a:solidFill>
                  <a:schemeClr val="tx1"/>
                </a:solidFill>
                <a:latin typeface="Arial" pitchFamily="34" charset="0"/>
                <a:ea typeface="宋体" pitchFamily="2" charset="-122"/>
              </a:defRPr>
            </a:lvl2pPr>
            <a:lvl3pPr marL="1143000" indent="-228600">
              <a:defRPr sz="2800" b="1">
                <a:solidFill>
                  <a:schemeClr val="tx1"/>
                </a:solidFill>
                <a:latin typeface="Arial" pitchFamily="34" charset="0"/>
                <a:ea typeface="宋体" pitchFamily="2" charset="-122"/>
              </a:defRPr>
            </a:lvl3pPr>
            <a:lvl4pPr marL="1600200" indent="-228600">
              <a:defRPr sz="2800" b="1">
                <a:solidFill>
                  <a:schemeClr val="tx1"/>
                </a:solidFill>
                <a:latin typeface="Arial" pitchFamily="34" charset="0"/>
                <a:ea typeface="宋体" pitchFamily="2" charset="-122"/>
              </a:defRPr>
            </a:lvl4pPr>
            <a:lvl5pPr marL="2057400" indent="-22860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800" b="1">
                <a:solidFill>
                  <a:schemeClr val="tx1"/>
                </a:solidFill>
                <a:latin typeface="Arial" pitchFamily="34" charset="0"/>
                <a:ea typeface="宋体" pitchFamily="2" charset="-122"/>
              </a:defRPr>
            </a:lvl9pPr>
          </a:lstStyle>
          <a:p>
            <a:fld id="{5AA10CAE-5649-4956-BA49-85FAC1C65B18}" type="datetime1">
              <a:rPr lang="zh-CN" altLang="en-US" sz="1200" b="0" smtClean="0"/>
              <a:pPr/>
              <a:t>2021/4/18</a:t>
            </a:fld>
            <a:endParaRPr lang="en-US" altLang="zh-CN" sz="1200" b="0" smtClean="0"/>
          </a:p>
        </p:txBody>
      </p:sp>
      <p:sp>
        <p:nvSpPr>
          <p:cNvPr id="15667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Arial" pitchFamily="34" charset="0"/>
                <a:ea typeface="宋体" pitchFamily="2" charset="-122"/>
              </a:defRPr>
            </a:lvl1pPr>
            <a:lvl2pPr marL="742950" indent="-285750">
              <a:defRPr sz="2800" b="1">
                <a:solidFill>
                  <a:schemeClr val="tx1"/>
                </a:solidFill>
                <a:latin typeface="Arial" pitchFamily="34" charset="0"/>
                <a:ea typeface="宋体" pitchFamily="2" charset="-122"/>
              </a:defRPr>
            </a:lvl2pPr>
            <a:lvl3pPr marL="1143000" indent="-228600">
              <a:defRPr sz="2800" b="1">
                <a:solidFill>
                  <a:schemeClr val="tx1"/>
                </a:solidFill>
                <a:latin typeface="Arial" pitchFamily="34" charset="0"/>
                <a:ea typeface="宋体" pitchFamily="2" charset="-122"/>
              </a:defRPr>
            </a:lvl3pPr>
            <a:lvl4pPr marL="1600200" indent="-228600">
              <a:defRPr sz="2800" b="1">
                <a:solidFill>
                  <a:schemeClr val="tx1"/>
                </a:solidFill>
                <a:latin typeface="Arial" pitchFamily="34" charset="0"/>
                <a:ea typeface="宋体" pitchFamily="2" charset="-122"/>
              </a:defRPr>
            </a:lvl4pPr>
            <a:lvl5pPr marL="2057400" indent="-22860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800" b="1">
                <a:solidFill>
                  <a:schemeClr val="tx1"/>
                </a:solidFill>
                <a:latin typeface="Arial" pitchFamily="34" charset="0"/>
                <a:ea typeface="宋体" pitchFamily="2" charset="-122"/>
              </a:defRPr>
            </a:lvl9pPr>
          </a:lstStyle>
          <a:p>
            <a:fld id="{69B24217-330E-4D9F-A4FF-FD499ABA7410}" type="slidenum">
              <a:rPr lang="en-US" altLang="zh-CN" sz="1200" b="0"/>
              <a:pPr/>
              <a:t>5</a:t>
            </a:fld>
            <a:endParaRPr lang="en-US" altLang="zh-CN" sz="1200" b="0"/>
          </a:p>
        </p:txBody>
      </p:sp>
      <p:sp>
        <p:nvSpPr>
          <p:cNvPr id="156676" name="Rectangle 2"/>
          <p:cNvSpPr>
            <a:spLocks noGrp="1" noRot="1" noChangeAspect="1" noChangeArrowheads="1" noTextEdit="1"/>
          </p:cNvSpPr>
          <p:nvPr>
            <p:ph type="sldImg"/>
          </p:nvPr>
        </p:nvSpPr>
        <p:spPr>
          <a:ln/>
        </p:spPr>
      </p:sp>
      <p:sp>
        <p:nvSpPr>
          <p:cNvPr id="1566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Arial" pitchFamily="34" charset="0"/>
                <a:ea typeface="宋体" pitchFamily="2" charset="-122"/>
              </a:defRPr>
            </a:lvl1pPr>
            <a:lvl2pPr marL="742950" indent="-285750">
              <a:defRPr sz="2800" b="1">
                <a:solidFill>
                  <a:schemeClr val="tx1"/>
                </a:solidFill>
                <a:latin typeface="Arial" pitchFamily="34" charset="0"/>
                <a:ea typeface="宋体" pitchFamily="2" charset="-122"/>
              </a:defRPr>
            </a:lvl2pPr>
            <a:lvl3pPr marL="1143000" indent="-228600">
              <a:defRPr sz="2800" b="1">
                <a:solidFill>
                  <a:schemeClr val="tx1"/>
                </a:solidFill>
                <a:latin typeface="Arial" pitchFamily="34" charset="0"/>
                <a:ea typeface="宋体" pitchFamily="2" charset="-122"/>
              </a:defRPr>
            </a:lvl3pPr>
            <a:lvl4pPr marL="1600200" indent="-228600">
              <a:defRPr sz="2800" b="1">
                <a:solidFill>
                  <a:schemeClr val="tx1"/>
                </a:solidFill>
                <a:latin typeface="Arial" pitchFamily="34" charset="0"/>
                <a:ea typeface="宋体" pitchFamily="2" charset="-122"/>
              </a:defRPr>
            </a:lvl4pPr>
            <a:lvl5pPr marL="2057400" indent="-22860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800" b="1">
                <a:solidFill>
                  <a:schemeClr val="tx1"/>
                </a:solidFill>
                <a:latin typeface="Arial" pitchFamily="34" charset="0"/>
                <a:ea typeface="宋体" pitchFamily="2" charset="-122"/>
              </a:defRPr>
            </a:lvl9pPr>
          </a:lstStyle>
          <a:p>
            <a:fld id="{43C26C76-904D-4B0B-9A24-32B6A353565B}" type="datetime1">
              <a:rPr lang="zh-CN" altLang="en-US" sz="1200" b="0">
                <a:solidFill>
                  <a:prstClr val="black"/>
                </a:solidFill>
              </a:rPr>
              <a:pPr/>
              <a:t>2021/4/18</a:t>
            </a:fld>
            <a:endParaRPr lang="en-US" altLang="zh-CN" sz="1200" b="0">
              <a:solidFill>
                <a:prstClr val="black"/>
              </a:solidFill>
            </a:endParaRPr>
          </a:p>
        </p:txBody>
      </p:sp>
      <p:sp>
        <p:nvSpPr>
          <p:cNvPr id="15769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Arial" pitchFamily="34" charset="0"/>
                <a:ea typeface="宋体" pitchFamily="2" charset="-122"/>
              </a:defRPr>
            </a:lvl1pPr>
            <a:lvl2pPr marL="742950" indent="-285750">
              <a:defRPr sz="2800" b="1">
                <a:solidFill>
                  <a:schemeClr val="tx1"/>
                </a:solidFill>
                <a:latin typeface="Arial" pitchFamily="34" charset="0"/>
                <a:ea typeface="宋体" pitchFamily="2" charset="-122"/>
              </a:defRPr>
            </a:lvl2pPr>
            <a:lvl3pPr marL="1143000" indent="-228600">
              <a:defRPr sz="2800" b="1">
                <a:solidFill>
                  <a:schemeClr val="tx1"/>
                </a:solidFill>
                <a:latin typeface="Arial" pitchFamily="34" charset="0"/>
                <a:ea typeface="宋体" pitchFamily="2" charset="-122"/>
              </a:defRPr>
            </a:lvl3pPr>
            <a:lvl4pPr marL="1600200" indent="-228600">
              <a:defRPr sz="2800" b="1">
                <a:solidFill>
                  <a:schemeClr val="tx1"/>
                </a:solidFill>
                <a:latin typeface="Arial" pitchFamily="34" charset="0"/>
                <a:ea typeface="宋体" pitchFamily="2" charset="-122"/>
              </a:defRPr>
            </a:lvl4pPr>
            <a:lvl5pPr marL="2057400" indent="-22860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800" b="1">
                <a:solidFill>
                  <a:schemeClr val="tx1"/>
                </a:solidFill>
                <a:latin typeface="Arial" pitchFamily="34" charset="0"/>
                <a:ea typeface="宋体" pitchFamily="2" charset="-122"/>
              </a:defRPr>
            </a:lvl9pPr>
          </a:lstStyle>
          <a:p>
            <a:fld id="{CD0F3313-AB83-4134-A8DD-75A6D867C3FB}" type="slidenum">
              <a:rPr lang="en-US" altLang="zh-CN" sz="1200" b="0">
                <a:solidFill>
                  <a:prstClr val="black"/>
                </a:solidFill>
              </a:rPr>
              <a:pPr/>
              <a:t>6</a:t>
            </a:fld>
            <a:endParaRPr lang="en-US" altLang="zh-CN" sz="1200" b="0">
              <a:solidFill>
                <a:prstClr val="black"/>
              </a:solidFill>
            </a:endParaRPr>
          </a:p>
        </p:txBody>
      </p:sp>
      <p:sp>
        <p:nvSpPr>
          <p:cNvPr id="157700" name="Rectangle 2"/>
          <p:cNvSpPr>
            <a:spLocks noGrp="1" noRot="1" noChangeAspect="1" noChangeArrowheads="1" noTextEdit="1"/>
          </p:cNvSpPr>
          <p:nvPr>
            <p:ph type="sldImg"/>
          </p:nvPr>
        </p:nvSpPr>
        <p:spPr>
          <a:ln/>
        </p:spPr>
      </p:sp>
      <p:sp>
        <p:nvSpPr>
          <p:cNvPr id="1577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0181850-4DE9-443F-B797-ED48581C5210}" type="slidenum">
              <a:rPr lang="zh-CN" altLang="en-US" smtClean="0"/>
              <a:pPr/>
              <a:t>9</a:t>
            </a:fld>
            <a:endParaRPr lang="zh-CN" altLang="en-US"/>
          </a:p>
        </p:txBody>
      </p:sp>
    </p:spTree>
    <p:extLst>
      <p:ext uri="{BB962C8B-B14F-4D97-AF65-F5344CB8AC3E}">
        <p14:creationId xmlns:p14="http://schemas.microsoft.com/office/powerpoint/2010/main" val="29907664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电场力所做的功有正（例如在斥力场中），有负（例如在引力场中），所以电势能有正有负。</a:t>
            </a:r>
          </a:p>
          <a:p>
            <a:endParaRPr lang="zh-CN" altLang="en-US" dirty="0"/>
          </a:p>
        </p:txBody>
      </p:sp>
      <p:sp>
        <p:nvSpPr>
          <p:cNvPr id="4" name="灯片编号占位符 3"/>
          <p:cNvSpPr>
            <a:spLocks noGrp="1"/>
          </p:cNvSpPr>
          <p:nvPr>
            <p:ph type="sldNum" sz="quarter" idx="10"/>
          </p:nvPr>
        </p:nvSpPr>
        <p:spPr/>
        <p:txBody>
          <a:bodyPr/>
          <a:lstStyle/>
          <a:p>
            <a:fld id="{10181850-4DE9-443F-B797-ED48581C5210}" type="slidenum">
              <a:rPr lang="zh-CN" altLang="en-US" smtClean="0"/>
              <a:pPr/>
              <a:t>14</a:t>
            </a:fld>
            <a:endParaRPr lang="zh-CN" altLang="en-US"/>
          </a:p>
        </p:txBody>
      </p:sp>
    </p:spTree>
    <p:extLst>
      <p:ext uri="{BB962C8B-B14F-4D97-AF65-F5344CB8AC3E}">
        <p14:creationId xmlns:p14="http://schemas.microsoft.com/office/powerpoint/2010/main" val="3546914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mtClean="0"/>
              <a:t>电场力所做的功有正（例如在斥力场中），有负（例如在引力场中），所以电势能有正有负。</a:t>
            </a:r>
          </a:p>
          <a:p>
            <a:endParaRPr lang="zh-CN" altLang="en-US"/>
          </a:p>
        </p:txBody>
      </p:sp>
      <p:sp>
        <p:nvSpPr>
          <p:cNvPr id="4" name="灯片编号占位符 3"/>
          <p:cNvSpPr>
            <a:spLocks noGrp="1"/>
          </p:cNvSpPr>
          <p:nvPr>
            <p:ph type="sldNum" sz="quarter" idx="10"/>
          </p:nvPr>
        </p:nvSpPr>
        <p:spPr/>
        <p:txBody>
          <a:bodyPr/>
          <a:lstStyle/>
          <a:p>
            <a:fld id="{10181850-4DE9-443F-B797-ED48581C5210}" type="slidenum">
              <a:rPr lang="zh-CN" altLang="en-US" smtClean="0"/>
              <a:pPr/>
              <a:t>15</a:t>
            </a:fld>
            <a:endParaRPr lang="zh-CN" altLang="en-US"/>
          </a:p>
        </p:txBody>
      </p:sp>
    </p:spTree>
    <p:extLst>
      <p:ext uri="{BB962C8B-B14F-4D97-AF65-F5344CB8AC3E}">
        <p14:creationId xmlns:p14="http://schemas.microsoft.com/office/powerpoint/2010/main" val="39868052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0181850-4DE9-443F-B797-ED48581C5210}" type="slidenum">
              <a:rPr lang="zh-CN" altLang="en-US" smtClean="0"/>
              <a:pPr/>
              <a:t>17</a:t>
            </a:fld>
            <a:endParaRPr lang="zh-CN" altLang="en-US"/>
          </a:p>
        </p:txBody>
      </p:sp>
    </p:spTree>
    <p:extLst>
      <p:ext uri="{BB962C8B-B14F-4D97-AF65-F5344CB8AC3E}">
        <p14:creationId xmlns:p14="http://schemas.microsoft.com/office/powerpoint/2010/main" val="26629934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0181850-4DE9-443F-B797-ED48581C5210}" type="slidenum">
              <a:rPr lang="zh-CN" altLang="en-US" smtClean="0"/>
              <a:pPr/>
              <a:t>19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6</a:t>
            </a:r>
            <a:endParaRPr lang="zh-CN" altLang="en-US" dirty="0"/>
          </a:p>
        </p:txBody>
      </p:sp>
      <p:sp>
        <p:nvSpPr>
          <p:cNvPr id="4" name="灯片编号占位符 3"/>
          <p:cNvSpPr>
            <a:spLocks noGrp="1"/>
          </p:cNvSpPr>
          <p:nvPr>
            <p:ph type="sldNum" sz="quarter" idx="10"/>
          </p:nvPr>
        </p:nvSpPr>
        <p:spPr/>
        <p:txBody>
          <a:bodyPr/>
          <a:lstStyle/>
          <a:p>
            <a:fld id="{10181850-4DE9-443F-B797-ED48581C5210}" type="slidenum">
              <a:rPr lang="zh-CN" altLang="en-US" smtClean="0"/>
              <a:pPr/>
              <a:t>21</a:t>
            </a:fld>
            <a:endParaRPr lang="zh-CN" altLang="en-US"/>
          </a:p>
        </p:txBody>
      </p:sp>
    </p:spTree>
    <p:extLst>
      <p:ext uri="{BB962C8B-B14F-4D97-AF65-F5344CB8AC3E}">
        <p14:creationId xmlns:p14="http://schemas.microsoft.com/office/powerpoint/2010/main" val="40068840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zh-CN" smtClean="0"/>
              <a:t>正确答案：</a:t>
            </a:r>
            <a:r>
              <a:rPr lang="en-US" altLang="zh-CN" smtClean="0"/>
              <a:t>B</a:t>
            </a:r>
            <a:r>
              <a:rPr lang="zh-CN" altLang="zh-CN" smtClean="0"/>
              <a:t>、</a:t>
            </a:r>
            <a:r>
              <a:rPr lang="en-US" altLang="zh-CN" smtClean="0"/>
              <a:t>D</a:t>
            </a:r>
            <a:endParaRPr lang="zh-CN" altLang="zh-CN" smtClean="0"/>
          </a:p>
        </p:txBody>
      </p:sp>
      <p:sp>
        <p:nvSpPr>
          <p:cNvPr id="4" name="灯片编号占位符 3"/>
          <p:cNvSpPr>
            <a:spLocks noGrp="1"/>
          </p:cNvSpPr>
          <p:nvPr>
            <p:ph type="sldNum" sz="quarter" idx="10"/>
          </p:nvPr>
        </p:nvSpPr>
        <p:spPr/>
        <p:txBody>
          <a:bodyPr/>
          <a:lstStyle/>
          <a:p>
            <a:fld id="{10181850-4DE9-443F-B797-ED48581C5210}" type="slidenum">
              <a:rPr lang="zh-CN" altLang="en-US" smtClean="0"/>
              <a:pPr/>
              <a:t>25</a:t>
            </a:fld>
            <a:endParaRPr lang="zh-CN" altLang="en-US"/>
          </a:p>
        </p:txBody>
      </p:sp>
    </p:spTree>
    <p:extLst>
      <p:ext uri="{BB962C8B-B14F-4D97-AF65-F5344CB8AC3E}">
        <p14:creationId xmlns:p14="http://schemas.microsoft.com/office/powerpoint/2010/main" val="14477779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smtClean="0"/>
              <a:t>正确答案：</a:t>
            </a:r>
            <a:r>
              <a:rPr lang="en-US" altLang="zh-CN" sz="1200" smtClean="0"/>
              <a:t>C</a:t>
            </a:r>
            <a:endParaRPr lang="zh-CN" altLang="zh-CN" sz="1200"/>
          </a:p>
        </p:txBody>
      </p:sp>
      <p:sp>
        <p:nvSpPr>
          <p:cNvPr id="4" name="灯片编号占位符 3"/>
          <p:cNvSpPr>
            <a:spLocks noGrp="1"/>
          </p:cNvSpPr>
          <p:nvPr>
            <p:ph type="sldNum" sz="quarter" idx="10"/>
          </p:nvPr>
        </p:nvSpPr>
        <p:spPr/>
        <p:txBody>
          <a:bodyPr/>
          <a:lstStyle/>
          <a:p>
            <a:fld id="{10181850-4DE9-443F-B797-ED48581C5210}" type="slidenum">
              <a:rPr lang="zh-CN" altLang="en-US" smtClean="0"/>
              <a:pPr/>
              <a:t>27</a:t>
            </a:fld>
            <a:endParaRPr lang="zh-CN" altLang="en-US"/>
          </a:p>
        </p:txBody>
      </p:sp>
    </p:spTree>
    <p:extLst>
      <p:ext uri="{BB962C8B-B14F-4D97-AF65-F5344CB8AC3E}">
        <p14:creationId xmlns:p14="http://schemas.microsoft.com/office/powerpoint/2010/main" val="14477779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smtClean="0"/>
              <a:t>答案：</a:t>
            </a:r>
            <a:r>
              <a:rPr lang="en-US" altLang="zh-CN" sz="1200" smtClean="0"/>
              <a:t>C</a:t>
            </a:r>
            <a:endParaRPr lang="zh-CN" altLang="zh-CN" sz="1200"/>
          </a:p>
        </p:txBody>
      </p:sp>
      <p:sp>
        <p:nvSpPr>
          <p:cNvPr id="4" name="灯片编号占位符 3"/>
          <p:cNvSpPr>
            <a:spLocks noGrp="1"/>
          </p:cNvSpPr>
          <p:nvPr>
            <p:ph type="sldNum" sz="quarter" idx="10"/>
          </p:nvPr>
        </p:nvSpPr>
        <p:spPr/>
        <p:txBody>
          <a:bodyPr/>
          <a:lstStyle/>
          <a:p>
            <a:fld id="{10181850-4DE9-443F-B797-ED48581C5210}" type="slidenum">
              <a:rPr lang="zh-CN" altLang="en-US" smtClean="0"/>
              <a:pPr/>
              <a:t>29</a:t>
            </a:fld>
            <a:endParaRPr lang="zh-CN" altLang="en-US"/>
          </a:p>
        </p:txBody>
      </p:sp>
    </p:spTree>
    <p:extLst>
      <p:ext uri="{BB962C8B-B14F-4D97-AF65-F5344CB8AC3E}">
        <p14:creationId xmlns:p14="http://schemas.microsoft.com/office/powerpoint/2010/main" val="14477779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smtClean="0"/>
              <a:t>答案：</a:t>
            </a:r>
            <a:r>
              <a:rPr lang="en-US" altLang="zh-CN" sz="1200" smtClean="0"/>
              <a:t>A</a:t>
            </a:r>
            <a:endParaRPr lang="zh-CN" altLang="zh-CN" sz="1200"/>
          </a:p>
        </p:txBody>
      </p:sp>
      <p:sp>
        <p:nvSpPr>
          <p:cNvPr id="4" name="灯片编号占位符 3"/>
          <p:cNvSpPr>
            <a:spLocks noGrp="1"/>
          </p:cNvSpPr>
          <p:nvPr>
            <p:ph type="sldNum" sz="quarter" idx="10"/>
          </p:nvPr>
        </p:nvSpPr>
        <p:spPr/>
        <p:txBody>
          <a:bodyPr/>
          <a:lstStyle/>
          <a:p>
            <a:fld id="{10181850-4DE9-443F-B797-ED48581C5210}" type="slidenum">
              <a:rPr lang="zh-CN" altLang="en-US" smtClean="0"/>
              <a:pPr/>
              <a:t>32</a:t>
            </a:fld>
            <a:endParaRPr lang="zh-CN" altLang="en-US"/>
          </a:p>
        </p:txBody>
      </p:sp>
    </p:spTree>
    <p:extLst>
      <p:ext uri="{BB962C8B-B14F-4D97-AF65-F5344CB8AC3E}">
        <p14:creationId xmlns:p14="http://schemas.microsoft.com/office/powerpoint/2010/main" val="14477779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0181850-4DE9-443F-B797-ED48581C5210}" type="slidenum">
              <a:rPr lang="zh-CN" altLang="en-US" smtClean="0"/>
              <a:pPr/>
              <a:t>34</a:t>
            </a:fld>
            <a:endParaRPr lang="zh-CN" altLang="en-US"/>
          </a:p>
        </p:txBody>
      </p:sp>
    </p:spTree>
    <p:extLst>
      <p:ext uri="{BB962C8B-B14F-4D97-AF65-F5344CB8AC3E}">
        <p14:creationId xmlns:p14="http://schemas.microsoft.com/office/powerpoint/2010/main" val="19503414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smtClean="0"/>
              <a:t>答案：</a:t>
            </a:r>
            <a:r>
              <a:rPr lang="en-US" altLang="zh-CN" sz="1200" smtClean="0"/>
              <a:t>D</a:t>
            </a:r>
            <a:endParaRPr lang="zh-CN" altLang="zh-CN" sz="1200"/>
          </a:p>
        </p:txBody>
      </p:sp>
      <p:sp>
        <p:nvSpPr>
          <p:cNvPr id="4" name="灯片编号占位符 3"/>
          <p:cNvSpPr>
            <a:spLocks noGrp="1"/>
          </p:cNvSpPr>
          <p:nvPr>
            <p:ph type="sldNum" sz="quarter" idx="10"/>
          </p:nvPr>
        </p:nvSpPr>
        <p:spPr/>
        <p:txBody>
          <a:bodyPr/>
          <a:lstStyle/>
          <a:p>
            <a:fld id="{10181850-4DE9-443F-B797-ED48581C5210}" type="slidenum">
              <a:rPr lang="zh-CN" altLang="en-US" smtClean="0"/>
              <a:pPr/>
              <a:t>35</a:t>
            </a:fld>
            <a:endParaRPr lang="zh-CN" altLang="en-US"/>
          </a:p>
        </p:txBody>
      </p:sp>
    </p:spTree>
    <p:extLst>
      <p:ext uri="{BB962C8B-B14F-4D97-AF65-F5344CB8AC3E}">
        <p14:creationId xmlns:p14="http://schemas.microsoft.com/office/powerpoint/2010/main" val="14477779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Arial" pitchFamily="34" charset="0"/>
                <a:ea typeface="宋体" pitchFamily="2" charset="-122"/>
              </a:defRPr>
            </a:lvl1pPr>
            <a:lvl2pPr marL="742950" indent="-285750">
              <a:defRPr sz="2800" b="1">
                <a:solidFill>
                  <a:schemeClr val="tx1"/>
                </a:solidFill>
                <a:latin typeface="Arial" pitchFamily="34" charset="0"/>
                <a:ea typeface="宋体" pitchFamily="2" charset="-122"/>
              </a:defRPr>
            </a:lvl2pPr>
            <a:lvl3pPr marL="1143000" indent="-228600">
              <a:defRPr sz="2800" b="1">
                <a:solidFill>
                  <a:schemeClr val="tx1"/>
                </a:solidFill>
                <a:latin typeface="Arial" pitchFamily="34" charset="0"/>
                <a:ea typeface="宋体" pitchFamily="2" charset="-122"/>
              </a:defRPr>
            </a:lvl3pPr>
            <a:lvl4pPr marL="1600200" indent="-228600">
              <a:defRPr sz="2800" b="1">
                <a:solidFill>
                  <a:schemeClr val="tx1"/>
                </a:solidFill>
                <a:latin typeface="Arial" pitchFamily="34" charset="0"/>
                <a:ea typeface="宋体" pitchFamily="2" charset="-122"/>
              </a:defRPr>
            </a:lvl4pPr>
            <a:lvl5pPr marL="2057400" indent="-22860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800" b="1">
                <a:solidFill>
                  <a:schemeClr val="tx1"/>
                </a:solidFill>
                <a:latin typeface="Arial" pitchFamily="34" charset="0"/>
                <a:ea typeface="宋体" pitchFamily="2" charset="-122"/>
              </a:defRPr>
            </a:lvl9pPr>
          </a:lstStyle>
          <a:p>
            <a:fld id="{C8F118B4-8E0E-402A-BE00-9B66331158E6}" type="datetime1">
              <a:rPr lang="zh-CN" altLang="en-US" sz="1200" b="0" smtClean="0"/>
              <a:pPr/>
              <a:t>2021/4/18</a:t>
            </a:fld>
            <a:endParaRPr lang="en-US" altLang="zh-CN" sz="1200" b="0" smtClean="0"/>
          </a:p>
        </p:txBody>
      </p:sp>
      <p:sp>
        <p:nvSpPr>
          <p:cNvPr id="16281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Arial" pitchFamily="34" charset="0"/>
                <a:ea typeface="宋体" pitchFamily="2" charset="-122"/>
              </a:defRPr>
            </a:lvl1pPr>
            <a:lvl2pPr marL="742950" indent="-285750">
              <a:defRPr sz="2800" b="1">
                <a:solidFill>
                  <a:schemeClr val="tx1"/>
                </a:solidFill>
                <a:latin typeface="Arial" pitchFamily="34" charset="0"/>
                <a:ea typeface="宋体" pitchFamily="2" charset="-122"/>
              </a:defRPr>
            </a:lvl2pPr>
            <a:lvl3pPr marL="1143000" indent="-228600">
              <a:defRPr sz="2800" b="1">
                <a:solidFill>
                  <a:schemeClr val="tx1"/>
                </a:solidFill>
                <a:latin typeface="Arial" pitchFamily="34" charset="0"/>
                <a:ea typeface="宋体" pitchFamily="2" charset="-122"/>
              </a:defRPr>
            </a:lvl3pPr>
            <a:lvl4pPr marL="1600200" indent="-228600">
              <a:defRPr sz="2800" b="1">
                <a:solidFill>
                  <a:schemeClr val="tx1"/>
                </a:solidFill>
                <a:latin typeface="Arial" pitchFamily="34" charset="0"/>
                <a:ea typeface="宋体" pitchFamily="2" charset="-122"/>
              </a:defRPr>
            </a:lvl4pPr>
            <a:lvl5pPr marL="2057400" indent="-22860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800" b="1">
                <a:solidFill>
                  <a:schemeClr val="tx1"/>
                </a:solidFill>
                <a:latin typeface="Arial" pitchFamily="34" charset="0"/>
                <a:ea typeface="宋体" pitchFamily="2" charset="-122"/>
              </a:defRPr>
            </a:lvl9pPr>
          </a:lstStyle>
          <a:p>
            <a:fld id="{36C617F8-B0D7-4800-A90B-4C51431FA31C}" type="slidenum">
              <a:rPr lang="en-US" altLang="zh-CN" sz="1200" b="0"/>
              <a:pPr/>
              <a:t>39</a:t>
            </a:fld>
            <a:endParaRPr lang="en-US" altLang="zh-CN" sz="1200" b="0"/>
          </a:p>
        </p:txBody>
      </p:sp>
      <p:sp>
        <p:nvSpPr>
          <p:cNvPr id="162820" name="Rectangle 2"/>
          <p:cNvSpPr>
            <a:spLocks noGrp="1" noRot="1" noChangeAspect="1" noChangeArrowheads="1" noTextEdit="1"/>
          </p:cNvSpPr>
          <p:nvPr>
            <p:ph type="sldImg"/>
          </p:nvPr>
        </p:nvSpPr>
        <p:spPr>
          <a:ln/>
        </p:spPr>
      </p:sp>
      <p:sp>
        <p:nvSpPr>
          <p:cNvPr id="1628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smtClean="0"/>
              <a:t>答案：</a:t>
            </a:r>
            <a:r>
              <a:rPr lang="en-US" altLang="zh-CN" sz="1200" smtClean="0"/>
              <a:t>D</a:t>
            </a:r>
            <a:endParaRPr lang="zh-CN" altLang="zh-CN" sz="1200"/>
          </a:p>
        </p:txBody>
      </p:sp>
      <p:sp>
        <p:nvSpPr>
          <p:cNvPr id="4" name="灯片编号占位符 3"/>
          <p:cNvSpPr>
            <a:spLocks noGrp="1"/>
          </p:cNvSpPr>
          <p:nvPr>
            <p:ph type="sldNum" sz="quarter" idx="10"/>
          </p:nvPr>
        </p:nvSpPr>
        <p:spPr/>
        <p:txBody>
          <a:bodyPr/>
          <a:lstStyle/>
          <a:p>
            <a:fld id="{10181850-4DE9-443F-B797-ED48581C5210}" type="slidenum">
              <a:rPr lang="zh-CN" altLang="en-US" smtClean="0"/>
              <a:pPr/>
              <a:t>41</a:t>
            </a:fld>
            <a:endParaRPr lang="zh-CN" altLang="en-US"/>
          </a:p>
        </p:txBody>
      </p:sp>
    </p:spTree>
    <p:extLst>
      <p:ext uri="{BB962C8B-B14F-4D97-AF65-F5344CB8AC3E}">
        <p14:creationId xmlns:p14="http://schemas.microsoft.com/office/powerpoint/2010/main" val="14477779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Arial" pitchFamily="34" charset="0"/>
                <a:ea typeface="宋体" pitchFamily="2" charset="-122"/>
              </a:defRPr>
            </a:lvl1pPr>
            <a:lvl2pPr marL="742950" indent="-285750">
              <a:defRPr sz="2800" b="1">
                <a:solidFill>
                  <a:schemeClr val="tx1"/>
                </a:solidFill>
                <a:latin typeface="Arial" pitchFamily="34" charset="0"/>
                <a:ea typeface="宋体" pitchFamily="2" charset="-122"/>
              </a:defRPr>
            </a:lvl2pPr>
            <a:lvl3pPr marL="1143000" indent="-228600">
              <a:defRPr sz="2800" b="1">
                <a:solidFill>
                  <a:schemeClr val="tx1"/>
                </a:solidFill>
                <a:latin typeface="Arial" pitchFamily="34" charset="0"/>
                <a:ea typeface="宋体" pitchFamily="2" charset="-122"/>
              </a:defRPr>
            </a:lvl3pPr>
            <a:lvl4pPr marL="1600200" indent="-228600">
              <a:defRPr sz="2800" b="1">
                <a:solidFill>
                  <a:schemeClr val="tx1"/>
                </a:solidFill>
                <a:latin typeface="Arial" pitchFamily="34" charset="0"/>
                <a:ea typeface="宋体" pitchFamily="2" charset="-122"/>
              </a:defRPr>
            </a:lvl4pPr>
            <a:lvl5pPr marL="2057400" indent="-22860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800" b="1">
                <a:solidFill>
                  <a:schemeClr val="tx1"/>
                </a:solidFill>
                <a:latin typeface="Arial" pitchFamily="34" charset="0"/>
                <a:ea typeface="宋体" pitchFamily="2" charset="-122"/>
              </a:defRPr>
            </a:lvl9pPr>
          </a:lstStyle>
          <a:p>
            <a:fld id="{6F19513E-B99F-4304-B920-2F0CF0CE8754}" type="datetime1">
              <a:rPr lang="zh-CN" altLang="en-US" sz="1200" b="0" smtClean="0"/>
              <a:pPr/>
              <a:t>2021/4/18</a:t>
            </a:fld>
            <a:endParaRPr lang="en-US" altLang="zh-CN" sz="1200" b="0" smtClean="0"/>
          </a:p>
        </p:txBody>
      </p:sp>
      <p:sp>
        <p:nvSpPr>
          <p:cNvPr id="16179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Arial" pitchFamily="34" charset="0"/>
                <a:ea typeface="宋体" pitchFamily="2" charset="-122"/>
              </a:defRPr>
            </a:lvl1pPr>
            <a:lvl2pPr marL="742950" indent="-285750">
              <a:defRPr sz="2800" b="1">
                <a:solidFill>
                  <a:schemeClr val="tx1"/>
                </a:solidFill>
                <a:latin typeface="Arial" pitchFamily="34" charset="0"/>
                <a:ea typeface="宋体" pitchFamily="2" charset="-122"/>
              </a:defRPr>
            </a:lvl2pPr>
            <a:lvl3pPr marL="1143000" indent="-228600">
              <a:defRPr sz="2800" b="1">
                <a:solidFill>
                  <a:schemeClr val="tx1"/>
                </a:solidFill>
                <a:latin typeface="Arial" pitchFamily="34" charset="0"/>
                <a:ea typeface="宋体" pitchFamily="2" charset="-122"/>
              </a:defRPr>
            </a:lvl3pPr>
            <a:lvl4pPr marL="1600200" indent="-228600">
              <a:defRPr sz="2800" b="1">
                <a:solidFill>
                  <a:schemeClr val="tx1"/>
                </a:solidFill>
                <a:latin typeface="Arial" pitchFamily="34" charset="0"/>
                <a:ea typeface="宋体" pitchFamily="2" charset="-122"/>
              </a:defRPr>
            </a:lvl4pPr>
            <a:lvl5pPr marL="2057400" indent="-22860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800" b="1">
                <a:solidFill>
                  <a:schemeClr val="tx1"/>
                </a:solidFill>
                <a:latin typeface="Arial" pitchFamily="34" charset="0"/>
                <a:ea typeface="宋体" pitchFamily="2" charset="-122"/>
              </a:defRPr>
            </a:lvl9pPr>
          </a:lstStyle>
          <a:p>
            <a:fld id="{C5C11060-EE2B-43D7-8F6D-B7956D6F4F0B}" type="slidenum">
              <a:rPr lang="en-US" altLang="zh-CN" sz="1200" b="0" smtClean="0"/>
              <a:pPr/>
              <a:t>43</a:t>
            </a:fld>
            <a:endParaRPr lang="en-US" altLang="zh-CN" sz="1200" b="0" smtClean="0"/>
          </a:p>
        </p:txBody>
      </p:sp>
      <p:sp>
        <p:nvSpPr>
          <p:cNvPr id="161796" name="Rectangle 2"/>
          <p:cNvSpPr>
            <a:spLocks noGrp="1" noRot="1" noChangeAspect="1" noChangeArrowheads="1" noTextEdit="1"/>
          </p:cNvSpPr>
          <p:nvPr>
            <p:ph type="sldImg"/>
          </p:nvPr>
        </p:nvSpPr>
        <p:spPr>
          <a:ln/>
        </p:spPr>
      </p:sp>
      <p:sp>
        <p:nvSpPr>
          <p:cNvPr id="1617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smtClean="0"/>
              <a:t>答案：</a:t>
            </a:r>
            <a:r>
              <a:rPr lang="en-US" altLang="zh-CN" sz="1200" smtClean="0"/>
              <a:t>D</a:t>
            </a:r>
            <a:endParaRPr lang="zh-CN" altLang="zh-CN" sz="1200"/>
          </a:p>
        </p:txBody>
      </p:sp>
      <p:sp>
        <p:nvSpPr>
          <p:cNvPr id="4" name="灯片编号占位符 3"/>
          <p:cNvSpPr>
            <a:spLocks noGrp="1"/>
          </p:cNvSpPr>
          <p:nvPr>
            <p:ph type="sldNum" sz="quarter" idx="10"/>
          </p:nvPr>
        </p:nvSpPr>
        <p:spPr/>
        <p:txBody>
          <a:bodyPr/>
          <a:lstStyle/>
          <a:p>
            <a:fld id="{10181850-4DE9-443F-B797-ED48581C5210}" type="slidenum">
              <a:rPr lang="zh-CN" altLang="en-US" smtClean="0"/>
              <a:pPr/>
              <a:t>47</a:t>
            </a:fld>
            <a:endParaRPr lang="zh-CN" altLang="en-US"/>
          </a:p>
        </p:txBody>
      </p:sp>
    </p:spTree>
    <p:extLst>
      <p:ext uri="{BB962C8B-B14F-4D97-AF65-F5344CB8AC3E}">
        <p14:creationId xmlns:p14="http://schemas.microsoft.com/office/powerpoint/2010/main" val="14477779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答案：</a:t>
            </a:r>
            <a:r>
              <a:rPr lang="en-US" altLang="zh-CN" smtClean="0"/>
              <a:t>C</a:t>
            </a:r>
            <a:endParaRPr lang="zh-CN" altLang="en-US"/>
          </a:p>
        </p:txBody>
      </p:sp>
      <p:sp>
        <p:nvSpPr>
          <p:cNvPr id="4" name="灯片编号占位符 3"/>
          <p:cNvSpPr>
            <a:spLocks noGrp="1"/>
          </p:cNvSpPr>
          <p:nvPr>
            <p:ph type="sldNum" sz="quarter" idx="10"/>
          </p:nvPr>
        </p:nvSpPr>
        <p:spPr/>
        <p:txBody>
          <a:bodyPr/>
          <a:lstStyle/>
          <a:p>
            <a:fld id="{10181850-4DE9-443F-B797-ED48581C5210}" type="slidenum">
              <a:rPr lang="zh-CN" altLang="en-US" smtClean="0"/>
              <a:pPr/>
              <a:t>50</a:t>
            </a:fld>
            <a:endParaRPr lang="zh-CN" altLang="en-US"/>
          </a:p>
        </p:txBody>
      </p:sp>
    </p:spTree>
    <p:extLst>
      <p:ext uri="{BB962C8B-B14F-4D97-AF65-F5344CB8AC3E}">
        <p14:creationId xmlns:p14="http://schemas.microsoft.com/office/powerpoint/2010/main" val="37205039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0181850-4DE9-443F-B797-ED48581C5210}" type="slidenum">
              <a:rPr lang="zh-CN" altLang="en-US" smtClean="0"/>
              <a:pPr/>
              <a:t>53</a:t>
            </a:fld>
            <a:endParaRPr lang="zh-CN" altLang="en-US"/>
          </a:p>
        </p:txBody>
      </p:sp>
    </p:spTree>
    <p:extLst>
      <p:ext uri="{BB962C8B-B14F-4D97-AF65-F5344CB8AC3E}">
        <p14:creationId xmlns:p14="http://schemas.microsoft.com/office/powerpoint/2010/main" val="30028405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smtClean="0"/>
              <a:t>答案：</a:t>
            </a:r>
            <a:r>
              <a:rPr lang="en-US" altLang="zh-CN" sz="1200" smtClean="0"/>
              <a:t>D</a:t>
            </a:r>
            <a:endParaRPr lang="zh-CN" altLang="zh-CN" sz="1200"/>
          </a:p>
        </p:txBody>
      </p:sp>
      <p:sp>
        <p:nvSpPr>
          <p:cNvPr id="4" name="灯片编号占位符 3"/>
          <p:cNvSpPr>
            <a:spLocks noGrp="1"/>
          </p:cNvSpPr>
          <p:nvPr>
            <p:ph type="sldNum" sz="quarter" idx="10"/>
          </p:nvPr>
        </p:nvSpPr>
        <p:spPr/>
        <p:txBody>
          <a:bodyPr/>
          <a:lstStyle/>
          <a:p>
            <a:fld id="{10181850-4DE9-443F-B797-ED48581C5210}" type="slidenum">
              <a:rPr lang="zh-CN" altLang="en-US" smtClean="0"/>
              <a:pPr/>
              <a:t>55</a:t>
            </a:fld>
            <a:endParaRPr lang="zh-CN" altLang="en-US"/>
          </a:p>
        </p:txBody>
      </p:sp>
    </p:spTree>
    <p:extLst>
      <p:ext uri="{BB962C8B-B14F-4D97-AF65-F5344CB8AC3E}">
        <p14:creationId xmlns:p14="http://schemas.microsoft.com/office/powerpoint/2010/main" val="14477779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达到静电平衡时，静电荷分布于人的表面，而且电荷面密度和曲率有关，所以头发会竖起来。人是等势体。</a:t>
            </a:r>
            <a:endParaRPr lang="zh-CN" altLang="en-US" dirty="0"/>
          </a:p>
        </p:txBody>
      </p:sp>
      <p:sp>
        <p:nvSpPr>
          <p:cNvPr id="4" name="灯片编号占位符 3"/>
          <p:cNvSpPr>
            <a:spLocks noGrp="1"/>
          </p:cNvSpPr>
          <p:nvPr>
            <p:ph type="sldNum" sz="quarter" idx="10"/>
          </p:nvPr>
        </p:nvSpPr>
        <p:spPr/>
        <p:txBody>
          <a:bodyPr/>
          <a:lstStyle/>
          <a:p>
            <a:fld id="{10181850-4DE9-443F-B797-ED48581C5210}" type="slidenum">
              <a:rPr lang="zh-CN" altLang="en-US" smtClean="0"/>
              <a:pPr/>
              <a:t>57</a:t>
            </a:fld>
            <a:endParaRPr lang="zh-CN" altLang="en-US"/>
          </a:p>
        </p:txBody>
      </p:sp>
    </p:spTree>
    <p:extLst>
      <p:ext uri="{BB962C8B-B14F-4D97-AF65-F5344CB8AC3E}">
        <p14:creationId xmlns:p14="http://schemas.microsoft.com/office/powerpoint/2010/main" val="230365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0181850-4DE9-443F-B797-ED48581C5210}" type="slidenum">
              <a:rPr lang="zh-CN" altLang="en-US" smtClean="0"/>
              <a:pPr/>
              <a:t>59</a:t>
            </a:fld>
            <a:endParaRPr lang="zh-CN" altLang="en-US"/>
          </a:p>
        </p:txBody>
      </p:sp>
    </p:spTree>
    <p:extLst>
      <p:ext uri="{BB962C8B-B14F-4D97-AF65-F5344CB8AC3E}">
        <p14:creationId xmlns:p14="http://schemas.microsoft.com/office/powerpoint/2010/main" val="10838216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0181850-4DE9-443F-B797-ED48581C5210}" type="slidenum">
              <a:rPr lang="zh-CN" altLang="en-US" smtClean="0"/>
              <a:pPr/>
              <a:t>60</a:t>
            </a:fld>
            <a:endParaRPr lang="zh-CN" altLang="en-US"/>
          </a:p>
        </p:txBody>
      </p:sp>
    </p:spTree>
    <p:extLst>
      <p:ext uri="{BB962C8B-B14F-4D97-AF65-F5344CB8AC3E}">
        <p14:creationId xmlns:p14="http://schemas.microsoft.com/office/powerpoint/2010/main" val="39550728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21A66DF8-E229-4060-B98F-2CC935E17D77}" type="datetimeFigureOut">
              <a:rPr lang="zh-CN" altLang="en-US" smtClean="0"/>
              <a:pPr/>
              <a:t>2021/4/18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57BADE-9E3D-4B79-9F22-4032C5C5BAEA}" type="slidenum">
              <a:rPr lang="zh-CN" altLang="en-US" smtClean="0"/>
              <a:pPr/>
              <a:t>‹#›</a:t>
            </a:fld>
            <a:endParaRPr lang="zh-CN" altLang="en-US"/>
          </a:p>
        </p:txBody>
      </p:sp>
    </p:spTree>
    <p:extLst>
      <p:ext uri="{BB962C8B-B14F-4D97-AF65-F5344CB8AC3E}">
        <p14:creationId xmlns:p14="http://schemas.microsoft.com/office/powerpoint/2010/main" val="15678431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1A66DF8-E229-4060-B98F-2CC935E17D77}" type="datetimeFigureOut">
              <a:rPr lang="zh-CN" altLang="en-US" smtClean="0"/>
              <a:pPr/>
              <a:t>2021/4/18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57BADE-9E3D-4B79-9F22-4032C5C5BAEA}" type="slidenum">
              <a:rPr lang="zh-CN" altLang="en-US" smtClean="0"/>
              <a:pPr/>
              <a:t>‹#›</a:t>
            </a:fld>
            <a:endParaRPr lang="zh-CN" altLang="en-US"/>
          </a:p>
        </p:txBody>
      </p:sp>
    </p:spTree>
    <p:extLst>
      <p:ext uri="{BB962C8B-B14F-4D97-AF65-F5344CB8AC3E}">
        <p14:creationId xmlns:p14="http://schemas.microsoft.com/office/powerpoint/2010/main" val="12947915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21A66DF8-E229-4060-B98F-2CC935E17D77}" type="datetimeFigureOut">
              <a:rPr lang="zh-CN" altLang="en-US" smtClean="0"/>
              <a:pPr/>
              <a:t>2021/4/18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57BADE-9E3D-4B79-9F22-4032C5C5BAEA}" type="slidenum">
              <a:rPr lang="zh-CN" altLang="en-US" smtClean="0"/>
              <a:pPr/>
              <a:t>‹#›</a:t>
            </a:fld>
            <a:endParaRPr lang="zh-CN" altLang="en-US"/>
          </a:p>
        </p:txBody>
      </p:sp>
    </p:spTree>
    <p:extLst>
      <p:ext uri="{BB962C8B-B14F-4D97-AF65-F5344CB8AC3E}">
        <p14:creationId xmlns:p14="http://schemas.microsoft.com/office/powerpoint/2010/main" val="35737046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21A66DF8-E229-4060-B98F-2CC935E17D77}" type="datetimeFigureOut">
              <a:rPr lang="zh-CN" altLang="en-US" smtClean="0"/>
              <a:pPr/>
              <a:t>2021/4/18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D57BADE-9E3D-4B79-9F22-4032C5C5BAEA}" type="slidenum">
              <a:rPr lang="zh-CN" altLang="en-US" smtClean="0"/>
              <a:pPr/>
              <a:t>‹#›</a:t>
            </a:fld>
            <a:endParaRPr lang="zh-CN" altLang="en-US"/>
          </a:p>
        </p:txBody>
      </p:sp>
    </p:spTree>
    <p:extLst>
      <p:ext uri="{BB962C8B-B14F-4D97-AF65-F5344CB8AC3E}">
        <p14:creationId xmlns:p14="http://schemas.microsoft.com/office/powerpoint/2010/main" val="37420687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21A66DF8-E229-4060-B98F-2CC935E17D77}" type="datetimeFigureOut">
              <a:rPr lang="zh-CN" altLang="en-US" smtClean="0"/>
              <a:pPr/>
              <a:t>2021/4/18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D57BADE-9E3D-4B79-9F22-4032C5C5BAEA}" type="slidenum">
              <a:rPr lang="zh-CN" altLang="en-US" smtClean="0"/>
              <a:pPr/>
              <a:t>‹#›</a:t>
            </a:fld>
            <a:endParaRPr lang="zh-CN" altLang="en-US"/>
          </a:p>
        </p:txBody>
      </p:sp>
    </p:spTree>
    <p:extLst>
      <p:ext uri="{BB962C8B-B14F-4D97-AF65-F5344CB8AC3E}">
        <p14:creationId xmlns:p14="http://schemas.microsoft.com/office/powerpoint/2010/main" val="41652083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1A66DF8-E229-4060-B98F-2CC935E17D77}" type="datetimeFigureOut">
              <a:rPr lang="zh-CN" altLang="en-US" smtClean="0"/>
              <a:pPr/>
              <a:t>2021/4/18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D57BADE-9E3D-4B79-9F22-4032C5C5BAEA}" type="slidenum">
              <a:rPr lang="zh-CN" altLang="en-US" smtClean="0"/>
              <a:pPr/>
              <a:t>‹#›</a:t>
            </a:fld>
            <a:endParaRPr lang="zh-CN" altLang="en-US"/>
          </a:p>
        </p:txBody>
      </p:sp>
    </p:spTree>
    <p:extLst>
      <p:ext uri="{BB962C8B-B14F-4D97-AF65-F5344CB8AC3E}">
        <p14:creationId xmlns:p14="http://schemas.microsoft.com/office/powerpoint/2010/main" val="28970071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1A66DF8-E229-4060-B98F-2CC935E17D77}" type="datetimeFigureOut">
              <a:rPr lang="zh-CN" altLang="en-US" smtClean="0"/>
              <a:pPr/>
              <a:t>2021/4/18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D57BADE-9E3D-4B79-9F22-4032C5C5BAEA}" type="slidenum">
              <a:rPr lang="zh-CN" altLang="en-US" smtClean="0"/>
              <a:pPr/>
              <a:t>‹#›</a:t>
            </a:fld>
            <a:endParaRPr lang="zh-CN" altLang="en-US"/>
          </a:p>
        </p:txBody>
      </p:sp>
    </p:spTree>
    <p:extLst>
      <p:ext uri="{BB962C8B-B14F-4D97-AF65-F5344CB8AC3E}">
        <p14:creationId xmlns:p14="http://schemas.microsoft.com/office/powerpoint/2010/main" val="41063534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21A66DF8-E229-4060-B98F-2CC935E17D77}" type="datetimeFigureOut">
              <a:rPr lang="zh-CN" altLang="en-US" smtClean="0"/>
              <a:pPr/>
              <a:t>2021/4/18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D57BADE-9E3D-4B79-9F22-4032C5C5BAEA}" type="slidenum">
              <a:rPr lang="zh-CN" altLang="en-US" smtClean="0"/>
              <a:pPr/>
              <a:t>‹#›</a:t>
            </a:fld>
            <a:endParaRPr lang="zh-CN" altLang="en-US"/>
          </a:p>
        </p:txBody>
      </p:sp>
    </p:spTree>
    <p:extLst>
      <p:ext uri="{BB962C8B-B14F-4D97-AF65-F5344CB8AC3E}">
        <p14:creationId xmlns:p14="http://schemas.microsoft.com/office/powerpoint/2010/main" val="42421657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21A66DF8-E229-4060-B98F-2CC935E17D77}" type="datetimeFigureOut">
              <a:rPr lang="zh-CN" altLang="en-US" smtClean="0"/>
              <a:pPr/>
              <a:t>2021/4/18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D57BADE-9E3D-4B79-9F22-4032C5C5BAEA}" type="slidenum">
              <a:rPr lang="zh-CN" altLang="en-US" smtClean="0"/>
              <a:pPr/>
              <a:t>‹#›</a:t>
            </a:fld>
            <a:endParaRPr lang="zh-CN" altLang="en-US"/>
          </a:p>
        </p:txBody>
      </p:sp>
    </p:spTree>
    <p:extLst>
      <p:ext uri="{BB962C8B-B14F-4D97-AF65-F5344CB8AC3E}">
        <p14:creationId xmlns:p14="http://schemas.microsoft.com/office/powerpoint/2010/main" val="27437420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1A66DF8-E229-4060-B98F-2CC935E17D77}" type="datetimeFigureOut">
              <a:rPr lang="zh-CN" altLang="en-US" smtClean="0"/>
              <a:pPr/>
              <a:t>2021/4/18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57BADE-9E3D-4B79-9F22-4032C5C5BAEA}" type="slidenum">
              <a:rPr lang="zh-CN" altLang="en-US" smtClean="0"/>
              <a:pPr/>
              <a:t>‹#›</a:t>
            </a:fld>
            <a:endParaRPr lang="zh-CN" altLang="en-US"/>
          </a:p>
        </p:txBody>
      </p:sp>
    </p:spTree>
    <p:extLst>
      <p:ext uri="{BB962C8B-B14F-4D97-AF65-F5344CB8AC3E}">
        <p14:creationId xmlns:p14="http://schemas.microsoft.com/office/powerpoint/2010/main" val="17377914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1A66DF8-E229-4060-B98F-2CC935E17D77}" type="datetimeFigureOut">
              <a:rPr lang="zh-CN" altLang="en-US" smtClean="0"/>
              <a:pPr/>
              <a:t>2021/4/18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57BADE-9E3D-4B79-9F22-4032C5C5BAEA}" type="slidenum">
              <a:rPr lang="zh-CN" altLang="en-US" smtClean="0"/>
              <a:pPr/>
              <a:t>‹#›</a:t>
            </a:fld>
            <a:endParaRPr lang="zh-CN" altLang="en-US"/>
          </a:p>
        </p:txBody>
      </p:sp>
    </p:spTree>
    <p:extLst>
      <p:ext uri="{BB962C8B-B14F-4D97-AF65-F5344CB8AC3E}">
        <p14:creationId xmlns:p14="http://schemas.microsoft.com/office/powerpoint/2010/main" val="30583764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A66DF8-E229-4060-B98F-2CC935E17D77}" type="datetimeFigureOut">
              <a:rPr lang="zh-CN" altLang="en-US" smtClean="0"/>
              <a:pPr/>
              <a:t>2021/4/18</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57BADE-9E3D-4B79-9F22-4032C5C5BAEA}" type="slidenum">
              <a:rPr lang="zh-CN" altLang="en-US" smtClean="0"/>
              <a:pPr/>
              <a:t>‹#›</a:t>
            </a:fld>
            <a:endParaRPr lang="zh-CN" altLang="en-US"/>
          </a:p>
        </p:txBody>
      </p:sp>
    </p:spTree>
    <p:extLst>
      <p:ext uri="{BB962C8B-B14F-4D97-AF65-F5344CB8AC3E}">
        <p14:creationId xmlns:p14="http://schemas.microsoft.com/office/powerpoint/2010/main" val="21401484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0"/>
    </mc:Choice>
    <mc:Fallback xmlns="">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11.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3.bin"/><Relationship Id="rId5" Type="http://schemas.openxmlformats.org/officeDocument/2006/relationships/oleObject" Target="../embeddings/oleObject2.bin"/><Relationship Id="rId4" Type="http://schemas.openxmlformats.org/officeDocument/2006/relationships/image" Target="../media/image10.w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12.wmf"/><Relationship Id="rId4" Type="http://schemas.openxmlformats.org/officeDocument/2006/relationships/oleObject" Target="../embeddings/oleObject4.bin"/></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16.wmf"/><Relationship Id="rId18" Type="http://schemas.openxmlformats.org/officeDocument/2006/relationships/oleObject" Target="../embeddings/oleObject11.bin"/><Relationship Id="rId3" Type="http://schemas.openxmlformats.org/officeDocument/2006/relationships/oleObject" Target="../embeddings/oleObject5.bin"/><Relationship Id="rId21" Type="http://schemas.openxmlformats.org/officeDocument/2006/relationships/image" Target="../media/image20.wmf"/><Relationship Id="rId7" Type="http://schemas.openxmlformats.org/officeDocument/2006/relationships/image" Target="../media/image34.png"/><Relationship Id="rId12" Type="http://schemas.openxmlformats.org/officeDocument/2006/relationships/oleObject" Target="../embeddings/oleObject8.bin"/><Relationship Id="rId17" Type="http://schemas.openxmlformats.org/officeDocument/2006/relationships/image" Target="../media/image18.wmf"/><Relationship Id="rId2" Type="http://schemas.openxmlformats.org/officeDocument/2006/relationships/slideLayout" Target="../slideLayouts/slideLayout7.xml"/><Relationship Id="rId16" Type="http://schemas.openxmlformats.org/officeDocument/2006/relationships/oleObject" Target="../embeddings/oleObject10.bin"/><Relationship Id="rId20" Type="http://schemas.openxmlformats.org/officeDocument/2006/relationships/oleObject" Target="../embeddings/oleObject12.bin"/><Relationship Id="rId1" Type="http://schemas.openxmlformats.org/officeDocument/2006/relationships/vmlDrawing" Target="../drawings/vmlDrawing3.vml"/><Relationship Id="rId6" Type="http://schemas.openxmlformats.org/officeDocument/2006/relationships/image" Target="../media/image14.wmf"/><Relationship Id="rId11" Type="http://schemas.openxmlformats.org/officeDocument/2006/relationships/image" Target="../media/image15.wmf"/><Relationship Id="rId5" Type="http://schemas.openxmlformats.org/officeDocument/2006/relationships/oleObject" Target="../embeddings/oleObject6.bin"/><Relationship Id="rId15" Type="http://schemas.openxmlformats.org/officeDocument/2006/relationships/image" Target="../media/image17.wmf"/><Relationship Id="rId10" Type="http://schemas.openxmlformats.org/officeDocument/2006/relationships/oleObject" Target="../embeddings/oleObject7.bin"/><Relationship Id="rId19" Type="http://schemas.openxmlformats.org/officeDocument/2006/relationships/image" Target="../media/image19.wmf"/><Relationship Id="rId4" Type="http://schemas.openxmlformats.org/officeDocument/2006/relationships/image" Target="../media/image13.wmf"/><Relationship Id="rId9" Type="http://schemas.openxmlformats.org/officeDocument/2006/relationships/image" Target="../media/image21.png"/><Relationship Id="rId14" Type="http://schemas.openxmlformats.org/officeDocument/2006/relationships/oleObject" Target="../embeddings/oleObject9.bin"/></Relationships>
</file>

<file path=ppt/slides/_rels/slide1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23.emf"/><Relationship Id="rId13" Type="http://schemas.openxmlformats.org/officeDocument/2006/relationships/oleObject" Target="../embeddings/oleObject17.bin"/><Relationship Id="rId3" Type="http://schemas.openxmlformats.org/officeDocument/2006/relationships/image" Target="../media/image39.png"/><Relationship Id="rId7" Type="http://schemas.openxmlformats.org/officeDocument/2006/relationships/oleObject" Target="../embeddings/oleObject14.bin"/><Relationship Id="rId12" Type="http://schemas.openxmlformats.org/officeDocument/2006/relationships/image" Target="../media/image25.e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22.wmf"/><Relationship Id="rId11" Type="http://schemas.openxmlformats.org/officeDocument/2006/relationships/oleObject" Target="../embeddings/oleObject16.bin"/><Relationship Id="rId5" Type="http://schemas.openxmlformats.org/officeDocument/2006/relationships/oleObject" Target="../embeddings/oleObject13.bin"/><Relationship Id="rId10" Type="http://schemas.openxmlformats.org/officeDocument/2006/relationships/image" Target="../media/image24.wmf"/><Relationship Id="rId4" Type="http://schemas.openxmlformats.org/officeDocument/2006/relationships/image" Target="../media/image27.png"/><Relationship Id="rId9" Type="http://schemas.openxmlformats.org/officeDocument/2006/relationships/oleObject" Target="../embeddings/oleObject15.bin"/><Relationship Id="rId14" Type="http://schemas.openxmlformats.org/officeDocument/2006/relationships/image" Target="../media/image26.wmf"/></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2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notesSlide" Target="../notesSlides/notesSlide6.xml"/><Relationship Id="rId7" Type="http://schemas.openxmlformats.org/officeDocument/2006/relationships/image" Target="../media/image30.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19.bin"/><Relationship Id="rId11" Type="http://schemas.openxmlformats.org/officeDocument/2006/relationships/image" Target="../media/image32.wmf"/><Relationship Id="rId5" Type="http://schemas.openxmlformats.org/officeDocument/2006/relationships/image" Target="../media/image29.wmf"/><Relationship Id="rId10" Type="http://schemas.openxmlformats.org/officeDocument/2006/relationships/oleObject" Target="../embeddings/oleObject21.bin"/><Relationship Id="rId4" Type="http://schemas.openxmlformats.org/officeDocument/2006/relationships/oleObject" Target="../embeddings/oleObject18.bin"/><Relationship Id="rId9" Type="http://schemas.openxmlformats.org/officeDocument/2006/relationships/image" Target="../media/image31.wmf"/></Relationships>
</file>

<file path=ppt/slides/_rels/slide1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35.wmf"/><Relationship Id="rId5" Type="http://schemas.openxmlformats.org/officeDocument/2006/relationships/oleObject" Target="../embeddings/oleObject22.bin"/><Relationship Id="rId4" Type="http://schemas.openxmlformats.org/officeDocument/2006/relationships/image" Target="../media/image36.jpeg"/></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37.wm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vmlDrawing" Target="../drawings/vmlDrawing8.vml"/><Relationship Id="rId5" Type="http://schemas.openxmlformats.org/officeDocument/2006/relationships/image" Target="../media/image38.wmf"/><Relationship Id="rId4" Type="http://schemas.openxmlformats.org/officeDocument/2006/relationships/oleObject" Target="../embeddings/oleObject24.bin"/></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38.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62.png"/><Relationship Id="rId5" Type="http://schemas.openxmlformats.org/officeDocument/2006/relationships/image" Target="../media/image53.png"/><Relationship Id="rId4" Type="http://schemas.openxmlformats.org/officeDocument/2006/relationships/image" Target="../media/image39.w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40.tmp"/><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7.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image" Target="../media/image40.tmp"/><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18" Type="http://schemas.openxmlformats.org/officeDocument/2006/relationships/slideLayout" Target="../slideLayouts/slideLayout7.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tags" Target="../tags/tag51.xml"/><Relationship Id="rId2" Type="http://schemas.openxmlformats.org/officeDocument/2006/relationships/tags" Target="../tags/tag36.xml"/><Relationship Id="rId16" Type="http://schemas.openxmlformats.org/officeDocument/2006/relationships/tags" Target="../tags/tag50.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tags" Target="../tags/tag49.xml"/><Relationship Id="rId10" Type="http://schemas.openxmlformats.org/officeDocument/2006/relationships/tags" Target="../tags/tag44.xml"/><Relationship Id="rId19" Type="http://schemas.openxmlformats.org/officeDocument/2006/relationships/image" Target="../media/image40.tmp"/><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29.bin"/><Relationship Id="rId3" Type="http://schemas.openxmlformats.org/officeDocument/2006/relationships/oleObject" Target="../embeddings/oleObject27.bin"/><Relationship Id="rId7" Type="http://schemas.openxmlformats.org/officeDocument/2006/relationships/image" Target="../media/image57.png"/><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42.wmf"/><Relationship Id="rId5" Type="http://schemas.openxmlformats.org/officeDocument/2006/relationships/oleObject" Target="../embeddings/oleObject28.bin"/><Relationship Id="rId4" Type="http://schemas.openxmlformats.org/officeDocument/2006/relationships/image" Target="../media/image41.wmf"/><Relationship Id="rId9" Type="http://schemas.openxmlformats.org/officeDocument/2006/relationships/image" Target="../media/image43.w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8" Type="http://schemas.openxmlformats.org/officeDocument/2006/relationships/tags" Target="../tags/tag59.xml"/><Relationship Id="rId13" Type="http://schemas.openxmlformats.org/officeDocument/2006/relationships/tags" Target="../tags/tag64.xml"/><Relationship Id="rId18" Type="http://schemas.openxmlformats.org/officeDocument/2006/relationships/slideLayout" Target="../slideLayouts/slideLayout7.xml"/><Relationship Id="rId3" Type="http://schemas.openxmlformats.org/officeDocument/2006/relationships/tags" Target="../tags/tag54.xml"/><Relationship Id="rId7" Type="http://schemas.openxmlformats.org/officeDocument/2006/relationships/tags" Target="../tags/tag58.xml"/><Relationship Id="rId12" Type="http://schemas.openxmlformats.org/officeDocument/2006/relationships/tags" Target="../tags/tag63.xml"/><Relationship Id="rId17" Type="http://schemas.openxmlformats.org/officeDocument/2006/relationships/tags" Target="../tags/tag68.xml"/><Relationship Id="rId2" Type="http://schemas.openxmlformats.org/officeDocument/2006/relationships/tags" Target="../tags/tag53.xml"/><Relationship Id="rId16" Type="http://schemas.openxmlformats.org/officeDocument/2006/relationships/tags" Target="../tags/tag67.xml"/><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tags" Target="../tags/tag62.xml"/><Relationship Id="rId5" Type="http://schemas.openxmlformats.org/officeDocument/2006/relationships/tags" Target="../tags/tag56.xml"/><Relationship Id="rId15" Type="http://schemas.openxmlformats.org/officeDocument/2006/relationships/tags" Target="../tags/tag66.xml"/><Relationship Id="rId10" Type="http://schemas.openxmlformats.org/officeDocument/2006/relationships/tags" Target="../tags/tag61.xml"/><Relationship Id="rId19" Type="http://schemas.openxmlformats.org/officeDocument/2006/relationships/image" Target="../media/image40.tmp"/><Relationship Id="rId4" Type="http://schemas.openxmlformats.org/officeDocument/2006/relationships/tags" Target="../tags/tag55.xml"/><Relationship Id="rId9" Type="http://schemas.openxmlformats.org/officeDocument/2006/relationships/tags" Target="../tags/tag60.xml"/><Relationship Id="rId14" Type="http://schemas.openxmlformats.org/officeDocument/2006/relationships/tags" Target="../tags/tag65.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8" Type="http://schemas.openxmlformats.org/officeDocument/2006/relationships/tags" Target="../tags/tag76.xml"/><Relationship Id="rId13" Type="http://schemas.openxmlformats.org/officeDocument/2006/relationships/tags" Target="../tags/tag81.xml"/><Relationship Id="rId18" Type="http://schemas.openxmlformats.org/officeDocument/2006/relationships/slideLayout" Target="../slideLayouts/slideLayout7.xml"/><Relationship Id="rId3" Type="http://schemas.openxmlformats.org/officeDocument/2006/relationships/tags" Target="../tags/tag71.xml"/><Relationship Id="rId7" Type="http://schemas.openxmlformats.org/officeDocument/2006/relationships/tags" Target="../tags/tag75.xml"/><Relationship Id="rId12" Type="http://schemas.openxmlformats.org/officeDocument/2006/relationships/tags" Target="../tags/tag80.xml"/><Relationship Id="rId17" Type="http://schemas.openxmlformats.org/officeDocument/2006/relationships/tags" Target="../tags/tag85.xml"/><Relationship Id="rId2" Type="http://schemas.openxmlformats.org/officeDocument/2006/relationships/tags" Target="../tags/tag70.xml"/><Relationship Id="rId16" Type="http://schemas.openxmlformats.org/officeDocument/2006/relationships/tags" Target="../tags/tag84.xml"/><Relationship Id="rId20" Type="http://schemas.openxmlformats.org/officeDocument/2006/relationships/image" Target="../media/image40.tmp"/><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tags" Target="../tags/tag79.xml"/><Relationship Id="rId5" Type="http://schemas.openxmlformats.org/officeDocument/2006/relationships/tags" Target="../tags/tag73.xml"/><Relationship Id="rId15" Type="http://schemas.openxmlformats.org/officeDocument/2006/relationships/tags" Target="../tags/tag83.xml"/><Relationship Id="rId10" Type="http://schemas.openxmlformats.org/officeDocument/2006/relationships/tags" Target="../tags/tag78.xml"/><Relationship Id="rId19" Type="http://schemas.openxmlformats.org/officeDocument/2006/relationships/image" Target="../media/image45.png"/><Relationship Id="rId4" Type="http://schemas.openxmlformats.org/officeDocument/2006/relationships/tags" Target="../tags/tag72.xml"/><Relationship Id="rId9" Type="http://schemas.openxmlformats.org/officeDocument/2006/relationships/tags" Target="../tags/tag77.xml"/><Relationship Id="rId14" Type="http://schemas.openxmlformats.org/officeDocument/2006/relationships/tags" Target="../tags/tag8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46.wmf"/></Relationships>
</file>

<file path=ppt/slides/_rels/slide3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33.bin"/><Relationship Id="rId3" Type="http://schemas.openxmlformats.org/officeDocument/2006/relationships/notesSlide" Target="../notesSlides/notesSlide16.xml"/><Relationship Id="rId7" Type="http://schemas.openxmlformats.org/officeDocument/2006/relationships/image" Target="../media/image49.wmf"/><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32.bin"/><Relationship Id="rId5" Type="http://schemas.openxmlformats.org/officeDocument/2006/relationships/image" Target="../media/image48.wmf"/><Relationship Id="rId10" Type="http://schemas.openxmlformats.org/officeDocument/2006/relationships/image" Target="../media/image51.png"/><Relationship Id="rId4" Type="http://schemas.openxmlformats.org/officeDocument/2006/relationships/oleObject" Target="../embeddings/oleObject31.bin"/><Relationship Id="rId9" Type="http://schemas.openxmlformats.org/officeDocument/2006/relationships/image" Target="../media/image50.emf"/></Relationships>
</file>

<file path=ppt/slides/_rels/slide40.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34.bin"/><Relationship Id="rId7" Type="http://schemas.openxmlformats.org/officeDocument/2006/relationships/oleObject" Target="../embeddings/oleObject36.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53.wmf"/><Relationship Id="rId5" Type="http://schemas.openxmlformats.org/officeDocument/2006/relationships/oleObject" Target="../embeddings/oleObject35.bin"/><Relationship Id="rId10" Type="http://schemas.openxmlformats.org/officeDocument/2006/relationships/image" Target="../media/image55.emf"/><Relationship Id="rId4" Type="http://schemas.openxmlformats.org/officeDocument/2006/relationships/image" Target="../media/image52.wmf"/><Relationship Id="rId9" Type="http://schemas.openxmlformats.org/officeDocument/2006/relationships/oleObject" Target="../embeddings/oleObject37.bin"/></Relationships>
</file>

<file path=ppt/slides/_rels/slide4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58.png"/></Relationships>
</file>

<file path=ppt/slides/_rels/slide42.xml.rels><?xml version="1.0" encoding="UTF-8" standalone="yes"?>
<Relationships xmlns="http://schemas.openxmlformats.org/package/2006/relationships"><Relationship Id="rId8" Type="http://schemas.openxmlformats.org/officeDocument/2006/relationships/tags" Target="../tags/tag93.xml"/><Relationship Id="rId13" Type="http://schemas.openxmlformats.org/officeDocument/2006/relationships/tags" Target="../tags/tag98.xml"/><Relationship Id="rId18" Type="http://schemas.openxmlformats.org/officeDocument/2006/relationships/slideLayout" Target="../slideLayouts/slideLayout7.xml"/><Relationship Id="rId3" Type="http://schemas.openxmlformats.org/officeDocument/2006/relationships/tags" Target="../tags/tag88.xml"/><Relationship Id="rId21" Type="http://schemas.openxmlformats.org/officeDocument/2006/relationships/image" Target="../media/image58.png"/><Relationship Id="rId7" Type="http://schemas.openxmlformats.org/officeDocument/2006/relationships/tags" Target="../tags/tag92.xml"/><Relationship Id="rId12" Type="http://schemas.openxmlformats.org/officeDocument/2006/relationships/tags" Target="../tags/tag97.xml"/><Relationship Id="rId17" Type="http://schemas.openxmlformats.org/officeDocument/2006/relationships/tags" Target="../tags/tag102.xml"/><Relationship Id="rId2" Type="http://schemas.openxmlformats.org/officeDocument/2006/relationships/tags" Target="../tags/tag87.xml"/><Relationship Id="rId16" Type="http://schemas.openxmlformats.org/officeDocument/2006/relationships/tags" Target="../tags/tag101.xml"/><Relationship Id="rId20" Type="http://schemas.openxmlformats.org/officeDocument/2006/relationships/image" Target="../media/image59.png"/><Relationship Id="rId1" Type="http://schemas.openxmlformats.org/officeDocument/2006/relationships/tags" Target="../tags/tag86.xml"/><Relationship Id="rId6" Type="http://schemas.openxmlformats.org/officeDocument/2006/relationships/tags" Target="../tags/tag91.xml"/><Relationship Id="rId11" Type="http://schemas.openxmlformats.org/officeDocument/2006/relationships/tags" Target="../tags/tag96.xml"/><Relationship Id="rId5" Type="http://schemas.openxmlformats.org/officeDocument/2006/relationships/tags" Target="../tags/tag90.xml"/><Relationship Id="rId15" Type="http://schemas.openxmlformats.org/officeDocument/2006/relationships/tags" Target="../tags/tag100.xml"/><Relationship Id="rId10" Type="http://schemas.openxmlformats.org/officeDocument/2006/relationships/tags" Target="../tags/tag95.xml"/><Relationship Id="rId19" Type="http://schemas.openxmlformats.org/officeDocument/2006/relationships/tags" Target="../tags/tag87.xml"/><Relationship Id="rId4" Type="http://schemas.openxmlformats.org/officeDocument/2006/relationships/tags" Target="../tags/tag89.xml"/><Relationship Id="rId9" Type="http://schemas.openxmlformats.org/officeDocument/2006/relationships/tags" Target="../tags/tag94.xml"/><Relationship Id="rId14" Type="http://schemas.openxmlformats.org/officeDocument/2006/relationships/tags" Target="../tags/tag99.xml"/><Relationship Id="rId22" Type="http://schemas.openxmlformats.org/officeDocument/2006/relationships/image" Target="../media/image40.tmp"/></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40.bin"/><Relationship Id="rId13" Type="http://schemas.openxmlformats.org/officeDocument/2006/relationships/image" Target="../media/image63.wmf"/><Relationship Id="rId3" Type="http://schemas.openxmlformats.org/officeDocument/2006/relationships/notesSlide" Target="../notesSlides/notesSlide18.xml"/><Relationship Id="rId7" Type="http://schemas.openxmlformats.org/officeDocument/2006/relationships/image" Target="../media/image60.wmf"/><Relationship Id="rId12" Type="http://schemas.openxmlformats.org/officeDocument/2006/relationships/oleObject" Target="../embeddings/oleObject42.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oleObject" Target="../embeddings/oleObject39.bin"/><Relationship Id="rId11" Type="http://schemas.openxmlformats.org/officeDocument/2006/relationships/image" Target="../media/image62.wmf"/><Relationship Id="rId5" Type="http://schemas.openxmlformats.org/officeDocument/2006/relationships/image" Target="../media/image59.emf"/><Relationship Id="rId10" Type="http://schemas.openxmlformats.org/officeDocument/2006/relationships/oleObject" Target="../embeddings/oleObject41.bin"/><Relationship Id="rId4" Type="http://schemas.openxmlformats.org/officeDocument/2006/relationships/oleObject" Target="../embeddings/oleObject38.bin"/><Relationship Id="rId9" Type="http://schemas.openxmlformats.org/officeDocument/2006/relationships/image" Target="../media/image61.wmf"/><Relationship Id="rId14" Type="http://schemas.openxmlformats.org/officeDocument/2006/relationships/oleObject" Target="../embeddings/oleObject43.bin"/></Relationships>
</file>

<file path=ppt/slides/_rels/slide4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slideLayout" Target="../slideLayouts/slideLayout7.xml"/><Relationship Id="rId1" Type="http://schemas.openxmlformats.org/officeDocument/2006/relationships/vmlDrawing" Target="../drawings/vmlDrawing16.vml"/><Relationship Id="rId5" Type="http://schemas.openxmlformats.org/officeDocument/2006/relationships/image" Target="../media/image64.wmf"/><Relationship Id="rId4" Type="http://schemas.openxmlformats.org/officeDocument/2006/relationships/oleObject" Target="../embeddings/oleObject44.bin"/></Relationships>
</file>

<file path=ppt/slides/_rels/slide4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8" Type="http://schemas.openxmlformats.org/officeDocument/2006/relationships/tags" Target="../tags/tag110.xml"/><Relationship Id="rId13" Type="http://schemas.openxmlformats.org/officeDocument/2006/relationships/tags" Target="../tags/tag115.xml"/><Relationship Id="rId18" Type="http://schemas.openxmlformats.org/officeDocument/2006/relationships/slideLayout" Target="../slideLayouts/slideLayout7.xml"/><Relationship Id="rId3" Type="http://schemas.openxmlformats.org/officeDocument/2006/relationships/tags" Target="../tags/tag105.xml"/><Relationship Id="rId7" Type="http://schemas.openxmlformats.org/officeDocument/2006/relationships/tags" Target="../tags/tag109.xml"/><Relationship Id="rId12" Type="http://schemas.openxmlformats.org/officeDocument/2006/relationships/tags" Target="../tags/tag114.xml"/><Relationship Id="rId17" Type="http://schemas.openxmlformats.org/officeDocument/2006/relationships/tags" Target="../tags/tag119.xml"/><Relationship Id="rId2" Type="http://schemas.openxmlformats.org/officeDocument/2006/relationships/tags" Target="../tags/tag104.xml"/><Relationship Id="rId16" Type="http://schemas.openxmlformats.org/officeDocument/2006/relationships/tags" Target="../tags/tag118.xml"/><Relationship Id="rId1" Type="http://schemas.openxmlformats.org/officeDocument/2006/relationships/tags" Target="../tags/tag103.xml"/><Relationship Id="rId6" Type="http://schemas.openxmlformats.org/officeDocument/2006/relationships/tags" Target="../tags/tag108.xml"/><Relationship Id="rId11" Type="http://schemas.openxmlformats.org/officeDocument/2006/relationships/tags" Target="../tags/tag113.xml"/><Relationship Id="rId5" Type="http://schemas.openxmlformats.org/officeDocument/2006/relationships/tags" Target="../tags/tag107.xml"/><Relationship Id="rId15" Type="http://schemas.openxmlformats.org/officeDocument/2006/relationships/tags" Target="../tags/tag117.xml"/><Relationship Id="rId10" Type="http://schemas.openxmlformats.org/officeDocument/2006/relationships/tags" Target="../tags/tag112.xml"/><Relationship Id="rId19" Type="http://schemas.openxmlformats.org/officeDocument/2006/relationships/image" Target="../media/image40.tmp"/><Relationship Id="rId4" Type="http://schemas.openxmlformats.org/officeDocument/2006/relationships/tags" Target="../tags/tag106.xml"/><Relationship Id="rId9" Type="http://schemas.openxmlformats.org/officeDocument/2006/relationships/tags" Target="../tags/tag111.xml"/><Relationship Id="rId14" Type="http://schemas.openxmlformats.org/officeDocument/2006/relationships/tags" Target="../tags/tag116.xml"/></Relationships>
</file>

<file path=ppt/slides/_rels/slide49.xml.rels><?xml version="1.0" encoding="UTF-8" standalone="yes"?>
<Relationships xmlns="http://schemas.openxmlformats.org/package/2006/relationships"><Relationship Id="rId3" Type="http://schemas.openxmlformats.org/officeDocument/2006/relationships/image" Target="../media/image720.png"/><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67.wmf"/><Relationship Id="rId5" Type="http://schemas.openxmlformats.org/officeDocument/2006/relationships/oleObject" Target="../embeddings/oleObject45.bin"/><Relationship Id="rId4" Type="http://schemas.openxmlformats.org/officeDocument/2006/relationships/image" Target="../media/image73.png"/></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48.bin"/><Relationship Id="rId3" Type="http://schemas.openxmlformats.org/officeDocument/2006/relationships/notesSlide" Target="../notesSlides/notesSlide20.xml"/><Relationship Id="rId7" Type="http://schemas.openxmlformats.org/officeDocument/2006/relationships/image" Target="../media/image69.wmf"/><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oleObject" Target="../embeddings/oleObject47.bin"/><Relationship Id="rId11" Type="http://schemas.openxmlformats.org/officeDocument/2006/relationships/image" Target="../media/image72.png"/><Relationship Id="rId5" Type="http://schemas.openxmlformats.org/officeDocument/2006/relationships/image" Target="../media/image68.wmf"/><Relationship Id="rId10" Type="http://schemas.openxmlformats.org/officeDocument/2006/relationships/image" Target="../media/image71.png"/><Relationship Id="rId4" Type="http://schemas.openxmlformats.org/officeDocument/2006/relationships/oleObject" Target="../embeddings/oleObject46.bin"/><Relationship Id="rId9" Type="http://schemas.openxmlformats.org/officeDocument/2006/relationships/image" Target="../media/image70.wmf"/></Relationships>
</file>

<file path=ppt/slides/_rels/slide51.xml.rels><?xml version="1.0" encoding="UTF-8" standalone="yes"?>
<Relationships xmlns="http://schemas.openxmlformats.org/package/2006/relationships"><Relationship Id="rId8" Type="http://schemas.openxmlformats.org/officeDocument/2006/relationships/image" Target="../media/image75.wmf"/><Relationship Id="rId13" Type="http://schemas.openxmlformats.org/officeDocument/2006/relationships/oleObject" Target="../embeddings/oleObject54.bin"/><Relationship Id="rId3" Type="http://schemas.openxmlformats.org/officeDocument/2006/relationships/oleObject" Target="../embeddings/oleObject49.bin"/><Relationship Id="rId7" Type="http://schemas.openxmlformats.org/officeDocument/2006/relationships/oleObject" Target="../embeddings/oleObject51.bin"/><Relationship Id="rId12" Type="http://schemas.openxmlformats.org/officeDocument/2006/relationships/image" Target="../media/image77.wmf"/><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74.wmf"/><Relationship Id="rId11" Type="http://schemas.openxmlformats.org/officeDocument/2006/relationships/oleObject" Target="../embeddings/oleObject53.bin"/><Relationship Id="rId5" Type="http://schemas.openxmlformats.org/officeDocument/2006/relationships/oleObject" Target="../embeddings/oleObject50.bin"/><Relationship Id="rId15" Type="http://schemas.openxmlformats.org/officeDocument/2006/relationships/image" Target="../media/image79.png"/><Relationship Id="rId10" Type="http://schemas.openxmlformats.org/officeDocument/2006/relationships/image" Target="../media/image76.wmf"/><Relationship Id="rId4" Type="http://schemas.openxmlformats.org/officeDocument/2006/relationships/image" Target="../media/image73.wmf"/><Relationship Id="rId9" Type="http://schemas.openxmlformats.org/officeDocument/2006/relationships/oleObject" Target="../embeddings/oleObject52.bin"/><Relationship Id="rId14" Type="http://schemas.openxmlformats.org/officeDocument/2006/relationships/image" Target="../media/image78.wmf"/></Relationships>
</file>

<file path=ppt/slides/_rels/slide52.xml.rels><?xml version="1.0" encoding="UTF-8" standalone="yes"?>
<Relationships xmlns="http://schemas.openxmlformats.org/package/2006/relationships"><Relationship Id="rId8" Type="http://schemas.openxmlformats.org/officeDocument/2006/relationships/image" Target="../media/image82.wmf"/><Relationship Id="rId3" Type="http://schemas.openxmlformats.org/officeDocument/2006/relationships/oleObject" Target="../embeddings/oleObject55.bin"/><Relationship Id="rId7" Type="http://schemas.openxmlformats.org/officeDocument/2006/relationships/oleObject" Target="../embeddings/oleObject57.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81.wmf"/><Relationship Id="rId5" Type="http://schemas.openxmlformats.org/officeDocument/2006/relationships/oleObject" Target="../embeddings/oleObject56.bin"/><Relationship Id="rId10" Type="http://schemas.openxmlformats.org/officeDocument/2006/relationships/image" Target="../media/image84.png"/><Relationship Id="rId4" Type="http://schemas.openxmlformats.org/officeDocument/2006/relationships/image" Target="../media/image80.wmf"/><Relationship Id="rId9" Type="http://schemas.openxmlformats.org/officeDocument/2006/relationships/image" Target="../media/image83.png"/></Relationships>
</file>

<file path=ppt/slides/_rels/slide5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58.bin"/><Relationship Id="rId7" Type="http://schemas.openxmlformats.org/officeDocument/2006/relationships/image" Target="../media/image91.png"/><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90.wmf"/><Relationship Id="rId5" Type="http://schemas.openxmlformats.org/officeDocument/2006/relationships/oleObject" Target="../embeddings/oleObject59.bin"/><Relationship Id="rId4" Type="http://schemas.openxmlformats.org/officeDocument/2006/relationships/image" Target="../media/image89.wmf"/></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62.bin"/><Relationship Id="rId3" Type="http://schemas.openxmlformats.org/officeDocument/2006/relationships/notesSlide" Target="../notesSlides/notesSlide22.xml"/><Relationship Id="rId7" Type="http://schemas.openxmlformats.org/officeDocument/2006/relationships/image" Target="../media/image93.wmf"/><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oleObject" Target="../embeddings/oleObject61.bin"/><Relationship Id="rId5" Type="http://schemas.openxmlformats.org/officeDocument/2006/relationships/image" Target="../media/image92.wmf"/><Relationship Id="rId4" Type="http://schemas.openxmlformats.org/officeDocument/2006/relationships/oleObject" Target="../embeddings/oleObject60.bin"/><Relationship Id="rId9" Type="http://schemas.openxmlformats.org/officeDocument/2006/relationships/image" Target="../media/image94.wmf"/></Relationships>
</file>

<file path=ppt/slides/_rels/slide56.xml.rels><?xml version="1.0" encoding="UTF-8" standalone="yes"?>
<Relationships xmlns="http://schemas.openxmlformats.org/package/2006/relationships"><Relationship Id="rId8" Type="http://schemas.openxmlformats.org/officeDocument/2006/relationships/image" Target="../media/image97.wmf"/><Relationship Id="rId3" Type="http://schemas.openxmlformats.org/officeDocument/2006/relationships/oleObject" Target="../embeddings/oleObject63.bin"/><Relationship Id="rId7" Type="http://schemas.openxmlformats.org/officeDocument/2006/relationships/oleObject" Target="../embeddings/oleObject65.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96.wmf"/><Relationship Id="rId5" Type="http://schemas.openxmlformats.org/officeDocument/2006/relationships/oleObject" Target="../embeddings/oleObject64.bin"/><Relationship Id="rId4" Type="http://schemas.openxmlformats.org/officeDocument/2006/relationships/image" Target="../media/image95.wmf"/><Relationship Id="rId9" Type="http://schemas.openxmlformats.org/officeDocument/2006/relationships/image" Target="../media/image98.png"/></Relationships>
</file>

<file path=ppt/slides/_rels/slide57.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00.png"/></Relationships>
</file>

<file path=ppt/slides/_rels/slide58.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03.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gia12141_co_1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497" y="908720"/>
            <a:ext cx="4896544" cy="3486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2627782" y="0"/>
            <a:ext cx="2723823" cy="646331"/>
          </a:xfrm>
          <a:prstGeom prst="rect">
            <a:avLst/>
          </a:prstGeom>
          <a:noFill/>
        </p:spPr>
        <p:txBody>
          <a:bodyPr wrap="none" rtlCol="0">
            <a:spAutoFit/>
          </a:bodyPr>
          <a:lstStyle/>
          <a:p>
            <a:r>
              <a:rPr lang="zh-CN" altLang="en-US" sz="3600" dirty="0" smtClean="0">
                <a:latin typeface="+mn-ea"/>
              </a:rPr>
              <a:t>第</a:t>
            </a:r>
            <a:r>
              <a:rPr lang="en-US" altLang="zh-CN" sz="3600" dirty="0" smtClean="0">
                <a:latin typeface="+mn-ea"/>
              </a:rPr>
              <a:t>17</a:t>
            </a:r>
            <a:r>
              <a:rPr lang="zh-CN" altLang="en-US" sz="3600" dirty="0" smtClean="0">
                <a:latin typeface="+mn-ea"/>
              </a:rPr>
              <a:t>章 电势</a:t>
            </a:r>
            <a:endParaRPr lang="zh-CN" altLang="en-US" sz="3600" dirty="0">
              <a:latin typeface="+mn-ea"/>
            </a:endParaRPr>
          </a:p>
        </p:txBody>
      </p:sp>
      <p:sp>
        <p:nvSpPr>
          <p:cNvPr id="4" name="文本框 3"/>
          <p:cNvSpPr txBox="1"/>
          <p:nvPr/>
        </p:nvSpPr>
        <p:spPr>
          <a:xfrm>
            <a:off x="308660" y="4395322"/>
            <a:ext cx="8568952" cy="1413849"/>
          </a:xfrm>
          <a:prstGeom prst="rect">
            <a:avLst/>
          </a:prstGeom>
          <a:noFill/>
        </p:spPr>
        <p:txBody>
          <a:bodyPr wrap="square" rtlCol="0">
            <a:spAutoFit/>
          </a:bodyPr>
          <a:lstStyle/>
          <a:p>
            <a:pPr algn="just">
              <a:lnSpc>
                <a:spcPct val="125000"/>
              </a:lnSpc>
            </a:pPr>
            <a:r>
              <a:rPr lang="zh-CN" altLang="en-US" sz="2400" b="1" dirty="0" smtClean="0">
                <a:latin typeface="+mn-ea"/>
              </a:rPr>
              <a:t>问题：心电图仪（</a:t>
            </a:r>
            <a:r>
              <a:rPr lang="en-US" altLang="zh-CN" sz="2400" b="1" dirty="0" smtClean="0">
                <a:latin typeface="+mn-ea"/>
              </a:rPr>
              <a:t>ECG</a:t>
            </a:r>
            <a:r>
              <a:rPr lang="zh-CN" altLang="en-US" sz="2400" b="1" dirty="0" smtClean="0">
                <a:latin typeface="+mn-ea"/>
              </a:rPr>
              <a:t>）是医学上用以诊断心脏状况的常用仪器。心电图仪的数据记录在一条曲线上，显示随心跳重复的图形。心电图仪测量的是什么物理量呢？</a:t>
            </a:r>
            <a:endParaRPr lang="zh-CN" altLang="en-US" sz="2400" b="1" dirty="0">
              <a:latin typeface="+mn-ea"/>
            </a:endParaRPr>
          </a:p>
        </p:txBody>
      </p:sp>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20072" y="1412776"/>
            <a:ext cx="3181007" cy="2068259"/>
          </a:xfrm>
          <a:prstGeom prst="rect">
            <a:avLst/>
          </a:prstGeom>
        </p:spPr>
      </p:pic>
      <p:sp>
        <p:nvSpPr>
          <p:cNvPr id="6" name="TextBox 5"/>
          <p:cNvSpPr txBox="1"/>
          <p:nvPr/>
        </p:nvSpPr>
        <p:spPr>
          <a:xfrm>
            <a:off x="178477" y="6105831"/>
            <a:ext cx="9000999" cy="461665"/>
          </a:xfrm>
          <a:prstGeom prst="rect">
            <a:avLst/>
          </a:prstGeom>
          <a:noFill/>
        </p:spPr>
        <p:txBody>
          <a:bodyPr wrap="square" rtlCol="0">
            <a:spAutoFit/>
          </a:bodyPr>
          <a:lstStyle/>
          <a:p>
            <a:r>
              <a:rPr lang="zh-CN" altLang="en-US" sz="2400" b="1">
                <a:solidFill>
                  <a:srgbClr val="FF0000"/>
                </a:solidFill>
              </a:rPr>
              <a:t>心电图仪测量的是胸部不同部位之间的电势差随时间的变化曲线。</a:t>
            </a:r>
            <a:endParaRPr lang="zh-CN" altLang="en-US" sz="2400" b="1" dirty="0">
              <a:solidFill>
                <a:srgbClr val="FF0000"/>
              </a:solidFill>
            </a:endParaRPr>
          </a:p>
        </p:txBody>
      </p:sp>
    </p:spTree>
    <p:extLst>
      <p:ext uri="{BB962C8B-B14F-4D97-AF65-F5344CB8AC3E}">
        <p14:creationId xmlns:p14="http://schemas.microsoft.com/office/powerpoint/2010/main" val="2245875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Shape 184"/>
          <p:cNvSpPr/>
          <p:nvPr/>
        </p:nvSpPr>
        <p:spPr>
          <a:xfrm>
            <a:off x="685800" y="620712"/>
            <a:ext cx="6553200" cy="584775"/>
          </a:xfrm>
          <a:prstGeom prst="rect">
            <a:avLst/>
          </a:prstGeom>
          <a:ln w="12700">
            <a:miter lim="400000"/>
          </a:ln>
          <a:extLst>
            <a:ext uri="{C572A759-6A51-4108-AA02-DFA0A04FC94B}">
              <ma14:wrappingTextBoxFlag xmlns="" xmlns:ma14="http://schemas.microsoft.com/office/mac/drawingml/2011/main" val="1"/>
            </a:ext>
          </a:extLst>
        </p:spPr>
        <p:txBody>
          <a:bodyPr lIns="45719" rIns="45719">
            <a:spAutoFit/>
          </a:bodyPr>
          <a:lstStyle/>
          <a:p>
            <a:pPr lvl="0">
              <a:defRPr sz="1800"/>
            </a:pPr>
            <a:r>
              <a:rPr lang="zh-CN" altLang="en-US" sz="3200" dirty="0" smtClean="0">
                <a:latin typeface="SimHei"/>
                <a:ea typeface="SimHei"/>
                <a:cs typeface="SimHei"/>
                <a:sym typeface="SimHei"/>
              </a:rPr>
              <a:t>知识回顾：</a:t>
            </a:r>
            <a:r>
              <a:rPr sz="3200" dirty="0" err="1" smtClean="0">
                <a:latin typeface="SimHei"/>
                <a:ea typeface="SimHei"/>
                <a:cs typeface="SimHei"/>
                <a:sym typeface="SimHei"/>
              </a:rPr>
              <a:t>电场的宏观表现</a:t>
            </a:r>
            <a:endParaRPr sz="3200" dirty="0">
              <a:latin typeface="SimHei"/>
              <a:ea typeface="SimHei"/>
              <a:cs typeface="SimHei"/>
              <a:sym typeface="SimHei"/>
            </a:endParaRPr>
          </a:p>
        </p:txBody>
      </p:sp>
      <p:sp>
        <p:nvSpPr>
          <p:cNvPr id="185" name="Shape 185"/>
          <p:cNvSpPr/>
          <p:nvPr/>
        </p:nvSpPr>
        <p:spPr>
          <a:xfrm>
            <a:off x="609600" y="1282014"/>
            <a:ext cx="7543800" cy="954107"/>
          </a:xfrm>
          <a:prstGeom prst="rect">
            <a:avLst/>
          </a:prstGeom>
          <a:ln w="12700">
            <a:miter lim="400000"/>
          </a:ln>
          <a:extLst>
            <a:ext uri="{C572A759-6A51-4108-AA02-DFA0A04FC94B}">
              <ma14:wrappingTextBoxFlag xmlns="" xmlns:ma14="http://schemas.microsoft.com/office/mac/drawingml/2011/main" val="1"/>
            </a:ext>
          </a:extLst>
        </p:spPr>
        <p:txBody>
          <a:bodyPr lIns="45719" rIns="45719">
            <a:spAutoFit/>
          </a:bodyPr>
          <a:lstStyle/>
          <a:p>
            <a:pPr lvl="0">
              <a:buSzPct val="100000"/>
              <a:buFont typeface="SimHei"/>
              <a:buChar char="•"/>
              <a:defRPr sz="1800"/>
            </a:pPr>
            <a:r>
              <a:rPr sz="2800" dirty="0">
                <a:latin typeface="SimHei"/>
                <a:ea typeface="SimHei"/>
                <a:cs typeface="SimHei"/>
                <a:sym typeface="SimHei"/>
              </a:rPr>
              <a:t>  </a:t>
            </a:r>
            <a:r>
              <a:rPr sz="2800" dirty="0" err="1">
                <a:solidFill>
                  <a:srgbClr val="FF0000"/>
                </a:solidFill>
                <a:latin typeface="SimHei"/>
                <a:ea typeface="SimHei"/>
                <a:cs typeface="SimHei"/>
                <a:sym typeface="SimHei"/>
              </a:rPr>
              <a:t>力</a:t>
            </a:r>
            <a:r>
              <a:rPr sz="2800" dirty="0" err="1">
                <a:latin typeface="SimHei"/>
                <a:ea typeface="SimHei"/>
                <a:cs typeface="SimHei"/>
                <a:sym typeface="SimHei"/>
              </a:rPr>
              <a:t>的性质：对放其内的任何电荷都有作用力</a:t>
            </a:r>
            <a:r>
              <a:rPr sz="2800" dirty="0">
                <a:latin typeface="SimHei"/>
                <a:ea typeface="SimHei"/>
                <a:cs typeface="SimHei"/>
                <a:sym typeface="SimHei"/>
              </a:rPr>
              <a:t>    </a:t>
            </a:r>
            <a:endParaRPr sz="2800" dirty="0"/>
          </a:p>
          <a:p>
            <a:pPr lvl="0">
              <a:defRPr sz="1800"/>
            </a:pPr>
            <a:r>
              <a:rPr sz="2800" dirty="0">
                <a:latin typeface="SimHei"/>
                <a:ea typeface="SimHei"/>
                <a:cs typeface="SimHei"/>
                <a:sym typeface="SimHei"/>
              </a:rPr>
              <a:t>            </a:t>
            </a:r>
            <a:r>
              <a:rPr sz="2800" dirty="0">
                <a:solidFill>
                  <a:srgbClr val="FF0000"/>
                </a:solidFill>
                <a:latin typeface="SimHei"/>
                <a:ea typeface="SimHei"/>
                <a:cs typeface="SimHei"/>
                <a:sym typeface="SimHei"/>
              </a:rPr>
              <a:t>（</a:t>
            </a:r>
            <a:r>
              <a:rPr sz="2800" dirty="0" err="1">
                <a:latin typeface="SimHei"/>
                <a:ea typeface="SimHei"/>
                <a:cs typeface="SimHei"/>
                <a:sym typeface="SimHei"/>
              </a:rPr>
              <a:t>用</a:t>
            </a:r>
            <a:r>
              <a:rPr sz="2800" dirty="0" err="1">
                <a:solidFill>
                  <a:srgbClr val="FF0000"/>
                </a:solidFill>
                <a:latin typeface="SimHei"/>
                <a:ea typeface="SimHei"/>
                <a:cs typeface="SimHei"/>
                <a:sym typeface="SimHei"/>
              </a:rPr>
              <a:t>电场强度</a:t>
            </a:r>
            <a:r>
              <a:rPr sz="2800" dirty="0" err="1">
                <a:latin typeface="SimHei"/>
                <a:ea typeface="SimHei"/>
                <a:cs typeface="SimHei"/>
                <a:sym typeface="SimHei"/>
              </a:rPr>
              <a:t>来描述</a:t>
            </a:r>
            <a:r>
              <a:rPr sz="2800" dirty="0">
                <a:solidFill>
                  <a:srgbClr val="FF0000"/>
                </a:solidFill>
                <a:latin typeface="SimHei"/>
                <a:ea typeface="SimHei"/>
                <a:cs typeface="SimHei"/>
                <a:sym typeface="SimHei"/>
              </a:rPr>
              <a:t>）</a:t>
            </a:r>
          </a:p>
        </p:txBody>
      </p:sp>
      <p:sp>
        <p:nvSpPr>
          <p:cNvPr id="186" name="Shape 186"/>
          <p:cNvSpPr/>
          <p:nvPr/>
        </p:nvSpPr>
        <p:spPr>
          <a:xfrm>
            <a:off x="685800" y="3986265"/>
            <a:ext cx="7315200" cy="1138873"/>
          </a:xfrm>
          <a:prstGeom prst="rect">
            <a:avLst/>
          </a:prstGeom>
          <a:ln w="12700">
            <a:miter lim="400000"/>
          </a:ln>
          <a:extLst>
            <a:ext uri="{C572A759-6A51-4108-AA02-DFA0A04FC94B}">
              <ma14:wrappingTextBoxFlag xmlns="" xmlns:ma14="http://schemas.microsoft.com/office/mac/drawingml/2011/main" val="1"/>
            </a:ext>
          </a:extLst>
        </p:spPr>
        <p:txBody>
          <a:bodyPr lIns="45719" rIns="45719">
            <a:spAutoFit/>
          </a:bodyPr>
          <a:lstStyle/>
          <a:p>
            <a:pPr lvl="0">
              <a:buSzPct val="100000"/>
              <a:buFont typeface="SimHei"/>
              <a:buChar char="•"/>
              <a:defRPr sz="1800"/>
            </a:pPr>
            <a:r>
              <a:rPr sz="2800" dirty="0">
                <a:latin typeface="SimHei"/>
                <a:ea typeface="SimHei"/>
                <a:cs typeface="SimHei"/>
                <a:sym typeface="SimHei"/>
              </a:rPr>
              <a:t>  </a:t>
            </a:r>
            <a:r>
              <a:rPr sz="2800" dirty="0" err="1">
                <a:solidFill>
                  <a:srgbClr val="FF0000"/>
                </a:solidFill>
                <a:latin typeface="SimHei"/>
                <a:ea typeface="SimHei"/>
                <a:cs typeface="SimHei"/>
                <a:sym typeface="SimHei"/>
              </a:rPr>
              <a:t>能量</a:t>
            </a:r>
            <a:r>
              <a:rPr sz="2800" dirty="0" err="1">
                <a:latin typeface="SimHei"/>
                <a:ea typeface="SimHei"/>
                <a:cs typeface="SimHei"/>
                <a:sym typeface="SimHei"/>
              </a:rPr>
              <a:t>的性质：移动电荷时，电场力要作功</a:t>
            </a:r>
            <a:r>
              <a:rPr sz="2400" dirty="0">
                <a:latin typeface="SimHei"/>
                <a:ea typeface="SimHei"/>
                <a:cs typeface="SimHei"/>
                <a:sym typeface="SimHei"/>
              </a:rPr>
              <a:t> </a:t>
            </a:r>
            <a:endParaRPr sz="2400" dirty="0"/>
          </a:p>
          <a:p>
            <a:pPr lvl="0">
              <a:defRPr sz="1800"/>
            </a:pPr>
            <a:r>
              <a:rPr sz="2800" dirty="0">
                <a:solidFill>
                  <a:srgbClr val="FF0000"/>
                </a:solidFill>
                <a:latin typeface="SimHei"/>
                <a:ea typeface="SimHei"/>
                <a:cs typeface="SimHei"/>
                <a:sym typeface="SimHei"/>
              </a:rPr>
              <a:t>            （</a:t>
            </a:r>
            <a:r>
              <a:rPr sz="2800" dirty="0" err="1">
                <a:latin typeface="SimHei"/>
                <a:ea typeface="SimHei"/>
                <a:cs typeface="SimHei"/>
                <a:sym typeface="SimHei"/>
              </a:rPr>
              <a:t>用</a:t>
            </a:r>
            <a:r>
              <a:rPr sz="2800" dirty="0" err="1">
                <a:solidFill>
                  <a:srgbClr val="FF0000"/>
                </a:solidFill>
                <a:latin typeface="SimHei"/>
                <a:ea typeface="SimHei"/>
                <a:cs typeface="SimHei"/>
                <a:sym typeface="SimHei"/>
              </a:rPr>
              <a:t>电势</a:t>
            </a:r>
            <a:r>
              <a:rPr sz="2800" dirty="0" err="1">
                <a:latin typeface="SimHei"/>
                <a:ea typeface="SimHei"/>
                <a:cs typeface="SimHei"/>
                <a:sym typeface="SimHei"/>
              </a:rPr>
              <a:t>来描述</a:t>
            </a:r>
            <a:r>
              <a:rPr sz="2800" dirty="0">
                <a:solidFill>
                  <a:srgbClr val="FF0000"/>
                </a:solidFill>
                <a:latin typeface="SimHei"/>
                <a:ea typeface="SimHei"/>
                <a:cs typeface="SimHei"/>
                <a:sym typeface="SimHei"/>
              </a:rPr>
              <a:t>）</a:t>
            </a:r>
          </a:p>
        </p:txBody>
      </p:sp>
      <p:sp>
        <p:nvSpPr>
          <p:cNvPr id="187" name="Shape 187"/>
          <p:cNvSpPr/>
          <p:nvPr/>
        </p:nvSpPr>
        <p:spPr>
          <a:xfrm>
            <a:off x="3810000" y="2318386"/>
            <a:ext cx="304800" cy="504057"/>
          </a:xfrm>
          <a:custGeom>
            <a:avLst/>
            <a:gdLst/>
            <a:ahLst/>
            <a:cxnLst>
              <a:cxn ang="0">
                <a:pos x="wd2" y="hd2"/>
              </a:cxn>
              <a:cxn ang="5400000">
                <a:pos x="wd2" y="hd2"/>
              </a:cxn>
              <a:cxn ang="10800000">
                <a:pos x="wd2" y="hd2"/>
              </a:cxn>
              <a:cxn ang="16200000">
                <a:pos x="wd2" y="hd2"/>
              </a:cxn>
            </a:cxnLst>
            <a:rect l="0" t="0" r="r" b="b"/>
            <a:pathLst>
              <a:path w="21600" h="21600" extrusionOk="0">
                <a:moveTo>
                  <a:pt x="0" y="6531"/>
                </a:moveTo>
                <a:lnTo>
                  <a:pt x="10800" y="0"/>
                </a:lnTo>
                <a:lnTo>
                  <a:pt x="21600" y="6531"/>
                </a:lnTo>
                <a:lnTo>
                  <a:pt x="16200" y="6531"/>
                </a:lnTo>
                <a:lnTo>
                  <a:pt x="16200" y="21600"/>
                </a:lnTo>
                <a:lnTo>
                  <a:pt x="5400" y="21600"/>
                </a:lnTo>
                <a:lnTo>
                  <a:pt x="5400" y="6531"/>
                </a:lnTo>
                <a:close/>
              </a:path>
            </a:pathLst>
          </a:custGeom>
          <a:gradFill>
            <a:gsLst>
              <a:gs pos="0">
                <a:srgbClr val="25681A"/>
              </a:gs>
              <a:gs pos="80000">
                <a:srgbClr val="318922"/>
              </a:gs>
              <a:gs pos="100000">
                <a:srgbClr val="2F8B20"/>
              </a:gs>
            </a:gsLst>
            <a:lin ang="16200000"/>
          </a:gradFill>
          <a:ln>
            <a:solidFill>
              <a:srgbClr val="38802C"/>
            </a:solidFill>
          </a:ln>
          <a:effectLst>
            <a:outerShdw blurRad="38100" dist="23000" dir="5400000" rotWithShape="0">
              <a:srgbClr val="000000">
                <a:alpha val="35000"/>
              </a:srgbClr>
            </a:outerShdw>
          </a:effectLst>
        </p:spPr>
        <p:txBody>
          <a:bodyPr lIns="0" tIns="0" rIns="0" bIns="0"/>
          <a:lstStyle/>
          <a:p>
            <a:pPr lvl="0" defTabSz="914400">
              <a:lnSpc>
                <a:spcPct val="100000"/>
              </a:lnSpc>
              <a:spcBef>
                <a:spcPts val="0"/>
              </a:spcBef>
            </a:pPr>
            <a:endParaRPr/>
          </a:p>
        </p:txBody>
      </p:sp>
      <p:sp>
        <p:nvSpPr>
          <p:cNvPr id="188" name="Shape 188"/>
          <p:cNvSpPr/>
          <p:nvPr/>
        </p:nvSpPr>
        <p:spPr>
          <a:xfrm>
            <a:off x="3484331" y="3068960"/>
            <a:ext cx="1015661" cy="461665"/>
          </a:xfrm>
          <a:prstGeom prst="rect">
            <a:avLst/>
          </a:prstGeom>
          <a:ln w="12700">
            <a:miter lim="400000"/>
          </a:ln>
          <a:extLst>
            <a:ext uri="{C572A759-6A51-4108-AA02-DFA0A04FC94B}">
              <ma14:wrappingTextBoxFlag xmlns="" xmlns:ma14="http://schemas.microsoft.com/office/mac/drawingml/2011/main" val="1"/>
            </a:ext>
          </a:extLst>
        </p:spPr>
        <p:txBody>
          <a:bodyPr wrap="none" lIns="45719" rIns="45719">
            <a:spAutoFit/>
          </a:bodyPr>
          <a:lstStyle>
            <a:lvl1pPr>
              <a:defRPr>
                <a:latin typeface="SimHei"/>
                <a:ea typeface="SimHei"/>
                <a:cs typeface="SimHei"/>
                <a:sym typeface="SimHei"/>
              </a:defRPr>
            </a:lvl1pPr>
          </a:lstStyle>
          <a:p>
            <a:pPr lvl="0">
              <a:defRPr sz="1800"/>
            </a:pPr>
            <a:r>
              <a:rPr sz="2400" dirty="0" smtClean="0"/>
              <a:t>第</a:t>
            </a:r>
            <a:r>
              <a:rPr lang="en-US" altLang="zh-CN" sz="2400" dirty="0" smtClean="0"/>
              <a:t>16</a:t>
            </a:r>
            <a:r>
              <a:rPr sz="2400" dirty="0" smtClean="0"/>
              <a:t>章</a:t>
            </a:r>
            <a:endParaRPr sz="2400" dirty="0"/>
          </a:p>
        </p:txBody>
      </p:sp>
      <p:sp>
        <p:nvSpPr>
          <p:cNvPr id="7" name="Shape 187"/>
          <p:cNvSpPr/>
          <p:nvPr/>
        </p:nvSpPr>
        <p:spPr>
          <a:xfrm rot="10800000">
            <a:off x="3779913" y="5013176"/>
            <a:ext cx="304800" cy="504057"/>
          </a:xfrm>
          <a:custGeom>
            <a:avLst/>
            <a:gdLst/>
            <a:ahLst/>
            <a:cxnLst>
              <a:cxn ang="0">
                <a:pos x="wd2" y="hd2"/>
              </a:cxn>
              <a:cxn ang="5400000">
                <a:pos x="wd2" y="hd2"/>
              </a:cxn>
              <a:cxn ang="10800000">
                <a:pos x="wd2" y="hd2"/>
              </a:cxn>
              <a:cxn ang="16200000">
                <a:pos x="wd2" y="hd2"/>
              </a:cxn>
            </a:cxnLst>
            <a:rect l="0" t="0" r="r" b="b"/>
            <a:pathLst>
              <a:path w="21600" h="21600" extrusionOk="0">
                <a:moveTo>
                  <a:pt x="0" y="6531"/>
                </a:moveTo>
                <a:lnTo>
                  <a:pt x="10800" y="0"/>
                </a:lnTo>
                <a:lnTo>
                  <a:pt x="21600" y="6531"/>
                </a:lnTo>
                <a:lnTo>
                  <a:pt x="16200" y="6531"/>
                </a:lnTo>
                <a:lnTo>
                  <a:pt x="16200" y="21600"/>
                </a:lnTo>
                <a:lnTo>
                  <a:pt x="5400" y="21600"/>
                </a:lnTo>
                <a:lnTo>
                  <a:pt x="5400" y="6531"/>
                </a:lnTo>
                <a:close/>
              </a:path>
            </a:pathLst>
          </a:custGeom>
          <a:gradFill>
            <a:gsLst>
              <a:gs pos="0">
                <a:srgbClr val="25681A"/>
              </a:gs>
              <a:gs pos="80000">
                <a:srgbClr val="318922"/>
              </a:gs>
              <a:gs pos="100000">
                <a:srgbClr val="2F8B20"/>
              </a:gs>
            </a:gsLst>
            <a:lin ang="16200000"/>
          </a:gradFill>
          <a:ln>
            <a:solidFill>
              <a:srgbClr val="38802C"/>
            </a:solidFill>
          </a:ln>
          <a:effectLst>
            <a:outerShdw blurRad="38100" dist="23000" dir="5400000" rotWithShape="0">
              <a:srgbClr val="000000">
                <a:alpha val="35000"/>
              </a:srgbClr>
            </a:outerShdw>
          </a:effectLst>
        </p:spPr>
        <p:txBody>
          <a:bodyPr lIns="0" tIns="0" rIns="0" bIns="0"/>
          <a:lstStyle/>
          <a:p>
            <a:pPr lvl="0" defTabSz="914400">
              <a:lnSpc>
                <a:spcPct val="100000"/>
              </a:lnSpc>
              <a:spcBef>
                <a:spcPts val="0"/>
              </a:spcBef>
            </a:pPr>
            <a:endParaRPr/>
          </a:p>
        </p:txBody>
      </p:sp>
      <p:sp>
        <p:nvSpPr>
          <p:cNvPr id="8" name="Shape 188"/>
          <p:cNvSpPr/>
          <p:nvPr/>
        </p:nvSpPr>
        <p:spPr>
          <a:xfrm>
            <a:off x="3419872" y="5661248"/>
            <a:ext cx="1015661" cy="461665"/>
          </a:xfrm>
          <a:prstGeom prst="rect">
            <a:avLst/>
          </a:prstGeom>
          <a:ln w="12700">
            <a:miter lim="400000"/>
          </a:ln>
          <a:extLst>
            <a:ext uri="{C572A759-6A51-4108-AA02-DFA0A04FC94B}">
              <ma14:wrappingTextBoxFlag xmlns="" xmlns:ma14="http://schemas.microsoft.com/office/mac/drawingml/2011/main" val="1"/>
            </a:ext>
          </a:extLst>
        </p:spPr>
        <p:txBody>
          <a:bodyPr wrap="none" lIns="45719" rIns="45719">
            <a:spAutoFit/>
          </a:bodyPr>
          <a:lstStyle>
            <a:lvl1pPr>
              <a:defRPr>
                <a:latin typeface="SimHei"/>
                <a:ea typeface="SimHei"/>
                <a:cs typeface="SimHei"/>
                <a:sym typeface="SimHei"/>
              </a:defRPr>
            </a:lvl1pPr>
          </a:lstStyle>
          <a:p>
            <a:pPr lvl="0">
              <a:defRPr sz="1800"/>
            </a:pPr>
            <a:r>
              <a:rPr sz="2400" dirty="0" smtClean="0"/>
              <a:t>第</a:t>
            </a:r>
            <a:r>
              <a:rPr lang="en-US" altLang="zh-CN" sz="2400" dirty="0" smtClean="0"/>
              <a:t>17</a:t>
            </a:r>
            <a:r>
              <a:rPr sz="2400" dirty="0" smtClean="0"/>
              <a:t>章</a:t>
            </a:r>
            <a:endParaRPr sz="2400" dirty="0"/>
          </a:p>
        </p:txBody>
      </p:sp>
    </p:spTree>
    <p:extLst>
      <p:ext uri="{BB962C8B-B14F-4D97-AF65-F5344CB8AC3E}">
        <p14:creationId xmlns:p14="http://schemas.microsoft.com/office/powerpoint/2010/main" val="2688578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Shape 67"/>
          <p:cNvSpPr/>
          <p:nvPr/>
        </p:nvSpPr>
        <p:spPr>
          <a:xfrm>
            <a:off x="900112" y="404813"/>
            <a:ext cx="6934201" cy="5719514"/>
          </a:xfrm>
          <a:prstGeom prst="rect">
            <a:avLst/>
          </a:prstGeom>
          <a:ln w="12700">
            <a:miter lim="400000"/>
          </a:ln>
          <a:extLst>
            <a:ext uri="{C572A759-6A51-4108-AA02-DFA0A04FC94B}">
              <ma14:wrappingTextBoxFlag xmlns="" xmlns:ma14="http://schemas.microsoft.com/office/mac/drawingml/2011/main" val="1"/>
            </a:ext>
          </a:extLst>
        </p:spPr>
        <p:txBody>
          <a:bodyPr lIns="45719" rIns="45719">
            <a:spAutoFit/>
          </a:bodyPr>
          <a:lstStyle/>
          <a:p>
            <a:pPr lvl="0" defTabSz="762000">
              <a:spcBef>
                <a:spcPts val="1900"/>
              </a:spcBef>
              <a:defRPr sz="1800"/>
            </a:pPr>
            <a:r>
              <a:rPr sz="3200" b="1" dirty="0">
                <a:latin typeface="SimHei"/>
                <a:ea typeface="SimHei"/>
                <a:cs typeface="SimHei"/>
                <a:sym typeface="SimHei"/>
              </a:rPr>
              <a:t>   </a:t>
            </a:r>
            <a:r>
              <a:rPr lang="en-US" sz="3200" b="1" dirty="0" smtClean="0">
                <a:latin typeface="SimHei"/>
                <a:ea typeface="SimHei"/>
                <a:cs typeface="SimHei"/>
                <a:sym typeface="SimHei"/>
              </a:rPr>
              <a:t>       </a:t>
            </a:r>
            <a:r>
              <a:rPr sz="3600" b="1" dirty="0" smtClean="0">
                <a:latin typeface="SimHei"/>
                <a:ea typeface="SimHei"/>
                <a:cs typeface="SimHei"/>
                <a:sym typeface="SimHei"/>
              </a:rPr>
              <a:t>第</a:t>
            </a:r>
            <a:r>
              <a:rPr lang="en-US" altLang="zh-CN" sz="3600" b="1" dirty="0" smtClean="0">
                <a:latin typeface="SimHei"/>
                <a:ea typeface="SimHei"/>
                <a:cs typeface="SimHei"/>
                <a:sym typeface="SimHei"/>
              </a:rPr>
              <a:t>17</a:t>
            </a:r>
            <a:r>
              <a:rPr sz="3600" b="1" dirty="0" smtClean="0">
                <a:latin typeface="SimHei"/>
                <a:ea typeface="SimHei"/>
                <a:cs typeface="SimHei"/>
                <a:sym typeface="SimHei"/>
              </a:rPr>
              <a:t>章 电</a:t>
            </a:r>
            <a:r>
              <a:rPr lang="zh-CN" altLang="en-US" sz="3600" b="1" dirty="0" smtClean="0">
                <a:latin typeface="SimHei"/>
                <a:ea typeface="SimHei"/>
                <a:cs typeface="SimHei"/>
                <a:sym typeface="SimHei"/>
              </a:rPr>
              <a:t>势</a:t>
            </a:r>
            <a:endParaRPr sz="3600" b="1" dirty="0">
              <a:latin typeface="SimHei"/>
              <a:ea typeface="SimHei"/>
              <a:cs typeface="SimHei"/>
              <a:sym typeface="SimHei"/>
            </a:endParaRPr>
          </a:p>
          <a:p>
            <a:pPr lvl="0" defTabSz="762000">
              <a:spcBef>
                <a:spcPts val="1900"/>
              </a:spcBef>
              <a:defRPr sz="1800"/>
            </a:pPr>
            <a:r>
              <a:rPr sz="3200" b="1" dirty="0">
                <a:latin typeface="SimHei"/>
                <a:ea typeface="SimHei"/>
                <a:cs typeface="SimHei"/>
                <a:sym typeface="SimHei"/>
              </a:rPr>
              <a:t>   </a:t>
            </a:r>
            <a:r>
              <a:rPr sz="2800" b="1" dirty="0" smtClean="0">
                <a:latin typeface="SimHei"/>
                <a:ea typeface="SimHei"/>
                <a:cs typeface="SimHei"/>
                <a:sym typeface="SimHei"/>
              </a:rPr>
              <a:t>§</a:t>
            </a:r>
            <a:r>
              <a:rPr lang="en-US" sz="2800" b="1" dirty="0" smtClean="0">
                <a:latin typeface="SimHei"/>
                <a:ea typeface="SimHei"/>
                <a:cs typeface="SimHei"/>
                <a:sym typeface="SimHei"/>
              </a:rPr>
              <a:t>17</a:t>
            </a:r>
            <a:r>
              <a:rPr sz="2800" b="1" dirty="0" smtClean="0">
                <a:latin typeface="SimHei"/>
                <a:ea typeface="SimHei"/>
                <a:cs typeface="SimHei"/>
                <a:sym typeface="SimHei"/>
              </a:rPr>
              <a:t>.1  </a:t>
            </a:r>
            <a:r>
              <a:rPr lang="zh-CN" altLang="en-US" sz="2800" b="1" dirty="0" smtClean="0">
                <a:latin typeface="SimHei"/>
                <a:ea typeface="SimHei"/>
                <a:cs typeface="SimHei"/>
                <a:sym typeface="SimHei"/>
              </a:rPr>
              <a:t>电势能</a:t>
            </a:r>
            <a:endParaRPr lang="en-US" altLang="zh-CN" sz="2800" b="1" dirty="0" smtClean="0">
              <a:latin typeface="SimHei"/>
              <a:ea typeface="SimHei"/>
              <a:cs typeface="SimHei"/>
              <a:sym typeface="SimHei"/>
            </a:endParaRPr>
          </a:p>
          <a:p>
            <a:pPr lvl="0" defTabSz="762000">
              <a:spcBef>
                <a:spcPts val="1900"/>
              </a:spcBef>
              <a:defRPr sz="1800"/>
            </a:pPr>
            <a:r>
              <a:rPr sz="2800" b="1" dirty="0" smtClean="0">
                <a:latin typeface="SimHei"/>
                <a:ea typeface="SimHei"/>
                <a:cs typeface="SimHei"/>
                <a:sym typeface="SimHei"/>
              </a:rPr>
              <a:t>    §</a:t>
            </a:r>
            <a:r>
              <a:rPr lang="en-US" sz="2800" b="1" dirty="0" smtClean="0">
                <a:latin typeface="SimHei"/>
                <a:ea typeface="SimHei"/>
                <a:cs typeface="SimHei"/>
                <a:sym typeface="SimHei"/>
              </a:rPr>
              <a:t>17</a:t>
            </a:r>
            <a:r>
              <a:rPr sz="2800" b="1" dirty="0" smtClean="0">
                <a:latin typeface="SimHei"/>
                <a:ea typeface="SimHei"/>
                <a:cs typeface="SimHei"/>
                <a:sym typeface="SimHei"/>
              </a:rPr>
              <a:t>.2  </a:t>
            </a:r>
            <a:r>
              <a:rPr lang="zh-CN" altLang="en-US" sz="2800" b="1" dirty="0" smtClean="0">
                <a:latin typeface="SimHei"/>
                <a:ea typeface="SimHei"/>
                <a:cs typeface="SimHei"/>
                <a:sym typeface="SimHei"/>
              </a:rPr>
              <a:t>电势</a:t>
            </a:r>
            <a:endParaRPr sz="2800" b="1" dirty="0">
              <a:latin typeface="SimHei"/>
              <a:ea typeface="SimHei"/>
              <a:cs typeface="SimHei"/>
              <a:sym typeface="SimHei"/>
            </a:endParaRPr>
          </a:p>
          <a:p>
            <a:pPr lvl="0" defTabSz="762000">
              <a:spcBef>
                <a:spcPts val="1400"/>
              </a:spcBef>
              <a:defRPr sz="1800"/>
            </a:pPr>
            <a:r>
              <a:rPr sz="2800" b="1" dirty="0">
                <a:latin typeface="SimHei"/>
                <a:ea typeface="SimHei"/>
                <a:cs typeface="SimHei"/>
                <a:sym typeface="SimHei"/>
              </a:rPr>
              <a:t>    </a:t>
            </a:r>
            <a:r>
              <a:rPr sz="2800" b="1" dirty="0" smtClean="0">
                <a:latin typeface="SimHei"/>
                <a:ea typeface="SimHei"/>
                <a:cs typeface="SimHei"/>
                <a:sym typeface="SimHei"/>
              </a:rPr>
              <a:t>§</a:t>
            </a:r>
            <a:r>
              <a:rPr lang="en-US" sz="2800" b="1" dirty="0" smtClean="0">
                <a:latin typeface="SimHei"/>
                <a:ea typeface="SimHei"/>
                <a:cs typeface="SimHei"/>
                <a:sym typeface="SimHei"/>
              </a:rPr>
              <a:t>17</a:t>
            </a:r>
            <a:r>
              <a:rPr sz="2800" b="1" dirty="0" smtClean="0">
                <a:latin typeface="SimHei"/>
                <a:ea typeface="SimHei"/>
                <a:cs typeface="SimHei"/>
                <a:sym typeface="SimHei"/>
              </a:rPr>
              <a:t>.3  </a:t>
            </a:r>
            <a:r>
              <a:rPr lang="zh-CN" altLang="en-US" sz="2800" b="1" dirty="0" smtClean="0">
                <a:latin typeface="SimHei"/>
                <a:ea typeface="SimHei"/>
                <a:cs typeface="SimHei"/>
                <a:sym typeface="SimHei"/>
              </a:rPr>
              <a:t>电场与电势的关系</a:t>
            </a:r>
            <a:endParaRPr sz="2800" b="1" dirty="0">
              <a:latin typeface="SimHei"/>
              <a:ea typeface="SimHei"/>
              <a:cs typeface="SimHei"/>
              <a:sym typeface="SimHei"/>
            </a:endParaRPr>
          </a:p>
          <a:p>
            <a:pPr lvl="0" defTabSz="762000">
              <a:spcBef>
                <a:spcPts val="1400"/>
              </a:spcBef>
              <a:defRPr sz="1800"/>
            </a:pPr>
            <a:r>
              <a:rPr sz="2800" b="1" dirty="0">
                <a:latin typeface="SimHei"/>
                <a:ea typeface="SimHei"/>
                <a:cs typeface="SimHei"/>
                <a:sym typeface="SimHei"/>
              </a:rPr>
              <a:t>    </a:t>
            </a:r>
            <a:r>
              <a:rPr sz="2800" b="1" dirty="0" smtClean="0">
                <a:latin typeface="SimHei"/>
                <a:ea typeface="SimHei"/>
                <a:cs typeface="SimHei"/>
                <a:sym typeface="SimHei"/>
              </a:rPr>
              <a:t>§</a:t>
            </a:r>
            <a:r>
              <a:rPr lang="en-US" sz="2800" b="1" dirty="0" smtClean="0">
                <a:latin typeface="SimHei"/>
                <a:ea typeface="SimHei"/>
                <a:cs typeface="SimHei"/>
                <a:sym typeface="SimHei"/>
              </a:rPr>
              <a:t>17</a:t>
            </a:r>
            <a:r>
              <a:rPr sz="2800" b="1" dirty="0" smtClean="0">
                <a:latin typeface="SimHei"/>
                <a:ea typeface="SimHei"/>
                <a:cs typeface="SimHei"/>
                <a:sym typeface="SimHei"/>
              </a:rPr>
              <a:t>.4  </a:t>
            </a:r>
            <a:r>
              <a:rPr sz="2800" b="1" dirty="0" err="1" smtClean="0">
                <a:latin typeface="SimHei"/>
                <a:ea typeface="SimHei"/>
                <a:cs typeface="SimHei"/>
                <a:sym typeface="SimHei"/>
              </a:rPr>
              <a:t>电场</a:t>
            </a:r>
            <a:r>
              <a:rPr lang="zh-CN" altLang="en-US" sz="2800" b="1" dirty="0" smtClean="0">
                <a:latin typeface="SimHei"/>
                <a:ea typeface="SimHei"/>
                <a:cs typeface="SimHei"/>
                <a:sym typeface="SimHei"/>
              </a:rPr>
              <a:t>运动电荷的能量守恒</a:t>
            </a:r>
            <a:endParaRPr sz="2800" b="1" dirty="0">
              <a:latin typeface="SimHei"/>
              <a:ea typeface="SimHei"/>
              <a:cs typeface="SimHei"/>
              <a:sym typeface="SimHei"/>
            </a:endParaRPr>
          </a:p>
          <a:p>
            <a:pPr lvl="0" defTabSz="762000">
              <a:spcBef>
                <a:spcPts val="1400"/>
              </a:spcBef>
              <a:defRPr sz="1800"/>
            </a:pPr>
            <a:r>
              <a:rPr sz="2800" b="1" dirty="0">
                <a:latin typeface="SimHei"/>
                <a:ea typeface="SimHei"/>
                <a:cs typeface="SimHei"/>
                <a:sym typeface="SimHei"/>
              </a:rPr>
              <a:t>    </a:t>
            </a:r>
            <a:r>
              <a:rPr sz="2800" b="1" dirty="0" smtClean="0">
                <a:latin typeface="SimHei"/>
                <a:ea typeface="SimHei"/>
                <a:cs typeface="SimHei"/>
                <a:sym typeface="SimHei"/>
              </a:rPr>
              <a:t>§</a:t>
            </a:r>
            <a:r>
              <a:rPr lang="en-US" sz="2800" b="1" dirty="0" smtClean="0">
                <a:latin typeface="SimHei"/>
                <a:ea typeface="SimHei"/>
                <a:cs typeface="SimHei"/>
                <a:sym typeface="SimHei"/>
              </a:rPr>
              <a:t>17</a:t>
            </a:r>
            <a:r>
              <a:rPr sz="2800" b="1" dirty="0" smtClean="0">
                <a:latin typeface="SimHei"/>
                <a:ea typeface="SimHei"/>
                <a:cs typeface="SimHei"/>
                <a:sym typeface="SimHei"/>
              </a:rPr>
              <a:t>.5  </a:t>
            </a:r>
            <a:r>
              <a:rPr lang="zh-CN" altLang="en-US" sz="2800" b="1" dirty="0" smtClean="0">
                <a:latin typeface="SimHei"/>
                <a:ea typeface="SimHei"/>
                <a:cs typeface="SimHei"/>
                <a:sym typeface="SimHei"/>
              </a:rPr>
              <a:t>电容器</a:t>
            </a:r>
            <a:endParaRPr sz="2800" b="1" dirty="0">
              <a:latin typeface="SimHei"/>
              <a:ea typeface="SimHei"/>
              <a:cs typeface="SimHei"/>
              <a:sym typeface="SimHei"/>
            </a:endParaRPr>
          </a:p>
          <a:p>
            <a:pPr lvl="0" defTabSz="762000">
              <a:spcBef>
                <a:spcPts val="1400"/>
              </a:spcBef>
              <a:defRPr sz="1800"/>
            </a:pPr>
            <a:r>
              <a:rPr sz="2800" b="1" dirty="0">
                <a:latin typeface="SimHei"/>
                <a:ea typeface="SimHei"/>
                <a:cs typeface="SimHei"/>
                <a:sym typeface="SimHei"/>
              </a:rPr>
              <a:t>    </a:t>
            </a:r>
            <a:r>
              <a:rPr sz="2800" b="1" dirty="0" smtClean="0">
                <a:latin typeface="SimHei"/>
                <a:ea typeface="SimHei"/>
                <a:cs typeface="SimHei"/>
                <a:sym typeface="SimHei"/>
              </a:rPr>
              <a:t>§</a:t>
            </a:r>
            <a:r>
              <a:rPr lang="en-US" sz="2800" b="1" dirty="0" smtClean="0">
                <a:latin typeface="SimHei"/>
                <a:ea typeface="SimHei"/>
                <a:cs typeface="SimHei"/>
                <a:sym typeface="SimHei"/>
              </a:rPr>
              <a:t>17</a:t>
            </a:r>
            <a:r>
              <a:rPr sz="2800" b="1" dirty="0" smtClean="0">
                <a:latin typeface="SimHei"/>
                <a:ea typeface="SimHei"/>
                <a:cs typeface="SimHei"/>
                <a:sym typeface="SimHei"/>
              </a:rPr>
              <a:t>.6  </a:t>
            </a:r>
            <a:r>
              <a:rPr lang="zh-CN" altLang="en-US" sz="2800" b="1" dirty="0" smtClean="0">
                <a:latin typeface="SimHei"/>
                <a:ea typeface="SimHei"/>
                <a:cs typeface="SimHei"/>
                <a:sym typeface="SimHei"/>
              </a:rPr>
              <a:t>电介质</a:t>
            </a:r>
            <a:endParaRPr lang="en-US" altLang="zh-CN" sz="2800" b="1" dirty="0" smtClean="0">
              <a:latin typeface="SimHei"/>
              <a:ea typeface="SimHei"/>
              <a:cs typeface="SimHei"/>
              <a:sym typeface="SimHei"/>
            </a:endParaRPr>
          </a:p>
          <a:p>
            <a:pPr lvl="0" defTabSz="762000">
              <a:spcBef>
                <a:spcPts val="1400"/>
              </a:spcBef>
              <a:defRPr sz="1800"/>
            </a:pPr>
            <a:r>
              <a:rPr sz="2800" b="1" dirty="0" smtClean="0">
                <a:latin typeface="SimHei"/>
                <a:ea typeface="SimHei"/>
                <a:cs typeface="SimHei"/>
                <a:sym typeface="SimHei"/>
              </a:rPr>
              <a:t>    §</a:t>
            </a:r>
            <a:r>
              <a:rPr lang="en-US" sz="2800" b="1" dirty="0" smtClean="0">
                <a:latin typeface="SimHei"/>
                <a:ea typeface="SimHei"/>
                <a:cs typeface="SimHei"/>
                <a:sym typeface="SimHei"/>
              </a:rPr>
              <a:t>17</a:t>
            </a:r>
            <a:r>
              <a:rPr sz="2800" b="1" dirty="0" smtClean="0">
                <a:latin typeface="SimHei"/>
                <a:ea typeface="SimHei"/>
                <a:cs typeface="SimHei"/>
                <a:sym typeface="SimHei"/>
              </a:rPr>
              <a:t>.7  </a:t>
            </a:r>
            <a:r>
              <a:rPr lang="zh-CN" altLang="en-US" sz="2800" b="1" dirty="0" smtClean="0">
                <a:latin typeface="SimHei"/>
                <a:ea typeface="SimHei"/>
                <a:cs typeface="SimHei"/>
                <a:sym typeface="SimHei"/>
              </a:rPr>
              <a:t>电容器存储的能量</a:t>
            </a:r>
            <a:endParaRPr sz="2800" b="1" dirty="0">
              <a:latin typeface="SimHei"/>
              <a:ea typeface="SimHei"/>
              <a:cs typeface="SimHei"/>
              <a:sym typeface="SimHei"/>
            </a:endParaRPr>
          </a:p>
          <a:p>
            <a:pPr lvl="0" defTabSz="762000">
              <a:spcBef>
                <a:spcPts val="1400"/>
              </a:spcBef>
              <a:defRPr sz="1800"/>
            </a:pPr>
            <a:r>
              <a:rPr sz="2800" b="1" dirty="0">
                <a:latin typeface="SimHei"/>
                <a:ea typeface="SimHei"/>
                <a:cs typeface="SimHei"/>
                <a:sym typeface="SimHei"/>
              </a:rPr>
              <a:t>    </a:t>
            </a:r>
          </a:p>
        </p:txBody>
      </p:sp>
    </p:spTree>
    <p:extLst>
      <p:ext uri="{BB962C8B-B14F-4D97-AF65-F5344CB8AC3E}">
        <p14:creationId xmlns:p14="http://schemas.microsoft.com/office/powerpoint/2010/main" val="2639251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332656"/>
            <a:ext cx="1944216" cy="576064"/>
          </a:xfrm>
          <a:solidFill>
            <a:schemeClr val="accent3">
              <a:lumMod val="20000"/>
              <a:lumOff val="80000"/>
            </a:schemeClr>
          </a:solidFill>
          <a:ln/>
        </p:spPr>
        <p:style>
          <a:lnRef idx="2">
            <a:schemeClr val="accent6"/>
          </a:lnRef>
          <a:fillRef idx="1">
            <a:schemeClr val="lt1"/>
          </a:fillRef>
          <a:effectRef idx="0">
            <a:schemeClr val="accent6"/>
          </a:effectRef>
          <a:fontRef idx="minor">
            <a:schemeClr val="dk1"/>
          </a:fontRef>
        </p:style>
        <p:txBody>
          <a:bodyPr>
            <a:normAutofit fontScale="90000"/>
          </a:bodyPr>
          <a:lstStyle/>
          <a:p>
            <a:r>
              <a:rPr lang="zh-CN" altLang="en-US" sz="3600" b="1" smtClean="0">
                <a:latin typeface="宋体" pitchFamily="2" charset="-122"/>
                <a:ea typeface="宋体" pitchFamily="2" charset="-122"/>
              </a:rPr>
              <a:t>保守力</a:t>
            </a:r>
            <a:endParaRPr lang="zh-CN" altLang="en-US" sz="3600" b="1" dirty="0">
              <a:latin typeface="宋体" pitchFamily="2" charset="-122"/>
              <a:ea typeface="宋体" pitchFamily="2" charset="-122"/>
            </a:endParaRPr>
          </a:p>
        </p:txBody>
      </p:sp>
      <p:pic>
        <p:nvPicPr>
          <p:cNvPr id="419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052736"/>
            <a:ext cx="8136904" cy="4544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971600" y="5409912"/>
            <a:ext cx="6480720" cy="523220"/>
          </a:xfrm>
          <a:prstGeom prst="rect">
            <a:avLst/>
          </a:prstGeom>
          <a:noFill/>
        </p:spPr>
        <p:txBody>
          <a:bodyPr wrap="square" rtlCol="0">
            <a:spAutoFit/>
          </a:bodyPr>
          <a:lstStyle/>
          <a:p>
            <a:r>
              <a:rPr lang="zh-CN" altLang="en-US" sz="2800" b="1" smtClean="0">
                <a:solidFill>
                  <a:srgbClr val="FF0000"/>
                </a:solidFill>
              </a:rPr>
              <a:t>静电力是保守力，静电力场是保守力场。</a:t>
            </a:r>
            <a:endParaRPr lang="zh-CN" altLang="en-US" sz="2800" b="1">
              <a:solidFill>
                <a:srgbClr val="FF0000"/>
              </a:solidFill>
            </a:endParaRPr>
          </a:p>
        </p:txBody>
      </p:sp>
    </p:spTree>
    <p:extLst>
      <p:ext uri="{BB962C8B-B14F-4D97-AF65-F5344CB8AC3E}">
        <p14:creationId xmlns:p14="http://schemas.microsoft.com/office/powerpoint/2010/main" val="27162252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日期占位符 1"/>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Arial" pitchFamily="34" charset="0"/>
                <a:ea typeface="宋体" pitchFamily="2" charset="-122"/>
              </a:defRPr>
            </a:lvl1pPr>
            <a:lvl2pPr marL="742950" indent="-285750">
              <a:defRPr sz="2800" b="1">
                <a:solidFill>
                  <a:schemeClr val="tx1"/>
                </a:solidFill>
                <a:latin typeface="Arial" pitchFamily="34" charset="0"/>
                <a:ea typeface="宋体" pitchFamily="2" charset="-122"/>
              </a:defRPr>
            </a:lvl2pPr>
            <a:lvl3pPr marL="1143000" indent="-228600">
              <a:defRPr sz="2800" b="1">
                <a:solidFill>
                  <a:schemeClr val="tx1"/>
                </a:solidFill>
                <a:latin typeface="Arial" pitchFamily="34" charset="0"/>
                <a:ea typeface="宋体" pitchFamily="2" charset="-122"/>
              </a:defRPr>
            </a:lvl3pPr>
            <a:lvl4pPr marL="1600200" indent="-228600">
              <a:defRPr sz="2800" b="1">
                <a:solidFill>
                  <a:schemeClr val="tx1"/>
                </a:solidFill>
                <a:latin typeface="Arial" pitchFamily="34" charset="0"/>
                <a:ea typeface="宋体" pitchFamily="2" charset="-122"/>
              </a:defRPr>
            </a:lvl4pPr>
            <a:lvl5pPr marL="2057400" indent="-22860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800" b="1">
                <a:solidFill>
                  <a:schemeClr val="tx1"/>
                </a:solidFill>
                <a:latin typeface="Arial" pitchFamily="34" charset="0"/>
                <a:ea typeface="宋体" pitchFamily="2" charset="-122"/>
              </a:defRPr>
            </a:lvl9pPr>
          </a:lstStyle>
          <a:p>
            <a:fld id="{930DACB9-F58F-41D4-9019-62881C1FAE35}" type="datetime1">
              <a:rPr lang="zh-CN" altLang="en-US" sz="1400" b="0" smtClean="0">
                <a:solidFill>
                  <a:schemeClr val="bg2"/>
                </a:solidFill>
              </a:rPr>
              <a:pPr/>
              <a:t>2021/4/18</a:t>
            </a:fld>
            <a:endParaRPr lang="en-US" altLang="zh-CN" sz="1400" b="0" smtClean="0">
              <a:solidFill>
                <a:schemeClr val="bg2"/>
              </a:solidFill>
            </a:endParaRPr>
          </a:p>
        </p:txBody>
      </p:sp>
      <p:pic>
        <p:nvPicPr>
          <p:cNvPr id="60834" name="Picture 144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155936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4530" name="Text Box 2"/>
          <p:cNvSpPr txBox="1">
            <a:spLocks noChangeArrowheads="1"/>
          </p:cNvSpPr>
          <p:nvPr/>
        </p:nvSpPr>
        <p:spPr bwMode="auto">
          <a:xfrm>
            <a:off x="611188" y="260350"/>
            <a:ext cx="7632700" cy="519113"/>
          </a:xfrm>
          <a:prstGeom prst="rect">
            <a:avLst/>
          </a:prstGeom>
          <a:noFill/>
          <a:ln w="9525">
            <a:noFill/>
            <a:miter lim="800000"/>
            <a:headEnd/>
            <a:tailEnd/>
          </a:ln>
          <a:effectLst/>
        </p:spPr>
        <p:txBody>
          <a:bodyPr>
            <a:spAutoFit/>
          </a:bodyPr>
          <a:lstStyle/>
          <a:p>
            <a:pPr fontAlgn="base">
              <a:spcBef>
                <a:spcPct val="50000"/>
              </a:spcBef>
              <a:spcAft>
                <a:spcPct val="0"/>
              </a:spcAft>
              <a:defRPr/>
            </a:pPr>
            <a:r>
              <a:rPr kumimoji="1" lang="zh-CN" altLang="en-US" sz="2800" b="1">
                <a:solidFill>
                  <a:srgbClr val="CC0000"/>
                </a:solidFill>
                <a:effectLst>
                  <a:outerShdw blurRad="38100" dist="38100" dir="2700000" algn="tl">
                    <a:srgbClr val="000000"/>
                  </a:outerShdw>
                </a:effectLst>
                <a:latin typeface="宋体" pitchFamily="2" charset="-122"/>
              </a:rPr>
              <a:t>二、环路定理</a:t>
            </a:r>
            <a:r>
              <a:rPr kumimoji="1" lang="en-US" altLang="zh-CN" sz="2400" b="1">
                <a:solidFill>
                  <a:srgbClr val="CC0000"/>
                </a:solidFill>
                <a:latin typeface="Times New Roman" pitchFamily="18" charset="0"/>
              </a:rPr>
              <a:t>(circuital theorem of electrostatic field)</a:t>
            </a:r>
          </a:p>
        </p:txBody>
      </p:sp>
      <p:sp>
        <p:nvSpPr>
          <p:cNvPr id="53252" name="Text Box 3"/>
          <p:cNvSpPr txBox="1">
            <a:spLocks noChangeArrowheads="1"/>
          </p:cNvSpPr>
          <p:nvPr/>
        </p:nvSpPr>
        <p:spPr bwMode="auto">
          <a:xfrm>
            <a:off x="323850" y="762000"/>
            <a:ext cx="8712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18000">
            <a:spAutoFit/>
          </a:bodyPr>
          <a:lstStyle>
            <a:lvl1pPr>
              <a:defRPr sz="2800" b="1">
                <a:solidFill>
                  <a:schemeClr val="tx1"/>
                </a:solidFill>
                <a:latin typeface="Arial" pitchFamily="34" charset="0"/>
                <a:ea typeface="宋体" pitchFamily="2" charset="-122"/>
              </a:defRPr>
            </a:lvl1pPr>
            <a:lvl2pPr marL="742950" indent="-285750">
              <a:defRPr sz="2800" b="1">
                <a:solidFill>
                  <a:schemeClr val="tx1"/>
                </a:solidFill>
                <a:latin typeface="Arial" pitchFamily="34" charset="0"/>
                <a:ea typeface="宋体" pitchFamily="2" charset="-122"/>
              </a:defRPr>
            </a:lvl2pPr>
            <a:lvl3pPr marL="1143000" indent="-228600">
              <a:defRPr sz="2800" b="1">
                <a:solidFill>
                  <a:schemeClr val="tx1"/>
                </a:solidFill>
                <a:latin typeface="Arial" pitchFamily="34" charset="0"/>
                <a:ea typeface="宋体" pitchFamily="2" charset="-122"/>
              </a:defRPr>
            </a:lvl3pPr>
            <a:lvl4pPr marL="1600200" indent="-228600">
              <a:defRPr sz="2800" b="1">
                <a:solidFill>
                  <a:schemeClr val="tx1"/>
                </a:solidFill>
                <a:latin typeface="Arial" pitchFamily="34" charset="0"/>
                <a:ea typeface="宋体" pitchFamily="2" charset="-122"/>
              </a:defRPr>
            </a:lvl4pPr>
            <a:lvl5pPr marL="2057400" indent="-22860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800" b="1">
                <a:solidFill>
                  <a:schemeClr val="tx1"/>
                </a:solidFill>
                <a:latin typeface="Arial" pitchFamily="34" charset="0"/>
                <a:ea typeface="宋体" pitchFamily="2" charset="-122"/>
              </a:defRPr>
            </a:lvl9pPr>
          </a:lstStyle>
          <a:p>
            <a:pPr fontAlgn="base">
              <a:spcBef>
                <a:spcPct val="50000"/>
              </a:spcBef>
              <a:spcAft>
                <a:spcPct val="0"/>
              </a:spcAft>
            </a:pPr>
            <a:r>
              <a:rPr kumimoji="1" lang="zh-CN" altLang="en-US" dirty="0" smtClean="0">
                <a:solidFill>
                  <a:srgbClr val="000000"/>
                </a:solidFill>
                <a:latin typeface="宋体" pitchFamily="2" charset="-122"/>
              </a:rPr>
              <a:t>静电力做功只与检验电荷起点、终点的位置有关，与所通过的路径无关 </a:t>
            </a:r>
            <a:r>
              <a:rPr kumimoji="1" lang="en-US" altLang="zh-CN" dirty="0" smtClean="0">
                <a:solidFill>
                  <a:srgbClr val="000000"/>
                </a:solidFill>
                <a:latin typeface="Times New Roman" pitchFamily="18" charset="0"/>
              </a:rPr>
              <a:t>——</a:t>
            </a:r>
            <a:r>
              <a:rPr kumimoji="1" lang="en-US" altLang="zh-CN" dirty="0" smtClean="0">
                <a:solidFill>
                  <a:srgbClr val="000000"/>
                </a:solidFill>
                <a:latin typeface="宋体" pitchFamily="2" charset="-122"/>
              </a:rPr>
              <a:t> </a:t>
            </a:r>
            <a:r>
              <a:rPr kumimoji="1" lang="zh-CN" altLang="en-US" dirty="0" smtClean="0">
                <a:solidFill>
                  <a:srgbClr val="0000CC"/>
                </a:solidFill>
                <a:latin typeface="宋体" pitchFamily="2" charset="-122"/>
              </a:rPr>
              <a:t>静电力是保守力。</a:t>
            </a:r>
            <a:endParaRPr kumimoji="1" lang="zh-CN" altLang="en-US" dirty="0" smtClean="0">
              <a:solidFill>
                <a:srgbClr val="000000"/>
              </a:solidFill>
              <a:latin typeface="宋体" pitchFamily="2" charset="-122"/>
            </a:endParaRPr>
          </a:p>
        </p:txBody>
      </p:sp>
      <p:sp>
        <p:nvSpPr>
          <p:cNvPr id="1174532" name="Text Box 4"/>
          <p:cNvSpPr txBox="1">
            <a:spLocks noChangeArrowheads="1"/>
          </p:cNvSpPr>
          <p:nvPr/>
        </p:nvSpPr>
        <p:spPr bwMode="auto">
          <a:xfrm>
            <a:off x="468313" y="4652963"/>
            <a:ext cx="8424862" cy="946150"/>
          </a:xfrm>
          <a:prstGeom prst="rect">
            <a:avLst/>
          </a:prstGeom>
          <a:noFill/>
          <a:ln w="9525">
            <a:noFill/>
            <a:miter lim="800000"/>
            <a:headEnd/>
            <a:tailEnd/>
          </a:ln>
          <a:effectLst/>
        </p:spPr>
        <p:txBody>
          <a:bodyPr>
            <a:spAutoFit/>
          </a:bodyPr>
          <a:lstStyle/>
          <a:p>
            <a:pPr fontAlgn="base">
              <a:spcBef>
                <a:spcPct val="50000"/>
              </a:spcBef>
              <a:spcAft>
                <a:spcPct val="0"/>
              </a:spcAft>
              <a:defRPr/>
            </a:pPr>
            <a:r>
              <a:rPr kumimoji="1" lang="en-US" altLang="zh-CN" sz="2800" b="1" dirty="0">
                <a:solidFill>
                  <a:srgbClr val="FF0000"/>
                </a:solidFill>
                <a:latin typeface="宋体" pitchFamily="2" charset="-122"/>
              </a:rPr>
              <a:t>  </a:t>
            </a:r>
            <a:r>
              <a:rPr kumimoji="1" lang="zh-CN" altLang="en-US" sz="2800" b="1" dirty="0">
                <a:solidFill>
                  <a:srgbClr val="FF0000"/>
                </a:solidFill>
                <a:latin typeface="宋体" pitchFamily="2" charset="-122"/>
              </a:rPr>
              <a:t>静电场强沿任意闭合路径的线积分为零。</a:t>
            </a:r>
            <a:r>
              <a:rPr kumimoji="1" lang="zh-CN" altLang="en-US" sz="2800" b="1" dirty="0">
                <a:solidFill>
                  <a:srgbClr val="000000"/>
                </a:solidFill>
                <a:latin typeface="宋体" pitchFamily="2" charset="-122"/>
              </a:rPr>
              <a:t>反映了</a:t>
            </a:r>
            <a:r>
              <a:rPr kumimoji="1" lang="zh-CN" altLang="en-US" sz="2800" b="1" dirty="0">
                <a:solidFill>
                  <a:srgbClr val="0000CC"/>
                </a:solidFill>
                <a:latin typeface="宋体" pitchFamily="2" charset="-122"/>
              </a:rPr>
              <a:t>静电场是</a:t>
            </a:r>
            <a:r>
              <a:rPr kumimoji="1" lang="zh-CN" altLang="en-US" sz="2800" b="1" dirty="0">
                <a:solidFill>
                  <a:srgbClr val="CC0000"/>
                </a:solidFill>
                <a:effectLst>
                  <a:outerShdw blurRad="38100" dist="38100" dir="2700000" algn="tl">
                    <a:srgbClr val="000000"/>
                  </a:outerShdw>
                </a:effectLst>
                <a:latin typeface="宋体" pitchFamily="2" charset="-122"/>
              </a:rPr>
              <a:t>保守</a:t>
            </a:r>
            <a:r>
              <a:rPr kumimoji="1" lang="zh-CN" altLang="en-US" sz="2800" b="1" dirty="0" smtClean="0">
                <a:solidFill>
                  <a:srgbClr val="CC0000"/>
                </a:solidFill>
                <a:effectLst>
                  <a:outerShdw blurRad="38100" dist="38100" dir="2700000" algn="tl">
                    <a:srgbClr val="000000"/>
                  </a:outerShdw>
                </a:effectLst>
                <a:latin typeface="宋体" pitchFamily="2" charset="-122"/>
              </a:rPr>
              <a:t>力场</a:t>
            </a:r>
            <a:r>
              <a:rPr kumimoji="1" lang="zh-CN" altLang="en-US" sz="2800" b="1" dirty="0" smtClean="0">
                <a:solidFill>
                  <a:srgbClr val="000000"/>
                </a:solidFill>
                <a:latin typeface="宋体" pitchFamily="2" charset="-122"/>
              </a:rPr>
              <a:t>。</a:t>
            </a:r>
            <a:endParaRPr kumimoji="1" lang="zh-CN" altLang="en-US" sz="2800" b="1" dirty="0">
              <a:solidFill>
                <a:srgbClr val="000000"/>
              </a:solidFill>
              <a:latin typeface="宋体" pitchFamily="2" charset="-122"/>
            </a:endParaRPr>
          </a:p>
        </p:txBody>
      </p:sp>
      <p:sp>
        <p:nvSpPr>
          <p:cNvPr id="1174533" name="Text Box 5"/>
          <p:cNvSpPr txBox="1">
            <a:spLocks noChangeArrowheads="1"/>
          </p:cNvSpPr>
          <p:nvPr/>
        </p:nvSpPr>
        <p:spPr bwMode="auto">
          <a:xfrm>
            <a:off x="762000" y="5718175"/>
            <a:ext cx="8088313" cy="519113"/>
          </a:xfrm>
          <a:prstGeom prst="rect">
            <a:avLst/>
          </a:prstGeom>
          <a:noFill/>
          <a:ln w="9525">
            <a:noFill/>
            <a:miter lim="800000"/>
            <a:headEnd/>
            <a:tailEnd/>
          </a:ln>
          <a:effectLst/>
        </p:spPr>
        <p:txBody>
          <a:bodyPr>
            <a:spAutoFit/>
          </a:bodyPr>
          <a:lstStyle/>
          <a:p>
            <a:pPr fontAlgn="base">
              <a:spcBef>
                <a:spcPct val="50000"/>
              </a:spcBef>
              <a:spcAft>
                <a:spcPct val="0"/>
              </a:spcAft>
              <a:defRPr/>
            </a:pPr>
            <a:r>
              <a:rPr kumimoji="1" lang="zh-CN" altLang="en-US" sz="2800" b="1" dirty="0">
                <a:solidFill>
                  <a:srgbClr val="000000"/>
                </a:solidFill>
                <a:latin typeface="宋体" pitchFamily="2" charset="-122"/>
              </a:rPr>
              <a:t>凡保守力都有与其相关的势能，</a:t>
            </a:r>
            <a:r>
              <a:rPr kumimoji="1" lang="zh-CN" altLang="en-US" sz="2800" b="1" dirty="0">
                <a:solidFill>
                  <a:srgbClr val="0000CC"/>
                </a:solidFill>
                <a:latin typeface="宋体" pitchFamily="2" charset="-122"/>
              </a:rPr>
              <a:t>静电场是</a:t>
            </a:r>
            <a:r>
              <a:rPr kumimoji="1" lang="zh-CN" altLang="en-US" sz="2800" b="1" dirty="0">
                <a:solidFill>
                  <a:srgbClr val="CC0000"/>
                </a:solidFill>
                <a:effectLst>
                  <a:outerShdw blurRad="38100" dist="38100" dir="2700000" algn="tl">
                    <a:srgbClr val="000000"/>
                  </a:outerShdw>
                </a:effectLst>
                <a:latin typeface="宋体" pitchFamily="2" charset="-122"/>
              </a:rPr>
              <a:t>有势场</a:t>
            </a:r>
            <a:r>
              <a:rPr kumimoji="1" lang="zh-CN" altLang="en-US" sz="2800" b="1" dirty="0">
                <a:solidFill>
                  <a:srgbClr val="000000"/>
                </a:solidFill>
                <a:latin typeface="宋体" pitchFamily="2" charset="-122"/>
              </a:rPr>
              <a:t>。</a:t>
            </a:r>
          </a:p>
        </p:txBody>
      </p:sp>
      <p:grpSp>
        <p:nvGrpSpPr>
          <p:cNvPr id="5" name="组合 4"/>
          <p:cNvGrpSpPr/>
          <p:nvPr/>
        </p:nvGrpSpPr>
        <p:grpSpPr>
          <a:xfrm>
            <a:off x="7108052" y="1756847"/>
            <a:ext cx="1785123" cy="1804432"/>
            <a:chOff x="7249699" y="1854200"/>
            <a:chExt cx="1785123" cy="1804432"/>
          </a:xfrm>
        </p:grpSpPr>
        <p:pic>
          <p:nvPicPr>
            <p:cNvPr id="4198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49699" y="1854200"/>
              <a:ext cx="1785123" cy="143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7679532" y="3289300"/>
              <a:ext cx="1128712" cy="369332"/>
            </a:xfrm>
            <a:prstGeom prst="rect">
              <a:avLst/>
            </a:prstGeom>
            <a:noFill/>
          </p:spPr>
          <p:txBody>
            <a:bodyPr wrap="square" rtlCol="0">
              <a:spAutoFit/>
            </a:bodyPr>
            <a:lstStyle/>
            <a:p>
              <a:r>
                <a:rPr lang="zh-CN" altLang="en-US" smtClean="0"/>
                <a:t>任意环路</a:t>
              </a:r>
              <a:endParaRPr lang="zh-CN" altLang="en-US"/>
            </a:p>
          </p:txBody>
        </p:sp>
      </p:grpSp>
      <p:pic>
        <p:nvPicPr>
          <p:cNvPr id="18" name="图片 17"/>
          <p:cNvPicPr>
            <a:picLocks noChangeAspect="1"/>
          </p:cNvPicPr>
          <p:nvPr/>
        </p:nvPicPr>
        <p:blipFill>
          <a:blip r:embed="rId4"/>
          <a:stretch>
            <a:fillRect/>
          </a:stretch>
        </p:blipFill>
        <p:spPr>
          <a:xfrm>
            <a:off x="468313" y="1827212"/>
            <a:ext cx="6628571" cy="2695238"/>
          </a:xfrm>
          <a:prstGeom prst="rect">
            <a:avLst/>
          </a:prstGeom>
        </p:spPr>
      </p:pic>
    </p:spTree>
    <p:extLst>
      <p:ext uri="{BB962C8B-B14F-4D97-AF65-F5344CB8AC3E}">
        <p14:creationId xmlns:p14="http://schemas.microsoft.com/office/powerpoint/2010/main" val="32711638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74532"/>
                                        </p:tgtEl>
                                        <p:attrNameLst>
                                          <p:attrName>style.visibility</p:attrName>
                                        </p:attrNameLst>
                                      </p:cBhvr>
                                      <p:to>
                                        <p:strVal val="visible"/>
                                      </p:to>
                                    </p:set>
                                    <p:animEffect transition="in" filter="blinds(horizontal)">
                                      <p:cBhvr>
                                        <p:cTn id="7" dur="500"/>
                                        <p:tgtEl>
                                          <p:spTgt spid="11745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1745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4532" grpId="0" autoUpdateAnimBg="0"/>
      <p:bldP spid="1174533"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4885" y="332656"/>
            <a:ext cx="8352928" cy="3323987"/>
          </a:xfrm>
          <a:prstGeom prst="rect">
            <a:avLst/>
          </a:prstGeom>
          <a:noFill/>
        </p:spPr>
        <p:txBody>
          <a:bodyPr wrap="square" rtlCol="0">
            <a:spAutoFit/>
          </a:bodyPr>
          <a:lstStyle/>
          <a:p>
            <a:pPr>
              <a:lnSpc>
                <a:spcPct val="150000"/>
              </a:lnSpc>
            </a:pPr>
            <a:r>
              <a:rPr lang="zh-CN" altLang="en-US" sz="2800" b="1" dirty="0" smtClean="0">
                <a:latin typeface="宋体" pitchFamily="2" charset="-122"/>
                <a:ea typeface="宋体" pitchFamily="2" charset="-122"/>
              </a:rPr>
              <a:t>任何力场，只要是具备场强的环流为零的特性，就叫做</a:t>
            </a:r>
            <a:r>
              <a:rPr lang="zh-CN" altLang="en-US" sz="2800" b="1" dirty="0" smtClean="0">
                <a:solidFill>
                  <a:srgbClr val="FF0000"/>
                </a:solidFill>
                <a:latin typeface="宋体" pitchFamily="2" charset="-122"/>
                <a:ea typeface="宋体" pitchFamily="2" charset="-122"/>
              </a:rPr>
              <a:t>保守力场</a:t>
            </a:r>
            <a:r>
              <a:rPr lang="zh-CN" altLang="en-US" sz="2800" b="1" dirty="0" smtClean="0">
                <a:latin typeface="宋体" pitchFamily="2" charset="-122"/>
                <a:ea typeface="宋体" pitchFamily="2" charset="-122"/>
              </a:rPr>
              <a:t>或叫做</a:t>
            </a:r>
            <a:r>
              <a:rPr lang="zh-CN" altLang="en-US" sz="2800" b="1" dirty="0" smtClean="0">
                <a:solidFill>
                  <a:srgbClr val="FF0000"/>
                </a:solidFill>
                <a:latin typeface="宋体" pitchFamily="2" charset="-122"/>
                <a:ea typeface="宋体" pitchFamily="2" charset="-122"/>
              </a:rPr>
              <a:t>势场</a:t>
            </a:r>
            <a:r>
              <a:rPr lang="zh-CN" altLang="en-US" sz="2800" b="1" dirty="0" smtClean="0">
                <a:latin typeface="宋体" pitchFamily="2" charset="-122"/>
                <a:ea typeface="宋体" pitchFamily="2" charset="-122"/>
              </a:rPr>
              <a:t>。</a:t>
            </a:r>
            <a:endParaRPr lang="en-US" altLang="zh-CN" sz="2800" b="1" dirty="0" smtClean="0">
              <a:latin typeface="宋体" pitchFamily="2" charset="-122"/>
              <a:ea typeface="宋体" pitchFamily="2" charset="-122"/>
            </a:endParaRPr>
          </a:p>
          <a:p>
            <a:pPr>
              <a:lnSpc>
                <a:spcPct val="150000"/>
              </a:lnSpc>
            </a:pPr>
            <a:r>
              <a:rPr lang="zh-CN" altLang="en-US" sz="2800" b="1" dirty="0" smtClean="0">
                <a:latin typeface="宋体" pitchFamily="2" charset="-122"/>
                <a:ea typeface="宋体" pitchFamily="2" charset="-122"/>
              </a:rPr>
              <a:t>综合静电场的</a:t>
            </a:r>
            <a:r>
              <a:rPr lang="zh-CN" altLang="en-US" sz="2800" b="1" dirty="0" smtClean="0">
                <a:solidFill>
                  <a:srgbClr val="FF0000"/>
                </a:solidFill>
                <a:latin typeface="宋体" pitchFamily="2" charset="-122"/>
                <a:ea typeface="宋体" pitchFamily="2" charset="-122"/>
              </a:rPr>
              <a:t>高斯定理</a:t>
            </a:r>
            <a:r>
              <a:rPr lang="zh-CN" altLang="en-US" sz="2800" b="1" dirty="0" smtClean="0">
                <a:latin typeface="宋体" pitchFamily="2" charset="-122"/>
                <a:ea typeface="宋体" pitchFamily="2" charset="-122"/>
              </a:rPr>
              <a:t>和</a:t>
            </a:r>
            <a:r>
              <a:rPr lang="zh-CN" altLang="en-US" sz="2800" b="1" dirty="0" smtClean="0">
                <a:solidFill>
                  <a:srgbClr val="FF0000"/>
                </a:solidFill>
                <a:latin typeface="宋体" pitchFamily="2" charset="-122"/>
                <a:ea typeface="宋体" pitchFamily="2" charset="-122"/>
              </a:rPr>
              <a:t>环路定理</a:t>
            </a:r>
            <a:r>
              <a:rPr lang="zh-CN" altLang="en-US" sz="2800" b="1" dirty="0" smtClean="0">
                <a:latin typeface="宋体" pitchFamily="2" charset="-122"/>
                <a:ea typeface="宋体" pitchFamily="2" charset="-122"/>
              </a:rPr>
              <a:t>，可知静电场是</a:t>
            </a:r>
            <a:r>
              <a:rPr lang="zh-CN" altLang="en-US" sz="2800" b="1" dirty="0" smtClean="0">
                <a:solidFill>
                  <a:srgbClr val="FF0000"/>
                </a:solidFill>
                <a:latin typeface="宋体" pitchFamily="2" charset="-122"/>
                <a:ea typeface="宋体" pitchFamily="2" charset="-122"/>
              </a:rPr>
              <a:t>有源</a:t>
            </a:r>
            <a:r>
              <a:rPr lang="zh-CN" altLang="en-US" sz="2800" b="1" dirty="0" smtClean="0">
                <a:latin typeface="宋体" pitchFamily="2" charset="-122"/>
                <a:ea typeface="宋体" pitchFamily="2" charset="-122"/>
              </a:rPr>
              <a:t>的</a:t>
            </a:r>
            <a:r>
              <a:rPr lang="zh-CN" altLang="en-US" sz="2800" b="1" dirty="0" smtClean="0">
                <a:solidFill>
                  <a:srgbClr val="FF0000"/>
                </a:solidFill>
                <a:latin typeface="宋体" pitchFamily="2" charset="-122"/>
                <a:ea typeface="宋体" pitchFamily="2" charset="-122"/>
              </a:rPr>
              <a:t>保守力场</a:t>
            </a:r>
            <a:r>
              <a:rPr lang="zh-CN" altLang="en-US" sz="2800" b="1" dirty="0" smtClean="0">
                <a:latin typeface="宋体" pitchFamily="2" charset="-122"/>
                <a:ea typeface="宋体" pitchFamily="2" charset="-122"/>
              </a:rPr>
              <a:t>，又由于电场线是不闭合的，即形不成涡旋的所以静电场属于</a:t>
            </a:r>
            <a:r>
              <a:rPr lang="zh-CN" altLang="en-US" sz="2800" b="1" dirty="0" smtClean="0">
                <a:solidFill>
                  <a:srgbClr val="FF0000"/>
                </a:solidFill>
                <a:latin typeface="宋体" pitchFamily="2" charset="-122"/>
                <a:ea typeface="宋体" pitchFamily="2" charset="-122"/>
              </a:rPr>
              <a:t>无旋场</a:t>
            </a:r>
            <a:r>
              <a:rPr lang="zh-CN" altLang="en-US" sz="2800" b="1" dirty="0" smtClean="0">
                <a:latin typeface="宋体" pitchFamily="2" charset="-122"/>
                <a:ea typeface="宋体" pitchFamily="2" charset="-122"/>
              </a:rPr>
              <a:t>。</a:t>
            </a:r>
            <a:endParaRPr lang="zh-CN" altLang="en-US" sz="2800" b="1" dirty="0">
              <a:latin typeface="宋体" pitchFamily="2" charset="-122"/>
              <a:ea typeface="宋体" pitchFamily="2" charset="-122"/>
            </a:endParaRPr>
          </a:p>
        </p:txBody>
      </p:sp>
      <p:grpSp>
        <p:nvGrpSpPr>
          <p:cNvPr id="6" name="组合 5"/>
          <p:cNvGrpSpPr/>
          <p:nvPr/>
        </p:nvGrpSpPr>
        <p:grpSpPr>
          <a:xfrm>
            <a:off x="539552" y="3665781"/>
            <a:ext cx="8280919" cy="2865903"/>
            <a:chOff x="539552" y="3992097"/>
            <a:chExt cx="8280919" cy="2865903"/>
          </a:xfrm>
        </p:grpSpPr>
        <p:pic>
          <p:nvPicPr>
            <p:cNvPr id="460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553" y="4016683"/>
              <a:ext cx="2317095" cy="1500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539552" y="5657671"/>
              <a:ext cx="2160240" cy="1200329"/>
            </a:xfrm>
            <a:prstGeom prst="rect">
              <a:avLst/>
            </a:prstGeom>
            <a:noFill/>
          </p:spPr>
          <p:txBody>
            <a:bodyPr wrap="square" rtlCol="0">
              <a:spAutoFit/>
            </a:bodyPr>
            <a:lstStyle/>
            <a:p>
              <a:r>
                <a:rPr lang="zh-CN" altLang="en-US" b="1" dirty="0" smtClean="0"/>
                <a:t>正电荷发出的电场线犹如泉眼，或如淋浴的喷头喷出来的水向四周发散</a:t>
              </a:r>
              <a:endParaRPr lang="zh-CN" altLang="en-US" b="1" dirty="0"/>
            </a:p>
          </p:txBody>
        </p:sp>
        <p:pic>
          <p:nvPicPr>
            <p:cNvPr id="4608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5856" y="4028480"/>
              <a:ext cx="2288132" cy="1488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3203848" y="5805264"/>
              <a:ext cx="2360140" cy="923330"/>
            </a:xfrm>
            <a:prstGeom prst="rect">
              <a:avLst/>
            </a:prstGeom>
            <a:noFill/>
          </p:spPr>
          <p:txBody>
            <a:bodyPr wrap="square" rtlCol="0">
              <a:spAutoFit/>
            </a:bodyPr>
            <a:lstStyle/>
            <a:p>
              <a:r>
                <a:rPr lang="zh-CN" altLang="en-US" b="1" dirty="0" smtClean="0"/>
                <a:t>负电荷发出的电场线犹如洗手池的水沿径向向下水口汇聚</a:t>
              </a:r>
              <a:endParaRPr lang="zh-CN" altLang="en-US" b="1" dirty="0"/>
            </a:p>
          </p:txBody>
        </p:sp>
        <p:pic>
          <p:nvPicPr>
            <p:cNvPr id="4608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2160" y="3992097"/>
              <a:ext cx="2128586" cy="142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5991018" y="5528265"/>
              <a:ext cx="2829453" cy="1200329"/>
            </a:xfrm>
            <a:prstGeom prst="rect">
              <a:avLst/>
            </a:prstGeom>
            <a:noFill/>
          </p:spPr>
          <p:txBody>
            <a:bodyPr wrap="square" rtlCol="0">
              <a:spAutoFit/>
            </a:bodyPr>
            <a:lstStyle/>
            <a:p>
              <a:r>
                <a:rPr lang="zh-CN" altLang="en-US" b="1" dirty="0" smtClean="0"/>
                <a:t>这一类矢量场犹如河流中的漩涡，或像这里的水流一样在打转，形成一圈一圈闭合的场线，</a:t>
              </a:r>
              <a:r>
                <a:rPr lang="zh-CN" altLang="en-US" b="1" dirty="0" smtClean="0">
                  <a:solidFill>
                    <a:srgbClr val="FF0000"/>
                  </a:solidFill>
                </a:rPr>
                <a:t>有旋场</a:t>
              </a:r>
              <a:endParaRPr lang="zh-CN" altLang="en-US" b="1" dirty="0">
                <a:solidFill>
                  <a:srgbClr val="FF0000"/>
                </a:solidFill>
              </a:endParaRPr>
            </a:p>
          </p:txBody>
        </p:sp>
      </p:grpSp>
    </p:spTree>
    <p:extLst>
      <p:ext uri="{BB962C8B-B14F-4D97-AF65-F5344CB8AC3E}">
        <p14:creationId xmlns:p14="http://schemas.microsoft.com/office/powerpoint/2010/main" val="12923380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11560" y="260648"/>
            <a:ext cx="2016224" cy="523220"/>
          </a:xfrm>
          <a:prstGeom prst="rect">
            <a:avLst/>
          </a:prstGeom>
          <a:noFill/>
        </p:spPr>
        <p:txBody>
          <a:bodyPr wrap="square" rtlCol="0">
            <a:spAutoFit/>
          </a:bodyPr>
          <a:lstStyle/>
          <a:p>
            <a:r>
              <a:rPr lang="zh-CN" altLang="en-US" sz="2800" b="1" smtClean="0">
                <a:solidFill>
                  <a:srgbClr val="0000FF"/>
                </a:solidFill>
              </a:rPr>
              <a:t>思考题：</a:t>
            </a:r>
            <a:endParaRPr lang="zh-CN" altLang="en-US" sz="2800" b="1">
              <a:solidFill>
                <a:srgbClr val="0000FF"/>
              </a:solidFill>
            </a:endParaRPr>
          </a:p>
        </p:txBody>
      </p:sp>
      <p:sp>
        <p:nvSpPr>
          <p:cNvPr id="4" name="TextBox 3"/>
          <p:cNvSpPr txBox="1"/>
          <p:nvPr/>
        </p:nvSpPr>
        <p:spPr>
          <a:xfrm>
            <a:off x="790474" y="926228"/>
            <a:ext cx="6840760" cy="523220"/>
          </a:xfrm>
          <a:prstGeom prst="rect">
            <a:avLst/>
          </a:prstGeom>
          <a:noFill/>
        </p:spPr>
        <p:txBody>
          <a:bodyPr wrap="square" rtlCol="0">
            <a:spAutoFit/>
          </a:bodyPr>
          <a:lstStyle/>
          <a:p>
            <a:r>
              <a:rPr lang="zh-CN" altLang="en-US" sz="2800" b="1" dirty="0" smtClean="0"/>
              <a:t>如图电场线表示的电场是静电场吗？</a:t>
            </a:r>
            <a:endParaRPr lang="zh-CN" altLang="en-US" sz="2800" b="1" dirty="0"/>
          </a:p>
        </p:txBody>
      </p:sp>
      <p:grpSp>
        <p:nvGrpSpPr>
          <p:cNvPr id="14" name="组合 13"/>
          <p:cNvGrpSpPr/>
          <p:nvPr/>
        </p:nvGrpSpPr>
        <p:grpSpPr>
          <a:xfrm>
            <a:off x="763010" y="2204864"/>
            <a:ext cx="3304934" cy="1728192"/>
            <a:chOff x="1619672" y="2060848"/>
            <a:chExt cx="3304934" cy="1728192"/>
          </a:xfrm>
        </p:grpSpPr>
        <p:cxnSp>
          <p:nvCxnSpPr>
            <p:cNvPr id="6" name="直接箭头连接符 5"/>
            <p:cNvCxnSpPr/>
            <p:nvPr/>
          </p:nvCxnSpPr>
          <p:spPr>
            <a:xfrm>
              <a:off x="1619672" y="2060848"/>
              <a:ext cx="2736304"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a:off x="1619672" y="2348880"/>
              <a:ext cx="2736304"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1619672" y="2636912"/>
              <a:ext cx="2736304"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a:off x="1619672" y="3212976"/>
              <a:ext cx="2736304"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267744" y="3419708"/>
              <a:ext cx="936104" cy="369332"/>
            </a:xfrm>
            <a:prstGeom prst="rect">
              <a:avLst/>
            </a:prstGeom>
            <a:noFill/>
          </p:spPr>
          <p:txBody>
            <a:bodyPr wrap="square" rtlCol="0">
              <a:spAutoFit/>
            </a:bodyPr>
            <a:lstStyle/>
            <a:p>
              <a:r>
                <a:rPr lang="zh-CN" altLang="en-US" b="1" smtClean="0">
                  <a:solidFill>
                    <a:srgbClr val="0000FF"/>
                  </a:solidFill>
                </a:rPr>
                <a:t>电场线</a:t>
              </a:r>
              <a:endParaRPr lang="zh-CN" altLang="en-US" b="1">
                <a:solidFill>
                  <a:srgbClr val="0000FF"/>
                </a:solidFill>
              </a:endParaRPr>
            </a:p>
          </p:txBody>
        </p:sp>
        <p:graphicFrame>
          <p:nvGraphicFramePr>
            <p:cNvPr id="13" name="对象 12"/>
            <p:cNvGraphicFramePr>
              <a:graphicFrameLocks noChangeAspect="1"/>
            </p:cNvGraphicFramePr>
            <p:nvPr>
              <p:extLst>
                <p:ext uri="{D42A27DB-BD31-4B8C-83A1-F6EECF244321}">
                  <p14:modId xmlns:p14="http://schemas.microsoft.com/office/powerpoint/2010/main" val="2444952642"/>
                </p:ext>
              </p:extLst>
            </p:nvPr>
          </p:nvGraphicFramePr>
          <p:xfrm>
            <a:off x="4644008" y="2367464"/>
            <a:ext cx="280598" cy="350748"/>
          </p:xfrm>
          <a:graphic>
            <a:graphicData uri="http://schemas.openxmlformats.org/presentationml/2006/ole">
              <mc:AlternateContent xmlns:mc="http://schemas.openxmlformats.org/markup-compatibility/2006">
                <mc:Choice xmlns:v="urn:schemas-microsoft-com:vml" Requires="v">
                  <p:oleObj spid="_x0000_s56616" name="Equation" r:id="rId3" imgW="152280" imgH="190440" progId="Equation.DSMT4">
                    <p:embed/>
                  </p:oleObj>
                </mc:Choice>
                <mc:Fallback>
                  <p:oleObj name="Equation" r:id="rId3" imgW="152280" imgH="190440" progId="Equation.DSMT4">
                    <p:embed/>
                    <p:pic>
                      <p:nvPicPr>
                        <p:cNvPr id="0" name=""/>
                        <p:cNvPicPr/>
                        <p:nvPr/>
                      </p:nvPicPr>
                      <p:blipFill>
                        <a:blip r:embed="rId4"/>
                        <a:stretch>
                          <a:fillRect/>
                        </a:stretch>
                      </p:blipFill>
                      <p:spPr>
                        <a:xfrm>
                          <a:off x="4644008" y="2367464"/>
                          <a:ext cx="280598" cy="350748"/>
                        </a:xfrm>
                        <a:prstGeom prst="rect">
                          <a:avLst/>
                        </a:prstGeom>
                      </p:spPr>
                    </p:pic>
                  </p:oleObj>
                </mc:Fallback>
              </mc:AlternateContent>
            </a:graphicData>
          </a:graphic>
        </p:graphicFrame>
      </p:grpSp>
      <p:grpSp>
        <p:nvGrpSpPr>
          <p:cNvPr id="29" name="组合 28"/>
          <p:cNvGrpSpPr/>
          <p:nvPr/>
        </p:nvGrpSpPr>
        <p:grpSpPr>
          <a:xfrm>
            <a:off x="4860032" y="2060258"/>
            <a:ext cx="3456384" cy="1872798"/>
            <a:chOff x="1632258" y="4180438"/>
            <a:chExt cx="3304934" cy="1728192"/>
          </a:xfrm>
        </p:grpSpPr>
        <p:grpSp>
          <p:nvGrpSpPr>
            <p:cNvPr id="15" name="组合 14"/>
            <p:cNvGrpSpPr/>
            <p:nvPr/>
          </p:nvGrpSpPr>
          <p:grpSpPr>
            <a:xfrm>
              <a:off x="1632258" y="4180438"/>
              <a:ext cx="3304934" cy="1728192"/>
              <a:chOff x="1619672" y="2060848"/>
              <a:chExt cx="3304934" cy="1728192"/>
            </a:xfrm>
          </p:grpSpPr>
          <p:cxnSp>
            <p:nvCxnSpPr>
              <p:cNvPr id="16" name="直接箭头连接符 15"/>
              <p:cNvCxnSpPr/>
              <p:nvPr/>
            </p:nvCxnSpPr>
            <p:spPr>
              <a:xfrm>
                <a:off x="1619672" y="2060848"/>
                <a:ext cx="2736304"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1619672" y="2348880"/>
                <a:ext cx="2736304"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1619672" y="2636912"/>
                <a:ext cx="2736304"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1619672" y="3212976"/>
                <a:ext cx="2736304"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267744" y="3419708"/>
                <a:ext cx="936104" cy="369332"/>
              </a:xfrm>
              <a:prstGeom prst="rect">
                <a:avLst/>
              </a:prstGeom>
              <a:noFill/>
            </p:spPr>
            <p:txBody>
              <a:bodyPr wrap="square" rtlCol="0">
                <a:spAutoFit/>
              </a:bodyPr>
              <a:lstStyle/>
              <a:p>
                <a:r>
                  <a:rPr lang="zh-CN" altLang="en-US" b="1" smtClean="0">
                    <a:solidFill>
                      <a:srgbClr val="0000FF"/>
                    </a:solidFill>
                  </a:rPr>
                  <a:t>电场线</a:t>
                </a:r>
                <a:endParaRPr lang="zh-CN" altLang="en-US" b="1">
                  <a:solidFill>
                    <a:srgbClr val="0000FF"/>
                  </a:solidFill>
                </a:endParaRPr>
              </a:p>
            </p:txBody>
          </p:sp>
          <p:graphicFrame>
            <p:nvGraphicFramePr>
              <p:cNvPr id="21" name="对象 20"/>
              <p:cNvGraphicFramePr>
                <a:graphicFrameLocks noChangeAspect="1"/>
              </p:cNvGraphicFramePr>
              <p:nvPr>
                <p:extLst>
                  <p:ext uri="{D42A27DB-BD31-4B8C-83A1-F6EECF244321}">
                    <p14:modId xmlns:p14="http://schemas.microsoft.com/office/powerpoint/2010/main" val="3074205483"/>
                  </p:ext>
                </p:extLst>
              </p:nvPr>
            </p:nvGraphicFramePr>
            <p:xfrm>
              <a:off x="4644008" y="2367464"/>
              <a:ext cx="280598" cy="350748"/>
            </p:xfrm>
            <a:graphic>
              <a:graphicData uri="http://schemas.openxmlformats.org/presentationml/2006/ole">
                <mc:AlternateContent xmlns:mc="http://schemas.openxmlformats.org/markup-compatibility/2006">
                  <mc:Choice xmlns:v="urn:schemas-microsoft-com:vml" Requires="v">
                    <p:oleObj spid="_x0000_s56617" name="Equation" r:id="rId5" imgW="152280" imgH="190440" progId="Equation.DSMT4">
                      <p:embed/>
                    </p:oleObj>
                  </mc:Choice>
                  <mc:Fallback>
                    <p:oleObj name="Equation" r:id="rId5" imgW="152280" imgH="190440" progId="Equation.DSMT4">
                      <p:embed/>
                      <p:pic>
                        <p:nvPicPr>
                          <p:cNvPr id="0" name=""/>
                          <p:cNvPicPr/>
                          <p:nvPr/>
                        </p:nvPicPr>
                        <p:blipFill>
                          <a:blip r:embed="rId4"/>
                          <a:stretch>
                            <a:fillRect/>
                          </a:stretch>
                        </p:blipFill>
                        <p:spPr>
                          <a:xfrm>
                            <a:off x="4644008" y="2367464"/>
                            <a:ext cx="280598" cy="350748"/>
                          </a:xfrm>
                          <a:prstGeom prst="rect">
                            <a:avLst/>
                          </a:prstGeom>
                        </p:spPr>
                      </p:pic>
                    </p:oleObj>
                  </mc:Fallback>
                </mc:AlternateContent>
              </a:graphicData>
            </a:graphic>
          </p:graphicFrame>
        </p:grpSp>
        <p:grpSp>
          <p:nvGrpSpPr>
            <p:cNvPr id="28" name="组合 27"/>
            <p:cNvGrpSpPr/>
            <p:nvPr/>
          </p:nvGrpSpPr>
          <p:grpSpPr>
            <a:xfrm>
              <a:off x="2280330" y="4468470"/>
              <a:ext cx="1170062" cy="328683"/>
              <a:chOff x="5922218" y="4756502"/>
              <a:chExt cx="1170062" cy="328683"/>
            </a:xfrm>
          </p:grpSpPr>
          <p:cxnSp>
            <p:nvCxnSpPr>
              <p:cNvPr id="23" name="直接箭头连接符 22"/>
              <p:cNvCxnSpPr/>
              <p:nvPr/>
            </p:nvCxnSpPr>
            <p:spPr>
              <a:xfrm>
                <a:off x="5940152" y="4756502"/>
                <a:ext cx="1152128"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rot="10800000">
                <a:off x="5922218" y="5085184"/>
                <a:ext cx="1152128"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7092280" y="4756502"/>
                <a:ext cx="0" cy="32868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5951119" y="4756503"/>
                <a:ext cx="0" cy="32868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graphicFrame>
        <p:nvGraphicFramePr>
          <p:cNvPr id="30" name="Object 13"/>
          <p:cNvGraphicFramePr>
            <a:graphicFrameLocks noChangeAspect="1"/>
          </p:cNvGraphicFramePr>
          <p:nvPr>
            <p:extLst>
              <p:ext uri="{D42A27DB-BD31-4B8C-83A1-F6EECF244321}">
                <p14:modId xmlns:p14="http://schemas.microsoft.com/office/powerpoint/2010/main" val="802108070"/>
              </p:ext>
            </p:extLst>
          </p:nvPr>
        </p:nvGraphicFramePr>
        <p:xfrm>
          <a:off x="5260659" y="4293096"/>
          <a:ext cx="2367098" cy="771549"/>
        </p:xfrm>
        <a:graphic>
          <a:graphicData uri="http://schemas.openxmlformats.org/presentationml/2006/ole">
            <mc:AlternateContent xmlns:mc="http://schemas.openxmlformats.org/markup-compatibility/2006">
              <mc:Choice xmlns:v="urn:schemas-microsoft-com:vml" Requires="v">
                <p:oleObj spid="_x0000_s56618" name="Equation" r:id="rId6" imgW="799920" imgH="304560" progId="Equation.DSMT4">
                  <p:embed/>
                </p:oleObj>
              </mc:Choice>
              <mc:Fallback>
                <p:oleObj name="Equation" r:id="rId6" imgW="799920" imgH="304560" progId="Equation.DSMT4">
                  <p:embed/>
                  <p:pic>
                    <p:nvPicPr>
                      <p:cNvPr id="0" name=""/>
                      <p:cNvPicPr>
                        <a:picLocks noChangeAspect="1" noChangeArrowheads="1"/>
                      </p:cNvPicPr>
                      <p:nvPr/>
                    </p:nvPicPr>
                    <p:blipFill>
                      <a:blip r:embed="rId7"/>
                      <a:srcRect/>
                      <a:stretch>
                        <a:fillRect/>
                      </a:stretch>
                    </p:blipFill>
                    <p:spPr bwMode="auto">
                      <a:xfrm>
                        <a:off x="5260659" y="4293096"/>
                        <a:ext cx="2367098" cy="771549"/>
                      </a:xfrm>
                      <a:prstGeom prst="rect">
                        <a:avLst/>
                      </a:prstGeom>
                      <a:noFill/>
                      <a:ln w="57150" cmpd="thinThick">
                        <a:noFill/>
                        <a:miter lim="800000"/>
                        <a:headEnd/>
                        <a:tailEnd/>
                      </a:ln>
                      <a:effectLst/>
                      <a:extLst/>
                    </p:spPr>
                  </p:pic>
                </p:oleObj>
              </mc:Fallback>
            </mc:AlternateContent>
          </a:graphicData>
        </a:graphic>
      </p:graphicFrame>
      <p:sp>
        <p:nvSpPr>
          <p:cNvPr id="31" name="TextBox 30"/>
          <p:cNvSpPr txBox="1"/>
          <p:nvPr/>
        </p:nvSpPr>
        <p:spPr>
          <a:xfrm>
            <a:off x="1074118" y="5300682"/>
            <a:ext cx="5604048" cy="523220"/>
          </a:xfrm>
          <a:prstGeom prst="rect">
            <a:avLst/>
          </a:prstGeom>
          <a:noFill/>
        </p:spPr>
        <p:txBody>
          <a:bodyPr wrap="square" rtlCol="0">
            <a:spAutoFit/>
          </a:bodyPr>
          <a:lstStyle/>
          <a:p>
            <a:r>
              <a:rPr lang="zh-CN" altLang="en-US" sz="2800" b="1" smtClean="0"/>
              <a:t>因环流不为零，所以不是静电场。</a:t>
            </a:r>
            <a:endParaRPr lang="zh-CN" altLang="en-US" sz="2800" b="1"/>
          </a:p>
        </p:txBody>
      </p:sp>
    </p:spTree>
    <p:extLst>
      <p:ext uri="{BB962C8B-B14F-4D97-AF65-F5344CB8AC3E}">
        <p14:creationId xmlns:p14="http://schemas.microsoft.com/office/powerpoint/2010/main" val="31290868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79512" y="476672"/>
            <a:ext cx="9212778" cy="584775"/>
          </a:xfrm>
          <a:prstGeom prst="rect">
            <a:avLst/>
          </a:prstGeom>
        </p:spPr>
        <p:txBody>
          <a:bodyPr wrap="none">
            <a:spAutoFit/>
          </a:bodyPr>
          <a:lstStyle/>
          <a:p>
            <a:pPr lvl="0" defTabSz="762000">
              <a:spcBef>
                <a:spcPts val="1900"/>
              </a:spcBef>
              <a:defRPr sz="1800"/>
            </a:pPr>
            <a:r>
              <a:rPr lang="en-US" altLang="zh-CN" sz="3200" b="1" dirty="0" smtClean="0">
                <a:solidFill>
                  <a:srgbClr val="0000FF"/>
                </a:solidFill>
                <a:latin typeface="宋体" panose="02010600030101010101" pitchFamily="2" charset="-122"/>
                <a:ea typeface="宋体" panose="02010600030101010101" pitchFamily="2" charset="-122"/>
                <a:cs typeface="SimHei"/>
                <a:sym typeface="SimHei"/>
              </a:rPr>
              <a:t>§17.1  </a:t>
            </a:r>
            <a:r>
              <a:rPr lang="zh-CN" altLang="en-US" sz="3200" b="1" dirty="0">
                <a:solidFill>
                  <a:srgbClr val="0000FF"/>
                </a:solidFill>
                <a:latin typeface="宋体" panose="02010600030101010101" pitchFamily="2" charset="-122"/>
                <a:ea typeface="宋体" panose="02010600030101010101" pitchFamily="2" charset="-122"/>
                <a:cs typeface="SimHei"/>
                <a:sym typeface="SimHei"/>
              </a:rPr>
              <a:t>电势</a:t>
            </a:r>
            <a:r>
              <a:rPr lang="zh-CN" altLang="en-US" sz="3200" b="1" dirty="0" smtClean="0">
                <a:solidFill>
                  <a:srgbClr val="0000FF"/>
                </a:solidFill>
                <a:latin typeface="宋体" panose="02010600030101010101" pitchFamily="2" charset="-122"/>
                <a:ea typeface="宋体" panose="02010600030101010101" pitchFamily="2" charset="-122"/>
                <a:cs typeface="SimHei"/>
                <a:sym typeface="SimHei"/>
              </a:rPr>
              <a:t>能（</a:t>
            </a:r>
            <a:r>
              <a:rPr lang="en-US" altLang="zh-CN" sz="3200" b="1" dirty="0" smtClean="0">
                <a:solidFill>
                  <a:srgbClr val="0000FF"/>
                </a:solidFill>
                <a:latin typeface="宋体" panose="02010600030101010101" pitchFamily="2" charset="-122"/>
                <a:ea typeface="宋体" panose="02010600030101010101" pitchFamily="2" charset="-122"/>
                <a:cs typeface="SimHei"/>
                <a:sym typeface="SimHei"/>
              </a:rPr>
              <a:t>Electric potential energy</a:t>
            </a:r>
            <a:r>
              <a:rPr lang="zh-CN" altLang="en-US" sz="3200" b="1" dirty="0" smtClean="0">
                <a:solidFill>
                  <a:srgbClr val="0000FF"/>
                </a:solidFill>
                <a:latin typeface="宋体" panose="02010600030101010101" pitchFamily="2" charset="-122"/>
                <a:ea typeface="宋体" panose="02010600030101010101" pitchFamily="2" charset="-122"/>
                <a:cs typeface="SimHei"/>
                <a:sym typeface="SimHei"/>
              </a:rPr>
              <a:t>）</a:t>
            </a:r>
            <a:endParaRPr lang="zh-CN" altLang="en-US" sz="3200" b="1" dirty="0">
              <a:solidFill>
                <a:srgbClr val="0000FF"/>
              </a:solidFill>
              <a:latin typeface="宋体" panose="02010600030101010101" pitchFamily="2" charset="-122"/>
              <a:ea typeface="宋体" panose="02010600030101010101" pitchFamily="2" charset="-122"/>
              <a:cs typeface="SimHei"/>
              <a:sym typeface="SimHei"/>
            </a:endParaRPr>
          </a:p>
        </p:txBody>
      </p:sp>
      <p:sp>
        <p:nvSpPr>
          <p:cNvPr id="4" name="TextBox 3"/>
          <p:cNvSpPr txBox="1"/>
          <p:nvPr/>
        </p:nvSpPr>
        <p:spPr>
          <a:xfrm>
            <a:off x="523496" y="1537628"/>
            <a:ext cx="5012911" cy="523220"/>
          </a:xfrm>
          <a:prstGeom prst="rect">
            <a:avLst/>
          </a:prstGeom>
          <a:noFill/>
        </p:spPr>
        <p:txBody>
          <a:bodyPr wrap="none" rtlCol="0">
            <a:spAutoFit/>
          </a:bodyPr>
          <a:lstStyle/>
          <a:p>
            <a:pPr marL="514350" indent="-514350">
              <a:buAutoNum type="arabicPeriod"/>
            </a:pPr>
            <a:r>
              <a:rPr lang="zh-CN" altLang="en-US" sz="2800" b="1" dirty="0" smtClean="0">
                <a:latin typeface="+mn-ea"/>
              </a:rPr>
              <a:t>势能：储存在场中的能量。</a:t>
            </a:r>
            <a:endParaRPr lang="en-US" altLang="zh-CN" sz="2800" b="1" dirty="0" smtClean="0">
              <a:latin typeface="+mn-ea"/>
            </a:endParaRPr>
          </a:p>
        </p:txBody>
      </p:sp>
      <p:sp>
        <p:nvSpPr>
          <p:cNvPr id="5" name="TextBox 4"/>
          <p:cNvSpPr txBox="1"/>
          <p:nvPr/>
        </p:nvSpPr>
        <p:spPr>
          <a:xfrm>
            <a:off x="523496" y="2062967"/>
            <a:ext cx="7220246" cy="637675"/>
          </a:xfrm>
          <a:prstGeom prst="rect">
            <a:avLst/>
          </a:prstGeom>
          <a:noFill/>
        </p:spPr>
        <p:txBody>
          <a:bodyPr wrap="none" rtlCol="0">
            <a:spAutoFit/>
          </a:bodyPr>
          <a:lstStyle/>
          <a:p>
            <a:pPr>
              <a:lnSpc>
                <a:spcPct val="150000"/>
              </a:lnSpc>
            </a:pPr>
            <a:r>
              <a:rPr lang="en-US" altLang="zh-CN" sz="2800" b="1" dirty="0" smtClean="0">
                <a:latin typeface="+mn-ea"/>
              </a:rPr>
              <a:t>2. </a:t>
            </a:r>
            <a:r>
              <a:rPr lang="zh-CN" altLang="en-US" sz="2800" b="1" dirty="0" smtClean="0">
                <a:latin typeface="+mn-ea"/>
              </a:rPr>
              <a:t>电势能：储存在电场中的能量。（</a:t>
            </a:r>
            <a:r>
              <a:rPr lang="zh-CN" altLang="en-US" sz="2800" b="1" dirty="0" smtClean="0">
                <a:solidFill>
                  <a:srgbClr val="FF0000"/>
                </a:solidFill>
                <a:latin typeface="黑体" pitchFamily="49" charset="-122"/>
                <a:ea typeface="黑体" pitchFamily="49" charset="-122"/>
              </a:rPr>
              <a:t>标量</a:t>
            </a:r>
            <a:r>
              <a:rPr lang="zh-CN" altLang="en-US" sz="2800" b="1" dirty="0" smtClean="0">
                <a:latin typeface="+mn-ea"/>
              </a:rPr>
              <a:t>）</a:t>
            </a:r>
            <a:endParaRPr lang="en-US" altLang="zh-CN" sz="2800" b="1" dirty="0" smtClean="0">
              <a:latin typeface="+mn-ea"/>
            </a:endParaRPr>
          </a:p>
        </p:txBody>
      </p:sp>
      <p:grpSp>
        <p:nvGrpSpPr>
          <p:cNvPr id="13" name="组合 12"/>
          <p:cNvGrpSpPr/>
          <p:nvPr/>
        </p:nvGrpSpPr>
        <p:grpSpPr>
          <a:xfrm>
            <a:off x="523496" y="2783047"/>
            <a:ext cx="5599164" cy="675263"/>
            <a:chOff x="163461" y="1890137"/>
            <a:chExt cx="5599164" cy="675263"/>
          </a:xfrm>
        </p:grpSpPr>
        <p:sp>
          <p:nvSpPr>
            <p:cNvPr id="7" name="TextBox 6"/>
            <p:cNvSpPr txBox="1"/>
            <p:nvPr/>
          </p:nvSpPr>
          <p:spPr>
            <a:xfrm>
              <a:off x="163461" y="1890137"/>
              <a:ext cx="3613490" cy="637675"/>
            </a:xfrm>
            <a:prstGeom prst="rect">
              <a:avLst/>
            </a:prstGeom>
            <a:noFill/>
          </p:spPr>
          <p:txBody>
            <a:bodyPr wrap="none" rtlCol="0">
              <a:spAutoFit/>
            </a:bodyPr>
            <a:lstStyle/>
            <a:p>
              <a:pPr>
                <a:lnSpc>
                  <a:spcPct val="150000"/>
                </a:lnSpc>
              </a:pPr>
              <a:r>
                <a:rPr lang="en-US" altLang="zh-CN" sz="2800" b="1" dirty="0" smtClean="0">
                  <a:latin typeface="+mn-ea"/>
                </a:rPr>
                <a:t>3. </a:t>
              </a:r>
              <a:r>
                <a:rPr lang="zh-CN" altLang="en-US" sz="2800" b="1" dirty="0" smtClean="0">
                  <a:latin typeface="+mn-ea"/>
                </a:rPr>
                <a:t>势能与做功的关系</a:t>
              </a:r>
              <a:endParaRPr lang="en-US" altLang="zh-CN" sz="2800" b="1" dirty="0" smtClean="0">
                <a:latin typeface="+mn-ea"/>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2202988791"/>
                </p:ext>
              </p:extLst>
            </p:nvPr>
          </p:nvGraphicFramePr>
          <p:xfrm>
            <a:off x="3887788" y="2006600"/>
            <a:ext cx="1874837" cy="558800"/>
          </p:xfrm>
          <a:graphic>
            <a:graphicData uri="http://schemas.openxmlformats.org/presentationml/2006/ole">
              <mc:AlternateContent xmlns:mc="http://schemas.openxmlformats.org/markup-compatibility/2006">
                <mc:Choice xmlns:v="urn:schemas-microsoft-com:vml" Requires="v">
                  <p:oleObj spid="_x0000_s12814" name="Equation" r:id="rId4" imgW="799920" imgH="241200" progId="Equation.DSMT4">
                    <p:embed/>
                  </p:oleObj>
                </mc:Choice>
                <mc:Fallback>
                  <p:oleObj name="Equation" r:id="rId4" imgW="799920" imgH="241200" progId="Equation.DSMT4">
                    <p:embed/>
                    <p:pic>
                      <p:nvPicPr>
                        <p:cNvPr id="0" name="Picture 1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7788" y="2006600"/>
                          <a:ext cx="1874837" cy="55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TextBox 1"/>
          <p:cNvSpPr txBox="1"/>
          <p:nvPr/>
        </p:nvSpPr>
        <p:spPr>
          <a:xfrm>
            <a:off x="2017495" y="3789040"/>
            <a:ext cx="4873450" cy="1284006"/>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pPr>
              <a:lnSpc>
                <a:spcPct val="150000"/>
              </a:lnSpc>
            </a:pPr>
            <a:r>
              <a:rPr lang="zh-CN" altLang="en-US" sz="2800" b="1" dirty="0" smtClean="0">
                <a:solidFill>
                  <a:srgbClr val="FF0000"/>
                </a:solidFill>
                <a:latin typeface="宋体" pitchFamily="2" charset="-122"/>
                <a:ea typeface="宋体" pitchFamily="2" charset="-122"/>
              </a:rPr>
              <a:t>电场力做正功，电势能减小；</a:t>
            </a:r>
            <a:endParaRPr lang="en-US" altLang="zh-CN" sz="2800" b="1" dirty="0" smtClean="0">
              <a:solidFill>
                <a:srgbClr val="FF0000"/>
              </a:solidFill>
              <a:latin typeface="宋体" pitchFamily="2" charset="-122"/>
              <a:ea typeface="宋体" pitchFamily="2" charset="-122"/>
            </a:endParaRPr>
          </a:p>
          <a:p>
            <a:pPr>
              <a:lnSpc>
                <a:spcPct val="150000"/>
              </a:lnSpc>
            </a:pPr>
            <a:r>
              <a:rPr lang="zh-CN" altLang="en-US" sz="2800" b="1" dirty="0">
                <a:solidFill>
                  <a:srgbClr val="FF0000"/>
                </a:solidFill>
                <a:latin typeface="宋体" pitchFamily="2" charset="-122"/>
                <a:ea typeface="宋体" pitchFamily="2" charset="-122"/>
              </a:rPr>
              <a:t>电场</a:t>
            </a:r>
            <a:r>
              <a:rPr lang="zh-CN" altLang="en-US" sz="2800" b="1" dirty="0" smtClean="0">
                <a:solidFill>
                  <a:srgbClr val="FF0000"/>
                </a:solidFill>
                <a:latin typeface="宋体" pitchFamily="2" charset="-122"/>
                <a:ea typeface="宋体" pitchFamily="2" charset="-122"/>
              </a:rPr>
              <a:t>力做负功，电势能增加。</a:t>
            </a:r>
            <a:endParaRPr lang="zh-CN" altLang="en-US" sz="2800" b="1" dirty="0">
              <a:solidFill>
                <a:srgbClr val="FF0000"/>
              </a:solidFill>
              <a:latin typeface="宋体" pitchFamily="2" charset="-122"/>
              <a:ea typeface="宋体" pitchFamily="2" charset="-122"/>
            </a:endParaRPr>
          </a:p>
        </p:txBody>
      </p:sp>
      <p:sp>
        <p:nvSpPr>
          <p:cNvPr id="12418" name="Rectangle 13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2420" name="Rectangle 13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8458983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613" y="451464"/>
            <a:ext cx="8449804" cy="461665"/>
          </a:xfrm>
          <a:prstGeom prst="rect">
            <a:avLst/>
          </a:prstGeom>
          <a:noFill/>
        </p:spPr>
        <p:txBody>
          <a:bodyPr wrap="square" rtlCol="0">
            <a:spAutoFit/>
          </a:bodyPr>
          <a:lstStyle/>
          <a:p>
            <a:r>
              <a:rPr lang="zh-CN" altLang="en-US" sz="2400" b="1" dirty="0" smtClean="0">
                <a:solidFill>
                  <a:srgbClr val="0000FF"/>
                </a:solidFill>
              </a:rPr>
              <a:t>电场力所做的功等于电势能增量的负值（或电势能的减少）。</a:t>
            </a:r>
            <a:endParaRPr lang="zh-CN" altLang="en-US" sz="2400" b="1" dirty="0">
              <a:solidFill>
                <a:srgbClr val="0000FF"/>
              </a:solidFill>
            </a:endParaRPr>
          </a:p>
        </p:txBody>
      </p:sp>
      <p:sp>
        <p:nvSpPr>
          <p:cNvPr id="4" name="文本框 9"/>
          <p:cNvSpPr txBox="1"/>
          <p:nvPr/>
        </p:nvSpPr>
        <p:spPr>
          <a:xfrm>
            <a:off x="703454" y="5260457"/>
            <a:ext cx="8461400" cy="975523"/>
          </a:xfrm>
          <a:prstGeom prst="rect">
            <a:avLst/>
          </a:prstGeom>
          <a:noFill/>
        </p:spPr>
        <p:txBody>
          <a:bodyPr wrap="square" rtlCol="0">
            <a:spAutoFit/>
          </a:bodyPr>
          <a:lstStyle/>
          <a:p>
            <a:pPr>
              <a:lnSpc>
                <a:spcPct val="125000"/>
              </a:lnSpc>
            </a:pPr>
            <a:r>
              <a:rPr lang="zh-CN" altLang="en-US" sz="2400" b="1" dirty="0" smtClean="0">
                <a:solidFill>
                  <a:srgbClr val="FF0000"/>
                </a:solidFill>
              </a:rPr>
              <a:t>即：电荷</a:t>
            </a:r>
            <a:r>
              <a:rPr lang="en-US" altLang="zh-CN" sz="2400" b="1" i="1" dirty="0" smtClean="0">
                <a:solidFill>
                  <a:srgbClr val="FF0000"/>
                </a:solidFill>
                <a:latin typeface="Times New Roman" panose="02020603050405020304" pitchFamily="18" charset="0"/>
                <a:cs typeface="Times New Roman" panose="02020603050405020304" pitchFamily="18" charset="0"/>
              </a:rPr>
              <a:t>q</a:t>
            </a:r>
            <a:r>
              <a:rPr lang="en-US" altLang="zh-CN" sz="2400" b="1" baseline="-25000" dirty="0" smtClean="0">
                <a:solidFill>
                  <a:srgbClr val="FF0000"/>
                </a:solidFill>
                <a:latin typeface="Times New Roman" panose="02020603050405020304" pitchFamily="18" charset="0"/>
                <a:cs typeface="Times New Roman" panose="02020603050405020304" pitchFamily="18" charset="0"/>
              </a:rPr>
              <a:t>0</a:t>
            </a:r>
            <a:r>
              <a:rPr lang="zh-CN" altLang="en-US" sz="2400" b="1" dirty="0" smtClean="0">
                <a:solidFill>
                  <a:srgbClr val="FF0000"/>
                </a:solidFill>
              </a:rPr>
              <a:t>在电场中某一点的电势能在数值上等于</a:t>
            </a:r>
            <a:r>
              <a:rPr lang="zh-CN" altLang="en-US" sz="2400" b="1" dirty="0">
                <a:solidFill>
                  <a:srgbClr val="FF0000"/>
                </a:solidFill>
              </a:rPr>
              <a:t>将</a:t>
            </a:r>
            <a:r>
              <a:rPr lang="en-US" altLang="zh-CN" sz="2400" b="1" i="1" dirty="0" smtClean="0">
                <a:solidFill>
                  <a:srgbClr val="FF0000"/>
                </a:solidFill>
                <a:latin typeface="Times New Roman" panose="02020603050405020304" pitchFamily="18" charset="0"/>
                <a:cs typeface="Times New Roman" panose="02020603050405020304" pitchFamily="18" charset="0"/>
              </a:rPr>
              <a:t>q</a:t>
            </a:r>
            <a:r>
              <a:rPr lang="en-US" altLang="zh-CN" sz="2400" b="1" baseline="-25000" dirty="0" smtClean="0">
                <a:solidFill>
                  <a:srgbClr val="FF0000"/>
                </a:solidFill>
                <a:latin typeface="Times New Roman" panose="02020603050405020304" pitchFamily="18" charset="0"/>
                <a:cs typeface="Times New Roman" panose="02020603050405020304" pitchFamily="18" charset="0"/>
              </a:rPr>
              <a:t>0</a:t>
            </a:r>
            <a:r>
              <a:rPr lang="zh-CN" altLang="en-US" sz="2400" b="1" dirty="0" smtClean="0">
                <a:solidFill>
                  <a:srgbClr val="FF0000"/>
                </a:solidFill>
              </a:rPr>
              <a:t>从该点移到无穷远处电场力所做的功。</a:t>
            </a:r>
            <a:endParaRPr lang="zh-CN" altLang="en-US" sz="2400" b="1" dirty="0">
              <a:solidFill>
                <a:srgbClr val="FF0000"/>
              </a:solidFill>
            </a:endParaRPr>
          </a:p>
        </p:txBody>
      </p:sp>
      <p:sp>
        <p:nvSpPr>
          <p:cNvPr id="5" name="文本框 11"/>
          <p:cNvSpPr txBox="1"/>
          <p:nvPr/>
        </p:nvSpPr>
        <p:spPr>
          <a:xfrm>
            <a:off x="703454" y="3486199"/>
            <a:ext cx="5725096" cy="830997"/>
          </a:xfrm>
          <a:prstGeom prst="rect">
            <a:avLst/>
          </a:prstGeom>
          <a:noFill/>
        </p:spPr>
        <p:txBody>
          <a:bodyPr wrap="square" rtlCol="0">
            <a:spAutoFit/>
          </a:bodyPr>
          <a:lstStyle/>
          <a:p>
            <a:r>
              <a:rPr lang="zh-CN" altLang="en-US" sz="2400" b="1" dirty="0" smtClean="0">
                <a:solidFill>
                  <a:srgbClr val="0000FF"/>
                </a:solidFill>
              </a:rPr>
              <a:t>若取无穷远处电势能为零，则电荷</a:t>
            </a:r>
            <a:r>
              <a:rPr lang="en-US" altLang="zh-CN" sz="2400" b="1" dirty="0" smtClean="0">
                <a:solidFill>
                  <a:srgbClr val="0000FF"/>
                </a:solidFill>
              </a:rPr>
              <a:t>q</a:t>
            </a:r>
            <a:r>
              <a:rPr lang="en-US" altLang="zh-CN" sz="2400" b="1" baseline="-25000" dirty="0" smtClean="0">
                <a:solidFill>
                  <a:srgbClr val="0000FF"/>
                </a:solidFill>
              </a:rPr>
              <a:t>0</a:t>
            </a:r>
            <a:r>
              <a:rPr lang="zh-CN" altLang="en-US" sz="2400" b="1" dirty="0" smtClean="0">
                <a:solidFill>
                  <a:srgbClr val="0000FF"/>
                </a:solidFill>
              </a:rPr>
              <a:t>在</a:t>
            </a:r>
            <a:r>
              <a:rPr lang="en-US" altLang="zh-CN" sz="2400" b="1" dirty="0" smtClean="0">
                <a:solidFill>
                  <a:srgbClr val="0000FF"/>
                </a:solidFill>
              </a:rPr>
              <a:t>a</a:t>
            </a:r>
            <a:r>
              <a:rPr lang="zh-CN" altLang="en-US" sz="2400" b="1" dirty="0" smtClean="0">
                <a:solidFill>
                  <a:srgbClr val="0000FF"/>
                </a:solidFill>
              </a:rPr>
              <a:t>点的电势能等于</a:t>
            </a:r>
            <a:endParaRPr lang="zh-CN" altLang="en-US" sz="2400" b="1" dirty="0">
              <a:solidFill>
                <a:srgbClr val="0000FF"/>
              </a:solidFill>
            </a:endParaRPr>
          </a:p>
        </p:txBody>
      </p:sp>
      <p:graphicFrame>
        <p:nvGraphicFramePr>
          <p:cNvPr id="6" name="Object 129"/>
          <p:cNvGraphicFramePr>
            <a:graphicFrameLocks noChangeAspect="1"/>
          </p:cNvGraphicFramePr>
          <p:nvPr>
            <p:extLst>
              <p:ext uri="{D42A27DB-BD31-4B8C-83A1-F6EECF244321}">
                <p14:modId xmlns:p14="http://schemas.microsoft.com/office/powerpoint/2010/main" val="3341256699"/>
              </p:ext>
            </p:extLst>
          </p:nvPr>
        </p:nvGraphicFramePr>
        <p:xfrm>
          <a:off x="1547664" y="4416936"/>
          <a:ext cx="2738474" cy="502113"/>
        </p:xfrm>
        <a:graphic>
          <a:graphicData uri="http://schemas.openxmlformats.org/presentationml/2006/ole">
            <mc:AlternateContent xmlns:mc="http://schemas.openxmlformats.org/markup-compatibility/2006">
              <mc:Choice xmlns:v="urn:schemas-microsoft-com:vml" Requires="v">
                <p:oleObj spid="_x0000_s67677" name="Equation" r:id="rId3" imgW="1244520" imgH="228600" progId="Equation.DSMT4">
                  <p:embed/>
                </p:oleObj>
              </mc:Choice>
              <mc:Fallback>
                <p:oleObj name="Equation" r:id="rId3" imgW="1244520" imgH="228600" progId="Equation.DSMT4">
                  <p:embed/>
                  <p:pic>
                    <p:nvPicPr>
                      <p:cNvPr id="0" name=""/>
                      <p:cNvPicPr>
                        <a:picLocks noChangeAspect="1" noChangeArrowheads="1"/>
                      </p:cNvPicPr>
                      <p:nvPr/>
                    </p:nvPicPr>
                    <p:blipFill>
                      <a:blip r:embed="rId4"/>
                      <a:srcRect/>
                      <a:stretch>
                        <a:fillRect/>
                      </a:stretch>
                    </p:blipFill>
                    <p:spPr bwMode="auto">
                      <a:xfrm>
                        <a:off x="1547664" y="4416936"/>
                        <a:ext cx="2738474" cy="502113"/>
                      </a:xfrm>
                      <a:prstGeom prst="rect">
                        <a:avLst/>
                      </a:prstGeom>
                      <a:noFill/>
                      <a:extLst/>
                    </p:spPr>
                  </p:pic>
                </p:oleObj>
              </mc:Fallback>
            </mc:AlternateContent>
          </a:graphicData>
        </a:graphic>
      </p:graphicFrame>
      <p:graphicFrame>
        <p:nvGraphicFramePr>
          <p:cNvPr id="7" name="Object 131"/>
          <p:cNvGraphicFramePr>
            <a:graphicFrameLocks noChangeAspect="1"/>
          </p:cNvGraphicFramePr>
          <p:nvPr>
            <p:extLst>
              <p:ext uri="{D42A27DB-BD31-4B8C-83A1-F6EECF244321}">
                <p14:modId xmlns:p14="http://schemas.microsoft.com/office/powerpoint/2010/main" val="26540383"/>
              </p:ext>
            </p:extLst>
          </p:nvPr>
        </p:nvGraphicFramePr>
        <p:xfrm>
          <a:off x="2483768" y="1519905"/>
          <a:ext cx="4200525" cy="554037"/>
        </p:xfrm>
        <a:graphic>
          <a:graphicData uri="http://schemas.openxmlformats.org/presentationml/2006/ole">
            <mc:AlternateContent xmlns:mc="http://schemas.openxmlformats.org/markup-compatibility/2006">
              <mc:Choice xmlns:v="urn:schemas-microsoft-com:vml" Requires="v">
                <p:oleObj spid="_x0000_s67678" name="Equation" r:id="rId5" imgW="2171520" imgH="228600" progId="Equation.DSMT4">
                  <p:embed/>
                </p:oleObj>
              </mc:Choice>
              <mc:Fallback>
                <p:oleObj name="Equation" r:id="rId5" imgW="2171520" imgH="228600" progId="Equation.DSMT4">
                  <p:embed/>
                  <p:pic>
                    <p:nvPicPr>
                      <p:cNvPr id="0" name=""/>
                      <p:cNvPicPr>
                        <a:picLocks noChangeAspect="1" noChangeArrowheads="1"/>
                      </p:cNvPicPr>
                      <p:nvPr/>
                    </p:nvPicPr>
                    <p:blipFill>
                      <a:blip r:embed="rId6"/>
                      <a:srcRect/>
                      <a:stretch>
                        <a:fillRect/>
                      </a:stretch>
                    </p:blipFill>
                    <p:spPr bwMode="auto">
                      <a:xfrm>
                        <a:off x="2483768" y="1519905"/>
                        <a:ext cx="4200525" cy="554037"/>
                      </a:xfrm>
                      <a:prstGeom prst="rect">
                        <a:avLst/>
                      </a:prstGeom>
                      <a:noFill/>
                      <a:extLst/>
                    </p:spPr>
                  </p:pic>
                </p:oleObj>
              </mc:Fallback>
            </mc:AlternateContent>
          </a:graphicData>
        </a:graphic>
      </p:graphicFrame>
      <p:sp>
        <p:nvSpPr>
          <p:cNvPr id="8" name="TextBox 7"/>
          <p:cNvSpPr txBox="1"/>
          <p:nvPr/>
        </p:nvSpPr>
        <p:spPr>
          <a:xfrm>
            <a:off x="527094" y="1612277"/>
            <a:ext cx="1723549" cy="461665"/>
          </a:xfrm>
          <a:prstGeom prst="rect">
            <a:avLst/>
          </a:prstGeom>
          <a:noFill/>
        </p:spPr>
        <p:txBody>
          <a:bodyPr wrap="none" rtlCol="0">
            <a:spAutoFit/>
          </a:bodyPr>
          <a:lstStyle/>
          <a:p>
            <a:r>
              <a:rPr lang="zh-CN" altLang="en-US" sz="2400" b="1" dirty="0" smtClean="0"/>
              <a:t>或表示为：</a:t>
            </a:r>
            <a:endParaRPr lang="zh-CN" altLang="en-US" sz="2400" b="1" dirty="0"/>
          </a:p>
        </p:txBody>
      </p:sp>
      <mc:AlternateContent xmlns:mc="http://schemas.openxmlformats.org/markup-compatibility/2006" xmlns:a14="http://schemas.microsoft.com/office/drawing/2010/main">
        <mc:Choice Requires="a14">
          <p:sp>
            <p:nvSpPr>
              <p:cNvPr id="9" name="矩形 8"/>
              <p:cNvSpPr/>
              <p:nvPr/>
            </p:nvSpPr>
            <p:spPr>
              <a:xfrm>
                <a:off x="1670156" y="2227860"/>
                <a:ext cx="4407268" cy="93718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sz="2400" b="1" i="1" smtClean="0">
                              <a:latin typeface="Cambria Math" panose="02040503050406030204" pitchFamily="18" charset="0"/>
                            </a:rPr>
                          </m:ctrlPr>
                        </m:sSubPr>
                        <m:e>
                          <m:sSub>
                            <m:sSubPr>
                              <m:ctrlPr>
                                <a:rPr lang="en-US" altLang="zh-CN" sz="2400" b="1" i="1" smtClean="0">
                                  <a:latin typeface="Cambria Math" panose="02040503050406030204" pitchFamily="18" charset="0"/>
                                </a:rPr>
                              </m:ctrlPr>
                            </m:sSubPr>
                            <m:e>
                              <m:r>
                                <a:rPr lang="en-US" altLang="zh-CN" sz="2400" b="1" i="1" smtClean="0">
                                  <a:latin typeface="Cambria Math"/>
                                </a:rPr>
                                <m:t>𝑾</m:t>
                              </m:r>
                            </m:e>
                            <m:sub>
                              <m:r>
                                <a:rPr lang="en-US" altLang="zh-CN" sz="2400" b="1" i="1" smtClean="0">
                                  <a:latin typeface="Cambria Math"/>
                                </a:rPr>
                                <m:t>𝒂𝒃</m:t>
                              </m:r>
                            </m:sub>
                          </m:sSub>
                          <m:r>
                            <a:rPr lang="en-US" altLang="zh-CN" sz="2400" b="1" i="1" smtClean="0">
                              <a:latin typeface="Cambria Math"/>
                            </a:rPr>
                            <m:t>=</m:t>
                          </m:r>
                          <m:r>
                            <a:rPr lang="en-US" altLang="zh-CN" sz="2400" b="1" i="1">
                              <a:latin typeface="Cambria Math"/>
                            </a:rPr>
                            <m:t>𝑼</m:t>
                          </m:r>
                        </m:e>
                        <m:sub>
                          <m:r>
                            <a:rPr lang="en-US" altLang="zh-CN" sz="2400" b="1" i="1" smtClean="0">
                              <a:latin typeface="Cambria Math"/>
                            </a:rPr>
                            <m:t>𝒂</m:t>
                          </m:r>
                        </m:sub>
                      </m:sSub>
                      <m:r>
                        <a:rPr lang="en-US" altLang="zh-CN" sz="2400" b="1" i="1">
                          <a:latin typeface="Cambria Math"/>
                        </a:rPr>
                        <m:t>−</m:t>
                      </m:r>
                      <m:sSub>
                        <m:sSubPr>
                          <m:ctrlPr>
                            <a:rPr lang="zh-CN" altLang="zh-CN" sz="2400" b="1" i="1" smtClean="0">
                              <a:latin typeface="Cambria Math" panose="02040503050406030204" pitchFamily="18" charset="0"/>
                            </a:rPr>
                          </m:ctrlPr>
                        </m:sSubPr>
                        <m:e>
                          <m:r>
                            <a:rPr lang="en-US" altLang="zh-CN" sz="2400" b="1" i="1">
                              <a:latin typeface="Cambria Math"/>
                            </a:rPr>
                            <m:t>𝑼</m:t>
                          </m:r>
                        </m:e>
                        <m:sub>
                          <m:r>
                            <a:rPr lang="en-US" altLang="zh-CN" sz="2400" b="1" i="1" smtClean="0">
                              <a:latin typeface="Cambria Math"/>
                            </a:rPr>
                            <m:t>𝒃</m:t>
                          </m:r>
                        </m:sub>
                      </m:sSub>
                      <m:r>
                        <a:rPr lang="en-US" altLang="zh-CN" sz="2400" b="1" i="1">
                          <a:latin typeface="Cambria Math"/>
                        </a:rPr>
                        <m:t>=</m:t>
                      </m:r>
                      <m:sSub>
                        <m:sSubPr>
                          <m:ctrlPr>
                            <a:rPr lang="zh-CN" altLang="zh-CN" sz="2400" b="1" i="1">
                              <a:latin typeface="Cambria Math" panose="02040503050406030204" pitchFamily="18" charset="0"/>
                            </a:rPr>
                          </m:ctrlPr>
                        </m:sSubPr>
                        <m:e>
                          <m:r>
                            <a:rPr lang="en-US" altLang="zh-CN" sz="2400" b="1" i="1">
                              <a:latin typeface="Cambria Math"/>
                            </a:rPr>
                            <m:t>𝒒</m:t>
                          </m:r>
                        </m:e>
                        <m:sub>
                          <m:r>
                            <a:rPr lang="en-US" altLang="zh-CN" sz="2400" b="1" i="1">
                              <a:latin typeface="Cambria Math"/>
                            </a:rPr>
                            <m:t>𝟎</m:t>
                          </m:r>
                        </m:sub>
                      </m:sSub>
                      <m:nary>
                        <m:naryPr>
                          <m:limLoc m:val="subSup"/>
                          <m:ctrlPr>
                            <a:rPr lang="zh-CN" altLang="zh-CN" sz="2400" b="1" i="1">
                              <a:latin typeface="Cambria Math" panose="02040503050406030204" pitchFamily="18" charset="0"/>
                            </a:rPr>
                          </m:ctrlPr>
                        </m:naryPr>
                        <m:sub>
                          <m:r>
                            <a:rPr lang="en-US" altLang="zh-CN" sz="2400" b="1" i="1" smtClean="0">
                              <a:latin typeface="Cambria Math"/>
                            </a:rPr>
                            <m:t>𝒂</m:t>
                          </m:r>
                        </m:sub>
                        <m:sup>
                          <m:r>
                            <a:rPr lang="en-US" altLang="zh-CN" sz="2400" b="1" i="1" smtClean="0">
                              <a:latin typeface="Cambria Math"/>
                            </a:rPr>
                            <m:t>𝒃</m:t>
                          </m:r>
                        </m:sup>
                        <m:e>
                          <m:acc>
                            <m:accPr>
                              <m:chr m:val="⃑"/>
                              <m:ctrlPr>
                                <a:rPr lang="en-US" altLang="zh-CN" sz="2400" b="1" i="1" smtClean="0">
                                  <a:latin typeface="Cambria Math" panose="02040503050406030204" pitchFamily="18" charset="0"/>
                                </a:rPr>
                              </m:ctrlPr>
                            </m:accPr>
                            <m:e>
                              <m:r>
                                <a:rPr lang="en-US" altLang="zh-CN" sz="2400" b="1" i="1" smtClean="0">
                                  <a:latin typeface="Cambria Math"/>
                                </a:rPr>
                                <m:t>𝑬</m:t>
                              </m:r>
                            </m:e>
                          </m:acc>
                          <m:r>
                            <a:rPr lang="en-US" altLang="zh-CN" sz="2400" b="1" i="1" smtClean="0">
                              <a:latin typeface="Cambria Math"/>
                              <a:ea typeface="Cambria Math"/>
                            </a:rPr>
                            <m:t>∙</m:t>
                          </m:r>
                          <m:r>
                            <a:rPr lang="en-US" altLang="zh-CN" sz="2400" b="1" i="1">
                              <a:latin typeface="Cambria Math"/>
                            </a:rPr>
                            <m:t>𝒅</m:t>
                          </m:r>
                          <m:acc>
                            <m:accPr>
                              <m:chr m:val="⃑"/>
                              <m:ctrlPr>
                                <a:rPr lang="en-US" altLang="zh-CN" sz="2400" b="1" i="1" smtClean="0">
                                  <a:latin typeface="Cambria Math" panose="02040503050406030204" pitchFamily="18" charset="0"/>
                                </a:rPr>
                              </m:ctrlPr>
                            </m:accPr>
                            <m:e>
                              <m:r>
                                <a:rPr lang="en-US" altLang="zh-CN" sz="2400" b="1" i="1" smtClean="0">
                                  <a:latin typeface="Cambria Math"/>
                                </a:rPr>
                                <m:t>𝒍</m:t>
                              </m:r>
                            </m:e>
                          </m:acc>
                        </m:e>
                      </m:nary>
                    </m:oMath>
                  </m:oMathPara>
                </a14:m>
                <a:endParaRPr lang="zh-CN" altLang="en-US" sz="2400" b="1" dirty="0"/>
              </a:p>
            </p:txBody>
          </p:sp>
        </mc:Choice>
        <mc:Fallback xmlns="">
          <p:sp>
            <p:nvSpPr>
              <p:cNvPr id="9" name="矩形 8"/>
              <p:cNvSpPr>
                <a:spLocks noRot="1" noChangeAspect="1" noMove="1" noResize="1" noEditPoints="1" noAdjustHandles="1" noChangeArrowheads="1" noChangeShapeType="1" noTextEdit="1"/>
              </p:cNvSpPr>
              <p:nvPr/>
            </p:nvSpPr>
            <p:spPr>
              <a:xfrm>
                <a:off x="1670156" y="2227860"/>
                <a:ext cx="4407268" cy="937180"/>
              </a:xfrm>
              <a:prstGeom prst="rect">
                <a:avLst/>
              </a:prstGeom>
              <a:blipFill rotWithShape="1">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4770029" y="4077072"/>
                <a:ext cx="3317041" cy="89088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sz="2400" b="1" i="1" smtClean="0">
                              <a:latin typeface="Cambria Math" panose="02040503050406030204" pitchFamily="18" charset="0"/>
                            </a:rPr>
                          </m:ctrlPr>
                        </m:sSubPr>
                        <m:e>
                          <m:r>
                            <a:rPr lang="en-US" altLang="zh-CN" sz="2400" b="1" i="1">
                              <a:latin typeface="Cambria Math"/>
                            </a:rPr>
                            <m:t>𝑼</m:t>
                          </m:r>
                        </m:e>
                        <m:sub>
                          <m:r>
                            <a:rPr lang="en-US" altLang="zh-CN" sz="2400" b="1" i="1" smtClean="0">
                              <a:latin typeface="Cambria Math"/>
                            </a:rPr>
                            <m:t>𝒂</m:t>
                          </m:r>
                        </m:sub>
                      </m:sSub>
                      <m:r>
                        <a:rPr lang="en-US" altLang="zh-CN" sz="2400" b="1" i="1">
                          <a:latin typeface="Cambria Math"/>
                        </a:rPr>
                        <m:t>=</m:t>
                      </m:r>
                      <m:sSub>
                        <m:sSubPr>
                          <m:ctrlPr>
                            <a:rPr lang="zh-CN" altLang="zh-CN" sz="2400" b="1" i="1">
                              <a:latin typeface="Cambria Math" panose="02040503050406030204" pitchFamily="18" charset="0"/>
                            </a:rPr>
                          </m:ctrlPr>
                        </m:sSubPr>
                        <m:e>
                          <m:r>
                            <a:rPr lang="en-US" altLang="zh-CN" sz="2400" b="1" i="1">
                              <a:latin typeface="Cambria Math"/>
                            </a:rPr>
                            <m:t>𝒒</m:t>
                          </m:r>
                        </m:e>
                        <m:sub>
                          <m:r>
                            <a:rPr lang="en-US" altLang="zh-CN" sz="2400" b="1" i="1">
                              <a:latin typeface="Cambria Math"/>
                            </a:rPr>
                            <m:t>𝟎</m:t>
                          </m:r>
                        </m:sub>
                      </m:sSub>
                      <m:nary>
                        <m:naryPr>
                          <m:limLoc m:val="subSup"/>
                          <m:ctrlPr>
                            <a:rPr lang="zh-CN" altLang="zh-CN" sz="2400" b="1" i="1">
                              <a:latin typeface="Cambria Math" panose="02040503050406030204" pitchFamily="18" charset="0"/>
                            </a:rPr>
                          </m:ctrlPr>
                        </m:naryPr>
                        <m:sub>
                          <m:r>
                            <a:rPr lang="en-US" altLang="zh-CN" sz="2400" b="1" i="1">
                              <a:latin typeface="Cambria Math"/>
                            </a:rPr>
                            <m:t>𝒂</m:t>
                          </m:r>
                        </m:sub>
                        <m:sup>
                          <m:r>
                            <a:rPr lang="en-US" altLang="zh-CN" sz="2400" b="1" i="1" smtClean="0">
                              <a:latin typeface="Cambria Math"/>
                              <a:ea typeface="Cambria Math"/>
                            </a:rPr>
                            <m:t>∞</m:t>
                          </m:r>
                        </m:sup>
                        <m:e>
                          <m:acc>
                            <m:accPr>
                              <m:chr m:val="⃑"/>
                              <m:ctrlPr>
                                <a:rPr lang="en-US" altLang="zh-CN" sz="2400" b="1" i="1">
                                  <a:latin typeface="Cambria Math" panose="02040503050406030204" pitchFamily="18" charset="0"/>
                                </a:rPr>
                              </m:ctrlPr>
                            </m:accPr>
                            <m:e>
                              <m:r>
                                <a:rPr lang="en-US" altLang="zh-CN" sz="2400" b="1" i="1">
                                  <a:latin typeface="Cambria Math"/>
                                </a:rPr>
                                <m:t>𝑬</m:t>
                              </m:r>
                            </m:e>
                          </m:acc>
                          <m:r>
                            <a:rPr lang="en-US" altLang="zh-CN" sz="2400" b="1" i="1" smtClean="0">
                              <a:latin typeface="Cambria Math"/>
                              <a:ea typeface="Cambria Math"/>
                            </a:rPr>
                            <m:t>∙</m:t>
                          </m:r>
                          <m:r>
                            <a:rPr lang="en-US" altLang="zh-CN" sz="2400" b="1" i="1">
                              <a:latin typeface="Cambria Math"/>
                            </a:rPr>
                            <m:t>𝒅</m:t>
                          </m:r>
                          <m:acc>
                            <m:accPr>
                              <m:chr m:val="⃑"/>
                              <m:ctrlPr>
                                <a:rPr lang="en-US" altLang="zh-CN" sz="2400" b="1" i="1">
                                  <a:latin typeface="Cambria Math" panose="02040503050406030204" pitchFamily="18" charset="0"/>
                                </a:rPr>
                              </m:ctrlPr>
                            </m:accPr>
                            <m:e>
                              <m:r>
                                <a:rPr lang="en-US" altLang="zh-CN" sz="2400" b="1" i="1">
                                  <a:latin typeface="Cambria Math"/>
                                </a:rPr>
                                <m:t>𝒍</m:t>
                              </m:r>
                            </m:e>
                          </m:acc>
                        </m:e>
                      </m:nary>
                    </m:oMath>
                  </m:oMathPara>
                </a14:m>
                <a:endParaRPr lang="zh-CN" altLang="en-US" sz="2400" b="1" dirty="0"/>
              </a:p>
            </p:txBody>
          </p:sp>
        </mc:Choice>
        <mc:Fallback xmlns="">
          <p:sp>
            <p:nvSpPr>
              <p:cNvPr id="10" name="矩形 9"/>
              <p:cNvSpPr>
                <a:spLocks noRot="1" noChangeAspect="1" noMove="1" noResize="1" noEditPoints="1" noAdjustHandles="1" noChangeArrowheads="1" noChangeShapeType="1" noTextEdit="1"/>
              </p:cNvSpPr>
              <p:nvPr/>
            </p:nvSpPr>
            <p:spPr>
              <a:xfrm>
                <a:off x="4770029" y="4077072"/>
                <a:ext cx="3317041" cy="890885"/>
              </a:xfrm>
              <a:prstGeom prst="rect">
                <a:avLst/>
              </a:prstGeom>
              <a:blipFill rotWithShape="1">
                <a:blip r:embed="rId8"/>
                <a:stretch>
                  <a:fillRect/>
                </a:stretch>
              </a:blipFill>
            </p:spPr>
            <p:txBody>
              <a:bodyPr/>
              <a:lstStyle/>
              <a:p>
                <a:r>
                  <a:rPr lang="zh-CN" altLang="en-US">
                    <a:noFill/>
                  </a:rPr>
                  <a:t> </a:t>
                </a:r>
              </a:p>
            </p:txBody>
          </p:sp>
        </mc:Fallback>
      </mc:AlternateContent>
      <p:grpSp>
        <p:nvGrpSpPr>
          <p:cNvPr id="26" name="组合 25"/>
          <p:cNvGrpSpPr/>
          <p:nvPr/>
        </p:nvGrpSpPr>
        <p:grpSpPr>
          <a:xfrm>
            <a:off x="6915229" y="1340768"/>
            <a:ext cx="2016125" cy="2182813"/>
            <a:chOff x="6915229" y="1340768"/>
            <a:chExt cx="2016125" cy="2182813"/>
          </a:xfrm>
        </p:grpSpPr>
        <p:pic>
          <p:nvPicPr>
            <p:cNvPr id="44044" name="Picture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49567" y="1649063"/>
              <a:ext cx="70485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Group 45"/>
            <p:cNvGrpSpPr>
              <a:grpSpLocks/>
            </p:cNvGrpSpPr>
            <p:nvPr/>
          </p:nvGrpSpPr>
          <p:grpSpPr bwMode="auto">
            <a:xfrm>
              <a:off x="6915229" y="1340768"/>
              <a:ext cx="2016125" cy="2182813"/>
              <a:chOff x="4059" y="210"/>
              <a:chExt cx="1439" cy="1465"/>
            </a:xfrm>
          </p:grpSpPr>
          <p:grpSp>
            <p:nvGrpSpPr>
              <p:cNvPr id="12" name="Group 31"/>
              <p:cNvGrpSpPr>
                <a:grpSpLocks/>
              </p:cNvGrpSpPr>
              <p:nvPr/>
            </p:nvGrpSpPr>
            <p:grpSpPr bwMode="auto">
              <a:xfrm>
                <a:off x="4059" y="1196"/>
                <a:ext cx="264" cy="284"/>
                <a:chOff x="3630" y="3466"/>
                <a:chExt cx="295" cy="336"/>
              </a:xfrm>
            </p:grpSpPr>
            <p:graphicFrame>
              <p:nvGraphicFramePr>
                <p:cNvPr id="22" name="Object 32"/>
                <p:cNvGraphicFramePr>
                  <a:graphicFrameLocks noChangeAspect="1"/>
                </p:cNvGraphicFramePr>
                <p:nvPr/>
              </p:nvGraphicFramePr>
              <p:xfrm>
                <a:off x="3630" y="3466"/>
                <a:ext cx="258" cy="336"/>
              </p:xfrm>
              <a:graphic>
                <a:graphicData uri="http://schemas.openxmlformats.org/presentationml/2006/ole">
                  <mc:AlternateContent xmlns:mc="http://schemas.openxmlformats.org/markup-compatibility/2006">
                    <mc:Choice xmlns:v="urn:schemas-microsoft-com:vml" Requires="v">
                      <p:oleObj spid="_x0000_s67679" name="公式" r:id="rId10" imgW="126780" imgH="164814" progId="Equation.3">
                        <p:embed/>
                      </p:oleObj>
                    </mc:Choice>
                    <mc:Fallback>
                      <p:oleObj name="公式" r:id="rId10" imgW="126780" imgH="164814"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30" y="3466"/>
                              <a:ext cx="25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 name="Oval 33"/>
                <p:cNvSpPr>
                  <a:spLocks noChangeArrowheads="1"/>
                </p:cNvSpPr>
                <p:nvPr/>
              </p:nvSpPr>
              <p:spPr bwMode="auto">
                <a:xfrm>
                  <a:off x="3855" y="3674"/>
                  <a:ext cx="70" cy="70"/>
                </a:xfrm>
                <a:prstGeom prst="ellipse">
                  <a:avLst/>
                </a:prstGeom>
                <a:solidFill>
                  <a:srgbClr val="FF0000"/>
                </a:solidFill>
                <a:ln w="9525">
                  <a:solidFill>
                    <a:schemeClr val="tx1"/>
                  </a:solidFill>
                  <a:round/>
                  <a:headEnd/>
                  <a:tailEnd/>
                </a:ln>
              </p:spPr>
              <p:txBody>
                <a:bodyPr wrap="none" anchor="ctr"/>
                <a:lstStyle/>
                <a:p>
                  <a:pPr eaLnBrk="1" hangingPunct="1"/>
                  <a:endParaRPr lang="zh-CN" altLang="en-US"/>
                </a:p>
              </p:txBody>
            </p:sp>
          </p:grpSp>
          <p:graphicFrame>
            <p:nvGraphicFramePr>
              <p:cNvPr id="14" name="Object 36"/>
              <p:cNvGraphicFramePr>
                <a:graphicFrameLocks noChangeAspect="1"/>
              </p:cNvGraphicFramePr>
              <p:nvPr/>
            </p:nvGraphicFramePr>
            <p:xfrm>
              <a:off x="5284" y="845"/>
              <a:ext cx="214" cy="281"/>
            </p:xfrm>
            <a:graphic>
              <a:graphicData uri="http://schemas.openxmlformats.org/presentationml/2006/ole">
                <mc:AlternateContent xmlns:mc="http://schemas.openxmlformats.org/markup-compatibility/2006">
                  <mc:Choice xmlns:v="urn:schemas-microsoft-com:vml" Requires="v">
                    <p:oleObj spid="_x0000_s67680" name="公式" r:id="rId12" imgW="165028" imgH="228501" progId="Equation.3">
                      <p:embed/>
                    </p:oleObj>
                  </mc:Choice>
                  <mc:Fallback>
                    <p:oleObj name="公式" r:id="rId12" imgW="165028" imgH="228501"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84" y="845"/>
                            <a:ext cx="214"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 name="Oval 37"/>
              <p:cNvSpPr>
                <a:spLocks noChangeArrowheads="1"/>
              </p:cNvSpPr>
              <p:nvPr/>
            </p:nvSpPr>
            <p:spPr bwMode="auto">
              <a:xfrm>
                <a:off x="5239" y="935"/>
                <a:ext cx="62" cy="58"/>
              </a:xfrm>
              <a:prstGeom prst="ellipse">
                <a:avLst/>
              </a:prstGeom>
              <a:solidFill>
                <a:srgbClr val="FF0000"/>
              </a:solidFill>
              <a:ln w="9525">
                <a:solidFill>
                  <a:schemeClr val="tx1"/>
                </a:solidFill>
                <a:round/>
                <a:headEnd/>
                <a:tailEnd/>
              </a:ln>
            </p:spPr>
            <p:txBody>
              <a:bodyPr wrap="none" anchor="ctr"/>
              <a:lstStyle/>
              <a:p>
                <a:pPr eaLnBrk="1" hangingPunct="1"/>
                <a:endParaRPr lang="zh-CN" altLang="en-US"/>
              </a:p>
            </p:txBody>
          </p:sp>
          <p:graphicFrame>
            <p:nvGraphicFramePr>
              <p:cNvPr id="16" name="Object 38"/>
              <p:cNvGraphicFramePr>
                <a:graphicFrameLocks noChangeAspect="1"/>
              </p:cNvGraphicFramePr>
              <p:nvPr/>
            </p:nvGraphicFramePr>
            <p:xfrm>
              <a:off x="4377" y="663"/>
              <a:ext cx="236" cy="364"/>
            </p:xfrm>
            <a:graphic>
              <a:graphicData uri="http://schemas.openxmlformats.org/presentationml/2006/ole">
                <mc:AlternateContent xmlns:mc="http://schemas.openxmlformats.org/markup-compatibility/2006">
                  <mc:Choice xmlns:v="urn:schemas-microsoft-com:vml" Requires="v">
                    <p:oleObj spid="_x0000_s67681" name="公式" r:id="rId14" imgW="139700" imgH="228600" progId="Equation.3">
                      <p:embed/>
                    </p:oleObj>
                  </mc:Choice>
                  <mc:Fallback>
                    <p:oleObj name="公式" r:id="rId14" imgW="139700" imgH="2286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377" y="663"/>
                            <a:ext cx="236" cy="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Line 39"/>
              <p:cNvSpPr>
                <a:spLocks noChangeShapeType="1"/>
              </p:cNvSpPr>
              <p:nvPr/>
            </p:nvSpPr>
            <p:spPr bwMode="auto">
              <a:xfrm flipV="1">
                <a:off x="4304" y="435"/>
                <a:ext cx="644" cy="972"/>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8" name="Object 40"/>
              <p:cNvGraphicFramePr>
                <a:graphicFrameLocks noChangeAspect="1"/>
              </p:cNvGraphicFramePr>
              <p:nvPr/>
            </p:nvGraphicFramePr>
            <p:xfrm>
              <a:off x="4871" y="210"/>
              <a:ext cx="192" cy="254"/>
            </p:xfrm>
            <a:graphic>
              <a:graphicData uri="http://schemas.openxmlformats.org/presentationml/2006/ole">
                <mc:AlternateContent xmlns:mc="http://schemas.openxmlformats.org/markup-compatibility/2006">
                  <mc:Choice xmlns:v="urn:schemas-microsoft-com:vml" Requires="v">
                    <p:oleObj spid="_x0000_s67682" name="公式" r:id="rId16" imgW="126725" imgH="177415" progId="Equation.3">
                      <p:embed/>
                    </p:oleObj>
                  </mc:Choice>
                  <mc:Fallback>
                    <p:oleObj name="公式" r:id="rId16" imgW="126725" imgH="177415"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871" y="210"/>
                            <a:ext cx="192"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 name="Object 42"/>
              <p:cNvGraphicFramePr>
                <a:graphicFrameLocks noChangeAspect="1"/>
              </p:cNvGraphicFramePr>
              <p:nvPr/>
            </p:nvGraphicFramePr>
            <p:xfrm>
              <a:off x="4740" y="1298"/>
              <a:ext cx="243" cy="377"/>
            </p:xfrm>
            <a:graphic>
              <a:graphicData uri="http://schemas.openxmlformats.org/presentationml/2006/ole">
                <mc:AlternateContent xmlns:mc="http://schemas.openxmlformats.org/markup-compatibility/2006">
                  <mc:Choice xmlns:v="urn:schemas-microsoft-com:vml" Requires="v">
                    <p:oleObj spid="_x0000_s67683" name="公式" r:id="rId18" imgW="139700" imgH="228600" progId="Equation.3">
                      <p:embed/>
                    </p:oleObj>
                  </mc:Choice>
                  <mc:Fallback>
                    <p:oleObj name="公式" r:id="rId18" imgW="139700" imgH="22860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740" y="1298"/>
                            <a:ext cx="243" cy="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 name="Freeform 43"/>
              <p:cNvSpPr>
                <a:spLocks/>
              </p:cNvSpPr>
              <p:nvPr/>
            </p:nvSpPr>
            <p:spPr bwMode="auto">
              <a:xfrm>
                <a:off x="4302" y="1318"/>
                <a:ext cx="845" cy="92"/>
              </a:xfrm>
              <a:custGeom>
                <a:avLst/>
                <a:gdLst>
                  <a:gd name="T0" fmla="*/ 0 w 845"/>
                  <a:gd name="T1" fmla="*/ 92 h 92"/>
                  <a:gd name="T2" fmla="*/ 845 w 845"/>
                  <a:gd name="T3" fmla="*/ 0 h 92"/>
                  <a:gd name="T4" fmla="*/ 0 60000 65536"/>
                  <a:gd name="T5" fmla="*/ 0 60000 65536"/>
                  <a:gd name="T6" fmla="*/ 0 w 845"/>
                  <a:gd name="T7" fmla="*/ 0 h 92"/>
                  <a:gd name="T8" fmla="*/ 845 w 845"/>
                  <a:gd name="T9" fmla="*/ 92 h 92"/>
                </a:gdLst>
                <a:ahLst/>
                <a:cxnLst>
                  <a:cxn ang="T4">
                    <a:pos x="T0" y="T1"/>
                  </a:cxn>
                  <a:cxn ang="T5">
                    <a:pos x="T2" y="T3"/>
                  </a:cxn>
                </a:cxnLst>
                <a:rect l="T6" t="T7" r="T8" b="T9"/>
                <a:pathLst>
                  <a:path w="845" h="92">
                    <a:moveTo>
                      <a:pt x="0" y="92"/>
                    </a:moveTo>
                    <a:lnTo>
                      <a:pt x="845" y="0"/>
                    </a:lnTo>
                  </a:path>
                </a:pathLst>
              </a:custGeom>
              <a:noFill/>
              <a:ln w="19050">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21" name="Object 44"/>
              <p:cNvGraphicFramePr>
                <a:graphicFrameLocks noChangeAspect="1"/>
              </p:cNvGraphicFramePr>
              <p:nvPr/>
            </p:nvGraphicFramePr>
            <p:xfrm>
              <a:off x="5103" y="1298"/>
              <a:ext cx="198" cy="205"/>
            </p:xfrm>
            <a:graphic>
              <a:graphicData uri="http://schemas.openxmlformats.org/presentationml/2006/ole">
                <mc:AlternateContent xmlns:mc="http://schemas.openxmlformats.org/markup-compatibility/2006">
                  <mc:Choice xmlns:v="urn:schemas-microsoft-com:vml" Requires="v">
                    <p:oleObj spid="_x0000_s67684" name="公式" r:id="rId20" imgW="126835" imgH="139518" progId="Equation.3">
                      <p:embed/>
                    </p:oleObj>
                  </mc:Choice>
                  <mc:Fallback>
                    <p:oleObj name="公式" r:id="rId20" imgW="126835" imgH="139518"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103" y="1298"/>
                            <a:ext cx="198"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sp>
        <p:nvSpPr>
          <p:cNvPr id="28" name="TextBox 27"/>
          <p:cNvSpPr txBox="1"/>
          <p:nvPr/>
        </p:nvSpPr>
        <p:spPr>
          <a:xfrm>
            <a:off x="5292079" y="5774315"/>
            <a:ext cx="3727803" cy="461665"/>
          </a:xfrm>
          <a:prstGeom prst="rect">
            <a:avLst/>
          </a:prstGeom>
          <a:noFill/>
        </p:spPr>
        <p:txBody>
          <a:bodyPr wrap="square" rtlCol="0">
            <a:spAutoFit/>
          </a:bodyPr>
          <a:lstStyle/>
          <a:p>
            <a:r>
              <a:rPr lang="zh-CN" altLang="en-US" sz="2400" b="1" dirty="0" smtClean="0"/>
              <a:t>若取</a:t>
            </a:r>
            <a:r>
              <a:rPr lang="zh-CN" altLang="en-US" sz="2400" b="1" dirty="0"/>
              <a:t>无穷远处电势能为零</a:t>
            </a:r>
          </a:p>
        </p:txBody>
      </p:sp>
    </p:spTree>
    <p:extLst>
      <p:ext uri="{BB962C8B-B14F-4D97-AF65-F5344CB8AC3E}">
        <p14:creationId xmlns:p14="http://schemas.microsoft.com/office/powerpoint/2010/main" val="13623363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647631" y="3501008"/>
                <a:ext cx="7776864" cy="1754326"/>
              </a:xfrm>
              <a:prstGeom prst="rect">
                <a:avLst/>
              </a:prstGeom>
              <a:noFill/>
            </p:spPr>
            <p:txBody>
              <a:bodyPr wrap="square" rtlCol="0">
                <a:spAutoFit/>
              </a:bodyPr>
              <a:lstStyle/>
              <a:p>
                <a:pPr>
                  <a:lnSpc>
                    <a:spcPct val="150000"/>
                  </a:lnSpc>
                </a:pPr>
                <a:r>
                  <a:rPr lang="zh-CN" altLang="en-US" sz="2400" b="1" dirty="0" smtClean="0"/>
                  <a:t>与所有势能像似，电势能也是属于一定系统的。</a:t>
                </a:r>
                <a:r>
                  <a:rPr lang="zh-CN" altLang="en-US" sz="2400" b="1" dirty="0" smtClean="0">
                    <a:solidFill>
                      <a:srgbClr val="FF0000"/>
                    </a:solidFill>
                  </a:rPr>
                  <a:t>电势能是试验电荷</a:t>
                </a:r>
                <a14:m>
                  <m:oMath xmlns:m="http://schemas.openxmlformats.org/officeDocument/2006/math">
                    <m:sSub>
                      <m:sSubPr>
                        <m:ctrlPr>
                          <a:rPr lang="zh-CN" altLang="zh-CN" sz="2400" i="1">
                            <a:solidFill>
                              <a:srgbClr val="FF0000"/>
                            </a:solidFill>
                            <a:latin typeface="Cambria Math" panose="02040503050406030204" pitchFamily="18" charset="0"/>
                          </a:rPr>
                        </m:ctrlPr>
                      </m:sSubPr>
                      <m:e>
                        <m:r>
                          <a:rPr lang="en-US" altLang="zh-CN" sz="2400" i="1">
                            <a:solidFill>
                              <a:srgbClr val="FF0000"/>
                            </a:solidFill>
                            <a:latin typeface="Cambria Math"/>
                          </a:rPr>
                          <m:t>𝑞</m:t>
                        </m:r>
                      </m:e>
                      <m:sub>
                        <m:r>
                          <a:rPr lang="en-US" altLang="zh-CN" sz="2400" i="1">
                            <a:solidFill>
                              <a:srgbClr val="FF0000"/>
                            </a:solidFill>
                            <a:latin typeface="Cambria Math"/>
                          </a:rPr>
                          <m:t>0</m:t>
                        </m:r>
                      </m:sub>
                    </m:sSub>
                  </m:oMath>
                </a14:m>
                <a:r>
                  <a:rPr lang="zh-CN" altLang="en-US" sz="2400" b="1" dirty="0" smtClean="0">
                    <a:solidFill>
                      <a:srgbClr val="FF0000"/>
                    </a:solidFill>
                  </a:rPr>
                  <a:t>与场源电荷所激发的电场之间的相互作用能量</a:t>
                </a:r>
                <a:r>
                  <a:rPr lang="zh-CN" altLang="en-US" sz="2400" b="1" dirty="0" smtClean="0"/>
                  <a:t>，所以</a:t>
                </a:r>
                <a:r>
                  <a:rPr lang="zh-CN" altLang="en-US" sz="2400" b="1" dirty="0" smtClean="0">
                    <a:solidFill>
                      <a:srgbClr val="FF0000"/>
                    </a:solidFill>
                  </a:rPr>
                  <a:t>电势能是属于试验电荷</a:t>
                </a:r>
                <a14:m>
                  <m:oMath xmlns:m="http://schemas.openxmlformats.org/officeDocument/2006/math">
                    <m:sSub>
                      <m:sSubPr>
                        <m:ctrlPr>
                          <a:rPr lang="zh-CN" altLang="zh-CN" sz="2400" i="1">
                            <a:solidFill>
                              <a:srgbClr val="FF0000"/>
                            </a:solidFill>
                            <a:latin typeface="Cambria Math" panose="02040503050406030204" pitchFamily="18" charset="0"/>
                          </a:rPr>
                        </m:ctrlPr>
                      </m:sSubPr>
                      <m:e>
                        <m:r>
                          <a:rPr lang="en-US" altLang="zh-CN" sz="2400" i="1">
                            <a:solidFill>
                              <a:srgbClr val="FF0000"/>
                            </a:solidFill>
                            <a:latin typeface="Cambria Math"/>
                          </a:rPr>
                          <m:t>𝑞</m:t>
                        </m:r>
                      </m:e>
                      <m:sub>
                        <m:r>
                          <a:rPr lang="en-US" altLang="zh-CN" sz="2400" i="1">
                            <a:solidFill>
                              <a:srgbClr val="FF0000"/>
                            </a:solidFill>
                            <a:latin typeface="Cambria Math"/>
                          </a:rPr>
                          <m:t>0</m:t>
                        </m:r>
                      </m:sub>
                    </m:sSub>
                  </m:oMath>
                </a14:m>
                <a:r>
                  <a:rPr lang="zh-CN" altLang="en-US" sz="2400" b="1" dirty="0" smtClean="0">
                    <a:solidFill>
                      <a:srgbClr val="FF0000"/>
                    </a:solidFill>
                  </a:rPr>
                  <a:t>和电场这个系统的</a:t>
                </a:r>
                <a:r>
                  <a:rPr lang="zh-CN" altLang="en-US" sz="2400" b="1" dirty="0" smtClean="0"/>
                  <a:t>。</a:t>
                </a:r>
                <a:endParaRPr lang="zh-CN" altLang="en-US" sz="2400" b="1" dirty="0"/>
              </a:p>
            </p:txBody>
          </p:sp>
        </mc:Choice>
        <mc:Fallback xmlns="">
          <p:sp>
            <p:nvSpPr>
              <p:cNvPr id="2" name="TextBox 1"/>
              <p:cNvSpPr txBox="1">
                <a:spLocks noRot="1" noChangeAspect="1" noMove="1" noResize="1" noEditPoints="1" noAdjustHandles="1" noChangeArrowheads="1" noChangeShapeType="1" noTextEdit="1"/>
              </p:cNvSpPr>
              <p:nvPr/>
            </p:nvSpPr>
            <p:spPr>
              <a:xfrm>
                <a:off x="647631" y="3501008"/>
                <a:ext cx="7776864" cy="1754326"/>
              </a:xfrm>
              <a:prstGeom prst="rect">
                <a:avLst/>
              </a:prstGeom>
              <a:blipFill rotWithShape="1">
                <a:blip r:embed="rId2"/>
                <a:stretch>
                  <a:fillRect l="-1176" r="-5172" b="-20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1691679" y="1988860"/>
                <a:ext cx="5184575" cy="103137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sz="2400" b="1" i="1" smtClean="0">
                              <a:solidFill>
                                <a:srgbClr val="FF0000"/>
                              </a:solidFill>
                              <a:latin typeface="Cambria Math" panose="02040503050406030204" pitchFamily="18" charset="0"/>
                            </a:rPr>
                          </m:ctrlPr>
                        </m:sSubPr>
                        <m:e>
                          <m:r>
                            <a:rPr lang="en-US" altLang="zh-CN" sz="2400" b="1" i="1">
                              <a:solidFill>
                                <a:srgbClr val="FF0000"/>
                              </a:solidFill>
                              <a:latin typeface="Cambria Math"/>
                            </a:rPr>
                            <m:t>𝑼</m:t>
                          </m:r>
                        </m:e>
                        <m:sub>
                          <m:r>
                            <a:rPr lang="en-US" altLang="zh-CN" sz="2400" b="1" i="1" smtClean="0">
                              <a:solidFill>
                                <a:srgbClr val="FF0000"/>
                              </a:solidFill>
                              <a:latin typeface="Cambria Math"/>
                            </a:rPr>
                            <m:t>𝒂</m:t>
                          </m:r>
                        </m:sub>
                      </m:sSub>
                      <m:r>
                        <a:rPr lang="en-US" altLang="zh-CN" sz="2400" b="1" i="1">
                          <a:solidFill>
                            <a:srgbClr val="FF0000"/>
                          </a:solidFill>
                          <a:latin typeface="Cambria Math"/>
                        </a:rPr>
                        <m:t>=</m:t>
                      </m:r>
                      <m:sSub>
                        <m:sSubPr>
                          <m:ctrlPr>
                            <a:rPr lang="zh-CN" altLang="zh-CN" sz="2400" b="1" i="1">
                              <a:solidFill>
                                <a:srgbClr val="FF0000"/>
                              </a:solidFill>
                              <a:latin typeface="Cambria Math" panose="02040503050406030204" pitchFamily="18" charset="0"/>
                            </a:rPr>
                          </m:ctrlPr>
                        </m:sSubPr>
                        <m:e>
                          <m:r>
                            <a:rPr lang="en-US" altLang="zh-CN" sz="2400" b="1" i="1">
                              <a:solidFill>
                                <a:srgbClr val="FF0000"/>
                              </a:solidFill>
                              <a:latin typeface="Cambria Math"/>
                            </a:rPr>
                            <m:t>𝒒</m:t>
                          </m:r>
                        </m:e>
                        <m:sub>
                          <m:r>
                            <a:rPr lang="en-US" altLang="zh-CN" sz="2400" b="1" i="1">
                              <a:solidFill>
                                <a:srgbClr val="FF0000"/>
                              </a:solidFill>
                              <a:latin typeface="Cambria Math"/>
                            </a:rPr>
                            <m:t>𝟎</m:t>
                          </m:r>
                        </m:sub>
                      </m:sSub>
                      <m:nary>
                        <m:naryPr>
                          <m:limLoc m:val="subSup"/>
                          <m:ctrlPr>
                            <a:rPr lang="zh-CN" altLang="zh-CN" sz="2400" b="1" i="1">
                              <a:solidFill>
                                <a:srgbClr val="FF0000"/>
                              </a:solidFill>
                              <a:latin typeface="Cambria Math" panose="02040503050406030204" pitchFamily="18" charset="0"/>
                            </a:rPr>
                          </m:ctrlPr>
                        </m:naryPr>
                        <m:sub>
                          <m:r>
                            <a:rPr lang="en-US" altLang="zh-CN" sz="2400" b="1" i="1" smtClean="0">
                              <a:solidFill>
                                <a:srgbClr val="FF0000"/>
                              </a:solidFill>
                              <a:latin typeface="Cambria Math"/>
                            </a:rPr>
                            <m:t>𝒂</m:t>
                          </m:r>
                        </m:sub>
                        <m:sup>
                          <m:r>
                            <a:rPr lang="zh-CN" altLang="en-US" sz="2400" b="1" i="1" smtClean="0">
                              <a:solidFill>
                                <a:srgbClr val="FF0000"/>
                              </a:solidFill>
                              <a:latin typeface="Cambria Math"/>
                            </a:rPr>
                            <m:t>零势点</m:t>
                          </m:r>
                        </m:sup>
                        <m:e>
                          <m:acc>
                            <m:accPr>
                              <m:chr m:val="⃑"/>
                              <m:ctrlPr>
                                <a:rPr lang="en-US" altLang="zh-CN" sz="2400" b="1" i="1" smtClean="0">
                                  <a:solidFill>
                                    <a:srgbClr val="FF0000"/>
                                  </a:solidFill>
                                  <a:latin typeface="Cambria Math" panose="02040503050406030204" pitchFamily="18" charset="0"/>
                                </a:rPr>
                              </m:ctrlPr>
                            </m:accPr>
                            <m:e>
                              <m:r>
                                <a:rPr lang="en-US" altLang="zh-CN" sz="2400" b="1" i="1" smtClean="0">
                                  <a:solidFill>
                                    <a:srgbClr val="FF0000"/>
                                  </a:solidFill>
                                  <a:latin typeface="Cambria Math"/>
                                </a:rPr>
                                <m:t>𝑬</m:t>
                              </m:r>
                            </m:e>
                          </m:acc>
                          <m:r>
                            <a:rPr lang="en-US" altLang="zh-CN" sz="2400" b="1" i="1" smtClean="0">
                              <a:solidFill>
                                <a:srgbClr val="FF0000"/>
                              </a:solidFill>
                              <a:latin typeface="Cambria Math"/>
                              <a:ea typeface="Cambria Math"/>
                            </a:rPr>
                            <m:t>∙</m:t>
                          </m:r>
                          <m:r>
                            <a:rPr lang="en-US" altLang="zh-CN" sz="2400" b="1" i="1">
                              <a:solidFill>
                                <a:srgbClr val="FF0000"/>
                              </a:solidFill>
                              <a:latin typeface="Cambria Math"/>
                            </a:rPr>
                            <m:t>𝒅</m:t>
                          </m:r>
                          <m:acc>
                            <m:accPr>
                              <m:chr m:val="⃑"/>
                              <m:ctrlPr>
                                <a:rPr lang="en-US" altLang="zh-CN" sz="2400" b="1" i="1" smtClean="0">
                                  <a:solidFill>
                                    <a:srgbClr val="FF0000"/>
                                  </a:solidFill>
                                  <a:latin typeface="Cambria Math" panose="02040503050406030204" pitchFamily="18" charset="0"/>
                                </a:rPr>
                              </m:ctrlPr>
                            </m:accPr>
                            <m:e>
                              <m:r>
                                <a:rPr lang="en-US" altLang="zh-CN" sz="2400" b="1" i="1" smtClean="0">
                                  <a:solidFill>
                                    <a:srgbClr val="FF0000"/>
                                  </a:solidFill>
                                  <a:latin typeface="Cambria Math"/>
                                </a:rPr>
                                <m:t>𝒍</m:t>
                              </m:r>
                            </m:e>
                          </m:acc>
                        </m:e>
                      </m:nary>
                    </m:oMath>
                  </m:oMathPara>
                </a14:m>
                <a:endParaRPr lang="zh-CN" altLang="en-US" sz="2400" b="1" dirty="0">
                  <a:solidFill>
                    <a:srgbClr val="FF0000"/>
                  </a:solidFill>
                </a:endParaRPr>
              </a:p>
            </p:txBody>
          </p:sp>
        </mc:Choice>
        <mc:Fallback xmlns="">
          <p:sp>
            <p:nvSpPr>
              <p:cNvPr id="4" name="矩形 3"/>
              <p:cNvSpPr>
                <a:spLocks noRot="1" noChangeAspect="1" noMove="1" noResize="1" noEditPoints="1" noAdjustHandles="1" noChangeArrowheads="1" noChangeShapeType="1" noTextEdit="1"/>
              </p:cNvSpPr>
              <p:nvPr/>
            </p:nvSpPr>
            <p:spPr>
              <a:xfrm>
                <a:off x="1691679" y="1988860"/>
                <a:ext cx="5184575" cy="1031373"/>
              </a:xfrm>
              <a:prstGeom prst="rect">
                <a:avLst/>
              </a:prstGeom>
              <a:blipFill rotWithShape="1">
                <a:blip r:embed="rId3"/>
                <a:stretch>
                  <a:fillRect/>
                </a:stretch>
              </a:blipFill>
            </p:spPr>
            <p:txBody>
              <a:bodyPr/>
              <a:lstStyle/>
              <a:p>
                <a:r>
                  <a:rPr lang="zh-CN" altLang="en-US">
                    <a:noFill/>
                  </a:rPr>
                  <a:t> </a:t>
                </a:r>
              </a:p>
            </p:txBody>
          </p:sp>
        </mc:Fallback>
      </mc:AlternateContent>
      <p:sp>
        <p:nvSpPr>
          <p:cNvPr id="3" name="TextBox 2"/>
          <p:cNvSpPr txBox="1"/>
          <p:nvPr/>
        </p:nvSpPr>
        <p:spPr>
          <a:xfrm>
            <a:off x="575623" y="467564"/>
            <a:ext cx="7920880" cy="1384995"/>
          </a:xfrm>
          <a:prstGeom prst="rect">
            <a:avLst/>
          </a:prstGeom>
          <a:noFill/>
        </p:spPr>
        <p:txBody>
          <a:bodyPr wrap="square" rtlCol="0">
            <a:spAutoFit/>
          </a:bodyPr>
          <a:lstStyle/>
          <a:p>
            <a:pPr>
              <a:lnSpc>
                <a:spcPct val="150000"/>
              </a:lnSpc>
            </a:pPr>
            <a:r>
              <a:rPr lang="zh-CN" altLang="en-US" sz="2800" b="1" dirty="0" smtClean="0">
                <a:solidFill>
                  <a:srgbClr val="0000FF"/>
                </a:solidFill>
              </a:rPr>
              <a:t>电荷</a:t>
            </a:r>
            <a:r>
              <a:rPr lang="en-US" altLang="zh-CN" sz="2800" b="1" i="1" dirty="0">
                <a:solidFill>
                  <a:srgbClr val="0000FF"/>
                </a:solidFill>
                <a:latin typeface="Times New Roman" panose="02020603050405020304" pitchFamily="18" charset="0"/>
                <a:cs typeface="Times New Roman" panose="02020603050405020304" pitchFamily="18" charset="0"/>
              </a:rPr>
              <a:t>q</a:t>
            </a:r>
            <a:r>
              <a:rPr lang="en-US" altLang="zh-CN" sz="2800" b="1" baseline="-25000" dirty="0">
                <a:solidFill>
                  <a:srgbClr val="0000FF"/>
                </a:solidFill>
                <a:latin typeface="Times New Roman" panose="02020603050405020304" pitchFamily="18" charset="0"/>
                <a:cs typeface="Times New Roman" panose="02020603050405020304" pitchFamily="18" charset="0"/>
              </a:rPr>
              <a:t>0</a:t>
            </a:r>
            <a:r>
              <a:rPr lang="zh-CN" altLang="en-US" sz="2800" b="1" dirty="0" smtClean="0">
                <a:solidFill>
                  <a:srgbClr val="0000FF"/>
                </a:solidFill>
              </a:rPr>
              <a:t>在电场中某点的电势能：</a:t>
            </a:r>
            <a:r>
              <a:rPr lang="zh-CN" altLang="en-US" sz="2800" b="1" dirty="0" smtClean="0"/>
              <a:t>等于将</a:t>
            </a:r>
            <a:r>
              <a:rPr lang="en-US" altLang="zh-CN" sz="2800" b="1" i="1" dirty="0" smtClean="0">
                <a:latin typeface="Times New Roman" panose="02020603050405020304" pitchFamily="18" charset="0"/>
                <a:cs typeface="Times New Roman" panose="02020603050405020304" pitchFamily="18" charset="0"/>
              </a:rPr>
              <a:t>q</a:t>
            </a:r>
            <a:r>
              <a:rPr lang="en-US" altLang="zh-CN" sz="2800" b="1" baseline="-25000" dirty="0" smtClean="0">
                <a:latin typeface="Times New Roman" panose="02020603050405020304" pitchFamily="18" charset="0"/>
                <a:cs typeface="Times New Roman" panose="02020603050405020304" pitchFamily="18" charset="0"/>
              </a:rPr>
              <a:t>0</a:t>
            </a:r>
            <a:r>
              <a:rPr lang="zh-CN" altLang="en-US" sz="2800" b="1" dirty="0" smtClean="0"/>
              <a:t>从该点沿任意路径移动到电势能零点静电场力所做的功。</a:t>
            </a:r>
            <a:endParaRPr lang="zh-CN" altLang="en-US" sz="2800" b="1" dirty="0"/>
          </a:p>
        </p:txBody>
      </p:sp>
    </p:spTree>
    <p:extLst>
      <p:ext uri="{BB962C8B-B14F-4D97-AF65-F5344CB8AC3E}">
        <p14:creationId xmlns:p14="http://schemas.microsoft.com/office/powerpoint/2010/main" val="30991032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2349" y="1340768"/>
            <a:ext cx="4806286" cy="461665"/>
          </a:xfrm>
          <a:prstGeom prst="rect">
            <a:avLst/>
          </a:prstGeom>
          <a:noFill/>
        </p:spPr>
        <p:txBody>
          <a:bodyPr wrap="square" rtlCol="0">
            <a:spAutoFit/>
          </a:bodyPr>
          <a:lstStyle/>
          <a:p>
            <a:r>
              <a:rPr lang="zh-CN" altLang="en-US" sz="2400" b="1" dirty="0" smtClean="0"/>
              <a:t>一对相距为</a:t>
            </a:r>
            <a:r>
              <a:rPr lang="en-US" altLang="zh-CN" sz="2400" b="1" dirty="0" smtClean="0"/>
              <a:t>r</a:t>
            </a:r>
            <a:r>
              <a:rPr lang="zh-CN" altLang="en-US" sz="2400" b="1" dirty="0" smtClean="0"/>
              <a:t>的</a:t>
            </a:r>
            <a:r>
              <a:rPr lang="zh-CN" altLang="en-US" sz="2400" b="1" dirty="0" smtClean="0">
                <a:solidFill>
                  <a:srgbClr val="FF0000"/>
                </a:solidFill>
              </a:rPr>
              <a:t>点电荷间的电势能</a:t>
            </a:r>
            <a:r>
              <a:rPr lang="en-US" altLang="zh-CN" sz="2400" b="1" dirty="0" smtClean="0"/>
              <a:t>:</a:t>
            </a:r>
            <a:endParaRPr lang="zh-CN" altLang="en-US" sz="2400" b="1" dirty="0"/>
          </a:p>
        </p:txBody>
      </p:sp>
      <p:sp>
        <p:nvSpPr>
          <p:cNvPr id="8" name="TextBox 7"/>
          <p:cNvSpPr txBox="1"/>
          <p:nvPr/>
        </p:nvSpPr>
        <p:spPr>
          <a:xfrm>
            <a:off x="64229" y="4580264"/>
            <a:ext cx="8892480" cy="646331"/>
          </a:xfrm>
          <a:prstGeom prst="rect">
            <a:avLst/>
          </a:prstGeom>
          <a:noFill/>
        </p:spPr>
        <p:txBody>
          <a:bodyPr wrap="square" rtlCol="0">
            <a:spAutoFit/>
          </a:bodyPr>
          <a:lstStyle/>
          <a:p>
            <a:pPr>
              <a:lnSpc>
                <a:spcPct val="150000"/>
              </a:lnSpc>
            </a:pPr>
            <a:r>
              <a:rPr lang="zh-CN" altLang="en-US" sz="2400" b="1" dirty="0" smtClean="0">
                <a:latin typeface="+mn-ea"/>
              </a:rPr>
              <a:t>由于电场力是保守力，所以在选择积分路径时</a:t>
            </a:r>
            <a:r>
              <a:rPr lang="zh-CN" altLang="en-US" sz="2400" b="1" smtClean="0">
                <a:latin typeface="+mn-ea"/>
              </a:rPr>
              <a:t>可以</a:t>
            </a:r>
            <a:r>
              <a:rPr lang="zh-CN" altLang="en-US" sz="2400" b="1" smtClean="0">
                <a:solidFill>
                  <a:srgbClr val="FF0000"/>
                </a:solidFill>
                <a:latin typeface="+mn-ea"/>
              </a:rPr>
              <a:t>沿径向积分</a:t>
            </a:r>
            <a:r>
              <a:rPr lang="zh-CN" altLang="en-US" sz="2400" b="1" smtClean="0">
                <a:latin typeface="+mn-ea"/>
              </a:rPr>
              <a:t>。</a:t>
            </a:r>
            <a:endParaRPr lang="zh-CN" altLang="en-US" sz="2400" b="1" dirty="0">
              <a:latin typeface="+mn-ea"/>
            </a:endParaRPr>
          </a:p>
        </p:txBody>
      </p:sp>
      <mc:AlternateContent xmlns:mc="http://schemas.openxmlformats.org/markup-compatibility/2006" xmlns:a14="http://schemas.microsoft.com/office/drawing/2010/main">
        <mc:Choice Requires="a14">
          <p:sp>
            <p:nvSpPr>
              <p:cNvPr id="9" name="矩形 8"/>
              <p:cNvSpPr/>
              <p:nvPr/>
            </p:nvSpPr>
            <p:spPr>
              <a:xfrm>
                <a:off x="742130" y="1982045"/>
                <a:ext cx="4765974" cy="8891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sz="2400" b="1" i="1" smtClean="0">
                              <a:latin typeface="Cambria Math" panose="02040503050406030204" pitchFamily="18" charset="0"/>
                            </a:rPr>
                          </m:ctrlPr>
                        </m:sSubPr>
                        <m:e>
                          <m:r>
                            <a:rPr lang="en-US" altLang="zh-CN" sz="2400" b="1" i="1">
                              <a:latin typeface="Cambria Math"/>
                            </a:rPr>
                            <m:t>𝑼</m:t>
                          </m:r>
                        </m:e>
                        <m:sub>
                          <m:r>
                            <a:rPr lang="en-US" altLang="zh-CN" sz="2400" b="1" i="1">
                              <a:latin typeface="Cambria Math"/>
                            </a:rPr>
                            <m:t>𝑬</m:t>
                          </m:r>
                        </m:sub>
                      </m:sSub>
                      <m:r>
                        <a:rPr lang="en-US" altLang="zh-CN" sz="2400" b="1" i="1">
                          <a:latin typeface="Cambria Math"/>
                        </a:rPr>
                        <m:t>=</m:t>
                      </m:r>
                      <m:nary>
                        <m:naryPr>
                          <m:limLoc m:val="subSup"/>
                          <m:ctrlPr>
                            <a:rPr lang="zh-CN" altLang="zh-CN" sz="2400" b="1" i="1">
                              <a:latin typeface="Cambria Math" panose="02040503050406030204" pitchFamily="18" charset="0"/>
                            </a:rPr>
                          </m:ctrlPr>
                        </m:naryPr>
                        <m:sub>
                          <m:r>
                            <a:rPr lang="en-US" altLang="zh-CN" sz="2400" b="1" i="1">
                              <a:latin typeface="Cambria Math"/>
                            </a:rPr>
                            <m:t>𝒓</m:t>
                          </m:r>
                        </m:sub>
                        <m:sup>
                          <m:r>
                            <a:rPr lang="en-US" altLang="zh-CN" sz="2400" b="1" i="1">
                              <a:latin typeface="Cambria Math"/>
                            </a:rPr>
                            <m:t>∞</m:t>
                          </m:r>
                        </m:sup>
                        <m:e>
                          <m:acc>
                            <m:accPr>
                              <m:chr m:val="⃑"/>
                              <m:ctrlPr>
                                <a:rPr lang="en-US" altLang="zh-CN" sz="2400" b="1" i="1" smtClean="0">
                                  <a:latin typeface="Cambria Math" panose="02040503050406030204" pitchFamily="18" charset="0"/>
                                </a:rPr>
                              </m:ctrlPr>
                            </m:accPr>
                            <m:e>
                              <m:r>
                                <a:rPr lang="en-US" altLang="zh-CN" sz="2400" b="1" i="1" smtClean="0">
                                  <a:latin typeface="Cambria Math"/>
                                </a:rPr>
                                <m:t>𝑭</m:t>
                              </m:r>
                            </m:e>
                          </m:acc>
                          <m:r>
                            <a:rPr lang="en-US" altLang="zh-CN" sz="2400" b="1" i="1">
                              <a:latin typeface="Cambria Math"/>
                            </a:rPr>
                            <m:t>∙</m:t>
                          </m:r>
                          <m:r>
                            <a:rPr lang="en-US" altLang="zh-CN" sz="2400" b="1" i="1">
                              <a:latin typeface="Cambria Math"/>
                            </a:rPr>
                            <m:t>𝒅</m:t>
                          </m:r>
                          <m:acc>
                            <m:accPr>
                              <m:chr m:val="⃑"/>
                              <m:ctrlPr>
                                <a:rPr lang="en-US" altLang="zh-CN" sz="2400" b="1" i="1" smtClean="0">
                                  <a:latin typeface="Cambria Math" panose="02040503050406030204" pitchFamily="18" charset="0"/>
                                </a:rPr>
                              </m:ctrlPr>
                            </m:accPr>
                            <m:e>
                              <m:r>
                                <a:rPr lang="en-US" altLang="zh-CN" sz="2400" b="1" i="1" smtClean="0">
                                  <a:latin typeface="Cambria Math"/>
                                </a:rPr>
                                <m:t>𝒍</m:t>
                              </m:r>
                            </m:e>
                          </m:acc>
                        </m:e>
                      </m:nary>
                      <m:r>
                        <a:rPr lang="en-US" altLang="zh-CN" sz="2400" b="1" i="1">
                          <a:latin typeface="Cambria Math"/>
                        </a:rPr>
                        <m:t>=</m:t>
                      </m:r>
                      <m:sSub>
                        <m:sSubPr>
                          <m:ctrlPr>
                            <a:rPr lang="zh-CN" altLang="zh-CN" sz="2400" b="1" i="1">
                              <a:latin typeface="Cambria Math" panose="02040503050406030204" pitchFamily="18" charset="0"/>
                            </a:rPr>
                          </m:ctrlPr>
                        </m:sSubPr>
                        <m:e>
                          <m:r>
                            <a:rPr lang="en-US" altLang="zh-CN" sz="2400" b="1" i="1">
                              <a:latin typeface="Cambria Math"/>
                            </a:rPr>
                            <m:t>𝒒</m:t>
                          </m:r>
                        </m:e>
                        <m:sub>
                          <m:r>
                            <a:rPr lang="en-US" altLang="zh-CN" sz="2400" b="1" i="1">
                              <a:latin typeface="Cambria Math"/>
                            </a:rPr>
                            <m:t>𝟎</m:t>
                          </m:r>
                        </m:sub>
                      </m:sSub>
                      <m:nary>
                        <m:naryPr>
                          <m:limLoc m:val="subSup"/>
                          <m:ctrlPr>
                            <a:rPr lang="zh-CN" altLang="zh-CN" sz="2400" b="1" i="1">
                              <a:latin typeface="Cambria Math" panose="02040503050406030204" pitchFamily="18" charset="0"/>
                            </a:rPr>
                          </m:ctrlPr>
                        </m:naryPr>
                        <m:sub>
                          <m:r>
                            <a:rPr lang="en-US" altLang="zh-CN" sz="2400" b="1" i="1">
                              <a:latin typeface="Cambria Math"/>
                            </a:rPr>
                            <m:t>𝒓</m:t>
                          </m:r>
                        </m:sub>
                        <m:sup>
                          <m:r>
                            <a:rPr lang="en-US" altLang="zh-CN" sz="2400" b="1" i="1">
                              <a:latin typeface="Cambria Math"/>
                            </a:rPr>
                            <m:t>∞</m:t>
                          </m:r>
                        </m:sup>
                        <m:e>
                          <m:acc>
                            <m:accPr>
                              <m:chr m:val="⃑"/>
                              <m:ctrlPr>
                                <a:rPr lang="en-US" altLang="zh-CN" sz="2400" b="1" i="1" smtClean="0">
                                  <a:latin typeface="Cambria Math" panose="02040503050406030204" pitchFamily="18" charset="0"/>
                                </a:rPr>
                              </m:ctrlPr>
                            </m:accPr>
                            <m:e>
                              <m:r>
                                <a:rPr lang="en-US" altLang="zh-CN" sz="2400" b="1" i="1" smtClean="0">
                                  <a:latin typeface="Cambria Math"/>
                                </a:rPr>
                                <m:t>𝑬</m:t>
                              </m:r>
                            </m:e>
                          </m:acc>
                          <m:r>
                            <a:rPr lang="en-US" altLang="zh-CN" sz="2400" b="1" i="1">
                              <a:latin typeface="Cambria Math"/>
                            </a:rPr>
                            <m:t>∙</m:t>
                          </m:r>
                          <m:r>
                            <a:rPr lang="en-US" altLang="zh-CN" sz="2400" b="1" i="1">
                              <a:latin typeface="Cambria Math"/>
                            </a:rPr>
                            <m:t>𝒅</m:t>
                          </m:r>
                          <m:acc>
                            <m:accPr>
                              <m:chr m:val="⃑"/>
                              <m:ctrlPr>
                                <a:rPr lang="en-US" altLang="zh-CN" sz="2400" b="1" i="1" smtClean="0">
                                  <a:latin typeface="Cambria Math" panose="02040503050406030204" pitchFamily="18" charset="0"/>
                                </a:rPr>
                              </m:ctrlPr>
                            </m:accPr>
                            <m:e>
                              <m:r>
                                <a:rPr lang="en-US" altLang="zh-CN" sz="2400" b="1" i="1" smtClean="0">
                                  <a:latin typeface="Cambria Math"/>
                                </a:rPr>
                                <m:t>𝒍</m:t>
                              </m:r>
                            </m:e>
                          </m:acc>
                        </m:e>
                      </m:nary>
                    </m:oMath>
                  </m:oMathPara>
                </a14:m>
                <a:endParaRPr lang="zh-CN" altLang="en-US" sz="2400" b="1" dirty="0"/>
              </a:p>
            </p:txBody>
          </p:sp>
        </mc:Choice>
        <mc:Fallback xmlns="">
          <p:sp>
            <p:nvSpPr>
              <p:cNvPr id="9" name="矩形 8"/>
              <p:cNvSpPr>
                <a:spLocks noRot="1" noChangeAspect="1" noMove="1" noResize="1" noEditPoints="1" noAdjustHandles="1" noChangeArrowheads="1" noChangeShapeType="1" noTextEdit="1"/>
              </p:cNvSpPr>
              <p:nvPr/>
            </p:nvSpPr>
            <p:spPr>
              <a:xfrm>
                <a:off x="742130" y="1982045"/>
                <a:ext cx="4765974" cy="889154"/>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1547663" y="3212975"/>
                <a:ext cx="6482366" cy="671338"/>
              </a:xfrm>
              <a:prstGeom prst="rect">
                <a:avLst/>
              </a:prstGeom>
            </p:spPr>
            <p:txBody>
              <a:bodyPr wrap="square">
                <a:spAutoFit/>
              </a:bodyPr>
              <a:lstStyle/>
              <a:p>
                <a14:m>
                  <m:oMath xmlns:m="http://schemas.openxmlformats.org/officeDocument/2006/math">
                    <m:r>
                      <a:rPr lang="en-US" altLang="zh-CN" sz="2400" b="1" smtClean="0">
                        <a:latin typeface="Cambria Math"/>
                      </a:rPr>
                      <m:t>=</m:t>
                    </m:r>
                    <m:sSub>
                      <m:sSubPr>
                        <m:ctrlPr>
                          <a:rPr lang="zh-CN" altLang="zh-CN" sz="2400" b="1" i="1">
                            <a:latin typeface="Cambria Math" panose="02040503050406030204" pitchFamily="18" charset="0"/>
                          </a:rPr>
                        </m:ctrlPr>
                      </m:sSubPr>
                      <m:e>
                        <m:r>
                          <a:rPr lang="en-US" altLang="zh-CN" sz="2400" b="1" i="1">
                            <a:latin typeface="Cambria Math"/>
                          </a:rPr>
                          <m:t>𝒒</m:t>
                        </m:r>
                      </m:e>
                      <m:sub>
                        <m:r>
                          <a:rPr lang="en-US" altLang="zh-CN" sz="2400" b="1" i="1">
                            <a:latin typeface="Cambria Math"/>
                          </a:rPr>
                          <m:t>𝟎</m:t>
                        </m:r>
                      </m:sub>
                    </m:sSub>
                    <m:nary>
                      <m:naryPr>
                        <m:limLoc m:val="subSup"/>
                        <m:ctrlPr>
                          <a:rPr lang="zh-CN" altLang="zh-CN" sz="2400" b="1" i="1">
                            <a:latin typeface="Cambria Math" panose="02040503050406030204" pitchFamily="18" charset="0"/>
                          </a:rPr>
                        </m:ctrlPr>
                      </m:naryPr>
                      <m:sub>
                        <m:r>
                          <a:rPr lang="en-US" altLang="zh-CN" sz="2400" b="1" i="1">
                            <a:latin typeface="Cambria Math"/>
                          </a:rPr>
                          <m:t>𝒓</m:t>
                        </m:r>
                      </m:sub>
                      <m:sup>
                        <m:r>
                          <a:rPr lang="en-US" altLang="zh-CN" sz="2400" b="1" i="1">
                            <a:latin typeface="Cambria Math"/>
                          </a:rPr>
                          <m:t>∞</m:t>
                        </m:r>
                      </m:sup>
                      <m:e>
                        <m:f>
                          <m:fPr>
                            <m:ctrlPr>
                              <a:rPr lang="zh-CN" altLang="zh-CN" sz="2400" b="1" i="1">
                                <a:latin typeface="Cambria Math" panose="02040503050406030204" pitchFamily="18" charset="0"/>
                              </a:rPr>
                            </m:ctrlPr>
                          </m:fPr>
                          <m:num>
                            <m:r>
                              <a:rPr lang="en-US" altLang="zh-CN" sz="2400" b="1" i="1">
                                <a:latin typeface="Cambria Math"/>
                              </a:rPr>
                              <m:t>𝑸</m:t>
                            </m:r>
                          </m:num>
                          <m:den>
                            <m:r>
                              <a:rPr lang="en-US" altLang="zh-CN" sz="2400" b="1" i="1">
                                <a:latin typeface="Cambria Math"/>
                              </a:rPr>
                              <m:t>𝟒</m:t>
                            </m:r>
                            <m:r>
                              <a:rPr lang="en-US" altLang="zh-CN" sz="2400" b="1" i="1">
                                <a:latin typeface="Cambria Math"/>
                              </a:rPr>
                              <m:t>𝝅</m:t>
                            </m:r>
                            <m:sSub>
                              <m:sSubPr>
                                <m:ctrlPr>
                                  <a:rPr lang="zh-CN" altLang="zh-CN" sz="2400" b="1" i="1">
                                    <a:latin typeface="Cambria Math" panose="02040503050406030204" pitchFamily="18" charset="0"/>
                                  </a:rPr>
                                </m:ctrlPr>
                              </m:sSubPr>
                              <m:e>
                                <m:r>
                                  <a:rPr lang="en-US" altLang="zh-CN" sz="2400" b="1" i="1">
                                    <a:latin typeface="Cambria Math"/>
                                  </a:rPr>
                                  <m:t>𝜺</m:t>
                                </m:r>
                              </m:e>
                              <m:sub>
                                <m:r>
                                  <a:rPr lang="en-US" altLang="zh-CN" sz="2400" b="1" i="1">
                                    <a:latin typeface="Cambria Math"/>
                                  </a:rPr>
                                  <m:t>𝟎</m:t>
                                </m:r>
                              </m:sub>
                            </m:sSub>
                            <m:sSup>
                              <m:sSupPr>
                                <m:ctrlPr>
                                  <a:rPr lang="zh-CN" altLang="zh-CN" sz="2400" b="1" i="1">
                                    <a:latin typeface="Cambria Math" panose="02040503050406030204" pitchFamily="18" charset="0"/>
                                  </a:rPr>
                                </m:ctrlPr>
                              </m:sSupPr>
                              <m:e>
                                <m:r>
                                  <a:rPr lang="en-US" altLang="zh-CN" sz="2400" b="1" i="1" smtClean="0">
                                    <a:latin typeface="Cambria Math"/>
                                  </a:rPr>
                                  <m:t>𝒓</m:t>
                                </m:r>
                              </m:e>
                              <m:sup>
                                <m:r>
                                  <a:rPr lang="en-US" altLang="zh-CN" sz="2400" b="1" i="1">
                                    <a:latin typeface="Cambria Math"/>
                                  </a:rPr>
                                  <m:t>𝟐</m:t>
                                </m:r>
                              </m:sup>
                            </m:sSup>
                          </m:den>
                        </m:f>
                      </m:e>
                    </m:nary>
                    <m:r>
                      <a:rPr lang="en-US" altLang="zh-CN" sz="2400" b="1" i="1">
                        <a:latin typeface="Cambria Math"/>
                      </a:rPr>
                      <m:t>𝒅</m:t>
                    </m:r>
                    <m:r>
                      <a:rPr lang="en-US" altLang="zh-CN" sz="2400" b="1" i="1" smtClean="0">
                        <a:latin typeface="Cambria Math"/>
                      </a:rPr>
                      <m:t>𝒓</m:t>
                    </m:r>
                    <m:r>
                      <a:rPr lang="en-US" altLang="zh-CN" sz="2400" b="1" i="1">
                        <a:latin typeface="Cambria Math"/>
                      </a:rPr>
                      <m:t>=</m:t>
                    </m:r>
                    <m:f>
                      <m:fPr>
                        <m:ctrlPr>
                          <a:rPr lang="zh-CN" altLang="zh-CN" sz="2400" b="1" i="1">
                            <a:latin typeface="Cambria Math" panose="02040503050406030204" pitchFamily="18" charset="0"/>
                          </a:rPr>
                        </m:ctrlPr>
                      </m:fPr>
                      <m:num>
                        <m:r>
                          <a:rPr lang="en-US" altLang="zh-CN" sz="2400" b="1" i="1">
                            <a:latin typeface="Cambria Math"/>
                          </a:rPr>
                          <m:t>𝑸</m:t>
                        </m:r>
                        <m:sSub>
                          <m:sSubPr>
                            <m:ctrlPr>
                              <a:rPr lang="zh-CN" altLang="zh-CN" sz="2400" b="1" i="1">
                                <a:latin typeface="Cambria Math" panose="02040503050406030204" pitchFamily="18" charset="0"/>
                              </a:rPr>
                            </m:ctrlPr>
                          </m:sSubPr>
                          <m:e>
                            <m:r>
                              <a:rPr lang="en-US" altLang="zh-CN" sz="2400" b="1" i="1">
                                <a:latin typeface="Cambria Math"/>
                              </a:rPr>
                              <m:t>𝒒</m:t>
                            </m:r>
                          </m:e>
                          <m:sub>
                            <m:r>
                              <a:rPr lang="en-US" altLang="zh-CN" sz="2400" b="1" i="1">
                                <a:latin typeface="Cambria Math"/>
                              </a:rPr>
                              <m:t>𝟎</m:t>
                            </m:r>
                          </m:sub>
                        </m:sSub>
                      </m:num>
                      <m:den>
                        <m:r>
                          <a:rPr lang="en-US" altLang="zh-CN" sz="2400" b="1" i="1">
                            <a:latin typeface="Cambria Math"/>
                          </a:rPr>
                          <m:t>𝟒</m:t>
                        </m:r>
                        <m:r>
                          <a:rPr lang="en-US" altLang="zh-CN" sz="2400" b="1" i="1">
                            <a:latin typeface="Cambria Math"/>
                          </a:rPr>
                          <m:t>𝝅</m:t>
                        </m:r>
                        <m:sSub>
                          <m:sSubPr>
                            <m:ctrlPr>
                              <a:rPr lang="zh-CN" altLang="zh-CN" sz="2400" b="1" i="1">
                                <a:latin typeface="Cambria Math" panose="02040503050406030204" pitchFamily="18" charset="0"/>
                              </a:rPr>
                            </m:ctrlPr>
                          </m:sSubPr>
                          <m:e>
                            <m:r>
                              <a:rPr lang="en-US" altLang="zh-CN" sz="2400" b="1" i="1">
                                <a:latin typeface="Cambria Math"/>
                              </a:rPr>
                              <m:t>𝜺</m:t>
                            </m:r>
                          </m:e>
                          <m:sub>
                            <m:r>
                              <a:rPr lang="en-US" altLang="zh-CN" sz="2400" b="1" i="1">
                                <a:latin typeface="Cambria Math"/>
                              </a:rPr>
                              <m:t>𝟎</m:t>
                            </m:r>
                          </m:sub>
                        </m:sSub>
                        <m:r>
                          <a:rPr lang="en-US" altLang="zh-CN" sz="2400" b="1" i="1">
                            <a:latin typeface="Cambria Math"/>
                          </a:rPr>
                          <m:t>𝒓</m:t>
                        </m:r>
                      </m:den>
                    </m:f>
                  </m:oMath>
                </a14:m>
                <a:r>
                  <a:rPr lang="en-US" altLang="zh-CN" sz="2400" b="1" dirty="0" smtClean="0"/>
                  <a:t>=  k</a:t>
                </a:r>
                <a:endParaRPr lang="zh-CN" altLang="en-US" sz="2400" b="1" dirty="0"/>
              </a:p>
            </p:txBody>
          </p:sp>
        </mc:Choice>
        <mc:Fallback xmlns="">
          <p:sp>
            <p:nvSpPr>
              <p:cNvPr id="10" name="矩形 9"/>
              <p:cNvSpPr>
                <a:spLocks noRot="1" noChangeAspect="1" noMove="1" noResize="1" noEditPoints="1" noAdjustHandles="1" noChangeArrowheads="1" noChangeShapeType="1" noTextEdit="1"/>
              </p:cNvSpPr>
              <p:nvPr/>
            </p:nvSpPr>
            <p:spPr>
              <a:xfrm>
                <a:off x="1547663" y="3212975"/>
                <a:ext cx="6482366" cy="671338"/>
              </a:xfrm>
              <a:prstGeom prst="rect">
                <a:avLst/>
              </a:prstGeom>
              <a:blipFill>
                <a:blip r:embed="rId4"/>
                <a:stretch>
                  <a:fillRect b="-1818"/>
                </a:stretch>
              </a:blipFill>
            </p:spPr>
            <p:txBody>
              <a:bodyPr/>
              <a:lstStyle/>
              <a:p>
                <a:r>
                  <a:rPr lang="zh-CN" altLang="en-US">
                    <a:noFill/>
                  </a:rPr>
                  <a:t> </a:t>
                </a:r>
              </a:p>
            </p:txBody>
          </p:sp>
        </mc:Fallback>
      </mc:AlternateContent>
      <p:sp>
        <p:nvSpPr>
          <p:cNvPr id="12" name="TextBox 11"/>
          <p:cNvSpPr txBox="1"/>
          <p:nvPr/>
        </p:nvSpPr>
        <p:spPr>
          <a:xfrm>
            <a:off x="472349" y="260648"/>
            <a:ext cx="5323787" cy="584775"/>
          </a:xfrm>
          <a:prstGeom prst="rect">
            <a:avLst/>
          </a:prstGeom>
          <a:noFill/>
        </p:spPr>
        <p:txBody>
          <a:bodyPr wrap="square" rtlCol="0">
            <a:spAutoFit/>
          </a:bodyPr>
          <a:lstStyle/>
          <a:p>
            <a:r>
              <a:rPr lang="zh-CN" altLang="en-US" sz="3200" b="1" dirty="0" smtClean="0">
                <a:solidFill>
                  <a:srgbClr val="0000FF"/>
                </a:solidFill>
              </a:rPr>
              <a:t>一对点电荷所具有的电势能</a:t>
            </a:r>
            <a:endParaRPr lang="zh-CN" altLang="en-US" sz="3200" b="1" dirty="0">
              <a:solidFill>
                <a:srgbClr val="0000FF"/>
              </a:solidFill>
            </a:endParaRPr>
          </a:p>
        </p:txBody>
      </p:sp>
      <p:sp>
        <p:nvSpPr>
          <p:cNvPr id="13" name="TextBox 12"/>
          <p:cNvSpPr txBox="1"/>
          <p:nvPr/>
        </p:nvSpPr>
        <p:spPr>
          <a:xfrm>
            <a:off x="5750990" y="2195789"/>
            <a:ext cx="3272021" cy="461665"/>
          </a:xfrm>
          <a:prstGeom prst="rect">
            <a:avLst/>
          </a:prstGeom>
          <a:noFill/>
        </p:spPr>
        <p:txBody>
          <a:bodyPr wrap="square" rtlCol="0">
            <a:spAutoFit/>
          </a:bodyPr>
          <a:lstStyle/>
          <a:p>
            <a:r>
              <a:rPr lang="zh-CN" altLang="en-US" sz="2400" b="1" smtClean="0"/>
              <a:t>取</a:t>
            </a:r>
            <a:r>
              <a:rPr lang="zh-CN" altLang="en-US" sz="2400" b="1" dirty="0"/>
              <a:t>无穷远处电势能为零</a:t>
            </a:r>
          </a:p>
        </p:txBody>
      </p:sp>
      <p:sp>
        <p:nvSpPr>
          <p:cNvPr id="14" name="TextBox 13"/>
          <p:cNvSpPr txBox="1"/>
          <p:nvPr/>
        </p:nvSpPr>
        <p:spPr>
          <a:xfrm>
            <a:off x="189989" y="5517232"/>
            <a:ext cx="8640960" cy="646331"/>
          </a:xfrm>
          <a:prstGeom prst="rect">
            <a:avLst/>
          </a:prstGeom>
          <a:noFill/>
        </p:spPr>
        <p:txBody>
          <a:bodyPr wrap="square" rtlCol="0">
            <a:spAutoFit/>
          </a:bodyPr>
          <a:lstStyle/>
          <a:p>
            <a:pPr>
              <a:lnSpc>
                <a:spcPct val="150000"/>
              </a:lnSpc>
            </a:pPr>
            <a:r>
              <a:rPr lang="zh-CN" altLang="en-US" sz="2400" b="1" smtClean="0">
                <a:solidFill>
                  <a:srgbClr val="FF0000"/>
                </a:solidFill>
              </a:rPr>
              <a:t>可以认为</a:t>
            </a:r>
            <a:r>
              <a:rPr lang="en-US" altLang="zh-CN" sz="2400" b="1" smtClean="0">
                <a:solidFill>
                  <a:srgbClr val="FF0000"/>
                </a:solidFill>
              </a:rPr>
              <a:t>Q</a:t>
            </a:r>
            <a:r>
              <a:rPr lang="zh-CN" altLang="en-US" sz="2400" b="1" smtClean="0">
                <a:solidFill>
                  <a:srgbClr val="FF0000"/>
                </a:solidFill>
              </a:rPr>
              <a:t>不动，</a:t>
            </a:r>
            <a:r>
              <a:rPr lang="en-US" altLang="zh-CN" sz="2400" b="1" smtClean="0">
                <a:solidFill>
                  <a:srgbClr val="FF0000"/>
                </a:solidFill>
              </a:rPr>
              <a:t>q</a:t>
            </a:r>
            <a:r>
              <a:rPr lang="en-US" altLang="zh-CN" sz="2400" b="1" baseline="-25000" smtClean="0">
                <a:solidFill>
                  <a:srgbClr val="FF0000"/>
                </a:solidFill>
                <a:latin typeface="宋体" pitchFamily="2" charset="-122"/>
                <a:ea typeface="宋体" pitchFamily="2" charset="-122"/>
              </a:rPr>
              <a:t>0</a:t>
            </a:r>
            <a:r>
              <a:rPr lang="zh-CN" altLang="en-US" sz="2400" b="1" smtClean="0">
                <a:solidFill>
                  <a:srgbClr val="FF0000"/>
                </a:solidFill>
              </a:rPr>
              <a:t>从该点移动到无穷远处时电场力所做的功</a:t>
            </a:r>
            <a:r>
              <a:rPr lang="zh-CN" altLang="en-US" sz="2400" b="1" smtClean="0"/>
              <a:t>。</a:t>
            </a:r>
            <a:endParaRPr lang="zh-CN" altLang="en-US" sz="2400" b="1"/>
          </a:p>
        </p:txBody>
      </p:sp>
      <p:grpSp>
        <p:nvGrpSpPr>
          <p:cNvPr id="27" name="组合 26"/>
          <p:cNvGrpSpPr/>
          <p:nvPr/>
        </p:nvGrpSpPr>
        <p:grpSpPr>
          <a:xfrm>
            <a:off x="6163129" y="445311"/>
            <a:ext cx="2376488" cy="1046439"/>
            <a:chOff x="6111846" y="260649"/>
            <a:chExt cx="2376488" cy="1046439"/>
          </a:xfrm>
        </p:grpSpPr>
        <p:sp>
          <p:nvSpPr>
            <p:cNvPr id="4" name="TextBox 3"/>
            <p:cNvSpPr txBox="1"/>
            <p:nvPr/>
          </p:nvSpPr>
          <p:spPr>
            <a:xfrm>
              <a:off x="6159584" y="876200"/>
              <a:ext cx="432048" cy="400110"/>
            </a:xfrm>
            <a:prstGeom prst="rect">
              <a:avLst/>
            </a:prstGeom>
            <a:noFill/>
          </p:spPr>
          <p:txBody>
            <a:bodyPr wrap="square" rtlCol="0">
              <a:spAutoFit/>
            </a:bodyPr>
            <a:lstStyle/>
            <a:p>
              <a:r>
                <a:rPr lang="en-US" altLang="zh-CN" sz="2000" dirty="0" smtClean="0"/>
                <a:t>Q</a:t>
              </a:r>
              <a:endParaRPr lang="zh-CN" altLang="en-US" sz="2000" dirty="0"/>
            </a:p>
          </p:txBody>
        </p:sp>
        <p:sp>
          <p:nvSpPr>
            <p:cNvPr id="5" name="TextBox 4"/>
            <p:cNvSpPr txBox="1"/>
            <p:nvPr/>
          </p:nvSpPr>
          <p:spPr>
            <a:xfrm>
              <a:off x="7608029" y="845423"/>
              <a:ext cx="512834" cy="461665"/>
            </a:xfrm>
            <a:prstGeom prst="rect">
              <a:avLst/>
            </a:prstGeom>
            <a:noFill/>
          </p:spPr>
          <p:txBody>
            <a:bodyPr wrap="square" rtlCol="0">
              <a:spAutoFit/>
            </a:bodyPr>
            <a:lstStyle/>
            <a:p>
              <a:r>
                <a:rPr lang="en-US" altLang="zh-CN" sz="2400" dirty="0" smtClean="0"/>
                <a:t>q</a:t>
              </a:r>
              <a:r>
                <a:rPr lang="en-US" altLang="zh-CN" sz="2400" baseline="-25000" dirty="0" smtClean="0"/>
                <a:t>0</a:t>
              </a:r>
              <a:endParaRPr lang="zh-CN" altLang="en-US" sz="2400" baseline="-25000" dirty="0"/>
            </a:p>
          </p:txBody>
        </p:sp>
        <p:grpSp>
          <p:nvGrpSpPr>
            <p:cNvPr id="15" name="Group 31"/>
            <p:cNvGrpSpPr>
              <a:grpSpLocks/>
            </p:cNvGrpSpPr>
            <p:nvPr/>
          </p:nvGrpSpPr>
          <p:grpSpPr bwMode="auto">
            <a:xfrm>
              <a:off x="6111846" y="260649"/>
              <a:ext cx="2376488" cy="534988"/>
              <a:chOff x="676" y="935"/>
              <a:chExt cx="1497" cy="337"/>
            </a:xfrm>
          </p:grpSpPr>
          <p:graphicFrame>
            <p:nvGraphicFramePr>
              <p:cNvPr id="16" name="Object 7"/>
              <p:cNvGraphicFramePr>
                <a:graphicFrameLocks noChangeAspect="1"/>
              </p:cNvGraphicFramePr>
              <p:nvPr/>
            </p:nvGraphicFramePr>
            <p:xfrm>
              <a:off x="1156" y="951"/>
              <a:ext cx="277" cy="288"/>
            </p:xfrm>
            <a:graphic>
              <a:graphicData uri="http://schemas.openxmlformats.org/presentationml/2006/ole">
                <mc:AlternateContent xmlns:mc="http://schemas.openxmlformats.org/markup-compatibility/2006">
                  <mc:Choice xmlns:v="urn:schemas-microsoft-com:vml" Requires="v">
                    <p:oleObj spid="_x0000_s46626" name="Equation" r:id="rId5" imgW="126780" imgH="164814" progId="Equation.3">
                      <p:embed/>
                    </p:oleObj>
                  </mc:Choice>
                  <mc:Fallback>
                    <p:oleObj name="Equation" r:id="rId5" imgW="126780" imgH="164814"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6" y="951"/>
                            <a:ext cx="27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Oval 8"/>
              <p:cNvSpPr>
                <a:spLocks noChangeArrowheads="1"/>
              </p:cNvSpPr>
              <p:nvPr/>
            </p:nvSpPr>
            <p:spPr bwMode="auto">
              <a:xfrm>
                <a:off x="1732" y="1224"/>
                <a:ext cx="48" cy="48"/>
              </a:xfrm>
              <a:prstGeom prst="ellipse">
                <a:avLst/>
              </a:prstGeom>
              <a:solidFill>
                <a:schemeClr val="tx1"/>
              </a:solidFill>
              <a:ln w="9525">
                <a:solidFill>
                  <a:schemeClr val="bg1"/>
                </a:solidFill>
                <a:round/>
                <a:headEnd/>
                <a:tailEnd/>
              </a:ln>
            </p:spPr>
            <p:txBody>
              <a:bodyPr wrap="none" anchor="ctr"/>
              <a:lstStyle/>
              <a:p>
                <a:pPr eaLnBrk="1" hangingPunct="1"/>
                <a:endParaRPr lang="zh-CN" altLang="en-US"/>
              </a:p>
            </p:txBody>
          </p:sp>
          <p:sp>
            <p:nvSpPr>
              <p:cNvPr id="18" name="Line 9"/>
              <p:cNvSpPr>
                <a:spLocks noChangeShapeType="1"/>
              </p:cNvSpPr>
              <p:nvPr/>
            </p:nvSpPr>
            <p:spPr bwMode="auto">
              <a:xfrm>
                <a:off x="820" y="1239"/>
                <a:ext cx="912" cy="0"/>
              </a:xfrm>
              <a:prstGeom prst="line">
                <a:avLst/>
              </a:prstGeom>
              <a:noFill/>
              <a:ln w="38100">
                <a:solidFill>
                  <a:srgbClr val="0000CC"/>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9" name="Object 10"/>
              <p:cNvGraphicFramePr>
                <a:graphicFrameLocks noChangeAspect="1"/>
              </p:cNvGraphicFramePr>
              <p:nvPr>
                <p:extLst>
                  <p:ext uri="{D42A27DB-BD31-4B8C-83A1-F6EECF244321}">
                    <p14:modId xmlns:p14="http://schemas.microsoft.com/office/powerpoint/2010/main" val="874009962"/>
                  </p:ext>
                </p:extLst>
              </p:nvPr>
            </p:nvGraphicFramePr>
            <p:xfrm>
              <a:off x="1660" y="1023"/>
              <a:ext cx="192" cy="192"/>
            </p:xfrm>
            <a:graphic>
              <a:graphicData uri="http://schemas.openxmlformats.org/presentationml/2006/ole">
                <mc:AlternateContent xmlns:mc="http://schemas.openxmlformats.org/markup-compatibility/2006">
                  <mc:Choice xmlns:v="urn:schemas-microsoft-com:vml" Requires="v">
                    <p:oleObj spid="_x0000_s46627" name="Equation" r:id="rId7" imgW="137268" imgH="137160" progId="Equation.3">
                      <p:embed/>
                    </p:oleObj>
                  </mc:Choice>
                  <mc:Fallback>
                    <p:oleObj name="Equation" r:id="rId7" imgW="137268" imgH="13716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60" y="1023"/>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11"/>
              <p:cNvGraphicFramePr>
                <a:graphicFrameLocks noChangeAspect="1"/>
              </p:cNvGraphicFramePr>
              <p:nvPr/>
            </p:nvGraphicFramePr>
            <p:xfrm>
              <a:off x="676" y="999"/>
              <a:ext cx="246" cy="228"/>
            </p:xfrm>
            <a:graphic>
              <a:graphicData uri="http://schemas.openxmlformats.org/presentationml/2006/ole">
                <mc:AlternateContent xmlns:mc="http://schemas.openxmlformats.org/markup-compatibility/2006">
                  <mc:Choice xmlns:v="urn:schemas-microsoft-com:vml" Requires="v">
                    <p:oleObj spid="_x0000_s46628" name="Equation" r:id="rId9" imgW="152202" imgH="177569" progId="Equation.3">
                      <p:embed/>
                    </p:oleObj>
                  </mc:Choice>
                  <mc:Fallback>
                    <p:oleObj name="Equation" r:id="rId9" imgW="152202" imgH="177569"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6" y="999"/>
                            <a:ext cx="246"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 name="Object 12"/>
              <p:cNvGraphicFramePr>
                <a:graphicFrameLocks noChangeAspect="1"/>
              </p:cNvGraphicFramePr>
              <p:nvPr/>
            </p:nvGraphicFramePr>
            <p:xfrm>
              <a:off x="1828" y="935"/>
              <a:ext cx="266" cy="284"/>
            </p:xfrm>
            <a:graphic>
              <a:graphicData uri="http://schemas.openxmlformats.org/presentationml/2006/ole">
                <mc:AlternateContent xmlns:mc="http://schemas.openxmlformats.org/markup-compatibility/2006">
                  <mc:Choice xmlns:v="urn:schemas-microsoft-com:vml" Requires="v">
                    <p:oleObj spid="_x0000_s46629" name="Equation" r:id="rId11" imgW="137268" imgH="182880" progId="Equation.3">
                      <p:embed/>
                    </p:oleObj>
                  </mc:Choice>
                  <mc:Fallback>
                    <p:oleObj name="Equation" r:id="rId11" imgW="137268" imgH="18288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28" y="935"/>
                            <a:ext cx="266"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 name="Line 13"/>
              <p:cNvSpPr>
                <a:spLocks noChangeShapeType="1"/>
              </p:cNvSpPr>
              <p:nvPr/>
            </p:nvSpPr>
            <p:spPr bwMode="auto">
              <a:xfrm>
                <a:off x="1780" y="1239"/>
                <a:ext cx="393" cy="0"/>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6" name="椭圆 25"/>
            <p:cNvSpPr/>
            <p:nvPr/>
          </p:nvSpPr>
          <p:spPr>
            <a:xfrm>
              <a:off x="6307008" y="692696"/>
              <a:ext cx="68600" cy="7838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3" name="对象 2"/>
          <p:cNvGraphicFramePr>
            <a:graphicFrameLocks noChangeAspect="1"/>
          </p:cNvGraphicFramePr>
          <p:nvPr>
            <p:extLst>
              <p:ext uri="{D42A27DB-BD31-4B8C-83A1-F6EECF244321}">
                <p14:modId xmlns:p14="http://schemas.microsoft.com/office/powerpoint/2010/main" val="1234018724"/>
              </p:ext>
            </p:extLst>
          </p:nvPr>
        </p:nvGraphicFramePr>
        <p:xfrm>
          <a:off x="5271926" y="3170761"/>
          <a:ext cx="472355" cy="755768"/>
        </p:xfrm>
        <a:graphic>
          <a:graphicData uri="http://schemas.openxmlformats.org/presentationml/2006/ole">
            <mc:AlternateContent xmlns:mc="http://schemas.openxmlformats.org/markup-compatibility/2006">
              <mc:Choice xmlns:v="urn:schemas-microsoft-com:vml" Requires="v">
                <p:oleObj spid="_x0000_s46630" name="Equation" r:id="rId13" imgW="253800" imgH="406080" progId="Equation.DSMT4">
                  <p:embed/>
                </p:oleObj>
              </mc:Choice>
              <mc:Fallback>
                <p:oleObj name="Equation" r:id="rId13" imgW="253800" imgH="406080" progId="Equation.DSMT4">
                  <p:embed/>
                  <p:pic>
                    <p:nvPicPr>
                      <p:cNvPr id="0" name=""/>
                      <p:cNvPicPr/>
                      <p:nvPr/>
                    </p:nvPicPr>
                    <p:blipFill>
                      <a:blip r:embed="rId14"/>
                      <a:stretch>
                        <a:fillRect/>
                      </a:stretch>
                    </p:blipFill>
                    <p:spPr>
                      <a:xfrm>
                        <a:off x="5271926" y="3170761"/>
                        <a:ext cx="472355" cy="755768"/>
                      </a:xfrm>
                      <a:prstGeom prst="rect">
                        <a:avLst/>
                      </a:prstGeom>
                    </p:spPr>
                  </p:pic>
                </p:oleObj>
              </mc:Fallback>
            </mc:AlternateContent>
          </a:graphicData>
        </a:graphic>
      </p:graphicFrame>
    </p:spTree>
    <p:extLst>
      <p:ext uri="{BB962C8B-B14F-4D97-AF65-F5344CB8AC3E}">
        <p14:creationId xmlns:p14="http://schemas.microsoft.com/office/powerpoint/2010/main" val="38630572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7360" y="1163637"/>
            <a:ext cx="7437003" cy="3592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552362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395536" y="332656"/>
            <a:ext cx="4605064" cy="523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29" tIns="45715" rIns="91429" bIns="45715">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r>
              <a:rPr kumimoji="0" lang="en-US" altLang="zh-CN" sz="2800" dirty="0" smtClean="0">
                <a:latin typeface="黑体" pitchFamily="49" charset="-122"/>
                <a:ea typeface="黑体" pitchFamily="49" charset="-122"/>
              </a:rPr>
              <a:t>4.</a:t>
            </a:r>
            <a:r>
              <a:rPr kumimoji="0" lang="zh-CN" altLang="en-US" sz="2800" dirty="0" smtClean="0">
                <a:latin typeface="黑体" pitchFamily="49" charset="-122"/>
                <a:ea typeface="黑体" pitchFamily="49" charset="-122"/>
              </a:rPr>
              <a:t> 电势能的基本性质</a:t>
            </a:r>
            <a:endParaRPr kumimoji="0" lang="zh-CN" altLang="en-US" sz="2800" dirty="0">
              <a:latin typeface="黑体" pitchFamily="49" charset="-122"/>
              <a:ea typeface="黑体" pitchFamily="49" charset="-122"/>
            </a:endParaRPr>
          </a:p>
        </p:txBody>
      </p:sp>
      <p:sp>
        <p:nvSpPr>
          <p:cNvPr id="3" name="TextBox 2"/>
          <p:cNvSpPr txBox="1"/>
          <p:nvPr/>
        </p:nvSpPr>
        <p:spPr>
          <a:xfrm>
            <a:off x="719064" y="2780928"/>
            <a:ext cx="7992888" cy="559769"/>
          </a:xfrm>
          <a:prstGeom prst="rect">
            <a:avLst/>
          </a:prstGeom>
          <a:noFill/>
        </p:spPr>
        <p:txBody>
          <a:bodyPr wrap="square" rtlCol="0">
            <a:spAutoFit/>
          </a:bodyPr>
          <a:lstStyle/>
          <a:p>
            <a:pPr marL="457200" indent="-457200">
              <a:lnSpc>
                <a:spcPct val="150000"/>
              </a:lnSpc>
              <a:buClr>
                <a:srgbClr val="FF0000"/>
              </a:buClr>
              <a:buFont typeface="Wingdings" pitchFamily="2" charset="2"/>
              <a:buChar char="Ø"/>
            </a:pPr>
            <a:r>
              <a:rPr lang="zh-CN" altLang="en-US" sz="2400" b="1" dirty="0" smtClean="0">
                <a:solidFill>
                  <a:srgbClr val="FF0000"/>
                </a:solidFill>
                <a:latin typeface="黑体" pitchFamily="49" charset="-122"/>
                <a:ea typeface="黑体" pitchFamily="49" charset="-122"/>
              </a:rPr>
              <a:t>电势能只与物体的位置有</a:t>
            </a:r>
            <a:r>
              <a:rPr lang="zh-CN" altLang="en-US" sz="2400" b="1" dirty="0">
                <a:solidFill>
                  <a:srgbClr val="FF0000"/>
                </a:solidFill>
                <a:latin typeface="黑体" pitchFamily="49" charset="-122"/>
                <a:ea typeface="黑体" pitchFamily="49" charset="-122"/>
              </a:rPr>
              <a:t>关</a:t>
            </a:r>
            <a:r>
              <a:rPr lang="zh-CN" altLang="en-US" sz="2400" b="1" dirty="0" smtClean="0">
                <a:solidFill>
                  <a:srgbClr val="FF0000"/>
                </a:solidFill>
                <a:latin typeface="黑体" pitchFamily="49" charset="-122"/>
                <a:ea typeface="黑体" pitchFamily="49" charset="-122"/>
              </a:rPr>
              <a:t>，与路径无关。</a:t>
            </a:r>
            <a:endParaRPr lang="en-US" altLang="zh-CN" sz="2400" b="1" dirty="0" smtClean="0">
              <a:solidFill>
                <a:srgbClr val="FF0000"/>
              </a:solidFill>
              <a:latin typeface="黑体" pitchFamily="49" charset="-122"/>
              <a:ea typeface="黑体" pitchFamily="49" charset="-122"/>
            </a:endParaRPr>
          </a:p>
        </p:txBody>
      </p:sp>
      <p:sp>
        <p:nvSpPr>
          <p:cNvPr id="12" name="TextBox 2"/>
          <p:cNvSpPr txBox="1"/>
          <p:nvPr/>
        </p:nvSpPr>
        <p:spPr>
          <a:xfrm>
            <a:off x="719064" y="3330499"/>
            <a:ext cx="7992888" cy="1113766"/>
          </a:xfrm>
          <a:prstGeom prst="rect">
            <a:avLst/>
          </a:prstGeom>
          <a:noFill/>
        </p:spPr>
        <p:txBody>
          <a:bodyPr wrap="square" rtlCol="0">
            <a:spAutoFit/>
          </a:bodyPr>
          <a:lstStyle/>
          <a:p>
            <a:pPr marL="457200" indent="-457200">
              <a:lnSpc>
                <a:spcPct val="150000"/>
              </a:lnSpc>
              <a:buClr>
                <a:srgbClr val="FF0000"/>
              </a:buClr>
              <a:buFont typeface="Wingdings" pitchFamily="2" charset="2"/>
              <a:buChar char="Ø"/>
            </a:pPr>
            <a:r>
              <a:rPr lang="zh-CN" altLang="en-US" sz="2400" dirty="0" smtClean="0">
                <a:latin typeface="黑体" pitchFamily="49" charset="-122"/>
                <a:ea typeface="黑体" pitchFamily="49" charset="-122"/>
              </a:rPr>
              <a:t>电势能的差值有物理意义，零电势的选取是任意的。电势能的值受零点的影响。</a:t>
            </a:r>
            <a:endParaRPr lang="en-US" altLang="zh-CN" sz="2400" dirty="0" smtClean="0">
              <a:latin typeface="黑体" pitchFamily="49" charset="-122"/>
              <a:ea typeface="黑体" pitchFamily="49" charset="-122"/>
            </a:endParaRPr>
          </a:p>
        </p:txBody>
      </p:sp>
      <p:sp>
        <p:nvSpPr>
          <p:cNvPr id="13" name="TextBox 2"/>
          <p:cNvSpPr txBox="1"/>
          <p:nvPr/>
        </p:nvSpPr>
        <p:spPr>
          <a:xfrm>
            <a:off x="719064" y="4440563"/>
            <a:ext cx="7992888" cy="646331"/>
          </a:xfrm>
          <a:prstGeom prst="rect">
            <a:avLst/>
          </a:prstGeom>
          <a:noFill/>
        </p:spPr>
        <p:txBody>
          <a:bodyPr wrap="square" rtlCol="0">
            <a:spAutoFit/>
          </a:bodyPr>
          <a:lstStyle/>
          <a:p>
            <a:pPr marL="457200" indent="-457200">
              <a:lnSpc>
                <a:spcPct val="150000"/>
              </a:lnSpc>
              <a:buClr>
                <a:srgbClr val="FF0000"/>
              </a:buClr>
              <a:buFont typeface="Wingdings" pitchFamily="2" charset="2"/>
              <a:buChar char="Ø"/>
            </a:pPr>
            <a:r>
              <a:rPr lang="zh-CN" altLang="en-US" sz="2400" dirty="0" smtClean="0">
                <a:latin typeface="黑体" pitchFamily="49" charset="-122"/>
                <a:ea typeface="黑体" pitchFamily="49" charset="-122"/>
              </a:rPr>
              <a:t>对于两个物体，通常选择无限远处为</a:t>
            </a:r>
            <a:r>
              <a:rPr lang="en-US" altLang="zh-CN" sz="2400" i="1" dirty="0" smtClean="0">
                <a:latin typeface="Times New Roman" pitchFamily="18" charset="0"/>
                <a:ea typeface="黑体" pitchFamily="49" charset="-122"/>
                <a:cs typeface="Times New Roman" pitchFamily="18" charset="0"/>
              </a:rPr>
              <a:t>U</a:t>
            </a:r>
            <a:r>
              <a:rPr lang="en-US" altLang="zh-CN" sz="2400" dirty="0" smtClean="0">
                <a:latin typeface="Times New Roman" pitchFamily="18" charset="0"/>
                <a:ea typeface="黑体" pitchFamily="49" charset="-122"/>
                <a:cs typeface="Times New Roman" pitchFamily="18" charset="0"/>
              </a:rPr>
              <a:t>=0</a:t>
            </a:r>
            <a:r>
              <a:rPr lang="zh-CN" altLang="en-US" sz="2400" dirty="0" smtClean="0">
                <a:latin typeface="黑体" pitchFamily="49" charset="-122"/>
                <a:ea typeface="黑体" pitchFamily="49" charset="-122"/>
              </a:rPr>
              <a:t>。</a:t>
            </a:r>
            <a:endParaRPr lang="en-US" altLang="zh-CN" sz="2400" dirty="0" smtClean="0">
              <a:latin typeface="黑体" pitchFamily="49" charset="-122"/>
              <a:ea typeface="黑体" pitchFamily="49" charset="-122"/>
            </a:endParaRPr>
          </a:p>
        </p:txBody>
      </p:sp>
      <mc:AlternateContent xmlns:mc="http://schemas.openxmlformats.org/markup-compatibility/2006" xmlns:a14="http://schemas.microsoft.com/office/drawing/2010/main">
        <mc:Choice Requires="a14">
          <p:sp>
            <p:nvSpPr>
              <p:cNvPr id="19" name="矩形 18"/>
              <p:cNvSpPr/>
              <p:nvPr/>
            </p:nvSpPr>
            <p:spPr>
              <a:xfrm>
                <a:off x="1619672" y="1037280"/>
                <a:ext cx="5184575" cy="144802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sz="2400" b="1" i="1" smtClean="0">
                              <a:solidFill>
                                <a:srgbClr val="0000FF"/>
                              </a:solidFill>
                              <a:latin typeface="Cambria Math" panose="02040503050406030204" pitchFamily="18" charset="0"/>
                            </a:rPr>
                          </m:ctrlPr>
                        </m:sSubPr>
                        <m:e>
                          <m:r>
                            <a:rPr lang="en-US" altLang="zh-CN" sz="2400" b="1" i="1">
                              <a:solidFill>
                                <a:srgbClr val="0000FF"/>
                              </a:solidFill>
                              <a:latin typeface="Cambria Math"/>
                            </a:rPr>
                            <m:t>𝑼</m:t>
                          </m:r>
                        </m:e>
                        <m:sub>
                          <m:r>
                            <a:rPr lang="en-US" altLang="zh-CN" sz="2400" b="1" i="1" smtClean="0">
                              <a:solidFill>
                                <a:srgbClr val="0000FF"/>
                              </a:solidFill>
                              <a:latin typeface="Cambria Math"/>
                            </a:rPr>
                            <m:t>𝒂</m:t>
                          </m:r>
                        </m:sub>
                      </m:sSub>
                      <m:r>
                        <a:rPr lang="en-US" altLang="zh-CN" sz="2400" b="1" i="1">
                          <a:solidFill>
                            <a:srgbClr val="0000FF"/>
                          </a:solidFill>
                          <a:latin typeface="Cambria Math"/>
                        </a:rPr>
                        <m:t>=</m:t>
                      </m:r>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a:rPr>
                            <m:t>𝒒</m:t>
                          </m:r>
                        </m:e>
                        <m:sub>
                          <m:r>
                            <a:rPr lang="en-US" altLang="zh-CN" sz="2400" b="1" i="1">
                              <a:solidFill>
                                <a:srgbClr val="0000FF"/>
                              </a:solidFill>
                              <a:latin typeface="Cambria Math"/>
                            </a:rPr>
                            <m:t>𝟎</m:t>
                          </m:r>
                        </m:sub>
                      </m:sSub>
                      <m:nary>
                        <m:naryPr>
                          <m:limLoc m:val="undOvr"/>
                          <m:ctrlPr>
                            <a:rPr lang="en-US" altLang="zh-CN" sz="2400" b="1" i="1" smtClean="0">
                              <a:solidFill>
                                <a:srgbClr val="0000FF"/>
                              </a:solidFill>
                              <a:latin typeface="Cambria Math" panose="02040503050406030204" pitchFamily="18" charset="0"/>
                            </a:rPr>
                          </m:ctrlPr>
                        </m:naryPr>
                        <m:sub>
                          <m:r>
                            <a:rPr lang="en-US" altLang="zh-CN" sz="2400" b="1" i="1">
                              <a:solidFill>
                                <a:srgbClr val="0000FF"/>
                              </a:solidFill>
                              <a:latin typeface="Cambria Math"/>
                            </a:rPr>
                            <m:t>𝒂</m:t>
                          </m:r>
                          <m:r>
                            <a:rPr lang="en-US" altLang="zh-CN" sz="2400" b="1" i="1">
                              <a:solidFill>
                                <a:srgbClr val="0000FF"/>
                              </a:solidFill>
                              <a:latin typeface="Cambria Math"/>
                            </a:rPr>
                            <m:t>(</m:t>
                          </m:r>
                          <m:r>
                            <a:rPr lang="zh-CN" altLang="en-US" sz="2400" b="1" i="1">
                              <a:solidFill>
                                <a:srgbClr val="0000FF"/>
                              </a:solidFill>
                              <a:latin typeface="Cambria Math"/>
                            </a:rPr>
                            <m:t>任意路径</m:t>
                          </m:r>
                          <m:r>
                            <a:rPr lang="en-US" altLang="zh-CN" sz="2400" b="1" i="1" smtClean="0">
                              <a:solidFill>
                                <a:srgbClr val="0000FF"/>
                              </a:solidFill>
                              <a:latin typeface="Cambria Math"/>
                            </a:rPr>
                            <m:t>)</m:t>
                          </m:r>
                        </m:sub>
                        <m:sup>
                          <m:r>
                            <a:rPr lang="zh-CN" altLang="en-US" sz="2400" b="1" i="1">
                              <a:solidFill>
                                <a:srgbClr val="0000FF"/>
                              </a:solidFill>
                              <a:latin typeface="Cambria Math"/>
                            </a:rPr>
                            <m:t>电势能零势点</m:t>
                          </m:r>
                        </m:sup>
                        <m:e>
                          <m:acc>
                            <m:accPr>
                              <m:chr m:val="⃑"/>
                              <m:ctrlPr>
                                <a:rPr lang="en-US" altLang="zh-CN" sz="2400" b="1" i="1">
                                  <a:solidFill>
                                    <a:srgbClr val="0000FF"/>
                                  </a:solidFill>
                                  <a:latin typeface="Cambria Math" panose="02040503050406030204" pitchFamily="18" charset="0"/>
                                </a:rPr>
                              </m:ctrlPr>
                            </m:accPr>
                            <m:e>
                              <m:r>
                                <a:rPr lang="en-US" altLang="zh-CN" sz="2400" b="1" i="1">
                                  <a:solidFill>
                                    <a:srgbClr val="0000FF"/>
                                  </a:solidFill>
                                  <a:latin typeface="Cambria Math"/>
                                </a:rPr>
                                <m:t>𝑬</m:t>
                              </m:r>
                            </m:e>
                          </m:acc>
                          <m:r>
                            <a:rPr lang="en-US" altLang="zh-CN" sz="2400" b="1" i="1">
                              <a:solidFill>
                                <a:srgbClr val="0000FF"/>
                              </a:solidFill>
                              <a:latin typeface="Cambria Math"/>
                              <a:ea typeface="Cambria Math"/>
                            </a:rPr>
                            <m:t>∙</m:t>
                          </m:r>
                          <m:r>
                            <a:rPr lang="en-US" altLang="zh-CN" sz="2400" b="1" i="1">
                              <a:solidFill>
                                <a:srgbClr val="0000FF"/>
                              </a:solidFill>
                              <a:latin typeface="Cambria Math"/>
                            </a:rPr>
                            <m:t>𝒅</m:t>
                          </m:r>
                          <m:acc>
                            <m:accPr>
                              <m:chr m:val="⃑"/>
                              <m:ctrlPr>
                                <a:rPr lang="en-US" altLang="zh-CN" sz="2400" b="1" i="1">
                                  <a:solidFill>
                                    <a:srgbClr val="0000FF"/>
                                  </a:solidFill>
                                  <a:latin typeface="Cambria Math" panose="02040503050406030204" pitchFamily="18" charset="0"/>
                                </a:rPr>
                              </m:ctrlPr>
                            </m:accPr>
                            <m:e>
                              <m:r>
                                <a:rPr lang="en-US" altLang="zh-CN" sz="2400" b="1" i="1">
                                  <a:solidFill>
                                    <a:srgbClr val="0000FF"/>
                                  </a:solidFill>
                                  <a:latin typeface="Cambria Math"/>
                                </a:rPr>
                                <m:t>𝒍</m:t>
                              </m:r>
                            </m:e>
                          </m:acc>
                        </m:e>
                      </m:nary>
                    </m:oMath>
                  </m:oMathPara>
                </a14:m>
                <a:endParaRPr lang="zh-CN" altLang="en-US" sz="2400" b="1" dirty="0">
                  <a:solidFill>
                    <a:srgbClr val="0000FF"/>
                  </a:solidFill>
                </a:endParaRPr>
              </a:p>
            </p:txBody>
          </p:sp>
        </mc:Choice>
        <mc:Fallback xmlns="">
          <p:sp>
            <p:nvSpPr>
              <p:cNvPr id="19" name="矩形 18"/>
              <p:cNvSpPr>
                <a:spLocks noRot="1" noChangeAspect="1" noMove="1" noResize="1" noEditPoints="1" noAdjustHandles="1" noChangeArrowheads="1" noChangeShapeType="1" noTextEdit="1"/>
              </p:cNvSpPr>
              <p:nvPr/>
            </p:nvSpPr>
            <p:spPr>
              <a:xfrm>
                <a:off x="1619672" y="1037280"/>
                <a:ext cx="5184575" cy="1448025"/>
              </a:xfrm>
              <a:prstGeom prst="rect">
                <a:avLst/>
              </a:prstGeom>
              <a:blipFill rotWithShape="1">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984602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62930" y="980728"/>
            <a:ext cx="8280920" cy="1754326"/>
          </a:xfrm>
          <a:prstGeom prst="rect">
            <a:avLst/>
          </a:prstGeom>
          <a:noFill/>
        </p:spPr>
        <p:txBody>
          <a:bodyPr wrap="square" rtlCol="0">
            <a:spAutoFit/>
          </a:bodyPr>
          <a:lstStyle/>
          <a:p>
            <a:pPr marL="457200" indent="-457200">
              <a:lnSpc>
                <a:spcPct val="150000"/>
              </a:lnSpc>
              <a:buClr>
                <a:srgbClr val="FF0000"/>
              </a:buClr>
              <a:buFont typeface="Wingdings" pitchFamily="2" charset="2"/>
              <a:buChar char="Ø"/>
            </a:pPr>
            <a:r>
              <a:rPr lang="zh-CN" altLang="en-US" sz="2400" dirty="0" smtClean="0">
                <a:latin typeface="黑体" pitchFamily="49" charset="-122"/>
                <a:ea typeface="黑体" pitchFamily="49" charset="-122"/>
              </a:rPr>
              <a:t>万有引力和电场力具有平方反比率，他们的势能具有相似的距离依赖关系。</a:t>
            </a:r>
            <a:endParaRPr lang="en-US" altLang="zh-CN" sz="2400" dirty="0" smtClean="0">
              <a:latin typeface="黑体" pitchFamily="49" charset="-122"/>
              <a:ea typeface="黑体" pitchFamily="49" charset="-122"/>
            </a:endParaRPr>
          </a:p>
          <a:p>
            <a:pPr marL="914400" lvl="1" indent="-457200">
              <a:lnSpc>
                <a:spcPct val="150000"/>
              </a:lnSpc>
              <a:buClr>
                <a:srgbClr val="FF0000"/>
              </a:buClr>
              <a:buFont typeface="Arial" pitchFamily="34" charset="0"/>
              <a:buChar char="•"/>
            </a:pPr>
            <a:r>
              <a:rPr lang="zh-CN" altLang="en-US" sz="2400" dirty="0" smtClean="0">
                <a:latin typeface="黑体" pitchFamily="49" charset="-122"/>
                <a:ea typeface="黑体" pitchFamily="49" charset="-122"/>
              </a:rPr>
              <a:t>重力和重力势能       电场力和电势能（</a:t>
            </a:r>
            <a:r>
              <a:rPr lang="zh-CN" altLang="en-US" sz="2400" dirty="0" smtClean="0">
                <a:solidFill>
                  <a:srgbClr val="FF0000"/>
                </a:solidFill>
                <a:latin typeface="黑体" pitchFamily="49" charset="-122"/>
                <a:ea typeface="黑体" pitchFamily="49" charset="-122"/>
              </a:rPr>
              <a:t>一对点电荷</a:t>
            </a:r>
            <a:r>
              <a:rPr lang="zh-CN" altLang="en-US" sz="2400" dirty="0" smtClean="0">
                <a:latin typeface="黑体" pitchFamily="49" charset="-122"/>
                <a:ea typeface="黑体" pitchFamily="49" charset="-122"/>
              </a:rPr>
              <a:t>）</a:t>
            </a:r>
            <a:endParaRPr lang="zh-CN" altLang="en-US" sz="2400" dirty="0">
              <a:latin typeface="黑体" pitchFamily="49" charset="-122"/>
              <a:ea typeface="黑体" pitchFamily="49"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749742274"/>
              </p:ext>
            </p:extLst>
          </p:nvPr>
        </p:nvGraphicFramePr>
        <p:xfrm>
          <a:off x="1618625" y="2852936"/>
          <a:ext cx="1811241" cy="864096"/>
        </p:xfrm>
        <a:graphic>
          <a:graphicData uri="http://schemas.openxmlformats.org/presentationml/2006/ole">
            <mc:AlternateContent xmlns:mc="http://schemas.openxmlformats.org/markup-compatibility/2006">
              <mc:Choice xmlns:v="urn:schemas-microsoft-com:vml" Requires="v">
                <p:oleObj spid="_x0000_s47630" name="Equation" r:id="rId4" imgW="825500" imgH="393700" progId="Equation.DSMT4">
                  <p:embed/>
                </p:oleObj>
              </mc:Choice>
              <mc:Fallback>
                <p:oleObj name="Equation" r:id="rId4" imgW="825500" imgH="3937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8625" y="2852936"/>
                        <a:ext cx="1811241" cy="864096"/>
                      </a:xfrm>
                      <a:prstGeom prst="rect">
                        <a:avLst/>
                      </a:prstGeom>
                      <a:noFill/>
                      <a:extLst/>
                    </p:spPr>
                  </p:pic>
                </p:oleObj>
              </mc:Fallback>
            </mc:AlternateContent>
          </a:graphicData>
        </a:graphic>
      </p:graphicFrame>
      <p:grpSp>
        <p:nvGrpSpPr>
          <p:cNvPr id="4" name="组合 3"/>
          <p:cNvGrpSpPr/>
          <p:nvPr/>
        </p:nvGrpSpPr>
        <p:grpSpPr>
          <a:xfrm>
            <a:off x="1554503" y="3933404"/>
            <a:ext cx="2441433" cy="1251158"/>
            <a:chOff x="1414463" y="5589588"/>
            <a:chExt cx="2228664" cy="1095633"/>
          </a:xfrm>
        </p:grpSpPr>
        <p:graphicFrame>
          <p:nvGraphicFramePr>
            <p:cNvPr id="5" name="对象 4"/>
            <p:cNvGraphicFramePr>
              <a:graphicFrameLocks noChangeAspect="1"/>
            </p:cNvGraphicFramePr>
            <p:nvPr>
              <p:extLst>
                <p:ext uri="{D42A27DB-BD31-4B8C-83A1-F6EECF244321}">
                  <p14:modId xmlns:p14="http://schemas.microsoft.com/office/powerpoint/2010/main" val="4218314774"/>
                </p:ext>
              </p:extLst>
            </p:nvPr>
          </p:nvGraphicFramePr>
          <p:xfrm>
            <a:off x="1414463" y="5589588"/>
            <a:ext cx="1631950" cy="693737"/>
          </p:xfrm>
          <a:graphic>
            <a:graphicData uri="http://schemas.openxmlformats.org/presentationml/2006/ole">
              <mc:AlternateContent xmlns:mc="http://schemas.openxmlformats.org/markup-compatibility/2006">
                <mc:Choice xmlns:v="urn:schemas-microsoft-com:vml" Requires="v">
                  <p:oleObj spid="_x0000_s47631" name="Equation" r:id="rId6" imgW="926698" imgH="393529" progId="Equation.DSMT4">
                    <p:embed/>
                  </p:oleObj>
                </mc:Choice>
                <mc:Fallback>
                  <p:oleObj name="Equation" r:id="rId6" imgW="926698" imgH="393529"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14463" y="5589588"/>
                          <a:ext cx="1631950" cy="693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1497988" y="6285111"/>
              <a:ext cx="2145139" cy="400110"/>
            </a:xfrm>
            <a:prstGeom prst="rect">
              <a:avLst/>
            </a:prstGeom>
            <a:noFill/>
          </p:spPr>
          <p:txBody>
            <a:bodyPr wrap="none" rtlCol="0">
              <a:spAutoFit/>
            </a:bodyPr>
            <a:lstStyle/>
            <a:p>
              <a:r>
                <a:rPr lang="zh-CN" altLang="en-US" sz="2000" dirty="0" smtClean="0">
                  <a:latin typeface="Times New Roman" pitchFamily="18" charset="0"/>
                  <a:cs typeface="Times New Roman" pitchFamily="18" charset="0"/>
                </a:rPr>
                <a:t>（</a:t>
              </a:r>
              <a:r>
                <a:rPr lang="en-US" altLang="zh-CN" sz="2000" dirty="0" err="1" smtClean="0">
                  <a:latin typeface="Times New Roman" pitchFamily="18" charset="0"/>
                  <a:cs typeface="Times New Roman" pitchFamily="18" charset="0"/>
                </a:rPr>
                <a:t>U</a:t>
              </a:r>
              <a:r>
                <a:rPr lang="en-US" altLang="zh-CN" sz="2000" baseline="-25000" dirty="0" err="1" smtClean="0">
                  <a:latin typeface="Times New Roman" pitchFamily="18" charset="0"/>
                  <a:cs typeface="Times New Roman" pitchFamily="18" charset="0"/>
                </a:rPr>
                <a:t>g</a:t>
              </a:r>
              <a:r>
                <a:rPr lang="en-US" altLang="zh-CN" sz="2000" baseline="-25000" dirty="0" smtClean="0">
                  <a:latin typeface="Times New Roman" pitchFamily="18" charset="0"/>
                  <a:cs typeface="Times New Roman" pitchFamily="18" charset="0"/>
                </a:rPr>
                <a:t> </a:t>
              </a:r>
              <a:r>
                <a:rPr lang="en-US" altLang="zh-CN" sz="2000" dirty="0" smtClean="0">
                  <a:latin typeface="Times New Roman" pitchFamily="18" charset="0"/>
                  <a:cs typeface="Times New Roman" pitchFamily="18" charset="0"/>
                </a:rPr>
                <a:t>= 0 </a:t>
              </a:r>
              <a:r>
                <a:rPr lang="zh-CN" altLang="en-US" sz="2000" dirty="0" smtClean="0">
                  <a:latin typeface="Times New Roman" pitchFamily="18" charset="0"/>
                  <a:cs typeface="Times New Roman" pitchFamily="18" charset="0"/>
                </a:rPr>
                <a:t>，</a:t>
              </a:r>
              <a:r>
                <a:rPr lang="en-US" altLang="zh-CN" sz="2000" dirty="0" smtClean="0">
                  <a:latin typeface="Times New Roman" pitchFamily="18" charset="0"/>
                  <a:cs typeface="Times New Roman" pitchFamily="18" charset="0"/>
                </a:rPr>
                <a:t>r</a:t>
              </a:r>
              <a:r>
                <a:rPr lang="zh-CN" altLang="en-US" sz="2000" dirty="0" smtClean="0">
                  <a:latin typeface="Times New Roman" pitchFamily="18" charset="0"/>
                  <a:cs typeface="Times New Roman" pitchFamily="18" charset="0"/>
                </a:rPr>
                <a:t> </a:t>
              </a:r>
              <a:r>
                <a:rPr lang="en-US" altLang="zh-CN" sz="2000" dirty="0" smtClean="0">
                  <a:latin typeface="Times New Roman" pitchFamily="18" charset="0"/>
                  <a:cs typeface="Times New Roman" pitchFamily="18" charset="0"/>
                </a:rPr>
                <a:t>=∞</a:t>
              </a:r>
              <a:r>
                <a:rPr lang="zh-CN" altLang="en-US" sz="2000" dirty="0" smtClean="0">
                  <a:latin typeface="Times New Roman" pitchFamily="18" charset="0"/>
                  <a:cs typeface="Times New Roman" pitchFamily="18" charset="0"/>
                </a:rPr>
                <a:t>）</a:t>
              </a:r>
              <a:endParaRPr lang="zh-CN" altLang="en-US" sz="2000" dirty="0">
                <a:latin typeface="Times New Roman" pitchFamily="18" charset="0"/>
                <a:cs typeface="Times New Roman" pitchFamily="18" charset="0"/>
              </a:endParaRPr>
            </a:p>
          </p:txBody>
        </p:sp>
      </p:grpSp>
      <p:graphicFrame>
        <p:nvGraphicFramePr>
          <p:cNvPr id="7" name="对象 6"/>
          <p:cNvGraphicFramePr>
            <a:graphicFrameLocks noChangeAspect="1"/>
          </p:cNvGraphicFramePr>
          <p:nvPr>
            <p:extLst>
              <p:ext uri="{D42A27DB-BD31-4B8C-83A1-F6EECF244321}">
                <p14:modId xmlns:p14="http://schemas.microsoft.com/office/powerpoint/2010/main" val="2777738477"/>
              </p:ext>
            </p:extLst>
          </p:nvPr>
        </p:nvGraphicFramePr>
        <p:xfrm>
          <a:off x="4608004" y="2735053"/>
          <a:ext cx="1980220" cy="1000675"/>
        </p:xfrm>
        <a:graphic>
          <a:graphicData uri="http://schemas.openxmlformats.org/presentationml/2006/ole">
            <mc:AlternateContent xmlns:mc="http://schemas.openxmlformats.org/markup-compatibility/2006">
              <mc:Choice xmlns:v="urn:schemas-microsoft-com:vml" Requires="v">
                <p:oleObj spid="_x0000_s47632" name="Equation" r:id="rId8" imgW="800100" imgH="419100" progId="Equation.DSMT4">
                  <p:embed/>
                </p:oleObj>
              </mc:Choice>
              <mc:Fallback>
                <p:oleObj name="Equation" r:id="rId8" imgW="800100" imgH="4191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08004" y="2735053"/>
                        <a:ext cx="1980220" cy="1000675"/>
                      </a:xfrm>
                      <a:prstGeom prst="rect">
                        <a:avLst/>
                      </a:prstGeom>
                      <a:noFill/>
                      <a:extLst/>
                    </p:spPr>
                  </p:pic>
                </p:oleObj>
              </mc:Fallback>
            </mc:AlternateContent>
          </a:graphicData>
        </a:graphic>
      </p:graphicFrame>
      <p:grpSp>
        <p:nvGrpSpPr>
          <p:cNvPr id="8" name="组合 7"/>
          <p:cNvGrpSpPr/>
          <p:nvPr/>
        </p:nvGrpSpPr>
        <p:grpSpPr>
          <a:xfrm>
            <a:off x="4604028" y="3847825"/>
            <a:ext cx="2560419" cy="1336737"/>
            <a:chOff x="4463988" y="5504009"/>
            <a:chExt cx="2560419" cy="1181212"/>
          </a:xfrm>
        </p:grpSpPr>
        <p:graphicFrame>
          <p:nvGraphicFramePr>
            <p:cNvPr id="9" name="对象 8"/>
            <p:cNvGraphicFramePr>
              <a:graphicFrameLocks noChangeAspect="1"/>
            </p:cNvGraphicFramePr>
            <p:nvPr>
              <p:extLst>
                <p:ext uri="{D42A27DB-BD31-4B8C-83A1-F6EECF244321}">
                  <p14:modId xmlns:p14="http://schemas.microsoft.com/office/powerpoint/2010/main" val="2837505147"/>
                </p:ext>
              </p:extLst>
            </p:nvPr>
          </p:nvGraphicFramePr>
          <p:xfrm>
            <a:off x="4463988" y="5504009"/>
            <a:ext cx="1500188" cy="793750"/>
          </p:xfrm>
          <a:graphic>
            <a:graphicData uri="http://schemas.openxmlformats.org/presentationml/2006/ole">
              <mc:AlternateContent xmlns:mc="http://schemas.openxmlformats.org/markup-compatibility/2006">
                <mc:Choice xmlns:v="urn:schemas-microsoft-com:vml" Requires="v">
                  <p:oleObj spid="_x0000_s47633" name="Equation" r:id="rId10" imgW="748975" imgH="393529" progId="Equation.DSMT4">
                    <p:embed/>
                  </p:oleObj>
                </mc:Choice>
                <mc:Fallback>
                  <p:oleObj name="Equation" r:id="rId10" imgW="748975" imgH="393529"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63988" y="5504009"/>
                          <a:ext cx="1500188" cy="793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Box 9"/>
            <p:cNvSpPr txBox="1"/>
            <p:nvPr/>
          </p:nvSpPr>
          <p:spPr>
            <a:xfrm>
              <a:off x="4860032" y="6285111"/>
              <a:ext cx="2164375" cy="400110"/>
            </a:xfrm>
            <a:prstGeom prst="rect">
              <a:avLst/>
            </a:prstGeom>
            <a:noFill/>
          </p:spPr>
          <p:txBody>
            <a:bodyPr wrap="none" rtlCol="0">
              <a:spAutoFit/>
            </a:bodyPr>
            <a:lstStyle/>
            <a:p>
              <a:r>
                <a:rPr lang="zh-CN" altLang="en-US" sz="2000" dirty="0" smtClean="0">
                  <a:latin typeface="Times New Roman" pitchFamily="18" charset="0"/>
                  <a:cs typeface="Times New Roman" pitchFamily="18" charset="0"/>
                </a:rPr>
                <a:t>（</a:t>
              </a:r>
              <a:r>
                <a:rPr lang="en-US" altLang="zh-CN" sz="2000" dirty="0" smtClean="0">
                  <a:latin typeface="Times New Roman" pitchFamily="18" charset="0"/>
                  <a:cs typeface="Times New Roman" pitchFamily="18" charset="0"/>
                </a:rPr>
                <a:t>U</a:t>
              </a:r>
              <a:r>
                <a:rPr lang="en-US" altLang="zh-CN" sz="2000" baseline="-25000" dirty="0">
                  <a:latin typeface="Times New Roman" pitchFamily="18" charset="0"/>
                  <a:cs typeface="Times New Roman" pitchFamily="18" charset="0"/>
                </a:rPr>
                <a:t>E</a:t>
              </a:r>
              <a:r>
                <a:rPr lang="en-US" altLang="zh-CN" sz="2000" baseline="-25000" dirty="0" smtClean="0">
                  <a:latin typeface="Times New Roman" pitchFamily="18" charset="0"/>
                  <a:cs typeface="Times New Roman" pitchFamily="18" charset="0"/>
                </a:rPr>
                <a:t> </a:t>
              </a:r>
              <a:r>
                <a:rPr lang="en-US" altLang="zh-CN" sz="2000" dirty="0" smtClean="0">
                  <a:latin typeface="Times New Roman" pitchFamily="18" charset="0"/>
                  <a:cs typeface="Times New Roman" pitchFamily="18" charset="0"/>
                </a:rPr>
                <a:t>= 0 </a:t>
              </a:r>
              <a:r>
                <a:rPr lang="zh-CN" altLang="en-US" sz="2000" dirty="0" smtClean="0">
                  <a:latin typeface="Times New Roman" pitchFamily="18" charset="0"/>
                  <a:cs typeface="Times New Roman" pitchFamily="18" charset="0"/>
                </a:rPr>
                <a:t>，</a:t>
              </a:r>
              <a:r>
                <a:rPr lang="en-US" altLang="zh-CN" sz="2000" dirty="0" smtClean="0">
                  <a:latin typeface="Times New Roman" pitchFamily="18" charset="0"/>
                  <a:cs typeface="Times New Roman" pitchFamily="18" charset="0"/>
                </a:rPr>
                <a:t>r</a:t>
              </a:r>
              <a:r>
                <a:rPr lang="zh-CN" altLang="en-US" sz="2000" dirty="0" smtClean="0">
                  <a:latin typeface="Times New Roman" pitchFamily="18" charset="0"/>
                  <a:cs typeface="Times New Roman" pitchFamily="18" charset="0"/>
                </a:rPr>
                <a:t> </a:t>
              </a:r>
              <a:r>
                <a:rPr lang="en-US" altLang="zh-CN" sz="2000" dirty="0" smtClean="0">
                  <a:latin typeface="Times New Roman" pitchFamily="18" charset="0"/>
                  <a:cs typeface="Times New Roman" pitchFamily="18" charset="0"/>
                </a:rPr>
                <a:t>=∞</a:t>
              </a:r>
              <a:r>
                <a:rPr lang="zh-CN" altLang="en-US" sz="2000" dirty="0" smtClean="0">
                  <a:latin typeface="Times New Roman" pitchFamily="18" charset="0"/>
                  <a:cs typeface="Times New Roman" pitchFamily="18" charset="0"/>
                </a:rPr>
                <a:t>）</a:t>
              </a:r>
              <a:endParaRPr lang="zh-CN" altLang="en-US" sz="2000" dirty="0">
                <a:latin typeface="Times New Roman" pitchFamily="18" charset="0"/>
                <a:cs typeface="Times New Roman" pitchFamily="18" charset="0"/>
              </a:endParaRPr>
            </a:p>
          </p:txBody>
        </p:sp>
      </p:grpSp>
      <p:sp>
        <p:nvSpPr>
          <p:cNvPr id="11" name="TextBox 10"/>
          <p:cNvSpPr txBox="1"/>
          <p:nvPr/>
        </p:nvSpPr>
        <p:spPr>
          <a:xfrm>
            <a:off x="140040" y="3933056"/>
            <a:ext cx="1403648"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b="1" dirty="0" smtClean="0">
                <a:solidFill>
                  <a:srgbClr val="FF0000"/>
                </a:solidFill>
                <a:latin typeface="+mn-ea"/>
              </a:rPr>
              <a:t>负号表明</a:t>
            </a:r>
            <a:endParaRPr lang="en-US" altLang="zh-CN" b="1" dirty="0" smtClean="0">
              <a:solidFill>
                <a:srgbClr val="FF0000"/>
              </a:solidFill>
              <a:latin typeface="+mn-ea"/>
            </a:endParaRPr>
          </a:p>
          <a:p>
            <a:r>
              <a:rPr lang="zh-CN" altLang="en-US" b="1" dirty="0" smtClean="0">
                <a:solidFill>
                  <a:srgbClr val="FF0000"/>
                </a:solidFill>
                <a:latin typeface="+mn-ea"/>
              </a:rPr>
              <a:t>总是吸引力</a:t>
            </a:r>
            <a:endParaRPr lang="zh-CN" altLang="en-US" b="1" dirty="0">
              <a:solidFill>
                <a:srgbClr val="FF0000"/>
              </a:solidFill>
              <a:latin typeface="+mn-ea"/>
            </a:endParaRPr>
          </a:p>
        </p:txBody>
      </p:sp>
      <p:sp>
        <p:nvSpPr>
          <p:cNvPr id="12" name="TextBox 11"/>
          <p:cNvSpPr txBox="1"/>
          <p:nvPr/>
        </p:nvSpPr>
        <p:spPr>
          <a:xfrm>
            <a:off x="6697668" y="3876960"/>
            <a:ext cx="2478868"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altLang="zh-CN" b="1" i="1" dirty="0" smtClean="0">
                <a:solidFill>
                  <a:srgbClr val="FF0000"/>
                </a:solidFill>
                <a:latin typeface="Times New Roman" pitchFamily="18" charset="0"/>
                <a:cs typeface="Times New Roman" pitchFamily="18" charset="0"/>
              </a:rPr>
              <a:t>U</a:t>
            </a:r>
            <a:r>
              <a:rPr lang="en-US" altLang="zh-CN" b="1" baseline="-25000" dirty="0" smtClean="0">
                <a:solidFill>
                  <a:srgbClr val="FF0000"/>
                </a:solidFill>
                <a:latin typeface="Times New Roman" pitchFamily="18" charset="0"/>
                <a:cs typeface="Times New Roman" pitchFamily="18" charset="0"/>
              </a:rPr>
              <a:t>E</a:t>
            </a:r>
            <a:r>
              <a:rPr lang="zh-CN" altLang="en-US" b="1" dirty="0" smtClean="0">
                <a:solidFill>
                  <a:srgbClr val="FF0000"/>
                </a:solidFill>
                <a:latin typeface="Times New Roman" pitchFamily="18" charset="0"/>
                <a:cs typeface="Times New Roman" pitchFamily="18" charset="0"/>
              </a:rPr>
              <a:t>是标量，可以正、负和零；</a:t>
            </a:r>
            <a:r>
              <a:rPr lang="en-US" altLang="zh-CN" b="1" i="1" dirty="0" smtClean="0">
                <a:solidFill>
                  <a:srgbClr val="FF0000"/>
                </a:solidFill>
                <a:latin typeface="Times New Roman" pitchFamily="18" charset="0"/>
                <a:cs typeface="Times New Roman" pitchFamily="18" charset="0"/>
              </a:rPr>
              <a:t>q</a:t>
            </a:r>
            <a:r>
              <a:rPr lang="en-US" altLang="zh-CN" b="1" baseline="-25000" dirty="0" smtClean="0">
                <a:solidFill>
                  <a:srgbClr val="FF0000"/>
                </a:solidFill>
                <a:latin typeface="Times New Roman" pitchFamily="18" charset="0"/>
                <a:cs typeface="Times New Roman" pitchFamily="18" charset="0"/>
              </a:rPr>
              <a:t>1</a:t>
            </a:r>
            <a:r>
              <a:rPr lang="zh-CN" altLang="en-US" b="1" dirty="0" smtClean="0">
                <a:solidFill>
                  <a:srgbClr val="FF0000"/>
                </a:solidFill>
                <a:latin typeface="Times New Roman" pitchFamily="18" charset="0"/>
                <a:cs typeface="Times New Roman" pitchFamily="18" charset="0"/>
              </a:rPr>
              <a:t>、</a:t>
            </a:r>
            <a:r>
              <a:rPr lang="en-US" altLang="zh-CN" b="1" i="1" dirty="0" smtClean="0">
                <a:solidFill>
                  <a:srgbClr val="FF0000"/>
                </a:solidFill>
                <a:latin typeface="Times New Roman" pitchFamily="18" charset="0"/>
                <a:cs typeface="Times New Roman" pitchFamily="18" charset="0"/>
              </a:rPr>
              <a:t>q</a:t>
            </a:r>
            <a:r>
              <a:rPr lang="en-US" altLang="zh-CN" b="1" baseline="-25000" dirty="0" smtClean="0">
                <a:solidFill>
                  <a:srgbClr val="FF0000"/>
                </a:solidFill>
                <a:latin typeface="Times New Roman" pitchFamily="18" charset="0"/>
                <a:cs typeface="Times New Roman" pitchFamily="18" charset="0"/>
              </a:rPr>
              <a:t>2</a:t>
            </a:r>
            <a:r>
              <a:rPr lang="zh-CN" altLang="en-US" b="1" dirty="0" smtClean="0">
                <a:solidFill>
                  <a:srgbClr val="FF0000"/>
                </a:solidFill>
                <a:latin typeface="Times New Roman" pitchFamily="18" charset="0"/>
                <a:cs typeface="Times New Roman" pitchFamily="18" charset="0"/>
              </a:rPr>
              <a:t>带符号</a:t>
            </a:r>
            <a:endParaRPr lang="zh-CN" altLang="en-US" b="1" dirty="0">
              <a:solidFill>
                <a:srgbClr val="FF0000"/>
              </a:solidFill>
              <a:latin typeface="Times New Roman" pitchFamily="18" charset="0"/>
              <a:cs typeface="Times New Roman" pitchFamily="18" charset="0"/>
            </a:endParaRPr>
          </a:p>
        </p:txBody>
      </p:sp>
      <p:sp>
        <p:nvSpPr>
          <p:cNvPr id="13" name="TextBox 12"/>
          <p:cNvSpPr txBox="1"/>
          <p:nvPr/>
        </p:nvSpPr>
        <p:spPr>
          <a:xfrm>
            <a:off x="435048" y="4818647"/>
            <a:ext cx="1080120" cy="372834"/>
          </a:xfrm>
          <a:prstGeom prst="rect">
            <a:avLst/>
          </a:prstGeom>
          <a:noFill/>
        </p:spPr>
        <p:txBody>
          <a:bodyPr wrap="square" rtlCol="0">
            <a:spAutoFit/>
          </a:bodyPr>
          <a:lstStyle/>
          <a:p>
            <a:r>
              <a:rPr lang="zh-CN" altLang="en-US" b="1" dirty="0" smtClean="0"/>
              <a:t>引力场</a:t>
            </a:r>
            <a:endParaRPr lang="zh-CN" altLang="en-US" b="1" dirty="0"/>
          </a:p>
        </p:txBody>
      </p:sp>
      <p:sp>
        <p:nvSpPr>
          <p:cNvPr id="14" name="TextBox 13"/>
          <p:cNvSpPr txBox="1"/>
          <p:nvPr/>
        </p:nvSpPr>
        <p:spPr>
          <a:xfrm>
            <a:off x="7194123" y="4632943"/>
            <a:ext cx="1436025" cy="646331"/>
          </a:xfrm>
          <a:prstGeom prst="rect">
            <a:avLst/>
          </a:prstGeom>
          <a:noFill/>
        </p:spPr>
        <p:txBody>
          <a:bodyPr wrap="square" rtlCol="0">
            <a:spAutoFit/>
          </a:bodyPr>
          <a:lstStyle/>
          <a:p>
            <a:r>
              <a:rPr lang="zh-CN" altLang="en-US" b="1" dirty="0" smtClean="0"/>
              <a:t>同号斥力场，异号引力场</a:t>
            </a:r>
            <a:endParaRPr lang="zh-CN" altLang="en-US" b="1" dirty="0"/>
          </a:p>
        </p:txBody>
      </p:sp>
    </p:spTree>
    <p:extLst>
      <p:ext uri="{BB962C8B-B14F-4D97-AF65-F5344CB8AC3E}">
        <p14:creationId xmlns:p14="http://schemas.microsoft.com/office/powerpoint/2010/main" val="38356118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gia12141_17_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2176" y="620688"/>
            <a:ext cx="8988160" cy="4295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538246" y="5085184"/>
            <a:ext cx="8558753" cy="830997"/>
          </a:xfrm>
          <a:prstGeom prst="rect">
            <a:avLst/>
          </a:prstGeom>
          <a:noFill/>
        </p:spPr>
        <p:txBody>
          <a:bodyPr wrap="none" rtlCol="0">
            <a:spAutoFit/>
          </a:bodyPr>
          <a:lstStyle/>
          <a:p>
            <a:r>
              <a:rPr lang="zh-CN" altLang="en-US" sz="2400" b="1" dirty="0" smtClean="0"/>
              <a:t>图</a:t>
            </a:r>
            <a:r>
              <a:rPr lang="en-US" altLang="zh-CN" sz="2400" b="1" dirty="0" smtClean="0"/>
              <a:t>17.2 </a:t>
            </a:r>
            <a:r>
              <a:rPr lang="zh-CN" altLang="en-US" sz="2400" b="1" dirty="0" smtClean="0"/>
              <a:t>（</a:t>
            </a:r>
            <a:r>
              <a:rPr lang="en-US" altLang="zh-CN" sz="2400" b="1" dirty="0" smtClean="0"/>
              <a:t>a</a:t>
            </a:r>
            <a:r>
              <a:rPr lang="zh-CN" altLang="en-US" sz="2400" b="1" dirty="0" smtClean="0"/>
              <a:t>）物体沿着引力的方向运动时，引力势能减少。</a:t>
            </a:r>
            <a:endParaRPr lang="en-US" altLang="zh-CN" sz="2400" b="1" dirty="0" smtClean="0"/>
          </a:p>
          <a:p>
            <a:r>
              <a:rPr lang="zh-CN" altLang="en-US" sz="2400" b="1" dirty="0" smtClean="0"/>
              <a:t>（</a:t>
            </a:r>
            <a:r>
              <a:rPr lang="en-US" altLang="zh-CN" sz="2400" b="1" dirty="0" smtClean="0"/>
              <a:t>b</a:t>
            </a:r>
            <a:r>
              <a:rPr lang="zh-CN" altLang="en-US" sz="2400" b="1" dirty="0" smtClean="0"/>
              <a:t>）带电粒子（</a:t>
            </a:r>
            <a:r>
              <a:rPr lang="en-US" altLang="zh-CN" sz="2400" b="1" dirty="0" smtClean="0"/>
              <a:t>q&gt;0</a:t>
            </a:r>
            <a:r>
              <a:rPr lang="zh-CN" altLang="en-US" sz="2400" b="1" dirty="0" smtClean="0"/>
              <a:t>）沿着电场线的方向运动，电势能减少。</a:t>
            </a:r>
            <a:endParaRPr lang="zh-CN" altLang="en-US" sz="2400" b="1" dirty="0"/>
          </a:p>
        </p:txBody>
      </p:sp>
    </p:spTree>
    <p:extLst>
      <p:ext uri="{BB962C8B-B14F-4D97-AF65-F5344CB8AC3E}">
        <p14:creationId xmlns:p14="http://schemas.microsoft.com/office/powerpoint/2010/main" val="26374603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gia12141_17_0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6158"/>
          <a:stretch/>
        </p:blipFill>
        <p:spPr bwMode="auto">
          <a:xfrm>
            <a:off x="1143000" y="172244"/>
            <a:ext cx="6400800" cy="2824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323528" y="3140968"/>
            <a:ext cx="8424936" cy="2862322"/>
          </a:xfrm>
          <a:prstGeom prst="rect">
            <a:avLst/>
          </a:prstGeom>
          <a:noFill/>
        </p:spPr>
        <p:txBody>
          <a:bodyPr wrap="square" rtlCol="0">
            <a:spAutoFit/>
          </a:bodyPr>
          <a:lstStyle/>
          <a:p>
            <a:pPr>
              <a:lnSpc>
                <a:spcPct val="125000"/>
              </a:lnSpc>
            </a:pPr>
            <a:r>
              <a:rPr lang="zh-CN" altLang="en-US" sz="2400" b="1" dirty="0" smtClean="0"/>
              <a:t>图</a:t>
            </a:r>
            <a:r>
              <a:rPr lang="en-US" altLang="zh-CN" sz="2400" b="1" dirty="0" smtClean="0"/>
              <a:t>17.2  </a:t>
            </a:r>
            <a:r>
              <a:rPr lang="zh-CN" altLang="en-US" sz="2400" b="1" dirty="0" smtClean="0"/>
              <a:t>一对质点或点电荷间的势能随其间距离</a:t>
            </a:r>
            <a:r>
              <a:rPr lang="en-US" altLang="zh-CN" sz="2400" b="1" i="1" dirty="0" smtClean="0">
                <a:latin typeface="Times New Roman" panose="02020603050405020304" pitchFamily="18" charset="0"/>
                <a:cs typeface="Times New Roman" panose="02020603050405020304" pitchFamily="18" charset="0"/>
              </a:rPr>
              <a:t>r</a:t>
            </a:r>
            <a:r>
              <a:rPr lang="zh-CN" altLang="en-US" sz="2400" b="1" dirty="0" smtClean="0"/>
              <a:t>的变化关系。</a:t>
            </a:r>
            <a:endParaRPr lang="en-US" altLang="zh-CN" sz="2400" b="1" dirty="0" smtClean="0"/>
          </a:p>
          <a:p>
            <a:pPr>
              <a:lnSpc>
                <a:spcPct val="125000"/>
              </a:lnSpc>
            </a:pPr>
            <a:r>
              <a:rPr lang="zh-CN" altLang="en-US" sz="2400" b="1" dirty="0" smtClean="0"/>
              <a:t>    在每种情况下，都选取 </a:t>
            </a:r>
            <a:r>
              <a:rPr lang="en-US" altLang="zh-CN" sz="2400" b="1" i="1" dirty="0" smtClean="0">
                <a:latin typeface="Times New Roman" panose="02020603050405020304" pitchFamily="18" charset="0"/>
                <a:cs typeface="Times New Roman" panose="02020603050405020304" pitchFamily="18" charset="0"/>
              </a:rPr>
              <a:t>r </a:t>
            </a:r>
            <a:r>
              <a:rPr lang="en-US" altLang="zh-CN" sz="2400" b="1" dirty="0" smtClean="0">
                <a:latin typeface="Times New Roman" panose="02020603050405020304" pitchFamily="18" charset="0"/>
                <a:cs typeface="Times New Roman" panose="02020603050405020304" pitchFamily="18" charset="0"/>
              </a:rPr>
              <a:t>= ∞ </a:t>
            </a:r>
            <a:r>
              <a:rPr lang="zh-CN" altLang="en-US" sz="2400" b="1" dirty="0" smtClean="0">
                <a:latin typeface="Times New Roman" panose="02020603050405020304" pitchFamily="18" charset="0"/>
                <a:cs typeface="Times New Roman" panose="02020603050405020304" pitchFamily="18" charset="0"/>
              </a:rPr>
              <a:t>时 </a:t>
            </a:r>
            <a:r>
              <a:rPr lang="en-US" altLang="zh-CN" sz="2400" b="1" i="1" dirty="0" smtClean="0">
                <a:latin typeface="Times New Roman" panose="02020603050405020304" pitchFamily="18" charset="0"/>
                <a:cs typeface="Times New Roman" panose="02020603050405020304" pitchFamily="18" charset="0"/>
              </a:rPr>
              <a:t>U </a:t>
            </a:r>
            <a:r>
              <a:rPr lang="en-US" altLang="zh-CN" sz="2400" b="1" dirty="0" smtClean="0">
                <a:latin typeface="Times New Roman" panose="02020603050405020304" pitchFamily="18" charset="0"/>
                <a:cs typeface="Times New Roman" panose="02020603050405020304" pitchFamily="18" charset="0"/>
              </a:rPr>
              <a:t>= 0</a:t>
            </a:r>
            <a:r>
              <a:rPr lang="zh-CN" altLang="en-US" sz="2400" b="1" dirty="0" smtClean="0">
                <a:latin typeface="Times New Roman" panose="02020603050405020304" pitchFamily="18" charset="0"/>
                <a:cs typeface="Times New Roman" panose="02020603050405020304" pitchFamily="18" charset="0"/>
              </a:rPr>
              <a:t>。对于</a:t>
            </a:r>
            <a:r>
              <a:rPr lang="zh-CN" altLang="en-US" sz="2400" b="1" dirty="0" smtClean="0">
                <a:solidFill>
                  <a:srgbClr val="FF0000"/>
                </a:solidFill>
                <a:latin typeface="Times New Roman" panose="02020603050405020304" pitchFamily="18" charset="0"/>
                <a:cs typeface="Times New Roman" panose="02020603050405020304" pitchFamily="18" charset="0"/>
              </a:rPr>
              <a:t>吸引力</a:t>
            </a:r>
            <a:r>
              <a:rPr lang="zh-CN" altLang="en-US" sz="2400" b="1" dirty="0" smtClean="0">
                <a:latin typeface="Times New Roman" panose="02020603050405020304" pitchFamily="18" charset="0"/>
                <a:cs typeface="Times New Roman" panose="02020603050405020304" pitchFamily="18" charset="0"/>
              </a:rPr>
              <a:t>的情形，如图</a:t>
            </a:r>
            <a:r>
              <a:rPr lang="en-US" altLang="zh-CN" sz="2400" b="1" dirty="0" smtClean="0">
                <a:latin typeface="Times New Roman" panose="02020603050405020304" pitchFamily="18" charset="0"/>
                <a:cs typeface="Times New Roman" panose="02020603050405020304" pitchFamily="18" charset="0"/>
              </a:rPr>
              <a:t>(a)</a:t>
            </a:r>
            <a:r>
              <a:rPr lang="zh-CN" altLang="en-US" sz="2400" b="1" dirty="0" smtClean="0">
                <a:latin typeface="Times New Roman" panose="02020603050405020304" pitchFamily="18" charset="0"/>
                <a:cs typeface="Times New Roman" panose="02020603050405020304" pitchFamily="18" charset="0"/>
              </a:rPr>
              <a:t>和</a:t>
            </a:r>
            <a:r>
              <a:rPr lang="en-US" altLang="zh-CN" sz="2400" b="1" dirty="0" smtClean="0">
                <a:latin typeface="Times New Roman" panose="02020603050405020304" pitchFamily="18" charset="0"/>
                <a:cs typeface="Times New Roman" panose="02020603050405020304" pitchFamily="18" charset="0"/>
              </a:rPr>
              <a:t>(b)</a:t>
            </a:r>
            <a:r>
              <a:rPr lang="zh-CN" altLang="en-US" sz="2400" b="1" dirty="0" smtClean="0">
                <a:latin typeface="Times New Roman" panose="02020603050405020304" pitchFamily="18" charset="0"/>
                <a:cs typeface="Times New Roman" panose="02020603050405020304" pitchFamily="18" charset="0"/>
              </a:rPr>
              <a:t>，势能为负。如果两个粒子从彼此远离（</a:t>
            </a:r>
            <a:r>
              <a:rPr lang="en-US"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U</a:t>
            </a:r>
            <a:r>
              <a:rPr lang="en-US" altLang="zh-CN" sz="2400" b="1" dirty="0">
                <a:latin typeface="Times New Roman" panose="02020603050405020304" pitchFamily="18" charset="0"/>
                <a:cs typeface="Times New Roman" panose="02020603050405020304" pitchFamily="18" charset="0"/>
              </a:rPr>
              <a:t>=0 </a:t>
            </a:r>
            <a:r>
              <a:rPr lang="zh-CN" altLang="en-US" sz="2400" b="1" dirty="0" smtClean="0">
                <a:latin typeface="Times New Roman" panose="02020603050405020304" pitchFamily="18" charset="0"/>
                <a:cs typeface="Times New Roman" panose="02020603050405020304" pitchFamily="18" charset="0"/>
              </a:rPr>
              <a:t>）开始，它们能自发地相互靠近，此时势能减小。对于</a:t>
            </a:r>
            <a:r>
              <a:rPr lang="zh-CN" altLang="en-US" sz="2400" b="1" dirty="0" smtClean="0">
                <a:solidFill>
                  <a:srgbClr val="FF0000"/>
                </a:solidFill>
                <a:latin typeface="Times New Roman" panose="02020603050405020304" pitchFamily="18" charset="0"/>
                <a:cs typeface="Times New Roman" panose="02020603050405020304" pitchFamily="18" charset="0"/>
              </a:rPr>
              <a:t>排斥力</a:t>
            </a:r>
            <a:r>
              <a:rPr lang="zh-CN" altLang="en-US" sz="2400" b="1" dirty="0" smtClean="0">
                <a:latin typeface="Times New Roman" panose="02020603050405020304" pitchFamily="18" charset="0"/>
                <a:cs typeface="Times New Roman" panose="02020603050405020304" pitchFamily="18" charset="0"/>
              </a:rPr>
              <a:t>的情形</a:t>
            </a:r>
            <a:r>
              <a:rPr lang="en-US" altLang="zh-CN" sz="2400" b="1" dirty="0" smtClean="0">
                <a:latin typeface="Times New Roman" panose="02020603050405020304" pitchFamily="18" charset="0"/>
                <a:cs typeface="Times New Roman" panose="02020603050405020304" pitchFamily="18" charset="0"/>
              </a:rPr>
              <a:t>(c)</a:t>
            </a:r>
            <a:r>
              <a:rPr lang="zh-CN" altLang="en-US" sz="2400" b="1" dirty="0" smtClean="0">
                <a:latin typeface="Times New Roman" panose="02020603050405020304" pitchFamily="18" charset="0"/>
                <a:cs typeface="Times New Roman" panose="02020603050405020304" pitchFamily="18" charset="0"/>
              </a:rPr>
              <a:t>，势能为正。如果两个粒子从彼此远离开始，只有通过外力做功才能将它们推到一起，此时它们的势能增加。</a:t>
            </a:r>
            <a:endParaRPr lang="zh-CN" altLang="en-US" sz="2400" b="1" dirty="0"/>
          </a:p>
        </p:txBody>
      </p:sp>
    </p:spTree>
    <p:extLst>
      <p:ext uri="{BB962C8B-B14F-4D97-AF65-F5344CB8AC3E}">
        <p14:creationId xmlns:p14="http://schemas.microsoft.com/office/powerpoint/2010/main" val="33267100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1465620"/>
            <a:ext cx="8261518" cy="523220"/>
          </a:xfrm>
          <a:prstGeom prst="rect">
            <a:avLst/>
          </a:prstGeom>
          <a:noFill/>
        </p:spPr>
        <p:txBody>
          <a:bodyPr wrap="square" rtlCol="0">
            <a:spAutoFit/>
          </a:bodyPr>
          <a:lstStyle/>
          <a:p>
            <a:r>
              <a:rPr lang="en-US" altLang="zh-CN" sz="2800" b="1" dirty="0" smtClean="0"/>
              <a:t>1.</a:t>
            </a:r>
            <a:r>
              <a:rPr lang="zh-CN" altLang="zh-CN" sz="2800" b="1" dirty="0" smtClean="0"/>
              <a:t>一</a:t>
            </a:r>
            <a:r>
              <a:rPr lang="zh-CN" altLang="zh-CN" sz="2800" b="1" dirty="0"/>
              <a:t>个电荷沿着电场线移动，它的电势能是增加的。</a:t>
            </a:r>
            <a:endParaRPr lang="zh-CN" altLang="en-US" sz="2800" b="1" dirty="0"/>
          </a:p>
        </p:txBody>
      </p:sp>
      <p:sp>
        <p:nvSpPr>
          <p:cNvPr id="3" name="TextBox 2"/>
          <p:cNvSpPr txBox="1"/>
          <p:nvPr/>
        </p:nvSpPr>
        <p:spPr>
          <a:xfrm>
            <a:off x="486946" y="3266698"/>
            <a:ext cx="8064896" cy="1384995"/>
          </a:xfrm>
          <a:prstGeom prst="rect">
            <a:avLst/>
          </a:prstGeom>
          <a:noFill/>
        </p:spPr>
        <p:txBody>
          <a:bodyPr wrap="square" rtlCol="0">
            <a:spAutoFit/>
          </a:bodyPr>
          <a:lstStyle/>
          <a:p>
            <a:pPr>
              <a:lnSpc>
                <a:spcPct val="150000"/>
              </a:lnSpc>
            </a:pPr>
            <a:r>
              <a:rPr lang="en-US" altLang="zh-CN" sz="2800" b="1" smtClean="0"/>
              <a:t>2.</a:t>
            </a:r>
            <a:r>
              <a:rPr lang="zh-CN" altLang="zh-CN" sz="2800" b="1" smtClean="0"/>
              <a:t>对于</a:t>
            </a:r>
            <a:r>
              <a:rPr lang="zh-CN" altLang="zh-CN" sz="2800" b="1"/>
              <a:t>无限长的带电直线，我们可以选取无限远处作为电势零点。</a:t>
            </a:r>
            <a:endParaRPr lang="zh-CN" altLang="en-US" sz="2800" b="1"/>
          </a:p>
        </p:txBody>
      </p:sp>
      <p:sp>
        <p:nvSpPr>
          <p:cNvPr id="4" name="TextBox 3"/>
          <p:cNvSpPr txBox="1"/>
          <p:nvPr/>
        </p:nvSpPr>
        <p:spPr>
          <a:xfrm>
            <a:off x="467544" y="589330"/>
            <a:ext cx="1944216" cy="523220"/>
          </a:xfrm>
          <a:prstGeom prst="rect">
            <a:avLst/>
          </a:prstGeom>
          <a:noFill/>
        </p:spPr>
        <p:txBody>
          <a:bodyPr wrap="square" rtlCol="0">
            <a:spAutoFit/>
          </a:bodyPr>
          <a:lstStyle/>
          <a:p>
            <a:r>
              <a:rPr lang="zh-CN" altLang="en-US" sz="2800" b="1" smtClean="0">
                <a:solidFill>
                  <a:srgbClr val="0000FF"/>
                </a:solidFill>
              </a:rPr>
              <a:t>判断题：</a:t>
            </a:r>
            <a:endParaRPr lang="zh-CN" altLang="en-US" sz="2800" b="1">
              <a:solidFill>
                <a:srgbClr val="0000FF"/>
              </a:solidFill>
            </a:endParaRPr>
          </a:p>
        </p:txBody>
      </p:sp>
      <p:sp>
        <p:nvSpPr>
          <p:cNvPr id="5" name="TextBox 4"/>
          <p:cNvSpPr txBox="1"/>
          <p:nvPr/>
        </p:nvSpPr>
        <p:spPr>
          <a:xfrm>
            <a:off x="1439652" y="2376180"/>
            <a:ext cx="1224136" cy="523220"/>
          </a:xfrm>
          <a:prstGeom prst="rect">
            <a:avLst/>
          </a:prstGeom>
          <a:noFill/>
        </p:spPr>
        <p:txBody>
          <a:bodyPr wrap="square" rtlCol="0">
            <a:spAutoFit/>
          </a:bodyPr>
          <a:lstStyle/>
          <a:p>
            <a:r>
              <a:rPr lang="zh-CN" altLang="en-US" sz="2800" b="1" smtClean="0">
                <a:solidFill>
                  <a:srgbClr val="FF0000"/>
                </a:solidFill>
              </a:rPr>
              <a:t>错误</a:t>
            </a:r>
            <a:endParaRPr lang="zh-CN" altLang="en-US" sz="2800" b="1">
              <a:solidFill>
                <a:srgbClr val="FF0000"/>
              </a:solidFill>
            </a:endParaRPr>
          </a:p>
        </p:txBody>
      </p:sp>
      <p:sp>
        <p:nvSpPr>
          <p:cNvPr id="6" name="TextBox 5"/>
          <p:cNvSpPr txBox="1"/>
          <p:nvPr/>
        </p:nvSpPr>
        <p:spPr>
          <a:xfrm>
            <a:off x="1619672" y="4941168"/>
            <a:ext cx="1224136" cy="523220"/>
          </a:xfrm>
          <a:prstGeom prst="rect">
            <a:avLst/>
          </a:prstGeom>
          <a:noFill/>
        </p:spPr>
        <p:txBody>
          <a:bodyPr wrap="square" rtlCol="0">
            <a:spAutoFit/>
          </a:bodyPr>
          <a:lstStyle/>
          <a:p>
            <a:r>
              <a:rPr lang="zh-CN" altLang="en-US" sz="2800" b="1" smtClean="0">
                <a:solidFill>
                  <a:srgbClr val="FF0000"/>
                </a:solidFill>
              </a:rPr>
              <a:t>错误</a:t>
            </a:r>
            <a:endParaRPr lang="zh-CN" altLang="en-US" sz="2800" b="1">
              <a:solidFill>
                <a:srgbClr val="FF0000"/>
              </a:solidFill>
            </a:endParaRPr>
          </a:p>
        </p:txBody>
      </p:sp>
    </p:spTree>
    <p:extLst>
      <p:ext uri="{BB962C8B-B14F-4D97-AF65-F5344CB8AC3E}">
        <p14:creationId xmlns:p14="http://schemas.microsoft.com/office/powerpoint/2010/main" val="3956906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gia12141_17_0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15048" y="260648"/>
            <a:ext cx="5228952" cy="4411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35496" y="116632"/>
            <a:ext cx="4680520" cy="490519"/>
          </a:xfrm>
          <a:prstGeom prst="rect">
            <a:avLst/>
          </a:prstGeom>
          <a:noFill/>
        </p:spPr>
        <p:txBody>
          <a:bodyPr wrap="square" rtlCol="0">
            <a:spAutoFit/>
          </a:bodyPr>
          <a:lstStyle/>
          <a:p>
            <a:pPr>
              <a:lnSpc>
                <a:spcPct val="125000"/>
              </a:lnSpc>
            </a:pPr>
            <a:r>
              <a:rPr lang="zh-CN" altLang="en-US" sz="2400" b="1" dirty="0" smtClean="0">
                <a:latin typeface="+mn-ea"/>
              </a:rPr>
              <a:t>例</a:t>
            </a:r>
            <a:r>
              <a:rPr lang="en-US" altLang="zh-CN" sz="2400" b="1" dirty="0" smtClean="0">
                <a:latin typeface="+mn-ea"/>
              </a:rPr>
              <a:t>17.1 </a:t>
            </a:r>
            <a:r>
              <a:rPr lang="zh-CN" altLang="en-US" sz="2400" b="1" dirty="0" smtClean="0">
                <a:latin typeface="+mn-ea"/>
              </a:rPr>
              <a:t>雷暴云的电势能</a:t>
            </a:r>
            <a:endParaRPr lang="en-US" altLang="zh-CN" sz="2400" b="1" dirty="0" smtClean="0">
              <a:latin typeface="+mn-ea"/>
            </a:endParaRPr>
          </a:p>
        </p:txBody>
      </p:sp>
      <p:sp>
        <p:nvSpPr>
          <p:cNvPr id="4" name="文本框 3"/>
          <p:cNvSpPr txBox="1"/>
          <p:nvPr/>
        </p:nvSpPr>
        <p:spPr>
          <a:xfrm>
            <a:off x="47612" y="701035"/>
            <a:ext cx="4308364" cy="4601260"/>
          </a:xfrm>
          <a:prstGeom prst="rect">
            <a:avLst/>
          </a:prstGeom>
          <a:noFill/>
        </p:spPr>
        <p:txBody>
          <a:bodyPr wrap="square" rtlCol="0">
            <a:spAutoFit/>
          </a:bodyPr>
          <a:lstStyle/>
          <a:p>
            <a:pPr>
              <a:lnSpc>
                <a:spcPct val="125000"/>
              </a:lnSpc>
            </a:pPr>
            <a:r>
              <a:rPr lang="zh-CN" altLang="en-US" sz="2200" b="1" dirty="0" smtClean="0">
                <a:latin typeface="+mn-ea"/>
              </a:rPr>
              <a:t>    在</a:t>
            </a:r>
            <a:r>
              <a:rPr lang="zh-CN" altLang="en-US" sz="2200" b="1" dirty="0">
                <a:latin typeface="+mn-ea"/>
              </a:rPr>
              <a:t>雷雨中，电荷是通过一种由太阳引发的复杂机制被分离的。可以用一个简单的模型来表示雷暴云中的电荷：正电荷聚集在顶部，负电荷聚集在底部，就像一对点电荷。（</a:t>
            </a:r>
            <a:r>
              <a:rPr lang="en-US" altLang="zh-CN" sz="2200" b="1" dirty="0">
                <a:latin typeface="+mn-ea"/>
              </a:rPr>
              <a:t>a</a:t>
            </a:r>
            <a:r>
              <a:rPr lang="zh-CN" altLang="en-US" sz="2200" b="1" dirty="0">
                <a:latin typeface="+mn-ea"/>
              </a:rPr>
              <a:t>）这对点电荷的电势能为多少？假设两个电荷相距无限远时电势能</a:t>
            </a:r>
            <a:r>
              <a:rPr lang="en-US" altLang="zh-CN" sz="2200" b="1" dirty="0">
                <a:latin typeface="Times New Roman" panose="02020603050405020304" pitchFamily="18" charset="0"/>
                <a:cs typeface="Times New Roman" panose="02020603050405020304" pitchFamily="18" charset="0"/>
              </a:rPr>
              <a:t>U=0</a:t>
            </a:r>
            <a:r>
              <a:rPr lang="en-US" altLang="zh-CN" sz="2200" b="1" dirty="0">
                <a:latin typeface="+mn-ea"/>
              </a:rPr>
              <a:t>.</a:t>
            </a:r>
            <a:r>
              <a:rPr lang="zh-CN" altLang="en-US" sz="2200" b="1" dirty="0">
                <a:latin typeface="+mn-ea"/>
              </a:rPr>
              <a:t>（</a:t>
            </a:r>
            <a:r>
              <a:rPr lang="en-US" altLang="zh-CN" sz="2200" b="1" dirty="0">
                <a:latin typeface="+mn-ea"/>
              </a:rPr>
              <a:t>b</a:t>
            </a:r>
            <a:r>
              <a:rPr lang="zh-CN" altLang="en-US" sz="2200" b="1" dirty="0">
                <a:latin typeface="+mn-ea"/>
              </a:rPr>
              <a:t>）通过要分开雷暴云中的电荷外力必须做正功来解释所得电势能的符号。</a:t>
            </a:r>
          </a:p>
          <a:p>
            <a:endParaRPr lang="zh-CN" altLang="en-US" b="1" dirty="0"/>
          </a:p>
        </p:txBody>
      </p:sp>
      <p:graphicFrame>
        <p:nvGraphicFramePr>
          <p:cNvPr id="5" name="对象 4"/>
          <p:cNvGraphicFramePr>
            <a:graphicFrameLocks noChangeAspect="1"/>
          </p:cNvGraphicFramePr>
          <p:nvPr/>
        </p:nvGraphicFramePr>
        <p:xfrm>
          <a:off x="357157" y="5107002"/>
          <a:ext cx="3581106" cy="822328"/>
        </p:xfrm>
        <a:graphic>
          <a:graphicData uri="http://schemas.openxmlformats.org/presentationml/2006/ole">
            <mc:AlternateContent xmlns:mc="http://schemas.openxmlformats.org/markup-compatibility/2006">
              <mc:Choice xmlns:v="urn:schemas-microsoft-com:vml" Requires="v">
                <p:oleObj spid="_x0000_s30944" name="Equation" r:id="rId5" imgW="1714320" imgH="393480" progId="Equation.DSMT4">
                  <p:embed/>
                </p:oleObj>
              </mc:Choice>
              <mc:Fallback>
                <p:oleObj name="Equation" r:id="rId5" imgW="1714320" imgH="393480" progId="Equation.DSMT4">
                  <p:embed/>
                  <p:pic>
                    <p:nvPicPr>
                      <p:cNvPr id="0" name="Picture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7157" y="5107002"/>
                        <a:ext cx="3581106" cy="8223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395536" y="6021288"/>
            <a:ext cx="8496944" cy="646331"/>
          </a:xfrm>
          <a:prstGeom prst="rect">
            <a:avLst/>
          </a:prstGeom>
          <a:noFill/>
        </p:spPr>
        <p:txBody>
          <a:bodyPr wrap="square" rtlCol="0">
            <a:spAutoFit/>
          </a:bodyPr>
          <a:lstStyle/>
          <a:p>
            <a:r>
              <a:rPr lang="zh-CN" altLang="en-US" b="1" dirty="0" smtClean="0"/>
              <a:t>引力场，分开雷暴云，外力作正功，电场力做负功，电势能增加，增加到无限远处电势能才为零，所以该点的电势能一定为负值。</a:t>
            </a:r>
            <a:endParaRPr lang="zh-CN" altLang="en-US" b="1" dirty="0"/>
          </a:p>
        </p:txBody>
      </p:sp>
    </p:spTree>
    <p:extLst>
      <p:ext uri="{BB962C8B-B14F-4D97-AF65-F5344CB8AC3E}">
        <p14:creationId xmlns:p14="http://schemas.microsoft.com/office/powerpoint/2010/main" val="40452854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17190"/>
            <a:ext cx="3600400" cy="864096"/>
          </a:xfrm>
        </p:spPr>
        <p:txBody>
          <a:bodyPr>
            <a:normAutofit/>
          </a:bodyPr>
          <a:lstStyle/>
          <a:p>
            <a:pPr algn="l"/>
            <a:r>
              <a:rPr lang="zh-CN" altLang="en-US" sz="3600" b="1" dirty="0" smtClean="0">
                <a:solidFill>
                  <a:srgbClr val="0000FF"/>
                </a:solidFill>
                <a:latin typeface="宋体" pitchFamily="2" charset="-122"/>
                <a:ea typeface="宋体" pitchFamily="2" charset="-122"/>
              </a:rPr>
              <a:t>练习题 </a:t>
            </a:r>
            <a:r>
              <a:rPr lang="en-US" altLang="zh-CN" sz="3600" b="1" dirty="0" smtClean="0">
                <a:solidFill>
                  <a:srgbClr val="0000FF"/>
                </a:solidFill>
                <a:latin typeface="宋体" pitchFamily="2" charset="-122"/>
                <a:ea typeface="宋体" pitchFamily="2" charset="-122"/>
              </a:rPr>
              <a:t>17.1</a:t>
            </a:r>
            <a:endParaRPr lang="zh-CN" altLang="en-US" sz="3600" b="1" dirty="0">
              <a:solidFill>
                <a:srgbClr val="0000FF"/>
              </a:solidFill>
              <a:latin typeface="宋体" pitchFamily="2" charset="-122"/>
              <a:ea typeface="宋体" pitchFamily="2" charset="-122"/>
            </a:endParaRPr>
          </a:p>
        </p:txBody>
      </p:sp>
      <p:sp>
        <p:nvSpPr>
          <p:cNvPr id="3" name="内容占位符 2"/>
          <p:cNvSpPr>
            <a:spLocks noGrp="1"/>
          </p:cNvSpPr>
          <p:nvPr>
            <p:ph idx="1"/>
          </p:nvPr>
        </p:nvSpPr>
        <p:spPr>
          <a:xfrm>
            <a:off x="395536" y="980728"/>
            <a:ext cx="8352928" cy="3960440"/>
          </a:xfrm>
        </p:spPr>
        <p:txBody>
          <a:bodyPr>
            <a:normAutofit/>
          </a:bodyPr>
          <a:lstStyle/>
          <a:p>
            <a:pPr marL="0" indent="0">
              <a:lnSpc>
                <a:spcPct val="150000"/>
              </a:lnSpc>
              <a:buNone/>
            </a:pPr>
            <a:r>
              <a:rPr lang="zh-CN" altLang="en-US" sz="2800" b="1" dirty="0" smtClean="0">
                <a:latin typeface="+mn-ea"/>
              </a:rPr>
              <a:t>两个点电荷，</a:t>
            </a:r>
            <a:r>
              <a:rPr lang="en-US" altLang="zh-CN" sz="2800" b="1" dirty="0" smtClean="0">
                <a:latin typeface="+mn-ea"/>
              </a:rPr>
              <a:t>Q=+6.0uC</a:t>
            </a:r>
            <a:r>
              <a:rPr lang="zh-CN" altLang="en-US" sz="2800" b="1" dirty="0" smtClean="0">
                <a:latin typeface="+mn-ea"/>
              </a:rPr>
              <a:t>和</a:t>
            </a:r>
            <a:r>
              <a:rPr lang="en-US" altLang="zh-CN" sz="2800" b="1" dirty="0" smtClean="0">
                <a:latin typeface="+mn-ea"/>
              </a:rPr>
              <a:t>q=+5.0uC</a:t>
            </a:r>
            <a:r>
              <a:rPr lang="zh-CN" altLang="en-US" sz="2800" b="1" dirty="0" smtClean="0">
                <a:latin typeface="+mn-ea"/>
              </a:rPr>
              <a:t>，相距</a:t>
            </a:r>
            <a:r>
              <a:rPr lang="en-US" altLang="zh-CN" sz="2800" b="1" dirty="0" smtClean="0">
                <a:latin typeface="+mn-ea"/>
              </a:rPr>
              <a:t>15.0m</a:t>
            </a:r>
            <a:r>
              <a:rPr lang="zh-CN" altLang="en-US" sz="2800" b="1" dirty="0" smtClean="0">
                <a:latin typeface="+mn-ea"/>
              </a:rPr>
              <a:t>。（</a:t>
            </a:r>
            <a:r>
              <a:rPr lang="en-US" altLang="zh-CN" sz="2800" b="1" dirty="0" smtClean="0">
                <a:latin typeface="+mn-ea"/>
              </a:rPr>
              <a:t>a</a:t>
            </a:r>
            <a:r>
              <a:rPr lang="zh-CN" altLang="en-US" sz="2800" b="1" dirty="0" smtClean="0">
                <a:latin typeface="+mn-ea"/>
              </a:rPr>
              <a:t>）它们所具有的电势能是多少？（</a:t>
            </a:r>
            <a:r>
              <a:rPr lang="en-US" altLang="zh-CN" sz="2800" b="1" dirty="0" smtClean="0">
                <a:latin typeface="+mn-ea"/>
              </a:rPr>
              <a:t>b</a:t>
            </a:r>
            <a:r>
              <a:rPr lang="zh-CN" altLang="en-US" sz="2800" b="1" dirty="0" smtClean="0">
                <a:latin typeface="+mn-ea"/>
              </a:rPr>
              <a:t>）电荷</a:t>
            </a:r>
            <a:r>
              <a:rPr lang="en-US" altLang="zh-CN" sz="2800" b="1" dirty="0" smtClean="0">
                <a:latin typeface="+mn-ea"/>
              </a:rPr>
              <a:t>q</a:t>
            </a:r>
            <a:r>
              <a:rPr lang="zh-CN" altLang="en-US" sz="2800" b="1" dirty="0" smtClean="0">
                <a:latin typeface="+mn-ea"/>
              </a:rPr>
              <a:t>可自由移动，没有其它力作用在其上，而电荷</a:t>
            </a:r>
            <a:r>
              <a:rPr lang="en-US" altLang="zh-CN" sz="2800" b="1" dirty="0" smtClean="0">
                <a:latin typeface="+mn-ea"/>
              </a:rPr>
              <a:t>Q</a:t>
            </a:r>
            <a:r>
              <a:rPr lang="zh-CN" altLang="en-US" sz="2800" b="1" dirty="0" smtClean="0">
                <a:latin typeface="+mn-ea"/>
              </a:rPr>
              <a:t>固定不动。初始时两个电荷静止。电荷</a:t>
            </a:r>
            <a:r>
              <a:rPr lang="en-US" altLang="zh-CN" sz="2800" b="1" dirty="0" smtClean="0">
                <a:latin typeface="+mn-ea"/>
              </a:rPr>
              <a:t>q</a:t>
            </a:r>
            <a:r>
              <a:rPr lang="zh-CN" altLang="en-US" sz="2800" b="1" dirty="0" smtClean="0">
                <a:latin typeface="+mn-ea"/>
              </a:rPr>
              <a:t>是向着</a:t>
            </a:r>
            <a:r>
              <a:rPr lang="en-US" altLang="zh-CN" sz="2800" b="1" dirty="0" smtClean="0">
                <a:latin typeface="+mn-ea"/>
              </a:rPr>
              <a:t>Q</a:t>
            </a:r>
            <a:r>
              <a:rPr lang="zh-CN" altLang="en-US" sz="2800" b="1" dirty="0" smtClean="0">
                <a:latin typeface="+mn-ea"/>
              </a:rPr>
              <a:t>方向还是远离</a:t>
            </a:r>
            <a:r>
              <a:rPr lang="en-US" altLang="zh-CN" sz="2800" b="1" dirty="0" smtClean="0">
                <a:latin typeface="+mn-ea"/>
              </a:rPr>
              <a:t>Q</a:t>
            </a:r>
            <a:r>
              <a:rPr lang="zh-CN" altLang="en-US" sz="2800" b="1" dirty="0" smtClean="0">
                <a:latin typeface="+mn-ea"/>
              </a:rPr>
              <a:t>方向运动？（</a:t>
            </a:r>
            <a:r>
              <a:rPr lang="en-US" altLang="zh-CN" sz="2800" b="1" dirty="0" smtClean="0">
                <a:latin typeface="+mn-ea"/>
              </a:rPr>
              <a:t>c</a:t>
            </a:r>
            <a:r>
              <a:rPr lang="zh-CN" altLang="en-US" sz="2800" b="1" dirty="0" smtClean="0">
                <a:latin typeface="+mn-ea"/>
              </a:rPr>
              <a:t>）电荷</a:t>
            </a:r>
            <a:r>
              <a:rPr lang="en-US" altLang="zh-CN" sz="2800" b="1" dirty="0" smtClean="0">
                <a:latin typeface="+mn-ea"/>
              </a:rPr>
              <a:t>q</a:t>
            </a:r>
            <a:r>
              <a:rPr lang="zh-CN" altLang="en-US" sz="2800" b="1" dirty="0" smtClean="0">
                <a:latin typeface="+mn-ea"/>
              </a:rPr>
              <a:t>的运动如何影响电势能？解释能量是如何保持守恒的。</a:t>
            </a:r>
            <a:endParaRPr lang="zh-CN" altLang="en-US" sz="2800" b="1" dirty="0">
              <a:latin typeface="+mn-ea"/>
            </a:endParaRPr>
          </a:p>
        </p:txBody>
      </p:sp>
      <p:sp>
        <p:nvSpPr>
          <p:cNvPr id="4" name="TextBox 3"/>
          <p:cNvSpPr txBox="1"/>
          <p:nvPr/>
        </p:nvSpPr>
        <p:spPr>
          <a:xfrm>
            <a:off x="4828014" y="5013176"/>
            <a:ext cx="2808312" cy="461665"/>
          </a:xfrm>
          <a:prstGeom prst="rect">
            <a:avLst/>
          </a:prstGeom>
          <a:noFill/>
        </p:spPr>
        <p:txBody>
          <a:bodyPr wrap="square" rtlCol="0">
            <a:spAutoFit/>
          </a:bodyPr>
          <a:lstStyle/>
          <a:p>
            <a:r>
              <a:rPr lang="zh-CN" altLang="en-US" sz="2400" b="1" smtClean="0"/>
              <a:t>（</a:t>
            </a:r>
            <a:r>
              <a:rPr lang="en-US" altLang="zh-CN" sz="2400" b="1" smtClean="0"/>
              <a:t>b</a:t>
            </a:r>
            <a:r>
              <a:rPr lang="zh-CN" altLang="en-US" sz="2400" b="1" smtClean="0"/>
              <a:t>）离开</a:t>
            </a:r>
            <a:r>
              <a:rPr lang="en-US" altLang="zh-CN" sz="2400" b="1" smtClean="0"/>
              <a:t>Q </a:t>
            </a:r>
            <a:endParaRPr lang="zh-CN" altLang="en-US" sz="2400" b="1"/>
          </a:p>
        </p:txBody>
      </p:sp>
      <p:graphicFrame>
        <p:nvGraphicFramePr>
          <p:cNvPr id="5" name="对象 4"/>
          <p:cNvGraphicFramePr>
            <a:graphicFrameLocks noChangeAspect="1"/>
          </p:cNvGraphicFramePr>
          <p:nvPr>
            <p:extLst>
              <p:ext uri="{D42A27DB-BD31-4B8C-83A1-F6EECF244321}">
                <p14:modId xmlns:p14="http://schemas.microsoft.com/office/powerpoint/2010/main" val="3058861880"/>
              </p:ext>
            </p:extLst>
          </p:nvPr>
        </p:nvGraphicFramePr>
        <p:xfrm>
          <a:off x="899592" y="4839543"/>
          <a:ext cx="3527425" cy="822325"/>
        </p:xfrm>
        <a:graphic>
          <a:graphicData uri="http://schemas.openxmlformats.org/presentationml/2006/ole">
            <mc:AlternateContent xmlns:mc="http://schemas.openxmlformats.org/markup-compatibility/2006">
              <mc:Choice xmlns:v="urn:schemas-microsoft-com:vml" Requires="v">
                <p:oleObj spid="_x0000_s48257" name="Equation" r:id="rId3" imgW="1688760" imgH="393480" progId="Equation.DSMT4">
                  <p:embed/>
                </p:oleObj>
              </mc:Choice>
              <mc:Fallback>
                <p:oleObj name="Equation" r:id="rId3" imgW="1688760" imgH="393480" progId="Equation.DSMT4">
                  <p:embed/>
                  <p:pic>
                    <p:nvPicPr>
                      <p:cNvPr id="0" name="对象 4"/>
                      <p:cNvPicPr>
                        <a:picLocks noChangeAspect="1" noChangeArrowheads="1"/>
                      </p:cNvPicPr>
                      <p:nvPr/>
                    </p:nvPicPr>
                    <p:blipFill>
                      <a:blip r:embed="rId4"/>
                      <a:srcRect/>
                      <a:stretch>
                        <a:fillRect/>
                      </a:stretch>
                    </p:blipFill>
                    <p:spPr bwMode="auto">
                      <a:xfrm>
                        <a:off x="899592" y="4839543"/>
                        <a:ext cx="35274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Box 5"/>
          <p:cNvSpPr txBox="1"/>
          <p:nvPr/>
        </p:nvSpPr>
        <p:spPr>
          <a:xfrm>
            <a:off x="683568" y="5661248"/>
            <a:ext cx="6192688" cy="828304"/>
          </a:xfrm>
          <a:prstGeom prst="rect">
            <a:avLst/>
          </a:prstGeom>
          <a:noFill/>
        </p:spPr>
        <p:txBody>
          <a:bodyPr wrap="square" rtlCol="0">
            <a:spAutoFit/>
          </a:bodyPr>
          <a:lstStyle/>
          <a:p>
            <a:pPr>
              <a:lnSpc>
                <a:spcPct val="125000"/>
              </a:lnSpc>
            </a:pPr>
            <a:r>
              <a:rPr lang="zh-CN" altLang="en-US" sz="2000" b="1" smtClean="0"/>
              <a:t>（</a:t>
            </a:r>
            <a:r>
              <a:rPr lang="en-US" altLang="zh-CN" sz="2000" b="1" smtClean="0"/>
              <a:t>C</a:t>
            </a:r>
            <a:r>
              <a:rPr lang="zh-CN" altLang="en-US" sz="2000" b="1" smtClean="0"/>
              <a:t>）</a:t>
            </a:r>
            <a:r>
              <a:rPr lang="en-US" altLang="zh-CN" sz="2000" b="1" smtClean="0"/>
              <a:t>U</a:t>
            </a:r>
            <a:r>
              <a:rPr lang="zh-CN" altLang="en-US" sz="2000" b="1" smtClean="0"/>
              <a:t>随距离的增大而减小。随着</a:t>
            </a:r>
            <a:r>
              <a:rPr lang="en-US" altLang="zh-CN" sz="2000" b="1" smtClean="0"/>
              <a:t>q</a:t>
            </a:r>
            <a:r>
              <a:rPr lang="zh-CN" altLang="en-US" sz="2000" b="1" smtClean="0"/>
              <a:t>运动的越来越快，电势能减小、动能增加。</a:t>
            </a:r>
            <a:endParaRPr lang="zh-CN" altLang="en-US" sz="2000" b="1"/>
          </a:p>
        </p:txBody>
      </p:sp>
    </p:spTree>
    <p:extLst>
      <p:ext uri="{BB962C8B-B14F-4D97-AF65-F5344CB8AC3E}">
        <p14:creationId xmlns:p14="http://schemas.microsoft.com/office/powerpoint/2010/main" val="16956133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323528" y="179958"/>
            <a:ext cx="6804248" cy="523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29" tIns="45715" rIns="91429" bIns="45715">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r>
              <a:rPr kumimoji="0" lang="en-US" altLang="zh-CN" sz="2800" dirty="0" smtClean="0">
                <a:latin typeface="黑体" pitchFamily="49" charset="-122"/>
                <a:ea typeface="黑体" pitchFamily="49" charset="-122"/>
              </a:rPr>
              <a:t>5.</a:t>
            </a:r>
            <a:r>
              <a:rPr kumimoji="0" lang="zh-CN" altLang="en-US" sz="2800" dirty="0" smtClean="0">
                <a:latin typeface="黑体" pitchFamily="49" charset="-122"/>
                <a:ea typeface="黑体" pitchFamily="49" charset="-122"/>
              </a:rPr>
              <a:t> 多电荷的电势能</a:t>
            </a:r>
            <a:endParaRPr kumimoji="0" lang="zh-CN" altLang="en-US" sz="2800" dirty="0">
              <a:latin typeface="黑体" pitchFamily="49" charset="-122"/>
              <a:ea typeface="黑体" pitchFamily="49"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722494452"/>
              </p:ext>
            </p:extLst>
          </p:nvPr>
        </p:nvGraphicFramePr>
        <p:xfrm>
          <a:off x="1475656" y="1052736"/>
          <a:ext cx="3330575" cy="869950"/>
        </p:xfrm>
        <a:graphic>
          <a:graphicData uri="http://schemas.openxmlformats.org/presentationml/2006/ole">
            <mc:AlternateContent xmlns:mc="http://schemas.openxmlformats.org/markup-compatibility/2006">
              <mc:Choice xmlns:v="urn:schemas-microsoft-com:vml" Requires="v">
                <p:oleObj spid="_x0000_s15711" name="Equation" r:id="rId4" imgW="1663700" imgH="431800" progId="Equation.DSMT4">
                  <p:embed/>
                </p:oleObj>
              </mc:Choice>
              <mc:Fallback>
                <p:oleObj name="Equation" r:id="rId4" imgW="1663700" imgH="431800" progId="Equation.DSMT4">
                  <p:embed/>
                  <p:pic>
                    <p:nvPicPr>
                      <p:cNvPr id="0" name="Picture 1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5656" y="1052736"/>
                        <a:ext cx="3330575" cy="869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Box 3"/>
          <p:cNvSpPr txBox="1"/>
          <p:nvPr/>
        </p:nvSpPr>
        <p:spPr>
          <a:xfrm>
            <a:off x="1277834" y="2118047"/>
            <a:ext cx="2800767" cy="461665"/>
          </a:xfrm>
          <a:prstGeom prst="rect">
            <a:avLst/>
          </a:prstGeom>
          <a:noFill/>
        </p:spPr>
        <p:txBody>
          <a:bodyPr wrap="none" rtlCol="0">
            <a:spAutoFit/>
          </a:bodyPr>
          <a:lstStyle/>
          <a:p>
            <a:r>
              <a:rPr lang="zh-CN" altLang="en-US" sz="2400" dirty="0" smtClean="0">
                <a:solidFill>
                  <a:srgbClr val="FF0000"/>
                </a:solidFill>
                <a:latin typeface="黑体" pitchFamily="49" charset="-122"/>
                <a:ea typeface="黑体" pitchFamily="49" charset="-122"/>
              </a:rPr>
              <a:t>*</a:t>
            </a:r>
            <a:r>
              <a:rPr lang="en-US" altLang="zh-CN" sz="2400" dirty="0" smtClean="0">
                <a:solidFill>
                  <a:srgbClr val="FF0000"/>
                </a:solidFill>
                <a:latin typeface="黑体" pitchFamily="49" charset="-122"/>
                <a:ea typeface="黑体" pitchFamily="49" charset="-122"/>
              </a:rPr>
              <a:t>1</a:t>
            </a:r>
            <a:r>
              <a:rPr lang="zh-CN" altLang="en-US" sz="2400" dirty="0" smtClean="0">
                <a:solidFill>
                  <a:srgbClr val="FF0000"/>
                </a:solidFill>
                <a:latin typeface="黑体" pitchFamily="49" charset="-122"/>
                <a:ea typeface="黑体" pitchFamily="49" charset="-122"/>
              </a:rPr>
              <a:t>对电荷只能算</a:t>
            </a:r>
            <a:r>
              <a:rPr lang="en-US" altLang="zh-CN" sz="2400" dirty="0" smtClean="0">
                <a:solidFill>
                  <a:srgbClr val="FF0000"/>
                </a:solidFill>
                <a:latin typeface="黑体" pitchFamily="49" charset="-122"/>
                <a:ea typeface="黑体" pitchFamily="49" charset="-122"/>
              </a:rPr>
              <a:t>1</a:t>
            </a:r>
            <a:r>
              <a:rPr lang="zh-CN" altLang="en-US" sz="2400" dirty="0" smtClean="0">
                <a:solidFill>
                  <a:srgbClr val="FF0000"/>
                </a:solidFill>
                <a:latin typeface="黑体" pitchFamily="49" charset="-122"/>
                <a:ea typeface="黑体" pitchFamily="49" charset="-122"/>
              </a:rPr>
              <a:t>次</a:t>
            </a:r>
            <a:endParaRPr lang="zh-CN" altLang="en-US" sz="2400" dirty="0">
              <a:solidFill>
                <a:srgbClr val="FF0000"/>
              </a:solidFill>
              <a:latin typeface="黑体" pitchFamily="49" charset="-122"/>
              <a:ea typeface="黑体" pitchFamily="49" charset="-122"/>
            </a:endParaRPr>
          </a:p>
        </p:txBody>
      </p:sp>
      <p:grpSp>
        <p:nvGrpSpPr>
          <p:cNvPr id="8" name="组合 7"/>
          <p:cNvGrpSpPr/>
          <p:nvPr/>
        </p:nvGrpSpPr>
        <p:grpSpPr>
          <a:xfrm>
            <a:off x="6084168" y="1268760"/>
            <a:ext cx="2160240" cy="2520280"/>
            <a:chOff x="6084168" y="1268760"/>
            <a:chExt cx="2160240" cy="2520280"/>
          </a:xfrm>
        </p:grpSpPr>
        <p:sp>
          <p:nvSpPr>
            <p:cNvPr id="5" name="椭圆 4"/>
            <p:cNvSpPr/>
            <p:nvPr/>
          </p:nvSpPr>
          <p:spPr>
            <a:xfrm>
              <a:off x="6948264" y="1268760"/>
              <a:ext cx="360040" cy="36004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smtClean="0"/>
                <a:t>1</a:t>
              </a:r>
              <a:endParaRPr lang="zh-CN" altLang="en-US" dirty="0"/>
            </a:p>
          </p:txBody>
        </p:sp>
        <p:sp>
          <p:nvSpPr>
            <p:cNvPr id="6" name="椭圆 5"/>
            <p:cNvSpPr/>
            <p:nvPr/>
          </p:nvSpPr>
          <p:spPr>
            <a:xfrm>
              <a:off x="6084168" y="2579712"/>
              <a:ext cx="360040" cy="36004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dirty="0" smtClean="0"/>
                <a:t>2</a:t>
              </a:r>
              <a:endParaRPr lang="zh-CN" altLang="en-US" dirty="0"/>
            </a:p>
          </p:txBody>
        </p:sp>
        <p:sp>
          <p:nvSpPr>
            <p:cNvPr id="7" name="椭圆 6"/>
            <p:cNvSpPr/>
            <p:nvPr/>
          </p:nvSpPr>
          <p:spPr>
            <a:xfrm>
              <a:off x="7884368" y="3429000"/>
              <a:ext cx="360040" cy="360040"/>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altLang="zh-CN" dirty="0" smtClean="0"/>
                <a:t>3</a:t>
              </a:r>
              <a:endParaRPr lang="zh-CN" altLang="en-US" dirty="0"/>
            </a:p>
          </p:txBody>
        </p:sp>
        <p:cxnSp>
          <p:nvCxnSpPr>
            <p:cNvPr id="9" name="直接箭头连接符 8"/>
            <p:cNvCxnSpPr>
              <a:endCxn id="5" idx="3"/>
            </p:cNvCxnSpPr>
            <p:nvPr/>
          </p:nvCxnSpPr>
          <p:spPr>
            <a:xfrm flipV="1">
              <a:off x="6372200" y="1576073"/>
              <a:ext cx="628791" cy="1003639"/>
            </a:xfrm>
            <a:prstGeom prst="straightConnector1">
              <a:avLst/>
            </a:prstGeom>
            <a:ln>
              <a:headEnd type="arrow"/>
              <a:tailEnd type="arrow"/>
            </a:ln>
          </p:spPr>
          <p:style>
            <a:lnRef idx="2">
              <a:schemeClr val="dk1"/>
            </a:lnRef>
            <a:fillRef idx="0">
              <a:schemeClr val="dk1"/>
            </a:fillRef>
            <a:effectRef idx="1">
              <a:schemeClr val="dk1"/>
            </a:effectRef>
            <a:fontRef idx="minor">
              <a:schemeClr val="tx1"/>
            </a:fontRef>
          </p:style>
        </p:cxnSp>
        <p:cxnSp>
          <p:nvCxnSpPr>
            <p:cNvPr id="11" name="直接连接符 10"/>
            <p:cNvCxnSpPr/>
            <p:nvPr/>
          </p:nvCxnSpPr>
          <p:spPr>
            <a:xfrm>
              <a:off x="7248420" y="1640832"/>
              <a:ext cx="756084" cy="1800200"/>
            </a:xfrm>
            <a:prstGeom prst="line">
              <a:avLst/>
            </a:prstGeom>
            <a:ln>
              <a:headEnd type="arrow"/>
              <a:tailEnd type="arrow"/>
            </a:ln>
          </p:spPr>
          <p:style>
            <a:lnRef idx="2">
              <a:schemeClr val="dk1"/>
            </a:lnRef>
            <a:fillRef idx="0">
              <a:schemeClr val="dk1"/>
            </a:fillRef>
            <a:effectRef idx="1">
              <a:schemeClr val="dk1"/>
            </a:effectRef>
            <a:fontRef idx="minor">
              <a:schemeClr val="tx1"/>
            </a:fontRef>
          </p:style>
        </p:cxnSp>
        <p:cxnSp>
          <p:nvCxnSpPr>
            <p:cNvPr id="14" name="直接连接符 13"/>
            <p:cNvCxnSpPr/>
            <p:nvPr/>
          </p:nvCxnSpPr>
          <p:spPr>
            <a:xfrm>
              <a:off x="6444208" y="2852936"/>
              <a:ext cx="1440160" cy="756084"/>
            </a:xfrm>
            <a:prstGeom prst="line">
              <a:avLst/>
            </a:prstGeom>
            <a:ln>
              <a:headEnd type="arrow"/>
              <a:tailEnd type="arrow"/>
            </a:ln>
          </p:spPr>
          <p:style>
            <a:lnRef idx="2">
              <a:schemeClr val="dk1"/>
            </a:lnRef>
            <a:fillRef idx="0">
              <a:schemeClr val="dk1"/>
            </a:fillRef>
            <a:effectRef idx="1">
              <a:schemeClr val="dk1"/>
            </a:effectRef>
            <a:fontRef idx="minor">
              <a:schemeClr val="tx1"/>
            </a:fontRef>
          </p:style>
        </p:cxnSp>
        <p:sp>
          <p:nvSpPr>
            <p:cNvPr id="17" name="TextBox 16"/>
            <p:cNvSpPr txBox="1"/>
            <p:nvPr/>
          </p:nvSpPr>
          <p:spPr>
            <a:xfrm>
              <a:off x="6225793" y="1700521"/>
              <a:ext cx="500458" cy="461665"/>
            </a:xfrm>
            <a:prstGeom prst="rect">
              <a:avLst/>
            </a:prstGeom>
            <a:noFill/>
          </p:spPr>
          <p:txBody>
            <a:bodyPr wrap="none" rtlCol="0">
              <a:spAutoFit/>
            </a:bodyPr>
            <a:lstStyle/>
            <a:p>
              <a:r>
                <a:rPr lang="en-US" altLang="zh-CN" sz="2400" dirty="0" smtClean="0"/>
                <a:t>r</a:t>
              </a:r>
              <a:r>
                <a:rPr lang="en-US" altLang="zh-CN" sz="2400" baseline="-25000" dirty="0" smtClean="0"/>
                <a:t>12</a:t>
              </a:r>
              <a:endParaRPr lang="zh-CN" altLang="en-US" sz="2400" dirty="0"/>
            </a:p>
          </p:txBody>
        </p:sp>
        <p:sp>
          <p:nvSpPr>
            <p:cNvPr id="18" name="TextBox 17"/>
            <p:cNvSpPr txBox="1"/>
            <p:nvPr/>
          </p:nvSpPr>
          <p:spPr>
            <a:xfrm>
              <a:off x="7559212" y="1931411"/>
              <a:ext cx="500458" cy="461665"/>
            </a:xfrm>
            <a:prstGeom prst="rect">
              <a:avLst/>
            </a:prstGeom>
            <a:noFill/>
          </p:spPr>
          <p:txBody>
            <a:bodyPr wrap="none" rtlCol="0">
              <a:spAutoFit/>
            </a:bodyPr>
            <a:lstStyle/>
            <a:p>
              <a:r>
                <a:rPr lang="en-US" altLang="zh-CN" sz="2400" dirty="0" smtClean="0"/>
                <a:t>r</a:t>
              </a:r>
              <a:r>
                <a:rPr lang="en-US" altLang="zh-CN" sz="2400" baseline="-25000" dirty="0" smtClean="0"/>
                <a:t>13</a:t>
              </a:r>
              <a:endParaRPr lang="zh-CN" altLang="en-US" sz="2400" dirty="0"/>
            </a:p>
          </p:txBody>
        </p:sp>
        <p:sp>
          <p:nvSpPr>
            <p:cNvPr id="19" name="TextBox 18"/>
            <p:cNvSpPr txBox="1"/>
            <p:nvPr/>
          </p:nvSpPr>
          <p:spPr>
            <a:xfrm>
              <a:off x="6735838" y="3039343"/>
              <a:ext cx="500458" cy="461665"/>
            </a:xfrm>
            <a:prstGeom prst="rect">
              <a:avLst/>
            </a:prstGeom>
            <a:noFill/>
          </p:spPr>
          <p:txBody>
            <a:bodyPr wrap="none" rtlCol="0">
              <a:spAutoFit/>
            </a:bodyPr>
            <a:lstStyle/>
            <a:p>
              <a:r>
                <a:rPr lang="en-US" altLang="zh-CN" sz="2400" dirty="0" smtClean="0"/>
                <a:t>r</a:t>
              </a:r>
              <a:r>
                <a:rPr lang="en-US" altLang="zh-CN" sz="2400" baseline="-25000" dirty="0" smtClean="0"/>
                <a:t>23</a:t>
              </a:r>
              <a:endParaRPr lang="zh-CN" altLang="en-US" sz="2400" dirty="0"/>
            </a:p>
          </p:txBody>
        </p:sp>
      </p:grpSp>
      <p:sp>
        <p:nvSpPr>
          <p:cNvPr id="10" name="TextBox 9"/>
          <p:cNvSpPr txBox="1"/>
          <p:nvPr/>
        </p:nvSpPr>
        <p:spPr>
          <a:xfrm>
            <a:off x="4788024" y="620688"/>
            <a:ext cx="2838438" cy="461665"/>
          </a:xfrm>
          <a:prstGeom prst="rect">
            <a:avLst/>
          </a:prstGeom>
          <a:noFill/>
        </p:spPr>
        <p:txBody>
          <a:bodyPr wrap="square" rtlCol="0">
            <a:spAutoFit/>
          </a:bodyPr>
          <a:lstStyle/>
          <a:p>
            <a:r>
              <a:rPr lang="zh-CN" altLang="en-US" sz="2400" dirty="0" smtClean="0">
                <a:solidFill>
                  <a:srgbClr val="FF0000"/>
                </a:solidFill>
                <a:latin typeface="黑体" pitchFamily="49" charset="-122"/>
                <a:ea typeface="黑体" pitchFamily="49" charset="-122"/>
              </a:rPr>
              <a:t>标量求和，代数和</a:t>
            </a:r>
            <a:endParaRPr lang="zh-CN" altLang="en-US" sz="2400" dirty="0">
              <a:solidFill>
                <a:srgbClr val="FF0000"/>
              </a:solidFill>
              <a:latin typeface="黑体" pitchFamily="49" charset="-122"/>
              <a:ea typeface="黑体" pitchFamily="49" charset="-122"/>
            </a:endParaRPr>
          </a:p>
        </p:txBody>
      </p:sp>
      <p:sp>
        <p:nvSpPr>
          <p:cNvPr id="12" name="TextBox 11"/>
          <p:cNvSpPr txBox="1"/>
          <p:nvPr/>
        </p:nvSpPr>
        <p:spPr>
          <a:xfrm>
            <a:off x="295076" y="4019872"/>
            <a:ext cx="3600400" cy="461665"/>
          </a:xfrm>
          <a:prstGeom prst="rect">
            <a:avLst/>
          </a:prstGeom>
          <a:noFill/>
        </p:spPr>
        <p:txBody>
          <a:bodyPr wrap="square" rtlCol="0">
            <a:spAutoFit/>
          </a:bodyPr>
          <a:lstStyle/>
          <a:p>
            <a:r>
              <a:rPr lang="zh-CN" altLang="en-US" sz="2400" dirty="0" smtClean="0">
                <a:latin typeface="黑体" pitchFamily="49" charset="-122"/>
                <a:ea typeface="黑体" pitchFamily="49" charset="-122"/>
              </a:rPr>
              <a:t>检测题 </a:t>
            </a:r>
            <a:r>
              <a:rPr lang="en-US" altLang="zh-CN" sz="2400" dirty="0" smtClean="0">
                <a:latin typeface="黑体" pitchFamily="49" charset="-122"/>
                <a:ea typeface="黑体" pitchFamily="49" charset="-122"/>
              </a:rPr>
              <a:t>17.1</a:t>
            </a:r>
            <a:endParaRPr lang="zh-CN" altLang="en-US" sz="2400" dirty="0">
              <a:latin typeface="黑体" pitchFamily="49" charset="-122"/>
              <a:ea typeface="黑体" pitchFamily="49" charset="-122"/>
            </a:endParaRPr>
          </a:p>
        </p:txBody>
      </p:sp>
      <p:sp>
        <p:nvSpPr>
          <p:cNvPr id="13" name="TextBox 12"/>
          <p:cNvSpPr txBox="1"/>
          <p:nvPr/>
        </p:nvSpPr>
        <p:spPr>
          <a:xfrm>
            <a:off x="467544" y="4581127"/>
            <a:ext cx="7536960" cy="1200329"/>
          </a:xfrm>
          <a:prstGeom prst="rect">
            <a:avLst/>
          </a:prstGeom>
          <a:noFill/>
        </p:spPr>
        <p:txBody>
          <a:bodyPr wrap="square" rtlCol="0">
            <a:spAutoFit/>
          </a:bodyPr>
          <a:lstStyle/>
          <a:p>
            <a:pPr>
              <a:lnSpc>
                <a:spcPct val="150000"/>
              </a:lnSpc>
            </a:pPr>
            <a:r>
              <a:rPr lang="zh-CN" altLang="en-US" sz="2400" dirty="0" smtClean="0">
                <a:latin typeface="黑体" pitchFamily="49" charset="-122"/>
                <a:ea typeface="黑体" pitchFamily="49" charset="-122"/>
              </a:rPr>
              <a:t>在求四个点电荷构成的系统所具有的势能时，一共有几对电荷？在势能表达式中有几项？</a:t>
            </a:r>
            <a:endParaRPr lang="zh-CN" altLang="en-US" sz="2400" dirty="0">
              <a:latin typeface="黑体" pitchFamily="49" charset="-122"/>
              <a:ea typeface="黑体" pitchFamily="49" charset="-122"/>
            </a:endParaRPr>
          </a:p>
        </p:txBody>
      </p:sp>
      <p:sp>
        <p:nvSpPr>
          <p:cNvPr id="15" name="TextBox 14"/>
          <p:cNvSpPr txBox="1"/>
          <p:nvPr/>
        </p:nvSpPr>
        <p:spPr>
          <a:xfrm>
            <a:off x="755576" y="2593357"/>
            <a:ext cx="4752528" cy="1015663"/>
          </a:xfrm>
          <a:prstGeom prst="rect">
            <a:avLst/>
          </a:prstGeom>
          <a:noFill/>
        </p:spPr>
        <p:txBody>
          <a:bodyPr wrap="square" rtlCol="0">
            <a:spAutoFit/>
          </a:bodyPr>
          <a:lstStyle/>
          <a:p>
            <a:pPr>
              <a:lnSpc>
                <a:spcPct val="150000"/>
              </a:lnSpc>
            </a:pPr>
            <a:r>
              <a:rPr lang="zh-CN" altLang="en-US" sz="2000" b="1" dirty="0" smtClean="0"/>
              <a:t>为了得到两个以上点电荷间的电势能，把每一对点电荷间的电势能全部加起来。</a:t>
            </a:r>
            <a:endParaRPr lang="zh-CN" altLang="en-US" sz="2000" b="1" dirty="0"/>
          </a:p>
        </p:txBody>
      </p:sp>
    </p:spTree>
    <p:extLst>
      <p:ext uri="{BB962C8B-B14F-4D97-AF65-F5344CB8AC3E}">
        <p14:creationId xmlns:p14="http://schemas.microsoft.com/office/powerpoint/2010/main" val="42305176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536" y="511020"/>
            <a:ext cx="1944216" cy="523220"/>
          </a:xfrm>
          <a:prstGeom prst="rect">
            <a:avLst/>
          </a:prstGeom>
          <a:noFill/>
        </p:spPr>
        <p:txBody>
          <a:bodyPr wrap="square" rtlCol="0">
            <a:spAutoFit/>
          </a:bodyPr>
          <a:lstStyle/>
          <a:p>
            <a:r>
              <a:rPr lang="zh-CN" altLang="en-US" sz="2800" dirty="0" smtClean="0">
                <a:latin typeface="黑体" pitchFamily="49" charset="-122"/>
                <a:ea typeface="黑体" pitchFamily="49" charset="-122"/>
              </a:rPr>
              <a:t>例题</a:t>
            </a:r>
            <a:r>
              <a:rPr lang="en-US" altLang="zh-CN" sz="2800" dirty="0" smtClean="0">
                <a:latin typeface="黑体" pitchFamily="49" charset="-122"/>
                <a:ea typeface="黑体" pitchFamily="49" charset="-122"/>
              </a:rPr>
              <a:t>17.2</a:t>
            </a:r>
            <a:endParaRPr lang="zh-CN" altLang="en-US" sz="2800" dirty="0">
              <a:latin typeface="黑体" pitchFamily="49" charset="-122"/>
              <a:ea typeface="黑体" pitchFamily="49" charset="-122"/>
            </a:endParaRPr>
          </a:p>
        </p:txBody>
      </p:sp>
      <p:cxnSp>
        <p:nvCxnSpPr>
          <p:cNvPr id="7" name="直接连接符 6"/>
          <p:cNvCxnSpPr/>
          <p:nvPr/>
        </p:nvCxnSpPr>
        <p:spPr>
          <a:xfrm flipH="1">
            <a:off x="8140897" y="548680"/>
            <a:ext cx="7531" cy="2919052"/>
          </a:xfrm>
          <a:prstGeom prst="line">
            <a:avLst/>
          </a:prstGeom>
          <a:ln>
            <a:headEnd type="arrow"/>
            <a:tailEnd type="arrow"/>
          </a:ln>
        </p:spPr>
        <p:style>
          <a:lnRef idx="2">
            <a:schemeClr val="dk1"/>
          </a:lnRef>
          <a:fillRef idx="0">
            <a:schemeClr val="dk1"/>
          </a:fillRef>
          <a:effectRef idx="1">
            <a:schemeClr val="dk1"/>
          </a:effectRef>
          <a:fontRef idx="minor">
            <a:schemeClr val="tx1"/>
          </a:fontRef>
        </p:style>
      </p:cxnSp>
      <p:sp>
        <p:nvSpPr>
          <p:cNvPr id="9" name="TextBox 8"/>
          <p:cNvSpPr txBox="1"/>
          <p:nvPr/>
        </p:nvSpPr>
        <p:spPr>
          <a:xfrm>
            <a:off x="6591913" y="1561294"/>
            <a:ext cx="500458" cy="461665"/>
          </a:xfrm>
          <a:prstGeom prst="rect">
            <a:avLst/>
          </a:prstGeom>
          <a:noFill/>
        </p:spPr>
        <p:txBody>
          <a:bodyPr wrap="none" rtlCol="0">
            <a:spAutoFit/>
          </a:bodyPr>
          <a:lstStyle/>
          <a:p>
            <a:r>
              <a:rPr lang="en-US" altLang="zh-CN" sz="2400" dirty="0" smtClean="0"/>
              <a:t>r</a:t>
            </a:r>
            <a:r>
              <a:rPr lang="en-US" altLang="zh-CN" sz="2400" baseline="-25000" dirty="0" smtClean="0"/>
              <a:t>12</a:t>
            </a:r>
            <a:endParaRPr lang="zh-CN" altLang="en-US" sz="2400" dirty="0"/>
          </a:p>
        </p:txBody>
      </p:sp>
      <p:sp>
        <p:nvSpPr>
          <p:cNvPr id="10" name="TextBox 9"/>
          <p:cNvSpPr txBox="1"/>
          <p:nvPr/>
        </p:nvSpPr>
        <p:spPr>
          <a:xfrm>
            <a:off x="6866568" y="3484775"/>
            <a:ext cx="500458" cy="461665"/>
          </a:xfrm>
          <a:prstGeom prst="rect">
            <a:avLst/>
          </a:prstGeom>
          <a:noFill/>
        </p:spPr>
        <p:txBody>
          <a:bodyPr wrap="none" rtlCol="0">
            <a:spAutoFit/>
          </a:bodyPr>
          <a:lstStyle/>
          <a:p>
            <a:r>
              <a:rPr lang="en-US" altLang="zh-CN" sz="2400" dirty="0" smtClean="0"/>
              <a:t>r</a:t>
            </a:r>
            <a:r>
              <a:rPr lang="en-US" altLang="zh-CN" sz="2400" baseline="-25000" dirty="0" smtClean="0"/>
              <a:t>13</a:t>
            </a:r>
            <a:endParaRPr lang="zh-CN" altLang="en-US" sz="2400" dirty="0"/>
          </a:p>
        </p:txBody>
      </p:sp>
      <p:sp>
        <p:nvSpPr>
          <p:cNvPr id="11" name="TextBox 10"/>
          <p:cNvSpPr txBox="1"/>
          <p:nvPr/>
        </p:nvSpPr>
        <p:spPr>
          <a:xfrm>
            <a:off x="8175032" y="2022959"/>
            <a:ext cx="500458" cy="461665"/>
          </a:xfrm>
          <a:prstGeom prst="rect">
            <a:avLst/>
          </a:prstGeom>
          <a:noFill/>
        </p:spPr>
        <p:txBody>
          <a:bodyPr wrap="none" rtlCol="0">
            <a:spAutoFit/>
          </a:bodyPr>
          <a:lstStyle/>
          <a:p>
            <a:r>
              <a:rPr lang="en-US" altLang="zh-CN" sz="2400" dirty="0" smtClean="0"/>
              <a:t>r</a:t>
            </a:r>
            <a:r>
              <a:rPr lang="en-US" altLang="zh-CN" sz="2400" baseline="-25000" dirty="0" smtClean="0"/>
              <a:t>23</a:t>
            </a:r>
            <a:endParaRPr lang="zh-CN" altLang="en-US" sz="2400" dirty="0"/>
          </a:p>
        </p:txBody>
      </p:sp>
      <p:sp>
        <p:nvSpPr>
          <p:cNvPr id="29" name="TextBox 28"/>
          <p:cNvSpPr txBox="1"/>
          <p:nvPr/>
        </p:nvSpPr>
        <p:spPr>
          <a:xfrm>
            <a:off x="8750454" y="3530941"/>
            <a:ext cx="343364" cy="523220"/>
          </a:xfrm>
          <a:prstGeom prst="rect">
            <a:avLst/>
          </a:prstGeom>
          <a:noFill/>
        </p:spPr>
        <p:txBody>
          <a:bodyPr wrap="none" rtlCol="0">
            <a:spAutoFit/>
          </a:bodyPr>
          <a:lstStyle/>
          <a:p>
            <a:r>
              <a:rPr lang="en-US" altLang="zh-CN" sz="2800" i="1" dirty="0" smtClean="0">
                <a:latin typeface="Times New Roman" pitchFamily="18" charset="0"/>
                <a:ea typeface="黑体" pitchFamily="49" charset="-122"/>
                <a:cs typeface="Times New Roman" pitchFamily="18" charset="0"/>
              </a:rPr>
              <a:t>x</a:t>
            </a:r>
            <a:endParaRPr lang="zh-CN" altLang="en-US" sz="2800" i="1" dirty="0">
              <a:latin typeface="Times New Roman" pitchFamily="18" charset="0"/>
              <a:ea typeface="黑体" pitchFamily="49" charset="-122"/>
              <a:cs typeface="Times New Roman" pitchFamily="18" charset="0"/>
            </a:endParaRPr>
          </a:p>
        </p:txBody>
      </p:sp>
      <p:sp>
        <p:nvSpPr>
          <p:cNvPr id="30" name="TextBox 29"/>
          <p:cNvSpPr txBox="1"/>
          <p:nvPr/>
        </p:nvSpPr>
        <p:spPr>
          <a:xfrm>
            <a:off x="5596788" y="116632"/>
            <a:ext cx="343364" cy="523220"/>
          </a:xfrm>
          <a:prstGeom prst="rect">
            <a:avLst/>
          </a:prstGeom>
          <a:noFill/>
        </p:spPr>
        <p:txBody>
          <a:bodyPr wrap="none" rtlCol="0">
            <a:spAutoFit/>
          </a:bodyPr>
          <a:lstStyle/>
          <a:p>
            <a:r>
              <a:rPr lang="en-US" altLang="zh-CN" sz="2800" i="1" dirty="0" smtClean="0">
                <a:latin typeface="Times New Roman" pitchFamily="18" charset="0"/>
                <a:ea typeface="黑体" pitchFamily="49" charset="-122"/>
                <a:cs typeface="Times New Roman" pitchFamily="18" charset="0"/>
              </a:rPr>
              <a:t>y</a:t>
            </a:r>
            <a:endParaRPr lang="zh-CN" altLang="en-US" sz="2800" i="1" dirty="0">
              <a:latin typeface="Times New Roman" pitchFamily="18" charset="0"/>
              <a:ea typeface="黑体" pitchFamily="49" charset="-122"/>
              <a:cs typeface="Times New Roman" pitchFamily="18" charset="0"/>
            </a:endParaRPr>
          </a:p>
        </p:txBody>
      </p:sp>
      <p:grpSp>
        <p:nvGrpSpPr>
          <p:cNvPr id="15" name="组合 14"/>
          <p:cNvGrpSpPr/>
          <p:nvPr/>
        </p:nvGrpSpPr>
        <p:grpSpPr>
          <a:xfrm>
            <a:off x="5832140" y="260648"/>
            <a:ext cx="3060340" cy="3360496"/>
            <a:chOff x="5832140" y="260648"/>
            <a:chExt cx="3060340" cy="3360496"/>
          </a:xfrm>
        </p:grpSpPr>
        <p:grpSp>
          <p:nvGrpSpPr>
            <p:cNvPr id="14" name="组合 13"/>
            <p:cNvGrpSpPr/>
            <p:nvPr/>
          </p:nvGrpSpPr>
          <p:grpSpPr>
            <a:xfrm>
              <a:off x="5997879" y="260648"/>
              <a:ext cx="2894601" cy="3188104"/>
              <a:chOff x="5997879" y="260648"/>
              <a:chExt cx="2894601" cy="3188104"/>
            </a:xfrm>
          </p:grpSpPr>
          <p:cxnSp>
            <p:nvCxnSpPr>
              <p:cNvPr id="6" name="直接箭头连接符 5"/>
              <p:cNvCxnSpPr/>
              <p:nvPr/>
            </p:nvCxnSpPr>
            <p:spPr>
              <a:xfrm flipV="1">
                <a:off x="6012160" y="548680"/>
                <a:ext cx="2128737" cy="290007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3" name="直接箭头连接符 12"/>
              <p:cNvCxnSpPr/>
              <p:nvPr/>
            </p:nvCxnSpPr>
            <p:spPr>
              <a:xfrm flipV="1">
                <a:off x="6012160" y="3441124"/>
                <a:ext cx="2880320" cy="762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7" name="直接箭头连接符 16"/>
              <p:cNvCxnSpPr/>
              <p:nvPr/>
            </p:nvCxnSpPr>
            <p:spPr>
              <a:xfrm flipV="1">
                <a:off x="6012160" y="260648"/>
                <a:ext cx="0" cy="318810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2" name="直接连接符 11"/>
              <p:cNvCxnSpPr/>
              <p:nvPr/>
            </p:nvCxnSpPr>
            <p:spPr>
              <a:xfrm>
                <a:off x="5997879" y="2708920"/>
                <a:ext cx="273829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6012160" y="646638"/>
                <a:ext cx="273829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5997879" y="1330460"/>
                <a:ext cx="273829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5997879" y="1998716"/>
                <a:ext cx="273829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rot="5400000">
                <a:off x="5363093" y="2022959"/>
                <a:ext cx="273829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rot="5400000">
                <a:off x="6083173" y="2015785"/>
                <a:ext cx="273829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rot="5400000">
                <a:off x="6771750" y="1949373"/>
                <a:ext cx="273829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rot="5400000">
                <a:off x="7381307" y="2022959"/>
                <a:ext cx="2738294"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5" name="椭圆 4"/>
            <p:cNvSpPr/>
            <p:nvPr/>
          </p:nvSpPr>
          <p:spPr>
            <a:xfrm>
              <a:off x="7968408" y="3261104"/>
              <a:ext cx="360040" cy="360040"/>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altLang="zh-CN" dirty="0" smtClean="0"/>
                <a:t>3</a:t>
              </a:r>
              <a:endParaRPr lang="zh-CN" altLang="en-US" dirty="0"/>
            </a:p>
          </p:txBody>
        </p:sp>
        <p:sp>
          <p:nvSpPr>
            <p:cNvPr id="3" name="椭圆 2"/>
            <p:cNvSpPr/>
            <p:nvPr/>
          </p:nvSpPr>
          <p:spPr>
            <a:xfrm>
              <a:off x="5832140" y="3230490"/>
              <a:ext cx="360040" cy="36004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smtClean="0"/>
                <a:t>1</a:t>
              </a:r>
              <a:endParaRPr lang="zh-CN" altLang="en-US" dirty="0"/>
            </a:p>
          </p:txBody>
        </p:sp>
        <p:sp>
          <p:nvSpPr>
            <p:cNvPr id="4" name="椭圆 3"/>
            <p:cNvSpPr/>
            <p:nvPr/>
          </p:nvSpPr>
          <p:spPr>
            <a:xfrm>
              <a:off x="7960877" y="347805"/>
              <a:ext cx="360040" cy="36004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dirty="0" smtClean="0"/>
                <a:t>2</a:t>
              </a:r>
              <a:endParaRPr lang="zh-CN" altLang="en-US" dirty="0"/>
            </a:p>
          </p:txBody>
        </p:sp>
      </p:grpSp>
      <p:sp>
        <p:nvSpPr>
          <p:cNvPr id="31" name="TextBox 30"/>
          <p:cNvSpPr txBox="1"/>
          <p:nvPr/>
        </p:nvSpPr>
        <p:spPr>
          <a:xfrm>
            <a:off x="795645" y="1330460"/>
            <a:ext cx="3960440" cy="3323987"/>
          </a:xfrm>
          <a:prstGeom prst="rect">
            <a:avLst/>
          </a:prstGeom>
          <a:noFill/>
        </p:spPr>
        <p:txBody>
          <a:bodyPr wrap="square" rtlCol="0">
            <a:spAutoFit/>
          </a:bodyPr>
          <a:lstStyle/>
          <a:p>
            <a:pPr>
              <a:lnSpc>
                <a:spcPct val="150000"/>
              </a:lnSpc>
            </a:pPr>
            <a:r>
              <a:rPr lang="zh-CN" altLang="en-US" sz="2800" dirty="0" smtClean="0">
                <a:latin typeface="Arial Unicode MS" pitchFamily="34" charset="-122"/>
                <a:ea typeface="Arial Unicode MS" pitchFamily="34" charset="-122"/>
                <a:cs typeface="Arial Unicode MS" pitchFamily="34" charset="-122"/>
              </a:rPr>
              <a:t>电荷位置</a:t>
            </a:r>
            <a:r>
              <a:rPr lang="zh-CN" altLang="en-US" sz="2800" dirty="0">
                <a:latin typeface="Arial Unicode MS" pitchFamily="34" charset="-122"/>
                <a:ea typeface="Arial Unicode MS" pitchFamily="34" charset="-122"/>
                <a:cs typeface="Arial Unicode MS" pitchFamily="34" charset="-122"/>
              </a:rPr>
              <a:t>如图</a:t>
            </a:r>
            <a:r>
              <a:rPr lang="zh-CN" altLang="en-US" sz="2800" dirty="0" smtClean="0">
                <a:latin typeface="Arial Unicode MS" pitchFamily="34" charset="-122"/>
                <a:ea typeface="Arial Unicode MS" pitchFamily="34" charset="-122"/>
                <a:cs typeface="Arial Unicode MS" pitchFamily="34" charset="-122"/>
              </a:rPr>
              <a:t>，</a:t>
            </a:r>
            <a:r>
              <a:rPr lang="en-US" altLang="zh-CN" sz="2800" dirty="0" smtClean="0">
                <a:latin typeface="Arial Unicode MS" pitchFamily="34" charset="-122"/>
                <a:ea typeface="Arial Unicode MS" pitchFamily="34" charset="-122"/>
                <a:cs typeface="Arial Unicode MS" pitchFamily="34" charset="-122"/>
              </a:rPr>
              <a:t>q</a:t>
            </a:r>
            <a:r>
              <a:rPr lang="en-US" altLang="zh-CN" sz="2800" baseline="-25000" dirty="0" smtClean="0">
                <a:latin typeface="Arial Unicode MS" pitchFamily="34" charset="-122"/>
                <a:ea typeface="Arial Unicode MS" pitchFamily="34" charset="-122"/>
                <a:cs typeface="Arial Unicode MS" pitchFamily="34" charset="-122"/>
              </a:rPr>
              <a:t>1</a:t>
            </a:r>
            <a:r>
              <a:rPr lang="en-US" altLang="zh-CN" sz="2800" dirty="0" smtClean="0">
                <a:latin typeface="Arial Unicode MS" pitchFamily="34" charset="-122"/>
                <a:ea typeface="Arial Unicode MS" pitchFamily="34" charset="-122"/>
                <a:cs typeface="Arial Unicode MS" pitchFamily="34" charset="-122"/>
              </a:rPr>
              <a:t>=+4.0</a:t>
            </a:r>
            <a:r>
              <a:rPr lang="el-GR" altLang="zh-CN" sz="2800" dirty="0" smtClean="0">
                <a:latin typeface="Times New Roman"/>
                <a:ea typeface="Arial Unicode MS" pitchFamily="34" charset="-122"/>
                <a:cs typeface="Times New Roman"/>
              </a:rPr>
              <a:t>μ</a:t>
            </a:r>
            <a:r>
              <a:rPr lang="en-US" altLang="zh-CN" sz="2800" dirty="0" smtClean="0">
                <a:latin typeface="Arial Unicode MS" pitchFamily="34" charset="-122"/>
                <a:ea typeface="Arial Unicode MS" pitchFamily="34" charset="-122"/>
                <a:cs typeface="Arial Unicode MS" pitchFamily="34" charset="-122"/>
              </a:rPr>
              <a:t>C</a:t>
            </a:r>
            <a:r>
              <a:rPr lang="zh-CN" altLang="en-US" sz="2800" dirty="0" smtClean="0">
                <a:latin typeface="Arial Unicode MS" pitchFamily="34" charset="-122"/>
                <a:ea typeface="Arial Unicode MS" pitchFamily="34" charset="-122"/>
                <a:cs typeface="Arial Unicode MS" pitchFamily="34" charset="-122"/>
              </a:rPr>
              <a:t>在（</a:t>
            </a:r>
            <a:r>
              <a:rPr lang="en-US" altLang="zh-CN" sz="2800" dirty="0" smtClean="0">
                <a:latin typeface="Arial Unicode MS" pitchFamily="34" charset="-122"/>
                <a:ea typeface="Arial Unicode MS" pitchFamily="34" charset="-122"/>
                <a:cs typeface="Arial Unicode MS" pitchFamily="34" charset="-122"/>
              </a:rPr>
              <a:t>0, 0</a:t>
            </a:r>
            <a:r>
              <a:rPr lang="zh-CN" altLang="en-US" sz="2800" dirty="0" smtClean="0">
                <a:latin typeface="Arial Unicode MS" pitchFamily="34" charset="-122"/>
                <a:ea typeface="Arial Unicode MS" pitchFamily="34" charset="-122"/>
                <a:cs typeface="Arial Unicode MS" pitchFamily="34" charset="-122"/>
              </a:rPr>
              <a:t>）；</a:t>
            </a:r>
            <a:r>
              <a:rPr lang="en-US" altLang="zh-CN" sz="2800" dirty="0">
                <a:latin typeface="Arial Unicode MS" pitchFamily="34" charset="-122"/>
                <a:ea typeface="Arial Unicode MS" pitchFamily="34" charset="-122"/>
                <a:cs typeface="Arial Unicode MS" pitchFamily="34" charset="-122"/>
              </a:rPr>
              <a:t> </a:t>
            </a:r>
            <a:r>
              <a:rPr lang="en-US" altLang="zh-CN" sz="2800" dirty="0" smtClean="0">
                <a:latin typeface="Arial Unicode MS" pitchFamily="34" charset="-122"/>
                <a:ea typeface="Arial Unicode MS" pitchFamily="34" charset="-122"/>
                <a:cs typeface="Arial Unicode MS" pitchFamily="34" charset="-122"/>
              </a:rPr>
              <a:t>q</a:t>
            </a:r>
            <a:r>
              <a:rPr lang="en-US" altLang="zh-CN" sz="2800" baseline="-25000" dirty="0" smtClean="0">
                <a:latin typeface="Arial Unicode MS" pitchFamily="34" charset="-122"/>
                <a:ea typeface="Arial Unicode MS" pitchFamily="34" charset="-122"/>
                <a:cs typeface="Arial Unicode MS" pitchFamily="34" charset="-122"/>
              </a:rPr>
              <a:t>2</a:t>
            </a:r>
            <a:r>
              <a:rPr lang="en-US" altLang="zh-CN" sz="2800" dirty="0" smtClean="0">
                <a:latin typeface="Arial Unicode MS" pitchFamily="34" charset="-122"/>
                <a:ea typeface="Arial Unicode MS" pitchFamily="34" charset="-122"/>
                <a:cs typeface="Arial Unicode MS" pitchFamily="34" charset="-122"/>
              </a:rPr>
              <a:t>=+2.0</a:t>
            </a:r>
            <a:r>
              <a:rPr lang="el-GR" altLang="zh-CN" sz="2800" dirty="0" smtClean="0">
                <a:latin typeface="Times New Roman"/>
                <a:ea typeface="Arial Unicode MS" pitchFamily="34" charset="-122"/>
                <a:cs typeface="Times New Roman"/>
              </a:rPr>
              <a:t>μ</a:t>
            </a:r>
            <a:r>
              <a:rPr lang="en-US" altLang="zh-CN" sz="2800" dirty="0" smtClean="0">
                <a:latin typeface="Arial Unicode MS" pitchFamily="34" charset="-122"/>
                <a:ea typeface="Arial Unicode MS" pitchFamily="34" charset="-122"/>
                <a:cs typeface="Arial Unicode MS" pitchFamily="34" charset="-122"/>
              </a:rPr>
              <a:t>C</a:t>
            </a:r>
            <a:r>
              <a:rPr lang="zh-CN" altLang="en-US" sz="2800" dirty="0">
                <a:latin typeface="Arial Unicode MS" pitchFamily="34" charset="-122"/>
                <a:ea typeface="Arial Unicode MS" pitchFamily="34" charset="-122"/>
                <a:cs typeface="Arial Unicode MS" pitchFamily="34" charset="-122"/>
              </a:rPr>
              <a:t>在</a:t>
            </a:r>
            <a:r>
              <a:rPr lang="zh-CN" altLang="en-US" sz="2800" dirty="0" smtClean="0">
                <a:latin typeface="Arial Unicode MS" pitchFamily="34" charset="-122"/>
                <a:ea typeface="Arial Unicode MS" pitchFamily="34" charset="-122"/>
                <a:cs typeface="Arial Unicode MS" pitchFamily="34" charset="-122"/>
              </a:rPr>
              <a:t>（</a:t>
            </a:r>
            <a:r>
              <a:rPr lang="en-US" altLang="zh-CN" sz="2800" dirty="0" smtClean="0">
                <a:latin typeface="Arial Unicode MS" pitchFamily="34" charset="-122"/>
                <a:ea typeface="Arial Unicode MS" pitchFamily="34" charset="-122"/>
                <a:cs typeface="Arial Unicode MS" pitchFamily="34" charset="-122"/>
              </a:rPr>
              <a:t>3, 4</a:t>
            </a:r>
            <a:r>
              <a:rPr lang="zh-CN" altLang="en-US" sz="2800" dirty="0" smtClean="0">
                <a:latin typeface="Arial Unicode MS" pitchFamily="34" charset="-122"/>
                <a:ea typeface="Arial Unicode MS" pitchFamily="34" charset="-122"/>
                <a:cs typeface="Arial Unicode MS" pitchFamily="34" charset="-122"/>
              </a:rPr>
              <a:t>），</a:t>
            </a:r>
            <a:r>
              <a:rPr lang="en-US" altLang="zh-CN" sz="2800" dirty="0">
                <a:latin typeface="Arial Unicode MS" pitchFamily="34" charset="-122"/>
                <a:ea typeface="Arial Unicode MS" pitchFamily="34" charset="-122"/>
                <a:cs typeface="Arial Unicode MS" pitchFamily="34" charset="-122"/>
              </a:rPr>
              <a:t> </a:t>
            </a:r>
            <a:r>
              <a:rPr lang="en-US" altLang="zh-CN" sz="2800" dirty="0" smtClean="0">
                <a:latin typeface="Arial Unicode MS" pitchFamily="34" charset="-122"/>
                <a:ea typeface="Arial Unicode MS" pitchFamily="34" charset="-122"/>
                <a:cs typeface="Arial Unicode MS" pitchFamily="34" charset="-122"/>
              </a:rPr>
              <a:t>q</a:t>
            </a:r>
            <a:r>
              <a:rPr lang="en-US" altLang="zh-CN" sz="2800" baseline="-25000" dirty="0" smtClean="0">
                <a:latin typeface="Arial Unicode MS" pitchFamily="34" charset="-122"/>
                <a:ea typeface="Arial Unicode MS" pitchFamily="34" charset="-122"/>
                <a:cs typeface="Arial Unicode MS" pitchFamily="34" charset="-122"/>
              </a:rPr>
              <a:t>3</a:t>
            </a:r>
            <a:r>
              <a:rPr lang="en-US" altLang="zh-CN" sz="2800" dirty="0" smtClean="0">
                <a:latin typeface="Arial Unicode MS" pitchFamily="34" charset="-122"/>
                <a:ea typeface="Arial Unicode MS" pitchFamily="34" charset="-122"/>
                <a:cs typeface="Arial Unicode MS" pitchFamily="34" charset="-122"/>
              </a:rPr>
              <a:t>=-4.0</a:t>
            </a:r>
            <a:r>
              <a:rPr lang="el-GR" altLang="zh-CN" sz="2800" dirty="0" smtClean="0">
                <a:latin typeface="Times New Roman"/>
                <a:ea typeface="Arial Unicode MS" pitchFamily="34" charset="-122"/>
                <a:cs typeface="Times New Roman"/>
              </a:rPr>
              <a:t>μ</a:t>
            </a:r>
            <a:r>
              <a:rPr lang="en-US" altLang="zh-CN" sz="2800" dirty="0" smtClean="0">
                <a:latin typeface="Arial Unicode MS" pitchFamily="34" charset="-122"/>
                <a:ea typeface="Arial Unicode MS" pitchFamily="34" charset="-122"/>
                <a:cs typeface="Arial Unicode MS" pitchFamily="34" charset="-122"/>
              </a:rPr>
              <a:t>C</a:t>
            </a:r>
            <a:r>
              <a:rPr lang="zh-CN" altLang="en-US" sz="2800" dirty="0">
                <a:latin typeface="Arial Unicode MS" pitchFamily="34" charset="-122"/>
                <a:ea typeface="Arial Unicode MS" pitchFamily="34" charset="-122"/>
                <a:cs typeface="Arial Unicode MS" pitchFamily="34" charset="-122"/>
              </a:rPr>
              <a:t>在</a:t>
            </a:r>
            <a:r>
              <a:rPr lang="zh-CN" altLang="en-US" sz="2800" dirty="0" smtClean="0">
                <a:latin typeface="Arial Unicode MS" pitchFamily="34" charset="-122"/>
                <a:ea typeface="Arial Unicode MS" pitchFamily="34" charset="-122"/>
                <a:cs typeface="Arial Unicode MS" pitchFamily="34" charset="-122"/>
              </a:rPr>
              <a:t>（</a:t>
            </a:r>
            <a:r>
              <a:rPr lang="en-US" altLang="zh-CN" sz="2800" dirty="0" smtClean="0">
                <a:latin typeface="Arial Unicode MS" pitchFamily="34" charset="-122"/>
                <a:ea typeface="Arial Unicode MS" pitchFamily="34" charset="-122"/>
                <a:cs typeface="Arial Unicode MS" pitchFamily="34" charset="-122"/>
              </a:rPr>
              <a:t>3, 0</a:t>
            </a:r>
            <a:r>
              <a:rPr lang="zh-CN" altLang="en-US" sz="2800" dirty="0" smtClean="0">
                <a:latin typeface="Arial Unicode MS" pitchFamily="34" charset="-122"/>
                <a:ea typeface="Arial Unicode MS" pitchFamily="34" charset="-122"/>
                <a:cs typeface="Arial Unicode MS" pitchFamily="34" charset="-122"/>
              </a:rPr>
              <a:t>）。求电势能。</a:t>
            </a:r>
            <a:endParaRPr lang="zh-CN" altLang="en-US" sz="2800" dirty="0">
              <a:latin typeface="Arial Unicode MS" pitchFamily="34" charset="-122"/>
              <a:ea typeface="Arial Unicode MS" pitchFamily="34" charset="-122"/>
              <a:cs typeface="Arial Unicode MS" pitchFamily="34" charset="-122"/>
            </a:endParaRPr>
          </a:p>
        </p:txBody>
      </p:sp>
      <p:graphicFrame>
        <p:nvGraphicFramePr>
          <p:cNvPr id="16" name="对象 15"/>
          <p:cNvGraphicFramePr>
            <a:graphicFrameLocks noChangeAspect="1"/>
          </p:cNvGraphicFramePr>
          <p:nvPr>
            <p:extLst>
              <p:ext uri="{D42A27DB-BD31-4B8C-83A1-F6EECF244321}">
                <p14:modId xmlns:p14="http://schemas.microsoft.com/office/powerpoint/2010/main" val="428489319"/>
              </p:ext>
            </p:extLst>
          </p:nvPr>
        </p:nvGraphicFramePr>
        <p:xfrm>
          <a:off x="1763688" y="4869160"/>
          <a:ext cx="3330575" cy="869950"/>
        </p:xfrm>
        <a:graphic>
          <a:graphicData uri="http://schemas.openxmlformats.org/presentationml/2006/ole">
            <mc:AlternateContent xmlns:mc="http://schemas.openxmlformats.org/markup-compatibility/2006">
              <mc:Choice xmlns:v="urn:schemas-microsoft-com:vml" Requires="v">
                <p:oleObj spid="_x0000_s39126" name="Equation" r:id="rId3" imgW="1663700" imgH="431800" progId="Equation.DSMT4">
                  <p:embed/>
                </p:oleObj>
              </mc:Choice>
              <mc:Fallback>
                <p:oleObj name="Equation" r:id="rId3" imgW="1663700" imgH="431800" progId="Equation.DSMT4">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8" y="4869160"/>
                        <a:ext cx="3330575"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0162021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70247" y="2060848"/>
            <a:ext cx="7992887" cy="1815882"/>
          </a:xfrm>
          <a:prstGeom prst="rect">
            <a:avLst/>
          </a:prstGeom>
          <a:noFill/>
        </p:spPr>
        <p:txBody>
          <a:bodyPr wrap="square" rtlCol="0">
            <a:spAutoFit/>
          </a:bodyPr>
          <a:lstStyle/>
          <a:p>
            <a:pPr>
              <a:lnSpc>
                <a:spcPct val="150000"/>
              </a:lnSpc>
            </a:pPr>
            <a:r>
              <a:rPr lang="zh-CN" altLang="en-US" sz="3200" b="1" dirty="0" smtClean="0">
                <a:latin typeface="黑体" pitchFamily="49" charset="-122"/>
                <a:ea typeface="黑体" pitchFamily="49" charset="-122"/>
              </a:rPr>
              <a:t>计算题：</a:t>
            </a:r>
            <a:endParaRPr lang="en-US" altLang="zh-CN" sz="3200" b="1" dirty="0" smtClean="0">
              <a:latin typeface="黑体" pitchFamily="49" charset="-122"/>
              <a:ea typeface="黑体" pitchFamily="49" charset="-122"/>
            </a:endParaRPr>
          </a:p>
          <a:p>
            <a:pPr>
              <a:lnSpc>
                <a:spcPct val="200000"/>
              </a:lnSpc>
            </a:pPr>
            <a:r>
              <a:rPr lang="en-US" altLang="zh-CN" sz="3200" b="1" dirty="0" smtClean="0"/>
              <a:t>P59</a:t>
            </a:r>
            <a:r>
              <a:rPr lang="zh-CN" altLang="en-US" sz="3200" b="1" dirty="0" smtClean="0"/>
              <a:t>   第</a:t>
            </a:r>
            <a:r>
              <a:rPr lang="en-US" altLang="zh-CN" sz="3200" b="1" dirty="0" smtClean="0"/>
              <a:t>6</a:t>
            </a:r>
            <a:r>
              <a:rPr lang="zh-CN" altLang="en-US" sz="3200" b="1" dirty="0" smtClean="0"/>
              <a:t>，</a:t>
            </a:r>
            <a:r>
              <a:rPr lang="en-US" altLang="zh-CN" sz="3200" b="1" dirty="0" smtClean="0"/>
              <a:t>7</a:t>
            </a:r>
            <a:r>
              <a:rPr lang="zh-CN" altLang="en-US" sz="3200" b="1" dirty="0" smtClean="0"/>
              <a:t>题</a:t>
            </a:r>
            <a:endParaRPr lang="en-US" altLang="zh-CN" sz="3200" b="1" dirty="0" smtClean="0"/>
          </a:p>
        </p:txBody>
      </p:sp>
    </p:spTree>
    <p:extLst>
      <p:ext uri="{BB962C8B-B14F-4D97-AF65-F5344CB8AC3E}">
        <p14:creationId xmlns:p14="http://schemas.microsoft.com/office/powerpoint/2010/main" val="9300881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55193" y="108340"/>
            <a:ext cx="6776214" cy="584775"/>
          </a:xfrm>
          <a:prstGeom prst="rect">
            <a:avLst/>
          </a:prstGeom>
        </p:spPr>
        <p:txBody>
          <a:bodyPr wrap="none">
            <a:spAutoFit/>
          </a:bodyPr>
          <a:lstStyle/>
          <a:p>
            <a:pPr lvl="0" defTabSz="762000">
              <a:spcBef>
                <a:spcPts val="1900"/>
              </a:spcBef>
              <a:defRPr sz="1800"/>
            </a:pPr>
            <a:r>
              <a:rPr lang="en-US" altLang="zh-CN" sz="3200" b="1" dirty="0" smtClean="0">
                <a:solidFill>
                  <a:srgbClr val="0000FF"/>
                </a:solidFill>
                <a:latin typeface="SimHei"/>
                <a:ea typeface="SimHei"/>
                <a:cs typeface="SimHei"/>
                <a:sym typeface="SimHei"/>
              </a:rPr>
              <a:t>§17.2  </a:t>
            </a:r>
            <a:r>
              <a:rPr lang="zh-CN" altLang="en-US" sz="3200" b="1" dirty="0" smtClean="0">
                <a:solidFill>
                  <a:srgbClr val="0000FF"/>
                </a:solidFill>
                <a:latin typeface="SimHei"/>
                <a:ea typeface="SimHei"/>
                <a:cs typeface="SimHei"/>
                <a:sym typeface="SimHei"/>
              </a:rPr>
              <a:t>电势</a:t>
            </a:r>
            <a:r>
              <a:rPr lang="zh-CN" altLang="en-US" sz="2800" b="1" dirty="0" smtClean="0">
                <a:solidFill>
                  <a:srgbClr val="0000FF"/>
                </a:solidFill>
                <a:latin typeface="SimHei"/>
                <a:ea typeface="SimHei"/>
                <a:cs typeface="SimHei"/>
                <a:sym typeface="SimHei"/>
              </a:rPr>
              <a:t>（</a:t>
            </a:r>
            <a:r>
              <a:rPr lang="en-US" altLang="zh-CN" sz="2800" b="1" dirty="0" smtClean="0">
                <a:solidFill>
                  <a:srgbClr val="0000FF"/>
                </a:solidFill>
                <a:latin typeface="SimHei"/>
                <a:ea typeface="SimHei"/>
                <a:cs typeface="SimHei"/>
                <a:sym typeface="SimHei"/>
              </a:rPr>
              <a:t>Electric potential </a:t>
            </a:r>
            <a:r>
              <a:rPr lang="zh-CN" altLang="en-US" sz="2800" b="1" dirty="0" smtClean="0">
                <a:solidFill>
                  <a:srgbClr val="0000FF"/>
                </a:solidFill>
                <a:latin typeface="SimHei"/>
                <a:ea typeface="SimHei"/>
                <a:cs typeface="SimHei"/>
                <a:sym typeface="SimHei"/>
              </a:rPr>
              <a:t>）</a:t>
            </a:r>
            <a:endParaRPr lang="zh-CN" altLang="en-US" sz="2800" b="1" dirty="0">
              <a:solidFill>
                <a:srgbClr val="0000FF"/>
              </a:solidFill>
              <a:latin typeface="SimHei"/>
              <a:ea typeface="SimHei"/>
              <a:cs typeface="SimHei"/>
              <a:sym typeface="SimHei"/>
            </a:endParaRPr>
          </a:p>
        </p:txBody>
      </p:sp>
      <p:sp>
        <p:nvSpPr>
          <p:cNvPr id="4" name="TextBox 3"/>
          <p:cNvSpPr txBox="1"/>
          <p:nvPr/>
        </p:nvSpPr>
        <p:spPr>
          <a:xfrm>
            <a:off x="47454" y="798920"/>
            <a:ext cx="4875053" cy="523220"/>
          </a:xfrm>
          <a:prstGeom prst="rect">
            <a:avLst/>
          </a:prstGeom>
          <a:noFill/>
        </p:spPr>
        <p:txBody>
          <a:bodyPr wrap="none" rtlCol="0">
            <a:spAutoFit/>
          </a:bodyPr>
          <a:lstStyle/>
          <a:p>
            <a:r>
              <a:rPr lang="en-US" altLang="zh-CN" sz="2800" b="1" dirty="0" smtClean="0">
                <a:latin typeface="黑体" pitchFamily="49" charset="-122"/>
                <a:ea typeface="黑体" pitchFamily="49" charset="-122"/>
              </a:rPr>
              <a:t>1.</a:t>
            </a:r>
            <a:r>
              <a:rPr lang="zh-CN" altLang="en-US" sz="2800" b="1" dirty="0" smtClean="0">
                <a:latin typeface="黑体" pitchFamily="49" charset="-122"/>
                <a:ea typeface="黑体" pitchFamily="49" charset="-122"/>
              </a:rPr>
              <a:t>电势：单位正电荷的电势能</a:t>
            </a:r>
            <a:endParaRPr lang="zh-CN" altLang="en-US" sz="2800" b="1" dirty="0"/>
          </a:p>
        </p:txBody>
      </p:sp>
      <p:graphicFrame>
        <p:nvGraphicFramePr>
          <p:cNvPr id="8" name="对象 7"/>
          <p:cNvGraphicFramePr>
            <a:graphicFrameLocks noChangeAspect="1"/>
          </p:cNvGraphicFramePr>
          <p:nvPr>
            <p:extLst>
              <p:ext uri="{D42A27DB-BD31-4B8C-83A1-F6EECF244321}">
                <p14:modId xmlns:p14="http://schemas.microsoft.com/office/powerpoint/2010/main" val="1027754884"/>
              </p:ext>
            </p:extLst>
          </p:nvPr>
        </p:nvGraphicFramePr>
        <p:xfrm>
          <a:off x="1259632" y="1916082"/>
          <a:ext cx="1091070" cy="900496"/>
        </p:xfrm>
        <a:graphic>
          <a:graphicData uri="http://schemas.openxmlformats.org/presentationml/2006/ole">
            <mc:AlternateContent xmlns:mc="http://schemas.openxmlformats.org/markup-compatibility/2006">
              <mc:Choice xmlns:v="urn:schemas-microsoft-com:vml" Requires="v">
                <p:oleObj spid="_x0000_s17111" name="Equation" r:id="rId3" imgW="508000" imgH="419100" progId="Equation.DSMT4">
                  <p:embed/>
                </p:oleObj>
              </mc:Choice>
              <mc:Fallback>
                <p:oleObj name="Equation" r:id="rId3" imgW="508000" imgH="419100" progId="Equation.DSMT4">
                  <p:embed/>
                  <p:pic>
                    <p:nvPicPr>
                      <p:cNvPr id="0" name="Picture 3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632" y="1916082"/>
                        <a:ext cx="1091070" cy="9004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Box 8"/>
          <p:cNvSpPr txBox="1"/>
          <p:nvPr/>
        </p:nvSpPr>
        <p:spPr>
          <a:xfrm>
            <a:off x="4343300" y="1866234"/>
            <a:ext cx="1747658" cy="830997"/>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en-US" altLang="zh-CN" sz="2400" dirty="0" smtClean="0">
                <a:latin typeface="Times New Roman" pitchFamily="18" charset="0"/>
                <a:cs typeface="Times New Roman" pitchFamily="18" charset="0"/>
              </a:rPr>
              <a:t>SI</a:t>
            </a:r>
            <a:r>
              <a:rPr lang="zh-CN" altLang="en-US" sz="2400" dirty="0" smtClean="0">
                <a:latin typeface="Times New Roman" pitchFamily="18" charset="0"/>
                <a:cs typeface="Times New Roman" pitchFamily="18" charset="0"/>
              </a:rPr>
              <a:t>： </a:t>
            </a:r>
            <a:r>
              <a:rPr lang="en-US" altLang="zh-CN" sz="2400" dirty="0" smtClean="0">
                <a:latin typeface="Times New Roman" pitchFamily="18" charset="0"/>
                <a:cs typeface="Times New Roman" pitchFamily="18" charset="0"/>
              </a:rPr>
              <a:t>V </a:t>
            </a:r>
            <a:r>
              <a:rPr lang="zh-CN" altLang="en-US" sz="2400" dirty="0" smtClean="0">
                <a:latin typeface="Times New Roman" pitchFamily="18" charset="0"/>
                <a:cs typeface="Times New Roman" pitchFamily="18" charset="0"/>
              </a:rPr>
              <a:t>伏特</a:t>
            </a:r>
            <a:endParaRPr lang="en-US" altLang="zh-CN" sz="2400" dirty="0" smtClean="0">
              <a:latin typeface="Times New Roman" pitchFamily="18" charset="0"/>
              <a:cs typeface="Times New Roman" pitchFamily="18" charset="0"/>
            </a:endParaRPr>
          </a:p>
          <a:p>
            <a:r>
              <a:rPr lang="en-US" altLang="zh-CN" sz="2400" dirty="0" smtClean="0">
                <a:latin typeface="Times New Roman" pitchFamily="18" charset="0"/>
                <a:cs typeface="Times New Roman" pitchFamily="18" charset="0"/>
              </a:rPr>
              <a:t>1V = 1J/C</a:t>
            </a:r>
            <a:endParaRPr lang="zh-CN" altLang="en-US" sz="2400" dirty="0">
              <a:latin typeface="Times New Roman" pitchFamily="18" charset="0"/>
              <a:cs typeface="Times New Roman" pitchFamily="18" charset="0"/>
            </a:endParaRPr>
          </a:p>
        </p:txBody>
      </p:sp>
      <p:sp>
        <p:nvSpPr>
          <p:cNvPr id="10" name="TextBox 9"/>
          <p:cNvSpPr txBox="1"/>
          <p:nvPr/>
        </p:nvSpPr>
        <p:spPr>
          <a:xfrm>
            <a:off x="4874236" y="1301266"/>
            <a:ext cx="3877985" cy="461665"/>
          </a:xfrm>
          <a:prstGeom prst="rect">
            <a:avLst/>
          </a:prstGeom>
          <a:noFill/>
        </p:spPr>
        <p:txBody>
          <a:bodyPr wrap="none" rtlCol="0">
            <a:spAutoFit/>
          </a:bodyPr>
          <a:lstStyle/>
          <a:p>
            <a:r>
              <a:rPr lang="zh-CN" altLang="en-US" sz="2400" dirty="0" smtClean="0">
                <a:solidFill>
                  <a:srgbClr val="FF0000"/>
                </a:solidFill>
                <a:latin typeface="黑体" pitchFamily="49" charset="-122"/>
                <a:ea typeface="黑体" pitchFamily="49" charset="-122"/>
              </a:rPr>
              <a:t>标量，没有方向，有正负。</a:t>
            </a:r>
            <a:endParaRPr lang="zh-CN" altLang="en-US" sz="2400" dirty="0">
              <a:solidFill>
                <a:srgbClr val="FF0000"/>
              </a:solidFill>
              <a:latin typeface="黑体" pitchFamily="49" charset="-122"/>
              <a:ea typeface="黑体" pitchFamily="49" charset="-122"/>
            </a:endParaRPr>
          </a:p>
        </p:txBody>
      </p:sp>
      <p:sp>
        <p:nvSpPr>
          <p:cNvPr id="2" name="TextBox 1"/>
          <p:cNvSpPr txBox="1"/>
          <p:nvPr/>
        </p:nvSpPr>
        <p:spPr>
          <a:xfrm>
            <a:off x="467544" y="1322140"/>
            <a:ext cx="4478700" cy="523220"/>
          </a:xfrm>
          <a:prstGeom prst="rect">
            <a:avLst/>
          </a:prstGeom>
          <a:noFill/>
        </p:spPr>
        <p:txBody>
          <a:bodyPr wrap="square" rtlCol="0">
            <a:spAutoFit/>
          </a:bodyPr>
          <a:lstStyle/>
          <a:p>
            <a:r>
              <a:rPr lang="zh-CN" altLang="en-US" sz="2800" b="1" dirty="0" smtClean="0"/>
              <a:t>电势为单位正电荷的电势能</a:t>
            </a:r>
            <a:endParaRPr lang="zh-CN" altLang="en-US" sz="2800" b="1" dirty="0"/>
          </a:p>
        </p:txBody>
      </p:sp>
      <mc:AlternateContent xmlns:mc="http://schemas.openxmlformats.org/markup-compatibility/2006" xmlns:a14="http://schemas.microsoft.com/office/drawing/2010/main">
        <mc:Choice Requires="a14">
          <p:sp>
            <p:nvSpPr>
              <p:cNvPr id="7" name="TextBox 6"/>
              <p:cNvSpPr txBox="1"/>
              <p:nvPr/>
            </p:nvSpPr>
            <p:spPr>
              <a:xfrm>
                <a:off x="263910" y="4130784"/>
                <a:ext cx="8898366" cy="2246769"/>
              </a:xfrm>
              <a:prstGeom prst="rect">
                <a:avLst/>
              </a:prstGeom>
              <a:noFill/>
            </p:spPr>
            <p:txBody>
              <a:bodyPr wrap="square" rtlCol="0">
                <a:spAutoFit/>
              </a:bodyPr>
              <a:lstStyle/>
              <a:p>
                <a:pPr>
                  <a:lnSpc>
                    <a:spcPct val="125000"/>
                  </a:lnSpc>
                </a:pPr>
                <a:r>
                  <a:rPr lang="zh-CN" altLang="en-US" sz="2800" b="1" dirty="0" smtClean="0"/>
                  <a:t>当取试验电荷为单位正电荷时，</a:t>
                </a:r>
                <a14:m>
                  <m:oMath xmlns:m="http://schemas.openxmlformats.org/officeDocument/2006/math">
                    <m:sSub>
                      <m:sSubPr>
                        <m:ctrlPr>
                          <a:rPr lang="zh-CN" altLang="zh-CN" sz="2800" b="1" i="1">
                            <a:latin typeface="Cambria Math" panose="02040503050406030204" pitchFamily="18" charset="0"/>
                          </a:rPr>
                        </m:ctrlPr>
                      </m:sSubPr>
                      <m:e>
                        <m:r>
                          <a:rPr lang="en-US" altLang="zh-CN" sz="2800" b="1" i="1">
                            <a:latin typeface="Cambria Math"/>
                          </a:rPr>
                          <m:t>𝑽</m:t>
                        </m:r>
                      </m:e>
                      <m:sub>
                        <m:r>
                          <a:rPr lang="en-US" altLang="zh-CN" sz="2800" b="1" i="1">
                            <a:latin typeface="Cambria Math"/>
                          </a:rPr>
                          <m:t>𝒂</m:t>
                        </m:r>
                      </m:sub>
                    </m:sSub>
                  </m:oMath>
                </a14:m>
                <a:r>
                  <a:rPr lang="zh-CN" altLang="en-US" sz="2800" b="1" dirty="0" smtClean="0"/>
                  <a:t>和</a:t>
                </a:r>
                <a14:m>
                  <m:oMath xmlns:m="http://schemas.openxmlformats.org/officeDocument/2006/math">
                    <m:sSub>
                      <m:sSubPr>
                        <m:ctrlPr>
                          <a:rPr lang="zh-CN" altLang="zh-CN" sz="2800" b="1" i="1">
                            <a:latin typeface="Cambria Math" panose="02040503050406030204" pitchFamily="18" charset="0"/>
                          </a:rPr>
                        </m:ctrlPr>
                      </m:sSubPr>
                      <m:e>
                        <m:r>
                          <a:rPr lang="en-US" altLang="zh-CN" sz="2800" b="1" i="1">
                            <a:latin typeface="Cambria Math"/>
                          </a:rPr>
                          <m:t>𝑼</m:t>
                        </m:r>
                      </m:e>
                      <m:sub>
                        <m:r>
                          <a:rPr lang="en-US" altLang="zh-CN" sz="2800" b="1" i="1">
                            <a:latin typeface="Cambria Math"/>
                          </a:rPr>
                          <m:t>𝒂</m:t>
                        </m:r>
                      </m:sub>
                    </m:sSub>
                  </m:oMath>
                </a14:m>
                <a:r>
                  <a:rPr lang="zh-CN" altLang="en-US" sz="2800" b="1" dirty="0" smtClean="0"/>
                  <a:t>等值，这表示</a:t>
                </a:r>
                <a:r>
                  <a:rPr lang="zh-CN" altLang="en-US" sz="2800" b="1" dirty="0" smtClean="0">
                    <a:solidFill>
                      <a:srgbClr val="FF0000"/>
                    </a:solidFill>
                  </a:rPr>
                  <a:t>静电场中某点的电势在数值上等于单位正电荷放在该点处时的电势能</a:t>
                </a:r>
                <a:r>
                  <a:rPr lang="zh-CN" altLang="en-US" sz="2800" b="1" dirty="0" smtClean="0"/>
                  <a:t>，也等于单位正电荷从该点经过任意路径到电势零点时电场力所做的功。</a:t>
                </a:r>
                <a:endParaRPr lang="zh-CN" altLang="en-US" sz="2800" b="1" dirty="0"/>
              </a:p>
            </p:txBody>
          </p:sp>
        </mc:Choice>
        <mc:Fallback xmlns="">
          <p:sp>
            <p:nvSpPr>
              <p:cNvPr id="7" name="TextBox 6"/>
              <p:cNvSpPr txBox="1">
                <a:spLocks noRot="1" noChangeAspect="1" noMove="1" noResize="1" noEditPoints="1" noAdjustHandles="1" noChangeArrowheads="1" noChangeShapeType="1" noTextEdit="1"/>
              </p:cNvSpPr>
              <p:nvPr/>
            </p:nvSpPr>
            <p:spPr>
              <a:xfrm>
                <a:off x="263910" y="4130784"/>
                <a:ext cx="8898366" cy="2246769"/>
              </a:xfrm>
              <a:prstGeom prst="rect">
                <a:avLst/>
              </a:prstGeom>
              <a:blipFill rotWithShape="1">
                <a:blip r:embed="rId5"/>
                <a:stretch>
                  <a:fillRect l="-1370" t="-1087" r="-1438" b="-35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矩形 24"/>
              <p:cNvSpPr/>
              <p:nvPr/>
            </p:nvSpPr>
            <p:spPr>
              <a:xfrm>
                <a:off x="1161050" y="2816578"/>
                <a:ext cx="3371949" cy="131420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zh-CN" sz="2400" i="1" smtClean="0">
                              <a:latin typeface="Cambria Math" panose="02040503050406030204" pitchFamily="18" charset="0"/>
                            </a:rPr>
                          </m:ctrlPr>
                        </m:sSubPr>
                        <m:e>
                          <m:r>
                            <a:rPr lang="en-US" altLang="zh-CN" sz="2400" i="1">
                              <a:latin typeface="Cambria Math"/>
                            </a:rPr>
                            <m:t>𝑉</m:t>
                          </m:r>
                        </m:e>
                        <m:sub>
                          <m:r>
                            <a:rPr lang="en-US" altLang="zh-CN" sz="2400" i="1">
                              <a:latin typeface="Cambria Math"/>
                            </a:rPr>
                            <m:t>𝑎</m:t>
                          </m:r>
                        </m:sub>
                      </m:sSub>
                      <m:r>
                        <a:rPr lang="en-US" altLang="zh-CN" sz="2400" i="1">
                          <a:latin typeface="Cambria Math"/>
                        </a:rPr>
                        <m:t>=</m:t>
                      </m:r>
                      <m:f>
                        <m:fPr>
                          <m:ctrlPr>
                            <a:rPr lang="zh-CN" altLang="zh-CN" sz="2400" i="1">
                              <a:latin typeface="Cambria Math" panose="02040503050406030204" pitchFamily="18" charset="0"/>
                            </a:rPr>
                          </m:ctrlPr>
                        </m:fPr>
                        <m:num>
                          <m:sSub>
                            <m:sSubPr>
                              <m:ctrlPr>
                                <a:rPr lang="zh-CN" altLang="zh-CN" sz="2400" i="1">
                                  <a:latin typeface="Cambria Math" panose="02040503050406030204" pitchFamily="18" charset="0"/>
                                </a:rPr>
                              </m:ctrlPr>
                            </m:sSubPr>
                            <m:e>
                              <m:r>
                                <a:rPr lang="en-US" altLang="zh-CN" sz="2400" i="1">
                                  <a:latin typeface="Cambria Math"/>
                                </a:rPr>
                                <m:t>𝑈</m:t>
                              </m:r>
                            </m:e>
                            <m:sub>
                              <m:r>
                                <a:rPr lang="en-US" altLang="zh-CN" sz="2400" i="1">
                                  <a:latin typeface="Cambria Math"/>
                                </a:rPr>
                                <m:t>𝑎</m:t>
                              </m:r>
                            </m:sub>
                          </m:sSub>
                        </m:num>
                        <m:den>
                          <m:sSub>
                            <m:sSubPr>
                              <m:ctrlPr>
                                <a:rPr lang="zh-CN" altLang="zh-CN" sz="2400" i="1">
                                  <a:latin typeface="Cambria Math" panose="02040503050406030204" pitchFamily="18" charset="0"/>
                                </a:rPr>
                              </m:ctrlPr>
                            </m:sSubPr>
                            <m:e>
                              <m:r>
                                <a:rPr lang="en-US" altLang="zh-CN" sz="2400" i="1">
                                  <a:latin typeface="Cambria Math"/>
                                </a:rPr>
                                <m:t>𝑞</m:t>
                              </m:r>
                            </m:e>
                            <m:sub>
                              <m:r>
                                <a:rPr lang="en-US" altLang="zh-CN" sz="2400" i="1">
                                  <a:latin typeface="Cambria Math"/>
                                </a:rPr>
                                <m:t>0</m:t>
                              </m:r>
                            </m:sub>
                          </m:sSub>
                        </m:den>
                      </m:f>
                      <m:r>
                        <a:rPr lang="en-US" altLang="zh-CN" sz="2400" i="1">
                          <a:latin typeface="Cambria Math"/>
                        </a:rPr>
                        <m:t>=</m:t>
                      </m:r>
                      <m:nary>
                        <m:naryPr>
                          <m:limLoc m:val="undOvr"/>
                          <m:ctrlPr>
                            <a:rPr lang="en-US" altLang="zh-CN" sz="2400" i="1" smtClean="0">
                              <a:latin typeface="Cambria Math" panose="02040503050406030204" pitchFamily="18" charset="0"/>
                            </a:rPr>
                          </m:ctrlPr>
                        </m:naryPr>
                        <m:sub>
                          <m:r>
                            <m:rPr>
                              <m:brk m:alnAt="24"/>
                            </m:rPr>
                            <a:rPr lang="en-US" altLang="zh-CN" sz="2400" b="0" i="1" smtClean="0">
                              <a:latin typeface="Cambria Math"/>
                            </a:rPr>
                            <m:t>𝑎</m:t>
                          </m:r>
                        </m:sub>
                        <m:sup>
                          <m:r>
                            <a:rPr lang="zh-CN" altLang="en-US" sz="2400" b="0" i="1" smtClean="0">
                              <a:latin typeface="Cambria Math"/>
                            </a:rPr>
                            <m:t>零势点</m:t>
                          </m:r>
                        </m:sup>
                        <m:e>
                          <m:acc>
                            <m:accPr>
                              <m:chr m:val="⃑"/>
                              <m:ctrlPr>
                                <a:rPr lang="en-US" altLang="zh-CN" sz="2400" i="1" smtClean="0">
                                  <a:latin typeface="Cambria Math" panose="02040503050406030204" pitchFamily="18" charset="0"/>
                                </a:rPr>
                              </m:ctrlPr>
                            </m:accPr>
                            <m:e>
                              <m:r>
                                <a:rPr lang="en-US" altLang="zh-CN" sz="2400" b="0" i="1" smtClean="0">
                                  <a:latin typeface="Cambria Math"/>
                                </a:rPr>
                                <m:t>𝐸</m:t>
                              </m:r>
                            </m:e>
                          </m:acc>
                          <m:r>
                            <a:rPr lang="zh-CN" altLang="en-US" sz="2400" i="1" smtClean="0">
                              <a:latin typeface="Cambria Math"/>
                            </a:rPr>
                            <m:t>∙</m:t>
                          </m:r>
                          <m:r>
                            <a:rPr lang="en-US" altLang="zh-CN" sz="2400" b="0" i="1" smtClean="0">
                              <a:latin typeface="Cambria Math"/>
                            </a:rPr>
                            <m:t>𝑑</m:t>
                          </m:r>
                          <m:acc>
                            <m:accPr>
                              <m:chr m:val="⃑"/>
                              <m:ctrlPr>
                                <a:rPr lang="en-US" altLang="zh-CN" sz="2400" b="0" i="1" smtClean="0">
                                  <a:latin typeface="Cambria Math" panose="02040503050406030204" pitchFamily="18" charset="0"/>
                                </a:rPr>
                              </m:ctrlPr>
                            </m:accPr>
                            <m:e>
                              <m:r>
                                <a:rPr lang="en-US" altLang="zh-CN" sz="2400" b="0" i="1" smtClean="0">
                                  <a:latin typeface="Cambria Math"/>
                                </a:rPr>
                                <m:t>𝑙</m:t>
                              </m:r>
                            </m:e>
                          </m:acc>
                        </m:e>
                      </m:nary>
                    </m:oMath>
                  </m:oMathPara>
                </a14:m>
                <a:endParaRPr lang="zh-CN" altLang="en-US" sz="2400" dirty="0"/>
              </a:p>
            </p:txBody>
          </p:sp>
        </mc:Choice>
        <mc:Fallback xmlns="">
          <p:sp>
            <p:nvSpPr>
              <p:cNvPr id="25" name="矩形 24"/>
              <p:cNvSpPr>
                <a:spLocks noRot="1" noChangeAspect="1" noMove="1" noResize="1" noEditPoints="1" noAdjustHandles="1" noChangeArrowheads="1" noChangeShapeType="1" noTextEdit="1"/>
              </p:cNvSpPr>
              <p:nvPr/>
            </p:nvSpPr>
            <p:spPr>
              <a:xfrm>
                <a:off x="1161050" y="2816578"/>
                <a:ext cx="3371949" cy="1314206"/>
              </a:xfrm>
              <a:prstGeom prst="rect">
                <a:avLst/>
              </a:prstGeom>
              <a:blipFill rotWithShape="1">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559190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899592" y="577424"/>
            <a:ext cx="2232248" cy="523220"/>
          </a:xfrm>
          <a:prstGeom prst="rect">
            <a:avLst/>
          </a:prstGeom>
          <a:noFill/>
        </p:spPr>
        <p:txBody>
          <a:bodyPr wrap="square" rtlCol="0">
            <a:spAutoFit/>
          </a:bodyPr>
          <a:lstStyle/>
          <a:p>
            <a:r>
              <a:rPr lang="zh-CN" altLang="en-US" sz="2800" b="1">
                <a:solidFill>
                  <a:srgbClr val="0000FF"/>
                </a:solidFill>
              </a:rPr>
              <a:t>多选</a:t>
            </a:r>
            <a:r>
              <a:rPr lang="zh-CN" altLang="en-US" sz="2800" b="1" smtClean="0">
                <a:solidFill>
                  <a:srgbClr val="0000FF"/>
                </a:solidFill>
              </a:rPr>
              <a:t>题：</a:t>
            </a:r>
            <a:endParaRPr lang="zh-CN" altLang="en-US" sz="2800" b="1">
              <a:solidFill>
                <a:srgbClr val="0000FF"/>
              </a:solidFill>
            </a:endParaRPr>
          </a:p>
        </p:txBody>
      </p:sp>
      <p:sp>
        <p:nvSpPr>
          <p:cNvPr id="3" name="TextBox 2"/>
          <p:cNvSpPr txBox="1"/>
          <p:nvPr/>
        </p:nvSpPr>
        <p:spPr>
          <a:xfrm>
            <a:off x="1331640" y="1340768"/>
            <a:ext cx="6336704" cy="3970318"/>
          </a:xfrm>
          <a:prstGeom prst="rect">
            <a:avLst/>
          </a:prstGeom>
          <a:noFill/>
        </p:spPr>
        <p:txBody>
          <a:bodyPr wrap="square" rtlCol="0">
            <a:spAutoFit/>
          </a:bodyPr>
          <a:lstStyle/>
          <a:p>
            <a:pPr>
              <a:lnSpc>
                <a:spcPct val="150000"/>
              </a:lnSpc>
            </a:pPr>
            <a:r>
              <a:rPr lang="zh-CN" altLang="zh-CN" sz="2800" b="1" dirty="0" smtClean="0"/>
              <a:t>以下</a:t>
            </a:r>
            <a:r>
              <a:rPr lang="zh-CN" altLang="zh-CN" sz="2800" b="1" dirty="0"/>
              <a:t>哪些单位是电势的单位？</a:t>
            </a:r>
          </a:p>
          <a:p>
            <a:pPr>
              <a:lnSpc>
                <a:spcPct val="150000"/>
              </a:lnSpc>
            </a:pPr>
            <a:r>
              <a:rPr lang="en-US" altLang="zh-CN" sz="2800" b="1" dirty="0"/>
              <a:t>A.N/C</a:t>
            </a:r>
            <a:endParaRPr lang="zh-CN" altLang="zh-CN" sz="2800" b="1" dirty="0"/>
          </a:p>
          <a:p>
            <a:pPr>
              <a:lnSpc>
                <a:spcPct val="150000"/>
              </a:lnSpc>
            </a:pPr>
            <a:r>
              <a:rPr lang="en-US" altLang="zh-CN" sz="2800" b="1" dirty="0"/>
              <a:t>B.V</a:t>
            </a:r>
            <a:endParaRPr lang="zh-CN" altLang="zh-CN" sz="2800" b="1" dirty="0"/>
          </a:p>
          <a:p>
            <a:pPr>
              <a:lnSpc>
                <a:spcPct val="150000"/>
              </a:lnSpc>
            </a:pPr>
            <a:r>
              <a:rPr lang="en-US" altLang="zh-CN" sz="2800" b="1" dirty="0"/>
              <a:t>C.V/m</a:t>
            </a:r>
            <a:endParaRPr lang="zh-CN" altLang="zh-CN" sz="2800" b="1" dirty="0"/>
          </a:p>
          <a:p>
            <a:pPr>
              <a:lnSpc>
                <a:spcPct val="150000"/>
              </a:lnSpc>
            </a:pPr>
            <a:r>
              <a:rPr lang="en-US" altLang="zh-CN" sz="2800" b="1" dirty="0" err="1" smtClean="0"/>
              <a:t>D.N·m</a:t>
            </a:r>
            <a:r>
              <a:rPr lang="en-US" altLang="zh-CN" sz="2800" b="1" dirty="0" smtClean="0"/>
              <a:t>/C</a:t>
            </a:r>
            <a:endParaRPr lang="zh-CN" altLang="zh-CN" sz="2800" b="1" dirty="0"/>
          </a:p>
          <a:p>
            <a:pPr>
              <a:lnSpc>
                <a:spcPct val="150000"/>
              </a:lnSpc>
            </a:pPr>
            <a:endParaRPr lang="zh-CN" altLang="en-US" sz="2800" b="1" dirty="0"/>
          </a:p>
        </p:txBody>
      </p:sp>
    </p:spTree>
    <p:extLst>
      <p:ext uri="{BB962C8B-B14F-4D97-AF65-F5344CB8AC3E}">
        <p14:creationId xmlns:p14="http://schemas.microsoft.com/office/powerpoint/2010/main" val="35840520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pPr>
              <a:lnSpc>
                <a:spcPct val="150000"/>
              </a:lnSpc>
            </a:pPr>
            <a:r>
              <a:rPr lang="zh-CN" altLang="zh-CN" sz="2800" b="1" dirty="0"/>
              <a:t>以下哪些单位是电势的单位？</a:t>
            </a:r>
          </a:p>
        </p:txBody>
      </p:sp>
      <p:sp>
        <p:nvSpPr>
          <p:cNvPr id="4" name="文本框 3"/>
          <p:cNvSpPr txBox="1"/>
          <p:nvPr>
            <p:custDataLst>
              <p:tags r:id="rId3"/>
            </p:custDataLst>
          </p:nvPr>
        </p:nvSpPr>
        <p:spPr>
          <a:xfrm>
            <a:off x="1828800" y="2786063"/>
            <a:ext cx="6400800" cy="642938"/>
          </a:xfrm>
          <a:prstGeom prst="rect">
            <a:avLst/>
          </a:prstGeom>
          <a:noFill/>
        </p:spPr>
        <p:txBody>
          <a:bodyPr vert="horz" rtlCol="0" anchor="ctr" anchorCtr="0">
            <a:noAutofit/>
          </a:bodyPr>
          <a:lstStyle/>
          <a:p>
            <a:pPr>
              <a:lnSpc>
                <a:spcPct val="150000"/>
              </a:lnSpc>
            </a:pPr>
            <a:r>
              <a:rPr lang="en-US" altLang="zh-CN" sz="2800" b="1" dirty="0" smtClean="0"/>
              <a:t>N/C</a:t>
            </a:r>
            <a:endParaRPr lang="zh-CN" altLang="zh-CN" sz="2800" b="1" dirty="0"/>
          </a:p>
        </p:txBody>
      </p:sp>
      <p:sp>
        <p:nvSpPr>
          <p:cNvPr id="5" name="文本框 4"/>
          <p:cNvSpPr txBox="1"/>
          <p:nvPr>
            <p:custDataLst>
              <p:tags r:id="rId4"/>
            </p:custDataLst>
          </p:nvPr>
        </p:nvSpPr>
        <p:spPr>
          <a:xfrm>
            <a:off x="1828800" y="3643313"/>
            <a:ext cx="6400800" cy="642938"/>
          </a:xfrm>
          <a:prstGeom prst="rect">
            <a:avLst/>
          </a:prstGeom>
          <a:noFill/>
        </p:spPr>
        <p:txBody>
          <a:bodyPr vert="horz" rtlCol="0" anchor="ctr" anchorCtr="0">
            <a:noAutofit/>
          </a:bodyPr>
          <a:lstStyle/>
          <a:p>
            <a:pPr>
              <a:lnSpc>
                <a:spcPct val="150000"/>
              </a:lnSpc>
            </a:pPr>
            <a:r>
              <a:rPr lang="en-US" altLang="zh-CN" sz="2800" b="1" dirty="0"/>
              <a:t>V</a:t>
            </a:r>
            <a:endParaRPr lang="zh-CN" altLang="zh-CN" sz="2800" b="1" dirty="0"/>
          </a:p>
        </p:txBody>
      </p:sp>
      <p:sp>
        <p:nvSpPr>
          <p:cNvPr id="6" name="文本框 5"/>
          <p:cNvSpPr txBox="1"/>
          <p:nvPr>
            <p:custDataLst>
              <p:tags r:id="rId5"/>
            </p:custDataLst>
          </p:nvPr>
        </p:nvSpPr>
        <p:spPr>
          <a:xfrm>
            <a:off x="1828800" y="4500563"/>
            <a:ext cx="6400800" cy="642938"/>
          </a:xfrm>
          <a:prstGeom prst="rect">
            <a:avLst/>
          </a:prstGeom>
          <a:noFill/>
        </p:spPr>
        <p:txBody>
          <a:bodyPr vert="horz" rtlCol="0" anchor="ctr" anchorCtr="0">
            <a:noAutofit/>
          </a:bodyPr>
          <a:lstStyle/>
          <a:p>
            <a:pPr>
              <a:lnSpc>
                <a:spcPct val="150000"/>
              </a:lnSpc>
            </a:pPr>
            <a:r>
              <a:rPr lang="en-US" altLang="zh-CN" sz="2800" b="1" dirty="0" smtClean="0"/>
              <a:t>V/m</a:t>
            </a:r>
            <a:endParaRPr lang="zh-CN" altLang="zh-CN" sz="2800" b="1" dirty="0"/>
          </a:p>
        </p:txBody>
      </p:sp>
      <p:sp>
        <p:nvSpPr>
          <p:cNvPr id="7" name="文本框 6"/>
          <p:cNvSpPr txBox="1"/>
          <p:nvPr>
            <p:custDataLst>
              <p:tags r:id="rId6"/>
            </p:custDataLst>
          </p:nvPr>
        </p:nvSpPr>
        <p:spPr>
          <a:xfrm>
            <a:off x="1828800" y="5357813"/>
            <a:ext cx="6400800" cy="642938"/>
          </a:xfrm>
          <a:prstGeom prst="rect">
            <a:avLst/>
          </a:prstGeom>
          <a:noFill/>
        </p:spPr>
        <p:txBody>
          <a:bodyPr vert="horz" rtlCol="0" anchor="ctr" anchorCtr="0">
            <a:noAutofit/>
          </a:bodyPr>
          <a:lstStyle/>
          <a:p>
            <a:pPr>
              <a:lnSpc>
                <a:spcPct val="150000"/>
              </a:lnSpc>
            </a:pPr>
            <a:r>
              <a:rPr lang="en-US" altLang="zh-CN" sz="2800" b="1" dirty="0" err="1" smtClean="0"/>
              <a:t>N·m</a:t>
            </a:r>
            <a:r>
              <a:rPr lang="en-US" altLang="zh-CN" sz="2800" b="1" dirty="0" smtClean="0"/>
              <a:t>/C</a:t>
            </a:r>
            <a:endParaRPr lang="zh-CN" altLang="zh-CN" sz="2800" b="1" dirty="0"/>
          </a:p>
        </p:txBody>
      </p:sp>
      <p:sp>
        <p:nvSpPr>
          <p:cNvPr id="8" name="矩形 7"/>
          <p:cNvSpPr>
            <a:spLocks noChangeAspect="1"/>
          </p:cNvSpPr>
          <p:nvPr>
            <p:custDataLst>
              <p:tags r:id="rId7"/>
            </p:custDataLst>
          </p:nvPr>
        </p:nvSpPr>
        <p:spPr>
          <a:xfrm>
            <a:off x="1114425" y="285035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1114425" y="37076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1114425" y="4564856"/>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1114425" y="542210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7" name="组合 16"/>
          <p:cNvGrpSpPr/>
          <p:nvPr>
            <p:custDataLst>
              <p:tags r:id="rId12"/>
            </p:custDataLst>
          </p:nvPr>
        </p:nvGrpSpPr>
        <p:grpSpPr>
          <a:xfrm>
            <a:off x="0" y="0"/>
            <a:ext cx="9144000" cy="635000"/>
            <a:chOff x="0" y="0"/>
            <a:chExt cx="9144000" cy="635000"/>
          </a:xfrm>
        </p:grpSpPr>
        <p:sp>
          <p:nvSpPr>
            <p:cNvPr id="13" name="TitleBackground"/>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1019746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899592" y="577424"/>
            <a:ext cx="2232248" cy="523220"/>
          </a:xfrm>
          <a:prstGeom prst="rect">
            <a:avLst/>
          </a:prstGeom>
          <a:noFill/>
        </p:spPr>
        <p:txBody>
          <a:bodyPr wrap="square" rtlCol="0">
            <a:spAutoFit/>
          </a:bodyPr>
          <a:lstStyle/>
          <a:p>
            <a:r>
              <a:rPr lang="zh-CN" altLang="en-US" sz="2800" b="1" smtClean="0">
                <a:solidFill>
                  <a:srgbClr val="0000FF"/>
                </a:solidFill>
              </a:rPr>
              <a:t>单项选择题：</a:t>
            </a:r>
            <a:endParaRPr lang="zh-CN" altLang="en-US" sz="2800" b="1">
              <a:solidFill>
                <a:srgbClr val="0000FF"/>
              </a:solidFill>
            </a:endParaRPr>
          </a:p>
        </p:txBody>
      </p:sp>
      <p:sp>
        <p:nvSpPr>
          <p:cNvPr id="3" name="TextBox 2"/>
          <p:cNvSpPr txBox="1"/>
          <p:nvPr/>
        </p:nvSpPr>
        <p:spPr>
          <a:xfrm>
            <a:off x="618446" y="1389946"/>
            <a:ext cx="8202026" cy="3323987"/>
          </a:xfrm>
          <a:prstGeom prst="rect">
            <a:avLst/>
          </a:prstGeom>
          <a:noFill/>
        </p:spPr>
        <p:txBody>
          <a:bodyPr wrap="square" rtlCol="0">
            <a:spAutoFit/>
          </a:bodyPr>
          <a:lstStyle/>
          <a:p>
            <a:pPr>
              <a:lnSpc>
                <a:spcPct val="150000"/>
              </a:lnSpc>
            </a:pPr>
            <a:r>
              <a:rPr lang="zh-CN" altLang="zh-CN" sz="2800" b="1" dirty="0"/>
              <a:t>静电场中某点电势的数值等于</a:t>
            </a:r>
          </a:p>
          <a:p>
            <a:pPr>
              <a:lnSpc>
                <a:spcPct val="150000"/>
              </a:lnSpc>
            </a:pPr>
            <a:r>
              <a:rPr lang="en-US" altLang="zh-CN" sz="2800" b="1" dirty="0"/>
              <a:t>A. </a:t>
            </a:r>
            <a:r>
              <a:rPr lang="zh-CN" altLang="zh-CN" sz="2800" b="1" dirty="0"/>
              <a:t>试验电荷</a:t>
            </a:r>
            <a:r>
              <a:rPr lang="en-US" altLang="zh-CN" sz="2800" b="1" dirty="0"/>
              <a:t> q0 </a:t>
            </a:r>
            <a:r>
              <a:rPr lang="zh-CN" altLang="zh-CN" sz="2800" b="1" dirty="0"/>
              <a:t>置于该点时具有的电势能。</a:t>
            </a:r>
          </a:p>
          <a:p>
            <a:pPr>
              <a:lnSpc>
                <a:spcPct val="150000"/>
              </a:lnSpc>
            </a:pPr>
            <a:r>
              <a:rPr lang="en-US" altLang="zh-CN" sz="2800" b="1" dirty="0"/>
              <a:t>B. </a:t>
            </a:r>
            <a:r>
              <a:rPr lang="zh-CN" altLang="zh-CN" sz="2800" b="1" dirty="0"/>
              <a:t>单位试验电荷置于该点时具有的电势能。</a:t>
            </a:r>
          </a:p>
          <a:p>
            <a:pPr>
              <a:lnSpc>
                <a:spcPct val="150000"/>
              </a:lnSpc>
            </a:pPr>
            <a:r>
              <a:rPr lang="en-US" altLang="zh-CN" sz="2800" b="1" dirty="0"/>
              <a:t>C.</a:t>
            </a:r>
            <a:r>
              <a:rPr lang="zh-CN" altLang="zh-CN" sz="2800" b="1" dirty="0"/>
              <a:t>单位正电荷置于该点时具有的电势能。</a:t>
            </a:r>
          </a:p>
          <a:p>
            <a:pPr>
              <a:lnSpc>
                <a:spcPct val="150000"/>
              </a:lnSpc>
            </a:pPr>
            <a:r>
              <a:rPr lang="en-US" altLang="zh-CN" sz="2800" b="1" dirty="0"/>
              <a:t>D.</a:t>
            </a:r>
            <a:r>
              <a:rPr lang="zh-CN" altLang="zh-CN" sz="2800" b="1" dirty="0"/>
              <a:t>把单位正电荷从该点移到电势零点外力所做的功</a:t>
            </a:r>
            <a:r>
              <a:rPr lang="zh-CN" altLang="zh-CN" sz="2800" b="1" dirty="0" smtClean="0"/>
              <a:t>。</a:t>
            </a:r>
            <a:endParaRPr lang="zh-CN" altLang="zh-CN" sz="2800" b="1" dirty="0"/>
          </a:p>
        </p:txBody>
      </p:sp>
    </p:spTree>
    <p:extLst>
      <p:ext uri="{BB962C8B-B14F-4D97-AF65-F5344CB8AC3E}">
        <p14:creationId xmlns:p14="http://schemas.microsoft.com/office/powerpoint/2010/main" val="26806440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pPr>
              <a:lnSpc>
                <a:spcPct val="150000"/>
              </a:lnSpc>
            </a:pPr>
            <a:r>
              <a:rPr lang="zh-CN" altLang="zh-CN" sz="2800" b="1" dirty="0"/>
              <a:t>静电场中某点电势的数值等于</a:t>
            </a:r>
          </a:p>
        </p:txBody>
      </p:sp>
      <p:sp>
        <p:nvSpPr>
          <p:cNvPr id="4" name="文本框 3"/>
          <p:cNvSpPr txBox="1"/>
          <p:nvPr>
            <p:custDataLst>
              <p:tags r:id="rId3"/>
            </p:custDataLst>
          </p:nvPr>
        </p:nvSpPr>
        <p:spPr>
          <a:xfrm>
            <a:off x="1828800" y="2786063"/>
            <a:ext cx="6400800" cy="642938"/>
          </a:xfrm>
          <a:prstGeom prst="rect">
            <a:avLst/>
          </a:prstGeom>
          <a:noFill/>
        </p:spPr>
        <p:txBody>
          <a:bodyPr vert="horz" rtlCol="0" anchor="ctr" anchorCtr="0">
            <a:noAutofit/>
          </a:bodyPr>
          <a:lstStyle/>
          <a:p>
            <a:pPr>
              <a:lnSpc>
                <a:spcPct val="150000"/>
              </a:lnSpc>
            </a:pPr>
            <a:r>
              <a:rPr lang="zh-CN" altLang="zh-CN" sz="2400" b="1" dirty="0"/>
              <a:t>试验电荷</a:t>
            </a:r>
            <a:r>
              <a:rPr lang="en-US" altLang="zh-CN" sz="2400" b="1" dirty="0"/>
              <a:t> q0 </a:t>
            </a:r>
            <a:r>
              <a:rPr lang="zh-CN" altLang="zh-CN" sz="2400" b="1" dirty="0"/>
              <a:t>置于该点时具有的电势能。</a:t>
            </a:r>
          </a:p>
        </p:txBody>
      </p:sp>
      <p:sp>
        <p:nvSpPr>
          <p:cNvPr id="5" name="文本框 4"/>
          <p:cNvSpPr txBox="1"/>
          <p:nvPr>
            <p:custDataLst>
              <p:tags r:id="rId4"/>
            </p:custDataLst>
          </p:nvPr>
        </p:nvSpPr>
        <p:spPr>
          <a:xfrm>
            <a:off x="1828800" y="3643313"/>
            <a:ext cx="6400800" cy="642938"/>
          </a:xfrm>
          <a:prstGeom prst="rect">
            <a:avLst/>
          </a:prstGeom>
          <a:noFill/>
        </p:spPr>
        <p:txBody>
          <a:bodyPr vert="horz" rtlCol="0" anchor="ctr" anchorCtr="0">
            <a:noAutofit/>
          </a:bodyPr>
          <a:lstStyle/>
          <a:p>
            <a:pPr>
              <a:lnSpc>
                <a:spcPct val="150000"/>
              </a:lnSpc>
            </a:pPr>
            <a:r>
              <a:rPr lang="zh-CN" altLang="zh-CN" sz="2400" b="1" dirty="0"/>
              <a:t>单位试验电荷置于该点时具有的电势能。</a:t>
            </a:r>
          </a:p>
        </p:txBody>
      </p:sp>
      <p:sp>
        <p:nvSpPr>
          <p:cNvPr id="6" name="文本框 5"/>
          <p:cNvSpPr txBox="1"/>
          <p:nvPr>
            <p:custDataLst>
              <p:tags r:id="rId5"/>
            </p:custDataLst>
          </p:nvPr>
        </p:nvSpPr>
        <p:spPr>
          <a:xfrm>
            <a:off x="1828800" y="4500563"/>
            <a:ext cx="6400800" cy="642938"/>
          </a:xfrm>
          <a:prstGeom prst="rect">
            <a:avLst/>
          </a:prstGeom>
          <a:noFill/>
        </p:spPr>
        <p:txBody>
          <a:bodyPr vert="horz" rtlCol="0" anchor="ctr" anchorCtr="0">
            <a:noAutofit/>
          </a:bodyPr>
          <a:lstStyle/>
          <a:p>
            <a:pPr>
              <a:lnSpc>
                <a:spcPct val="150000"/>
              </a:lnSpc>
            </a:pPr>
            <a:r>
              <a:rPr lang="zh-CN" altLang="zh-CN" sz="2400" b="1" dirty="0"/>
              <a:t>单位正电荷置于该点时具有的电势能。</a:t>
            </a:r>
          </a:p>
        </p:txBody>
      </p:sp>
      <p:sp>
        <p:nvSpPr>
          <p:cNvPr id="7" name="文本框 6"/>
          <p:cNvSpPr txBox="1"/>
          <p:nvPr>
            <p:custDataLst>
              <p:tags r:id="rId6"/>
            </p:custDataLst>
          </p:nvPr>
        </p:nvSpPr>
        <p:spPr>
          <a:xfrm>
            <a:off x="1828800" y="5357813"/>
            <a:ext cx="6991672" cy="642938"/>
          </a:xfrm>
          <a:prstGeom prst="rect">
            <a:avLst/>
          </a:prstGeom>
          <a:noFill/>
        </p:spPr>
        <p:txBody>
          <a:bodyPr vert="horz" rtlCol="0" anchor="ctr" anchorCtr="0">
            <a:noAutofit/>
          </a:bodyPr>
          <a:lstStyle/>
          <a:p>
            <a:pPr>
              <a:lnSpc>
                <a:spcPct val="150000"/>
              </a:lnSpc>
            </a:pPr>
            <a:r>
              <a:rPr lang="zh-CN" altLang="zh-CN" sz="2400" b="1" dirty="0"/>
              <a:t>把单位正电荷从该点移到电势零点外力所做的功。</a:t>
            </a:r>
          </a:p>
        </p:txBody>
      </p:sp>
      <p:sp>
        <p:nvSpPr>
          <p:cNvPr id="8" name="椭圆 7"/>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11144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7" name="组合 16"/>
          <p:cNvGrpSpPr/>
          <p:nvPr>
            <p:custDataLst>
              <p:tags r:id="rId12"/>
            </p:custDataLst>
          </p:nvPr>
        </p:nvGrpSpPr>
        <p:grpSpPr>
          <a:xfrm>
            <a:off x="0" y="0"/>
            <a:ext cx="9144000" cy="635000"/>
            <a:chOff x="0" y="0"/>
            <a:chExt cx="9144000" cy="635000"/>
          </a:xfrm>
        </p:grpSpPr>
        <p:sp>
          <p:nvSpPr>
            <p:cNvPr id="13" name="TitleBackground"/>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9630736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899592" y="577424"/>
            <a:ext cx="2232248" cy="523220"/>
          </a:xfrm>
          <a:prstGeom prst="rect">
            <a:avLst/>
          </a:prstGeom>
          <a:noFill/>
        </p:spPr>
        <p:txBody>
          <a:bodyPr wrap="square" rtlCol="0">
            <a:spAutoFit/>
          </a:bodyPr>
          <a:lstStyle/>
          <a:p>
            <a:r>
              <a:rPr lang="zh-CN" altLang="en-US" sz="2800" b="1" smtClean="0">
                <a:solidFill>
                  <a:srgbClr val="0000FF"/>
                </a:solidFill>
              </a:rPr>
              <a:t>单项选择题：</a:t>
            </a:r>
            <a:endParaRPr lang="zh-CN" altLang="en-US" sz="2800" b="1">
              <a:solidFill>
                <a:srgbClr val="0000FF"/>
              </a:solidFill>
            </a:endParaRPr>
          </a:p>
        </p:txBody>
      </p:sp>
      <p:sp>
        <p:nvSpPr>
          <p:cNvPr id="3" name="TextBox 2"/>
          <p:cNvSpPr txBox="1"/>
          <p:nvPr/>
        </p:nvSpPr>
        <p:spPr>
          <a:xfrm>
            <a:off x="565870" y="1412776"/>
            <a:ext cx="8350546" cy="3970318"/>
          </a:xfrm>
          <a:prstGeom prst="rect">
            <a:avLst/>
          </a:prstGeom>
          <a:noFill/>
        </p:spPr>
        <p:txBody>
          <a:bodyPr wrap="square" rtlCol="0">
            <a:spAutoFit/>
          </a:bodyPr>
          <a:lstStyle/>
          <a:p>
            <a:pPr>
              <a:lnSpc>
                <a:spcPct val="150000"/>
              </a:lnSpc>
            </a:pPr>
            <a:r>
              <a:rPr lang="zh-CN" altLang="zh-CN" sz="2800" b="1" dirty="0"/>
              <a:t>关于静电场中某点电势值的正负，下列说法中正确的是：</a:t>
            </a:r>
            <a:r>
              <a:rPr lang="en-US" altLang="zh-CN" sz="2800" b="1" dirty="0"/>
              <a:t>           </a:t>
            </a:r>
            <a:endParaRPr lang="zh-CN" altLang="zh-CN" sz="2800" b="1" dirty="0"/>
          </a:p>
          <a:p>
            <a:pPr>
              <a:lnSpc>
                <a:spcPct val="150000"/>
              </a:lnSpc>
            </a:pPr>
            <a:r>
              <a:rPr lang="en-US" altLang="zh-CN" sz="2800" b="1" dirty="0"/>
              <a:t>A.</a:t>
            </a:r>
            <a:r>
              <a:rPr lang="zh-CN" altLang="zh-CN" sz="2800" b="1" dirty="0"/>
              <a:t>电势值的正负取决于置于该点的试验电荷的正负。</a:t>
            </a:r>
            <a:r>
              <a:rPr lang="en-US" altLang="zh-CN" sz="2800" b="1" dirty="0"/>
              <a:t>   </a:t>
            </a:r>
            <a:endParaRPr lang="zh-CN" altLang="zh-CN" sz="2800" b="1" dirty="0"/>
          </a:p>
          <a:p>
            <a:pPr>
              <a:lnSpc>
                <a:spcPct val="150000"/>
              </a:lnSpc>
            </a:pPr>
            <a:r>
              <a:rPr lang="en-US" altLang="zh-CN" sz="2800" b="1" dirty="0"/>
              <a:t>B.</a:t>
            </a:r>
            <a:r>
              <a:rPr lang="zh-CN" altLang="zh-CN" sz="2800" b="1" dirty="0"/>
              <a:t>电势值的正负取决于电场力对试验电荷做功的正负。</a:t>
            </a:r>
            <a:r>
              <a:rPr lang="en-US" altLang="zh-CN" sz="2800" b="1" dirty="0"/>
              <a:t>  </a:t>
            </a:r>
            <a:endParaRPr lang="zh-CN" altLang="zh-CN" sz="2800" b="1" dirty="0"/>
          </a:p>
          <a:p>
            <a:pPr>
              <a:lnSpc>
                <a:spcPct val="150000"/>
              </a:lnSpc>
            </a:pPr>
            <a:r>
              <a:rPr lang="en-US" altLang="zh-CN" sz="2800" b="1" dirty="0"/>
              <a:t>C.</a:t>
            </a:r>
            <a:r>
              <a:rPr lang="zh-CN" altLang="zh-CN" sz="2800" b="1" dirty="0"/>
              <a:t>电势值的正负取决于电势零点的选取。</a:t>
            </a:r>
          </a:p>
          <a:p>
            <a:pPr>
              <a:lnSpc>
                <a:spcPct val="150000"/>
              </a:lnSpc>
            </a:pPr>
            <a:r>
              <a:rPr lang="en-US" altLang="zh-CN" sz="2800" b="1" dirty="0"/>
              <a:t>D. </a:t>
            </a:r>
            <a:r>
              <a:rPr lang="zh-CN" altLang="zh-CN" sz="2800" b="1" dirty="0"/>
              <a:t>电势值的正负取决于产生电场的电荷的正负</a:t>
            </a:r>
            <a:r>
              <a:rPr lang="zh-CN" altLang="zh-CN" sz="2800" b="1" dirty="0" smtClean="0"/>
              <a:t>。</a:t>
            </a:r>
            <a:endParaRPr lang="zh-CN" altLang="zh-CN" sz="2800" b="1" dirty="0"/>
          </a:p>
        </p:txBody>
      </p:sp>
    </p:spTree>
    <p:extLst>
      <p:ext uri="{BB962C8B-B14F-4D97-AF65-F5344CB8AC3E}">
        <p14:creationId xmlns:p14="http://schemas.microsoft.com/office/powerpoint/2010/main" val="23116386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914400" y="635000"/>
            <a:ext cx="7762056" cy="2143125"/>
          </a:xfrm>
          <a:prstGeom prst="rect">
            <a:avLst/>
          </a:prstGeom>
          <a:noFill/>
        </p:spPr>
        <p:txBody>
          <a:bodyPr vert="horz" wrap="square" rtlCol="0" anchor="ctr" anchorCtr="0">
            <a:noAutofit/>
          </a:bodyPr>
          <a:lstStyle/>
          <a:p>
            <a:r>
              <a:rPr lang="zh-CN" altLang="zh-CN" sz="2800" b="1" dirty="0"/>
              <a:t>关于静电场中某点电势值的正负，下列说法中正确的是：</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4" name="文本框 3"/>
          <p:cNvSpPr txBox="1"/>
          <p:nvPr>
            <p:custDataLst>
              <p:tags r:id="rId3"/>
            </p:custDataLst>
          </p:nvPr>
        </p:nvSpPr>
        <p:spPr>
          <a:xfrm>
            <a:off x="1828800" y="2786063"/>
            <a:ext cx="6775648" cy="642938"/>
          </a:xfrm>
          <a:prstGeom prst="rect">
            <a:avLst/>
          </a:prstGeom>
          <a:noFill/>
        </p:spPr>
        <p:txBody>
          <a:bodyPr vert="horz" rtlCol="0" anchor="ctr" anchorCtr="0">
            <a:noAutofit/>
          </a:bodyPr>
          <a:lstStyle/>
          <a:p>
            <a:r>
              <a:rPr lang="zh-CN" altLang="zh-CN" sz="2400" b="1" dirty="0"/>
              <a:t>电势值的正负取决于置于该点的试验电荷的正负。</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1828800" y="3643313"/>
            <a:ext cx="7063680" cy="642938"/>
          </a:xfrm>
          <a:prstGeom prst="rect">
            <a:avLst/>
          </a:prstGeom>
          <a:noFill/>
        </p:spPr>
        <p:txBody>
          <a:bodyPr vert="horz" rtlCol="0" anchor="ctr" anchorCtr="0">
            <a:noAutofit/>
          </a:bodyPr>
          <a:lstStyle/>
          <a:p>
            <a:r>
              <a:rPr lang="zh-CN" altLang="zh-CN" sz="2400" b="1" dirty="0"/>
              <a:t>电势值的正负取决于电场力对试验电荷做功的正负。</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1828800" y="4500563"/>
            <a:ext cx="6400800" cy="642938"/>
          </a:xfrm>
          <a:prstGeom prst="rect">
            <a:avLst/>
          </a:prstGeom>
          <a:noFill/>
        </p:spPr>
        <p:txBody>
          <a:bodyPr vert="horz" rtlCol="0" anchor="ctr" anchorCtr="0">
            <a:noAutofit/>
          </a:bodyPr>
          <a:lstStyle/>
          <a:p>
            <a:pPr>
              <a:lnSpc>
                <a:spcPct val="150000"/>
              </a:lnSpc>
            </a:pPr>
            <a:r>
              <a:rPr lang="zh-CN" altLang="zh-CN" sz="2400" b="1" dirty="0"/>
              <a:t>电势值的正负取决于电势零点的选取。</a:t>
            </a:r>
          </a:p>
        </p:txBody>
      </p:sp>
      <p:sp>
        <p:nvSpPr>
          <p:cNvPr id="7" name="文本框 6"/>
          <p:cNvSpPr txBox="1"/>
          <p:nvPr>
            <p:custDataLst>
              <p:tags r:id="rId6"/>
            </p:custDataLst>
          </p:nvPr>
        </p:nvSpPr>
        <p:spPr>
          <a:xfrm>
            <a:off x="1828800" y="5357813"/>
            <a:ext cx="6400800" cy="642938"/>
          </a:xfrm>
          <a:prstGeom prst="rect">
            <a:avLst/>
          </a:prstGeom>
          <a:noFill/>
        </p:spPr>
        <p:txBody>
          <a:bodyPr vert="horz" rtlCol="0" anchor="ctr" anchorCtr="0">
            <a:noAutofit/>
          </a:bodyPr>
          <a:lstStyle/>
          <a:p>
            <a:pPr>
              <a:lnSpc>
                <a:spcPct val="150000"/>
              </a:lnSpc>
            </a:pPr>
            <a:r>
              <a:rPr lang="zh-CN" altLang="zh-CN" sz="2400" b="1" dirty="0"/>
              <a:t>电势值的正负取决于产生电场的电荷的正负。</a:t>
            </a:r>
          </a:p>
        </p:txBody>
      </p:sp>
      <p:sp>
        <p:nvSpPr>
          <p:cNvPr id="8" name="椭圆 7"/>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11144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7" name="组合 16"/>
          <p:cNvGrpSpPr/>
          <p:nvPr>
            <p:custDataLst>
              <p:tags r:id="rId12"/>
            </p:custDataLst>
          </p:nvPr>
        </p:nvGrpSpPr>
        <p:grpSpPr>
          <a:xfrm>
            <a:off x="0" y="0"/>
            <a:ext cx="9144000" cy="635000"/>
            <a:chOff x="0" y="0"/>
            <a:chExt cx="9144000" cy="635000"/>
          </a:xfrm>
        </p:grpSpPr>
        <p:sp>
          <p:nvSpPr>
            <p:cNvPr id="13" name="TitleBackground"/>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416113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
          <p:cNvSpPr txBox="1"/>
          <p:nvPr/>
        </p:nvSpPr>
        <p:spPr>
          <a:xfrm>
            <a:off x="539552" y="332656"/>
            <a:ext cx="2712602" cy="637675"/>
          </a:xfrm>
          <a:prstGeom prst="rect">
            <a:avLst/>
          </a:prstGeom>
          <a:noFill/>
        </p:spPr>
        <p:txBody>
          <a:bodyPr wrap="none" rtlCol="0">
            <a:spAutoFit/>
          </a:bodyPr>
          <a:lstStyle/>
          <a:p>
            <a:pPr>
              <a:lnSpc>
                <a:spcPct val="150000"/>
              </a:lnSpc>
            </a:pPr>
            <a:r>
              <a:rPr lang="en-US" altLang="zh-CN" sz="2800" b="1" dirty="0" smtClean="0">
                <a:solidFill>
                  <a:srgbClr val="0000FF"/>
                </a:solidFill>
                <a:latin typeface="宋体" pitchFamily="2" charset="-122"/>
                <a:ea typeface="宋体" pitchFamily="2" charset="-122"/>
              </a:rPr>
              <a:t>2.</a:t>
            </a:r>
            <a:r>
              <a:rPr lang="zh-CN" altLang="en-US" sz="2800" b="1" dirty="0" smtClean="0">
                <a:solidFill>
                  <a:srgbClr val="0000FF"/>
                </a:solidFill>
                <a:latin typeface="宋体" pitchFamily="2" charset="-122"/>
                <a:ea typeface="宋体" pitchFamily="2" charset="-122"/>
              </a:rPr>
              <a:t>电势差</a:t>
            </a:r>
            <a:r>
              <a:rPr lang="en-US" altLang="zh-CN" sz="2800" b="1" dirty="0" smtClean="0">
                <a:solidFill>
                  <a:srgbClr val="0000FF"/>
                </a:solidFill>
                <a:latin typeface="宋体" pitchFamily="2" charset="-122"/>
                <a:ea typeface="宋体" pitchFamily="2" charset="-122"/>
              </a:rPr>
              <a:t>(</a:t>
            </a:r>
            <a:r>
              <a:rPr lang="zh-CN" altLang="en-US" sz="2800" b="1" dirty="0" smtClean="0">
                <a:solidFill>
                  <a:srgbClr val="0000FF"/>
                </a:solidFill>
                <a:latin typeface="宋体" pitchFamily="2" charset="-122"/>
                <a:ea typeface="宋体" pitchFamily="2" charset="-122"/>
              </a:rPr>
              <a:t>电压</a:t>
            </a:r>
            <a:r>
              <a:rPr lang="en-US" altLang="zh-CN" sz="2800" b="1" dirty="0" smtClean="0">
                <a:solidFill>
                  <a:srgbClr val="0000FF"/>
                </a:solidFill>
                <a:latin typeface="宋体" pitchFamily="2" charset="-122"/>
                <a:ea typeface="宋体" pitchFamily="2" charset="-122"/>
              </a:rPr>
              <a:t>)</a:t>
            </a:r>
          </a:p>
        </p:txBody>
      </p:sp>
      <p:graphicFrame>
        <p:nvGraphicFramePr>
          <p:cNvPr id="3" name="对象 2"/>
          <p:cNvGraphicFramePr>
            <a:graphicFrameLocks noChangeAspect="1"/>
          </p:cNvGraphicFramePr>
          <p:nvPr>
            <p:extLst>
              <p:ext uri="{D42A27DB-BD31-4B8C-83A1-F6EECF244321}">
                <p14:modId xmlns:p14="http://schemas.microsoft.com/office/powerpoint/2010/main" val="124590958"/>
              </p:ext>
            </p:extLst>
          </p:nvPr>
        </p:nvGraphicFramePr>
        <p:xfrm>
          <a:off x="693153" y="2420888"/>
          <a:ext cx="4383088" cy="982662"/>
        </p:xfrm>
        <a:graphic>
          <a:graphicData uri="http://schemas.openxmlformats.org/presentationml/2006/ole">
            <mc:AlternateContent xmlns:mc="http://schemas.openxmlformats.org/markup-compatibility/2006">
              <mc:Choice xmlns:v="urn:schemas-microsoft-com:vml" Requires="v">
                <p:oleObj spid="_x0000_s49518" name="Equation" r:id="rId3" imgW="1866600" imgH="419040" progId="Equation.DSMT4">
                  <p:embed/>
                </p:oleObj>
              </mc:Choice>
              <mc:Fallback>
                <p:oleObj name="Equation" r:id="rId3" imgW="1866600" imgH="419040" progId="Equation.DSMT4">
                  <p:embed/>
                  <p:pic>
                    <p:nvPicPr>
                      <p:cNvPr id="0" name=""/>
                      <p:cNvPicPr>
                        <a:picLocks noChangeAspect="1" noChangeArrowheads="1"/>
                      </p:cNvPicPr>
                      <p:nvPr/>
                    </p:nvPicPr>
                    <p:blipFill>
                      <a:blip r:embed="rId4"/>
                      <a:srcRect/>
                      <a:stretch>
                        <a:fillRect/>
                      </a:stretch>
                    </p:blipFill>
                    <p:spPr bwMode="auto">
                      <a:xfrm>
                        <a:off x="693153" y="2420888"/>
                        <a:ext cx="4383088" cy="982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组合 3"/>
          <p:cNvGrpSpPr/>
          <p:nvPr/>
        </p:nvGrpSpPr>
        <p:grpSpPr>
          <a:xfrm>
            <a:off x="5777023" y="208574"/>
            <a:ext cx="2664296" cy="1779711"/>
            <a:chOff x="5526107" y="3165580"/>
            <a:chExt cx="2664296" cy="1779711"/>
          </a:xfrm>
        </p:grpSpPr>
        <p:sp>
          <p:nvSpPr>
            <p:cNvPr id="5" name="圆角矩形 4"/>
            <p:cNvSpPr/>
            <p:nvPr/>
          </p:nvSpPr>
          <p:spPr>
            <a:xfrm>
              <a:off x="5526107" y="3165580"/>
              <a:ext cx="2664296" cy="1779711"/>
            </a:xfrm>
            <a:prstGeom prst="roundRect">
              <a:avLst/>
            </a:prstGeom>
            <a:solidFill>
              <a:srgbClr val="FFFF00"/>
            </a:solidFill>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grpSp>
          <p:nvGrpSpPr>
            <p:cNvPr id="6" name="组合 5"/>
            <p:cNvGrpSpPr/>
            <p:nvPr/>
          </p:nvGrpSpPr>
          <p:grpSpPr>
            <a:xfrm>
              <a:off x="6084168" y="3411677"/>
              <a:ext cx="1728192" cy="1322759"/>
              <a:chOff x="6084168" y="3411677"/>
              <a:chExt cx="1728192" cy="1322759"/>
            </a:xfrm>
          </p:grpSpPr>
          <p:cxnSp>
            <p:nvCxnSpPr>
              <p:cNvPr id="7" name="曲线连接符 6"/>
              <p:cNvCxnSpPr/>
              <p:nvPr/>
            </p:nvCxnSpPr>
            <p:spPr>
              <a:xfrm flipV="1">
                <a:off x="6084168" y="3501008"/>
                <a:ext cx="1728192" cy="864096"/>
              </a:xfrm>
              <a:prstGeom prst="curvedConnector3">
                <a:avLst/>
              </a:prstGeom>
              <a:ln>
                <a:solidFill>
                  <a:srgbClr val="0000FF"/>
                </a:solidFill>
              </a:ln>
            </p:spPr>
            <p:style>
              <a:lnRef idx="3">
                <a:schemeClr val="accent1"/>
              </a:lnRef>
              <a:fillRef idx="0">
                <a:schemeClr val="accent1"/>
              </a:fillRef>
              <a:effectRef idx="2">
                <a:schemeClr val="accent1"/>
              </a:effectRef>
              <a:fontRef idx="minor">
                <a:schemeClr val="tx1"/>
              </a:fontRef>
            </p:style>
          </p:cxnSp>
          <p:sp>
            <p:nvSpPr>
              <p:cNvPr id="8" name="椭圆 7"/>
              <p:cNvSpPr/>
              <p:nvPr/>
            </p:nvSpPr>
            <p:spPr>
              <a:xfrm>
                <a:off x="6300192" y="4210691"/>
                <a:ext cx="186396" cy="226421"/>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zh-CN" altLang="en-US"/>
              </a:p>
            </p:txBody>
          </p:sp>
          <p:sp>
            <p:nvSpPr>
              <p:cNvPr id="9" name="椭圆 8"/>
              <p:cNvSpPr/>
              <p:nvPr/>
            </p:nvSpPr>
            <p:spPr>
              <a:xfrm>
                <a:off x="7452320" y="3411677"/>
                <a:ext cx="186396" cy="226421"/>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zh-CN" altLang="en-US"/>
              </a:p>
            </p:txBody>
          </p:sp>
          <p:sp>
            <p:nvSpPr>
              <p:cNvPr id="10" name="TextBox 16"/>
              <p:cNvSpPr txBox="1"/>
              <p:nvPr/>
            </p:nvSpPr>
            <p:spPr>
              <a:xfrm>
                <a:off x="6300192" y="4365104"/>
                <a:ext cx="317716" cy="369332"/>
              </a:xfrm>
              <a:prstGeom prst="rect">
                <a:avLst/>
              </a:prstGeom>
              <a:noFill/>
            </p:spPr>
            <p:txBody>
              <a:bodyPr wrap="none" rtlCol="0">
                <a:spAutoFit/>
              </a:bodyPr>
              <a:lstStyle/>
              <a:p>
                <a:r>
                  <a:rPr lang="en-US" altLang="zh-CN" dirty="0" smtClean="0"/>
                  <a:t>A</a:t>
                </a:r>
                <a:endParaRPr lang="zh-CN" altLang="en-US" dirty="0"/>
              </a:p>
            </p:txBody>
          </p:sp>
          <p:sp>
            <p:nvSpPr>
              <p:cNvPr id="11" name="TextBox 17"/>
              <p:cNvSpPr txBox="1"/>
              <p:nvPr/>
            </p:nvSpPr>
            <p:spPr>
              <a:xfrm>
                <a:off x="7386660" y="3638098"/>
                <a:ext cx="309700" cy="369332"/>
              </a:xfrm>
              <a:prstGeom prst="rect">
                <a:avLst/>
              </a:prstGeom>
              <a:noFill/>
            </p:spPr>
            <p:txBody>
              <a:bodyPr wrap="none" rtlCol="0">
                <a:spAutoFit/>
              </a:bodyPr>
              <a:lstStyle/>
              <a:p>
                <a:r>
                  <a:rPr lang="en-US" altLang="zh-CN" dirty="0"/>
                  <a:t>B</a:t>
                </a:r>
                <a:endParaRPr lang="zh-CN" altLang="en-US" dirty="0"/>
              </a:p>
            </p:txBody>
          </p:sp>
        </p:grpSp>
      </p:grpSp>
      <p:grpSp>
        <p:nvGrpSpPr>
          <p:cNvPr id="12" name="组合 11"/>
          <p:cNvGrpSpPr/>
          <p:nvPr/>
        </p:nvGrpSpPr>
        <p:grpSpPr>
          <a:xfrm>
            <a:off x="753426" y="4493371"/>
            <a:ext cx="6947710" cy="685708"/>
            <a:chOff x="1043608" y="4957137"/>
            <a:chExt cx="5423911" cy="685708"/>
          </a:xfrm>
        </p:grpSpPr>
        <p:graphicFrame>
          <p:nvGraphicFramePr>
            <p:cNvPr id="13" name="对象 12"/>
            <p:cNvGraphicFramePr>
              <a:graphicFrameLocks noChangeAspect="1"/>
            </p:cNvGraphicFramePr>
            <p:nvPr>
              <p:extLst>
                <p:ext uri="{D42A27DB-BD31-4B8C-83A1-F6EECF244321}">
                  <p14:modId xmlns:p14="http://schemas.microsoft.com/office/powerpoint/2010/main" val="2511855472"/>
                </p:ext>
              </p:extLst>
            </p:nvPr>
          </p:nvGraphicFramePr>
          <p:xfrm>
            <a:off x="2865481" y="5058975"/>
            <a:ext cx="3602038" cy="534987"/>
          </p:xfrm>
          <a:graphic>
            <a:graphicData uri="http://schemas.openxmlformats.org/presentationml/2006/ole">
              <mc:AlternateContent xmlns:mc="http://schemas.openxmlformats.org/markup-compatibility/2006">
                <mc:Choice xmlns:v="urn:schemas-microsoft-com:vml" Requires="v">
                  <p:oleObj spid="_x0000_s49519" name="Equation" r:id="rId5" imgW="1536480" imgH="228600" progId="Equation.DSMT4">
                    <p:embed/>
                  </p:oleObj>
                </mc:Choice>
                <mc:Fallback>
                  <p:oleObj name="Equation" r:id="rId5" imgW="1536480" imgH="228600" progId="Equation.DSMT4">
                    <p:embed/>
                    <p:pic>
                      <p:nvPicPr>
                        <p:cNvPr id="0" name=""/>
                        <p:cNvPicPr>
                          <a:picLocks noChangeAspect="1" noChangeArrowheads="1"/>
                        </p:cNvPicPr>
                        <p:nvPr/>
                      </p:nvPicPr>
                      <p:blipFill>
                        <a:blip r:embed="rId6"/>
                        <a:srcRect/>
                        <a:stretch>
                          <a:fillRect/>
                        </a:stretch>
                      </p:blipFill>
                      <p:spPr bwMode="auto">
                        <a:xfrm>
                          <a:off x="2865481" y="5058975"/>
                          <a:ext cx="3602038" cy="534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Box 20"/>
            <p:cNvSpPr txBox="1"/>
            <p:nvPr/>
          </p:nvSpPr>
          <p:spPr>
            <a:xfrm>
              <a:off x="1507038" y="4957137"/>
              <a:ext cx="1351543" cy="637675"/>
            </a:xfrm>
            <a:prstGeom prst="rect">
              <a:avLst/>
            </a:prstGeom>
            <a:noFill/>
          </p:spPr>
          <p:txBody>
            <a:bodyPr wrap="square" rtlCol="0">
              <a:spAutoFit/>
            </a:bodyPr>
            <a:lstStyle/>
            <a:p>
              <a:pPr>
                <a:lnSpc>
                  <a:spcPct val="150000"/>
                </a:lnSpc>
              </a:pPr>
              <a:r>
                <a:rPr lang="zh-CN" altLang="en-US" sz="2800" b="1" dirty="0" smtClean="0">
                  <a:solidFill>
                    <a:srgbClr val="FF0000"/>
                  </a:solidFill>
                  <a:latin typeface="黑体" pitchFamily="49" charset="-122"/>
                  <a:ea typeface="黑体" pitchFamily="49" charset="-122"/>
                </a:rPr>
                <a:t>电势能差</a:t>
              </a:r>
              <a:endParaRPr lang="en-US" altLang="zh-CN" sz="2800" b="1" dirty="0" smtClean="0">
                <a:solidFill>
                  <a:srgbClr val="FF0000"/>
                </a:solidFill>
                <a:latin typeface="黑体" pitchFamily="49" charset="-122"/>
                <a:ea typeface="黑体" pitchFamily="49" charset="-122"/>
              </a:endParaRPr>
            </a:p>
          </p:txBody>
        </p:sp>
        <p:sp>
          <p:nvSpPr>
            <p:cNvPr id="15" name="右箭头 14"/>
            <p:cNvSpPr/>
            <p:nvPr/>
          </p:nvSpPr>
          <p:spPr>
            <a:xfrm>
              <a:off x="1043608" y="5158213"/>
              <a:ext cx="463430"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sp>
        <p:nvSpPr>
          <p:cNvPr id="16" name="TextBox 15"/>
          <p:cNvSpPr txBox="1"/>
          <p:nvPr/>
        </p:nvSpPr>
        <p:spPr>
          <a:xfrm>
            <a:off x="753426" y="1222013"/>
            <a:ext cx="4649747" cy="461665"/>
          </a:xfrm>
          <a:prstGeom prst="rect">
            <a:avLst/>
          </a:prstGeom>
          <a:noFill/>
        </p:spPr>
        <p:txBody>
          <a:bodyPr wrap="square" rtlCol="0">
            <a:spAutoFit/>
          </a:bodyPr>
          <a:lstStyle/>
          <a:p>
            <a:r>
              <a:rPr lang="zh-CN" altLang="en-US" sz="2400" b="1" dirty="0" smtClean="0"/>
              <a:t>电势差为单位电荷电势能的改变</a:t>
            </a:r>
            <a:endParaRPr lang="zh-CN" altLang="en-US" sz="2400" b="1" dirty="0"/>
          </a:p>
        </p:txBody>
      </p:sp>
      <p:sp>
        <p:nvSpPr>
          <p:cNvPr id="17" name="TextBox 16"/>
          <p:cNvSpPr txBox="1"/>
          <p:nvPr/>
        </p:nvSpPr>
        <p:spPr>
          <a:xfrm>
            <a:off x="693153" y="1805459"/>
            <a:ext cx="3733034" cy="461665"/>
          </a:xfrm>
          <a:prstGeom prst="rect">
            <a:avLst/>
          </a:prstGeom>
          <a:noFill/>
        </p:spPr>
        <p:txBody>
          <a:bodyPr wrap="square" rtlCol="0">
            <a:spAutoFit/>
          </a:bodyPr>
          <a:lstStyle/>
          <a:p>
            <a:r>
              <a:rPr lang="zh-CN" altLang="en-US" sz="2400" b="1" dirty="0" smtClean="0"/>
              <a:t>点电荷</a:t>
            </a:r>
            <a:r>
              <a:rPr lang="en-US" altLang="zh-CN" sz="2400" b="1" dirty="0" smtClean="0"/>
              <a:t>q</a:t>
            </a:r>
            <a:r>
              <a:rPr lang="zh-CN" altLang="en-US" sz="2400" b="1" dirty="0" smtClean="0"/>
              <a:t>从</a:t>
            </a:r>
            <a:r>
              <a:rPr lang="en-US" altLang="zh-CN" sz="2400" b="1" dirty="0" smtClean="0"/>
              <a:t>A</a:t>
            </a:r>
            <a:r>
              <a:rPr lang="zh-CN" altLang="en-US" sz="2400" b="1" dirty="0" smtClean="0"/>
              <a:t>点移动到</a:t>
            </a:r>
            <a:r>
              <a:rPr lang="en-US" altLang="zh-CN" sz="2400" b="1" dirty="0" smtClean="0"/>
              <a:t>B</a:t>
            </a:r>
            <a:r>
              <a:rPr lang="zh-CN" altLang="en-US" sz="2400" b="1" dirty="0"/>
              <a:t>点</a:t>
            </a:r>
          </a:p>
        </p:txBody>
      </p:sp>
      <mc:AlternateContent xmlns:mc="http://schemas.openxmlformats.org/markup-compatibility/2006" xmlns:a14="http://schemas.microsoft.com/office/drawing/2010/main">
        <mc:Choice Requires="a14">
          <p:sp>
            <p:nvSpPr>
              <p:cNvPr id="18" name="矩形 17"/>
              <p:cNvSpPr/>
              <p:nvPr/>
            </p:nvSpPr>
            <p:spPr>
              <a:xfrm>
                <a:off x="1312512" y="3522582"/>
                <a:ext cx="1800326" cy="92063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a:latin typeface="Cambria Math"/>
                        </a:rPr>
                        <m:t>=</m:t>
                      </m:r>
                      <m:r>
                        <a:rPr lang="en-US" altLang="zh-CN" sz="2400" i="1">
                          <a:latin typeface="Cambria Math"/>
                        </a:rPr>
                        <m:t>−</m:t>
                      </m:r>
                      <m:nary>
                        <m:naryPr>
                          <m:limLoc m:val="subSup"/>
                          <m:ctrlPr>
                            <a:rPr lang="zh-CN" altLang="zh-CN" sz="2400" i="1">
                              <a:latin typeface="Cambria Math" panose="02040503050406030204" pitchFamily="18" charset="0"/>
                            </a:rPr>
                          </m:ctrlPr>
                        </m:naryPr>
                        <m:sub>
                          <m:r>
                            <a:rPr lang="en-US" altLang="zh-CN" sz="2400" i="1">
                              <a:latin typeface="Cambria Math"/>
                            </a:rPr>
                            <m:t>𝐴</m:t>
                          </m:r>
                        </m:sub>
                        <m:sup>
                          <m:r>
                            <a:rPr lang="en-US" altLang="zh-CN" sz="2400" i="1">
                              <a:latin typeface="Cambria Math"/>
                            </a:rPr>
                            <m:t>𝐵</m:t>
                          </m:r>
                        </m:sup>
                        <m:e>
                          <m:acc>
                            <m:accPr>
                              <m:chr m:val="⃑"/>
                              <m:ctrlPr>
                                <a:rPr lang="zh-CN" altLang="zh-CN" sz="2400" i="1">
                                  <a:latin typeface="Cambria Math" panose="02040503050406030204" pitchFamily="18" charset="0"/>
                                </a:rPr>
                              </m:ctrlPr>
                            </m:accPr>
                            <m:e>
                              <m:r>
                                <a:rPr lang="en-US" altLang="zh-CN" sz="2400" i="1">
                                  <a:latin typeface="Cambria Math"/>
                                </a:rPr>
                                <m:t>𝐸</m:t>
                              </m:r>
                            </m:e>
                          </m:acc>
                          <m:r>
                            <a:rPr lang="en-US" altLang="zh-CN" sz="2400" i="1">
                              <a:latin typeface="Cambria Math"/>
                            </a:rPr>
                            <m:t>∙</m:t>
                          </m:r>
                        </m:e>
                      </m:nary>
                      <m:r>
                        <a:rPr lang="en-US" altLang="zh-CN" sz="2400" i="1">
                          <a:latin typeface="Cambria Math"/>
                        </a:rPr>
                        <m:t>𝑑</m:t>
                      </m:r>
                      <m:acc>
                        <m:accPr>
                          <m:chr m:val="⃑"/>
                          <m:ctrlPr>
                            <a:rPr lang="zh-CN" altLang="zh-CN" sz="2400" i="1">
                              <a:latin typeface="Cambria Math" panose="02040503050406030204" pitchFamily="18" charset="0"/>
                            </a:rPr>
                          </m:ctrlPr>
                        </m:accPr>
                        <m:e>
                          <m:r>
                            <a:rPr lang="en-US" altLang="zh-CN" sz="2400" i="1">
                              <a:latin typeface="Cambria Math"/>
                            </a:rPr>
                            <m:t>𝑙</m:t>
                          </m:r>
                        </m:e>
                      </m:acc>
                    </m:oMath>
                  </m:oMathPara>
                </a14:m>
                <a:endParaRPr lang="zh-CN" altLang="en-US" sz="2400" dirty="0"/>
              </a:p>
            </p:txBody>
          </p:sp>
        </mc:Choice>
        <mc:Fallback xmlns="">
          <p:sp>
            <p:nvSpPr>
              <p:cNvPr id="18" name="矩形 17"/>
              <p:cNvSpPr>
                <a:spLocks noRot="1" noChangeAspect="1" noMove="1" noResize="1" noEditPoints="1" noAdjustHandles="1" noChangeArrowheads="1" noChangeShapeType="1" noTextEdit="1"/>
              </p:cNvSpPr>
              <p:nvPr/>
            </p:nvSpPr>
            <p:spPr>
              <a:xfrm>
                <a:off x="1312512" y="3522582"/>
                <a:ext cx="1800326" cy="920637"/>
              </a:xfrm>
              <a:prstGeom prst="rect">
                <a:avLst/>
              </a:prstGeom>
              <a:blipFill rotWithShape="1">
                <a:blip r:embed="rId7"/>
                <a:stretch>
                  <a:fillRect/>
                </a:stretch>
              </a:blipFill>
            </p:spPr>
            <p:txBody>
              <a:bodyPr/>
              <a:lstStyle/>
              <a:p>
                <a:r>
                  <a:rPr lang="zh-CN" altLang="en-US">
                    <a:noFill/>
                  </a:rPr>
                  <a:t> </a:t>
                </a:r>
              </a:p>
            </p:txBody>
          </p:sp>
        </mc:Fallback>
      </mc:AlternateContent>
      <p:graphicFrame>
        <p:nvGraphicFramePr>
          <p:cNvPr id="19" name="Object 11"/>
          <p:cNvGraphicFramePr>
            <a:graphicFrameLocks noChangeAspect="1"/>
          </p:cNvGraphicFramePr>
          <p:nvPr>
            <p:extLst>
              <p:ext uri="{D42A27DB-BD31-4B8C-83A1-F6EECF244321}">
                <p14:modId xmlns:p14="http://schemas.microsoft.com/office/powerpoint/2010/main" val="600300119"/>
              </p:ext>
            </p:extLst>
          </p:nvPr>
        </p:nvGraphicFramePr>
        <p:xfrm>
          <a:off x="4194175" y="5435600"/>
          <a:ext cx="3719513" cy="1109663"/>
        </p:xfrm>
        <a:graphic>
          <a:graphicData uri="http://schemas.openxmlformats.org/presentationml/2006/ole">
            <mc:AlternateContent xmlns:mc="http://schemas.openxmlformats.org/markup-compatibility/2006">
              <mc:Choice xmlns:v="urn:schemas-microsoft-com:vml" Requires="v">
                <p:oleObj spid="_x0000_s49520" name="Equation" r:id="rId8" imgW="1676160" imgH="482400" progId="Equation.DSMT4">
                  <p:embed/>
                </p:oleObj>
              </mc:Choice>
              <mc:Fallback>
                <p:oleObj name="Equation" r:id="rId8" imgW="1676160" imgH="482400" progId="Equation.DSMT4">
                  <p:embed/>
                  <p:pic>
                    <p:nvPicPr>
                      <p:cNvPr id="0" name=""/>
                      <p:cNvPicPr>
                        <a:picLocks noChangeAspect="1" noChangeArrowheads="1"/>
                      </p:cNvPicPr>
                      <p:nvPr/>
                    </p:nvPicPr>
                    <p:blipFill>
                      <a:blip r:embed="rId9"/>
                      <a:srcRect/>
                      <a:stretch>
                        <a:fillRect/>
                      </a:stretch>
                    </p:blipFill>
                    <p:spPr bwMode="auto">
                      <a:xfrm>
                        <a:off x="4194175" y="5435600"/>
                        <a:ext cx="3719513" cy="1109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 name="右箭头 19"/>
          <p:cNvSpPr/>
          <p:nvPr/>
        </p:nvSpPr>
        <p:spPr>
          <a:xfrm>
            <a:off x="753426" y="5517232"/>
            <a:ext cx="463430"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1" name="TextBox 20"/>
          <p:cNvSpPr txBox="1"/>
          <p:nvPr/>
        </p:nvSpPr>
        <p:spPr>
          <a:xfrm>
            <a:off x="1264109" y="5406450"/>
            <a:ext cx="2709396" cy="637675"/>
          </a:xfrm>
          <a:prstGeom prst="rect">
            <a:avLst/>
          </a:prstGeom>
          <a:noFill/>
        </p:spPr>
        <p:txBody>
          <a:bodyPr wrap="none" rtlCol="0">
            <a:spAutoFit/>
          </a:bodyPr>
          <a:lstStyle/>
          <a:p>
            <a:pPr>
              <a:lnSpc>
                <a:spcPct val="150000"/>
              </a:lnSpc>
            </a:pPr>
            <a:r>
              <a:rPr lang="zh-CN" altLang="en-US" sz="2800" b="1" smtClean="0">
                <a:solidFill>
                  <a:srgbClr val="FF0000"/>
                </a:solidFill>
                <a:latin typeface="黑体" pitchFamily="49" charset="-122"/>
                <a:ea typeface="黑体" pitchFamily="49" charset="-122"/>
              </a:rPr>
              <a:t>电场力做的的功</a:t>
            </a:r>
            <a:endParaRPr lang="en-US" altLang="zh-CN" sz="2800" b="1" dirty="0" smtClean="0">
              <a:solidFill>
                <a:srgbClr val="FF0000"/>
              </a:solidFill>
              <a:latin typeface="黑体" pitchFamily="49" charset="-122"/>
              <a:ea typeface="黑体" pitchFamily="49" charset="-122"/>
            </a:endParaRPr>
          </a:p>
        </p:txBody>
      </p:sp>
      <p:sp>
        <p:nvSpPr>
          <p:cNvPr id="22" name="TextBox 21"/>
          <p:cNvSpPr txBox="1"/>
          <p:nvPr/>
        </p:nvSpPr>
        <p:spPr>
          <a:xfrm>
            <a:off x="5294342" y="2130169"/>
            <a:ext cx="3629659" cy="1597745"/>
          </a:xfrm>
          <a:prstGeom prst="rect">
            <a:avLst/>
          </a:prstGeom>
          <a:noFill/>
        </p:spPr>
        <p:txBody>
          <a:bodyPr wrap="square" rtlCol="0">
            <a:spAutoFit/>
          </a:bodyPr>
          <a:lstStyle/>
          <a:p>
            <a:pPr>
              <a:lnSpc>
                <a:spcPct val="125000"/>
              </a:lnSpc>
            </a:pPr>
            <a:r>
              <a:rPr lang="zh-CN" altLang="en-US" sz="2000" b="1" dirty="0" smtClean="0"/>
              <a:t>静电场中</a:t>
            </a:r>
            <a:r>
              <a:rPr lang="en-US" altLang="zh-CN" sz="2000" b="1" dirty="0" smtClean="0"/>
              <a:t>A,B</a:t>
            </a:r>
            <a:r>
              <a:rPr lang="zh-CN" altLang="en-US" sz="2000" b="1" dirty="0" smtClean="0"/>
              <a:t>两点的电势差，等于单位正电荷在电场中从</a:t>
            </a:r>
            <a:r>
              <a:rPr lang="en-US" altLang="zh-CN" sz="2000" b="1" dirty="0" smtClean="0"/>
              <a:t>A</a:t>
            </a:r>
            <a:r>
              <a:rPr lang="zh-CN" altLang="en-US" sz="2000" b="1" dirty="0" smtClean="0"/>
              <a:t>点经过任意路径到达</a:t>
            </a:r>
            <a:r>
              <a:rPr lang="en-US" altLang="zh-CN" sz="2000" b="1" dirty="0" smtClean="0"/>
              <a:t>B</a:t>
            </a:r>
            <a:r>
              <a:rPr lang="zh-CN" altLang="en-US" sz="2000" b="1" dirty="0" smtClean="0"/>
              <a:t>点时电场力做功的负值。</a:t>
            </a:r>
            <a:endParaRPr lang="zh-CN" altLang="en-US" sz="2000" b="1" dirty="0"/>
          </a:p>
        </p:txBody>
      </p:sp>
    </p:spTree>
    <p:extLst>
      <p:ext uri="{BB962C8B-B14F-4D97-AF65-F5344CB8AC3E}">
        <p14:creationId xmlns:p14="http://schemas.microsoft.com/office/powerpoint/2010/main" val="8683219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899592" y="577424"/>
            <a:ext cx="2232248" cy="523220"/>
          </a:xfrm>
          <a:prstGeom prst="rect">
            <a:avLst/>
          </a:prstGeom>
          <a:noFill/>
        </p:spPr>
        <p:txBody>
          <a:bodyPr wrap="square" rtlCol="0">
            <a:spAutoFit/>
          </a:bodyPr>
          <a:lstStyle/>
          <a:p>
            <a:r>
              <a:rPr lang="zh-CN" altLang="en-US" sz="2800" b="1" smtClean="0">
                <a:solidFill>
                  <a:srgbClr val="0000FF"/>
                </a:solidFill>
              </a:rPr>
              <a:t>单项选择题：</a:t>
            </a:r>
            <a:endParaRPr lang="zh-CN" altLang="en-US" sz="2800" b="1">
              <a:solidFill>
                <a:srgbClr val="0000FF"/>
              </a:solidFill>
            </a:endParaRPr>
          </a:p>
        </p:txBody>
      </p:sp>
      <p:sp>
        <p:nvSpPr>
          <p:cNvPr id="3" name="TextBox 2"/>
          <p:cNvSpPr txBox="1"/>
          <p:nvPr/>
        </p:nvSpPr>
        <p:spPr>
          <a:xfrm>
            <a:off x="683568" y="1484784"/>
            <a:ext cx="8202026" cy="3869329"/>
          </a:xfrm>
          <a:prstGeom prst="rect">
            <a:avLst/>
          </a:prstGeom>
          <a:noFill/>
        </p:spPr>
        <p:txBody>
          <a:bodyPr wrap="square" rtlCol="0">
            <a:spAutoFit/>
          </a:bodyPr>
          <a:lstStyle/>
          <a:p>
            <a:pPr>
              <a:lnSpc>
                <a:spcPct val="150000"/>
              </a:lnSpc>
            </a:pPr>
            <a:r>
              <a:rPr lang="zh-CN" altLang="zh-CN" sz="2800" b="1" dirty="0">
                <a:latin typeface="+mn-ea"/>
              </a:rPr>
              <a:t>在已知静电场分布的条件下，任意两点</a:t>
            </a:r>
            <a:r>
              <a:rPr lang="en-US" altLang="zh-CN" sz="2800" b="1" dirty="0">
                <a:latin typeface="+mn-ea"/>
              </a:rPr>
              <a:t> P1 </a:t>
            </a:r>
            <a:r>
              <a:rPr lang="zh-CN" altLang="zh-CN" sz="2800" b="1" dirty="0">
                <a:latin typeface="+mn-ea"/>
              </a:rPr>
              <a:t>和</a:t>
            </a:r>
            <a:r>
              <a:rPr lang="en-US" altLang="zh-CN" sz="2800" b="1" dirty="0">
                <a:latin typeface="+mn-ea"/>
              </a:rPr>
              <a:t> P2  </a:t>
            </a:r>
            <a:r>
              <a:rPr lang="zh-CN" altLang="zh-CN" sz="2800" b="1" dirty="0">
                <a:latin typeface="+mn-ea"/>
              </a:rPr>
              <a:t>之间的电势差决定于</a:t>
            </a:r>
          </a:p>
          <a:p>
            <a:pPr>
              <a:lnSpc>
                <a:spcPct val="150000"/>
              </a:lnSpc>
            </a:pPr>
            <a:r>
              <a:rPr lang="en-US" altLang="zh-CN" sz="2800" b="1" dirty="0">
                <a:latin typeface="+mn-ea"/>
              </a:rPr>
              <a:t>A.P1 </a:t>
            </a:r>
            <a:r>
              <a:rPr lang="zh-CN" altLang="zh-CN" sz="2800" b="1" dirty="0">
                <a:latin typeface="+mn-ea"/>
              </a:rPr>
              <a:t>和</a:t>
            </a:r>
            <a:r>
              <a:rPr lang="en-US" altLang="zh-CN" sz="2800" b="1" dirty="0">
                <a:latin typeface="+mn-ea"/>
              </a:rPr>
              <a:t> P2 </a:t>
            </a:r>
            <a:r>
              <a:rPr lang="zh-CN" altLang="zh-CN" sz="2800" b="1" dirty="0">
                <a:latin typeface="+mn-ea"/>
              </a:rPr>
              <a:t>两点的位置。</a:t>
            </a:r>
            <a:r>
              <a:rPr lang="en-US" altLang="zh-CN" sz="2800" b="1" dirty="0">
                <a:latin typeface="+mn-ea"/>
              </a:rPr>
              <a:t>                                 </a:t>
            </a:r>
            <a:endParaRPr lang="zh-CN" altLang="zh-CN" sz="2800" b="1" dirty="0">
              <a:latin typeface="+mn-ea"/>
            </a:endParaRPr>
          </a:p>
          <a:p>
            <a:pPr>
              <a:lnSpc>
                <a:spcPct val="150000"/>
              </a:lnSpc>
            </a:pPr>
            <a:r>
              <a:rPr lang="en-US" altLang="zh-CN" sz="2800" b="1" dirty="0" smtClean="0">
                <a:latin typeface="+mn-ea"/>
              </a:rPr>
              <a:t>B.</a:t>
            </a:r>
            <a:r>
              <a:rPr lang="zh-CN" altLang="en-US" sz="2800" b="1" dirty="0" smtClean="0">
                <a:latin typeface="+mn-ea"/>
              </a:rPr>
              <a:t>电势零点的选取</a:t>
            </a:r>
            <a:r>
              <a:rPr lang="zh-CN" altLang="zh-CN" sz="2800" b="1" dirty="0" smtClean="0">
                <a:latin typeface="+mn-ea"/>
              </a:rPr>
              <a:t>。</a:t>
            </a:r>
            <a:r>
              <a:rPr lang="en-US" altLang="zh-CN" sz="2800" b="1" dirty="0" smtClean="0">
                <a:latin typeface="+mn-ea"/>
              </a:rPr>
              <a:t>              </a:t>
            </a:r>
            <a:endParaRPr lang="zh-CN" altLang="zh-CN" sz="2800" b="1" dirty="0">
              <a:latin typeface="+mn-ea"/>
            </a:endParaRPr>
          </a:p>
          <a:p>
            <a:pPr>
              <a:lnSpc>
                <a:spcPct val="150000"/>
              </a:lnSpc>
            </a:pPr>
            <a:r>
              <a:rPr lang="en-US" altLang="zh-CN" sz="2800" b="1" dirty="0">
                <a:latin typeface="+mn-ea"/>
              </a:rPr>
              <a:t>C.</a:t>
            </a:r>
            <a:r>
              <a:rPr lang="zh-CN" altLang="zh-CN" sz="2800" b="1" dirty="0">
                <a:latin typeface="+mn-ea"/>
              </a:rPr>
              <a:t>试验电荷所带电荷的正负。</a:t>
            </a:r>
            <a:r>
              <a:rPr lang="en-US" altLang="zh-CN" sz="2800" b="1" dirty="0">
                <a:latin typeface="+mn-ea"/>
              </a:rPr>
              <a:t>                             </a:t>
            </a:r>
            <a:endParaRPr lang="zh-CN" altLang="zh-CN" sz="2800" b="1" dirty="0">
              <a:latin typeface="+mn-ea"/>
            </a:endParaRPr>
          </a:p>
          <a:p>
            <a:pPr>
              <a:lnSpc>
                <a:spcPct val="150000"/>
              </a:lnSpc>
            </a:pPr>
            <a:r>
              <a:rPr lang="en-US" altLang="zh-CN" sz="2800" b="1" dirty="0">
                <a:latin typeface="+mn-ea"/>
              </a:rPr>
              <a:t>D. </a:t>
            </a:r>
            <a:r>
              <a:rPr lang="zh-CN" altLang="zh-CN" sz="2800" b="1" dirty="0">
                <a:latin typeface="+mn-ea"/>
              </a:rPr>
              <a:t>试验电荷的电荷量</a:t>
            </a:r>
            <a:r>
              <a:rPr lang="zh-CN" altLang="zh-CN" sz="2800" b="1" dirty="0" smtClean="0">
                <a:latin typeface="+mn-ea"/>
              </a:rPr>
              <a:t>。</a:t>
            </a:r>
            <a:endParaRPr lang="zh-CN" altLang="zh-CN" sz="2800" b="1" dirty="0">
              <a:latin typeface="+mn-ea"/>
            </a:endParaRPr>
          </a:p>
        </p:txBody>
      </p:sp>
    </p:spTree>
    <p:extLst>
      <p:ext uri="{BB962C8B-B14F-4D97-AF65-F5344CB8AC3E}">
        <p14:creationId xmlns:p14="http://schemas.microsoft.com/office/powerpoint/2010/main" val="16405595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914400" y="635000"/>
            <a:ext cx="7690048" cy="2143125"/>
          </a:xfrm>
          <a:prstGeom prst="rect">
            <a:avLst/>
          </a:prstGeom>
          <a:noFill/>
        </p:spPr>
        <p:txBody>
          <a:bodyPr vert="horz" wrap="square" rtlCol="0" anchor="ctr" anchorCtr="0">
            <a:noAutofit/>
          </a:bodyPr>
          <a:lstStyle/>
          <a:p>
            <a:pPr>
              <a:lnSpc>
                <a:spcPct val="150000"/>
              </a:lnSpc>
            </a:pPr>
            <a:r>
              <a:rPr lang="zh-CN" altLang="zh-CN" sz="2800" b="1" dirty="0">
                <a:latin typeface="+mn-ea"/>
              </a:rPr>
              <a:t>在已知静电场分布的条件下，任意两</a:t>
            </a:r>
            <a:r>
              <a:rPr lang="zh-CN" altLang="zh-CN" sz="2800" b="1" dirty="0" smtClean="0">
                <a:latin typeface="+mn-ea"/>
              </a:rPr>
              <a:t>点</a:t>
            </a:r>
            <a:r>
              <a:rPr lang="en-US" altLang="zh-CN" sz="2800" b="1" dirty="0" smtClean="0">
                <a:latin typeface="+mn-ea"/>
              </a:rPr>
              <a:t>P1</a:t>
            </a:r>
            <a:r>
              <a:rPr lang="zh-CN" altLang="zh-CN" sz="2800" b="1" dirty="0" smtClean="0">
                <a:latin typeface="+mn-ea"/>
              </a:rPr>
              <a:t>和</a:t>
            </a:r>
            <a:r>
              <a:rPr lang="en-US" altLang="zh-CN" sz="2800" b="1" dirty="0" smtClean="0">
                <a:latin typeface="+mn-ea"/>
              </a:rPr>
              <a:t>P2</a:t>
            </a:r>
            <a:r>
              <a:rPr lang="zh-CN" altLang="zh-CN" sz="2800" b="1" dirty="0" smtClean="0">
                <a:latin typeface="+mn-ea"/>
              </a:rPr>
              <a:t>之间</a:t>
            </a:r>
            <a:r>
              <a:rPr lang="zh-CN" altLang="zh-CN" sz="2800" b="1" dirty="0">
                <a:latin typeface="+mn-ea"/>
              </a:rPr>
              <a:t>的电势差决定于</a:t>
            </a:r>
          </a:p>
        </p:txBody>
      </p:sp>
      <p:sp>
        <p:nvSpPr>
          <p:cNvPr id="4" name="文本框 3"/>
          <p:cNvSpPr txBox="1"/>
          <p:nvPr>
            <p:custDataLst>
              <p:tags r:id="rId3"/>
            </p:custDataLst>
          </p:nvPr>
        </p:nvSpPr>
        <p:spPr>
          <a:xfrm>
            <a:off x="1828800" y="2786063"/>
            <a:ext cx="6400800" cy="642938"/>
          </a:xfrm>
          <a:prstGeom prst="rect">
            <a:avLst/>
          </a:prstGeom>
          <a:noFill/>
        </p:spPr>
        <p:txBody>
          <a:bodyPr vert="horz" rtlCol="0" anchor="ctr" anchorCtr="0">
            <a:noAutofit/>
          </a:bodyPr>
          <a:lstStyle/>
          <a:p>
            <a:pPr>
              <a:lnSpc>
                <a:spcPct val="150000"/>
              </a:lnSpc>
            </a:pPr>
            <a:r>
              <a:rPr lang="en-US" altLang="zh-CN" sz="2400" b="1" dirty="0" smtClean="0">
                <a:latin typeface="+mn-ea"/>
              </a:rPr>
              <a:t>P1</a:t>
            </a:r>
            <a:r>
              <a:rPr lang="zh-CN" altLang="zh-CN" sz="2400" b="1" dirty="0" smtClean="0">
                <a:latin typeface="+mn-ea"/>
              </a:rPr>
              <a:t>和</a:t>
            </a:r>
            <a:r>
              <a:rPr lang="en-US" altLang="zh-CN" sz="2400" b="1" dirty="0" smtClean="0">
                <a:latin typeface="+mn-ea"/>
              </a:rPr>
              <a:t>P2</a:t>
            </a:r>
            <a:r>
              <a:rPr lang="zh-CN" altLang="zh-CN" sz="2400" b="1" dirty="0" smtClean="0">
                <a:latin typeface="+mn-ea"/>
              </a:rPr>
              <a:t>两</a:t>
            </a:r>
            <a:r>
              <a:rPr lang="zh-CN" altLang="zh-CN" sz="2400" b="1" dirty="0">
                <a:latin typeface="+mn-ea"/>
              </a:rPr>
              <a:t>点的位置。</a:t>
            </a:r>
            <a:r>
              <a:rPr lang="en-US" altLang="zh-CN" sz="2400" b="1" dirty="0">
                <a:latin typeface="+mn-ea"/>
              </a:rPr>
              <a:t>                                 </a:t>
            </a:r>
            <a:endParaRPr lang="zh-CN" altLang="zh-CN" sz="2400" b="1" dirty="0">
              <a:latin typeface="+mn-ea"/>
            </a:endParaRPr>
          </a:p>
        </p:txBody>
      </p:sp>
      <p:sp>
        <p:nvSpPr>
          <p:cNvPr id="5" name="文本框 4"/>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400" b="1" dirty="0">
                <a:latin typeface="+mn-ea"/>
              </a:rPr>
              <a:t>电势零点的选取</a:t>
            </a:r>
            <a:r>
              <a:rPr lang="zh-CN" altLang="zh-CN" sz="2400" b="1" dirty="0">
                <a:latin typeface="+mn-ea"/>
              </a:rPr>
              <a:t>。</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zh-CN" sz="2400" b="1" dirty="0">
                <a:latin typeface="+mn-ea"/>
              </a:rPr>
              <a:t>试验电荷所带电荷的正负。</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1828800" y="5357813"/>
            <a:ext cx="6400800" cy="642938"/>
          </a:xfrm>
          <a:prstGeom prst="rect">
            <a:avLst/>
          </a:prstGeom>
          <a:noFill/>
        </p:spPr>
        <p:txBody>
          <a:bodyPr vert="horz" rtlCol="0" anchor="ctr" anchorCtr="0">
            <a:noAutofit/>
          </a:bodyPr>
          <a:lstStyle/>
          <a:p>
            <a:pPr>
              <a:lnSpc>
                <a:spcPct val="150000"/>
              </a:lnSpc>
            </a:pPr>
            <a:r>
              <a:rPr lang="zh-CN" altLang="zh-CN" sz="2400" b="1" dirty="0">
                <a:latin typeface="+mn-ea"/>
              </a:rPr>
              <a:t>试验电荷的电荷量。</a:t>
            </a:r>
          </a:p>
        </p:txBody>
      </p:sp>
      <p:sp>
        <p:nvSpPr>
          <p:cNvPr id="8" name="椭圆 7"/>
          <p:cNvSpPr>
            <a:spLocks noChangeAspect="1"/>
          </p:cNvSpPr>
          <p:nvPr>
            <p:custDataLst>
              <p:tags r:id="rId7"/>
            </p:custDataLst>
          </p:nvPr>
        </p:nvSpPr>
        <p:spPr>
          <a:xfrm>
            <a:off x="11144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7" name="组合 16"/>
          <p:cNvGrpSpPr/>
          <p:nvPr>
            <p:custDataLst>
              <p:tags r:id="rId12"/>
            </p:custDataLst>
          </p:nvPr>
        </p:nvGrpSpPr>
        <p:grpSpPr>
          <a:xfrm>
            <a:off x="0" y="0"/>
            <a:ext cx="9144000" cy="635000"/>
            <a:chOff x="0" y="0"/>
            <a:chExt cx="9144000" cy="635000"/>
          </a:xfrm>
        </p:grpSpPr>
        <p:sp>
          <p:nvSpPr>
            <p:cNvPr id="13" name="TitleBackground"/>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3199212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5"/>
          <p:cNvSpPr txBox="1"/>
          <p:nvPr/>
        </p:nvSpPr>
        <p:spPr>
          <a:xfrm>
            <a:off x="179511" y="188640"/>
            <a:ext cx="2710999" cy="637675"/>
          </a:xfrm>
          <a:prstGeom prst="rect">
            <a:avLst/>
          </a:prstGeom>
          <a:noFill/>
        </p:spPr>
        <p:txBody>
          <a:bodyPr wrap="none" rtlCol="0">
            <a:spAutoFit/>
          </a:bodyPr>
          <a:lstStyle/>
          <a:p>
            <a:pPr>
              <a:lnSpc>
                <a:spcPct val="150000"/>
              </a:lnSpc>
            </a:pPr>
            <a:r>
              <a:rPr lang="en-US" altLang="zh-CN" sz="2800" b="1" dirty="0" smtClean="0">
                <a:latin typeface="黑体" pitchFamily="49" charset="-122"/>
                <a:ea typeface="黑体" pitchFamily="49" charset="-122"/>
              </a:rPr>
              <a:t>3.</a:t>
            </a:r>
            <a:r>
              <a:rPr lang="zh-CN" altLang="en-US" sz="2800" b="1" dirty="0" smtClean="0">
                <a:latin typeface="黑体" pitchFamily="49" charset="-122"/>
                <a:ea typeface="黑体" pitchFamily="49" charset="-122"/>
              </a:rPr>
              <a:t>电场和电势差</a:t>
            </a:r>
            <a:endParaRPr lang="en-US" altLang="zh-CN" sz="2800" b="1" dirty="0" smtClean="0">
              <a:latin typeface="黑体" pitchFamily="49" charset="-122"/>
              <a:ea typeface="黑体" pitchFamily="49" charset="-122"/>
            </a:endParaRPr>
          </a:p>
        </p:txBody>
      </p:sp>
      <p:grpSp>
        <p:nvGrpSpPr>
          <p:cNvPr id="24" name="组合 23"/>
          <p:cNvGrpSpPr/>
          <p:nvPr/>
        </p:nvGrpSpPr>
        <p:grpSpPr>
          <a:xfrm>
            <a:off x="1952421" y="1154752"/>
            <a:ext cx="4951997" cy="611284"/>
            <a:chOff x="1907704" y="6475047"/>
            <a:chExt cx="4951997" cy="611284"/>
          </a:xfrm>
        </p:grpSpPr>
        <p:sp>
          <p:nvSpPr>
            <p:cNvPr id="23" name="圆角矩形 22"/>
            <p:cNvSpPr/>
            <p:nvPr/>
          </p:nvSpPr>
          <p:spPr>
            <a:xfrm>
              <a:off x="1907704" y="6475047"/>
              <a:ext cx="4710204" cy="611284"/>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b="1"/>
            </a:p>
          </p:txBody>
        </p:sp>
        <p:sp>
          <p:nvSpPr>
            <p:cNvPr id="16" name="文本框 15"/>
            <p:cNvSpPr txBox="1"/>
            <p:nvPr/>
          </p:nvSpPr>
          <p:spPr>
            <a:xfrm>
              <a:off x="1907704" y="6563111"/>
              <a:ext cx="4951997" cy="523220"/>
            </a:xfrm>
            <a:prstGeom prst="rect">
              <a:avLst/>
            </a:prstGeom>
            <a:noFill/>
          </p:spPr>
          <p:txBody>
            <a:bodyPr wrap="none" rtlCol="0">
              <a:spAutoFit/>
            </a:bodyPr>
            <a:lstStyle/>
            <a:p>
              <a:r>
                <a:rPr lang="zh-CN" altLang="en-US" sz="2800" b="1" dirty="0" smtClean="0">
                  <a:solidFill>
                    <a:srgbClr val="FF0000"/>
                  </a:solidFill>
                </a:rPr>
                <a:t>电场</a:t>
              </a:r>
              <a:r>
                <a:rPr lang="en-US" altLang="zh-CN" sz="2800" b="1" i="1" dirty="0" smtClean="0">
                  <a:solidFill>
                    <a:srgbClr val="FF0000"/>
                  </a:solidFill>
                  <a:latin typeface="Times New Roman" panose="02020603050405020304" pitchFamily="18" charset="0"/>
                  <a:cs typeface="Times New Roman" panose="02020603050405020304" pitchFamily="18" charset="0"/>
                </a:rPr>
                <a:t>E</a:t>
              </a:r>
              <a:r>
                <a:rPr lang="zh-CN" altLang="en-US" sz="2800" b="1" dirty="0" smtClean="0">
                  <a:solidFill>
                    <a:srgbClr val="FF0000"/>
                  </a:solidFill>
                </a:rPr>
                <a:t>指向电势</a:t>
              </a:r>
              <a:r>
                <a:rPr lang="en-US" altLang="zh-CN" sz="2800" b="1" i="1" dirty="0" smtClean="0">
                  <a:solidFill>
                    <a:srgbClr val="FF0000"/>
                  </a:solidFill>
                  <a:latin typeface="Times New Roman" panose="02020603050405020304" pitchFamily="18" charset="0"/>
                  <a:cs typeface="Times New Roman" panose="02020603050405020304" pitchFamily="18" charset="0"/>
                </a:rPr>
                <a:t>V</a:t>
              </a:r>
              <a:r>
                <a:rPr lang="zh-CN" altLang="en-US" sz="2800" b="1" dirty="0" smtClean="0">
                  <a:solidFill>
                    <a:srgbClr val="FF0000"/>
                  </a:solidFill>
                </a:rPr>
                <a:t>减小的方向。</a:t>
              </a:r>
              <a:endParaRPr lang="zh-CN" altLang="en-US" sz="2800" b="1" dirty="0">
                <a:solidFill>
                  <a:srgbClr val="FF0000"/>
                </a:solidFill>
              </a:endParaRPr>
            </a:p>
          </p:txBody>
        </p:sp>
      </p:grpSp>
      <p:sp>
        <p:nvSpPr>
          <p:cNvPr id="12" name="文本框 11"/>
          <p:cNvSpPr txBox="1"/>
          <p:nvPr/>
        </p:nvSpPr>
        <p:spPr>
          <a:xfrm>
            <a:off x="1643041" y="2041303"/>
            <a:ext cx="5570756" cy="523220"/>
          </a:xfrm>
          <a:prstGeom prst="rect">
            <a:avLst/>
          </a:prstGeom>
          <a:noFill/>
        </p:spPr>
        <p:txBody>
          <a:bodyPr wrap="none" rtlCol="0">
            <a:spAutoFit/>
          </a:bodyPr>
          <a:lstStyle/>
          <a:p>
            <a:r>
              <a:rPr lang="zh-CN" altLang="en-US" sz="2800" b="1" dirty="0" smtClean="0"/>
              <a:t>在电场为零的区域，电势为常数。</a:t>
            </a:r>
            <a:endParaRPr lang="zh-CN" altLang="en-US" sz="2800" b="1" dirty="0"/>
          </a:p>
        </p:txBody>
      </p:sp>
      <p:pic>
        <p:nvPicPr>
          <p:cNvPr id="26" name="图片 25"/>
          <p:cNvPicPr>
            <a:picLocks noChangeAspect="1"/>
          </p:cNvPicPr>
          <p:nvPr/>
        </p:nvPicPr>
        <p:blipFill>
          <a:blip r:embed="rId3" cstate="print"/>
          <a:stretch>
            <a:fillRect/>
          </a:stretch>
        </p:blipFill>
        <p:spPr>
          <a:xfrm>
            <a:off x="395535" y="2800092"/>
            <a:ext cx="8155230" cy="2921149"/>
          </a:xfrm>
          <a:prstGeom prst="rect">
            <a:avLst/>
          </a:prstGeom>
        </p:spPr>
      </p:pic>
      <p:sp>
        <p:nvSpPr>
          <p:cNvPr id="27" name="文本框 26"/>
          <p:cNvSpPr txBox="1"/>
          <p:nvPr/>
        </p:nvSpPr>
        <p:spPr>
          <a:xfrm>
            <a:off x="142844" y="5707512"/>
            <a:ext cx="8845691" cy="975523"/>
          </a:xfrm>
          <a:prstGeom prst="rect">
            <a:avLst/>
          </a:prstGeom>
          <a:noFill/>
        </p:spPr>
        <p:txBody>
          <a:bodyPr wrap="none" rtlCol="0">
            <a:spAutoFit/>
          </a:bodyPr>
          <a:lstStyle/>
          <a:p>
            <a:pPr>
              <a:lnSpc>
                <a:spcPct val="125000"/>
              </a:lnSpc>
            </a:pPr>
            <a:r>
              <a:rPr lang="zh-CN" altLang="en-US" sz="2400" b="1" dirty="0" smtClean="0"/>
              <a:t>图</a:t>
            </a:r>
            <a:r>
              <a:rPr lang="en-US" altLang="zh-CN" sz="2400" b="1" dirty="0" smtClean="0"/>
              <a:t>17.5 </a:t>
            </a:r>
            <a:r>
              <a:rPr lang="zh-CN" altLang="en-US" sz="2400" b="1" dirty="0" smtClean="0"/>
              <a:t>作用在一个电荷上的电场力总是指向</a:t>
            </a:r>
            <a:r>
              <a:rPr lang="zh-CN" altLang="en-US" sz="2400" b="1" dirty="0" smtClean="0">
                <a:solidFill>
                  <a:srgbClr val="FF0000"/>
                </a:solidFill>
              </a:rPr>
              <a:t>电势能</a:t>
            </a:r>
            <a:r>
              <a:rPr lang="zh-CN" altLang="en-US" sz="2400" b="1" dirty="0" smtClean="0"/>
              <a:t>较低的方向。</a:t>
            </a:r>
            <a:endParaRPr lang="en-US" altLang="zh-CN" sz="2400" b="1" dirty="0" smtClean="0"/>
          </a:p>
          <a:p>
            <a:pPr>
              <a:lnSpc>
                <a:spcPct val="125000"/>
              </a:lnSpc>
            </a:pPr>
            <a:r>
              <a:rPr lang="en-US" altLang="zh-CN" sz="2400" b="1" dirty="0"/>
              <a:t> </a:t>
            </a:r>
            <a:r>
              <a:rPr lang="en-US" altLang="zh-CN" sz="2400" b="1" dirty="0" smtClean="0"/>
              <a:t>             </a:t>
            </a:r>
            <a:r>
              <a:rPr lang="zh-CN" altLang="en-US" sz="2400" b="1" dirty="0" smtClean="0"/>
              <a:t>电场总是指向低</a:t>
            </a:r>
            <a:r>
              <a:rPr lang="zh-CN" altLang="en-US" sz="2400" b="1" dirty="0" smtClean="0">
                <a:solidFill>
                  <a:srgbClr val="FF0000"/>
                </a:solidFill>
              </a:rPr>
              <a:t>电势</a:t>
            </a:r>
            <a:r>
              <a:rPr lang="zh-CN" altLang="en-US" sz="2400" b="1" dirty="0" smtClean="0"/>
              <a:t>的方向。</a:t>
            </a:r>
            <a:endParaRPr lang="zh-CN" altLang="en-US" sz="2400" b="1" dirty="0"/>
          </a:p>
        </p:txBody>
      </p:sp>
    </p:spTree>
    <p:extLst>
      <p:ext uri="{BB962C8B-B14F-4D97-AF65-F5344CB8AC3E}">
        <p14:creationId xmlns:p14="http://schemas.microsoft.com/office/powerpoint/2010/main" val="35294877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899592" y="577424"/>
            <a:ext cx="2232248" cy="523220"/>
          </a:xfrm>
          <a:prstGeom prst="rect">
            <a:avLst/>
          </a:prstGeom>
          <a:noFill/>
        </p:spPr>
        <p:txBody>
          <a:bodyPr wrap="square" rtlCol="0">
            <a:spAutoFit/>
          </a:bodyPr>
          <a:lstStyle/>
          <a:p>
            <a:r>
              <a:rPr lang="zh-CN" altLang="en-US" sz="2800" b="1" smtClean="0">
                <a:solidFill>
                  <a:srgbClr val="0000FF"/>
                </a:solidFill>
              </a:rPr>
              <a:t>单项选择题：</a:t>
            </a:r>
            <a:endParaRPr lang="zh-CN" altLang="en-US" sz="2800" b="1">
              <a:solidFill>
                <a:srgbClr val="0000FF"/>
              </a:solidFill>
            </a:endParaRPr>
          </a:p>
        </p:txBody>
      </p:sp>
      <p:sp>
        <p:nvSpPr>
          <p:cNvPr id="3" name="TextBox 2"/>
          <p:cNvSpPr txBox="1"/>
          <p:nvPr/>
        </p:nvSpPr>
        <p:spPr>
          <a:xfrm>
            <a:off x="395536" y="1268760"/>
            <a:ext cx="8202026" cy="4616648"/>
          </a:xfrm>
          <a:prstGeom prst="rect">
            <a:avLst/>
          </a:prstGeom>
          <a:noFill/>
        </p:spPr>
        <p:txBody>
          <a:bodyPr wrap="square" rtlCol="0">
            <a:spAutoFit/>
          </a:bodyPr>
          <a:lstStyle/>
          <a:p>
            <a:pPr>
              <a:lnSpc>
                <a:spcPct val="150000"/>
              </a:lnSpc>
            </a:pPr>
            <a:r>
              <a:rPr lang="zh-CN" altLang="zh-CN" sz="2800" b="1" dirty="0">
                <a:latin typeface="+mn-ea"/>
              </a:rPr>
              <a:t>正三角形</a:t>
            </a:r>
            <a:r>
              <a:rPr lang="en-US" altLang="zh-CN" sz="2800" b="1" i="1" dirty="0">
                <a:latin typeface="+mn-ea"/>
              </a:rPr>
              <a:t>ABC</a:t>
            </a:r>
            <a:r>
              <a:rPr lang="zh-CN" altLang="zh-CN" sz="2800" b="1" dirty="0">
                <a:latin typeface="+mn-ea"/>
              </a:rPr>
              <a:t>的三个顶点上分别放</a:t>
            </a:r>
            <a:r>
              <a:rPr lang="zh-CN" altLang="zh-CN" sz="2800" b="1" dirty="0" smtClean="0">
                <a:latin typeface="+mn-ea"/>
              </a:rPr>
              <a:t>有</a:t>
            </a:r>
            <a:r>
              <a:rPr lang="en-US" altLang="zh-CN" sz="2800" b="1" i="1" dirty="0" smtClean="0">
                <a:latin typeface="+mn-ea"/>
              </a:rPr>
              <a:t>+q</a:t>
            </a:r>
            <a:r>
              <a:rPr lang="zh-CN" altLang="zh-CN" sz="2800" b="1" dirty="0" smtClean="0">
                <a:latin typeface="+mn-ea"/>
              </a:rPr>
              <a:t>、</a:t>
            </a:r>
            <a:r>
              <a:rPr lang="en-US" altLang="zh-CN" sz="2800" b="1" i="1" dirty="0" smtClean="0">
                <a:latin typeface="+mn-ea"/>
              </a:rPr>
              <a:t>-q</a:t>
            </a:r>
            <a:r>
              <a:rPr lang="zh-CN" altLang="zh-CN" sz="2800" b="1" dirty="0" smtClean="0">
                <a:latin typeface="+mn-ea"/>
              </a:rPr>
              <a:t>、</a:t>
            </a:r>
            <a:r>
              <a:rPr lang="en-US" altLang="zh-CN" sz="2800" b="1" i="1" dirty="0" smtClean="0">
                <a:latin typeface="+mn-ea"/>
              </a:rPr>
              <a:t>-q</a:t>
            </a:r>
            <a:r>
              <a:rPr lang="zh-CN" altLang="zh-CN" sz="2800" b="1" dirty="0" smtClean="0">
                <a:latin typeface="+mn-ea"/>
              </a:rPr>
              <a:t>三</a:t>
            </a:r>
            <a:r>
              <a:rPr lang="zh-CN" altLang="zh-CN" sz="2800" b="1" dirty="0">
                <a:latin typeface="+mn-ea"/>
              </a:rPr>
              <a:t>个点电荷，</a:t>
            </a:r>
            <a:r>
              <a:rPr lang="en-US" altLang="zh-CN" sz="2800" b="1" i="1" dirty="0">
                <a:latin typeface="+mn-ea"/>
              </a:rPr>
              <a:t>G</a:t>
            </a:r>
            <a:r>
              <a:rPr lang="zh-CN" altLang="zh-CN" sz="2800" b="1" dirty="0">
                <a:latin typeface="+mn-ea"/>
              </a:rPr>
              <a:t>为三角形的重心，</a:t>
            </a:r>
            <a:r>
              <a:rPr lang="en-US" altLang="zh-CN" sz="2800" b="1" i="1" dirty="0">
                <a:latin typeface="+mn-ea"/>
              </a:rPr>
              <a:t>N</a:t>
            </a:r>
            <a:r>
              <a:rPr lang="zh-CN" altLang="zh-CN" sz="2800" b="1" dirty="0">
                <a:latin typeface="+mn-ea"/>
              </a:rPr>
              <a:t>为</a:t>
            </a:r>
            <a:r>
              <a:rPr lang="en-US" altLang="zh-CN" sz="2800" b="1" i="1" dirty="0">
                <a:latin typeface="+mn-ea"/>
              </a:rPr>
              <a:t>BC</a:t>
            </a:r>
            <a:r>
              <a:rPr lang="zh-CN" altLang="zh-CN" sz="2800" b="1" dirty="0">
                <a:latin typeface="+mn-ea"/>
              </a:rPr>
              <a:t>边的中点，那么，下列说法中正确的是</a:t>
            </a:r>
          </a:p>
          <a:p>
            <a:pPr>
              <a:lnSpc>
                <a:spcPct val="150000"/>
              </a:lnSpc>
            </a:pPr>
            <a:r>
              <a:rPr lang="en-US" altLang="zh-CN" sz="2800" b="1" dirty="0">
                <a:latin typeface="+mn-ea"/>
              </a:rPr>
              <a:t>A.G</a:t>
            </a:r>
            <a:r>
              <a:rPr lang="zh-CN" altLang="zh-CN" sz="2800" b="1" dirty="0">
                <a:latin typeface="+mn-ea"/>
              </a:rPr>
              <a:t>点的场强值小于</a:t>
            </a:r>
            <a:r>
              <a:rPr lang="en-US" altLang="zh-CN" sz="2800" b="1" dirty="0">
                <a:latin typeface="+mn-ea"/>
              </a:rPr>
              <a:t>N</a:t>
            </a:r>
            <a:r>
              <a:rPr lang="zh-CN" altLang="zh-CN" sz="2800" b="1" dirty="0">
                <a:latin typeface="+mn-ea"/>
              </a:rPr>
              <a:t>点的场强值。</a:t>
            </a:r>
          </a:p>
          <a:p>
            <a:pPr>
              <a:lnSpc>
                <a:spcPct val="150000"/>
              </a:lnSpc>
            </a:pPr>
            <a:r>
              <a:rPr lang="en-US" altLang="zh-CN" sz="2800" b="1" dirty="0">
                <a:latin typeface="+mn-ea"/>
              </a:rPr>
              <a:t>B.G</a:t>
            </a:r>
            <a:r>
              <a:rPr lang="zh-CN" altLang="zh-CN" sz="2800" b="1" dirty="0">
                <a:latin typeface="+mn-ea"/>
              </a:rPr>
              <a:t>点的场强方向由</a:t>
            </a:r>
            <a:r>
              <a:rPr lang="en-US" altLang="zh-CN" sz="2800" b="1" dirty="0">
                <a:latin typeface="+mn-ea"/>
              </a:rPr>
              <a:t>N</a:t>
            </a:r>
            <a:r>
              <a:rPr lang="zh-CN" altLang="zh-CN" sz="2800" b="1" dirty="0">
                <a:latin typeface="+mn-ea"/>
              </a:rPr>
              <a:t>点指向</a:t>
            </a:r>
            <a:r>
              <a:rPr lang="en-US" altLang="zh-CN" sz="2800" b="1" dirty="0">
                <a:latin typeface="+mn-ea"/>
              </a:rPr>
              <a:t>G</a:t>
            </a:r>
            <a:r>
              <a:rPr lang="zh-CN" altLang="zh-CN" sz="2800" b="1" dirty="0">
                <a:latin typeface="+mn-ea"/>
              </a:rPr>
              <a:t>点。</a:t>
            </a:r>
          </a:p>
          <a:p>
            <a:pPr>
              <a:lnSpc>
                <a:spcPct val="150000"/>
              </a:lnSpc>
            </a:pPr>
            <a:r>
              <a:rPr lang="en-US" altLang="zh-CN" sz="2800" b="1" dirty="0">
                <a:latin typeface="+mn-ea"/>
              </a:rPr>
              <a:t>C.G</a:t>
            </a:r>
            <a:r>
              <a:rPr lang="zh-CN" altLang="zh-CN" sz="2800" b="1" dirty="0">
                <a:latin typeface="+mn-ea"/>
              </a:rPr>
              <a:t>点的电势低于</a:t>
            </a:r>
            <a:r>
              <a:rPr lang="en-US" altLang="zh-CN" sz="2800" b="1" dirty="0">
                <a:latin typeface="+mn-ea"/>
              </a:rPr>
              <a:t>N</a:t>
            </a:r>
            <a:r>
              <a:rPr lang="zh-CN" altLang="zh-CN" sz="2800" b="1" dirty="0">
                <a:latin typeface="+mn-ea"/>
              </a:rPr>
              <a:t>点的电势。</a:t>
            </a:r>
          </a:p>
          <a:p>
            <a:pPr>
              <a:lnSpc>
                <a:spcPct val="150000"/>
              </a:lnSpc>
            </a:pPr>
            <a:r>
              <a:rPr lang="en-US" altLang="zh-CN" sz="2800" b="1" dirty="0">
                <a:latin typeface="+mn-ea"/>
              </a:rPr>
              <a:t>D.</a:t>
            </a:r>
            <a:r>
              <a:rPr lang="zh-CN" altLang="zh-CN" sz="2800" b="1" dirty="0">
                <a:latin typeface="+mn-ea"/>
              </a:rPr>
              <a:t>由</a:t>
            </a:r>
            <a:r>
              <a:rPr lang="en-US" altLang="zh-CN" sz="2800" b="1" dirty="0">
                <a:latin typeface="+mn-ea"/>
              </a:rPr>
              <a:t>G</a:t>
            </a:r>
            <a:r>
              <a:rPr lang="zh-CN" altLang="zh-CN" sz="2800" b="1" dirty="0">
                <a:latin typeface="+mn-ea"/>
              </a:rPr>
              <a:t>到</a:t>
            </a:r>
            <a:r>
              <a:rPr lang="en-US" altLang="zh-CN" sz="2800" b="1" dirty="0">
                <a:latin typeface="+mn-ea"/>
              </a:rPr>
              <a:t>N</a:t>
            </a:r>
            <a:r>
              <a:rPr lang="zh-CN" altLang="zh-CN" sz="2800" b="1" dirty="0">
                <a:latin typeface="+mn-ea"/>
              </a:rPr>
              <a:t>的电势变化是逐渐</a:t>
            </a:r>
            <a:r>
              <a:rPr lang="zh-CN" altLang="zh-CN" sz="2800" b="1" dirty="0" smtClean="0">
                <a:latin typeface="+mn-ea"/>
              </a:rPr>
              <a:t>降低</a:t>
            </a:r>
            <a:endParaRPr lang="zh-CN" altLang="zh-CN" sz="2800" b="1" dirty="0">
              <a:latin typeface="+mn-ea"/>
            </a:endParaRPr>
          </a:p>
        </p:txBody>
      </p:sp>
      <p:pic>
        <p:nvPicPr>
          <p:cNvPr id="4" name="图片 3"/>
          <p:cNvPicPr/>
          <p:nvPr/>
        </p:nvPicPr>
        <p:blipFill>
          <a:blip r:embed="rId3">
            <a:extLst>
              <a:ext uri="{28A0092B-C50C-407E-A947-70E740481C1C}">
                <a14:useLocalDpi xmlns:a14="http://schemas.microsoft.com/office/drawing/2010/main" val="0"/>
              </a:ext>
            </a:extLst>
          </a:blip>
          <a:stretch>
            <a:fillRect/>
          </a:stretch>
        </p:blipFill>
        <p:spPr>
          <a:xfrm>
            <a:off x="6372200" y="2924944"/>
            <a:ext cx="2225362" cy="2160240"/>
          </a:xfrm>
          <a:prstGeom prst="rect">
            <a:avLst/>
          </a:prstGeom>
        </p:spPr>
      </p:pic>
    </p:spTree>
    <p:extLst>
      <p:ext uri="{BB962C8B-B14F-4D97-AF65-F5344CB8AC3E}">
        <p14:creationId xmlns:p14="http://schemas.microsoft.com/office/powerpoint/2010/main" val="24322226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pPr>
              <a:lnSpc>
                <a:spcPct val="150000"/>
              </a:lnSpc>
            </a:pPr>
            <a:r>
              <a:rPr lang="zh-CN" altLang="zh-CN" sz="2400" b="1" dirty="0">
                <a:latin typeface="+mn-ea"/>
              </a:rPr>
              <a:t>正三角形</a:t>
            </a:r>
            <a:r>
              <a:rPr lang="en-US" altLang="zh-CN" sz="2400" b="1" i="1" dirty="0">
                <a:latin typeface="+mn-ea"/>
              </a:rPr>
              <a:t>ABC</a:t>
            </a:r>
            <a:r>
              <a:rPr lang="zh-CN" altLang="zh-CN" sz="2400" b="1" dirty="0">
                <a:latin typeface="+mn-ea"/>
              </a:rPr>
              <a:t>的三个顶点上分别放有</a:t>
            </a:r>
            <a:r>
              <a:rPr lang="en-US" altLang="zh-CN" sz="2400" b="1" i="1" dirty="0">
                <a:latin typeface="+mn-ea"/>
              </a:rPr>
              <a:t>+q</a:t>
            </a:r>
            <a:r>
              <a:rPr lang="zh-CN" altLang="zh-CN" sz="2400" b="1" dirty="0">
                <a:latin typeface="+mn-ea"/>
              </a:rPr>
              <a:t>、</a:t>
            </a:r>
            <a:r>
              <a:rPr lang="en-US" altLang="zh-CN" sz="2400" b="1" i="1" dirty="0">
                <a:latin typeface="+mn-ea"/>
              </a:rPr>
              <a:t>-q</a:t>
            </a:r>
            <a:r>
              <a:rPr lang="zh-CN" altLang="zh-CN" sz="2400" b="1" dirty="0">
                <a:latin typeface="+mn-ea"/>
              </a:rPr>
              <a:t>、</a:t>
            </a:r>
            <a:r>
              <a:rPr lang="en-US" altLang="zh-CN" sz="2400" b="1" i="1" dirty="0">
                <a:latin typeface="+mn-ea"/>
              </a:rPr>
              <a:t>-q</a:t>
            </a:r>
            <a:r>
              <a:rPr lang="zh-CN" altLang="zh-CN" sz="2400" b="1" dirty="0">
                <a:latin typeface="+mn-ea"/>
              </a:rPr>
              <a:t>三个点电荷，</a:t>
            </a:r>
            <a:r>
              <a:rPr lang="en-US" altLang="zh-CN" sz="2400" b="1" i="1" dirty="0">
                <a:latin typeface="+mn-ea"/>
              </a:rPr>
              <a:t>G</a:t>
            </a:r>
            <a:r>
              <a:rPr lang="zh-CN" altLang="zh-CN" sz="2400" b="1" dirty="0">
                <a:latin typeface="+mn-ea"/>
              </a:rPr>
              <a:t>为三角形的重心，</a:t>
            </a:r>
            <a:r>
              <a:rPr lang="en-US" altLang="zh-CN" sz="2400" b="1" i="1" dirty="0">
                <a:latin typeface="+mn-ea"/>
              </a:rPr>
              <a:t>N</a:t>
            </a:r>
            <a:r>
              <a:rPr lang="zh-CN" altLang="zh-CN" sz="2400" b="1" dirty="0">
                <a:latin typeface="+mn-ea"/>
              </a:rPr>
              <a:t>为</a:t>
            </a:r>
            <a:r>
              <a:rPr lang="en-US" altLang="zh-CN" sz="2400" b="1" i="1" dirty="0">
                <a:latin typeface="+mn-ea"/>
              </a:rPr>
              <a:t>BC</a:t>
            </a:r>
            <a:r>
              <a:rPr lang="zh-CN" altLang="zh-CN" sz="2400" b="1" dirty="0">
                <a:latin typeface="+mn-ea"/>
              </a:rPr>
              <a:t>边的中点，那么，下列说法中正确的是</a:t>
            </a:r>
          </a:p>
        </p:txBody>
      </p:sp>
      <p:sp>
        <p:nvSpPr>
          <p:cNvPr id="4" name="文本框 3"/>
          <p:cNvSpPr txBox="1"/>
          <p:nvPr>
            <p:custDataLst>
              <p:tags r:id="rId3"/>
            </p:custDataLst>
          </p:nvPr>
        </p:nvSpPr>
        <p:spPr>
          <a:xfrm>
            <a:off x="1699592" y="2786063"/>
            <a:ext cx="6400800" cy="642938"/>
          </a:xfrm>
          <a:prstGeom prst="rect">
            <a:avLst/>
          </a:prstGeom>
          <a:noFill/>
        </p:spPr>
        <p:txBody>
          <a:bodyPr vert="horz" rtlCol="0" anchor="ctr" anchorCtr="0">
            <a:noAutofit/>
          </a:bodyPr>
          <a:lstStyle/>
          <a:p>
            <a:pPr>
              <a:lnSpc>
                <a:spcPct val="150000"/>
              </a:lnSpc>
            </a:pPr>
            <a:r>
              <a:rPr lang="en-US" altLang="zh-CN" sz="2400" b="1" dirty="0" smtClean="0">
                <a:latin typeface="+mn-ea"/>
              </a:rPr>
              <a:t>G</a:t>
            </a:r>
            <a:r>
              <a:rPr lang="zh-CN" altLang="zh-CN" sz="2400" b="1" dirty="0">
                <a:latin typeface="+mn-ea"/>
              </a:rPr>
              <a:t>点的场强值小于</a:t>
            </a:r>
            <a:r>
              <a:rPr lang="en-US" altLang="zh-CN" sz="2400" b="1" dirty="0">
                <a:latin typeface="+mn-ea"/>
              </a:rPr>
              <a:t>N</a:t>
            </a:r>
            <a:r>
              <a:rPr lang="zh-CN" altLang="zh-CN" sz="2400" b="1" dirty="0">
                <a:latin typeface="+mn-ea"/>
              </a:rPr>
              <a:t>点的场强值。</a:t>
            </a:r>
          </a:p>
        </p:txBody>
      </p:sp>
      <p:sp>
        <p:nvSpPr>
          <p:cNvPr id="5" name="文本框 4"/>
          <p:cNvSpPr txBox="1"/>
          <p:nvPr>
            <p:custDataLst>
              <p:tags r:id="rId4"/>
            </p:custDataLst>
          </p:nvPr>
        </p:nvSpPr>
        <p:spPr>
          <a:xfrm>
            <a:off x="1671210" y="3643313"/>
            <a:ext cx="6400800" cy="642938"/>
          </a:xfrm>
          <a:prstGeom prst="rect">
            <a:avLst/>
          </a:prstGeom>
          <a:noFill/>
        </p:spPr>
        <p:txBody>
          <a:bodyPr vert="horz" rtlCol="0" anchor="ctr" anchorCtr="0">
            <a:noAutofit/>
          </a:bodyPr>
          <a:lstStyle/>
          <a:p>
            <a:pPr>
              <a:lnSpc>
                <a:spcPct val="150000"/>
              </a:lnSpc>
            </a:pPr>
            <a:r>
              <a:rPr lang="en-US" altLang="zh-CN" sz="2400" b="1" dirty="0" smtClean="0">
                <a:latin typeface="+mn-ea"/>
              </a:rPr>
              <a:t>G</a:t>
            </a:r>
            <a:r>
              <a:rPr lang="zh-CN" altLang="zh-CN" sz="2400" b="1" dirty="0">
                <a:latin typeface="+mn-ea"/>
              </a:rPr>
              <a:t>点的场强方向由</a:t>
            </a:r>
            <a:r>
              <a:rPr lang="en-US" altLang="zh-CN" sz="2400" b="1" dirty="0">
                <a:latin typeface="+mn-ea"/>
              </a:rPr>
              <a:t>N</a:t>
            </a:r>
            <a:r>
              <a:rPr lang="zh-CN" altLang="zh-CN" sz="2400" b="1" dirty="0">
                <a:latin typeface="+mn-ea"/>
              </a:rPr>
              <a:t>点指向</a:t>
            </a:r>
            <a:r>
              <a:rPr lang="en-US" altLang="zh-CN" sz="2400" b="1" dirty="0">
                <a:latin typeface="+mn-ea"/>
              </a:rPr>
              <a:t>G</a:t>
            </a:r>
            <a:r>
              <a:rPr lang="zh-CN" altLang="zh-CN" sz="2400" b="1" dirty="0">
                <a:latin typeface="+mn-ea"/>
              </a:rPr>
              <a:t>点。</a:t>
            </a:r>
          </a:p>
        </p:txBody>
      </p:sp>
      <p:sp>
        <p:nvSpPr>
          <p:cNvPr id="6" name="文本框 5"/>
          <p:cNvSpPr txBox="1"/>
          <p:nvPr>
            <p:custDataLst>
              <p:tags r:id="rId5"/>
            </p:custDataLst>
          </p:nvPr>
        </p:nvSpPr>
        <p:spPr>
          <a:xfrm>
            <a:off x="1671210" y="4500563"/>
            <a:ext cx="6400800" cy="642938"/>
          </a:xfrm>
          <a:prstGeom prst="rect">
            <a:avLst/>
          </a:prstGeom>
          <a:noFill/>
        </p:spPr>
        <p:txBody>
          <a:bodyPr vert="horz" rtlCol="0" anchor="ctr" anchorCtr="0">
            <a:noAutofit/>
          </a:bodyPr>
          <a:lstStyle/>
          <a:p>
            <a:pPr>
              <a:lnSpc>
                <a:spcPct val="150000"/>
              </a:lnSpc>
            </a:pPr>
            <a:r>
              <a:rPr lang="en-US" altLang="zh-CN" sz="2400" b="1" dirty="0" smtClean="0">
                <a:latin typeface="+mn-ea"/>
              </a:rPr>
              <a:t>G</a:t>
            </a:r>
            <a:r>
              <a:rPr lang="zh-CN" altLang="zh-CN" sz="2400" b="1" dirty="0">
                <a:latin typeface="+mn-ea"/>
              </a:rPr>
              <a:t>点的电势低于</a:t>
            </a:r>
            <a:r>
              <a:rPr lang="en-US" altLang="zh-CN" sz="2400" b="1" dirty="0">
                <a:latin typeface="+mn-ea"/>
              </a:rPr>
              <a:t>N</a:t>
            </a:r>
            <a:r>
              <a:rPr lang="zh-CN" altLang="zh-CN" sz="2400" b="1" dirty="0">
                <a:latin typeface="+mn-ea"/>
              </a:rPr>
              <a:t>点的电势。</a:t>
            </a:r>
          </a:p>
        </p:txBody>
      </p:sp>
      <p:sp>
        <p:nvSpPr>
          <p:cNvPr id="7" name="文本框 6"/>
          <p:cNvSpPr txBox="1"/>
          <p:nvPr>
            <p:custDataLst>
              <p:tags r:id="rId6"/>
            </p:custDataLst>
          </p:nvPr>
        </p:nvSpPr>
        <p:spPr>
          <a:xfrm>
            <a:off x="1671210" y="5357813"/>
            <a:ext cx="6400800" cy="642938"/>
          </a:xfrm>
          <a:prstGeom prst="rect">
            <a:avLst/>
          </a:prstGeom>
          <a:noFill/>
        </p:spPr>
        <p:txBody>
          <a:bodyPr vert="horz" rtlCol="0" anchor="ctr" anchorCtr="0">
            <a:noAutofit/>
          </a:bodyPr>
          <a:lstStyle/>
          <a:p>
            <a:pPr>
              <a:lnSpc>
                <a:spcPct val="150000"/>
              </a:lnSpc>
            </a:pPr>
            <a:r>
              <a:rPr lang="zh-CN" altLang="zh-CN" sz="2400" b="1" dirty="0">
                <a:latin typeface="+mn-ea"/>
              </a:rPr>
              <a:t>由</a:t>
            </a:r>
            <a:r>
              <a:rPr lang="en-US" altLang="zh-CN" sz="2400" b="1" dirty="0">
                <a:latin typeface="+mn-ea"/>
              </a:rPr>
              <a:t>G</a:t>
            </a:r>
            <a:r>
              <a:rPr lang="zh-CN" altLang="zh-CN" sz="2400" b="1" dirty="0">
                <a:latin typeface="+mn-ea"/>
              </a:rPr>
              <a:t>到</a:t>
            </a:r>
            <a:r>
              <a:rPr lang="en-US" altLang="zh-CN" sz="2400" b="1" dirty="0">
                <a:latin typeface="+mn-ea"/>
              </a:rPr>
              <a:t>N</a:t>
            </a:r>
            <a:r>
              <a:rPr lang="zh-CN" altLang="zh-CN" sz="2400" b="1" dirty="0">
                <a:latin typeface="+mn-ea"/>
              </a:rPr>
              <a:t>的电势变化是逐渐降低</a:t>
            </a:r>
          </a:p>
        </p:txBody>
      </p:sp>
      <p:sp>
        <p:nvSpPr>
          <p:cNvPr id="8" name="椭圆 7"/>
          <p:cNvSpPr>
            <a:spLocks noChangeAspect="1"/>
          </p:cNvSpPr>
          <p:nvPr>
            <p:custDataLst>
              <p:tags r:id="rId7"/>
            </p:custDataLst>
          </p:nvPr>
        </p:nvSpPr>
        <p:spPr>
          <a:xfrm>
            <a:off x="985217"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95683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95683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956835" y="54221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pic>
        <p:nvPicPr>
          <p:cNvPr id="19" name="图片 18"/>
          <p:cNvPicPr/>
          <p:nvPr/>
        </p:nvPicPr>
        <p:blipFill>
          <a:blip r:embed="rId19">
            <a:extLst>
              <a:ext uri="{28A0092B-C50C-407E-A947-70E740481C1C}">
                <a14:useLocalDpi xmlns:a14="http://schemas.microsoft.com/office/drawing/2010/main" val="0"/>
              </a:ext>
            </a:extLst>
          </a:blip>
          <a:stretch>
            <a:fillRect/>
          </a:stretch>
        </p:blipFill>
        <p:spPr>
          <a:xfrm>
            <a:off x="6372200" y="2924944"/>
            <a:ext cx="2225362" cy="2160240"/>
          </a:xfrm>
          <a:prstGeom prst="rect">
            <a:avLst/>
          </a:prstGeom>
        </p:spPr>
      </p:pic>
      <p:grpSp>
        <p:nvGrpSpPr>
          <p:cNvPr id="17" name="组合 16"/>
          <p:cNvGrpSpPr/>
          <p:nvPr>
            <p:custDataLst>
              <p:tags r:id="rId12"/>
            </p:custDataLst>
          </p:nvPr>
        </p:nvGrpSpPr>
        <p:grpSpPr>
          <a:xfrm>
            <a:off x="0" y="0"/>
            <a:ext cx="9144000" cy="635000"/>
            <a:chOff x="0" y="0"/>
            <a:chExt cx="9144000" cy="635000"/>
          </a:xfrm>
        </p:grpSpPr>
        <p:sp>
          <p:nvSpPr>
            <p:cNvPr id="13" name="TitleBackground"/>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2" name="图片 1"/>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1991241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79512" y="332656"/>
            <a:ext cx="8784976" cy="2662267"/>
          </a:xfrm>
          <a:prstGeom prst="rect">
            <a:avLst/>
          </a:prstGeom>
          <a:noFill/>
        </p:spPr>
        <p:txBody>
          <a:bodyPr wrap="square" rtlCol="0">
            <a:spAutoFit/>
          </a:bodyPr>
          <a:lstStyle/>
          <a:p>
            <a:pPr>
              <a:lnSpc>
                <a:spcPct val="125000"/>
              </a:lnSpc>
            </a:pPr>
            <a:r>
              <a:rPr lang="zh-CN" altLang="en-US" sz="3200" b="1" dirty="0" smtClean="0">
                <a:solidFill>
                  <a:srgbClr val="0000FF"/>
                </a:solidFill>
              </a:rPr>
              <a:t>例</a:t>
            </a:r>
            <a:r>
              <a:rPr lang="en-US" altLang="zh-CN" sz="3200" b="1" dirty="0" smtClean="0">
                <a:solidFill>
                  <a:srgbClr val="0000FF"/>
                </a:solidFill>
              </a:rPr>
              <a:t>17.3 </a:t>
            </a:r>
            <a:r>
              <a:rPr lang="zh-CN" altLang="en-US" sz="3200" b="1" dirty="0" smtClean="0">
                <a:solidFill>
                  <a:srgbClr val="0000FF"/>
                </a:solidFill>
              </a:rPr>
              <a:t>电池供电灯</a:t>
            </a:r>
            <a:endParaRPr lang="en-US" altLang="zh-CN" sz="3200" b="1" dirty="0" smtClean="0">
              <a:solidFill>
                <a:srgbClr val="0000FF"/>
              </a:solidFill>
            </a:endParaRPr>
          </a:p>
          <a:p>
            <a:pPr>
              <a:lnSpc>
                <a:spcPct val="150000"/>
              </a:lnSpc>
              <a:spcBef>
                <a:spcPts val="1200"/>
              </a:spcBef>
            </a:pPr>
            <a:r>
              <a:rPr lang="zh-CN" altLang="en-US" sz="2600" b="1" dirty="0" smtClean="0">
                <a:latin typeface="Times New Roman" panose="02020603050405020304" pitchFamily="18" charset="0"/>
                <a:cs typeface="Times New Roman" panose="02020603050405020304" pitchFamily="18" charset="0"/>
              </a:rPr>
              <a:t>电池供电灯接通</a:t>
            </a:r>
            <a:r>
              <a:rPr lang="en-US" altLang="zh-CN" sz="2600" b="1" dirty="0" smtClean="0">
                <a:latin typeface="Times New Roman" panose="02020603050405020304" pitchFamily="18" charset="0"/>
                <a:cs typeface="Times New Roman" panose="02020603050405020304" pitchFamily="18" charset="0"/>
              </a:rPr>
              <a:t>5.0min</a:t>
            </a:r>
            <a:r>
              <a:rPr lang="zh-CN" altLang="en-US" sz="2600" b="1" dirty="0" smtClean="0">
                <a:latin typeface="Times New Roman" panose="02020603050405020304" pitchFamily="18" charset="0"/>
                <a:cs typeface="Times New Roman" panose="02020603050405020304" pitchFamily="18" charset="0"/>
              </a:rPr>
              <a:t>。在接通时间内，共有</a:t>
            </a:r>
            <a:r>
              <a:rPr lang="en-US" altLang="zh-CN" sz="2600" b="1" dirty="0" smtClean="0">
                <a:latin typeface="Times New Roman" panose="02020603050405020304" pitchFamily="18" charset="0"/>
                <a:cs typeface="Times New Roman" panose="02020603050405020304" pitchFamily="18" charset="0"/>
              </a:rPr>
              <a:t>-8.0×10</a:t>
            </a:r>
            <a:r>
              <a:rPr lang="en-US" altLang="zh-CN" sz="2600" b="1" baseline="30000" dirty="0" smtClean="0">
                <a:latin typeface="Times New Roman" panose="02020603050405020304" pitchFamily="18" charset="0"/>
                <a:cs typeface="Times New Roman" panose="02020603050405020304" pitchFamily="18" charset="0"/>
              </a:rPr>
              <a:t>2</a:t>
            </a:r>
            <a:r>
              <a:rPr lang="en-US" altLang="zh-CN" sz="2600" b="1" dirty="0" smtClean="0">
                <a:latin typeface="Times New Roman" panose="02020603050405020304" pitchFamily="18" charset="0"/>
                <a:cs typeface="Times New Roman" panose="02020603050405020304" pitchFamily="18" charset="0"/>
              </a:rPr>
              <a:t>C</a:t>
            </a:r>
            <a:r>
              <a:rPr lang="zh-CN" altLang="en-US" sz="2600" b="1" dirty="0" smtClean="0">
                <a:latin typeface="Times New Roman" panose="02020603050405020304" pitchFamily="18" charset="0"/>
                <a:cs typeface="Times New Roman" panose="02020603050405020304" pitchFamily="18" charset="0"/>
              </a:rPr>
              <a:t>的电子流过灯泡，</a:t>
            </a:r>
            <a:r>
              <a:rPr lang="en-US" altLang="zh-CN" sz="2600" b="1" dirty="0" smtClean="0">
                <a:latin typeface="Times New Roman" panose="02020603050405020304" pitchFamily="18" charset="0"/>
                <a:cs typeface="Times New Roman" panose="02020603050405020304" pitchFamily="18" charset="0"/>
              </a:rPr>
              <a:t>9600J</a:t>
            </a:r>
            <a:r>
              <a:rPr lang="zh-CN" altLang="en-US" sz="2600" b="1" dirty="0" smtClean="0">
                <a:latin typeface="Times New Roman" panose="02020603050405020304" pitchFamily="18" charset="0"/>
                <a:cs typeface="Times New Roman" panose="02020603050405020304" pitchFamily="18" charset="0"/>
              </a:rPr>
              <a:t>的电势能被转变为光和热。求电子流过的电势差是多少？</a:t>
            </a:r>
            <a:endParaRPr lang="zh-CN" altLang="en-US" sz="2600" b="1" dirty="0">
              <a:latin typeface="Times New Roman" panose="02020603050405020304" pitchFamily="18" charset="0"/>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972850166"/>
              </p:ext>
            </p:extLst>
          </p:nvPr>
        </p:nvGraphicFramePr>
        <p:xfrm>
          <a:off x="1763688" y="3356992"/>
          <a:ext cx="4643470" cy="928694"/>
        </p:xfrm>
        <a:graphic>
          <a:graphicData uri="http://schemas.openxmlformats.org/presentationml/2006/ole">
            <mc:AlternateContent xmlns:mc="http://schemas.openxmlformats.org/markup-compatibility/2006">
              <mc:Choice xmlns:v="urn:schemas-microsoft-com:vml" Requires="v">
                <p:oleObj spid="_x0000_s37086" name="Equation" r:id="rId3" imgW="2158920" imgH="431640" progId="Equation.DSMT4">
                  <p:embed/>
                </p:oleObj>
              </mc:Choice>
              <mc:Fallback>
                <p:oleObj name="Equation" r:id="rId3" imgW="2158920" imgH="431640" progId="Equation.DSMT4">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8" y="3356992"/>
                        <a:ext cx="4643470" cy="9286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100418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633284" y="332656"/>
            <a:ext cx="8280920" cy="2154436"/>
          </a:xfrm>
          <a:prstGeom prst="rect">
            <a:avLst/>
          </a:prstGeom>
          <a:noFill/>
        </p:spPr>
        <p:txBody>
          <a:bodyPr wrap="square" rtlCol="0">
            <a:spAutoFit/>
          </a:bodyPr>
          <a:lstStyle/>
          <a:p>
            <a:pPr>
              <a:lnSpc>
                <a:spcPct val="125000"/>
              </a:lnSpc>
              <a:spcAft>
                <a:spcPts val="1200"/>
              </a:spcAft>
            </a:pPr>
            <a:r>
              <a:rPr lang="zh-CN" altLang="en-US" sz="3200" b="1" dirty="0" smtClean="0">
                <a:solidFill>
                  <a:srgbClr val="0000FF"/>
                </a:solidFill>
              </a:rPr>
              <a:t>练习</a:t>
            </a:r>
            <a:r>
              <a:rPr lang="en-US" altLang="zh-CN" sz="3200" b="1" dirty="0" smtClean="0">
                <a:solidFill>
                  <a:srgbClr val="0000FF"/>
                </a:solidFill>
              </a:rPr>
              <a:t>17.3 </a:t>
            </a:r>
            <a:r>
              <a:rPr lang="zh-CN" altLang="en-US" sz="3200" b="1" dirty="0" smtClean="0">
                <a:solidFill>
                  <a:srgbClr val="0000FF"/>
                </a:solidFill>
              </a:rPr>
              <a:t>电子束</a:t>
            </a:r>
            <a:endParaRPr lang="en-US" altLang="zh-CN" sz="3200" b="1" dirty="0" smtClean="0">
              <a:solidFill>
                <a:srgbClr val="0000FF"/>
              </a:solidFill>
            </a:endParaRPr>
          </a:p>
          <a:p>
            <a:pPr>
              <a:lnSpc>
                <a:spcPct val="150000"/>
              </a:lnSpc>
            </a:pPr>
            <a:r>
              <a:rPr lang="zh-CN" altLang="en-US" sz="2800" dirty="0" smtClean="0"/>
              <a:t>      </a:t>
            </a:r>
            <a:r>
              <a:rPr lang="zh-CN" altLang="en-US" sz="2800" b="1" dirty="0" smtClean="0"/>
              <a:t>电子束经过一对带有相反电荷的平行板时将被偏转。哪个板的电势较高？</a:t>
            </a:r>
            <a:endParaRPr lang="zh-CN" altLang="en-US" sz="2800" b="1" dirty="0"/>
          </a:p>
        </p:txBody>
      </p:sp>
      <p:pic>
        <p:nvPicPr>
          <p:cNvPr id="501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2" y="2348880"/>
            <a:ext cx="4615839" cy="2520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1095058" y="5013176"/>
            <a:ext cx="4104456" cy="461665"/>
          </a:xfrm>
          <a:prstGeom prst="rect">
            <a:avLst/>
          </a:prstGeom>
          <a:noFill/>
        </p:spPr>
        <p:txBody>
          <a:bodyPr wrap="square" rtlCol="0">
            <a:spAutoFit/>
          </a:bodyPr>
          <a:lstStyle/>
          <a:p>
            <a:r>
              <a:rPr lang="zh-CN" altLang="en-US" sz="2400" b="1" smtClean="0"/>
              <a:t>电场</a:t>
            </a:r>
            <a:r>
              <a:rPr lang="en-US" altLang="zh-CN" sz="2400" b="1" smtClean="0"/>
              <a:t>E</a:t>
            </a:r>
            <a:r>
              <a:rPr lang="zh-CN" altLang="en-US" sz="2400" b="1" smtClean="0"/>
              <a:t>指向电势</a:t>
            </a:r>
            <a:r>
              <a:rPr lang="en-US" altLang="zh-CN" sz="2400" b="1" smtClean="0"/>
              <a:t>V</a:t>
            </a:r>
            <a:r>
              <a:rPr lang="zh-CN" altLang="en-US" sz="2400" b="1" smtClean="0"/>
              <a:t>减小的方向。</a:t>
            </a:r>
            <a:endParaRPr lang="zh-CN" altLang="en-US" sz="2400" b="1"/>
          </a:p>
        </p:txBody>
      </p:sp>
      <p:sp>
        <p:nvSpPr>
          <p:cNvPr id="4" name="TextBox 3"/>
          <p:cNvSpPr txBox="1"/>
          <p:nvPr/>
        </p:nvSpPr>
        <p:spPr>
          <a:xfrm>
            <a:off x="1087066" y="5614401"/>
            <a:ext cx="7560840" cy="461665"/>
          </a:xfrm>
          <a:prstGeom prst="rect">
            <a:avLst/>
          </a:prstGeom>
          <a:noFill/>
        </p:spPr>
        <p:txBody>
          <a:bodyPr wrap="square" rtlCol="0">
            <a:spAutoFit/>
          </a:bodyPr>
          <a:lstStyle/>
          <a:p>
            <a:r>
              <a:rPr lang="zh-CN" altLang="en-US" sz="2400" b="1" smtClean="0"/>
              <a:t>下板带正电，电场线竖直向上，所以下极板的电势高。</a:t>
            </a:r>
            <a:endParaRPr lang="zh-CN" altLang="en-US" sz="2400" b="1"/>
          </a:p>
        </p:txBody>
      </p:sp>
    </p:spTree>
    <p:extLst>
      <p:ext uri="{BB962C8B-B14F-4D97-AF65-F5344CB8AC3E}">
        <p14:creationId xmlns:p14="http://schemas.microsoft.com/office/powerpoint/2010/main" val="18657683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370" name="日期占位符 1"/>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Arial" pitchFamily="34" charset="0"/>
                <a:ea typeface="宋体" pitchFamily="2" charset="-122"/>
              </a:defRPr>
            </a:lvl1pPr>
            <a:lvl2pPr marL="742950" indent="-285750">
              <a:defRPr sz="2800" b="1">
                <a:solidFill>
                  <a:schemeClr val="tx1"/>
                </a:solidFill>
                <a:latin typeface="Arial" pitchFamily="34" charset="0"/>
                <a:ea typeface="宋体" pitchFamily="2" charset="-122"/>
              </a:defRPr>
            </a:lvl2pPr>
            <a:lvl3pPr marL="1143000" indent="-228600">
              <a:defRPr sz="2800" b="1">
                <a:solidFill>
                  <a:schemeClr val="tx1"/>
                </a:solidFill>
                <a:latin typeface="Arial" pitchFamily="34" charset="0"/>
                <a:ea typeface="宋体" pitchFamily="2" charset="-122"/>
              </a:defRPr>
            </a:lvl3pPr>
            <a:lvl4pPr marL="1600200" indent="-228600">
              <a:defRPr sz="2800" b="1">
                <a:solidFill>
                  <a:schemeClr val="tx1"/>
                </a:solidFill>
                <a:latin typeface="Arial" pitchFamily="34" charset="0"/>
                <a:ea typeface="宋体" pitchFamily="2" charset="-122"/>
              </a:defRPr>
            </a:lvl4pPr>
            <a:lvl5pPr marL="2057400" indent="-22860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800" b="1">
                <a:solidFill>
                  <a:schemeClr val="tx1"/>
                </a:solidFill>
                <a:latin typeface="Arial" pitchFamily="34" charset="0"/>
                <a:ea typeface="宋体" pitchFamily="2" charset="-122"/>
              </a:defRPr>
            </a:lvl9pPr>
          </a:lstStyle>
          <a:p>
            <a:fld id="{7BB1C92B-B6C9-43AE-9F06-0133399ECE09}" type="datetime1">
              <a:rPr lang="zh-CN" altLang="en-US" sz="1400" b="0" smtClean="0">
                <a:solidFill>
                  <a:schemeClr val="bg2"/>
                </a:solidFill>
              </a:rPr>
              <a:pPr/>
              <a:t>2021/4/18</a:t>
            </a:fld>
            <a:endParaRPr lang="en-US" altLang="zh-CN" sz="1400" b="0" dirty="0" smtClean="0">
              <a:solidFill>
                <a:schemeClr val="bg2"/>
              </a:solidFill>
            </a:endParaRPr>
          </a:p>
        </p:txBody>
      </p:sp>
      <p:sp>
        <p:nvSpPr>
          <p:cNvPr id="1180686" name="Text Box 14"/>
          <p:cNvSpPr txBox="1">
            <a:spLocks noChangeArrowheads="1"/>
          </p:cNvSpPr>
          <p:nvPr/>
        </p:nvSpPr>
        <p:spPr bwMode="auto">
          <a:xfrm>
            <a:off x="543719" y="260648"/>
            <a:ext cx="6697662" cy="523220"/>
          </a:xfrm>
          <a:prstGeom prst="rect">
            <a:avLst/>
          </a:prstGeom>
          <a:noFill/>
          <a:ln w="9525">
            <a:noFill/>
            <a:miter lim="800000"/>
            <a:headEnd/>
            <a:tailEnd/>
          </a:ln>
          <a:effectLst/>
        </p:spPr>
        <p:txBody>
          <a:bodyPr>
            <a:spAutoFit/>
          </a:bodyPr>
          <a:lstStyle/>
          <a:p>
            <a:pPr eaLnBrk="1" hangingPunct="1">
              <a:spcBef>
                <a:spcPct val="50000"/>
              </a:spcBef>
              <a:defRPr/>
            </a:pPr>
            <a:r>
              <a:rPr kumimoji="1" lang="zh-CN" altLang="en-US" sz="2800" b="1" dirty="0" smtClean="0">
                <a:solidFill>
                  <a:srgbClr val="0000FF"/>
                </a:solidFill>
                <a:effectLst>
                  <a:outerShdw blurRad="38100" dist="38100" dir="2700000" algn="tl">
                    <a:srgbClr val="000000"/>
                  </a:outerShdw>
                </a:effectLst>
                <a:latin typeface="黑体" pitchFamily="2" charset="-122"/>
                <a:ea typeface="黑体" pitchFamily="2" charset="-122"/>
              </a:rPr>
              <a:t>例 </a:t>
            </a:r>
            <a:r>
              <a:rPr kumimoji="1" lang="zh-CN" altLang="en-US" sz="2800" b="1" dirty="0" smtClean="0">
                <a:solidFill>
                  <a:srgbClr val="0000FF"/>
                </a:solidFill>
                <a:latin typeface="黑体" pitchFamily="2" charset="-122"/>
                <a:ea typeface="黑体" pitchFamily="2" charset="-122"/>
              </a:rPr>
              <a:t>求点电荷电场</a:t>
            </a:r>
            <a:r>
              <a:rPr kumimoji="1" lang="zh-CN" altLang="en-US" sz="2800" b="1" dirty="0">
                <a:solidFill>
                  <a:srgbClr val="0000FF"/>
                </a:solidFill>
                <a:latin typeface="黑体" pitchFamily="2" charset="-122"/>
                <a:ea typeface="黑体" pitchFamily="2" charset="-122"/>
              </a:rPr>
              <a:t>中的电势分布</a:t>
            </a:r>
            <a:r>
              <a:rPr kumimoji="1" lang="zh-CN" altLang="en-US" sz="2800" b="1" dirty="0">
                <a:solidFill>
                  <a:srgbClr val="0000FF"/>
                </a:solidFill>
                <a:latin typeface="宋体" pitchFamily="2" charset="-122"/>
              </a:rPr>
              <a:t>。</a:t>
            </a:r>
          </a:p>
        </p:txBody>
      </p:sp>
      <p:grpSp>
        <p:nvGrpSpPr>
          <p:cNvPr id="6" name="Group 23"/>
          <p:cNvGrpSpPr>
            <a:grpSpLocks/>
          </p:cNvGrpSpPr>
          <p:nvPr/>
        </p:nvGrpSpPr>
        <p:grpSpPr bwMode="auto">
          <a:xfrm>
            <a:off x="871538" y="2347913"/>
            <a:ext cx="2895600" cy="2740025"/>
            <a:chOff x="816" y="1728"/>
            <a:chExt cx="1824" cy="1726"/>
          </a:xfrm>
        </p:grpSpPr>
        <p:graphicFrame>
          <p:nvGraphicFramePr>
            <p:cNvPr id="58378" name="Object 24"/>
            <p:cNvGraphicFramePr>
              <a:graphicFrameLocks noChangeAspect="1"/>
            </p:cNvGraphicFramePr>
            <p:nvPr/>
          </p:nvGraphicFramePr>
          <p:xfrm>
            <a:off x="816" y="1728"/>
            <a:ext cx="192" cy="238"/>
          </p:xfrm>
          <a:graphic>
            <a:graphicData uri="http://schemas.openxmlformats.org/presentationml/2006/ole">
              <mc:AlternateContent xmlns:mc="http://schemas.openxmlformats.org/markup-compatibility/2006">
                <mc:Choice xmlns:v="urn:schemas-microsoft-com:vml" Requires="v">
                  <p:oleObj spid="_x0000_s63610" name="Equation" r:id="rId4" imgW="164885" imgH="164885" progId="Equation.3">
                    <p:embed/>
                  </p:oleObj>
                </mc:Choice>
                <mc:Fallback>
                  <p:oleObj name="Equation" r:id="rId4" imgW="164885" imgH="164885"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6" y="1728"/>
                          <a:ext cx="192" cy="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8379" name="Line 25"/>
            <p:cNvSpPr>
              <a:spLocks noChangeShapeType="1"/>
            </p:cNvSpPr>
            <p:nvPr/>
          </p:nvSpPr>
          <p:spPr bwMode="auto">
            <a:xfrm>
              <a:off x="1056" y="1817"/>
              <a:ext cx="0" cy="1355"/>
            </a:xfrm>
            <a:prstGeom prst="line">
              <a:avLst/>
            </a:prstGeom>
            <a:noFill/>
            <a:ln w="28575">
              <a:solidFill>
                <a:srgbClr val="000000"/>
              </a:solidFill>
              <a:round/>
              <a:headEnd type="triangle" w="med"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380" name="Freeform 26"/>
            <p:cNvSpPr>
              <a:spLocks/>
            </p:cNvSpPr>
            <p:nvPr/>
          </p:nvSpPr>
          <p:spPr bwMode="auto">
            <a:xfrm>
              <a:off x="1107" y="2064"/>
              <a:ext cx="1341" cy="1008"/>
            </a:xfrm>
            <a:custGeom>
              <a:avLst/>
              <a:gdLst>
                <a:gd name="T0" fmla="*/ 0 w 1341"/>
                <a:gd name="T1" fmla="*/ 0 h 1008"/>
                <a:gd name="T2" fmla="*/ 97 w 1341"/>
                <a:gd name="T3" fmla="*/ 310 h 1008"/>
                <a:gd name="T4" fmla="*/ 324 w 1341"/>
                <a:gd name="T5" fmla="*/ 641 h 1008"/>
                <a:gd name="T6" fmla="*/ 761 w 1341"/>
                <a:gd name="T7" fmla="*/ 895 h 1008"/>
                <a:gd name="T8" fmla="*/ 1341 w 1341"/>
                <a:gd name="T9" fmla="*/ 1008 h 1008"/>
                <a:gd name="T10" fmla="*/ 0 60000 65536"/>
                <a:gd name="T11" fmla="*/ 0 60000 65536"/>
                <a:gd name="T12" fmla="*/ 0 60000 65536"/>
                <a:gd name="T13" fmla="*/ 0 60000 65536"/>
                <a:gd name="T14" fmla="*/ 0 60000 65536"/>
                <a:gd name="T15" fmla="*/ 0 w 1341"/>
                <a:gd name="T16" fmla="*/ 0 h 1008"/>
                <a:gd name="T17" fmla="*/ 1341 w 1341"/>
                <a:gd name="T18" fmla="*/ 1008 h 1008"/>
              </a:gdLst>
              <a:ahLst/>
              <a:cxnLst>
                <a:cxn ang="T10">
                  <a:pos x="T0" y="T1"/>
                </a:cxn>
                <a:cxn ang="T11">
                  <a:pos x="T2" y="T3"/>
                </a:cxn>
                <a:cxn ang="T12">
                  <a:pos x="T4" y="T5"/>
                </a:cxn>
                <a:cxn ang="T13">
                  <a:pos x="T6" y="T7"/>
                </a:cxn>
                <a:cxn ang="T14">
                  <a:pos x="T8" y="T9"/>
                </a:cxn>
              </a:cxnLst>
              <a:rect l="T15" t="T16" r="T17" b="T18"/>
              <a:pathLst>
                <a:path w="1341" h="1008">
                  <a:moveTo>
                    <a:pt x="0" y="0"/>
                  </a:moveTo>
                  <a:cubicBezTo>
                    <a:pt x="16" y="52"/>
                    <a:pt x="43" y="203"/>
                    <a:pt x="97" y="310"/>
                  </a:cubicBezTo>
                  <a:cubicBezTo>
                    <a:pt x="151" y="417"/>
                    <a:pt x="213" y="544"/>
                    <a:pt x="324" y="641"/>
                  </a:cubicBezTo>
                  <a:cubicBezTo>
                    <a:pt x="435" y="738"/>
                    <a:pt x="591" y="834"/>
                    <a:pt x="761" y="895"/>
                  </a:cubicBezTo>
                  <a:cubicBezTo>
                    <a:pt x="931" y="956"/>
                    <a:pt x="1220" y="985"/>
                    <a:pt x="1341" y="1008"/>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58381" name="Object 27"/>
            <p:cNvGraphicFramePr>
              <a:graphicFrameLocks noChangeAspect="1"/>
            </p:cNvGraphicFramePr>
            <p:nvPr/>
          </p:nvGraphicFramePr>
          <p:xfrm>
            <a:off x="864" y="3109"/>
            <a:ext cx="1728" cy="345"/>
          </p:xfrm>
          <a:graphic>
            <a:graphicData uri="http://schemas.openxmlformats.org/presentationml/2006/ole">
              <mc:AlternateContent xmlns:mc="http://schemas.openxmlformats.org/markup-compatibility/2006">
                <mc:Choice xmlns:v="urn:schemas-microsoft-com:vml" Requires="v">
                  <p:oleObj spid="_x0000_s63611" name="Equation" r:id="rId6" imgW="787058" imgH="215806" progId="Equation.3">
                    <p:embed/>
                  </p:oleObj>
                </mc:Choice>
                <mc:Fallback>
                  <p:oleObj name="Equation" r:id="rId6" imgW="787058" imgH="215806"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4" y="3109"/>
                          <a:ext cx="1728"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382" name="Object 28"/>
            <p:cNvGraphicFramePr>
              <a:graphicFrameLocks noChangeAspect="1"/>
            </p:cNvGraphicFramePr>
            <p:nvPr/>
          </p:nvGraphicFramePr>
          <p:xfrm>
            <a:off x="1440" y="2400"/>
            <a:ext cx="544" cy="329"/>
          </p:xfrm>
          <a:graphic>
            <a:graphicData uri="http://schemas.openxmlformats.org/presentationml/2006/ole">
              <mc:AlternateContent xmlns:mc="http://schemas.openxmlformats.org/markup-compatibility/2006">
                <mc:Choice xmlns:v="urn:schemas-microsoft-com:vml" Requires="v">
                  <p:oleObj spid="_x0000_s63612" name="公式" r:id="rId8" imgW="335280" imgH="198192" progId="Equation.3">
                    <p:embed/>
                  </p:oleObj>
                </mc:Choice>
                <mc:Fallback>
                  <p:oleObj name="公式" r:id="rId8" imgW="335280" imgH="198192"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40" y="2400"/>
                          <a:ext cx="544" cy="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8383" name="Line 29"/>
            <p:cNvSpPr>
              <a:spLocks noChangeShapeType="1"/>
            </p:cNvSpPr>
            <p:nvPr/>
          </p:nvSpPr>
          <p:spPr bwMode="auto">
            <a:xfrm>
              <a:off x="1056" y="3168"/>
              <a:ext cx="1584"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pSp>
      <p:pic>
        <p:nvPicPr>
          <p:cNvPr id="62488" name="Picture 104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5535" y="1325388"/>
            <a:ext cx="8551863" cy="4712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0785046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5006" y="260648"/>
            <a:ext cx="3057247" cy="584775"/>
          </a:xfrm>
          <a:prstGeom prst="rect">
            <a:avLst/>
          </a:prstGeom>
          <a:noFill/>
        </p:spPr>
        <p:txBody>
          <a:bodyPr wrap="none" rtlCol="0">
            <a:spAutoFit/>
          </a:bodyPr>
          <a:lstStyle/>
          <a:p>
            <a:r>
              <a:rPr lang="en-US" altLang="zh-CN" sz="3200" dirty="0" smtClean="0">
                <a:latin typeface="黑体" pitchFamily="49" charset="-122"/>
                <a:ea typeface="黑体" pitchFamily="49" charset="-122"/>
              </a:rPr>
              <a:t>4.</a:t>
            </a:r>
            <a:r>
              <a:rPr lang="zh-CN" altLang="en-US" sz="3200" dirty="0" smtClean="0">
                <a:solidFill>
                  <a:srgbClr val="FF0000"/>
                </a:solidFill>
                <a:latin typeface="黑体" pitchFamily="49" charset="-122"/>
                <a:ea typeface="黑体" pitchFamily="49" charset="-122"/>
              </a:rPr>
              <a:t>点电荷</a:t>
            </a:r>
            <a:r>
              <a:rPr lang="zh-CN" altLang="en-US" sz="3200" dirty="0" smtClean="0">
                <a:latin typeface="黑体" pitchFamily="49" charset="-122"/>
                <a:ea typeface="黑体" pitchFamily="49" charset="-122"/>
              </a:rPr>
              <a:t>的电势</a:t>
            </a:r>
            <a:endParaRPr lang="zh-CN" altLang="en-US" sz="3200" dirty="0"/>
          </a:p>
        </p:txBody>
      </p:sp>
      <p:grpSp>
        <p:nvGrpSpPr>
          <p:cNvPr id="10" name="组合 9"/>
          <p:cNvGrpSpPr/>
          <p:nvPr/>
        </p:nvGrpSpPr>
        <p:grpSpPr>
          <a:xfrm>
            <a:off x="1043608" y="785813"/>
            <a:ext cx="3526805" cy="960437"/>
            <a:chOff x="1259632" y="2045366"/>
            <a:chExt cx="3526805" cy="960437"/>
          </a:xfrm>
        </p:grpSpPr>
        <p:graphicFrame>
          <p:nvGraphicFramePr>
            <p:cNvPr id="3" name="对象 2"/>
            <p:cNvGraphicFramePr>
              <a:graphicFrameLocks noChangeAspect="1"/>
            </p:cNvGraphicFramePr>
            <p:nvPr>
              <p:extLst>
                <p:ext uri="{D42A27DB-BD31-4B8C-83A1-F6EECF244321}">
                  <p14:modId xmlns:p14="http://schemas.microsoft.com/office/powerpoint/2010/main" val="2128744034"/>
                </p:ext>
              </p:extLst>
            </p:nvPr>
          </p:nvGraphicFramePr>
          <p:xfrm>
            <a:off x="3008437" y="2045366"/>
            <a:ext cx="1778000" cy="960437"/>
          </p:xfrm>
          <a:graphic>
            <a:graphicData uri="http://schemas.openxmlformats.org/presentationml/2006/ole">
              <mc:AlternateContent xmlns:mc="http://schemas.openxmlformats.org/markup-compatibility/2006">
                <mc:Choice xmlns:v="urn:schemas-microsoft-com:vml" Requires="v">
                  <p:oleObj spid="_x0000_s65668" name="Equation" r:id="rId3" imgW="660240" imgH="393480" progId="Equation.DSMT4">
                    <p:embed/>
                  </p:oleObj>
                </mc:Choice>
                <mc:Fallback>
                  <p:oleObj name="Equation" r:id="rId3" imgW="660240" imgH="393480" progId="Equation.DSMT4">
                    <p:embed/>
                    <p:pic>
                      <p:nvPicPr>
                        <p:cNvPr id="0" name="Picture 366"/>
                        <p:cNvPicPr>
                          <a:picLocks noChangeAspect="1" noChangeArrowheads="1"/>
                        </p:cNvPicPr>
                        <p:nvPr/>
                      </p:nvPicPr>
                      <p:blipFill>
                        <a:blip r:embed="rId4"/>
                        <a:srcRect/>
                        <a:stretch>
                          <a:fillRect/>
                        </a:stretch>
                      </p:blipFill>
                      <p:spPr bwMode="auto">
                        <a:xfrm>
                          <a:off x="3008437" y="2045366"/>
                          <a:ext cx="1778000" cy="960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1259632" y="2276872"/>
              <a:ext cx="1620957" cy="523220"/>
            </a:xfrm>
            <a:prstGeom prst="rect">
              <a:avLst/>
            </a:prstGeom>
            <a:noFill/>
          </p:spPr>
          <p:txBody>
            <a:bodyPr wrap="none" rtlCol="0">
              <a:spAutoFit/>
            </a:bodyPr>
            <a:lstStyle/>
            <a:p>
              <a:r>
                <a:rPr lang="zh-CN" altLang="en-US" sz="2800" dirty="0" smtClean="0">
                  <a:latin typeface="黑体" pitchFamily="49" charset="-122"/>
                  <a:ea typeface="黑体" pitchFamily="49" charset="-122"/>
                </a:rPr>
                <a:t>电势能：</a:t>
              </a:r>
              <a:endParaRPr lang="zh-CN" altLang="en-US" sz="2800" dirty="0">
                <a:latin typeface="黑体" pitchFamily="49" charset="-122"/>
                <a:ea typeface="黑体" pitchFamily="49" charset="-122"/>
              </a:endParaRPr>
            </a:p>
          </p:txBody>
        </p:sp>
      </p:grpSp>
      <p:grpSp>
        <p:nvGrpSpPr>
          <p:cNvPr id="15" name="组合 14"/>
          <p:cNvGrpSpPr/>
          <p:nvPr/>
        </p:nvGrpSpPr>
        <p:grpSpPr>
          <a:xfrm>
            <a:off x="1123738" y="1718212"/>
            <a:ext cx="3162510" cy="1139284"/>
            <a:chOff x="1259632" y="3140968"/>
            <a:chExt cx="3069358" cy="996408"/>
          </a:xfrm>
        </p:grpSpPr>
        <p:graphicFrame>
          <p:nvGraphicFramePr>
            <p:cNvPr id="5" name="对象 4"/>
            <p:cNvGraphicFramePr>
              <a:graphicFrameLocks noChangeAspect="1"/>
            </p:cNvGraphicFramePr>
            <p:nvPr>
              <p:extLst>
                <p:ext uri="{D42A27DB-BD31-4B8C-83A1-F6EECF244321}">
                  <p14:modId xmlns:p14="http://schemas.microsoft.com/office/powerpoint/2010/main" val="2764715916"/>
                </p:ext>
              </p:extLst>
            </p:nvPr>
          </p:nvGraphicFramePr>
          <p:xfrm>
            <a:off x="2987824" y="3140968"/>
            <a:ext cx="1341166" cy="996408"/>
          </p:xfrm>
          <a:graphic>
            <a:graphicData uri="http://schemas.openxmlformats.org/presentationml/2006/ole">
              <mc:AlternateContent xmlns:mc="http://schemas.openxmlformats.org/markup-compatibility/2006">
                <mc:Choice xmlns:v="urn:schemas-microsoft-com:vml" Requires="v">
                  <p:oleObj spid="_x0000_s65669" name="Equation" r:id="rId5" imgW="533169" imgH="393529" progId="Equation.DSMT4">
                    <p:embed/>
                  </p:oleObj>
                </mc:Choice>
                <mc:Fallback>
                  <p:oleObj name="Equation" r:id="rId5" imgW="533169" imgH="393529" progId="Equation.DSMT4">
                    <p:embed/>
                    <p:pic>
                      <p:nvPicPr>
                        <p:cNvPr id="0" name="Picture 36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7824" y="3140968"/>
                          <a:ext cx="1341166" cy="9964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1259632" y="3212976"/>
              <a:ext cx="1261884" cy="523220"/>
            </a:xfrm>
            <a:prstGeom prst="rect">
              <a:avLst/>
            </a:prstGeom>
            <a:noFill/>
          </p:spPr>
          <p:txBody>
            <a:bodyPr wrap="none" rtlCol="0">
              <a:spAutoFit/>
            </a:bodyPr>
            <a:lstStyle/>
            <a:p>
              <a:r>
                <a:rPr lang="zh-CN" altLang="en-US" sz="2800" dirty="0" smtClean="0">
                  <a:latin typeface="黑体" pitchFamily="49" charset="-122"/>
                  <a:ea typeface="黑体" pitchFamily="49" charset="-122"/>
                </a:rPr>
                <a:t>电势：</a:t>
              </a:r>
              <a:endParaRPr lang="zh-CN" altLang="en-US" sz="2800" dirty="0">
                <a:latin typeface="黑体" pitchFamily="49" charset="-122"/>
                <a:ea typeface="黑体" pitchFamily="49" charset="-122"/>
              </a:endParaRPr>
            </a:p>
          </p:txBody>
        </p:sp>
      </p:grpSp>
      <p:sp>
        <p:nvSpPr>
          <p:cNvPr id="8" name="TextBox 7"/>
          <p:cNvSpPr txBox="1"/>
          <p:nvPr/>
        </p:nvSpPr>
        <p:spPr>
          <a:xfrm>
            <a:off x="307629" y="2861741"/>
            <a:ext cx="3057247" cy="584775"/>
          </a:xfrm>
          <a:prstGeom prst="rect">
            <a:avLst/>
          </a:prstGeom>
          <a:noFill/>
        </p:spPr>
        <p:txBody>
          <a:bodyPr wrap="none" rtlCol="0">
            <a:spAutoFit/>
          </a:bodyPr>
          <a:lstStyle/>
          <a:p>
            <a:r>
              <a:rPr lang="en-US" altLang="zh-CN" sz="3200" dirty="0" smtClean="0">
                <a:latin typeface="黑体" pitchFamily="49" charset="-122"/>
                <a:ea typeface="黑体" pitchFamily="49" charset="-122"/>
              </a:rPr>
              <a:t>5.</a:t>
            </a:r>
            <a:r>
              <a:rPr lang="zh-CN" altLang="en-US" sz="3200" b="1" dirty="0" smtClean="0">
                <a:solidFill>
                  <a:srgbClr val="FF0000"/>
                </a:solidFill>
                <a:latin typeface="黑体" pitchFamily="49" charset="-122"/>
                <a:ea typeface="黑体" pitchFamily="49" charset="-122"/>
              </a:rPr>
              <a:t>电势叠加原理</a:t>
            </a:r>
            <a:endParaRPr lang="zh-CN" altLang="en-US" sz="3200" b="1" dirty="0">
              <a:solidFill>
                <a:srgbClr val="FF0000"/>
              </a:solidFill>
              <a:latin typeface="黑体" pitchFamily="49" charset="-122"/>
              <a:ea typeface="黑体" pitchFamily="49" charset="-122"/>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2509375653"/>
              </p:ext>
            </p:extLst>
          </p:nvPr>
        </p:nvGraphicFramePr>
        <p:xfrm>
          <a:off x="452438" y="4962525"/>
          <a:ext cx="5265737" cy="696913"/>
        </p:xfrm>
        <a:graphic>
          <a:graphicData uri="http://schemas.openxmlformats.org/presentationml/2006/ole">
            <mc:AlternateContent xmlns:mc="http://schemas.openxmlformats.org/markup-compatibility/2006">
              <mc:Choice xmlns:v="urn:schemas-microsoft-com:vml" Requires="v">
                <p:oleObj spid="_x0000_s65670" name="Equation" r:id="rId7" imgW="3162240" imgH="406080" progId="Equation.DSMT4">
                  <p:embed/>
                </p:oleObj>
              </mc:Choice>
              <mc:Fallback>
                <p:oleObj name="Equation" r:id="rId7" imgW="3162240" imgH="406080" progId="Equation.DSMT4">
                  <p:embed/>
                  <p:pic>
                    <p:nvPicPr>
                      <p:cNvPr id="0" name="Picture 368"/>
                      <p:cNvPicPr>
                        <a:picLocks noChangeAspect="1" noChangeArrowheads="1"/>
                      </p:cNvPicPr>
                      <p:nvPr/>
                    </p:nvPicPr>
                    <p:blipFill>
                      <a:blip r:embed="rId8"/>
                      <a:srcRect/>
                      <a:stretch>
                        <a:fillRect/>
                      </a:stretch>
                    </p:blipFill>
                    <p:spPr bwMode="auto">
                      <a:xfrm>
                        <a:off x="452438" y="4962525"/>
                        <a:ext cx="5265737" cy="696913"/>
                      </a:xfrm>
                      <a:prstGeom prst="rect">
                        <a:avLst/>
                      </a:prstGeom>
                      <a:noFill/>
                      <a:extLst/>
                    </p:spPr>
                  </p:pic>
                </p:oleObj>
              </mc:Fallback>
            </mc:AlternateContent>
          </a:graphicData>
        </a:graphic>
      </p:graphicFrame>
      <p:grpSp>
        <p:nvGrpSpPr>
          <p:cNvPr id="38" name="组合 37"/>
          <p:cNvGrpSpPr/>
          <p:nvPr/>
        </p:nvGrpSpPr>
        <p:grpSpPr>
          <a:xfrm>
            <a:off x="5918911" y="4051920"/>
            <a:ext cx="2671763" cy="2201083"/>
            <a:chOff x="5918911" y="4051920"/>
            <a:chExt cx="2671763" cy="2201083"/>
          </a:xfrm>
        </p:grpSpPr>
        <p:grpSp>
          <p:nvGrpSpPr>
            <p:cNvPr id="11" name="Group 5"/>
            <p:cNvGrpSpPr>
              <a:grpSpLocks/>
            </p:cNvGrpSpPr>
            <p:nvPr/>
          </p:nvGrpSpPr>
          <p:grpSpPr bwMode="auto">
            <a:xfrm>
              <a:off x="8028699" y="5795803"/>
              <a:ext cx="561975" cy="457200"/>
              <a:chOff x="4560" y="1841"/>
              <a:chExt cx="354" cy="288"/>
            </a:xfrm>
          </p:grpSpPr>
          <p:sp>
            <p:nvSpPr>
              <p:cNvPr id="36" name="Oval 6"/>
              <p:cNvSpPr>
                <a:spLocks noChangeArrowheads="1"/>
              </p:cNvSpPr>
              <p:nvPr/>
            </p:nvSpPr>
            <p:spPr bwMode="auto">
              <a:xfrm>
                <a:off x="4560" y="1872"/>
                <a:ext cx="96" cy="96"/>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pitchFamily="2" charset="-122"/>
                </a:endParaRPr>
              </a:p>
            </p:txBody>
          </p:sp>
          <p:sp>
            <p:nvSpPr>
              <p:cNvPr id="37" name="Rectangle 7"/>
              <p:cNvSpPr>
                <a:spLocks noChangeArrowheads="1"/>
              </p:cNvSpPr>
              <p:nvPr/>
            </p:nvSpPr>
            <p:spPr bwMode="auto">
              <a:xfrm>
                <a:off x="4631" y="1841"/>
                <a:ext cx="2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i="1"/>
                  <a:t>q</a:t>
                </a:r>
                <a:r>
                  <a:rPr kumimoji="1" lang="en-US" altLang="zh-CN" sz="2400" i="1" baseline="-25000"/>
                  <a:t>n</a:t>
                </a:r>
              </a:p>
            </p:txBody>
          </p:sp>
        </p:grpSp>
        <p:grpSp>
          <p:nvGrpSpPr>
            <p:cNvPr id="12" name="Group 8"/>
            <p:cNvGrpSpPr>
              <a:grpSpLocks/>
            </p:cNvGrpSpPr>
            <p:nvPr/>
          </p:nvGrpSpPr>
          <p:grpSpPr bwMode="auto">
            <a:xfrm>
              <a:off x="5918911" y="4703603"/>
              <a:ext cx="509588" cy="457200"/>
              <a:chOff x="3231" y="1153"/>
              <a:chExt cx="321" cy="288"/>
            </a:xfrm>
          </p:grpSpPr>
          <p:sp>
            <p:nvSpPr>
              <p:cNvPr id="34" name="Oval 9"/>
              <p:cNvSpPr>
                <a:spLocks noChangeArrowheads="1"/>
              </p:cNvSpPr>
              <p:nvPr/>
            </p:nvSpPr>
            <p:spPr bwMode="auto">
              <a:xfrm>
                <a:off x="3456" y="1261"/>
                <a:ext cx="96" cy="96"/>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pitchFamily="2" charset="-122"/>
                </a:endParaRPr>
              </a:p>
            </p:txBody>
          </p:sp>
          <p:sp>
            <p:nvSpPr>
              <p:cNvPr id="35" name="Rectangle 10"/>
              <p:cNvSpPr>
                <a:spLocks noChangeArrowheads="1"/>
              </p:cNvSpPr>
              <p:nvPr/>
            </p:nvSpPr>
            <p:spPr bwMode="auto">
              <a:xfrm>
                <a:off x="3231" y="1153"/>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i="1"/>
                  <a:t>q</a:t>
                </a:r>
                <a:r>
                  <a:rPr kumimoji="1" lang="en-US" altLang="zh-CN" sz="2400" baseline="-25000"/>
                  <a:t>1</a:t>
                </a:r>
                <a:endParaRPr kumimoji="1" lang="en-US" altLang="zh-CN" sz="2400" b="0" baseline="-25000"/>
              </a:p>
            </p:txBody>
          </p:sp>
        </p:grpSp>
        <p:grpSp>
          <p:nvGrpSpPr>
            <p:cNvPr id="13" name="Group 11"/>
            <p:cNvGrpSpPr>
              <a:grpSpLocks/>
            </p:cNvGrpSpPr>
            <p:nvPr/>
          </p:nvGrpSpPr>
          <p:grpSpPr bwMode="auto">
            <a:xfrm>
              <a:off x="6395161" y="5464016"/>
              <a:ext cx="438150" cy="533400"/>
              <a:chOff x="3531" y="1632"/>
              <a:chExt cx="276" cy="336"/>
            </a:xfrm>
          </p:grpSpPr>
          <p:sp>
            <p:nvSpPr>
              <p:cNvPr id="32" name="Oval 12"/>
              <p:cNvSpPr>
                <a:spLocks noChangeArrowheads="1"/>
              </p:cNvSpPr>
              <p:nvPr/>
            </p:nvSpPr>
            <p:spPr bwMode="auto">
              <a:xfrm>
                <a:off x="3648" y="1632"/>
                <a:ext cx="96" cy="96"/>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pitchFamily="2" charset="-122"/>
                </a:endParaRPr>
              </a:p>
            </p:txBody>
          </p:sp>
          <p:sp>
            <p:nvSpPr>
              <p:cNvPr id="33" name="Rectangle 13"/>
              <p:cNvSpPr>
                <a:spLocks noChangeArrowheads="1"/>
              </p:cNvSpPr>
              <p:nvPr/>
            </p:nvSpPr>
            <p:spPr bwMode="auto">
              <a:xfrm>
                <a:off x="3531" y="1680"/>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i="1"/>
                  <a:t>q</a:t>
                </a:r>
                <a:r>
                  <a:rPr kumimoji="1" lang="en-US" altLang="zh-CN" sz="2400" baseline="-25000"/>
                  <a:t>2</a:t>
                </a:r>
                <a:endParaRPr kumimoji="1" lang="en-US" altLang="zh-CN" sz="2400" b="0" baseline="-25000"/>
              </a:p>
            </p:txBody>
          </p:sp>
        </p:grpSp>
        <p:grpSp>
          <p:nvGrpSpPr>
            <p:cNvPr id="14" name="Group 14"/>
            <p:cNvGrpSpPr>
              <a:grpSpLocks/>
            </p:cNvGrpSpPr>
            <p:nvPr/>
          </p:nvGrpSpPr>
          <p:grpSpPr bwMode="auto">
            <a:xfrm>
              <a:off x="7114299" y="5692616"/>
              <a:ext cx="438150" cy="533400"/>
              <a:chOff x="3984" y="1776"/>
              <a:chExt cx="276" cy="336"/>
            </a:xfrm>
          </p:grpSpPr>
          <p:sp>
            <p:nvSpPr>
              <p:cNvPr id="30" name="Oval 15"/>
              <p:cNvSpPr>
                <a:spLocks noChangeArrowheads="1"/>
              </p:cNvSpPr>
              <p:nvPr/>
            </p:nvSpPr>
            <p:spPr bwMode="auto">
              <a:xfrm>
                <a:off x="4080" y="1776"/>
                <a:ext cx="96" cy="96"/>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pitchFamily="2" charset="-122"/>
                </a:endParaRPr>
              </a:p>
            </p:txBody>
          </p:sp>
          <p:sp>
            <p:nvSpPr>
              <p:cNvPr id="31" name="Rectangle 16"/>
              <p:cNvSpPr>
                <a:spLocks noChangeArrowheads="1"/>
              </p:cNvSpPr>
              <p:nvPr/>
            </p:nvSpPr>
            <p:spPr bwMode="auto">
              <a:xfrm>
                <a:off x="3984" y="1824"/>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i="1"/>
                  <a:t>q</a:t>
                </a:r>
                <a:r>
                  <a:rPr kumimoji="1" lang="en-US" altLang="zh-CN" sz="2400" baseline="-25000"/>
                  <a:t>3</a:t>
                </a:r>
              </a:p>
            </p:txBody>
          </p:sp>
        </p:grpSp>
        <p:sp>
          <p:nvSpPr>
            <p:cNvPr id="28" name="Rectangle 18"/>
            <p:cNvSpPr>
              <a:spLocks noChangeArrowheads="1"/>
            </p:cNvSpPr>
            <p:nvPr/>
          </p:nvSpPr>
          <p:spPr bwMode="auto">
            <a:xfrm>
              <a:off x="7571184" y="405192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i="1" dirty="0"/>
                <a:t>P</a:t>
              </a:r>
              <a:endParaRPr kumimoji="1" lang="en-US" altLang="zh-CN" sz="2400" b="0" i="1" dirty="0"/>
            </a:p>
          </p:txBody>
        </p:sp>
        <p:grpSp>
          <p:nvGrpSpPr>
            <p:cNvPr id="16" name="Group 20"/>
            <p:cNvGrpSpPr>
              <a:grpSpLocks/>
            </p:cNvGrpSpPr>
            <p:nvPr/>
          </p:nvGrpSpPr>
          <p:grpSpPr bwMode="auto">
            <a:xfrm>
              <a:off x="6452311" y="4340066"/>
              <a:ext cx="1676400" cy="1504950"/>
              <a:chOff x="3600" y="1164"/>
              <a:chExt cx="1056" cy="948"/>
            </a:xfrm>
          </p:grpSpPr>
          <p:sp>
            <p:nvSpPr>
              <p:cNvPr id="20" name="Line 21"/>
              <p:cNvSpPr>
                <a:spLocks noChangeShapeType="1"/>
              </p:cNvSpPr>
              <p:nvPr/>
            </p:nvSpPr>
            <p:spPr bwMode="auto">
              <a:xfrm flipV="1">
                <a:off x="3600" y="1296"/>
                <a:ext cx="912"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22"/>
              <p:cNvSpPr>
                <a:spLocks noChangeShapeType="1"/>
              </p:cNvSpPr>
              <p:nvPr/>
            </p:nvSpPr>
            <p:spPr bwMode="auto">
              <a:xfrm flipV="1">
                <a:off x="3744" y="1296"/>
                <a:ext cx="768"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23"/>
              <p:cNvSpPr>
                <a:spLocks noChangeShapeType="1"/>
              </p:cNvSpPr>
              <p:nvPr/>
            </p:nvSpPr>
            <p:spPr bwMode="auto">
              <a:xfrm flipV="1">
                <a:off x="4176" y="1296"/>
                <a:ext cx="336" cy="72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24"/>
              <p:cNvSpPr>
                <a:spLocks noChangeShapeType="1"/>
              </p:cNvSpPr>
              <p:nvPr/>
            </p:nvSpPr>
            <p:spPr bwMode="auto">
              <a:xfrm flipH="1" flipV="1">
                <a:off x="4512" y="1296"/>
                <a:ext cx="96" cy="81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Rectangle 25"/>
              <p:cNvSpPr>
                <a:spLocks noChangeArrowheads="1"/>
              </p:cNvSpPr>
              <p:nvPr/>
            </p:nvSpPr>
            <p:spPr bwMode="auto">
              <a:xfrm>
                <a:off x="3865" y="1164"/>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i="1"/>
                  <a:t>r</a:t>
                </a:r>
                <a:r>
                  <a:rPr kumimoji="1" lang="en-US" altLang="zh-CN" sz="2400" baseline="-25000"/>
                  <a:t>1</a:t>
                </a:r>
                <a:endParaRPr kumimoji="1" lang="en-US" altLang="zh-CN" sz="2400" b="0" baseline="-25000"/>
              </a:p>
            </p:txBody>
          </p:sp>
          <p:sp>
            <p:nvSpPr>
              <p:cNvPr id="25" name="Rectangle 26"/>
              <p:cNvSpPr>
                <a:spLocks noChangeArrowheads="1"/>
              </p:cNvSpPr>
              <p:nvPr/>
            </p:nvSpPr>
            <p:spPr bwMode="auto">
              <a:xfrm>
                <a:off x="3792" y="1440"/>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i="1"/>
                  <a:t>r</a:t>
                </a:r>
                <a:r>
                  <a:rPr kumimoji="1" lang="en-US" altLang="zh-CN" sz="2400" baseline="-25000"/>
                  <a:t>2</a:t>
                </a:r>
                <a:endParaRPr kumimoji="1" lang="en-US" altLang="zh-CN" sz="2400" b="0" baseline="-25000"/>
              </a:p>
            </p:txBody>
          </p:sp>
          <p:sp>
            <p:nvSpPr>
              <p:cNvPr id="26" name="Rectangle 27"/>
              <p:cNvSpPr>
                <a:spLocks noChangeArrowheads="1"/>
              </p:cNvSpPr>
              <p:nvPr/>
            </p:nvSpPr>
            <p:spPr bwMode="auto">
              <a:xfrm>
                <a:off x="4080" y="1536"/>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i="1" dirty="0"/>
                  <a:t>r</a:t>
                </a:r>
                <a:r>
                  <a:rPr kumimoji="1" lang="en-US" altLang="zh-CN" sz="2400" baseline="-25000" dirty="0"/>
                  <a:t>3</a:t>
                </a:r>
                <a:endParaRPr kumimoji="1" lang="en-US" altLang="zh-CN" sz="2400" b="0" baseline="-25000" dirty="0"/>
              </a:p>
            </p:txBody>
          </p:sp>
          <p:sp>
            <p:nvSpPr>
              <p:cNvPr id="27" name="Rectangle 28"/>
              <p:cNvSpPr>
                <a:spLocks noChangeArrowheads="1"/>
              </p:cNvSpPr>
              <p:nvPr/>
            </p:nvSpPr>
            <p:spPr bwMode="auto">
              <a:xfrm>
                <a:off x="4368" y="163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i="1"/>
                  <a:t>r</a:t>
                </a:r>
                <a:r>
                  <a:rPr kumimoji="1" lang="en-US" altLang="zh-CN" sz="2400" i="1" baseline="-25000"/>
                  <a:t>n</a:t>
                </a:r>
                <a:endParaRPr kumimoji="1" lang="en-US" altLang="zh-CN" sz="2400" b="0" i="1" baseline="-25000"/>
              </a:p>
            </p:txBody>
          </p:sp>
        </p:grpSp>
        <p:sp>
          <p:nvSpPr>
            <p:cNvPr id="29" name="Oval 19"/>
            <p:cNvSpPr>
              <a:spLocks noChangeArrowheads="1"/>
            </p:cNvSpPr>
            <p:nvPr/>
          </p:nvSpPr>
          <p:spPr bwMode="auto">
            <a:xfrm>
              <a:off x="7815887" y="4465729"/>
              <a:ext cx="188496" cy="201778"/>
            </a:xfrm>
            <a:prstGeom prst="ellipse">
              <a:avLst/>
            </a:prstGeom>
            <a:ln>
              <a:headEnd/>
              <a:tailEnd/>
            </a:ln>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grpSp>
      <p:grpSp>
        <p:nvGrpSpPr>
          <p:cNvPr id="39" name="组合 38"/>
          <p:cNvGrpSpPr/>
          <p:nvPr/>
        </p:nvGrpSpPr>
        <p:grpSpPr>
          <a:xfrm>
            <a:off x="6247282" y="529518"/>
            <a:ext cx="2118761" cy="811248"/>
            <a:chOff x="6247282" y="1196752"/>
            <a:chExt cx="2118761" cy="811248"/>
          </a:xfrm>
        </p:grpSpPr>
        <p:cxnSp>
          <p:nvCxnSpPr>
            <p:cNvPr id="40" name="直接箭头连接符 39"/>
            <p:cNvCxnSpPr/>
            <p:nvPr/>
          </p:nvCxnSpPr>
          <p:spPr>
            <a:xfrm>
              <a:off x="6657099" y="1674383"/>
              <a:ext cx="152400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4" name="椭圆 3"/>
            <p:cNvSpPr/>
            <p:nvPr/>
          </p:nvSpPr>
          <p:spPr>
            <a:xfrm>
              <a:off x="6247282" y="1340766"/>
              <a:ext cx="667234" cy="667234"/>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altLang="zh-CN" sz="3600" b="1" dirty="0" smtClean="0">
                  <a:latin typeface="Times New Roman" pitchFamily="18" charset="0"/>
                  <a:cs typeface="Times New Roman" pitchFamily="18" charset="0"/>
                </a:rPr>
                <a:t>Q</a:t>
              </a:r>
              <a:endParaRPr lang="zh-CN" altLang="en-US" sz="3600" b="1" dirty="0">
                <a:latin typeface="Times New Roman" pitchFamily="18" charset="0"/>
                <a:cs typeface="Times New Roman" pitchFamily="18" charset="0"/>
              </a:endParaRPr>
            </a:p>
          </p:txBody>
        </p:sp>
        <p:sp>
          <p:nvSpPr>
            <p:cNvPr id="44" name="TextBox 43"/>
            <p:cNvSpPr txBox="1"/>
            <p:nvPr/>
          </p:nvSpPr>
          <p:spPr>
            <a:xfrm>
              <a:off x="7236296" y="1196752"/>
              <a:ext cx="327334" cy="584775"/>
            </a:xfrm>
            <a:prstGeom prst="rect">
              <a:avLst/>
            </a:prstGeom>
            <a:noFill/>
          </p:spPr>
          <p:txBody>
            <a:bodyPr wrap="none" rtlCol="0">
              <a:spAutoFit/>
            </a:bodyPr>
            <a:lstStyle/>
            <a:p>
              <a:r>
                <a:rPr lang="en-US" altLang="zh-CN" sz="3200" i="1" dirty="0" smtClean="0">
                  <a:ea typeface="Arial Unicode MS" pitchFamily="34" charset="-122"/>
                  <a:cs typeface="Arial Unicode MS" pitchFamily="34" charset="-122"/>
                </a:rPr>
                <a:t>r</a:t>
              </a:r>
              <a:endParaRPr lang="zh-CN" altLang="en-US" sz="3200" i="1" dirty="0">
                <a:ea typeface="Arial Unicode MS" pitchFamily="34" charset="-122"/>
                <a:cs typeface="Arial Unicode MS" pitchFamily="34" charset="-122"/>
              </a:endParaRPr>
            </a:p>
          </p:txBody>
        </p:sp>
        <p:sp>
          <p:nvSpPr>
            <p:cNvPr id="45" name="椭圆 44"/>
            <p:cNvSpPr/>
            <p:nvPr/>
          </p:nvSpPr>
          <p:spPr>
            <a:xfrm>
              <a:off x="8181099" y="1602376"/>
              <a:ext cx="184944" cy="17915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文本框 16"/>
          <p:cNvSpPr txBox="1"/>
          <p:nvPr/>
        </p:nvSpPr>
        <p:spPr>
          <a:xfrm>
            <a:off x="539552" y="3558935"/>
            <a:ext cx="7826491" cy="1122680"/>
          </a:xfrm>
          <a:prstGeom prst="rect">
            <a:avLst/>
          </a:prstGeom>
          <a:noFill/>
        </p:spPr>
        <p:txBody>
          <a:bodyPr wrap="square" rtlCol="0">
            <a:spAutoFit/>
          </a:bodyPr>
          <a:lstStyle/>
          <a:p>
            <a:pPr>
              <a:lnSpc>
                <a:spcPct val="125000"/>
              </a:lnSpc>
            </a:pPr>
            <a:r>
              <a:rPr lang="zh-CN" altLang="en-US" sz="2800" b="1" dirty="0" smtClean="0"/>
              <a:t>由</a:t>
            </a:r>
            <a:r>
              <a:rPr lang="en-US" altLang="zh-CN" sz="2800" b="1" i="1" dirty="0" smtClean="0">
                <a:latin typeface="Times New Roman" pitchFamily="18" charset="0"/>
                <a:cs typeface="Times New Roman" pitchFamily="18" charset="0"/>
              </a:rPr>
              <a:t>N</a:t>
            </a:r>
            <a:r>
              <a:rPr lang="zh-CN" altLang="en-US" sz="2800" b="1" dirty="0" smtClean="0"/>
              <a:t>个点电荷在</a:t>
            </a:r>
            <a:r>
              <a:rPr lang="en-US" altLang="zh-CN" sz="2800" b="1" dirty="0" smtClean="0">
                <a:latin typeface="Times New Roman" panose="02020603050405020304" pitchFamily="18" charset="0"/>
                <a:cs typeface="Times New Roman" panose="02020603050405020304" pitchFamily="18" charset="0"/>
              </a:rPr>
              <a:t>P</a:t>
            </a:r>
            <a:r>
              <a:rPr lang="zh-CN" altLang="en-US" sz="2800" b="1" dirty="0" smtClean="0"/>
              <a:t>点产生的电势等于各点电荷在</a:t>
            </a:r>
            <a:r>
              <a:rPr lang="en-US" altLang="zh-CN" sz="2800" b="1" dirty="0" smtClean="0">
                <a:latin typeface="Times New Roman" panose="02020603050405020304" pitchFamily="18" charset="0"/>
                <a:cs typeface="Times New Roman" panose="02020603050405020304" pitchFamily="18" charset="0"/>
              </a:rPr>
              <a:t>P</a:t>
            </a:r>
            <a:r>
              <a:rPr lang="zh-CN" altLang="en-US" sz="2800" b="1" dirty="0" smtClean="0"/>
              <a:t>点单独产生的电势之和。</a:t>
            </a:r>
            <a:endParaRPr lang="zh-CN" altLang="en-US" sz="2800" b="1" dirty="0"/>
          </a:p>
        </p:txBody>
      </p:sp>
      <p:sp>
        <p:nvSpPr>
          <p:cNvPr id="18" name="TextBox 17"/>
          <p:cNvSpPr txBox="1"/>
          <p:nvPr/>
        </p:nvSpPr>
        <p:spPr>
          <a:xfrm>
            <a:off x="4617087" y="4120275"/>
            <a:ext cx="1296144" cy="461665"/>
          </a:xfrm>
          <a:prstGeom prst="rect">
            <a:avLst/>
          </a:prstGeom>
          <a:noFill/>
        </p:spPr>
        <p:txBody>
          <a:bodyPr wrap="square" rtlCol="0">
            <a:spAutoFit/>
          </a:bodyPr>
          <a:lstStyle/>
          <a:p>
            <a:r>
              <a:rPr lang="zh-CN" altLang="en-US" sz="2400" dirty="0" smtClean="0">
                <a:solidFill>
                  <a:srgbClr val="FF0000"/>
                </a:solidFill>
                <a:latin typeface="黑体" pitchFamily="49" charset="-122"/>
                <a:ea typeface="黑体" pitchFamily="49" charset="-122"/>
              </a:rPr>
              <a:t>代数和</a:t>
            </a:r>
            <a:endParaRPr lang="zh-CN" altLang="en-US" sz="2400" dirty="0">
              <a:solidFill>
                <a:srgbClr val="FF0000"/>
              </a:solidFill>
              <a:latin typeface="黑体" pitchFamily="49" charset="-122"/>
              <a:ea typeface="黑体" pitchFamily="49" charset="-122"/>
            </a:endParaRPr>
          </a:p>
        </p:txBody>
      </p:sp>
      <p:sp>
        <p:nvSpPr>
          <p:cNvPr id="19" name="TextBox 18"/>
          <p:cNvSpPr txBox="1"/>
          <p:nvPr/>
        </p:nvSpPr>
        <p:spPr>
          <a:xfrm>
            <a:off x="5085039" y="1540539"/>
            <a:ext cx="3748956" cy="1597745"/>
          </a:xfrm>
          <a:prstGeom prst="rect">
            <a:avLst/>
          </a:prstGeom>
          <a:noFill/>
        </p:spPr>
        <p:txBody>
          <a:bodyPr wrap="square" rtlCol="0">
            <a:spAutoFit/>
          </a:bodyPr>
          <a:lstStyle/>
          <a:p>
            <a:pPr>
              <a:lnSpc>
                <a:spcPct val="125000"/>
              </a:lnSpc>
            </a:pPr>
            <a:r>
              <a:rPr lang="en-US" altLang="zh-CN" sz="2000" b="1" dirty="0" smtClean="0"/>
              <a:t>U</a:t>
            </a:r>
            <a:r>
              <a:rPr lang="zh-CN" altLang="en-US" sz="2000" b="1" dirty="0" smtClean="0"/>
              <a:t>是一可移动的电荷</a:t>
            </a:r>
            <a:r>
              <a:rPr lang="en-US" altLang="zh-CN" sz="2000" b="1" dirty="0" smtClean="0"/>
              <a:t>q</a:t>
            </a:r>
            <a:r>
              <a:rPr lang="zh-CN" altLang="en-US" sz="2000" b="1" dirty="0" smtClean="0"/>
              <a:t>与一固定不动的电荷系统相互作用的电势能，</a:t>
            </a:r>
            <a:r>
              <a:rPr lang="en-US" altLang="zh-CN" sz="2000" b="1" dirty="0" smtClean="0"/>
              <a:t>V</a:t>
            </a:r>
            <a:r>
              <a:rPr lang="zh-CN" altLang="en-US" sz="2000" b="1" dirty="0" smtClean="0"/>
              <a:t>是固定不动的电荷系统产生的电势。</a:t>
            </a:r>
            <a:endParaRPr lang="zh-CN" altLang="en-US" sz="2000" b="1" dirty="0"/>
          </a:p>
        </p:txBody>
      </p:sp>
      <p:graphicFrame>
        <p:nvGraphicFramePr>
          <p:cNvPr id="42" name="Object 20"/>
          <p:cNvGraphicFramePr>
            <a:graphicFrameLocks noChangeAspect="1"/>
          </p:cNvGraphicFramePr>
          <p:nvPr>
            <p:extLst>
              <p:ext uri="{D42A27DB-BD31-4B8C-83A1-F6EECF244321}">
                <p14:modId xmlns:p14="http://schemas.microsoft.com/office/powerpoint/2010/main" val="768790554"/>
              </p:ext>
            </p:extLst>
          </p:nvPr>
        </p:nvGraphicFramePr>
        <p:xfrm>
          <a:off x="4939854" y="947578"/>
          <a:ext cx="943651" cy="393188"/>
        </p:xfrm>
        <a:graphic>
          <a:graphicData uri="http://schemas.openxmlformats.org/presentationml/2006/ole">
            <mc:AlternateContent xmlns:mc="http://schemas.openxmlformats.org/markup-compatibility/2006">
              <mc:Choice xmlns:v="urn:schemas-microsoft-com:vml" Requires="v">
                <p:oleObj spid="_x0000_s65671" name="公式" r:id="rId9" imgW="1204068" imgH="487608" progId="Equation.3">
                  <p:embed/>
                </p:oleObj>
              </mc:Choice>
              <mc:Fallback>
                <p:oleObj name="公式" r:id="rId9" imgW="1204068" imgH="487608"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39854" y="947578"/>
                        <a:ext cx="943651" cy="393188"/>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5499506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39552" y="333168"/>
            <a:ext cx="2232248" cy="523220"/>
          </a:xfrm>
          <a:prstGeom prst="rect">
            <a:avLst/>
          </a:prstGeom>
          <a:noFill/>
        </p:spPr>
        <p:txBody>
          <a:bodyPr wrap="square" rtlCol="0">
            <a:spAutoFit/>
          </a:bodyPr>
          <a:lstStyle/>
          <a:p>
            <a:r>
              <a:rPr lang="zh-CN" altLang="en-US" sz="2800" b="1" smtClean="0">
                <a:solidFill>
                  <a:srgbClr val="0000FF"/>
                </a:solidFill>
              </a:rPr>
              <a:t>单项选择题：</a:t>
            </a:r>
            <a:endParaRPr lang="zh-CN" altLang="en-US" sz="2800" b="1">
              <a:solidFill>
                <a:srgbClr val="0000FF"/>
              </a:solidFill>
            </a:endParaRPr>
          </a:p>
        </p:txBody>
      </p:sp>
      <mc:AlternateContent xmlns:mc="http://schemas.openxmlformats.org/markup-compatibility/2006" xmlns:a14="http://schemas.microsoft.com/office/drawing/2010/main">
        <mc:Choice Requires="a14">
          <p:sp>
            <p:nvSpPr>
              <p:cNvPr id="3" name="TextBox 2"/>
              <p:cNvSpPr txBox="1"/>
              <p:nvPr/>
            </p:nvSpPr>
            <p:spPr>
              <a:xfrm>
                <a:off x="467544" y="893080"/>
                <a:ext cx="8202026" cy="5262979"/>
              </a:xfrm>
              <a:prstGeom prst="rect">
                <a:avLst/>
              </a:prstGeom>
              <a:noFill/>
            </p:spPr>
            <p:txBody>
              <a:bodyPr wrap="square" rtlCol="0">
                <a:spAutoFit/>
              </a:bodyPr>
              <a:lstStyle/>
              <a:p>
                <a:pPr>
                  <a:lnSpc>
                    <a:spcPct val="150000"/>
                  </a:lnSpc>
                </a:pPr>
                <a:r>
                  <a:rPr lang="zh-CN" altLang="en-US" sz="2800" b="1" dirty="0">
                    <a:latin typeface="+mn-ea"/>
                  </a:rPr>
                  <a:t>如</a:t>
                </a:r>
                <a:r>
                  <a:rPr lang="zh-CN" altLang="en-US" sz="2800" b="1" dirty="0" smtClean="0">
                    <a:latin typeface="+mn-ea"/>
                  </a:rPr>
                  <a:t>图所示，直线</a:t>
                </a:r>
                <a:r>
                  <a:rPr lang="en-US" altLang="zh-CN" sz="2800" b="1" i="1" dirty="0" smtClean="0">
                    <a:latin typeface="+mn-ea"/>
                  </a:rPr>
                  <a:t>AO</a:t>
                </a:r>
                <a:r>
                  <a:rPr lang="zh-CN" altLang="en-US" sz="2800" b="1" dirty="0" smtClean="0">
                    <a:latin typeface="+mn-ea"/>
                  </a:rPr>
                  <a:t>长为</a:t>
                </a:r>
                <a:r>
                  <a:rPr lang="en-US" altLang="zh-CN" sz="2800" b="1" dirty="0" smtClean="0">
                    <a:latin typeface="+mn-ea"/>
                  </a:rPr>
                  <a:t>2</a:t>
                </a:r>
                <a14:m>
                  <m:oMath xmlns:m="http://schemas.openxmlformats.org/officeDocument/2006/math">
                    <m:r>
                      <a:rPr lang="en-US" altLang="zh-CN" sz="2800" b="1" i="1" smtClean="0">
                        <a:latin typeface="Cambria Math"/>
                      </a:rPr>
                      <m:t>𝒍</m:t>
                    </m:r>
                  </m:oMath>
                </a14:m>
                <a:r>
                  <a:rPr lang="zh-CN" altLang="en-US" sz="2800" b="1" dirty="0" smtClean="0">
                    <a:latin typeface="+mn-ea"/>
                  </a:rPr>
                  <a:t>，弧长</a:t>
                </a:r>
                <a:r>
                  <a:rPr lang="en-US" altLang="zh-CN" sz="2800" b="1" dirty="0" smtClean="0">
                    <a:latin typeface="+mn-ea"/>
                  </a:rPr>
                  <a:t>BCD</a:t>
                </a:r>
                <a:r>
                  <a:rPr lang="zh-CN" altLang="en-US" sz="2800" b="1" dirty="0" smtClean="0">
                    <a:latin typeface="+mn-ea"/>
                  </a:rPr>
                  <a:t>是以</a:t>
                </a:r>
                <a:r>
                  <a:rPr lang="en-US" altLang="zh-CN" sz="2800" b="1" dirty="0" smtClean="0">
                    <a:latin typeface="+mn-ea"/>
                  </a:rPr>
                  <a:t>O</a:t>
                </a:r>
                <a:r>
                  <a:rPr lang="zh-CN" altLang="en-US" sz="2800" b="1" dirty="0" smtClean="0">
                    <a:latin typeface="+mn-ea"/>
                  </a:rPr>
                  <a:t>点为中心，</a:t>
                </a:r>
                <a14:m>
                  <m:oMath xmlns:m="http://schemas.openxmlformats.org/officeDocument/2006/math">
                    <m:r>
                      <a:rPr lang="en-US" altLang="zh-CN" sz="2800" b="1" i="1" smtClean="0">
                        <a:latin typeface="Cambria Math"/>
                      </a:rPr>
                      <m:t>𝒍</m:t>
                    </m:r>
                  </m:oMath>
                </a14:m>
                <a:r>
                  <a:rPr lang="zh-CN" altLang="en-US" sz="2800" b="1" dirty="0" smtClean="0">
                    <a:latin typeface="+mn-ea"/>
                  </a:rPr>
                  <a:t>为半径的半圆弧，</a:t>
                </a:r>
                <a:r>
                  <a:rPr lang="en-US" altLang="zh-CN" sz="2800" b="1" i="1" dirty="0" smtClean="0">
                    <a:latin typeface="+mn-ea"/>
                  </a:rPr>
                  <a:t>A</a:t>
                </a:r>
                <a:r>
                  <a:rPr lang="zh-CN" altLang="en-US" sz="2800" b="1" dirty="0" smtClean="0">
                    <a:latin typeface="+mn-ea"/>
                  </a:rPr>
                  <a:t>点有负电荷</a:t>
                </a:r>
                <a:r>
                  <a:rPr lang="en-US" altLang="zh-CN" sz="2800" b="1" i="1" dirty="0" smtClean="0">
                    <a:latin typeface="+mn-ea"/>
                  </a:rPr>
                  <a:t>-q</a:t>
                </a:r>
                <a:r>
                  <a:rPr lang="zh-CN" altLang="en-US" sz="2800" b="1" dirty="0" smtClean="0">
                    <a:latin typeface="+mn-ea"/>
                  </a:rPr>
                  <a:t>，</a:t>
                </a:r>
                <a:r>
                  <a:rPr lang="en-US" altLang="zh-CN" sz="2800" b="1" i="1" dirty="0" smtClean="0">
                    <a:latin typeface="+mn-ea"/>
                  </a:rPr>
                  <a:t>O</a:t>
                </a:r>
                <a:r>
                  <a:rPr lang="zh-CN" altLang="en-US" sz="2800" b="1" dirty="0" smtClean="0">
                    <a:latin typeface="+mn-ea"/>
                  </a:rPr>
                  <a:t>点有正电荷</a:t>
                </a:r>
                <a:r>
                  <a:rPr lang="en-US" altLang="zh-CN" sz="2800" b="1" i="1" dirty="0" smtClean="0">
                    <a:latin typeface="+mn-ea"/>
                  </a:rPr>
                  <a:t>+q</a:t>
                </a:r>
                <a:r>
                  <a:rPr lang="zh-CN" altLang="en-US" sz="2800" b="1" dirty="0" smtClean="0">
                    <a:latin typeface="+mn-ea"/>
                  </a:rPr>
                  <a:t>。将以实验电荷</a:t>
                </a:r>
                <a:r>
                  <a:rPr lang="en-US" altLang="zh-CN" sz="2800" b="1" i="1" dirty="0" smtClean="0">
                    <a:latin typeface="+mn-ea"/>
                  </a:rPr>
                  <a:t>q</a:t>
                </a:r>
                <a:r>
                  <a:rPr lang="en-US" altLang="zh-CN" sz="2800" b="1" i="1" baseline="-25000" dirty="0" smtClean="0">
                    <a:latin typeface="+mn-ea"/>
                  </a:rPr>
                  <a:t>0</a:t>
                </a:r>
                <a:r>
                  <a:rPr lang="zh-CN" altLang="en-US" sz="2800" b="1" dirty="0" smtClean="0">
                    <a:latin typeface="+mn-ea"/>
                  </a:rPr>
                  <a:t>从</a:t>
                </a:r>
                <a:r>
                  <a:rPr lang="en-US" altLang="zh-CN" sz="2800" b="1" i="1" dirty="0" smtClean="0">
                    <a:latin typeface="+mn-ea"/>
                  </a:rPr>
                  <a:t>B</a:t>
                </a:r>
                <a:r>
                  <a:rPr lang="zh-CN" altLang="en-US" sz="2800" b="1" dirty="0" smtClean="0">
                    <a:latin typeface="+mn-ea"/>
                  </a:rPr>
                  <a:t>点出发沿路径</a:t>
                </a:r>
                <a:r>
                  <a:rPr lang="en-US" altLang="zh-CN" sz="2800" b="1" i="1" dirty="0" smtClean="0">
                    <a:latin typeface="+mn-ea"/>
                  </a:rPr>
                  <a:t>BCDP</a:t>
                </a:r>
                <a:r>
                  <a:rPr lang="zh-CN" altLang="en-US" sz="2800" b="1" dirty="0" smtClean="0">
                    <a:latin typeface="+mn-ea"/>
                  </a:rPr>
                  <a:t>移动到无穷远处，设无穷远处电势为零，则电场力做功为</a:t>
                </a:r>
                <a:r>
                  <a:rPr lang="zh-CN" altLang="zh-CN" sz="2800" b="1" dirty="0" smtClean="0">
                    <a:latin typeface="+mn-ea"/>
                  </a:rPr>
                  <a:t>。</a:t>
                </a:r>
                <a:endParaRPr lang="en-US" altLang="zh-CN" sz="2800" b="1" dirty="0" smtClean="0">
                  <a:latin typeface="+mn-ea"/>
                </a:endParaRPr>
              </a:p>
              <a:p>
                <a:pPr>
                  <a:lnSpc>
                    <a:spcPct val="150000"/>
                  </a:lnSpc>
                </a:pPr>
                <a:r>
                  <a:rPr lang="en-US" altLang="zh-CN" sz="2800" b="1" dirty="0" smtClean="0">
                    <a:latin typeface="+mn-ea"/>
                  </a:rPr>
                  <a:t>A.</a:t>
                </a:r>
                <a:r>
                  <a:rPr lang="en-US" altLang="zh-CN" sz="2800" b="1" i="1" dirty="0" smtClean="0">
                    <a:latin typeface="+mn-ea"/>
                  </a:rPr>
                  <a:t>W&lt;0</a:t>
                </a:r>
                <a:r>
                  <a:rPr lang="zh-CN" altLang="en-US" sz="2800" b="1" dirty="0" smtClean="0">
                    <a:latin typeface="+mn-ea"/>
                  </a:rPr>
                  <a:t>且为有限常量。</a:t>
                </a:r>
                <a:r>
                  <a:rPr lang="en-US" altLang="zh-CN" sz="2800" b="1" dirty="0" smtClean="0">
                    <a:latin typeface="+mn-ea"/>
                  </a:rPr>
                  <a:t>                                 </a:t>
                </a:r>
                <a:endParaRPr lang="zh-CN" altLang="zh-CN" sz="2800" b="1" dirty="0">
                  <a:latin typeface="+mn-ea"/>
                </a:endParaRPr>
              </a:p>
              <a:p>
                <a:pPr>
                  <a:lnSpc>
                    <a:spcPct val="150000"/>
                  </a:lnSpc>
                </a:pPr>
                <a:r>
                  <a:rPr lang="en-US" altLang="zh-CN" sz="2800" b="1" dirty="0" smtClean="0">
                    <a:latin typeface="+mn-ea"/>
                  </a:rPr>
                  <a:t>B.</a:t>
                </a:r>
                <a:r>
                  <a:rPr lang="en-US" altLang="zh-CN" sz="2800" b="1" i="1" dirty="0" smtClean="0">
                    <a:latin typeface="+mn-ea"/>
                  </a:rPr>
                  <a:t>W&gt;0</a:t>
                </a:r>
                <a:r>
                  <a:rPr lang="zh-CN" altLang="en-US" sz="2800" b="1" dirty="0">
                    <a:latin typeface="+mn-ea"/>
                  </a:rPr>
                  <a:t>且为有限常量</a:t>
                </a:r>
                <a:r>
                  <a:rPr lang="zh-CN" altLang="zh-CN" sz="2800" b="1" dirty="0" smtClean="0">
                    <a:latin typeface="+mn-ea"/>
                  </a:rPr>
                  <a:t>。</a:t>
                </a:r>
                <a:r>
                  <a:rPr lang="en-US" altLang="zh-CN" sz="2800" b="1" dirty="0" smtClean="0">
                    <a:latin typeface="+mn-ea"/>
                  </a:rPr>
                  <a:t>              </a:t>
                </a:r>
                <a:endParaRPr lang="zh-CN" altLang="zh-CN" sz="2800" b="1" dirty="0">
                  <a:latin typeface="+mn-ea"/>
                </a:endParaRPr>
              </a:p>
              <a:p>
                <a:pPr>
                  <a:lnSpc>
                    <a:spcPct val="150000"/>
                  </a:lnSpc>
                </a:pPr>
                <a:r>
                  <a:rPr lang="en-US" altLang="zh-CN" sz="2800" b="1" i="1" dirty="0" smtClean="0">
                    <a:latin typeface="+mn-ea"/>
                  </a:rPr>
                  <a:t>C.W=</a:t>
                </a:r>
                <a:r>
                  <a:rPr lang="zh-CN" altLang="en-US" sz="2800" b="1" i="1" dirty="0" smtClean="0">
                    <a:latin typeface="+mn-ea"/>
                  </a:rPr>
                  <a:t>∞</a:t>
                </a:r>
                <a:r>
                  <a:rPr lang="zh-CN" altLang="zh-CN" sz="2800" b="1" dirty="0" smtClean="0">
                    <a:latin typeface="+mn-ea"/>
                  </a:rPr>
                  <a:t>。</a:t>
                </a:r>
                <a:r>
                  <a:rPr lang="en-US" altLang="zh-CN" sz="2800" b="1" dirty="0" smtClean="0">
                    <a:latin typeface="+mn-ea"/>
                  </a:rPr>
                  <a:t>                             </a:t>
                </a:r>
                <a:endParaRPr lang="zh-CN" altLang="zh-CN" sz="2800" b="1" dirty="0">
                  <a:latin typeface="+mn-ea"/>
                </a:endParaRPr>
              </a:p>
              <a:p>
                <a:pPr>
                  <a:lnSpc>
                    <a:spcPct val="150000"/>
                  </a:lnSpc>
                </a:pPr>
                <a:r>
                  <a:rPr lang="en-US" altLang="zh-CN" sz="2800" b="1" dirty="0" smtClean="0">
                    <a:latin typeface="+mn-ea"/>
                  </a:rPr>
                  <a:t>D.</a:t>
                </a:r>
                <a:r>
                  <a:rPr lang="en-US" altLang="zh-CN" sz="2800" b="1" i="1" dirty="0" smtClean="0">
                    <a:latin typeface="+mn-ea"/>
                  </a:rPr>
                  <a:t>W=0</a:t>
                </a:r>
                <a:r>
                  <a:rPr lang="zh-CN" altLang="zh-CN" sz="2800" b="1" dirty="0" smtClean="0">
                    <a:latin typeface="+mn-ea"/>
                  </a:rPr>
                  <a:t>。</a:t>
                </a:r>
                <a:endParaRPr lang="zh-CN" altLang="zh-CN" sz="2800" b="1" dirty="0">
                  <a:latin typeface="+mn-ea"/>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467544" y="893080"/>
                <a:ext cx="8202026" cy="5262979"/>
              </a:xfrm>
              <a:prstGeom prst="rect">
                <a:avLst/>
              </a:prstGeom>
              <a:blipFill rotWithShape="1">
                <a:blip r:embed="rId3"/>
                <a:stretch>
                  <a:fillRect l="-1561" r="-5799" b="-463"/>
                </a:stretch>
              </a:blipFill>
            </p:spPr>
            <p:txBody>
              <a:bodyPr/>
              <a:lstStyle/>
              <a:p>
                <a:r>
                  <a:rPr lang="zh-CN" altLang="en-US">
                    <a:noFill/>
                  </a:rPr>
                  <a:t> </a:t>
                </a:r>
              </a:p>
            </p:txBody>
          </p:sp>
        </mc:Fallback>
      </mc:AlternateContent>
      <p:pic>
        <p:nvPicPr>
          <p:cNvPr id="593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4088" y="3717032"/>
            <a:ext cx="2922237" cy="1332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004263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p:cNvSpPr txBox="1"/>
              <p:nvPr>
                <p:custDataLst>
                  <p:tags r:id="rId2"/>
                </p:custDataLst>
              </p:nvPr>
            </p:nvSpPr>
            <p:spPr>
              <a:xfrm>
                <a:off x="254000" y="877485"/>
                <a:ext cx="8826500" cy="2143125"/>
              </a:xfrm>
              <a:prstGeom prst="rect">
                <a:avLst/>
              </a:prstGeom>
              <a:noFill/>
            </p:spPr>
            <p:txBody>
              <a:bodyPr vert="horz" wrap="square" rtlCol="0" anchor="ctr" anchorCtr="0">
                <a:noAutofit/>
              </a:bodyPr>
              <a:lstStyle/>
              <a:p>
                <a:pPr>
                  <a:lnSpc>
                    <a:spcPct val="150000"/>
                  </a:lnSpc>
                </a:pPr>
                <a:r>
                  <a:rPr lang="zh-CN" altLang="en-US" sz="2400" b="1" dirty="0">
                    <a:latin typeface="+mn-ea"/>
                  </a:rPr>
                  <a:t>如图所示，直线</a:t>
                </a:r>
                <a:r>
                  <a:rPr lang="en-US" altLang="zh-CN" sz="2400" b="1" i="1" dirty="0">
                    <a:latin typeface="+mn-ea"/>
                  </a:rPr>
                  <a:t>AO</a:t>
                </a:r>
                <a:r>
                  <a:rPr lang="zh-CN" altLang="en-US" sz="2400" b="1" dirty="0">
                    <a:latin typeface="+mn-ea"/>
                  </a:rPr>
                  <a:t>长为</a:t>
                </a:r>
                <a:r>
                  <a:rPr lang="en-US" altLang="zh-CN" sz="2400" b="1" dirty="0">
                    <a:latin typeface="+mn-ea"/>
                  </a:rPr>
                  <a:t>2</a:t>
                </a:r>
                <a14:m>
                  <m:oMath xmlns:m="http://schemas.openxmlformats.org/officeDocument/2006/math">
                    <m:r>
                      <a:rPr lang="en-US" altLang="zh-CN" sz="2400" b="1" i="1">
                        <a:latin typeface="Cambria Math"/>
                      </a:rPr>
                      <m:t>𝒍</m:t>
                    </m:r>
                  </m:oMath>
                </a14:m>
                <a:r>
                  <a:rPr lang="zh-CN" altLang="en-US" sz="2400" b="1" dirty="0">
                    <a:latin typeface="+mn-ea"/>
                  </a:rPr>
                  <a:t>，弧长</a:t>
                </a:r>
                <a:r>
                  <a:rPr lang="en-US" altLang="zh-CN" sz="2400" b="1" dirty="0">
                    <a:latin typeface="+mn-ea"/>
                  </a:rPr>
                  <a:t>BCD</a:t>
                </a:r>
                <a:r>
                  <a:rPr lang="zh-CN" altLang="en-US" sz="2400" b="1" dirty="0">
                    <a:latin typeface="+mn-ea"/>
                  </a:rPr>
                  <a:t>是以</a:t>
                </a:r>
                <a:r>
                  <a:rPr lang="en-US" altLang="zh-CN" sz="2400" b="1" dirty="0">
                    <a:latin typeface="+mn-ea"/>
                  </a:rPr>
                  <a:t>O</a:t>
                </a:r>
                <a:r>
                  <a:rPr lang="zh-CN" altLang="en-US" sz="2400" b="1" dirty="0">
                    <a:latin typeface="+mn-ea"/>
                  </a:rPr>
                  <a:t>点为中心，</a:t>
                </a:r>
                <a14:m>
                  <m:oMath xmlns:m="http://schemas.openxmlformats.org/officeDocument/2006/math">
                    <m:r>
                      <a:rPr lang="en-US" altLang="zh-CN" sz="2400" b="1" i="1">
                        <a:latin typeface="Cambria Math"/>
                      </a:rPr>
                      <m:t>𝒍</m:t>
                    </m:r>
                  </m:oMath>
                </a14:m>
                <a:r>
                  <a:rPr lang="zh-CN" altLang="en-US" sz="2400" b="1" dirty="0">
                    <a:latin typeface="+mn-ea"/>
                  </a:rPr>
                  <a:t>为半径的半圆弧，</a:t>
                </a:r>
                <a:r>
                  <a:rPr lang="en-US" altLang="zh-CN" sz="2400" b="1" i="1" dirty="0">
                    <a:latin typeface="+mn-ea"/>
                  </a:rPr>
                  <a:t>A</a:t>
                </a:r>
                <a:r>
                  <a:rPr lang="zh-CN" altLang="en-US" sz="2400" b="1" dirty="0">
                    <a:latin typeface="+mn-ea"/>
                  </a:rPr>
                  <a:t>点有负电荷</a:t>
                </a:r>
                <a:r>
                  <a:rPr lang="en-US" altLang="zh-CN" sz="2400" b="1" i="1" dirty="0">
                    <a:latin typeface="+mn-ea"/>
                  </a:rPr>
                  <a:t>-q</a:t>
                </a:r>
                <a:r>
                  <a:rPr lang="zh-CN" altLang="en-US" sz="2400" b="1" dirty="0">
                    <a:latin typeface="+mn-ea"/>
                  </a:rPr>
                  <a:t>，</a:t>
                </a:r>
                <a:r>
                  <a:rPr lang="en-US" altLang="zh-CN" sz="2400" b="1" i="1" dirty="0">
                    <a:latin typeface="+mn-ea"/>
                  </a:rPr>
                  <a:t>O</a:t>
                </a:r>
                <a:r>
                  <a:rPr lang="zh-CN" altLang="en-US" sz="2400" b="1" dirty="0">
                    <a:latin typeface="+mn-ea"/>
                  </a:rPr>
                  <a:t>点有正电荷</a:t>
                </a:r>
                <a:r>
                  <a:rPr lang="en-US" altLang="zh-CN" sz="2400" b="1" i="1" dirty="0">
                    <a:latin typeface="+mn-ea"/>
                  </a:rPr>
                  <a:t>+q</a:t>
                </a:r>
                <a:r>
                  <a:rPr lang="zh-CN" altLang="en-US" sz="2400" b="1" dirty="0">
                    <a:latin typeface="+mn-ea"/>
                  </a:rPr>
                  <a:t>。将以实验电荷</a:t>
                </a:r>
                <a:r>
                  <a:rPr lang="en-US" altLang="zh-CN" sz="2400" b="1" i="1" dirty="0">
                    <a:latin typeface="+mn-ea"/>
                  </a:rPr>
                  <a:t>q</a:t>
                </a:r>
                <a:r>
                  <a:rPr lang="en-US" altLang="zh-CN" sz="2400" b="1" i="1" baseline="-25000" dirty="0">
                    <a:latin typeface="+mn-ea"/>
                  </a:rPr>
                  <a:t>0</a:t>
                </a:r>
                <a:r>
                  <a:rPr lang="zh-CN" altLang="en-US" sz="2400" b="1" dirty="0">
                    <a:latin typeface="+mn-ea"/>
                  </a:rPr>
                  <a:t>从</a:t>
                </a:r>
                <a:r>
                  <a:rPr lang="en-US" altLang="zh-CN" sz="2400" b="1" i="1" dirty="0">
                    <a:latin typeface="+mn-ea"/>
                  </a:rPr>
                  <a:t>B</a:t>
                </a:r>
                <a:r>
                  <a:rPr lang="zh-CN" altLang="en-US" sz="2400" b="1" dirty="0">
                    <a:latin typeface="+mn-ea"/>
                  </a:rPr>
                  <a:t>点出发沿路径</a:t>
                </a:r>
                <a:r>
                  <a:rPr lang="en-US" altLang="zh-CN" sz="2400" b="1" i="1" dirty="0">
                    <a:latin typeface="+mn-ea"/>
                  </a:rPr>
                  <a:t>BCDP</a:t>
                </a:r>
                <a:r>
                  <a:rPr lang="zh-CN" altLang="en-US" sz="2400" b="1" dirty="0">
                    <a:latin typeface="+mn-ea"/>
                  </a:rPr>
                  <a:t>移动到无穷远处，设无穷远处电势为零，则电场力做功为</a:t>
                </a:r>
                <a:r>
                  <a:rPr lang="zh-CN" altLang="zh-CN" sz="2400" b="1" dirty="0">
                    <a:latin typeface="+mn-ea"/>
                  </a:rPr>
                  <a:t>。</a:t>
                </a:r>
                <a:endParaRPr lang="en-US" altLang="zh-CN" sz="2400" b="1" dirty="0">
                  <a:latin typeface="+mn-ea"/>
                </a:endParaRPr>
              </a:p>
            </p:txBody>
          </p:sp>
        </mc:Choice>
        <mc:Fallback xmlns="">
          <p:sp>
            <p:nvSpPr>
              <p:cNvPr id="3" name="文本框 2"/>
              <p:cNvSpPr txBox="1">
                <a:spLocks noRot="1" noChangeAspect="1" noMove="1" noResize="1" noEditPoints="1" noAdjustHandles="1" noChangeArrowheads="1" noChangeShapeType="1" noTextEdit="1"/>
              </p:cNvSpPr>
              <p:nvPr>
                <p:custDataLst>
                  <p:tags r:id="rId19"/>
                </p:custDataLst>
              </p:nvPr>
            </p:nvSpPr>
            <p:spPr>
              <a:xfrm>
                <a:off x="254000" y="877485"/>
                <a:ext cx="8826500" cy="2143125"/>
              </a:xfrm>
              <a:prstGeom prst="rect">
                <a:avLst/>
              </a:prstGeom>
              <a:blipFill>
                <a:blip r:embed="rId20"/>
                <a:stretch>
                  <a:fillRect l="-1105" t="-1136" r="-552" b="-5682"/>
                </a:stretch>
              </a:blipFill>
            </p:spPr>
            <p:txBody>
              <a:bodyPr/>
              <a:lstStyle/>
              <a:p>
                <a:r>
                  <a:rPr lang="zh-CN" altLang="en-US">
                    <a:noFill/>
                  </a:rPr>
                  <a:t> </a:t>
                </a:r>
              </a:p>
            </p:txBody>
          </p:sp>
        </mc:Fallback>
      </mc:AlternateContent>
      <p:sp>
        <p:nvSpPr>
          <p:cNvPr id="4" name="文本框 3"/>
          <p:cNvSpPr txBox="1"/>
          <p:nvPr>
            <p:custDataLst>
              <p:tags r:id="rId3"/>
            </p:custDataLst>
          </p:nvPr>
        </p:nvSpPr>
        <p:spPr>
          <a:xfrm>
            <a:off x="1253927" y="3238648"/>
            <a:ext cx="6400800" cy="642938"/>
          </a:xfrm>
          <a:prstGeom prst="rect">
            <a:avLst/>
          </a:prstGeom>
          <a:noFill/>
        </p:spPr>
        <p:txBody>
          <a:bodyPr vert="horz" rtlCol="0" anchor="ctr" anchorCtr="0">
            <a:noAutofit/>
          </a:bodyPr>
          <a:lstStyle/>
          <a:p>
            <a:pPr>
              <a:lnSpc>
                <a:spcPct val="150000"/>
              </a:lnSpc>
            </a:pPr>
            <a:r>
              <a:rPr lang="en-US" altLang="zh-CN" sz="2400" b="1" i="1" dirty="0" smtClean="0">
                <a:latin typeface="+mn-ea"/>
              </a:rPr>
              <a:t>W&lt;0</a:t>
            </a:r>
            <a:r>
              <a:rPr lang="zh-CN" altLang="en-US" sz="2400" b="1" dirty="0">
                <a:latin typeface="+mn-ea"/>
              </a:rPr>
              <a:t>且为有限常量。</a:t>
            </a:r>
            <a:r>
              <a:rPr lang="en-US" altLang="zh-CN" sz="2400" b="1" dirty="0">
                <a:latin typeface="+mn-ea"/>
              </a:rPr>
              <a:t>                                 </a:t>
            </a:r>
            <a:endParaRPr lang="zh-CN" altLang="zh-CN" sz="2400" b="1" dirty="0">
              <a:latin typeface="+mn-ea"/>
            </a:endParaRPr>
          </a:p>
        </p:txBody>
      </p:sp>
      <p:sp>
        <p:nvSpPr>
          <p:cNvPr id="5" name="文本框 4"/>
          <p:cNvSpPr txBox="1"/>
          <p:nvPr>
            <p:custDataLst>
              <p:tags r:id="rId4"/>
            </p:custDataLst>
          </p:nvPr>
        </p:nvSpPr>
        <p:spPr>
          <a:xfrm>
            <a:off x="1253927" y="4095898"/>
            <a:ext cx="6400800" cy="642938"/>
          </a:xfrm>
          <a:prstGeom prst="rect">
            <a:avLst/>
          </a:prstGeom>
          <a:noFill/>
        </p:spPr>
        <p:txBody>
          <a:bodyPr vert="horz" rtlCol="0" anchor="ctr" anchorCtr="0">
            <a:noAutofit/>
          </a:bodyPr>
          <a:lstStyle/>
          <a:p>
            <a:pPr>
              <a:lnSpc>
                <a:spcPct val="150000"/>
              </a:lnSpc>
            </a:pPr>
            <a:r>
              <a:rPr lang="en-US" altLang="zh-CN" sz="2400" b="1" i="1" dirty="0" smtClean="0">
                <a:latin typeface="+mn-ea"/>
              </a:rPr>
              <a:t>W&gt;0</a:t>
            </a:r>
            <a:r>
              <a:rPr lang="zh-CN" altLang="en-US" sz="2400" b="1" dirty="0">
                <a:latin typeface="+mn-ea"/>
              </a:rPr>
              <a:t>且为有限常量</a:t>
            </a:r>
            <a:r>
              <a:rPr lang="zh-CN" altLang="zh-CN" sz="2400" b="1" dirty="0">
                <a:latin typeface="+mn-ea"/>
              </a:rPr>
              <a:t>。</a:t>
            </a:r>
            <a:r>
              <a:rPr lang="en-US" altLang="zh-CN" sz="2400" b="1" dirty="0">
                <a:latin typeface="+mn-ea"/>
              </a:rPr>
              <a:t>              </a:t>
            </a:r>
            <a:endParaRPr lang="zh-CN" altLang="zh-CN" sz="2400" b="1" dirty="0">
              <a:latin typeface="+mn-ea"/>
            </a:endParaRPr>
          </a:p>
        </p:txBody>
      </p:sp>
      <p:sp>
        <p:nvSpPr>
          <p:cNvPr id="6" name="文本框 5"/>
          <p:cNvSpPr txBox="1"/>
          <p:nvPr>
            <p:custDataLst>
              <p:tags r:id="rId5"/>
            </p:custDataLst>
          </p:nvPr>
        </p:nvSpPr>
        <p:spPr>
          <a:xfrm>
            <a:off x="1253927" y="4953148"/>
            <a:ext cx="6400800" cy="642938"/>
          </a:xfrm>
          <a:prstGeom prst="rect">
            <a:avLst/>
          </a:prstGeom>
          <a:noFill/>
        </p:spPr>
        <p:txBody>
          <a:bodyPr vert="horz" rtlCol="0" anchor="ctr" anchorCtr="0">
            <a:noAutofit/>
          </a:bodyPr>
          <a:lstStyle/>
          <a:p>
            <a:r>
              <a:rPr lang="en-US" altLang="zh-CN" sz="2400" b="1" i="1" dirty="0" smtClean="0">
                <a:latin typeface="+mn-ea"/>
              </a:rPr>
              <a:t>W</a:t>
            </a:r>
            <a:r>
              <a:rPr lang="en-US" altLang="zh-CN" sz="2400" b="1" i="1" dirty="0">
                <a:latin typeface="+mn-ea"/>
              </a:rPr>
              <a:t>=</a:t>
            </a:r>
            <a:r>
              <a:rPr lang="zh-CN" altLang="en-US" sz="2400" b="1" i="1" dirty="0">
                <a:latin typeface="+mn-ea"/>
              </a:rPr>
              <a:t>∞</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1253927" y="5810398"/>
            <a:ext cx="6400800" cy="642938"/>
          </a:xfrm>
          <a:prstGeom prst="rect">
            <a:avLst/>
          </a:prstGeom>
          <a:noFill/>
        </p:spPr>
        <p:txBody>
          <a:bodyPr vert="horz" rtlCol="0" anchor="ctr" anchorCtr="0">
            <a:noAutofit/>
          </a:bodyPr>
          <a:lstStyle/>
          <a:p>
            <a:r>
              <a:rPr lang="en-US" altLang="zh-CN" sz="2400" b="1" i="1" dirty="0">
                <a:latin typeface="+mn-ea"/>
              </a:rPr>
              <a:t>W=0</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椭圆 7"/>
          <p:cNvSpPr>
            <a:spLocks noChangeAspect="1"/>
          </p:cNvSpPr>
          <p:nvPr>
            <p:custDataLst>
              <p:tags r:id="rId7"/>
            </p:custDataLst>
          </p:nvPr>
        </p:nvSpPr>
        <p:spPr>
          <a:xfrm>
            <a:off x="539552" y="3302941"/>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552" y="4160191"/>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552" y="5017441"/>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552" y="5874691"/>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pic>
        <p:nvPicPr>
          <p:cNvPr id="19" name="Picture 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076056" y="3429230"/>
            <a:ext cx="3617380" cy="1649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7" name="组合 16"/>
          <p:cNvGrpSpPr/>
          <p:nvPr>
            <p:custDataLst>
              <p:tags r:id="rId12"/>
            </p:custDataLst>
          </p:nvPr>
        </p:nvGrpSpPr>
        <p:grpSpPr>
          <a:xfrm>
            <a:off x="0" y="0"/>
            <a:ext cx="9144000" cy="635000"/>
            <a:chOff x="0" y="0"/>
            <a:chExt cx="9144000" cy="635000"/>
          </a:xfrm>
        </p:grpSpPr>
        <p:sp>
          <p:nvSpPr>
            <p:cNvPr id="13" name="TitleBackground"/>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2" name="图片 1"/>
          <p:cNvPicPr>
            <a:picLocks/>
          </p:cNvPicPr>
          <p:nvPr>
            <p:custDataLst>
              <p:tags r:id="rId13"/>
            </p:custDataLst>
          </p:nvPr>
        </p:nvPicPr>
        <p:blipFill>
          <a:blip r:embed="rId2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8749167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日期占位符 1"/>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Arial" pitchFamily="34" charset="0"/>
                <a:ea typeface="宋体" pitchFamily="2" charset="-122"/>
              </a:defRPr>
            </a:lvl1pPr>
            <a:lvl2pPr marL="742950" indent="-285750">
              <a:defRPr sz="2800" b="1">
                <a:solidFill>
                  <a:schemeClr val="tx1"/>
                </a:solidFill>
                <a:latin typeface="Arial" pitchFamily="34" charset="0"/>
                <a:ea typeface="宋体" pitchFamily="2" charset="-122"/>
              </a:defRPr>
            </a:lvl2pPr>
            <a:lvl3pPr marL="1143000" indent="-228600">
              <a:defRPr sz="2800" b="1">
                <a:solidFill>
                  <a:schemeClr val="tx1"/>
                </a:solidFill>
                <a:latin typeface="Arial" pitchFamily="34" charset="0"/>
                <a:ea typeface="宋体" pitchFamily="2" charset="-122"/>
              </a:defRPr>
            </a:lvl3pPr>
            <a:lvl4pPr marL="1600200" indent="-228600">
              <a:defRPr sz="2800" b="1">
                <a:solidFill>
                  <a:schemeClr val="tx1"/>
                </a:solidFill>
                <a:latin typeface="Arial" pitchFamily="34" charset="0"/>
                <a:ea typeface="宋体" pitchFamily="2" charset="-122"/>
              </a:defRPr>
            </a:lvl4pPr>
            <a:lvl5pPr marL="2057400" indent="-22860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800" b="1">
                <a:solidFill>
                  <a:schemeClr val="tx1"/>
                </a:solidFill>
                <a:latin typeface="Arial" pitchFamily="34" charset="0"/>
                <a:ea typeface="宋体" pitchFamily="2" charset="-122"/>
              </a:defRPr>
            </a:lvl9pPr>
          </a:lstStyle>
          <a:p>
            <a:fld id="{2C4C195B-C3BD-48BC-A716-95818ECD5BF5}" type="datetime1">
              <a:rPr lang="zh-CN" altLang="en-US" sz="1400" b="0" smtClean="0">
                <a:solidFill>
                  <a:schemeClr val="bg2"/>
                </a:solidFill>
              </a:rPr>
              <a:pPr/>
              <a:t>2021/4/18</a:t>
            </a:fld>
            <a:endParaRPr lang="en-US" altLang="zh-CN" sz="1400" b="0" smtClean="0">
              <a:solidFill>
                <a:schemeClr val="bg2"/>
              </a:solidFill>
            </a:endParaRPr>
          </a:p>
        </p:txBody>
      </p:sp>
      <p:sp>
        <p:nvSpPr>
          <p:cNvPr id="1178631" name="Text Box 7"/>
          <p:cNvSpPr txBox="1">
            <a:spLocks noChangeArrowheads="1"/>
          </p:cNvSpPr>
          <p:nvPr/>
        </p:nvSpPr>
        <p:spPr bwMode="auto">
          <a:xfrm>
            <a:off x="446564" y="143203"/>
            <a:ext cx="5486400" cy="523220"/>
          </a:xfrm>
          <a:prstGeom prst="rect">
            <a:avLst/>
          </a:prstGeom>
          <a:noFill/>
          <a:ln w="9525">
            <a:noFill/>
            <a:miter lim="800000"/>
            <a:headEnd/>
            <a:tailEnd/>
          </a:ln>
          <a:effectLst/>
        </p:spPr>
        <p:txBody>
          <a:bodyPr>
            <a:spAutoFit/>
          </a:bodyPr>
          <a:lstStyle/>
          <a:p>
            <a:pPr eaLnBrk="1" hangingPunct="1">
              <a:spcBef>
                <a:spcPct val="50000"/>
              </a:spcBef>
              <a:defRPr/>
            </a:pPr>
            <a:r>
              <a:rPr kumimoji="1" lang="zh-CN" altLang="en-US" sz="2800" b="1" dirty="0" smtClean="0">
                <a:solidFill>
                  <a:srgbClr val="0000FF"/>
                </a:solidFill>
                <a:effectLst>
                  <a:outerShdw blurRad="38100" dist="38100" dir="2700000" algn="tl">
                    <a:srgbClr val="000000"/>
                  </a:outerShdw>
                </a:effectLst>
                <a:latin typeface="宋体" pitchFamily="2" charset="-122"/>
              </a:rPr>
              <a:t>电势</a:t>
            </a:r>
            <a:r>
              <a:rPr kumimoji="1" lang="zh-CN" altLang="en-US" sz="2800" b="1" dirty="0">
                <a:solidFill>
                  <a:srgbClr val="0000FF"/>
                </a:solidFill>
                <a:effectLst>
                  <a:outerShdw blurRad="38100" dist="38100" dir="2700000" algn="tl">
                    <a:srgbClr val="000000"/>
                  </a:outerShdw>
                </a:effectLst>
                <a:latin typeface="宋体" pitchFamily="2" charset="-122"/>
              </a:rPr>
              <a:t>的计算</a:t>
            </a:r>
            <a:r>
              <a:rPr kumimoji="1" lang="en-US" altLang="zh-CN" sz="2800" b="1" dirty="0">
                <a:solidFill>
                  <a:srgbClr val="0000FF"/>
                </a:solidFill>
                <a:effectLst>
                  <a:outerShdw blurRad="38100" dist="38100" dir="2700000" algn="tl">
                    <a:srgbClr val="000000"/>
                  </a:outerShdw>
                </a:effectLst>
                <a:latin typeface="宋体" pitchFamily="2" charset="-122"/>
              </a:rPr>
              <a:t>(</a:t>
            </a:r>
            <a:r>
              <a:rPr kumimoji="1" lang="zh-CN" altLang="en-US" sz="2800" b="1" dirty="0">
                <a:solidFill>
                  <a:srgbClr val="0000FF"/>
                </a:solidFill>
                <a:effectLst>
                  <a:outerShdw blurRad="38100" dist="38100" dir="2700000" algn="tl">
                    <a:srgbClr val="000000"/>
                  </a:outerShdw>
                </a:effectLst>
                <a:latin typeface="宋体" pitchFamily="2" charset="-122"/>
              </a:rPr>
              <a:t>两种基本方法</a:t>
            </a:r>
            <a:r>
              <a:rPr kumimoji="1" lang="en-US" altLang="zh-CN" sz="2800" b="1" dirty="0">
                <a:solidFill>
                  <a:srgbClr val="0000FF"/>
                </a:solidFill>
                <a:effectLst>
                  <a:outerShdw blurRad="38100" dist="38100" dir="2700000" algn="tl">
                    <a:srgbClr val="000000"/>
                  </a:outerShdw>
                </a:effectLst>
                <a:latin typeface="宋体" pitchFamily="2" charset="-122"/>
              </a:rPr>
              <a:t>)</a:t>
            </a:r>
          </a:p>
        </p:txBody>
      </p:sp>
      <p:grpSp>
        <p:nvGrpSpPr>
          <p:cNvPr id="2" name="Group 8"/>
          <p:cNvGrpSpPr>
            <a:grpSpLocks/>
          </p:cNvGrpSpPr>
          <p:nvPr/>
        </p:nvGrpSpPr>
        <p:grpSpPr bwMode="auto">
          <a:xfrm>
            <a:off x="468313" y="836613"/>
            <a:ext cx="7747000" cy="3311525"/>
            <a:chOff x="240" y="2064"/>
            <a:chExt cx="4880" cy="2086"/>
          </a:xfrm>
        </p:grpSpPr>
        <p:sp>
          <p:nvSpPr>
            <p:cNvPr id="57360" name="Text Box 9"/>
            <p:cNvSpPr txBox="1">
              <a:spLocks noChangeArrowheads="1"/>
            </p:cNvSpPr>
            <p:nvPr/>
          </p:nvSpPr>
          <p:spPr bwMode="auto">
            <a:xfrm>
              <a:off x="288" y="2064"/>
              <a:ext cx="27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Arial" pitchFamily="34" charset="0"/>
                  <a:ea typeface="宋体" pitchFamily="2" charset="-122"/>
                </a:defRPr>
              </a:lvl1pPr>
              <a:lvl2pPr marL="742950" indent="-285750">
                <a:defRPr sz="2800" b="1">
                  <a:solidFill>
                    <a:schemeClr val="tx1"/>
                  </a:solidFill>
                  <a:latin typeface="Arial" pitchFamily="34" charset="0"/>
                  <a:ea typeface="宋体" pitchFamily="2" charset="-122"/>
                </a:defRPr>
              </a:lvl2pPr>
              <a:lvl3pPr marL="1143000" indent="-228600">
                <a:defRPr sz="2800" b="1">
                  <a:solidFill>
                    <a:schemeClr val="tx1"/>
                  </a:solidFill>
                  <a:latin typeface="Arial" pitchFamily="34" charset="0"/>
                  <a:ea typeface="宋体" pitchFamily="2" charset="-122"/>
                </a:defRPr>
              </a:lvl3pPr>
              <a:lvl4pPr marL="1600200" indent="-228600">
                <a:defRPr sz="2800" b="1">
                  <a:solidFill>
                    <a:schemeClr val="tx1"/>
                  </a:solidFill>
                  <a:latin typeface="Arial" pitchFamily="34" charset="0"/>
                  <a:ea typeface="宋体" pitchFamily="2" charset="-122"/>
                </a:defRPr>
              </a:lvl4pPr>
              <a:lvl5pPr marL="2057400" indent="-22860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800" b="1">
                  <a:solidFill>
                    <a:schemeClr val="tx1"/>
                  </a:solidFill>
                  <a:latin typeface="Arial" pitchFamily="34" charset="0"/>
                  <a:ea typeface="宋体" pitchFamily="2" charset="-122"/>
                </a:defRPr>
              </a:lvl9pPr>
            </a:lstStyle>
            <a:p>
              <a:pPr eaLnBrk="1" hangingPunct="1">
                <a:spcBef>
                  <a:spcPct val="50000"/>
                </a:spcBef>
              </a:pPr>
              <a:r>
                <a:rPr kumimoji="1" lang="en-US" altLang="zh-CN" dirty="0">
                  <a:solidFill>
                    <a:srgbClr val="FF0000"/>
                  </a:solidFill>
                  <a:latin typeface="Times New Roman" pitchFamily="18" charset="0"/>
                </a:rPr>
                <a:t>1</a:t>
              </a:r>
              <a:r>
                <a:rPr kumimoji="1" lang="en-US" altLang="zh-CN" dirty="0">
                  <a:solidFill>
                    <a:srgbClr val="FF0000"/>
                  </a:solidFill>
                  <a:latin typeface="宋体" pitchFamily="2" charset="-122"/>
                </a:rPr>
                <a:t>.</a:t>
              </a:r>
              <a:r>
                <a:rPr kumimoji="1" lang="zh-CN" altLang="en-US" dirty="0">
                  <a:solidFill>
                    <a:srgbClr val="FF0000"/>
                  </a:solidFill>
                  <a:latin typeface="宋体" pitchFamily="2" charset="-122"/>
                </a:rPr>
                <a:t>场强积分法</a:t>
              </a:r>
              <a:r>
                <a:rPr kumimoji="1" lang="en-US" altLang="zh-CN" dirty="0">
                  <a:latin typeface="宋体" pitchFamily="2" charset="-122"/>
                </a:rPr>
                <a:t>(</a:t>
              </a:r>
              <a:r>
                <a:rPr kumimoji="1" lang="zh-CN" altLang="en-US" dirty="0">
                  <a:latin typeface="宋体" pitchFamily="2" charset="-122"/>
                </a:rPr>
                <a:t>由定义求</a:t>
              </a:r>
              <a:r>
                <a:rPr kumimoji="1" lang="en-US" altLang="zh-CN" dirty="0">
                  <a:latin typeface="宋体" pitchFamily="2" charset="-122"/>
                </a:rPr>
                <a:t>)</a:t>
              </a:r>
            </a:p>
          </p:txBody>
        </p:sp>
        <p:grpSp>
          <p:nvGrpSpPr>
            <p:cNvPr id="57361" name="Group 10"/>
            <p:cNvGrpSpPr>
              <a:grpSpLocks/>
            </p:cNvGrpSpPr>
            <p:nvPr/>
          </p:nvGrpSpPr>
          <p:grpSpPr bwMode="auto">
            <a:xfrm>
              <a:off x="240" y="2400"/>
              <a:ext cx="2018" cy="327"/>
              <a:chOff x="382" y="2369"/>
              <a:chExt cx="2018" cy="327"/>
            </a:xfrm>
          </p:grpSpPr>
          <p:sp>
            <p:nvSpPr>
              <p:cNvPr id="57365" name="Text Box 11"/>
              <p:cNvSpPr txBox="1">
                <a:spLocks noChangeArrowheads="1"/>
              </p:cNvSpPr>
              <p:nvPr/>
            </p:nvSpPr>
            <p:spPr bwMode="auto">
              <a:xfrm>
                <a:off x="382" y="2369"/>
                <a:ext cx="201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Arial" pitchFamily="34" charset="0"/>
                    <a:ea typeface="宋体" pitchFamily="2" charset="-122"/>
                  </a:defRPr>
                </a:lvl1pPr>
                <a:lvl2pPr marL="742950" indent="-285750">
                  <a:defRPr sz="2800" b="1">
                    <a:solidFill>
                      <a:schemeClr val="tx1"/>
                    </a:solidFill>
                    <a:latin typeface="Arial" pitchFamily="34" charset="0"/>
                    <a:ea typeface="宋体" pitchFamily="2" charset="-122"/>
                  </a:defRPr>
                </a:lvl2pPr>
                <a:lvl3pPr marL="1143000" indent="-228600">
                  <a:defRPr sz="2800" b="1">
                    <a:solidFill>
                      <a:schemeClr val="tx1"/>
                    </a:solidFill>
                    <a:latin typeface="Arial" pitchFamily="34" charset="0"/>
                    <a:ea typeface="宋体" pitchFamily="2" charset="-122"/>
                  </a:defRPr>
                </a:lvl3pPr>
                <a:lvl4pPr marL="1600200" indent="-228600">
                  <a:defRPr sz="2800" b="1">
                    <a:solidFill>
                      <a:schemeClr val="tx1"/>
                    </a:solidFill>
                    <a:latin typeface="Arial" pitchFamily="34" charset="0"/>
                    <a:ea typeface="宋体" pitchFamily="2" charset="-122"/>
                  </a:defRPr>
                </a:lvl4pPr>
                <a:lvl5pPr marL="2057400" indent="-22860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800" b="1">
                    <a:solidFill>
                      <a:schemeClr val="tx1"/>
                    </a:solidFill>
                    <a:latin typeface="Arial" pitchFamily="34" charset="0"/>
                    <a:ea typeface="宋体" pitchFamily="2" charset="-122"/>
                  </a:defRPr>
                </a:lvl9pPr>
              </a:lstStyle>
              <a:p>
                <a:pPr eaLnBrk="1" hangingPunct="1">
                  <a:spcBef>
                    <a:spcPct val="50000"/>
                  </a:spcBef>
                </a:pPr>
                <a:r>
                  <a:rPr kumimoji="1" lang="en-US" altLang="zh-CN">
                    <a:solidFill>
                      <a:schemeClr val="bg2"/>
                    </a:solidFill>
                    <a:latin typeface="宋体" pitchFamily="2" charset="-122"/>
                  </a:rPr>
                  <a:t> </a:t>
                </a:r>
                <a:r>
                  <a:rPr kumimoji="1" lang="en-US" altLang="zh-CN">
                    <a:latin typeface="宋体" pitchFamily="2" charset="-122"/>
                  </a:rPr>
                  <a:t>(</a:t>
                </a:r>
                <a:r>
                  <a:rPr kumimoji="1" lang="en-US" altLang="zh-CN">
                    <a:latin typeface="Times New Roman" pitchFamily="18" charset="0"/>
                  </a:rPr>
                  <a:t>1</a:t>
                </a:r>
                <a:r>
                  <a:rPr kumimoji="1" lang="en-US" altLang="zh-CN">
                    <a:latin typeface="宋体" pitchFamily="2" charset="-122"/>
                  </a:rPr>
                  <a:t>) </a:t>
                </a:r>
                <a:r>
                  <a:rPr kumimoji="1" lang="zh-CN" altLang="en-US">
                    <a:latin typeface="宋体" pitchFamily="2" charset="-122"/>
                  </a:rPr>
                  <a:t>确定   分布</a:t>
                </a:r>
              </a:p>
            </p:txBody>
          </p:sp>
          <p:graphicFrame>
            <p:nvGraphicFramePr>
              <p:cNvPr id="57366" name="Object 12"/>
              <p:cNvGraphicFramePr>
                <a:graphicFrameLocks noChangeAspect="1"/>
              </p:cNvGraphicFramePr>
              <p:nvPr/>
            </p:nvGraphicFramePr>
            <p:xfrm>
              <a:off x="1536" y="2400"/>
              <a:ext cx="169" cy="271"/>
            </p:xfrm>
            <a:graphic>
              <a:graphicData uri="http://schemas.openxmlformats.org/presentationml/2006/ole">
                <mc:AlternateContent xmlns:mc="http://schemas.openxmlformats.org/markup-compatibility/2006">
                  <mc:Choice xmlns:v="urn:schemas-microsoft-com:vml" Requires="v">
                    <p:oleObj spid="_x0000_s53910" name="公式" r:id="rId4" imgW="312366" imgH="403932" progId="Equation.3">
                      <p:embed/>
                    </p:oleObj>
                  </mc:Choice>
                  <mc:Fallback>
                    <p:oleObj name="公式" r:id="rId4" imgW="312366" imgH="403932"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6" y="2400"/>
                            <a:ext cx="169" cy="2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7362" name="Text Box 13"/>
            <p:cNvSpPr txBox="1">
              <a:spLocks noChangeArrowheads="1"/>
            </p:cNvSpPr>
            <p:nvPr/>
          </p:nvSpPr>
          <p:spPr bwMode="auto">
            <a:xfrm>
              <a:off x="240" y="2736"/>
              <a:ext cx="39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Arial" pitchFamily="34" charset="0"/>
                  <a:ea typeface="宋体" pitchFamily="2" charset="-122"/>
                </a:defRPr>
              </a:lvl1pPr>
              <a:lvl2pPr marL="742950" indent="-285750">
                <a:defRPr sz="2800" b="1">
                  <a:solidFill>
                    <a:schemeClr val="tx1"/>
                  </a:solidFill>
                  <a:latin typeface="Arial" pitchFamily="34" charset="0"/>
                  <a:ea typeface="宋体" pitchFamily="2" charset="-122"/>
                </a:defRPr>
              </a:lvl2pPr>
              <a:lvl3pPr marL="1143000" indent="-228600">
                <a:defRPr sz="2800" b="1">
                  <a:solidFill>
                    <a:schemeClr val="tx1"/>
                  </a:solidFill>
                  <a:latin typeface="Arial" pitchFamily="34" charset="0"/>
                  <a:ea typeface="宋体" pitchFamily="2" charset="-122"/>
                </a:defRPr>
              </a:lvl3pPr>
              <a:lvl4pPr marL="1600200" indent="-228600">
                <a:defRPr sz="2800" b="1">
                  <a:solidFill>
                    <a:schemeClr val="tx1"/>
                  </a:solidFill>
                  <a:latin typeface="Arial" pitchFamily="34" charset="0"/>
                  <a:ea typeface="宋体" pitchFamily="2" charset="-122"/>
                </a:defRPr>
              </a:lvl4pPr>
              <a:lvl5pPr marL="2057400" indent="-22860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800" b="1">
                  <a:solidFill>
                    <a:schemeClr val="tx1"/>
                  </a:solidFill>
                  <a:latin typeface="Arial" pitchFamily="34" charset="0"/>
                  <a:ea typeface="宋体" pitchFamily="2" charset="-122"/>
                </a:defRPr>
              </a:lvl9pPr>
            </a:lstStyle>
            <a:p>
              <a:pPr eaLnBrk="1" hangingPunct="1">
                <a:spcBef>
                  <a:spcPct val="50000"/>
                </a:spcBef>
              </a:pPr>
              <a:r>
                <a:rPr kumimoji="1" lang="en-US" altLang="zh-CN">
                  <a:solidFill>
                    <a:schemeClr val="bg2"/>
                  </a:solidFill>
                  <a:latin typeface="宋体" pitchFamily="2" charset="-122"/>
                </a:rPr>
                <a:t> </a:t>
              </a:r>
              <a:r>
                <a:rPr kumimoji="1" lang="en-US" altLang="zh-CN">
                  <a:latin typeface="宋体" pitchFamily="2" charset="-122"/>
                </a:rPr>
                <a:t>(</a:t>
              </a:r>
              <a:r>
                <a:rPr kumimoji="1" lang="en-US" altLang="zh-CN">
                  <a:latin typeface="Times New Roman" pitchFamily="18" charset="0"/>
                </a:rPr>
                <a:t>2</a:t>
              </a:r>
              <a:r>
                <a:rPr kumimoji="1" lang="en-US" altLang="zh-CN">
                  <a:latin typeface="宋体" pitchFamily="2" charset="-122"/>
                </a:rPr>
                <a:t>) </a:t>
              </a:r>
              <a:r>
                <a:rPr kumimoji="1" lang="zh-CN" altLang="en-US">
                  <a:latin typeface="宋体" pitchFamily="2" charset="-122"/>
                </a:rPr>
                <a:t>选零势点和便于计算的积分路径</a:t>
              </a:r>
            </a:p>
          </p:txBody>
        </p:sp>
        <p:sp>
          <p:nvSpPr>
            <p:cNvPr id="57363" name="Text Box 14"/>
            <p:cNvSpPr txBox="1">
              <a:spLocks noChangeArrowheads="1"/>
            </p:cNvSpPr>
            <p:nvPr/>
          </p:nvSpPr>
          <p:spPr bwMode="auto">
            <a:xfrm>
              <a:off x="240" y="3033"/>
              <a:ext cx="205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Arial" pitchFamily="34" charset="0"/>
                  <a:ea typeface="宋体" pitchFamily="2" charset="-122"/>
                </a:defRPr>
              </a:lvl1pPr>
              <a:lvl2pPr marL="742950" indent="-285750">
                <a:defRPr sz="2800" b="1">
                  <a:solidFill>
                    <a:schemeClr val="tx1"/>
                  </a:solidFill>
                  <a:latin typeface="Arial" pitchFamily="34" charset="0"/>
                  <a:ea typeface="宋体" pitchFamily="2" charset="-122"/>
                </a:defRPr>
              </a:lvl2pPr>
              <a:lvl3pPr marL="1143000" indent="-228600">
                <a:defRPr sz="2800" b="1">
                  <a:solidFill>
                    <a:schemeClr val="tx1"/>
                  </a:solidFill>
                  <a:latin typeface="Arial" pitchFamily="34" charset="0"/>
                  <a:ea typeface="宋体" pitchFamily="2" charset="-122"/>
                </a:defRPr>
              </a:lvl3pPr>
              <a:lvl4pPr marL="1600200" indent="-228600">
                <a:defRPr sz="2800" b="1">
                  <a:solidFill>
                    <a:schemeClr val="tx1"/>
                  </a:solidFill>
                  <a:latin typeface="Arial" pitchFamily="34" charset="0"/>
                  <a:ea typeface="宋体" pitchFamily="2" charset="-122"/>
                </a:defRPr>
              </a:lvl4pPr>
              <a:lvl5pPr marL="2057400" indent="-22860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800" b="1">
                  <a:solidFill>
                    <a:schemeClr val="tx1"/>
                  </a:solidFill>
                  <a:latin typeface="Arial" pitchFamily="34" charset="0"/>
                  <a:ea typeface="宋体" pitchFamily="2" charset="-122"/>
                </a:defRPr>
              </a:lvl9pPr>
            </a:lstStyle>
            <a:p>
              <a:pPr eaLnBrk="1" hangingPunct="1">
                <a:spcBef>
                  <a:spcPct val="50000"/>
                </a:spcBef>
              </a:pPr>
              <a:r>
                <a:rPr kumimoji="1" lang="en-US" altLang="zh-CN">
                  <a:solidFill>
                    <a:schemeClr val="bg2"/>
                  </a:solidFill>
                  <a:latin typeface="宋体" pitchFamily="2" charset="-122"/>
                </a:rPr>
                <a:t> </a:t>
              </a:r>
              <a:r>
                <a:rPr kumimoji="1" lang="en-US" altLang="zh-CN">
                  <a:latin typeface="宋体" pitchFamily="2" charset="-122"/>
                </a:rPr>
                <a:t>(</a:t>
              </a:r>
              <a:r>
                <a:rPr kumimoji="1" lang="en-US" altLang="zh-CN">
                  <a:latin typeface="Times New Roman" pitchFamily="18" charset="0"/>
                </a:rPr>
                <a:t>3</a:t>
              </a:r>
              <a:r>
                <a:rPr kumimoji="1" lang="en-US" altLang="zh-CN">
                  <a:latin typeface="宋体" pitchFamily="2" charset="-122"/>
                </a:rPr>
                <a:t>) </a:t>
              </a:r>
              <a:r>
                <a:rPr kumimoji="1" lang="zh-CN" altLang="en-US">
                  <a:latin typeface="宋体" pitchFamily="2" charset="-122"/>
                </a:rPr>
                <a:t>由电势定义</a:t>
              </a:r>
            </a:p>
          </p:txBody>
        </p:sp>
        <p:graphicFrame>
          <p:nvGraphicFramePr>
            <p:cNvPr id="57364" name="Object 15"/>
            <p:cNvGraphicFramePr>
              <a:graphicFrameLocks noChangeAspect="1"/>
            </p:cNvGraphicFramePr>
            <p:nvPr>
              <p:extLst>
                <p:ext uri="{D42A27DB-BD31-4B8C-83A1-F6EECF244321}">
                  <p14:modId xmlns:p14="http://schemas.microsoft.com/office/powerpoint/2010/main" val="3394813994"/>
                </p:ext>
              </p:extLst>
            </p:nvPr>
          </p:nvGraphicFramePr>
          <p:xfrm>
            <a:off x="784" y="3332"/>
            <a:ext cx="4336" cy="818"/>
          </p:xfrm>
          <a:graphic>
            <a:graphicData uri="http://schemas.openxmlformats.org/presentationml/2006/ole">
              <mc:AlternateContent xmlns:mc="http://schemas.openxmlformats.org/markup-compatibility/2006">
                <mc:Choice xmlns:v="urn:schemas-microsoft-com:vml" Requires="v">
                  <p:oleObj spid="_x0000_s53911" name="Equation" r:id="rId6" imgW="2666880" imgH="482400" progId="Equation.DSMT4">
                    <p:embed/>
                  </p:oleObj>
                </mc:Choice>
                <mc:Fallback>
                  <p:oleObj name="Equation" r:id="rId6" imgW="2666880" imgH="482400" progId="Equation.DSMT4">
                    <p:embed/>
                    <p:pic>
                      <p:nvPicPr>
                        <p:cNvPr id="0" name=""/>
                        <p:cNvPicPr>
                          <a:picLocks noChangeAspect="1" noChangeArrowheads="1"/>
                        </p:cNvPicPr>
                        <p:nvPr/>
                      </p:nvPicPr>
                      <p:blipFill>
                        <a:blip r:embed="rId7"/>
                        <a:srcRect/>
                        <a:stretch>
                          <a:fillRect/>
                        </a:stretch>
                      </p:blipFill>
                      <p:spPr bwMode="auto">
                        <a:xfrm>
                          <a:off x="784" y="3332"/>
                          <a:ext cx="4336" cy="8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178640" name="AutoShape 16"/>
          <p:cNvSpPr>
            <a:spLocks noChangeArrowheads="1"/>
          </p:cNvSpPr>
          <p:nvPr/>
        </p:nvSpPr>
        <p:spPr bwMode="auto">
          <a:xfrm>
            <a:off x="5219700" y="404813"/>
            <a:ext cx="3924300" cy="1439862"/>
          </a:xfrm>
          <a:prstGeom prst="cloudCallout">
            <a:avLst>
              <a:gd name="adj1" fmla="val -116801"/>
              <a:gd name="adj2" fmla="val 56944"/>
            </a:avLst>
          </a:prstGeom>
          <a:noFill/>
          <a:ln w="9525">
            <a:solidFill>
              <a:srgbClr val="FF9933"/>
            </a:solidFill>
            <a:round/>
            <a:headEnd/>
            <a:tailEnd/>
          </a:ln>
          <a:extLst>
            <a:ext uri="{909E8E84-426E-40DD-AFC4-6F175D3DCCD1}">
              <a14:hiddenFill xmlns:a14="http://schemas.microsoft.com/office/drawing/2010/main">
                <a:solidFill>
                  <a:srgbClr val="FFFFFF"/>
                </a:solidFill>
              </a14:hiddenFill>
            </a:ext>
          </a:extLst>
        </p:spPr>
        <p:txBody>
          <a:bodyPr lIns="0" rIns="0"/>
          <a:lstStyle/>
          <a:p>
            <a:pPr eaLnBrk="1" hangingPunct="1"/>
            <a:r>
              <a:rPr lang="zh-CN" altLang="en-US" sz="2400" b="1" dirty="0">
                <a:solidFill>
                  <a:srgbClr val="0000FF"/>
                </a:solidFill>
              </a:rPr>
              <a:t>常选地球电势为零。电势差与电势的零点选取无关。</a:t>
            </a:r>
          </a:p>
        </p:txBody>
      </p:sp>
      <p:grpSp>
        <p:nvGrpSpPr>
          <p:cNvPr id="4" name="Group 28"/>
          <p:cNvGrpSpPr>
            <a:grpSpLocks/>
          </p:cNvGrpSpPr>
          <p:nvPr/>
        </p:nvGrpSpPr>
        <p:grpSpPr bwMode="auto">
          <a:xfrm>
            <a:off x="539750" y="3860800"/>
            <a:ext cx="7939088" cy="2300288"/>
            <a:chOff x="385" y="2432"/>
            <a:chExt cx="5001" cy="1449"/>
          </a:xfrm>
        </p:grpSpPr>
        <p:sp>
          <p:nvSpPr>
            <p:cNvPr id="57352" name="Text Box 18"/>
            <p:cNvSpPr txBox="1">
              <a:spLocks noChangeArrowheads="1"/>
            </p:cNvSpPr>
            <p:nvPr/>
          </p:nvSpPr>
          <p:spPr bwMode="auto">
            <a:xfrm>
              <a:off x="385" y="2432"/>
              <a:ext cx="115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Arial" pitchFamily="34" charset="0"/>
                  <a:ea typeface="宋体" pitchFamily="2" charset="-122"/>
                </a:defRPr>
              </a:lvl1pPr>
              <a:lvl2pPr marL="742950" indent="-285750">
                <a:defRPr sz="2800" b="1">
                  <a:solidFill>
                    <a:schemeClr val="tx1"/>
                  </a:solidFill>
                  <a:latin typeface="Arial" pitchFamily="34" charset="0"/>
                  <a:ea typeface="宋体" pitchFamily="2" charset="-122"/>
                </a:defRPr>
              </a:lvl2pPr>
              <a:lvl3pPr marL="1143000" indent="-228600">
                <a:defRPr sz="2800" b="1">
                  <a:solidFill>
                    <a:schemeClr val="tx1"/>
                  </a:solidFill>
                  <a:latin typeface="Arial" pitchFamily="34" charset="0"/>
                  <a:ea typeface="宋体" pitchFamily="2" charset="-122"/>
                </a:defRPr>
              </a:lvl3pPr>
              <a:lvl4pPr marL="1600200" indent="-228600">
                <a:defRPr sz="2800" b="1">
                  <a:solidFill>
                    <a:schemeClr val="tx1"/>
                  </a:solidFill>
                  <a:latin typeface="Arial" pitchFamily="34" charset="0"/>
                  <a:ea typeface="宋体" pitchFamily="2" charset="-122"/>
                </a:defRPr>
              </a:lvl4pPr>
              <a:lvl5pPr marL="2057400" indent="-22860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800" b="1">
                  <a:solidFill>
                    <a:schemeClr val="tx1"/>
                  </a:solidFill>
                  <a:latin typeface="Arial" pitchFamily="34" charset="0"/>
                  <a:ea typeface="宋体" pitchFamily="2" charset="-122"/>
                </a:defRPr>
              </a:lvl9pPr>
            </a:lstStyle>
            <a:p>
              <a:pPr eaLnBrk="1" hangingPunct="1">
                <a:spcBef>
                  <a:spcPct val="50000"/>
                </a:spcBef>
              </a:pPr>
              <a:r>
                <a:rPr kumimoji="1" lang="en-US" altLang="zh-CN">
                  <a:solidFill>
                    <a:srgbClr val="FF0000"/>
                  </a:solidFill>
                  <a:latin typeface="Times New Roman" pitchFamily="18" charset="0"/>
                </a:rPr>
                <a:t>2.</a:t>
              </a:r>
              <a:r>
                <a:rPr kumimoji="1" lang="en-US" altLang="zh-CN">
                  <a:solidFill>
                    <a:srgbClr val="FF0000"/>
                  </a:solidFill>
                  <a:latin typeface="宋体" pitchFamily="2" charset="-122"/>
                </a:rPr>
                <a:t> </a:t>
              </a:r>
              <a:r>
                <a:rPr kumimoji="1" lang="zh-CN" altLang="en-US">
                  <a:solidFill>
                    <a:srgbClr val="FF0000"/>
                  </a:solidFill>
                  <a:latin typeface="宋体" pitchFamily="2" charset="-122"/>
                </a:rPr>
                <a:t>叠加法</a:t>
              </a:r>
            </a:p>
          </p:txBody>
        </p:sp>
        <p:sp>
          <p:nvSpPr>
            <p:cNvPr id="57353" name="Text Box 19"/>
            <p:cNvSpPr txBox="1">
              <a:spLocks noChangeArrowheads="1"/>
            </p:cNvSpPr>
            <p:nvPr/>
          </p:nvSpPr>
          <p:spPr bwMode="auto">
            <a:xfrm>
              <a:off x="625" y="2768"/>
              <a:ext cx="38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Arial" pitchFamily="34" charset="0"/>
                  <a:ea typeface="宋体" pitchFamily="2" charset="-122"/>
                </a:defRPr>
              </a:lvl1pPr>
              <a:lvl2pPr marL="742950" indent="-285750">
                <a:defRPr sz="2800" b="1">
                  <a:solidFill>
                    <a:schemeClr val="tx1"/>
                  </a:solidFill>
                  <a:latin typeface="Arial" pitchFamily="34" charset="0"/>
                  <a:ea typeface="宋体" pitchFamily="2" charset="-122"/>
                </a:defRPr>
              </a:lvl2pPr>
              <a:lvl3pPr marL="1143000" indent="-228600">
                <a:defRPr sz="2800" b="1">
                  <a:solidFill>
                    <a:schemeClr val="tx1"/>
                  </a:solidFill>
                  <a:latin typeface="Arial" pitchFamily="34" charset="0"/>
                  <a:ea typeface="宋体" pitchFamily="2" charset="-122"/>
                </a:defRPr>
              </a:lvl3pPr>
              <a:lvl4pPr marL="1600200" indent="-228600">
                <a:defRPr sz="2800" b="1">
                  <a:solidFill>
                    <a:schemeClr val="tx1"/>
                  </a:solidFill>
                  <a:latin typeface="Arial" pitchFamily="34" charset="0"/>
                  <a:ea typeface="宋体" pitchFamily="2" charset="-122"/>
                </a:defRPr>
              </a:lvl4pPr>
              <a:lvl5pPr marL="2057400" indent="-22860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800" b="1">
                  <a:solidFill>
                    <a:schemeClr val="tx1"/>
                  </a:solidFill>
                  <a:latin typeface="Arial" pitchFamily="34" charset="0"/>
                  <a:ea typeface="宋体" pitchFamily="2" charset="-122"/>
                </a:defRPr>
              </a:lvl9pPr>
            </a:lstStyle>
            <a:p>
              <a:pPr eaLnBrk="1" hangingPunct="1">
                <a:spcBef>
                  <a:spcPct val="50000"/>
                </a:spcBef>
              </a:pPr>
              <a:r>
                <a:rPr kumimoji="1" lang="en-US" altLang="zh-CN" dirty="0">
                  <a:solidFill>
                    <a:schemeClr val="bg2"/>
                  </a:solidFill>
                  <a:latin typeface="宋体" pitchFamily="2" charset="-122"/>
                </a:rPr>
                <a:t> </a:t>
              </a:r>
              <a:r>
                <a:rPr kumimoji="1" lang="en-US" altLang="zh-CN" dirty="0">
                  <a:latin typeface="Times New Roman" pitchFamily="18" charset="0"/>
                </a:rPr>
                <a:t>(1)</a:t>
              </a:r>
              <a:r>
                <a:rPr kumimoji="1" lang="en-US" altLang="zh-CN" dirty="0">
                  <a:latin typeface="宋体" pitchFamily="2" charset="-122"/>
                </a:rPr>
                <a:t> </a:t>
              </a:r>
              <a:r>
                <a:rPr kumimoji="1" lang="zh-CN" altLang="en-US" dirty="0">
                  <a:latin typeface="宋体" pitchFamily="2" charset="-122"/>
                </a:rPr>
                <a:t>将带电体划分为若干电荷元</a:t>
              </a:r>
            </a:p>
          </p:txBody>
        </p:sp>
        <p:graphicFrame>
          <p:nvGraphicFramePr>
            <p:cNvPr id="57354" name="Object 20"/>
            <p:cNvGraphicFramePr>
              <a:graphicFrameLocks noChangeAspect="1"/>
            </p:cNvGraphicFramePr>
            <p:nvPr/>
          </p:nvGraphicFramePr>
          <p:xfrm>
            <a:off x="3878" y="2750"/>
            <a:ext cx="408" cy="364"/>
          </p:xfrm>
          <a:graphic>
            <a:graphicData uri="http://schemas.openxmlformats.org/presentationml/2006/ole">
              <mc:AlternateContent xmlns:mc="http://schemas.openxmlformats.org/markup-compatibility/2006">
                <mc:Choice xmlns:v="urn:schemas-microsoft-com:vml" Requires="v">
                  <p:oleObj spid="_x0000_s53912" name="公式" r:id="rId8" imgW="203024" imgH="203024" progId="Equation.3">
                    <p:embed/>
                  </p:oleObj>
                </mc:Choice>
                <mc:Fallback>
                  <p:oleObj name="公式" r:id="rId8" imgW="203024" imgH="203024"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78" y="2750"/>
                          <a:ext cx="408" cy="3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355" name="Text Box 21"/>
            <p:cNvSpPr txBox="1">
              <a:spLocks noChangeArrowheads="1"/>
            </p:cNvSpPr>
            <p:nvPr/>
          </p:nvSpPr>
          <p:spPr bwMode="auto">
            <a:xfrm>
              <a:off x="625" y="3440"/>
              <a:ext cx="213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Arial" pitchFamily="34" charset="0"/>
                  <a:ea typeface="宋体" pitchFamily="2" charset="-122"/>
                </a:defRPr>
              </a:lvl1pPr>
              <a:lvl2pPr marL="742950" indent="-285750">
                <a:defRPr sz="2800" b="1">
                  <a:solidFill>
                    <a:schemeClr val="tx1"/>
                  </a:solidFill>
                  <a:latin typeface="Arial" pitchFamily="34" charset="0"/>
                  <a:ea typeface="宋体" pitchFamily="2" charset="-122"/>
                </a:defRPr>
              </a:lvl2pPr>
              <a:lvl3pPr marL="1143000" indent="-228600">
                <a:defRPr sz="2800" b="1">
                  <a:solidFill>
                    <a:schemeClr val="tx1"/>
                  </a:solidFill>
                  <a:latin typeface="Arial" pitchFamily="34" charset="0"/>
                  <a:ea typeface="宋体" pitchFamily="2" charset="-122"/>
                </a:defRPr>
              </a:lvl3pPr>
              <a:lvl4pPr marL="1600200" indent="-228600">
                <a:defRPr sz="2800" b="1">
                  <a:solidFill>
                    <a:schemeClr val="tx1"/>
                  </a:solidFill>
                  <a:latin typeface="Arial" pitchFamily="34" charset="0"/>
                  <a:ea typeface="宋体" pitchFamily="2" charset="-122"/>
                </a:defRPr>
              </a:lvl4pPr>
              <a:lvl5pPr marL="2057400" indent="-22860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800" b="1">
                  <a:solidFill>
                    <a:schemeClr val="tx1"/>
                  </a:solidFill>
                  <a:latin typeface="Arial" pitchFamily="34" charset="0"/>
                  <a:ea typeface="宋体" pitchFamily="2" charset="-122"/>
                </a:defRPr>
              </a:lvl9pPr>
            </a:lstStyle>
            <a:p>
              <a:pPr eaLnBrk="1" hangingPunct="1">
                <a:spcBef>
                  <a:spcPct val="50000"/>
                </a:spcBef>
              </a:pPr>
              <a:r>
                <a:rPr kumimoji="1" lang="en-US" altLang="zh-CN" dirty="0">
                  <a:solidFill>
                    <a:schemeClr val="bg2"/>
                  </a:solidFill>
                  <a:latin typeface="宋体" pitchFamily="2" charset="-122"/>
                </a:rPr>
                <a:t> </a:t>
              </a:r>
              <a:r>
                <a:rPr kumimoji="1" lang="en-US" altLang="zh-CN" dirty="0">
                  <a:latin typeface="Times New Roman" pitchFamily="18" charset="0"/>
                </a:rPr>
                <a:t>(3)</a:t>
              </a:r>
              <a:r>
                <a:rPr kumimoji="1" lang="en-US" altLang="zh-CN" dirty="0">
                  <a:latin typeface="宋体" pitchFamily="2" charset="-122"/>
                </a:rPr>
                <a:t> </a:t>
              </a:r>
              <a:r>
                <a:rPr kumimoji="1" lang="zh-CN" altLang="en-US" dirty="0">
                  <a:latin typeface="宋体" pitchFamily="2" charset="-122"/>
                </a:rPr>
                <a:t>由叠加原理得</a:t>
              </a:r>
              <a:r>
                <a:rPr kumimoji="1" lang="zh-CN" altLang="en-US" dirty="0">
                  <a:solidFill>
                    <a:schemeClr val="bg2"/>
                  </a:solidFill>
                  <a:latin typeface="宋体" pitchFamily="2" charset="-122"/>
                </a:rPr>
                <a:t>             </a:t>
              </a:r>
            </a:p>
          </p:txBody>
        </p:sp>
        <p:graphicFrame>
          <p:nvGraphicFramePr>
            <p:cNvPr id="57356" name="Object 22"/>
            <p:cNvGraphicFramePr>
              <a:graphicFrameLocks noChangeAspect="1"/>
            </p:cNvGraphicFramePr>
            <p:nvPr>
              <p:extLst>
                <p:ext uri="{D42A27DB-BD31-4B8C-83A1-F6EECF244321}">
                  <p14:modId xmlns:p14="http://schemas.microsoft.com/office/powerpoint/2010/main" val="3596973244"/>
                </p:ext>
              </p:extLst>
            </p:nvPr>
          </p:nvGraphicFramePr>
          <p:xfrm>
            <a:off x="2602" y="3377"/>
            <a:ext cx="2094" cy="504"/>
          </p:xfrm>
          <a:graphic>
            <a:graphicData uri="http://schemas.openxmlformats.org/presentationml/2006/ole">
              <mc:AlternateContent xmlns:mc="http://schemas.openxmlformats.org/markup-compatibility/2006">
                <mc:Choice xmlns:v="urn:schemas-microsoft-com:vml" Requires="v">
                  <p:oleObj spid="_x0000_s53913" name="Equation" r:id="rId10" imgW="1384200" imgH="304560" progId="Equation.DSMT4">
                    <p:embed/>
                  </p:oleObj>
                </mc:Choice>
                <mc:Fallback>
                  <p:oleObj name="Equation" r:id="rId10" imgW="1384200" imgH="304560" progId="Equation.DSMT4">
                    <p:embed/>
                    <p:pic>
                      <p:nvPicPr>
                        <p:cNvPr id="0" name=""/>
                        <p:cNvPicPr>
                          <a:picLocks noChangeAspect="1" noChangeArrowheads="1"/>
                        </p:cNvPicPr>
                        <p:nvPr/>
                      </p:nvPicPr>
                      <p:blipFill>
                        <a:blip r:embed="rId11"/>
                        <a:srcRect/>
                        <a:stretch>
                          <a:fillRect/>
                        </a:stretch>
                      </p:blipFill>
                      <p:spPr bwMode="auto">
                        <a:xfrm>
                          <a:off x="2602" y="3377"/>
                          <a:ext cx="2094" cy="5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357" name="Text Box 23"/>
            <p:cNvSpPr txBox="1">
              <a:spLocks noChangeArrowheads="1"/>
            </p:cNvSpPr>
            <p:nvPr/>
          </p:nvSpPr>
          <p:spPr bwMode="auto">
            <a:xfrm>
              <a:off x="625" y="3104"/>
              <a:ext cx="44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Arial" pitchFamily="34" charset="0"/>
                  <a:ea typeface="宋体" pitchFamily="2" charset="-122"/>
                </a:defRPr>
              </a:lvl1pPr>
              <a:lvl2pPr marL="742950" indent="-285750">
                <a:defRPr sz="2800" b="1">
                  <a:solidFill>
                    <a:schemeClr val="tx1"/>
                  </a:solidFill>
                  <a:latin typeface="Arial" pitchFamily="34" charset="0"/>
                  <a:ea typeface="宋体" pitchFamily="2" charset="-122"/>
                </a:defRPr>
              </a:lvl2pPr>
              <a:lvl3pPr marL="1143000" indent="-228600">
                <a:defRPr sz="2800" b="1">
                  <a:solidFill>
                    <a:schemeClr val="tx1"/>
                  </a:solidFill>
                  <a:latin typeface="Arial" pitchFamily="34" charset="0"/>
                  <a:ea typeface="宋体" pitchFamily="2" charset="-122"/>
                </a:defRPr>
              </a:lvl3pPr>
              <a:lvl4pPr marL="1600200" indent="-228600">
                <a:defRPr sz="2800" b="1">
                  <a:solidFill>
                    <a:schemeClr val="tx1"/>
                  </a:solidFill>
                  <a:latin typeface="Arial" pitchFamily="34" charset="0"/>
                  <a:ea typeface="宋体" pitchFamily="2" charset="-122"/>
                </a:defRPr>
              </a:lvl4pPr>
              <a:lvl5pPr marL="2057400" indent="-22860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800" b="1">
                  <a:solidFill>
                    <a:schemeClr val="tx1"/>
                  </a:solidFill>
                  <a:latin typeface="Arial" pitchFamily="34" charset="0"/>
                  <a:ea typeface="宋体" pitchFamily="2" charset="-122"/>
                </a:defRPr>
              </a:lvl9pPr>
            </a:lstStyle>
            <a:p>
              <a:pPr eaLnBrk="1" hangingPunct="1">
                <a:spcBef>
                  <a:spcPct val="50000"/>
                </a:spcBef>
              </a:pPr>
              <a:r>
                <a:rPr kumimoji="1" lang="en-US" altLang="zh-CN" dirty="0">
                  <a:solidFill>
                    <a:schemeClr val="bg2"/>
                  </a:solidFill>
                  <a:latin typeface="宋体" pitchFamily="2" charset="-122"/>
                </a:rPr>
                <a:t> </a:t>
              </a:r>
              <a:r>
                <a:rPr kumimoji="1" lang="en-US" altLang="zh-CN" dirty="0">
                  <a:latin typeface="Times New Roman" pitchFamily="18" charset="0"/>
                </a:rPr>
                <a:t>(2)</a:t>
              </a:r>
              <a:r>
                <a:rPr kumimoji="1" lang="en-US" altLang="zh-CN" dirty="0">
                  <a:latin typeface="宋体" pitchFamily="2" charset="-122"/>
                </a:rPr>
                <a:t> </a:t>
              </a:r>
              <a:r>
                <a:rPr kumimoji="1" lang="zh-CN" altLang="en-US" dirty="0">
                  <a:latin typeface="宋体" pitchFamily="2" charset="-122"/>
                </a:rPr>
                <a:t>选零势点，写出某一    在场点的电势</a:t>
              </a:r>
            </a:p>
          </p:txBody>
        </p:sp>
        <p:graphicFrame>
          <p:nvGraphicFramePr>
            <p:cNvPr id="57358" name="Object 24"/>
            <p:cNvGraphicFramePr>
              <a:graphicFrameLocks noChangeAspect="1"/>
            </p:cNvGraphicFramePr>
            <p:nvPr>
              <p:extLst>
                <p:ext uri="{D42A27DB-BD31-4B8C-83A1-F6EECF244321}">
                  <p14:modId xmlns:p14="http://schemas.microsoft.com/office/powerpoint/2010/main" val="54653361"/>
                </p:ext>
              </p:extLst>
            </p:nvPr>
          </p:nvGraphicFramePr>
          <p:xfrm>
            <a:off x="4978" y="3158"/>
            <a:ext cx="408" cy="270"/>
          </p:xfrm>
          <a:graphic>
            <a:graphicData uri="http://schemas.openxmlformats.org/presentationml/2006/ole">
              <mc:AlternateContent xmlns:mc="http://schemas.openxmlformats.org/markup-compatibility/2006">
                <mc:Choice xmlns:v="urn:schemas-microsoft-com:vml" Requires="v">
                  <p:oleObj spid="_x0000_s53914" name="Equation" r:id="rId12" imgW="241200" imgH="177480" progId="Equation.DSMT4">
                    <p:embed/>
                  </p:oleObj>
                </mc:Choice>
                <mc:Fallback>
                  <p:oleObj name="Equation" r:id="rId12" imgW="241200" imgH="177480" progId="Equation.DSMT4">
                    <p:embed/>
                    <p:pic>
                      <p:nvPicPr>
                        <p:cNvPr id="0" name=""/>
                        <p:cNvPicPr>
                          <a:picLocks noChangeAspect="1" noChangeArrowheads="1"/>
                        </p:cNvPicPr>
                        <p:nvPr/>
                      </p:nvPicPr>
                      <p:blipFill>
                        <a:blip r:embed="rId13"/>
                        <a:srcRect/>
                        <a:stretch>
                          <a:fillRect/>
                        </a:stretch>
                      </p:blipFill>
                      <p:spPr bwMode="auto">
                        <a:xfrm>
                          <a:off x="4978" y="3158"/>
                          <a:ext cx="408" cy="2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59" name="Object 25"/>
            <p:cNvGraphicFramePr>
              <a:graphicFrameLocks noChangeAspect="1"/>
            </p:cNvGraphicFramePr>
            <p:nvPr/>
          </p:nvGraphicFramePr>
          <p:xfrm>
            <a:off x="3243" y="3111"/>
            <a:ext cx="408" cy="364"/>
          </p:xfrm>
          <a:graphic>
            <a:graphicData uri="http://schemas.openxmlformats.org/presentationml/2006/ole">
              <mc:AlternateContent xmlns:mc="http://schemas.openxmlformats.org/markup-compatibility/2006">
                <mc:Choice xmlns:v="urn:schemas-microsoft-com:vml" Requires="v">
                  <p:oleObj spid="_x0000_s53915" name="公式" r:id="rId14" imgW="203024" imgH="203024" progId="Equation.3">
                    <p:embed/>
                  </p:oleObj>
                </mc:Choice>
                <mc:Fallback>
                  <p:oleObj name="公式" r:id="rId14" imgW="203024" imgH="203024"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43" y="3111"/>
                          <a:ext cx="408" cy="3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178650" name="Oval 26"/>
          <p:cNvSpPr>
            <a:spLocks noChangeArrowheads="1"/>
          </p:cNvSpPr>
          <p:nvPr/>
        </p:nvSpPr>
        <p:spPr bwMode="auto">
          <a:xfrm>
            <a:off x="1403350" y="1844675"/>
            <a:ext cx="1512888" cy="647700"/>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a:p>
        </p:txBody>
      </p:sp>
    </p:spTree>
    <p:extLst>
      <p:ext uri="{BB962C8B-B14F-4D97-AF65-F5344CB8AC3E}">
        <p14:creationId xmlns:p14="http://schemas.microsoft.com/office/powerpoint/2010/main" val="18128479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178650"/>
                                        </p:tgtEl>
                                        <p:attrNameLst>
                                          <p:attrName>style.visibility</p:attrName>
                                        </p:attrNameLst>
                                      </p:cBhvr>
                                      <p:to>
                                        <p:strVal val="visible"/>
                                      </p:to>
                                    </p:set>
                                  </p:childTnLst>
                                </p:cTn>
                              </p:par>
                            </p:childTnLst>
                          </p:cTn>
                        </p:par>
                        <p:par>
                          <p:cTn id="12" fill="hold" nodeType="afterGroup">
                            <p:stCondLst>
                              <p:cond delay="0"/>
                            </p:stCondLst>
                            <p:childTnLst>
                              <p:par>
                                <p:cTn id="13" presetID="22" presetClass="entr" presetSubtype="8" fill="hold" grpId="0" nodeType="afterEffect">
                                  <p:stCondLst>
                                    <p:cond delay="0"/>
                                  </p:stCondLst>
                                  <p:childTnLst>
                                    <p:set>
                                      <p:cBhvr>
                                        <p:cTn id="14" dur="1" fill="hold">
                                          <p:stCondLst>
                                            <p:cond delay="0"/>
                                          </p:stCondLst>
                                        </p:cTn>
                                        <p:tgtEl>
                                          <p:spTgt spid="1178640"/>
                                        </p:tgtEl>
                                        <p:attrNameLst>
                                          <p:attrName>style.visibility</p:attrName>
                                        </p:attrNameLst>
                                      </p:cBhvr>
                                      <p:to>
                                        <p:strVal val="visible"/>
                                      </p:to>
                                    </p:set>
                                    <p:animEffect transition="in" filter="wipe(left)">
                                      <p:cBhvr>
                                        <p:cTn id="15" dur="2000"/>
                                        <p:tgtEl>
                                          <p:spTgt spid="117864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8640" grpId="0" animBg="1"/>
      <p:bldP spid="117865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3880" y="282297"/>
            <a:ext cx="1620957" cy="523220"/>
          </a:xfrm>
          <a:prstGeom prst="rect">
            <a:avLst/>
          </a:prstGeom>
          <a:noFill/>
        </p:spPr>
        <p:txBody>
          <a:bodyPr wrap="none" rtlCol="0">
            <a:spAutoFit/>
          </a:bodyPr>
          <a:lstStyle/>
          <a:p>
            <a:r>
              <a:rPr lang="zh-CN" altLang="en-US" sz="2800" b="1" dirty="0" smtClean="0">
                <a:solidFill>
                  <a:srgbClr val="0000FF"/>
                </a:solidFill>
                <a:latin typeface="黑体" pitchFamily="49" charset="-122"/>
                <a:ea typeface="黑体" pitchFamily="49" charset="-122"/>
              </a:rPr>
              <a:t>例题</a:t>
            </a:r>
            <a:r>
              <a:rPr lang="en-US" altLang="zh-CN" sz="2800" b="1" dirty="0" smtClean="0">
                <a:solidFill>
                  <a:srgbClr val="0000FF"/>
                </a:solidFill>
                <a:latin typeface="黑体" pitchFamily="49" charset="-122"/>
                <a:ea typeface="黑体" pitchFamily="49" charset="-122"/>
              </a:rPr>
              <a:t>17.5</a:t>
            </a:r>
            <a:endParaRPr lang="zh-CN" altLang="en-US" sz="2800" b="1" dirty="0">
              <a:solidFill>
                <a:srgbClr val="0000FF"/>
              </a:solidFill>
            </a:endParaRPr>
          </a:p>
        </p:txBody>
      </p:sp>
      <p:sp>
        <p:nvSpPr>
          <p:cNvPr id="4" name="TextBox 3"/>
          <p:cNvSpPr txBox="1"/>
          <p:nvPr/>
        </p:nvSpPr>
        <p:spPr>
          <a:xfrm>
            <a:off x="323528" y="886660"/>
            <a:ext cx="4858102" cy="2308324"/>
          </a:xfrm>
          <a:prstGeom prst="rect">
            <a:avLst/>
          </a:prstGeom>
          <a:noFill/>
        </p:spPr>
        <p:txBody>
          <a:bodyPr wrap="square" rtlCol="0">
            <a:spAutoFit/>
          </a:bodyPr>
          <a:lstStyle/>
          <a:p>
            <a:pPr>
              <a:lnSpc>
                <a:spcPct val="150000"/>
              </a:lnSpc>
            </a:pPr>
            <a:r>
              <a:rPr lang="zh-CN" altLang="en-US" sz="2400" dirty="0" smtClean="0">
                <a:latin typeface="黑体" pitchFamily="49" charset="-122"/>
                <a:ea typeface="黑体" pitchFamily="49" charset="-122"/>
              </a:rPr>
              <a:t>四个相同的点电荷</a:t>
            </a:r>
            <a:r>
              <a:rPr lang="en-US" altLang="zh-CN" sz="2400" i="1" dirty="0" smtClean="0">
                <a:latin typeface="Times New Roman" panose="02020603050405020304" pitchFamily="18" charset="0"/>
                <a:ea typeface="黑体" pitchFamily="49" charset="-122"/>
                <a:cs typeface="Times New Roman" panose="02020603050405020304" pitchFamily="18" charset="0"/>
              </a:rPr>
              <a:t>q</a:t>
            </a:r>
            <a:r>
              <a:rPr lang="zh-CN" altLang="en-US" sz="2400" dirty="0" smtClean="0">
                <a:latin typeface="黑体" pitchFamily="49" charset="-122"/>
                <a:ea typeface="黑体" pitchFamily="49" charset="-122"/>
              </a:rPr>
              <a:t>位于边长为</a:t>
            </a:r>
            <a:r>
              <a:rPr lang="en-US" altLang="zh-CN" sz="2400" i="1" dirty="0" smtClean="0">
                <a:latin typeface="Times New Roman" panose="02020603050405020304" pitchFamily="18" charset="0"/>
                <a:ea typeface="黑体" pitchFamily="49" charset="-122"/>
                <a:cs typeface="Times New Roman" panose="02020603050405020304" pitchFamily="18" charset="0"/>
              </a:rPr>
              <a:t>s</a:t>
            </a:r>
            <a:r>
              <a:rPr lang="zh-CN" altLang="en-US" sz="2400" dirty="0" smtClean="0">
                <a:latin typeface="黑体" pitchFamily="49" charset="-122"/>
                <a:ea typeface="黑体" pitchFamily="49" charset="-122"/>
              </a:rPr>
              <a:t>的正方形的四个顶点处。（</a:t>
            </a:r>
            <a:r>
              <a:rPr lang="en-US" altLang="zh-CN" sz="2400" dirty="0" smtClean="0">
                <a:latin typeface="黑体" pitchFamily="49" charset="-122"/>
                <a:ea typeface="黑体" pitchFamily="49" charset="-122"/>
              </a:rPr>
              <a:t>a</a:t>
            </a:r>
            <a:r>
              <a:rPr lang="zh-CN" altLang="en-US" sz="2400" dirty="0" smtClean="0">
                <a:latin typeface="黑体" pitchFamily="49" charset="-122"/>
                <a:ea typeface="黑体" pitchFamily="49" charset="-122"/>
              </a:rPr>
              <a:t>）正方形中心处的电场是否为零？（</a:t>
            </a:r>
            <a:r>
              <a:rPr lang="en-US" altLang="zh-CN" sz="2400" dirty="0" smtClean="0">
                <a:latin typeface="黑体" pitchFamily="49" charset="-122"/>
                <a:ea typeface="黑体" pitchFamily="49" charset="-122"/>
              </a:rPr>
              <a:t>b</a:t>
            </a:r>
            <a:r>
              <a:rPr lang="zh-CN" altLang="en-US" sz="2400" dirty="0" smtClean="0">
                <a:latin typeface="黑体" pitchFamily="49" charset="-122"/>
                <a:ea typeface="黑体" pitchFamily="49" charset="-122"/>
              </a:rPr>
              <a:t>）正方形中心处的电势是否为零？</a:t>
            </a:r>
            <a:endParaRPr lang="zh-CN" altLang="en-US" sz="2400" dirty="0">
              <a:latin typeface="黑体" pitchFamily="49" charset="-122"/>
              <a:ea typeface="黑体" pitchFamily="49" charset="-122"/>
            </a:endParaRPr>
          </a:p>
        </p:txBody>
      </p:sp>
      <p:sp>
        <p:nvSpPr>
          <p:cNvPr id="18" name="TextBox 17"/>
          <p:cNvSpPr txBox="1"/>
          <p:nvPr/>
        </p:nvSpPr>
        <p:spPr>
          <a:xfrm>
            <a:off x="628715" y="5145698"/>
            <a:ext cx="6552728" cy="1077218"/>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3200" dirty="0" smtClean="0">
                <a:latin typeface="楷体" pitchFamily="49" charset="-122"/>
                <a:ea typeface="楷体" pitchFamily="49" charset="-122"/>
              </a:rPr>
              <a:t>*因为电场是零，所以电势是零；</a:t>
            </a:r>
            <a:endParaRPr lang="en-US" altLang="zh-CN" sz="3200" dirty="0" smtClean="0">
              <a:latin typeface="楷体" pitchFamily="49" charset="-122"/>
              <a:ea typeface="楷体" pitchFamily="49" charset="-122"/>
            </a:endParaRPr>
          </a:p>
          <a:p>
            <a:r>
              <a:rPr lang="zh-CN" altLang="en-US" sz="3200" dirty="0" smtClean="0">
                <a:latin typeface="楷体" pitchFamily="49" charset="-122"/>
                <a:ea typeface="楷体" pitchFamily="49" charset="-122"/>
              </a:rPr>
              <a:t>*因为电势是零，所以电场是零。</a:t>
            </a:r>
            <a:endParaRPr lang="zh-CN" altLang="en-US" sz="3200" dirty="0">
              <a:latin typeface="楷体" pitchFamily="49" charset="-122"/>
              <a:ea typeface="楷体" pitchFamily="49" charset="-122"/>
            </a:endParaRPr>
          </a:p>
        </p:txBody>
      </p:sp>
      <p:grpSp>
        <p:nvGrpSpPr>
          <p:cNvPr id="21" name="组合 20"/>
          <p:cNvGrpSpPr/>
          <p:nvPr/>
        </p:nvGrpSpPr>
        <p:grpSpPr>
          <a:xfrm>
            <a:off x="6961259" y="4782120"/>
            <a:ext cx="336741" cy="1804374"/>
            <a:chOff x="3865893" y="4131094"/>
            <a:chExt cx="250760" cy="2516377"/>
          </a:xfrm>
        </p:grpSpPr>
        <p:sp>
          <p:nvSpPr>
            <p:cNvPr id="19" name="矩形 18"/>
            <p:cNvSpPr/>
            <p:nvPr/>
          </p:nvSpPr>
          <p:spPr>
            <a:xfrm rot="3777165">
              <a:off x="2758021" y="5288839"/>
              <a:ext cx="2501240" cy="216024"/>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rot="7039699">
              <a:off x="2723285" y="5273702"/>
              <a:ext cx="2501240" cy="216024"/>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0112" y="918509"/>
            <a:ext cx="2409825" cy="227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628715" y="3398878"/>
            <a:ext cx="4727009" cy="461665"/>
          </a:xfrm>
          <a:prstGeom prst="rect">
            <a:avLst/>
          </a:prstGeom>
          <a:noFill/>
        </p:spPr>
        <p:txBody>
          <a:bodyPr wrap="square" rtlCol="0">
            <a:spAutoFit/>
          </a:bodyPr>
          <a:lstStyle/>
          <a:p>
            <a:r>
              <a:rPr lang="zh-CN" altLang="en-US" sz="2400" b="1" dirty="0" smtClean="0">
                <a:solidFill>
                  <a:srgbClr val="FF0000"/>
                </a:solidFill>
                <a:latin typeface="黑体" pitchFamily="49" charset="-122"/>
                <a:ea typeface="黑体" pitchFamily="49" charset="-122"/>
              </a:rPr>
              <a:t>注意：电场是矢量，电势是标量</a:t>
            </a:r>
            <a:endParaRPr lang="zh-CN" altLang="en-US" sz="2400" b="1" dirty="0">
              <a:solidFill>
                <a:srgbClr val="FF0000"/>
              </a:solidFill>
              <a:latin typeface="黑体" pitchFamily="49" charset="-122"/>
              <a:ea typeface="黑体" pitchFamily="49" charset="-122"/>
            </a:endParaRPr>
          </a:p>
        </p:txBody>
      </p:sp>
      <p:sp>
        <p:nvSpPr>
          <p:cNvPr id="5" name="TextBox 4"/>
          <p:cNvSpPr txBox="1"/>
          <p:nvPr/>
        </p:nvSpPr>
        <p:spPr>
          <a:xfrm>
            <a:off x="849715" y="4178835"/>
            <a:ext cx="1495014" cy="461665"/>
          </a:xfrm>
          <a:prstGeom prst="rect">
            <a:avLst/>
          </a:prstGeom>
          <a:noFill/>
        </p:spPr>
        <p:txBody>
          <a:bodyPr wrap="square" rtlCol="0">
            <a:spAutoFit/>
          </a:bodyPr>
          <a:lstStyle/>
          <a:p>
            <a:r>
              <a:rPr lang="zh-CN" altLang="en-US" sz="2400" b="1" smtClean="0"/>
              <a:t>电场为零</a:t>
            </a:r>
            <a:endParaRPr lang="zh-CN" altLang="en-US" sz="2400" b="1"/>
          </a:p>
        </p:txBody>
      </p:sp>
      <p:graphicFrame>
        <p:nvGraphicFramePr>
          <p:cNvPr id="6" name="对象 5"/>
          <p:cNvGraphicFramePr>
            <a:graphicFrameLocks noChangeAspect="1"/>
          </p:cNvGraphicFramePr>
          <p:nvPr>
            <p:extLst>
              <p:ext uri="{D42A27DB-BD31-4B8C-83A1-F6EECF244321}">
                <p14:modId xmlns:p14="http://schemas.microsoft.com/office/powerpoint/2010/main" val="1098103261"/>
              </p:ext>
            </p:extLst>
          </p:nvPr>
        </p:nvGraphicFramePr>
        <p:xfrm>
          <a:off x="3004979" y="4073366"/>
          <a:ext cx="1800200" cy="672602"/>
        </p:xfrm>
        <a:graphic>
          <a:graphicData uri="http://schemas.openxmlformats.org/presentationml/2006/ole">
            <mc:AlternateContent xmlns:mc="http://schemas.openxmlformats.org/markup-compatibility/2006">
              <mc:Choice xmlns:v="urn:schemas-microsoft-com:vml" Requires="v">
                <p:oleObj spid="_x0000_s50291" name="Equation" r:id="rId4" imgW="1155600" imgH="431640" progId="Equation.DSMT4">
                  <p:embed/>
                </p:oleObj>
              </mc:Choice>
              <mc:Fallback>
                <p:oleObj name="Equation" r:id="rId4" imgW="1155600" imgH="431640" progId="Equation.DSMT4">
                  <p:embed/>
                  <p:pic>
                    <p:nvPicPr>
                      <p:cNvPr id="0" name=""/>
                      <p:cNvPicPr/>
                      <p:nvPr/>
                    </p:nvPicPr>
                    <p:blipFill>
                      <a:blip r:embed="rId5"/>
                      <a:stretch>
                        <a:fillRect/>
                      </a:stretch>
                    </p:blipFill>
                    <p:spPr>
                      <a:xfrm>
                        <a:off x="3004979" y="4073366"/>
                        <a:ext cx="1800200" cy="672602"/>
                      </a:xfrm>
                      <a:prstGeom prst="rect">
                        <a:avLst/>
                      </a:prstGeom>
                    </p:spPr>
                  </p:pic>
                </p:oleObj>
              </mc:Fallback>
            </mc:AlternateContent>
          </a:graphicData>
        </a:graphic>
      </p:graphicFrame>
    </p:spTree>
    <p:extLst>
      <p:ext uri="{BB962C8B-B14F-4D97-AF65-F5344CB8AC3E}">
        <p14:creationId xmlns:p14="http://schemas.microsoft.com/office/powerpoint/2010/main" val="20266643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 grpId="0"/>
      <p:bldP spid="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764704"/>
            <a:ext cx="8196707" cy="49685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223095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1268760"/>
            <a:ext cx="7848872" cy="3888432"/>
          </a:xfrm>
        </p:spPr>
        <p:txBody>
          <a:bodyPr>
            <a:noAutofit/>
          </a:bodyPr>
          <a:lstStyle/>
          <a:p>
            <a:pPr algn="l">
              <a:lnSpc>
                <a:spcPct val="150000"/>
              </a:lnSpc>
            </a:pPr>
            <a:r>
              <a:rPr lang="zh-CN" altLang="en-US" sz="2800" b="1" dirty="0" smtClean="0">
                <a:solidFill>
                  <a:srgbClr val="FF0000"/>
                </a:solidFill>
                <a:latin typeface="黑体" pitchFamily="49" charset="-122"/>
                <a:ea typeface="黑体" pitchFamily="49" charset="-122"/>
              </a:rPr>
              <a:t>电场为零的地方电势可以不为零；</a:t>
            </a:r>
            <a:r>
              <a:rPr lang="en-US" altLang="zh-CN" sz="2800" b="1" dirty="0" smtClean="0">
                <a:solidFill>
                  <a:srgbClr val="FF0000"/>
                </a:solidFill>
                <a:latin typeface="黑体" pitchFamily="49" charset="-122"/>
                <a:ea typeface="黑体" pitchFamily="49" charset="-122"/>
              </a:rPr>
              <a:t/>
            </a:r>
            <a:br>
              <a:rPr lang="en-US" altLang="zh-CN" sz="2800" b="1" dirty="0" smtClean="0">
                <a:solidFill>
                  <a:srgbClr val="FF0000"/>
                </a:solidFill>
                <a:latin typeface="黑体" pitchFamily="49" charset="-122"/>
                <a:ea typeface="黑体" pitchFamily="49" charset="-122"/>
              </a:rPr>
            </a:br>
            <a:r>
              <a:rPr lang="zh-CN" altLang="en-US" sz="2800" b="1" dirty="0" smtClean="0">
                <a:solidFill>
                  <a:srgbClr val="FF0000"/>
                </a:solidFill>
                <a:latin typeface="黑体" pitchFamily="49" charset="-122"/>
                <a:ea typeface="黑体" pitchFamily="49" charset="-122"/>
              </a:rPr>
              <a:t>电势为零的地方电场也可以不是零。</a:t>
            </a:r>
            <a:r>
              <a:rPr lang="en-US" altLang="zh-CN" sz="2800" b="1" dirty="0" smtClean="0">
                <a:solidFill>
                  <a:srgbClr val="FF0000"/>
                </a:solidFill>
                <a:latin typeface="黑体" pitchFamily="49" charset="-122"/>
                <a:ea typeface="黑体" pitchFamily="49" charset="-122"/>
              </a:rPr>
              <a:t/>
            </a:r>
            <a:br>
              <a:rPr lang="en-US" altLang="zh-CN" sz="2800" b="1" dirty="0" smtClean="0">
                <a:solidFill>
                  <a:srgbClr val="FF0000"/>
                </a:solidFill>
                <a:latin typeface="黑体" pitchFamily="49" charset="-122"/>
                <a:ea typeface="黑体" pitchFamily="49" charset="-122"/>
              </a:rPr>
            </a:br>
            <a:r>
              <a:rPr lang="zh-CN" altLang="en-US" sz="2800" b="1" dirty="0" smtClean="0">
                <a:latin typeface="黑体" pitchFamily="49" charset="-122"/>
                <a:ea typeface="黑体" pitchFamily="49" charset="-122"/>
              </a:rPr>
              <a:t>如果某点电场为零，这表示位于该点的点电荷将不受静电力。</a:t>
            </a:r>
            <a:r>
              <a:rPr lang="en-US" altLang="zh-CN" sz="2800" b="1" dirty="0" smtClean="0">
                <a:latin typeface="黑体" pitchFamily="49" charset="-122"/>
                <a:ea typeface="黑体" pitchFamily="49" charset="-122"/>
              </a:rPr>
              <a:t/>
            </a:r>
            <a:br>
              <a:rPr lang="en-US" altLang="zh-CN" sz="2800" b="1" dirty="0" smtClean="0">
                <a:latin typeface="黑体" pitchFamily="49" charset="-122"/>
                <a:ea typeface="黑体" pitchFamily="49" charset="-122"/>
              </a:rPr>
            </a:br>
            <a:r>
              <a:rPr lang="zh-CN" altLang="en-US" sz="2800" b="1" dirty="0" smtClean="0">
                <a:latin typeface="黑体" pitchFamily="49" charset="-122"/>
                <a:ea typeface="黑体" pitchFamily="49" charset="-122"/>
              </a:rPr>
              <a:t>如果某点电势为零，这表示将某一点电荷</a:t>
            </a:r>
            <a:r>
              <a:rPr lang="zh-CN" altLang="en-US" sz="2800" b="1" dirty="0">
                <a:latin typeface="黑体" pitchFamily="49" charset="-122"/>
                <a:ea typeface="黑体" pitchFamily="49" charset="-122"/>
              </a:rPr>
              <a:t>从该</a:t>
            </a:r>
            <a:r>
              <a:rPr lang="zh-CN" altLang="en-US" sz="2800" b="1" dirty="0" smtClean="0">
                <a:latin typeface="黑体" pitchFamily="49" charset="-122"/>
                <a:ea typeface="黑体" pitchFamily="49" charset="-122"/>
              </a:rPr>
              <a:t>点</a:t>
            </a:r>
            <a:r>
              <a:rPr lang="zh-CN" altLang="en-US" sz="2800" b="1" dirty="0">
                <a:latin typeface="黑体" pitchFamily="49" charset="-122"/>
                <a:ea typeface="黑体" pitchFamily="49" charset="-122"/>
              </a:rPr>
              <a:t>移到</a:t>
            </a:r>
            <a:r>
              <a:rPr lang="zh-CN" altLang="en-US" sz="2800" b="1" dirty="0" smtClean="0">
                <a:latin typeface="黑体" pitchFamily="49" charset="-122"/>
                <a:ea typeface="黑体" pitchFamily="49" charset="-122"/>
              </a:rPr>
              <a:t>无限远电场力做的功为零。</a:t>
            </a:r>
            <a:endParaRPr lang="zh-CN" altLang="en-US" sz="2800" b="1" dirty="0">
              <a:latin typeface="黑体" pitchFamily="49" charset="-122"/>
              <a:ea typeface="黑体" pitchFamily="49" charset="-122"/>
            </a:endParaRPr>
          </a:p>
        </p:txBody>
      </p:sp>
    </p:spTree>
    <p:extLst>
      <p:ext uri="{BB962C8B-B14F-4D97-AF65-F5344CB8AC3E}">
        <p14:creationId xmlns:p14="http://schemas.microsoft.com/office/powerpoint/2010/main" val="23730023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899592" y="577424"/>
            <a:ext cx="2232248" cy="523220"/>
          </a:xfrm>
          <a:prstGeom prst="rect">
            <a:avLst/>
          </a:prstGeom>
          <a:noFill/>
        </p:spPr>
        <p:txBody>
          <a:bodyPr wrap="square" rtlCol="0">
            <a:spAutoFit/>
          </a:bodyPr>
          <a:lstStyle/>
          <a:p>
            <a:r>
              <a:rPr lang="zh-CN" altLang="en-US" sz="2800" b="1" smtClean="0">
                <a:solidFill>
                  <a:srgbClr val="0000FF"/>
                </a:solidFill>
              </a:rPr>
              <a:t>单项选择题：</a:t>
            </a:r>
            <a:endParaRPr lang="zh-CN" altLang="en-US" sz="2800" b="1">
              <a:solidFill>
                <a:srgbClr val="0000FF"/>
              </a:solidFill>
            </a:endParaRPr>
          </a:p>
        </p:txBody>
      </p:sp>
      <p:sp>
        <p:nvSpPr>
          <p:cNvPr id="3" name="TextBox 2"/>
          <p:cNvSpPr txBox="1"/>
          <p:nvPr/>
        </p:nvSpPr>
        <p:spPr>
          <a:xfrm>
            <a:off x="539552" y="1268760"/>
            <a:ext cx="8202026" cy="4616648"/>
          </a:xfrm>
          <a:prstGeom prst="rect">
            <a:avLst/>
          </a:prstGeom>
          <a:noFill/>
        </p:spPr>
        <p:txBody>
          <a:bodyPr wrap="square" rtlCol="0">
            <a:spAutoFit/>
          </a:bodyPr>
          <a:lstStyle/>
          <a:p>
            <a:pPr>
              <a:lnSpc>
                <a:spcPct val="150000"/>
              </a:lnSpc>
            </a:pPr>
            <a:r>
              <a:rPr lang="zh-CN" altLang="zh-CN" sz="2800" b="1" dirty="0" smtClean="0">
                <a:latin typeface="+mn-ea"/>
              </a:rPr>
              <a:t>点电荷</a:t>
            </a:r>
            <a:r>
              <a:rPr lang="en-US" altLang="zh-CN" sz="2800" b="1" i="1" dirty="0" smtClean="0">
                <a:latin typeface="+mn-ea"/>
              </a:rPr>
              <a:t>-q</a:t>
            </a:r>
            <a:r>
              <a:rPr lang="zh-CN" altLang="zh-CN" sz="2800" b="1" dirty="0" smtClean="0">
                <a:latin typeface="+mn-ea"/>
              </a:rPr>
              <a:t>位于</a:t>
            </a:r>
            <a:r>
              <a:rPr lang="zh-CN" altLang="zh-CN" sz="2800" b="1" dirty="0">
                <a:latin typeface="+mn-ea"/>
              </a:rPr>
              <a:t>平面直角坐标系中的</a:t>
            </a:r>
            <a:r>
              <a:rPr lang="en-US" altLang="zh-CN" sz="2800" b="1" dirty="0">
                <a:latin typeface="+mn-ea"/>
              </a:rPr>
              <a:t>(0</a:t>
            </a:r>
            <a:r>
              <a:rPr lang="zh-CN" altLang="zh-CN" sz="2800" b="1" dirty="0">
                <a:latin typeface="+mn-ea"/>
              </a:rPr>
              <a:t>，</a:t>
            </a:r>
            <a:r>
              <a:rPr lang="en-US" altLang="zh-CN" sz="2800" b="1" dirty="0">
                <a:latin typeface="+mn-ea"/>
              </a:rPr>
              <a:t>-a)</a:t>
            </a:r>
            <a:r>
              <a:rPr lang="zh-CN" altLang="zh-CN" sz="2800" b="1" dirty="0">
                <a:latin typeface="+mn-ea"/>
              </a:rPr>
              <a:t>点，</a:t>
            </a:r>
            <a:r>
              <a:rPr lang="zh-CN" altLang="zh-CN" sz="2800" b="1" dirty="0" smtClean="0">
                <a:latin typeface="+mn-ea"/>
              </a:rPr>
              <a:t>点电荷</a:t>
            </a:r>
            <a:r>
              <a:rPr lang="en-US" altLang="zh-CN" sz="2800" b="1" i="1" dirty="0" smtClean="0">
                <a:latin typeface="+mn-ea"/>
              </a:rPr>
              <a:t>+q</a:t>
            </a:r>
            <a:r>
              <a:rPr lang="zh-CN" altLang="zh-CN" sz="2800" b="1" dirty="0" smtClean="0">
                <a:latin typeface="+mn-ea"/>
              </a:rPr>
              <a:t>位于</a:t>
            </a:r>
            <a:r>
              <a:rPr lang="zh-CN" altLang="zh-CN" sz="2800" b="1" dirty="0">
                <a:latin typeface="+mn-ea"/>
              </a:rPr>
              <a:t>平面直角坐标系中的</a:t>
            </a:r>
            <a:r>
              <a:rPr lang="en-US" altLang="zh-CN" sz="2800" b="1" dirty="0">
                <a:latin typeface="+mn-ea"/>
              </a:rPr>
              <a:t>(0</a:t>
            </a:r>
            <a:r>
              <a:rPr lang="zh-CN" altLang="zh-CN" sz="2800" b="1" dirty="0">
                <a:latin typeface="+mn-ea"/>
              </a:rPr>
              <a:t>，</a:t>
            </a:r>
            <a:r>
              <a:rPr lang="en-US" altLang="zh-CN" sz="2800" b="1" dirty="0">
                <a:latin typeface="+mn-ea"/>
              </a:rPr>
              <a:t>a)</a:t>
            </a:r>
            <a:r>
              <a:rPr lang="zh-CN" altLang="zh-CN" sz="2800" b="1" dirty="0">
                <a:latin typeface="+mn-ea"/>
              </a:rPr>
              <a:t>点。若选无穷远处为电势零点，则</a:t>
            </a:r>
            <a:r>
              <a:rPr lang="en-US" altLang="zh-CN" sz="2800" b="1" dirty="0">
                <a:latin typeface="+mn-ea"/>
              </a:rPr>
              <a:t>x</a:t>
            </a:r>
            <a:r>
              <a:rPr lang="zh-CN" altLang="zh-CN" sz="2800" b="1" dirty="0">
                <a:latin typeface="+mn-ea"/>
              </a:rPr>
              <a:t>轴上任一点</a:t>
            </a:r>
          </a:p>
          <a:p>
            <a:pPr>
              <a:lnSpc>
                <a:spcPct val="150000"/>
              </a:lnSpc>
            </a:pPr>
            <a:r>
              <a:rPr lang="en-US" altLang="zh-CN" sz="2800" b="1" dirty="0">
                <a:latin typeface="+mn-ea"/>
              </a:rPr>
              <a:t>A.</a:t>
            </a:r>
            <a:r>
              <a:rPr lang="zh-CN" altLang="zh-CN" sz="2800" b="1" dirty="0" smtClean="0">
                <a:latin typeface="+mn-ea"/>
              </a:rPr>
              <a:t>电势</a:t>
            </a:r>
            <a:r>
              <a:rPr lang="en-US" altLang="zh-CN" sz="2800" b="1" dirty="0" smtClean="0">
                <a:latin typeface="+mn-ea"/>
              </a:rPr>
              <a:t>V=0</a:t>
            </a:r>
            <a:r>
              <a:rPr lang="zh-CN" altLang="zh-CN" sz="2800" b="1" dirty="0">
                <a:latin typeface="+mn-ea"/>
              </a:rPr>
              <a:t>，场强沿</a:t>
            </a:r>
            <a:r>
              <a:rPr lang="en-US" altLang="zh-CN" sz="2800" b="1" dirty="0">
                <a:latin typeface="+mn-ea"/>
              </a:rPr>
              <a:t>y</a:t>
            </a:r>
            <a:r>
              <a:rPr lang="zh-CN" altLang="zh-CN" sz="2800" b="1" dirty="0">
                <a:latin typeface="+mn-ea"/>
              </a:rPr>
              <a:t>轴正向。</a:t>
            </a:r>
          </a:p>
          <a:p>
            <a:pPr>
              <a:lnSpc>
                <a:spcPct val="150000"/>
              </a:lnSpc>
            </a:pPr>
            <a:r>
              <a:rPr lang="en-US" altLang="zh-CN" sz="2800" b="1" dirty="0">
                <a:latin typeface="+mn-ea"/>
              </a:rPr>
              <a:t>B.</a:t>
            </a:r>
            <a:r>
              <a:rPr lang="zh-CN" altLang="zh-CN" sz="2800" b="1" dirty="0" smtClean="0">
                <a:latin typeface="+mn-ea"/>
              </a:rPr>
              <a:t>电势</a:t>
            </a:r>
            <a:r>
              <a:rPr lang="en-US" altLang="zh-CN" sz="2800" b="1" dirty="0" smtClean="0">
                <a:latin typeface="+mn-ea"/>
              </a:rPr>
              <a:t>V&gt;0</a:t>
            </a:r>
            <a:r>
              <a:rPr lang="zh-CN" altLang="zh-CN" sz="2800" b="1" dirty="0">
                <a:latin typeface="+mn-ea"/>
              </a:rPr>
              <a:t>，场强沿</a:t>
            </a:r>
            <a:r>
              <a:rPr lang="en-US" altLang="zh-CN" sz="2800" b="1" dirty="0">
                <a:latin typeface="+mn-ea"/>
              </a:rPr>
              <a:t>y</a:t>
            </a:r>
            <a:r>
              <a:rPr lang="zh-CN" altLang="zh-CN" sz="2800" b="1" dirty="0">
                <a:latin typeface="+mn-ea"/>
              </a:rPr>
              <a:t>轴正向。</a:t>
            </a:r>
          </a:p>
          <a:p>
            <a:pPr>
              <a:lnSpc>
                <a:spcPct val="150000"/>
              </a:lnSpc>
            </a:pPr>
            <a:r>
              <a:rPr lang="en-US" altLang="zh-CN" sz="2800" b="1" dirty="0">
                <a:latin typeface="+mn-ea"/>
              </a:rPr>
              <a:t>C.</a:t>
            </a:r>
            <a:r>
              <a:rPr lang="zh-CN" altLang="zh-CN" sz="2800" b="1" dirty="0" smtClean="0">
                <a:latin typeface="+mn-ea"/>
              </a:rPr>
              <a:t>电势</a:t>
            </a:r>
            <a:r>
              <a:rPr lang="en-US" altLang="zh-CN" sz="2800" b="1" dirty="0" smtClean="0">
                <a:latin typeface="+mn-ea"/>
              </a:rPr>
              <a:t>V&gt;0</a:t>
            </a:r>
            <a:r>
              <a:rPr lang="zh-CN" altLang="zh-CN" sz="2800" b="1" dirty="0">
                <a:latin typeface="+mn-ea"/>
              </a:rPr>
              <a:t>，场强沿</a:t>
            </a:r>
            <a:r>
              <a:rPr lang="en-US" altLang="zh-CN" sz="2800" b="1" dirty="0">
                <a:latin typeface="+mn-ea"/>
              </a:rPr>
              <a:t>y</a:t>
            </a:r>
            <a:r>
              <a:rPr lang="zh-CN" altLang="zh-CN" sz="2800" b="1" dirty="0">
                <a:latin typeface="+mn-ea"/>
              </a:rPr>
              <a:t>轴负向。</a:t>
            </a:r>
          </a:p>
          <a:p>
            <a:pPr>
              <a:lnSpc>
                <a:spcPct val="150000"/>
              </a:lnSpc>
            </a:pPr>
            <a:r>
              <a:rPr lang="en-US" altLang="zh-CN" sz="2800" b="1" dirty="0">
                <a:latin typeface="+mn-ea"/>
              </a:rPr>
              <a:t>D.</a:t>
            </a:r>
            <a:r>
              <a:rPr lang="zh-CN" altLang="zh-CN" sz="2800" b="1" dirty="0" smtClean="0">
                <a:latin typeface="+mn-ea"/>
              </a:rPr>
              <a:t>电势</a:t>
            </a:r>
            <a:r>
              <a:rPr lang="en-US" altLang="zh-CN" sz="2800" b="1" dirty="0" smtClean="0">
                <a:latin typeface="+mn-ea"/>
              </a:rPr>
              <a:t>V=0</a:t>
            </a:r>
            <a:r>
              <a:rPr lang="zh-CN" altLang="zh-CN" sz="2800" b="1" dirty="0">
                <a:latin typeface="+mn-ea"/>
              </a:rPr>
              <a:t>，场强沿</a:t>
            </a:r>
            <a:r>
              <a:rPr lang="en-US" altLang="zh-CN" sz="2800" b="1" dirty="0">
                <a:latin typeface="+mn-ea"/>
              </a:rPr>
              <a:t>y</a:t>
            </a:r>
            <a:r>
              <a:rPr lang="zh-CN" altLang="zh-CN" sz="2800" b="1" dirty="0">
                <a:latin typeface="+mn-ea"/>
              </a:rPr>
              <a:t>轴负向</a:t>
            </a:r>
            <a:r>
              <a:rPr lang="zh-CN" altLang="zh-CN" sz="2800" b="1" dirty="0" smtClean="0">
                <a:latin typeface="+mn-ea"/>
              </a:rPr>
              <a:t>。</a:t>
            </a:r>
            <a:endParaRPr lang="zh-CN" altLang="zh-CN" sz="2800" b="1" dirty="0">
              <a:latin typeface="+mn-ea"/>
            </a:endParaRPr>
          </a:p>
        </p:txBody>
      </p:sp>
    </p:spTree>
    <p:extLst>
      <p:ext uri="{BB962C8B-B14F-4D97-AF65-F5344CB8AC3E}">
        <p14:creationId xmlns:p14="http://schemas.microsoft.com/office/powerpoint/2010/main" val="8486853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288764" y="744220"/>
            <a:ext cx="8566472" cy="2143125"/>
          </a:xfrm>
          <a:prstGeom prst="rect">
            <a:avLst/>
          </a:prstGeom>
          <a:noFill/>
        </p:spPr>
        <p:txBody>
          <a:bodyPr vert="horz" wrap="square" rtlCol="0" anchor="ctr" anchorCtr="0">
            <a:noAutofit/>
          </a:bodyPr>
          <a:lstStyle/>
          <a:p>
            <a:pPr>
              <a:lnSpc>
                <a:spcPct val="150000"/>
              </a:lnSpc>
            </a:pPr>
            <a:r>
              <a:rPr lang="zh-CN" altLang="zh-CN" sz="2800" b="1" dirty="0">
                <a:latin typeface="+mn-ea"/>
              </a:rPr>
              <a:t>点电荷</a:t>
            </a:r>
            <a:r>
              <a:rPr lang="en-US" altLang="zh-CN" sz="2800" b="1" i="1" dirty="0">
                <a:latin typeface="+mn-ea"/>
              </a:rPr>
              <a:t>-q</a:t>
            </a:r>
            <a:r>
              <a:rPr lang="zh-CN" altLang="zh-CN" sz="2800" b="1" dirty="0">
                <a:latin typeface="+mn-ea"/>
              </a:rPr>
              <a:t>位于平面直角坐标系中的</a:t>
            </a:r>
            <a:r>
              <a:rPr lang="en-US" altLang="zh-CN" sz="2800" b="1" dirty="0">
                <a:latin typeface="+mn-ea"/>
              </a:rPr>
              <a:t>(0</a:t>
            </a:r>
            <a:r>
              <a:rPr lang="zh-CN" altLang="zh-CN" sz="2800" b="1" dirty="0">
                <a:latin typeface="+mn-ea"/>
              </a:rPr>
              <a:t>，</a:t>
            </a:r>
            <a:r>
              <a:rPr lang="en-US" altLang="zh-CN" sz="2800" b="1" dirty="0">
                <a:latin typeface="+mn-ea"/>
              </a:rPr>
              <a:t>-a)</a:t>
            </a:r>
            <a:r>
              <a:rPr lang="zh-CN" altLang="zh-CN" sz="2800" b="1" dirty="0">
                <a:latin typeface="+mn-ea"/>
              </a:rPr>
              <a:t>点，点电荷</a:t>
            </a:r>
            <a:r>
              <a:rPr lang="en-US" altLang="zh-CN" sz="2800" b="1" i="1" dirty="0">
                <a:latin typeface="+mn-ea"/>
              </a:rPr>
              <a:t>+q</a:t>
            </a:r>
            <a:r>
              <a:rPr lang="zh-CN" altLang="zh-CN" sz="2800" b="1" dirty="0">
                <a:latin typeface="+mn-ea"/>
              </a:rPr>
              <a:t>位于平面直角坐标系中的</a:t>
            </a:r>
            <a:r>
              <a:rPr lang="en-US" altLang="zh-CN" sz="2800" b="1" dirty="0">
                <a:latin typeface="+mn-ea"/>
              </a:rPr>
              <a:t>(0</a:t>
            </a:r>
            <a:r>
              <a:rPr lang="zh-CN" altLang="zh-CN" sz="2800" b="1" dirty="0">
                <a:latin typeface="+mn-ea"/>
              </a:rPr>
              <a:t>，</a:t>
            </a:r>
            <a:r>
              <a:rPr lang="en-US" altLang="zh-CN" sz="2800" b="1" dirty="0">
                <a:latin typeface="+mn-ea"/>
              </a:rPr>
              <a:t>a)</a:t>
            </a:r>
            <a:r>
              <a:rPr lang="zh-CN" altLang="zh-CN" sz="2800" b="1" dirty="0">
                <a:latin typeface="+mn-ea"/>
              </a:rPr>
              <a:t>点。若选无穷远处为电势零点，则</a:t>
            </a:r>
            <a:r>
              <a:rPr lang="en-US" altLang="zh-CN" sz="2800" b="1" dirty="0">
                <a:latin typeface="+mn-ea"/>
              </a:rPr>
              <a:t>x</a:t>
            </a:r>
            <a:r>
              <a:rPr lang="zh-CN" altLang="zh-CN" sz="2800" b="1" dirty="0">
                <a:latin typeface="+mn-ea"/>
              </a:rPr>
              <a:t>轴上任一点</a:t>
            </a:r>
          </a:p>
        </p:txBody>
      </p:sp>
      <p:sp>
        <p:nvSpPr>
          <p:cNvPr id="4" name="文本框 3"/>
          <p:cNvSpPr txBox="1"/>
          <p:nvPr>
            <p:custDataLst>
              <p:tags r:id="rId3"/>
            </p:custDataLst>
          </p:nvPr>
        </p:nvSpPr>
        <p:spPr>
          <a:xfrm>
            <a:off x="1828800" y="2786063"/>
            <a:ext cx="6400800" cy="642938"/>
          </a:xfrm>
          <a:prstGeom prst="rect">
            <a:avLst/>
          </a:prstGeom>
          <a:noFill/>
        </p:spPr>
        <p:txBody>
          <a:bodyPr vert="horz" rtlCol="0" anchor="ctr" anchorCtr="0">
            <a:noAutofit/>
          </a:bodyPr>
          <a:lstStyle/>
          <a:p>
            <a:pPr>
              <a:lnSpc>
                <a:spcPct val="150000"/>
              </a:lnSpc>
            </a:pPr>
            <a:r>
              <a:rPr lang="zh-CN" altLang="zh-CN" sz="2400" b="1" dirty="0">
                <a:latin typeface="+mn-ea"/>
              </a:rPr>
              <a:t>电势</a:t>
            </a:r>
            <a:r>
              <a:rPr lang="en-US" altLang="zh-CN" sz="2400" b="1" dirty="0">
                <a:latin typeface="+mn-ea"/>
              </a:rPr>
              <a:t>V=0</a:t>
            </a:r>
            <a:r>
              <a:rPr lang="zh-CN" altLang="zh-CN" sz="2400" b="1" dirty="0">
                <a:latin typeface="+mn-ea"/>
              </a:rPr>
              <a:t>，场强沿</a:t>
            </a:r>
            <a:r>
              <a:rPr lang="en-US" altLang="zh-CN" sz="2400" b="1" dirty="0">
                <a:latin typeface="+mn-ea"/>
              </a:rPr>
              <a:t>y</a:t>
            </a:r>
            <a:r>
              <a:rPr lang="zh-CN" altLang="zh-CN" sz="2400" b="1" dirty="0">
                <a:latin typeface="+mn-ea"/>
              </a:rPr>
              <a:t>轴正向。</a:t>
            </a:r>
          </a:p>
        </p:txBody>
      </p:sp>
      <p:sp>
        <p:nvSpPr>
          <p:cNvPr id="5" name="文本框 4"/>
          <p:cNvSpPr txBox="1"/>
          <p:nvPr>
            <p:custDataLst>
              <p:tags r:id="rId4"/>
            </p:custDataLst>
          </p:nvPr>
        </p:nvSpPr>
        <p:spPr>
          <a:xfrm>
            <a:off x="1828800" y="3643313"/>
            <a:ext cx="6400800" cy="642938"/>
          </a:xfrm>
          <a:prstGeom prst="rect">
            <a:avLst/>
          </a:prstGeom>
          <a:noFill/>
        </p:spPr>
        <p:txBody>
          <a:bodyPr vert="horz" rtlCol="0" anchor="ctr" anchorCtr="0">
            <a:noAutofit/>
          </a:bodyPr>
          <a:lstStyle/>
          <a:p>
            <a:pPr>
              <a:lnSpc>
                <a:spcPct val="150000"/>
              </a:lnSpc>
            </a:pPr>
            <a:r>
              <a:rPr lang="zh-CN" altLang="zh-CN" sz="2400" b="1" dirty="0">
                <a:latin typeface="+mn-ea"/>
              </a:rPr>
              <a:t>电势</a:t>
            </a:r>
            <a:r>
              <a:rPr lang="en-US" altLang="zh-CN" sz="2400" b="1" dirty="0">
                <a:latin typeface="+mn-ea"/>
              </a:rPr>
              <a:t>V&gt;0</a:t>
            </a:r>
            <a:r>
              <a:rPr lang="zh-CN" altLang="zh-CN" sz="2400" b="1" dirty="0">
                <a:latin typeface="+mn-ea"/>
              </a:rPr>
              <a:t>，场强沿</a:t>
            </a:r>
            <a:r>
              <a:rPr lang="en-US" altLang="zh-CN" sz="2400" b="1" dirty="0">
                <a:latin typeface="+mn-ea"/>
              </a:rPr>
              <a:t>y</a:t>
            </a:r>
            <a:r>
              <a:rPr lang="zh-CN" altLang="zh-CN" sz="2400" b="1" dirty="0">
                <a:latin typeface="+mn-ea"/>
              </a:rPr>
              <a:t>轴正向。</a:t>
            </a:r>
          </a:p>
        </p:txBody>
      </p:sp>
      <p:sp>
        <p:nvSpPr>
          <p:cNvPr id="6" name="文本框 5"/>
          <p:cNvSpPr txBox="1"/>
          <p:nvPr>
            <p:custDataLst>
              <p:tags r:id="rId5"/>
            </p:custDataLst>
          </p:nvPr>
        </p:nvSpPr>
        <p:spPr>
          <a:xfrm>
            <a:off x="1828800" y="4500563"/>
            <a:ext cx="6400800" cy="642938"/>
          </a:xfrm>
          <a:prstGeom prst="rect">
            <a:avLst/>
          </a:prstGeom>
          <a:noFill/>
        </p:spPr>
        <p:txBody>
          <a:bodyPr vert="horz" rtlCol="0" anchor="ctr" anchorCtr="0">
            <a:noAutofit/>
          </a:bodyPr>
          <a:lstStyle/>
          <a:p>
            <a:pPr>
              <a:lnSpc>
                <a:spcPct val="150000"/>
              </a:lnSpc>
            </a:pPr>
            <a:r>
              <a:rPr lang="zh-CN" altLang="zh-CN" sz="2400" b="1" dirty="0">
                <a:latin typeface="+mn-ea"/>
              </a:rPr>
              <a:t>电势</a:t>
            </a:r>
            <a:r>
              <a:rPr lang="en-US" altLang="zh-CN" sz="2400" b="1" dirty="0">
                <a:latin typeface="+mn-ea"/>
              </a:rPr>
              <a:t>V&gt;0</a:t>
            </a:r>
            <a:r>
              <a:rPr lang="zh-CN" altLang="zh-CN" sz="2400" b="1" dirty="0">
                <a:latin typeface="+mn-ea"/>
              </a:rPr>
              <a:t>，场强沿</a:t>
            </a:r>
            <a:r>
              <a:rPr lang="en-US" altLang="zh-CN" sz="2400" b="1" dirty="0">
                <a:latin typeface="+mn-ea"/>
              </a:rPr>
              <a:t>y</a:t>
            </a:r>
            <a:r>
              <a:rPr lang="zh-CN" altLang="zh-CN" sz="2400" b="1" dirty="0">
                <a:latin typeface="+mn-ea"/>
              </a:rPr>
              <a:t>轴负向。</a:t>
            </a:r>
          </a:p>
        </p:txBody>
      </p:sp>
      <p:sp>
        <p:nvSpPr>
          <p:cNvPr id="7" name="文本框 6"/>
          <p:cNvSpPr txBox="1"/>
          <p:nvPr>
            <p:custDataLst>
              <p:tags r:id="rId6"/>
            </p:custDataLst>
          </p:nvPr>
        </p:nvSpPr>
        <p:spPr>
          <a:xfrm>
            <a:off x="1828800" y="5357813"/>
            <a:ext cx="6400800" cy="642938"/>
          </a:xfrm>
          <a:prstGeom prst="rect">
            <a:avLst/>
          </a:prstGeom>
          <a:noFill/>
        </p:spPr>
        <p:txBody>
          <a:bodyPr vert="horz" rtlCol="0" anchor="ctr" anchorCtr="0">
            <a:noAutofit/>
          </a:bodyPr>
          <a:lstStyle/>
          <a:p>
            <a:pPr>
              <a:lnSpc>
                <a:spcPct val="150000"/>
              </a:lnSpc>
            </a:pPr>
            <a:r>
              <a:rPr lang="zh-CN" altLang="zh-CN" sz="2400" b="1" dirty="0">
                <a:latin typeface="+mn-ea"/>
              </a:rPr>
              <a:t>电势</a:t>
            </a:r>
            <a:r>
              <a:rPr lang="en-US" altLang="zh-CN" sz="2400" b="1" dirty="0">
                <a:latin typeface="+mn-ea"/>
              </a:rPr>
              <a:t>V=0</a:t>
            </a:r>
            <a:r>
              <a:rPr lang="zh-CN" altLang="zh-CN" sz="2400" b="1" dirty="0">
                <a:latin typeface="+mn-ea"/>
              </a:rPr>
              <a:t>，场强沿</a:t>
            </a:r>
            <a:r>
              <a:rPr lang="en-US" altLang="zh-CN" sz="2400" b="1" dirty="0">
                <a:latin typeface="+mn-ea"/>
              </a:rPr>
              <a:t>y</a:t>
            </a:r>
            <a:r>
              <a:rPr lang="zh-CN" altLang="zh-CN" sz="2400" b="1" dirty="0">
                <a:latin typeface="+mn-ea"/>
              </a:rPr>
              <a:t>轴负向。</a:t>
            </a:r>
          </a:p>
        </p:txBody>
      </p:sp>
      <p:sp>
        <p:nvSpPr>
          <p:cNvPr id="8" name="椭圆 7"/>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1114425" y="54221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7" name="组合 16"/>
          <p:cNvGrpSpPr/>
          <p:nvPr>
            <p:custDataLst>
              <p:tags r:id="rId12"/>
            </p:custDataLst>
          </p:nvPr>
        </p:nvGrpSpPr>
        <p:grpSpPr>
          <a:xfrm>
            <a:off x="0" y="0"/>
            <a:ext cx="9144000" cy="635000"/>
            <a:chOff x="0" y="0"/>
            <a:chExt cx="9144000" cy="635000"/>
          </a:xfrm>
        </p:grpSpPr>
        <p:sp>
          <p:nvSpPr>
            <p:cNvPr id="13" name="TitleBackground"/>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0809591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p:cNvGrpSpPr/>
          <p:nvPr/>
        </p:nvGrpSpPr>
        <p:grpSpPr>
          <a:xfrm>
            <a:off x="5379944" y="370812"/>
            <a:ext cx="3506867" cy="2749310"/>
            <a:chOff x="5275033" y="28038"/>
            <a:chExt cx="3881550" cy="3170350"/>
          </a:xfrm>
        </p:grpSpPr>
        <p:cxnSp>
          <p:nvCxnSpPr>
            <p:cNvPr id="16" name="直接箭头连接符 15"/>
            <p:cNvCxnSpPr/>
            <p:nvPr/>
          </p:nvCxnSpPr>
          <p:spPr>
            <a:xfrm>
              <a:off x="6012160" y="2685040"/>
              <a:ext cx="295232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V="1">
              <a:off x="6012160" y="212704"/>
              <a:ext cx="0" cy="2496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nvGrpSpPr>
            <p:cNvPr id="26" name="组合 25"/>
            <p:cNvGrpSpPr/>
            <p:nvPr/>
          </p:nvGrpSpPr>
          <p:grpSpPr>
            <a:xfrm>
              <a:off x="6012160" y="548680"/>
              <a:ext cx="2160240" cy="2064352"/>
              <a:chOff x="6012160" y="548680"/>
              <a:chExt cx="2160240" cy="2064352"/>
            </a:xfrm>
          </p:grpSpPr>
          <p:cxnSp>
            <p:nvCxnSpPr>
              <p:cNvPr id="19" name="直接连接符 18"/>
              <p:cNvCxnSpPr/>
              <p:nvPr/>
            </p:nvCxnSpPr>
            <p:spPr>
              <a:xfrm>
                <a:off x="6012160" y="548680"/>
                <a:ext cx="216024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6012160" y="1268760"/>
                <a:ext cx="216024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6057879" y="1988840"/>
                <a:ext cx="2114521"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3" name="直接连接符 22"/>
              <p:cNvCxnSpPr>
                <a:endCxn id="8" idx="0"/>
              </p:cNvCxnSpPr>
              <p:nvPr/>
            </p:nvCxnSpPr>
            <p:spPr>
              <a:xfrm>
                <a:off x="6732240" y="548680"/>
                <a:ext cx="0" cy="199234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7452320" y="620688"/>
                <a:ext cx="0" cy="199234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8172400" y="620688"/>
                <a:ext cx="0" cy="1992344"/>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sp>
          <p:nvSpPr>
            <p:cNvPr id="7" name="椭圆 6"/>
            <p:cNvSpPr/>
            <p:nvPr/>
          </p:nvSpPr>
          <p:spPr>
            <a:xfrm>
              <a:off x="5868144" y="476672"/>
              <a:ext cx="288032" cy="288032"/>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sz="2800" b="1" dirty="0" smtClean="0"/>
                <a:t>+</a:t>
              </a:r>
              <a:endParaRPr lang="zh-CN" altLang="en-US" sz="2800" b="1" dirty="0"/>
            </a:p>
          </p:txBody>
        </p:sp>
        <p:sp>
          <p:nvSpPr>
            <p:cNvPr id="8" name="椭圆 7"/>
            <p:cNvSpPr/>
            <p:nvPr/>
          </p:nvSpPr>
          <p:spPr>
            <a:xfrm>
              <a:off x="6588224" y="2541024"/>
              <a:ext cx="288032" cy="288032"/>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sz="2400" b="1" dirty="0" smtClean="0"/>
                <a:t>+</a:t>
              </a:r>
              <a:endParaRPr lang="zh-CN" altLang="en-US" sz="2400" b="1" dirty="0"/>
            </a:p>
          </p:txBody>
        </p:sp>
        <p:sp>
          <p:nvSpPr>
            <p:cNvPr id="9" name="椭圆 8"/>
            <p:cNvSpPr/>
            <p:nvPr/>
          </p:nvSpPr>
          <p:spPr>
            <a:xfrm>
              <a:off x="7318089" y="1145717"/>
              <a:ext cx="288032" cy="288032"/>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sz="2800" b="1" dirty="0" smtClean="0"/>
                <a:t>-</a:t>
              </a:r>
              <a:endParaRPr lang="zh-CN" altLang="en-US" sz="2800" b="1" dirty="0"/>
            </a:p>
          </p:txBody>
        </p:sp>
        <p:sp>
          <p:nvSpPr>
            <p:cNvPr id="11" name="TextBox 10"/>
            <p:cNvSpPr txBox="1"/>
            <p:nvPr/>
          </p:nvSpPr>
          <p:spPr>
            <a:xfrm>
              <a:off x="6165848" y="245839"/>
              <a:ext cx="500458" cy="461665"/>
            </a:xfrm>
            <a:prstGeom prst="rect">
              <a:avLst/>
            </a:prstGeom>
            <a:noFill/>
          </p:spPr>
          <p:txBody>
            <a:bodyPr wrap="none" rtlCol="0">
              <a:spAutoFit/>
            </a:bodyPr>
            <a:lstStyle/>
            <a:p>
              <a:r>
                <a:rPr lang="en-US" altLang="zh-CN" sz="2400" b="1" dirty="0" smtClean="0"/>
                <a:t>Q</a:t>
              </a:r>
              <a:r>
                <a:rPr lang="en-US" altLang="zh-CN" sz="2400" b="1" baseline="-25000" dirty="0" smtClean="0"/>
                <a:t>1</a:t>
              </a:r>
              <a:endParaRPr lang="zh-CN" altLang="en-US" sz="2400" b="1" baseline="-25000" dirty="0"/>
            </a:p>
          </p:txBody>
        </p:sp>
        <p:sp>
          <p:nvSpPr>
            <p:cNvPr id="27" name="TextBox 26"/>
            <p:cNvSpPr txBox="1"/>
            <p:nvPr/>
          </p:nvSpPr>
          <p:spPr>
            <a:xfrm>
              <a:off x="5580112" y="1804174"/>
              <a:ext cx="301686" cy="369332"/>
            </a:xfrm>
            <a:prstGeom prst="rect">
              <a:avLst/>
            </a:prstGeom>
            <a:noFill/>
          </p:spPr>
          <p:txBody>
            <a:bodyPr wrap="none" rtlCol="0">
              <a:spAutoFit/>
            </a:bodyPr>
            <a:lstStyle/>
            <a:p>
              <a:r>
                <a:rPr lang="en-US" altLang="zh-CN" dirty="0" smtClean="0"/>
                <a:t>1</a:t>
              </a:r>
              <a:endParaRPr lang="zh-CN" altLang="en-US" dirty="0"/>
            </a:p>
          </p:txBody>
        </p:sp>
        <p:sp>
          <p:nvSpPr>
            <p:cNvPr id="28" name="TextBox 27"/>
            <p:cNvSpPr txBox="1"/>
            <p:nvPr/>
          </p:nvSpPr>
          <p:spPr>
            <a:xfrm>
              <a:off x="7535776" y="807095"/>
              <a:ext cx="500458" cy="461665"/>
            </a:xfrm>
            <a:prstGeom prst="rect">
              <a:avLst/>
            </a:prstGeom>
            <a:noFill/>
          </p:spPr>
          <p:txBody>
            <a:bodyPr wrap="none" rtlCol="0">
              <a:spAutoFit/>
            </a:bodyPr>
            <a:lstStyle/>
            <a:p>
              <a:r>
                <a:rPr lang="en-US" altLang="zh-CN" sz="2400" b="1" dirty="0" smtClean="0"/>
                <a:t>Q</a:t>
              </a:r>
              <a:r>
                <a:rPr lang="en-US" altLang="zh-CN" sz="2400" b="1" baseline="-25000" dirty="0" smtClean="0"/>
                <a:t>3</a:t>
              </a:r>
              <a:endParaRPr lang="zh-CN" altLang="en-US" sz="2400" b="1" baseline="-25000" dirty="0"/>
            </a:p>
          </p:txBody>
        </p:sp>
        <p:sp>
          <p:nvSpPr>
            <p:cNvPr id="29" name="TextBox 28"/>
            <p:cNvSpPr txBox="1"/>
            <p:nvPr/>
          </p:nvSpPr>
          <p:spPr>
            <a:xfrm>
              <a:off x="6876256" y="2208024"/>
              <a:ext cx="500458" cy="461665"/>
            </a:xfrm>
            <a:prstGeom prst="rect">
              <a:avLst/>
            </a:prstGeom>
            <a:noFill/>
          </p:spPr>
          <p:txBody>
            <a:bodyPr wrap="none" rtlCol="0">
              <a:spAutoFit/>
            </a:bodyPr>
            <a:lstStyle/>
            <a:p>
              <a:r>
                <a:rPr lang="en-US" altLang="zh-CN" sz="2400" b="1" dirty="0" smtClean="0"/>
                <a:t>Q</a:t>
              </a:r>
              <a:r>
                <a:rPr lang="en-US" altLang="zh-CN" sz="2400" b="1" baseline="-25000" dirty="0"/>
                <a:t>2</a:t>
              </a:r>
              <a:endParaRPr lang="zh-CN" altLang="en-US" sz="2400" b="1" baseline="-25000" dirty="0"/>
            </a:p>
          </p:txBody>
        </p:sp>
        <p:sp>
          <p:nvSpPr>
            <p:cNvPr id="30" name="TextBox 29"/>
            <p:cNvSpPr txBox="1"/>
            <p:nvPr/>
          </p:nvSpPr>
          <p:spPr>
            <a:xfrm>
              <a:off x="5580112" y="1145717"/>
              <a:ext cx="301686" cy="369332"/>
            </a:xfrm>
            <a:prstGeom prst="rect">
              <a:avLst/>
            </a:prstGeom>
            <a:noFill/>
          </p:spPr>
          <p:txBody>
            <a:bodyPr wrap="none" rtlCol="0">
              <a:spAutoFit/>
            </a:bodyPr>
            <a:lstStyle/>
            <a:p>
              <a:r>
                <a:rPr lang="en-US" altLang="zh-CN" dirty="0" smtClean="0"/>
                <a:t>2</a:t>
              </a:r>
              <a:endParaRPr lang="zh-CN" altLang="en-US" dirty="0"/>
            </a:p>
          </p:txBody>
        </p:sp>
        <p:sp>
          <p:nvSpPr>
            <p:cNvPr id="31" name="TextBox 30"/>
            <p:cNvSpPr txBox="1"/>
            <p:nvPr/>
          </p:nvSpPr>
          <p:spPr>
            <a:xfrm>
              <a:off x="5580112" y="476672"/>
              <a:ext cx="301686" cy="369332"/>
            </a:xfrm>
            <a:prstGeom prst="rect">
              <a:avLst/>
            </a:prstGeom>
            <a:noFill/>
          </p:spPr>
          <p:txBody>
            <a:bodyPr wrap="none" rtlCol="0">
              <a:spAutoFit/>
            </a:bodyPr>
            <a:lstStyle/>
            <a:p>
              <a:r>
                <a:rPr lang="en-US" altLang="zh-CN" dirty="0" smtClean="0"/>
                <a:t>3</a:t>
              </a:r>
              <a:endParaRPr lang="zh-CN" altLang="en-US" dirty="0"/>
            </a:p>
          </p:txBody>
        </p:sp>
        <p:sp>
          <p:nvSpPr>
            <p:cNvPr id="32" name="TextBox 31"/>
            <p:cNvSpPr txBox="1"/>
            <p:nvPr/>
          </p:nvSpPr>
          <p:spPr>
            <a:xfrm>
              <a:off x="6574570" y="2829056"/>
              <a:ext cx="301686" cy="369332"/>
            </a:xfrm>
            <a:prstGeom prst="rect">
              <a:avLst/>
            </a:prstGeom>
            <a:noFill/>
          </p:spPr>
          <p:txBody>
            <a:bodyPr wrap="none" rtlCol="0">
              <a:spAutoFit/>
            </a:bodyPr>
            <a:lstStyle/>
            <a:p>
              <a:r>
                <a:rPr lang="en-US" altLang="zh-CN" dirty="0" smtClean="0"/>
                <a:t>1</a:t>
              </a:r>
              <a:endParaRPr lang="zh-CN" altLang="en-US" dirty="0"/>
            </a:p>
          </p:txBody>
        </p:sp>
        <p:sp>
          <p:nvSpPr>
            <p:cNvPr id="33" name="TextBox 32"/>
            <p:cNvSpPr txBox="1"/>
            <p:nvPr/>
          </p:nvSpPr>
          <p:spPr>
            <a:xfrm>
              <a:off x="7301477" y="2829056"/>
              <a:ext cx="301686" cy="369332"/>
            </a:xfrm>
            <a:prstGeom prst="rect">
              <a:avLst/>
            </a:prstGeom>
            <a:noFill/>
          </p:spPr>
          <p:txBody>
            <a:bodyPr wrap="none" rtlCol="0">
              <a:spAutoFit/>
            </a:bodyPr>
            <a:lstStyle/>
            <a:p>
              <a:r>
                <a:rPr lang="en-US" altLang="zh-CN" dirty="0" smtClean="0"/>
                <a:t>2</a:t>
              </a:r>
              <a:endParaRPr lang="zh-CN" altLang="en-US" dirty="0"/>
            </a:p>
          </p:txBody>
        </p:sp>
        <p:sp>
          <p:nvSpPr>
            <p:cNvPr id="34" name="TextBox 33"/>
            <p:cNvSpPr txBox="1"/>
            <p:nvPr/>
          </p:nvSpPr>
          <p:spPr>
            <a:xfrm>
              <a:off x="8002882" y="2829056"/>
              <a:ext cx="301686" cy="369332"/>
            </a:xfrm>
            <a:prstGeom prst="rect">
              <a:avLst/>
            </a:prstGeom>
            <a:noFill/>
          </p:spPr>
          <p:txBody>
            <a:bodyPr wrap="none" rtlCol="0">
              <a:spAutoFit/>
            </a:bodyPr>
            <a:lstStyle/>
            <a:p>
              <a:r>
                <a:rPr lang="en-US" altLang="zh-CN" dirty="0" smtClean="0"/>
                <a:t>3</a:t>
              </a:r>
              <a:endParaRPr lang="zh-CN" altLang="en-US" dirty="0"/>
            </a:p>
          </p:txBody>
        </p:sp>
        <p:sp>
          <p:nvSpPr>
            <p:cNvPr id="35" name="TextBox 34"/>
            <p:cNvSpPr txBox="1"/>
            <p:nvPr/>
          </p:nvSpPr>
          <p:spPr>
            <a:xfrm>
              <a:off x="5796136" y="2780928"/>
              <a:ext cx="301686" cy="369332"/>
            </a:xfrm>
            <a:prstGeom prst="rect">
              <a:avLst/>
            </a:prstGeom>
            <a:noFill/>
          </p:spPr>
          <p:txBody>
            <a:bodyPr wrap="none" rtlCol="0">
              <a:spAutoFit/>
            </a:bodyPr>
            <a:lstStyle/>
            <a:p>
              <a:r>
                <a:rPr lang="en-US" altLang="zh-CN" dirty="0" smtClean="0"/>
                <a:t>0</a:t>
              </a:r>
              <a:endParaRPr lang="zh-CN" altLang="en-US" dirty="0"/>
            </a:p>
          </p:txBody>
        </p:sp>
        <p:sp>
          <p:nvSpPr>
            <p:cNvPr id="36" name="TextBox 35"/>
            <p:cNvSpPr txBox="1"/>
            <p:nvPr/>
          </p:nvSpPr>
          <p:spPr>
            <a:xfrm>
              <a:off x="8388424" y="2770530"/>
              <a:ext cx="768159" cy="369332"/>
            </a:xfrm>
            <a:prstGeom prst="rect">
              <a:avLst/>
            </a:prstGeom>
            <a:noFill/>
          </p:spPr>
          <p:txBody>
            <a:bodyPr wrap="none" rtlCol="0">
              <a:spAutoFit/>
            </a:bodyPr>
            <a:lstStyle/>
            <a:p>
              <a:r>
                <a:rPr lang="en-US" altLang="zh-CN" i="1" dirty="0" smtClean="0">
                  <a:latin typeface="Times New Roman" pitchFamily="18" charset="0"/>
                  <a:cs typeface="Times New Roman" pitchFamily="18" charset="0"/>
                </a:rPr>
                <a:t>x (cm)</a:t>
              </a:r>
              <a:endParaRPr lang="zh-CN" altLang="en-US" i="1" dirty="0">
                <a:latin typeface="Times New Roman" pitchFamily="18" charset="0"/>
                <a:cs typeface="Times New Roman" pitchFamily="18" charset="0"/>
              </a:endParaRPr>
            </a:p>
          </p:txBody>
        </p:sp>
        <p:sp>
          <p:nvSpPr>
            <p:cNvPr id="37" name="TextBox 36"/>
            <p:cNvSpPr txBox="1"/>
            <p:nvPr/>
          </p:nvSpPr>
          <p:spPr>
            <a:xfrm>
              <a:off x="5275033" y="28038"/>
              <a:ext cx="768159" cy="369332"/>
            </a:xfrm>
            <a:prstGeom prst="rect">
              <a:avLst/>
            </a:prstGeom>
            <a:noFill/>
          </p:spPr>
          <p:txBody>
            <a:bodyPr wrap="none" rtlCol="0">
              <a:spAutoFit/>
            </a:bodyPr>
            <a:lstStyle/>
            <a:p>
              <a:r>
                <a:rPr lang="en-US" altLang="zh-CN" i="1" dirty="0">
                  <a:latin typeface="Times New Roman" pitchFamily="18" charset="0"/>
                  <a:cs typeface="Times New Roman" pitchFamily="18" charset="0"/>
                </a:rPr>
                <a:t>y</a:t>
              </a:r>
              <a:r>
                <a:rPr lang="en-US" altLang="zh-CN" i="1" dirty="0" smtClean="0">
                  <a:latin typeface="Times New Roman" pitchFamily="18" charset="0"/>
                  <a:cs typeface="Times New Roman" pitchFamily="18" charset="0"/>
                </a:rPr>
                <a:t> (cm)</a:t>
              </a:r>
              <a:endParaRPr lang="zh-CN" altLang="en-US" i="1" dirty="0">
                <a:latin typeface="Times New Roman" pitchFamily="18" charset="0"/>
                <a:cs typeface="Times New Roman" pitchFamily="18" charset="0"/>
              </a:endParaRPr>
            </a:p>
          </p:txBody>
        </p:sp>
        <p:sp>
          <p:nvSpPr>
            <p:cNvPr id="38" name="椭圆 37"/>
            <p:cNvSpPr/>
            <p:nvPr/>
          </p:nvSpPr>
          <p:spPr>
            <a:xfrm>
              <a:off x="5940336" y="1892952"/>
              <a:ext cx="184666" cy="184666"/>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40" name="椭圆 39"/>
            <p:cNvSpPr/>
            <p:nvPr/>
          </p:nvSpPr>
          <p:spPr>
            <a:xfrm>
              <a:off x="7363542" y="1904800"/>
              <a:ext cx="184666" cy="184666"/>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41" name="TextBox 40"/>
            <p:cNvSpPr txBox="1"/>
            <p:nvPr/>
          </p:nvSpPr>
          <p:spPr>
            <a:xfrm>
              <a:off x="6125002" y="1676002"/>
              <a:ext cx="324128" cy="369332"/>
            </a:xfrm>
            <a:prstGeom prst="rect">
              <a:avLst/>
            </a:prstGeom>
            <a:noFill/>
          </p:spPr>
          <p:txBody>
            <a:bodyPr wrap="none" rtlCol="0">
              <a:spAutoFit/>
            </a:bodyPr>
            <a:lstStyle/>
            <a:p>
              <a:r>
                <a:rPr lang="en-US" altLang="zh-CN" b="1" dirty="0" smtClean="0"/>
                <a:t>A</a:t>
              </a:r>
              <a:endParaRPr lang="zh-CN" altLang="en-US" b="1" dirty="0"/>
            </a:p>
          </p:txBody>
        </p:sp>
        <p:sp>
          <p:nvSpPr>
            <p:cNvPr id="42" name="TextBox 41"/>
            <p:cNvSpPr txBox="1"/>
            <p:nvPr/>
          </p:nvSpPr>
          <p:spPr>
            <a:xfrm>
              <a:off x="7535776" y="1676002"/>
              <a:ext cx="314510" cy="369332"/>
            </a:xfrm>
            <a:prstGeom prst="rect">
              <a:avLst/>
            </a:prstGeom>
            <a:noFill/>
          </p:spPr>
          <p:txBody>
            <a:bodyPr wrap="none" rtlCol="0">
              <a:spAutoFit/>
            </a:bodyPr>
            <a:lstStyle/>
            <a:p>
              <a:r>
                <a:rPr lang="en-US" altLang="zh-CN" b="1" dirty="0" smtClean="0"/>
                <a:t>B</a:t>
              </a:r>
              <a:endParaRPr lang="zh-CN" altLang="en-US" b="1" dirty="0"/>
            </a:p>
          </p:txBody>
        </p:sp>
      </p:grpSp>
      <p:sp>
        <p:nvSpPr>
          <p:cNvPr id="44" name="TextBox 43"/>
          <p:cNvSpPr txBox="1"/>
          <p:nvPr/>
        </p:nvSpPr>
        <p:spPr>
          <a:xfrm>
            <a:off x="395535" y="200480"/>
            <a:ext cx="1620957" cy="523220"/>
          </a:xfrm>
          <a:prstGeom prst="rect">
            <a:avLst/>
          </a:prstGeom>
          <a:noFill/>
        </p:spPr>
        <p:txBody>
          <a:bodyPr wrap="none" rtlCol="0">
            <a:spAutoFit/>
          </a:bodyPr>
          <a:lstStyle/>
          <a:p>
            <a:r>
              <a:rPr lang="zh-CN" altLang="en-US" sz="2800" b="1" dirty="0" smtClean="0">
                <a:solidFill>
                  <a:srgbClr val="0000FF"/>
                </a:solidFill>
                <a:latin typeface="黑体" pitchFamily="49" charset="-122"/>
                <a:ea typeface="黑体" pitchFamily="49" charset="-122"/>
              </a:rPr>
              <a:t>例题</a:t>
            </a:r>
            <a:r>
              <a:rPr lang="en-US" altLang="zh-CN" sz="2800" b="1" dirty="0" smtClean="0">
                <a:solidFill>
                  <a:srgbClr val="0000FF"/>
                </a:solidFill>
                <a:latin typeface="黑体" pitchFamily="49" charset="-122"/>
                <a:ea typeface="黑体" pitchFamily="49" charset="-122"/>
              </a:rPr>
              <a:t>17.4</a:t>
            </a:r>
            <a:endParaRPr lang="zh-CN" altLang="en-US" sz="2800" b="1" dirty="0">
              <a:solidFill>
                <a:srgbClr val="0000FF"/>
              </a:solidFill>
              <a:latin typeface="黑体" pitchFamily="49" charset="-122"/>
              <a:ea typeface="黑体" pitchFamily="49" charset="-122"/>
            </a:endParaRPr>
          </a:p>
        </p:txBody>
      </p:sp>
      <p:sp>
        <p:nvSpPr>
          <p:cNvPr id="45" name="TextBox 44"/>
          <p:cNvSpPr txBox="1"/>
          <p:nvPr/>
        </p:nvSpPr>
        <p:spPr>
          <a:xfrm>
            <a:off x="320337" y="770645"/>
            <a:ext cx="5045449" cy="3582904"/>
          </a:xfrm>
          <a:prstGeom prst="rect">
            <a:avLst/>
          </a:prstGeom>
          <a:noFill/>
        </p:spPr>
        <p:txBody>
          <a:bodyPr wrap="square" rtlCol="0">
            <a:spAutoFit/>
          </a:bodyPr>
          <a:lstStyle/>
          <a:p>
            <a:pPr>
              <a:lnSpc>
                <a:spcPct val="150000"/>
              </a:lnSpc>
            </a:pPr>
            <a:r>
              <a:rPr lang="zh-CN" altLang="en-US" sz="2200" b="1" dirty="0" smtClean="0">
                <a:latin typeface="Times New Roman" panose="02020603050405020304" pitchFamily="18" charset="0"/>
                <a:ea typeface="+mj-ea"/>
                <a:cs typeface="Times New Roman" panose="02020603050405020304" pitchFamily="18" charset="0"/>
              </a:rPr>
              <a:t>如图</a:t>
            </a:r>
            <a:r>
              <a:rPr lang="en-US" altLang="zh-CN" sz="2200" b="1" dirty="0" smtClean="0">
                <a:latin typeface="Times New Roman" panose="02020603050405020304" pitchFamily="18" charset="0"/>
                <a:ea typeface="+mj-ea"/>
                <a:cs typeface="Times New Roman" panose="02020603050405020304" pitchFamily="18" charset="0"/>
              </a:rPr>
              <a:t>17.7</a:t>
            </a:r>
            <a:r>
              <a:rPr lang="zh-CN" altLang="en-US" sz="2200" b="1" dirty="0" smtClean="0">
                <a:latin typeface="Times New Roman" panose="02020603050405020304" pitchFamily="18" charset="0"/>
                <a:ea typeface="+mj-ea"/>
                <a:cs typeface="Times New Roman" panose="02020603050405020304" pitchFamily="18" charset="0"/>
              </a:rPr>
              <a:t>所示，电荷</a:t>
            </a:r>
            <a:r>
              <a:rPr lang="en-US" altLang="zh-CN" sz="2200" b="1" i="1" dirty="0" smtClean="0">
                <a:latin typeface="Times New Roman" panose="02020603050405020304" pitchFamily="18" charset="0"/>
                <a:ea typeface="+mj-ea"/>
                <a:cs typeface="Times New Roman" panose="02020603050405020304" pitchFamily="18" charset="0"/>
              </a:rPr>
              <a:t>Q</a:t>
            </a:r>
            <a:r>
              <a:rPr lang="en-US" altLang="zh-CN" sz="2200" b="1" baseline="-25000" dirty="0" smtClean="0">
                <a:latin typeface="Times New Roman" panose="02020603050405020304" pitchFamily="18" charset="0"/>
                <a:ea typeface="+mj-ea"/>
                <a:cs typeface="Times New Roman" panose="02020603050405020304" pitchFamily="18" charset="0"/>
              </a:rPr>
              <a:t>1</a:t>
            </a:r>
            <a:r>
              <a:rPr lang="en-US" altLang="zh-CN" sz="2200" b="1" dirty="0" smtClean="0">
                <a:latin typeface="Times New Roman" panose="02020603050405020304" pitchFamily="18" charset="0"/>
                <a:ea typeface="+mj-ea"/>
                <a:cs typeface="Times New Roman" panose="02020603050405020304" pitchFamily="18" charset="0"/>
              </a:rPr>
              <a:t>=+4.0</a:t>
            </a:r>
            <a:r>
              <a:rPr lang="el-GR" altLang="zh-CN" sz="2200" b="1" dirty="0" smtClean="0">
                <a:latin typeface="Times New Roman" panose="02020603050405020304" pitchFamily="18" charset="0"/>
                <a:ea typeface="+mj-ea"/>
                <a:cs typeface="Times New Roman" panose="02020603050405020304" pitchFamily="18" charset="0"/>
              </a:rPr>
              <a:t>μ</a:t>
            </a:r>
            <a:r>
              <a:rPr lang="en-US" altLang="zh-CN" sz="2200" b="1" dirty="0" smtClean="0">
                <a:latin typeface="Times New Roman" panose="02020603050405020304" pitchFamily="18" charset="0"/>
                <a:ea typeface="+mj-ea"/>
                <a:cs typeface="Times New Roman" panose="02020603050405020304" pitchFamily="18" charset="0"/>
              </a:rPr>
              <a:t>C</a:t>
            </a:r>
            <a:r>
              <a:rPr lang="zh-CN" altLang="en-US" sz="2200" b="1" dirty="0" smtClean="0">
                <a:latin typeface="Times New Roman" panose="02020603050405020304" pitchFamily="18" charset="0"/>
                <a:ea typeface="+mj-ea"/>
                <a:cs typeface="Times New Roman" panose="02020603050405020304" pitchFamily="18" charset="0"/>
              </a:rPr>
              <a:t>位于</a:t>
            </a:r>
            <a:r>
              <a:rPr lang="en-US" altLang="zh-CN" sz="2200" b="1" dirty="0" smtClean="0">
                <a:latin typeface="Times New Roman" panose="02020603050405020304" pitchFamily="18" charset="0"/>
                <a:ea typeface="+mj-ea"/>
                <a:cs typeface="Times New Roman" panose="02020603050405020304" pitchFamily="18" charset="0"/>
              </a:rPr>
              <a:t>(0.0, 3.0) cm</a:t>
            </a:r>
            <a:r>
              <a:rPr lang="zh-CN" altLang="en-US" sz="2200" b="1" dirty="0" smtClean="0">
                <a:latin typeface="Times New Roman" panose="02020603050405020304" pitchFamily="18" charset="0"/>
                <a:ea typeface="+mj-ea"/>
                <a:cs typeface="Times New Roman" panose="02020603050405020304" pitchFamily="18" charset="0"/>
              </a:rPr>
              <a:t>处；电荷</a:t>
            </a:r>
            <a:r>
              <a:rPr lang="en-US" altLang="zh-CN" sz="2200" b="1" i="1" dirty="0">
                <a:latin typeface="Times New Roman" panose="02020603050405020304" pitchFamily="18" charset="0"/>
                <a:ea typeface="+mj-ea"/>
                <a:cs typeface="Times New Roman" panose="02020603050405020304" pitchFamily="18" charset="0"/>
              </a:rPr>
              <a:t>Q</a:t>
            </a:r>
            <a:r>
              <a:rPr lang="en-US" altLang="zh-CN" sz="2200" b="1" baseline="-25000" dirty="0">
                <a:latin typeface="Times New Roman" panose="02020603050405020304" pitchFamily="18" charset="0"/>
                <a:ea typeface="+mj-ea"/>
                <a:cs typeface="Times New Roman" panose="02020603050405020304" pitchFamily="18" charset="0"/>
              </a:rPr>
              <a:t>2</a:t>
            </a:r>
            <a:r>
              <a:rPr lang="en-US" altLang="zh-CN" sz="2200" b="1" dirty="0">
                <a:latin typeface="Times New Roman" panose="02020603050405020304" pitchFamily="18" charset="0"/>
                <a:ea typeface="+mj-ea"/>
                <a:cs typeface="Times New Roman" panose="02020603050405020304" pitchFamily="18" charset="0"/>
              </a:rPr>
              <a:t>=+2.0</a:t>
            </a:r>
            <a:r>
              <a:rPr lang="el-GR" altLang="zh-CN" sz="2200" b="1" dirty="0">
                <a:latin typeface="Times New Roman" panose="02020603050405020304" pitchFamily="18" charset="0"/>
                <a:ea typeface="+mj-ea"/>
                <a:cs typeface="Times New Roman" panose="02020603050405020304" pitchFamily="18" charset="0"/>
              </a:rPr>
              <a:t>μ</a:t>
            </a:r>
            <a:r>
              <a:rPr lang="en-US" altLang="zh-CN" sz="2200" b="1" dirty="0" smtClean="0">
                <a:latin typeface="Times New Roman" panose="02020603050405020304" pitchFamily="18" charset="0"/>
                <a:ea typeface="+mj-ea"/>
                <a:cs typeface="Times New Roman" panose="02020603050405020304" pitchFamily="18" charset="0"/>
              </a:rPr>
              <a:t>C</a:t>
            </a:r>
            <a:r>
              <a:rPr lang="zh-CN" altLang="en-US" sz="2200" b="1" dirty="0" smtClean="0">
                <a:latin typeface="Times New Roman" panose="02020603050405020304" pitchFamily="18" charset="0"/>
                <a:ea typeface="+mj-ea"/>
                <a:cs typeface="Times New Roman" panose="02020603050405020304" pitchFamily="18" charset="0"/>
              </a:rPr>
              <a:t>位于</a:t>
            </a:r>
            <a:r>
              <a:rPr lang="en-US" altLang="zh-CN" sz="2200" b="1" dirty="0" smtClean="0">
                <a:latin typeface="Times New Roman" panose="02020603050405020304" pitchFamily="18" charset="0"/>
                <a:ea typeface="+mj-ea"/>
                <a:cs typeface="Times New Roman" panose="02020603050405020304" pitchFamily="18" charset="0"/>
              </a:rPr>
              <a:t>(1.0, 0.0) cm</a:t>
            </a:r>
            <a:r>
              <a:rPr lang="zh-CN" altLang="en-US" sz="2200" b="1" dirty="0" smtClean="0">
                <a:latin typeface="Times New Roman" panose="02020603050405020304" pitchFamily="18" charset="0"/>
                <a:ea typeface="+mj-ea"/>
                <a:cs typeface="Times New Roman" panose="02020603050405020304" pitchFamily="18" charset="0"/>
              </a:rPr>
              <a:t>处；电荷</a:t>
            </a:r>
            <a:r>
              <a:rPr lang="en-US" altLang="zh-CN" sz="2200" b="1" i="1" dirty="0">
                <a:latin typeface="Times New Roman" panose="02020603050405020304" pitchFamily="18" charset="0"/>
                <a:ea typeface="+mj-ea"/>
                <a:cs typeface="Times New Roman" panose="02020603050405020304" pitchFamily="18" charset="0"/>
              </a:rPr>
              <a:t>Q</a:t>
            </a:r>
            <a:r>
              <a:rPr lang="en-US" altLang="zh-CN" sz="2200" b="1" baseline="-25000" dirty="0">
                <a:latin typeface="Times New Roman" panose="02020603050405020304" pitchFamily="18" charset="0"/>
                <a:ea typeface="+mj-ea"/>
                <a:cs typeface="Times New Roman" panose="02020603050405020304" pitchFamily="18" charset="0"/>
              </a:rPr>
              <a:t>3</a:t>
            </a:r>
            <a:r>
              <a:rPr lang="en-US" altLang="zh-CN" sz="2200" b="1" dirty="0">
                <a:latin typeface="Times New Roman" panose="02020603050405020304" pitchFamily="18" charset="0"/>
                <a:ea typeface="+mj-ea"/>
                <a:cs typeface="Times New Roman" panose="02020603050405020304" pitchFamily="18" charset="0"/>
              </a:rPr>
              <a:t>=-3.0</a:t>
            </a:r>
            <a:r>
              <a:rPr lang="el-GR" altLang="zh-CN" sz="2200" b="1" dirty="0">
                <a:latin typeface="Times New Roman" panose="02020603050405020304" pitchFamily="18" charset="0"/>
                <a:ea typeface="+mj-ea"/>
                <a:cs typeface="Times New Roman" panose="02020603050405020304" pitchFamily="18" charset="0"/>
              </a:rPr>
              <a:t>μ</a:t>
            </a:r>
            <a:r>
              <a:rPr lang="en-US" altLang="zh-CN" sz="2200" b="1" dirty="0" smtClean="0">
                <a:latin typeface="Times New Roman" panose="02020603050405020304" pitchFamily="18" charset="0"/>
                <a:ea typeface="+mj-ea"/>
                <a:cs typeface="Times New Roman" panose="02020603050405020304" pitchFamily="18" charset="0"/>
              </a:rPr>
              <a:t>C</a:t>
            </a:r>
            <a:r>
              <a:rPr lang="zh-CN" altLang="en-US" sz="2200" b="1" dirty="0" smtClean="0">
                <a:latin typeface="Times New Roman" panose="02020603050405020304" pitchFamily="18" charset="0"/>
                <a:ea typeface="+mj-ea"/>
                <a:cs typeface="Times New Roman" panose="02020603050405020304" pitchFamily="18" charset="0"/>
              </a:rPr>
              <a:t>位于在</a:t>
            </a:r>
            <a:r>
              <a:rPr lang="en-US" altLang="zh-CN" sz="2200" b="1" dirty="0" smtClean="0">
                <a:latin typeface="Times New Roman" panose="02020603050405020304" pitchFamily="18" charset="0"/>
                <a:ea typeface="+mj-ea"/>
                <a:cs typeface="Times New Roman" panose="02020603050405020304" pitchFamily="18" charset="0"/>
              </a:rPr>
              <a:t>(2.0, 2.0</a:t>
            </a:r>
            <a:r>
              <a:rPr lang="zh-CN" altLang="en-US" sz="2200" b="1" dirty="0" smtClean="0">
                <a:latin typeface="Times New Roman" panose="02020603050405020304" pitchFamily="18" charset="0"/>
                <a:ea typeface="+mj-ea"/>
                <a:cs typeface="Times New Roman" panose="02020603050405020304" pitchFamily="18" charset="0"/>
              </a:rPr>
              <a:t>）</a:t>
            </a:r>
            <a:r>
              <a:rPr lang="en-US" altLang="zh-CN" sz="2200" b="1" dirty="0" smtClean="0">
                <a:latin typeface="Times New Roman" panose="02020603050405020304" pitchFamily="18" charset="0"/>
                <a:ea typeface="+mj-ea"/>
                <a:cs typeface="Times New Roman" panose="02020603050405020304" pitchFamily="18" charset="0"/>
              </a:rPr>
              <a:t>cm</a:t>
            </a:r>
            <a:r>
              <a:rPr lang="zh-CN" altLang="en-US" sz="2200" b="1" dirty="0" smtClean="0">
                <a:latin typeface="Times New Roman" panose="02020603050405020304" pitchFamily="18" charset="0"/>
                <a:ea typeface="+mj-ea"/>
                <a:cs typeface="Times New Roman" panose="02020603050405020304" pitchFamily="18" charset="0"/>
              </a:rPr>
              <a:t>处。（</a:t>
            </a:r>
            <a:r>
              <a:rPr lang="en-US" altLang="zh-CN" sz="2200" b="1" dirty="0" smtClean="0">
                <a:latin typeface="Times New Roman" panose="02020603050405020304" pitchFamily="18" charset="0"/>
                <a:ea typeface="+mj-ea"/>
                <a:cs typeface="Times New Roman" panose="02020603050405020304" pitchFamily="18" charset="0"/>
              </a:rPr>
              <a:t>a</a:t>
            </a:r>
            <a:r>
              <a:rPr lang="zh-CN" altLang="en-US" sz="2200" b="1" dirty="0" smtClean="0">
                <a:latin typeface="Times New Roman" panose="02020603050405020304" pitchFamily="18" charset="0"/>
                <a:ea typeface="+mj-ea"/>
                <a:cs typeface="Times New Roman" panose="02020603050405020304" pitchFamily="18" charset="0"/>
              </a:rPr>
              <a:t>）求三个电荷在点</a:t>
            </a:r>
            <a:r>
              <a:rPr lang="en-US" altLang="zh-CN" sz="2200" b="1" dirty="0" smtClean="0">
                <a:latin typeface="Times New Roman" panose="02020603050405020304" pitchFamily="18" charset="0"/>
                <a:ea typeface="+mj-ea"/>
                <a:cs typeface="Times New Roman" panose="02020603050405020304" pitchFamily="18" charset="0"/>
              </a:rPr>
              <a:t>A(0.0, 1.0)</a:t>
            </a:r>
            <a:r>
              <a:rPr lang="zh-CN" altLang="en-US" sz="2200" b="1" dirty="0" smtClean="0">
                <a:latin typeface="Times New Roman" panose="02020603050405020304" pitchFamily="18" charset="0"/>
                <a:ea typeface="+mj-ea"/>
                <a:cs typeface="Times New Roman" panose="02020603050405020304" pitchFamily="18" charset="0"/>
              </a:rPr>
              <a:t>处产生的电势；</a:t>
            </a:r>
            <a:endParaRPr lang="en-US" altLang="zh-CN" sz="2200" b="1" dirty="0" smtClean="0">
              <a:latin typeface="Times New Roman" panose="02020603050405020304" pitchFamily="18" charset="0"/>
              <a:ea typeface="+mj-ea"/>
              <a:cs typeface="Times New Roman" panose="02020603050405020304" pitchFamily="18" charset="0"/>
            </a:endParaRPr>
          </a:p>
          <a:p>
            <a:pPr>
              <a:lnSpc>
                <a:spcPct val="150000"/>
              </a:lnSpc>
            </a:pPr>
            <a:r>
              <a:rPr lang="zh-CN" altLang="en-US" sz="2200" b="1" dirty="0" smtClean="0">
                <a:latin typeface="Times New Roman" panose="02020603050405020304" pitchFamily="18" charset="0"/>
                <a:ea typeface="+mj-ea"/>
                <a:cs typeface="Times New Roman" panose="02020603050405020304" pitchFamily="18" charset="0"/>
              </a:rPr>
              <a:t>（</a:t>
            </a:r>
            <a:r>
              <a:rPr lang="en-US" altLang="zh-CN" sz="2200" b="1" dirty="0" smtClean="0">
                <a:latin typeface="Times New Roman" panose="02020603050405020304" pitchFamily="18" charset="0"/>
                <a:ea typeface="+mj-ea"/>
                <a:cs typeface="Times New Roman" panose="02020603050405020304" pitchFamily="18" charset="0"/>
              </a:rPr>
              <a:t>b</a:t>
            </a:r>
            <a:r>
              <a:rPr lang="zh-CN" altLang="en-US" sz="2200" b="1" dirty="0" smtClean="0">
                <a:latin typeface="Times New Roman" panose="02020603050405020304" pitchFamily="18" charset="0"/>
                <a:ea typeface="+mj-ea"/>
                <a:cs typeface="Times New Roman" panose="02020603050405020304" pitchFamily="18" charset="0"/>
              </a:rPr>
              <a:t>） 一点电荷</a:t>
            </a:r>
            <a:r>
              <a:rPr lang="en-US" altLang="zh-CN" sz="2200" b="1" dirty="0" smtClean="0">
                <a:latin typeface="Times New Roman" panose="02020603050405020304" pitchFamily="18" charset="0"/>
                <a:ea typeface="+mj-ea"/>
                <a:cs typeface="Times New Roman" panose="02020603050405020304" pitchFamily="18" charset="0"/>
              </a:rPr>
              <a:t>q=-5nC</a:t>
            </a:r>
            <a:r>
              <a:rPr lang="zh-CN" altLang="en-US" sz="2200" b="1" dirty="0" smtClean="0">
                <a:latin typeface="Times New Roman" panose="02020603050405020304" pitchFamily="18" charset="0"/>
                <a:ea typeface="+mj-ea"/>
                <a:cs typeface="Times New Roman" panose="02020603050405020304" pitchFamily="18" charset="0"/>
              </a:rPr>
              <a:t>从无限远处移动到</a:t>
            </a:r>
            <a:r>
              <a:rPr lang="en-US" altLang="zh-CN" sz="2200" b="1" dirty="0" smtClean="0">
                <a:latin typeface="Times New Roman" panose="02020603050405020304" pitchFamily="18" charset="0"/>
                <a:ea typeface="+mj-ea"/>
                <a:cs typeface="Times New Roman" panose="02020603050405020304" pitchFamily="18" charset="0"/>
              </a:rPr>
              <a:t>A</a:t>
            </a:r>
            <a:r>
              <a:rPr lang="zh-CN" altLang="en-US" sz="2200" b="1" dirty="0" smtClean="0">
                <a:latin typeface="Times New Roman" panose="02020603050405020304" pitchFamily="18" charset="0"/>
                <a:ea typeface="+mj-ea"/>
                <a:cs typeface="Times New Roman" panose="02020603050405020304" pitchFamily="18" charset="0"/>
              </a:rPr>
              <a:t>点处，求电势能的改变为多少？</a:t>
            </a:r>
            <a:endParaRPr lang="zh-CN" altLang="en-US" sz="2200" b="1" dirty="0">
              <a:latin typeface="黑体" pitchFamily="49" charset="-122"/>
              <a:ea typeface="黑体" pitchFamily="49" charset="-122"/>
            </a:endParaRPr>
          </a:p>
        </p:txBody>
      </p:sp>
      <p:sp>
        <p:nvSpPr>
          <p:cNvPr id="2" name="文本框 1"/>
          <p:cNvSpPr txBox="1"/>
          <p:nvPr/>
        </p:nvSpPr>
        <p:spPr>
          <a:xfrm>
            <a:off x="6012160" y="3573016"/>
            <a:ext cx="2643672" cy="461665"/>
          </a:xfrm>
          <a:prstGeom prst="rect">
            <a:avLst/>
          </a:prstGeom>
          <a:noFill/>
        </p:spPr>
        <p:txBody>
          <a:bodyPr wrap="none" rtlCol="0">
            <a:spAutoFit/>
          </a:bodyPr>
          <a:lstStyle/>
          <a:p>
            <a:r>
              <a:rPr lang="zh-CN" altLang="en-US" sz="2400" dirty="0" smtClean="0"/>
              <a:t>图</a:t>
            </a:r>
            <a:r>
              <a:rPr lang="en-US" altLang="zh-CN" sz="2400" dirty="0" smtClean="0"/>
              <a:t>17.7 </a:t>
            </a:r>
            <a:r>
              <a:rPr lang="zh-CN" altLang="en-US" sz="2400" dirty="0"/>
              <a:t>三</a:t>
            </a:r>
            <a:r>
              <a:rPr lang="zh-CN" altLang="en-US" sz="2400" dirty="0" smtClean="0"/>
              <a:t>个点电荷</a:t>
            </a:r>
            <a:endParaRPr lang="zh-CN" altLang="en-US" sz="2400" dirty="0"/>
          </a:p>
        </p:txBody>
      </p:sp>
      <mc:AlternateContent xmlns:mc="http://schemas.openxmlformats.org/markup-compatibility/2006" xmlns:a14="http://schemas.microsoft.com/office/drawing/2010/main">
        <mc:Choice Requires="a14">
          <p:sp>
            <p:nvSpPr>
              <p:cNvPr id="4" name="矩形 3"/>
              <p:cNvSpPr/>
              <p:nvPr/>
            </p:nvSpPr>
            <p:spPr>
              <a:xfrm>
                <a:off x="539552" y="4405897"/>
                <a:ext cx="2016224" cy="837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2000">
                          <a:latin typeface="Cambria Math"/>
                        </a:rPr>
                        <m:t>V</m:t>
                      </m:r>
                      <m:r>
                        <a:rPr lang="en-US" altLang="zh-CN" sz="2000">
                          <a:latin typeface="Cambria Math"/>
                        </a:rPr>
                        <m:t>=</m:t>
                      </m:r>
                      <m:nary>
                        <m:naryPr>
                          <m:chr m:val="∑"/>
                          <m:limLoc m:val="undOvr"/>
                          <m:subHide m:val="on"/>
                          <m:supHide m:val="on"/>
                          <m:ctrlPr>
                            <a:rPr lang="zh-CN" altLang="zh-CN" sz="2000" i="1">
                              <a:latin typeface="Cambria Math" panose="02040503050406030204" pitchFamily="18" charset="0"/>
                            </a:rPr>
                          </m:ctrlPr>
                        </m:naryPr>
                        <m:sub/>
                        <m:sup/>
                        <m:e>
                          <m:f>
                            <m:fPr>
                              <m:ctrlPr>
                                <a:rPr lang="zh-CN" altLang="zh-CN" sz="2000" i="1">
                                  <a:latin typeface="Cambria Math" panose="02040503050406030204" pitchFamily="18" charset="0"/>
                                </a:rPr>
                              </m:ctrlPr>
                            </m:fPr>
                            <m:num>
                              <m:r>
                                <a:rPr lang="en-US" altLang="zh-CN" sz="2000" i="1">
                                  <a:latin typeface="Cambria Math"/>
                                </a:rPr>
                                <m:t>𝑘</m:t>
                              </m:r>
                              <m:sSub>
                                <m:sSubPr>
                                  <m:ctrlPr>
                                    <a:rPr lang="zh-CN" altLang="zh-CN" sz="2000" i="1">
                                      <a:latin typeface="Cambria Math" panose="02040503050406030204" pitchFamily="18" charset="0"/>
                                    </a:rPr>
                                  </m:ctrlPr>
                                </m:sSubPr>
                                <m:e>
                                  <m:r>
                                    <a:rPr lang="en-US" altLang="zh-CN" sz="2000" i="1">
                                      <a:latin typeface="Cambria Math"/>
                                    </a:rPr>
                                    <m:t>𝑄</m:t>
                                  </m:r>
                                </m:e>
                                <m:sub>
                                  <m:r>
                                    <a:rPr lang="en-US" altLang="zh-CN" sz="2000" i="1">
                                      <a:latin typeface="Cambria Math"/>
                                    </a:rPr>
                                    <m:t>𝑖</m:t>
                                  </m:r>
                                </m:sub>
                              </m:sSub>
                            </m:num>
                            <m:den>
                              <m:sSub>
                                <m:sSubPr>
                                  <m:ctrlPr>
                                    <a:rPr lang="zh-CN" altLang="zh-CN" sz="2000" i="1">
                                      <a:latin typeface="Cambria Math" panose="02040503050406030204" pitchFamily="18" charset="0"/>
                                    </a:rPr>
                                  </m:ctrlPr>
                                </m:sSubPr>
                                <m:e>
                                  <m:r>
                                    <a:rPr lang="en-US" altLang="zh-CN" sz="2000" i="1">
                                      <a:latin typeface="Cambria Math"/>
                                    </a:rPr>
                                    <m:t>𝑟</m:t>
                                  </m:r>
                                </m:e>
                                <m:sub>
                                  <m:r>
                                    <a:rPr lang="en-US" altLang="zh-CN" sz="2000" i="1">
                                      <a:latin typeface="Cambria Math"/>
                                    </a:rPr>
                                    <m:t>𝑖</m:t>
                                  </m:r>
                                </m:sub>
                              </m:sSub>
                            </m:den>
                          </m:f>
                        </m:e>
                      </m:nary>
                    </m:oMath>
                  </m:oMathPara>
                </a14:m>
                <a:endParaRPr lang="zh-CN" altLang="en-US" sz="2000" dirty="0"/>
              </a:p>
            </p:txBody>
          </p:sp>
        </mc:Choice>
        <mc:Fallback xmlns="">
          <p:sp>
            <p:nvSpPr>
              <p:cNvPr id="4" name="矩形 3"/>
              <p:cNvSpPr>
                <a:spLocks noRot="1" noChangeAspect="1" noMove="1" noResize="1" noEditPoints="1" noAdjustHandles="1" noChangeArrowheads="1" noChangeShapeType="1" noTextEdit="1"/>
              </p:cNvSpPr>
              <p:nvPr/>
            </p:nvSpPr>
            <p:spPr>
              <a:xfrm>
                <a:off x="539552" y="4405897"/>
                <a:ext cx="2016224" cy="837665"/>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705271" y="5243562"/>
                <a:ext cx="5086585" cy="461665"/>
              </a:xfrm>
              <a:prstGeom prst="rect">
                <a:avLst/>
              </a:prstGeom>
            </p:spPr>
            <p:txBody>
              <a:bodyPr wrap="none">
                <a:spAutoFit/>
              </a:bodyPr>
              <a:lstStyle/>
              <a:p>
                <a14:m>
                  <m:oMath xmlns:m="http://schemas.openxmlformats.org/officeDocument/2006/math">
                    <m:r>
                      <a:rPr lang="en-US" altLang="zh-CN" sz="2400">
                        <a:latin typeface="Cambria Math"/>
                      </a:rPr>
                      <m:t>∆</m:t>
                    </m:r>
                    <m:sSub>
                      <m:sSubPr>
                        <m:ctrlPr>
                          <a:rPr lang="zh-CN" altLang="zh-CN" sz="2400" i="1">
                            <a:latin typeface="Cambria Math" panose="02040503050406030204" pitchFamily="18" charset="0"/>
                          </a:rPr>
                        </m:ctrlPr>
                      </m:sSubPr>
                      <m:e>
                        <m:r>
                          <a:rPr lang="en-US" altLang="zh-CN" sz="2400" i="1">
                            <a:latin typeface="Cambria Math"/>
                          </a:rPr>
                          <m:t>𝑈</m:t>
                        </m:r>
                      </m:e>
                      <m:sub>
                        <m:r>
                          <a:rPr lang="en-US" altLang="zh-CN" sz="2400" i="1">
                            <a:latin typeface="Cambria Math"/>
                          </a:rPr>
                          <m:t>𝐸</m:t>
                        </m:r>
                      </m:sub>
                    </m:sSub>
                    <m:r>
                      <a:rPr lang="en-US" altLang="zh-CN" sz="2400" i="1">
                        <a:latin typeface="Cambria Math"/>
                      </a:rPr>
                      <m:t>=</m:t>
                    </m:r>
                    <m:r>
                      <a:rPr lang="en-US" altLang="zh-CN" sz="2400" i="1">
                        <a:latin typeface="Cambria Math"/>
                      </a:rPr>
                      <m:t>𝑞</m:t>
                    </m:r>
                    <m:r>
                      <a:rPr lang="en-US" altLang="zh-CN" sz="2400" i="1">
                        <a:latin typeface="Cambria Math"/>
                      </a:rPr>
                      <m:t>∆</m:t>
                    </m:r>
                    <m:r>
                      <a:rPr lang="en-US" altLang="zh-CN" sz="2400" i="1">
                        <a:latin typeface="Cambria Math"/>
                      </a:rPr>
                      <m:t>𝑉</m:t>
                    </m:r>
                    <m:r>
                      <a:rPr lang="en-US" altLang="zh-CN" sz="2400" i="1">
                        <a:latin typeface="Cambria Math"/>
                      </a:rPr>
                      <m:t>=</m:t>
                    </m:r>
                    <m:r>
                      <a:rPr lang="en-US" altLang="zh-CN" sz="2400" i="1">
                        <a:latin typeface="Cambria Math"/>
                      </a:rPr>
                      <m:t>𝑞</m:t>
                    </m:r>
                    <m:r>
                      <a:rPr lang="en-US" altLang="zh-CN" sz="2400" i="1">
                        <a:latin typeface="Cambria Math"/>
                      </a:rPr>
                      <m:t>(</m:t>
                    </m:r>
                    <m:sSub>
                      <m:sSubPr>
                        <m:ctrlPr>
                          <a:rPr lang="zh-CN" altLang="zh-CN" sz="2400" i="1">
                            <a:latin typeface="Cambria Math" panose="02040503050406030204" pitchFamily="18" charset="0"/>
                          </a:rPr>
                        </m:ctrlPr>
                      </m:sSubPr>
                      <m:e>
                        <m:r>
                          <a:rPr lang="en-US" altLang="zh-CN" sz="2400" i="1">
                            <a:latin typeface="Cambria Math"/>
                          </a:rPr>
                          <m:t>𝑉</m:t>
                        </m:r>
                      </m:e>
                      <m:sub>
                        <m:r>
                          <a:rPr lang="en-US" altLang="zh-CN" sz="2400" i="1">
                            <a:latin typeface="Cambria Math"/>
                          </a:rPr>
                          <m:t>𝐴</m:t>
                        </m:r>
                      </m:sub>
                    </m:sSub>
                    <m:r>
                      <a:rPr lang="en-US" altLang="zh-CN" sz="2400" i="1">
                        <a:latin typeface="Cambria Math"/>
                      </a:rPr>
                      <m:t>−0)</m:t>
                    </m:r>
                  </m:oMath>
                </a14:m>
                <a:r>
                  <a:rPr lang="en-US" altLang="zh-CN" sz="2400" dirty="0" smtClean="0"/>
                  <a:t>=-9.3</a:t>
                </a:r>
                <a:r>
                  <a:rPr lang="en-US" altLang="zh-CN" sz="2400">
                    <a:ea typeface="Cambria Math"/>
                  </a:rPr>
                  <a:t> </a:t>
                </a:r>
                <a14:m>
                  <m:oMath xmlns:m="http://schemas.openxmlformats.org/officeDocument/2006/math">
                    <m:r>
                      <a:rPr lang="en-US" altLang="zh-CN" sz="2400" i="1">
                        <a:latin typeface="Cambria Math"/>
                        <a:ea typeface="Cambria Math"/>
                      </a:rPr>
                      <m:t>×</m:t>
                    </m:r>
                    <m:sSup>
                      <m:sSupPr>
                        <m:ctrlPr>
                          <a:rPr lang="en-US" altLang="zh-CN" sz="2400" i="1">
                            <a:latin typeface="Cambria Math" panose="02040503050406030204" pitchFamily="18" charset="0"/>
                            <a:ea typeface="Cambria Math"/>
                          </a:rPr>
                        </m:ctrlPr>
                      </m:sSupPr>
                      <m:e>
                        <m:r>
                          <a:rPr lang="en-US" altLang="zh-CN" sz="2400" i="1">
                            <a:latin typeface="Cambria Math"/>
                            <a:ea typeface="Cambria Math"/>
                          </a:rPr>
                          <m:t>10</m:t>
                        </m:r>
                      </m:e>
                      <m:sup>
                        <m:r>
                          <a:rPr lang="en-US" altLang="zh-CN" sz="2400" i="1">
                            <a:latin typeface="Cambria Math"/>
                            <a:ea typeface="Cambria Math"/>
                          </a:rPr>
                          <m:t>−3</m:t>
                        </m:r>
                      </m:sup>
                    </m:sSup>
                    <m:r>
                      <m:rPr>
                        <m:sty m:val="p"/>
                      </m:rPr>
                      <a:rPr lang="en-US" altLang="zh-CN" sz="2400">
                        <a:latin typeface="Cambria Math"/>
                        <a:ea typeface="Cambria Math"/>
                      </a:rPr>
                      <m:t>J</m:t>
                    </m:r>
                  </m:oMath>
                </a14:m>
                <a:endParaRPr lang="zh-CN" altLang="en-US" sz="2400" dirty="0"/>
              </a:p>
            </p:txBody>
          </p:sp>
        </mc:Choice>
        <mc:Fallback xmlns="">
          <p:sp>
            <p:nvSpPr>
              <p:cNvPr id="5" name="矩形 4"/>
              <p:cNvSpPr>
                <a:spLocks noRot="1" noChangeAspect="1" noMove="1" noResize="1" noEditPoints="1" noAdjustHandles="1" noChangeArrowheads="1" noChangeShapeType="1" noTextEdit="1"/>
              </p:cNvSpPr>
              <p:nvPr/>
            </p:nvSpPr>
            <p:spPr>
              <a:xfrm>
                <a:off x="705271" y="5243562"/>
                <a:ext cx="5086585" cy="461665"/>
              </a:xfrm>
              <a:prstGeom prst="rect">
                <a:avLst/>
              </a:prstGeom>
              <a:blipFill rotWithShape="1">
                <a:blip r:embed="rId4"/>
                <a:stretch>
                  <a:fillRect l="-360" t="-10526" r="-120" b="-28947"/>
                </a:stretch>
              </a:blipFill>
            </p:spPr>
            <p:txBody>
              <a:bodyPr/>
              <a:lstStyle/>
              <a:p>
                <a:r>
                  <a:rPr lang="zh-CN" altLang="en-US">
                    <a:noFill/>
                  </a:rPr>
                  <a:t> </a:t>
                </a:r>
              </a:p>
            </p:txBody>
          </p:sp>
        </mc:Fallback>
      </mc:AlternateContent>
      <p:graphicFrame>
        <p:nvGraphicFramePr>
          <p:cNvPr id="3" name="对象 2"/>
          <p:cNvGraphicFramePr>
            <a:graphicFrameLocks noChangeAspect="1"/>
          </p:cNvGraphicFramePr>
          <p:nvPr>
            <p:extLst>
              <p:ext uri="{D42A27DB-BD31-4B8C-83A1-F6EECF244321}">
                <p14:modId xmlns:p14="http://schemas.microsoft.com/office/powerpoint/2010/main" val="4020772384"/>
              </p:ext>
            </p:extLst>
          </p:nvPr>
        </p:nvGraphicFramePr>
        <p:xfrm>
          <a:off x="2892955" y="4440166"/>
          <a:ext cx="4103687" cy="742950"/>
        </p:xfrm>
        <a:graphic>
          <a:graphicData uri="http://schemas.openxmlformats.org/presentationml/2006/ole">
            <mc:AlternateContent xmlns:mc="http://schemas.openxmlformats.org/markup-compatibility/2006">
              <mc:Choice xmlns:v="urn:schemas-microsoft-com:vml" Requires="v">
                <p:oleObj spid="_x0000_s51314" name="Equation" r:id="rId5" imgW="2387520" imgH="431640" progId="Equation.DSMT4">
                  <p:embed/>
                </p:oleObj>
              </mc:Choice>
              <mc:Fallback>
                <p:oleObj name="Equation" r:id="rId5" imgW="2387520" imgH="431640" progId="Equation.DSMT4">
                  <p:embed/>
                  <p:pic>
                    <p:nvPicPr>
                      <p:cNvPr id="0" name=""/>
                      <p:cNvPicPr/>
                      <p:nvPr/>
                    </p:nvPicPr>
                    <p:blipFill>
                      <a:blip r:embed="rId6"/>
                      <a:stretch>
                        <a:fillRect/>
                      </a:stretch>
                    </p:blipFill>
                    <p:spPr>
                      <a:xfrm>
                        <a:off x="2892955" y="4440166"/>
                        <a:ext cx="4103687" cy="742950"/>
                      </a:xfrm>
                      <a:prstGeom prst="rect">
                        <a:avLst/>
                      </a:prstGeom>
                    </p:spPr>
                  </p:pic>
                </p:oleObj>
              </mc:Fallback>
            </mc:AlternateContent>
          </a:graphicData>
        </a:graphic>
      </p:graphicFrame>
      <p:sp>
        <p:nvSpPr>
          <p:cNvPr id="6" name="TextBox 5"/>
          <p:cNvSpPr txBox="1"/>
          <p:nvPr/>
        </p:nvSpPr>
        <p:spPr>
          <a:xfrm>
            <a:off x="334495" y="5821256"/>
            <a:ext cx="8317724" cy="901978"/>
          </a:xfrm>
          <a:prstGeom prst="rect">
            <a:avLst/>
          </a:prstGeom>
          <a:noFill/>
        </p:spPr>
        <p:txBody>
          <a:bodyPr wrap="square" rtlCol="0">
            <a:spAutoFit/>
          </a:bodyPr>
          <a:lstStyle/>
          <a:p>
            <a:pPr>
              <a:lnSpc>
                <a:spcPct val="125000"/>
              </a:lnSpc>
            </a:pPr>
            <a:r>
              <a:rPr lang="zh-CN" altLang="en-US" sz="2200" b="1" dirty="0" smtClean="0">
                <a:solidFill>
                  <a:srgbClr val="FF0000"/>
                </a:solidFill>
              </a:rPr>
              <a:t>电势为正说明电场线是从</a:t>
            </a:r>
            <a:r>
              <a:rPr lang="en-US" altLang="zh-CN" sz="2200" b="1" dirty="0" smtClean="0">
                <a:solidFill>
                  <a:srgbClr val="FF0000"/>
                </a:solidFill>
              </a:rPr>
              <a:t>A</a:t>
            </a:r>
            <a:r>
              <a:rPr lang="zh-CN" altLang="en-US" sz="2200" b="1" dirty="0" smtClean="0">
                <a:solidFill>
                  <a:srgbClr val="FF0000"/>
                </a:solidFill>
              </a:rPr>
              <a:t>点指向无穷远处的。电势能的改变为负，说明负电荷从无穷远处移到</a:t>
            </a:r>
            <a:r>
              <a:rPr lang="en-US" altLang="zh-CN" sz="2200" b="1" dirty="0" smtClean="0">
                <a:solidFill>
                  <a:srgbClr val="FF0000"/>
                </a:solidFill>
              </a:rPr>
              <a:t>A</a:t>
            </a:r>
            <a:r>
              <a:rPr lang="zh-CN" altLang="en-US" sz="2200" b="1" dirty="0" smtClean="0">
                <a:solidFill>
                  <a:srgbClr val="FF0000"/>
                </a:solidFill>
              </a:rPr>
              <a:t>点处，电场力做正功，电势能减小。</a:t>
            </a:r>
            <a:endParaRPr lang="zh-CN" altLang="en-US" sz="2200" b="1" dirty="0">
              <a:solidFill>
                <a:srgbClr val="FF0000"/>
              </a:solidFill>
            </a:endParaRPr>
          </a:p>
        </p:txBody>
      </p:sp>
    </p:spTree>
    <p:extLst>
      <p:ext uri="{BB962C8B-B14F-4D97-AF65-F5344CB8AC3E}">
        <p14:creationId xmlns:p14="http://schemas.microsoft.com/office/powerpoint/2010/main" val="9375410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60728" y="950436"/>
            <a:ext cx="6552728" cy="5478423"/>
          </a:xfrm>
          <a:prstGeom prst="rect">
            <a:avLst/>
          </a:prstGeom>
          <a:noFill/>
        </p:spPr>
        <p:txBody>
          <a:bodyPr wrap="square" rtlCol="0">
            <a:spAutoFit/>
          </a:bodyPr>
          <a:lstStyle/>
          <a:p>
            <a:pPr>
              <a:lnSpc>
                <a:spcPct val="150000"/>
              </a:lnSpc>
            </a:pPr>
            <a:r>
              <a:rPr lang="zh-CN" altLang="en-US" sz="2800" b="1" dirty="0" smtClean="0"/>
              <a:t>真空中有一半径为</a:t>
            </a:r>
            <a:r>
              <a:rPr lang="en-US" altLang="zh-CN" sz="2800" b="1" dirty="0" smtClean="0"/>
              <a:t>R</a:t>
            </a:r>
            <a:r>
              <a:rPr lang="zh-CN" altLang="en-US" sz="2800" b="1" dirty="0" smtClean="0"/>
              <a:t>的半圆环，均匀带电量为</a:t>
            </a:r>
            <a:r>
              <a:rPr lang="en-US" altLang="zh-CN" sz="2800" b="1" dirty="0" smtClean="0"/>
              <a:t>Q</a:t>
            </a:r>
            <a:r>
              <a:rPr lang="zh-CN" altLang="en-US" sz="2800" b="1" dirty="0" smtClean="0"/>
              <a:t>，如图所示。设无限远处为电势零点，则圆心</a:t>
            </a:r>
            <a:r>
              <a:rPr lang="en-US" altLang="zh-CN" sz="2800" b="1" dirty="0" smtClean="0"/>
              <a:t>O</a:t>
            </a:r>
            <a:r>
              <a:rPr lang="zh-CN" altLang="en-US" sz="2800" b="1" dirty="0" smtClean="0"/>
              <a:t>处的电势为：</a:t>
            </a:r>
            <a:endParaRPr lang="en-US" altLang="zh-CN" sz="2800" b="1" dirty="0" smtClean="0"/>
          </a:p>
          <a:p>
            <a:pPr>
              <a:lnSpc>
                <a:spcPct val="200000"/>
              </a:lnSpc>
            </a:pPr>
            <a:r>
              <a:rPr lang="en-US" altLang="zh-CN" sz="2800" b="1" dirty="0" smtClean="0"/>
              <a:t>A.       0</a:t>
            </a:r>
          </a:p>
          <a:p>
            <a:pPr>
              <a:lnSpc>
                <a:spcPct val="200000"/>
              </a:lnSpc>
            </a:pPr>
            <a:r>
              <a:rPr lang="en-US" altLang="zh-CN" sz="2800" b="1" dirty="0" smtClean="0"/>
              <a:t>B.</a:t>
            </a:r>
          </a:p>
          <a:p>
            <a:pPr>
              <a:lnSpc>
                <a:spcPct val="200000"/>
              </a:lnSpc>
            </a:pPr>
            <a:r>
              <a:rPr lang="en-US" altLang="zh-CN" sz="2800" b="1" dirty="0" smtClean="0"/>
              <a:t>C.</a:t>
            </a:r>
          </a:p>
          <a:p>
            <a:pPr>
              <a:lnSpc>
                <a:spcPct val="200000"/>
              </a:lnSpc>
            </a:pPr>
            <a:r>
              <a:rPr lang="en-US" altLang="zh-CN" sz="2800" b="1" dirty="0" smtClean="0"/>
              <a:t>D.</a:t>
            </a:r>
          </a:p>
        </p:txBody>
      </p:sp>
      <p:sp>
        <p:nvSpPr>
          <p:cNvPr id="4" name="TextBox 3"/>
          <p:cNvSpPr txBox="1"/>
          <p:nvPr/>
        </p:nvSpPr>
        <p:spPr>
          <a:xfrm>
            <a:off x="701894" y="287448"/>
            <a:ext cx="2232248" cy="523220"/>
          </a:xfrm>
          <a:prstGeom prst="rect">
            <a:avLst/>
          </a:prstGeom>
          <a:noFill/>
        </p:spPr>
        <p:txBody>
          <a:bodyPr wrap="square" rtlCol="0">
            <a:spAutoFit/>
          </a:bodyPr>
          <a:lstStyle/>
          <a:p>
            <a:r>
              <a:rPr lang="zh-CN" altLang="en-US" sz="2800" b="1" smtClean="0">
                <a:solidFill>
                  <a:srgbClr val="0000FF"/>
                </a:solidFill>
              </a:rPr>
              <a:t>单项选择题：</a:t>
            </a:r>
            <a:endParaRPr lang="zh-CN" altLang="en-US" sz="2800" b="1">
              <a:solidFill>
                <a:srgbClr val="0000FF"/>
              </a:solidFill>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973073585"/>
              </p:ext>
            </p:extLst>
          </p:nvPr>
        </p:nvGraphicFramePr>
        <p:xfrm>
          <a:off x="1397618" y="4725144"/>
          <a:ext cx="840800" cy="791889"/>
        </p:xfrm>
        <a:graphic>
          <a:graphicData uri="http://schemas.openxmlformats.org/presentationml/2006/ole">
            <mc:AlternateContent xmlns:mc="http://schemas.openxmlformats.org/markup-compatibility/2006">
              <mc:Choice xmlns:v="urn:schemas-microsoft-com:vml" Requires="v">
                <p:oleObj spid="_x0000_s58646" name="Equation" r:id="rId4" imgW="457200" imgH="431640" progId="Equation.DSMT4">
                  <p:embed/>
                </p:oleObj>
              </mc:Choice>
              <mc:Fallback>
                <p:oleObj name="Equation" r:id="rId4" imgW="457200" imgH="431640" progId="Equation.DSMT4">
                  <p:embed/>
                  <p:pic>
                    <p:nvPicPr>
                      <p:cNvPr id="0" name="对象 5"/>
                      <p:cNvPicPr>
                        <a:picLocks noChangeAspect="1" noChangeArrowheads="1"/>
                      </p:cNvPicPr>
                      <p:nvPr/>
                    </p:nvPicPr>
                    <p:blipFill>
                      <a:blip r:embed="rId5"/>
                      <a:srcRect/>
                      <a:stretch>
                        <a:fillRect/>
                      </a:stretch>
                    </p:blipFill>
                    <p:spPr bwMode="auto">
                      <a:xfrm>
                        <a:off x="1397618" y="4725144"/>
                        <a:ext cx="840800" cy="791889"/>
                      </a:xfrm>
                      <a:prstGeom prst="rect">
                        <a:avLst/>
                      </a:prstGeom>
                      <a:noFill/>
                      <a:ln>
                        <a:noFill/>
                      </a:ln>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139832892"/>
              </p:ext>
            </p:extLst>
          </p:nvPr>
        </p:nvGraphicFramePr>
        <p:xfrm>
          <a:off x="1398124" y="3861048"/>
          <a:ext cx="839787" cy="790575"/>
        </p:xfrm>
        <a:graphic>
          <a:graphicData uri="http://schemas.openxmlformats.org/presentationml/2006/ole">
            <mc:AlternateContent xmlns:mc="http://schemas.openxmlformats.org/markup-compatibility/2006">
              <mc:Choice xmlns:v="urn:schemas-microsoft-com:vml" Requires="v">
                <p:oleObj spid="_x0000_s58647" name="Equation" r:id="rId6" imgW="457200" imgH="431640" progId="Equation.DSMT4">
                  <p:embed/>
                </p:oleObj>
              </mc:Choice>
              <mc:Fallback>
                <p:oleObj name="Equation" r:id="rId6" imgW="457200" imgH="431640" progId="Equation.DSMT4">
                  <p:embed/>
                  <p:pic>
                    <p:nvPicPr>
                      <p:cNvPr id="0" name="对象 4"/>
                      <p:cNvPicPr>
                        <a:picLocks noChangeAspect="1" noChangeArrowheads="1"/>
                      </p:cNvPicPr>
                      <p:nvPr/>
                    </p:nvPicPr>
                    <p:blipFill>
                      <a:blip r:embed="rId7"/>
                      <a:srcRect/>
                      <a:stretch>
                        <a:fillRect/>
                      </a:stretch>
                    </p:blipFill>
                    <p:spPr bwMode="auto">
                      <a:xfrm>
                        <a:off x="1398124" y="3861048"/>
                        <a:ext cx="839787"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166306141"/>
              </p:ext>
            </p:extLst>
          </p:nvPr>
        </p:nvGraphicFramePr>
        <p:xfrm>
          <a:off x="1410030" y="5638284"/>
          <a:ext cx="815975" cy="790575"/>
        </p:xfrm>
        <a:graphic>
          <a:graphicData uri="http://schemas.openxmlformats.org/presentationml/2006/ole">
            <mc:AlternateContent xmlns:mc="http://schemas.openxmlformats.org/markup-compatibility/2006">
              <mc:Choice xmlns:v="urn:schemas-microsoft-com:vml" Requires="v">
                <p:oleObj spid="_x0000_s58648" name="Equation" r:id="rId8" imgW="444240" imgH="431640" progId="Equation.DSMT4">
                  <p:embed/>
                </p:oleObj>
              </mc:Choice>
              <mc:Fallback>
                <p:oleObj name="Equation" r:id="rId8" imgW="444240" imgH="431640" progId="Equation.DSMT4">
                  <p:embed/>
                  <p:pic>
                    <p:nvPicPr>
                      <p:cNvPr id="0" name="对象 4"/>
                      <p:cNvPicPr>
                        <a:picLocks noChangeAspect="1" noChangeArrowheads="1"/>
                      </p:cNvPicPr>
                      <p:nvPr/>
                    </p:nvPicPr>
                    <p:blipFill>
                      <a:blip r:embed="rId9"/>
                      <a:srcRect/>
                      <a:stretch>
                        <a:fillRect/>
                      </a:stretch>
                    </p:blipFill>
                    <p:spPr bwMode="auto">
                      <a:xfrm>
                        <a:off x="1410030" y="5638284"/>
                        <a:ext cx="815975"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8374" name="Picture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469844" y="983010"/>
            <a:ext cx="1674156" cy="1584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576" name="Picture 20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38550" y="3196952"/>
            <a:ext cx="5505450" cy="3200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765283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8576"/>
                                        </p:tgtEl>
                                        <p:attrNameLst>
                                          <p:attrName>style.visibility</p:attrName>
                                        </p:attrNameLst>
                                      </p:cBhvr>
                                      <p:to>
                                        <p:strVal val="visible"/>
                                      </p:to>
                                    </p:set>
                                    <p:anim calcmode="lin" valueType="num">
                                      <p:cBhvr additive="base">
                                        <p:cTn id="7" dur="500" fill="hold"/>
                                        <p:tgtEl>
                                          <p:spTgt spid="58576"/>
                                        </p:tgtEl>
                                        <p:attrNameLst>
                                          <p:attrName>ppt_x</p:attrName>
                                        </p:attrNameLst>
                                      </p:cBhvr>
                                      <p:tavLst>
                                        <p:tav tm="0">
                                          <p:val>
                                            <p:strVal val="1+#ppt_w/2"/>
                                          </p:val>
                                        </p:tav>
                                        <p:tav tm="100000">
                                          <p:val>
                                            <p:strVal val="#ppt_x"/>
                                          </p:val>
                                        </p:tav>
                                      </p:tavLst>
                                    </p:anim>
                                    <p:anim calcmode="lin" valueType="num">
                                      <p:cBhvr additive="base">
                                        <p:cTn id="8" dur="500" fill="hold"/>
                                        <p:tgtEl>
                                          <p:spTgt spid="5857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406" y="364012"/>
            <a:ext cx="8604956" cy="461665"/>
          </a:xfrm>
          <a:prstGeom prst="rect">
            <a:avLst/>
          </a:prstGeom>
          <a:noFill/>
        </p:spPr>
        <p:txBody>
          <a:bodyPr wrap="square" rtlCol="0">
            <a:spAutoFit/>
          </a:bodyPr>
          <a:lstStyle/>
          <a:p>
            <a:r>
              <a:rPr lang="zh-CN" altLang="en-US" sz="2400" b="1" dirty="0" smtClean="0">
                <a:solidFill>
                  <a:srgbClr val="0000FF"/>
                </a:solidFill>
              </a:rPr>
              <a:t>例：求均匀带电球面的电势分布。设球面半径为</a:t>
            </a:r>
            <a:r>
              <a:rPr lang="en-US" altLang="zh-CN" sz="2400" b="1" dirty="0" smtClean="0">
                <a:solidFill>
                  <a:srgbClr val="0000FF"/>
                </a:solidFill>
              </a:rPr>
              <a:t>R</a:t>
            </a:r>
            <a:r>
              <a:rPr lang="zh-CN" altLang="en-US" sz="2400" b="1" dirty="0" smtClean="0">
                <a:solidFill>
                  <a:srgbClr val="0000FF"/>
                </a:solidFill>
              </a:rPr>
              <a:t>，带电量为</a:t>
            </a:r>
            <a:r>
              <a:rPr lang="en-US" altLang="zh-CN" sz="2400" b="1" dirty="0" smtClean="0">
                <a:solidFill>
                  <a:srgbClr val="0000FF"/>
                </a:solidFill>
              </a:rPr>
              <a:t>Q</a:t>
            </a:r>
            <a:r>
              <a:rPr lang="zh-CN" altLang="en-US" sz="2400" b="1" dirty="0" smtClean="0">
                <a:solidFill>
                  <a:srgbClr val="0000FF"/>
                </a:solidFill>
              </a:rPr>
              <a:t>。</a:t>
            </a:r>
            <a:endParaRPr lang="zh-CN" altLang="en-US" sz="2400" b="1" dirty="0">
              <a:solidFill>
                <a:srgbClr val="0000FF"/>
              </a:solidFill>
            </a:endParaRPr>
          </a:p>
        </p:txBody>
      </p:sp>
      <p:sp>
        <p:nvSpPr>
          <p:cNvPr id="3" name="TextBox 2"/>
          <p:cNvSpPr txBox="1"/>
          <p:nvPr/>
        </p:nvSpPr>
        <p:spPr>
          <a:xfrm>
            <a:off x="472118" y="1076474"/>
            <a:ext cx="5040560" cy="461665"/>
          </a:xfrm>
          <a:prstGeom prst="rect">
            <a:avLst/>
          </a:prstGeom>
          <a:noFill/>
        </p:spPr>
        <p:txBody>
          <a:bodyPr wrap="square" rtlCol="0">
            <a:spAutoFit/>
          </a:bodyPr>
          <a:lstStyle/>
          <a:p>
            <a:r>
              <a:rPr lang="zh-CN" altLang="en-US" sz="2400" b="1" smtClean="0"/>
              <a:t>解：均匀带电球面电场的分布为：</a:t>
            </a:r>
            <a:endParaRPr lang="zh-CN" altLang="en-US" sz="2400" b="1"/>
          </a:p>
        </p:txBody>
      </p:sp>
      <p:grpSp>
        <p:nvGrpSpPr>
          <p:cNvPr id="12" name="组合 11"/>
          <p:cNvGrpSpPr/>
          <p:nvPr/>
        </p:nvGrpSpPr>
        <p:grpSpPr>
          <a:xfrm>
            <a:off x="851939" y="1572449"/>
            <a:ext cx="3892308" cy="1363452"/>
            <a:chOff x="1043608" y="2060848"/>
            <a:chExt cx="3892308" cy="1363452"/>
          </a:xfrm>
        </p:grpSpPr>
        <p:graphicFrame>
          <p:nvGraphicFramePr>
            <p:cNvPr id="4" name="对象 3"/>
            <p:cNvGraphicFramePr>
              <a:graphicFrameLocks noChangeAspect="1"/>
            </p:cNvGraphicFramePr>
            <p:nvPr>
              <p:extLst>
                <p:ext uri="{D42A27DB-BD31-4B8C-83A1-F6EECF244321}">
                  <p14:modId xmlns:p14="http://schemas.microsoft.com/office/powerpoint/2010/main" val="339894584"/>
                </p:ext>
              </p:extLst>
            </p:nvPr>
          </p:nvGraphicFramePr>
          <p:xfrm>
            <a:off x="1043608" y="2060848"/>
            <a:ext cx="1044116" cy="432048"/>
          </p:xfrm>
          <a:graphic>
            <a:graphicData uri="http://schemas.openxmlformats.org/presentationml/2006/ole">
              <mc:AlternateContent xmlns:mc="http://schemas.openxmlformats.org/markup-compatibility/2006">
                <mc:Choice xmlns:v="urn:schemas-microsoft-com:vml" Requires="v">
                  <p:oleObj spid="_x0000_s52904" name="Equation" r:id="rId3" imgW="368280" imgH="152280" progId="Equation.DSMT4">
                    <p:embed/>
                  </p:oleObj>
                </mc:Choice>
                <mc:Fallback>
                  <p:oleObj name="Equation" r:id="rId3" imgW="368280" imgH="152280" progId="Equation.DSMT4">
                    <p:embed/>
                    <p:pic>
                      <p:nvPicPr>
                        <p:cNvPr id="0" name=""/>
                        <p:cNvPicPr/>
                        <p:nvPr/>
                      </p:nvPicPr>
                      <p:blipFill>
                        <a:blip r:embed="rId4"/>
                        <a:stretch>
                          <a:fillRect/>
                        </a:stretch>
                      </p:blipFill>
                      <p:spPr>
                        <a:xfrm>
                          <a:off x="1043608" y="2060848"/>
                          <a:ext cx="1044116" cy="432048"/>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836529862"/>
                </p:ext>
              </p:extLst>
            </p:nvPr>
          </p:nvGraphicFramePr>
          <p:xfrm>
            <a:off x="3275856" y="2060848"/>
            <a:ext cx="915240" cy="427112"/>
          </p:xfrm>
          <a:graphic>
            <a:graphicData uri="http://schemas.openxmlformats.org/presentationml/2006/ole">
              <mc:AlternateContent xmlns:mc="http://schemas.openxmlformats.org/markup-compatibility/2006">
                <mc:Choice xmlns:v="urn:schemas-microsoft-com:vml" Requires="v">
                  <p:oleObj spid="_x0000_s52905" name="Equation" r:id="rId5" imgW="380880" imgH="177480" progId="Equation.DSMT4">
                    <p:embed/>
                  </p:oleObj>
                </mc:Choice>
                <mc:Fallback>
                  <p:oleObj name="Equation" r:id="rId5" imgW="380880" imgH="177480" progId="Equation.DSMT4">
                    <p:embed/>
                    <p:pic>
                      <p:nvPicPr>
                        <p:cNvPr id="0" name=""/>
                        <p:cNvPicPr/>
                        <p:nvPr/>
                      </p:nvPicPr>
                      <p:blipFill>
                        <a:blip r:embed="rId6"/>
                        <a:stretch>
                          <a:fillRect/>
                        </a:stretch>
                      </p:blipFill>
                      <p:spPr>
                        <a:xfrm>
                          <a:off x="3275856" y="2060848"/>
                          <a:ext cx="915240" cy="427112"/>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983977005"/>
                </p:ext>
              </p:extLst>
            </p:nvPr>
          </p:nvGraphicFramePr>
          <p:xfrm>
            <a:off x="1115616" y="2708920"/>
            <a:ext cx="936104" cy="387353"/>
          </p:xfrm>
          <a:graphic>
            <a:graphicData uri="http://schemas.openxmlformats.org/presentationml/2006/ole">
              <mc:AlternateContent xmlns:mc="http://schemas.openxmlformats.org/markup-compatibility/2006">
                <mc:Choice xmlns:v="urn:schemas-microsoft-com:vml" Requires="v">
                  <p:oleObj spid="_x0000_s52906" name="Equation" r:id="rId7" imgW="368280" imgH="152280" progId="Equation.DSMT4">
                    <p:embed/>
                  </p:oleObj>
                </mc:Choice>
                <mc:Fallback>
                  <p:oleObj name="Equation" r:id="rId7" imgW="368280" imgH="152280" progId="Equation.DSMT4">
                    <p:embed/>
                    <p:pic>
                      <p:nvPicPr>
                        <p:cNvPr id="0" name=""/>
                        <p:cNvPicPr/>
                        <p:nvPr/>
                      </p:nvPicPr>
                      <p:blipFill>
                        <a:blip r:embed="rId8"/>
                        <a:stretch>
                          <a:fillRect/>
                        </a:stretch>
                      </p:blipFill>
                      <p:spPr>
                        <a:xfrm>
                          <a:off x="1115616" y="2708920"/>
                          <a:ext cx="936104" cy="387353"/>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043434371"/>
                </p:ext>
              </p:extLst>
            </p:nvPr>
          </p:nvGraphicFramePr>
          <p:xfrm>
            <a:off x="3160071" y="2549247"/>
            <a:ext cx="1775845" cy="875053"/>
          </p:xfrm>
          <a:graphic>
            <a:graphicData uri="http://schemas.openxmlformats.org/presentationml/2006/ole">
              <mc:AlternateContent xmlns:mc="http://schemas.openxmlformats.org/markup-compatibility/2006">
                <mc:Choice xmlns:v="urn:schemas-microsoft-com:vml" Requires="v">
                  <p:oleObj spid="_x0000_s52907" name="Equation" r:id="rId9" imgW="876240" imgH="431640" progId="Equation.DSMT4">
                    <p:embed/>
                  </p:oleObj>
                </mc:Choice>
                <mc:Fallback>
                  <p:oleObj name="Equation" r:id="rId9" imgW="876240" imgH="431640" progId="Equation.DSMT4">
                    <p:embed/>
                    <p:pic>
                      <p:nvPicPr>
                        <p:cNvPr id="0" name=""/>
                        <p:cNvPicPr/>
                        <p:nvPr/>
                      </p:nvPicPr>
                      <p:blipFill>
                        <a:blip r:embed="rId10"/>
                        <a:stretch>
                          <a:fillRect/>
                        </a:stretch>
                      </p:blipFill>
                      <p:spPr>
                        <a:xfrm>
                          <a:off x="3160071" y="2549247"/>
                          <a:ext cx="1775845" cy="875053"/>
                        </a:xfrm>
                        <a:prstGeom prst="rect">
                          <a:avLst/>
                        </a:prstGeom>
                      </p:spPr>
                    </p:pic>
                  </p:oleObj>
                </mc:Fallback>
              </mc:AlternateContent>
            </a:graphicData>
          </a:graphic>
        </p:graphicFrame>
      </p:grpSp>
      <p:graphicFrame>
        <p:nvGraphicFramePr>
          <p:cNvPr id="8" name="对象 7"/>
          <p:cNvGraphicFramePr>
            <a:graphicFrameLocks noChangeAspect="1"/>
          </p:cNvGraphicFramePr>
          <p:nvPr>
            <p:extLst>
              <p:ext uri="{D42A27DB-BD31-4B8C-83A1-F6EECF244321}">
                <p14:modId xmlns:p14="http://schemas.microsoft.com/office/powerpoint/2010/main" val="300255364"/>
              </p:ext>
            </p:extLst>
          </p:nvPr>
        </p:nvGraphicFramePr>
        <p:xfrm>
          <a:off x="805606" y="3140968"/>
          <a:ext cx="3816424" cy="445714"/>
        </p:xfrm>
        <a:graphic>
          <a:graphicData uri="http://schemas.openxmlformats.org/presentationml/2006/ole">
            <mc:AlternateContent xmlns:mc="http://schemas.openxmlformats.org/markup-compatibility/2006">
              <mc:Choice xmlns:v="urn:schemas-microsoft-com:vml" Requires="v">
                <p:oleObj spid="_x0000_s52908" name="Equation" r:id="rId11" imgW="1739880" imgH="203040" progId="Equation.DSMT4">
                  <p:embed/>
                </p:oleObj>
              </mc:Choice>
              <mc:Fallback>
                <p:oleObj name="Equation" r:id="rId11" imgW="1739880" imgH="203040" progId="Equation.DSMT4">
                  <p:embed/>
                  <p:pic>
                    <p:nvPicPr>
                      <p:cNvPr id="0" name=""/>
                      <p:cNvPicPr/>
                      <p:nvPr/>
                    </p:nvPicPr>
                    <p:blipFill>
                      <a:blip r:embed="rId12"/>
                      <a:stretch>
                        <a:fillRect/>
                      </a:stretch>
                    </p:blipFill>
                    <p:spPr>
                      <a:xfrm>
                        <a:off x="805606" y="3140968"/>
                        <a:ext cx="3816424" cy="445714"/>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172029530"/>
              </p:ext>
            </p:extLst>
          </p:nvPr>
        </p:nvGraphicFramePr>
        <p:xfrm>
          <a:off x="886163" y="3789040"/>
          <a:ext cx="4212469" cy="1872208"/>
        </p:xfrm>
        <a:graphic>
          <a:graphicData uri="http://schemas.openxmlformats.org/presentationml/2006/ole">
            <mc:AlternateContent xmlns:mc="http://schemas.openxmlformats.org/markup-compatibility/2006">
              <mc:Choice xmlns:v="urn:schemas-microsoft-com:vml" Requires="v">
                <p:oleObj spid="_x0000_s52909" name="Equation" r:id="rId13" imgW="2057400" imgH="914400" progId="Equation.DSMT4">
                  <p:embed/>
                </p:oleObj>
              </mc:Choice>
              <mc:Fallback>
                <p:oleObj name="Equation" r:id="rId13" imgW="2057400" imgH="914400" progId="Equation.DSMT4">
                  <p:embed/>
                  <p:pic>
                    <p:nvPicPr>
                      <p:cNvPr id="0" name=""/>
                      <p:cNvPicPr/>
                      <p:nvPr/>
                    </p:nvPicPr>
                    <p:blipFill>
                      <a:blip r:embed="rId14"/>
                      <a:stretch>
                        <a:fillRect/>
                      </a:stretch>
                    </p:blipFill>
                    <p:spPr>
                      <a:xfrm>
                        <a:off x="886163" y="3789040"/>
                        <a:ext cx="4212469" cy="1872208"/>
                      </a:xfrm>
                      <a:prstGeom prst="rect">
                        <a:avLst/>
                      </a:prstGeom>
                    </p:spPr>
                  </p:pic>
                </p:oleObj>
              </mc:Fallback>
            </mc:AlternateContent>
          </a:graphicData>
        </a:graphic>
      </p:graphicFrame>
      <p:sp>
        <p:nvSpPr>
          <p:cNvPr id="10" name="TextBox 9"/>
          <p:cNvSpPr txBox="1"/>
          <p:nvPr/>
        </p:nvSpPr>
        <p:spPr>
          <a:xfrm>
            <a:off x="5512678" y="4149080"/>
            <a:ext cx="3307794" cy="1246495"/>
          </a:xfrm>
          <a:prstGeom prst="rect">
            <a:avLst/>
          </a:prstGeom>
          <a:noFill/>
        </p:spPr>
        <p:txBody>
          <a:bodyPr wrap="square" rtlCol="0">
            <a:spAutoFit/>
          </a:bodyPr>
          <a:lstStyle/>
          <a:p>
            <a:pPr>
              <a:lnSpc>
                <a:spcPct val="125000"/>
              </a:lnSpc>
            </a:pPr>
            <a:r>
              <a:rPr lang="zh-CN" altLang="en-US" sz="2000" b="1" dirty="0" smtClean="0">
                <a:solidFill>
                  <a:srgbClr val="FF0000"/>
                </a:solidFill>
              </a:rPr>
              <a:t>由于球面内外场强的表达式不同，所以电势的定义式中的积分要分成两段。</a:t>
            </a:r>
            <a:endParaRPr lang="zh-CN" altLang="en-US" sz="2000" b="1" dirty="0">
              <a:solidFill>
                <a:srgbClr val="FF0000"/>
              </a:solidFill>
            </a:endParaRPr>
          </a:p>
        </p:txBody>
      </p:sp>
      <p:sp>
        <p:nvSpPr>
          <p:cNvPr id="11" name="TextBox 10"/>
          <p:cNvSpPr txBox="1"/>
          <p:nvPr/>
        </p:nvSpPr>
        <p:spPr>
          <a:xfrm>
            <a:off x="448112" y="5867980"/>
            <a:ext cx="7488832" cy="461665"/>
          </a:xfrm>
          <a:prstGeom prst="rect">
            <a:avLst/>
          </a:prstGeom>
          <a:noFill/>
        </p:spPr>
        <p:txBody>
          <a:bodyPr wrap="square" rtlCol="0">
            <a:spAutoFit/>
          </a:bodyPr>
          <a:lstStyle/>
          <a:p>
            <a:r>
              <a:rPr lang="zh-CN" altLang="en-US" sz="2400" b="1" dirty="0" smtClean="0"/>
              <a:t>均匀带电球面内各点电势相等并等于球面上的电势。</a:t>
            </a:r>
            <a:endParaRPr lang="zh-CN" altLang="en-US" sz="2400" b="1" dirty="0"/>
          </a:p>
        </p:txBody>
      </p:sp>
      <p:pic>
        <p:nvPicPr>
          <p:cNvPr id="52245" name="Picture 2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726415" y="1076474"/>
            <a:ext cx="2880320" cy="2274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06166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552" y="548680"/>
            <a:ext cx="2088232" cy="461665"/>
          </a:xfrm>
          <a:prstGeom prst="rect">
            <a:avLst/>
          </a:prstGeom>
          <a:noFill/>
        </p:spPr>
        <p:txBody>
          <a:bodyPr wrap="square" rtlCol="0">
            <a:spAutoFit/>
          </a:bodyPr>
          <a:lstStyle/>
          <a:p>
            <a:r>
              <a:rPr lang="zh-CN" altLang="en-US" sz="2400" b="1" smtClean="0">
                <a:solidFill>
                  <a:srgbClr val="FF0000"/>
                </a:solidFill>
              </a:rPr>
              <a:t>场点在球外：</a:t>
            </a:r>
            <a:endParaRPr lang="zh-CN" altLang="en-US" sz="2400" b="1">
              <a:solidFill>
                <a:srgbClr val="FF0000"/>
              </a:solidFill>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688563273"/>
              </p:ext>
            </p:extLst>
          </p:nvPr>
        </p:nvGraphicFramePr>
        <p:xfrm>
          <a:off x="2627784" y="592430"/>
          <a:ext cx="904230" cy="374164"/>
        </p:xfrm>
        <a:graphic>
          <a:graphicData uri="http://schemas.openxmlformats.org/presentationml/2006/ole">
            <mc:AlternateContent xmlns:mc="http://schemas.openxmlformats.org/markup-compatibility/2006">
              <mc:Choice xmlns:v="urn:schemas-microsoft-com:vml" Requires="v">
                <p:oleObj spid="_x0000_s54604" name="Equation" r:id="rId3" imgW="368280" imgH="152280" progId="Equation.DSMT4">
                  <p:embed/>
                </p:oleObj>
              </mc:Choice>
              <mc:Fallback>
                <p:oleObj name="Equation" r:id="rId3" imgW="368280" imgH="152280" progId="Equation.DSMT4">
                  <p:embed/>
                  <p:pic>
                    <p:nvPicPr>
                      <p:cNvPr id="0" name=""/>
                      <p:cNvPicPr/>
                      <p:nvPr/>
                    </p:nvPicPr>
                    <p:blipFill>
                      <a:blip r:embed="rId4"/>
                      <a:stretch>
                        <a:fillRect/>
                      </a:stretch>
                    </p:blipFill>
                    <p:spPr>
                      <a:xfrm>
                        <a:off x="2627784" y="592430"/>
                        <a:ext cx="904230" cy="374164"/>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571403301"/>
              </p:ext>
            </p:extLst>
          </p:nvPr>
        </p:nvGraphicFramePr>
        <p:xfrm>
          <a:off x="827584" y="3068960"/>
          <a:ext cx="2730500" cy="1822450"/>
        </p:xfrm>
        <a:graphic>
          <a:graphicData uri="http://schemas.openxmlformats.org/presentationml/2006/ole">
            <mc:AlternateContent xmlns:mc="http://schemas.openxmlformats.org/markup-compatibility/2006">
              <mc:Choice xmlns:v="urn:schemas-microsoft-com:vml" Requires="v">
                <p:oleObj spid="_x0000_s54605" name="Equation" r:id="rId5" imgW="1333440" imgH="888840" progId="Equation.DSMT4">
                  <p:embed/>
                </p:oleObj>
              </mc:Choice>
              <mc:Fallback>
                <p:oleObj name="Equation" r:id="rId5" imgW="1333440" imgH="888840" progId="Equation.DSMT4">
                  <p:embed/>
                  <p:pic>
                    <p:nvPicPr>
                      <p:cNvPr id="0" name="对象 8"/>
                      <p:cNvPicPr>
                        <a:picLocks noChangeAspect="1" noChangeArrowheads="1"/>
                      </p:cNvPicPr>
                      <p:nvPr/>
                    </p:nvPicPr>
                    <p:blipFill>
                      <a:blip r:embed="rId6"/>
                      <a:srcRect/>
                      <a:stretch>
                        <a:fillRect/>
                      </a:stretch>
                    </p:blipFill>
                    <p:spPr bwMode="auto">
                      <a:xfrm>
                        <a:off x="827584" y="3068960"/>
                        <a:ext cx="2730500" cy="1822450"/>
                      </a:xfrm>
                      <a:prstGeom prst="rect">
                        <a:avLst/>
                      </a:prstGeom>
                      <a:noFill/>
                      <a:ln w="19050">
                        <a:solidFill>
                          <a:srgbClr val="FF0000"/>
                        </a:solidFill>
                      </a:ln>
                    </p:spPr>
                  </p:pic>
                </p:oleObj>
              </mc:Fallback>
            </mc:AlternateContent>
          </a:graphicData>
        </a:graphic>
      </p:graphicFrame>
      <p:sp>
        <p:nvSpPr>
          <p:cNvPr id="8" name="TextBox 7"/>
          <p:cNvSpPr txBox="1"/>
          <p:nvPr/>
        </p:nvSpPr>
        <p:spPr>
          <a:xfrm>
            <a:off x="563598" y="2348880"/>
            <a:ext cx="2772308" cy="461665"/>
          </a:xfrm>
          <a:prstGeom prst="rect">
            <a:avLst/>
          </a:prstGeom>
          <a:noFill/>
        </p:spPr>
        <p:txBody>
          <a:bodyPr wrap="square" rtlCol="0">
            <a:spAutoFit/>
          </a:bodyPr>
          <a:lstStyle/>
          <a:p>
            <a:r>
              <a:rPr lang="zh-CN" altLang="en-US" sz="2400" b="1" smtClean="0">
                <a:solidFill>
                  <a:srgbClr val="FF0000"/>
                </a:solidFill>
              </a:rPr>
              <a:t>讨论：电势分布</a:t>
            </a:r>
            <a:endParaRPr lang="zh-CN" altLang="en-US" sz="2400" b="1">
              <a:solidFill>
                <a:srgbClr val="FF0000"/>
              </a:solidFill>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1380287722"/>
              </p:ext>
            </p:extLst>
          </p:nvPr>
        </p:nvGraphicFramePr>
        <p:xfrm>
          <a:off x="874638" y="1183628"/>
          <a:ext cx="4370388" cy="987425"/>
        </p:xfrm>
        <a:graphic>
          <a:graphicData uri="http://schemas.openxmlformats.org/presentationml/2006/ole">
            <mc:AlternateContent xmlns:mc="http://schemas.openxmlformats.org/markup-compatibility/2006">
              <mc:Choice xmlns:v="urn:schemas-microsoft-com:vml" Requires="v">
                <p:oleObj spid="_x0000_s54606" name="Equation" r:id="rId7" imgW="2133360" imgH="482400" progId="Equation.DSMT4">
                  <p:embed/>
                </p:oleObj>
              </mc:Choice>
              <mc:Fallback>
                <p:oleObj name="Equation" r:id="rId7" imgW="2133360" imgH="482400" progId="Equation.DSMT4">
                  <p:embed/>
                  <p:pic>
                    <p:nvPicPr>
                      <p:cNvPr id="0" name="对象 8"/>
                      <p:cNvPicPr>
                        <a:picLocks noChangeAspect="1" noChangeArrowheads="1"/>
                      </p:cNvPicPr>
                      <p:nvPr/>
                    </p:nvPicPr>
                    <p:blipFill>
                      <a:blip r:embed="rId8"/>
                      <a:srcRect/>
                      <a:stretch>
                        <a:fillRect/>
                      </a:stretch>
                    </p:blipFill>
                    <p:spPr bwMode="auto">
                      <a:xfrm>
                        <a:off x="874638" y="1183628"/>
                        <a:ext cx="4370388"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TextBox 10"/>
          <p:cNvSpPr txBox="1"/>
          <p:nvPr/>
        </p:nvSpPr>
        <p:spPr>
          <a:xfrm>
            <a:off x="4220640" y="3338706"/>
            <a:ext cx="1296144" cy="400110"/>
          </a:xfrm>
          <a:prstGeom prst="rect">
            <a:avLst/>
          </a:prstGeom>
          <a:noFill/>
        </p:spPr>
        <p:txBody>
          <a:bodyPr wrap="square" rtlCol="0">
            <a:spAutoFit/>
          </a:bodyPr>
          <a:lstStyle/>
          <a:p>
            <a:r>
              <a:rPr lang="zh-CN" altLang="en-US" sz="2000" b="1" smtClean="0">
                <a:solidFill>
                  <a:srgbClr val="FF0000"/>
                </a:solidFill>
              </a:rPr>
              <a:t>等势体</a:t>
            </a:r>
            <a:endParaRPr lang="zh-CN" altLang="en-US" sz="2000" b="1">
              <a:solidFill>
                <a:srgbClr val="FF0000"/>
              </a:solidFill>
            </a:endParaRPr>
          </a:p>
        </p:txBody>
      </p:sp>
      <p:sp>
        <p:nvSpPr>
          <p:cNvPr id="12" name="TextBox 11"/>
          <p:cNvSpPr txBox="1"/>
          <p:nvPr/>
        </p:nvSpPr>
        <p:spPr>
          <a:xfrm>
            <a:off x="539552" y="5127575"/>
            <a:ext cx="8136904" cy="1325171"/>
          </a:xfrm>
          <a:prstGeom prst="rect">
            <a:avLst/>
          </a:prstGeom>
          <a:noFill/>
        </p:spPr>
        <p:txBody>
          <a:bodyPr wrap="square" rtlCol="0">
            <a:spAutoFit/>
          </a:bodyPr>
          <a:lstStyle/>
          <a:p>
            <a:pPr>
              <a:lnSpc>
                <a:spcPct val="125000"/>
              </a:lnSpc>
            </a:pPr>
            <a:r>
              <a:rPr lang="zh-CN" altLang="en-US" sz="2200" b="1" dirty="0" smtClean="0"/>
              <a:t>以无限远为电势零点。由于在球面外直到无穷远处场强的分布都和电荷集中在球心处的点电荷的场强分布一样，因此球面外任一点的电势与电量集中在球心的点电荷的电势分布相同。</a:t>
            </a:r>
            <a:endParaRPr lang="zh-CN" altLang="en-US" sz="2200" b="1" dirty="0"/>
          </a:p>
        </p:txBody>
      </p:sp>
      <p:pic>
        <p:nvPicPr>
          <p:cNvPr id="54281"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16784" y="359401"/>
            <a:ext cx="2757778" cy="2435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下箭头 12"/>
          <p:cNvSpPr/>
          <p:nvPr/>
        </p:nvSpPr>
        <p:spPr>
          <a:xfrm rot="16200000">
            <a:off x="3760394" y="3269713"/>
            <a:ext cx="428100" cy="483265"/>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pic>
        <p:nvPicPr>
          <p:cNvPr id="54282" name="Picture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13326" y="3140968"/>
            <a:ext cx="2561236" cy="1675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559914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885" y="16358"/>
            <a:ext cx="3236784" cy="523220"/>
          </a:xfrm>
          <a:prstGeom prst="rect">
            <a:avLst/>
          </a:prstGeom>
          <a:noFill/>
        </p:spPr>
        <p:txBody>
          <a:bodyPr wrap="none" rtlCol="0">
            <a:spAutoFit/>
          </a:bodyPr>
          <a:lstStyle/>
          <a:p>
            <a:r>
              <a:rPr lang="en-US" altLang="zh-CN" sz="2800" b="1" dirty="0" smtClean="0">
                <a:solidFill>
                  <a:srgbClr val="0000FF"/>
                </a:solidFill>
                <a:latin typeface="黑体" pitchFamily="49" charset="-122"/>
                <a:ea typeface="黑体" pitchFamily="49" charset="-122"/>
              </a:rPr>
              <a:t>6</a:t>
            </a:r>
            <a:r>
              <a:rPr lang="zh-CN" altLang="en-US" sz="2800" b="1" dirty="0" smtClean="0">
                <a:solidFill>
                  <a:srgbClr val="0000FF"/>
                </a:solidFill>
                <a:latin typeface="黑体" pitchFamily="49" charset="-122"/>
                <a:ea typeface="黑体" pitchFamily="49" charset="-122"/>
              </a:rPr>
              <a:t>、球形导体的电势</a:t>
            </a:r>
            <a:endParaRPr lang="zh-CN" altLang="en-US" sz="2800" b="1" dirty="0">
              <a:solidFill>
                <a:srgbClr val="0000FF"/>
              </a:solidFill>
              <a:latin typeface="黑体" pitchFamily="49" charset="-122"/>
              <a:ea typeface="黑体" pitchFamily="49" charset="-122"/>
            </a:endParaRPr>
          </a:p>
        </p:txBody>
      </p:sp>
      <p:sp>
        <p:nvSpPr>
          <p:cNvPr id="2" name="文本框 1"/>
          <p:cNvSpPr txBox="1"/>
          <p:nvPr/>
        </p:nvSpPr>
        <p:spPr>
          <a:xfrm>
            <a:off x="107505" y="539578"/>
            <a:ext cx="8829428" cy="975523"/>
          </a:xfrm>
          <a:prstGeom prst="rect">
            <a:avLst/>
          </a:prstGeom>
          <a:noFill/>
        </p:spPr>
        <p:txBody>
          <a:bodyPr wrap="square" rtlCol="0">
            <a:spAutoFit/>
          </a:bodyPr>
          <a:lstStyle/>
          <a:p>
            <a:pPr>
              <a:lnSpc>
                <a:spcPct val="125000"/>
              </a:lnSpc>
            </a:pPr>
            <a:r>
              <a:rPr lang="zh-CN" altLang="en-US" sz="2400" b="1" dirty="0" smtClean="0"/>
              <a:t>        一个带电的导体球外的电场和其上所带电荷都集中在球心时形成的点电荷产生的电场相同。</a:t>
            </a:r>
            <a:endParaRPr lang="zh-CN" altLang="en-US" sz="2400" b="1" dirty="0"/>
          </a:p>
        </p:txBody>
      </p:sp>
      <p:sp>
        <p:nvSpPr>
          <p:cNvPr id="4" name="文本框 3"/>
          <p:cNvSpPr txBox="1"/>
          <p:nvPr/>
        </p:nvSpPr>
        <p:spPr>
          <a:xfrm>
            <a:off x="4754789" y="1818800"/>
            <a:ext cx="3973429" cy="1938992"/>
          </a:xfrm>
          <a:prstGeom prst="rect">
            <a:avLst/>
          </a:prstGeom>
          <a:noFill/>
        </p:spPr>
        <p:txBody>
          <a:bodyPr wrap="square" rtlCol="0">
            <a:spAutoFit/>
          </a:bodyPr>
          <a:lstStyle/>
          <a:p>
            <a:pPr algn="just">
              <a:lnSpc>
                <a:spcPct val="125000"/>
              </a:lnSpc>
            </a:pPr>
            <a:r>
              <a:rPr lang="zh-CN" altLang="en-US" sz="2400" b="1" dirty="0" smtClean="0">
                <a:latin typeface="Times New Roman" panose="02020603050405020304" pitchFamily="18" charset="0"/>
                <a:ea typeface="+mj-ea"/>
                <a:cs typeface="Times New Roman" panose="02020603050405020304" pitchFamily="18" charset="0"/>
              </a:rPr>
              <a:t>图</a:t>
            </a:r>
            <a:r>
              <a:rPr lang="en-US" altLang="zh-CN" sz="2400" b="1" dirty="0" smtClean="0">
                <a:latin typeface="Times New Roman" panose="02020603050405020304" pitchFamily="18" charset="0"/>
                <a:ea typeface="+mj-ea"/>
                <a:cs typeface="Times New Roman" panose="02020603050405020304" pitchFamily="18" charset="0"/>
              </a:rPr>
              <a:t>17.11 </a:t>
            </a:r>
            <a:r>
              <a:rPr lang="zh-CN" altLang="en-US" sz="2400" b="1" dirty="0" smtClean="0">
                <a:latin typeface="Times New Roman" panose="02020603050405020304" pitchFamily="18" charset="0"/>
                <a:ea typeface="+mj-ea"/>
                <a:cs typeface="Times New Roman" panose="02020603050405020304" pitchFamily="18" charset="0"/>
              </a:rPr>
              <a:t>半径为</a:t>
            </a:r>
            <a:r>
              <a:rPr lang="en-US" altLang="zh-CN" sz="2400" b="1" i="1" dirty="0" smtClean="0">
                <a:latin typeface="Times New Roman" panose="02020603050405020304" pitchFamily="18" charset="0"/>
                <a:ea typeface="+mj-ea"/>
                <a:cs typeface="Times New Roman" panose="02020603050405020304" pitchFamily="18" charset="0"/>
              </a:rPr>
              <a:t>R</a:t>
            </a:r>
            <a:r>
              <a:rPr lang="zh-CN" altLang="en-US" sz="2400" b="1" dirty="0" smtClean="0">
                <a:latin typeface="Times New Roman" panose="02020603050405020304" pitchFamily="18" charset="0"/>
                <a:ea typeface="+mj-ea"/>
                <a:cs typeface="Times New Roman" panose="02020603050405020304" pitchFamily="18" charset="0"/>
              </a:rPr>
              <a:t>、电量为</a:t>
            </a:r>
            <a:r>
              <a:rPr lang="en-US" altLang="zh-CN" sz="2400" b="1" i="1" dirty="0" smtClean="0">
                <a:latin typeface="Times New Roman" panose="02020603050405020304" pitchFamily="18" charset="0"/>
                <a:ea typeface="+mj-ea"/>
                <a:cs typeface="Times New Roman" panose="02020603050405020304" pitchFamily="18" charset="0"/>
              </a:rPr>
              <a:t>Q</a:t>
            </a:r>
            <a:r>
              <a:rPr lang="zh-CN" altLang="en-US" sz="2400" b="1" dirty="0" smtClean="0">
                <a:latin typeface="Times New Roman" panose="02020603050405020304" pitchFamily="18" charset="0"/>
                <a:ea typeface="+mj-ea"/>
                <a:cs typeface="Times New Roman" panose="02020603050405020304" pitchFamily="18" charset="0"/>
              </a:rPr>
              <a:t>的空心导体球所产生的电场和电势随离开球心距离</a:t>
            </a:r>
            <a:r>
              <a:rPr lang="en-US" altLang="zh-CN" sz="2400" b="1" i="1" dirty="0" smtClean="0">
                <a:latin typeface="Times New Roman" panose="02020603050405020304" pitchFamily="18" charset="0"/>
                <a:ea typeface="+mj-ea"/>
                <a:cs typeface="Times New Roman" panose="02020603050405020304" pitchFamily="18" charset="0"/>
              </a:rPr>
              <a:t>r</a:t>
            </a:r>
            <a:r>
              <a:rPr lang="zh-CN" altLang="en-US" sz="2400" b="1" dirty="0" smtClean="0">
                <a:latin typeface="Times New Roman" panose="02020603050405020304" pitchFamily="18" charset="0"/>
                <a:ea typeface="+mj-ea"/>
                <a:cs typeface="Times New Roman" panose="02020603050405020304" pitchFamily="18" charset="0"/>
              </a:rPr>
              <a:t>的变化关系。</a:t>
            </a:r>
            <a:endParaRPr lang="zh-CN" altLang="en-US" sz="2400" b="1" dirty="0">
              <a:latin typeface="Times New Roman" panose="02020603050405020304" pitchFamily="18" charset="0"/>
              <a:ea typeface="+mj-ea"/>
              <a:cs typeface="Times New Roman" panose="02020603050405020304" pitchFamily="18" charset="0"/>
            </a:endParaRPr>
          </a:p>
        </p:txBody>
      </p:sp>
      <p:grpSp>
        <p:nvGrpSpPr>
          <p:cNvPr id="30" name="组合 29"/>
          <p:cNvGrpSpPr/>
          <p:nvPr/>
        </p:nvGrpSpPr>
        <p:grpSpPr>
          <a:xfrm>
            <a:off x="4759383" y="4077072"/>
            <a:ext cx="4182577" cy="2537506"/>
            <a:chOff x="5757379" y="3993822"/>
            <a:chExt cx="3307245" cy="2819554"/>
          </a:xfrm>
        </p:grpSpPr>
        <p:sp>
          <p:nvSpPr>
            <p:cNvPr id="27" name="圆角矩形 26"/>
            <p:cNvSpPr/>
            <p:nvPr/>
          </p:nvSpPr>
          <p:spPr>
            <a:xfrm>
              <a:off x="5757379" y="3993822"/>
              <a:ext cx="3307245" cy="281955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a:p>
          </p:txBody>
        </p:sp>
        <p:sp>
          <p:nvSpPr>
            <p:cNvPr id="14" name="文本框 13"/>
            <p:cNvSpPr txBox="1"/>
            <p:nvPr/>
          </p:nvSpPr>
          <p:spPr>
            <a:xfrm>
              <a:off x="5765146" y="4028302"/>
              <a:ext cx="3295503" cy="2667494"/>
            </a:xfrm>
            <a:prstGeom prst="rect">
              <a:avLst/>
            </a:prstGeom>
            <a:noFill/>
          </p:spPr>
          <p:txBody>
            <a:bodyPr wrap="square" rtlCol="0">
              <a:spAutoFit/>
            </a:bodyPr>
            <a:lstStyle/>
            <a:p>
              <a:pPr algn="just">
                <a:lnSpc>
                  <a:spcPct val="125000"/>
                </a:lnSpc>
              </a:pPr>
              <a:r>
                <a:rPr lang="zh-CN" altLang="en-US" sz="2400" dirty="0" smtClean="0">
                  <a:solidFill>
                    <a:srgbClr val="FF0000"/>
                  </a:solidFill>
                  <a:latin typeface="Times New Roman" panose="02020603050405020304" pitchFamily="18" charset="0"/>
                  <a:cs typeface="Times New Roman" panose="02020603050405020304" pitchFamily="18" charset="0"/>
                </a:rPr>
                <a:t>在</a:t>
              </a:r>
              <a:r>
                <a:rPr lang="en-US" altLang="zh-CN" sz="2400" i="1" dirty="0" smtClean="0">
                  <a:solidFill>
                    <a:srgbClr val="FF0000"/>
                  </a:solidFill>
                  <a:latin typeface="Times New Roman" panose="02020603050405020304" pitchFamily="18" charset="0"/>
                  <a:cs typeface="Times New Roman" panose="02020603050405020304" pitchFamily="18" charset="0"/>
                </a:rPr>
                <a:t>r </a:t>
              </a:r>
              <a:r>
                <a:rPr lang="en-US" altLang="zh-CN" sz="2400" dirty="0" smtClean="0">
                  <a:solidFill>
                    <a:srgbClr val="FF0000"/>
                  </a:solidFill>
                  <a:latin typeface="Times New Roman" panose="02020603050405020304" pitchFamily="18" charset="0"/>
                  <a:cs typeface="Times New Roman" panose="02020603050405020304" pitchFamily="18" charset="0"/>
                </a:rPr>
                <a:t>≥ </a:t>
              </a:r>
              <a:r>
                <a:rPr lang="en-US" altLang="zh-CN" sz="2400" i="1" dirty="0" smtClean="0">
                  <a:solidFill>
                    <a:srgbClr val="FF0000"/>
                  </a:solidFill>
                  <a:latin typeface="Times New Roman" panose="02020603050405020304" pitchFamily="18" charset="0"/>
                  <a:cs typeface="Times New Roman" panose="02020603050405020304" pitchFamily="18" charset="0"/>
                </a:rPr>
                <a:t>R</a:t>
              </a:r>
              <a:r>
                <a:rPr lang="zh-CN" altLang="en-US" sz="2400" dirty="0" smtClean="0">
                  <a:solidFill>
                    <a:srgbClr val="FF0000"/>
                  </a:solidFill>
                  <a:latin typeface="Times New Roman" panose="02020603050405020304" pitchFamily="18" charset="0"/>
                  <a:cs typeface="Times New Roman" panose="02020603050405020304" pitchFamily="18" charset="0"/>
                </a:rPr>
                <a:t>的区域，电场和电势分布</a:t>
              </a:r>
              <a:r>
                <a:rPr lang="zh-CN" altLang="en-US" sz="2400" dirty="0">
                  <a:solidFill>
                    <a:srgbClr val="FF0000"/>
                  </a:solidFill>
                  <a:latin typeface="Times New Roman" panose="02020603050405020304" pitchFamily="18" charset="0"/>
                  <a:cs typeface="Times New Roman" panose="02020603050405020304" pitchFamily="18" charset="0"/>
                </a:rPr>
                <a:t>与</a:t>
              </a:r>
              <a:r>
                <a:rPr lang="zh-CN" altLang="en-US" sz="2400" dirty="0" smtClean="0">
                  <a:solidFill>
                    <a:srgbClr val="FF0000"/>
                  </a:solidFill>
                  <a:latin typeface="Times New Roman" panose="02020603050405020304" pitchFamily="18" charset="0"/>
                  <a:cs typeface="Times New Roman" panose="02020603050405020304" pitchFamily="18" charset="0"/>
                </a:rPr>
                <a:t>位于球心处的一个点电荷</a:t>
              </a:r>
              <a:r>
                <a:rPr lang="en-US" altLang="zh-CN" sz="2400" i="1" dirty="0" smtClean="0">
                  <a:solidFill>
                    <a:srgbClr val="FF0000"/>
                  </a:solidFill>
                  <a:latin typeface="Times New Roman" panose="02020603050405020304" pitchFamily="18" charset="0"/>
                  <a:cs typeface="Times New Roman" panose="02020603050405020304" pitchFamily="18" charset="0"/>
                </a:rPr>
                <a:t>Q</a:t>
              </a:r>
              <a:r>
                <a:rPr lang="zh-CN" altLang="en-US" sz="2400" dirty="0" smtClean="0">
                  <a:solidFill>
                    <a:srgbClr val="FF0000"/>
                  </a:solidFill>
                  <a:latin typeface="Times New Roman" panose="02020603050405020304" pitchFamily="18" charset="0"/>
                  <a:cs typeface="Times New Roman" panose="02020603050405020304" pitchFamily="18" charset="0"/>
                </a:rPr>
                <a:t>所产生的电场和电势分布相同。在</a:t>
              </a:r>
              <a:r>
                <a:rPr lang="en-US" altLang="zh-CN" sz="2400" i="1" dirty="0" smtClean="0">
                  <a:solidFill>
                    <a:srgbClr val="FF0000"/>
                  </a:solidFill>
                  <a:latin typeface="Times New Roman" panose="02020603050405020304" pitchFamily="18" charset="0"/>
                  <a:cs typeface="Times New Roman" panose="02020603050405020304" pitchFamily="18" charset="0"/>
                </a:rPr>
                <a:t>r </a:t>
              </a:r>
              <a:r>
                <a:rPr lang="en-US" altLang="zh-CN" sz="2400" dirty="0" smtClean="0">
                  <a:solidFill>
                    <a:srgbClr val="FF0000"/>
                  </a:solidFill>
                  <a:latin typeface="Times New Roman" panose="02020603050405020304" pitchFamily="18" charset="0"/>
                  <a:cs typeface="Times New Roman" panose="02020603050405020304" pitchFamily="18" charset="0"/>
                </a:rPr>
                <a:t>&lt; </a:t>
              </a:r>
              <a:r>
                <a:rPr lang="en-US" altLang="zh-CN" sz="2400" i="1" dirty="0" smtClean="0">
                  <a:solidFill>
                    <a:srgbClr val="FF0000"/>
                  </a:solidFill>
                  <a:latin typeface="Times New Roman" panose="02020603050405020304" pitchFamily="18" charset="0"/>
                  <a:cs typeface="Times New Roman" panose="02020603050405020304" pitchFamily="18" charset="0"/>
                </a:rPr>
                <a:t>R </a:t>
              </a:r>
              <a:r>
                <a:rPr lang="zh-CN" altLang="en-US" sz="2400" dirty="0" smtClean="0">
                  <a:solidFill>
                    <a:srgbClr val="FF0000"/>
                  </a:solidFill>
                  <a:latin typeface="Times New Roman" panose="02020603050405020304" pitchFamily="18" charset="0"/>
                  <a:cs typeface="Times New Roman" panose="02020603050405020304" pitchFamily="18" charset="0"/>
                </a:rPr>
                <a:t>区域，电场为零，电势为常数。</a:t>
              </a:r>
              <a:endParaRPr lang="zh-CN" altLang="en-US" sz="2400" dirty="0">
                <a:solidFill>
                  <a:srgbClr val="FF0000"/>
                </a:solidFill>
                <a:latin typeface="Times New Roman" panose="02020603050405020304" pitchFamily="18" charset="0"/>
                <a:cs typeface="Times New Roman" panose="02020603050405020304" pitchFamily="18" charset="0"/>
              </a:endParaRPr>
            </a:p>
          </p:txBody>
        </p:sp>
      </p:grpSp>
      <p:pic>
        <p:nvPicPr>
          <p:cNvPr id="31"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8128" y="1663695"/>
            <a:ext cx="4392479" cy="1541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6308" y="3389334"/>
            <a:ext cx="4296118" cy="1477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61086" y="5050732"/>
            <a:ext cx="2533549" cy="711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924635" y="5815975"/>
            <a:ext cx="1137513" cy="722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 name="文本框 34"/>
          <p:cNvSpPr txBox="1"/>
          <p:nvPr/>
        </p:nvSpPr>
        <p:spPr>
          <a:xfrm>
            <a:off x="0" y="5946258"/>
            <a:ext cx="2954655" cy="461665"/>
          </a:xfrm>
          <a:prstGeom prst="rect">
            <a:avLst/>
          </a:prstGeom>
          <a:noFill/>
        </p:spPr>
        <p:txBody>
          <a:bodyPr wrap="none" rtlCol="0">
            <a:spAutoFit/>
          </a:bodyPr>
          <a:lstStyle/>
          <a:p>
            <a:r>
              <a:rPr lang="zh-CN" altLang="en-US" sz="2400" dirty="0" smtClean="0"/>
              <a:t>在带电导体球的表面</a:t>
            </a:r>
            <a:endParaRPr lang="zh-CN" altLang="en-US" sz="2400" dirty="0"/>
          </a:p>
        </p:txBody>
      </p:sp>
    </p:spTree>
    <p:extLst>
      <p:ext uri="{BB962C8B-B14F-4D97-AF65-F5344CB8AC3E}">
        <p14:creationId xmlns:p14="http://schemas.microsoft.com/office/powerpoint/2010/main" val="16566863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09308" y="332656"/>
            <a:ext cx="3456384" cy="523220"/>
          </a:xfrm>
          <a:prstGeom prst="rect">
            <a:avLst/>
          </a:prstGeom>
          <a:noFill/>
        </p:spPr>
        <p:txBody>
          <a:bodyPr wrap="square" rtlCol="0">
            <a:spAutoFit/>
          </a:bodyPr>
          <a:lstStyle/>
          <a:p>
            <a:r>
              <a:rPr lang="zh-CN" altLang="en-US" sz="2800" b="1" smtClean="0">
                <a:solidFill>
                  <a:srgbClr val="0000FF"/>
                </a:solidFill>
              </a:rPr>
              <a:t>思考题：</a:t>
            </a:r>
            <a:endParaRPr lang="zh-CN" altLang="en-US" sz="2800" b="1">
              <a:solidFill>
                <a:srgbClr val="0000FF"/>
              </a:solidFill>
            </a:endParaRPr>
          </a:p>
        </p:txBody>
      </p:sp>
      <p:sp>
        <p:nvSpPr>
          <p:cNvPr id="4" name="TextBox 3"/>
          <p:cNvSpPr txBox="1"/>
          <p:nvPr/>
        </p:nvSpPr>
        <p:spPr>
          <a:xfrm>
            <a:off x="409308" y="980728"/>
            <a:ext cx="7416824" cy="1754326"/>
          </a:xfrm>
          <a:prstGeom prst="rect">
            <a:avLst/>
          </a:prstGeom>
          <a:noFill/>
        </p:spPr>
        <p:txBody>
          <a:bodyPr wrap="square" rtlCol="0">
            <a:spAutoFit/>
          </a:bodyPr>
          <a:lstStyle/>
          <a:p>
            <a:pPr>
              <a:lnSpc>
                <a:spcPct val="150000"/>
              </a:lnSpc>
            </a:pPr>
            <a:r>
              <a:rPr lang="zh-CN" altLang="en-US" sz="2400" b="1" dirty="0" smtClean="0"/>
              <a:t>如图所示，半径为</a:t>
            </a:r>
            <a:r>
              <a:rPr lang="en-US" altLang="zh-CN" sz="2400" b="1" dirty="0" smtClean="0"/>
              <a:t>R</a:t>
            </a:r>
            <a:r>
              <a:rPr lang="zh-CN" altLang="en-US" sz="2400" b="1" dirty="0" smtClean="0"/>
              <a:t>的均匀带电球面，总电量为</a:t>
            </a:r>
            <a:r>
              <a:rPr lang="en-US" altLang="zh-CN" sz="2400" b="1" dirty="0" smtClean="0"/>
              <a:t>Q</a:t>
            </a:r>
            <a:r>
              <a:rPr lang="zh-CN" altLang="en-US" sz="2400" b="1" dirty="0" smtClean="0"/>
              <a:t>，设无穷远处的电势为零，则球内距离球心为</a:t>
            </a:r>
            <a:r>
              <a:rPr lang="en-US" altLang="zh-CN" sz="2400" b="1" dirty="0" smtClean="0"/>
              <a:t>r</a:t>
            </a:r>
            <a:r>
              <a:rPr lang="zh-CN" altLang="en-US" sz="2400" b="1" dirty="0" smtClean="0"/>
              <a:t>的</a:t>
            </a:r>
            <a:r>
              <a:rPr lang="en-US" altLang="zh-CN" sz="2400" b="1" dirty="0" smtClean="0"/>
              <a:t>P</a:t>
            </a:r>
            <a:r>
              <a:rPr lang="zh-CN" altLang="en-US" sz="2400" b="1" dirty="0" smtClean="0"/>
              <a:t>点处的电场强度的大小和电势为：</a:t>
            </a:r>
            <a:endParaRPr lang="zh-CN" altLang="en-US" sz="2400" b="1" dirty="0"/>
          </a:p>
        </p:txBody>
      </p:sp>
      <p:graphicFrame>
        <p:nvGraphicFramePr>
          <p:cNvPr id="5" name="对象 4"/>
          <p:cNvGraphicFramePr>
            <a:graphicFrameLocks noChangeAspect="1"/>
          </p:cNvGraphicFramePr>
          <p:nvPr>
            <p:extLst>
              <p:ext uri="{D42A27DB-BD31-4B8C-83A1-F6EECF244321}">
                <p14:modId xmlns:p14="http://schemas.microsoft.com/office/powerpoint/2010/main" val="455152471"/>
              </p:ext>
            </p:extLst>
          </p:nvPr>
        </p:nvGraphicFramePr>
        <p:xfrm>
          <a:off x="2137500" y="3068960"/>
          <a:ext cx="1296145" cy="604868"/>
        </p:xfrm>
        <a:graphic>
          <a:graphicData uri="http://schemas.openxmlformats.org/presentationml/2006/ole">
            <mc:AlternateContent xmlns:mc="http://schemas.openxmlformats.org/markup-compatibility/2006">
              <mc:Choice xmlns:v="urn:schemas-microsoft-com:vml" Requires="v">
                <p:oleObj spid="_x0000_s57531" name="Equation" r:id="rId3" imgW="380880" imgH="177480" progId="Equation.DSMT4">
                  <p:embed/>
                </p:oleObj>
              </mc:Choice>
              <mc:Fallback>
                <p:oleObj name="Equation" r:id="rId3" imgW="380880" imgH="177480" progId="Equation.DSMT4">
                  <p:embed/>
                  <p:pic>
                    <p:nvPicPr>
                      <p:cNvPr id="0" name=""/>
                      <p:cNvPicPr/>
                      <p:nvPr/>
                    </p:nvPicPr>
                    <p:blipFill>
                      <a:blip r:embed="rId4"/>
                      <a:stretch>
                        <a:fillRect/>
                      </a:stretch>
                    </p:blipFill>
                    <p:spPr>
                      <a:xfrm>
                        <a:off x="2137500" y="3068960"/>
                        <a:ext cx="1296145" cy="604868"/>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57363518"/>
              </p:ext>
            </p:extLst>
          </p:nvPr>
        </p:nvGraphicFramePr>
        <p:xfrm>
          <a:off x="2142104" y="4005064"/>
          <a:ext cx="1780161" cy="1080120"/>
        </p:xfrm>
        <a:graphic>
          <a:graphicData uri="http://schemas.openxmlformats.org/presentationml/2006/ole">
            <mc:AlternateContent xmlns:mc="http://schemas.openxmlformats.org/markup-compatibility/2006">
              <mc:Choice xmlns:v="urn:schemas-microsoft-com:vml" Requires="v">
                <p:oleObj spid="_x0000_s57532" name="Equation" r:id="rId5" imgW="711000" imgH="431640" progId="Equation.DSMT4">
                  <p:embed/>
                </p:oleObj>
              </mc:Choice>
              <mc:Fallback>
                <p:oleObj name="Equation" r:id="rId5" imgW="711000" imgH="431640" progId="Equation.DSMT4">
                  <p:embed/>
                  <p:pic>
                    <p:nvPicPr>
                      <p:cNvPr id="0" name="对象 8"/>
                      <p:cNvPicPr>
                        <a:picLocks noChangeAspect="1" noChangeArrowheads="1"/>
                      </p:cNvPicPr>
                      <p:nvPr/>
                    </p:nvPicPr>
                    <p:blipFill>
                      <a:blip r:embed="rId6"/>
                      <a:srcRect/>
                      <a:stretch>
                        <a:fillRect/>
                      </a:stretch>
                    </p:blipFill>
                    <p:spPr bwMode="auto">
                      <a:xfrm>
                        <a:off x="2142104" y="4005064"/>
                        <a:ext cx="1780161" cy="1080120"/>
                      </a:xfrm>
                      <a:prstGeom prst="rect">
                        <a:avLst/>
                      </a:prstGeom>
                      <a:noFill/>
                      <a:ln>
                        <a:noFill/>
                      </a:ln>
                    </p:spPr>
                  </p:pic>
                </p:oleObj>
              </mc:Fallback>
            </mc:AlternateContent>
          </a:graphicData>
        </a:graphic>
      </p:graphicFrame>
      <p:pic>
        <p:nvPicPr>
          <p:cNvPr id="57347"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68144" y="2780928"/>
            <a:ext cx="1634916" cy="1368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147122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99592" y="577424"/>
            <a:ext cx="2232248" cy="523220"/>
          </a:xfrm>
          <a:prstGeom prst="rect">
            <a:avLst/>
          </a:prstGeom>
          <a:noFill/>
        </p:spPr>
        <p:txBody>
          <a:bodyPr wrap="square" rtlCol="0">
            <a:spAutoFit/>
          </a:bodyPr>
          <a:lstStyle/>
          <a:p>
            <a:r>
              <a:rPr lang="zh-CN" altLang="en-US" sz="2800" b="1" smtClean="0">
                <a:solidFill>
                  <a:srgbClr val="0000FF"/>
                </a:solidFill>
              </a:rPr>
              <a:t>单项选择题：</a:t>
            </a:r>
            <a:endParaRPr lang="zh-CN" altLang="en-US" sz="2800" b="1">
              <a:solidFill>
                <a:srgbClr val="0000FF"/>
              </a:solidFill>
            </a:endParaRPr>
          </a:p>
        </p:txBody>
      </p:sp>
      <p:sp>
        <p:nvSpPr>
          <p:cNvPr id="3" name="TextBox 2"/>
          <p:cNvSpPr txBox="1"/>
          <p:nvPr/>
        </p:nvSpPr>
        <p:spPr>
          <a:xfrm>
            <a:off x="346889" y="1268760"/>
            <a:ext cx="8202026" cy="4616648"/>
          </a:xfrm>
          <a:prstGeom prst="rect">
            <a:avLst/>
          </a:prstGeom>
          <a:noFill/>
        </p:spPr>
        <p:txBody>
          <a:bodyPr wrap="square" rtlCol="0">
            <a:spAutoFit/>
          </a:bodyPr>
          <a:lstStyle/>
          <a:p>
            <a:pPr>
              <a:lnSpc>
                <a:spcPct val="150000"/>
              </a:lnSpc>
            </a:pPr>
            <a:r>
              <a:rPr lang="zh-CN" altLang="zh-CN" sz="2800" b="1" dirty="0"/>
              <a:t>半径为</a:t>
            </a:r>
            <a:r>
              <a:rPr lang="en-US" altLang="zh-CN" sz="2800" b="1" dirty="0"/>
              <a:t>r</a:t>
            </a:r>
            <a:r>
              <a:rPr lang="zh-CN" altLang="zh-CN" sz="2800" b="1" dirty="0"/>
              <a:t>的均匀带电球面１，带有正电荷</a:t>
            </a:r>
            <a:r>
              <a:rPr lang="en-US" altLang="zh-CN" sz="2800" b="1" dirty="0"/>
              <a:t>q</a:t>
            </a:r>
            <a:r>
              <a:rPr lang="zh-CN" altLang="zh-CN" sz="2800" b="1" dirty="0"/>
              <a:t>，其外有一同心的半径为Ｒ的均匀带电球面２，带有正电荷Ｑ。设两球面的电势差</a:t>
            </a:r>
            <a:r>
              <a:rPr lang="zh-CN" altLang="zh-CN" sz="2800" b="1" dirty="0" smtClean="0"/>
              <a:t>为</a:t>
            </a:r>
            <a:r>
              <a:rPr lang="en-US" altLang="zh-CN" sz="2800" b="1" dirty="0" smtClean="0"/>
              <a:t>V=V1-V2</a:t>
            </a:r>
            <a:r>
              <a:rPr lang="zh-CN" altLang="zh-CN" sz="2800" b="1" dirty="0"/>
              <a:t>，则</a:t>
            </a:r>
          </a:p>
          <a:p>
            <a:pPr>
              <a:lnSpc>
                <a:spcPct val="150000"/>
              </a:lnSpc>
            </a:pPr>
            <a:r>
              <a:rPr lang="en-US" altLang="zh-CN" sz="2800" b="1" dirty="0" smtClean="0"/>
              <a:t>A. V</a:t>
            </a:r>
            <a:r>
              <a:rPr lang="zh-CN" altLang="zh-CN" sz="2800" b="1" dirty="0" smtClean="0"/>
              <a:t>随</a:t>
            </a:r>
            <a:r>
              <a:rPr lang="en-US" altLang="zh-CN" sz="2800" b="1" dirty="0"/>
              <a:t>q</a:t>
            </a:r>
            <a:r>
              <a:rPr lang="zh-CN" altLang="zh-CN" sz="2800" b="1" dirty="0"/>
              <a:t>的增加而减少。</a:t>
            </a:r>
          </a:p>
          <a:p>
            <a:pPr>
              <a:lnSpc>
                <a:spcPct val="150000"/>
              </a:lnSpc>
            </a:pPr>
            <a:r>
              <a:rPr lang="en-US" altLang="zh-CN" sz="2800" b="1" dirty="0" smtClean="0"/>
              <a:t>B. V</a:t>
            </a:r>
            <a:r>
              <a:rPr lang="zh-CN" altLang="zh-CN" sz="2800" b="1" dirty="0" smtClean="0"/>
              <a:t>随</a:t>
            </a:r>
            <a:r>
              <a:rPr lang="zh-CN" altLang="zh-CN" sz="2800" b="1" dirty="0"/>
              <a:t>Ｑ的增加而增加。</a:t>
            </a:r>
          </a:p>
          <a:p>
            <a:pPr>
              <a:lnSpc>
                <a:spcPct val="150000"/>
              </a:lnSpc>
            </a:pPr>
            <a:r>
              <a:rPr lang="en-US" altLang="zh-CN" sz="2800" b="1" dirty="0" smtClean="0"/>
              <a:t>C. V</a:t>
            </a:r>
            <a:r>
              <a:rPr lang="zh-CN" altLang="zh-CN" sz="2800" b="1" dirty="0" smtClean="0"/>
              <a:t>随</a:t>
            </a:r>
            <a:r>
              <a:rPr lang="zh-CN" altLang="zh-CN" sz="2800" b="1" dirty="0"/>
              <a:t>Ｑ的增加而减少。</a:t>
            </a:r>
          </a:p>
          <a:p>
            <a:pPr>
              <a:lnSpc>
                <a:spcPct val="150000"/>
              </a:lnSpc>
            </a:pPr>
            <a:r>
              <a:rPr lang="en-US" altLang="zh-CN" sz="2800" b="1" dirty="0" smtClean="0"/>
              <a:t>D. V</a:t>
            </a:r>
            <a:r>
              <a:rPr lang="zh-CN" altLang="zh-CN" sz="2800" b="1" dirty="0" smtClean="0"/>
              <a:t>随</a:t>
            </a:r>
            <a:r>
              <a:rPr lang="en-US" altLang="zh-CN" sz="2800" b="1" dirty="0"/>
              <a:t>q</a:t>
            </a:r>
            <a:r>
              <a:rPr lang="zh-CN" altLang="zh-CN" sz="2800" b="1" dirty="0"/>
              <a:t>的增加而增加</a:t>
            </a:r>
            <a:r>
              <a:rPr lang="zh-CN" altLang="zh-CN" sz="2800" b="1" dirty="0" smtClean="0"/>
              <a:t>。</a:t>
            </a:r>
            <a:endParaRPr lang="zh-CN" altLang="zh-CN" sz="2800" b="1" dirty="0"/>
          </a:p>
        </p:txBody>
      </p:sp>
      <p:graphicFrame>
        <p:nvGraphicFramePr>
          <p:cNvPr id="4" name="对象 3"/>
          <p:cNvGraphicFramePr>
            <a:graphicFrameLocks noChangeAspect="1"/>
          </p:cNvGraphicFramePr>
          <p:nvPr>
            <p:extLst>
              <p:ext uri="{D42A27DB-BD31-4B8C-83A1-F6EECF244321}">
                <p14:modId xmlns:p14="http://schemas.microsoft.com/office/powerpoint/2010/main" val="766438424"/>
              </p:ext>
            </p:extLst>
          </p:nvPr>
        </p:nvGraphicFramePr>
        <p:xfrm>
          <a:off x="5580112" y="3382411"/>
          <a:ext cx="1748803" cy="752957"/>
        </p:xfrm>
        <a:graphic>
          <a:graphicData uri="http://schemas.openxmlformats.org/presentationml/2006/ole">
            <mc:AlternateContent xmlns:mc="http://schemas.openxmlformats.org/markup-compatibility/2006">
              <mc:Choice xmlns:v="urn:schemas-microsoft-com:vml" Requires="v">
                <p:oleObj spid="_x0000_s61619" name="Equation" r:id="rId4" imgW="914400" imgH="393480" progId="Equation.DSMT4">
                  <p:embed/>
                </p:oleObj>
              </mc:Choice>
              <mc:Fallback>
                <p:oleObj name="Equation" r:id="rId4" imgW="914400" imgH="393480" progId="Equation.DSMT4">
                  <p:embed/>
                  <p:pic>
                    <p:nvPicPr>
                      <p:cNvPr id="0" name=""/>
                      <p:cNvPicPr/>
                      <p:nvPr/>
                    </p:nvPicPr>
                    <p:blipFill>
                      <a:blip r:embed="rId5"/>
                      <a:stretch>
                        <a:fillRect/>
                      </a:stretch>
                    </p:blipFill>
                    <p:spPr>
                      <a:xfrm>
                        <a:off x="5580112" y="3382411"/>
                        <a:ext cx="1748803" cy="752957"/>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024499754"/>
              </p:ext>
            </p:extLst>
          </p:nvPr>
        </p:nvGraphicFramePr>
        <p:xfrm>
          <a:off x="5508104" y="4293096"/>
          <a:ext cx="1800200" cy="764468"/>
        </p:xfrm>
        <a:graphic>
          <a:graphicData uri="http://schemas.openxmlformats.org/presentationml/2006/ole">
            <mc:AlternateContent xmlns:mc="http://schemas.openxmlformats.org/markup-compatibility/2006">
              <mc:Choice xmlns:v="urn:schemas-microsoft-com:vml" Requires="v">
                <p:oleObj spid="_x0000_s61620" name="Equation" r:id="rId6" imgW="927000" imgH="393480" progId="Equation.DSMT4">
                  <p:embed/>
                </p:oleObj>
              </mc:Choice>
              <mc:Fallback>
                <p:oleObj name="Equation" r:id="rId6" imgW="927000" imgH="393480" progId="Equation.DSMT4">
                  <p:embed/>
                  <p:pic>
                    <p:nvPicPr>
                      <p:cNvPr id="0" name=""/>
                      <p:cNvPicPr/>
                      <p:nvPr/>
                    </p:nvPicPr>
                    <p:blipFill>
                      <a:blip r:embed="rId7"/>
                      <a:stretch>
                        <a:fillRect/>
                      </a:stretch>
                    </p:blipFill>
                    <p:spPr>
                      <a:xfrm>
                        <a:off x="5508104" y="4293096"/>
                        <a:ext cx="1800200" cy="764468"/>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281391851"/>
              </p:ext>
            </p:extLst>
          </p:nvPr>
        </p:nvGraphicFramePr>
        <p:xfrm>
          <a:off x="5508104" y="5157192"/>
          <a:ext cx="2014309" cy="650454"/>
        </p:xfrm>
        <a:graphic>
          <a:graphicData uri="http://schemas.openxmlformats.org/presentationml/2006/ole">
            <mc:AlternateContent xmlns:mc="http://schemas.openxmlformats.org/markup-compatibility/2006">
              <mc:Choice xmlns:v="urn:schemas-microsoft-com:vml" Requires="v">
                <p:oleObj spid="_x0000_s61621" name="Equation" r:id="rId8" imgW="1218960" imgH="393480" progId="Equation.DSMT4">
                  <p:embed/>
                </p:oleObj>
              </mc:Choice>
              <mc:Fallback>
                <p:oleObj name="Equation" r:id="rId8" imgW="1218960" imgH="393480" progId="Equation.DSMT4">
                  <p:embed/>
                  <p:pic>
                    <p:nvPicPr>
                      <p:cNvPr id="0" name=""/>
                      <p:cNvPicPr/>
                      <p:nvPr/>
                    </p:nvPicPr>
                    <p:blipFill>
                      <a:blip r:embed="rId9"/>
                      <a:stretch>
                        <a:fillRect/>
                      </a:stretch>
                    </p:blipFill>
                    <p:spPr>
                      <a:xfrm>
                        <a:off x="5508104" y="5157192"/>
                        <a:ext cx="2014309" cy="650454"/>
                      </a:xfrm>
                      <a:prstGeom prst="rect">
                        <a:avLst/>
                      </a:prstGeom>
                    </p:spPr>
                  </p:pic>
                </p:oleObj>
              </mc:Fallback>
            </mc:AlternateContent>
          </a:graphicData>
        </a:graphic>
      </p:graphicFrame>
      <p:grpSp>
        <p:nvGrpSpPr>
          <p:cNvPr id="9" name="组合 8"/>
          <p:cNvGrpSpPr/>
          <p:nvPr/>
        </p:nvGrpSpPr>
        <p:grpSpPr>
          <a:xfrm>
            <a:off x="7056784" y="339170"/>
            <a:ext cx="1043608" cy="999728"/>
            <a:chOff x="8100392" y="2933328"/>
            <a:chExt cx="1043608" cy="999728"/>
          </a:xfrm>
        </p:grpSpPr>
        <p:sp>
          <p:nvSpPr>
            <p:cNvPr id="7" name="椭圆 6"/>
            <p:cNvSpPr/>
            <p:nvPr/>
          </p:nvSpPr>
          <p:spPr>
            <a:xfrm>
              <a:off x="8299003" y="3145160"/>
              <a:ext cx="646386" cy="57606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8100392" y="2933328"/>
              <a:ext cx="1043608" cy="9997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1393505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5576" y="476672"/>
            <a:ext cx="6264696" cy="461665"/>
          </a:xfrm>
          <a:prstGeom prst="rect">
            <a:avLst/>
          </a:prstGeom>
          <a:noFill/>
        </p:spPr>
        <p:txBody>
          <a:bodyPr wrap="square" rtlCol="0">
            <a:spAutoFit/>
          </a:bodyPr>
          <a:lstStyle/>
          <a:p>
            <a:r>
              <a:rPr lang="zh-CN" altLang="en-US" sz="2400" b="1" dirty="0" smtClean="0">
                <a:solidFill>
                  <a:srgbClr val="0000FF"/>
                </a:solidFill>
              </a:rPr>
              <a:t>例：平行板电容器两板间的电势差</a:t>
            </a:r>
            <a:endParaRPr lang="zh-CN" altLang="en-US" sz="2400" b="1" dirty="0">
              <a:solidFill>
                <a:srgbClr val="0000FF"/>
              </a:solidFill>
            </a:endParaRPr>
          </a:p>
        </p:txBody>
      </p:sp>
      <p:sp>
        <p:nvSpPr>
          <p:cNvPr id="3" name="TextBox 2"/>
          <p:cNvSpPr txBox="1"/>
          <p:nvPr/>
        </p:nvSpPr>
        <p:spPr>
          <a:xfrm>
            <a:off x="752148" y="1229975"/>
            <a:ext cx="5544616" cy="461665"/>
          </a:xfrm>
          <a:prstGeom prst="rect">
            <a:avLst/>
          </a:prstGeom>
          <a:noFill/>
        </p:spPr>
        <p:txBody>
          <a:bodyPr wrap="square" rtlCol="0">
            <a:spAutoFit/>
          </a:bodyPr>
          <a:lstStyle/>
          <a:p>
            <a:r>
              <a:rPr lang="zh-CN" altLang="en-US" sz="2400" b="1" dirty="0" smtClean="0"/>
              <a:t>解：平行板电容器内部的场强为：</a:t>
            </a:r>
            <a:endParaRPr lang="zh-CN" altLang="en-US" sz="2400" b="1" dirty="0"/>
          </a:p>
        </p:txBody>
      </p:sp>
      <p:graphicFrame>
        <p:nvGraphicFramePr>
          <p:cNvPr id="4" name="对象 3"/>
          <p:cNvGraphicFramePr>
            <a:graphicFrameLocks noChangeAspect="1"/>
          </p:cNvGraphicFramePr>
          <p:nvPr>
            <p:extLst>
              <p:ext uri="{D42A27DB-BD31-4B8C-83A1-F6EECF244321}">
                <p14:modId xmlns:p14="http://schemas.microsoft.com/office/powerpoint/2010/main" val="1709672481"/>
              </p:ext>
            </p:extLst>
          </p:nvPr>
        </p:nvGraphicFramePr>
        <p:xfrm>
          <a:off x="1619672" y="1691640"/>
          <a:ext cx="1152128" cy="1058712"/>
        </p:xfrm>
        <a:graphic>
          <a:graphicData uri="http://schemas.openxmlformats.org/presentationml/2006/ole">
            <mc:AlternateContent xmlns:mc="http://schemas.openxmlformats.org/markup-compatibility/2006">
              <mc:Choice xmlns:v="urn:schemas-microsoft-com:vml" Requires="v">
                <p:oleObj spid="_x0000_s66637" name="Equation" r:id="rId3" imgW="469800" imgH="431640" progId="Equation.DSMT4">
                  <p:embed/>
                </p:oleObj>
              </mc:Choice>
              <mc:Fallback>
                <p:oleObj name="Equation" r:id="rId3" imgW="469800" imgH="431640" progId="Equation.DSMT4">
                  <p:embed/>
                  <p:pic>
                    <p:nvPicPr>
                      <p:cNvPr id="0" name=""/>
                      <p:cNvPicPr/>
                      <p:nvPr/>
                    </p:nvPicPr>
                    <p:blipFill>
                      <a:blip r:embed="rId4"/>
                      <a:stretch>
                        <a:fillRect/>
                      </a:stretch>
                    </p:blipFill>
                    <p:spPr>
                      <a:xfrm>
                        <a:off x="1619672" y="1691640"/>
                        <a:ext cx="1152128" cy="1058712"/>
                      </a:xfrm>
                      <a:prstGeom prst="rect">
                        <a:avLst/>
                      </a:prstGeom>
                    </p:spPr>
                  </p:pic>
                </p:oleObj>
              </mc:Fallback>
            </mc:AlternateContent>
          </a:graphicData>
        </a:graphic>
      </p:graphicFrame>
      <p:sp>
        <p:nvSpPr>
          <p:cNvPr id="5" name="TextBox 4"/>
          <p:cNvSpPr txBox="1"/>
          <p:nvPr/>
        </p:nvSpPr>
        <p:spPr>
          <a:xfrm>
            <a:off x="1331640" y="2924944"/>
            <a:ext cx="3383210" cy="461665"/>
          </a:xfrm>
          <a:prstGeom prst="rect">
            <a:avLst/>
          </a:prstGeom>
          <a:noFill/>
        </p:spPr>
        <p:txBody>
          <a:bodyPr wrap="square" rtlCol="0">
            <a:spAutoFit/>
          </a:bodyPr>
          <a:lstStyle/>
          <a:p>
            <a:r>
              <a:rPr lang="zh-CN" altLang="en-US" sz="2400" b="1" smtClean="0"/>
              <a:t>两板间的电势差为：</a:t>
            </a:r>
            <a:endParaRPr lang="zh-CN" altLang="en-US" sz="2400" b="1"/>
          </a:p>
        </p:txBody>
      </p:sp>
      <p:graphicFrame>
        <p:nvGraphicFramePr>
          <p:cNvPr id="6" name="对象 5"/>
          <p:cNvGraphicFramePr>
            <a:graphicFrameLocks noChangeAspect="1"/>
          </p:cNvGraphicFramePr>
          <p:nvPr>
            <p:extLst>
              <p:ext uri="{D42A27DB-BD31-4B8C-83A1-F6EECF244321}">
                <p14:modId xmlns:p14="http://schemas.microsoft.com/office/powerpoint/2010/main" val="2575941307"/>
              </p:ext>
            </p:extLst>
          </p:nvPr>
        </p:nvGraphicFramePr>
        <p:xfrm>
          <a:off x="609600" y="3644900"/>
          <a:ext cx="6253163" cy="1079500"/>
        </p:xfrm>
        <a:graphic>
          <a:graphicData uri="http://schemas.openxmlformats.org/presentationml/2006/ole">
            <mc:AlternateContent xmlns:mc="http://schemas.openxmlformats.org/markup-compatibility/2006">
              <mc:Choice xmlns:v="urn:schemas-microsoft-com:vml" Requires="v">
                <p:oleObj spid="_x0000_s66638" name="Equation" r:id="rId5" imgW="2869920" imgH="495000" progId="Equation.DSMT4">
                  <p:embed/>
                </p:oleObj>
              </mc:Choice>
              <mc:Fallback>
                <p:oleObj name="Equation" r:id="rId5" imgW="2869920" imgH="495000" progId="Equation.DSMT4">
                  <p:embed/>
                  <p:pic>
                    <p:nvPicPr>
                      <p:cNvPr id="0" name=""/>
                      <p:cNvPicPr/>
                      <p:nvPr/>
                    </p:nvPicPr>
                    <p:blipFill>
                      <a:blip r:embed="rId6"/>
                      <a:stretch>
                        <a:fillRect/>
                      </a:stretch>
                    </p:blipFill>
                    <p:spPr>
                      <a:xfrm>
                        <a:off x="609600" y="3644900"/>
                        <a:ext cx="6253163" cy="107950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715492123"/>
              </p:ext>
            </p:extLst>
          </p:nvPr>
        </p:nvGraphicFramePr>
        <p:xfrm>
          <a:off x="1673225" y="5143500"/>
          <a:ext cx="1620838" cy="412750"/>
        </p:xfrm>
        <a:graphic>
          <a:graphicData uri="http://schemas.openxmlformats.org/presentationml/2006/ole">
            <mc:AlternateContent xmlns:mc="http://schemas.openxmlformats.org/markup-compatibility/2006">
              <mc:Choice xmlns:v="urn:schemas-microsoft-com:vml" Requires="v">
                <p:oleObj spid="_x0000_s66639" name="Equation" r:id="rId7" imgW="698400" imgH="177480" progId="Equation.DSMT4">
                  <p:embed/>
                </p:oleObj>
              </mc:Choice>
              <mc:Fallback>
                <p:oleObj name="Equation" r:id="rId7" imgW="698400" imgH="177480" progId="Equation.DSMT4">
                  <p:embed/>
                  <p:pic>
                    <p:nvPicPr>
                      <p:cNvPr id="0" name=""/>
                      <p:cNvPicPr/>
                      <p:nvPr/>
                    </p:nvPicPr>
                    <p:blipFill>
                      <a:blip r:embed="rId8"/>
                      <a:stretch>
                        <a:fillRect/>
                      </a:stretch>
                    </p:blipFill>
                    <p:spPr>
                      <a:xfrm>
                        <a:off x="1673225" y="5143500"/>
                        <a:ext cx="1620838" cy="412750"/>
                      </a:xfrm>
                      <a:prstGeom prst="rect">
                        <a:avLst/>
                      </a:prstGeom>
                    </p:spPr>
                  </p:pic>
                </p:oleObj>
              </mc:Fallback>
            </mc:AlternateContent>
          </a:graphicData>
        </a:graphic>
      </p:graphicFrame>
      <p:pic>
        <p:nvPicPr>
          <p:cNvPr id="55301"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32240" y="1229975"/>
            <a:ext cx="2124814" cy="2638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65506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图片 5"/>
          <p:cNvPicPr>
            <a:picLocks noChangeAspect="1"/>
          </p:cNvPicPr>
          <p:nvPr/>
        </p:nvPicPr>
        <p:blipFill>
          <a:blip r:embed="rId3" cstate="print"/>
          <a:stretch>
            <a:fillRect/>
          </a:stretch>
        </p:blipFill>
        <p:spPr>
          <a:xfrm>
            <a:off x="5292080" y="2398267"/>
            <a:ext cx="3456384" cy="3910457"/>
          </a:xfrm>
          <a:prstGeom prst="rect">
            <a:avLst/>
          </a:prstGeom>
        </p:spPr>
      </p:pic>
      <p:sp>
        <p:nvSpPr>
          <p:cNvPr id="3" name="文本框 2"/>
          <p:cNvSpPr txBox="1"/>
          <p:nvPr/>
        </p:nvSpPr>
        <p:spPr>
          <a:xfrm>
            <a:off x="51190" y="38799"/>
            <a:ext cx="4134465" cy="523220"/>
          </a:xfrm>
          <a:prstGeom prst="rect">
            <a:avLst/>
          </a:prstGeom>
          <a:noFill/>
        </p:spPr>
        <p:txBody>
          <a:bodyPr wrap="none" rtlCol="0">
            <a:spAutoFit/>
          </a:bodyPr>
          <a:lstStyle/>
          <a:p>
            <a:r>
              <a:rPr lang="zh-CN" altLang="en-US" sz="2800" b="1" dirty="0" smtClean="0">
                <a:solidFill>
                  <a:srgbClr val="FF0000"/>
                </a:solidFill>
              </a:rPr>
              <a:t>应用：范德格拉夫起电机</a:t>
            </a:r>
            <a:endParaRPr lang="zh-CN" altLang="en-US" sz="2800" b="1" dirty="0">
              <a:solidFill>
                <a:srgbClr val="FF0000"/>
              </a:solidFill>
            </a:endParaRPr>
          </a:p>
        </p:txBody>
      </p:sp>
      <p:sp>
        <p:nvSpPr>
          <p:cNvPr id="4" name="文本框 3"/>
          <p:cNvSpPr txBox="1"/>
          <p:nvPr/>
        </p:nvSpPr>
        <p:spPr>
          <a:xfrm>
            <a:off x="251520" y="562019"/>
            <a:ext cx="5544616" cy="461665"/>
          </a:xfrm>
          <a:prstGeom prst="rect">
            <a:avLst/>
          </a:prstGeom>
          <a:noFill/>
        </p:spPr>
        <p:txBody>
          <a:bodyPr wrap="square" rtlCol="0">
            <a:spAutoFit/>
          </a:bodyPr>
          <a:lstStyle/>
          <a:p>
            <a:r>
              <a:rPr lang="zh-CN" altLang="en-US" sz="2400" b="1" dirty="0" smtClean="0"/>
              <a:t>一种使导体起电产生大的电势差的装置。</a:t>
            </a:r>
            <a:endParaRPr lang="zh-CN" altLang="en-US" sz="2400" b="1" dirty="0"/>
          </a:p>
        </p:txBody>
      </p:sp>
      <p:sp>
        <p:nvSpPr>
          <p:cNvPr id="2" name="文本框 1"/>
          <p:cNvSpPr txBox="1"/>
          <p:nvPr/>
        </p:nvSpPr>
        <p:spPr>
          <a:xfrm>
            <a:off x="0" y="936943"/>
            <a:ext cx="9036496" cy="1477328"/>
          </a:xfrm>
          <a:prstGeom prst="rect">
            <a:avLst/>
          </a:prstGeom>
          <a:noFill/>
        </p:spPr>
        <p:txBody>
          <a:bodyPr wrap="square" rtlCol="0">
            <a:spAutoFit/>
          </a:bodyPr>
          <a:lstStyle/>
          <a:p>
            <a:pPr>
              <a:lnSpc>
                <a:spcPct val="125000"/>
              </a:lnSpc>
            </a:pPr>
            <a:r>
              <a:rPr lang="zh-CN" altLang="en-US" sz="2400" b="1" dirty="0" smtClean="0"/>
              <a:t>    在导体球内部电场为零，因此传送带上</a:t>
            </a:r>
            <a:r>
              <a:rPr lang="zh-CN" altLang="en-US" sz="2400" b="1" dirty="0"/>
              <a:t>的</a:t>
            </a:r>
            <a:r>
              <a:rPr lang="zh-CN" altLang="en-US" sz="2400" b="1" dirty="0" smtClean="0"/>
              <a:t>电荷不会受到已被输运到导体球表面的电荷排斥力。这样，大量的电荷能持续不断地被运送到导体球，以至于可以在导体球上产生一个非常大的电势差。</a:t>
            </a:r>
            <a:endParaRPr lang="zh-CN" altLang="en-US" sz="2400" b="1" dirty="0"/>
          </a:p>
        </p:txBody>
      </p:sp>
      <p:pic>
        <p:nvPicPr>
          <p:cNvPr id="7" name="图片 6"/>
          <p:cNvPicPr>
            <a:picLocks noChangeAspect="1"/>
          </p:cNvPicPr>
          <p:nvPr/>
        </p:nvPicPr>
        <p:blipFill rotWithShape="1">
          <a:blip r:embed="rId4" cstate="print"/>
          <a:srcRect t="15750"/>
          <a:stretch/>
        </p:blipFill>
        <p:spPr>
          <a:xfrm>
            <a:off x="2118422" y="2523897"/>
            <a:ext cx="2952328" cy="3316458"/>
          </a:xfrm>
          <a:prstGeom prst="rect">
            <a:avLst/>
          </a:prstGeom>
        </p:spPr>
      </p:pic>
      <p:sp>
        <p:nvSpPr>
          <p:cNvPr id="8" name="文本框 7"/>
          <p:cNvSpPr txBox="1"/>
          <p:nvPr/>
        </p:nvSpPr>
        <p:spPr>
          <a:xfrm>
            <a:off x="1487408" y="6165304"/>
            <a:ext cx="2315057" cy="369332"/>
          </a:xfrm>
          <a:prstGeom prst="rect">
            <a:avLst/>
          </a:prstGeom>
          <a:noFill/>
        </p:spPr>
        <p:txBody>
          <a:bodyPr wrap="none" rtlCol="0">
            <a:spAutoFit/>
          </a:bodyPr>
          <a:lstStyle/>
          <a:p>
            <a:r>
              <a:rPr lang="zh-CN" altLang="en-US" b="1" dirty="0" smtClean="0"/>
              <a:t>“</a:t>
            </a:r>
            <a:r>
              <a:rPr lang="zh-CN" altLang="en-US" b="1" dirty="0"/>
              <a:t>怒发冲冠</a:t>
            </a:r>
            <a:r>
              <a:rPr lang="zh-CN" altLang="en-US" b="1" dirty="0" smtClean="0"/>
              <a:t>” 实验。</a:t>
            </a:r>
            <a:endParaRPr lang="zh-CN" altLang="en-US" b="1" dirty="0"/>
          </a:p>
        </p:txBody>
      </p:sp>
      <p:sp>
        <p:nvSpPr>
          <p:cNvPr id="5" name="TextBox 4"/>
          <p:cNvSpPr txBox="1"/>
          <p:nvPr/>
        </p:nvSpPr>
        <p:spPr>
          <a:xfrm>
            <a:off x="179512" y="2780928"/>
            <a:ext cx="1440160" cy="2862322"/>
          </a:xfrm>
          <a:prstGeom prst="rect">
            <a:avLst/>
          </a:prstGeom>
          <a:noFill/>
        </p:spPr>
        <p:txBody>
          <a:bodyPr wrap="square" rtlCol="0">
            <a:spAutoFit/>
          </a:bodyPr>
          <a:lstStyle/>
          <a:p>
            <a:r>
              <a:rPr lang="zh-CN" altLang="en-US" b="1" dirty="0" smtClean="0"/>
              <a:t>由于人整体等电势，所以没有任何危险。如果在人身体的两部分之间产生大的电势差，就会非常危险甚至是致命的。</a:t>
            </a:r>
            <a:endParaRPr lang="zh-CN" altLang="en-US" b="1" dirty="0"/>
          </a:p>
        </p:txBody>
      </p:sp>
    </p:spTree>
    <p:extLst>
      <p:ext uri="{BB962C8B-B14F-4D97-AF65-F5344CB8AC3E}">
        <p14:creationId xmlns:p14="http://schemas.microsoft.com/office/powerpoint/2010/main" val="22400846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文本框 2"/>
          <p:cNvSpPr txBox="1"/>
          <p:nvPr/>
        </p:nvSpPr>
        <p:spPr>
          <a:xfrm>
            <a:off x="251520" y="116632"/>
            <a:ext cx="4083169" cy="584775"/>
          </a:xfrm>
          <a:prstGeom prst="rect">
            <a:avLst/>
          </a:prstGeom>
          <a:noFill/>
        </p:spPr>
        <p:txBody>
          <a:bodyPr wrap="none" rtlCol="0">
            <a:spAutoFit/>
          </a:bodyPr>
          <a:lstStyle/>
          <a:p>
            <a:r>
              <a:rPr lang="zh-CN" altLang="en-US" sz="3200" b="1" dirty="0" smtClean="0">
                <a:solidFill>
                  <a:srgbClr val="0000FF"/>
                </a:solidFill>
              </a:rPr>
              <a:t>生物系统中的电势差*</a:t>
            </a:r>
            <a:endParaRPr lang="zh-CN" altLang="en-US" sz="3200" b="1" dirty="0">
              <a:solidFill>
                <a:srgbClr val="0000FF"/>
              </a:solidFill>
            </a:endParaRPr>
          </a:p>
        </p:txBody>
      </p:sp>
      <p:sp>
        <p:nvSpPr>
          <p:cNvPr id="4" name="文本框 3"/>
          <p:cNvSpPr txBox="1"/>
          <p:nvPr/>
        </p:nvSpPr>
        <p:spPr>
          <a:xfrm>
            <a:off x="357458" y="5877272"/>
            <a:ext cx="8472742" cy="707886"/>
          </a:xfrm>
          <a:prstGeom prst="rect">
            <a:avLst/>
          </a:prstGeom>
          <a:noFill/>
        </p:spPr>
        <p:txBody>
          <a:bodyPr wrap="square" rtlCol="0">
            <a:spAutoFit/>
          </a:bodyPr>
          <a:lstStyle/>
          <a:p>
            <a:r>
              <a:rPr lang="zh-CN" altLang="en-US" sz="2000" b="1" dirty="0" smtClean="0"/>
              <a:t>图</a:t>
            </a:r>
            <a:r>
              <a:rPr lang="en-US" altLang="zh-CN" sz="2000" b="1" dirty="0" smtClean="0"/>
              <a:t>17.14 a</a:t>
            </a:r>
            <a:r>
              <a:rPr lang="zh-CN" altLang="en-US" sz="2000" b="1" dirty="0" smtClean="0"/>
              <a:t>）神经元的结构。</a:t>
            </a:r>
            <a:r>
              <a:rPr lang="en-US" altLang="zh-CN" sz="2000" b="1" dirty="0" smtClean="0"/>
              <a:t>B</a:t>
            </a:r>
            <a:r>
              <a:rPr lang="zh-CN" altLang="en-US" sz="2000" b="1" dirty="0" smtClean="0"/>
              <a:t>）动态电位。图中显示了在轴突上某点的细胞膜内外的电势差随时间的变化曲线。</a:t>
            </a:r>
            <a:endParaRPr lang="zh-CN" altLang="en-US" sz="2000" b="1" dirty="0"/>
          </a:p>
        </p:txBody>
      </p:sp>
      <p:pic>
        <p:nvPicPr>
          <p:cNvPr id="5" name="图片 4"/>
          <p:cNvPicPr>
            <a:picLocks noChangeAspect="1"/>
          </p:cNvPicPr>
          <p:nvPr/>
        </p:nvPicPr>
        <p:blipFill>
          <a:blip r:embed="rId2" cstate="print"/>
          <a:stretch>
            <a:fillRect/>
          </a:stretch>
        </p:blipFill>
        <p:spPr>
          <a:xfrm>
            <a:off x="342143" y="2709314"/>
            <a:ext cx="8352928" cy="2954529"/>
          </a:xfrm>
          <a:prstGeom prst="rect">
            <a:avLst/>
          </a:prstGeom>
        </p:spPr>
      </p:pic>
      <p:sp>
        <p:nvSpPr>
          <p:cNvPr id="6" name="文本框 5"/>
          <p:cNvSpPr txBox="1"/>
          <p:nvPr/>
        </p:nvSpPr>
        <p:spPr>
          <a:xfrm>
            <a:off x="131805" y="701407"/>
            <a:ext cx="8956015" cy="1015663"/>
          </a:xfrm>
          <a:prstGeom prst="rect">
            <a:avLst/>
          </a:prstGeom>
          <a:noFill/>
        </p:spPr>
        <p:txBody>
          <a:bodyPr wrap="square" rtlCol="0">
            <a:spAutoFit/>
          </a:bodyPr>
          <a:lstStyle/>
          <a:p>
            <a:pPr>
              <a:lnSpc>
                <a:spcPct val="125000"/>
              </a:lnSpc>
            </a:pPr>
            <a:r>
              <a:rPr lang="zh-CN" altLang="en-US" sz="2400" b="1" dirty="0" smtClean="0"/>
              <a:t>       生物细胞的内外电势不同。细胞膜两侧的电势差起源于细胞内外体液中的离子浓度不同。</a:t>
            </a:r>
            <a:endParaRPr lang="zh-CN" altLang="en-US" sz="2400" b="1" dirty="0"/>
          </a:p>
        </p:txBody>
      </p:sp>
      <p:sp>
        <p:nvSpPr>
          <p:cNvPr id="7" name="文本框 6"/>
          <p:cNvSpPr txBox="1"/>
          <p:nvPr/>
        </p:nvSpPr>
        <p:spPr>
          <a:xfrm>
            <a:off x="107504" y="1785984"/>
            <a:ext cx="3877985" cy="461665"/>
          </a:xfrm>
          <a:prstGeom prst="rect">
            <a:avLst/>
          </a:prstGeom>
          <a:noFill/>
        </p:spPr>
        <p:txBody>
          <a:bodyPr wrap="none" rtlCol="0">
            <a:spAutoFit/>
          </a:bodyPr>
          <a:lstStyle/>
          <a:p>
            <a:r>
              <a:rPr lang="zh-CN" altLang="en-US" sz="2400" b="1" dirty="0" smtClean="0"/>
              <a:t>应用：神经脉冲信号的传递</a:t>
            </a:r>
            <a:endParaRPr lang="zh-CN" altLang="en-US" sz="2400" b="1" dirty="0"/>
          </a:p>
        </p:txBody>
      </p:sp>
      <p:sp>
        <p:nvSpPr>
          <p:cNvPr id="8" name="文本框 7"/>
          <p:cNvSpPr txBox="1"/>
          <p:nvPr/>
        </p:nvSpPr>
        <p:spPr>
          <a:xfrm>
            <a:off x="221854" y="2247649"/>
            <a:ext cx="7300396" cy="461665"/>
          </a:xfrm>
          <a:prstGeom prst="rect">
            <a:avLst/>
          </a:prstGeom>
          <a:noFill/>
        </p:spPr>
        <p:txBody>
          <a:bodyPr wrap="none" rtlCol="0">
            <a:spAutoFit/>
          </a:bodyPr>
          <a:lstStyle/>
          <a:p>
            <a:r>
              <a:rPr lang="zh-CN" altLang="en-US" sz="2400" b="1" dirty="0" smtClean="0"/>
              <a:t>神经脉冲沿着轴突传播的细胞膜两侧的电势差变化。</a:t>
            </a:r>
            <a:endParaRPr lang="zh-CN" altLang="en-US" sz="2400" b="1" dirty="0"/>
          </a:p>
        </p:txBody>
      </p:sp>
    </p:spTree>
    <p:extLst>
      <p:ext uri="{BB962C8B-B14F-4D97-AF65-F5344CB8AC3E}">
        <p14:creationId xmlns:p14="http://schemas.microsoft.com/office/powerpoint/2010/main" val="6124238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5446" y="2818092"/>
            <a:ext cx="3915489" cy="2442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16268" y="3356992"/>
            <a:ext cx="4211467" cy="1582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124061" y="332656"/>
            <a:ext cx="7007046" cy="523220"/>
          </a:xfrm>
          <a:prstGeom prst="rect">
            <a:avLst/>
          </a:prstGeom>
          <a:noFill/>
        </p:spPr>
        <p:txBody>
          <a:bodyPr wrap="none" rtlCol="0">
            <a:spAutoFit/>
          </a:bodyPr>
          <a:lstStyle/>
          <a:p>
            <a:r>
              <a:rPr lang="zh-CN" altLang="en-US" sz="2800" b="1" dirty="0" smtClean="0">
                <a:solidFill>
                  <a:srgbClr val="0000FF"/>
                </a:solidFill>
              </a:rPr>
              <a:t>应用：心电图仪、脑电图仪和视网膜电图仪</a:t>
            </a:r>
            <a:endParaRPr lang="zh-CN" altLang="en-US" sz="2800" b="1" dirty="0">
              <a:solidFill>
                <a:srgbClr val="0000FF"/>
              </a:solidFill>
            </a:endParaRPr>
          </a:p>
        </p:txBody>
      </p:sp>
      <p:sp>
        <p:nvSpPr>
          <p:cNvPr id="5" name="文本框 4"/>
          <p:cNvSpPr txBox="1"/>
          <p:nvPr/>
        </p:nvSpPr>
        <p:spPr>
          <a:xfrm>
            <a:off x="209138" y="845622"/>
            <a:ext cx="8352928" cy="1898853"/>
          </a:xfrm>
          <a:prstGeom prst="rect">
            <a:avLst/>
          </a:prstGeom>
          <a:noFill/>
        </p:spPr>
        <p:txBody>
          <a:bodyPr wrap="square" rtlCol="0">
            <a:spAutoFit/>
          </a:bodyPr>
          <a:lstStyle/>
          <a:p>
            <a:pPr>
              <a:lnSpc>
                <a:spcPct val="125000"/>
              </a:lnSpc>
            </a:pPr>
            <a:r>
              <a:rPr lang="zh-CN" altLang="en-US" sz="2400" b="1" dirty="0" smtClean="0"/>
              <a:t>    心电图测量的是胸部不同部位之间的电势差随时间的变化曲线。心脏细胞的极化和去极化引起电势差，这一电势差由连接在皮肤上的电极测出。电极所测得的电势差被放大并被图表记录仪或计算机记录下来。</a:t>
            </a:r>
            <a:endParaRPr lang="zh-CN" altLang="en-US" sz="2400" b="1" dirty="0"/>
          </a:p>
        </p:txBody>
      </p:sp>
      <p:sp>
        <p:nvSpPr>
          <p:cNvPr id="6" name="文本框 5"/>
          <p:cNvSpPr txBox="1"/>
          <p:nvPr/>
        </p:nvSpPr>
        <p:spPr>
          <a:xfrm>
            <a:off x="501743" y="5517232"/>
            <a:ext cx="7992888" cy="828304"/>
          </a:xfrm>
          <a:prstGeom prst="rect">
            <a:avLst/>
          </a:prstGeom>
          <a:noFill/>
        </p:spPr>
        <p:txBody>
          <a:bodyPr wrap="square" rtlCol="0">
            <a:spAutoFit/>
          </a:bodyPr>
          <a:lstStyle/>
          <a:p>
            <a:pPr>
              <a:lnSpc>
                <a:spcPct val="125000"/>
              </a:lnSpc>
            </a:pPr>
            <a:r>
              <a:rPr lang="zh-CN" altLang="en-US" sz="2000" b="1" dirty="0" smtClean="0"/>
              <a:t>图</a:t>
            </a:r>
            <a:r>
              <a:rPr lang="en-US" altLang="zh-CN" sz="2000" b="1" dirty="0" smtClean="0"/>
              <a:t>17.16 a</a:t>
            </a:r>
            <a:r>
              <a:rPr lang="zh-CN" altLang="en-US" sz="2000" b="1" dirty="0" smtClean="0"/>
              <a:t>）正常的心电图显示心脏是健康的。</a:t>
            </a:r>
            <a:r>
              <a:rPr lang="en-US" altLang="zh-CN" sz="2000" b="1" dirty="0" smtClean="0"/>
              <a:t>b</a:t>
            </a:r>
            <a:r>
              <a:rPr lang="zh-CN" altLang="en-US" sz="2000" b="1" dirty="0" smtClean="0"/>
              <a:t>）非正常的或不规则的心电图显示心脏出现了某种问题。</a:t>
            </a:r>
            <a:endParaRPr lang="zh-CN" altLang="en-US" sz="2000" b="1" dirty="0"/>
          </a:p>
        </p:txBody>
      </p:sp>
    </p:spTree>
    <p:extLst>
      <p:ext uri="{BB962C8B-B14F-4D97-AF65-F5344CB8AC3E}">
        <p14:creationId xmlns:p14="http://schemas.microsoft.com/office/powerpoint/2010/main" val="19642573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43608" y="1556792"/>
            <a:ext cx="7416824" cy="2308324"/>
          </a:xfrm>
          <a:prstGeom prst="rect">
            <a:avLst/>
          </a:prstGeom>
          <a:noFill/>
        </p:spPr>
        <p:txBody>
          <a:bodyPr wrap="square" rtlCol="0">
            <a:spAutoFit/>
          </a:bodyPr>
          <a:lstStyle/>
          <a:p>
            <a:pPr>
              <a:lnSpc>
                <a:spcPct val="150000"/>
              </a:lnSpc>
            </a:pPr>
            <a:r>
              <a:rPr lang="zh-CN" altLang="en-US" sz="3200" b="1" dirty="0" smtClean="0">
                <a:latin typeface="黑体" pitchFamily="49" charset="-122"/>
                <a:ea typeface="黑体" pitchFamily="49" charset="-122"/>
              </a:rPr>
              <a:t>作业</a:t>
            </a:r>
            <a:endParaRPr lang="en-US" altLang="zh-CN" sz="3200" b="1" dirty="0" smtClean="0">
              <a:latin typeface="黑体" pitchFamily="49" charset="-122"/>
              <a:ea typeface="黑体" pitchFamily="49" charset="-122"/>
            </a:endParaRPr>
          </a:p>
          <a:p>
            <a:pPr>
              <a:lnSpc>
                <a:spcPct val="150000"/>
              </a:lnSpc>
            </a:pPr>
            <a:r>
              <a:rPr lang="zh-CN" altLang="en-US" sz="3200" b="1" dirty="0" smtClean="0">
                <a:latin typeface="黑体" pitchFamily="49" charset="-122"/>
                <a:ea typeface="黑体" pitchFamily="49" charset="-122"/>
              </a:rPr>
              <a:t>计算题：</a:t>
            </a:r>
            <a:r>
              <a:rPr lang="en-US" altLang="zh-CN" sz="3200" b="1" dirty="0" smtClean="0"/>
              <a:t>59</a:t>
            </a:r>
            <a:r>
              <a:rPr lang="zh-CN" altLang="en-US" sz="3200" b="1" dirty="0" smtClean="0"/>
              <a:t>页</a:t>
            </a:r>
            <a:r>
              <a:rPr lang="en-US" altLang="zh-CN" sz="3200" b="1" dirty="0" smtClean="0"/>
              <a:t>11</a:t>
            </a:r>
            <a:r>
              <a:rPr lang="zh-CN" altLang="en-US" sz="3200" b="1" dirty="0" smtClean="0"/>
              <a:t>题、</a:t>
            </a:r>
            <a:r>
              <a:rPr lang="en-US" altLang="zh-CN" sz="3200" b="1" dirty="0" smtClean="0"/>
              <a:t>13</a:t>
            </a:r>
            <a:r>
              <a:rPr lang="zh-CN" altLang="en-US" sz="3200" b="1" dirty="0" smtClean="0"/>
              <a:t>题、</a:t>
            </a:r>
            <a:r>
              <a:rPr lang="en-US" altLang="zh-CN" sz="3200" b="1" dirty="0" smtClean="0"/>
              <a:t>16</a:t>
            </a:r>
            <a:r>
              <a:rPr lang="zh-CN" altLang="en-US" sz="3200" b="1" dirty="0" smtClean="0"/>
              <a:t>题。</a:t>
            </a:r>
            <a:endParaRPr lang="zh-CN" altLang="en-US" sz="3200" b="1" dirty="0"/>
          </a:p>
          <a:p>
            <a:pPr>
              <a:lnSpc>
                <a:spcPct val="150000"/>
              </a:lnSpc>
            </a:pPr>
            <a:endParaRPr lang="zh-CN" altLang="en-US" sz="3200" b="1" dirty="0">
              <a:latin typeface="黑体" pitchFamily="49" charset="-122"/>
              <a:ea typeface="黑体" pitchFamily="49" charset="-122"/>
            </a:endParaRPr>
          </a:p>
        </p:txBody>
      </p:sp>
    </p:spTree>
    <p:extLst>
      <p:ext uri="{BB962C8B-B14F-4D97-AF65-F5344CB8AC3E}">
        <p14:creationId xmlns:p14="http://schemas.microsoft.com/office/powerpoint/2010/main" val="13532920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5"/>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5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5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7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7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6.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8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9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9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3.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0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0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1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6297</TotalTime>
  <Words>4448</Words>
  <Application>Microsoft Office PowerPoint</Application>
  <PresentationFormat>全屏显示(4:3)</PresentationFormat>
  <Paragraphs>420</Paragraphs>
  <Slides>60</Slides>
  <Notes>25</Notes>
  <HiddenSlides>10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60</vt:i4>
      </vt:variant>
    </vt:vector>
  </HeadingPairs>
  <TitlesOfParts>
    <vt:vector size="74" baseType="lpstr">
      <vt:lpstr>Arial Unicode MS</vt:lpstr>
      <vt:lpstr>Microsoft Yahei</vt:lpstr>
      <vt:lpstr>黑体</vt:lpstr>
      <vt:lpstr>黑体</vt:lpstr>
      <vt:lpstr>楷体</vt:lpstr>
      <vt:lpstr>宋体</vt:lpstr>
      <vt:lpstr>Arial</vt:lpstr>
      <vt:lpstr>Calibri</vt:lpstr>
      <vt:lpstr>Cambria Math</vt:lpstr>
      <vt:lpstr>Times New Roman</vt:lpstr>
      <vt:lpstr>Wingdings</vt:lpstr>
      <vt:lpstr>Office 主题​​</vt:lpstr>
      <vt:lpstr>Equation</vt:lpstr>
      <vt:lpstr>公式</vt:lpstr>
      <vt:lpstr>PowerPoint 演示文稿</vt:lpstr>
      <vt:lpstr>PowerPoint 演示文稿</vt:lpstr>
      <vt:lpstr>PowerPoint 演示文稿</vt:lpstr>
      <vt:lpstr>保守力</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练习题 17.1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电场为零的地方电势可以不为零； 电势为零的地方电场也可以不是零。 如果某点电场为零，这表示位于该点的点电荷将不受静电力。 如果某点电势为零，这表示将某一点电荷从该点移到无限远电场力做的功为零。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大学物理学</dc:title>
  <dc:creator>微软用户</dc:creator>
  <cp:lastModifiedBy>hsl</cp:lastModifiedBy>
  <cp:revision>373</cp:revision>
  <dcterms:created xsi:type="dcterms:W3CDTF">2015-10-02T02:23:07Z</dcterms:created>
  <dcterms:modified xsi:type="dcterms:W3CDTF">2021-04-18T15:06:03Z</dcterms:modified>
</cp:coreProperties>
</file>