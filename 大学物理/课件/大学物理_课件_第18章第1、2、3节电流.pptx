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71" r:id="rId4"/>
    <p:sldId id="283" r:id="rId5"/>
    <p:sldId id="258" r:id="rId6"/>
    <p:sldId id="267" r:id="rId7"/>
    <p:sldId id="275" r:id="rId8"/>
    <p:sldId id="286" r:id="rId9"/>
    <p:sldId id="268" r:id="rId10"/>
    <p:sldId id="287" r:id="rId11"/>
    <p:sldId id="274" r:id="rId12"/>
    <p:sldId id="288" r:id="rId13"/>
    <p:sldId id="281" r:id="rId14"/>
    <p:sldId id="289" r:id="rId15"/>
    <p:sldId id="285" r:id="rId16"/>
    <p:sldId id="290" r:id="rId17"/>
    <p:sldId id="282" r:id="rId18"/>
    <p:sldId id="270" r:id="rId19"/>
    <p:sldId id="259" r:id="rId20"/>
    <p:sldId id="269" r:id="rId21"/>
    <p:sldId id="260" r:id="rId22"/>
    <p:sldId id="272" r:id="rId23"/>
    <p:sldId id="261" r:id="rId24"/>
    <p:sldId id="278" r:id="rId25"/>
    <p:sldId id="279" r:id="rId26"/>
    <p:sldId id="291" r:id="rId27"/>
    <p:sldId id="262" r:id="rId28"/>
    <p:sldId id="263" r:id="rId29"/>
    <p:sldId id="264" r:id="rId30"/>
    <p:sldId id="284" r:id="rId31"/>
    <p:sldId id="280" r:id="rId32"/>
    <p:sldId id="277" r:id="rId33"/>
    <p:sldId id="292" r:id="rId34"/>
    <p:sldId id="273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99" autoAdjust="0"/>
  </p:normalViewPr>
  <p:slideViewPr>
    <p:cSldViewPr snapToGrid="0">
      <p:cViewPr varScale="1">
        <p:scale>
          <a:sx n="78" d="100"/>
          <a:sy n="78" d="100"/>
        </p:scale>
        <p:origin x="102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BD25-5BB0-4970-9BC8-A867E97BBE06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87C1-8720-44BC-97C4-3E56FDE22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4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243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电流强度俗称电流，用来表示电流的强弱。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698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稳恒电流所产生的磁场是稳恒磁场。稳恒电流只产生在闭合回路中。</a:t>
            </a:r>
            <a:endParaRPr lang="en-US" altLang="zh-CN" smtClean="0"/>
          </a:p>
          <a:p>
            <a:r>
              <a:rPr lang="zh-CN" altLang="en-US" smtClean="0"/>
              <a:t>电流</a:t>
            </a:r>
            <a:r>
              <a:rPr lang="en-US" altLang="zh-CN" smtClean="0"/>
              <a:t>I</a:t>
            </a:r>
            <a:r>
              <a:rPr lang="zh-CN" altLang="en-US" smtClean="0"/>
              <a:t>虽能描写电流的强弱，但它只能反映通过导体截面的整体电流特征，并不能说明电流通过截面上各点的情况。在实际问题中，常会遇到电流在粗细不均或材料不均匀、甚至大块金属中通过的情况，这时，如果在单位时间内通过某一根粗细不均的导线各截面的电流</a:t>
            </a:r>
            <a:r>
              <a:rPr lang="en-US" altLang="zh-CN" smtClean="0"/>
              <a:t>I</a:t>
            </a:r>
            <a:r>
              <a:rPr lang="zh-CN" altLang="en-US" smtClean="0"/>
              <a:t>相同，那么在导线内部不同点的电流情况将不相同。为了细致地描述导体内各点电流分布的情况，必须引入一个新的物理量</a:t>
            </a:r>
            <a:r>
              <a:rPr lang="en-US" altLang="zh-CN" smtClean="0"/>
              <a:t>——</a:t>
            </a:r>
            <a:r>
              <a:rPr lang="zh-CN" altLang="en-US" smtClean="0"/>
              <a:t>电流密度。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428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687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例如中性水分子的流动。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51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C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D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A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B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B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F16E5-AA14-4893-9889-6F733FB9C8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2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稳恒电场只要求电荷分布不随时间变化，允许导体中存在不随时间变化的电流。因此，稳恒电场中导体内部的电场强度可以不为零，导体内两点之间可以有电位差，在导体表面外附近，电场同导体表面一般不垂直；此外，稳恒电场总是伴随着稳恒磁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13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092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干电池是一种伏打电池，利用某种吸收剂（如木屑或明胶）使内含物成为不会外溢的糊状。是一种一次性电池。</a:t>
            </a:r>
            <a:endParaRPr lang="en-US" altLang="zh-CN" dirty="0" smtClean="0"/>
          </a:p>
          <a:p>
            <a:r>
              <a:rPr lang="zh-CN" altLang="en-US" dirty="0" smtClean="0"/>
              <a:t>充电电池，是充电次数有限的可充电的电池，配合充电器使用。充电电池的电压比型号相同的一次性电池低，</a:t>
            </a:r>
            <a:r>
              <a:rPr lang="en-US" altLang="zh-CN" dirty="0" smtClean="0"/>
              <a:t>AA</a:t>
            </a:r>
            <a:r>
              <a:rPr lang="zh-CN" altLang="en-US" dirty="0" smtClean="0"/>
              <a:t>电池</a:t>
            </a:r>
            <a:r>
              <a:rPr lang="en-US" altLang="zh-CN" dirty="0" smtClean="0"/>
              <a:t>(5</a:t>
            </a:r>
            <a:r>
              <a:rPr lang="zh-CN" altLang="en-US" dirty="0" smtClean="0"/>
              <a:t>号充电</a:t>
            </a:r>
            <a:r>
              <a:rPr lang="en-US" altLang="zh-CN" dirty="0" smtClean="0"/>
              <a:t>)</a:t>
            </a:r>
            <a:r>
              <a:rPr lang="zh-CN" altLang="en-US" dirty="0" smtClean="0"/>
              <a:t>是</a:t>
            </a:r>
            <a:r>
              <a:rPr lang="en-US" altLang="zh-CN" dirty="0" smtClean="0"/>
              <a:t>1.2</a:t>
            </a:r>
            <a:r>
              <a:rPr lang="zh-CN" altLang="en-US" dirty="0" smtClean="0"/>
              <a:t>伏，</a:t>
            </a:r>
            <a:r>
              <a:rPr lang="en-US" altLang="zh-CN" dirty="0" smtClean="0"/>
              <a:t>9V</a:t>
            </a:r>
            <a:r>
              <a:rPr lang="zh-CN" altLang="en-US" dirty="0" smtClean="0"/>
              <a:t>充电电池实际上是 </a:t>
            </a:r>
            <a:r>
              <a:rPr lang="en-US" altLang="zh-CN" dirty="0" smtClean="0"/>
              <a:t>8.4</a:t>
            </a:r>
            <a:r>
              <a:rPr lang="zh-CN" altLang="en-US" dirty="0" smtClean="0"/>
              <a:t>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14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9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直流电路：电流在每个支路中都沿着同一方向流动的电路。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647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E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A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电子和空穴沿相反方向做漂移运动，都对电流有贡献。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385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062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D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4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8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8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5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5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6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0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76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55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7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9F43E-6A00-409D-9E79-CE23F37409A4}" type="datetimeFigureOut">
              <a:rPr lang="zh-CN" altLang="en-US" smtClean="0"/>
              <a:pPr/>
              <a:t>2021/5/10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8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8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tags" Target="../tags/tag54.xml"/><Relationship Id="rId21" Type="http://schemas.openxmlformats.org/officeDocument/2006/relationships/image" Target="../media/image8.tmp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tags" Target="../tags/tag85.xml"/><Relationship Id="rId10" Type="http://schemas.openxmlformats.org/officeDocument/2006/relationships/tags" Target="../tags/tag80.xml"/><Relationship Id="rId19" Type="http://schemas.openxmlformats.org/officeDocument/2006/relationships/image" Target="../media/image8.tmp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image" Target="../media/image8.tmp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10" Type="http://schemas.openxmlformats.org/officeDocument/2006/relationships/tags" Target="../tags/tag97.xml"/><Relationship Id="rId19" Type="http://schemas.openxmlformats.org/officeDocument/2006/relationships/image" Target="../media/image15.png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18" Type="http://schemas.openxmlformats.org/officeDocument/2006/relationships/tags" Target="../tags/tag121.xml"/><Relationship Id="rId3" Type="http://schemas.openxmlformats.org/officeDocument/2006/relationships/tags" Target="../tags/tag106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20" Type="http://schemas.openxmlformats.org/officeDocument/2006/relationships/tags" Target="../tags/tag123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24" Type="http://schemas.openxmlformats.org/officeDocument/2006/relationships/image" Target="../media/image8.tmp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23" Type="http://schemas.openxmlformats.org/officeDocument/2006/relationships/image" Target="../media/image26.wmf"/><Relationship Id="rId10" Type="http://schemas.openxmlformats.org/officeDocument/2006/relationships/tags" Target="../tags/tag113.xml"/><Relationship Id="rId19" Type="http://schemas.openxmlformats.org/officeDocument/2006/relationships/tags" Target="../tags/tag122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Relationship Id="rId22" Type="http://schemas.openxmlformats.org/officeDocument/2006/relationships/oleObject" Target="../embeddings/oleObject14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ia12141_co_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449" y="-1"/>
            <a:ext cx="5526179" cy="6709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030310" y="283561"/>
            <a:ext cx="4421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/>
              <a:t>第</a:t>
            </a:r>
            <a:r>
              <a:rPr lang="en-US" altLang="zh-CN" sz="4000" b="1" dirty="0" smtClean="0"/>
              <a:t>18</a:t>
            </a:r>
            <a:r>
              <a:rPr lang="zh-CN" altLang="en-US" sz="4000" b="1" dirty="0" smtClean="0"/>
              <a:t>章 电流与电路</a:t>
            </a:r>
            <a:endParaRPr lang="zh-CN" altLang="en-US" sz="4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58119" y="1028670"/>
            <a:ext cx="63033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      格雷厄姆汽车的蓄电池没电了，汽车无法启动，他决定用</a:t>
            </a:r>
            <a:r>
              <a:rPr lang="en-US" altLang="zh-CN" sz="2800" b="1" dirty="0" smtClean="0"/>
              <a:t>8</a:t>
            </a:r>
            <a:r>
              <a:rPr lang="zh-CN" altLang="en-US" sz="2800" b="1" dirty="0" smtClean="0"/>
              <a:t>个</a:t>
            </a:r>
            <a:r>
              <a:rPr lang="en-US" altLang="zh-CN" sz="2800" b="1" dirty="0" smtClean="0"/>
              <a:t>1.5V</a:t>
            </a:r>
            <a:r>
              <a:rPr lang="zh-CN" altLang="en-US" sz="2800" b="1" dirty="0" smtClean="0"/>
              <a:t>的干电池串联成</a:t>
            </a:r>
            <a:r>
              <a:rPr lang="en-US" altLang="zh-CN" sz="2800" b="1" dirty="0" smtClean="0"/>
              <a:t>12V</a:t>
            </a:r>
            <a:r>
              <a:rPr lang="zh-CN" altLang="en-US" sz="2800" b="1" dirty="0" smtClean="0"/>
              <a:t>的电池组，代替汽车的电瓶，这个计划能不能实现呢？</a:t>
            </a:r>
            <a:endParaRPr lang="zh-CN" altLang="en-US" sz="2800" b="1" dirty="0"/>
          </a:p>
        </p:txBody>
      </p:sp>
      <p:sp>
        <p:nvSpPr>
          <p:cNvPr id="2" name="矩形 1"/>
          <p:cNvSpPr/>
          <p:nvPr/>
        </p:nvSpPr>
        <p:spPr>
          <a:xfrm>
            <a:off x="361784" y="4216586"/>
            <a:ext cx="6096000" cy="18988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由于启动汽车的电流很大，当电流增大时，因为电池的化学能会被迅速消耗掉，电池的内阻会急剧增加，路端电压减小，所以手电筒电池组不能提供足以起动汽车的大电流。</a:t>
            </a:r>
          </a:p>
        </p:txBody>
      </p:sp>
    </p:spTree>
    <p:extLst>
      <p:ext uri="{BB962C8B-B14F-4D97-AF65-F5344CB8AC3E}">
        <p14:creationId xmlns:p14="http://schemas.microsoft.com/office/powerpoint/2010/main" val="244158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3516" y="141668"/>
            <a:ext cx="2735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黑体" panose="02010609060101010101" pitchFamily="49" charset="-122"/>
                <a:ea typeface="黑体" panose="02010609060101010101" pitchFamily="49" charset="-122"/>
                <a:cs typeface="SimHei"/>
                <a:sym typeface="SimHei"/>
              </a:rPr>
              <a:t>§</a:t>
            </a:r>
            <a:r>
              <a:rPr lang="en-US" altLang="zh-CN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18.1 </a:t>
            </a:r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电流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7577" y="978794"/>
            <a:ext cx="10070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电流</a:t>
            </a:r>
            <a:r>
              <a:rPr lang="zh-CN" altLang="en-US" sz="3200" dirty="0" smtClean="0"/>
              <a:t>：</a:t>
            </a:r>
            <a:r>
              <a:rPr lang="zh-CN" altLang="en-US" sz="3200" b="1" dirty="0" smtClean="0"/>
              <a:t>电荷的净流动。电流的大小表明电量的净流速。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257577" y="1648496"/>
            <a:ext cx="108959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电流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3200" b="1" dirty="0" smtClean="0"/>
              <a:t>单位时间通过垂直于电流方向的某一面积的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净电量</a:t>
            </a:r>
            <a:r>
              <a:rPr lang="zh-CN" altLang="en-US" sz="3200" b="1" dirty="0" smtClean="0"/>
              <a:t>。</a:t>
            </a:r>
            <a:endParaRPr lang="zh-CN" altLang="en-US" sz="32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912930"/>
              </p:ext>
            </p:extLst>
          </p:nvPr>
        </p:nvGraphicFramePr>
        <p:xfrm>
          <a:off x="2956594" y="2256642"/>
          <a:ext cx="1160499" cy="1058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" name="Equation" r:id="rId4" imgW="431640" imgH="393480" progId="Equation.DSMT4">
                  <p:embed/>
                </p:oleObj>
              </mc:Choice>
              <mc:Fallback>
                <p:oleObj name="Equation" r:id="rId4" imgW="431640" imgH="393480" progId="Equation.DSMT4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594" y="2256642"/>
                        <a:ext cx="1160499" cy="10581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箭头 5"/>
          <p:cNvSpPr/>
          <p:nvPr/>
        </p:nvSpPr>
        <p:spPr>
          <a:xfrm>
            <a:off x="4288664" y="2667855"/>
            <a:ext cx="1017431" cy="235676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96041"/>
              </p:ext>
            </p:extLst>
          </p:nvPr>
        </p:nvGraphicFramePr>
        <p:xfrm>
          <a:off x="5548313" y="2257425"/>
          <a:ext cx="10922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" name="Equation" r:id="rId6" imgW="406080" imgH="393480" progId="Equation.DSMT4">
                  <p:embed/>
                </p:oleObj>
              </mc:Choice>
              <mc:Fallback>
                <p:oleObj name="Equation" r:id="rId6" imgW="406080" imgH="393480" progId="Equation.DSMT4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2257425"/>
                        <a:ext cx="10922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773216" y="2518401"/>
            <a:ext cx="2984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（瞬时电流）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273423" y="3545484"/>
            <a:ext cx="7472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电流的单位：</a:t>
            </a:r>
            <a:r>
              <a:rPr lang="zh-CN" altLang="en-US" sz="3200" b="1" dirty="0" smtClean="0"/>
              <a:t>安培（</a:t>
            </a:r>
            <a:r>
              <a:rPr lang="en-US" altLang="zh-CN" sz="3200" b="1" dirty="0" smtClean="0"/>
              <a:t>A</a:t>
            </a:r>
            <a:r>
              <a:rPr lang="zh-CN" altLang="en-US" sz="3200" b="1" dirty="0" smtClean="0"/>
              <a:t>）</a:t>
            </a:r>
            <a:r>
              <a:rPr lang="en-US" altLang="zh-CN" sz="3200" b="1" dirty="0" smtClean="0"/>
              <a:t>=</a:t>
            </a:r>
            <a:r>
              <a:rPr lang="zh-CN" altLang="en-US" sz="3200" b="1" dirty="0" smtClean="0"/>
              <a:t>库仑</a:t>
            </a:r>
            <a:r>
              <a:rPr lang="en-US" altLang="zh-CN" sz="3200" b="1" dirty="0" smtClean="0"/>
              <a:t>/</a:t>
            </a:r>
            <a:r>
              <a:rPr lang="zh-CN" altLang="en-US" sz="3200" b="1" dirty="0" smtClean="0"/>
              <a:t>秒（</a:t>
            </a:r>
            <a:r>
              <a:rPr lang="en-US" altLang="zh-CN" sz="3200" b="1" dirty="0" smtClean="0"/>
              <a:t>C/s</a:t>
            </a:r>
            <a:r>
              <a:rPr lang="zh-CN" altLang="en-US" sz="3200" b="1" dirty="0" smtClean="0"/>
              <a:t>）</a:t>
            </a:r>
            <a:endParaRPr lang="zh-CN" altLang="en-US" sz="32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73423" y="4961289"/>
            <a:ext cx="7168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电流的方向：</a:t>
            </a:r>
            <a:r>
              <a:rPr lang="zh-CN" altLang="en-US" sz="3200" b="1" dirty="0" smtClean="0"/>
              <a:t>正电荷定向运动的方向。</a:t>
            </a:r>
            <a:endParaRPr lang="zh-CN" altLang="en-US" sz="3200" b="1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722048" y="3837871"/>
            <a:ext cx="4210519" cy="27445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7576" y="4215519"/>
            <a:ext cx="7526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小的电流时，单位用毫安</a:t>
            </a:r>
            <a:r>
              <a:rPr lang="en-US" altLang="zh-CN" sz="3200" b="1" dirty="0" smtClean="0"/>
              <a:t>(mA)</a:t>
            </a:r>
            <a:r>
              <a:rPr lang="zh-CN" altLang="en-US" sz="3200" b="1" dirty="0" smtClean="0"/>
              <a:t>、微安</a:t>
            </a:r>
            <a:r>
              <a:rPr lang="en-US" altLang="zh-CN" sz="3200" b="1" dirty="0" smtClean="0"/>
              <a:t>(</a:t>
            </a:r>
            <a:r>
              <a:rPr lang="en-US" altLang="zh-CN" sz="3200" b="1" dirty="0" err="1" smtClean="0"/>
              <a:t>μA</a:t>
            </a:r>
            <a:r>
              <a:rPr lang="en-US" altLang="zh-CN" sz="3200" b="1" dirty="0" smtClean="0"/>
              <a:t>)</a:t>
            </a:r>
            <a:endParaRPr lang="zh-CN" altLang="en-US" sz="3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34034" y="2426068"/>
            <a:ext cx="1555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/>
              <a:t>用来表示电流的强弱。</a:t>
            </a:r>
            <a:endParaRPr lang="zh-CN" altLang="en-US" sz="2000" b="1"/>
          </a:p>
        </p:txBody>
      </p:sp>
      <p:sp>
        <p:nvSpPr>
          <p:cNvPr id="15" name="矩形 14"/>
          <p:cNvSpPr/>
          <p:nvPr/>
        </p:nvSpPr>
        <p:spPr>
          <a:xfrm>
            <a:off x="9327624" y="2344689"/>
            <a:ext cx="20006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/>
              <a:t>电路中的电流不一定恒定。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6542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0"/>
          <p:cNvSpPr txBox="1"/>
          <p:nvPr/>
        </p:nvSpPr>
        <p:spPr>
          <a:xfrm>
            <a:off x="433631" y="810382"/>
            <a:ext cx="11695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恒定电流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（俗称直流）：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电流的大小和方向不随时间而变化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024" y="2509410"/>
            <a:ext cx="2521437" cy="1643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825121"/>
              </p:ext>
            </p:extLst>
          </p:nvPr>
        </p:nvGraphicFramePr>
        <p:xfrm>
          <a:off x="10535666" y="4356542"/>
          <a:ext cx="116046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Equation" r:id="rId5" imgW="431613" imgH="393529" progId="Equation.DSMT4">
                  <p:embed/>
                </p:oleObj>
              </mc:Choice>
              <mc:Fallback>
                <p:oleObj name="Equation" r:id="rId5" imgW="431613" imgH="393529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5666" y="4356542"/>
                        <a:ext cx="1160463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0647" y="215153"/>
            <a:ext cx="1592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FF0000"/>
                </a:solidFill>
              </a:rPr>
              <a:t>讨论：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1790" y="1548709"/>
            <a:ext cx="1169582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又称稳恒电流，所产生的磁场是稳恒磁场。稳恒电流只产生在闭合回路中。</a:t>
            </a:r>
          </a:p>
        </p:txBody>
      </p:sp>
      <p:sp>
        <p:nvSpPr>
          <p:cNvPr id="8" name="矩形 7"/>
          <p:cNvSpPr/>
          <p:nvPr/>
        </p:nvSpPr>
        <p:spPr>
          <a:xfrm>
            <a:off x="291789" y="2491413"/>
            <a:ext cx="960283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/>
              <a:t>2. </a:t>
            </a:r>
            <a:r>
              <a:rPr lang="zh-CN" altLang="en-US" sz="2800" b="1" dirty="0" smtClean="0"/>
              <a:t>电流</a:t>
            </a:r>
            <a:r>
              <a:rPr lang="en-US" altLang="zh-CN" sz="2800" b="1" dirty="0"/>
              <a:t>I</a:t>
            </a:r>
            <a:r>
              <a:rPr lang="zh-CN" altLang="en-US" sz="2800" b="1" dirty="0"/>
              <a:t>虽能描写电流的强弱，但它</a:t>
            </a:r>
            <a:r>
              <a:rPr lang="zh-CN" altLang="en-US" sz="2800" b="1" dirty="0">
                <a:solidFill>
                  <a:srgbClr val="FF0000"/>
                </a:solidFill>
              </a:rPr>
              <a:t>只能反映通过导体截面的整体电流特征</a:t>
            </a:r>
            <a:r>
              <a:rPr lang="zh-CN" altLang="en-US" sz="2800" b="1" dirty="0"/>
              <a:t>，并不能说明电流通过截面上各点的情况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如果</a:t>
            </a:r>
            <a:r>
              <a:rPr lang="zh-CN" altLang="en-US" sz="2800" b="1" dirty="0"/>
              <a:t>在单位时间内通过某一根粗细不均的导线各截面的电流</a:t>
            </a:r>
            <a:r>
              <a:rPr lang="en-US" altLang="zh-CN" sz="2800" b="1" dirty="0"/>
              <a:t>I</a:t>
            </a:r>
            <a:r>
              <a:rPr lang="zh-CN" altLang="en-US" sz="2800" b="1" dirty="0"/>
              <a:t>相同，那么在导线内部不同点的电流情况将不相同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为了</a:t>
            </a:r>
            <a:r>
              <a:rPr lang="zh-CN" altLang="en-US" sz="2800" b="1" dirty="0">
                <a:solidFill>
                  <a:srgbClr val="FF0000"/>
                </a:solidFill>
              </a:rPr>
              <a:t>细致地描述导体内各点电流分布的情况</a:t>
            </a:r>
            <a:r>
              <a:rPr lang="zh-CN" altLang="en-US" sz="2800" b="1" dirty="0" smtClean="0"/>
              <a:t>，引入</a:t>
            </a:r>
            <a:r>
              <a:rPr lang="zh-CN" altLang="en-US" sz="2800" b="1" dirty="0"/>
              <a:t>一个新的物理量</a:t>
            </a:r>
            <a:r>
              <a:rPr lang="en-US" altLang="zh-CN" sz="2800" b="1" dirty="0"/>
              <a:t>——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电流密度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（</a:t>
            </a:r>
            <a:r>
              <a:rPr lang="zh-CN" altLang="en-US" sz="2200" b="1" dirty="0" smtClean="0"/>
              <a:t>大小为通过垂直于电流方向的单位面积的电流）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1903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816" y="1170896"/>
            <a:ext cx="109841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ea"/>
              </a:rPr>
              <a:t>3.</a:t>
            </a:r>
            <a:r>
              <a:rPr lang="zh-CN" altLang="en-US" sz="2800" b="1" dirty="0" smtClean="0">
                <a:latin typeface="+mn-ea"/>
              </a:rPr>
              <a:t>电流：大量带电粒子定向运动形成的。</a:t>
            </a:r>
            <a:endParaRPr lang="en-US" altLang="zh-CN" sz="28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载流子：</a:t>
            </a:r>
            <a:r>
              <a:rPr lang="zh-CN" altLang="en-US" sz="2800" b="1" dirty="0" smtClean="0">
                <a:latin typeface="+mn-ea"/>
              </a:rPr>
              <a:t>形成电流的带电粒子。如：自由电子、离子、空穴等。</a:t>
            </a:r>
            <a:endParaRPr lang="en-US" altLang="zh-CN" sz="28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n-ea"/>
              </a:rPr>
              <a:t>导体的载流子是电子。离子溶液中的载流子是正离子和负离子。</a:t>
            </a:r>
            <a:endParaRPr lang="en-US" altLang="zh-CN" sz="28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n-ea"/>
              </a:rPr>
              <a:t>在半导体材料中，既有正的载流子，也有负的载流子。负的载流子就是电子；正的载流子叫作空穴，相当于电荷为</a:t>
            </a:r>
            <a:r>
              <a:rPr lang="en-US" altLang="zh-CN" sz="2800" b="1" dirty="0" smtClean="0">
                <a:latin typeface="+mn-ea"/>
              </a:rPr>
              <a:t>+e</a:t>
            </a:r>
            <a:r>
              <a:rPr lang="zh-CN" altLang="en-US" sz="2800" b="1" dirty="0" smtClean="0">
                <a:latin typeface="+mn-ea"/>
              </a:rPr>
              <a:t>的粒子。电子和空穴沿相反方向做漂移运动，都对电流有贡献。</a:t>
            </a:r>
            <a:endParaRPr lang="zh-CN" altLang="en-US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85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ia12141_18_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52" y="2383969"/>
            <a:ext cx="4015095" cy="3731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44698" y="167425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000099"/>
                </a:solidFill>
              </a:rPr>
              <a:t>液体和气体中的电流</a:t>
            </a:r>
            <a:endParaRPr lang="zh-CN" altLang="en-US" sz="3600" b="1" dirty="0">
              <a:solidFill>
                <a:srgbClr val="000099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803262"/>
            <a:ext cx="52953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3200" dirty="0" smtClean="0"/>
              <a:t>      </a:t>
            </a:r>
            <a:r>
              <a:rPr lang="zh-CN" altLang="en-US" sz="2400" b="1" dirty="0" smtClean="0"/>
              <a:t>在离子溶液中，正电荷和负电荷通过向相反方向运动都对电流产生贡献</a:t>
            </a:r>
            <a:r>
              <a:rPr lang="zh-CN" altLang="en-US" sz="2400" b="1" smtClean="0"/>
              <a:t>。 电流方向是正电荷运动方向。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5521584" y="12879"/>
            <a:ext cx="6670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000099"/>
                </a:solidFill>
              </a:rPr>
              <a:t>应用：霓虹灯和荧光灯中的电流</a:t>
            </a:r>
            <a:endParaRPr lang="zh-CN" altLang="en-US" sz="3600" b="1" dirty="0">
              <a:solidFill>
                <a:srgbClr val="000099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/>
          <a:srcRect l="3036" r="4264"/>
          <a:stretch/>
        </p:blipFill>
        <p:spPr>
          <a:xfrm>
            <a:off x="7302321" y="2541493"/>
            <a:ext cx="4889679" cy="431650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5164738" y="167425"/>
            <a:ext cx="0" cy="6478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164738" y="653401"/>
            <a:ext cx="681746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        霓虹灯玻璃管中的氖气被两个电极间的大电势差电离，电子和离子间的碰撞产生了霓虹灯的特征红光。荧光灯中，碰撞产生了紫外辐射，在玻璃容器内壁的涂层能吸收这些紫外辐射并发射出可见光。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12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81137" y="921578"/>
            <a:ext cx="1014104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在水管中存在着大量流动电荷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——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中性水分子中的质子（电量为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+e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）和电子（电量为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-e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）都以同样的平均速度流动。流动的水中存在电流吗？试解释原因。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1137" y="3179419"/>
            <a:ext cx="9703102" cy="1311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smtClean="0"/>
              <a:t>无。等量的正负电荷以同样的速率沿着同一方向传输。没有电荷的净传输，因此管道中的电流为零。</a:t>
            </a:r>
            <a:endParaRPr lang="zh-CN" altLang="en-US" sz="2800" b="1"/>
          </a:p>
        </p:txBody>
      </p:sp>
      <p:sp>
        <p:nvSpPr>
          <p:cNvPr id="7" name="TextBox 6"/>
          <p:cNvSpPr txBox="1"/>
          <p:nvPr/>
        </p:nvSpPr>
        <p:spPr>
          <a:xfrm>
            <a:off x="415636" y="166255"/>
            <a:ext cx="1721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思考题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55199" y="1253912"/>
            <a:ext cx="565138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n-ea"/>
              </a:rPr>
              <a:t>电流的单位是什么？</a:t>
            </a:r>
            <a:endParaRPr lang="en-US" altLang="zh-CN" sz="28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ea"/>
              </a:rPr>
              <a:t>A</a:t>
            </a:r>
            <a:r>
              <a:rPr lang="en-US" altLang="zh-CN" sz="2800" b="1" dirty="0">
                <a:latin typeface="+mn-ea"/>
              </a:rPr>
              <a:t>. V/m.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B. V·C.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C. C/s.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D. C·s</a:t>
            </a:r>
            <a:r>
              <a:rPr lang="en-US" altLang="zh-CN" sz="2800" b="1" dirty="0" smtClean="0">
                <a:latin typeface="+mn-ea"/>
              </a:rPr>
              <a:t>.</a:t>
            </a:r>
            <a:endParaRPr lang="zh-CN" altLang="zh-CN" sz="2800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287537"/>
              </p:ext>
            </p:extLst>
          </p:nvPr>
        </p:nvGraphicFramePr>
        <p:xfrm>
          <a:off x="7983517" y="2670485"/>
          <a:ext cx="116046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4" imgW="431613" imgH="393529" progId="Equation.DSMT4">
                  <p:embed/>
                </p:oleObj>
              </mc:Choice>
              <mc:Fallback>
                <p:oleObj name="Equation" r:id="rId4" imgW="431613" imgH="393529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17" y="2670485"/>
                        <a:ext cx="1160463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161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电流的单位是什么？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latin typeface="+mn-ea"/>
              </a:rPr>
              <a:t>V/m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latin typeface="+mn-ea"/>
              </a:rPr>
              <a:t>V·C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latin typeface="+mn-ea"/>
              </a:rPr>
              <a:t>C/s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latin typeface="+mn-ea"/>
              </a:rPr>
              <a:t>C·s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070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4387" y="1607874"/>
            <a:ext cx="10278035" cy="3329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、在离子溶液中，钠离子（</a:t>
            </a:r>
            <a:r>
              <a:rPr lang="en-US" altLang="zh-CN" sz="2400" b="1" dirty="0">
                <a:latin typeface="+mn-ea"/>
              </a:rPr>
              <a:t>Na+</a:t>
            </a:r>
            <a:r>
              <a:rPr lang="zh-CN" altLang="en-US" sz="2400" b="1" dirty="0">
                <a:latin typeface="+mn-ea"/>
              </a:rPr>
              <a:t>）向左运动，氯离子（</a:t>
            </a:r>
            <a:r>
              <a:rPr lang="en-US" altLang="zh-CN" sz="2400" b="1" dirty="0">
                <a:latin typeface="+mn-ea"/>
              </a:rPr>
              <a:t>Cl-</a:t>
            </a:r>
            <a:r>
              <a:rPr lang="zh-CN" altLang="en-US" sz="2400" b="1" dirty="0">
                <a:latin typeface="+mn-ea"/>
              </a:rPr>
              <a:t>）向右运动。由钠离子和氯离子的运动产生的电流的沿着哪个方向？（  ）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A</a:t>
            </a:r>
            <a:r>
              <a:rPr lang="zh-CN" altLang="en-US" sz="2400" b="1" dirty="0">
                <a:latin typeface="+mn-ea"/>
              </a:rPr>
              <a:t>．两个都向右。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B</a:t>
            </a:r>
            <a:r>
              <a:rPr lang="zh-CN" altLang="en-US" sz="2400" b="1" dirty="0">
                <a:latin typeface="+mn-ea"/>
              </a:rPr>
              <a:t>．钠离子运动产生的电流向左；氯离子运动产生的电流向右。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C</a:t>
            </a:r>
            <a:r>
              <a:rPr lang="zh-CN" altLang="en-US" sz="2400" b="1" dirty="0">
                <a:latin typeface="+mn-ea"/>
              </a:rPr>
              <a:t>．钠离子运动产生的电流向右；氯离子运动产生的电流向左。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D</a:t>
            </a:r>
            <a:r>
              <a:rPr lang="zh-CN" altLang="en-US" sz="2400" b="1" dirty="0">
                <a:latin typeface="+mn-ea"/>
              </a:rPr>
              <a:t>．两个都向左</a:t>
            </a:r>
            <a:r>
              <a:rPr lang="zh-CN" altLang="en-US" sz="2400" b="1" dirty="0" smtClean="0">
                <a:latin typeface="+mn-ea"/>
              </a:rPr>
              <a:t>。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36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在离子溶液中，钠离子（</a:t>
            </a:r>
            <a:r>
              <a:rPr lang="en-US" altLang="zh-CN" sz="2400" b="1" dirty="0">
                <a:latin typeface="+mn-ea"/>
              </a:rPr>
              <a:t>Na+</a:t>
            </a:r>
            <a:r>
              <a:rPr lang="zh-CN" altLang="en-US" sz="2400" b="1" dirty="0">
                <a:latin typeface="+mn-ea"/>
              </a:rPr>
              <a:t>）向左运动，氯离子（</a:t>
            </a:r>
            <a:r>
              <a:rPr lang="en-US" altLang="zh-CN" sz="2400" b="1" dirty="0">
                <a:latin typeface="+mn-ea"/>
              </a:rPr>
              <a:t>Cl-</a:t>
            </a:r>
            <a:r>
              <a:rPr lang="zh-CN" altLang="en-US" sz="2400" b="1" dirty="0">
                <a:latin typeface="+mn-ea"/>
              </a:rPr>
              <a:t>）向右运动。由钠离子和氯离子的运动产生的电流的沿着哪个方向？（  ）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n-ea"/>
              </a:rPr>
              <a:t>两个都向右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928816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n-ea"/>
              </a:rPr>
              <a:t>钠离子运动产生的电流向左；氯离子运动产生的电流向右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399" y="4500563"/>
            <a:ext cx="917695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n-ea"/>
              </a:rPr>
              <a:t>钠离子运动产生的电流向右；氯离子运动产生的电流向左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n-ea"/>
              </a:rPr>
              <a:t>两个都向左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8749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4386" y="1252762"/>
            <a:ext cx="1027803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>
                <a:latin typeface="+mn-ea"/>
              </a:rPr>
              <a:t>在液体中</a:t>
            </a:r>
            <a:r>
              <a:rPr lang="zh-CN" altLang="zh-CN" sz="2800" b="1" dirty="0" smtClean="0">
                <a:latin typeface="+mn-ea"/>
              </a:rPr>
              <a:t>，</a:t>
            </a:r>
            <a:r>
              <a:rPr lang="en-US" altLang="zh-CN" sz="2800" b="1" dirty="0" smtClean="0">
                <a:latin typeface="+mn-ea"/>
              </a:rPr>
              <a:t>A</a:t>
            </a:r>
            <a:r>
              <a:rPr lang="zh-CN" altLang="zh-CN" sz="2800" b="1" dirty="0" smtClean="0">
                <a:latin typeface="+mn-ea"/>
              </a:rPr>
              <a:t>点</a:t>
            </a:r>
            <a:r>
              <a:rPr lang="zh-CN" altLang="zh-CN" sz="2800" b="1" dirty="0">
                <a:latin typeface="+mn-ea"/>
              </a:rPr>
              <a:t>和</a:t>
            </a:r>
            <a:r>
              <a:rPr lang="en-US" altLang="zh-CN" sz="2800" b="1" dirty="0">
                <a:latin typeface="+mn-ea"/>
              </a:rPr>
              <a:t>B</a:t>
            </a:r>
            <a:r>
              <a:rPr lang="zh-CN" altLang="zh-CN" sz="2800" b="1" dirty="0">
                <a:latin typeface="+mn-ea"/>
              </a:rPr>
              <a:t>点之间形成电流。正离子</a:t>
            </a:r>
            <a:r>
              <a:rPr lang="zh-CN" altLang="zh-CN" sz="2800" b="1" dirty="0" smtClean="0">
                <a:latin typeface="+mn-ea"/>
              </a:rPr>
              <a:t>从</a:t>
            </a:r>
            <a:r>
              <a:rPr lang="en-US" altLang="zh-CN" sz="2800" b="1" dirty="0" smtClean="0">
                <a:latin typeface="+mn-ea"/>
              </a:rPr>
              <a:t>A</a:t>
            </a:r>
            <a:r>
              <a:rPr lang="zh-CN" altLang="zh-CN" sz="2800" b="1" dirty="0" smtClean="0">
                <a:latin typeface="+mn-ea"/>
              </a:rPr>
              <a:t>移动</a:t>
            </a:r>
            <a:r>
              <a:rPr lang="zh-CN" altLang="zh-CN" sz="2800" b="1" dirty="0">
                <a:latin typeface="+mn-ea"/>
              </a:rPr>
              <a:t>到</a:t>
            </a:r>
            <a:r>
              <a:rPr lang="en-US" altLang="zh-CN" sz="2800" b="1" dirty="0">
                <a:latin typeface="+mn-ea"/>
              </a:rPr>
              <a:t>B</a:t>
            </a:r>
            <a:r>
              <a:rPr lang="zh-CN" altLang="zh-CN" sz="2800" b="1" dirty="0">
                <a:latin typeface="+mn-ea"/>
              </a:rPr>
              <a:t>，每秒移动</a:t>
            </a:r>
            <a:r>
              <a:rPr lang="en-US" altLang="zh-CN" sz="2800" b="1" dirty="0">
                <a:latin typeface="+mn-ea"/>
              </a:rPr>
              <a:t>6.0</a:t>
            </a:r>
            <a:r>
              <a:rPr lang="zh-CN" altLang="zh-CN" sz="2800" b="1" dirty="0">
                <a:latin typeface="+mn-ea"/>
              </a:rPr>
              <a:t>库仑的正电荷，负电荷从</a:t>
            </a:r>
            <a:r>
              <a:rPr lang="en-US" altLang="zh-CN" sz="2800" b="1" dirty="0">
                <a:latin typeface="+mn-ea"/>
              </a:rPr>
              <a:t>B</a:t>
            </a:r>
            <a:r>
              <a:rPr lang="zh-CN" altLang="zh-CN" sz="2800" b="1" dirty="0">
                <a:latin typeface="+mn-ea"/>
              </a:rPr>
              <a:t>移动</a:t>
            </a:r>
            <a:r>
              <a:rPr lang="zh-CN" altLang="zh-CN" sz="2800" b="1" dirty="0" smtClean="0">
                <a:latin typeface="+mn-ea"/>
              </a:rPr>
              <a:t>到</a:t>
            </a:r>
            <a:r>
              <a:rPr lang="en-US" altLang="zh-CN" sz="2800" b="1" dirty="0" smtClean="0">
                <a:latin typeface="+mn-ea"/>
              </a:rPr>
              <a:t>A</a:t>
            </a:r>
            <a:r>
              <a:rPr lang="zh-CN" altLang="zh-CN" sz="2800" b="1" dirty="0" smtClean="0">
                <a:latin typeface="+mn-ea"/>
              </a:rPr>
              <a:t>每秒</a:t>
            </a:r>
            <a:r>
              <a:rPr lang="zh-CN" altLang="zh-CN" sz="2800" b="1" dirty="0">
                <a:latin typeface="+mn-ea"/>
              </a:rPr>
              <a:t>移动</a:t>
            </a:r>
            <a:r>
              <a:rPr lang="en-US" altLang="zh-CN" sz="2800" b="1" dirty="0">
                <a:latin typeface="+mn-ea"/>
              </a:rPr>
              <a:t>2.0</a:t>
            </a:r>
            <a:r>
              <a:rPr lang="zh-CN" altLang="zh-CN" sz="2800" b="1" dirty="0">
                <a:latin typeface="+mn-ea"/>
              </a:rPr>
              <a:t>库仑的负电荷。</a:t>
            </a:r>
            <a:r>
              <a:rPr lang="en-US" altLang="zh-CN" sz="2800" b="1" dirty="0" err="1">
                <a:latin typeface="+mn-ea"/>
              </a:rPr>
              <a:t>从A到B的电流是多少</a:t>
            </a:r>
            <a:r>
              <a:rPr lang="en-US" altLang="zh-CN" sz="2800" b="1" dirty="0" smtClean="0">
                <a:latin typeface="+mn-ea"/>
              </a:rPr>
              <a:t>？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A. 8.0 A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B. -8.0 A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C. 4.0 A</a:t>
            </a:r>
            <a:br>
              <a:rPr lang="en-US" altLang="zh-CN" sz="2800" b="1" dirty="0">
                <a:latin typeface="+mn-ea"/>
              </a:rPr>
            </a:br>
            <a:r>
              <a:rPr lang="en-US" altLang="zh-CN" sz="2800" b="1" dirty="0">
                <a:latin typeface="+mn-ea"/>
              </a:rPr>
              <a:t>D. -4.0 A</a:t>
            </a:r>
            <a:br>
              <a:rPr lang="en-US" altLang="zh-CN" sz="2800" b="1" dirty="0">
                <a:latin typeface="+mn-ea"/>
              </a:rPr>
            </a:br>
            <a:endParaRPr lang="zh-CN" altLang="en-US" sz="2800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09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79622" y="760254"/>
            <a:ext cx="10972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>
                <a:latin typeface="+mn-ea"/>
              </a:rPr>
              <a:t>在液体中，</a:t>
            </a:r>
            <a:r>
              <a:rPr lang="en-US" altLang="zh-CN" sz="2800" b="1" dirty="0">
                <a:latin typeface="+mn-ea"/>
              </a:rPr>
              <a:t>A</a:t>
            </a:r>
            <a:r>
              <a:rPr lang="zh-CN" altLang="zh-CN" sz="2800" b="1" dirty="0">
                <a:latin typeface="+mn-ea"/>
              </a:rPr>
              <a:t>点和</a:t>
            </a:r>
            <a:r>
              <a:rPr lang="en-US" altLang="zh-CN" sz="2800" b="1" dirty="0">
                <a:latin typeface="+mn-ea"/>
              </a:rPr>
              <a:t>B</a:t>
            </a:r>
            <a:r>
              <a:rPr lang="zh-CN" altLang="zh-CN" sz="2800" b="1" dirty="0">
                <a:latin typeface="+mn-ea"/>
              </a:rPr>
              <a:t>点之间形成电流。正离子从</a:t>
            </a:r>
            <a:r>
              <a:rPr lang="en-US" altLang="zh-CN" sz="2800" b="1" dirty="0">
                <a:latin typeface="+mn-ea"/>
              </a:rPr>
              <a:t>A</a:t>
            </a:r>
            <a:r>
              <a:rPr lang="zh-CN" altLang="zh-CN" sz="2800" b="1" dirty="0">
                <a:latin typeface="+mn-ea"/>
              </a:rPr>
              <a:t>移动到</a:t>
            </a:r>
            <a:r>
              <a:rPr lang="en-US" altLang="zh-CN" sz="2800" b="1" dirty="0">
                <a:latin typeface="+mn-ea"/>
              </a:rPr>
              <a:t>B</a:t>
            </a:r>
            <a:r>
              <a:rPr lang="zh-CN" altLang="zh-CN" sz="2800" b="1" dirty="0">
                <a:latin typeface="+mn-ea"/>
              </a:rPr>
              <a:t>，每秒移动</a:t>
            </a:r>
            <a:r>
              <a:rPr lang="en-US" altLang="zh-CN" sz="2800" b="1" dirty="0">
                <a:latin typeface="+mn-ea"/>
              </a:rPr>
              <a:t>6.0</a:t>
            </a:r>
            <a:r>
              <a:rPr lang="zh-CN" altLang="zh-CN" sz="2800" b="1" dirty="0">
                <a:latin typeface="+mn-ea"/>
              </a:rPr>
              <a:t>库仑的正电荷，负电荷从</a:t>
            </a:r>
            <a:r>
              <a:rPr lang="en-US" altLang="zh-CN" sz="2800" b="1" dirty="0">
                <a:latin typeface="+mn-ea"/>
              </a:rPr>
              <a:t>B</a:t>
            </a:r>
            <a:r>
              <a:rPr lang="zh-CN" altLang="zh-CN" sz="2800" b="1" dirty="0">
                <a:latin typeface="+mn-ea"/>
              </a:rPr>
              <a:t>移动到</a:t>
            </a:r>
            <a:r>
              <a:rPr lang="en-US" altLang="zh-CN" sz="2800" b="1" dirty="0">
                <a:latin typeface="+mn-ea"/>
              </a:rPr>
              <a:t>A</a:t>
            </a:r>
            <a:r>
              <a:rPr lang="zh-CN" altLang="zh-CN" sz="2800" b="1" dirty="0">
                <a:latin typeface="+mn-ea"/>
              </a:rPr>
              <a:t>每秒移动</a:t>
            </a:r>
            <a:r>
              <a:rPr lang="en-US" altLang="zh-CN" sz="2800" b="1" dirty="0">
                <a:latin typeface="+mn-ea"/>
              </a:rPr>
              <a:t>2.0</a:t>
            </a:r>
            <a:r>
              <a:rPr lang="zh-CN" altLang="zh-CN" sz="2800" b="1" dirty="0">
                <a:latin typeface="+mn-ea"/>
              </a:rPr>
              <a:t>库仑的负电荷。</a:t>
            </a:r>
            <a:r>
              <a:rPr lang="en-US" altLang="zh-CN" sz="2800" b="1" dirty="0" err="1">
                <a:latin typeface="+mn-ea"/>
              </a:rPr>
              <a:t>从A到B的电流是多少</a:t>
            </a:r>
            <a:r>
              <a:rPr lang="en-US" altLang="zh-CN" sz="2800" b="1" dirty="0">
                <a:latin typeface="+mn-ea"/>
              </a:rPr>
              <a:t>？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+mn-ea"/>
              </a:rPr>
              <a:t>8.0 A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+mn-ea"/>
              </a:rPr>
              <a:t>-8.0 </a:t>
            </a:r>
            <a:r>
              <a:rPr lang="en-US" altLang="zh-CN" sz="2800" b="1" dirty="0" smtClean="0">
                <a:latin typeface="+mn-ea"/>
              </a:rPr>
              <a:t>A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+mn-ea"/>
              </a:rPr>
              <a:t>4.0 A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+mn-ea"/>
              </a:rPr>
              <a:t>-4.0 </a:t>
            </a:r>
            <a:r>
              <a:rPr lang="en-US" altLang="zh-CN" sz="2800" b="1" dirty="0" smtClean="0">
                <a:latin typeface="+mn-ea"/>
              </a:rPr>
              <a:t>A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8972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53730" y="1331343"/>
            <a:ext cx="843416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当电流沿</a:t>
            </a:r>
            <a:r>
              <a:rPr lang="zh-CN" altLang="en-US" sz="2800" b="1" dirty="0" smtClean="0">
                <a:latin typeface="+mn-ea"/>
              </a:rPr>
              <a:t>导线流动时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A</a:t>
            </a:r>
            <a:r>
              <a:rPr lang="zh-CN" altLang="en-US" sz="2800" b="1" dirty="0">
                <a:latin typeface="+mn-ea"/>
              </a:rPr>
              <a:t>、 </a:t>
            </a:r>
            <a:r>
              <a:rPr lang="zh-CN" altLang="en-US" sz="2800" b="1" dirty="0" smtClean="0">
                <a:latin typeface="+mn-ea"/>
              </a:rPr>
              <a:t>电子在向</a:t>
            </a:r>
            <a:r>
              <a:rPr lang="zh-CN" altLang="en-US" sz="2800" b="1" dirty="0">
                <a:latin typeface="+mn-ea"/>
              </a:rPr>
              <a:t>电流的方向移动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B</a:t>
            </a:r>
            <a:r>
              <a:rPr lang="zh-CN" altLang="en-US" sz="2800" b="1" dirty="0">
                <a:latin typeface="+mn-ea"/>
              </a:rPr>
              <a:t>、 电子的运动方向与电流的方向相反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C</a:t>
            </a:r>
            <a:r>
              <a:rPr lang="zh-CN" altLang="en-US" sz="2800" b="1" dirty="0">
                <a:latin typeface="+mn-ea"/>
              </a:rPr>
              <a:t>、 </a:t>
            </a:r>
            <a:r>
              <a:rPr lang="zh-CN" altLang="en-US" sz="2800" b="1" dirty="0" smtClean="0">
                <a:latin typeface="+mn-ea"/>
              </a:rPr>
              <a:t>质子在向</a:t>
            </a:r>
            <a:r>
              <a:rPr lang="zh-CN" altLang="en-US" sz="2800" b="1" dirty="0">
                <a:latin typeface="+mn-ea"/>
              </a:rPr>
              <a:t>电流的方向移动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D</a:t>
            </a:r>
            <a:r>
              <a:rPr lang="zh-CN" altLang="en-US" sz="2800" b="1" dirty="0">
                <a:latin typeface="+mn-ea"/>
              </a:rPr>
              <a:t>、 质子的运动方向与电流相反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E</a:t>
            </a:r>
            <a:r>
              <a:rPr lang="zh-CN" altLang="en-US" sz="2800" b="1" dirty="0">
                <a:latin typeface="+mn-ea"/>
              </a:rPr>
              <a:t>、 质子和电子都在向电流的方向运动。</a:t>
            </a: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70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524000" y="557213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当电流沿导线流动时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3659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电子在向电流的方向移动。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0517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电子的运动方向与电流的方向相反。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37375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质子在向电流的方向移动。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4233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质子的运动方向与电流相反。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43021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116019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80181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48761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109126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</a:rPr>
              <a:t>质子和电子都在向电流的方向</a:t>
            </a:r>
            <a:r>
              <a:rPr lang="zh-CN" altLang="en-US" sz="2400" b="1" dirty="0" smtClean="0">
                <a:latin typeface="+mn-ea"/>
              </a:rPr>
              <a:t>运动。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173419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8648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7082" y="1249360"/>
            <a:ext cx="1011363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n-ea"/>
              </a:rPr>
              <a:t>铜和橡胶的电性质不同，这是因为：</a:t>
            </a:r>
            <a:endParaRPr lang="en-US" altLang="zh-CN" sz="28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ea"/>
              </a:rPr>
              <a:t>A</a:t>
            </a:r>
            <a:r>
              <a:rPr lang="zh-CN" altLang="en-US" sz="2800" b="1" dirty="0">
                <a:latin typeface="+mn-ea"/>
              </a:rPr>
              <a:t>、 </a:t>
            </a:r>
            <a:r>
              <a:rPr lang="zh-CN" altLang="en-US" sz="2800" b="1" dirty="0" smtClean="0">
                <a:latin typeface="+mn-ea"/>
              </a:rPr>
              <a:t>正离子能在铜内自由运动，但在橡胶内却固定不动。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B</a:t>
            </a:r>
            <a:r>
              <a:rPr lang="zh-CN" altLang="en-US" sz="2800" b="1" dirty="0">
                <a:latin typeface="+mn-ea"/>
              </a:rPr>
              <a:t>、 </a:t>
            </a:r>
            <a:r>
              <a:rPr lang="zh-CN" altLang="en-US" sz="2800" b="1" dirty="0" smtClean="0">
                <a:latin typeface="+mn-ea"/>
              </a:rPr>
              <a:t>许多电子在铜内能自由运动，但在橡胶内几乎所有电子都被束缚在分子中。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C</a:t>
            </a:r>
            <a:r>
              <a:rPr lang="zh-CN" altLang="en-US" sz="2800" b="1" dirty="0">
                <a:latin typeface="+mn-ea"/>
              </a:rPr>
              <a:t>、 </a:t>
            </a:r>
            <a:r>
              <a:rPr lang="zh-CN" altLang="en-US" sz="2800" b="1" dirty="0" smtClean="0">
                <a:latin typeface="+mn-ea"/>
              </a:rPr>
              <a:t>正离子能在橡胶内自由运动，但在铜内却固定不动。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D</a:t>
            </a:r>
            <a:r>
              <a:rPr lang="zh-CN" altLang="en-US" sz="2800" b="1" dirty="0">
                <a:latin typeface="+mn-ea"/>
              </a:rPr>
              <a:t>、 </a:t>
            </a:r>
            <a:r>
              <a:rPr lang="zh-CN" altLang="en-US" sz="2800" b="1" dirty="0" smtClean="0">
                <a:latin typeface="+mn-ea"/>
              </a:rPr>
              <a:t>许多电子在橡胶内自由运动，但在铜内几乎所有电子都被束缚在分子中。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8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铜和橡胶的电性质不同，这是因为：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正离子能在铜内自由运动，但在橡胶内却固定不动。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932523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许多电子在铜内能自由运动，但在橡胶内几乎所有电子都被束缚在分子中。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正离子能在橡胶内自由运动，但在铜内却固定不动。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96266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许多电子在橡胶内自由运动，但在铜内几乎所有电子都被束缚在分子中。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940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103445" y="1412776"/>
            <a:ext cx="95915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/>
              <a:t>7</a:t>
            </a:r>
            <a:r>
              <a:rPr lang="zh-CN" altLang="en-US" sz="2800" b="1" dirty="0" smtClean="0"/>
              <a:t>、计算机显示屏中的电子束电流为</a:t>
            </a:r>
            <a:r>
              <a:rPr lang="en-US" altLang="zh-CN" sz="2800" b="1" dirty="0" smtClean="0"/>
              <a:t>640 </a:t>
            </a:r>
            <a:r>
              <a:rPr lang="en-US" altLang="zh-CN" sz="2800" b="1" dirty="0" err="1" smtClean="0"/>
              <a:t>uA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。每秒有多少个电子撞击荧光屏（     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A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4×10</a:t>
            </a:r>
            <a:r>
              <a:rPr lang="en-US" altLang="zh-CN" sz="2800" b="1" baseline="30000" dirty="0" smtClean="0"/>
              <a:t>15  </a:t>
            </a:r>
            <a:r>
              <a:rPr lang="en-US" altLang="zh-CN" sz="2800" b="1" dirty="0" smtClean="0"/>
              <a:t>    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 B 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4×10 </a:t>
            </a:r>
            <a:r>
              <a:rPr lang="en-US" altLang="zh-CN" sz="2800" b="1" baseline="30000" dirty="0" smtClean="0"/>
              <a:t>13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 C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2×10</a:t>
            </a:r>
            <a:r>
              <a:rPr lang="en-US" altLang="zh-CN" sz="2800" b="1" baseline="30000" dirty="0" smtClean="0"/>
              <a:t>15</a:t>
            </a:r>
            <a:r>
              <a:rPr lang="en-US" altLang="zh-CN" sz="2800" b="1" dirty="0" smtClean="0"/>
              <a:t>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 D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2×10 </a:t>
            </a:r>
            <a:r>
              <a:rPr lang="en-US" altLang="zh-CN" sz="2800" b="1" baseline="30000" dirty="0" smtClean="0"/>
              <a:t>13</a:t>
            </a:r>
            <a:endParaRPr lang="en-US" altLang="zh-CN" sz="2800" b="1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719404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560816"/>
              </p:ext>
            </p:extLst>
          </p:nvPr>
        </p:nvGraphicFramePr>
        <p:xfrm>
          <a:off x="6960096" y="2780929"/>
          <a:ext cx="115993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" name="Equation" r:id="rId4" imgW="431613" imgH="393529" progId="Equation.DSMT4">
                  <p:embed/>
                </p:oleObj>
              </mc:Choice>
              <mc:Fallback>
                <p:oleObj name="Equation" r:id="rId4" imgW="43161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6" y="2780929"/>
                        <a:ext cx="1159933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882378"/>
              </p:ext>
            </p:extLst>
          </p:nvPr>
        </p:nvGraphicFramePr>
        <p:xfrm>
          <a:off x="6768075" y="4077072"/>
          <a:ext cx="4272475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" name="Equation" r:id="rId6" imgW="1130040" imgH="203040" progId="Equation.DSMT4">
                  <p:embed/>
                </p:oleObj>
              </mc:Choice>
              <mc:Fallback>
                <p:oleObj name="Equation" r:id="rId6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68075" y="4077072"/>
                        <a:ext cx="4272475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581099"/>
              </p:ext>
            </p:extLst>
          </p:nvPr>
        </p:nvGraphicFramePr>
        <p:xfrm>
          <a:off x="6834188" y="4941888"/>
          <a:ext cx="34210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Equation" r:id="rId8" imgW="723600" imgH="203040" progId="Equation.DSMT4">
                  <p:embed/>
                </p:oleObj>
              </mc:Choice>
              <mc:Fallback>
                <p:oleObj name="Equation" r:id="rId8" imgW="723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34188" y="4941888"/>
                        <a:ext cx="3421062" cy="719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833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253" y="2173699"/>
            <a:ext cx="24161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3444720" y="399613"/>
            <a:ext cx="4357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SimHei"/>
                <a:ea typeface="SimHei"/>
                <a:cs typeface="SimHei"/>
                <a:sym typeface="SimHei"/>
              </a:rPr>
              <a:t>§</a:t>
            </a:r>
            <a:r>
              <a:rPr lang="en-US" altLang="zh-CN" sz="3600" b="1" dirty="0" smtClean="0"/>
              <a:t>18.2 </a:t>
            </a:r>
            <a:r>
              <a:rPr lang="zh-CN" altLang="en-US" sz="3600" b="1" dirty="0" smtClean="0"/>
              <a:t>电动势与电路</a:t>
            </a:r>
            <a:endParaRPr lang="zh-CN" altLang="en-US" sz="36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64102" y="1574122"/>
            <a:ext cx="3866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00099"/>
                </a:solidFill>
              </a:rPr>
              <a:t>电源及电源的作用</a:t>
            </a:r>
            <a:endParaRPr lang="zh-CN" altLang="en-US" sz="3200" b="1" dirty="0">
              <a:solidFill>
                <a:srgbClr val="00009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9973" y="2273474"/>
            <a:ext cx="828810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非静电力：</a:t>
            </a:r>
            <a:r>
              <a:rPr lang="zh-CN" altLang="en-US" sz="2800" b="1" dirty="0" smtClean="0"/>
              <a:t>不断把负极板上的正电荷搬运回正极板，并维持两极板上电荷分布不变。从而在导线中产生一个稳恒电场。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电源：</a:t>
            </a:r>
            <a:r>
              <a:rPr lang="zh-CN" altLang="en-US" sz="2800" b="1" dirty="0" smtClean="0"/>
              <a:t>任何能够提供非静电力，并能够把其他形式的能量转换成电能的装置。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8423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522184" y="1376065"/>
            <a:ext cx="830883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电动势</a:t>
            </a:r>
            <a:r>
              <a:rPr lang="zh-CN" altLang="en-US" sz="2800" b="1" dirty="0" smtClean="0">
                <a:latin typeface="+mn-ea"/>
              </a:rPr>
              <a:t>：把单位正电荷经电源内部由负极移向正极过程</a:t>
            </a: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中非静电力</a:t>
            </a:r>
            <a:r>
              <a:rPr lang="zh-CN" altLang="en-US" sz="2800" b="1" dirty="0">
                <a:latin typeface="+mn-ea"/>
              </a:rPr>
              <a:t>所做的功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en-US" altLang="zh-CN" sz="28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u"/>
            </a:pPr>
            <a:r>
              <a:rPr lang="zh-CN" altLang="en-US" sz="2800" b="1" dirty="0" smtClean="0">
                <a:latin typeface="+mn-ea"/>
              </a:rPr>
              <a:t>电动势</a:t>
            </a:r>
            <a:r>
              <a:rPr lang="zh-CN" altLang="en-US" sz="2800" b="1" dirty="0">
                <a:latin typeface="+mn-ea"/>
              </a:rPr>
              <a:t>是反映非静电力做功本领的物理量。</a:t>
            </a:r>
            <a:endParaRPr lang="en-US" altLang="zh-CN" sz="28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n-ea"/>
              </a:rPr>
              <a:t>理想电池，不考虑电池的内阻。</a:t>
            </a:r>
            <a:endParaRPr lang="en-US" altLang="zh-CN" sz="28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u"/>
            </a:pPr>
            <a:r>
              <a:rPr lang="zh-CN" altLang="en-US" sz="2800" b="1" dirty="0" smtClean="0">
                <a:latin typeface="+mn-ea"/>
              </a:rPr>
              <a:t>电动势并不是矢量，但通常规定电源内从负极到正极的方向为电动势的方向。</a:t>
            </a:r>
            <a:endParaRPr lang="en-US" altLang="zh-CN" sz="2800" b="1" dirty="0" smtClean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endParaRPr lang="zh-CN" altLang="en-US" sz="28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698" y="646331"/>
            <a:ext cx="100800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电池的电动势（</a:t>
            </a:r>
            <a:r>
              <a:rPr lang="en-US" altLang="zh-CN" sz="3200" b="1" dirty="0" err="1" smtClean="0">
                <a:latin typeface="黑体" pitchFamily="49" charset="-122"/>
                <a:ea typeface="黑体" pitchFamily="49" charset="-122"/>
              </a:rPr>
              <a:t>emf</a:t>
            </a:r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,</a:t>
            </a:r>
            <a:r>
              <a:rPr lang="el-GR" altLang="zh-CN" sz="40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ε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3200" b="1" dirty="0" smtClean="0"/>
              <a:t>理想电池两极间的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电势差。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522184" y="5441037"/>
            <a:ext cx="4557129" cy="573798"/>
            <a:chOff x="2944705" y="2499359"/>
            <a:chExt cx="4557129" cy="573798"/>
          </a:xfrm>
        </p:grpSpPr>
        <p:sp>
          <p:nvSpPr>
            <p:cNvPr id="10" name="文本框 9"/>
            <p:cNvSpPr txBox="1"/>
            <p:nvPr/>
          </p:nvSpPr>
          <p:spPr>
            <a:xfrm>
              <a:off x="2944705" y="2499359"/>
              <a:ext cx="3057247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理想电池</a:t>
              </a:r>
              <a:r>
                <a:rPr lang="zh-CN" altLang="en-US" sz="2800" b="1" dirty="0"/>
                <a:t>所做的功</a:t>
              </a: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3040613"/>
                </p:ext>
              </p:extLst>
            </p:nvPr>
          </p:nvGraphicFramePr>
          <p:xfrm>
            <a:off x="6246651" y="2499359"/>
            <a:ext cx="1255183" cy="573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Equation" r:id="rId4" imgW="444240" imgH="203040" progId="Equation.DSMT4">
                    <p:embed/>
                  </p:oleObj>
                </mc:Choice>
                <mc:Fallback>
                  <p:oleObj name="Equation" r:id="rId4" imgW="444240" imgH="20304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6651" y="2499359"/>
                          <a:ext cx="1255183" cy="573798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Box 15"/>
          <p:cNvSpPr txBox="1"/>
          <p:nvPr/>
        </p:nvSpPr>
        <p:spPr>
          <a:xfrm>
            <a:off x="6427694" y="5441037"/>
            <a:ext cx="3403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电池所储存的能量。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831016" y="1000274"/>
            <a:ext cx="2232212" cy="1635792"/>
            <a:chOff x="9927394" y="1305521"/>
            <a:chExt cx="2232212" cy="1635792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29075" y="2005611"/>
              <a:ext cx="1114425" cy="438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3375" y="1305521"/>
              <a:ext cx="1000125" cy="41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9927394" y="2571981"/>
              <a:ext cx="2232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mtClean="0"/>
                <a:t>电路中的电池符号</a:t>
              </a:r>
              <a:endParaRPr lang="zh-CN" altLang="en-US" b="1"/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860" y="5461817"/>
            <a:ext cx="1360418" cy="5308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55" name="Picture 8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440" y="739613"/>
            <a:ext cx="439865" cy="52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789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6336" y="590906"/>
            <a:ext cx="11777534" cy="5391342"/>
            <a:chOff x="-24877" y="1934544"/>
            <a:chExt cx="11777534" cy="5391342"/>
          </a:xfrm>
        </p:grpSpPr>
        <p:sp>
          <p:nvSpPr>
            <p:cNvPr id="3" name="文本框 2"/>
            <p:cNvSpPr txBox="1"/>
            <p:nvPr/>
          </p:nvSpPr>
          <p:spPr>
            <a:xfrm>
              <a:off x="244698" y="1934544"/>
              <a:ext cx="100367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latin typeface="黑体" pitchFamily="49" charset="-122"/>
                  <a:ea typeface="黑体" pitchFamily="49" charset="-122"/>
                </a:rPr>
                <a:t>电源</a:t>
              </a:r>
              <a:r>
                <a:rPr lang="zh-CN" altLang="en-US" sz="3200" dirty="0" smtClean="0">
                  <a:latin typeface="黑体" pitchFamily="49" charset="-122"/>
                  <a:ea typeface="黑体" pitchFamily="49" charset="-122"/>
                </a:rPr>
                <a:t>：</a:t>
              </a:r>
              <a:r>
                <a:rPr lang="zh-CN" altLang="en-US" sz="3200" b="1" dirty="0" smtClean="0"/>
                <a:t>任何能把</a:t>
              </a:r>
              <a:r>
                <a:rPr lang="zh-CN" altLang="en-US" sz="3200" b="1" dirty="0" smtClean="0">
                  <a:solidFill>
                    <a:srgbClr val="FF0000"/>
                  </a:solidFill>
                </a:rPr>
                <a:t>正电荷</a:t>
              </a:r>
              <a:r>
                <a:rPr lang="zh-CN" altLang="en-US" sz="3200" b="1" dirty="0" smtClean="0"/>
                <a:t>从低电势抽运到高电势的装置。</a:t>
              </a:r>
              <a:endParaRPr lang="zh-CN" altLang="en-US" sz="3200" b="1" dirty="0"/>
            </a:p>
          </p:txBody>
        </p:sp>
        <p:sp>
          <p:nvSpPr>
            <p:cNvPr id="4" name="文本框 5"/>
            <p:cNvSpPr txBox="1"/>
            <p:nvPr/>
          </p:nvSpPr>
          <p:spPr>
            <a:xfrm>
              <a:off x="437881" y="2562524"/>
              <a:ext cx="109568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所有的电源都是能量转换装置，它们把其他形式的能量转换为电能。</a:t>
              </a:r>
              <a:endParaRPr lang="zh-CN" altLang="en-US" sz="2800" b="1" dirty="0"/>
            </a:p>
          </p:txBody>
        </p:sp>
        <p:pic>
          <p:nvPicPr>
            <p:cNvPr id="5" name="Picture 3" descr="gia12141_18_0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877" y="3534331"/>
              <a:ext cx="3839169" cy="2801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文本框 7"/>
            <p:cNvSpPr txBox="1"/>
            <p:nvPr/>
          </p:nvSpPr>
          <p:spPr>
            <a:xfrm>
              <a:off x="5033632" y="6864221"/>
              <a:ext cx="63401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/>
                <a:t>用水的流动过程来模拟电路中电荷的流动过程</a:t>
              </a:r>
              <a:endParaRPr lang="zh-CN" altLang="en-US" sz="2400" b="1" dirty="0"/>
            </a:p>
          </p:txBody>
        </p:sp>
        <p:pic>
          <p:nvPicPr>
            <p:cNvPr id="7" name="Picture 3" descr="gia12141_18_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4292" y="3329860"/>
              <a:ext cx="7938365" cy="3290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文本框 7"/>
          <p:cNvSpPr txBox="1"/>
          <p:nvPr/>
        </p:nvSpPr>
        <p:spPr>
          <a:xfrm>
            <a:off x="1097363" y="5360511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mtClean="0"/>
              <a:t>生物电池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9842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667" y="12878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电池</a:t>
            </a:r>
            <a:endParaRPr lang="zh-CN" altLang="en-US" sz="3200" b="1" dirty="0"/>
          </a:p>
        </p:txBody>
      </p:sp>
      <p:pic>
        <p:nvPicPr>
          <p:cNvPr id="5" name="Picture 3" descr="gia12141_18_06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2" t="1172" r="11769" b="9066"/>
          <a:stretch/>
        </p:blipFill>
        <p:spPr bwMode="auto">
          <a:xfrm>
            <a:off x="8119304" y="172751"/>
            <a:ext cx="3940935" cy="493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7941972" y="5263372"/>
            <a:ext cx="4250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铅酸汽车电池、可充电的镍镉电池。普通干电池、锌石墨干电池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2455528" y="292236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905"/>
            <a:ext cx="8125935" cy="40711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4842064"/>
            <a:ext cx="7517423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电池很多的时候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并不是标准的“</a:t>
            </a:r>
            <a:r>
              <a:rPr lang="en-US" altLang="zh-CN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AAA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AA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”这些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主型号，前面还时常有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分数“</a:t>
            </a:r>
            <a:r>
              <a:rPr lang="en-US" altLang="zh-CN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1/3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2/3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1/2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2/3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5/4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7/5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”，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这些分数表示的是池体相应的高度，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例如“</a:t>
            </a:r>
            <a:r>
              <a:rPr lang="en-US" altLang="zh-CN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2/3AA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”就是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表示高是一般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AA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电池的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2/3</a:t>
            </a:r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的充电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电池。（</a:t>
            </a:r>
            <a:r>
              <a:rPr lang="zh-CN" altLang="en-US" sz="2000" b="1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大电池能提供更多的能量和更大的电流。</a:t>
            </a:r>
            <a:r>
              <a:rPr lang="zh-CN" altLang="en-US" sz="2000" b="1" dirty="0" smtClean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5017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7604" y="1077362"/>
            <a:ext cx="110317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u"/>
            </a:pPr>
            <a:r>
              <a:rPr lang="zh-CN" altLang="en-US" sz="2800" b="1" dirty="0">
                <a:latin typeface="+mn-ea"/>
              </a:rPr>
              <a:t>普通电池尺寸不同，电池越大，它储存的化学物质的量就越多，相应储存的化学能就越多，但它们都提供相同的电动势（</a:t>
            </a:r>
            <a:r>
              <a:rPr lang="en-US" altLang="zh-CN" sz="2800" b="1" dirty="0">
                <a:latin typeface="+mn-ea"/>
              </a:rPr>
              <a:t>1.5V</a:t>
            </a:r>
            <a:r>
              <a:rPr lang="zh-CN" altLang="en-US" sz="2800" b="1" dirty="0">
                <a:latin typeface="+mn-ea"/>
              </a:rPr>
              <a:t>）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en-US" altLang="zh-CN" sz="28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u"/>
            </a:pPr>
            <a:r>
              <a:rPr lang="zh-CN" altLang="en-US" sz="2800" b="1" dirty="0" smtClean="0">
                <a:latin typeface="+mn-ea"/>
              </a:rPr>
              <a:t>大</a:t>
            </a:r>
            <a:r>
              <a:rPr lang="zh-CN" altLang="en-US" sz="2800" b="1" dirty="0">
                <a:latin typeface="+mn-ea"/>
              </a:rPr>
              <a:t>电池比小电池能抽运更多的电荷从而提供更多的能量，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虽然它们抽运单位电荷所做的功是相等的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en-US" altLang="zh-CN" sz="28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Clr>
                <a:srgbClr val="000099"/>
              </a:buClr>
              <a:buFont typeface="Wingdings" pitchFamily="2" charset="2"/>
              <a:buChar char="u"/>
            </a:pPr>
            <a:r>
              <a:rPr lang="zh-CN" altLang="en-US" sz="2800" b="1" dirty="0" smtClean="0">
                <a:latin typeface="+mn-ea"/>
              </a:rPr>
              <a:t>大小</a:t>
            </a:r>
            <a:r>
              <a:rPr lang="zh-CN" altLang="en-US" sz="2800" b="1" dirty="0">
                <a:latin typeface="+mn-ea"/>
              </a:rPr>
              <a:t>电池的另外一个区别就是大电池通常能更快的抽运电荷，也就是说大电池能提供更大的电流。</a:t>
            </a:r>
          </a:p>
        </p:txBody>
      </p:sp>
    </p:spTree>
    <p:extLst>
      <p:ext uri="{BB962C8B-B14F-4D97-AF65-F5344CB8AC3E}">
        <p14:creationId xmlns:p14="http://schemas.microsoft.com/office/powerpoint/2010/main" val="40360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1577" y="30833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电路</a:t>
            </a:r>
            <a:endParaRPr lang="zh-CN" altLang="en-US" sz="3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5172" y="88179"/>
            <a:ext cx="9039225" cy="4657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65172" y="4889545"/>
            <a:ext cx="8941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图</a:t>
            </a:r>
            <a:r>
              <a:rPr lang="en-US" altLang="zh-CN" sz="2400" b="1" dirty="0" smtClean="0"/>
              <a:t>18.7 a</a:t>
            </a:r>
            <a:r>
              <a:rPr lang="zh-CN" altLang="en-US" sz="2400" b="1" dirty="0" smtClean="0"/>
              <a:t>）将电池与灯泡连接起来。当电流流过灯丝时，灯泡会发光。</a:t>
            </a:r>
            <a:r>
              <a:rPr lang="en-US" altLang="zh-CN" sz="2400" b="1" dirty="0" smtClean="0"/>
              <a:t>b</a:t>
            </a:r>
            <a:r>
              <a:rPr lang="zh-CN" altLang="en-US" sz="2400" b="1" dirty="0" smtClean="0"/>
              <a:t>）要维持电流，必须有一个闭合的电路。</a:t>
            </a:r>
            <a:r>
              <a:rPr lang="en-US" altLang="zh-CN" sz="2400" b="1" dirty="0" smtClean="0"/>
              <a:t>C</a:t>
            </a:r>
            <a:r>
              <a:rPr lang="zh-CN" altLang="en-US" sz="2400" b="1" dirty="0" smtClean="0"/>
              <a:t>）一个表示水的流动而不是电荷流动的相似回路</a:t>
            </a:r>
            <a:endParaRPr lang="zh-CN" altLang="en-US" sz="2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83127" y="1072656"/>
            <a:ext cx="3193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要使电流连续地流动，就需要一个闭合电路。</a:t>
            </a:r>
            <a:endParaRPr lang="zh-CN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96980" y="6179064"/>
            <a:ext cx="9730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电流并没有在灯泡中被消耗掉，就像水并没有在散热器中被消耗掉一样。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0" y="3004933"/>
            <a:ext cx="2480949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稳恒电流只产生在闭合回路中。</a:t>
            </a:r>
          </a:p>
        </p:txBody>
      </p:sp>
    </p:spTree>
    <p:extLst>
      <p:ext uri="{BB962C8B-B14F-4D97-AF65-F5344CB8AC3E}">
        <p14:creationId xmlns:p14="http://schemas.microsoft.com/office/powerpoint/2010/main" val="382298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47779" y="1158829"/>
            <a:ext cx="8424078" cy="4355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3200" b="1" dirty="0"/>
              <a:t>在常见的电池尺寸</a:t>
            </a:r>
            <a:r>
              <a:rPr lang="en-US" altLang="zh-CN" sz="3200" b="1" dirty="0"/>
              <a:t>AAA</a:t>
            </a:r>
            <a:r>
              <a:rPr lang="zh-CN" altLang="zh-CN" sz="3200" b="1" dirty="0"/>
              <a:t>，</a:t>
            </a:r>
            <a:r>
              <a:rPr lang="en-US" altLang="zh-CN" sz="3200" b="1" dirty="0"/>
              <a:t>AA</a:t>
            </a:r>
            <a:r>
              <a:rPr lang="zh-CN" altLang="zh-CN" sz="3200" b="1" dirty="0"/>
              <a:t>，</a:t>
            </a:r>
            <a:r>
              <a:rPr lang="en-US" altLang="zh-CN" sz="3200" b="1" dirty="0"/>
              <a:t>C</a:t>
            </a:r>
            <a:r>
              <a:rPr lang="zh-CN" altLang="zh-CN" sz="3200" b="1" dirty="0"/>
              <a:t>和</a:t>
            </a:r>
            <a:r>
              <a:rPr lang="en-US" altLang="zh-CN" sz="3200" b="1" dirty="0"/>
              <a:t>D</a:t>
            </a:r>
            <a:r>
              <a:rPr lang="zh-CN" altLang="zh-CN" sz="3200" b="1" dirty="0"/>
              <a:t>中，哪一个提供了最高的电动势？</a:t>
            </a:r>
            <a:r>
              <a:rPr lang="en-US" altLang="zh-CN" sz="3200" b="1" dirty="0"/>
              <a:t/>
            </a:r>
            <a:br>
              <a:rPr lang="en-US" altLang="zh-CN" sz="3200" b="1" dirty="0"/>
            </a:br>
            <a:r>
              <a:rPr lang="en-US" altLang="zh-CN" sz="3200" b="1" dirty="0"/>
              <a:t>A. AAA</a:t>
            </a:r>
            <a:br>
              <a:rPr lang="en-US" altLang="zh-CN" sz="3200" b="1" dirty="0"/>
            </a:br>
            <a:r>
              <a:rPr lang="en-US" altLang="zh-CN" sz="3200" b="1" dirty="0"/>
              <a:t>B. AA</a:t>
            </a:r>
            <a:br>
              <a:rPr lang="en-US" altLang="zh-CN" sz="3200" b="1" dirty="0"/>
            </a:br>
            <a:r>
              <a:rPr lang="en-US" altLang="zh-CN" sz="3200" b="1" dirty="0"/>
              <a:t>C. C</a:t>
            </a:r>
            <a:br>
              <a:rPr lang="en-US" altLang="zh-CN" sz="3200" b="1" dirty="0"/>
            </a:br>
            <a:r>
              <a:rPr lang="en-US" altLang="zh-CN" sz="3200" b="1" dirty="0"/>
              <a:t>D. D</a:t>
            </a:r>
            <a:br>
              <a:rPr lang="en-US" altLang="zh-CN" sz="3200" b="1" dirty="0"/>
            </a:br>
            <a:r>
              <a:rPr lang="en-US" altLang="zh-CN" sz="3200" b="1" u="sng" dirty="0"/>
              <a:t>E.</a:t>
            </a:r>
            <a:r>
              <a:rPr lang="en-US" altLang="zh-CN" sz="3200" b="1" dirty="0"/>
              <a:t> all have the same </a:t>
            </a:r>
            <a:r>
              <a:rPr lang="en-US" altLang="zh-CN" sz="3200" b="1" dirty="0" err="1"/>
              <a:t>emf</a:t>
            </a:r>
            <a:endParaRPr lang="zh-CN" altLang="zh-C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09482" y="1167243"/>
            <a:ext cx="842407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3200" b="1" dirty="0" smtClean="0"/>
              <a:t>能量的单位是什么</a:t>
            </a:r>
            <a:r>
              <a:rPr lang="zh-CN" altLang="zh-CN" sz="3200" b="1" dirty="0" smtClean="0"/>
              <a:t>？</a:t>
            </a:r>
            <a:r>
              <a:rPr lang="en-US" altLang="zh-CN" sz="3200" b="1" dirty="0"/>
              <a:t/>
            </a:r>
            <a:br>
              <a:rPr lang="en-US" altLang="zh-CN" sz="3200" b="1" dirty="0"/>
            </a:br>
            <a:r>
              <a:rPr lang="en-US" altLang="zh-CN" sz="3200" b="1" dirty="0"/>
              <a:t>A. </a:t>
            </a:r>
            <a:r>
              <a:rPr lang="en-US" altLang="zh-CN" sz="3200" b="1" dirty="0">
                <a:latin typeface="+mn-ea"/>
              </a:rPr>
              <a:t> V·C</a:t>
            </a:r>
            <a:r>
              <a:rPr lang="en-US" altLang="zh-CN" sz="3200" b="1" dirty="0"/>
              <a:t/>
            </a:r>
            <a:br>
              <a:rPr lang="en-US" altLang="zh-CN" sz="3200" b="1" dirty="0"/>
            </a:br>
            <a:r>
              <a:rPr lang="en-US" altLang="zh-CN" sz="3200" b="1" dirty="0"/>
              <a:t>B. </a:t>
            </a:r>
            <a:r>
              <a:rPr lang="en-US" altLang="zh-CN" sz="3200" b="1" dirty="0">
                <a:latin typeface="+mn-ea"/>
              </a:rPr>
              <a:t> V/m</a:t>
            </a:r>
            <a:r>
              <a:rPr lang="en-US" altLang="zh-CN" sz="3200" b="1" dirty="0"/>
              <a:t/>
            </a:r>
            <a:br>
              <a:rPr lang="en-US" altLang="zh-CN" sz="3200" b="1" dirty="0"/>
            </a:br>
            <a:r>
              <a:rPr lang="en-US" altLang="zh-CN" sz="3200" b="1" dirty="0"/>
              <a:t>C. </a:t>
            </a:r>
            <a:r>
              <a:rPr lang="en-US" altLang="zh-CN" sz="3200" b="1" dirty="0" smtClean="0"/>
              <a:t>   A/C</a:t>
            </a:r>
            <a:r>
              <a:rPr lang="en-US" altLang="zh-CN" sz="3200" b="1" dirty="0"/>
              <a:t/>
            </a:r>
            <a:br>
              <a:rPr lang="en-US" altLang="zh-CN" sz="3200" b="1" dirty="0"/>
            </a:br>
            <a:r>
              <a:rPr lang="en-US" altLang="zh-CN" sz="3200" b="1" dirty="0"/>
              <a:t>D. </a:t>
            </a:r>
            <a:r>
              <a:rPr lang="en-US" altLang="zh-CN" sz="3200" b="1" dirty="0" smtClean="0"/>
              <a:t>  </a:t>
            </a:r>
            <a:r>
              <a:rPr lang="en-US" altLang="zh-CN" sz="3200" b="1" dirty="0" err="1" smtClean="0"/>
              <a:t>N</a:t>
            </a:r>
            <a:r>
              <a:rPr lang="en-US" altLang="zh-CN" sz="3200" b="1" dirty="0" err="1" smtClean="0">
                <a:latin typeface="+mn-ea"/>
              </a:rPr>
              <a:t>·m</a:t>
            </a:r>
            <a:r>
              <a:rPr lang="en-US" altLang="zh-CN" sz="3200" b="1" dirty="0" smtClean="0">
                <a:latin typeface="+mn-ea"/>
              </a:rPr>
              <a:t>/V</a:t>
            </a:r>
            <a:endParaRPr lang="zh-CN" altLang="zh-C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309" y="2743200"/>
            <a:ext cx="1171575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365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 b="1" dirty="0"/>
              <a:t>能量的单位是什么</a:t>
            </a:r>
            <a:r>
              <a:rPr lang="zh-CN" altLang="zh-CN" sz="3200" b="1" dirty="0" smtClean="0"/>
              <a:t>？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+mn-ea"/>
              </a:rPr>
              <a:t>V·C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+mn-ea"/>
              </a:rPr>
              <a:t>V/m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/>
              <a:t>A/C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 err="1"/>
              <a:t>N</a:t>
            </a:r>
            <a:r>
              <a:rPr lang="en-US" altLang="zh-CN" sz="2800" b="1" dirty="0" err="1">
                <a:latin typeface="+mn-ea"/>
              </a:rPr>
              <a:t>·m</a:t>
            </a:r>
            <a:r>
              <a:rPr lang="en-US" altLang="zh-CN" sz="2800" b="1" dirty="0">
                <a:latin typeface="+mn-ea"/>
              </a:rPr>
              <a:t>/V</a:t>
            </a:r>
            <a:endParaRPr lang="zh-CN" altLang="zh-CN" sz="2800" b="1" dirty="0"/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309" y="2743200"/>
            <a:ext cx="1171575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263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86377" y="193182"/>
            <a:ext cx="8630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99"/>
                </a:solidFill>
                <a:latin typeface="SimHei"/>
                <a:ea typeface="SimHei"/>
                <a:cs typeface="SimHei"/>
                <a:sym typeface="SimHei"/>
              </a:rPr>
              <a:t>§</a:t>
            </a:r>
            <a:r>
              <a:rPr lang="en-US" altLang="zh-CN" sz="3200" b="1" dirty="0" smtClean="0">
                <a:solidFill>
                  <a:srgbClr val="000099"/>
                </a:solidFill>
              </a:rPr>
              <a:t>18.3 </a:t>
            </a:r>
            <a:r>
              <a:rPr lang="zh-CN" altLang="en-US" sz="3200" b="1" dirty="0" smtClean="0">
                <a:solidFill>
                  <a:srgbClr val="000099"/>
                </a:solidFill>
              </a:rPr>
              <a:t>金属中电流的微观图像：自由电子模型</a:t>
            </a:r>
            <a:endParaRPr lang="zh-CN" altLang="en-US" sz="3200" b="1" dirty="0">
              <a:solidFill>
                <a:srgbClr val="000099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42326" y="5522519"/>
            <a:ext cx="7392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 smtClean="0"/>
              <a:t>图</a:t>
            </a:r>
            <a:r>
              <a:rPr lang="en-US" altLang="zh-CN" sz="2400" b="1" dirty="0" smtClean="0"/>
              <a:t>18.8 a</a:t>
            </a:r>
            <a:r>
              <a:rPr lang="zh-CN" altLang="en-US" sz="2400" b="1" dirty="0" smtClean="0"/>
              <a:t>）不存在电场的情况下，金属导线中两个传导电子的随机运动轨迹。</a:t>
            </a:r>
            <a:r>
              <a:rPr lang="en-US" altLang="zh-CN" sz="2400" b="1" dirty="0" smtClean="0"/>
              <a:t>b</a:t>
            </a:r>
            <a:r>
              <a:rPr lang="zh-CN" altLang="en-US" sz="2400" b="1" dirty="0" smtClean="0"/>
              <a:t>）沿着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 smtClean="0"/>
              <a:t>轴方向的电场使电子在连续两次碰撞之间以沿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 smtClean="0"/>
              <a:t>轴负方向的恒定加速度运动。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21929" y="3066895"/>
            <a:ext cx="7190898" cy="245562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4116" y="780590"/>
            <a:ext cx="1151068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 smtClean="0"/>
              <a:t>       </a:t>
            </a:r>
            <a:r>
              <a:rPr lang="zh-CN" altLang="en-US" sz="2400" b="1" dirty="0" smtClean="0"/>
              <a:t>如果在金属中存在一个匀强电场，作用在传导电子上的电场力使得电子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在连续两次碰撞之间做匀加速运动</a:t>
            </a:r>
            <a:r>
              <a:rPr lang="zh-CN" altLang="en-US" sz="2400" b="1" dirty="0" smtClean="0"/>
              <a:t>。电场力使它们在力的方向上运动的平均速度比反方向稍快，这样，电子就沿着电场力方向做缓慢的漂移运动。其具有的平均速度称为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漂移速度</a:t>
            </a:r>
            <a:r>
              <a:rPr lang="en-US" altLang="zh-CN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1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11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 smtClean="0"/>
              <a:t>漂移速率远</a:t>
            </a:r>
            <a:r>
              <a:rPr lang="zh-CN" altLang="en-US" sz="2400" b="1" dirty="0"/>
              <a:t>小于电子的瞬时速率，通常不到</a:t>
            </a:r>
            <a:r>
              <a:rPr lang="en-US" altLang="zh-CN" sz="2400" b="1" dirty="0"/>
              <a:t>1 </a:t>
            </a:r>
            <a:r>
              <a:rPr lang="en-US" altLang="zh-CN" sz="2400" b="1" dirty="0" smtClean="0"/>
              <a:t>mm/s</a:t>
            </a:r>
            <a:r>
              <a:rPr lang="zh-CN" altLang="en-US" sz="2400" b="1" dirty="0"/>
              <a:t>，但却产生了电子的净传输。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6368" y="3066895"/>
            <a:ext cx="3039412" cy="198117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6669" y="5291686"/>
            <a:ext cx="3142445" cy="975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400" b="1" dirty="0" smtClean="0"/>
              <a:t>图</a:t>
            </a:r>
            <a:r>
              <a:rPr lang="en-US" altLang="zh-CN" sz="2400" b="1" dirty="0" smtClean="0"/>
              <a:t>18.1 a</a:t>
            </a:r>
            <a:r>
              <a:rPr lang="zh-CN" altLang="en-US" sz="2400" b="1" dirty="0" smtClean="0"/>
              <a:t>）金属中传导电子的简单图像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3193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8789" y="115910"/>
            <a:ext cx="5128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0099"/>
                </a:solidFill>
              </a:rPr>
              <a:t>电流和漂移速度之间的关系</a:t>
            </a:r>
            <a:endParaRPr lang="zh-CN" altLang="en-US" sz="3200" b="1" dirty="0">
              <a:solidFill>
                <a:srgbClr val="000099"/>
              </a:solidFill>
            </a:endParaRPr>
          </a:p>
        </p:txBody>
      </p:sp>
      <p:pic>
        <p:nvPicPr>
          <p:cNvPr id="5" name="Picture 3" descr="gia12141_18_09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35"/>
          <a:stretch/>
        </p:blipFill>
        <p:spPr bwMode="auto">
          <a:xfrm>
            <a:off x="5648688" y="3327673"/>
            <a:ext cx="6199876" cy="2323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5738840" y="5918723"/>
            <a:ext cx="644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图</a:t>
            </a:r>
            <a:r>
              <a:rPr lang="en-US" altLang="zh-CN" sz="2400" b="1" dirty="0" smtClean="0"/>
              <a:t>18.9 </a:t>
            </a:r>
            <a:r>
              <a:rPr lang="zh-CN" altLang="en-US" sz="2400" b="1" dirty="0" smtClean="0"/>
              <a:t>传导电子以恒定速度运动的简化图像。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21972" y="787090"/>
            <a:ext cx="4647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单位体积内传导电子的数量：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 smtClean="0"/>
              <a:t>，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21972" y="193918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因此，导线中电流的大小为：</a:t>
            </a:r>
            <a:endParaRPr lang="zh-CN" altLang="en-US" sz="24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854398"/>
              </p:ext>
            </p:extLst>
          </p:nvPr>
        </p:nvGraphicFramePr>
        <p:xfrm>
          <a:off x="4507733" y="1749539"/>
          <a:ext cx="2099146" cy="834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" name="Equation" r:id="rId5" imgW="990360" imgH="393480" progId="Equation.DSMT4">
                  <p:embed/>
                </p:oleObj>
              </mc:Choice>
              <mc:Fallback>
                <p:oleObj name="Equation" r:id="rId5" imgW="990360" imgH="39348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7733" y="1749539"/>
                        <a:ext cx="2099146" cy="8342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21972" y="259882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该公式可推广到任意载流子的体系中。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28790" y="3216894"/>
            <a:ext cx="5280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 smtClean="0"/>
              <a:t>      </a:t>
            </a:r>
            <a:r>
              <a:rPr lang="zh-CN" altLang="en-US" sz="2400" b="1" dirty="0" smtClean="0"/>
              <a:t>在半导体中，有正的载流子（空穴），和负的载流子（电子），对电流都有贡献。电流可表示为：</a:t>
            </a:r>
            <a:endParaRPr lang="zh-CN" altLang="en-US" sz="24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894473"/>
              </p:ext>
            </p:extLst>
          </p:nvPr>
        </p:nvGraphicFramePr>
        <p:xfrm>
          <a:off x="1184856" y="4889607"/>
          <a:ext cx="3172496" cy="6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"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856" y="4889607"/>
                        <a:ext cx="3172496" cy="620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671995" y="707781"/>
            <a:ext cx="5684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在体积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dirty="0" smtClean="0"/>
              <a:t>内的电子数为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435" y="1215018"/>
            <a:ext cx="4126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电量为：</a:t>
            </a:r>
            <a:r>
              <a:rPr lang="el-G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21972" y="5688613"/>
            <a:ext cx="447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电子和空穴沿相反方向做漂移运动，都对电流有贡献。</a:t>
            </a:r>
          </a:p>
        </p:txBody>
      </p:sp>
    </p:spTree>
    <p:extLst>
      <p:ext uri="{BB962C8B-B14F-4D97-AF65-F5344CB8AC3E}">
        <p14:creationId xmlns:p14="http://schemas.microsoft.com/office/powerpoint/2010/main" val="194347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6062" y="103031"/>
            <a:ext cx="1125840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检测题</a:t>
            </a:r>
            <a:r>
              <a:rPr lang="en-US" altLang="zh-CN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18.3 </a:t>
            </a:r>
          </a:p>
          <a:p>
            <a:pPr>
              <a:lnSpc>
                <a:spcPct val="125000"/>
              </a:lnSpc>
            </a:pPr>
            <a:r>
              <a:rPr lang="zh-CN" altLang="en-US" sz="2800" dirty="0" smtClean="0"/>
              <a:t>        </a:t>
            </a:r>
            <a:r>
              <a:rPr lang="zh-CN" altLang="en-US" sz="2800" b="1" dirty="0" smtClean="0"/>
              <a:t>两条不同直径的铜导线，载有同样大小的电流。试比较这两种导线内传导电子的漂移速率的大小。</a:t>
            </a:r>
            <a:endParaRPr lang="zh-CN" altLang="en-US" sz="2800" b="1" dirty="0"/>
          </a:p>
        </p:txBody>
      </p:sp>
      <p:grpSp>
        <p:nvGrpSpPr>
          <p:cNvPr id="13" name="组合 12"/>
          <p:cNvGrpSpPr/>
          <p:nvPr/>
        </p:nvGrpSpPr>
        <p:grpSpPr>
          <a:xfrm>
            <a:off x="2239297" y="2212769"/>
            <a:ext cx="4056079" cy="925273"/>
            <a:chOff x="5837823" y="1310401"/>
            <a:chExt cx="4056079" cy="925273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4387749"/>
                </p:ext>
              </p:extLst>
            </p:nvPr>
          </p:nvGraphicFramePr>
          <p:xfrm>
            <a:off x="5837823" y="1366700"/>
            <a:ext cx="2099146" cy="834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4" name="Equation" r:id="rId4" imgW="990360" imgH="393480" progId="Equation.DSMT4">
                    <p:embed/>
                  </p:oleObj>
                </mc:Choice>
                <mc:Fallback>
                  <p:oleObj name="Equation" r:id="rId4" imgW="990360" imgH="3934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7823" y="1366700"/>
                          <a:ext cx="2099146" cy="8342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9"/>
            <p:cNvGrpSpPr/>
            <p:nvPr/>
          </p:nvGrpSpPr>
          <p:grpSpPr>
            <a:xfrm>
              <a:off x="7936969" y="1310401"/>
              <a:ext cx="1956933" cy="925273"/>
              <a:chOff x="7936969" y="1310401"/>
              <a:chExt cx="1956933" cy="925273"/>
            </a:xfrm>
          </p:grpSpPr>
          <p:sp>
            <p:nvSpPr>
              <p:cNvPr id="2" name="右箭头 1"/>
              <p:cNvSpPr/>
              <p:nvPr/>
            </p:nvSpPr>
            <p:spPr>
              <a:xfrm>
                <a:off x="7936969" y="1586687"/>
                <a:ext cx="386366" cy="471732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8" name="对象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1433195"/>
                  </p:ext>
                </p:extLst>
              </p:nvPr>
            </p:nvGraphicFramePr>
            <p:xfrm>
              <a:off x="8461051" y="1310401"/>
              <a:ext cx="1432851" cy="925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35" name="Equation" r:id="rId6" imgW="609480" imgH="393480" progId="Equation.DSMT4">
                      <p:embed/>
                    </p:oleObj>
                  </mc:Choice>
                  <mc:Fallback>
                    <p:oleObj name="Equation" r:id="rId6" imgW="609480" imgH="39348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61051" y="1310401"/>
                            <a:ext cx="1432851" cy="92527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矩形 2"/>
          <p:cNvSpPr/>
          <p:nvPr/>
        </p:nvSpPr>
        <p:spPr>
          <a:xfrm>
            <a:off x="866449" y="3543419"/>
            <a:ext cx="10251142" cy="2245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长度一定的细导线比粗导线中含有较少的传导电子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这是因为两种导线中单位体积的传导电子数是一样的，但是细导线的横截面积较小因而体积较小。要在传导电子较少的情况下形成同样的电流，电子就必须运动得快一点（平均来讲）。因此细导线中的传导电子具有较大的漂移速度。</a:t>
            </a:r>
          </a:p>
        </p:txBody>
      </p:sp>
    </p:spTree>
    <p:extLst>
      <p:ext uri="{BB962C8B-B14F-4D97-AF65-F5344CB8AC3E}">
        <p14:creationId xmlns:p14="http://schemas.microsoft.com/office/powerpoint/2010/main" val="195443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73234" y="1441663"/>
            <a:ext cx="9067555" cy="2638287"/>
            <a:chOff x="208230" y="2254302"/>
            <a:chExt cx="11751398" cy="2216881"/>
          </a:xfrm>
        </p:grpSpPr>
        <p:sp>
          <p:nvSpPr>
            <p:cNvPr id="3" name="文本框 4"/>
            <p:cNvSpPr txBox="1"/>
            <p:nvPr/>
          </p:nvSpPr>
          <p:spPr>
            <a:xfrm>
              <a:off x="208230" y="2254302"/>
              <a:ext cx="11751398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800" b="1" dirty="0" smtClean="0"/>
                <a:t>当打开一盏灯时，电流几乎立即流过灯泡，而不需要等待电子从开关流到灯泡。</a:t>
              </a:r>
              <a:endParaRPr lang="zh-CN" altLang="en-US" sz="2800" b="1" dirty="0"/>
            </a:p>
          </p:txBody>
        </p:sp>
        <p:sp>
          <p:nvSpPr>
            <p:cNvPr id="4" name="文本框 4"/>
            <p:cNvSpPr txBox="1"/>
            <p:nvPr/>
          </p:nvSpPr>
          <p:spPr>
            <a:xfrm>
              <a:off x="220591" y="3301632"/>
              <a:ext cx="1151371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800" b="1" dirty="0" smtClean="0"/>
                <a:t>因为传导电子在电路中的所有导线内都存在。只要开关闭合，电场就能很快传递到整个电路中，只要电场不为零，电子就开始做漂移运动。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255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/>
        </p:nvSpPr>
        <p:spPr>
          <a:xfrm>
            <a:off x="468398" y="535458"/>
            <a:ext cx="118559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家居电路中电子的漂移速率</a:t>
            </a:r>
            <a:endParaRPr lang="en-US" altLang="zh-CN" sz="2800" b="1" dirty="0" smtClean="0">
              <a:solidFill>
                <a:srgbClr val="000099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b="1" dirty="0" smtClean="0"/>
              <a:t>在家居电路中普遍应用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800" b="1" dirty="0" smtClean="0"/>
              <a:t>号铜导线，其直径为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2.053 mm</a:t>
            </a:r>
            <a:r>
              <a:rPr lang="zh-CN" altLang="en-US" sz="2800" b="1" dirty="0" smtClean="0"/>
              <a:t>。铜中每立方米有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8.00×10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CN" altLang="en-US" sz="2800" b="1" dirty="0" smtClean="0"/>
              <a:t>个传导电子。如果电线中流过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5.00 A</a:t>
            </a:r>
            <a:r>
              <a:rPr lang="zh-CN" altLang="en-US" sz="2800" b="1" dirty="0" smtClean="0"/>
              <a:t>的恒定直流电流，电子的漂移速率是多少？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460964"/>
              </p:ext>
            </p:extLst>
          </p:nvPr>
        </p:nvGraphicFramePr>
        <p:xfrm>
          <a:off x="1697505" y="2962543"/>
          <a:ext cx="43862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3" imgW="1866600" imgH="228600" progId="Equation.DSMT4">
                  <p:embed/>
                </p:oleObj>
              </mc:Choice>
              <mc:Fallback>
                <p:oleObj name="Equation" r:id="rId3" imgW="186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505" y="2962543"/>
                        <a:ext cx="4386263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02368" y="4102768"/>
            <a:ext cx="10130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电子以如此小的速度运动，如何让导线中流过如</a:t>
            </a:r>
            <a:r>
              <a:rPr lang="en-US" altLang="zh-CN" sz="2400" b="1" dirty="0" smtClean="0"/>
              <a:t>5C/s</a:t>
            </a:r>
            <a:r>
              <a:rPr lang="zh-CN" altLang="en-US" sz="2400" b="1" dirty="0" smtClean="0"/>
              <a:t>这样可观的电流呢？</a:t>
            </a:r>
            <a:endParaRPr lang="zh-CN" alt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423049" y="5047231"/>
            <a:ext cx="5350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导线中有数量巨大的传导电子。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91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53620" y="1292635"/>
            <a:ext cx="9028762" cy="4361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两根铜线，一根直径是另一根直径的两倍，流过它们的电流相同。如果较细的导线有漂移速度</a:t>
            </a:r>
            <a:r>
              <a:rPr lang="en-US" altLang="zh-CN" sz="2800" b="1" dirty="0"/>
              <a:t>v1</a:t>
            </a:r>
            <a:r>
              <a:rPr lang="zh-CN" altLang="en-US" sz="2800" b="1" dirty="0"/>
              <a:t>，而较粗的导线有漂移速度</a:t>
            </a:r>
            <a:r>
              <a:rPr lang="en-US" altLang="zh-CN" sz="2800" b="1" dirty="0"/>
              <a:t>v2</a:t>
            </a:r>
            <a:r>
              <a:rPr lang="zh-CN" altLang="en-US" sz="2800" b="1" dirty="0"/>
              <a:t>，电荷载流子的漂移速度如何比较？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A.  v1 = v2 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B.  v1 = 2 v2 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C.  2 v1 = v2 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D.  v1 = 4 v2 </a:t>
            </a: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E.  4 v1 = v2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306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409865"/>
              </p:ext>
            </p:extLst>
          </p:nvPr>
        </p:nvGraphicFramePr>
        <p:xfrm>
          <a:off x="7521504" y="3788906"/>
          <a:ext cx="1432851" cy="925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7" name="Equation" r:id="rId4" imgW="609480" imgH="393480" progId="Equation.DSMT4">
                  <p:embed/>
                </p:oleObj>
              </mc:Choice>
              <mc:Fallback>
                <p:oleObj name="Equation" r:id="rId4" imgW="609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504" y="3788906"/>
                        <a:ext cx="1432851" cy="9252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126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20130" y="680720"/>
            <a:ext cx="1164487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两根铜线，一根直径是另一根直径的两倍，流过它们的电流相同。如果较细的导线有漂移速度</a:t>
            </a:r>
            <a:r>
              <a:rPr lang="en-US" altLang="zh-CN" sz="2400" b="1" dirty="0"/>
              <a:t>v1</a:t>
            </a:r>
            <a:r>
              <a:rPr lang="zh-CN" altLang="en-US" sz="2400" b="1" dirty="0"/>
              <a:t>，而较粗的导线有漂移速度</a:t>
            </a:r>
            <a:r>
              <a:rPr lang="en-US" altLang="zh-CN" sz="2400" b="1" dirty="0"/>
              <a:t>v2</a:t>
            </a:r>
            <a:r>
              <a:rPr lang="zh-CN" altLang="en-US" sz="2400" b="1" dirty="0"/>
              <a:t>，电荷载流子的漂移速度如何比较？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v1 = v2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v1 = 2 v2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/>
              <a:t>2 v1 = v2 </a:t>
            </a: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v1 = 4 v2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4 v1 = v2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476210"/>
              </p:ext>
            </p:extLst>
          </p:nvPr>
        </p:nvGraphicFramePr>
        <p:xfrm>
          <a:off x="7150802" y="2741951"/>
          <a:ext cx="1432851" cy="925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22" imgW="609480" imgH="393480" progId="Equation.DSMT4">
                  <p:embed/>
                </p:oleObj>
              </mc:Choice>
              <mc:Fallback>
                <p:oleObj name="Equation" r:id="rId22" imgW="60948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802" y="2741951"/>
                        <a:ext cx="1432851" cy="9252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96923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8166" y="2396405"/>
            <a:ext cx="7414054" cy="1624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smtClean="0">
                <a:latin typeface="+mn-ea"/>
              </a:rPr>
              <a:t>作业</a:t>
            </a:r>
            <a:r>
              <a:rPr lang="en-US" altLang="zh-CN" sz="3600" b="1" dirty="0" smtClean="0">
                <a:latin typeface="+mn-ea"/>
              </a:rPr>
              <a:t>1</a:t>
            </a:r>
            <a:r>
              <a:rPr lang="zh-CN" altLang="en-US" sz="3600" b="1" dirty="0" smtClean="0">
                <a:latin typeface="+mn-ea"/>
              </a:rPr>
              <a:t>：</a:t>
            </a:r>
            <a:r>
              <a:rPr lang="en-US" altLang="zh-CN" sz="3600" b="1" dirty="0" smtClean="0">
                <a:latin typeface="+mn-ea"/>
              </a:rPr>
              <a:t>94</a:t>
            </a:r>
            <a:r>
              <a:rPr lang="zh-CN" altLang="en-US" sz="3600" b="1" smtClean="0">
                <a:latin typeface="+mn-ea"/>
              </a:rPr>
              <a:t>页，</a:t>
            </a:r>
            <a:endParaRPr lang="en-US" altLang="zh-CN" sz="3600" b="1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smtClean="0">
                <a:latin typeface="+mn-ea"/>
              </a:rPr>
              <a:t>计算</a:t>
            </a:r>
            <a:r>
              <a:rPr lang="zh-CN" altLang="en-US" sz="3600" b="1" dirty="0" smtClean="0">
                <a:latin typeface="+mn-ea"/>
              </a:rPr>
              <a:t>题</a:t>
            </a:r>
            <a:r>
              <a:rPr lang="en-US" altLang="zh-CN" sz="3600" b="1" dirty="0" smtClean="0">
                <a:latin typeface="+mn-ea"/>
              </a:rPr>
              <a:t>1</a:t>
            </a:r>
            <a:r>
              <a:rPr lang="zh-CN" altLang="en-US" sz="3600" b="1" dirty="0" smtClean="0">
                <a:latin typeface="+mn-ea"/>
              </a:rPr>
              <a:t>、</a:t>
            </a:r>
            <a:r>
              <a:rPr lang="en-US" altLang="zh-CN" sz="3600" b="1" dirty="0" smtClean="0">
                <a:latin typeface="+mn-ea"/>
              </a:rPr>
              <a:t>2</a:t>
            </a:r>
            <a:r>
              <a:rPr lang="zh-CN" altLang="en-US" sz="3600" b="1" smtClean="0">
                <a:latin typeface="+mn-ea"/>
              </a:rPr>
              <a:t>、</a:t>
            </a:r>
            <a:r>
              <a:rPr lang="en-US" altLang="zh-CN" sz="3600" b="1" smtClean="0">
                <a:latin typeface="+mn-ea"/>
              </a:rPr>
              <a:t>3</a:t>
            </a:r>
            <a:r>
              <a:rPr lang="zh-CN" altLang="en-US" sz="3600" b="1" smtClean="0">
                <a:latin typeface="+mn-ea"/>
              </a:rPr>
              <a:t>、</a:t>
            </a:r>
            <a:r>
              <a:rPr lang="en-US" altLang="zh-CN" sz="3600" b="1" smtClean="0">
                <a:latin typeface="+mn-ea"/>
              </a:rPr>
              <a:t>5</a:t>
            </a:r>
            <a:r>
              <a:rPr lang="zh-CN" altLang="en-US" sz="3600" b="1" smtClean="0">
                <a:latin typeface="+mn-ea"/>
              </a:rPr>
              <a:t>、</a:t>
            </a:r>
            <a:r>
              <a:rPr lang="en-US" altLang="zh-CN" sz="3600" b="1" smtClean="0">
                <a:latin typeface="+mn-ea"/>
              </a:rPr>
              <a:t>6</a:t>
            </a:r>
            <a:r>
              <a:rPr lang="zh-CN" altLang="en-US" sz="3600" b="1" smtClean="0">
                <a:latin typeface="+mn-ea"/>
              </a:rPr>
              <a:t>、</a:t>
            </a:r>
            <a:r>
              <a:rPr lang="en-US" altLang="zh-CN" sz="3600" b="1" smtClean="0">
                <a:latin typeface="+mn-ea"/>
              </a:rPr>
              <a:t>8</a:t>
            </a:r>
            <a:r>
              <a:rPr lang="zh-CN" altLang="en-US" sz="3600" b="1" smtClean="0">
                <a:latin typeface="+mn-ea"/>
              </a:rPr>
              <a:t>。</a:t>
            </a:r>
            <a:endParaRPr lang="zh-CN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778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</TotalTime>
  <Words>3031</Words>
  <Application>Microsoft Office PowerPoint</Application>
  <PresentationFormat>宽屏</PresentationFormat>
  <Paragraphs>250</Paragraphs>
  <Slides>34</Slides>
  <Notes>21</Notes>
  <HiddenSlides>8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Microsoft Yahei</vt:lpstr>
      <vt:lpstr>SimHei</vt:lpstr>
      <vt:lpstr>SimHei</vt:lpstr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Www.SangSan.Cn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桑三博客</dc:creator>
  <cp:lastModifiedBy>hsl</cp:lastModifiedBy>
  <cp:revision>142</cp:revision>
  <dcterms:created xsi:type="dcterms:W3CDTF">2017-10-22T09:48:47Z</dcterms:created>
  <dcterms:modified xsi:type="dcterms:W3CDTF">2021-05-10T15:04:02Z</dcterms:modified>
</cp:coreProperties>
</file>