
<file path=[Content_Types].xml><?xml version="1.0" encoding="utf-8"?>
<Types xmlns="http://schemas.openxmlformats.org/package/2006/content-types">
  <Default Extension="png" ContentType="image/png"/>
  <Default Extension="tmp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3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8" r:id="rId2"/>
    <p:sldId id="265" r:id="rId3"/>
    <p:sldId id="259" r:id="rId4"/>
    <p:sldId id="269" r:id="rId5"/>
    <p:sldId id="274" r:id="rId6"/>
    <p:sldId id="271" r:id="rId7"/>
    <p:sldId id="275" r:id="rId8"/>
    <p:sldId id="267" r:id="rId9"/>
    <p:sldId id="260" r:id="rId10"/>
    <p:sldId id="266" r:id="rId11"/>
    <p:sldId id="270" r:id="rId12"/>
    <p:sldId id="268" r:id="rId13"/>
    <p:sldId id="272" r:id="rId14"/>
    <p:sldId id="261" r:id="rId15"/>
    <p:sldId id="273" r:id="rId16"/>
    <p:sldId id="276" r:id="rId17"/>
    <p:sldId id="262" r:id="rId18"/>
    <p:sldId id="263" r:id="rId19"/>
    <p:sldId id="264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236" autoAdjust="0"/>
  </p:normalViewPr>
  <p:slideViewPr>
    <p:cSldViewPr snapToGrid="0">
      <p:cViewPr varScale="1">
        <p:scale>
          <a:sx n="82" d="100"/>
          <a:sy n="82" d="100"/>
        </p:scale>
        <p:origin x="86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A8BD25-5BB0-4970-9BC8-A867E97BBE06}" type="datetimeFigureOut">
              <a:rPr lang="zh-CN" altLang="en-US" smtClean="0"/>
              <a:t>2021/6/6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C87C1-8720-44BC-97C4-3E56FDE221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5846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就像在计算连续分布电荷的电场强度时，先任其一电荷元</a:t>
            </a:r>
            <a:r>
              <a:rPr lang="en-US" altLang="zh-CN" dirty="0" err="1" smtClean="0"/>
              <a:t>dq</a:t>
            </a:r>
            <a:r>
              <a:rPr lang="en-US" altLang="zh-CN" dirty="0" smtClean="0"/>
              <a:t>,</a:t>
            </a:r>
            <a:r>
              <a:rPr lang="zh-CN" altLang="en-US" dirty="0" smtClean="0"/>
              <a:t>利用库伦定律计算出</a:t>
            </a:r>
            <a:r>
              <a:rPr lang="en-US" altLang="zh-CN" dirty="0" err="1" smtClean="0"/>
              <a:t>dq</a:t>
            </a:r>
            <a:r>
              <a:rPr lang="zh-CN" altLang="en-US" dirty="0" smtClean="0"/>
              <a:t>在所求场点所激发的电场强度</a:t>
            </a:r>
            <a:r>
              <a:rPr lang="en-US" altLang="zh-CN" dirty="0" err="1" smtClean="0"/>
              <a:t>dE</a:t>
            </a:r>
            <a:r>
              <a:rPr lang="en-US" altLang="zh-CN" dirty="0" smtClean="0"/>
              <a:t>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128CFD-7335-44BD-B655-36BF9E83131A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9355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b="1" smtClean="0"/>
              <a:t>答案：</a:t>
            </a:r>
            <a:r>
              <a:rPr lang="en-US" altLang="zh-CN" sz="1200" b="1" smtClean="0"/>
              <a:t>A</a:t>
            </a:r>
            <a:endParaRPr lang="zh-CN" altLang="zh-CN" sz="1200" b="1" smtClean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C87C1-8720-44BC-97C4-3E56FDE2211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78755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/>
              <a:t>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C87C1-8720-44BC-97C4-3E56FDE2211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4571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mtClean="0"/>
              <a:t>答案：</a:t>
            </a:r>
            <a:r>
              <a:rPr lang="en-US" altLang="zh-CN" smtClean="0"/>
              <a:t>C</a:t>
            </a:r>
            <a:endParaRPr lang="zh-CN" altLang="zh-CN" smtClean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C87C1-8720-44BC-97C4-3E56FDE2211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4303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smtClean="0"/>
              <a:t>答案：</a:t>
            </a:r>
            <a:r>
              <a:rPr lang="en-US" altLang="zh-CN" sz="1200" smtClean="0"/>
              <a:t>A</a:t>
            </a:r>
            <a:endParaRPr lang="zh-CN" altLang="zh-CN" sz="1200" smtClean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C87C1-8720-44BC-97C4-3E56FDE22118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43032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C87C1-8720-44BC-97C4-3E56FDE22118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89574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螺线管为“无限长”，亦即螺线管的长度较其直径打得多时。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C87C1-8720-44BC-97C4-3E56FDE22118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35252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核磁共振是磁矩不为零的原子核，在外磁场作用下自旋能级发生塞曼分裂，共振吸收某一定频率的射频辐射的物理过程。核磁共振波谱学是光谱学的一个分支，其共振频率在射频波段，相应的跃迁是核自旋在核塞曼能级上的跃迁。</a:t>
            </a:r>
            <a:endParaRPr lang="en-US" altLang="zh-CN" dirty="0" smtClean="0"/>
          </a:p>
          <a:p>
            <a:r>
              <a:rPr lang="en-US" altLang="zh-CN" dirty="0" smtClean="0"/>
              <a:t>I</a:t>
            </a:r>
            <a:r>
              <a:rPr lang="zh-CN" altLang="en-US" dirty="0" smtClean="0"/>
              <a:t>值为零的原子核可以看做是一种非自旋的球体，</a:t>
            </a:r>
            <a:r>
              <a:rPr lang="en-US" altLang="zh-CN" dirty="0" smtClean="0"/>
              <a:t>I</a:t>
            </a:r>
            <a:r>
              <a:rPr lang="zh-CN" altLang="en-US" dirty="0" smtClean="0"/>
              <a:t>为</a:t>
            </a:r>
            <a:r>
              <a:rPr lang="en-US" altLang="zh-CN" dirty="0" smtClean="0"/>
              <a:t>1/2</a:t>
            </a:r>
            <a:r>
              <a:rPr lang="zh-CN" altLang="en-US" dirty="0" smtClean="0"/>
              <a:t>的原子核可以看做是一种电荷分 布均匀的自旋球体，</a:t>
            </a:r>
            <a:r>
              <a:rPr lang="en-US" altLang="zh-CN" dirty="0" smtClean="0"/>
              <a:t>1H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13C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15N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19F</a:t>
            </a:r>
            <a:r>
              <a:rPr lang="zh-CN" altLang="en-US" dirty="0" smtClean="0"/>
              <a:t>，</a:t>
            </a:r>
            <a:r>
              <a:rPr lang="en-US" altLang="zh-CN" dirty="0" smtClean="0"/>
              <a:t>31P</a:t>
            </a:r>
            <a:r>
              <a:rPr lang="zh-CN" altLang="en-US" dirty="0" smtClean="0"/>
              <a:t>的</a:t>
            </a:r>
            <a:r>
              <a:rPr lang="en-US" altLang="zh-CN" dirty="0" smtClean="0"/>
              <a:t>I</a:t>
            </a:r>
            <a:r>
              <a:rPr lang="zh-CN" altLang="en-US" dirty="0" smtClean="0"/>
              <a:t>均为</a:t>
            </a:r>
            <a:r>
              <a:rPr lang="en-US" altLang="zh-CN" dirty="0" smtClean="0"/>
              <a:t>1/2</a:t>
            </a:r>
            <a:r>
              <a:rPr lang="zh-CN" altLang="en-US" dirty="0" smtClean="0"/>
              <a:t>，它们的原子核皆为电荷分布均匀的自旋 球体。</a:t>
            </a:r>
            <a:r>
              <a:rPr lang="en-US" altLang="zh-CN" dirty="0" smtClean="0"/>
              <a:t>I</a:t>
            </a:r>
            <a:r>
              <a:rPr lang="zh-CN" altLang="en-US" dirty="0" smtClean="0"/>
              <a:t>大于</a:t>
            </a:r>
            <a:r>
              <a:rPr lang="en-US" altLang="zh-CN" dirty="0" smtClean="0"/>
              <a:t>1/2</a:t>
            </a:r>
            <a:r>
              <a:rPr lang="zh-CN" altLang="en-US" dirty="0" smtClean="0"/>
              <a:t>的原子核可以看做是一种电荷分布不均匀的自旋椭球体。 </a:t>
            </a:r>
            <a:r>
              <a:rPr lang="en-US" altLang="zh-CN" dirty="0" smtClean="0"/>
              <a:t>[2]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128CFD-7335-44BD-B655-36BF9E83131A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3349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0887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6785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0350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2021/6/6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0859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2021/6/6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7364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2021/6/6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605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2021/6/6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6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2021/6/6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4760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2021/6/6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4555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1843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170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89F43E-6A00-409D-9E79-CE23F37409A4}" type="datetimeFigureOut">
              <a:rPr lang="zh-CN" altLang="en-US" smtClean="0"/>
              <a:pPr/>
              <a:t>2021/6/6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5830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5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tags" Target="../tags/tag35.xml"/><Relationship Id="rId3" Type="http://schemas.openxmlformats.org/officeDocument/2006/relationships/tags" Target="../tags/tag20.xml"/><Relationship Id="rId21" Type="http://schemas.openxmlformats.org/officeDocument/2006/relationships/image" Target="../media/image5.tmp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20" Type="http://schemas.openxmlformats.org/officeDocument/2006/relationships/slideLayout" Target="../slideLayouts/slideLayout7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tags" Target="../tags/tag36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8.jpeg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9.wmf"/><Relationship Id="rId11" Type="http://schemas.openxmlformats.org/officeDocument/2006/relationships/image" Target="../media/image13.pn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11.wmf"/><Relationship Id="rId4" Type="http://schemas.openxmlformats.org/officeDocument/2006/relationships/image" Target="../media/image12.png"/><Relationship Id="rId9" Type="http://schemas.openxmlformats.org/officeDocument/2006/relationships/oleObject" Target="../embeddings/oleObject3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4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6.png"/><Relationship Id="rId4" Type="http://schemas.openxmlformats.org/officeDocument/2006/relationships/image" Target="../media/image6.png"/><Relationship Id="rId9" Type="http://schemas.openxmlformats.org/officeDocument/2006/relationships/image" Target="../media/image14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image" Target="../media/image18.png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7.wmf"/><Relationship Id="rId4" Type="http://schemas.openxmlformats.org/officeDocument/2006/relationships/image" Target="../media/image19.png"/><Relationship Id="rId9" Type="http://schemas.openxmlformats.org/officeDocument/2006/relationships/oleObject" Target="../embeddings/oleObject9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13" Type="http://schemas.openxmlformats.org/officeDocument/2006/relationships/tags" Target="../tags/tag49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9.xml"/><Relationship Id="rId7" Type="http://schemas.openxmlformats.org/officeDocument/2006/relationships/tags" Target="../tags/tag43.xml"/><Relationship Id="rId12" Type="http://schemas.openxmlformats.org/officeDocument/2006/relationships/tags" Target="../tags/tag48.xml"/><Relationship Id="rId17" Type="http://schemas.openxmlformats.org/officeDocument/2006/relationships/tags" Target="../tags/tag53.xml"/><Relationship Id="rId2" Type="http://schemas.openxmlformats.org/officeDocument/2006/relationships/tags" Target="../tags/tag38.xml"/><Relationship Id="rId16" Type="http://schemas.openxmlformats.org/officeDocument/2006/relationships/tags" Target="../tags/tag52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tags" Target="../tags/tag47.xml"/><Relationship Id="rId5" Type="http://schemas.openxmlformats.org/officeDocument/2006/relationships/tags" Target="../tags/tag41.xml"/><Relationship Id="rId15" Type="http://schemas.openxmlformats.org/officeDocument/2006/relationships/tags" Target="../tags/tag51.xml"/><Relationship Id="rId10" Type="http://schemas.openxmlformats.org/officeDocument/2006/relationships/tags" Target="../tags/tag46.xml"/><Relationship Id="rId19" Type="http://schemas.openxmlformats.org/officeDocument/2006/relationships/image" Target="../media/image5.tmp"/><Relationship Id="rId4" Type="http://schemas.openxmlformats.org/officeDocument/2006/relationships/tags" Target="../tags/tag40.xml"/><Relationship Id="rId9" Type="http://schemas.openxmlformats.org/officeDocument/2006/relationships/tags" Target="../tags/tag45.xml"/><Relationship Id="rId14" Type="http://schemas.openxmlformats.org/officeDocument/2006/relationships/tags" Target="../tags/tag5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55573" y="409020"/>
            <a:ext cx="469872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762000">
              <a:spcBef>
                <a:spcPts val="1400"/>
              </a:spcBef>
              <a:defRPr sz="1800"/>
            </a:pPr>
            <a:r>
              <a:rPr lang="en-US" altLang="zh-CN" sz="3200" b="1" dirty="0">
                <a:latin typeface="SimHei"/>
                <a:ea typeface="SimHei"/>
                <a:cs typeface="SimHei"/>
                <a:sym typeface="SimHei"/>
              </a:rPr>
              <a:t>§19.8  </a:t>
            </a:r>
            <a:r>
              <a:rPr lang="zh-CN" altLang="en-US" sz="3200" b="1" dirty="0">
                <a:latin typeface="SimHei"/>
                <a:ea typeface="SimHei"/>
                <a:cs typeface="SimHei"/>
                <a:sym typeface="SimHei"/>
              </a:rPr>
              <a:t>电流激发的磁场</a:t>
            </a:r>
            <a:endParaRPr lang="en-US" altLang="zh-CN" sz="3200" b="1" dirty="0">
              <a:latin typeface="SimHei"/>
              <a:ea typeface="SimHei"/>
              <a:cs typeface="SimHei"/>
              <a:sym typeface="SimHei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10950" y="1795620"/>
            <a:ext cx="7859844" cy="26038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000099"/>
                </a:solidFill>
              </a:rPr>
              <a:t>电荷激发电场、磁场总结：</a:t>
            </a:r>
            <a:endParaRPr lang="en-US" altLang="zh-CN" sz="2800" b="1" dirty="0" smtClean="0">
              <a:solidFill>
                <a:srgbClr val="000099"/>
              </a:solidFill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b="1" dirty="0" smtClean="0"/>
              <a:t>运动电荷受到磁力并激发磁场；</a:t>
            </a:r>
            <a:endParaRPr lang="en-US" altLang="zh-CN" sz="2800" b="1" dirty="0" smtClean="0"/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b="1" dirty="0" smtClean="0"/>
              <a:t>静止电荷不受磁力，且不激发磁场；</a:t>
            </a:r>
            <a:endParaRPr lang="en-US" altLang="zh-CN" sz="2800" b="1" dirty="0" smtClean="0"/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b="1" dirty="0" smtClean="0"/>
              <a:t>电荷受到电场力并激发电场，无论运动与否。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04855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/>
          <p:cNvSpPr txBox="1"/>
          <p:nvPr/>
        </p:nvSpPr>
        <p:spPr>
          <a:xfrm>
            <a:off x="423889" y="193370"/>
            <a:ext cx="3430747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b="1" dirty="0" smtClean="0"/>
              <a:t>1. </a:t>
            </a:r>
            <a:r>
              <a:rPr lang="zh-CN" altLang="en-US" sz="2800" b="1" dirty="0" smtClean="0"/>
              <a:t>长直导线的磁场：</a:t>
            </a:r>
            <a:endParaRPr lang="en-US" altLang="zh-CN" sz="2800" b="1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7706573" y="307565"/>
            <a:ext cx="43711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第</a:t>
            </a:r>
            <a:r>
              <a:rPr lang="en-US" altLang="zh-CN" sz="2000" b="1" dirty="0" smtClean="0"/>
              <a:t>125</a:t>
            </a:r>
            <a:r>
              <a:rPr lang="zh-CN" altLang="en-US" sz="2000" b="1" dirty="0" smtClean="0"/>
              <a:t>页用右手螺旋法则确定长直导线的磁场方向。</a:t>
            </a:r>
            <a:endParaRPr lang="zh-CN" altLang="en-US" sz="2000" b="1" dirty="0"/>
          </a:p>
        </p:txBody>
      </p:sp>
      <p:pic>
        <p:nvPicPr>
          <p:cNvPr id="4" name="Picture 3" descr="gia12141_19_35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955"/>
          <a:stretch/>
        </p:blipFill>
        <p:spPr bwMode="auto">
          <a:xfrm>
            <a:off x="715989" y="1108304"/>
            <a:ext cx="10510811" cy="2897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33400" y="4191000"/>
            <a:ext cx="104902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 dirty="0" smtClean="0">
                <a:solidFill>
                  <a:srgbClr val="000099"/>
                </a:solidFill>
              </a:rPr>
              <a:t>用右手螺旋法则</a:t>
            </a:r>
            <a:r>
              <a:rPr lang="en-US" altLang="zh-CN" sz="2400" b="1" dirty="0" smtClean="0">
                <a:solidFill>
                  <a:srgbClr val="000099"/>
                </a:solidFill>
              </a:rPr>
              <a:t>2</a:t>
            </a:r>
            <a:r>
              <a:rPr lang="zh-CN" altLang="en-US" sz="2400" b="1" dirty="0" smtClean="0">
                <a:solidFill>
                  <a:srgbClr val="000099"/>
                </a:solidFill>
              </a:rPr>
              <a:t>确定长直导线的磁场方向：</a:t>
            </a:r>
            <a:endParaRPr lang="en-US" altLang="zh-CN" sz="2400" b="1" dirty="0" smtClean="0">
              <a:solidFill>
                <a:srgbClr val="000099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sz="2400" b="1" dirty="0" smtClean="0"/>
              <a:t>1</a:t>
            </a:r>
            <a:r>
              <a:rPr lang="zh-CN" altLang="en-US" sz="2400" b="1" dirty="0" smtClean="0"/>
              <a:t>、将右手大拇指指向导线中的电流方向。</a:t>
            </a:r>
            <a:endParaRPr lang="en-US" altLang="zh-CN" sz="2400" b="1" dirty="0" smtClean="0"/>
          </a:p>
          <a:p>
            <a:pPr>
              <a:lnSpc>
                <a:spcPct val="125000"/>
              </a:lnSpc>
            </a:pPr>
            <a:r>
              <a:rPr lang="en-US" altLang="zh-CN" sz="2400" b="1" dirty="0" smtClean="0"/>
              <a:t>2</a:t>
            </a:r>
            <a:r>
              <a:rPr lang="zh-CN" altLang="en-US" sz="2400" b="1" dirty="0" smtClean="0"/>
              <a:t>、四指向掌心卷曲：四指卷曲的方向就是导线周围磁感应线的方向。</a:t>
            </a:r>
            <a:endParaRPr lang="en-US" altLang="zh-CN" sz="2400" b="1" dirty="0" smtClean="0"/>
          </a:p>
          <a:p>
            <a:pPr>
              <a:lnSpc>
                <a:spcPct val="125000"/>
              </a:lnSpc>
            </a:pPr>
            <a:r>
              <a:rPr lang="en-US" altLang="zh-CN" sz="2400" b="1" dirty="0" smtClean="0"/>
              <a:t>3</a:t>
            </a:r>
            <a:r>
              <a:rPr lang="zh-CN" altLang="en-US" sz="2400" b="1" dirty="0" smtClean="0"/>
              <a:t>、任何一点的磁场与通过该点的磁感应线相切。磁场是与圆形磁感应线相切，并因此垂直于来自导线的径向线。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869955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77878" y="359498"/>
            <a:ext cx="379142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b="1" dirty="0" smtClean="0">
                <a:solidFill>
                  <a:srgbClr val="FF0000"/>
                </a:solidFill>
              </a:rPr>
              <a:t>长直导线</a:t>
            </a:r>
            <a:r>
              <a:rPr lang="zh-CN" altLang="en-US" sz="2800" b="1" dirty="0" smtClean="0"/>
              <a:t>产生的磁场：</a:t>
            </a:r>
            <a:endParaRPr lang="en-US" altLang="zh-CN" sz="2800" b="1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7397" y="274919"/>
            <a:ext cx="1727200" cy="80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527382" y="918607"/>
            <a:ext cx="3357009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l-GR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dirty="0" smtClean="0"/>
              <a:t>为真空的磁导率。</a:t>
            </a:r>
            <a:endParaRPr lang="zh-CN" altLang="en-US" sz="28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823"/>
          <a:stretch/>
        </p:blipFill>
        <p:spPr bwMode="auto">
          <a:xfrm>
            <a:off x="4847862" y="1182292"/>
            <a:ext cx="3936437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487488" y="1865883"/>
            <a:ext cx="5119968" cy="3937191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561826" y="5733257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图</a:t>
            </a:r>
            <a:r>
              <a:rPr lang="en-US" altLang="zh-CN" sz="2400" dirty="0" smtClean="0"/>
              <a:t>19.34 </a:t>
            </a:r>
            <a:r>
              <a:rPr lang="zh-CN" altLang="en-US" sz="2400" dirty="0" smtClean="0"/>
              <a:t>两条平行</a:t>
            </a:r>
            <a:endParaRPr lang="en-US" altLang="zh-CN" sz="2400" dirty="0" smtClean="0"/>
          </a:p>
          <a:p>
            <a:r>
              <a:rPr lang="zh-CN" altLang="en-US" sz="2400" dirty="0" smtClean="0"/>
              <a:t>导线彼此施加磁力</a:t>
            </a:r>
            <a:endParaRPr lang="zh-CN" altLang="en-US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7001977" y="524599"/>
            <a:ext cx="43137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</a:rPr>
              <a:t>可认为是 “无限长”载流直导线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256779" y="3751383"/>
            <a:ext cx="463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作用力与反作用力，</a:t>
            </a:r>
            <a:r>
              <a:rPr lang="en-US" altLang="zh-CN" sz="2400" b="1" dirty="0" smtClean="0"/>
              <a:t>F12=-F21</a:t>
            </a:r>
            <a:endParaRPr lang="zh-CN" altLang="en-US" sz="24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6326474" y="4902260"/>
            <a:ext cx="55686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载</a:t>
            </a:r>
            <a:r>
              <a:rPr lang="zh-CN" altLang="en-US" sz="2400" b="1" dirty="0" smtClean="0"/>
              <a:t>流导线，同向电流彼此相互吸引，反向电流彼此相互排斥。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896789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382038" y="1399101"/>
            <a:ext cx="9240034" cy="3250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800" b="1" dirty="0"/>
              <a:t>通以反向不等电流的两条平行导线相互施加的磁力为（</a:t>
            </a:r>
            <a:r>
              <a:rPr lang="en-US" altLang="zh-CN" sz="2800" b="1" dirty="0"/>
              <a:t>  </a:t>
            </a:r>
            <a:r>
              <a:rPr lang="zh-CN" altLang="zh-CN" sz="2800" b="1" dirty="0"/>
              <a:t>）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/>
              <a:t>A</a:t>
            </a:r>
            <a:r>
              <a:rPr lang="zh-CN" altLang="zh-CN" sz="2800" b="1" dirty="0"/>
              <a:t>．排斥力且大小相等。  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/>
              <a:t>B</a:t>
            </a:r>
            <a:r>
              <a:rPr lang="zh-CN" altLang="zh-CN" sz="2800" b="1" dirty="0"/>
              <a:t>．吸引力且大小不等。  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/>
              <a:t>C</a:t>
            </a:r>
            <a:r>
              <a:rPr lang="zh-CN" altLang="zh-CN" sz="2800" b="1" dirty="0"/>
              <a:t>．排斥力且大小不等。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/>
              <a:t>D</a:t>
            </a:r>
            <a:r>
              <a:rPr lang="zh-CN" altLang="zh-CN" sz="2800" b="1" dirty="0"/>
              <a:t>．吸引力且大小相等</a:t>
            </a:r>
            <a:r>
              <a:rPr lang="zh-CN" altLang="zh-CN" sz="2800" b="1" dirty="0" smtClean="0"/>
              <a:t>。</a:t>
            </a:r>
            <a:endParaRPr lang="zh-CN" altLang="zh-CN" sz="28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663881" y="385103"/>
            <a:ext cx="31565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rgbClr val="000099"/>
                </a:solidFill>
              </a:rPr>
              <a:t>单项选择题：</a:t>
            </a:r>
            <a:endParaRPr lang="zh-CN" altLang="en-US" sz="3200" b="1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60204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zh-CN" sz="2800" b="1" dirty="0"/>
              <a:t>通以反向不等电流的两条平行导线相互施加的磁力为（</a:t>
            </a:r>
            <a:r>
              <a:rPr lang="en-US" altLang="zh-CN" sz="2800" b="1" dirty="0"/>
              <a:t>  </a:t>
            </a:r>
            <a:r>
              <a:rPr lang="zh-CN" altLang="zh-CN" sz="2800" b="1" dirty="0"/>
              <a:t>）</a:t>
            </a:r>
            <a:endParaRPr lang="zh-CN" altLang="zh-CN" sz="2800" b="1" dirty="0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399204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b="1" dirty="0"/>
              <a:t>排斥力且大小相等。  </a:t>
            </a:r>
            <a:endParaRPr lang="zh-CN" altLang="zh-CN" sz="2400" b="1" dirty="0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256454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b="1" dirty="0"/>
              <a:t>吸引力且大小不等。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113704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b="1" dirty="0"/>
              <a:t>排斥力且大小不等。</a:t>
            </a:r>
            <a:endParaRPr lang="zh-CN" altLang="zh-CN" sz="2400" b="1" dirty="0"/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4970954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b="1" dirty="0"/>
              <a:t>吸引力且大小相等。</a:t>
            </a:r>
            <a:endParaRPr lang="zh-CN" altLang="zh-CN" sz="2400" b="1" dirty="0"/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463497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320747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177997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035247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87835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6351" y="303341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solidFill>
                  <a:srgbClr val="000099"/>
                </a:solidFill>
              </a:rPr>
              <a:t>单项选择题</a:t>
            </a:r>
            <a:r>
              <a:rPr lang="zh-CN" altLang="en-US" sz="3600" b="1" dirty="0" smtClean="0">
                <a:solidFill>
                  <a:srgbClr val="000099"/>
                </a:solidFill>
              </a:rPr>
              <a:t>：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26990" y="165263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两条长直电线各携带</a:t>
            </a:r>
            <a:r>
              <a:rPr lang="en-US" altLang="zh-CN" dirty="0"/>
              <a:t>12A</a:t>
            </a:r>
            <a:r>
              <a:rPr lang="zh-CN" altLang="en-US" dirty="0"/>
              <a:t>的电流。一条电线位于</a:t>
            </a:r>
            <a:r>
              <a:rPr lang="en-US" altLang="zh-CN" dirty="0"/>
              <a:t>x</a:t>
            </a:r>
            <a:r>
              <a:rPr lang="zh-CN" altLang="en-US" dirty="0"/>
              <a:t>轴上，电流为正</a:t>
            </a:r>
            <a:r>
              <a:rPr lang="en-US" altLang="zh-CN" dirty="0"/>
              <a:t>x</a:t>
            </a:r>
            <a:r>
              <a:rPr lang="zh-CN" altLang="en-US" dirty="0"/>
              <a:t>方向。另一根导线位于</a:t>
            </a:r>
            <a:r>
              <a:rPr lang="en-US" altLang="zh-CN" dirty="0"/>
              <a:t>y</a:t>
            </a:r>
            <a:r>
              <a:rPr lang="zh-CN" altLang="en-US" dirty="0"/>
              <a:t>轴上，电流为正</a:t>
            </a:r>
            <a:r>
              <a:rPr lang="en-US" altLang="zh-CN" dirty="0"/>
              <a:t>y</a:t>
            </a:r>
            <a:r>
              <a:rPr lang="zh-CN" altLang="en-US" dirty="0"/>
              <a:t>方向。在</a:t>
            </a:r>
            <a:r>
              <a:rPr lang="en-US" altLang="zh-CN" dirty="0"/>
              <a:t>x-y</a:t>
            </a:r>
            <a:r>
              <a:rPr lang="zh-CN" altLang="en-US" dirty="0"/>
              <a:t>平面上，哪个象限有磁场为零的点</a:t>
            </a:r>
            <a:r>
              <a:rPr lang="zh-CN" altLang="en-US" dirty="0" smtClean="0"/>
              <a:t>？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A.  I </a:t>
            </a:r>
            <a:br>
              <a:rPr lang="en-US" altLang="zh-CN" dirty="0"/>
            </a:br>
            <a:r>
              <a:rPr lang="en-US" altLang="zh-CN" dirty="0"/>
              <a:t>B.  II </a:t>
            </a:r>
            <a:br>
              <a:rPr lang="en-US" altLang="zh-CN" dirty="0"/>
            </a:br>
            <a:r>
              <a:rPr lang="en-US" altLang="zh-CN" dirty="0"/>
              <a:t>C.  II and IV </a:t>
            </a:r>
            <a:br>
              <a:rPr lang="en-US" altLang="zh-CN" dirty="0"/>
            </a:br>
            <a:r>
              <a:rPr lang="en-US" altLang="zh-CN" dirty="0"/>
              <a:t>D.  I and III </a:t>
            </a:r>
            <a:br>
              <a:rPr lang="en-US" altLang="zh-CN" dirty="0"/>
            </a:br>
            <a:r>
              <a:rPr lang="en-US" altLang="zh-CN" dirty="0"/>
              <a:t>E.  none </a:t>
            </a:r>
            <a:endParaRPr lang="zh-CN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09596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dirty="0"/>
              <a:t>两条长直电线各携带</a:t>
            </a:r>
            <a:r>
              <a:rPr lang="en-US" altLang="zh-CN" sz="2800" dirty="0"/>
              <a:t>12A</a:t>
            </a:r>
            <a:r>
              <a:rPr lang="zh-CN" altLang="en-US" sz="2800" dirty="0"/>
              <a:t>的电流。一条电线位于</a:t>
            </a:r>
            <a:r>
              <a:rPr lang="en-US" altLang="zh-CN" sz="2800" dirty="0"/>
              <a:t>x</a:t>
            </a:r>
            <a:r>
              <a:rPr lang="zh-CN" altLang="en-US" sz="2800" dirty="0"/>
              <a:t>轴上，电流为正</a:t>
            </a:r>
            <a:r>
              <a:rPr lang="en-US" altLang="zh-CN" sz="2800" dirty="0"/>
              <a:t>x</a:t>
            </a:r>
            <a:r>
              <a:rPr lang="zh-CN" altLang="en-US" sz="2800" dirty="0"/>
              <a:t>方向。另一根导线位于</a:t>
            </a:r>
            <a:r>
              <a:rPr lang="en-US" altLang="zh-CN" sz="2800" dirty="0"/>
              <a:t>y</a:t>
            </a:r>
            <a:r>
              <a:rPr lang="zh-CN" altLang="en-US" sz="2800" dirty="0"/>
              <a:t>轴上，电流为正</a:t>
            </a:r>
            <a:r>
              <a:rPr lang="en-US" altLang="zh-CN" sz="2800" dirty="0"/>
              <a:t>y</a:t>
            </a:r>
            <a:r>
              <a:rPr lang="zh-CN" altLang="en-US" sz="2800" dirty="0"/>
              <a:t>方向。在</a:t>
            </a:r>
            <a:r>
              <a:rPr lang="en-US" altLang="zh-CN" sz="2800" dirty="0"/>
              <a:t>x-y</a:t>
            </a:r>
            <a:r>
              <a:rPr lang="zh-CN" altLang="en-US" sz="2800" dirty="0"/>
              <a:t>平面上，哪个象限有磁场为零的点</a:t>
            </a:r>
            <a:r>
              <a:rPr lang="zh-CN" altLang="en-US" sz="2800" dirty="0" smtClean="0"/>
              <a:t>？</a:t>
            </a:r>
            <a:r>
              <a:rPr lang="en-US" altLang="zh-CN" sz="2800" dirty="0" smtClean="0"/>
              <a:t>(     )</a:t>
            </a:r>
            <a:endParaRPr lang="en-US" altLang="zh-CN" sz="2800" dirty="0"/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/>
              <a:t> I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2438400" y="34718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/>
              <a:t>II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2438400" y="41576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/>
              <a:t>II and IV 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2438400" y="48434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/>
              <a:t>I and III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5361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2219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49077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2"/>
            </p:custDataLst>
          </p:nvPr>
        </p:nvSpPr>
        <p:spPr>
          <a:xfrm>
            <a:off x="2438400" y="55292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/>
              <a:t>none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2" name="椭圆 21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55935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5" name="TitleBackground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24287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3881" y="209738"/>
            <a:ext cx="31565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smtClean="0">
                <a:solidFill>
                  <a:srgbClr val="000099"/>
                </a:solidFill>
              </a:rPr>
              <a:t>单项选择题：</a:t>
            </a:r>
            <a:endParaRPr lang="zh-CN" altLang="en-US" sz="3200" b="1">
              <a:solidFill>
                <a:srgbClr val="000099"/>
              </a:solidFill>
            </a:endParaRPr>
          </a:p>
        </p:txBody>
      </p:sp>
      <p:pic>
        <p:nvPicPr>
          <p:cNvPr id="3" name="图片 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952" y="2995666"/>
            <a:ext cx="2491296" cy="1972536"/>
          </a:xfrm>
          <a:prstGeom prst="rect">
            <a:avLst/>
          </a:prstGeom>
          <a:noFill/>
        </p:spPr>
      </p:pic>
      <p:sp>
        <p:nvSpPr>
          <p:cNvPr id="6" name="矩形 5"/>
          <p:cNvSpPr/>
          <p:nvPr/>
        </p:nvSpPr>
        <p:spPr>
          <a:xfrm>
            <a:off x="1106462" y="805450"/>
            <a:ext cx="9452977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800" b="1" smtClean="0"/>
              <a:t>载</a:t>
            </a:r>
            <a:r>
              <a:rPr lang="zh-CN" altLang="zh-CN" sz="2800" b="1"/>
              <a:t>流直导线如图所示，带电粒子</a:t>
            </a:r>
            <a:r>
              <a:rPr lang="en-US" altLang="zh-CN" sz="2800" b="1"/>
              <a:t>1</a:t>
            </a:r>
            <a:r>
              <a:rPr lang="zh-CN" altLang="zh-CN" sz="2800" b="1"/>
              <a:t>、</a:t>
            </a:r>
            <a:r>
              <a:rPr lang="en-US" altLang="zh-CN" sz="2800" b="1"/>
              <a:t>2</a:t>
            </a:r>
            <a:r>
              <a:rPr lang="zh-CN" altLang="zh-CN" sz="2800" b="1"/>
              <a:t>、</a:t>
            </a:r>
            <a:r>
              <a:rPr lang="en-US" altLang="zh-CN" sz="2800" b="1"/>
              <a:t>3</a:t>
            </a:r>
            <a:r>
              <a:rPr lang="zh-CN" altLang="zh-CN" sz="2800" b="1"/>
              <a:t>和</a:t>
            </a:r>
            <a:r>
              <a:rPr lang="en-US" altLang="zh-CN" sz="2800" b="1"/>
              <a:t>4</a:t>
            </a:r>
            <a:r>
              <a:rPr lang="zh-CN" altLang="zh-CN" sz="2800" b="1"/>
              <a:t>运动方向如图。如果</a:t>
            </a:r>
            <a:r>
              <a:rPr lang="zh-CN" altLang="zh-CN" sz="2800" b="1" smtClean="0"/>
              <a:t>带电粒子</a:t>
            </a:r>
            <a:r>
              <a:rPr lang="en-US" altLang="zh-CN" sz="2800" b="1" smtClean="0"/>
              <a:t>2</a:t>
            </a:r>
            <a:r>
              <a:rPr lang="zh-CN" altLang="zh-CN" sz="2800" b="1" smtClean="0"/>
              <a:t>的</a:t>
            </a:r>
            <a:r>
              <a:rPr lang="zh-CN" altLang="zh-CN" sz="2800" b="1"/>
              <a:t>电量</a:t>
            </a:r>
            <a:r>
              <a:rPr lang="en-US" altLang="zh-CN" sz="2800" b="1" smtClean="0"/>
              <a:t>q2&gt;0</a:t>
            </a:r>
            <a:r>
              <a:rPr lang="en-US" altLang="zh-CN" sz="2800" b="1"/>
              <a:t>,</a:t>
            </a:r>
            <a:r>
              <a:rPr lang="zh-CN" altLang="zh-CN" sz="2800" b="1"/>
              <a:t>其所受磁场力的方向</a:t>
            </a:r>
            <a:r>
              <a:rPr lang="zh-CN" altLang="zh-CN" sz="2800" b="1" smtClean="0"/>
              <a:t>？</a:t>
            </a:r>
            <a:endParaRPr lang="en-US" altLang="zh-CN" sz="2800" b="1" smtClean="0"/>
          </a:p>
          <a:p>
            <a:pPr>
              <a:lnSpc>
                <a:spcPct val="150000"/>
              </a:lnSpc>
            </a:pPr>
            <a:r>
              <a:rPr lang="en-US" altLang="zh-CN" sz="2800" b="1"/>
              <a:t>A</a:t>
            </a:r>
            <a:r>
              <a:rPr lang="zh-CN" altLang="zh-CN" sz="2800" b="1"/>
              <a:t>．</a:t>
            </a:r>
            <a:r>
              <a:rPr lang="en-US" altLang="zh-CN" sz="2800" b="1"/>
              <a:t>↑  </a:t>
            </a:r>
            <a:endParaRPr lang="zh-CN" altLang="zh-CN" sz="2800" b="1"/>
          </a:p>
          <a:p>
            <a:pPr>
              <a:lnSpc>
                <a:spcPct val="150000"/>
              </a:lnSpc>
            </a:pPr>
            <a:r>
              <a:rPr lang="en-US" altLang="zh-CN" sz="2800" b="1"/>
              <a:t>B</a:t>
            </a:r>
            <a:r>
              <a:rPr lang="zh-CN" altLang="zh-CN" sz="2800" b="1"/>
              <a:t>．</a:t>
            </a:r>
            <a:r>
              <a:rPr lang="en-US" altLang="zh-CN" sz="2800" b="1"/>
              <a:t>↓  </a:t>
            </a:r>
            <a:endParaRPr lang="zh-CN" altLang="zh-CN" sz="2800" b="1"/>
          </a:p>
          <a:p>
            <a:pPr>
              <a:lnSpc>
                <a:spcPct val="150000"/>
              </a:lnSpc>
            </a:pPr>
            <a:r>
              <a:rPr lang="en-US" altLang="zh-CN" sz="2800" b="1"/>
              <a:t>C</a:t>
            </a:r>
            <a:r>
              <a:rPr lang="zh-CN" altLang="zh-CN" sz="2800" b="1"/>
              <a:t>．</a:t>
            </a:r>
            <a:r>
              <a:rPr lang="en-US" altLang="zh-CN" sz="2800" b="1"/>
              <a:t>← </a:t>
            </a:r>
            <a:endParaRPr lang="zh-CN" altLang="zh-CN" sz="2800" b="1"/>
          </a:p>
          <a:p>
            <a:pPr>
              <a:lnSpc>
                <a:spcPct val="150000"/>
              </a:lnSpc>
            </a:pPr>
            <a:r>
              <a:rPr lang="en-US" altLang="zh-CN" sz="2800" b="1"/>
              <a:t>D</a:t>
            </a:r>
            <a:r>
              <a:rPr lang="zh-CN" altLang="zh-CN" sz="2800" b="1"/>
              <a:t>．</a:t>
            </a:r>
            <a:r>
              <a:rPr lang="en-US" altLang="zh-CN" sz="2800" b="1"/>
              <a:t>→ </a:t>
            </a:r>
            <a:endParaRPr lang="zh-CN" altLang="zh-CN" sz="2800" b="1"/>
          </a:p>
          <a:p>
            <a:pPr>
              <a:lnSpc>
                <a:spcPct val="150000"/>
              </a:lnSpc>
            </a:pPr>
            <a:endParaRPr lang="zh-CN" altLang="en-US" sz="2800" b="1"/>
          </a:p>
        </p:txBody>
      </p:sp>
      <p:sp>
        <p:nvSpPr>
          <p:cNvPr id="7" name="TextBox 6"/>
          <p:cNvSpPr txBox="1"/>
          <p:nvPr/>
        </p:nvSpPr>
        <p:spPr>
          <a:xfrm>
            <a:off x="989557" y="5407900"/>
            <a:ext cx="57619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FF0000"/>
                </a:solidFill>
              </a:rPr>
              <a:t>若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q1&gt;0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，则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q1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所受磁力的方向为？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66215" y="5407900"/>
            <a:ext cx="17160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smtClean="0">
                <a:solidFill>
                  <a:srgbClr val="FF0000"/>
                </a:solidFill>
              </a:rPr>
              <a:t>A</a:t>
            </a:r>
            <a:endParaRPr lang="zh-CN" altLang="en-US" sz="28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7853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528902" y="404665"/>
                <a:ext cx="11332743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5000"/>
                  </a:lnSpc>
                  <a:spcAft>
                    <a:spcPts val="600"/>
                  </a:spcAft>
                </a:pPr>
                <a:r>
                  <a:rPr lang="zh-CN" altLang="en-US" sz="2800" b="1" dirty="0" smtClean="0">
                    <a:solidFill>
                      <a:srgbClr val="000099"/>
                    </a:solidFill>
                  </a:rPr>
                  <a:t>例</a:t>
                </a:r>
                <a:r>
                  <a:rPr lang="en-US" altLang="zh-CN" sz="2800" b="1" dirty="0" smtClean="0">
                    <a:solidFill>
                      <a:srgbClr val="000099"/>
                    </a:solidFill>
                  </a:rPr>
                  <a:t>19.8 </a:t>
                </a:r>
                <a:r>
                  <a:rPr lang="zh-CN" altLang="en-US" sz="2800" b="1" dirty="0" smtClean="0">
                    <a:solidFill>
                      <a:srgbClr val="000099"/>
                    </a:solidFill>
                  </a:rPr>
                  <a:t>家居线路的磁场：</a:t>
                </a:r>
                <a:endParaRPr lang="en-US" altLang="zh-CN" sz="2800" b="1" dirty="0" smtClean="0">
                  <a:solidFill>
                    <a:srgbClr val="000099"/>
                  </a:solidFill>
                </a:endParaRPr>
              </a:p>
              <a:p>
                <a:pPr algn="just">
                  <a:lnSpc>
                    <a:spcPct val="125000"/>
                  </a:lnSpc>
                </a:pPr>
                <a:r>
                  <a:rPr lang="zh-CN" altLang="en-US" sz="2800" b="1" dirty="0" smtClean="0"/>
                  <a:t>      </a:t>
                </a:r>
                <a:r>
                  <a:rPr lang="zh-CN" altLang="en-US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在家居线路中，两条长的平行导线是分开的，且周围为绝缘体。导线间的距离为 </a:t>
                </a:r>
                <a:r>
                  <a:rPr lang="en-US" altLang="zh-CN" sz="28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 </a:t>
                </a:r>
                <a:r>
                  <a:rPr lang="zh-CN" altLang="en-US" sz="28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且通以大小为 </a:t>
                </a:r>
                <a:r>
                  <a:rPr lang="en-US" altLang="zh-CN" sz="28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</a:t>
                </a:r>
                <a:r>
                  <a:rPr lang="zh-CN" altLang="en-US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而方向相反的电流。（</a:t>
                </a:r>
                <a:r>
                  <a:rPr lang="en-US" altLang="zh-CN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zh-CN" altLang="en-US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）求至导线中心距离 </a:t>
                </a:r>
                <a:r>
                  <a:rPr lang="en-US" altLang="zh-CN" sz="28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≫</m:t>
                    </m:r>
                  </m:oMath>
                </a14:m>
                <a:r>
                  <a:rPr lang="en-US" altLang="zh-CN" sz="28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 </a:t>
                </a:r>
                <a:r>
                  <a:rPr lang="zh-CN" altLang="en-US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处的磁感应强度。（</a:t>
                </a:r>
                <a:r>
                  <a:rPr lang="en-US" altLang="zh-CN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zh-CN" altLang="en-US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）若 </a:t>
                </a:r>
                <a:r>
                  <a:rPr lang="en-US" altLang="zh-CN" sz="28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</a:t>
                </a:r>
                <a:r>
                  <a:rPr lang="en-US" altLang="zh-CN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5 A</a:t>
                </a:r>
                <a:r>
                  <a:rPr lang="zh-CN" altLang="en-US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8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 </a:t>
                </a:r>
                <a:r>
                  <a:rPr lang="en-US" altLang="zh-CN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5 mm </a:t>
                </a:r>
                <a:r>
                  <a:rPr lang="zh-CN" altLang="en-US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和 </a:t>
                </a:r>
                <a:r>
                  <a:rPr lang="en-US" altLang="zh-CN" sz="28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 </a:t>
                </a:r>
                <a:r>
                  <a:rPr lang="en-US" altLang="zh-CN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 m</a:t>
                </a:r>
                <a:r>
                  <a:rPr lang="zh-CN" altLang="en-US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，求</a:t>
                </a:r>
                <a:r>
                  <a:rPr lang="en-US" altLang="zh-CN" sz="28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zh-CN" altLang="en-US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的数值并于地球表面处的磁感应强度（</a:t>
                </a:r>
                <a:r>
                  <a:rPr lang="en-US" altLang="zh-CN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≈ 5</a:t>
                </a:r>
                <a:r>
                  <a:rPr lang="en-US" altLang="zh-CN" sz="2800" b="1" dirty="0" smtClean="0"/>
                  <a:t>×</a:t>
                </a:r>
                <a:r>
                  <a:rPr lang="en-US" altLang="zh-CN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</a:t>
                </a:r>
                <a:r>
                  <a:rPr lang="en-US" altLang="zh-CN" sz="2800" b="1" baseline="30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-5</a:t>
                </a:r>
                <a:r>
                  <a:rPr lang="en-US" altLang="zh-CN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</a:t>
                </a:r>
                <a:r>
                  <a:rPr lang="zh-CN" altLang="en-US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）比较。</a:t>
                </a:r>
                <a:endPara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902" y="404665"/>
                <a:ext cx="11332743" cy="2862322"/>
              </a:xfrm>
              <a:prstGeom prst="rect">
                <a:avLst/>
              </a:prstGeom>
              <a:blipFill rotWithShape="1">
                <a:blip r:embed="rId2"/>
                <a:stretch>
                  <a:fillRect l="-1130" t="-851" r="-4196" b="-31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3" descr="gia12141_19_37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909"/>
          <a:stretch/>
        </p:blipFill>
        <p:spPr bwMode="auto">
          <a:xfrm>
            <a:off x="521450" y="3787203"/>
            <a:ext cx="5673823" cy="1267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 descr="gia12141_19_38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56"/>
          <a:stretch/>
        </p:blipFill>
        <p:spPr bwMode="auto">
          <a:xfrm>
            <a:off x="6403658" y="3190043"/>
            <a:ext cx="5610388" cy="29982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28902" y="5665689"/>
            <a:ext cx="71047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两根导线之间中点处的磁感应强度？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556007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gia12141_19_38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56"/>
          <a:stretch/>
        </p:blipFill>
        <p:spPr bwMode="auto">
          <a:xfrm>
            <a:off x="5755958" y="0"/>
            <a:ext cx="6029642" cy="32222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1000" y="275090"/>
                <a:ext cx="519430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5000"/>
                  </a:lnSpc>
                </a:pPr>
                <a:r>
                  <a:rPr lang="zh-CN" altLang="en-US" sz="2400" b="1" dirty="0" smtClean="0"/>
                  <a:t>由于</a:t>
                </a:r>
                <a:r>
                  <a:rPr lang="en-US" altLang="zh-CN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≫</m:t>
                    </m:r>
                  </m:oMath>
                </a14:m>
                <a:r>
                  <a:rPr lang="en-US" altLang="zh-CN" sz="24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zh-CN" altLang="en-US" sz="24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24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从任一根导线到</a:t>
                </a:r>
                <a:r>
                  <a:rPr lang="en-US" altLang="zh-CN" sz="24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zh-CN" altLang="en-US" sz="24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点的距离大约是</a:t>
                </a:r>
                <a:r>
                  <a:rPr lang="en-US" altLang="zh-CN" sz="24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zh-CN" altLang="en-US" sz="24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。那么任一根导线在</a:t>
                </a:r>
                <a:r>
                  <a:rPr lang="en-US" altLang="zh-CN" sz="24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zh-CN" altLang="en-US" sz="24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点产生的磁感应强度的大小是：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275090"/>
                <a:ext cx="5194300" cy="1477328"/>
              </a:xfrm>
              <a:prstGeom prst="rect">
                <a:avLst/>
              </a:prstGeom>
              <a:blipFill rotWithShape="1">
                <a:blip r:embed="rId4"/>
                <a:stretch>
                  <a:fillRect l="-1878" t="-1653" r="-235" b="-41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281528"/>
              </p:ext>
            </p:extLst>
          </p:nvPr>
        </p:nvGraphicFramePr>
        <p:xfrm>
          <a:off x="2581275" y="1752418"/>
          <a:ext cx="1403350" cy="9667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" name="Equation" r:id="rId5" imgW="571320" imgH="393480" progId="Equation.DSMT4">
                  <p:embed/>
                </p:oleObj>
              </mc:Choice>
              <mc:Fallback>
                <p:oleObj name="Equation" r:id="rId5" imgW="57132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81275" y="1752418"/>
                        <a:ext cx="1403350" cy="9667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81000" y="2887194"/>
            <a:ext cx="3441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smtClean="0">
                <a:solidFill>
                  <a:srgbClr val="FF0000"/>
                </a:solidFill>
              </a:rPr>
              <a:t>其中</a:t>
            </a:r>
            <a:r>
              <a:rPr lang="en-US" altLang="zh-CN" sz="2400" b="1" smtClean="0">
                <a:solidFill>
                  <a:srgbClr val="FF0000"/>
                </a:solidFill>
              </a:rPr>
              <a:t>x</a:t>
            </a:r>
            <a:r>
              <a:rPr lang="zh-CN" altLang="en-US" sz="2400" b="1" smtClean="0">
                <a:solidFill>
                  <a:srgbClr val="FF0000"/>
                </a:solidFill>
              </a:rPr>
              <a:t>分量为：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3236470"/>
              </p:ext>
            </p:extLst>
          </p:nvPr>
        </p:nvGraphicFramePr>
        <p:xfrm>
          <a:off x="425450" y="3465391"/>
          <a:ext cx="3397250" cy="213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9" name="Equation" r:id="rId7" imgW="1536480" imgH="965160" progId="Equation.DSMT4">
                  <p:embed/>
                </p:oleObj>
              </mc:Choice>
              <mc:Fallback>
                <p:oleObj name="Equation" r:id="rId7" imgW="1536480" imgH="96516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450" y="3465391"/>
                        <a:ext cx="3397250" cy="213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575300" y="3348859"/>
            <a:ext cx="5489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FF0000"/>
                </a:solidFill>
              </a:rPr>
              <a:t>P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点的磁感应强度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5879584"/>
              </p:ext>
            </p:extLst>
          </p:nvPr>
        </p:nvGraphicFramePr>
        <p:xfrm>
          <a:off x="6033745" y="4235837"/>
          <a:ext cx="2617787" cy="96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0" name="Equation" r:id="rId9" imgW="1066680" imgH="393480" progId="Equation.DSMT4">
                  <p:embed/>
                </p:oleObj>
              </mc:Choice>
              <mc:Fallback>
                <p:oleObj name="Equation" r:id="rId9" imgW="1066680" imgH="39348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3745" y="4235837"/>
                        <a:ext cx="2617787" cy="966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677400" y="4398660"/>
            <a:ext cx="251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方向沿</a:t>
            </a:r>
            <a:r>
              <a:rPr lang="en-US" altLang="zh-CN" sz="2400" b="1" dirty="0" smtClean="0"/>
              <a:t>+x</a:t>
            </a:r>
            <a:r>
              <a:rPr lang="zh-CN" altLang="en-US" sz="2400" b="1" dirty="0" smtClean="0"/>
              <a:t>方向</a:t>
            </a:r>
            <a:endParaRPr lang="zh-CN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81000" y="5778500"/>
                <a:ext cx="39116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 smtClean="0"/>
                  <a:t>两根导线产生的磁感应强度只是单根导线的</a:t>
                </a:r>
                <a:r>
                  <a:rPr lang="en-US" altLang="zh-CN" sz="2400" b="1" dirty="0" smtClean="0"/>
                  <a:t>0.5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/>
                        <a:ea typeface="Cambria Math"/>
                      </a:rPr>
                      <m:t>%</m:t>
                    </m:r>
                  </m:oMath>
                </a14:m>
                <a:r>
                  <a:rPr lang="en-US" altLang="zh-CN" sz="2400" b="1" dirty="0" smtClean="0"/>
                  <a:t>.</a:t>
                </a:r>
                <a:endParaRPr lang="zh-CN" altLang="en-US" sz="2400" b="1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5778500"/>
                <a:ext cx="3911600" cy="830997"/>
              </a:xfrm>
              <a:prstGeom prst="rect">
                <a:avLst/>
              </a:prstGeom>
              <a:blipFill rotWithShape="1">
                <a:blip r:embed="rId11"/>
                <a:stretch>
                  <a:fillRect l="-2496" t="-5882" r="-1560" b="-169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2211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6475"/>
          </a:xfrm>
        </p:spPr>
        <p:txBody>
          <a:bodyPr>
            <a:normAutofit/>
          </a:bodyPr>
          <a:lstStyle/>
          <a:p>
            <a:r>
              <a:rPr lang="zh-CN" altLang="en-US" sz="4000" dirty="0" smtClean="0"/>
              <a:t>练习题</a:t>
            </a:r>
            <a:r>
              <a:rPr lang="en-US" altLang="zh-CN" sz="4000" dirty="0" smtClean="0"/>
              <a:t>19.8 </a:t>
            </a:r>
            <a:endParaRPr lang="zh-CN" altLang="en-US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83957"/>
            <a:ext cx="10515600" cy="479300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以</a:t>
            </a:r>
            <a:r>
              <a:rPr lang="en-US" altLang="zh-CN" dirty="0" smtClean="0"/>
              <a:t>I</a:t>
            </a:r>
            <a:r>
              <a:rPr lang="zh-CN" altLang="en-US" dirty="0" smtClean="0"/>
              <a:t>和</a:t>
            </a:r>
            <a:r>
              <a:rPr lang="en-US" altLang="zh-CN" dirty="0" smtClean="0"/>
              <a:t>d</a:t>
            </a:r>
            <a:r>
              <a:rPr lang="zh-CN" altLang="en-US" dirty="0" smtClean="0"/>
              <a:t>求两根导线之间中点处的磁感应强度。</a:t>
            </a:r>
            <a:endParaRPr lang="zh-CN" altLang="en-US" dirty="0"/>
          </a:p>
        </p:txBody>
      </p:sp>
      <p:pic>
        <p:nvPicPr>
          <p:cNvPr id="4" name="Picture 3" descr="gia12141_19_38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2759" b="3556"/>
          <a:stretch/>
        </p:blipFill>
        <p:spPr bwMode="auto">
          <a:xfrm>
            <a:off x="9537584" y="-123568"/>
            <a:ext cx="918064" cy="6775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2274422"/>
              </p:ext>
            </p:extLst>
          </p:nvPr>
        </p:nvGraphicFramePr>
        <p:xfrm>
          <a:off x="2018784" y="3264248"/>
          <a:ext cx="1045691" cy="1338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5" name="Equation" r:id="rId4" imgW="317160" imgH="406080" progId="Equation.DSMT4">
                  <p:embed/>
                </p:oleObj>
              </mc:Choice>
              <mc:Fallback>
                <p:oleObj name="Equation" r:id="rId4" imgW="3171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18784" y="3264248"/>
                        <a:ext cx="1045691" cy="13384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721443" y="3805536"/>
            <a:ext cx="251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方向沿</a:t>
            </a:r>
            <a:r>
              <a:rPr lang="en-US" altLang="zh-CN" sz="2400" b="1" dirty="0" smtClean="0"/>
              <a:t>+x</a:t>
            </a:r>
            <a:r>
              <a:rPr lang="zh-CN" altLang="en-US" sz="2400" b="1" dirty="0" smtClean="0"/>
              <a:t>方向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447908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3881" y="209738"/>
            <a:ext cx="31565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rgbClr val="000099"/>
                </a:solidFill>
              </a:rPr>
              <a:t>单项选择题：</a:t>
            </a:r>
            <a:endParaRPr lang="zh-CN" altLang="en-US" sz="3200" b="1" dirty="0">
              <a:solidFill>
                <a:srgbClr val="000099"/>
              </a:solidFill>
            </a:endParaRPr>
          </a:p>
        </p:txBody>
      </p:sp>
      <p:pic>
        <p:nvPicPr>
          <p:cNvPr id="3" name="图片 2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3576" y="2435999"/>
            <a:ext cx="2491296" cy="1972536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663881" y="810410"/>
                <a:ext cx="9452977" cy="54482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zh-CN" sz="2800" b="1" dirty="0"/>
                  <a:t>载流直导线如图所示，带电粒子</a:t>
                </a:r>
                <a:r>
                  <a:rPr lang="en-US" altLang="zh-CN" sz="2800" b="1" dirty="0"/>
                  <a:t>1</a:t>
                </a:r>
                <a:r>
                  <a:rPr lang="zh-CN" altLang="zh-CN" sz="2800" b="1" dirty="0"/>
                  <a:t>、</a:t>
                </a:r>
                <a:r>
                  <a:rPr lang="en-US" altLang="zh-CN" sz="2800" b="1" dirty="0"/>
                  <a:t>2</a:t>
                </a:r>
                <a:r>
                  <a:rPr lang="zh-CN" altLang="zh-CN" sz="2800" b="1" dirty="0"/>
                  <a:t>、</a:t>
                </a:r>
                <a:r>
                  <a:rPr lang="en-US" altLang="zh-CN" sz="2800" b="1" dirty="0"/>
                  <a:t>3</a:t>
                </a:r>
                <a:r>
                  <a:rPr lang="zh-CN" altLang="zh-CN" sz="2800" b="1" dirty="0"/>
                  <a:t>和</a:t>
                </a:r>
                <a:r>
                  <a:rPr lang="en-US" altLang="zh-CN" sz="2800" b="1" dirty="0"/>
                  <a:t>4</a:t>
                </a:r>
                <a:r>
                  <a:rPr lang="zh-CN" altLang="zh-CN" sz="2800" b="1" dirty="0"/>
                  <a:t>运动方向如图。如果带电粒子</a:t>
                </a:r>
                <a:r>
                  <a:rPr lang="en-US" altLang="zh-CN" sz="2800" b="1" dirty="0"/>
                  <a:t>1</a:t>
                </a:r>
                <a:r>
                  <a:rPr lang="zh-CN" altLang="zh-CN" sz="2800" b="1" dirty="0"/>
                  <a:t>和</a:t>
                </a:r>
                <a:r>
                  <a:rPr lang="en-US" altLang="zh-CN" sz="2800" b="1" dirty="0"/>
                  <a:t>4</a:t>
                </a:r>
                <a:r>
                  <a:rPr lang="zh-CN" altLang="zh-CN" sz="2800" b="1" dirty="0"/>
                  <a:t>所受磁场力大小相等，方向相反，并且他们的速率相同，则</a:t>
                </a:r>
                <a:r>
                  <a:rPr lang="zh-CN" altLang="zh-CN" sz="2800" b="1" dirty="0" smtClean="0"/>
                  <a:t>（）</a:t>
                </a:r>
                <a:endParaRPr lang="en-US" altLang="zh-CN" sz="2800" b="1" dirty="0" smtClean="0"/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b="1" dirty="0"/>
                  <a:t>A</a:t>
                </a:r>
                <a:r>
                  <a:rPr lang="zh-CN" altLang="zh-CN" sz="2800" b="1" dirty="0"/>
                  <a:t>．电荷符号相同且</a:t>
                </a:r>
                <a14:m>
                  <m:oMath xmlns:m="http://schemas.openxmlformats.org/officeDocument/2006/math">
                    <m:r>
                      <a:rPr lang="en-US" altLang="zh-CN" sz="2800" b="1">
                        <a:latin typeface="Cambria Math"/>
                      </a:rPr>
                      <m:t>|</m:t>
                    </m:r>
                    <m:sSub>
                      <m:sSubPr>
                        <m:ctrlPr>
                          <a:rPr lang="zh-CN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/>
                          </a:rPr>
                          <m:t>𝒒</m:t>
                        </m:r>
                      </m:e>
                      <m:sub>
                        <m:r>
                          <a:rPr lang="en-US" altLang="zh-CN" sz="2800" b="1" i="1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sz="2800" b="1">
                        <a:latin typeface="Cambria Math"/>
                      </a:rPr>
                      <m:t>|&gt;</m:t>
                    </m:r>
                    <m:sSub>
                      <m:sSubPr>
                        <m:ctrlPr>
                          <a:rPr lang="zh-CN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/>
                          </a:rPr>
                          <m:t>|</m:t>
                        </m:r>
                        <m:r>
                          <a:rPr lang="en-US" altLang="zh-CN" sz="2800" b="1" i="1">
                            <a:latin typeface="Cambria Math"/>
                          </a:rPr>
                          <m:t>𝒒</m:t>
                        </m:r>
                      </m:e>
                      <m:sub>
                        <m:r>
                          <a:rPr lang="en-US" altLang="zh-CN" sz="2800" b="1" i="1">
                            <a:latin typeface="Cambria Math"/>
                          </a:rPr>
                          <m:t>𝟒</m:t>
                        </m:r>
                      </m:sub>
                    </m:sSub>
                    <m:r>
                      <a:rPr lang="en-US" altLang="zh-CN" sz="2800" b="1">
                        <a:latin typeface="Cambria Math"/>
                      </a:rPr>
                      <m:t>|</m:t>
                    </m:r>
                  </m:oMath>
                </a14:m>
                <a:r>
                  <a:rPr lang="en-US" altLang="zh-CN" sz="2800" b="1" dirty="0"/>
                  <a:t>     </a:t>
                </a:r>
                <a:endParaRPr lang="zh-CN" altLang="zh-CN" sz="2800" b="1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b="1" dirty="0"/>
                  <a:t>B</a:t>
                </a:r>
                <a:r>
                  <a:rPr lang="zh-CN" altLang="zh-CN" sz="2800" b="1" dirty="0"/>
                  <a:t>．电荷符号相反且</a:t>
                </a:r>
                <a14:m>
                  <m:oMath xmlns:m="http://schemas.openxmlformats.org/officeDocument/2006/math">
                    <m:r>
                      <a:rPr lang="en-US" altLang="zh-CN" sz="2800" b="1">
                        <a:latin typeface="Cambria Math"/>
                      </a:rPr>
                      <m:t>|</m:t>
                    </m:r>
                    <m:sSub>
                      <m:sSubPr>
                        <m:ctrlPr>
                          <a:rPr lang="zh-CN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/>
                          </a:rPr>
                          <m:t>𝒒</m:t>
                        </m:r>
                      </m:e>
                      <m:sub>
                        <m:r>
                          <a:rPr lang="en-US" altLang="zh-CN" sz="2800" b="1" i="1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sz="2800" b="1">
                        <a:latin typeface="Cambria Math"/>
                      </a:rPr>
                      <m:t>|&gt;|</m:t>
                    </m:r>
                    <m:sSub>
                      <m:sSubPr>
                        <m:ctrlPr>
                          <a:rPr lang="zh-CN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/>
                          </a:rPr>
                          <m:t>𝒒</m:t>
                        </m:r>
                      </m:e>
                      <m:sub>
                        <m:r>
                          <a:rPr lang="en-US" altLang="zh-CN" sz="2800" b="1" i="1">
                            <a:latin typeface="Cambria Math"/>
                          </a:rPr>
                          <m:t>𝟒</m:t>
                        </m:r>
                      </m:sub>
                    </m:sSub>
                    <m:r>
                      <a:rPr lang="en-US" altLang="zh-CN" sz="2800" b="1">
                        <a:latin typeface="Cambria Math"/>
                      </a:rPr>
                      <m:t>|</m:t>
                    </m:r>
                  </m:oMath>
                </a14:m>
                <a:r>
                  <a:rPr lang="en-US" altLang="zh-CN" sz="2800" b="1" dirty="0"/>
                  <a:t>   </a:t>
                </a:r>
                <a:endParaRPr lang="zh-CN" altLang="zh-CN" sz="2800" b="1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b="1" dirty="0"/>
                  <a:t>C</a:t>
                </a:r>
                <a:r>
                  <a:rPr lang="zh-CN" altLang="zh-CN" sz="2800" b="1" dirty="0"/>
                  <a:t>．电荷符号相反且</a:t>
                </a:r>
                <a14:m>
                  <m:oMath xmlns:m="http://schemas.openxmlformats.org/officeDocument/2006/math">
                    <m:r>
                      <a:rPr lang="en-US" altLang="zh-CN" sz="2800" b="1">
                        <a:latin typeface="Cambria Math"/>
                      </a:rPr>
                      <m:t>|</m:t>
                    </m:r>
                    <m:sSub>
                      <m:sSubPr>
                        <m:ctrlPr>
                          <a:rPr lang="zh-CN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/>
                          </a:rPr>
                          <m:t>𝒒</m:t>
                        </m:r>
                      </m:e>
                      <m:sub>
                        <m:r>
                          <a:rPr lang="en-US" altLang="zh-CN" sz="2800" b="1" i="1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sz="2800" b="1">
                        <a:latin typeface="Cambria Math"/>
                      </a:rPr>
                      <m:t>|&lt;</m:t>
                    </m:r>
                    <m:sSub>
                      <m:sSubPr>
                        <m:ctrlPr>
                          <a:rPr lang="zh-CN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/>
                          </a:rPr>
                          <m:t>|</m:t>
                        </m:r>
                        <m:r>
                          <a:rPr lang="en-US" altLang="zh-CN" sz="2800" b="1" i="1">
                            <a:latin typeface="Cambria Math"/>
                          </a:rPr>
                          <m:t>𝒒</m:t>
                        </m:r>
                      </m:e>
                      <m:sub>
                        <m:r>
                          <a:rPr lang="en-US" altLang="zh-CN" sz="2800" b="1" i="1">
                            <a:latin typeface="Cambria Math"/>
                          </a:rPr>
                          <m:t>𝟒</m:t>
                        </m:r>
                      </m:sub>
                    </m:sSub>
                    <m:r>
                      <a:rPr lang="en-US" altLang="zh-CN" sz="2800" b="1">
                        <a:latin typeface="Cambria Math"/>
                      </a:rPr>
                      <m:t>|</m:t>
                    </m:r>
                  </m:oMath>
                </a14:m>
                <a:endParaRPr lang="zh-CN" altLang="zh-CN" sz="2800" b="1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b="1" dirty="0"/>
                  <a:t>D</a:t>
                </a:r>
                <a:r>
                  <a:rPr lang="zh-CN" altLang="zh-CN" sz="2800" b="1" dirty="0"/>
                  <a:t>．电荷符号相同且</a:t>
                </a:r>
                <a14:m>
                  <m:oMath xmlns:m="http://schemas.openxmlformats.org/officeDocument/2006/math">
                    <m:r>
                      <a:rPr lang="en-US" altLang="zh-CN" sz="2800" b="1">
                        <a:latin typeface="Cambria Math"/>
                      </a:rPr>
                      <m:t>|</m:t>
                    </m:r>
                    <m:sSub>
                      <m:sSubPr>
                        <m:ctrlPr>
                          <a:rPr lang="zh-CN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/>
                          </a:rPr>
                          <m:t>𝒒</m:t>
                        </m:r>
                      </m:e>
                      <m:sub>
                        <m:r>
                          <a:rPr lang="en-US" altLang="zh-CN" sz="2800" b="1" i="1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sz="2800" b="1">
                        <a:latin typeface="Cambria Math"/>
                      </a:rPr>
                      <m:t>|&lt;</m:t>
                    </m:r>
                    <m:sSub>
                      <m:sSubPr>
                        <m:ctrlPr>
                          <a:rPr lang="zh-CN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/>
                          </a:rPr>
                          <m:t>|</m:t>
                        </m:r>
                        <m:r>
                          <a:rPr lang="en-US" altLang="zh-CN" sz="2800" b="1" i="1">
                            <a:latin typeface="Cambria Math"/>
                          </a:rPr>
                          <m:t>𝒒</m:t>
                        </m:r>
                      </m:e>
                      <m:sub>
                        <m:r>
                          <a:rPr lang="en-US" altLang="zh-CN" sz="2800" b="1" i="1">
                            <a:latin typeface="Cambria Math"/>
                          </a:rPr>
                          <m:t>𝟒</m:t>
                        </m:r>
                      </m:sub>
                    </m:sSub>
                    <m:r>
                      <a:rPr lang="en-US" altLang="zh-CN" sz="2800" b="1">
                        <a:latin typeface="Cambria Math"/>
                      </a:rPr>
                      <m:t>|</m:t>
                    </m:r>
                  </m:oMath>
                </a14:m>
                <a:r>
                  <a:rPr lang="en-US" altLang="zh-CN" sz="2800" b="1" dirty="0"/>
                  <a:t> </a:t>
                </a:r>
                <a:endParaRPr lang="zh-CN" altLang="zh-CN" sz="2800" b="1" dirty="0"/>
              </a:p>
              <a:p>
                <a:pPr>
                  <a:lnSpc>
                    <a:spcPct val="150000"/>
                  </a:lnSpc>
                </a:pPr>
                <a:endParaRPr lang="zh-CN" altLang="en-US" sz="2800" b="1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881" y="810410"/>
                <a:ext cx="9452977" cy="5448286"/>
              </a:xfrm>
              <a:prstGeom prst="rect">
                <a:avLst/>
              </a:prstGeom>
              <a:blipFill rotWithShape="1">
                <a:blip r:embed="rId5"/>
                <a:stretch>
                  <a:fillRect l="-1354" r="-15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8451418"/>
              </p:ext>
            </p:extLst>
          </p:nvPr>
        </p:nvGraphicFramePr>
        <p:xfrm>
          <a:off x="7340226" y="3666966"/>
          <a:ext cx="1403350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1" name="Equation" r:id="rId6" imgW="571320" imgH="393480" progId="Equation.DSMT4">
                  <p:embed/>
                </p:oleObj>
              </mc:Choice>
              <mc:Fallback>
                <p:oleObj name="Equation" r:id="rId6" imgW="571320" imgH="39348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0226" y="3666966"/>
                        <a:ext cx="1403350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5224074"/>
              </p:ext>
            </p:extLst>
          </p:nvPr>
        </p:nvGraphicFramePr>
        <p:xfrm>
          <a:off x="7449299" y="5023394"/>
          <a:ext cx="1394894" cy="4755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2" name="Equation" r:id="rId8" imgW="558720" imgH="190440" progId="Equation.DSMT4">
                  <p:embed/>
                </p:oleObj>
              </mc:Choice>
              <mc:Fallback>
                <p:oleObj name="Equation" r:id="rId8" imgW="558720" imgH="190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449299" y="5023394"/>
                        <a:ext cx="1394894" cy="4755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388308" y="5904484"/>
            <a:ext cx="88488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FF0000"/>
                </a:solidFill>
              </a:rPr>
              <a:t>如果带电粒子</a:t>
            </a:r>
            <a:r>
              <a:rPr lang="en-US" altLang="zh-CN" sz="2400" b="1" dirty="0">
                <a:solidFill>
                  <a:srgbClr val="FF0000"/>
                </a:solidFill>
              </a:rPr>
              <a:t>1</a:t>
            </a:r>
            <a:r>
              <a:rPr lang="zh-CN" altLang="zh-CN" sz="2400" b="1" dirty="0">
                <a:solidFill>
                  <a:srgbClr val="FF0000"/>
                </a:solidFill>
              </a:rPr>
              <a:t>和</a:t>
            </a:r>
            <a:r>
              <a:rPr lang="en-US" altLang="zh-CN" sz="2400" b="1" dirty="0">
                <a:solidFill>
                  <a:srgbClr val="FF0000"/>
                </a:solidFill>
              </a:rPr>
              <a:t>4</a:t>
            </a:r>
            <a:r>
              <a:rPr lang="zh-CN" altLang="zh-CN" sz="2400" b="1" dirty="0">
                <a:solidFill>
                  <a:srgbClr val="FF0000"/>
                </a:solidFill>
              </a:rPr>
              <a:t>所受磁场力大小相等，</a:t>
            </a:r>
            <a:r>
              <a:rPr lang="zh-CN" altLang="zh-CN" sz="2400" b="1" dirty="0" smtClean="0">
                <a:solidFill>
                  <a:srgbClr val="FF0000"/>
                </a:solidFill>
              </a:rPr>
              <a:t>方向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相同，时，则（）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972526" y="5735568"/>
            <a:ext cx="17160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smtClean="0">
                <a:solidFill>
                  <a:srgbClr val="FF0000"/>
                </a:solidFill>
              </a:rPr>
              <a:t>B</a:t>
            </a:r>
            <a:endParaRPr lang="zh-CN" altLang="en-US" sz="28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2853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/>
        </p:nvSpPr>
        <p:spPr>
          <a:xfrm>
            <a:off x="944339" y="178378"/>
            <a:ext cx="513567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b="1" smtClean="0"/>
              <a:t>两根通有电流的导线如图所示，求</a:t>
            </a:r>
            <a:r>
              <a:rPr lang="en-US" altLang="zh-CN" sz="2800" b="1" smtClean="0"/>
              <a:t>A</a:t>
            </a:r>
            <a:r>
              <a:rPr lang="zh-CN" altLang="en-US" sz="2800" b="1" smtClean="0"/>
              <a:t>点处的磁场大小及方向？</a:t>
            </a:r>
            <a:endParaRPr lang="zh-CN" altLang="en-US" sz="2800" b="1"/>
          </a:p>
        </p:txBody>
      </p:sp>
      <p:grpSp>
        <p:nvGrpSpPr>
          <p:cNvPr id="31" name="组合 30"/>
          <p:cNvGrpSpPr/>
          <p:nvPr/>
        </p:nvGrpSpPr>
        <p:grpSpPr>
          <a:xfrm>
            <a:off x="1195616" y="1809594"/>
            <a:ext cx="4633115" cy="3206663"/>
            <a:chOff x="551185" y="2540734"/>
            <a:chExt cx="3236180" cy="2165260"/>
          </a:xfrm>
        </p:grpSpPr>
        <p:pic>
          <p:nvPicPr>
            <p:cNvPr id="32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1185" y="2708919"/>
              <a:ext cx="2713038" cy="1997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" name="Text Box 24"/>
            <p:cNvSpPr txBox="1">
              <a:spLocks noChangeArrowheads="1"/>
            </p:cNvSpPr>
            <p:nvPr/>
          </p:nvSpPr>
          <p:spPr bwMode="auto">
            <a:xfrm>
              <a:off x="3063465" y="3720557"/>
              <a:ext cx="723900" cy="25876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6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宋体" pitchFamily="2" charset="-122"/>
                  <a:cs typeface="宋体" pitchFamily="2" charset="-122"/>
                </a:rPr>
                <a:t>导线</a:t>
              </a:r>
              <a:r>
                <a:rPr kumimoji="0" lang="en-US" altLang="zh-CN" sz="16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宋体" pitchFamily="2" charset="-122"/>
                  <a:cs typeface="宋体" pitchFamily="2" charset="-122"/>
                </a:rPr>
                <a:t>1</a:t>
              </a:r>
              <a:endParaRPr kumimoji="0" lang="zh-CN" altLang="zh-CN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34" name="Text Box 24"/>
            <p:cNvSpPr txBox="1">
              <a:spLocks noChangeArrowheads="1"/>
            </p:cNvSpPr>
            <p:nvPr/>
          </p:nvSpPr>
          <p:spPr bwMode="auto">
            <a:xfrm>
              <a:off x="624146" y="2540734"/>
              <a:ext cx="723900" cy="25876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6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宋体" pitchFamily="2" charset="-122"/>
                  <a:cs typeface="宋体" pitchFamily="2" charset="-122"/>
                </a:rPr>
                <a:t>导线</a:t>
              </a:r>
              <a:r>
                <a:rPr kumimoji="0" lang="en-US" altLang="zh-CN" sz="16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宋体" pitchFamily="2" charset="-122"/>
                  <a:cs typeface="宋体" pitchFamily="2" charset="-122"/>
                </a:rPr>
                <a:t>2</a:t>
              </a:r>
              <a:endParaRPr kumimoji="0" lang="zh-CN" altLang="zh-CN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</p:grpSp>
      <p:sp>
        <p:nvSpPr>
          <p:cNvPr id="35" name="Rectangle 17"/>
          <p:cNvSpPr>
            <a:spLocks noChangeArrowheads="1"/>
          </p:cNvSpPr>
          <p:nvPr/>
        </p:nvSpPr>
        <p:spPr bwMode="auto">
          <a:xfrm>
            <a:off x="7209576" y="1347929"/>
            <a:ext cx="170131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根据公式 </a:t>
            </a:r>
            <a:endParaRPr kumimoji="0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pic>
        <p:nvPicPr>
          <p:cNvPr id="36" name="Picture 16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1783" y="1050705"/>
            <a:ext cx="1246691" cy="956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Rectangle 19"/>
          <p:cNvSpPr>
            <a:spLocks noChangeArrowheads="1"/>
          </p:cNvSpPr>
          <p:nvPr/>
        </p:nvSpPr>
        <p:spPr bwMode="auto">
          <a:xfrm>
            <a:off x="6453001" y="2004614"/>
            <a:ext cx="10983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A</a:t>
            </a:r>
            <a:r>
              <a:rPr kumimoji="0" lang="zh-CN" altLang="en-US" sz="2400" b="0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点</a:t>
            </a:r>
            <a:r>
              <a:rPr kumimoji="0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： </a:t>
            </a:r>
            <a:endParaRPr kumimoji="0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9513832" y="2849162"/>
            <a:ext cx="11608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>
                <a:sym typeface="Symbol"/>
              </a:rPr>
              <a:t></a:t>
            </a:r>
            <a:r>
              <a:rPr lang="en-US" altLang="zh-CN" b="1"/>
              <a:t>  </a:t>
            </a:r>
            <a:r>
              <a:rPr lang="zh-CN" altLang="zh-CN" b="1"/>
              <a:t>入页面</a:t>
            </a:r>
            <a:endParaRPr lang="zh-CN" altLang="en-US" b="1"/>
          </a:p>
        </p:txBody>
      </p:sp>
      <p:graphicFrame>
        <p:nvGraphicFramePr>
          <p:cNvPr id="39" name="Object 2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8346594"/>
              </p:ext>
            </p:extLst>
          </p:nvPr>
        </p:nvGraphicFramePr>
        <p:xfrm>
          <a:off x="7142901" y="2718165"/>
          <a:ext cx="1435100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2" name="Equation" r:id="rId5" imgW="685800" imgH="393480" progId="Equation.DSMT4">
                  <p:embed/>
                </p:oleObj>
              </mc:Choice>
              <mc:Fallback>
                <p:oleObj name="Equation" r:id="rId5" imgW="685800" imgH="39348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2901" y="2718165"/>
                        <a:ext cx="1435100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Text Box 21"/>
          <p:cNvSpPr txBox="1">
            <a:spLocks noChangeArrowheads="1"/>
          </p:cNvSpPr>
          <p:nvPr/>
        </p:nvSpPr>
        <p:spPr bwMode="auto">
          <a:xfrm>
            <a:off x="7390863" y="2017983"/>
            <a:ext cx="37321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6969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smtClean="0">
                <a:solidFill>
                  <a:srgbClr val="000000"/>
                </a:solidFill>
                <a:latin typeface="Times New Roman" pitchFamily="18" charset="0"/>
              </a:rPr>
              <a:t>导线 </a:t>
            </a:r>
            <a:r>
              <a:rPr kumimoji="1" lang="en-US" altLang="zh-CN" sz="2400" b="1" smtClean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kumimoji="1" lang="zh-CN" altLang="en-US" sz="2400" b="1" smtClean="0">
                <a:solidFill>
                  <a:srgbClr val="000000"/>
                </a:solidFill>
                <a:latin typeface="Times New Roman" pitchFamily="18" charset="0"/>
              </a:rPr>
              <a:t>在</a:t>
            </a:r>
            <a:r>
              <a:rPr kumimoji="1" lang="en-US" altLang="zh-CN" sz="2400" b="1" smtClean="0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kumimoji="1" lang="zh-CN" altLang="en-US" sz="2400" b="1" smtClean="0">
                <a:solidFill>
                  <a:srgbClr val="000000"/>
                </a:solidFill>
                <a:latin typeface="Times New Roman" pitchFamily="18" charset="0"/>
              </a:rPr>
              <a:t>点所产生的磁场</a:t>
            </a:r>
          </a:p>
        </p:txBody>
      </p:sp>
      <p:sp>
        <p:nvSpPr>
          <p:cNvPr id="41" name="Text Box 21"/>
          <p:cNvSpPr txBox="1">
            <a:spLocks noChangeArrowheads="1"/>
          </p:cNvSpPr>
          <p:nvPr/>
        </p:nvSpPr>
        <p:spPr bwMode="auto">
          <a:xfrm>
            <a:off x="7551377" y="3806669"/>
            <a:ext cx="37321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6969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smtClean="0">
                <a:solidFill>
                  <a:srgbClr val="000000"/>
                </a:solidFill>
                <a:latin typeface="Times New Roman" pitchFamily="18" charset="0"/>
              </a:rPr>
              <a:t>导线 </a:t>
            </a:r>
            <a:r>
              <a:rPr kumimoji="1" lang="en-US" altLang="zh-CN" sz="2400" b="1" smtClean="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kumimoji="1" lang="zh-CN" altLang="en-US" sz="2400" b="1" smtClean="0">
                <a:solidFill>
                  <a:srgbClr val="000000"/>
                </a:solidFill>
                <a:latin typeface="Times New Roman" pitchFamily="18" charset="0"/>
              </a:rPr>
              <a:t>在</a:t>
            </a:r>
            <a:r>
              <a:rPr kumimoji="1" lang="en-US" altLang="zh-CN" sz="2400" b="1" smtClean="0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kumimoji="1" lang="zh-CN" altLang="en-US" sz="2400" b="1" smtClean="0">
                <a:solidFill>
                  <a:srgbClr val="000000"/>
                </a:solidFill>
                <a:latin typeface="Times New Roman" pitchFamily="18" charset="0"/>
              </a:rPr>
              <a:t>点所产生的磁场</a:t>
            </a:r>
          </a:p>
        </p:txBody>
      </p:sp>
      <p:graphicFrame>
        <p:nvGraphicFramePr>
          <p:cNvPr id="42" name="对象 4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4143287"/>
              </p:ext>
            </p:extLst>
          </p:nvPr>
        </p:nvGraphicFramePr>
        <p:xfrm>
          <a:off x="7096864" y="4343765"/>
          <a:ext cx="1460500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3" name="Equation" r:id="rId7" imgW="698400" imgH="393480" progId="Equation.DSMT4">
                  <p:embed/>
                </p:oleObj>
              </mc:Choice>
              <mc:Fallback>
                <p:oleObj name="Equation" r:id="rId7" imgW="698400" imgH="39348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6864" y="4343765"/>
                        <a:ext cx="1460500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矩形 42"/>
          <p:cNvSpPr/>
          <p:nvPr/>
        </p:nvSpPr>
        <p:spPr>
          <a:xfrm>
            <a:off x="9523503" y="4571566"/>
            <a:ext cx="11608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b="1"/>
              <a:t>⊙ 出页面</a:t>
            </a:r>
            <a:endParaRPr lang="zh-CN" altLang="en-US" b="1"/>
          </a:p>
        </p:txBody>
      </p:sp>
      <p:sp>
        <p:nvSpPr>
          <p:cNvPr id="44" name="矩形 43"/>
          <p:cNvSpPr/>
          <p:nvPr/>
        </p:nvSpPr>
        <p:spPr>
          <a:xfrm>
            <a:off x="2831697" y="5385596"/>
            <a:ext cx="59394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smtClean="0"/>
              <a:t>所以</a:t>
            </a:r>
            <a:r>
              <a:rPr lang="en-US" altLang="zh-CN" sz="2400" b="1" smtClean="0"/>
              <a:t>A</a:t>
            </a:r>
            <a:r>
              <a:rPr lang="zh-CN" altLang="en-US" sz="2400" b="1" smtClean="0"/>
              <a:t>点</a:t>
            </a:r>
            <a:r>
              <a:rPr lang="zh-CN" altLang="en-US" sz="2400" b="1"/>
              <a:t>处的磁感应强度的</a:t>
            </a:r>
            <a:r>
              <a:rPr lang="zh-CN" altLang="en-US" sz="2400" b="1" smtClean="0"/>
              <a:t>大小及方向为：</a:t>
            </a:r>
            <a:endParaRPr lang="zh-CN" altLang="en-US" sz="2400"/>
          </a:p>
        </p:txBody>
      </p:sp>
      <p:graphicFrame>
        <p:nvGraphicFramePr>
          <p:cNvPr id="45" name="对象 4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4993035"/>
              </p:ext>
            </p:extLst>
          </p:nvPr>
        </p:nvGraphicFramePr>
        <p:xfrm>
          <a:off x="8579056" y="5236551"/>
          <a:ext cx="1355725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4" name="Equation" r:id="rId9" imgW="647640" imgH="393480" progId="Equation.DSMT4">
                  <p:embed/>
                </p:oleObj>
              </mc:Choice>
              <mc:Fallback>
                <p:oleObj name="Equation" r:id="rId9" imgW="647640" imgH="39348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9056" y="5236551"/>
                        <a:ext cx="1355725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矩形 45"/>
          <p:cNvSpPr/>
          <p:nvPr/>
        </p:nvSpPr>
        <p:spPr>
          <a:xfrm>
            <a:off x="10318568" y="5481965"/>
            <a:ext cx="11608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>
                <a:sym typeface="Symbol"/>
              </a:rPr>
              <a:t></a:t>
            </a:r>
            <a:r>
              <a:rPr lang="en-US" altLang="zh-CN" b="1"/>
              <a:t>  </a:t>
            </a:r>
            <a:r>
              <a:rPr lang="zh-CN" altLang="zh-CN" b="1"/>
              <a:t>入页面</a:t>
            </a:r>
            <a:endParaRPr lang="zh-CN" altLang="en-US" b="1"/>
          </a:p>
        </p:txBody>
      </p:sp>
    </p:spTree>
    <p:extLst>
      <p:ext uri="{BB962C8B-B14F-4D97-AF65-F5344CB8AC3E}">
        <p14:creationId xmlns:p14="http://schemas.microsoft.com/office/powerpoint/2010/main" val="1738242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/>
      <p:bldP spid="38" grpId="0"/>
      <p:bldP spid="40" grpId="0"/>
      <p:bldP spid="41" grpId="0"/>
      <p:bldP spid="43" grpId="0"/>
      <p:bldP spid="44" grpId="0"/>
      <p:bldP spid="4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3339" y="108665"/>
            <a:ext cx="3070071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b="1" dirty="0" smtClean="0"/>
              <a:t>2. </a:t>
            </a:r>
            <a:r>
              <a:rPr lang="zh-CN" altLang="en-US" sz="2800" b="1" dirty="0" smtClean="0"/>
              <a:t>圆电流的磁场：</a:t>
            </a:r>
            <a:endParaRPr lang="en-US" altLang="zh-CN" sz="2800" b="1" dirty="0" smtClean="0"/>
          </a:p>
        </p:txBody>
      </p:sp>
      <p:sp>
        <p:nvSpPr>
          <p:cNvPr id="3" name="文本框 2"/>
          <p:cNvSpPr txBox="1"/>
          <p:nvPr/>
        </p:nvSpPr>
        <p:spPr>
          <a:xfrm>
            <a:off x="431371" y="785949"/>
            <a:ext cx="702147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dirty="0" smtClean="0"/>
              <a:t>在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圆环（或线圈）中心</a:t>
            </a:r>
            <a:r>
              <a:rPr lang="zh-CN" altLang="en-US" sz="2800" dirty="0" smtClean="0"/>
              <a:t>处的磁感应强度为：</a:t>
            </a:r>
            <a:endParaRPr lang="zh-CN" altLang="en-US" sz="28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67" y="2955303"/>
            <a:ext cx="4038600" cy="3876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3765" y="1416892"/>
            <a:ext cx="1854200" cy="77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999990" y="4581129"/>
            <a:ext cx="5727700" cy="19335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29573" y="2173483"/>
            <a:ext cx="7056740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其中，</a:t>
            </a:r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为线圈匝数，</a:t>
            </a:r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为电流，</a:t>
            </a:r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为半径。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47748" y="1601557"/>
            <a:ext cx="16321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圆心点处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99990" y="3166492"/>
            <a:ext cx="49233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通以电流的一个导线回路是一个磁偶极子，电流环的磁场类似于短的条形磁铁的磁场。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958030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5843" y="156613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3200" dirty="0"/>
              <a:t>在同一平面上的两个同心圆导线回路各携带一个电流。较大的回路为</a:t>
            </a:r>
            <a:r>
              <a:rPr lang="en-US" altLang="zh-CN" sz="3200" dirty="0"/>
              <a:t>8.46 A</a:t>
            </a:r>
            <a:r>
              <a:rPr lang="zh-CN" altLang="en-US" sz="3200" dirty="0" smtClean="0"/>
              <a:t>的</a:t>
            </a:r>
            <a:r>
              <a:rPr lang="zh-CN" altLang="en-US" sz="3200" dirty="0"/>
              <a:t>电流，顺时针循环，半径为</a:t>
            </a:r>
            <a:r>
              <a:rPr lang="en-US" altLang="zh-CN" sz="3200" dirty="0"/>
              <a:t>6.20</a:t>
            </a:r>
            <a:r>
              <a:rPr lang="zh-CN" altLang="en-US" sz="3200" dirty="0"/>
              <a:t>厘米。较小的环半径为</a:t>
            </a:r>
            <a:r>
              <a:rPr lang="en-US" altLang="zh-CN" sz="3200" dirty="0"/>
              <a:t>4.42</a:t>
            </a:r>
            <a:r>
              <a:rPr lang="zh-CN" altLang="en-US" sz="3200" dirty="0"/>
              <a:t>厘米。如果系统中心的总磁场为零，那么小回路中电流的大小和方向是什么</a:t>
            </a:r>
            <a:r>
              <a:rPr lang="zh-CN" altLang="en-US" sz="3200" dirty="0" smtClean="0"/>
              <a:t>？</a:t>
            </a:r>
            <a:endParaRPr lang="en-US" altLang="zh-CN" sz="3200" dirty="0" smtClean="0"/>
          </a:p>
          <a:p>
            <a:pPr marL="0" indent="0">
              <a:buNone/>
            </a:pPr>
            <a:r>
              <a:rPr lang="en-US" altLang="zh-CN" sz="3200" dirty="0"/>
              <a:t>A.  6.03 A </a:t>
            </a:r>
            <a:r>
              <a:rPr lang="zh-CN" altLang="en-US" sz="3200" dirty="0" smtClean="0"/>
              <a:t>逆时针</a:t>
            </a:r>
            <a:r>
              <a:rPr lang="en-US" altLang="zh-CN" sz="3200" dirty="0" smtClean="0"/>
              <a:t> </a:t>
            </a:r>
            <a:r>
              <a:rPr lang="en-US" altLang="zh-CN" sz="3200" dirty="0"/>
              <a:t/>
            </a:r>
            <a:br>
              <a:rPr lang="en-US" altLang="zh-CN" sz="3200" dirty="0"/>
            </a:br>
            <a:r>
              <a:rPr lang="en-US" altLang="zh-CN" sz="3200" dirty="0"/>
              <a:t>B.  6.03 A </a:t>
            </a:r>
            <a:r>
              <a:rPr lang="zh-CN" altLang="en-US" sz="3200" dirty="0" smtClean="0"/>
              <a:t>顺时针</a:t>
            </a:r>
            <a:r>
              <a:rPr lang="en-US" altLang="zh-CN" sz="3200" dirty="0" smtClean="0"/>
              <a:t> </a:t>
            </a:r>
            <a:r>
              <a:rPr lang="en-US" altLang="zh-CN" sz="3200" dirty="0"/>
              <a:t/>
            </a:r>
            <a:br>
              <a:rPr lang="en-US" altLang="zh-CN" sz="3200" dirty="0"/>
            </a:br>
            <a:r>
              <a:rPr lang="en-US" altLang="zh-CN" sz="3200" dirty="0"/>
              <a:t>C.  12.8 A </a:t>
            </a:r>
            <a:r>
              <a:rPr lang="zh-CN" altLang="en-US" sz="3200" dirty="0" smtClean="0"/>
              <a:t>逆时针</a:t>
            </a:r>
            <a:r>
              <a:rPr lang="en-US" altLang="zh-CN" sz="3200" dirty="0" smtClean="0"/>
              <a:t> </a:t>
            </a:r>
            <a:r>
              <a:rPr lang="en-US" altLang="zh-CN" sz="3200" dirty="0"/>
              <a:t/>
            </a:r>
            <a:br>
              <a:rPr lang="en-US" altLang="zh-CN" sz="3200" dirty="0"/>
            </a:br>
            <a:r>
              <a:rPr lang="en-US" altLang="zh-CN" sz="3200" dirty="0"/>
              <a:t>D.  12.8 A </a:t>
            </a:r>
            <a:r>
              <a:rPr lang="zh-CN" altLang="en-US" sz="3200" dirty="0" smtClean="0"/>
              <a:t>顺时针</a:t>
            </a:r>
            <a:r>
              <a:rPr lang="en-US" altLang="zh-CN" sz="3200" dirty="0" smtClean="0"/>
              <a:t> </a:t>
            </a:r>
            <a:endParaRPr lang="zh-CN" altLang="zh-CN" sz="3200" dirty="0"/>
          </a:p>
          <a:p>
            <a:pPr marL="0" indent="0">
              <a:buNone/>
            </a:pPr>
            <a:endParaRPr lang="zh-CN" alt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873946" y="794513"/>
            <a:ext cx="31565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rgbClr val="000099"/>
                </a:solidFill>
              </a:rPr>
              <a:t>单项选择题：</a:t>
            </a:r>
            <a:endParaRPr lang="zh-CN" altLang="en-US" sz="3200" b="1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58357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04849" y="855900"/>
            <a:ext cx="10865827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b="1" dirty="0"/>
              <a:t>在同一平面上的两个同心圆导线回路各携带一个电流。较大的回路为</a:t>
            </a:r>
            <a:r>
              <a:rPr lang="en-US" altLang="zh-CN" sz="2800" b="1" dirty="0"/>
              <a:t>8.46 A</a:t>
            </a:r>
            <a:r>
              <a:rPr lang="zh-CN" altLang="en-US" sz="2800" b="1" dirty="0"/>
              <a:t>的电流，顺时针循环，半径为</a:t>
            </a:r>
            <a:r>
              <a:rPr lang="en-US" altLang="zh-CN" sz="2800" b="1" dirty="0"/>
              <a:t>6.20</a:t>
            </a:r>
            <a:r>
              <a:rPr lang="zh-CN" altLang="en-US" sz="2800" b="1" dirty="0"/>
              <a:t>厘米。较小的环半径为</a:t>
            </a:r>
            <a:r>
              <a:rPr lang="en-US" altLang="zh-CN" sz="2800" b="1" dirty="0"/>
              <a:t>4.42</a:t>
            </a:r>
            <a:r>
              <a:rPr lang="zh-CN" altLang="en-US" sz="2800" b="1" dirty="0"/>
              <a:t>厘米。如果系统中心的总磁场为零，那么小回路中电流的大小和方向是什么？</a:t>
            </a:r>
            <a:endParaRPr lang="en-US" altLang="zh-CN" sz="2800" b="1" dirty="0"/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2438400" y="2950185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/>
              <a:t>6.03 A </a:t>
            </a:r>
            <a:r>
              <a:rPr lang="zh-CN" altLang="en-US" sz="2800" dirty="0"/>
              <a:t>逆时针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2438400" y="3807435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/>
              <a:t>6.03 A </a:t>
            </a:r>
            <a:r>
              <a:rPr lang="zh-CN" altLang="en-US" sz="2800" dirty="0"/>
              <a:t>顺时针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2438400" y="4664685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/>
              <a:t>12.8 A </a:t>
            </a:r>
            <a:r>
              <a:rPr lang="zh-CN" altLang="en-US" sz="2800" dirty="0"/>
              <a:t>逆时针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2438400" y="5521935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/>
              <a:t>12.8 A </a:t>
            </a:r>
            <a:r>
              <a:rPr lang="zh-CN" altLang="en-US" sz="2800" dirty="0"/>
              <a:t>顺时针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014478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871728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728978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586228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14344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7695" y="303409"/>
            <a:ext cx="4152099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b="1" dirty="0" smtClean="0"/>
              <a:t>3. 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理想螺线管</a:t>
            </a:r>
            <a:r>
              <a:rPr lang="zh-CN" altLang="en-US" sz="2800" b="1" dirty="0" smtClean="0"/>
              <a:t>内的磁场：</a:t>
            </a:r>
            <a:endParaRPr lang="en-US" altLang="zh-CN" sz="2800" b="1" dirty="0" smtClean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67261" y="2713768"/>
            <a:ext cx="10609261" cy="3721662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1892" y="242643"/>
            <a:ext cx="3175000" cy="75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2363241" y="6322304"/>
            <a:ext cx="52629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图</a:t>
            </a:r>
            <a:r>
              <a:rPr lang="en-US" altLang="zh-CN" sz="2400" dirty="0" smtClean="0"/>
              <a:t>19.38 a</a:t>
            </a:r>
            <a:r>
              <a:rPr lang="zh-CN" altLang="en-US" sz="2400" dirty="0" smtClean="0"/>
              <a:t>）螺线管。</a:t>
            </a:r>
            <a:r>
              <a:rPr lang="en-US" altLang="zh-CN" sz="2400" dirty="0" smtClean="0"/>
              <a:t>b</a:t>
            </a:r>
            <a:r>
              <a:rPr lang="zh-CN" altLang="en-US" sz="2400" dirty="0" smtClean="0"/>
              <a:t>）螺线管的磁场</a:t>
            </a:r>
            <a:endParaRPr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431371" y="934351"/>
            <a:ext cx="7875361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b="1" dirty="0" smtClean="0"/>
              <a:t>其中 </a:t>
            </a:r>
            <a:r>
              <a:rPr lang="en-US" altLang="zh-CN" sz="2800" b="1" dirty="0" smtClean="0"/>
              <a:t>N</a:t>
            </a:r>
            <a:r>
              <a:rPr lang="zh-CN" altLang="en-US" sz="2800" b="1" dirty="0" smtClean="0"/>
              <a:t>为线圈匝数，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N/L </a:t>
            </a:r>
            <a:r>
              <a:rPr lang="zh-CN" altLang="en-US" sz="2800" b="1" dirty="0" smtClean="0"/>
              <a:t>为单位长度的匝数。</a:t>
            </a:r>
            <a:endParaRPr lang="zh-CN" altLang="en-US" sz="28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339039" y="1653178"/>
            <a:ext cx="11517601" cy="1122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b="1" dirty="0" smtClean="0"/>
              <a:t>注意：该磁场与螺线管的半径无关。螺线管是产生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近似匀强磁场</a:t>
            </a:r>
            <a:r>
              <a:rPr lang="zh-CN" altLang="en-US" sz="2800" b="1" dirty="0" smtClean="0"/>
              <a:t>的一种方式。</a:t>
            </a:r>
            <a:endParaRPr lang="zh-CN" altLang="en-US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6454604" y="2338706"/>
            <a:ext cx="5184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绕得很紧密的“无限长”螺线管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5654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391477" y="739607"/>
            <a:ext cx="9318195" cy="434096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43339" y="108665"/>
            <a:ext cx="3070071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b="1" dirty="0" smtClean="0"/>
              <a:t>应用：磁共振成像</a:t>
            </a:r>
            <a:endParaRPr lang="en-US" altLang="zh-CN" sz="2800" b="1" dirty="0" smtClean="0"/>
          </a:p>
        </p:txBody>
      </p:sp>
      <p:sp>
        <p:nvSpPr>
          <p:cNvPr id="4" name="文本框 3"/>
          <p:cNvSpPr txBox="1"/>
          <p:nvPr/>
        </p:nvSpPr>
        <p:spPr>
          <a:xfrm>
            <a:off x="431371" y="5111404"/>
            <a:ext cx="11517601" cy="1437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 dirty="0" smtClean="0"/>
              <a:t>      通过</a:t>
            </a:r>
            <a:r>
              <a:rPr lang="zh-CN" altLang="en-US" sz="2400" b="1" dirty="0"/>
              <a:t>外加梯度磁场检测所发射出</a:t>
            </a:r>
            <a:r>
              <a:rPr lang="zh-CN" altLang="en-US" sz="2400" b="1" dirty="0" smtClean="0"/>
              <a:t>的电磁波，</a:t>
            </a:r>
            <a:r>
              <a:rPr lang="zh-CN" altLang="en-US" sz="2400" b="1" dirty="0"/>
              <a:t>据此可以绘制成物体内部的结构图像，经常为人们所利用的原子核有</a:t>
            </a:r>
            <a:r>
              <a:rPr lang="en-US" altLang="zh-CN" sz="2400" b="1" dirty="0"/>
              <a:t>: 1H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11B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13C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17O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19F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31P</a:t>
            </a:r>
            <a:r>
              <a:rPr lang="zh-CN" altLang="en-US" sz="2400" b="1" dirty="0"/>
              <a:t>，在物理、化学、医疗、石油化工、考古等方面获得了广泛的应用。</a:t>
            </a:r>
          </a:p>
        </p:txBody>
      </p:sp>
    </p:spTree>
    <p:extLst>
      <p:ext uri="{BB962C8B-B14F-4D97-AF65-F5344CB8AC3E}">
        <p14:creationId xmlns:p14="http://schemas.microsoft.com/office/powerpoint/2010/main" val="105117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71113" y="1528078"/>
            <a:ext cx="85449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 smtClean="0"/>
              <a:t>作业：</a:t>
            </a:r>
            <a:r>
              <a:rPr lang="en-US" altLang="zh-CN" sz="3200" b="1" dirty="0" smtClean="0"/>
              <a:t>136</a:t>
            </a:r>
            <a:r>
              <a:rPr lang="zh-CN" altLang="en-US" sz="3200" b="1" dirty="0" smtClean="0"/>
              <a:t>页计算题</a:t>
            </a:r>
            <a:r>
              <a:rPr lang="en-US" altLang="zh-CN" sz="3200" b="1" dirty="0" smtClean="0"/>
              <a:t>38</a:t>
            </a:r>
            <a:r>
              <a:rPr lang="zh-CN" altLang="en-US" sz="3200" b="1" dirty="0" smtClean="0"/>
              <a:t>题，</a:t>
            </a:r>
            <a:r>
              <a:rPr lang="en-US" altLang="zh-CN" sz="3200" b="1" dirty="0" smtClean="0"/>
              <a:t>41</a:t>
            </a:r>
            <a:r>
              <a:rPr lang="zh-CN" altLang="en-US" sz="3200" b="1" dirty="0" smtClean="0"/>
              <a:t>题</a:t>
            </a:r>
            <a:endParaRPr lang="en-US" altLang="zh-CN" sz="3200" b="1" dirty="0" smtClean="0"/>
          </a:p>
          <a:p>
            <a:pPr>
              <a:lnSpc>
                <a:spcPct val="150000"/>
              </a:lnSpc>
            </a:pPr>
            <a:r>
              <a:rPr lang="zh-CN" altLang="en-US" sz="3200" b="1" smtClean="0"/>
              <a:t>             复习</a:t>
            </a:r>
            <a:r>
              <a:rPr lang="en-US" altLang="zh-CN" sz="3200" b="1" dirty="0" smtClean="0"/>
              <a:t>16</a:t>
            </a:r>
            <a:r>
              <a:rPr lang="zh-CN" altLang="en-US" sz="3200" b="1" dirty="0" smtClean="0"/>
              <a:t>章，写总结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132230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2079</TotalTime>
  <Words>1524</Words>
  <Application>Microsoft Office PowerPoint</Application>
  <PresentationFormat>宽屏</PresentationFormat>
  <Paragraphs>137</Paragraphs>
  <Slides>19</Slides>
  <Notes>8</Notes>
  <HiddenSlides>3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1" baseType="lpstr">
      <vt:lpstr>Microsoft Yahei</vt:lpstr>
      <vt:lpstr>SimHei</vt:lpstr>
      <vt:lpstr>宋体</vt:lpstr>
      <vt:lpstr>Arial</vt:lpstr>
      <vt:lpstr>Calibri</vt:lpstr>
      <vt:lpstr>Calibri Light</vt:lpstr>
      <vt:lpstr>Cambria Math</vt:lpstr>
      <vt:lpstr>Symbol</vt:lpstr>
      <vt:lpstr>Times New Roman</vt:lpstr>
      <vt:lpstr>Wingdings</vt:lpstr>
      <vt:lpstr>Office 主题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单项选择题：</vt:lpstr>
      <vt:lpstr>PowerPoint 演示文稿</vt:lpstr>
      <vt:lpstr>PowerPoint 演示文稿</vt:lpstr>
      <vt:lpstr>PowerPoint 演示文稿</vt:lpstr>
      <vt:lpstr>PowerPoint 演示文稿</vt:lpstr>
      <vt:lpstr>练习题19.8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Www.SangSan.Cn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桑三博客</dc:creator>
  <cp:lastModifiedBy>hsl</cp:lastModifiedBy>
  <cp:revision>171</cp:revision>
  <dcterms:created xsi:type="dcterms:W3CDTF">2017-10-22T09:48:47Z</dcterms:created>
  <dcterms:modified xsi:type="dcterms:W3CDTF">2021-06-06T10:02:44Z</dcterms:modified>
</cp:coreProperties>
</file>