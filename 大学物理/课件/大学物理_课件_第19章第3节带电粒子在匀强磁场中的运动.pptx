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8.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99" r:id="rId2"/>
    <p:sldId id="258" r:id="rId3"/>
    <p:sldId id="259" r:id="rId4"/>
    <p:sldId id="296" r:id="rId5"/>
    <p:sldId id="260" r:id="rId6"/>
    <p:sldId id="261" r:id="rId7"/>
    <p:sldId id="300" r:id="rId8"/>
    <p:sldId id="262" r:id="rId9"/>
    <p:sldId id="263" r:id="rId10"/>
    <p:sldId id="264" r:id="rId11"/>
    <p:sldId id="265" r:id="rId12"/>
    <p:sldId id="298" r:id="rId13"/>
    <p:sldId id="267" r:id="rId14"/>
    <p:sldId id="268" r:id="rId15"/>
    <p:sldId id="269" r:id="rId16"/>
    <p:sldId id="270" r:id="rId17"/>
    <p:sldId id="301" r:id="rId18"/>
    <p:sldId id="303" r:id="rId19"/>
    <p:sldId id="302" r:id="rId20"/>
    <p:sldId id="304" r:id="rId21"/>
    <p:sldId id="272" r:id="rId22"/>
    <p:sldId id="273" r:id="rId23"/>
    <p:sldId id="274" r:id="rId24"/>
    <p:sldId id="295"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828" autoAdjust="0"/>
  </p:normalViewPr>
  <p:slideViewPr>
    <p:cSldViewPr snapToGrid="0">
      <p:cViewPr varScale="1">
        <p:scale>
          <a:sx n="81" d="100"/>
          <a:sy n="81" d="100"/>
        </p:scale>
        <p:origin x="906"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5" Type="http://schemas.openxmlformats.org/officeDocument/2006/relationships/image" Target="../media/image9.wmf"/><Relationship Id="rId4"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image" Target="../media/image18.wmf"/><Relationship Id="rId7" Type="http://schemas.openxmlformats.org/officeDocument/2006/relationships/image" Target="../media/image22.wmf"/><Relationship Id="rId2" Type="http://schemas.openxmlformats.org/officeDocument/2006/relationships/image" Target="../media/image17.wmf"/><Relationship Id="rId1" Type="http://schemas.openxmlformats.org/officeDocument/2006/relationships/image" Target="../media/image16.wmf"/><Relationship Id="rId6" Type="http://schemas.openxmlformats.org/officeDocument/2006/relationships/image" Target="../media/image21.wmf"/><Relationship Id="rId5" Type="http://schemas.openxmlformats.org/officeDocument/2006/relationships/image" Target="../media/image20.wmf"/><Relationship Id="rId10" Type="http://schemas.openxmlformats.org/officeDocument/2006/relationships/image" Target="../media/image25.wmf"/><Relationship Id="rId4" Type="http://schemas.openxmlformats.org/officeDocument/2006/relationships/image" Target="../media/image19.wmf"/><Relationship Id="rId9"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image" Target="../media/image18.wmf"/><Relationship Id="rId7" Type="http://schemas.openxmlformats.org/officeDocument/2006/relationships/image" Target="../media/image22.wmf"/><Relationship Id="rId2" Type="http://schemas.openxmlformats.org/officeDocument/2006/relationships/image" Target="../media/image17.wmf"/><Relationship Id="rId1" Type="http://schemas.openxmlformats.org/officeDocument/2006/relationships/image" Target="../media/image16.wmf"/><Relationship Id="rId6" Type="http://schemas.openxmlformats.org/officeDocument/2006/relationships/image" Target="../media/image21.wmf"/><Relationship Id="rId11" Type="http://schemas.openxmlformats.org/officeDocument/2006/relationships/image" Target="../media/image28.wmf"/><Relationship Id="rId5" Type="http://schemas.openxmlformats.org/officeDocument/2006/relationships/image" Target="../media/image20.wmf"/><Relationship Id="rId10" Type="http://schemas.openxmlformats.org/officeDocument/2006/relationships/image" Target="../media/image27.wmf"/><Relationship Id="rId4" Type="http://schemas.openxmlformats.org/officeDocument/2006/relationships/image" Target="../media/image19.wmf"/><Relationship Id="rId9"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5.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DA8BD25-5BB0-4970-9BC8-A867E97BBE06}" type="datetimeFigureOut">
              <a:rPr lang="zh-CN" altLang="en-US" smtClean="0"/>
              <a:t>2021/5/23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AC87C1-8720-44BC-97C4-3E56FDE22118}" type="slidenum">
              <a:rPr lang="zh-CN" altLang="en-US" smtClean="0"/>
              <a:t>‹#›</a:t>
            </a:fld>
            <a:endParaRPr lang="zh-CN" altLang="en-US"/>
          </a:p>
        </p:txBody>
      </p:sp>
    </p:spTree>
    <p:extLst>
      <p:ext uri="{BB962C8B-B14F-4D97-AF65-F5344CB8AC3E}">
        <p14:creationId xmlns:p14="http://schemas.microsoft.com/office/powerpoint/2010/main" val="4175846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0AC87C1-8720-44BC-97C4-3E56FDE22118}" type="slidenum">
              <a:rPr lang="zh-CN" altLang="en-US" smtClean="0"/>
              <a:t>5</a:t>
            </a:fld>
            <a:endParaRPr lang="zh-CN" altLang="en-US"/>
          </a:p>
        </p:txBody>
      </p:sp>
    </p:spTree>
    <p:extLst>
      <p:ext uri="{BB962C8B-B14F-4D97-AF65-F5344CB8AC3E}">
        <p14:creationId xmlns:p14="http://schemas.microsoft.com/office/powerpoint/2010/main" val="1658616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任何粒子的磁力都指向粒子运动轨迹的曲率中心。</a:t>
            </a:r>
            <a:endParaRPr lang="zh-CN" altLang="en-US" dirty="0"/>
          </a:p>
        </p:txBody>
      </p:sp>
      <p:sp>
        <p:nvSpPr>
          <p:cNvPr id="4" name="灯片编号占位符 3"/>
          <p:cNvSpPr>
            <a:spLocks noGrp="1"/>
          </p:cNvSpPr>
          <p:nvPr>
            <p:ph type="sldNum" sz="quarter" idx="10"/>
          </p:nvPr>
        </p:nvSpPr>
        <p:spPr/>
        <p:txBody>
          <a:bodyPr/>
          <a:lstStyle/>
          <a:p>
            <a:fld id="{7A9196F6-CA19-4034-992E-300BCCD82755}" type="slidenum">
              <a:rPr lang="zh-CN" altLang="en-US" smtClean="0"/>
              <a:pPr/>
              <a:t>6</a:t>
            </a:fld>
            <a:endParaRPr lang="zh-CN" altLang="en-US"/>
          </a:p>
        </p:txBody>
      </p:sp>
    </p:spTree>
    <p:extLst>
      <p:ext uri="{BB962C8B-B14F-4D97-AF65-F5344CB8AC3E}">
        <p14:creationId xmlns:p14="http://schemas.microsoft.com/office/powerpoint/2010/main" val="1161744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正电荷运动半径是负电荷</a:t>
            </a:r>
            <a:r>
              <a:rPr lang="en-US" altLang="zh-CN" dirty="0" smtClean="0"/>
              <a:t>2</a:t>
            </a:r>
            <a:r>
              <a:rPr lang="zh-CN" altLang="en-US" dirty="0" smtClean="0"/>
              <a:t>倍，同时回到出发点</a:t>
            </a:r>
            <a:endParaRPr lang="zh-CN" altLang="en-US" dirty="0"/>
          </a:p>
        </p:txBody>
      </p:sp>
      <p:sp>
        <p:nvSpPr>
          <p:cNvPr id="4" name="灯片编号占位符 3"/>
          <p:cNvSpPr>
            <a:spLocks noGrp="1"/>
          </p:cNvSpPr>
          <p:nvPr>
            <p:ph type="sldNum" sz="quarter" idx="10"/>
          </p:nvPr>
        </p:nvSpPr>
        <p:spPr/>
        <p:txBody>
          <a:bodyPr/>
          <a:lstStyle/>
          <a:p>
            <a:fld id="{E0AC87C1-8720-44BC-97C4-3E56FDE22118}" type="slidenum">
              <a:rPr lang="zh-CN" altLang="en-US" smtClean="0"/>
              <a:t>7</a:t>
            </a:fld>
            <a:endParaRPr lang="zh-CN" altLang="en-US"/>
          </a:p>
        </p:txBody>
      </p:sp>
    </p:spTree>
    <p:extLst>
      <p:ext uri="{BB962C8B-B14F-4D97-AF65-F5344CB8AC3E}">
        <p14:creationId xmlns:p14="http://schemas.microsoft.com/office/powerpoint/2010/main" val="1740807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具有相同质子数，不同中子数的同一元素的不同核素互为同位素。</a:t>
            </a:r>
            <a:endParaRPr lang="en-US" altLang="zh-CN" dirty="0" smtClean="0"/>
          </a:p>
          <a:p>
            <a:r>
              <a:rPr lang="zh-CN" altLang="en-US" dirty="0" smtClean="0"/>
              <a:t>在一些磁质谱仪中，离子开始静止或低速通过一恒定电压加速。如果所有离子具有相同的电荷，那么它们都以相同的动能进入磁场，但是它们具有不同的质量，它们的速度是不一样的。</a:t>
            </a:r>
            <a:endParaRPr lang="zh-CN" altLang="en-US" dirty="0"/>
          </a:p>
        </p:txBody>
      </p:sp>
      <p:sp>
        <p:nvSpPr>
          <p:cNvPr id="4" name="灯片编号占位符 3"/>
          <p:cNvSpPr>
            <a:spLocks noGrp="1"/>
          </p:cNvSpPr>
          <p:nvPr>
            <p:ph type="sldNum" sz="quarter" idx="10"/>
          </p:nvPr>
        </p:nvSpPr>
        <p:spPr/>
        <p:txBody>
          <a:bodyPr/>
          <a:lstStyle/>
          <a:p>
            <a:fld id="{7A9196F6-CA19-4034-992E-300BCCD82755}" type="slidenum">
              <a:rPr lang="zh-CN" altLang="en-US" smtClean="0"/>
              <a:pPr/>
              <a:t>8</a:t>
            </a:fld>
            <a:endParaRPr lang="zh-CN" altLang="en-US"/>
          </a:p>
        </p:txBody>
      </p:sp>
    </p:spTree>
    <p:extLst>
      <p:ext uri="{BB962C8B-B14F-4D97-AF65-F5344CB8AC3E}">
        <p14:creationId xmlns:p14="http://schemas.microsoft.com/office/powerpoint/2010/main" val="487143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具有相同质子数，不同中子数的同一元素的不同核素互为同位素。</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原子质量单位（</a:t>
            </a:r>
            <a:r>
              <a:rPr lang="en-US" altLang="zh-CN" dirty="0" err="1" smtClean="0"/>
              <a:t>amu</a:t>
            </a:r>
            <a:r>
              <a:rPr lang="zh-CN" altLang="en-US" dirty="0" smtClean="0"/>
              <a:t>或</a:t>
            </a:r>
            <a:r>
              <a:rPr lang="en-US" altLang="zh-CN" dirty="0" smtClean="0"/>
              <a:t>u</a:t>
            </a:r>
            <a:r>
              <a:rPr lang="zh-CN" altLang="en-US" dirty="0" smtClean="0"/>
              <a:t>）有时称统一原子质量单位，或道尔顿（</a:t>
            </a:r>
            <a:r>
              <a:rPr lang="en-US" altLang="zh-CN" dirty="0" smtClean="0"/>
              <a:t>Dalton</a:t>
            </a:r>
            <a:r>
              <a:rPr lang="zh-CN" altLang="en-US" dirty="0" smtClean="0"/>
              <a:t>，</a:t>
            </a:r>
            <a:r>
              <a:rPr lang="en-US" altLang="zh-CN" dirty="0" smtClean="0"/>
              <a:t>Da</a:t>
            </a:r>
            <a:r>
              <a:rPr lang="zh-CN" altLang="en-US" dirty="0" smtClean="0"/>
              <a:t>，</a:t>
            </a:r>
            <a:r>
              <a:rPr lang="en-US" altLang="zh-CN" dirty="0" smtClean="0"/>
              <a:t>D</a:t>
            </a:r>
            <a:r>
              <a:rPr lang="zh-CN" altLang="en-US" dirty="0" smtClean="0"/>
              <a:t>）是用来衡量原子或分子质量的单位，它被定义为碳</a:t>
            </a:r>
            <a:r>
              <a:rPr lang="en-US" altLang="zh-CN" dirty="0" smtClean="0"/>
              <a:t>12</a:t>
            </a:r>
            <a:r>
              <a:rPr lang="zh-CN" altLang="en-US" dirty="0" smtClean="0"/>
              <a:t>原子质量的</a:t>
            </a:r>
            <a:r>
              <a:rPr lang="en-US" altLang="zh-CN" dirty="0" smtClean="0"/>
              <a:t>1/12</a:t>
            </a:r>
            <a:r>
              <a:rPr lang="zh-CN" altLang="en-US" dirty="0" smtClean="0"/>
              <a:t>。</a:t>
            </a:r>
          </a:p>
          <a:p>
            <a:endParaRPr lang="zh-CN" altLang="en-US" dirty="0"/>
          </a:p>
        </p:txBody>
      </p:sp>
      <p:sp>
        <p:nvSpPr>
          <p:cNvPr id="4" name="灯片编号占位符 3"/>
          <p:cNvSpPr>
            <a:spLocks noGrp="1"/>
          </p:cNvSpPr>
          <p:nvPr>
            <p:ph type="sldNum" sz="quarter" idx="10"/>
          </p:nvPr>
        </p:nvSpPr>
        <p:spPr/>
        <p:txBody>
          <a:bodyPr/>
          <a:lstStyle/>
          <a:p>
            <a:fld id="{7A9196F6-CA19-4034-992E-300BCCD82755}" type="slidenum">
              <a:rPr lang="zh-CN" altLang="en-US" smtClean="0"/>
              <a:pPr/>
              <a:t>12</a:t>
            </a:fld>
            <a:endParaRPr lang="zh-CN" altLang="en-US"/>
          </a:p>
        </p:txBody>
      </p:sp>
    </p:spTree>
    <p:extLst>
      <p:ext uri="{BB962C8B-B14F-4D97-AF65-F5344CB8AC3E}">
        <p14:creationId xmlns:p14="http://schemas.microsoft.com/office/powerpoint/2010/main" val="1931416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一个周期是电势差从正到负再回到正这个过程的总时间。</a:t>
            </a:r>
            <a:endParaRPr lang="en-US" altLang="zh-CN" dirty="0" smtClean="0"/>
          </a:p>
          <a:p>
            <a:r>
              <a:rPr lang="zh-CN" altLang="en-US" dirty="0" smtClean="0"/>
              <a:t>只要加在</a:t>
            </a:r>
            <a:r>
              <a:rPr lang="en-US" altLang="zh-CN" dirty="0" smtClean="0"/>
              <a:t>D</a:t>
            </a:r>
            <a:r>
              <a:rPr lang="zh-CN" altLang="en-US" dirty="0" smtClean="0"/>
              <a:t>形电极上的高频振荡器的频率和粒子在</a:t>
            </a:r>
            <a:r>
              <a:rPr lang="en-US" altLang="zh-CN" dirty="0" smtClean="0"/>
              <a:t>D</a:t>
            </a:r>
            <a:r>
              <a:rPr lang="zh-CN" altLang="en-US" dirty="0" smtClean="0"/>
              <a:t>形盒中的旋转频率保持相等，便能保证带电粒子经过缝隙时受到电场力的加速。</a:t>
            </a:r>
            <a:endParaRPr lang="en-US" altLang="zh-CN" dirty="0" smtClean="0"/>
          </a:p>
          <a:p>
            <a:r>
              <a:rPr lang="zh-CN" altLang="en-US" dirty="0" smtClean="0"/>
              <a:t>当粒子的速度被加速到接近光速时，必须考虑到相对论效应，粒子的质量将随速度的增大而增加，粒子在半盒内运动所需的时间</a:t>
            </a:r>
            <a:r>
              <a:rPr lang="en-US" altLang="zh-CN" dirty="0" smtClean="0"/>
              <a:t>t</a:t>
            </a:r>
            <a:r>
              <a:rPr lang="zh-CN" altLang="en-US" dirty="0" smtClean="0"/>
              <a:t>也增大。</a:t>
            </a:r>
            <a:endParaRPr lang="zh-CN" altLang="en-US" dirty="0"/>
          </a:p>
        </p:txBody>
      </p:sp>
      <p:sp>
        <p:nvSpPr>
          <p:cNvPr id="4" name="灯片编号占位符 3"/>
          <p:cNvSpPr>
            <a:spLocks noGrp="1"/>
          </p:cNvSpPr>
          <p:nvPr>
            <p:ph type="sldNum" sz="quarter" idx="10"/>
          </p:nvPr>
        </p:nvSpPr>
        <p:spPr/>
        <p:txBody>
          <a:bodyPr/>
          <a:lstStyle/>
          <a:p>
            <a:fld id="{7A9196F6-CA19-4034-992E-300BCCD82755}" type="slidenum">
              <a:rPr lang="zh-CN" altLang="en-US" smtClean="0"/>
              <a:pPr/>
              <a:t>16</a:t>
            </a:fld>
            <a:endParaRPr lang="zh-CN" altLang="en-US"/>
          </a:p>
        </p:txBody>
      </p:sp>
    </p:spTree>
    <p:extLst>
      <p:ext uri="{BB962C8B-B14F-4D97-AF65-F5344CB8AC3E}">
        <p14:creationId xmlns:p14="http://schemas.microsoft.com/office/powerpoint/2010/main" val="3171236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A</a:t>
            </a:r>
            <a:endParaRPr lang="zh-CN" altLang="en-US" dirty="0"/>
          </a:p>
        </p:txBody>
      </p:sp>
      <p:sp>
        <p:nvSpPr>
          <p:cNvPr id="4" name="灯片编号占位符 3"/>
          <p:cNvSpPr>
            <a:spLocks noGrp="1"/>
          </p:cNvSpPr>
          <p:nvPr>
            <p:ph type="sldNum" sz="quarter" idx="10"/>
          </p:nvPr>
        </p:nvSpPr>
        <p:spPr/>
        <p:txBody>
          <a:bodyPr/>
          <a:lstStyle/>
          <a:p>
            <a:fld id="{E0AC87C1-8720-44BC-97C4-3E56FDE22118}" type="slidenum">
              <a:rPr lang="zh-CN" altLang="en-US" smtClean="0"/>
              <a:t>17</a:t>
            </a:fld>
            <a:endParaRPr lang="zh-CN" altLang="en-US"/>
          </a:p>
        </p:txBody>
      </p:sp>
    </p:spTree>
    <p:extLst>
      <p:ext uri="{BB962C8B-B14F-4D97-AF65-F5344CB8AC3E}">
        <p14:creationId xmlns:p14="http://schemas.microsoft.com/office/powerpoint/2010/main" val="28738606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E</a:t>
            </a:r>
            <a:endParaRPr lang="zh-CN" altLang="en-US" dirty="0"/>
          </a:p>
        </p:txBody>
      </p:sp>
      <p:sp>
        <p:nvSpPr>
          <p:cNvPr id="4" name="灯片编号占位符 3"/>
          <p:cNvSpPr>
            <a:spLocks noGrp="1"/>
          </p:cNvSpPr>
          <p:nvPr>
            <p:ph type="sldNum" sz="quarter" idx="10"/>
          </p:nvPr>
        </p:nvSpPr>
        <p:spPr/>
        <p:txBody>
          <a:bodyPr/>
          <a:lstStyle/>
          <a:p>
            <a:fld id="{E0AC87C1-8720-44BC-97C4-3E56FDE22118}" type="slidenum">
              <a:rPr lang="zh-CN" altLang="en-US" smtClean="0"/>
              <a:t>19</a:t>
            </a:fld>
            <a:endParaRPr lang="zh-CN" altLang="en-US"/>
          </a:p>
        </p:txBody>
      </p:sp>
    </p:spTree>
    <p:extLst>
      <p:ext uri="{BB962C8B-B14F-4D97-AF65-F5344CB8AC3E}">
        <p14:creationId xmlns:p14="http://schemas.microsoft.com/office/powerpoint/2010/main" val="1108767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8808874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9167859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5303501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2021/5/23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0708593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389F43E-6A00-409D-9E79-CE23F37409A4}" type="datetimeFigureOut">
              <a:rPr lang="zh-CN" altLang="en-US" smtClean="0"/>
              <a:pPr/>
              <a:t>2021/5/23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0873647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C389F43E-6A00-409D-9E79-CE23F37409A4}" type="datetimeFigureOut">
              <a:rPr lang="zh-CN" altLang="en-US" smtClean="0"/>
              <a:pPr/>
              <a:t>2021/5/23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246052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389F43E-6A00-409D-9E79-CE23F37409A4}" type="datetimeFigureOut">
              <a:rPr lang="zh-CN" altLang="en-US" smtClean="0"/>
              <a:pPr/>
              <a:t>2021/5/23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7769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2021/5/23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30547608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2021/5/23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6945556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39418436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2321700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89F43E-6A00-409D-9E79-CE23F37409A4}" type="datetimeFigureOut">
              <a:rPr lang="zh-CN" altLang="en-US" smtClean="0"/>
              <a:pPr/>
              <a:t>2021/5/23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735830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tennisbar.net/bbs/viewtopic.php?p=305"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9.wmf"/><Relationship Id="rId3" Type="http://schemas.openxmlformats.org/officeDocument/2006/relationships/notesSlide" Target="../notesSlides/notesSlide1.xml"/><Relationship Id="rId7" Type="http://schemas.openxmlformats.org/officeDocument/2006/relationships/image" Target="../media/image6.wmf"/><Relationship Id="rId12"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4.bin"/><Relationship Id="rId11" Type="http://schemas.openxmlformats.org/officeDocument/2006/relationships/image" Target="../media/image8.wmf"/><Relationship Id="rId5" Type="http://schemas.openxmlformats.org/officeDocument/2006/relationships/image" Target="../media/image5.wmf"/><Relationship Id="rId10"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7.wmf"/></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notesSlide" Target="../notesSlides/notesSlide3.xml"/><Relationship Id="rId7" Type="http://schemas.openxmlformats.org/officeDocument/2006/relationships/image" Target="../media/image14.jpe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3.jpeg"/><Relationship Id="rId11" Type="http://schemas.openxmlformats.org/officeDocument/2006/relationships/image" Target="../media/image12.wmf"/><Relationship Id="rId5" Type="http://schemas.openxmlformats.org/officeDocument/2006/relationships/image" Target="../media/image1.png"/><Relationship Id="rId10" Type="http://schemas.openxmlformats.org/officeDocument/2006/relationships/oleObject" Target="../embeddings/oleObject9.bin"/><Relationship Id="rId4" Type="http://schemas.openxmlformats.org/officeDocument/2006/relationships/hyperlink" Target="http://www.tennisbar.net/bbs/viewtopic.php?p=305" TargetMode="External"/><Relationship Id="rId9" Type="http://schemas.openxmlformats.org/officeDocument/2006/relationships/image" Target="../media/image5.wmf"/></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8.wmf"/><Relationship Id="rId13" Type="http://schemas.openxmlformats.org/officeDocument/2006/relationships/oleObject" Target="../embeddings/oleObject15.bin"/><Relationship Id="rId18" Type="http://schemas.openxmlformats.org/officeDocument/2006/relationships/image" Target="../media/image23.wmf"/><Relationship Id="rId3" Type="http://schemas.openxmlformats.org/officeDocument/2006/relationships/oleObject" Target="../embeddings/oleObject10.bin"/><Relationship Id="rId21" Type="http://schemas.openxmlformats.org/officeDocument/2006/relationships/oleObject" Target="../embeddings/oleObject19.bin"/><Relationship Id="rId7" Type="http://schemas.openxmlformats.org/officeDocument/2006/relationships/oleObject" Target="../embeddings/oleObject12.bin"/><Relationship Id="rId12" Type="http://schemas.openxmlformats.org/officeDocument/2006/relationships/image" Target="../media/image20.wmf"/><Relationship Id="rId17" Type="http://schemas.openxmlformats.org/officeDocument/2006/relationships/oleObject" Target="../embeddings/oleObject17.bin"/><Relationship Id="rId2" Type="http://schemas.openxmlformats.org/officeDocument/2006/relationships/slideLayout" Target="../slideLayouts/slideLayout7.xml"/><Relationship Id="rId16" Type="http://schemas.openxmlformats.org/officeDocument/2006/relationships/image" Target="../media/image22.wmf"/><Relationship Id="rId20" Type="http://schemas.openxmlformats.org/officeDocument/2006/relationships/image" Target="../media/image24.wmf"/><Relationship Id="rId1" Type="http://schemas.openxmlformats.org/officeDocument/2006/relationships/vmlDrawing" Target="../drawings/vmlDrawing5.vml"/><Relationship Id="rId6" Type="http://schemas.openxmlformats.org/officeDocument/2006/relationships/image" Target="../media/image17.wmf"/><Relationship Id="rId11" Type="http://schemas.openxmlformats.org/officeDocument/2006/relationships/oleObject" Target="../embeddings/oleObject14.bin"/><Relationship Id="rId5" Type="http://schemas.openxmlformats.org/officeDocument/2006/relationships/oleObject" Target="../embeddings/oleObject11.bin"/><Relationship Id="rId15" Type="http://schemas.openxmlformats.org/officeDocument/2006/relationships/oleObject" Target="../embeddings/oleObject16.bin"/><Relationship Id="rId10" Type="http://schemas.openxmlformats.org/officeDocument/2006/relationships/image" Target="../media/image19.wmf"/><Relationship Id="rId19" Type="http://schemas.openxmlformats.org/officeDocument/2006/relationships/oleObject" Target="../embeddings/oleObject18.bin"/><Relationship Id="rId4" Type="http://schemas.openxmlformats.org/officeDocument/2006/relationships/image" Target="../media/image16.wmf"/><Relationship Id="rId9" Type="http://schemas.openxmlformats.org/officeDocument/2006/relationships/oleObject" Target="../embeddings/oleObject13.bin"/><Relationship Id="rId14" Type="http://schemas.openxmlformats.org/officeDocument/2006/relationships/image" Target="../media/image21.wmf"/><Relationship Id="rId22" Type="http://schemas.openxmlformats.org/officeDocument/2006/relationships/image" Target="../media/image25.wmf"/></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8.wmf"/><Relationship Id="rId13" Type="http://schemas.openxmlformats.org/officeDocument/2006/relationships/oleObject" Target="../embeddings/oleObject25.bin"/><Relationship Id="rId18" Type="http://schemas.openxmlformats.org/officeDocument/2006/relationships/image" Target="../media/image23.wmf"/><Relationship Id="rId26" Type="http://schemas.openxmlformats.org/officeDocument/2006/relationships/image" Target="../media/image30.png"/><Relationship Id="rId3" Type="http://schemas.openxmlformats.org/officeDocument/2006/relationships/oleObject" Target="../embeddings/oleObject20.bin"/><Relationship Id="rId21" Type="http://schemas.openxmlformats.org/officeDocument/2006/relationships/oleObject" Target="../embeddings/oleObject29.bin"/><Relationship Id="rId7" Type="http://schemas.openxmlformats.org/officeDocument/2006/relationships/oleObject" Target="../embeddings/oleObject22.bin"/><Relationship Id="rId12" Type="http://schemas.openxmlformats.org/officeDocument/2006/relationships/image" Target="../media/image20.wmf"/><Relationship Id="rId17" Type="http://schemas.openxmlformats.org/officeDocument/2006/relationships/oleObject" Target="../embeddings/oleObject27.bin"/><Relationship Id="rId25" Type="http://schemas.openxmlformats.org/officeDocument/2006/relationships/image" Target="../media/image29.png"/><Relationship Id="rId2" Type="http://schemas.openxmlformats.org/officeDocument/2006/relationships/slideLayout" Target="../slideLayouts/slideLayout7.xml"/><Relationship Id="rId16" Type="http://schemas.openxmlformats.org/officeDocument/2006/relationships/image" Target="../media/image22.wmf"/><Relationship Id="rId20" Type="http://schemas.openxmlformats.org/officeDocument/2006/relationships/image" Target="../media/image24.wmf"/><Relationship Id="rId1" Type="http://schemas.openxmlformats.org/officeDocument/2006/relationships/vmlDrawing" Target="../drawings/vmlDrawing6.vml"/><Relationship Id="rId6" Type="http://schemas.openxmlformats.org/officeDocument/2006/relationships/image" Target="../media/image17.wmf"/><Relationship Id="rId11" Type="http://schemas.openxmlformats.org/officeDocument/2006/relationships/oleObject" Target="../embeddings/oleObject24.bin"/><Relationship Id="rId24" Type="http://schemas.openxmlformats.org/officeDocument/2006/relationships/image" Target="../media/image28.wmf"/><Relationship Id="rId5" Type="http://schemas.openxmlformats.org/officeDocument/2006/relationships/oleObject" Target="../embeddings/oleObject21.bin"/><Relationship Id="rId15" Type="http://schemas.openxmlformats.org/officeDocument/2006/relationships/oleObject" Target="../embeddings/oleObject26.bin"/><Relationship Id="rId23" Type="http://schemas.openxmlformats.org/officeDocument/2006/relationships/oleObject" Target="../embeddings/oleObject30.bin"/><Relationship Id="rId10" Type="http://schemas.openxmlformats.org/officeDocument/2006/relationships/image" Target="../media/image19.wmf"/><Relationship Id="rId19" Type="http://schemas.openxmlformats.org/officeDocument/2006/relationships/oleObject" Target="../embeddings/oleObject28.bin"/><Relationship Id="rId4" Type="http://schemas.openxmlformats.org/officeDocument/2006/relationships/image" Target="../media/image16.wmf"/><Relationship Id="rId9" Type="http://schemas.openxmlformats.org/officeDocument/2006/relationships/oleObject" Target="../embeddings/oleObject23.bin"/><Relationship Id="rId14" Type="http://schemas.openxmlformats.org/officeDocument/2006/relationships/image" Target="../media/image21.wmf"/><Relationship Id="rId22" Type="http://schemas.openxmlformats.org/officeDocument/2006/relationships/image" Target="../media/image27.wmf"/><Relationship Id="rId27"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32.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32.bin"/><Relationship Id="rId5" Type="http://schemas.openxmlformats.org/officeDocument/2006/relationships/image" Target="../media/image5.wmf"/><Relationship Id="rId4" Type="http://schemas.openxmlformats.org/officeDocument/2006/relationships/oleObject" Target="../embeddings/oleObject31.bin"/></Relationships>
</file>

<file path=ppt/slides/_rels/slide1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6.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34.bin"/><Relationship Id="rId5" Type="http://schemas.openxmlformats.org/officeDocument/2006/relationships/image" Target="../media/image5.wmf"/><Relationship Id="rId4" Type="http://schemas.openxmlformats.org/officeDocument/2006/relationships/oleObject" Target="../embeddings/oleObject33.bin"/></Relationships>
</file>

<file path=ppt/slides/_rels/slide1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notesSlide" Target="../notesSlides/notesSlide6.xml"/><Relationship Id="rId7"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6.wmf"/><Relationship Id="rId5" Type="http://schemas.openxmlformats.org/officeDocument/2006/relationships/oleObject" Target="../embeddings/oleObject35.bin"/><Relationship Id="rId10" Type="http://schemas.openxmlformats.org/officeDocument/2006/relationships/image" Target="../media/image38.wmf"/><Relationship Id="rId4" Type="http://schemas.openxmlformats.org/officeDocument/2006/relationships/image" Target="../media/image35.png"/><Relationship Id="rId9" Type="http://schemas.openxmlformats.org/officeDocument/2006/relationships/oleObject" Target="../embeddings/oleObject37.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39.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tags" Target="../tags/tag35.xml"/><Relationship Id="rId3" Type="http://schemas.openxmlformats.org/officeDocument/2006/relationships/tags" Target="../tags/tag20.xml"/><Relationship Id="rId21" Type="http://schemas.openxmlformats.org/officeDocument/2006/relationships/image" Target="../media/image39.tmp"/><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slideLayout" Target="../slideLayouts/slideLayout7.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tags" Target="../tags/tag36.xml"/><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jpeg"/><Relationship Id="rId5" Type="http://schemas.openxmlformats.org/officeDocument/2006/relationships/image" Target="../media/image43.jpe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8.wmf"/><Relationship Id="rId5" Type="http://schemas.openxmlformats.org/officeDocument/2006/relationships/oleObject" Target="../embeddings/oleObject39.bin"/><Relationship Id="rId4" Type="http://schemas.openxmlformats.org/officeDocument/2006/relationships/image" Target="../media/image37.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91638" y="365126"/>
            <a:ext cx="9362162" cy="975160"/>
          </a:xfrm>
        </p:spPr>
        <p:txBody>
          <a:bodyPr/>
          <a:lstStyle/>
          <a:p>
            <a:r>
              <a:rPr lang="zh-CN" altLang="en-US" dirty="0" smtClean="0"/>
              <a:t>判断题</a:t>
            </a:r>
            <a:endParaRPr lang="zh-CN" altLang="en-US" dirty="0"/>
          </a:p>
        </p:txBody>
      </p:sp>
      <p:sp>
        <p:nvSpPr>
          <p:cNvPr id="3" name="内容占位符 2"/>
          <p:cNvSpPr>
            <a:spLocks noGrp="1"/>
          </p:cNvSpPr>
          <p:nvPr>
            <p:ph idx="1"/>
          </p:nvPr>
        </p:nvSpPr>
        <p:spPr>
          <a:xfrm>
            <a:off x="838200" y="1772840"/>
            <a:ext cx="10515600" cy="4511001"/>
          </a:xfrm>
        </p:spPr>
        <p:txBody>
          <a:bodyPr/>
          <a:lstStyle/>
          <a:p>
            <a:pPr marL="0" indent="0">
              <a:buNone/>
            </a:pPr>
            <a:r>
              <a:rPr lang="zh-CN" altLang="en-US" b="1" dirty="0" smtClean="0"/>
              <a:t>一电荷</a:t>
            </a:r>
            <a:r>
              <a:rPr lang="en-US" altLang="zh-CN" b="1" dirty="0" smtClean="0"/>
              <a:t>q</a:t>
            </a:r>
            <a:r>
              <a:rPr lang="zh-CN" altLang="en-US" b="1" dirty="0" smtClean="0"/>
              <a:t>在均匀磁场中运动，判断下列的说法是否正确</a:t>
            </a:r>
            <a:endParaRPr lang="en-US" altLang="zh-CN" b="1" dirty="0" smtClean="0"/>
          </a:p>
          <a:p>
            <a:pPr marL="0" indent="0">
              <a:buNone/>
            </a:pPr>
            <a:r>
              <a:rPr lang="en-US" altLang="zh-CN" b="1" dirty="0" smtClean="0"/>
              <a:t>1.</a:t>
            </a:r>
            <a:r>
              <a:rPr lang="zh-CN" altLang="en-US" b="1" dirty="0" smtClean="0"/>
              <a:t>只要电荷速度大小不变，它朝任何方向运动时所受的洛伦兹力都相等。（     ）</a:t>
            </a:r>
            <a:endParaRPr lang="en-US" altLang="zh-CN" b="1" dirty="0" smtClean="0"/>
          </a:p>
          <a:p>
            <a:pPr marL="0" indent="0">
              <a:buNone/>
            </a:pPr>
            <a:r>
              <a:rPr lang="en-US" altLang="zh-CN" b="1" dirty="0" smtClean="0"/>
              <a:t>2.</a:t>
            </a:r>
            <a:r>
              <a:rPr lang="zh-CN" altLang="en-US" b="1" dirty="0" smtClean="0"/>
              <a:t>在速度不变的情况下，电荷量</a:t>
            </a:r>
            <a:r>
              <a:rPr lang="en-US" altLang="zh-CN" b="1" dirty="0" smtClean="0"/>
              <a:t>q</a:t>
            </a:r>
            <a:r>
              <a:rPr lang="zh-CN" altLang="en-US" b="1" dirty="0" smtClean="0"/>
              <a:t>改为</a:t>
            </a:r>
            <a:r>
              <a:rPr lang="en-US" altLang="zh-CN" b="1" dirty="0" smtClean="0"/>
              <a:t>-q</a:t>
            </a:r>
            <a:r>
              <a:rPr lang="zh-CN" altLang="en-US" b="1" dirty="0" smtClean="0"/>
              <a:t>，它所受的力将反向，而力的大小不变。（    ）</a:t>
            </a:r>
            <a:endParaRPr lang="en-US" altLang="zh-CN" b="1" dirty="0" smtClean="0"/>
          </a:p>
          <a:p>
            <a:pPr marL="0" indent="0">
              <a:buNone/>
            </a:pPr>
            <a:r>
              <a:rPr lang="en-US" altLang="zh-CN" b="1" dirty="0" smtClean="0"/>
              <a:t>3.</a:t>
            </a:r>
            <a:r>
              <a:rPr lang="zh-CN" altLang="en-US" b="1" dirty="0" smtClean="0"/>
              <a:t>电荷量</a:t>
            </a:r>
            <a:r>
              <a:rPr lang="en-US" altLang="zh-CN" b="1" dirty="0" smtClean="0"/>
              <a:t>q</a:t>
            </a:r>
            <a:r>
              <a:rPr lang="zh-CN" altLang="en-US" b="1" dirty="0" smtClean="0"/>
              <a:t>改为</a:t>
            </a:r>
            <a:r>
              <a:rPr lang="en-US" altLang="zh-CN" b="1" dirty="0" smtClean="0"/>
              <a:t>-q</a:t>
            </a:r>
            <a:r>
              <a:rPr lang="zh-CN" altLang="en-US" b="1" dirty="0" smtClean="0"/>
              <a:t>，同时其速度反向，则它所受的力也反向，而大小不变。（    ）</a:t>
            </a:r>
            <a:endParaRPr lang="en-US" altLang="zh-CN" b="1" dirty="0" smtClean="0"/>
          </a:p>
          <a:p>
            <a:pPr marL="0" indent="0">
              <a:buNone/>
            </a:pPr>
            <a:endParaRPr lang="zh-CN" altLang="en-US" b="1" dirty="0"/>
          </a:p>
        </p:txBody>
      </p:sp>
      <p:sp>
        <p:nvSpPr>
          <p:cNvPr id="4" name="TextBox 3"/>
          <p:cNvSpPr txBox="1"/>
          <p:nvPr/>
        </p:nvSpPr>
        <p:spPr>
          <a:xfrm>
            <a:off x="951978" y="5473874"/>
            <a:ext cx="6688899" cy="523220"/>
          </a:xfrm>
          <a:prstGeom prst="rect">
            <a:avLst/>
          </a:prstGeom>
          <a:noFill/>
        </p:spPr>
        <p:txBody>
          <a:bodyPr wrap="square" rtlCol="0">
            <a:spAutoFit/>
          </a:bodyPr>
          <a:lstStyle/>
          <a:p>
            <a:r>
              <a:rPr lang="en-US" altLang="zh-CN" sz="2800" b="1" dirty="0" smtClean="0">
                <a:solidFill>
                  <a:srgbClr val="FF0000"/>
                </a:solidFill>
              </a:rPr>
              <a:t>1.</a:t>
            </a:r>
            <a:r>
              <a:rPr lang="zh-CN" altLang="en-US" sz="2800" b="1" dirty="0" smtClean="0">
                <a:solidFill>
                  <a:srgbClr val="FF0000"/>
                </a:solidFill>
              </a:rPr>
              <a:t>错     </a:t>
            </a:r>
            <a:r>
              <a:rPr lang="en-US" altLang="zh-CN" sz="2800" b="1" dirty="0" smtClean="0">
                <a:solidFill>
                  <a:srgbClr val="FF0000"/>
                </a:solidFill>
              </a:rPr>
              <a:t>2.</a:t>
            </a:r>
            <a:r>
              <a:rPr lang="zh-CN" altLang="en-US" sz="2800" b="1" dirty="0" smtClean="0">
                <a:solidFill>
                  <a:srgbClr val="FF0000"/>
                </a:solidFill>
              </a:rPr>
              <a:t>对      </a:t>
            </a:r>
            <a:r>
              <a:rPr lang="en-US" altLang="zh-CN" sz="2800" b="1" dirty="0" smtClean="0">
                <a:solidFill>
                  <a:srgbClr val="FF0000"/>
                </a:solidFill>
              </a:rPr>
              <a:t>3.</a:t>
            </a:r>
            <a:r>
              <a:rPr lang="zh-CN" altLang="en-US" sz="2800" b="1" dirty="0" smtClean="0">
                <a:solidFill>
                  <a:srgbClr val="FF0000"/>
                </a:solidFill>
              </a:rPr>
              <a:t>错</a:t>
            </a:r>
            <a:endParaRPr lang="zh-CN" altLang="en-US" sz="2800" b="1" dirty="0">
              <a:solidFill>
                <a:srgbClr val="FF0000"/>
              </a:solidFill>
            </a:endParaRPr>
          </a:p>
        </p:txBody>
      </p:sp>
      <p:pic>
        <p:nvPicPr>
          <p:cNvPr id="5" name="Picture 64" descr="4C23ACF17C7A8D7ABF39D4F6BBDEF2F5">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085" y="363864"/>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86464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44" name="Text Box 8"/>
          <p:cNvSpPr txBox="1">
            <a:spLocks noChangeArrowheads="1"/>
          </p:cNvSpPr>
          <p:nvPr/>
        </p:nvSpPr>
        <p:spPr bwMode="auto">
          <a:xfrm>
            <a:off x="1213376" y="3335340"/>
            <a:ext cx="5305557" cy="1387176"/>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20000"/>
              </a:spcBef>
            </a:pPr>
            <a:r>
              <a:rPr kumimoji="1" lang="zh-CN" altLang="en-US" sz="2800" dirty="0">
                <a:solidFill>
                  <a:srgbClr val="FF3300"/>
                </a:solidFill>
                <a:latin typeface="黑体" pitchFamily="49" charset="-122"/>
                <a:ea typeface="黑体" pitchFamily="49" charset="-122"/>
              </a:rPr>
              <a:t>洛仑兹力的方向垂直于运动电荷的速度和磁感应强度所组成的平面，且符合右手螺旋定则。</a:t>
            </a:r>
          </a:p>
        </p:txBody>
      </p:sp>
      <p:sp>
        <p:nvSpPr>
          <p:cNvPr id="679945" name="Text Box 9"/>
          <p:cNvSpPr txBox="1">
            <a:spLocks noChangeArrowheads="1"/>
          </p:cNvSpPr>
          <p:nvPr/>
        </p:nvSpPr>
        <p:spPr bwMode="auto">
          <a:xfrm>
            <a:off x="438245" y="1234347"/>
            <a:ext cx="6271187"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20000"/>
              </a:spcBef>
            </a:pPr>
            <a:r>
              <a:rPr kumimoji="1" lang="zh-CN" altLang="en-US" sz="2800" dirty="0">
                <a:latin typeface="+mn-ea"/>
                <a:ea typeface="+mn-ea"/>
              </a:rPr>
              <a:t>带电粒子</a:t>
            </a:r>
            <a:r>
              <a:rPr kumimoji="1" lang="zh-CN" altLang="en-US" sz="2800" dirty="0" smtClean="0">
                <a:latin typeface="+mn-ea"/>
                <a:ea typeface="+mn-ea"/>
              </a:rPr>
              <a:t>在磁场</a:t>
            </a:r>
            <a:r>
              <a:rPr kumimoji="1" lang="zh-CN" altLang="en-US" sz="2800" dirty="0">
                <a:latin typeface="+mn-ea"/>
                <a:ea typeface="+mn-ea"/>
              </a:rPr>
              <a:t>中所受的力</a:t>
            </a:r>
          </a:p>
        </p:txBody>
      </p:sp>
      <p:grpSp>
        <p:nvGrpSpPr>
          <p:cNvPr id="679947" name="Group 11"/>
          <p:cNvGrpSpPr>
            <a:grpSpLocks/>
          </p:cNvGrpSpPr>
          <p:nvPr/>
        </p:nvGrpSpPr>
        <p:grpSpPr bwMode="auto">
          <a:xfrm>
            <a:off x="7315200" y="1973264"/>
            <a:ext cx="4267200" cy="2217737"/>
            <a:chOff x="168" y="2640"/>
            <a:chExt cx="2016" cy="1397"/>
          </a:xfrm>
        </p:grpSpPr>
        <p:sp>
          <p:nvSpPr>
            <p:cNvPr id="62476" name="AutoShape 12"/>
            <p:cNvSpPr>
              <a:spLocks noChangeArrowheads="1"/>
            </p:cNvSpPr>
            <p:nvPr/>
          </p:nvSpPr>
          <p:spPr bwMode="auto">
            <a:xfrm>
              <a:off x="168" y="3204"/>
              <a:ext cx="2016" cy="768"/>
            </a:xfrm>
            <a:prstGeom prst="parallelogram">
              <a:avLst>
                <a:gd name="adj" fmla="val 65625"/>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latin typeface="黑体" pitchFamily="49" charset="-122"/>
                <a:ea typeface="黑体" pitchFamily="49" charset="-122"/>
              </a:endParaRPr>
            </a:p>
          </p:txBody>
        </p:sp>
        <p:sp>
          <p:nvSpPr>
            <p:cNvPr id="62477" name="Line 13"/>
            <p:cNvSpPr>
              <a:spLocks noChangeShapeType="1"/>
            </p:cNvSpPr>
            <p:nvPr/>
          </p:nvSpPr>
          <p:spPr bwMode="auto">
            <a:xfrm flipV="1">
              <a:off x="1032" y="2724"/>
              <a:ext cx="0" cy="816"/>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itchFamily="49" charset="-122"/>
                <a:ea typeface="黑体" pitchFamily="49" charset="-122"/>
              </a:endParaRPr>
            </a:p>
          </p:txBody>
        </p:sp>
        <p:sp>
          <p:nvSpPr>
            <p:cNvPr id="62478" name="Text Box 14"/>
            <p:cNvSpPr txBox="1">
              <a:spLocks noChangeArrowheads="1"/>
            </p:cNvSpPr>
            <p:nvPr/>
          </p:nvSpPr>
          <p:spPr bwMode="auto">
            <a:xfrm>
              <a:off x="936" y="3384"/>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50000"/>
                </a:spcBef>
              </a:pPr>
              <a:r>
                <a:rPr kumimoji="1" lang="en-US" altLang="zh-CN" sz="2400" b="0">
                  <a:latin typeface="黑体" pitchFamily="49" charset="-122"/>
                  <a:ea typeface="黑体" pitchFamily="49" charset="-122"/>
                  <a:sym typeface="Symbol" pitchFamily="18" charset="2"/>
                </a:rPr>
                <a:t></a:t>
              </a:r>
              <a:endParaRPr kumimoji="1" lang="en-US" altLang="zh-CN" sz="2400" b="0">
                <a:latin typeface="黑体" pitchFamily="49" charset="-122"/>
                <a:ea typeface="黑体" pitchFamily="49" charset="-122"/>
              </a:endParaRPr>
            </a:p>
          </p:txBody>
        </p:sp>
        <p:sp>
          <p:nvSpPr>
            <p:cNvPr id="62479" name="Line 15"/>
            <p:cNvSpPr>
              <a:spLocks noChangeShapeType="1"/>
            </p:cNvSpPr>
            <p:nvPr/>
          </p:nvSpPr>
          <p:spPr bwMode="auto">
            <a:xfrm flipV="1">
              <a:off x="1032" y="3348"/>
              <a:ext cx="528" cy="192"/>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itchFamily="49" charset="-122"/>
                <a:ea typeface="黑体" pitchFamily="49" charset="-122"/>
              </a:endParaRPr>
            </a:p>
          </p:txBody>
        </p:sp>
        <p:sp>
          <p:nvSpPr>
            <p:cNvPr id="62480" name="Line 16"/>
            <p:cNvSpPr>
              <a:spLocks noChangeShapeType="1"/>
            </p:cNvSpPr>
            <p:nvPr/>
          </p:nvSpPr>
          <p:spPr bwMode="auto">
            <a:xfrm>
              <a:off x="1032" y="3540"/>
              <a:ext cx="576" cy="240"/>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itchFamily="49" charset="-122"/>
                <a:ea typeface="黑体" pitchFamily="49" charset="-122"/>
              </a:endParaRPr>
            </a:p>
          </p:txBody>
        </p:sp>
        <p:sp>
          <p:nvSpPr>
            <p:cNvPr id="62481" name="Text Box 17"/>
            <p:cNvSpPr txBox="1">
              <a:spLocks noChangeArrowheads="1"/>
            </p:cNvSpPr>
            <p:nvPr/>
          </p:nvSpPr>
          <p:spPr bwMode="auto">
            <a:xfrm>
              <a:off x="756" y="3396"/>
              <a:ext cx="48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50000"/>
                </a:spcBef>
              </a:pPr>
              <a:r>
                <a:rPr kumimoji="1" lang="en-US" altLang="zh-CN" sz="2800" i="1">
                  <a:latin typeface="黑体" pitchFamily="49" charset="-122"/>
                  <a:ea typeface="黑体" pitchFamily="49" charset="-122"/>
                </a:rPr>
                <a:t>q</a:t>
              </a:r>
            </a:p>
          </p:txBody>
        </p:sp>
        <p:sp>
          <p:nvSpPr>
            <p:cNvPr id="62482" name="Freeform 18"/>
            <p:cNvSpPr>
              <a:spLocks/>
            </p:cNvSpPr>
            <p:nvPr/>
          </p:nvSpPr>
          <p:spPr bwMode="auto">
            <a:xfrm>
              <a:off x="1284" y="3444"/>
              <a:ext cx="48" cy="192"/>
            </a:xfrm>
            <a:custGeom>
              <a:avLst/>
              <a:gdLst>
                <a:gd name="T0" fmla="*/ 0 w 48"/>
                <a:gd name="T1" fmla="*/ 0 h 192"/>
                <a:gd name="T2" fmla="*/ 48 w 48"/>
                <a:gd name="T3" fmla="*/ 96 h 192"/>
                <a:gd name="T4" fmla="*/ 0 w 48"/>
                <a:gd name="T5" fmla="*/ 192 h 192"/>
                <a:gd name="T6" fmla="*/ 0 60000 65536"/>
                <a:gd name="T7" fmla="*/ 0 60000 65536"/>
                <a:gd name="T8" fmla="*/ 0 60000 65536"/>
              </a:gdLst>
              <a:ahLst/>
              <a:cxnLst>
                <a:cxn ang="T6">
                  <a:pos x="T0" y="T1"/>
                </a:cxn>
                <a:cxn ang="T7">
                  <a:pos x="T2" y="T3"/>
                </a:cxn>
                <a:cxn ang="T8">
                  <a:pos x="T4" y="T5"/>
                </a:cxn>
              </a:cxnLst>
              <a:rect l="0" t="0" r="r" b="b"/>
              <a:pathLst>
                <a:path w="48" h="192">
                  <a:moveTo>
                    <a:pt x="0" y="0"/>
                  </a:moveTo>
                  <a:cubicBezTo>
                    <a:pt x="24" y="32"/>
                    <a:pt x="48" y="64"/>
                    <a:pt x="48" y="96"/>
                  </a:cubicBezTo>
                  <a:cubicBezTo>
                    <a:pt x="48" y="128"/>
                    <a:pt x="24" y="160"/>
                    <a:pt x="0" y="192"/>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itchFamily="49" charset="-122"/>
                <a:ea typeface="黑体" pitchFamily="49" charset="-122"/>
              </a:endParaRPr>
            </a:p>
          </p:txBody>
        </p:sp>
        <p:sp>
          <p:nvSpPr>
            <p:cNvPr id="62483" name="Text Box 19"/>
            <p:cNvSpPr txBox="1">
              <a:spLocks noChangeArrowheads="1"/>
            </p:cNvSpPr>
            <p:nvPr/>
          </p:nvSpPr>
          <p:spPr bwMode="auto">
            <a:xfrm>
              <a:off x="1296" y="3348"/>
              <a:ext cx="3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50000"/>
                </a:spcBef>
              </a:pPr>
              <a:r>
                <a:rPr kumimoji="1" lang="en-US" altLang="zh-CN" sz="2800" i="1">
                  <a:latin typeface="黑体" pitchFamily="49" charset="-122"/>
                  <a:ea typeface="黑体" pitchFamily="49" charset="-122"/>
                  <a:sym typeface="Symbol" pitchFamily="18" charset="2"/>
                </a:rPr>
                <a:t></a:t>
              </a:r>
              <a:endParaRPr kumimoji="1" lang="en-US" altLang="zh-CN" sz="2800" i="1">
                <a:latin typeface="黑体" pitchFamily="49" charset="-122"/>
                <a:ea typeface="黑体" pitchFamily="49" charset="-122"/>
              </a:endParaRPr>
            </a:p>
          </p:txBody>
        </p:sp>
        <p:sp>
          <p:nvSpPr>
            <p:cNvPr id="62484" name="Text Box 20"/>
            <p:cNvSpPr txBox="1">
              <a:spLocks noChangeArrowheads="1"/>
            </p:cNvSpPr>
            <p:nvPr/>
          </p:nvSpPr>
          <p:spPr bwMode="auto">
            <a:xfrm>
              <a:off x="1512" y="3204"/>
              <a:ext cx="38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50000"/>
                </a:spcBef>
              </a:pPr>
              <a:r>
                <a:rPr kumimoji="1" lang="en-US" altLang="zh-CN" sz="2800" i="1">
                  <a:latin typeface="黑体" pitchFamily="49" charset="-122"/>
                  <a:ea typeface="黑体" pitchFamily="49" charset="-122"/>
                </a:rPr>
                <a:t>B</a:t>
              </a:r>
            </a:p>
          </p:txBody>
        </p:sp>
        <p:sp>
          <p:nvSpPr>
            <p:cNvPr id="62485" name="Line 21"/>
            <p:cNvSpPr>
              <a:spLocks noChangeShapeType="1"/>
            </p:cNvSpPr>
            <p:nvPr/>
          </p:nvSpPr>
          <p:spPr bwMode="auto">
            <a:xfrm>
              <a:off x="1592" y="3276"/>
              <a:ext cx="132" cy="0"/>
            </a:xfrm>
            <a:prstGeom prst="line">
              <a:avLst/>
            </a:prstGeom>
            <a:noFill/>
            <a:ln w="1270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itchFamily="49" charset="-122"/>
                <a:ea typeface="黑体" pitchFamily="49" charset="-122"/>
              </a:endParaRPr>
            </a:p>
          </p:txBody>
        </p:sp>
        <p:sp>
          <p:nvSpPr>
            <p:cNvPr id="62486" name="Text Box 22"/>
            <p:cNvSpPr txBox="1">
              <a:spLocks noChangeArrowheads="1"/>
            </p:cNvSpPr>
            <p:nvPr/>
          </p:nvSpPr>
          <p:spPr bwMode="auto">
            <a:xfrm>
              <a:off x="1212" y="3672"/>
              <a:ext cx="576"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50000"/>
                </a:spcBef>
              </a:pPr>
              <a:r>
                <a:rPr kumimoji="1" lang="en-US" altLang="zh-CN" sz="3200" i="1">
                  <a:latin typeface="黑体" pitchFamily="49" charset="-122"/>
                  <a:ea typeface="黑体" pitchFamily="49" charset="-122"/>
                </a:rPr>
                <a:t>v</a:t>
              </a:r>
            </a:p>
          </p:txBody>
        </p:sp>
        <p:sp>
          <p:nvSpPr>
            <p:cNvPr id="62487" name="Line 23"/>
            <p:cNvSpPr>
              <a:spLocks noChangeShapeType="1"/>
            </p:cNvSpPr>
            <p:nvPr/>
          </p:nvSpPr>
          <p:spPr bwMode="auto">
            <a:xfrm>
              <a:off x="1318" y="3792"/>
              <a:ext cx="134" cy="0"/>
            </a:xfrm>
            <a:prstGeom prst="line">
              <a:avLst/>
            </a:prstGeom>
            <a:noFill/>
            <a:ln w="1270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itchFamily="49" charset="-122"/>
                <a:ea typeface="黑体" pitchFamily="49" charset="-122"/>
              </a:endParaRPr>
            </a:p>
          </p:txBody>
        </p:sp>
        <p:sp>
          <p:nvSpPr>
            <p:cNvPr id="62488" name="Text Box 24"/>
            <p:cNvSpPr txBox="1">
              <a:spLocks noChangeArrowheads="1"/>
            </p:cNvSpPr>
            <p:nvPr/>
          </p:nvSpPr>
          <p:spPr bwMode="auto">
            <a:xfrm>
              <a:off x="660" y="2640"/>
              <a:ext cx="5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50000"/>
                </a:spcBef>
              </a:pPr>
              <a:r>
                <a:rPr kumimoji="1" lang="en-US" altLang="zh-CN" sz="2800" i="1">
                  <a:latin typeface="黑体" pitchFamily="49" charset="-122"/>
                  <a:ea typeface="黑体" pitchFamily="49" charset="-122"/>
                </a:rPr>
                <a:t>F</a:t>
              </a:r>
              <a:r>
                <a:rPr kumimoji="1" lang="en-US" altLang="zh-CN" sz="2800" i="1" baseline="-25000">
                  <a:latin typeface="黑体" pitchFamily="49" charset="-122"/>
                  <a:ea typeface="黑体" pitchFamily="49" charset="-122"/>
                </a:rPr>
                <a:t>m</a:t>
              </a:r>
              <a:endParaRPr kumimoji="1" lang="en-US" altLang="zh-CN" sz="2800" i="1">
                <a:latin typeface="黑体" pitchFamily="49" charset="-122"/>
                <a:ea typeface="黑体" pitchFamily="49" charset="-122"/>
              </a:endParaRPr>
            </a:p>
          </p:txBody>
        </p:sp>
        <p:sp>
          <p:nvSpPr>
            <p:cNvPr id="62489" name="Line 25"/>
            <p:cNvSpPr>
              <a:spLocks noChangeShapeType="1"/>
            </p:cNvSpPr>
            <p:nvPr/>
          </p:nvSpPr>
          <p:spPr bwMode="auto">
            <a:xfrm>
              <a:off x="771" y="2712"/>
              <a:ext cx="118" cy="0"/>
            </a:xfrm>
            <a:prstGeom prst="line">
              <a:avLst/>
            </a:prstGeom>
            <a:noFill/>
            <a:ln w="1270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黑体" pitchFamily="49" charset="-122"/>
                <a:ea typeface="黑体" pitchFamily="49" charset="-122"/>
              </a:endParaRPr>
            </a:p>
          </p:txBody>
        </p:sp>
      </p:grpSp>
      <p:graphicFrame>
        <p:nvGraphicFramePr>
          <p:cNvPr id="2" name="对象 1"/>
          <p:cNvGraphicFramePr>
            <a:graphicFrameLocks noChangeAspect="1"/>
          </p:cNvGraphicFramePr>
          <p:nvPr>
            <p:extLst>
              <p:ext uri="{D42A27DB-BD31-4B8C-83A1-F6EECF244321}">
                <p14:modId xmlns:p14="http://schemas.microsoft.com/office/powerpoint/2010/main" val="2074581307"/>
              </p:ext>
            </p:extLst>
          </p:nvPr>
        </p:nvGraphicFramePr>
        <p:xfrm>
          <a:off x="1695320" y="1940448"/>
          <a:ext cx="3376037" cy="813866"/>
        </p:xfrm>
        <a:graphic>
          <a:graphicData uri="http://schemas.openxmlformats.org/presentationml/2006/ole">
            <mc:AlternateContent xmlns:mc="http://schemas.openxmlformats.org/markup-compatibility/2006">
              <mc:Choice xmlns:v="urn:schemas-microsoft-com:vml" Requires="v">
                <p:oleObj spid="_x0000_s12366" name="Equation" r:id="rId3" imgW="711000" imgH="228600" progId="Equation.DSMT4">
                  <p:embed/>
                </p:oleObj>
              </mc:Choice>
              <mc:Fallback>
                <p:oleObj name="Equation" r:id="rId3" imgW="71100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5320" y="1940448"/>
                        <a:ext cx="3376037" cy="8138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1236350" y="173963"/>
            <a:ext cx="8528297" cy="646331"/>
          </a:xfrm>
          <a:prstGeom prst="rect">
            <a:avLst/>
          </a:prstGeom>
        </p:spPr>
        <p:txBody>
          <a:bodyPr wrap="none">
            <a:spAutoFit/>
          </a:bodyPr>
          <a:lstStyle/>
          <a:p>
            <a:pPr defTabSz="762000">
              <a:spcBef>
                <a:spcPts val="1400"/>
              </a:spcBef>
              <a:defRPr sz="1800"/>
            </a:pPr>
            <a:r>
              <a:rPr lang="en-US" altLang="zh-CN" sz="3600" b="1" dirty="0">
                <a:latin typeface="+mn-ea"/>
                <a:cs typeface="SimHei"/>
                <a:sym typeface="SimHei"/>
              </a:rPr>
              <a:t>§19.3</a:t>
            </a:r>
            <a:r>
              <a:rPr lang="zh-CN" altLang="en-US" sz="3600" b="1" dirty="0">
                <a:latin typeface="+mn-ea"/>
                <a:cs typeface="SimHei"/>
                <a:sym typeface="SimHei"/>
              </a:rPr>
              <a:t>  垂直于匀强磁场运动的带电粒子</a:t>
            </a:r>
          </a:p>
        </p:txBody>
      </p:sp>
    </p:spTree>
    <p:extLst>
      <p:ext uri="{BB962C8B-B14F-4D97-AF65-F5344CB8AC3E}">
        <p14:creationId xmlns:p14="http://schemas.microsoft.com/office/powerpoint/2010/main" val="37434405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Text Box 2"/>
          <p:cNvSpPr txBox="1">
            <a:spLocks noChangeArrowheads="1"/>
          </p:cNvSpPr>
          <p:nvPr/>
        </p:nvSpPr>
        <p:spPr bwMode="auto">
          <a:xfrm>
            <a:off x="334433" y="2060606"/>
            <a:ext cx="6561667"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20000"/>
              </a:spcBef>
            </a:pPr>
            <a:r>
              <a:rPr kumimoji="1" lang="en-US" altLang="zh-CN" sz="2800" dirty="0">
                <a:solidFill>
                  <a:srgbClr val="3333FF"/>
                </a:solidFill>
                <a:latin typeface="黑体" pitchFamily="49" charset="-122"/>
                <a:ea typeface="黑体" pitchFamily="49" charset="-122"/>
              </a:rPr>
              <a:t>2</a:t>
            </a:r>
            <a:r>
              <a:rPr kumimoji="1" lang="zh-CN" altLang="en-US" sz="2800" dirty="0">
                <a:solidFill>
                  <a:srgbClr val="3333FF"/>
                </a:solidFill>
                <a:latin typeface="黑体" pitchFamily="49" charset="-122"/>
                <a:ea typeface="黑体" pitchFamily="49" charset="-122"/>
              </a:rPr>
              <a:t>、速度方向与磁场方向垂直</a:t>
            </a:r>
          </a:p>
        </p:txBody>
      </p:sp>
      <p:grpSp>
        <p:nvGrpSpPr>
          <p:cNvPr id="2" name="组合 1"/>
          <p:cNvGrpSpPr/>
          <p:nvPr/>
        </p:nvGrpSpPr>
        <p:grpSpPr>
          <a:xfrm>
            <a:off x="420937" y="2807642"/>
            <a:ext cx="5382684" cy="679450"/>
            <a:chOff x="213619" y="2540332"/>
            <a:chExt cx="4037013" cy="679450"/>
          </a:xfrm>
        </p:grpSpPr>
        <p:sp>
          <p:nvSpPr>
            <p:cNvPr id="681987" name="Text Box 3"/>
            <p:cNvSpPr txBox="1">
              <a:spLocks noChangeArrowheads="1"/>
            </p:cNvSpPr>
            <p:nvPr/>
          </p:nvSpPr>
          <p:spPr bwMode="auto">
            <a:xfrm>
              <a:off x="213619" y="2598638"/>
              <a:ext cx="2374900"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20000"/>
                </a:spcBef>
              </a:pPr>
              <a:r>
                <a:rPr kumimoji="1" lang="zh-CN" altLang="en-US" sz="2800" dirty="0">
                  <a:latin typeface="黑体" pitchFamily="49" charset="-122"/>
                  <a:ea typeface="黑体" pitchFamily="49" charset="-122"/>
                </a:rPr>
                <a:t>洛仑兹力的大小</a:t>
              </a:r>
            </a:p>
          </p:txBody>
        </p:sp>
        <p:graphicFrame>
          <p:nvGraphicFramePr>
            <p:cNvPr id="681988" name="Object 4"/>
            <p:cNvGraphicFramePr>
              <a:graphicFrameLocks noChangeAspect="1"/>
            </p:cNvGraphicFramePr>
            <p:nvPr>
              <p:extLst>
                <p:ext uri="{D42A27DB-BD31-4B8C-83A1-F6EECF244321}">
                  <p14:modId xmlns:p14="http://schemas.microsoft.com/office/powerpoint/2010/main" val="3404365583"/>
                </p:ext>
              </p:extLst>
            </p:nvPr>
          </p:nvGraphicFramePr>
          <p:xfrm>
            <a:off x="2588519" y="2540332"/>
            <a:ext cx="1662113" cy="679450"/>
          </p:xfrm>
          <a:graphic>
            <a:graphicData uri="http://schemas.openxmlformats.org/presentationml/2006/ole">
              <mc:AlternateContent xmlns:mc="http://schemas.openxmlformats.org/markup-compatibility/2006">
                <mc:Choice xmlns:v="urn:schemas-microsoft-com:vml" Requires="v">
                  <p:oleObj spid="_x0000_s13390" name="Equation" r:id="rId3" imgW="622080" imgH="253800" progId="Equation.DSMT4">
                    <p:embed/>
                  </p:oleObj>
                </mc:Choice>
                <mc:Fallback>
                  <p:oleObj name="Equation" r:id="rId3" imgW="622080" imgH="253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8519" y="2540332"/>
                          <a:ext cx="1662113" cy="6794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81989" name="Text Box 5"/>
          <p:cNvSpPr txBox="1">
            <a:spLocks noChangeArrowheads="1"/>
          </p:cNvSpPr>
          <p:nvPr/>
        </p:nvSpPr>
        <p:spPr bwMode="auto">
          <a:xfrm>
            <a:off x="527051" y="3712524"/>
            <a:ext cx="6369049"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20000"/>
              </a:spcBef>
            </a:pPr>
            <a:r>
              <a:rPr kumimoji="1" lang="zh-CN" altLang="en-US" sz="2800" dirty="0">
                <a:latin typeface="黑体" pitchFamily="49" charset="-122"/>
                <a:ea typeface="黑体" pitchFamily="49" charset="-122"/>
              </a:rPr>
              <a:t>方向：垂</a:t>
            </a:r>
            <a:r>
              <a:rPr kumimoji="1" lang="zh-CN" altLang="en-US" sz="2800" dirty="0" smtClean="0">
                <a:latin typeface="黑体" pitchFamily="49" charset="-122"/>
                <a:ea typeface="黑体" pitchFamily="49" charset="-122"/>
              </a:rPr>
              <a:t>直于速度和</a:t>
            </a:r>
            <a:r>
              <a:rPr kumimoji="1" lang="zh-CN" altLang="en-US" sz="2800" dirty="0">
                <a:latin typeface="黑体" pitchFamily="49" charset="-122"/>
                <a:ea typeface="黑体" pitchFamily="49" charset="-122"/>
              </a:rPr>
              <a:t>磁场的方向</a:t>
            </a:r>
          </a:p>
        </p:txBody>
      </p:sp>
      <p:sp>
        <p:nvSpPr>
          <p:cNvPr id="64526" name="Text Box 14"/>
          <p:cNvSpPr txBox="1">
            <a:spLocks noChangeArrowheads="1"/>
          </p:cNvSpPr>
          <p:nvPr/>
        </p:nvSpPr>
        <p:spPr bwMode="auto">
          <a:xfrm>
            <a:off x="203200" y="152401"/>
            <a:ext cx="8388351" cy="519113"/>
          </a:xfrm>
          <a:prstGeom prst="rect">
            <a:avLst/>
          </a:prstGeom>
          <a:ln>
            <a:noFill/>
          </a:ln>
          <a:extLst>
            <a:ext uri="{91240B29-F687-4F45-9708-019B960494DF}">
              <a14:hiddenLine xmlns:a14="http://schemas.microsoft.com/office/drawing/2010/main" w="9525">
                <a:solidFill>
                  <a:schemeClr val="tx1"/>
                </a:solidFill>
                <a:miter lim="800000"/>
                <a:headEnd/>
                <a:tailEnd/>
              </a14:hiddenLine>
            </a:ext>
          </a:extLst>
        </p:spPr>
        <p:style>
          <a:lnRef idx="2">
            <a:schemeClr val="dk1"/>
          </a:lnRef>
          <a:fillRef idx="1">
            <a:schemeClr val="lt1"/>
          </a:fillRef>
          <a:effectRef idx="0">
            <a:schemeClr val="dk1"/>
          </a:effectRef>
          <a:fontRef idx="minor">
            <a:schemeClr val="dk1"/>
          </a:fontRef>
        </p:style>
        <p:txBody>
          <a:bodyPr lIns="92075" tIns="46038" rIns="92075" bIns="46038" anchor="ct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r>
              <a:rPr kumimoji="1" lang="zh-CN" altLang="en-US" sz="2800" dirty="0" smtClean="0">
                <a:latin typeface="黑体" pitchFamily="49" charset="-122"/>
                <a:ea typeface="黑体" pitchFamily="49" charset="-122"/>
              </a:rPr>
              <a:t>一、</a:t>
            </a:r>
            <a:r>
              <a:rPr kumimoji="1" lang="zh-CN" altLang="en-US" sz="2800" dirty="0">
                <a:latin typeface="黑体" pitchFamily="49" charset="-122"/>
                <a:ea typeface="黑体" pitchFamily="49" charset="-122"/>
              </a:rPr>
              <a:t>带电粒子在磁场中的运动</a:t>
            </a:r>
          </a:p>
        </p:txBody>
      </p:sp>
      <p:sp>
        <p:nvSpPr>
          <p:cNvPr id="64527" name="Text Box 15"/>
          <p:cNvSpPr txBox="1">
            <a:spLocks noChangeArrowheads="1"/>
          </p:cNvSpPr>
          <p:nvPr/>
        </p:nvSpPr>
        <p:spPr bwMode="auto">
          <a:xfrm>
            <a:off x="400634" y="655918"/>
            <a:ext cx="6508749"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20000"/>
              </a:spcBef>
            </a:pPr>
            <a:r>
              <a:rPr kumimoji="1" lang="en-US" altLang="zh-CN" sz="2800" dirty="0">
                <a:solidFill>
                  <a:srgbClr val="3333FF"/>
                </a:solidFill>
                <a:latin typeface="黑体" pitchFamily="49" charset="-122"/>
                <a:ea typeface="黑体" pitchFamily="49" charset="-122"/>
              </a:rPr>
              <a:t>1</a:t>
            </a:r>
            <a:r>
              <a:rPr kumimoji="1" lang="zh-CN" altLang="en-US" sz="2800" dirty="0">
                <a:solidFill>
                  <a:srgbClr val="3333FF"/>
                </a:solidFill>
                <a:latin typeface="黑体" pitchFamily="49" charset="-122"/>
                <a:ea typeface="黑体" pitchFamily="49" charset="-122"/>
              </a:rPr>
              <a:t>、速度方向与磁场方向平行</a:t>
            </a:r>
            <a:endParaRPr kumimoji="1" lang="zh-CN" altLang="en-US" sz="2800" dirty="0">
              <a:solidFill>
                <a:srgbClr val="FF3300"/>
              </a:solidFill>
              <a:latin typeface="黑体" pitchFamily="49" charset="-122"/>
              <a:ea typeface="黑体" pitchFamily="49" charset="-122"/>
            </a:endParaRPr>
          </a:p>
        </p:txBody>
      </p:sp>
      <p:sp>
        <p:nvSpPr>
          <p:cNvPr id="64528" name="Text Box 16"/>
          <p:cNvSpPr txBox="1">
            <a:spLocks noChangeArrowheads="1"/>
          </p:cNvSpPr>
          <p:nvPr/>
        </p:nvSpPr>
        <p:spPr bwMode="auto">
          <a:xfrm>
            <a:off x="420937" y="1248678"/>
            <a:ext cx="8124050"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20000"/>
              </a:spcBef>
            </a:pPr>
            <a:r>
              <a:rPr kumimoji="1" lang="zh-CN" altLang="en-US" sz="2800" dirty="0">
                <a:latin typeface="黑体" pitchFamily="49" charset="-122"/>
                <a:ea typeface="黑体" pitchFamily="49" charset="-122"/>
              </a:rPr>
              <a:t>带电粒子受到的洛仑兹力为零，粒子作直线运动</a:t>
            </a:r>
          </a:p>
        </p:txBody>
      </p:sp>
      <p:grpSp>
        <p:nvGrpSpPr>
          <p:cNvPr id="4" name="组合 3"/>
          <p:cNvGrpSpPr/>
          <p:nvPr/>
        </p:nvGrpSpPr>
        <p:grpSpPr>
          <a:xfrm>
            <a:off x="8257119" y="1799579"/>
            <a:ext cx="3647016" cy="1511300"/>
            <a:chOff x="8113184" y="765175"/>
            <a:chExt cx="3647016" cy="1511300"/>
          </a:xfrm>
        </p:grpSpPr>
        <p:grpSp>
          <p:nvGrpSpPr>
            <p:cNvPr id="64529" name="Group 17"/>
            <p:cNvGrpSpPr>
              <a:grpSpLocks/>
            </p:cNvGrpSpPr>
            <p:nvPr/>
          </p:nvGrpSpPr>
          <p:grpSpPr bwMode="auto">
            <a:xfrm>
              <a:off x="8113184" y="765175"/>
              <a:ext cx="3647016" cy="1511300"/>
              <a:chOff x="3470" y="709"/>
              <a:chExt cx="1723" cy="952"/>
            </a:xfrm>
          </p:grpSpPr>
          <p:sp>
            <p:nvSpPr>
              <p:cNvPr id="64534" name="Line 18"/>
              <p:cNvSpPr>
                <a:spLocks noChangeShapeType="1"/>
              </p:cNvSpPr>
              <p:nvPr/>
            </p:nvSpPr>
            <p:spPr bwMode="auto">
              <a:xfrm>
                <a:off x="3470" y="709"/>
                <a:ext cx="1723" cy="0"/>
              </a:xfrm>
              <a:prstGeom prst="line">
                <a:avLst/>
              </a:prstGeom>
              <a:noFill/>
              <a:ln w="22225">
                <a:solidFill>
                  <a:srgbClr val="FF00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64535" name="Line 19"/>
              <p:cNvSpPr>
                <a:spLocks noChangeShapeType="1"/>
              </p:cNvSpPr>
              <p:nvPr/>
            </p:nvSpPr>
            <p:spPr bwMode="auto">
              <a:xfrm>
                <a:off x="3470" y="1026"/>
                <a:ext cx="1723" cy="0"/>
              </a:xfrm>
              <a:prstGeom prst="line">
                <a:avLst/>
              </a:prstGeom>
              <a:noFill/>
              <a:ln w="22225">
                <a:solidFill>
                  <a:srgbClr val="FF00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64536" name="Line 20"/>
              <p:cNvSpPr>
                <a:spLocks noChangeShapeType="1"/>
              </p:cNvSpPr>
              <p:nvPr/>
            </p:nvSpPr>
            <p:spPr bwMode="auto">
              <a:xfrm>
                <a:off x="3470" y="1344"/>
                <a:ext cx="1723" cy="0"/>
              </a:xfrm>
              <a:prstGeom prst="line">
                <a:avLst/>
              </a:prstGeom>
              <a:noFill/>
              <a:ln w="22225">
                <a:solidFill>
                  <a:srgbClr val="FF00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64537" name="Line 21"/>
              <p:cNvSpPr>
                <a:spLocks noChangeShapeType="1"/>
              </p:cNvSpPr>
              <p:nvPr/>
            </p:nvSpPr>
            <p:spPr bwMode="auto">
              <a:xfrm>
                <a:off x="3470" y="1661"/>
                <a:ext cx="1723" cy="0"/>
              </a:xfrm>
              <a:prstGeom prst="line">
                <a:avLst/>
              </a:prstGeom>
              <a:noFill/>
              <a:ln w="22225">
                <a:solidFill>
                  <a:srgbClr val="FF00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64530" name="Group 22"/>
            <p:cNvGrpSpPr>
              <a:grpSpLocks/>
            </p:cNvGrpSpPr>
            <p:nvPr/>
          </p:nvGrpSpPr>
          <p:grpSpPr bwMode="auto">
            <a:xfrm>
              <a:off x="8401052" y="1341439"/>
              <a:ext cx="2976033" cy="287337"/>
              <a:chOff x="3606" y="1117"/>
              <a:chExt cx="1406" cy="181"/>
            </a:xfrm>
          </p:grpSpPr>
          <p:sp>
            <p:nvSpPr>
              <p:cNvPr id="64532" name="Oval 23"/>
              <p:cNvSpPr>
                <a:spLocks noChangeArrowheads="1"/>
              </p:cNvSpPr>
              <p:nvPr/>
            </p:nvSpPr>
            <p:spPr bwMode="auto">
              <a:xfrm>
                <a:off x="3606" y="1117"/>
                <a:ext cx="181" cy="181"/>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eaLnBrk="1" hangingPunct="1"/>
                <a:endParaRPr lang="zh-CN" altLang="en-US"/>
              </a:p>
            </p:txBody>
          </p:sp>
          <p:sp>
            <p:nvSpPr>
              <p:cNvPr id="64533" name="Line 24"/>
              <p:cNvSpPr>
                <a:spLocks noChangeShapeType="1"/>
              </p:cNvSpPr>
              <p:nvPr/>
            </p:nvSpPr>
            <p:spPr bwMode="auto">
              <a:xfrm>
                <a:off x="3787" y="1207"/>
                <a:ext cx="1225"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sp>
        <p:nvSpPr>
          <p:cNvPr id="3" name="TextBox 2"/>
          <p:cNvSpPr txBox="1"/>
          <p:nvPr/>
        </p:nvSpPr>
        <p:spPr>
          <a:xfrm>
            <a:off x="1502782" y="4619329"/>
            <a:ext cx="4224968" cy="523220"/>
          </a:xfrm>
          <a:prstGeom prst="rect">
            <a:avLst/>
          </a:prstGeom>
          <a:noFill/>
        </p:spPr>
        <p:txBody>
          <a:bodyPr wrap="square" rtlCol="0">
            <a:spAutoFit/>
          </a:bodyPr>
          <a:lstStyle/>
          <a:p>
            <a:r>
              <a:rPr lang="zh-CN" altLang="en-US" sz="2800" b="1" dirty="0" smtClean="0">
                <a:solidFill>
                  <a:srgbClr val="FF0000"/>
                </a:solidFill>
              </a:rPr>
              <a:t>粒子做匀速圆周运动</a:t>
            </a:r>
            <a:endParaRPr lang="zh-CN" altLang="en-US" sz="2800" b="1" dirty="0">
              <a:solidFill>
                <a:srgbClr val="FF0000"/>
              </a:solidFill>
            </a:endParaRPr>
          </a:p>
        </p:txBody>
      </p:sp>
    </p:spTree>
    <p:extLst>
      <p:ext uri="{BB962C8B-B14F-4D97-AF65-F5344CB8AC3E}">
        <p14:creationId xmlns:p14="http://schemas.microsoft.com/office/powerpoint/2010/main" val="37870326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gia12141_19_1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8942"/>
          <a:stretch/>
        </p:blipFill>
        <p:spPr bwMode="auto">
          <a:xfrm>
            <a:off x="1150177" y="1546673"/>
            <a:ext cx="9714176" cy="2607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2425700" y="390436"/>
            <a:ext cx="7581900" cy="584775"/>
          </a:xfrm>
          <a:prstGeom prst="rect">
            <a:avLst/>
          </a:prstGeom>
        </p:spPr>
        <p:txBody>
          <a:bodyPr wrap="square">
            <a:spAutoFit/>
          </a:bodyPr>
          <a:lstStyle/>
          <a:p>
            <a:r>
              <a:rPr lang="zh-CN" altLang="en-US" sz="3200" b="1" dirty="0">
                <a:solidFill>
                  <a:srgbClr val="000099"/>
                </a:solidFill>
                <a:latin typeface="宋体"/>
                <a:cs typeface="SimHei"/>
                <a:sym typeface="SimHei"/>
              </a:rPr>
              <a:t>垂直于匀强磁场运动的带电粒子</a:t>
            </a:r>
            <a:endParaRPr lang="zh-CN" altLang="en-US" sz="3200" dirty="0">
              <a:solidFill>
                <a:srgbClr val="000099"/>
              </a:solidFill>
            </a:endParaRPr>
          </a:p>
        </p:txBody>
      </p:sp>
      <p:sp>
        <p:nvSpPr>
          <p:cNvPr id="4" name="TextBox 3"/>
          <p:cNvSpPr txBox="1"/>
          <p:nvPr/>
        </p:nvSpPr>
        <p:spPr>
          <a:xfrm>
            <a:off x="1047253" y="4419600"/>
            <a:ext cx="9817100" cy="1938992"/>
          </a:xfrm>
          <a:prstGeom prst="rect">
            <a:avLst/>
          </a:prstGeom>
          <a:noFill/>
        </p:spPr>
        <p:txBody>
          <a:bodyPr wrap="square" rtlCol="0">
            <a:spAutoFit/>
          </a:bodyPr>
          <a:lstStyle/>
          <a:p>
            <a:pPr>
              <a:lnSpc>
                <a:spcPct val="125000"/>
              </a:lnSpc>
            </a:pPr>
            <a:r>
              <a:rPr lang="zh-CN" altLang="en-US" sz="2400" b="1" dirty="0" smtClean="0"/>
              <a:t>（</a:t>
            </a:r>
            <a:r>
              <a:rPr lang="en-US" altLang="zh-CN" sz="2400" b="1" dirty="0" smtClean="0"/>
              <a:t>a</a:t>
            </a:r>
            <a:r>
              <a:rPr lang="zh-CN" altLang="en-US" sz="2400" b="1" dirty="0" smtClean="0"/>
              <a:t>）在指入页面的磁场中向右运动的正电荷所受的力。</a:t>
            </a:r>
            <a:endParaRPr lang="en-US" altLang="zh-CN" sz="2400" b="1" dirty="0" smtClean="0"/>
          </a:p>
          <a:p>
            <a:pPr>
              <a:lnSpc>
                <a:spcPct val="125000"/>
              </a:lnSpc>
            </a:pPr>
            <a:r>
              <a:rPr lang="zh-CN" altLang="en-US" sz="2400" b="1" dirty="0" smtClean="0"/>
              <a:t>（</a:t>
            </a:r>
            <a:r>
              <a:rPr lang="en-US" altLang="zh-CN" sz="2400" b="1" dirty="0" smtClean="0"/>
              <a:t>b</a:t>
            </a:r>
            <a:r>
              <a:rPr lang="zh-CN" altLang="en-US" sz="2400" b="1" dirty="0" smtClean="0"/>
              <a:t>）随着速度方向变化，磁力方向亦变化以保持其垂直于</a:t>
            </a:r>
            <a:r>
              <a:rPr lang="en-US" altLang="zh-CN" sz="2400" b="1" dirty="0" smtClean="0"/>
              <a:t>v</a:t>
            </a:r>
            <a:r>
              <a:rPr lang="zh-CN" altLang="en-US" sz="2400" b="1" dirty="0" smtClean="0"/>
              <a:t>和</a:t>
            </a:r>
            <a:r>
              <a:rPr lang="en-US" altLang="zh-CN" sz="2400" b="1" dirty="0" smtClean="0"/>
              <a:t>B</a:t>
            </a:r>
            <a:r>
              <a:rPr lang="zh-CN" altLang="en-US" sz="2400" b="1" dirty="0" smtClean="0"/>
              <a:t>二者。</a:t>
            </a:r>
            <a:r>
              <a:rPr lang="zh-CN" altLang="en-US" sz="2400" b="1" dirty="0" smtClean="0">
                <a:solidFill>
                  <a:srgbClr val="FF0000"/>
                </a:solidFill>
              </a:rPr>
              <a:t>力的大小是恒定的，因此粒子做匀速圆周运动，洛伦兹力起着向心力的作用</a:t>
            </a:r>
            <a:endParaRPr lang="en-US" altLang="zh-CN" sz="2400" b="1" dirty="0" smtClean="0"/>
          </a:p>
        </p:txBody>
      </p:sp>
      <p:sp>
        <p:nvSpPr>
          <p:cNvPr id="5" name="矩形 4"/>
          <p:cNvSpPr/>
          <p:nvPr/>
        </p:nvSpPr>
        <p:spPr>
          <a:xfrm>
            <a:off x="1150175" y="5896928"/>
            <a:ext cx="7918667" cy="1200329"/>
          </a:xfrm>
          <a:prstGeom prst="rect">
            <a:avLst/>
          </a:prstGeom>
        </p:spPr>
        <p:txBody>
          <a:bodyPr wrap="square">
            <a:spAutoFit/>
          </a:bodyPr>
          <a:lstStyle/>
          <a:p>
            <a:endParaRPr lang="en-US" altLang="zh-CN" sz="2400" b="1" dirty="0" smtClean="0"/>
          </a:p>
          <a:p>
            <a:r>
              <a:rPr lang="zh-CN" altLang="en-US" sz="2400" b="1" dirty="0" smtClean="0"/>
              <a:t>（</a:t>
            </a:r>
            <a:r>
              <a:rPr lang="en-US" altLang="zh-CN" sz="2400" b="1" dirty="0"/>
              <a:t>c</a:t>
            </a:r>
            <a:r>
              <a:rPr lang="zh-CN" altLang="en-US" sz="2400" b="1" dirty="0"/>
              <a:t>）在相同的磁场中一个负电荷的运动</a:t>
            </a:r>
            <a:r>
              <a:rPr lang="zh-CN" altLang="en-US" sz="2400" b="1" dirty="0" smtClean="0"/>
              <a:t>。</a:t>
            </a:r>
            <a:endParaRPr lang="en-US" altLang="zh-CN" sz="2400" b="1" dirty="0" smtClean="0"/>
          </a:p>
          <a:p>
            <a:endParaRPr lang="zh-CN" altLang="en-US" sz="2400" b="1" dirty="0"/>
          </a:p>
        </p:txBody>
      </p:sp>
      <p:sp>
        <p:nvSpPr>
          <p:cNvPr id="6" name="TextBox 5"/>
          <p:cNvSpPr txBox="1"/>
          <p:nvPr/>
        </p:nvSpPr>
        <p:spPr>
          <a:xfrm>
            <a:off x="10172202" y="3414806"/>
            <a:ext cx="2019797" cy="1200329"/>
          </a:xfrm>
          <a:prstGeom prst="rect">
            <a:avLst/>
          </a:prstGeom>
          <a:noFill/>
        </p:spPr>
        <p:txBody>
          <a:bodyPr wrap="square" rtlCol="0">
            <a:spAutoFit/>
          </a:bodyPr>
          <a:lstStyle/>
          <a:p>
            <a:r>
              <a:rPr lang="en-US" altLang="zh-CN" sz="2400" b="1" smtClean="0">
                <a:solidFill>
                  <a:srgbClr val="FF0000"/>
                </a:solidFill>
              </a:rPr>
              <a:t>C</a:t>
            </a:r>
            <a:r>
              <a:rPr lang="zh-CN" altLang="en-US" sz="2400" b="1" smtClean="0">
                <a:solidFill>
                  <a:srgbClr val="FF0000"/>
                </a:solidFill>
              </a:rPr>
              <a:t>图中粒子是带正电还是带负电？</a:t>
            </a:r>
            <a:endParaRPr lang="zh-CN" altLang="en-US" sz="2400" b="1">
              <a:solidFill>
                <a:srgbClr val="FF0000"/>
              </a:solidFill>
            </a:endParaRPr>
          </a:p>
        </p:txBody>
      </p:sp>
    </p:spTree>
    <p:extLst>
      <p:ext uri="{BB962C8B-B14F-4D97-AF65-F5344CB8AC3E}">
        <p14:creationId xmlns:p14="http://schemas.microsoft.com/office/powerpoint/2010/main" val="36179397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91" name="Text Box 7"/>
          <p:cNvSpPr txBox="1">
            <a:spLocks noChangeArrowheads="1"/>
          </p:cNvSpPr>
          <p:nvPr/>
        </p:nvSpPr>
        <p:spPr bwMode="auto">
          <a:xfrm>
            <a:off x="157169" y="1606547"/>
            <a:ext cx="1624460"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algn="ctr" eaLnBrk="1" hangingPunct="1">
              <a:spcBef>
                <a:spcPct val="20000"/>
              </a:spcBef>
            </a:pPr>
            <a:r>
              <a:rPr kumimoji="1" lang="zh-CN" altLang="en-US" sz="2800" dirty="0">
                <a:solidFill>
                  <a:srgbClr val="FF3300"/>
                </a:solidFill>
                <a:latin typeface="黑体" pitchFamily="49" charset="-122"/>
                <a:ea typeface="黑体" pitchFamily="49" charset="-122"/>
              </a:rPr>
              <a:t>回旋半径</a:t>
            </a:r>
          </a:p>
        </p:txBody>
      </p:sp>
      <p:graphicFrame>
        <p:nvGraphicFramePr>
          <p:cNvPr id="681992" name="Object 8"/>
          <p:cNvGraphicFramePr>
            <a:graphicFrameLocks noChangeAspect="1"/>
          </p:cNvGraphicFramePr>
          <p:nvPr>
            <p:extLst>
              <p:ext uri="{D42A27DB-BD31-4B8C-83A1-F6EECF244321}">
                <p14:modId xmlns:p14="http://schemas.microsoft.com/office/powerpoint/2010/main" val="3758931021"/>
              </p:ext>
            </p:extLst>
          </p:nvPr>
        </p:nvGraphicFramePr>
        <p:xfrm>
          <a:off x="2502863" y="2235840"/>
          <a:ext cx="1931120" cy="1083311"/>
        </p:xfrm>
        <a:graphic>
          <a:graphicData uri="http://schemas.openxmlformats.org/presentationml/2006/ole">
            <mc:AlternateContent xmlns:mc="http://schemas.openxmlformats.org/markup-compatibility/2006">
              <mc:Choice xmlns:v="urn:schemas-microsoft-com:vml" Requires="v">
                <p:oleObj spid="_x0000_s14720" name="Equation" r:id="rId4" imgW="558800" imgH="419100" progId="Equation.DSMT4">
                  <p:embed/>
                </p:oleObj>
              </mc:Choice>
              <mc:Fallback>
                <p:oleObj name="Equation" r:id="rId4" imgW="558800" imgH="4191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2863" y="2235840"/>
                        <a:ext cx="1931120" cy="1083311"/>
                      </a:xfrm>
                      <a:prstGeom prst="rect">
                        <a:avLst/>
                      </a:prstGeom>
                      <a:gradFill rotWithShape="0">
                        <a:gsLst>
                          <a:gs pos="0">
                            <a:schemeClr val="accent1"/>
                          </a:gs>
                          <a:gs pos="50000">
                            <a:srgbClr val="FFFFFF"/>
                          </a:gs>
                          <a:gs pos="100000">
                            <a:schemeClr val="accent1"/>
                          </a:gs>
                        </a:gsLst>
                        <a:lin ang="5400000" scaled="1"/>
                      </a:gradFill>
                    </p:spPr>
                  </p:pic>
                </p:oleObj>
              </mc:Fallback>
            </mc:AlternateContent>
          </a:graphicData>
        </a:graphic>
      </p:graphicFrame>
      <p:sp>
        <p:nvSpPr>
          <p:cNvPr id="681993" name="Text Box 9"/>
          <p:cNvSpPr txBox="1">
            <a:spLocks noChangeArrowheads="1"/>
          </p:cNvSpPr>
          <p:nvPr/>
        </p:nvSpPr>
        <p:spPr bwMode="auto">
          <a:xfrm>
            <a:off x="157169" y="3855703"/>
            <a:ext cx="1624460"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algn="ctr" eaLnBrk="1" hangingPunct="1">
              <a:spcBef>
                <a:spcPct val="20000"/>
              </a:spcBef>
            </a:pPr>
            <a:r>
              <a:rPr kumimoji="1" lang="zh-CN" altLang="en-US" sz="2800" dirty="0">
                <a:solidFill>
                  <a:srgbClr val="FF3300"/>
                </a:solidFill>
                <a:latin typeface="黑体" pitchFamily="49" charset="-122"/>
                <a:ea typeface="黑体" pitchFamily="49" charset="-122"/>
              </a:rPr>
              <a:t>回旋周期</a:t>
            </a:r>
          </a:p>
        </p:txBody>
      </p:sp>
      <p:graphicFrame>
        <p:nvGraphicFramePr>
          <p:cNvPr id="681994" name="Object 10"/>
          <p:cNvGraphicFramePr>
            <a:graphicFrameLocks noChangeAspect="1"/>
          </p:cNvGraphicFramePr>
          <p:nvPr>
            <p:extLst>
              <p:ext uri="{D42A27DB-BD31-4B8C-83A1-F6EECF244321}">
                <p14:modId xmlns:p14="http://schemas.microsoft.com/office/powerpoint/2010/main" val="3563329780"/>
              </p:ext>
            </p:extLst>
          </p:nvPr>
        </p:nvGraphicFramePr>
        <p:xfrm>
          <a:off x="2480286" y="3728139"/>
          <a:ext cx="6619892" cy="1255089"/>
        </p:xfrm>
        <a:graphic>
          <a:graphicData uri="http://schemas.openxmlformats.org/presentationml/2006/ole">
            <mc:AlternateContent xmlns:mc="http://schemas.openxmlformats.org/markup-compatibility/2006">
              <mc:Choice xmlns:v="urn:schemas-microsoft-com:vml" Requires="v">
                <p:oleObj spid="_x0000_s14721" name="Equation" r:id="rId6" imgW="1701800" imgH="431800" progId="Equation.DSMT4">
                  <p:embed/>
                </p:oleObj>
              </mc:Choice>
              <mc:Fallback>
                <p:oleObj name="Equation" r:id="rId6" imgW="1701800" imgH="4318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0286" y="3728139"/>
                        <a:ext cx="6619892" cy="1255089"/>
                      </a:xfrm>
                      <a:prstGeom prst="rect">
                        <a:avLst/>
                      </a:prstGeom>
                      <a:gradFill rotWithShape="0">
                        <a:gsLst>
                          <a:gs pos="0">
                            <a:schemeClr val="accent1"/>
                          </a:gs>
                          <a:gs pos="50000">
                            <a:srgbClr val="FFFFFF"/>
                          </a:gs>
                          <a:gs pos="100000">
                            <a:schemeClr val="accent1"/>
                          </a:gs>
                        </a:gsLst>
                        <a:lin ang="5400000" scaled="1"/>
                      </a:gradFill>
                    </p:spPr>
                  </p:pic>
                </p:oleObj>
              </mc:Fallback>
            </mc:AlternateContent>
          </a:graphicData>
        </a:graphic>
      </p:graphicFrame>
      <p:sp>
        <p:nvSpPr>
          <p:cNvPr id="681995" name="Text Box 11"/>
          <p:cNvSpPr txBox="1">
            <a:spLocks noChangeArrowheads="1"/>
          </p:cNvSpPr>
          <p:nvPr/>
        </p:nvSpPr>
        <p:spPr bwMode="auto">
          <a:xfrm>
            <a:off x="181843" y="5528882"/>
            <a:ext cx="1624460"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algn="ctr" eaLnBrk="1" hangingPunct="1">
              <a:spcBef>
                <a:spcPct val="20000"/>
              </a:spcBef>
            </a:pPr>
            <a:r>
              <a:rPr kumimoji="1" lang="zh-CN" altLang="en-US" sz="2800" dirty="0">
                <a:solidFill>
                  <a:srgbClr val="FF3300"/>
                </a:solidFill>
                <a:latin typeface="黑体" pitchFamily="49" charset="-122"/>
                <a:ea typeface="黑体" pitchFamily="49" charset="-122"/>
              </a:rPr>
              <a:t>回旋频率</a:t>
            </a:r>
          </a:p>
        </p:txBody>
      </p:sp>
      <p:graphicFrame>
        <p:nvGraphicFramePr>
          <p:cNvPr id="681996" name="Object 12"/>
          <p:cNvGraphicFramePr>
            <a:graphicFrameLocks noChangeAspect="1"/>
          </p:cNvGraphicFramePr>
          <p:nvPr>
            <p:extLst>
              <p:ext uri="{D42A27DB-BD31-4B8C-83A1-F6EECF244321}">
                <p14:modId xmlns:p14="http://schemas.microsoft.com/office/powerpoint/2010/main" val="3346303086"/>
              </p:ext>
            </p:extLst>
          </p:nvPr>
        </p:nvGraphicFramePr>
        <p:xfrm>
          <a:off x="2505685" y="5382992"/>
          <a:ext cx="3230763" cy="1055908"/>
        </p:xfrm>
        <a:graphic>
          <a:graphicData uri="http://schemas.openxmlformats.org/presentationml/2006/ole">
            <mc:AlternateContent xmlns:mc="http://schemas.openxmlformats.org/markup-compatibility/2006">
              <mc:Choice xmlns:v="urn:schemas-microsoft-com:vml" Requires="v">
                <p:oleObj spid="_x0000_s14722" name="Equation" r:id="rId8" imgW="901309" imgH="393529" progId="Equation.DSMT4">
                  <p:embed/>
                </p:oleObj>
              </mc:Choice>
              <mc:Fallback>
                <p:oleObj name="Equation" r:id="rId8" imgW="901309" imgH="393529"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05685" y="5382992"/>
                        <a:ext cx="3230763" cy="1055908"/>
                      </a:xfrm>
                      <a:prstGeom prst="rect">
                        <a:avLst/>
                      </a:prstGeom>
                      <a:noFill/>
                      <a:ln>
                        <a:noFill/>
                      </a:ln>
                      <a:effectLst/>
                      <a:extLst/>
                    </p:spPr>
                  </p:pic>
                </p:oleObj>
              </mc:Fallback>
            </mc:AlternateContent>
          </a:graphicData>
        </a:graphic>
      </p:graphicFrame>
      <p:graphicFrame>
        <p:nvGraphicFramePr>
          <p:cNvPr id="26" name="Object 6"/>
          <p:cNvGraphicFramePr>
            <a:graphicFrameLocks noChangeAspect="1"/>
          </p:cNvGraphicFramePr>
          <p:nvPr>
            <p:extLst>
              <p:ext uri="{D42A27DB-BD31-4B8C-83A1-F6EECF244321}">
                <p14:modId xmlns:p14="http://schemas.microsoft.com/office/powerpoint/2010/main" val="1750853463"/>
              </p:ext>
            </p:extLst>
          </p:nvPr>
        </p:nvGraphicFramePr>
        <p:xfrm>
          <a:off x="2290233" y="1011234"/>
          <a:ext cx="7747000" cy="1190625"/>
        </p:xfrm>
        <a:graphic>
          <a:graphicData uri="http://schemas.openxmlformats.org/presentationml/2006/ole">
            <mc:AlternateContent xmlns:mc="http://schemas.openxmlformats.org/markup-compatibility/2006">
              <mc:Choice xmlns:v="urn:schemas-microsoft-com:vml" Requires="v">
                <p:oleObj spid="_x0000_s14723" name="Equation" r:id="rId10" imgW="2044440" imgH="419040" progId="Equation.DSMT4">
                  <p:embed/>
                </p:oleObj>
              </mc:Choice>
              <mc:Fallback>
                <p:oleObj name="Equation" r:id="rId10" imgW="2044440" imgH="41904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90233" y="1011234"/>
                        <a:ext cx="7747000" cy="1190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extBox 1"/>
          <p:cNvSpPr txBox="1"/>
          <p:nvPr/>
        </p:nvSpPr>
        <p:spPr>
          <a:xfrm>
            <a:off x="3632199" y="190500"/>
            <a:ext cx="7065027" cy="461665"/>
          </a:xfrm>
          <a:prstGeom prst="rect">
            <a:avLst/>
          </a:prstGeom>
          <a:noFill/>
        </p:spPr>
        <p:txBody>
          <a:bodyPr wrap="square" rtlCol="0">
            <a:spAutoFit/>
          </a:bodyPr>
          <a:lstStyle/>
          <a:p>
            <a:r>
              <a:rPr lang="zh-CN" altLang="en-US" sz="2400" b="1" dirty="0" smtClean="0"/>
              <a:t>匀速圆周运动的带电粒子的向心加速度为</a:t>
            </a:r>
            <a:endParaRPr lang="zh-CN" altLang="en-US" sz="2400" b="1" dirty="0"/>
          </a:p>
        </p:txBody>
      </p:sp>
      <p:graphicFrame>
        <p:nvGraphicFramePr>
          <p:cNvPr id="3" name="对象 2"/>
          <p:cNvGraphicFramePr>
            <a:graphicFrameLocks noChangeAspect="1"/>
          </p:cNvGraphicFramePr>
          <p:nvPr>
            <p:extLst>
              <p:ext uri="{D42A27DB-BD31-4B8C-83A1-F6EECF244321}">
                <p14:modId xmlns:p14="http://schemas.microsoft.com/office/powerpoint/2010/main" val="1207087393"/>
              </p:ext>
            </p:extLst>
          </p:nvPr>
        </p:nvGraphicFramePr>
        <p:xfrm>
          <a:off x="9347199" y="1289"/>
          <a:ext cx="992829" cy="840086"/>
        </p:xfrm>
        <a:graphic>
          <a:graphicData uri="http://schemas.openxmlformats.org/presentationml/2006/ole">
            <mc:AlternateContent xmlns:mc="http://schemas.openxmlformats.org/markup-compatibility/2006">
              <mc:Choice xmlns:v="urn:schemas-microsoft-com:vml" Requires="v">
                <p:oleObj spid="_x0000_s14724" name="Equation" r:id="rId12" imgW="495000" imgH="419040" progId="Equation.DSMT4">
                  <p:embed/>
                </p:oleObj>
              </mc:Choice>
              <mc:Fallback>
                <p:oleObj name="Equation" r:id="rId12" imgW="495000" imgH="419040" progId="Equation.DSMT4">
                  <p:embed/>
                  <p:pic>
                    <p:nvPicPr>
                      <p:cNvPr id="0" name=""/>
                      <p:cNvPicPr/>
                      <p:nvPr/>
                    </p:nvPicPr>
                    <p:blipFill>
                      <a:blip r:embed="rId13"/>
                      <a:stretch>
                        <a:fillRect/>
                      </a:stretch>
                    </p:blipFill>
                    <p:spPr>
                      <a:xfrm>
                        <a:off x="9347199" y="1289"/>
                        <a:ext cx="992829" cy="840086"/>
                      </a:xfrm>
                      <a:prstGeom prst="rect">
                        <a:avLst/>
                      </a:prstGeom>
                    </p:spPr>
                  </p:pic>
                </p:oleObj>
              </mc:Fallback>
            </mc:AlternateContent>
          </a:graphicData>
        </a:graphic>
      </p:graphicFrame>
    </p:spTree>
    <p:extLst>
      <p:ext uri="{BB962C8B-B14F-4D97-AF65-F5344CB8AC3E}">
        <p14:creationId xmlns:p14="http://schemas.microsoft.com/office/powerpoint/2010/main" val="8153373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199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8199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8199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819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8199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819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1991" grpId="0"/>
      <p:bldP spid="681993" grpId="0"/>
      <p:bldP spid="68199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560786" y="5890785"/>
            <a:ext cx="7056107" cy="830997"/>
          </a:xfrm>
          <a:prstGeom prst="rect">
            <a:avLst/>
          </a:prstGeom>
          <a:noFill/>
        </p:spPr>
        <p:txBody>
          <a:bodyPr wrap="square" rtlCol="0">
            <a:spAutoFit/>
          </a:bodyPr>
          <a:lstStyle/>
          <a:p>
            <a:r>
              <a:rPr lang="zh-CN" altLang="en-US" sz="2400" b="1" dirty="0" smtClean="0"/>
              <a:t>图</a:t>
            </a:r>
            <a:r>
              <a:rPr lang="en-US" altLang="zh-CN" sz="2400" b="1" dirty="0" smtClean="0"/>
              <a:t>19.15  a</a:t>
            </a:r>
            <a:r>
              <a:rPr lang="zh-CN" altLang="en-US" sz="2400" b="1" dirty="0" smtClean="0"/>
              <a:t>）运动带电粒子穿过欧洲大气泡室所留下的增强了艺术感的轨迹</a:t>
            </a:r>
            <a:endParaRPr lang="zh-CN" altLang="en-US" sz="2400" b="1" dirty="0"/>
          </a:p>
        </p:txBody>
      </p:sp>
      <p:sp>
        <p:nvSpPr>
          <p:cNvPr id="5" name="文本框 4"/>
          <p:cNvSpPr txBox="1"/>
          <p:nvPr/>
        </p:nvSpPr>
        <p:spPr>
          <a:xfrm>
            <a:off x="0" y="640953"/>
            <a:ext cx="11971768" cy="1384995"/>
          </a:xfrm>
          <a:prstGeom prst="rect">
            <a:avLst/>
          </a:prstGeom>
          <a:noFill/>
        </p:spPr>
        <p:txBody>
          <a:bodyPr wrap="square" rtlCol="0">
            <a:spAutoFit/>
          </a:bodyPr>
          <a:lstStyle/>
          <a:p>
            <a:r>
              <a:rPr lang="zh-CN" altLang="en-US" sz="2800" b="1" dirty="0" smtClean="0"/>
              <a:t>由</a:t>
            </a:r>
            <a:r>
              <a:rPr lang="zh-CN" altLang="en-US" sz="2800" b="1" dirty="0"/>
              <a:t>唐纳德</a:t>
            </a:r>
            <a:r>
              <a:rPr lang="en-US" altLang="zh-CN" sz="2800" b="1" dirty="0"/>
              <a:t>·</a:t>
            </a:r>
            <a:r>
              <a:rPr lang="zh-CN" altLang="en-US" sz="2800" b="1" dirty="0"/>
              <a:t>格拉泽</a:t>
            </a:r>
            <a:r>
              <a:rPr lang="zh-CN" altLang="en-US" sz="2800" b="1" dirty="0" smtClean="0"/>
              <a:t>发明，</a:t>
            </a:r>
            <a:r>
              <a:rPr lang="en-US" altLang="zh-CN" sz="2800" b="1" dirty="0" smtClean="0"/>
              <a:t>20</a:t>
            </a:r>
            <a:r>
              <a:rPr lang="zh-CN" altLang="en-US" sz="2800" b="1" dirty="0"/>
              <a:t>世纪</a:t>
            </a:r>
            <a:r>
              <a:rPr lang="en-US" altLang="zh-CN" sz="2800" b="1" dirty="0"/>
              <a:t>50</a:t>
            </a:r>
            <a:r>
              <a:rPr lang="zh-CN" altLang="en-US" sz="2800" b="1" dirty="0" smtClean="0"/>
              <a:t>年代到</a:t>
            </a:r>
            <a:r>
              <a:rPr lang="en-US" altLang="zh-CN" sz="2800" b="1" dirty="0"/>
              <a:t>70</a:t>
            </a:r>
            <a:r>
              <a:rPr lang="zh-CN" altLang="en-US" sz="2800" b="1" dirty="0"/>
              <a:t>年代用于高能物理实验的</a:t>
            </a:r>
            <a:r>
              <a:rPr lang="zh-CN" altLang="en-US" sz="2800" b="1" dirty="0" smtClean="0"/>
              <a:t>粒子探测器。腔</a:t>
            </a:r>
            <a:r>
              <a:rPr lang="zh-CN" altLang="en-US" sz="2800" b="1" dirty="0"/>
              <a:t>室充满液氢，并处于磁场中。当一个带电粒子穿过液体时，它就会留下气泡</a:t>
            </a:r>
            <a:r>
              <a:rPr lang="zh-CN" altLang="en-US" sz="2800" b="1" dirty="0" smtClean="0"/>
              <a:t>痕迹。</a:t>
            </a:r>
            <a:endParaRPr lang="zh-CN" altLang="en-US" sz="2800" b="1" dirty="0"/>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228" y="2571160"/>
            <a:ext cx="4290843" cy="4286840"/>
          </a:xfrm>
          <a:prstGeom prst="rect">
            <a:avLst/>
          </a:prstGeom>
        </p:spPr>
      </p:pic>
      <p:pic>
        <p:nvPicPr>
          <p:cNvPr id="8" name="Picture 3" descr="gia12141_19_16"/>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2738" t="53472" r="24450" b="6054"/>
          <a:stretch/>
        </p:blipFill>
        <p:spPr bwMode="auto">
          <a:xfrm>
            <a:off x="8735616" y="2894454"/>
            <a:ext cx="3456384" cy="2636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3" descr="gia12141_19_16"/>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0269" t="420" r="11981" b="46948"/>
          <a:stretch/>
        </p:blipFill>
        <p:spPr bwMode="auto">
          <a:xfrm>
            <a:off x="4463548" y="2821161"/>
            <a:ext cx="4392216" cy="2959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 Box 2"/>
          <p:cNvSpPr txBox="1">
            <a:spLocks noChangeArrowheads="1"/>
          </p:cNvSpPr>
          <p:nvPr/>
        </p:nvSpPr>
        <p:spPr bwMode="auto">
          <a:xfrm>
            <a:off x="347084" y="5545"/>
            <a:ext cx="11277600" cy="519112"/>
          </a:xfrm>
          <a:prstGeom prst="rect">
            <a:avLst/>
          </a:prstGeom>
          <a:ln>
            <a:noFill/>
          </a:ln>
          <a:extLst>
            <a:ext uri="{91240B29-F687-4F45-9708-019B960494DF}">
              <a14:hiddenLine xmlns:a14="http://schemas.microsoft.com/office/drawing/2010/main" w="9525">
                <a:solidFill>
                  <a:schemeClr val="tx1"/>
                </a:solidFill>
                <a:miter lim="800000"/>
                <a:headEnd/>
                <a:tailEnd/>
              </a14:hiddenLine>
            </a:ext>
          </a:extLst>
        </p:spPr>
        <p:style>
          <a:lnRef idx="2">
            <a:schemeClr val="dk1"/>
          </a:lnRef>
          <a:fillRef idx="1">
            <a:schemeClr val="lt1"/>
          </a:fillRef>
          <a:effectRef idx="0">
            <a:schemeClr val="dk1"/>
          </a:effectRef>
          <a:fontRef idx="minor">
            <a:schemeClr val="dk1"/>
          </a:fontRef>
        </p:style>
        <p:txBody>
          <a:bodyPr lIns="92075" tIns="46038" rIns="92075" bIns="46038" anchor="ct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r>
              <a:rPr lang="zh-CN" altLang="en-US" sz="3200" dirty="0" smtClean="0">
                <a:latin typeface="黑体" pitchFamily="49" charset="-122"/>
                <a:ea typeface="黑体" pitchFamily="49" charset="-122"/>
              </a:rPr>
              <a:t>应用：</a:t>
            </a:r>
            <a:r>
              <a:rPr lang="zh-CN" altLang="en-US" sz="3200" dirty="0">
                <a:latin typeface="黑体" pitchFamily="49" charset="-122"/>
                <a:ea typeface="黑体" pitchFamily="49" charset="-122"/>
              </a:rPr>
              <a:t>气泡室  </a:t>
            </a:r>
            <a:endParaRPr lang="en-US" altLang="zh-CN" sz="3200" dirty="0">
              <a:latin typeface="黑体" pitchFamily="49" charset="-122"/>
              <a:ea typeface="黑体" pitchFamily="49" charset="-122"/>
            </a:endParaRPr>
          </a:p>
        </p:txBody>
      </p:sp>
      <p:sp>
        <p:nvSpPr>
          <p:cNvPr id="2" name="TextBox 1"/>
          <p:cNvSpPr txBox="1"/>
          <p:nvPr/>
        </p:nvSpPr>
        <p:spPr>
          <a:xfrm>
            <a:off x="8911479" y="1648995"/>
            <a:ext cx="2713205" cy="1200329"/>
          </a:xfrm>
          <a:prstGeom prst="rect">
            <a:avLst/>
          </a:prstGeom>
          <a:noFill/>
        </p:spPr>
        <p:txBody>
          <a:bodyPr wrap="square" rtlCol="0">
            <a:spAutoFit/>
          </a:bodyPr>
          <a:lstStyle/>
          <a:p>
            <a:r>
              <a:rPr lang="zh-CN" altLang="en-US" sz="2400" b="1" dirty="0" smtClean="0">
                <a:solidFill>
                  <a:srgbClr val="FF0000"/>
                </a:solidFill>
              </a:rPr>
              <a:t>磁场指出页面，该曲率的方向反应电荷的极性是什么？</a:t>
            </a:r>
            <a:endParaRPr lang="zh-CN" altLang="en-US" sz="2400" b="1" dirty="0">
              <a:solidFill>
                <a:srgbClr val="FF0000"/>
              </a:solidFill>
            </a:endParaRPr>
          </a:p>
        </p:txBody>
      </p:sp>
      <p:sp>
        <p:nvSpPr>
          <p:cNvPr id="6" name="TextBox 5"/>
          <p:cNvSpPr txBox="1"/>
          <p:nvPr/>
        </p:nvSpPr>
        <p:spPr>
          <a:xfrm>
            <a:off x="10844401" y="5346700"/>
            <a:ext cx="1127367" cy="461665"/>
          </a:xfrm>
          <a:prstGeom prst="rect">
            <a:avLst/>
          </a:prstGeom>
          <a:noFill/>
        </p:spPr>
        <p:txBody>
          <a:bodyPr wrap="square" rtlCol="0">
            <a:spAutoFit/>
          </a:bodyPr>
          <a:lstStyle/>
          <a:p>
            <a:r>
              <a:rPr lang="zh-CN" altLang="en-US" sz="2400" b="1" smtClean="0">
                <a:solidFill>
                  <a:srgbClr val="FF0000"/>
                </a:solidFill>
              </a:rPr>
              <a:t>带负电</a:t>
            </a:r>
            <a:endParaRPr lang="zh-CN" altLang="en-US" sz="2400" b="1">
              <a:solidFill>
                <a:srgbClr val="FF0000"/>
              </a:solidFill>
            </a:endParaRPr>
          </a:p>
        </p:txBody>
      </p:sp>
    </p:spTree>
    <p:extLst>
      <p:ext uri="{BB962C8B-B14F-4D97-AF65-F5344CB8AC3E}">
        <p14:creationId xmlns:p14="http://schemas.microsoft.com/office/powerpoint/2010/main" val="33561608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42159" y="365126"/>
            <a:ext cx="9111641" cy="925056"/>
          </a:xfrm>
        </p:spPr>
        <p:txBody>
          <a:bodyPr/>
          <a:lstStyle/>
          <a:p>
            <a:r>
              <a:rPr lang="zh-CN" altLang="en-US" dirty="0"/>
              <a:t>思考题</a:t>
            </a:r>
          </a:p>
        </p:txBody>
      </p:sp>
      <p:sp>
        <p:nvSpPr>
          <p:cNvPr id="3" name="内容占位符 2"/>
          <p:cNvSpPr>
            <a:spLocks noGrp="1"/>
          </p:cNvSpPr>
          <p:nvPr>
            <p:ph idx="1"/>
          </p:nvPr>
        </p:nvSpPr>
        <p:spPr>
          <a:xfrm>
            <a:off x="850726" y="1125864"/>
            <a:ext cx="10515600" cy="4351338"/>
          </a:xfrm>
        </p:spPr>
        <p:txBody>
          <a:bodyPr/>
          <a:lstStyle/>
          <a:p>
            <a:r>
              <a:rPr lang="zh-CN" altLang="en-US" dirty="0" smtClean="0"/>
              <a:t>如</a:t>
            </a:r>
            <a:r>
              <a:rPr lang="zh-CN" altLang="en-US" dirty="0"/>
              <a:t>图所示，一对正、负电子同时在同一点射入一均匀磁场中，已知它们的速率分别为</a:t>
            </a:r>
            <a:r>
              <a:rPr lang="en-US" altLang="zh-CN" dirty="0" smtClean="0"/>
              <a:t>2v</a:t>
            </a:r>
            <a:r>
              <a:rPr lang="zh-CN" altLang="en-US" dirty="0" smtClean="0"/>
              <a:t>（</a:t>
            </a:r>
            <a:r>
              <a:rPr lang="en-US" altLang="zh-CN" dirty="0" smtClean="0"/>
              <a:t>+</a:t>
            </a:r>
            <a:r>
              <a:rPr lang="zh-CN" altLang="en-US" dirty="0" smtClean="0"/>
              <a:t>）和</a:t>
            </a:r>
            <a:r>
              <a:rPr lang="en-US" altLang="zh-CN" dirty="0" smtClean="0"/>
              <a:t>v</a:t>
            </a:r>
            <a:r>
              <a:rPr lang="zh-CN" altLang="en-US" dirty="0" smtClean="0"/>
              <a:t>（</a:t>
            </a:r>
            <a:r>
              <a:rPr lang="en-US" altLang="zh-CN" dirty="0" smtClean="0"/>
              <a:t>-</a:t>
            </a:r>
            <a:r>
              <a:rPr lang="zh-CN" altLang="en-US" dirty="0" smtClean="0"/>
              <a:t>），</a:t>
            </a:r>
            <a:r>
              <a:rPr lang="zh-CN" altLang="en-US" dirty="0"/>
              <a:t>都和磁场垂直．指出它们的偏转方向；经磁场偏转后，哪个电子先回到出发点？</a:t>
            </a:r>
          </a:p>
          <a:p>
            <a:endParaRPr lang="zh-CN" altLang="en-US" dirty="0"/>
          </a:p>
        </p:txBody>
      </p:sp>
      <p:pic>
        <p:nvPicPr>
          <p:cNvPr id="4" name="Picture 64" descr="4C23ACF17C7A8D7ABF39D4F6BBDEF2F5">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9085" y="363864"/>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0"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99090" y="25127211"/>
            <a:ext cx="7086816" cy="15259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图片 4"/>
          <p:cNvPicPr>
            <a:picLocks noChangeAspect="1"/>
          </p:cNvPicPr>
          <p:nvPr/>
        </p:nvPicPr>
        <p:blipFill rotWithShape="1">
          <a:blip r:embed="rId7" cstate="print">
            <a:extLst>
              <a:ext uri="{28A0092B-C50C-407E-A947-70E740481C1C}">
                <a14:useLocalDpi xmlns:a14="http://schemas.microsoft.com/office/drawing/2010/main" val="0"/>
              </a:ext>
            </a:extLst>
          </a:blip>
          <a:srcRect l="2855" t="12253" r="16541" b="55466"/>
          <a:stretch/>
        </p:blipFill>
        <p:spPr>
          <a:xfrm rot="16200000">
            <a:off x="1497557" y="2121684"/>
            <a:ext cx="3056356" cy="3820439"/>
          </a:xfrm>
          <a:prstGeom prst="rect">
            <a:avLst/>
          </a:prstGeom>
        </p:spPr>
      </p:pic>
      <p:pic>
        <p:nvPicPr>
          <p:cNvPr id="7" name="图片 6"/>
          <p:cNvPicPr>
            <a:picLocks noChangeAspect="1"/>
          </p:cNvPicPr>
          <p:nvPr/>
        </p:nvPicPr>
        <p:blipFill rotWithShape="1">
          <a:blip r:embed="rId7" cstate="print">
            <a:extLst>
              <a:ext uri="{28A0092B-C50C-407E-A947-70E740481C1C}">
                <a14:useLocalDpi xmlns:a14="http://schemas.microsoft.com/office/drawing/2010/main" val="0"/>
              </a:ext>
            </a:extLst>
          </a:blip>
          <a:srcRect l="2855" t="49052" r="16541" b="20898"/>
          <a:stretch/>
        </p:blipFill>
        <p:spPr>
          <a:xfrm rot="16200000">
            <a:off x="7392531" y="2253693"/>
            <a:ext cx="3056356" cy="3556422"/>
          </a:xfrm>
          <a:prstGeom prst="rect">
            <a:avLst/>
          </a:prstGeom>
        </p:spPr>
      </p:pic>
      <p:graphicFrame>
        <p:nvGraphicFramePr>
          <p:cNvPr id="6" name="对象 5"/>
          <p:cNvGraphicFramePr>
            <a:graphicFrameLocks noChangeAspect="1"/>
          </p:cNvGraphicFramePr>
          <p:nvPr>
            <p:extLst>
              <p:ext uri="{D42A27DB-BD31-4B8C-83A1-F6EECF244321}">
                <p14:modId xmlns:p14="http://schemas.microsoft.com/office/powerpoint/2010/main" val="2375432295"/>
              </p:ext>
            </p:extLst>
          </p:nvPr>
        </p:nvGraphicFramePr>
        <p:xfrm>
          <a:off x="1391085" y="5773738"/>
          <a:ext cx="1540132" cy="865058"/>
        </p:xfrm>
        <a:graphic>
          <a:graphicData uri="http://schemas.openxmlformats.org/presentationml/2006/ole">
            <mc:AlternateContent xmlns:mc="http://schemas.openxmlformats.org/markup-compatibility/2006">
              <mc:Choice xmlns:v="urn:schemas-microsoft-com:vml" Requires="v">
                <p:oleObj spid="_x0000_s32819" name="Equation" r:id="rId8" imgW="558800" imgH="419100" progId="Equation.DSMT4">
                  <p:embed/>
                </p:oleObj>
              </mc:Choice>
              <mc:Fallback>
                <p:oleObj name="Equation" r:id="rId8" imgW="558800" imgH="419100"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91085" y="5773738"/>
                        <a:ext cx="1540132" cy="865058"/>
                      </a:xfrm>
                      <a:prstGeom prst="rect">
                        <a:avLst/>
                      </a:prstGeom>
                      <a:gradFill rotWithShape="0">
                        <a:gsLst>
                          <a:gs pos="0">
                            <a:schemeClr val="accent1"/>
                          </a:gs>
                          <a:gs pos="50000">
                            <a:srgbClr val="FFFFFF"/>
                          </a:gs>
                          <a:gs pos="100000">
                            <a:schemeClr val="accent1"/>
                          </a:gs>
                        </a:gsLst>
                        <a:lin ang="5400000" scaled="1"/>
                      </a:gradFill>
                      <a:ln>
                        <a:noFill/>
                      </a:ln>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417585013"/>
              </p:ext>
            </p:extLst>
          </p:nvPr>
        </p:nvGraphicFramePr>
        <p:xfrm>
          <a:off x="3764680" y="5787677"/>
          <a:ext cx="1682245" cy="863643"/>
        </p:xfrm>
        <a:graphic>
          <a:graphicData uri="http://schemas.openxmlformats.org/presentationml/2006/ole">
            <mc:AlternateContent xmlns:mc="http://schemas.openxmlformats.org/markup-compatibility/2006">
              <mc:Choice xmlns:v="urn:schemas-microsoft-com:vml" Requires="v">
                <p:oleObj spid="_x0000_s32820" name="Equation" r:id="rId10" imgW="609480" imgH="419040" progId="Equation.DSMT4">
                  <p:embed/>
                </p:oleObj>
              </mc:Choice>
              <mc:Fallback>
                <p:oleObj name="Equation" r:id="rId10" imgW="609480" imgH="419040" progId="Equation.DSMT4">
                  <p:embed/>
                  <p:pic>
                    <p:nvPicPr>
                      <p:cNvPr id="0" name="Object 10"/>
                      <p:cNvPicPr>
                        <a:picLocks noChangeAspect="1" noChangeArrowheads="1"/>
                      </p:cNvPicPr>
                      <p:nvPr/>
                    </p:nvPicPr>
                    <p:blipFill>
                      <a:blip r:embed="rId11"/>
                      <a:srcRect/>
                      <a:stretch>
                        <a:fillRect/>
                      </a:stretch>
                    </p:blipFill>
                    <p:spPr bwMode="auto">
                      <a:xfrm>
                        <a:off x="3764680" y="5787677"/>
                        <a:ext cx="1682245" cy="863643"/>
                      </a:xfrm>
                      <a:prstGeom prst="rect">
                        <a:avLst/>
                      </a:prstGeom>
                      <a:gradFill rotWithShape="0">
                        <a:gsLst>
                          <a:gs pos="0">
                            <a:schemeClr val="accent1"/>
                          </a:gs>
                          <a:gs pos="50000">
                            <a:srgbClr val="FFFFFF"/>
                          </a:gs>
                          <a:gs pos="100000">
                            <a:schemeClr val="accent1"/>
                          </a:gs>
                        </a:gsLst>
                        <a:lin ang="5400000" scaled="1"/>
                      </a:gradFill>
                      <a:ln>
                        <a:noFill/>
                      </a:ln>
                    </p:spPr>
                  </p:pic>
                </p:oleObj>
              </mc:Fallback>
            </mc:AlternateContent>
          </a:graphicData>
        </a:graphic>
      </p:graphicFrame>
      <p:sp>
        <p:nvSpPr>
          <p:cNvPr id="9" name="TextBox 8"/>
          <p:cNvSpPr txBox="1"/>
          <p:nvPr/>
        </p:nvSpPr>
        <p:spPr>
          <a:xfrm>
            <a:off x="5664530" y="6012493"/>
            <a:ext cx="6527469" cy="461665"/>
          </a:xfrm>
          <a:prstGeom prst="rect">
            <a:avLst/>
          </a:prstGeom>
          <a:noFill/>
        </p:spPr>
        <p:txBody>
          <a:bodyPr wrap="square" rtlCol="0">
            <a:spAutoFit/>
          </a:bodyPr>
          <a:lstStyle/>
          <a:p>
            <a:r>
              <a:rPr lang="zh-CN" altLang="en-US" sz="2400" b="1" dirty="0">
                <a:solidFill>
                  <a:srgbClr val="FF0000"/>
                </a:solidFill>
              </a:rPr>
              <a:t>正电荷运动半径是负电荷</a:t>
            </a:r>
            <a:r>
              <a:rPr lang="en-US" altLang="zh-CN" sz="2400" b="1" dirty="0">
                <a:solidFill>
                  <a:srgbClr val="FF0000"/>
                </a:solidFill>
              </a:rPr>
              <a:t>2</a:t>
            </a:r>
            <a:r>
              <a:rPr lang="zh-CN" altLang="en-US" sz="2400" b="1" dirty="0">
                <a:solidFill>
                  <a:srgbClr val="FF0000"/>
                </a:solidFill>
              </a:rPr>
              <a:t>倍，同时回到</a:t>
            </a:r>
            <a:r>
              <a:rPr lang="zh-CN" altLang="en-US" sz="2400" b="1" dirty="0" smtClean="0">
                <a:solidFill>
                  <a:srgbClr val="FF0000"/>
                </a:solidFill>
              </a:rPr>
              <a:t>出发点</a:t>
            </a:r>
            <a:endParaRPr lang="zh-CN" altLang="en-US" sz="2400" b="1" dirty="0">
              <a:solidFill>
                <a:srgbClr val="FF0000"/>
              </a:solidFill>
            </a:endParaRPr>
          </a:p>
        </p:txBody>
      </p:sp>
    </p:spTree>
    <p:extLst>
      <p:ext uri="{BB962C8B-B14F-4D97-AF65-F5344CB8AC3E}">
        <p14:creationId xmlns:p14="http://schemas.microsoft.com/office/powerpoint/2010/main" val="20750930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print"/>
          <a:stretch>
            <a:fillRect/>
          </a:stretch>
        </p:blipFill>
        <p:spPr>
          <a:xfrm>
            <a:off x="327781" y="2085253"/>
            <a:ext cx="11536439" cy="3208993"/>
          </a:xfrm>
          <a:prstGeom prst="rect">
            <a:avLst/>
          </a:prstGeom>
        </p:spPr>
      </p:pic>
      <p:sp>
        <p:nvSpPr>
          <p:cNvPr id="4" name="文本框 3"/>
          <p:cNvSpPr txBox="1"/>
          <p:nvPr/>
        </p:nvSpPr>
        <p:spPr>
          <a:xfrm>
            <a:off x="0" y="-9808"/>
            <a:ext cx="12192000" cy="954107"/>
          </a:xfrm>
          <a:prstGeom prst="rect">
            <a:avLst/>
          </a:prstGeom>
          <a:noFill/>
        </p:spPr>
        <p:txBody>
          <a:bodyPr wrap="square" rtlCol="0">
            <a:spAutoFit/>
          </a:bodyPr>
          <a:lstStyle/>
          <a:p>
            <a:r>
              <a:rPr lang="zh-CN" altLang="en-US" sz="2800" b="1" dirty="0" smtClean="0">
                <a:latin typeface="黑体" pitchFamily="49" charset="-122"/>
                <a:ea typeface="黑体" pitchFamily="49" charset="-122"/>
              </a:rPr>
              <a:t>应用</a:t>
            </a:r>
            <a:r>
              <a:rPr lang="en-US" altLang="zh-CN" sz="2800" b="1" dirty="0" smtClean="0">
                <a:latin typeface="黑体" pitchFamily="49" charset="-122"/>
                <a:ea typeface="黑体" pitchFamily="49" charset="-122"/>
              </a:rPr>
              <a:t>2</a:t>
            </a:r>
            <a:r>
              <a:rPr lang="zh-CN" altLang="en-US" sz="2800" b="1" dirty="0" smtClean="0">
                <a:latin typeface="黑体" pitchFamily="49" charset="-122"/>
                <a:ea typeface="黑体" pitchFamily="49" charset="-122"/>
              </a:rPr>
              <a:t>：质谱仪</a:t>
            </a:r>
            <a:endParaRPr lang="en-US" altLang="zh-CN" sz="2800" b="1" dirty="0" smtClean="0">
              <a:latin typeface="黑体" pitchFamily="49" charset="-122"/>
              <a:ea typeface="黑体" pitchFamily="49" charset="-122"/>
            </a:endParaRPr>
          </a:p>
          <a:p>
            <a:r>
              <a:rPr lang="zh-CN" altLang="en-US" sz="2800" dirty="0" smtClean="0"/>
              <a:t>       </a:t>
            </a:r>
            <a:endParaRPr lang="zh-CN" altLang="en-US" sz="2800" dirty="0"/>
          </a:p>
        </p:txBody>
      </p:sp>
      <p:sp>
        <p:nvSpPr>
          <p:cNvPr id="5" name="文本框 4"/>
          <p:cNvSpPr txBox="1"/>
          <p:nvPr/>
        </p:nvSpPr>
        <p:spPr>
          <a:xfrm>
            <a:off x="0" y="5143822"/>
            <a:ext cx="12192000" cy="1015663"/>
          </a:xfrm>
          <a:prstGeom prst="rect">
            <a:avLst/>
          </a:prstGeom>
          <a:noFill/>
        </p:spPr>
        <p:txBody>
          <a:bodyPr wrap="square" rtlCol="0">
            <a:spAutoFit/>
          </a:bodyPr>
          <a:lstStyle/>
          <a:p>
            <a:pPr>
              <a:lnSpc>
                <a:spcPct val="125000"/>
              </a:lnSpc>
            </a:pPr>
            <a:r>
              <a:rPr lang="zh-CN" altLang="en-US" sz="2400" b="1" dirty="0" smtClean="0"/>
              <a:t>图</a:t>
            </a:r>
            <a:r>
              <a:rPr lang="en-US" altLang="zh-CN" sz="2400" b="1" dirty="0" smtClean="0"/>
              <a:t>19.16 a</a:t>
            </a:r>
            <a:r>
              <a:rPr lang="zh-CN" altLang="en-US" sz="2400" b="1" dirty="0" smtClean="0"/>
              <a:t>）质谱仪的简化图，它通过一恒定电势差加速离子，使它们都以相同的动能进入磁场。</a:t>
            </a:r>
            <a:r>
              <a:rPr lang="en-US" altLang="zh-CN" sz="2400" b="1" dirty="0" smtClean="0"/>
              <a:t>b</a:t>
            </a:r>
            <a:r>
              <a:rPr lang="zh-CN" altLang="en-US" sz="2400" b="1" dirty="0" smtClean="0"/>
              <a:t>）质谱仪，其中离子沿一确定半径的路径行进。</a:t>
            </a:r>
            <a:endParaRPr lang="zh-CN" altLang="en-US" sz="2400" b="1" dirty="0"/>
          </a:p>
        </p:txBody>
      </p:sp>
      <p:sp>
        <p:nvSpPr>
          <p:cNvPr id="6" name="Text Box 4"/>
          <p:cNvSpPr txBox="1">
            <a:spLocks noChangeArrowheads="1"/>
          </p:cNvSpPr>
          <p:nvPr/>
        </p:nvSpPr>
        <p:spPr bwMode="auto">
          <a:xfrm>
            <a:off x="327781" y="467245"/>
            <a:ext cx="11864219" cy="157184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marL="892175" indent="-892175">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marL="0" eaLnBrk="1" hangingPunct="1">
              <a:buFont typeface="Wingdings" pitchFamily="2" charset="2"/>
              <a:buNone/>
            </a:pPr>
            <a:r>
              <a:rPr kumimoji="1" lang="zh-CN" altLang="en-US" sz="2400" dirty="0">
                <a:latin typeface="+mn-ea"/>
                <a:ea typeface="+mn-ea"/>
                <a:cs typeface="Times New Roman" pitchFamily="18" charset="0"/>
              </a:rPr>
              <a:t>是</a:t>
            </a:r>
            <a:r>
              <a:rPr kumimoji="1" lang="zh-CN" altLang="en-US" sz="2400" dirty="0" smtClean="0">
                <a:latin typeface="+mn-ea"/>
                <a:ea typeface="+mn-ea"/>
                <a:cs typeface="Times New Roman" pitchFamily="18" charset="0"/>
              </a:rPr>
              <a:t>用磁场和电场的各种组合来达到把电荷量相等但质量不同的粒子分离开的一种仪器，是研究同位素的重要工具，</a:t>
            </a:r>
            <a:r>
              <a:rPr kumimoji="1" lang="zh-CN" altLang="en-US" sz="2400" dirty="0">
                <a:latin typeface="+mn-ea"/>
                <a:ea typeface="+mn-ea"/>
                <a:cs typeface="Times New Roman" pitchFamily="18" charset="0"/>
              </a:rPr>
              <a:t>由英国物理学家与化学家阿斯顿于</a:t>
            </a:r>
            <a:r>
              <a:rPr kumimoji="1" lang="en-US" altLang="zh-CN" sz="2400" dirty="0">
                <a:latin typeface="+mn-ea"/>
                <a:ea typeface="+mn-ea"/>
                <a:cs typeface="Times New Roman" pitchFamily="18" charset="0"/>
              </a:rPr>
              <a:t>1919</a:t>
            </a:r>
            <a:r>
              <a:rPr kumimoji="1" lang="zh-CN" altLang="en-US" sz="2400" dirty="0">
                <a:latin typeface="+mn-ea"/>
                <a:ea typeface="+mn-ea"/>
                <a:cs typeface="Times New Roman" pitchFamily="18" charset="0"/>
              </a:rPr>
              <a:t>年创造，当年发现了氯与汞的同位素，以后几年又发现了许多同位素</a:t>
            </a:r>
            <a:r>
              <a:rPr kumimoji="1" lang="zh-CN" altLang="en-US" sz="2400" dirty="0" smtClean="0">
                <a:latin typeface="+mn-ea"/>
                <a:ea typeface="+mn-ea"/>
                <a:cs typeface="Times New Roman" pitchFamily="18" charset="0"/>
              </a:rPr>
              <a:t>，为此</a:t>
            </a:r>
            <a:r>
              <a:rPr kumimoji="1" lang="zh-CN" altLang="en-US" sz="2400" dirty="0">
                <a:latin typeface="+mn-ea"/>
                <a:ea typeface="+mn-ea"/>
                <a:cs typeface="Times New Roman" pitchFamily="18" charset="0"/>
              </a:rPr>
              <a:t>，阿斯顿于</a:t>
            </a:r>
            <a:r>
              <a:rPr kumimoji="1" lang="en-US" altLang="zh-CN" sz="2400" dirty="0">
                <a:latin typeface="+mn-ea"/>
                <a:ea typeface="+mn-ea"/>
                <a:cs typeface="Times New Roman" pitchFamily="18" charset="0"/>
              </a:rPr>
              <a:t>1922</a:t>
            </a:r>
            <a:r>
              <a:rPr kumimoji="1" lang="zh-CN" altLang="en-US" sz="2400" dirty="0">
                <a:latin typeface="+mn-ea"/>
                <a:ea typeface="+mn-ea"/>
                <a:cs typeface="Times New Roman" pitchFamily="18" charset="0"/>
              </a:rPr>
              <a:t>年获诺贝尔化学奖。</a:t>
            </a:r>
          </a:p>
        </p:txBody>
      </p:sp>
      <p:sp>
        <p:nvSpPr>
          <p:cNvPr id="2" name="矩形 1"/>
          <p:cNvSpPr/>
          <p:nvPr/>
        </p:nvSpPr>
        <p:spPr>
          <a:xfrm>
            <a:off x="746343" y="1854421"/>
            <a:ext cx="9321800" cy="461665"/>
          </a:xfrm>
          <a:prstGeom prst="rect">
            <a:avLst/>
          </a:prstGeom>
        </p:spPr>
        <p:txBody>
          <a:bodyPr wrap="square">
            <a:spAutoFit/>
          </a:bodyPr>
          <a:lstStyle/>
          <a:p>
            <a:r>
              <a:rPr lang="zh-CN" altLang="en-US" sz="2400" b="1" dirty="0">
                <a:solidFill>
                  <a:srgbClr val="FF0000"/>
                </a:solidFill>
              </a:rPr>
              <a:t>具有相同质子数，不同中子数的同一元素的不同核素互为同位素。</a:t>
            </a:r>
          </a:p>
        </p:txBody>
      </p:sp>
      <p:sp>
        <p:nvSpPr>
          <p:cNvPr id="7" name="矩形 6"/>
          <p:cNvSpPr/>
          <p:nvPr/>
        </p:nvSpPr>
        <p:spPr>
          <a:xfrm>
            <a:off x="108016" y="6141694"/>
            <a:ext cx="11975967" cy="584071"/>
          </a:xfrm>
          <a:prstGeom prst="rect">
            <a:avLst/>
          </a:prstGeom>
        </p:spPr>
        <p:txBody>
          <a:bodyPr wrap="square">
            <a:spAutoFit/>
          </a:bodyPr>
          <a:lstStyle/>
          <a:p>
            <a:pPr>
              <a:lnSpc>
                <a:spcPct val="125000"/>
              </a:lnSpc>
            </a:pPr>
            <a:r>
              <a:rPr lang="zh-CN" altLang="en-US" sz="2800" b="1" dirty="0"/>
              <a:t>质谱仪的基本目的是通过质量将离子分开并测量每种粒子的</a:t>
            </a:r>
            <a:r>
              <a:rPr lang="zh-CN" altLang="en-US" sz="2800" b="1" dirty="0" smtClean="0"/>
              <a:t>质量。</a:t>
            </a:r>
            <a:endParaRPr lang="zh-CN" altLang="en-US" sz="2800" b="1" dirty="0"/>
          </a:p>
        </p:txBody>
      </p:sp>
    </p:spTree>
    <p:extLst>
      <p:ext uri="{BB962C8B-B14F-4D97-AF65-F5344CB8AC3E}">
        <p14:creationId xmlns:p14="http://schemas.microsoft.com/office/powerpoint/2010/main" val="20148504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ChangeArrowheads="1"/>
          </p:cNvSpPr>
          <p:nvPr/>
        </p:nvSpPr>
        <p:spPr bwMode="auto">
          <a:xfrm>
            <a:off x="6908800" y="1621078"/>
            <a:ext cx="4978400" cy="2971800"/>
          </a:xfrm>
          <a:prstGeom prst="rect">
            <a:avLst/>
          </a:prstGeom>
          <a:solidFill>
            <a:srgbClr val="FFFF99"/>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0661" name="Text Box 5"/>
          <p:cNvSpPr txBox="1">
            <a:spLocks noChangeArrowheads="1"/>
          </p:cNvSpPr>
          <p:nvPr/>
        </p:nvSpPr>
        <p:spPr bwMode="auto">
          <a:xfrm>
            <a:off x="240554" y="1041529"/>
            <a:ext cx="1443321"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algn="ctr" eaLnBrk="1" hangingPunct="1">
              <a:spcBef>
                <a:spcPct val="20000"/>
              </a:spcBef>
              <a:buFontTx/>
              <a:buChar char="•"/>
            </a:pPr>
            <a:r>
              <a:rPr kumimoji="1" lang="zh-CN" altLang="en-US" sz="2800" dirty="0">
                <a:solidFill>
                  <a:srgbClr val="FF3300"/>
                </a:solidFill>
                <a:latin typeface="黑体" pitchFamily="49" charset="-122"/>
                <a:ea typeface="黑体" pitchFamily="49" charset="-122"/>
                <a:cs typeface="Times New Roman" pitchFamily="18" charset="0"/>
              </a:rPr>
              <a:t>原理图</a:t>
            </a:r>
            <a:endParaRPr kumimoji="1" lang="zh-CN" altLang="en-US" sz="2800" b="0" dirty="0">
              <a:latin typeface="黑体" pitchFamily="49" charset="-122"/>
              <a:ea typeface="黑体" pitchFamily="49" charset="-122"/>
              <a:cs typeface="Times New Roman" pitchFamily="18" charset="0"/>
            </a:endParaRPr>
          </a:p>
        </p:txBody>
      </p:sp>
      <p:sp>
        <p:nvSpPr>
          <p:cNvPr id="70662" name="Text Box 6"/>
          <p:cNvSpPr txBox="1">
            <a:spLocks noChangeArrowheads="1"/>
          </p:cNvSpPr>
          <p:nvPr/>
        </p:nvSpPr>
        <p:spPr bwMode="auto">
          <a:xfrm>
            <a:off x="2351584" y="1041529"/>
            <a:ext cx="2768600"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20000"/>
              </a:spcBef>
            </a:pPr>
            <a:r>
              <a:rPr kumimoji="1" lang="zh-CN" altLang="en-US" sz="2800" dirty="0">
                <a:solidFill>
                  <a:srgbClr val="3333FF"/>
                </a:solidFill>
                <a:latin typeface="黑体" pitchFamily="49" charset="-122"/>
                <a:ea typeface="黑体" pitchFamily="49" charset="-122"/>
                <a:cs typeface="Times New Roman" pitchFamily="18" charset="0"/>
              </a:rPr>
              <a:t>速度选择</a:t>
            </a:r>
            <a:r>
              <a:rPr kumimoji="1" lang="zh-CN" altLang="en-US" sz="2800" dirty="0" smtClean="0">
                <a:solidFill>
                  <a:srgbClr val="3333FF"/>
                </a:solidFill>
                <a:latin typeface="黑体" pitchFamily="49" charset="-122"/>
                <a:ea typeface="黑体" pitchFamily="49" charset="-122"/>
                <a:cs typeface="Times New Roman" pitchFamily="18" charset="0"/>
              </a:rPr>
              <a:t>器</a:t>
            </a:r>
            <a:endParaRPr kumimoji="1" lang="zh-CN" altLang="en-US" sz="2800" b="0" dirty="0">
              <a:latin typeface="黑体" pitchFamily="49" charset="-122"/>
              <a:ea typeface="黑体" pitchFamily="49" charset="-122"/>
              <a:cs typeface="Times New Roman" pitchFamily="18" charset="0"/>
            </a:endParaRPr>
          </a:p>
        </p:txBody>
      </p:sp>
      <p:grpSp>
        <p:nvGrpSpPr>
          <p:cNvPr id="70663" name="Group 7"/>
          <p:cNvGrpSpPr>
            <a:grpSpLocks/>
          </p:cNvGrpSpPr>
          <p:nvPr/>
        </p:nvGrpSpPr>
        <p:grpSpPr bwMode="auto">
          <a:xfrm>
            <a:off x="7213600" y="2286000"/>
            <a:ext cx="4368800" cy="2662238"/>
            <a:chOff x="3360" y="1920"/>
            <a:chExt cx="2064" cy="1677"/>
          </a:xfrm>
        </p:grpSpPr>
        <p:sp>
          <p:nvSpPr>
            <p:cNvPr id="70668" name="Line 8"/>
            <p:cNvSpPr>
              <a:spLocks noChangeShapeType="1"/>
            </p:cNvSpPr>
            <p:nvPr/>
          </p:nvSpPr>
          <p:spPr bwMode="auto">
            <a:xfrm>
              <a:off x="3360" y="3112"/>
              <a:ext cx="1440" cy="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0669" name="AutoShape 9"/>
            <p:cNvSpPr>
              <a:spLocks noChangeArrowheads="1"/>
            </p:cNvSpPr>
            <p:nvPr/>
          </p:nvSpPr>
          <p:spPr bwMode="auto">
            <a:xfrm>
              <a:off x="3856" y="2603"/>
              <a:ext cx="966" cy="99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1600 w 21600"/>
                <a:gd name="T13" fmla="*/ 10822 h 21600"/>
                <a:gd name="T14" fmla="*/ 0 w 21600"/>
                <a:gd name="T15" fmla="*/ 21600 h 21600"/>
              </a:gdLst>
              <a:ahLst/>
              <a:cxnLst>
                <a:cxn ang="T8">
                  <a:pos x="T0" y="T1"/>
                </a:cxn>
                <a:cxn ang="T9">
                  <a:pos x="T2" y="T3"/>
                </a:cxn>
                <a:cxn ang="T10">
                  <a:pos x="T4" y="T5"/>
                </a:cxn>
                <a:cxn ang="T11">
                  <a:pos x="T6" y="T7"/>
                </a:cxn>
              </a:cxnLst>
              <a:rect l="T12" t="T13" r="T14" b="T15"/>
              <a:pathLst>
                <a:path w="21600" h="21600">
                  <a:moveTo>
                    <a:pt x="21425" y="10827"/>
                  </a:moveTo>
                  <a:cubicBezTo>
                    <a:pt x="21410" y="16685"/>
                    <a:pt x="16657" y="21425"/>
                    <a:pt x="10800" y="21426"/>
                  </a:cubicBezTo>
                  <a:cubicBezTo>
                    <a:pt x="4942" y="21426"/>
                    <a:pt x="189" y="16685"/>
                    <a:pt x="174" y="10827"/>
                  </a:cubicBezTo>
                  <a:lnTo>
                    <a:pt x="0" y="10828"/>
                  </a:lnTo>
                  <a:cubicBezTo>
                    <a:pt x="15" y="16782"/>
                    <a:pt x="4846" y="21600"/>
                    <a:pt x="10800" y="21600"/>
                  </a:cubicBezTo>
                  <a:cubicBezTo>
                    <a:pt x="16753" y="21599"/>
                    <a:pt x="21584" y="16782"/>
                    <a:pt x="21599" y="10828"/>
                  </a:cubicBezTo>
                  <a:lnTo>
                    <a:pt x="21425" y="10827"/>
                  </a:lnTo>
                  <a:close/>
                </a:path>
              </a:pathLst>
            </a:custGeom>
            <a:solidFill>
              <a:schemeClr val="accent1"/>
            </a:solidFill>
            <a:ln w="19050">
              <a:solidFill>
                <a:srgbClr val="8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0670" name="Line 10"/>
            <p:cNvSpPr>
              <a:spLocks noChangeShapeType="1"/>
            </p:cNvSpPr>
            <p:nvPr/>
          </p:nvSpPr>
          <p:spPr bwMode="auto">
            <a:xfrm>
              <a:off x="4602" y="2479"/>
              <a:ext cx="0" cy="55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0671" name="Line 11"/>
            <p:cNvSpPr>
              <a:spLocks noChangeShapeType="1"/>
            </p:cNvSpPr>
            <p:nvPr/>
          </p:nvSpPr>
          <p:spPr bwMode="auto">
            <a:xfrm>
              <a:off x="5038" y="2479"/>
              <a:ext cx="0" cy="55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graphicFrame>
          <p:nvGraphicFramePr>
            <p:cNvPr id="70672" name="Object 12"/>
            <p:cNvGraphicFramePr>
              <a:graphicFrameLocks noChangeAspect="1"/>
            </p:cNvGraphicFramePr>
            <p:nvPr/>
          </p:nvGraphicFramePr>
          <p:xfrm>
            <a:off x="3546" y="3163"/>
            <a:ext cx="217" cy="233"/>
          </p:xfrm>
          <a:graphic>
            <a:graphicData uri="http://schemas.openxmlformats.org/presentationml/2006/ole">
              <mc:AlternateContent xmlns:mc="http://schemas.openxmlformats.org/markup-compatibility/2006">
                <mc:Choice xmlns:v="urn:schemas-microsoft-com:vml" Requires="v">
                  <p:oleObj spid="_x0000_s16142" name="公式" r:id="rId3" imgW="152268" imgH="164957" progId="Equations">
                    <p:embed/>
                  </p:oleObj>
                </mc:Choice>
                <mc:Fallback>
                  <p:oleObj name="公式" r:id="rId3" imgW="152268" imgH="164957" progId="Equations">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6" y="3163"/>
                          <a:ext cx="21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673" name="Object 13"/>
            <p:cNvGraphicFramePr>
              <a:graphicFrameLocks noChangeAspect="1"/>
            </p:cNvGraphicFramePr>
            <p:nvPr/>
          </p:nvGraphicFramePr>
          <p:xfrm>
            <a:off x="4099" y="3271"/>
            <a:ext cx="288" cy="234"/>
          </p:xfrm>
          <a:graphic>
            <a:graphicData uri="http://schemas.openxmlformats.org/presentationml/2006/ole">
              <mc:AlternateContent xmlns:mc="http://schemas.openxmlformats.org/markup-compatibility/2006">
                <mc:Choice xmlns:v="urn:schemas-microsoft-com:vml" Requires="v">
                  <p:oleObj spid="_x0000_s16143" name="公式" r:id="rId5" imgW="203024" imgH="164957" progId="Equations">
                    <p:embed/>
                  </p:oleObj>
                </mc:Choice>
                <mc:Fallback>
                  <p:oleObj name="公式" r:id="rId5" imgW="203024" imgH="164957" progId="Equations">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99" y="3271"/>
                          <a:ext cx="288"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674" name="Object 14"/>
            <p:cNvGraphicFramePr>
              <a:graphicFrameLocks noChangeAspect="1"/>
            </p:cNvGraphicFramePr>
            <p:nvPr/>
          </p:nvGraphicFramePr>
          <p:xfrm>
            <a:off x="4861" y="3124"/>
            <a:ext cx="275" cy="329"/>
          </p:xfrm>
          <a:graphic>
            <a:graphicData uri="http://schemas.openxmlformats.org/presentationml/2006/ole">
              <mc:AlternateContent xmlns:mc="http://schemas.openxmlformats.org/markup-compatibility/2006">
                <mc:Choice xmlns:v="urn:schemas-microsoft-com:vml" Requires="v">
                  <p:oleObj spid="_x0000_s16144" name="公式" r:id="rId7" imgW="190500" imgH="228600" progId="Equations">
                    <p:embed/>
                  </p:oleObj>
                </mc:Choice>
                <mc:Fallback>
                  <p:oleObj name="公式" r:id="rId7" imgW="190500" imgH="228600" progId="Equations">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61" y="3124"/>
                          <a:ext cx="275"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0675" name="Line 15"/>
            <p:cNvSpPr>
              <a:spLocks noChangeShapeType="1"/>
            </p:cNvSpPr>
            <p:nvPr/>
          </p:nvSpPr>
          <p:spPr bwMode="auto">
            <a:xfrm>
              <a:off x="4664" y="2976"/>
              <a:ext cx="374" cy="0"/>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graphicFrame>
          <p:nvGraphicFramePr>
            <p:cNvPr id="70676" name="Object 16"/>
            <p:cNvGraphicFramePr>
              <a:graphicFrameLocks noChangeAspect="1"/>
            </p:cNvGraphicFramePr>
            <p:nvPr/>
          </p:nvGraphicFramePr>
          <p:xfrm>
            <a:off x="4726" y="1920"/>
            <a:ext cx="181" cy="235"/>
          </p:xfrm>
          <a:graphic>
            <a:graphicData uri="http://schemas.openxmlformats.org/presentationml/2006/ole">
              <mc:AlternateContent xmlns:mc="http://schemas.openxmlformats.org/markup-compatibility/2006">
                <mc:Choice xmlns:v="urn:schemas-microsoft-com:vml" Requires="v">
                  <p:oleObj spid="_x0000_s16145" name="公式" r:id="rId9" imgW="126780" imgH="164814" progId="Equations">
                    <p:embed/>
                  </p:oleObj>
                </mc:Choice>
                <mc:Fallback>
                  <p:oleObj name="公式" r:id="rId9" imgW="126780" imgH="164814" progId="Equations">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26" y="1920"/>
                          <a:ext cx="181"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677" name="Object 17"/>
            <p:cNvGraphicFramePr>
              <a:graphicFrameLocks noChangeAspect="1"/>
            </p:cNvGraphicFramePr>
            <p:nvPr/>
          </p:nvGraphicFramePr>
          <p:xfrm>
            <a:off x="4930" y="1973"/>
            <a:ext cx="180" cy="253"/>
          </p:xfrm>
          <a:graphic>
            <a:graphicData uri="http://schemas.openxmlformats.org/presentationml/2006/ole">
              <mc:AlternateContent xmlns:mc="http://schemas.openxmlformats.org/markup-compatibility/2006">
                <mc:Choice xmlns:v="urn:schemas-microsoft-com:vml" Requires="v">
                  <p:oleObj spid="_x0000_s16146" name="公式" r:id="rId11" imgW="126725" imgH="177415" progId="Equations">
                    <p:embed/>
                  </p:oleObj>
                </mc:Choice>
                <mc:Fallback>
                  <p:oleObj name="公式" r:id="rId11" imgW="126725" imgH="177415" progId="Equations">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30" y="1973"/>
                          <a:ext cx="1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678" name="Object 18"/>
            <p:cNvGraphicFramePr>
              <a:graphicFrameLocks noChangeAspect="1"/>
            </p:cNvGraphicFramePr>
            <p:nvPr/>
          </p:nvGraphicFramePr>
          <p:xfrm>
            <a:off x="4655" y="2512"/>
            <a:ext cx="235" cy="274"/>
          </p:xfrm>
          <a:graphic>
            <a:graphicData uri="http://schemas.openxmlformats.org/presentationml/2006/ole">
              <mc:AlternateContent xmlns:mc="http://schemas.openxmlformats.org/markup-compatibility/2006">
                <mc:Choice xmlns:v="urn:schemas-microsoft-com:vml" Requires="v">
                  <p:oleObj spid="_x0000_s16147" name="公式" r:id="rId13" imgW="164957" imgH="190335" progId="Equations">
                    <p:embed/>
                  </p:oleObj>
                </mc:Choice>
                <mc:Fallback>
                  <p:oleObj name="公式" r:id="rId13" imgW="164957" imgH="190335" progId="Equations">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55" y="2512"/>
                          <a:ext cx="235"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0679" name="Line 19"/>
            <p:cNvSpPr>
              <a:spLocks noChangeShapeType="1"/>
            </p:cNvSpPr>
            <p:nvPr/>
          </p:nvSpPr>
          <p:spPr bwMode="auto">
            <a:xfrm>
              <a:off x="4850" y="2168"/>
              <a:ext cx="0" cy="373"/>
            </a:xfrm>
            <a:prstGeom prst="line">
              <a:avLst/>
            </a:prstGeom>
            <a:noFill/>
            <a:ln w="254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graphicFrame>
          <p:nvGraphicFramePr>
            <p:cNvPr id="70680" name="Object 20"/>
            <p:cNvGraphicFramePr>
              <a:graphicFrameLocks noChangeAspect="1"/>
            </p:cNvGraphicFramePr>
            <p:nvPr/>
          </p:nvGraphicFramePr>
          <p:xfrm>
            <a:off x="5091" y="2852"/>
            <a:ext cx="234" cy="272"/>
          </p:xfrm>
          <a:graphic>
            <a:graphicData uri="http://schemas.openxmlformats.org/presentationml/2006/ole">
              <mc:AlternateContent xmlns:mc="http://schemas.openxmlformats.org/markup-compatibility/2006">
                <mc:Choice xmlns:v="urn:schemas-microsoft-com:vml" Requires="v">
                  <p:oleObj spid="_x0000_s16148" name="公式" r:id="rId15" imgW="164957" imgH="190335" progId="Equations">
                    <p:embed/>
                  </p:oleObj>
                </mc:Choice>
                <mc:Fallback>
                  <p:oleObj name="公式" r:id="rId15" imgW="164957" imgH="190335" progId="Equations">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091" y="2852"/>
                          <a:ext cx="234"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0681" name="Oval 21"/>
            <p:cNvSpPr>
              <a:spLocks noChangeArrowheads="1"/>
            </p:cNvSpPr>
            <p:nvPr/>
          </p:nvSpPr>
          <p:spPr bwMode="auto">
            <a:xfrm>
              <a:off x="4850" y="2727"/>
              <a:ext cx="101" cy="100"/>
            </a:xfrm>
            <a:prstGeom prst="ellipse">
              <a:avLst/>
            </a:prstGeom>
            <a:solidFill>
              <a:srgbClr val="003300"/>
            </a:solidFill>
            <a:ln w="50800">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0682" name="Oval 22"/>
            <p:cNvSpPr>
              <a:spLocks noChangeArrowheads="1"/>
            </p:cNvSpPr>
            <p:nvPr/>
          </p:nvSpPr>
          <p:spPr bwMode="auto">
            <a:xfrm>
              <a:off x="4354" y="3287"/>
              <a:ext cx="99" cy="99"/>
            </a:xfrm>
            <a:prstGeom prst="ellipse">
              <a:avLst/>
            </a:prstGeom>
            <a:solidFill>
              <a:srgbClr val="000080"/>
            </a:solidFill>
            <a:ln w="50800">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latin typeface="Times New Roman" pitchFamily="18" charset="0"/>
                <a:ea typeface="黑体" pitchFamily="49" charset="-122"/>
                <a:cs typeface="Times New Roman" pitchFamily="18" charset="0"/>
              </a:endParaRPr>
            </a:p>
          </p:txBody>
        </p:sp>
        <p:sp>
          <p:nvSpPr>
            <p:cNvPr id="70683" name="Line 23"/>
            <p:cNvSpPr>
              <a:spLocks noChangeShapeType="1"/>
            </p:cNvSpPr>
            <p:nvPr/>
          </p:nvSpPr>
          <p:spPr bwMode="auto">
            <a:xfrm>
              <a:off x="3577" y="3084"/>
              <a:ext cx="812"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itchFamily="18" charset="0"/>
                <a:ea typeface="黑体" pitchFamily="49" charset="-122"/>
                <a:cs typeface="Times New Roman" pitchFamily="18" charset="0"/>
              </a:endParaRPr>
            </a:p>
          </p:txBody>
        </p:sp>
        <p:sp>
          <p:nvSpPr>
            <p:cNvPr id="70684" name="Text Box 24"/>
            <p:cNvSpPr txBox="1">
              <a:spLocks noChangeArrowheads="1"/>
            </p:cNvSpPr>
            <p:nvPr/>
          </p:nvSpPr>
          <p:spPr bwMode="auto">
            <a:xfrm>
              <a:off x="4364" y="2505"/>
              <a:ext cx="19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3200" b="0">
                  <a:solidFill>
                    <a:srgbClr val="FF0000"/>
                  </a:solidFill>
                  <a:latin typeface="Times New Roman" pitchFamily="18" charset="0"/>
                  <a:ea typeface="黑体" pitchFamily="49" charset="-122"/>
                  <a:cs typeface="Times New Roman" pitchFamily="18" charset="0"/>
                </a:rPr>
                <a:t>+</a:t>
              </a:r>
              <a:endParaRPr kumimoji="1" lang="en-US" altLang="zh-CN" sz="2800">
                <a:solidFill>
                  <a:srgbClr val="FF0000"/>
                </a:solidFill>
                <a:latin typeface="Times New Roman" pitchFamily="18" charset="0"/>
                <a:ea typeface="黑体" pitchFamily="49" charset="-122"/>
                <a:cs typeface="Times New Roman" pitchFamily="18" charset="0"/>
              </a:endParaRPr>
            </a:p>
          </p:txBody>
        </p:sp>
        <p:sp>
          <p:nvSpPr>
            <p:cNvPr id="70685" name="Text Box 25"/>
            <p:cNvSpPr txBox="1">
              <a:spLocks noChangeArrowheads="1"/>
            </p:cNvSpPr>
            <p:nvPr/>
          </p:nvSpPr>
          <p:spPr bwMode="auto">
            <a:xfrm>
              <a:off x="5007" y="2506"/>
              <a:ext cx="194"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3200">
                  <a:solidFill>
                    <a:srgbClr val="0000FF"/>
                  </a:solidFill>
                  <a:latin typeface="Times New Roman" pitchFamily="18" charset="0"/>
                  <a:ea typeface="黑体" pitchFamily="49" charset="-122"/>
                  <a:cs typeface="Times New Roman" pitchFamily="18" charset="0"/>
                  <a:sym typeface="Symbol" pitchFamily="18" charset="2"/>
                </a:rPr>
                <a:t></a:t>
              </a:r>
              <a:endParaRPr kumimoji="1" lang="en-US" altLang="zh-CN" sz="2800">
                <a:solidFill>
                  <a:srgbClr val="0000FF"/>
                </a:solidFill>
                <a:latin typeface="Times New Roman" pitchFamily="18" charset="0"/>
                <a:ea typeface="黑体" pitchFamily="49" charset="-122"/>
                <a:cs typeface="Times New Roman" pitchFamily="18" charset="0"/>
              </a:endParaRPr>
            </a:p>
          </p:txBody>
        </p:sp>
        <p:sp>
          <p:nvSpPr>
            <p:cNvPr id="70686" name="Line 26"/>
            <p:cNvSpPr>
              <a:spLocks noChangeShapeType="1"/>
            </p:cNvSpPr>
            <p:nvPr/>
          </p:nvSpPr>
          <p:spPr bwMode="auto">
            <a:xfrm>
              <a:off x="4848" y="3120"/>
              <a:ext cx="52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latin typeface="Times New Roman" pitchFamily="18" charset="0"/>
                <a:ea typeface="黑体" pitchFamily="49" charset="-122"/>
                <a:cs typeface="Times New Roman" pitchFamily="18" charset="0"/>
              </a:endParaRPr>
            </a:p>
          </p:txBody>
        </p:sp>
        <p:sp>
          <p:nvSpPr>
            <p:cNvPr id="70687" name="Line 27"/>
            <p:cNvSpPr>
              <a:spLocks noChangeShapeType="1"/>
            </p:cNvSpPr>
            <p:nvPr/>
          </p:nvSpPr>
          <p:spPr bwMode="auto">
            <a:xfrm>
              <a:off x="4896" y="2208"/>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latin typeface="Times New Roman" pitchFamily="18" charset="0"/>
                <a:ea typeface="黑体" pitchFamily="49" charset="-122"/>
                <a:cs typeface="Times New Roman" pitchFamily="18" charset="0"/>
              </a:endParaRPr>
            </a:p>
          </p:txBody>
        </p:sp>
        <p:sp>
          <p:nvSpPr>
            <p:cNvPr id="70688" name="Line 28"/>
            <p:cNvSpPr>
              <a:spLocks noChangeShapeType="1"/>
            </p:cNvSpPr>
            <p:nvPr/>
          </p:nvSpPr>
          <p:spPr bwMode="auto">
            <a:xfrm>
              <a:off x="4896" y="2400"/>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latin typeface="Times New Roman" pitchFamily="18" charset="0"/>
                <a:ea typeface="黑体" pitchFamily="49" charset="-122"/>
                <a:cs typeface="Times New Roman" pitchFamily="18" charset="0"/>
              </a:endParaRPr>
            </a:p>
          </p:txBody>
        </p:sp>
        <p:sp>
          <p:nvSpPr>
            <p:cNvPr id="70689" name="Line 29"/>
            <p:cNvSpPr>
              <a:spLocks noChangeShapeType="1"/>
            </p:cNvSpPr>
            <p:nvPr/>
          </p:nvSpPr>
          <p:spPr bwMode="auto">
            <a:xfrm>
              <a:off x="4512" y="2208"/>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latin typeface="Times New Roman" pitchFamily="18" charset="0"/>
                <a:ea typeface="黑体" pitchFamily="49" charset="-122"/>
                <a:cs typeface="Times New Roman" pitchFamily="18" charset="0"/>
              </a:endParaRPr>
            </a:p>
          </p:txBody>
        </p:sp>
        <p:sp>
          <p:nvSpPr>
            <p:cNvPr id="70690" name="Line 30"/>
            <p:cNvSpPr>
              <a:spLocks noChangeShapeType="1"/>
            </p:cNvSpPr>
            <p:nvPr/>
          </p:nvSpPr>
          <p:spPr bwMode="auto">
            <a:xfrm>
              <a:off x="4512" y="2400"/>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latin typeface="Times New Roman" pitchFamily="18" charset="0"/>
                <a:ea typeface="黑体" pitchFamily="49" charset="-122"/>
                <a:cs typeface="Times New Roman" pitchFamily="18" charset="0"/>
              </a:endParaRPr>
            </a:p>
          </p:txBody>
        </p:sp>
        <p:graphicFrame>
          <p:nvGraphicFramePr>
            <p:cNvPr id="70691" name="Object 31"/>
            <p:cNvGraphicFramePr>
              <a:graphicFrameLocks noChangeAspect="1"/>
            </p:cNvGraphicFramePr>
            <p:nvPr/>
          </p:nvGraphicFramePr>
          <p:xfrm>
            <a:off x="5149" y="2044"/>
            <a:ext cx="275" cy="308"/>
          </p:xfrm>
          <a:graphic>
            <a:graphicData uri="http://schemas.openxmlformats.org/presentationml/2006/ole">
              <mc:AlternateContent xmlns:mc="http://schemas.openxmlformats.org/markup-compatibility/2006">
                <mc:Choice xmlns:v="urn:schemas-microsoft-com:vml" Requires="v">
                  <p:oleObj spid="_x0000_s16149" name="公式" r:id="rId17" imgW="190335" imgH="215713" progId="Equations">
                    <p:embed/>
                  </p:oleObj>
                </mc:Choice>
                <mc:Fallback>
                  <p:oleObj name="公式" r:id="rId17" imgW="190335" imgH="215713" progId="Equations">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149" y="2044"/>
                          <a:ext cx="275"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692" name="Object 32"/>
            <p:cNvGraphicFramePr>
              <a:graphicFrameLocks noChangeAspect="1"/>
            </p:cNvGraphicFramePr>
            <p:nvPr/>
          </p:nvGraphicFramePr>
          <p:xfrm>
            <a:off x="5136" y="2256"/>
            <a:ext cx="275" cy="308"/>
          </p:xfrm>
          <a:graphic>
            <a:graphicData uri="http://schemas.openxmlformats.org/presentationml/2006/ole">
              <mc:AlternateContent xmlns:mc="http://schemas.openxmlformats.org/markup-compatibility/2006">
                <mc:Choice xmlns:v="urn:schemas-microsoft-com:vml" Requires="v">
                  <p:oleObj spid="_x0000_s16150" name="公式" r:id="rId19" imgW="190335" imgH="215713" progId="Equations">
                    <p:embed/>
                  </p:oleObj>
                </mc:Choice>
                <mc:Fallback>
                  <p:oleObj name="公式" r:id="rId19" imgW="190335" imgH="215713" progId="Equations">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36" y="2256"/>
                          <a:ext cx="275"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70664" name="Text Box 33"/>
          <p:cNvSpPr txBox="1">
            <a:spLocks noChangeArrowheads="1"/>
          </p:cNvSpPr>
          <p:nvPr/>
        </p:nvSpPr>
        <p:spPr bwMode="auto">
          <a:xfrm>
            <a:off x="317695" y="1783048"/>
            <a:ext cx="6635751" cy="278755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a:defRPr b="1">
                <a:solidFill>
                  <a:schemeClr val="tx1"/>
                </a:solidFill>
                <a:latin typeface="Arial" pitchFamily="34" charset="0"/>
                <a:ea typeface="宋体" pitchFamily="2" charset="-122"/>
              </a:defRPr>
            </a:lvl1pPr>
            <a:lvl2pPr>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lnSpc>
                <a:spcPct val="125000"/>
              </a:lnSpc>
            </a:pPr>
            <a:r>
              <a:rPr kumimoji="1" lang="zh-CN" altLang="en-US" sz="2800" dirty="0">
                <a:latin typeface="+mn-ea"/>
                <a:ea typeface="+mn-ea"/>
                <a:cs typeface="Times New Roman" pitchFamily="18" charset="0"/>
              </a:rPr>
              <a:t>从离子源出来的离子经过</a:t>
            </a:r>
            <a:r>
              <a:rPr kumimoji="1" lang="en-US" altLang="zh-CN" sz="2800" dirty="0">
                <a:latin typeface="+mn-ea"/>
                <a:ea typeface="+mn-ea"/>
                <a:cs typeface="Times New Roman" pitchFamily="18" charset="0"/>
              </a:rPr>
              <a:t>S</a:t>
            </a:r>
            <a:r>
              <a:rPr kumimoji="1" lang="en-US" altLang="zh-CN" sz="2800" baseline="-25000" dirty="0">
                <a:latin typeface="+mn-ea"/>
                <a:ea typeface="+mn-ea"/>
                <a:cs typeface="Times New Roman" pitchFamily="18" charset="0"/>
              </a:rPr>
              <a:t>1</a:t>
            </a:r>
            <a:r>
              <a:rPr kumimoji="1" lang="zh-CN" altLang="en-US" sz="2800" dirty="0">
                <a:latin typeface="+mn-ea"/>
                <a:ea typeface="+mn-ea"/>
                <a:cs typeface="Times New Roman" pitchFamily="18" charset="0"/>
              </a:rPr>
              <a:t>、</a:t>
            </a:r>
            <a:r>
              <a:rPr kumimoji="1" lang="en-US" altLang="zh-CN" sz="2800" dirty="0" smtClean="0">
                <a:latin typeface="+mn-ea"/>
                <a:ea typeface="+mn-ea"/>
                <a:cs typeface="Times New Roman" pitchFamily="18" charset="0"/>
              </a:rPr>
              <a:t>S</a:t>
            </a:r>
            <a:r>
              <a:rPr kumimoji="1" lang="en-US" altLang="zh-CN" sz="2800" baseline="-25000" dirty="0" smtClean="0">
                <a:latin typeface="+mn-ea"/>
                <a:ea typeface="+mn-ea"/>
                <a:cs typeface="Times New Roman" pitchFamily="18" charset="0"/>
              </a:rPr>
              <a:t>2</a:t>
            </a:r>
            <a:r>
              <a:rPr kumimoji="1" lang="zh-CN" altLang="en-US" sz="2800" dirty="0">
                <a:latin typeface="+mn-ea"/>
                <a:ea typeface="+mn-ea"/>
                <a:cs typeface="Times New Roman" pitchFamily="18" charset="0"/>
              </a:rPr>
              <a:t>之间</a:t>
            </a:r>
            <a:r>
              <a:rPr kumimoji="1" lang="zh-CN" altLang="en-US" sz="2800" dirty="0" smtClean="0">
                <a:latin typeface="+mn-ea"/>
                <a:ea typeface="+mn-ea"/>
                <a:cs typeface="Times New Roman" pitchFamily="18" charset="0"/>
              </a:rPr>
              <a:t>电场加速后进入</a:t>
            </a:r>
            <a:r>
              <a:rPr kumimoji="1" lang="zh-CN" altLang="en-US" sz="2800" dirty="0">
                <a:latin typeface="+mn-ea"/>
                <a:ea typeface="+mn-ea"/>
                <a:cs typeface="Times New Roman" pitchFamily="18" charset="0"/>
              </a:rPr>
              <a:t>电场和磁场空间，若粒子带正电荷</a:t>
            </a:r>
            <a:r>
              <a:rPr kumimoji="1" lang="en-US" altLang="zh-CN" sz="2800" dirty="0">
                <a:latin typeface="+mn-ea"/>
                <a:ea typeface="+mn-ea"/>
                <a:cs typeface="Times New Roman" pitchFamily="18" charset="0"/>
              </a:rPr>
              <a:t>+</a:t>
            </a:r>
            <a:r>
              <a:rPr kumimoji="1" lang="en-US" altLang="zh-CN" sz="2800" i="1" dirty="0">
                <a:latin typeface="+mn-ea"/>
                <a:ea typeface="+mn-ea"/>
                <a:cs typeface="Times New Roman" pitchFamily="18" charset="0"/>
              </a:rPr>
              <a:t>q</a:t>
            </a:r>
            <a:r>
              <a:rPr kumimoji="1" lang="zh-CN" altLang="en-US" sz="2800" dirty="0">
                <a:latin typeface="+mn-ea"/>
                <a:ea typeface="+mn-ea"/>
                <a:cs typeface="Times New Roman" pitchFamily="18" charset="0"/>
              </a:rPr>
              <a:t>，则电荷所受的力有：</a:t>
            </a:r>
          </a:p>
          <a:p>
            <a:pPr lvl="1" eaLnBrk="1" hangingPunct="1">
              <a:lnSpc>
                <a:spcPct val="125000"/>
              </a:lnSpc>
            </a:pPr>
            <a:r>
              <a:rPr kumimoji="1" lang="zh-CN" altLang="en-US" sz="2800" dirty="0">
                <a:latin typeface="+mn-ea"/>
                <a:ea typeface="+mn-ea"/>
                <a:cs typeface="Times New Roman" pitchFamily="18" charset="0"/>
              </a:rPr>
              <a:t>洛仑兹力：</a:t>
            </a:r>
            <a:r>
              <a:rPr kumimoji="1" lang="en-US" altLang="zh-CN" sz="2800" i="1" dirty="0" err="1" smtClean="0">
                <a:latin typeface="+mn-ea"/>
                <a:ea typeface="+mn-ea"/>
                <a:cs typeface="Times New Roman" panose="02020603050405020304" pitchFamily="18" charset="0"/>
              </a:rPr>
              <a:t>qvB</a:t>
            </a:r>
            <a:endParaRPr kumimoji="1" lang="en-US" altLang="zh-CN" sz="2800" i="1" dirty="0" smtClean="0">
              <a:latin typeface="+mn-ea"/>
              <a:ea typeface="+mn-ea"/>
              <a:cs typeface="Times New Roman" panose="02020603050405020304" pitchFamily="18" charset="0"/>
            </a:endParaRPr>
          </a:p>
          <a:p>
            <a:pPr lvl="1" eaLnBrk="1" hangingPunct="1">
              <a:lnSpc>
                <a:spcPct val="125000"/>
              </a:lnSpc>
            </a:pPr>
            <a:r>
              <a:rPr kumimoji="1" lang="zh-CN" altLang="en-US" sz="2800" dirty="0" smtClean="0">
                <a:latin typeface="+mn-ea"/>
                <a:ea typeface="+mn-ea"/>
                <a:cs typeface="Times New Roman" panose="02020603050405020304" pitchFamily="18" charset="0"/>
              </a:rPr>
              <a:t>电场力 ： </a:t>
            </a:r>
            <a:r>
              <a:rPr kumimoji="1" lang="en-US" altLang="zh-CN" sz="2800" i="1" dirty="0" err="1" smtClean="0">
                <a:latin typeface="+mn-ea"/>
                <a:ea typeface="+mn-ea"/>
                <a:cs typeface="Times New Roman" panose="02020603050405020304" pitchFamily="18" charset="0"/>
              </a:rPr>
              <a:t>qE</a:t>
            </a:r>
            <a:endParaRPr kumimoji="1" lang="en-US" altLang="zh-CN" sz="2800" dirty="0">
              <a:solidFill>
                <a:srgbClr val="FF3300"/>
              </a:solidFill>
              <a:latin typeface="+mn-ea"/>
              <a:ea typeface="+mn-ea"/>
              <a:cs typeface="Times New Roman" panose="02020603050405020304" pitchFamily="18" charset="0"/>
            </a:endParaRPr>
          </a:p>
        </p:txBody>
      </p:sp>
      <p:sp>
        <p:nvSpPr>
          <p:cNvPr id="70665" name="Text Box 34"/>
          <p:cNvSpPr txBox="1">
            <a:spLocks noChangeArrowheads="1"/>
          </p:cNvSpPr>
          <p:nvPr/>
        </p:nvSpPr>
        <p:spPr bwMode="auto">
          <a:xfrm>
            <a:off x="317695" y="4813233"/>
            <a:ext cx="4149191" cy="9562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b="1">
                <a:solidFill>
                  <a:schemeClr val="tx1"/>
                </a:solidFill>
                <a:latin typeface="Arial" pitchFamily="34" charset="0"/>
                <a:ea typeface="宋体" pitchFamily="2" charset="-122"/>
              </a:defRPr>
            </a:lvl1pPr>
            <a:lvl2pPr marL="1077913">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20000"/>
              </a:spcBef>
            </a:pPr>
            <a:r>
              <a:rPr kumimoji="1" lang="zh-CN" altLang="en-US" sz="2800" dirty="0">
                <a:latin typeface="+mn-ea"/>
                <a:ea typeface="+mn-ea"/>
                <a:cs typeface="Times New Roman" pitchFamily="18" charset="0"/>
              </a:rPr>
              <a:t>若粒子能进入下面的磁场</a:t>
            </a:r>
          </a:p>
          <a:p>
            <a:pPr lvl="1" eaLnBrk="1" hangingPunct="1"/>
            <a:r>
              <a:rPr kumimoji="1" lang="en-US" altLang="zh-CN" sz="2800" i="1" dirty="0" err="1">
                <a:latin typeface="Times New Roman" panose="02020603050405020304" pitchFamily="18" charset="0"/>
                <a:ea typeface="+mn-ea"/>
                <a:cs typeface="Times New Roman" panose="02020603050405020304" pitchFamily="18" charset="0"/>
              </a:rPr>
              <a:t>qvB</a:t>
            </a:r>
            <a:r>
              <a:rPr kumimoji="1" lang="en-US" altLang="zh-CN" sz="2800" dirty="0">
                <a:latin typeface="Times New Roman" panose="02020603050405020304" pitchFamily="18" charset="0"/>
                <a:ea typeface="+mn-ea"/>
                <a:cs typeface="Times New Roman" panose="02020603050405020304" pitchFamily="18" charset="0"/>
              </a:rPr>
              <a:t>=</a:t>
            </a:r>
            <a:r>
              <a:rPr kumimoji="1" lang="en-US" altLang="zh-CN" sz="2800" i="1" dirty="0" err="1">
                <a:latin typeface="Times New Roman" panose="02020603050405020304" pitchFamily="18" charset="0"/>
                <a:ea typeface="+mn-ea"/>
                <a:cs typeface="Times New Roman" panose="02020603050405020304" pitchFamily="18" charset="0"/>
              </a:rPr>
              <a:t>qE</a:t>
            </a:r>
            <a:endParaRPr kumimoji="1" lang="en-US" altLang="zh-CN" sz="2800" dirty="0">
              <a:solidFill>
                <a:srgbClr val="FF3300"/>
              </a:solidFill>
              <a:latin typeface="Times New Roman" panose="02020603050405020304" pitchFamily="18" charset="0"/>
              <a:ea typeface="+mn-ea"/>
              <a:cs typeface="Times New Roman" panose="02020603050405020304" pitchFamily="18" charset="0"/>
            </a:endParaRPr>
          </a:p>
        </p:txBody>
      </p:sp>
      <p:graphicFrame>
        <p:nvGraphicFramePr>
          <p:cNvPr id="70666" name="Object 35"/>
          <p:cNvGraphicFramePr>
            <a:graphicFrameLocks noChangeAspect="1"/>
          </p:cNvGraphicFramePr>
          <p:nvPr>
            <p:extLst>
              <p:ext uri="{D42A27DB-BD31-4B8C-83A1-F6EECF244321}">
                <p14:modId xmlns:p14="http://schemas.microsoft.com/office/powerpoint/2010/main" val="3048101978"/>
              </p:ext>
            </p:extLst>
          </p:nvPr>
        </p:nvGraphicFramePr>
        <p:xfrm>
          <a:off x="5302836" y="5075630"/>
          <a:ext cx="1494469" cy="1080095"/>
        </p:xfrm>
        <a:graphic>
          <a:graphicData uri="http://schemas.openxmlformats.org/presentationml/2006/ole">
            <mc:AlternateContent xmlns:mc="http://schemas.openxmlformats.org/markup-compatibility/2006">
              <mc:Choice xmlns:v="urn:schemas-microsoft-com:vml" Requires="v">
                <p:oleObj spid="_x0000_s16151" name="Equation" r:id="rId21" imgW="406048" imgH="393359" progId="Equation.DSMT4">
                  <p:embed/>
                </p:oleObj>
              </mc:Choice>
              <mc:Fallback>
                <p:oleObj name="Equation" r:id="rId21" imgW="406048" imgH="393359" progId="Equation.DSMT4">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302836" y="5075630"/>
                        <a:ext cx="1494469" cy="108009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1634897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 y="548681"/>
            <a:ext cx="11952749" cy="4839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68121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ChangeArrowheads="1"/>
          </p:cNvSpPr>
          <p:nvPr/>
        </p:nvSpPr>
        <p:spPr bwMode="auto">
          <a:xfrm>
            <a:off x="7213600" y="228600"/>
            <a:ext cx="4978400" cy="2971800"/>
          </a:xfrm>
          <a:prstGeom prst="rect">
            <a:avLst/>
          </a:prstGeom>
          <a:solidFill>
            <a:srgbClr val="FFFF99"/>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eaLnBrk="1" hangingPunct="1"/>
            <a:endParaRPr lang="zh-CN" altLang="en-US"/>
          </a:p>
        </p:txBody>
      </p:sp>
      <p:sp>
        <p:nvSpPr>
          <p:cNvPr id="71683" name="Text Box 3"/>
          <p:cNvSpPr txBox="1">
            <a:spLocks noChangeArrowheads="1"/>
          </p:cNvSpPr>
          <p:nvPr/>
        </p:nvSpPr>
        <p:spPr bwMode="auto">
          <a:xfrm>
            <a:off x="176115" y="2593976"/>
            <a:ext cx="7389476"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4625" indent="-174625">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buFontTx/>
              <a:buChar char="•"/>
            </a:pPr>
            <a:r>
              <a:rPr kumimoji="1" lang="zh-CN" altLang="zh-CN" sz="2800" dirty="0">
                <a:latin typeface="+mn-ea"/>
                <a:ea typeface="+mn-ea"/>
                <a:cs typeface="Times New Roman" pitchFamily="18" charset="0"/>
              </a:rPr>
              <a:t>若每个离子所带电量相等，由谱线的位置可以确定同位素的质量。</a:t>
            </a:r>
            <a:endParaRPr kumimoji="1" lang="zh-CN" altLang="en-US" sz="2800" dirty="0">
              <a:latin typeface="+mn-ea"/>
              <a:ea typeface="+mn-ea"/>
              <a:cs typeface="Times New Roman" pitchFamily="18" charset="0"/>
            </a:endParaRPr>
          </a:p>
          <a:p>
            <a:pPr eaLnBrk="1" hangingPunct="1">
              <a:buFontTx/>
              <a:buChar char="•"/>
            </a:pPr>
            <a:r>
              <a:rPr kumimoji="1" lang="zh-CN" altLang="en-US" sz="2800" dirty="0">
                <a:latin typeface="+mn-ea"/>
                <a:ea typeface="+mn-ea"/>
                <a:cs typeface="Times New Roman" pitchFamily="18" charset="0"/>
              </a:rPr>
              <a:t>由感光片上谱线的黑度，可以确定同位素的相对含量。</a:t>
            </a:r>
          </a:p>
        </p:txBody>
      </p:sp>
      <p:sp>
        <p:nvSpPr>
          <p:cNvPr id="71684" name="Text Box 4"/>
          <p:cNvSpPr txBox="1">
            <a:spLocks noChangeArrowheads="1"/>
          </p:cNvSpPr>
          <p:nvPr/>
        </p:nvSpPr>
        <p:spPr bwMode="auto">
          <a:xfrm>
            <a:off x="49744" y="145703"/>
            <a:ext cx="696483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b="1">
                <a:solidFill>
                  <a:schemeClr val="tx1"/>
                </a:solidFill>
                <a:latin typeface="Arial" pitchFamily="34" charset="0"/>
                <a:ea typeface="宋体" pitchFamily="2" charset="-122"/>
              </a:defRPr>
            </a:lvl1pPr>
            <a:lvl2pPr>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marL="0" lvl="1" eaLnBrk="1" hangingPunct="1"/>
            <a:r>
              <a:rPr kumimoji="1" lang="zh-CN" altLang="en-US" sz="2800" dirty="0">
                <a:latin typeface="Times New Roman" panose="02020603050405020304" pitchFamily="18" charset="0"/>
                <a:ea typeface="+mn-ea"/>
                <a:cs typeface="Times New Roman" panose="02020603050405020304" pitchFamily="18" charset="0"/>
              </a:rPr>
              <a:t>带电粒子经过速度选择器后，进入磁场</a:t>
            </a:r>
            <a:r>
              <a:rPr kumimoji="1" lang="en-US" altLang="zh-CN" sz="2800" i="1" dirty="0">
                <a:latin typeface="Times New Roman" panose="02020603050405020304" pitchFamily="18" charset="0"/>
                <a:ea typeface="+mn-ea"/>
                <a:cs typeface="Times New Roman" panose="02020603050405020304" pitchFamily="18" charset="0"/>
              </a:rPr>
              <a:t>B</a:t>
            </a:r>
            <a:r>
              <a:rPr kumimoji="1" lang="en-US" altLang="zh-CN" sz="2800" dirty="0">
                <a:latin typeface="Times New Roman" panose="02020603050405020304" pitchFamily="18" charset="0"/>
                <a:ea typeface="+mn-ea"/>
                <a:cs typeface="Times New Roman" panose="02020603050405020304" pitchFamily="18" charset="0"/>
              </a:rPr>
              <a:t>ʹ</a:t>
            </a:r>
            <a:r>
              <a:rPr kumimoji="1" lang="zh-CN" altLang="en-US" sz="2800" dirty="0">
                <a:latin typeface="Times New Roman" panose="02020603050405020304" pitchFamily="18" charset="0"/>
                <a:ea typeface="+mn-ea"/>
                <a:cs typeface="Times New Roman" panose="02020603050405020304" pitchFamily="18" charset="0"/>
              </a:rPr>
              <a:t>中做圆周运动，半径为</a:t>
            </a:r>
            <a:r>
              <a:rPr kumimoji="1" lang="en-US" altLang="zh-CN" sz="2800" i="1" dirty="0">
                <a:latin typeface="Times New Roman" panose="02020603050405020304" pitchFamily="18" charset="0"/>
                <a:ea typeface="+mn-ea"/>
                <a:cs typeface="Times New Roman" panose="02020603050405020304" pitchFamily="18" charset="0"/>
              </a:rPr>
              <a:t>R</a:t>
            </a:r>
            <a:endParaRPr kumimoji="1" lang="zh-CN" altLang="en-US" sz="2800" dirty="0">
              <a:latin typeface="Times New Roman" panose="02020603050405020304" pitchFamily="18" charset="0"/>
              <a:ea typeface="+mn-ea"/>
              <a:cs typeface="Times New Roman" panose="02020603050405020304" pitchFamily="18" charset="0"/>
            </a:endParaRPr>
          </a:p>
        </p:txBody>
      </p:sp>
      <p:grpSp>
        <p:nvGrpSpPr>
          <p:cNvPr id="71685" name="Group 5"/>
          <p:cNvGrpSpPr>
            <a:grpSpLocks/>
          </p:cNvGrpSpPr>
          <p:nvPr/>
        </p:nvGrpSpPr>
        <p:grpSpPr bwMode="auto">
          <a:xfrm>
            <a:off x="7416800" y="304800"/>
            <a:ext cx="4368800" cy="2662238"/>
            <a:chOff x="3360" y="1920"/>
            <a:chExt cx="2064" cy="1677"/>
          </a:xfrm>
        </p:grpSpPr>
        <p:sp>
          <p:nvSpPr>
            <p:cNvPr id="71691" name="Line 6"/>
            <p:cNvSpPr>
              <a:spLocks noChangeShapeType="1"/>
            </p:cNvSpPr>
            <p:nvPr/>
          </p:nvSpPr>
          <p:spPr bwMode="auto">
            <a:xfrm>
              <a:off x="3360" y="3112"/>
              <a:ext cx="1440" cy="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692" name="AutoShape 7"/>
            <p:cNvSpPr>
              <a:spLocks noChangeArrowheads="1"/>
            </p:cNvSpPr>
            <p:nvPr/>
          </p:nvSpPr>
          <p:spPr bwMode="auto">
            <a:xfrm>
              <a:off x="3856" y="2603"/>
              <a:ext cx="966" cy="99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1600 w 21600"/>
                <a:gd name="T13" fmla="*/ 10822 h 21600"/>
                <a:gd name="T14" fmla="*/ 0 w 21600"/>
                <a:gd name="T15" fmla="*/ 21600 h 21600"/>
              </a:gdLst>
              <a:ahLst/>
              <a:cxnLst>
                <a:cxn ang="T8">
                  <a:pos x="T0" y="T1"/>
                </a:cxn>
                <a:cxn ang="T9">
                  <a:pos x="T2" y="T3"/>
                </a:cxn>
                <a:cxn ang="T10">
                  <a:pos x="T4" y="T5"/>
                </a:cxn>
                <a:cxn ang="T11">
                  <a:pos x="T6" y="T7"/>
                </a:cxn>
              </a:cxnLst>
              <a:rect l="T12" t="T13" r="T14" b="T15"/>
              <a:pathLst>
                <a:path w="21600" h="21600">
                  <a:moveTo>
                    <a:pt x="21425" y="10827"/>
                  </a:moveTo>
                  <a:cubicBezTo>
                    <a:pt x="21410" y="16685"/>
                    <a:pt x="16657" y="21425"/>
                    <a:pt x="10800" y="21426"/>
                  </a:cubicBezTo>
                  <a:cubicBezTo>
                    <a:pt x="4942" y="21426"/>
                    <a:pt x="189" y="16685"/>
                    <a:pt x="174" y="10827"/>
                  </a:cubicBezTo>
                  <a:lnTo>
                    <a:pt x="0" y="10828"/>
                  </a:lnTo>
                  <a:cubicBezTo>
                    <a:pt x="15" y="16782"/>
                    <a:pt x="4846" y="21600"/>
                    <a:pt x="10800" y="21600"/>
                  </a:cubicBezTo>
                  <a:cubicBezTo>
                    <a:pt x="16753" y="21599"/>
                    <a:pt x="21584" y="16782"/>
                    <a:pt x="21599" y="10828"/>
                  </a:cubicBezTo>
                  <a:lnTo>
                    <a:pt x="21425" y="10827"/>
                  </a:lnTo>
                  <a:close/>
                </a:path>
              </a:pathLst>
            </a:custGeom>
            <a:solidFill>
              <a:schemeClr val="accent1"/>
            </a:solidFill>
            <a:ln w="19050">
              <a:solidFill>
                <a:srgbClr val="8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693" name="Line 8"/>
            <p:cNvSpPr>
              <a:spLocks noChangeShapeType="1"/>
            </p:cNvSpPr>
            <p:nvPr/>
          </p:nvSpPr>
          <p:spPr bwMode="auto">
            <a:xfrm>
              <a:off x="4602" y="2479"/>
              <a:ext cx="0" cy="55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694" name="Line 9"/>
            <p:cNvSpPr>
              <a:spLocks noChangeShapeType="1"/>
            </p:cNvSpPr>
            <p:nvPr/>
          </p:nvSpPr>
          <p:spPr bwMode="auto">
            <a:xfrm>
              <a:off x="5038" y="2479"/>
              <a:ext cx="0" cy="55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1695" name="Object 10"/>
            <p:cNvGraphicFramePr>
              <a:graphicFrameLocks noChangeAspect="1"/>
            </p:cNvGraphicFramePr>
            <p:nvPr/>
          </p:nvGraphicFramePr>
          <p:xfrm>
            <a:off x="3546" y="3163"/>
            <a:ext cx="217" cy="233"/>
          </p:xfrm>
          <a:graphic>
            <a:graphicData uri="http://schemas.openxmlformats.org/presentationml/2006/ole">
              <mc:AlternateContent xmlns:mc="http://schemas.openxmlformats.org/markup-compatibility/2006">
                <mc:Choice xmlns:v="urn:schemas-microsoft-com:vml" Requires="v">
                  <p:oleObj spid="_x0000_s17233" name="公式" r:id="rId3" imgW="152268" imgH="164957" progId="Equations">
                    <p:embed/>
                  </p:oleObj>
                </mc:Choice>
                <mc:Fallback>
                  <p:oleObj name="公式" r:id="rId3" imgW="152268" imgH="164957" progId="Equations">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6" y="3163"/>
                          <a:ext cx="21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696" name="Object 11"/>
            <p:cNvGraphicFramePr>
              <a:graphicFrameLocks noChangeAspect="1"/>
            </p:cNvGraphicFramePr>
            <p:nvPr/>
          </p:nvGraphicFramePr>
          <p:xfrm>
            <a:off x="4099" y="3271"/>
            <a:ext cx="288" cy="234"/>
          </p:xfrm>
          <a:graphic>
            <a:graphicData uri="http://schemas.openxmlformats.org/presentationml/2006/ole">
              <mc:AlternateContent xmlns:mc="http://schemas.openxmlformats.org/markup-compatibility/2006">
                <mc:Choice xmlns:v="urn:schemas-microsoft-com:vml" Requires="v">
                  <p:oleObj spid="_x0000_s17234" name="Equation" r:id="rId5" imgW="203024" imgH="164957" progId="Equation.DSMT4">
                    <p:embed/>
                  </p:oleObj>
                </mc:Choice>
                <mc:Fallback>
                  <p:oleObj name="Equation" r:id="rId5" imgW="203024" imgH="164957"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99" y="3271"/>
                          <a:ext cx="288"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697" name="Object 12"/>
            <p:cNvGraphicFramePr>
              <a:graphicFrameLocks noChangeAspect="1"/>
            </p:cNvGraphicFramePr>
            <p:nvPr/>
          </p:nvGraphicFramePr>
          <p:xfrm>
            <a:off x="4861" y="3124"/>
            <a:ext cx="275" cy="329"/>
          </p:xfrm>
          <a:graphic>
            <a:graphicData uri="http://schemas.openxmlformats.org/presentationml/2006/ole">
              <mc:AlternateContent xmlns:mc="http://schemas.openxmlformats.org/markup-compatibility/2006">
                <mc:Choice xmlns:v="urn:schemas-microsoft-com:vml" Requires="v">
                  <p:oleObj spid="_x0000_s17235" name="公式" r:id="rId7" imgW="190500" imgH="228600" progId="Equations">
                    <p:embed/>
                  </p:oleObj>
                </mc:Choice>
                <mc:Fallback>
                  <p:oleObj name="公式" r:id="rId7" imgW="190500" imgH="228600" progId="Equations">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61" y="3124"/>
                          <a:ext cx="275"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698" name="Line 13"/>
            <p:cNvSpPr>
              <a:spLocks noChangeShapeType="1"/>
            </p:cNvSpPr>
            <p:nvPr/>
          </p:nvSpPr>
          <p:spPr bwMode="auto">
            <a:xfrm>
              <a:off x="4664" y="2976"/>
              <a:ext cx="374" cy="0"/>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1699" name="Object 14"/>
            <p:cNvGraphicFramePr>
              <a:graphicFrameLocks noChangeAspect="1"/>
            </p:cNvGraphicFramePr>
            <p:nvPr/>
          </p:nvGraphicFramePr>
          <p:xfrm>
            <a:off x="4726" y="1920"/>
            <a:ext cx="181" cy="235"/>
          </p:xfrm>
          <a:graphic>
            <a:graphicData uri="http://schemas.openxmlformats.org/presentationml/2006/ole">
              <mc:AlternateContent xmlns:mc="http://schemas.openxmlformats.org/markup-compatibility/2006">
                <mc:Choice xmlns:v="urn:schemas-microsoft-com:vml" Requires="v">
                  <p:oleObj spid="_x0000_s17236" name="公式" r:id="rId9" imgW="126780" imgH="164814" progId="Equations">
                    <p:embed/>
                  </p:oleObj>
                </mc:Choice>
                <mc:Fallback>
                  <p:oleObj name="公式" r:id="rId9" imgW="126780" imgH="164814" progId="Equations">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26" y="1920"/>
                          <a:ext cx="181" cy="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00" name="Object 15"/>
            <p:cNvGraphicFramePr>
              <a:graphicFrameLocks noChangeAspect="1"/>
            </p:cNvGraphicFramePr>
            <p:nvPr/>
          </p:nvGraphicFramePr>
          <p:xfrm>
            <a:off x="4930" y="1973"/>
            <a:ext cx="180" cy="253"/>
          </p:xfrm>
          <a:graphic>
            <a:graphicData uri="http://schemas.openxmlformats.org/presentationml/2006/ole">
              <mc:AlternateContent xmlns:mc="http://schemas.openxmlformats.org/markup-compatibility/2006">
                <mc:Choice xmlns:v="urn:schemas-microsoft-com:vml" Requires="v">
                  <p:oleObj spid="_x0000_s17237" name="公式" r:id="rId11" imgW="126725" imgH="177415" progId="Equations">
                    <p:embed/>
                  </p:oleObj>
                </mc:Choice>
                <mc:Fallback>
                  <p:oleObj name="公式" r:id="rId11" imgW="126725" imgH="177415" progId="Equations">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30" y="1973"/>
                          <a:ext cx="180"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01" name="Object 16"/>
            <p:cNvGraphicFramePr>
              <a:graphicFrameLocks noChangeAspect="1"/>
            </p:cNvGraphicFramePr>
            <p:nvPr/>
          </p:nvGraphicFramePr>
          <p:xfrm>
            <a:off x="4655" y="2512"/>
            <a:ext cx="235" cy="274"/>
          </p:xfrm>
          <a:graphic>
            <a:graphicData uri="http://schemas.openxmlformats.org/presentationml/2006/ole">
              <mc:AlternateContent xmlns:mc="http://schemas.openxmlformats.org/markup-compatibility/2006">
                <mc:Choice xmlns:v="urn:schemas-microsoft-com:vml" Requires="v">
                  <p:oleObj spid="_x0000_s17238" name="公式" r:id="rId13" imgW="164957" imgH="190335" progId="Equations">
                    <p:embed/>
                  </p:oleObj>
                </mc:Choice>
                <mc:Fallback>
                  <p:oleObj name="公式" r:id="rId13" imgW="164957" imgH="190335" progId="Equations">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55" y="2512"/>
                          <a:ext cx="235"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702" name="Line 17"/>
            <p:cNvSpPr>
              <a:spLocks noChangeShapeType="1"/>
            </p:cNvSpPr>
            <p:nvPr/>
          </p:nvSpPr>
          <p:spPr bwMode="auto">
            <a:xfrm>
              <a:off x="4850" y="2168"/>
              <a:ext cx="0" cy="373"/>
            </a:xfrm>
            <a:prstGeom prst="line">
              <a:avLst/>
            </a:prstGeom>
            <a:noFill/>
            <a:ln w="254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1703" name="Object 18"/>
            <p:cNvGraphicFramePr>
              <a:graphicFrameLocks noChangeAspect="1"/>
            </p:cNvGraphicFramePr>
            <p:nvPr/>
          </p:nvGraphicFramePr>
          <p:xfrm>
            <a:off x="5091" y="2852"/>
            <a:ext cx="234" cy="272"/>
          </p:xfrm>
          <a:graphic>
            <a:graphicData uri="http://schemas.openxmlformats.org/presentationml/2006/ole">
              <mc:AlternateContent xmlns:mc="http://schemas.openxmlformats.org/markup-compatibility/2006">
                <mc:Choice xmlns:v="urn:schemas-microsoft-com:vml" Requires="v">
                  <p:oleObj spid="_x0000_s17239" name="公式" r:id="rId15" imgW="164957" imgH="190335" progId="Equations">
                    <p:embed/>
                  </p:oleObj>
                </mc:Choice>
                <mc:Fallback>
                  <p:oleObj name="公式" r:id="rId15" imgW="164957" imgH="190335" progId="Equations">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091" y="2852"/>
                          <a:ext cx="234"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704" name="Oval 19"/>
            <p:cNvSpPr>
              <a:spLocks noChangeArrowheads="1"/>
            </p:cNvSpPr>
            <p:nvPr/>
          </p:nvSpPr>
          <p:spPr bwMode="auto">
            <a:xfrm>
              <a:off x="4850" y="2727"/>
              <a:ext cx="101" cy="100"/>
            </a:xfrm>
            <a:prstGeom prst="ellipse">
              <a:avLst/>
            </a:prstGeom>
            <a:solidFill>
              <a:srgbClr val="003300"/>
            </a:solidFill>
            <a:ln w="50800">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1705" name="Oval 20"/>
            <p:cNvSpPr>
              <a:spLocks noChangeArrowheads="1"/>
            </p:cNvSpPr>
            <p:nvPr/>
          </p:nvSpPr>
          <p:spPr bwMode="auto">
            <a:xfrm>
              <a:off x="4354" y="3287"/>
              <a:ext cx="99" cy="99"/>
            </a:xfrm>
            <a:prstGeom prst="ellipse">
              <a:avLst/>
            </a:prstGeom>
            <a:solidFill>
              <a:srgbClr val="000080"/>
            </a:solidFill>
            <a:ln w="50800">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71706" name="Line 21"/>
            <p:cNvSpPr>
              <a:spLocks noChangeShapeType="1"/>
            </p:cNvSpPr>
            <p:nvPr/>
          </p:nvSpPr>
          <p:spPr bwMode="auto">
            <a:xfrm>
              <a:off x="3577" y="3084"/>
              <a:ext cx="812"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07" name="Text Box 22"/>
            <p:cNvSpPr txBox="1">
              <a:spLocks noChangeArrowheads="1"/>
            </p:cNvSpPr>
            <p:nvPr/>
          </p:nvSpPr>
          <p:spPr bwMode="auto">
            <a:xfrm>
              <a:off x="4364" y="2505"/>
              <a:ext cx="196"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3200" b="0">
                  <a:solidFill>
                    <a:srgbClr val="FF0000"/>
                  </a:solidFill>
                  <a:latin typeface="Times New Roman" pitchFamily="18" charset="0"/>
                </a:rPr>
                <a:t>+</a:t>
              </a:r>
              <a:endParaRPr kumimoji="1" lang="en-US" altLang="zh-CN" sz="2800">
                <a:solidFill>
                  <a:srgbClr val="FF0000"/>
                </a:solidFill>
                <a:latin typeface="Times New Roman" pitchFamily="18" charset="0"/>
              </a:endParaRPr>
            </a:p>
          </p:txBody>
        </p:sp>
        <p:sp>
          <p:nvSpPr>
            <p:cNvPr id="71708" name="Text Box 23"/>
            <p:cNvSpPr txBox="1">
              <a:spLocks noChangeArrowheads="1"/>
            </p:cNvSpPr>
            <p:nvPr/>
          </p:nvSpPr>
          <p:spPr bwMode="auto">
            <a:xfrm>
              <a:off x="5007" y="2506"/>
              <a:ext cx="194"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r>
                <a:rPr kumimoji="1" lang="en-US" altLang="zh-CN" sz="3200">
                  <a:solidFill>
                    <a:srgbClr val="0000FF"/>
                  </a:solidFill>
                  <a:latin typeface="Times New Roman" pitchFamily="18" charset="0"/>
                  <a:sym typeface="Symbol" pitchFamily="18" charset="2"/>
                </a:rPr>
                <a:t></a:t>
              </a:r>
              <a:endParaRPr kumimoji="1" lang="en-US" altLang="zh-CN" sz="2800">
                <a:solidFill>
                  <a:srgbClr val="0000FF"/>
                </a:solidFill>
                <a:latin typeface="Times New Roman" pitchFamily="18" charset="0"/>
              </a:endParaRPr>
            </a:p>
          </p:txBody>
        </p:sp>
        <p:sp>
          <p:nvSpPr>
            <p:cNvPr id="71709" name="Line 24"/>
            <p:cNvSpPr>
              <a:spLocks noChangeShapeType="1"/>
            </p:cNvSpPr>
            <p:nvPr/>
          </p:nvSpPr>
          <p:spPr bwMode="auto">
            <a:xfrm>
              <a:off x="4848" y="3120"/>
              <a:ext cx="52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71710" name="Line 25"/>
            <p:cNvSpPr>
              <a:spLocks noChangeShapeType="1"/>
            </p:cNvSpPr>
            <p:nvPr/>
          </p:nvSpPr>
          <p:spPr bwMode="auto">
            <a:xfrm>
              <a:off x="4896" y="2208"/>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71711" name="Line 26"/>
            <p:cNvSpPr>
              <a:spLocks noChangeShapeType="1"/>
            </p:cNvSpPr>
            <p:nvPr/>
          </p:nvSpPr>
          <p:spPr bwMode="auto">
            <a:xfrm>
              <a:off x="4896" y="2400"/>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71712" name="Line 27"/>
            <p:cNvSpPr>
              <a:spLocks noChangeShapeType="1"/>
            </p:cNvSpPr>
            <p:nvPr/>
          </p:nvSpPr>
          <p:spPr bwMode="auto">
            <a:xfrm>
              <a:off x="4512" y="2208"/>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71713" name="Line 28"/>
            <p:cNvSpPr>
              <a:spLocks noChangeShapeType="1"/>
            </p:cNvSpPr>
            <p:nvPr/>
          </p:nvSpPr>
          <p:spPr bwMode="auto">
            <a:xfrm>
              <a:off x="4512" y="2400"/>
              <a:ext cx="24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aphicFrame>
          <p:nvGraphicFramePr>
            <p:cNvPr id="71714" name="Object 29"/>
            <p:cNvGraphicFramePr>
              <a:graphicFrameLocks noChangeAspect="1"/>
            </p:cNvGraphicFramePr>
            <p:nvPr/>
          </p:nvGraphicFramePr>
          <p:xfrm>
            <a:off x="5149" y="2044"/>
            <a:ext cx="275" cy="308"/>
          </p:xfrm>
          <a:graphic>
            <a:graphicData uri="http://schemas.openxmlformats.org/presentationml/2006/ole">
              <mc:AlternateContent xmlns:mc="http://schemas.openxmlformats.org/markup-compatibility/2006">
                <mc:Choice xmlns:v="urn:schemas-microsoft-com:vml" Requires="v">
                  <p:oleObj spid="_x0000_s17240" name="公式" r:id="rId17" imgW="190335" imgH="215713" progId="Equations">
                    <p:embed/>
                  </p:oleObj>
                </mc:Choice>
                <mc:Fallback>
                  <p:oleObj name="公式" r:id="rId17" imgW="190335" imgH="215713" progId="Equations">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149" y="2044"/>
                          <a:ext cx="275"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15" name="Object 30"/>
            <p:cNvGraphicFramePr>
              <a:graphicFrameLocks noChangeAspect="1"/>
            </p:cNvGraphicFramePr>
            <p:nvPr/>
          </p:nvGraphicFramePr>
          <p:xfrm>
            <a:off x="5136" y="2256"/>
            <a:ext cx="275" cy="308"/>
          </p:xfrm>
          <a:graphic>
            <a:graphicData uri="http://schemas.openxmlformats.org/presentationml/2006/ole">
              <mc:AlternateContent xmlns:mc="http://schemas.openxmlformats.org/markup-compatibility/2006">
                <mc:Choice xmlns:v="urn:schemas-microsoft-com:vml" Requires="v">
                  <p:oleObj spid="_x0000_s17241" name="公式" r:id="rId19" imgW="190335" imgH="215713" progId="Equations">
                    <p:embed/>
                  </p:oleObj>
                </mc:Choice>
                <mc:Fallback>
                  <p:oleObj name="公式" r:id="rId19" imgW="190335" imgH="215713" progId="Equations">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36" y="2256"/>
                          <a:ext cx="275"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71686" name="Object 31"/>
          <p:cNvGraphicFramePr>
            <a:graphicFrameLocks noChangeAspect="1"/>
          </p:cNvGraphicFramePr>
          <p:nvPr>
            <p:extLst>
              <p:ext uri="{D42A27DB-BD31-4B8C-83A1-F6EECF244321}">
                <p14:modId xmlns:p14="http://schemas.microsoft.com/office/powerpoint/2010/main" val="313614490"/>
              </p:ext>
            </p:extLst>
          </p:nvPr>
        </p:nvGraphicFramePr>
        <p:xfrm>
          <a:off x="719403" y="1235869"/>
          <a:ext cx="2321983" cy="957262"/>
        </p:xfrm>
        <a:graphic>
          <a:graphicData uri="http://schemas.openxmlformats.org/presentationml/2006/ole">
            <mc:AlternateContent xmlns:mc="http://schemas.openxmlformats.org/markup-compatibility/2006">
              <mc:Choice xmlns:v="urn:schemas-microsoft-com:vml" Requires="v">
                <p:oleObj spid="_x0000_s17242" name="Equation" r:id="rId21" imgW="761669" imgH="418918" progId="Equation.DSMT4">
                  <p:embed/>
                </p:oleObj>
              </mc:Choice>
              <mc:Fallback>
                <p:oleObj name="Equation" r:id="rId21" imgW="761669" imgH="418918" progId="Equation.DSMT4">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19403" y="1235869"/>
                        <a:ext cx="2321983" cy="95726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687" name="Object 32"/>
          <p:cNvGraphicFramePr>
            <a:graphicFrameLocks noChangeAspect="1"/>
          </p:cNvGraphicFramePr>
          <p:nvPr>
            <p:extLst>
              <p:ext uri="{D42A27DB-BD31-4B8C-83A1-F6EECF244321}">
                <p14:modId xmlns:p14="http://schemas.microsoft.com/office/powerpoint/2010/main" val="2899476691"/>
              </p:ext>
            </p:extLst>
          </p:nvPr>
        </p:nvGraphicFramePr>
        <p:xfrm>
          <a:off x="4463819" y="1439071"/>
          <a:ext cx="1824567" cy="846137"/>
        </p:xfrm>
        <a:graphic>
          <a:graphicData uri="http://schemas.openxmlformats.org/presentationml/2006/ole">
            <mc:AlternateContent xmlns:mc="http://schemas.openxmlformats.org/markup-compatibility/2006">
              <mc:Choice xmlns:v="urn:schemas-microsoft-com:vml" Requires="v">
                <p:oleObj spid="_x0000_s17243" name="Equation" r:id="rId23" imgW="634725" imgH="393529" progId="Equation.DSMT4">
                  <p:embed/>
                </p:oleObj>
              </mc:Choice>
              <mc:Fallback>
                <p:oleObj name="Equation" r:id="rId23" imgW="634725" imgH="393529" progId="Equation.DSMT4">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463819" y="1439071"/>
                        <a:ext cx="1824567" cy="846137"/>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1688" name="Group 33"/>
          <p:cNvGrpSpPr>
            <a:grpSpLocks/>
          </p:cNvGrpSpPr>
          <p:nvPr/>
        </p:nvGrpSpPr>
        <p:grpSpPr bwMode="auto">
          <a:xfrm>
            <a:off x="7691967" y="3429000"/>
            <a:ext cx="4165600" cy="2593975"/>
            <a:chOff x="3648" y="2496"/>
            <a:chExt cx="1968" cy="1634"/>
          </a:xfrm>
        </p:grpSpPr>
        <p:pic>
          <p:nvPicPr>
            <p:cNvPr id="71689" name="Picture 34"/>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3648" y="2496"/>
              <a:ext cx="1968" cy="1248"/>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690" name="Text Box 35"/>
            <p:cNvSpPr txBox="1">
              <a:spLocks noChangeArrowheads="1"/>
            </p:cNvSpPr>
            <p:nvPr/>
          </p:nvSpPr>
          <p:spPr bwMode="auto">
            <a:xfrm>
              <a:off x="4262" y="3838"/>
              <a:ext cx="671" cy="29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algn="ctr" eaLnBrk="1" hangingPunct="1">
                <a:spcBef>
                  <a:spcPct val="20000"/>
                </a:spcBef>
              </a:pPr>
              <a:r>
                <a:rPr kumimoji="1" lang="zh-CN" altLang="en-US" sz="2400" dirty="0">
                  <a:latin typeface="Times New Roman" pitchFamily="18" charset="0"/>
                </a:rPr>
                <a:t>锗的质谱</a:t>
              </a:r>
              <a:endParaRPr kumimoji="1" lang="zh-CN" altLang="en-US" sz="3600" dirty="0">
                <a:solidFill>
                  <a:srgbClr val="FF3300"/>
                </a:solidFill>
                <a:latin typeface="Times New Roman" pitchFamily="18" charset="0"/>
                <a:ea typeface="楷体_GB2312" pitchFamily="49" charset="-122"/>
              </a:endParaRPr>
            </a:p>
          </p:txBody>
        </p:sp>
      </p:grpSp>
      <p:pic>
        <p:nvPicPr>
          <p:cNvPr id="37" name="Picture 61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19403" y="4437360"/>
            <a:ext cx="2144183"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 name="Picture 619"/>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83116" y="5637144"/>
            <a:ext cx="8352367" cy="90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3299360" y="3978426"/>
            <a:ext cx="3956833" cy="1631216"/>
          </a:xfrm>
          <a:prstGeom prst="rect">
            <a:avLst/>
          </a:prstGeom>
          <a:noFill/>
        </p:spPr>
        <p:txBody>
          <a:bodyPr wrap="square" rtlCol="0">
            <a:spAutoFit/>
          </a:bodyPr>
          <a:lstStyle/>
          <a:p>
            <a:r>
              <a:rPr lang="zh-CN" altLang="en-US" sz="2000" b="1" dirty="0" smtClean="0"/>
              <a:t>带电粒子的电荷量与其质量之比称为带电粒子</a:t>
            </a:r>
            <a:r>
              <a:rPr lang="zh-CN" altLang="en-US" sz="2000" b="1" dirty="0"/>
              <a:t>的</a:t>
            </a:r>
            <a:r>
              <a:rPr lang="zh-CN" altLang="en-US" sz="2000" b="1" dirty="0">
                <a:solidFill>
                  <a:srgbClr val="FF0000"/>
                </a:solidFill>
              </a:rPr>
              <a:t>荷质</a:t>
            </a:r>
            <a:r>
              <a:rPr lang="zh-CN" altLang="en-US" sz="2000" b="1" dirty="0" smtClean="0">
                <a:solidFill>
                  <a:srgbClr val="FF0000"/>
                </a:solidFill>
              </a:rPr>
              <a:t>比（</a:t>
            </a:r>
            <a:r>
              <a:rPr lang="zh-CN" altLang="en-US" sz="2000" b="1" dirty="0">
                <a:solidFill>
                  <a:srgbClr val="FF0000"/>
                </a:solidFill>
              </a:rPr>
              <a:t>比荷</a:t>
            </a:r>
            <a:r>
              <a:rPr lang="zh-CN" altLang="en-US" sz="2000" b="1" dirty="0" smtClean="0">
                <a:solidFill>
                  <a:srgbClr val="FF0000"/>
                </a:solidFill>
              </a:rPr>
              <a:t>）</a:t>
            </a:r>
            <a:r>
              <a:rPr lang="zh-CN" altLang="en-US" sz="2000" b="1" dirty="0" smtClean="0"/>
              <a:t>，它是反映基本粒子特征的一个重要物理量。质谱仪可以测定不同速度下的比荷。</a:t>
            </a:r>
            <a:endParaRPr lang="zh-CN" altLang="en-US" sz="2000" b="1" dirty="0"/>
          </a:p>
        </p:txBody>
      </p:sp>
    </p:spTree>
    <p:extLst>
      <p:ext uri="{BB962C8B-B14F-4D97-AF65-F5344CB8AC3E}">
        <p14:creationId xmlns:p14="http://schemas.microsoft.com/office/powerpoint/2010/main" val="6671524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8"/>
                                        </p:tgtEl>
                                        <p:attrNameLst>
                                          <p:attrName>style.visibility</p:attrName>
                                        </p:attrNameLst>
                                      </p:cBhvr>
                                      <p:to>
                                        <p:strVal val="visible"/>
                                      </p:to>
                                    </p:set>
                                    <p:anim calcmode="lin" valueType="num">
                                      <p:cBhvr additive="base">
                                        <p:cTn id="12" dur="500" fill="hold"/>
                                        <p:tgtEl>
                                          <p:spTgt spid="38"/>
                                        </p:tgtEl>
                                        <p:attrNameLst>
                                          <p:attrName>ppt_x</p:attrName>
                                        </p:attrNameLst>
                                      </p:cBhvr>
                                      <p:tavLst>
                                        <p:tav tm="0">
                                          <p:val>
                                            <p:strVal val="#ppt_x"/>
                                          </p:val>
                                        </p:tav>
                                        <p:tav tm="100000">
                                          <p:val>
                                            <p:strVal val="#ppt_x"/>
                                          </p:val>
                                        </p:tav>
                                      </p:tavLst>
                                    </p:anim>
                                    <p:anim calcmode="lin" valueType="num">
                                      <p:cBhvr additive="base">
                                        <p:cTn id="13"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2640" y="316012"/>
            <a:ext cx="10945216" cy="2773131"/>
          </a:xfrm>
          <a:prstGeom prst="rect">
            <a:avLst/>
          </a:prstGeom>
          <a:noFill/>
        </p:spPr>
        <p:txBody>
          <a:bodyPr wrap="square" rtlCol="0">
            <a:spAutoFit/>
          </a:bodyPr>
          <a:lstStyle/>
          <a:p>
            <a:pPr>
              <a:lnSpc>
                <a:spcPct val="150000"/>
              </a:lnSpc>
            </a:pPr>
            <a:r>
              <a:rPr lang="zh-CN" altLang="en-US" sz="3200" b="1" dirty="0" smtClean="0">
                <a:solidFill>
                  <a:srgbClr val="0000CC"/>
                </a:solidFill>
              </a:rPr>
              <a:t>例</a:t>
            </a:r>
            <a:r>
              <a:rPr lang="en-US" altLang="zh-CN" sz="3200" b="1" dirty="0" smtClean="0">
                <a:solidFill>
                  <a:srgbClr val="0000CC"/>
                </a:solidFill>
              </a:rPr>
              <a:t>19.3    </a:t>
            </a:r>
            <a:r>
              <a:rPr lang="zh-CN" altLang="en-US" sz="3200" b="1" dirty="0" smtClean="0">
                <a:solidFill>
                  <a:srgbClr val="0000CC"/>
                </a:solidFill>
              </a:rPr>
              <a:t>在质谱仪中锂离子的分离</a:t>
            </a:r>
            <a:endParaRPr lang="en-US" altLang="zh-CN" sz="3200" b="1" dirty="0" smtClean="0">
              <a:solidFill>
                <a:srgbClr val="0000CC"/>
              </a:solidFill>
            </a:endParaRPr>
          </a:p>
          <a:p>
            <a:pPr indent="457200">
              <a:lnSpc>
                <a:spcPct val="150000"/>
              </a:lnSpc>
              <a:spcBef>
                <a:spcPts val="600"/>
              </a:spcBef>
              <a:spcAft>
                <a:spcPts val="600"/>
              </a:spcAft>
            </a:pPr>
            <a:r>
              <a:rPr lang="zh-CN" altLang="en-US" sz="2800" b="1" dirty="0" smtClean="0"/>
              <a:t>   在质谱仪中，一束</a:t>
            </a:r>
            <a:r>
              <a:rPr lang="en-US" altLang="zh-CN" sz="2800" b="1" baseline="30000" dirty="0" smtClean="0"/>
              <a:t>6</a:t>
            </a:r>
            <a:r>
              <a:rPr lang="en-US" altLang="zh-CN" sz="2800" b="1" dirty="0" smtClean="0"/>
              <a:t>Li</a:t>
            </a:r>
            <a:r>
              <a:rPr lang="en-US" altLang="zh-CN" sz="2800" b="1" baseline="30000" dirty="0" smtClean="0"/>
              <a:t>+</a:t>
            </a:r>
            <a:r>
              <a:rPr lang="zh-CN" altLang="en-US" sz="2800" b="1" dirty="0" smtClean="0"/>
              <a:t>和</a:t>
            </a:r>
            <a:r>
              <a:rPr lang="en-US" altLang="zh-CN" sz="2800" b="1" baseline="30000" dirty="0" smtClean="0"/>
              <a:t>7</a:t>
            </a:r>
            <a:r>
              <a:rPr lang="en-US" altLang="zh-CN" sz="2800" b="1" dirty="0" smtClean="0"/>
              <a:t>Li</a:t>
            </a:r>
            <a:r>
              <a:rPr lang="en-US" altLang="zh-CN" sz="2800" b="1" baseline="30000" dirty="0" smtClean="0"/>
              <a:t>+</a:t>
            </a:r>
            <a:r>
              <a:rPr lang="zh-CN" altLang="en-US" sz="2800" b="1" dirty="0" smtClean="0"/>
              <a:t>离子通过一速度选择器以使离子都具有相同的速度。然后该粒子束进入匀强磁场区。若</a:t>
            </a:r>
            <a:r>
              <a:rPr lang="en-US" altLang="zh-CN" sz="2800" b="1" baseline="30000" dirty="0"/>
              <a:t>6</a:t>
            </a:r>
            <a:r>
              <a:rPr lang="en-US" altLang="zh-CN" sz="2800" b="1" dirty="0"/>
              <a:t>Li</a:t>
            </a:r>
            <a:r>
              <a:rPr lang="en-US" altLang="zh-CN" sz="2800" b="1" baseline="30000" dirty="0"/>
              <a:t>+</a:t>
            </a:r>
            <a:r>
              <a:rPr lang="zh-CN" altLang="en-US" sz="2800" b="1" dirty="0" smtClean="0"/>
              <a:t>离子的轨道半径是</a:t>
            </a:r>
            <a:r>
              <a:rPr lang="en-US" altLang="zh-CN" sz="2800" b="1" dirty="0" smtClean="0"/>
              <a:t>8.4cm</a:t>
            </a:r>
            <a:r>
              <a:rPr lang="zh-CN" altLang="en-US" sz="2800" b="1" dirty="0" smtClean="0"/>
              <a:t>，</a:t>
            </a:r>
            <a:r>
              <a:rPr lang="en-US" altLang="zh-CN" sz="2800" b="1" baseline="30000" dirty="0"/>
              <a:t> 7</a:t>
            </a:r>
            <a:r>
              <a:rPr lang="en-US" altLang="zh-CN" sz="2800" b="1" dirty="0"/>
              <a:t>Li</a:t>
            </a:r>
            <a:r>
              <a:rPr lang="en-US" altLang="zh-CN" sz="2800" b="1" baseline="30000" dirty="0"/>
              <a:t>+</a:t>
            </a:r>
            <a:r>
              <a:rPr lang="zh-CN" altLang="en-US" sz="2800" b="1" dirty="0" smtClean="0"/>
              <a:t>离子的轨道半径是多少？</a:t>
            </a:r>
            <a:endParaRPr lang="zh-CN" altLang="en-US" sz="2800" b="1" dirty="0"/>
          </a:p>
        </p:txBody>
      </p:sp>
      <p:graphicFrame>
        <p:nvGraphicFramePr>
          <p:cNvPr id="3" name="对象 2"/>
          <p:cNvGraphicFramePr>
            <a:graphicFrameLocks noChangeAspect="1"/>
          </p:cNvGraphicFramePr>
          <p:nvPr>
            <p:extLst>
              <p:ext uri="{D42A27DB-BD31-4B8C-83A1-F6EECF244321}">
                <p14:modId xmlns:p14="http://schemas.microsoft.com/office/powerpoint/2010/main" val="135211355"/>
              </p:ext>
            </p:extLst>
          </p:nvPr>
        </p:nvGraphicFramePr>
        <p:xfrm>
          <a:off x="1803434" y="4984486"/>
          <a:ext cx="1932517" cy="1084263"/>
        </p:xfrm>
        <a:graphic>
          <a:graphicData uri="http://schemas.openxmlformats.org/presentationml/2006/ole">
            <mc:AlternateContent xmlns:mc="http://schemas.openxmlformats.org/markup-compatibility/2006">
              <mc:Choice xmlns:v="urn:schemas-microsoft-com:vml" Requires="v">
                <p:oleObj spid="_x0000_s31818" name="Equation" r:id="rId4" imgW="558800" imgH="419100" progId="Equation.DSMT4">
                  <p:embed/>
                </p:oleObj>
              </mc:Choice>
              <mc:Fallback>
                <p:oleObj name="Equation" r:id="rId4" imgW="558800" imgH="4191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3434" y="4984486"/>
                        <a:ext cx="1932517" cy="1084263"/>
                      </a:xfrm>
                      <a:prstGeom prst="rect">
                        <a:avLst/>
                      </a:prstGeom>
                      <a:gradFill rotWithShape="0">
                        <a:gsLst>
                          <a:gs pos="0">
                            <a:schemeClr val="accent1"/>
                          </a:gs>
                          <a:gs pos="50000">
                            <a:srgbClr val="FFFFFF"/>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Box 3"/>
          <p:cNvSpPr txBox="1"/>
          <p:nvPr/>
        </p:nvSpPr>
        <p:spPr>
          <a:xfrm>
            <a:off x="1801548" y="3209529"/>
            <a:ext cx="2389452" cy="1384995"/>
          </a:xfrm>
          <a:prstGeom prst="rect">
            <a:avLst/>
          </a:prstGeom>
          <a:noFill/>
        </p:spPr>
        <p:txBody>
          <a:bodyPr wrap="square" rtlCol="0">
            <a:spAutoFit/>
          </a:bodyPr>
          <a:lstStyle/>
          <a:p>
            <a:pPr>
              <a:lnSpc>
                <a:spcPct val="150000"/>
              </a:lnSpc>
            </a:pPr>
            <a:r>
              <a:rPr lang="en-US" altLang="zh-CN" sz="2800" b="1" smtClean="0"/>
              <a:t> m</a:t>
            </a:r>
            <a:r>
              <a:rPr lang="en-US" altLang="zh-CN" sz="2800" b="1" baseline="-25000" smtClean="0"/>
              <a:t>6</a:t>
            </a:r>
            <a:r>
              <a:rPr lang="en-US" altLang="zh-CN" sz="2800" b="1" smtClean="0"/>
              <a:t>=6.015u</a:t>
            </a:r>
          </a:p>
          <a:p>
            <a:pPr>
              <a:lnSpc>
                <a:spcPct val="150000"/>
              </a:lnSpc>
            </a:pPr>
            <a:r>
              <a:rPr lang="en-US" altLang="zh-CN" sz="2800" b="1"/>
              <a:t> </a:t>
            </a:r>
            <a:r>
              <a:rPr lang="en-US" altLang="zh-CN" sz="2800" b="1" smtClean="0"/>
              <a:t>m</a:t>
            </a:r>
            <a:r>
              <a:rPr lang="en-US" altLang="zh-CN" sz="2800" b="1" baseline="-25000" smtClean="0"/>
              <a:t>7</a:t>
            </a:r>
            <a:r>
              <a:rPr lang="en-US" altLang="zh-CN" sz="2800" b="1" smtClean="0"/>
              <a:t>=7.016u</a:t>
            </a:r>
            <a:endParaRPr lang="zh-CN" altLang="en-US" sz="2800" b="1"/>
          </a:p>
        </p:txBody>
      </p:sp>
      <p:sp>
        <p:nvSpPr>
          <p:cNvPr id="5" name="TextBox 4"/>
          <p:cNvSpPr txBox="1"/>
          <p:nvPr/>
        </p:nvSpPr>
        <p:spPr>
          <a:xfrm>
            <a:off x="5245100" y="3209529"/>
            <a:ext cx="3543300" cy="1137106"/>
          </a:xfrm>
          <a:prstGeom prst="rect">
            <a:avLst/>
          </a:prstGeom>
          <a:noFill/>
        </p:spPr>
        <p:txBody>
          <a:bodyPr wrap="square" rtlCol="0">
            <a:spAutoFit/>
          </a:bodyPr>
          <a:lstStyle/>
          <a:p>
            <a:pPr>
              <a:lnSpc>
                <a:spcPct val="150000"/>
              </a:lnSpc>
            </a:pPr>
            <a:r>
              <a:rPr lang="en-US" altLang="zh-CN" sz="2400" b="1" dirty="0" smtClean="0"/>
              <a:t> u</a:t>
            </a:r>
            <a:r>
              <a:rPr lang="zh-CN" altLang="en-US" sz="2400" b="1" dirty="0" smtClean="0"/>
              <a:t>原子质量单位</a:t>
            </a:r>
            <a:r>
              <a:rPr lang="en-US" altLang="zh-CN" sz="2400" b="1" dirty="0" smtClean="0"/>
              <a:t>,</a:t>
            </a:r>
            <a:r>
              <a:rPr lang="zh-CN" altLang="en-US" sz="2400" b="1" dirty="0"/>
              <a:t>被定义为碳</a:t>
            </a:r>
            <a:r>
              <a:rPr lang="en-US" altLang="zh-CN" sz="2400" b="1" dirty="0"/>
              <a:t>12</a:t>
            </a:r>
            <a:r>
              <a:rPr lang="zh-CN" altLang="en-US" sz="2400" b="1" dirty="0"/>
              <a:t>原子质量的</a:t>
            </a:r>
            <a:r>
              <a:rPr lang="en-US" altLang="zh-CN" sz="2400" b="1" dirty="0"/>
              <a:t>1/12</a:t>
            </a:r>
            <a:r>
              <a:rPr lang="zh-CN" altLang="en-US" sz="2400" b="1" dirty="0"/>
              <a:t>。</a:t>
            </a:r>
          </a:p>
        </p:txBody>
      </p:sp>
      <p:graphicFrame>
        <p:nvGraphicFramePr>
          <p:cNvPr id="6" name="对象 5"/>
          <p:cNvGraphicFramePr>
            <a:graphicFrameLocks noChangeAspect="1"/>
          </p:cNvGraphicFramePr>
          <p:nvPr>
            <p:extLst>
              <p:ext uri="{D42A27DB-BD31-4B8C-83A1-F6EECF244321}">
                <p14:modId xmlns:p14="http://schemas.microsoft.com/office/powerpoint/2010/main" val="86055668"/>
              </p:ext>
            </p:extLst>
          </p:nvPr>
        </p:nvGraphicFramePr>
        <p:xfrm>
          <a:off x="5645150" y="4738687"/>
          <a:ext cx="1619250" cy="1342793"/>
        </p:xfrm>
        <a:graphic>
          <a:graphicData uri="http://schemas.openxmlformats.org/presentationml/2006/ole">
            <mc:AlternateContent xmlns:mc="http://schemas.openxmlformats.org/markup-compatibility/2006">
              <mc:Choice xmlns:v="urn:schemas-microsoft-com:vml" Requires="v">
                <p:oleObj spid="_x0000_s31819" name="Equation" r:id="rId6" imgW="520560" imgH="431640" progId="Equation.DSMT4">
                  <p:embed/>
                </p:oleObj>
              </mc:Choice>
              <mc:Fallback>
                <p:oleObj name="Equation" r:id="rId6" imgW="520560" imgH="431640" progId="Equation.DSMT4">
                  <p:embed/>
                  <p:pic>
                    <p:nvPicPr>
                      <p:cNvPr id="0" name=""/>
                      <p:cNvPicPr/>
                      <p:nvPr/>
                    </p:nvPicPr>
                    <p:blipFill>
                      <a:blip r:embed="rId7"/>
                      <a:stretch>
                        <a:fillRect/>
                      </a:stretch>
                    </p:blipFill>
                    <p:spPr>
                      <a:xfrm>
                        <a:off x="5645150" y="4738687"/>
                        <a:ext cx="1619250" cy="1342793"/>
                      </a:xfrm>
                      <a:prstGeom prst="rect">
                        <a:avLst/>
                      </a:prstGeom>
                    </p:spPr>
                  </p:pic>
                </p:oleObj>
              </mc:Fallback>
            </mc:AlternateContent>
          </a:graphicData>
        </a:graphic>
      </p:graphicFrame>
    </p:spTree>
    <p:extLst>
      <p:ext uri="{BB962C8B-B14F-4D97-AF65-F5344CB8AC3E}">
        <p14:creationId xmlns:p14="http://schemas.microsoft.com/office/powerpoint/2010/main" val="30958632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6012" y="1157424"/>
            <a:ext cx="5423925" cy="3970318"/>
          </a:xfrm>
          <a:prstGeom prst="rect">
            <a:avLst/>
          </a:prstGeom>
          <a:noFill/>
        </p:spPr>
        <p:txBody>
          <a:bodyPr wrap="square" rtlCol="0">
            <a:spAutoFit/>
          </a:bodyPr>
          <a:lstStyle/>
          <a:p>
            <a:pPr>
              <a:lnSpc>
                <a:spcPct val="150000"/>
              </a:lnSpc>
            </a:pPr>
            <a:r>
              <a:rPr lang="zh-CN" altLang="en-US" sz="2800" b="1" dirty="0" smtClean="0">
                <a:solidFill>
                  <a:srgbClr val="000099"/>
                </a:solidFill>
                <a:latin typeface="黑体" pitchFamily="49" charset="-122"/>
                <a:ea typeface="黑体" pitchFamily="49" charset="-122"/>
              </a:rPr>
              <a:t>应用</a:t>
            </a:r>
            <a:r>
              <a:rPr lang="en-US" altLang="zh-CN" sz="2800" b="1" dirty="0" smtClean="0">
                <a:solidFill>
                  <a:srgbClr val="000099"/>
                </a:solidFill>
                <a:latin typeface="黑体" pitchFamily="49" charset="-122"/>
                <a:ea typeface="黑体" pitchFamily="49" charset="-122"/>
              </a:rPr>
              <a:t>3</a:t>
            </a:r>
            <a:r>
              <a:rPr lang="zh-CN" altLang="en-US" sz="2800" b="1" dirty="0" smtClean="0">
                <a:solidFill>
                  <a:srgbClr val="000099"/>
                </a:solidFill>
                <a:latin typeface="黑体" pitchFamily="49" charset="-122"/>
                <a:ea typeface="黑体" pitchFamily="49" charset="-122"/>
              </a:rPr>
              <a:t>：回旋加速器</a:t>
            </a:r>
            <a:endParaRPr lang="en-US" altLang="zh-CN" sz="2800" b="1" dirty="0" smtClean="0">
              <a:solidFill>
                <a:srgbClr val="000099"/>
              </a:solidFill>
              <a:latin typeface="黑体" pitchFamily="49" charset="-122"/>
              <a:ea typeface="黑体" pitchFamily="49" charset="-122"/>
            </a:endParaRPr>
          </a:p>
          <a:p>
            <a:pPr algn="just">
              <a:lnSpc>
                <a:spcPct val="150000"/>
              </a:lnSpc>
            </a:pPr>
            <a:r>
              <a:rPr lang="zh-CN" altLang="en-US" sz="2800" b="1" dirty="0" smtClean="0">
                <a:latin typeface="+mn-ea"/>
              </a:rPr>
              <a:t>   </a:t>
            </a:r>
            <a:r>
              <a:rPr lang="en-US" altLang="zh-CN" sz="2800" b="1" dirty="0" smtClean="0">
                <a:latin typeface="+mn-ea"/>
              </a:rPr>
              <a:t>1929</a:t>
            </a:r>
            <a:r>
              <a:rPr lang="zh-CN" altLang="en-US" sz="2800" b="1" dirty="0" smtClean="0">
                <a:latin typeface="+mn-ea"/>
              </a:rPr>
              <a:t>年由美国物理学家恩奈斯特</a:t>
            </a:r>
            <a:r>
              <a:rPr lang="en-US" altLang="zh-CN" sz="2800" b="1" dirty="0" smtClean="0">
                <a:latin typeface="+mn-ea"/>
              </a:rPr>
              <a:t>·</a:t>
            </a:r>
            <a:r>
              <a:rPr lang="zh-CN" altLang="en-US" sz="2800" b="1" dirty="0" smtClean="0">
                <a:latin typeface="+mn-ea"/>
              </a:rPr>
              <a:t>劳伦斯</a:t>
            </a:r>
            <a:r>
              <a:rPr lang="zh-CN" altLang="en-US" sz="2800" b="1" dirty="0">
                <a:latin typeface="+mn-ea"/>
              </a:rPr>
              <a:t>发明，并</a:t>
            </a:r>
            <a:r>
              <a:rPr kumimoji="1" lang="zh-CN" altLang="en-US" sz="2800" b="1" dirty="0">
                <a:latin typeface="+mn-ea"/>
              </a:rPr>
              <a:t>于</a:t>
            </a:r>
            <a:r>
              <a:rPr kumimoji="1" lang="en-US" altLang="zh-CN" sz="2800" b="1" dirty="0">
                <a:latin typeface="+mn-ea"/>
              </a:rPr>
              <a:t>1939</a:t>
            </a:r>
            <a:r>
              <a:rPr kumimoji="1" lang="zh-CN" altLang="en-US" sz="2800" b="1" dirty="0">
                <a:latin typeface="+mn-ea"/>
              </a:rPr>
              <a:t>年获诺贝尔物理学奖</a:t>
            </a:r>
            <a:r>
              <a:rPr kumimoji="1" lang="zh-CN" altLang="en-US" sz="2800" b="1" dirty="0" smtClean="0">
                <a:latin typeface="+mn-ea"/>
              </a:rPr>
              <a:t>。该仪器</a:t>
            </a:r>
            <a:r>
              <a:rPr lang="zh-CN" altLang="en-US" sz="2800" b="1" dirty="0" smtClean="0">
                <a:latin typeface="+mn-ea"/>
              </a:rPr>
              <a:t>常用于实验物理学、生命科学及医学等领域。</a:t>
            </a:r>
            <a:endParaRPr lang="zh-CN" altLang="en-US" sz="2800" b="1" dirty="0"/>
          </a:p>
        </p:txBody>
      </p:sp>
      <p:pic>
        <p:nvPicPr>
          <p:cNvPr id="10" name="Picture 4" descr="g7_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19937" y="10759"/>
            <a:ext cx="6651860" cy="617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243122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stretch>
            <a:fillRect/>
          </a:stretch>
        </p:blipFill>
        <p:spPr>
          <a:xfrm>
            <a:off x="0" y="0"/>
            <a:ext cx="8066236" cy="4784883"/>
          </a:xfrm>
          <a:prstGeom prst="rect">
            <a:avLst/>
          </a:prstGeom>
        </p:spPr>
      </p:pic>
      <p:sp>
        <p:nvSpPr>
          <p:cNvPr id="3" name="Text Box 7"/>
          <p:cNvSpPr txBox="1">
            <a:spLocks noChangeArrowheads="1"/>
          </p:cNvSpPr>
          <p:nvPr/>
        </p:nvSpPr>
        <p:spPr bwMode="auto">
          <a:xfrm>
            <a:off x="2224392" y="5125971"/>
            <a:ext cx="1624460"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algn="ctr" eaLnBrk="1" hangingPunct="1">
              <a:spcBef>
                <a:spcPct val="20000"/>
              </a:spcBef>
            </a:pPr>
            <a:r>
              <a:rPr kumimoji="1" lang="zh-CN" altLang="en-US" sz="2800" dirty="0">
                <a:solidFill>
                  <a:srgbClr val="FF3300"/>
                </a:solidFill>
                <a:latin typeface="黑体" pitchFamily="49" charset="-122"/>
                <a:ea typeface="黑体" pitchFamily="49" charset="-122"/>
              </a:rPr>
              <a:t>回旋半径</a:t>
            </a:r>
          </a:p>
        </p:txBody>
      </p:sp>
      <p:graphicFrame>
        <p:nvGraphicFramePr>
          <p:cNvPr id="4" name="Object 8"/>
          <p:cNvGraphicFramePr>
            <a:graphicFrameLocks noChangeAspect="1"/>
          </p:cNvGraphicFramePr>
          <p:nvPr>
            <p:extLst/>
          </p:nvPr>
        </p:nvGraphicFramePr>
        <p:xfrm>
          <a:off x="5999990" y="4857240"/>
          <a:ext cx="1562100" cy="876300"/>
        </p:xfrm>
        <a:graphic>
          <a:graphicData uri="http://schemas.openxmlformats.org/presentationml/2006/ole">
            <mc:AlternateContent xmlns:mc="http://schemas.openxmlformats.org/markup-compatibility/2006">
              <mc:Choice xmlns:v="urn:schemas-microsoft-com:vml" Requires="v">
                <p:oleObj spid="_x0000_s18586" name="Equation" r:id="rId4" imgW="558800" imgH="419100" progId="Equation.DSMT4">
                  <p:embed/>
                </p:oleObj>
              </mc:Choice>
              <mc:Fallback>
                <p:oleObj name="Equation" r:id="rId4" imgW="558800" imgH="4191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99990" y="4857240"/>
                        <a:ext cx="1562100" cy="876300"/>
                      </a:xfrm>
                      <a:prstGeom prst="rect">
                        <a:avLst/>
                      </a:prstGeom>
                      <a:gradFill rotWithShape="0">
                        <a:gsLst>
                          <a:gs pos="0">
                            <a:schemeClr val="accent1"/>
                          </a:gs>
                          <a:gs pos="50000">
                            <a:srgbClr val="FFFFFF"/>
                          </a:gs>
                          <a:gs pos="100000">
                            <a:schemeClr val="accent1"/>
                          </a:gs>
                        </a:gsLst>
                        <a:lin ang="5400000" scaled="1"/>
                      </a:gradFill>
                    </p:spPr>
                  </p:pic>
                </p:oleObj>
              </mc:Fallback>
            </mc:AlternateContent>
          </a:graphicData>
        </a:graphic>
      </p:graphicFrame>
      <p:sp>
        <p:nvSpPr>
          <p:cNvPr id="5" name="Text Box 9"/>
          <p:cNvSpPr txBox="1">
            <a:spLocks noChangeArrowheads="1"/>
          </p:cNvSpPr>
          <p:nvPr/>
        </p:nvSpPr>
        <p:spPr bwMode="auto">
          <a:xfrm>
            <a:off x="2224392" y="6067415"/>
            <a:ext cx="1624460"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algn="ctr" eaLnBrk="1" hangingPunct="1">
              <a:spcBef>
                <a:spcPct val="20000"/>
              </a:spcBef>
            </a:pPr>
            <a:r>
              <a:rPr kumimoji="1" lang="zh-CN" altLang="en-US" sz="2800" dirty="0">
                <a:solidFill>
                  <a:srgbClr val="FF3300"/>
                </a:solidFill>
                <a:latin typeface="黑体" pitchFamily="49" charset="-122"/>
                <a:ea typeface="黑体" pitchFamily="49" charset="-122"/>
              </a:rPr>
              <a:t>回旋周期</a:t>
            </a:r>
          </a:p>
        </p:txBody>
      </p:sp>
      <p:graphicFrame>
        <p:nvGraphicFramePr>
          <p:cNvPr id="6" name="Object 10"/>
          <p:cNvGraphicFramePr>
            <a:graphicFrameLocks noChangeAspect="1"/>
          </p:cNvGraphicFramePr>
          <p:nvPr>
            <p:extLst/>
          </p:nvPr>
        </p:nvGraphicFramePr>
        <p:xfrm>
          <a:off x="4609964" y="5880854"/>
          <a:ext cx="4739216" cy="898525"/>
        </p:xfrm>
        <a:graphic>
          <a:graphicData uri="http://schemas.openxmlformats.org/presentationml/2006/ole">
            <mc:AlternateContent xmlns:mc="http://schemas.openxmlformats.org/markup-compatibility/2006">
              <mc:Choice xmlns:v="urn:schemas-microsoft-com:vml" Requires="v">
                <p:oleObj spid="_x0000_s18587" name="Equation" r:id="rId6" imgW="1701800" imgH="431800" progId="Equation.DSMT4">
                  <p:embed/>
                </p:oleObj>
              </mc:Choice>
              <mc:Fallback>
                <p:oleObj name="Equation" r:id="rId6" imgW="1701800" imgH="4318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09964" y="5880854"/>
                        <a:ext cx="4739216" cy="89852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Box 6"/>
          <p:cNvSpPr txBox="1"/>
          <p:nvPr/>
        </p:nvSpPr>
        <p:spPr>
          <a:xfrm>
            <a:off x="8066236" y="285620"/>
            <a:ext cx="3720756" cy="4524315"/>
          </a:xfrm>
          <a:prstGeom prst="rect">
            <a:avLst/>
          </a:prstGeom>
          <a:noFill/>
        </p:spPr>
        <p:txBody>
          <a:bodyPr wrap="square" rtlCol="0">
            <a:spAutoFit/>
          </a:bodyPr>
          <a:lstStyle/>
          <a:p>
            <a:r>
              <a:rPr lang="zh-CN" altLang="en-US" b="1" dirty="0" smtClean="0"/>
              <a:t>图</a:t>
            </a:r>
            <a:r>
              <a:rPr lang="en-US" altLang="zh-CN" b="1" dirty="0" smtClean="0"/>
              <a:t>19.17  </a:t>
            </a:r>
            <a:r>
              <a:rPr lang="zh-CN" altLang="en-US" b="1" dirty="0" smtClean="0"/>
              <a:t>回旋加速器</a:t>
            </a:r>
            <a:r>
              <a:rPr lang="zh-CN" altLang="en-US" b="1" dirty="0"/>
              <a:t>示意图。两个中空的金属壳根据它们的形状称为 </a:t>
            </a:r>
            <a:r>
              <a:rPr lang="en-US" altLang="zh-CN" b="1" dirty="0"/>
              <a:t>D </a:t>
            </a:r>
            <a:r>
              <a:rPr lang="zh-CN" altLang="en-US" b="1" dirty="0"/>
              <a:t>形盒（像字母 “</a:t>
            </a:r>
            <a:r>
              <a:rPr lang="en-US" altLang="zh-CN" b="1" dirty="0"/>
              <a:t>D”</a:t>
            </a:r>
            <a:r>
              <a:rPr lang="zh-CN" altLang="en-US" b="1" dirty="0"/>
              <a:t>）。</a:t>
            </a:r>
            <a:r>
              <a:rPr lang="en-US" altLang="zh-CN" b="1" dirty="0"/>
              <a:t>D </a:t>
            </a:r>
            <a:r>
              <a:rPr lang="zh-CN" altLang="en-US" b="1" dirty="0"/>
              <a:t>形盒被放置在一个大电磁铁的两极之间，并且 </a:t>
            </a:r>
            <a:r>
              <a:rPr lang="en-US" altLang="zh-CN" b="1" dirty="0"/>
              <a:t>D </a:t>
            </a:r>
            <a:r>
              <a:rPr lang="zh-CN" altLang="en-US" b="1" dirty="0"/>
              <a:t>形盒内的质子受外加磁场的</a:t>
            </a:r>
            <a:r>
              <a:rPr lang="zh-CN" altLang="en-US" b="1" dirty="0" smtClean="0"/>
              <a:t>作用</a:t>
            </a:r>
            <a:r>
              <a:rPr lang="zh-CN" altLang="en-US" b="1" dirty="0"/>
              <a:t>而沿着一圆形路径运动。在 </a:t>
            </a:r>
            <a:r>
              <a:rPr lang="en-US" altLang="zh-CN" b="1" dirty="0"/>
              <a:t>D </a:t>
            </a:r>
            <a:r>
              <a:rPr lang="zh-CN" altLang="en-US" b="1" dirty="0"/>
              <a:t>形盒内没有电场，通过给 </a:t>
            </a:r>
            <a:r>
              <a:rPr lang="en-US" altLang="zh-CN" b="1" dirty="0"/>
              <a:t>D </a:t>
            </a:r>
            <a:r>
              <a:rPr lang="zh-CN" altLang="en-US" b="1" dirty="0"/>
              <a:t>形盒加上一个交变电压在 </a:t>
            </a:r>
            <a:r>
              <a:rPr lang="en-US" altLang="zh-CN" b="1" dirty="0"/>
              <a:t>D </a:t>
            </a:r>
            <a:r>
              <a:rPr lang="zh-CN" altLang="en-US" b="1" dirty="0"/>
              <a:t>形盒之间的间隙中产生电场。选择所加电压的频率，使得每次质子穿过间隙都沿电场</a:t>
            </a:r>
            <a:r>
              <a:rPr lang="zh-CN" altLang="en-US" b="1" dirty="0" smtClean="0"/>
              <a:t>方向</a:t>
            </a:r>
            <a:r>
              <a:rPr lang="zh-CN" altLang="en-US" b="1" dirty="0"/>
              <a:t>运动并因此获得动能。动能越大，质子的轨道半径就越大。经过多圈后，当质子达到 </a:t>
            </a:r>
            <a:r>
              <a:rPr lang="en-US" altLang="zh-CN" b="1" dirty="0"/>
              <a:t>D </a:t>
            </a:r>
            <a:r>
              <a:rPr lang="zh-CN" altLang="en-US" b="1" dirty="0"/>
              <a:t>形盒的最大半径时，将它们从回旋加速器引出并用这样的高能质子束去轰击一些靶目标。 </a:t>
            </a:r>
          </a:p>
        </p:txBody>
      </p:sp>
    </p:spTree>
    <p:extLst>
      <p:ext uri="{BB962C8B-B14F-4D97-AF65-F5344CB8AC3E}">
        <p14:creationId xmlns:p14="http://schemas.microsoft.com/office/powerpoint/2010/main" val="38811304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5"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p:cNvSpPr txBox="1">
            <a:spLocks noChangeArrowheads="1"/>
          </p:cNvSpPr>
          <p:nvPr/>
        </p:nvSpPr>
        <p:spPr bwMode="auto">
          <a:xfrm>
            <a:off x="31419" y="4423611"/>
            <a:ext cx="105664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lnSpc>
                <a:spcPct val="125000"/>
              </a:lnSpc>
              <a:buFontTx/>
              <a:buChar char="•"/>
            </a:pPr>
            <a:r>
              <a:rPr kumimoji="1" lang="zh-CN" altLang="en-US" sz="2800" dirty="0">
                <a:solidFill>
                  <a:srgbClr val="FF3300"/>
                </a:solidFill>
                <a:latin typeface="黑体" pitchFamily="49" charset="-122"/>
                <a:ea typeface="黑体" pitchFamily="49" charset="-122"/>
              </a:rPr>
              <a:t>结构：</a:t>
            </a:r>
            <a:endParaRPr kumimoji="1" lang="zh-CN" altLang="en-US" sz="2800" dirty="0">
              <a:latin typeface="黑体" pitchFamily="49" charset="-122"/>
              <a:ea typeface="黑体" pitchFamily="49" charset="-122"/>
            </a:endParaRPr>
          </a:p>
          <a:p>
            <a:pPr lvl="1" eaLnBrk="1" hangingPunct="1">
              <a:lnSpc>
                <a:spcPct val="125000"/>
              </a:lnSpc>
            </a:pPr>
            <a:r>
              <a:rPr kumimoji="1" lang="zh-CN" altLang="en-US" sz="2800" dirty="0">
                <a:latin typeface="黑体" pitchFamily="49" charset="-122"/>
                <a:ea typeface="黑体" pitchFamily="49" charset="-122"/>
              </a:rPr>
              <a:t>密封在真空中的两个金属盒（</a:t>
            </a:r>
            <a:r>
              <a:rPr kumimoji="1" lang="en-US" altLang="zh-CN" sz="2800" dirty="0">
                <a:latin typeface="黑体" pitchFamily="49" charset="-122"/>
                <a:ea typeface="黑体" pitchFamily="49" charset="-122"/>
              </a:rPr>
              <a:t>D</a:t>
            </a:r>
            <a:r>
              <a:rPr kumimoji="1" lang="en-US" altLang="zh-CN" sz="2800" baseline="-25000" dirty="0">
                <a:latin typeface="黑体" pitchFamily="49" charset="-122"/>
                <a:ea typeface="黑体" pitchFamily="49" charset="-122"/>
              </a:rPr>
              <a:t>1</a:t>
            </a:r>
            <a:r>
              <a:rPr kumimoji="1" lang="zh-CN" altLang="en-US" sz="2800" dirty="0">
                <a:latin typeface="黑体" pitchFamily="49" charset="-122"/>
                <a:ea typeface="黑体" pitchFamily="49" charset="-122"/>
              </a:rPr>
              <a:t>和</a:t>
            </a:r>
            <a:r>
              <a:rPr kumimoji="1" lang="en-US" altLang="zh-CN" sz="2800" dirty="0">
                <a:latin typeface="黑体" pitchFamily="49" charset="-122"/>
                <a:ea typeface="黑体" pitchFamily="49" charset="-122"/>
              </a:rPr>
              <a:t>D</a:t>
            </a:r>
            <a:r>
              <a:rPr kumimoji="1" lang="en-US" altLang="zh-CN" sz="2800" baseline="-25000" dirty="0">
                <a:latin typeface="黑体" pitchFamily="49" charset="-122"/>
                <a:ea typeface="黑体" pitchFamily="49" charset="-122"/>
              </a:rPr>
              <a:t>2</a:t>
            </a:r>
            <a:r>
              <a:rPr kumimoji="1" lang="zh-CN" altLang="en-US" sz="2800" dirty="0">
                <a:latin typeface="黑体" pitchFamily="49" charset="-122"/>
                <a:ea typeface="黑体" pitchFamily="49" charset="-122"/>
              </a:rPr>
              <a:t>）放在电磁铁两极间的强大磁场中，两盒间接有交流电源，它</a:t>
            </a:r>
            <a:r>
              <a:rPr kumimoji="1" lang="zh-CN" altLang="en-US" sz="2800" dirty="0">
                <a:solidFill>
                  <a:srgbClr val="FF0000"/>
                </a:solidFill>
                <a:latin typeface="黑体" pitchFamily="49" charset="-122"/>
                <a:ea typeface="黑体" pitchFamily="49" charset="-122"/>
              </a:rPr>
              <a:t>在缝隙里的交变电场用以加速带电粒子</a:t>
            </a:r>
            <a:r>
              <a:rPr kumimoji="1" lang="zh-CN" altLang="en-US" sz="2800" dirty="0">
                <a:latin typeface="黑体" pitchFamily="49" charset="-122"/>
                <a:ea typeface="黑体" pitchFamily="49" charset="-122"/>
              </a:rPr>
              <a:t>。</a:t>
            </a:r>
          </a:p>
        </p:txBody>
      </p:sp>
      <p:sp>
        <p:nvSpPr>
          <p:cNvPr id="73731" name="Text Box 3"/>
          <p:cNvSpPr txBox="1">
            <a:spLocks noChangeArrowheads="1"/>
          </p:cNvSpPr>
          <p:nvPr/>
        </p:nvSpPr>
        <p:spPr bwMode="auto">
          <a:xfrm>
            <a:off x="-38431" y="323088"/>
            <a:ext cx="7226300" cy="226106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defRPr b="1">
                <a:solidFill>
                  <a:schemeClr val="tx1"/>
                </a:solidFill>
                <a:latin typeface="Arial" pitchFamily="34" charset="0"/>
                <a:ea typeface="宋体" pitchFamily="2" charset="-122"/>
              </a:defRPr>
            </a:lvl1pPr>
            <a:lvl2pPr>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lnSpc>
                <a:spcPct val="125000"/>
              </a:lnSpc>
              <a:spcBef>
                <a:spcPct val="20000"/>
              </a:spcBef>
              <a:buFontTx/>
              <a:buChar char="•"/>
            </a:pPr>
            <a:r>
              <a:rPr kumimoji="1" lang="zh-CN" altLang="en-US" sz="2800" dirty="0">
                <a:solidFill>
                  <a:srgbClr val="FF3300"/>
                </a:solidFill>
                <a:latin typeface="黑体" pitchFamily="49" charset="-122"/>
                <a:ea typeface="黑体" pitchFamily="49" charset="-122"/>
              </a:rPr>
              <a:t>目的：</a:t>
            </a:r>
          </a:p>
          <a:p>
            <a:pPr lvl="1" eaLnBrk="1" hangingPunct="1">
              <a:lnSpc>
                <a:spcPct val="125000"/>
              </a:lnSpc>
              <a:spcBef>
                <a:spcPct val="20000"/>
              </a:spcBef>
            </a:pPr>
            <a:r>
              <a:rPr kumimoji="1" lang="zh-CN" altLang="en-US" sz="2800" dirty="0">
                <a:latin typeface="黑体" pitchFamily="49" charset="-122"/>
                <a:ea typeface="黑体" pitchFamily="49" charset="-122"/>
              </a:rPr>
              <a:t>用来获得高能带电粒子</a:t>
            </a:r>
            <a:r>
              <a:rPr kumimoji="1" lang="en-US" altLang="zh-CN" sz="2800" dirty="0">
                <a:latin typeface="黑体" pitchFamily="49" charset="-122"/>
                <a:ea typeface="黑体" pitchFamily="49" charset="-122"/>
              </a:rPr>
              <a:t>——</a:t>
            </a:r>
            <a:r>
              <a:rPr kumimoji="1" lang="zh-CN" altLang="en-US" sz="2800" dirty="0">
                <a:latin typeface="黑体" pitchFamily="49" charset="-122"/>
                <a:ea typeface="黑体" pitchFamily="49" charset="-122"/>
              </a:rPr>
              <a:t>轰击原子核或其它粒子，观察其中的反应，研究原子核或其它粒子的性质。</a:t>
            </a:r>
          </a:p>
        </p:txBody>
      </p:sp>
      <p:sp>
        <p:nvSpPr>
          <p:cNvPr id="73732" name="Text Box 4"/>
          <p:cNvSpPr txBox="1">
            <a:spLocks noChangeArrowheads="1"/>
          </p:cNvSpPr>
          <p:nvPr/>
        </p:nvSpPr>
        <p:spPr bwMode="auto">
          <a:xfrm>
            <a:off x="0" y="2561231"/>
            <a:ext cx="6908800" cy="172246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defRPr b="1">
                <a:solidFill>
                  <a:schemeClr val="tx1"/>
                </a:solidFill>
                <a:latin typeface="Arial" pitchFamily="34" charset="0"/>
                <a:ea typeface="宋体" pitchFamily="2" charset="-122"/>
              </a:defRPr>
            </a:lvl1pPr>
            <a:lvl2pPr>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lnSpc>
                <a:spcPct val="125000"/>
              </a:lnSpc>
              <a:spcBef>
                <a:spcPct val="20000"/>
              </a:spcBef>
              <a:buFontTx/>
              <a:buChar char="•"/>
            </a:pPr>
            <a:r>
              <a:rPr kumimoji="1" lang="zh-CN" altLang="en-US" sz="2800" dirty="0">
                <a:solidFill>
                  <a:srgbClr val="FF3300"/>
                </a:solidFill>
                <a:latin typeface="黑体" pitchFamily="49" charset="-122"/>
                <a:ea typeface="黑体" pitchFamily="49" charset="-122"/>
              </a:rPr>
              <a:t>原理：</a:t>
            </a:r>
            <a:endParaRPr kumimoji="1" lang="zh-CN" altLang="en-US" sz="2800" dirty="0">
              <a:latin typeface="黑体" pitchFamily="49" charset="-122"/>
              <a:ea typeface="黑体" pitchFamily="49" charset="-122"/>
            </a:endParaRPr>
          </a:p>
          <a:p>
            <a:pPr lvl="1" eaLnBrk="1" hangingPunct="1">
              <a:lnSpc>
                <a:spcPct val="125000"/>
              </a:lnSpc>
              <a:spcBef>
                <a:spcPct val="20000"/>
              </a:spcBef>
            </a:pPr>
            <a:r>
              <a:rPr kumimoji="1" lang="zh-CN" altLang="en-US" sz="2800" dirty="0">
                <a:latin typeface="黑体" pitchFamily="49" charset="-122"/>
                <a:ea typeface="黑体" pitchFamily="49" charset="-122"/>
              </a:rPr>
              <a:t>使带电粒子在电场与磁场作用下，往复加速达到高能。</a:t>
            </a:r>
          </a:p>
        </p:txBody>
      </p:sp>
      <p:pic>
        <p:nvPicPr>
          <p:cNvPr id="73733"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05570" y="1196752"/>
            <a:ext cx="4910569" cy="3725616"/>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00657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p:cNvSpPr txBox="1">
            <a:spLocks noChangeArrowheads="1"/>
          </p:cNvSpPr>
          <p:nvPr/>
        </p:nvSpPr>
        <p:spPr bwMode="auto">
          <a:xfrm>
            <a:off x="527051" y="260350"/>
            <a:ext cx="7412567" cy="2785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lnSpc>
                <a:spcPct val="125000"/>
              </a:lnSpc>
            </a:pPr>
            <a:r>
              <a:rPr kumimoji="1" lang="zh-CN" altLang="en-US" sz="2800" dirty="0">
                <a:latin typeface="Times New Roman" pitchFamily="18" charset="0"/>
                <a:ea typeface="黑体" pitchFamily="49" charset="-122"/>
                <a:cs typeface="Times New Roman" pitchFamily="18" charset="0"/>
              </a:rPr>
              <a:t>交变电场的周期恰好为回旋周期时</a:t>
            </a:r>
            <a:r>
              <a:rPr kumimoji="1" lang="en-US" altLang="zh-CN" sz="2800" dirty="0">
                <a:latin typeface="Times New Roman" pitchFamily="18" charset="0"/>
                <a:ea typeface="黑体" pitchFamily="49" charset="-122"/>
                <a:cs typeface="Times New Roman" pitchFamily="18" charset="0"/>
              </a:rPr>
              <a:t>——</a:t>
            </a:r>
            <a:r>
              <a:rPr kumimoji="1" lang="zh-CN" altLang="en-US" sz="2800" dirty="0">
                <a:latin typeface="Times New Roman" pitchFamily="18" charset="0"/>
                <a:ea typeface="黑体" pitchFamily="49" charset="-122"/>
                <a:cs typeface="Times New Roman" pitchFamily="18" charset="0"/>
              </a:rPr>
              <a:t>粒子绕过半圈恰好电场反向，粒子又被加速</a:t>
            </a:r>
            <a:r>
              <a:rPr kumimoji="1" lang="zh-CN" altLang="en-US" sz="2800" dirty="0" smtClean="0">
                <a:latin typeface="Times New Roman" pitchFamily="18" charset="0"/>
                <a:ea typeface="黑体" pitchFamily="49" charset="-122"/>
                <a:cs typeface="Times New Roman" pitchFamily="18" charset="0"/>
              </a:rPr>
              <a:t>。</a:t>
            </a:r>
            <a:endParaRPr kumimoji="1" lang="en-US" altLang="zh-CN" sz="2800" dirty="0">
              <a:latin typeface="Times New Roman" pitchFamily="18" charset="0"/>
              <a:ea typeface="黑体" pitchFamily="49" charset="-122"/>
              <a:cs typeface="Times New Roman" pitchFamily="18" charset="0"/>
            </a:endParaRPr>
          </a:p>
          <a:p>
            <a:pPr eaLnBrk="1" hangingPunct="1">
              <a:lnSpc>
                <a:spcPct val="125000"/>
              </a:lnSpc>
            </a:pPr>
            <a:r>
              <a:rPr kumimoji="1" lang="zh-CN" altLang="en-US" sz="2800" dirty="0">
                <a:latin typeface="Times New Roman" pitchFamily="18" charset="0"/>
                <a:ea typeface="黑体" pitchFamily="49" charset="-122"/>
                <a:cs typeface="Times New Roman" pitchFamily="18" charset="0"/>
              </a:rPr>
              <a:t>因为</a:t>
            </a:r>
            <a:r>
              <a:rPr kumimoji="1" lang="zh-CN" altLang="en-US" sz="2800" dirty="0">
                <a:solidFill>
                  <a:srgbClr val="FF0000"/>
                </a:solidFill>
                <a:latin typeface="Times New Roman" pitchFamily="18" charset="0"/>
                <a:ea typeface="黑体" pitchFamily="49" charset="-122"/>
                <a:cs typeface="Times New Roman" pitchFamily="18" charset="0"/>
              </a:rPr>
              <a:t>回旋周期与半径无关</a:t>
            </a:r>
            <a:r>
              <a:rPr kumimoji="1" lang="zh-CN" altLang="en-US" sz="2800" dirty="0">
                <a:latin typeface="Times New Roman" pitchFamily="18" charset="0"/>
                <a:ea typeface="黑体" pitchFamily="49" charset="-122"/>
                <a:cs typeface="Times New Roman" pitchFamily="18" charset="0"/>
              </a:rPr>
              <a:t>，所以粒子可被反复加速</a:t>
            </a:r>
            <a:r>
              <a:rPr kumimoji="1" lang="zh-CN" altLang="en-US" sz="2800" dirty="0" smtClean="0">
                <a:latin typeface="Times New Roman" pitchFamily="18" charset="0"/>
                <a:ea typeface="黑体" pitchFamily="49" charset="-122"/>
                <a:cs typeface="Times New Roman" pitchFamily="18" charset="0"/>
              </a:rPr>
              <a:t>，最后粒子以很高的速度从回旋加速器引出，从而获得高能粒子束进行试验工作。</a:t>
            </a:r>
            <a:endParaRPr kumimoji="1" lang="zh-CN" altLang="en-US" sz="2800" dirty="0">
              <a:latin typeface="Times New Roman" pitchFamily="18" charset="0"/>
              <a:ea typeface="黑体" pitchFamily="49" charset="-122"/>
              <a:cs typeface="Times New Roman" pitchFamily="18" charset="0"/>
            </a:endParaRPr>
          </a:p>
        </p:txBody>
      </p:sp>
      <p:pic>
        <p:nvPicPr>
          <p:cNvPr id="74755"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15818" y="304800"/>
            <a:ext cx="4017433" cy="3048000"/>
          </a:xfrm>
          <a:prstGeom prst="rect">
            <a:avLst/>
          </a:prstGeom>
          <a:solidFill>
            <a:srgbClr val="FFFF66"/>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4756" name="Text Box 4"/>
          <p:cNvSpPr txBox="1">
            <a:spLocks noChangeArrowheads="1"/>
          </p:cNvSpPr>
          <p:nvPr/>
        </p:nvSpPr>
        <p:spPr bwMode="auto">
          <a:xfrm>
            <a:off x="527050" y="3407655"/>
            <a:ext cx="1624460"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20000"/>
              </a:spcBef>
            </a:pPr>
            <a:r>
              <a:rPr kumimoji="1" lang="zh-CN" altLang="en-US" sz="2800" dirty="0">
                <a:solidFill>
                  <a:srgbClr val="3333FF"/>
                </a:solidFill>
                <a:latin typeface="Times New Roman" pitchFamily="18" charset="0"/>
                <a:ea typeface="黑体" pitchFamily="49" charset="-122"/>
                <a:cs typeface="Times New Roman" pitchFamily="18" charset="0"/>
              </a:rPr>
              <a:t>回旋频率</a:t>
            </a:r>
          </a:p>
        </p:txBody>
      </p:sp>
      <p:graphicFrame>
        <p:nvGraphicFramePr>
          <p:cNvPr id="74757" name="Object 5"/>
          <p:cNvGraphicFramePr>
            <a:graphicFrameLocks noChangeAspect="1"/>
          </p:cNvGraphicFramePr>
          <p:nvPr>
            <p:extLst>
              <p:ext uri="{D42A27DB-BD31-4B8C-83A1-F6EECF244321}">
                <p14:modId xmlns:p14="http://schemas.microsoft.com/office/powerpoint/2010/main" val="1659467099"/>
              </p:ext>
            </p:extLst>
          </p:nvPr>
        </p:nvGraphicFramePr>
        <p:xfrm>
          <a:off x="4079776" y="3341314"/>
          <a:ext cx="1727200" cy="817563"/>
        </p:xfrm>
        <a:graphic>
          <a:graphicData uri="http://schemas.openxmlformats.org/presentationml/2006/ole">
            <mc:AlternateContent xmlns:mc="http://schemas.openxmlformats.org/markup-compatibility/2006">
              <mc:Choice xmlns:v="urn:schemas-microsoft-com:vml" Requires="v">
                <p:oleObj spid="_x0000_s19688" name="Equation" r:id="rId5" imgW="622030" imgH="393529" progId="Equation.DSMT4">
                  <p:embed/>
                </p:oleObj>
              </mc:Choice>
              <mc:Fallback>
                <p:oleObj name="Equation" r:id="rId5" imgW="622030" imgH="393529"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9776" y="3341314"/>
                        <a:ext cx="1727200" cy="81756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4758" name="Text Box 6"/>
          <p:cNvSpPr txBox="1">
            <a:spLocks noChangeArrowheads="1"/>
          </p:cNvSpPr>
          <p:nvPr/>
        </p:nvSpPr>
        <p:spPr bwMode="auto">
          <a:xfrm>
            <a:off x="47328" y="4190311"/>
            <a:ext cx="9286814"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20000"/>
              </a:spcBef>
            </a:pPr>
            <a:r>
              <a:rPr kumimoji="1" lang="zh-CN" altLang="en-US" sz="2800" dirty="0">
                <a:latin typeface="Times New Roman" pitchFamily="18" charset="0"/>
                <a:ea typeface="黑体" pitchFamily="49" charset="-122"/>
                <a:cs typeface="Times New Roman" pitchFamily="18" charset="0"/>
              </a:rPr>
              <a:t>当粒子到达半圆边缘时，粒子的速率为（ </a:t>
            </a:r>
            <a:r>
              <a:rPr kumimoji="1" lang="en-US" altLang="zh-CN" sz="2800" i="1" dirty="0">
                <a:latin typeface="Times New Roman" pitchFamily="18" charset="0"/>
                <a:ea typeface="黑体" pitchFamily="49" charset="-122"/>
                <a:cs typeface="Times New Roman" pitchFamily="18" charset="0"/>
              </a:rPr>
              <a:t>R</a:t>
            </a:r>
            <a:r>
              <a:rPr kumimoji="1" lang="en-US" altLang="zh-CN" sz="2800" baseline="-25000" dirty="0">
                <a:latin typeface="Times New Roman" pitchFamily="18" charset="0"/>
                <a:ea typeface="黑体" pitchFamily="49" charset="-122"/>
                <a:cs typeface="Times New Roman" pitchFamily="18" charset="0"/>
              </a:rPr>
              <a:t>0</a:t>
            </a:r>
            <a:r>
              <a:rPr kumimoji="1" lang="zh-CN" altLang="en-US" sz="2800" dirty="0">
                <a:latin typeface="Times New Roman" pitchFamily="18" charset="0"/>
                <a:ea typeface="黑体" pitchFamily="49" charset="-122"/>
                <a:cs typeface="Times New Roman" pitchFamily="18" charset="0"/>
              </a:rPr>
              <a:t>为最大半径）</a:t>
            </a:r>
          </a:p>
        </p:txBody>
      </p:sp>
      <p:graphicFrame>
        <p:nvGraphicFramePr>
          <p:cNvPr id="74759" name="Object 7"/>
          <p:cNvGraphicFramePr>
            <a:graphicFrameLocks noChangeAspect="1"/>
          </p:cNvGraphicFramePr>
          <p:nvPr>
            <p:extLst>
              <p:ext uri="{D42A27DB-BD31-4B8C-83A1-F6EECF244321}">
                <p14:modId xmlns:p14="http://schemas.microsoft.com/office/powerpoint/2010/main" val="315642401"/>
              </p:ext>
            </p:extLst>
          </p:nvPr>
        </p:nvGraphicFramePr>
        <p:xfrm>
          <a:off x="4655840" y="4715713"/>
          <a:ext cx="1824203" cy="884145"/>
        </p:xfrm>
        <a:graphic>
          <a:graphicData uri="http://schemas.openxmlformats.org/presentationml/2006/ole">
            <mc:AlternateContent xmlns:mc="http://schemas.openxmlformats.org/markup-compatibility/2006">
              <mc:Choice xmlns:v="urn:schemas-microsoft-com:vml" Requires="v">
                <p:oleObj spid="_x0000_s19689" name="Equation" r:id="rId7" imgW="609336" imgH="393529" progId="Equation.DSMT4">
                  <p:embed/>
                </p:oleObj>
              </mc:Choice>
              <mc:Fallback>
                <p:oleObj name="Equation" r:id="rId7" imgW="609336" imgH="393529"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55840" y="4715713"/>
                        <a:ext cx="1824203" cy="88414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4760" name="Text Box 8"/>
          <p:cNvSpPr txBox="1">
            <a:spLocks noChangeArrowheads="1"/>
          </p:cNvSpPr>
          <p:nvPr/>
        </p:nvSpPr>
        <p:spPr bwMode="auto">
          <a:xfrm>
            <a:off x="527050" y="5704960"/>
            <a:ext cx="1624460"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20000"/>
              </a:spcBef>
            </a:pPr>
            <a:r>
              <a:rPr kumimoji="1" lang="zh-CN" altLang="en-US" sz="2800" dirty="0">
                <a:solidFill>
                  <a:srgbClr val="3333FF"/>
                </a:solidFill>
                <a:latin typeface="Times New Roman" pitchFamily="18" charset="0"/>
                <a:ea typeface="黑体" pitchFamily="49" charset="-122"/>
                <a:cs typeface="Times New Roman" pitchFamily="18" charset="0"/>
              </a:rPr>
              <a:t>粒子动能</a:t>
            </a:r>
          </a:p>
        </p:txBody>
      </p:sp>
      <p:graphicFrame>
        <p:nvGraphicFramePr>
          <p:cNvPr id="74761" name="Object 9"/>
          <p:cNvGraphicFramePr>
            <a:graphicFrameLocks noChangeAspect="1"/>
          </p:cNvGraphicFramePr>
          <p:nvPr>
            <p:extLst>
              <p:ext uri="{D42A27DB-BD31-4B8C-83A1-F6EECF244321}">
                <p14:modId xmlns:p14="http://schemas.microsoft.com/office/powerpoint/2010/main" val="1597543171"/>
              </p:ext>
            </p:extLst>
          </p:nvPr>
        </p:nvGraphicFramePr>
        <p:xfrm>
          <a:off x="2692997" y="5589240"/>
          <a:ext cx="6485467" cy="984250"/>
        </p:xfrm>
        <a:graphic>
          <a:graphicData uri="http://schemas.openxmlformats.org/presentationml/2006/ole">
            <mc:AlternateContent xmlns:mc="http://schemas.openxmlformats.org/markup-compatibility/2006">
              <mc:Choice xmlns:v="urn:schemas-microsoft-com:vml" Requires="v">
                <p:oleObj spid="_x0000_s19690" name="Equation" r:id="rId9" imgW="2324100" imgH="469900" progId="Equation.DSMT4">
                  <p:embed/>
                </p:oleObj>
              </mc:Choice>
              <mc:Fallback>
                <p:oleObj name="Equation" r:id="rId9" imgW="2324100" imgH="4699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92997" y="5589240"/>
                        <a:ext cx="6485467" cy="98425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6464523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a:xfrm>
            <a:off x="374737" y="327548"/>
            <a:ext cx="10515600" cy="874952"/>
          </a:xfrm>
        </p:spPr>
        <p:txBody>
          <a:bodyPr>
            <a:normAutofit/>
          </a:bodyPr>
          <a:lstStyle/>
          <a:p>
            <a:r>
              <a:rPr lang="zh-CN" altLang="en-US" sz="3200" b="1" dirty="0" smtClean="0">
                <a:solidFill>
                  <a:srgbClr val="002060"/>
                </a:solidFill>
              </a:rPr>
              <a:t>单选题</a:t>
            </a:r>
            <a:endParaRPr lang="zh-CN" altLang="en-US" sz="3200" b="1" dirty="0">
              <a:solidFill>
                <a:srgbClr val="002060"/>
              </a:solidFill>
            </a:endParaRPr>
          </a:p>
        </p:txBody>
      </p:sp>
      <p:sp>
        <p:nvSpPr>
          <p:cNvPr id="4" name="内容占位符 3"/>
          <p:cNvSpPr>
            <a:spLocks noGrp="1"/>
          </p:cNvSpPr>
          <p:nvPr>
            <p:ph idx="1"/>
          </p:nvPr>
        </p:nvSpPr>
        <p:spPr>
          <a:xfrm>
            <a:off x="737991" y="1587630"/>
            <a:ext cx="10515600" cy="4351338"/>
          </a:xfrm>
        </p:spPr>
        <p:txBody>
          <a:bodyPr/>
          <a:lstStyle/>
          <a:p>
            <a:pPr marL="0" indent="0">
              <a:buNone/>
            </a:pPr>
            <a:r>
              <a:rPr lang="zh-CN" altLang="en-US" dirty="0" smtClean="0"/>
              <a:t>质子在</a:t>
            </a:r>
            <a:r>
              <a:rPr lang="zh-CN" altLang="en-US" dirty="0"/>
              <a:t>回旋</a:t>
            </a:r>
            <a:r>
              <a:rPr lang="zh-CN" altLang="en-US" dirty="0" smtClean="0"/>
              <a:t>加速器</a:t>
            </a:r>
            <a:r>
              <a:rPr lang="zh-CN" altLang="en-US" dirty="0"/>
              <a:t>中将磁场加倍会改变质子的最大动能多少</a:t>
            </a:r>
            <a:r>
              <a:rPr lang="zh-CN" altLang="en-US" dirty="0" smtClean="0"/>
              <a:t>？</a:t>
            </a:r>
            <a:endParaRPr lang="en-US" altLang="zh-CN" dirty="0" smtClean="0"/>
          </a:p>
          <a:p>
            <a:pPr marL="0" indent="0">
              <a:buNone/>
            </a:pPr>
            <a:endParaRPr lang="en-US" altLang="zh-CN" dirty="0" smtClean="0"/>
          </a:p>
          <a:p>
            <a:pPr marL="0" indent="0">
              <a:buNone/>
            </a:pPr>
            <a:r>
              <a:rPr lang="en-US" altLang="zh-CN" dirty="0" smtClean="0"/>
              <a:t>A</a:t>
            </a:r>
            <a:r>
              <a:rPr lang="zh-CN" altLang="en-US" dirty="0"/>
              <a:t>、 它是四倍</a:t>
            </a:r>
            <a:r>
              <a:rPr lang="zh-CN" altLang="en-US" dirty="0" smtClean="0"/>
              <a:t>。</a:t>
            </a:r>
            <a:endParaRPr lang="en-US" altLang="zh-CN" dirty="0" smtClean="0"/>
          </a:p>
          <a:p>
            <a:pPr marL="0" indent="0">
              <a:buNone/>
            </a:pPr>
            <a:r>
              <a:rPr lang="en-US" altLang="zh-CN" dirty="0" smtClean="0"/>
              <a:t>B</a:t>
            </a:r>
            <a:r>
              <a:rPr lang="zh-CN" altLang="en-US" dirty="0"/>
              <a:t>、 是双倍的</a:t>
            </a:r>
            <a:r>
              <a:rPr lang="zh-CN" altLang="en-US" dirty="0" smtClean="0"/>
              <a:t>。</a:t>
            </a:r>
            <a:endParaRPr lang="en-US" altLang="zh-CN" dirty="0" smtClean="0"/>
          </a:p>
          <a:p>
            <a:pPr marL="0" indent="0">
              <a:buNone/>
            </a:pPr>
            <a:r>
              <a:rPr lang="en-US" altLang="zh-CN" dirty="0" smtClean="0"/>
              <a:t>C</a:t>
            </a:r>
            <a:r>
              <a:rPr lang="zh-CN" altLang="en-US" dirty="0"/>
              <a:t>、 它保持不变</a:t>
            </a:r>
            <a:r>
              <a:rPr lang="zh-CN" altLang="en-US" dirty="0" smtClean="0"/>
              <a:t>。</a:t>
            </a:r>
            <a:endParaRPr lang="en-US" altLang="zh-CN" dirty="0" smtClean="0"/>
          </a:p>
          <a:p>
            <a:pPr marL="0" indent="0">
              <a:buNone/>
            </a:pPr>
            <a:r>
              <a:rPr lang="en-US" altLang="zh-CN" dirty="0" smtClean="0"/>
              <a:t>D</a:t>
            </a:r>
            <a:r>
              <a:rPr lang="zh-CN" altLang="en-US" dirty="0"/>
              <a:t>、 </a:t>
            </a:r>
            <a:r>
              <a:rPr lang="zh-CN" altLang="en-US" dirty="0" smtClean="0"/>
              <a:t>减半</a:t>
            </a:r>
            <a:endParaRPr lang="en-US" altLang="zh-CN" dirty="0" smtClean="0"/>
          </a:p>
          <a:p>
            <a:pPr marL="0" indent="0">
              <a:buNone/>
            </a:pPr>
            <a:r>
              <a:rPr lang="en-US" altLang="zh-CN" dirty="0" smtClean="0"/>
              <a:t>E</a:t>
            </a:r>
            <a:r>
              <a:rPr lang="zh-CN" altLang="en-US" dirty="0"/>
              <a:t>、 它有四分之一。</a:t>
            </a:r>
          </a:p>
          <a:p>
            <a:endParaRPr lang="zh-CN" altLang="en-US" dirty="0"/>
          </a:p>
        </p:txBody>
      </p:sp>
    </p:spTree>
    <p:extLst>
      <p:ext uri="{BB962C8B-B14F-4D97-AF65-F5344CB8AC3E}">
        <p14:creationId xmlns:p14="http://schemas.microsoft.com/office/powerpoint/2010/main" val="337425079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800" dirty="0"/>
              <a:t>质子在回旋加速器中将磁场加倍会改变质子的最大动能多少？</a:t>
            </a:r>
            <a:endParaRPr lang="en-US" altLang="zh-CN" sz="2800" dirty="0"/>
          </a:p>
        </p:txBody>
      </p:sp>
      <p:sp>
        <p:nvSpPr>
          <p:cNvPr id="6" name="文本框 5"/>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800" dirty="0"/>
              <a:t>它是四倍</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800" dirty="0"/>
              <a:t>是双倍的</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800" dirty="0"/>
              <a:t>它保持不变</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800" dirty="0"/>
              <a:t>减半</a:t>
            </a:r>
            <a:endParaRPr lang="en-US" altLang="zh-CN" sz="2800" dirty="0"/>
          </a:p>
        </p:txBody>
      </p:sp>
      <p:sp>
        <p:nvSpPr>
          <p:cNvPr id="10" name="椭圆 9"/>
          <p:cNvSpPr>
            <a:spLocks noChangeAspect="1"/>
          </p:cNvSpPr>
          <p:nvPr>
            <p:custDataLst>
              <p:tags r:id="rId7"/>
            </p:custDataLst>
          </p:nvPr>
        </p:nvSpPr>
        <p:spPr>
          <a:xfrm>
            <a:off x="15716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圆角矩形 13"/>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9" name="组合 18"/>
          <p:cNvGrpSpPr/>
          <p:nvPr>
            <p:custDataLst>
              <p:tags r:id="rId12"/>
            </p:custDataLst>
          </p:nvPr>
        </p:nvGrpSpPr>
        <p:grpSpPr>
          <a:xfrm>
            <a:off x="0" y="0"/>
            <a:ext cx="12192000" cy="635000"/>
            <a:chOff x="0" y="0"/>
            <a:chExt cx="12192000" cy="635000"/>
          </a:xfrm>
        </p:grpSpPr>
        <p:sp>
          <p:nvSpPr>
            <p:cNvPr id="15"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4" name="图片 3"/>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3013323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599379"/>
          </a:xfrm>
        </p:spPr>
        <p:txBody>
          <a:bodyPr>
            <a:normAutofit/>
          </a:bodyPr>
          <a:lstStyle/>
          <a:p>
            <a:r>
              <a:rPr lang="zh-CN" altLang="en-US" sz="3600" b="1" dirty="0">
                <a:solidFill>
                  <a:srgbClr val="002060"/>
                </a:solidFill>
              </a:rPr>
              <a:t>单选题</a:t>
            </a:r>
            <a:endParaRPr lang="zh-CN" altLang="en-US" sz="3600" dirty="0"/>
          </a:p>
        </p:txBody>
      </p:sp>
      <p:sp>
        <p:nvSpPr>
          <p:cNvPr id="3" name="内容占位符 2"/>
          <p:cNvSpPr>
            <a:spLocks noGrp="1"/>
          </p:cNvSpPr>
          <p:nvPr>
            <p:ph idx="1"/>
          </p:nvPr>
        </p:nvSpPr>
        <p:spPr>
          <a:xfrm>
            <a:off x="838200" y="1453019"/>
            <a:ext cx="10515600" cy="4723944"/>
          </a:xfrm>
        </p:spPr>
        <p:txBody>
          <a:bodyPr/>
          <a:lstStyle/>
          <a:p>
            <a:pPr marL="0" indent="0">
              <a:buNone/>
            </a:pPr>
            <a:r>
              <a:rPr lang="zh-CN" altLang="en-US" dirty="0"/>
              <a:t>磁场为</a:t>
            </a:r>
            <a:r>
              <a:rPr lang="en-US" altLang="zh-CN" dirty="0" smtClean="0"/>
              <a:t>1.2T</a:t>
            </a:r>
            <a:r>
              <a:rPr lang="zh-CN" altLang="en-US" dirty="0"/>
              <a:t>用来加速质子。当质子的轨道半径从</a:t>
            </a:r>
            <a:r>
              <a:rPr lang="en-US" altLang="zh-CN" dirty="0"/>
              <a:t>10</a:t>
            </a:r>
            <a:r>
              <a:rPr lang="zh-CN" altLang="en-US" dirty="0"/>
              <a:t>厘米变为</a:t>
            </a:r>
            <a:r>
              <a:rPr lang="en-US" altLang="zh-CN" dirty="0"/>
              <a:t>22</a:t>
            </a:r>
            <a:r>
              <a:rPr lang="zh-CN" altLang="en-US" dirty="0"/>
              <a:t>厘米时，它们完成一个轨道的时间是如何变化的</a:t>
            </a:r>
            <a:r>
              <a:rPr lang="zh-CN" altLang="en-US" dirty="0" smtClean="0"/>
              <a:t>？</a:t>
            </a:r>
            <a:endParaRPr lang="en-US" altLang="zh-CN" dirty="0" smtClean="0"/>
          </a:p>
          <a:p>
            <a:pPr marL="0" indent="0">
              <a:buNone/>
            </a:pPr>
            <a:endParaRPr lang="en-US" altLang="zh-CN" dirty="0" smtClean="0"/>
          </a:p>
          <a:p>
            <a:pPr marL="0" indent="0">
              <a:buNone/>
            </a:pPr>
            <a:r>
              <a:rPr lang="en-US" altLang="zh-CN" dirty="0" smtClean="0"/>
              <a:t>A</a:t>
            </a:r>
            <a:r>
              <a:rPr lang="zh-CN" altLang="en-US" dirty="0"/>
              <a:t>、 它增加</a:t>
            </a:r>
            <a:r>
              <a:rPr lang="zh-CN" altLang="en-US" dirty="0" smtClean="0"/>
              <a:t>了</a:t>
            </a:r>
            <a:r>
              <a:rPr lang="en-US" altLang="zh-CN" dirty="0" smtClean="0"/>
              <a:t>2.2</a:t>
            </a:r>
            <a:r>
              <a:rPr lang="zh-CN" altLang="en-US" dirty="0" smtClean="0"/>
              <a:t>倍</a:t>
            </a:r>
            <a:r>
              <a:rPr lang="en-US" altLang="zh-CN" dirty="0" smtClean="0"/>
              <a:t>.</a:t>
            </a:r>
          </a:p>
          <a:p>
            <a:pPr marL="0" indent="0">
              <a:buNone/>
            </a:pPr>
            <a:r>
              <a:rPr lang="en-US" altLang="zh-CN" dirty="0" smtClean="0"/>
              <a:t>B</a:t>
            </a:r>
            <a:r>
              <a:rPr lang="zh-CN" altLang="en-US" dirty="0"/>
              <a:t>、 它减少</a:t>
            </a:r>
            <a:r>
              <a:rPr lang="zh-CN" altLang="en-US" dirty="0" smtClean="0"/>
              <a:t>了</a:t>
            </a:r>
            <a:r>
              <a:rPr lang="en-US" altLang="zh-CN" dirty="0" smtClean="0"/>
              <a:t>2.2</a:t>
            </a:r>
            <a:r>
              <a:rPr lang="zh-CN" altLang="en-US" dirty="0" smtClean="0"/>
              <a:t>倍</a:t>
            </a:r>
            <a:r>
              <a:rPr lang="en-US" altLang="zh-CN" dirty="0" smtClean="0"/>
              <a:t>.</a:t>
            </a:r>
          </a:p>
          <a:p>
            <a:pPr marL="0" indent="0">
              <a:buNone/>
            </a:pPr>
            <a:r>
              <a:rPr lang="en-US" altLang="zh-CN" dirty="0" smtClean="0"/>
              <a:t>C</a:t>
            </a:r>
            <a:r>
              <a:rPr lang="zh-CN" altLang="en-US" dirty="0"/>
              <a:t>、 它增加</a:t>
            </a:r>
            <a:r>
              <a:rPr lang="zh-CN" altLang="en-US" dirty="0" smtClean="0"/>
              <a:t>了</a:t>
            </a:r>
            <a:r>
              <a:rPr lang="en-US" altLang="zh-CN" dirty="0" smtClean="0"/>
              <a:t>4.8</a:t>
            </a:r>
            <a:r>
              <a:rPr lang="zh-CN" altLang="en-US" dirty="0" smtClean="0"/>
              <a:t>倍</a:t>
            </a:r>
            <a:endParaRPr lang="en-US" altLang="zh-CN" dirty="0" smtClean="0"/>
          </a:p>
          <a:p>
            <a:pPr marL="0" indent="0">
              <a:buNone/>
            </a:pPr>
            <a:r>
              <a:rPr lang="en-US" altLang="zh-CN" dirty="0" smtClean="0"/>
              <a:t>D</a:t>
            </a:r>
            <a:r>
              <a:rPr lang="zh-CN" altLang="en-US" dirty="0"/>
              <a:t>、 它减少</a:t>
            </a:r>
            <a:r>
              <a:rPr lang="zh-CN" altLang="en-US" dirty="0" smtClean="0"/>
              <a:t>了</a:t>
            </a:r>
            <a:r>
              <a:rPr lang="en-US" altLang="zh-CN" dirty="0" smtClean="0"/>
              <a:t>4.8</a:t>
            </a:r>
            <a:r>
              <a:rPr lang="zh-CN" altLang="en-US" dirty="0" smtClean="0"/>
              <a:t>倍</a:t>
            </a:r>
            <a:r>
              <a:rPr lang="en-US" altLang="zh-CN" dirty="0" smtClean="0"/>
              <a:t>.</a:t>
            </a:r>
          </a:p>
          <a:p>
            <a:pPr marL="0" indent="0">
              <a:buNone/>
            </a:pPr>
            <a:r>
              <a:rPr lang="en-US" altLang="zh-CN" dirty="0" smtClean="0"/>
              <a:t>E</a:t>
            </a:r>
            <a:r>
              <a:rPr lang="zh-CN" altLang="en-US" dirty="0"/>
              <a:t>、 它保持不变。</a:t>
            </a:r>
          </a:p>
        </p:txBody>
      </p:sp>
    </p:spTree>
    <p:extLst>
      <p:ext uri="{BB962C8B-B14F-4D97-AF65-F5344CB8AC3E}">
        <p14:creationId xmlns:p14="http://schemas.microsoft.com/office/powerpoint/2010/main" val="81586612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800" dirty="0"/>
              <a:t>磁场为</a:t>
            </a:r>
            <a:r>
              <a:rPr lang="en-US" altLang="zh-CN" sz="2800" dirty="0"/>
              <a:t>1.2T</a:t>
            </a:r>
            <a:r>
              <a:rPr lang="zh-CN" altLang="en-US" sz="2800" dirty="0"/>
              <a:t>用来加速质子。当质子的轨道半径从</a:t>
            </a:r>
            <a:r>
              <a:rPr lang="en-US" altLang="zh-CN" sz="2800" dirty="0"/>
              <a:t>10</a:t>
            </a:r>
            <a:r>
              <a:rPr lang="zh-CN" altLang="en-US" sz="2800" dirty="0"/>
              <a:t>厘米变为</a:t>
            </a:r>
            <a:r>
              <a:rPr lang="en-US" altLang="zh-CN" sz="2800" dirty="0"/>
              <a:t>22</a:t>
            </a:r>
            <a:r>
              <a:rPr lang="zh-CN" altLang="en-US" sz="2800" dirty="0"/>
              <a:t>厘米时，它们完成一个轨道的时间是如何变化的？</a:t>
            </a:r>
            <a:endParaRPr lang="en-US" altLang="zh-CN" sz="2800" dirty="0"/>
          </a:p>
        </p:txBody>
      </p:sp>
      <p:sp>
        <p:nvSpPr>
          <p:cNvPr id="6" name="文本框 5"/>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800" dirty="0"/>
              <a:t>它增加了</a:t>
            </a:r>
            <a:r>
              <a:rPr lang="en-US" altLang="zh-CN" sz="2800" dirty="0"/>
              <a:t>2.2</a:t>
            </a:r>
            <a:r>
              <a:rPr lang="zh-CN" altLang="en-US" sz="2800" dirty="0"/>
              <a:t>倍</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2438400" y="3471863"/>
            <a:ext cx="8534400" cy="642938"/>
          </a:xfrm>
          <a:prstGeom prst="rect">
            <a:avLst/>
          </a:prstGeom>
          <a:noFill/>
        </p:spPr>
        <p:txBody>
          <a:bodyPr vert="horz" rtlCol="0" anchor="ctr" anchorCtr="0">
            <a:noAutofit/>
          </a:bodyPr>
          <a:lstStyle/>
          <a:p>
            <a:r>
              <a:rPr lang="zh-CN" altLang="en-US" sz="2800" dirty="0"/>
              <a:t>它减少了</a:t>
            </a:r>
            <a:r>
              <a:rPr lang="en-US" altLang="zh-CN" sz="2800" dirty="0"/>
              <a:t>2.2</a:t>
            </a:r>
            <a:r>
              <a:rPr lang="zh-CN" altLang="en-US" sz="2800" dirty="0"/>
              <a:t>倍</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5"/>
            </p:custDataLst>
          </p:nvPr>
        </p:nvSpPr>
        <p:spPr>
          <a:xfrm>
            <a:off x="2438400" y="4157663"/>
            <a:ext cx="8534400" cy="642938"/>
          </a:xfrm>
          <a:prstGeom prst="rect">
            <a:avLst/>
          </a:prstGeom>
          <a:noFill/>
        </p:spPr>
        <p:txBody>
          <a:bodyPr vert="horz" rtlCol="0" anchor="ctr" anchorCtr="0">
            <a:noAutofit/>
          </a:bodyPr>
          <a:lstStyle/>
          <a:p>
            <a:r>
              <a:rPr lang="zh-CN" altLang="en-US" sz="2800" dirty="0"/>
              <a:t>它增加了</a:t>
            </a:r>
            <a:r>
              <a:rPr lang="en-US" altLang="zh-CN" sz="2800" dirty="0"/>
              <a:t>4.8</a:t>
            </a:r>
            <a:r>
              <a:rPr lang="zh-CN" altLang="en-US" sz="2800" dirty="0"/>
              <a:t>倍</a:t>
            </a:r>
            <a:endParaRPr lang="en-US" altLang="zh-CN" sz="2800" dirty="0"/>
          </a:p>
        </p:txBody>
      </p:sp>
      <p:sp>
        <p:nvSpPr>
          <p:cNvPr id="9" name="文本框 8"/>
          <p:cNvSpPr txBox="1"/>
          <p:nvPr>
            <p:custDataLst>
              <p:tags r:id="rId6"/>
            </p:custDataLst>
          </p:nvPr>
        </p:nvSpPr>
        <p:spPr>
          <a:xfrm>
            <a:off x="2438400" y="4843463"/>
            <a:ext cx="8534400" cy="642938"/>
          </a:xfrm>
          <a:prstGeom prst="rect">
            <a:avLst/>
          </a:prstGeom>
          <a:noFill/>
        </p:spPr>
        <p:txBody>
          <a:bodyPr vert="horz" rtlCol="0" anchor="ctr" anchorCtr="0">
            <a:noAutofit/>
          </a:bodyPr>
          <a:lstStyle/>
          <a:p>
            <a:r>
              <a:rPr lang="zh-CN" altLang="en-US" sz="2800" dirty="0"/>
              <a:t>它减少了</a:t>
            </a:r>
            <a:r>
              <a:rPr lang="en-US" altLang="zh-CN" sz="2800" dirty="0"/>
              <a:t>4.8</a:t>
            </a:r>
            <a:r>
              <a:rPr lang="zh-CN" altLang="en-US" sz="2800" dirty="0"/>
              <a:t>倍</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8"/>
            </p:custDataLst>
          </p:nvPr>
        </p:nvSpPr>
        <p:spPr>
          <a:xfrm>
            <a:off x="1571625" y="35361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9"/>
            </p:custDataLst>
          </p:nvPr>
        </p:nvSpPr>
        <p:spPr>
          <a:xfrm>
            <a:off x="1571625" y="42219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p:cNvSpPr>
            <a:spLocks noChangeAspect="1"/>
          </p:cNvSpPr>
          <p:nvPr>
            <p:custDataLst>
              <p:tags r:id="rId10"/>
            </p:custDataLst>
          </p:nvPr>
        </p:nvSpPr>
        <p:spPr>
          <a:xfrm>
            <a:off x="1571625" y="49077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圆角矩形 13"/>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1" name="文本框 20"/>
          <p:cNvSpPr txBox="1"/>
          <p:nvPr>
            <p:custDataLst>
              <p:tags r:id="rId12"/>
            </p:custDataLst>
          </p:nvPr>
        </p:nvSpPr>
        <p:spPr>
          <a:xfrm>
            <a:off x="2438400" y="5529263"/>
            <a:ext cx="8534400" cy="642938"/>
          </a:xfrm>
          <a:prstGeom prst="rect">
            <a:avLst/>
          </a:prstGeom>
          <a:noFill/>
        </p:spPr>
        <p:txBody>
          <a:bodyPr vert="horz" rtlCol="0" anchor="ctr" anchorCtr="0">
            <a:noAutofit/>
          </a:bodyPr>
          <a:lstStyle/>
          <a:p>
            <a:r>
              <a:rPr lang="zh-CN" altLang="en-US" sz="2800" dirty="0"/>
              <a:t>它保持不变</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2" name="椭圆 21"/>
          <p:cNvSpPr>
            <a:spLocks noChangeAspect="1"/>
          </p:cNvSpPr>
          <p:nvPr>
            <p:custDataLst>
              <p:tags r:id="rId13"/>
            </p:custDataLst>
          </p:nvPr>
        </p:nvSpPr>
        <p:spPr>
          <a:xfrm>
            <a:off x="1571625" y="55935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E</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9" name="组合 18"/>
          <p:cNvGrpSpPr/>
          <p:nvPr>
            <p:custDataLst>
              <p:tags r:id="rId14"/>
            </p:custDataLst>
          </p:nvPr>
        </p:nvGrpSpPr>
        <p:grpSpPr>
          <a:xfrm>
            <a:off x="0" y="0"/>
            <a:ext cx="12192000" cy="635000"/>
            <a:chOff x="0" y="0"/>
            <a:chExt cx="12192000" cy="635000"/>
          </a:xfrm>
        </p:grpSpPr>
        <p:sp>
          <p:nvSpPr>
            <p:cNvPr id="15" name="TitleBackground"/>
            <p:cNvSpPr/>
            <p:nvPr>
              <p:custDataLst>
                <p:tags r:id="rId1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1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18"/>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TipText"/>
            <p:cNvSpPr txBox="1"/>
            <p:nvPr>
              <p:custDataLst>
                <p:tags r:id="rId19"/>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4" name="图片 3"/>
          <p:cNvPicPr>
            <a:picLocks/>
          </p:cNvPicPr>
          <p:nvPr>
            <p:custDataLst>
              <p:tags r:id="rId15"/>
            </p:custDataLst>
          </p:nvPr>
        </p:nvPicPr>
        <p:blipFill>
          <a:blip r:embed="rId2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0028818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0484" y="1082551"/>
            <a:ext cx="3706283" cy="18796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3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89451" y="884238"/>
            <a:ext cx="3333749" cy="21844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6324"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99451" y="765175"/>
            <a:ext cx="3365500" cy="240030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96325" name="Text Box 5"/>
          <p:cNvSpPr txBox="1">
            <a:spLocks noChangeArrowheads="1"/>
          </p:cNvSpPr>
          <p:nvPr/>
        </p:nvSpPr>
        <p:spPr bwMode="auto">
          <a:xfrm>
            <a:off x="8227485" y="3162152"/>
            <a:ext cx="2656794" cy="46384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20000"/>
              </a:spcBef>
            </a:pPr>
            <a:r>
              <a:rPr kumimoji="1" lang="zh-CN" altLang="en-US" sz="2400" dirty="0">
                <a:latin typeface="Times New Roman" pitchFamily="18" charset="0"/>
              </a:rPr>
              <a:t>兰州重离子加速器</a:t>
            </a:r>
          </a:p>
        </p:txBody>
      </p:sp>
      <p:sp>
        <p:nvSpPr>
          <p:cNvPr id="696326" name="Text Box 6"/>
          <p:cNvSpPr txBox="1">
            <a:spLocks noChangeArrowheads="1"/>
          </p:cNvSpPr>
          <p:nvPr/>
        </p:nvSpPr>
        <p:spPr bwMode="auto">
          <a:xfrm>
            <a:off x="266700" y="3138340"/>
            <a:ext cx="2966174" cy="46384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20000"/>
              </a:spcBef>
            </a:pPr>
            <a:r>
              <a:rPr kumimoji="1" lang="zh-CN" altLang="en-US" sz="2400" dirty="0">
                <a:latin typeface="Times New Roman" pitchFamily="18" charset="0"/>
              </a:rPr>
              <a:t>北京正负电子对撞机</a:t>
            </a:r>
          </a:p>
        </p:txBody>
      </p:sp>
      <p:sp>
        <p:nvSpPr>
          <p:cNvPr id="696327" name="Text Box 7"/>
          <p:cNvSpPr txBox="1">
            <a:spLocks noChangeArrowheads="1"/>
          </p:cNvSpPr>
          <p:nvPr/>
        </p:nvSpPr>
        <p:spPr bwMode="auto">
          <a:xfrm>
            <a:off x="4661597" y="3147865"/>
            <a:ext cx="2966174" cy="46384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algn="ctr" eaLnBrk="1" hangingPunct="1">
              <a:spcBef>
                <a:spcPct val="20000"/>
              </a:spcBef>
            </a:pPr>
            <a:r>
              <a:rPr kumimoji="1" lang="zh-CN" altLang="en-US" sz="2400" dirty="0">
                <a:latin typeface="Times New Roman" pitchFamily="18" charset="0"/>
              </a:rPr>
              <a:t>合肥同步辐射加速器</a:t>
            </a:r>
          </a:p>
        </p:txBody>
      </p:sp>
      <p:sp>
        <p:nvSpPr>
          <p:cNvPr id="75784" name="Text Box 8"/>
          <p:cNvSpPr txBox="1">
            <a:spLocks noChangeArrowheads="1"/>
          </p:cNvSpPr>
          <p:nvPr/>
        </p:nvSpPr>
        <p:spPr bwMode="auto">
          <a:xfrm>
            <a:off x="4661597" y="219644"/>
            <a:ext cx="2345812" cy="5254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algn="ctr" eaLnBrk="1" hangingPunct="1">
              <a:spcBef>
                <a:spcPct val="20000"/>
              </a:spcBef>
            </a:pPr>
            <a:r>
              <a:rPr kumimoji="1" lang="zh-CN" altLang="en-US" sz="2800" dirty="0">
                <a:solidFill>
                  <a:srgbClr val="FF3300"/>
                </a:solidFill>
                <a:latin typeface="Times New Roman" pitchFamily="18" charset="0"/>
                <a:ea typeface="楷体_GB2312" pitchFamily="49" charset="-122"/>
              </a:rPr>
              <a:t>国内外加速器</a:t>
            </a:r>
            <a:endParaRPr kumimoji="1" lang="zh-CN" altLang="en-US" sz="2400" b="0" dirty="0">
              <a:latin typeface="Times New Roman" pitchFamily="18" charset="0"/>
            </a:endParaRPr>
          </a:p>
        </p:txBody>
      </p:sp>
      <p:pic>
        <p:nvPicPr>
          <p:cNvPr id="73737" name="Picture 9" descr="C:\Users\AzWork\Desktop\20089101410475.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1800" y="3644900"/>
            <a:ext cx="5183717"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8" name="Picture 10" descr="C:\Users\AzWork\Desktop\0017082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689601" y="3716338"/>
            <a:ext cx="4042833"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5"/>
          <p:cNvSpPr txBox="1">
            <a:spLocks noChangeArrowheads="1"/>
          </p:cNvSpPr>
          <p:nvPr/>
        </p:nvSpPr>
        <p:spPr bwMode="auto">
          <a:xfrm>
            <a:off x="9745134" y="4086117"/>
            <a:ext cx="2125133" cy="157184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defRPr b="1">
                <a:solidFill>
                  <a:schemeClr val="tx1"/>
                </a:solidFill>
                <a:latin typeface="Arial" pitchFamily="34" charset="0"/>
                <a:ea typeface="宋体" pitchFamily="2" charset="-122"/>
              </a:defRPr>
            </a:lvl1pPr>
            <a:lvl2pPr marL="742950" indent="-285750">
              <a:defRPr b="1">
                <a:solidFill>
                  <a:schemeClr val="tx1"/>
                </a:solidFill>
                <a:latin typeface="Arial" pitchFamily="34" charset="0"/>
                <a:ea typeface="宋体" pitchFamily="2" charset="-122"/>
              </a:defRPr>
            </a:lvl2pPr>
            <a:lvl3pPr marL="1143000" indent="-228600">
              <a:defRPr b="1">
                <a:solidFill>
                  <a:schemeClr val="tx1"/>
                </a:solidFill>
                <a:latin typeface="Arial" pitchFamily="34" charset="0"/>
                <a:ea typeface="宋体" pitchFamily="2" charset="-122"/>
              </a:defRPr>
            </a:lvl3pPr>
            <a:lvl4pPr marL="1600200" indent="-228600">
              <a:defRPr b="1">
                <a:solidFill>
                  <a:schemeClr val="tx1"/>
                </a:solidFill>
                <a:latin typeface="Arial" pitchFamily="34" charset="0"/>
                <a:ea typeface="宋体" pitchFamily="2" charset="-122"/>
              </a:defRPr>
            </a:lvl4pPr>
            <a:lvl5pPr marL="2057400" indent="-22860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eaLnBrk="1" hangingPunct="1">
              <a:spcBef>
                <a:spcPct val="20000"/>
              </a:spcBef>
            </a:pPr>
            <a:r>
              <a:rPr kumimoji="1" lang="zh-CN" altLang="en-US" sz="2400" dirty="0">
                <a:latin typeface="Times New Roman" pitchFamily="18" charset="0"/>
              </a:rPr>
              <a:t>欧洲粒子物理研究所</a:t>
            </a:r>
            <a:r>
              <a:rPr kumimoji="1" lang="en-US" altLang="zh-CN" sz="2400" dirty="0">
                <a:latin typeface="Times New Roman" pitchFamily="18" charset="0"/>
              </a:rPr>
              <a:t>(CERN)</a:t>
            </a:r>
            <a:r>
              <a:rPr kumimoji="1" lang="zh-CN" altLang="en-US" sz="2400" dirty="0">
                <a:latin typeface="Times New Roman" pitchFamily="18" charset="0"/>
              </a:rPr>
              <a:t>大型强子对撞机</a:t>
            </a:r>
            <a:r>
              <a:rPr kumimoji="1" lang="en-US" altLang="zh-CN" sz="2400" dirty="0">
                <a:latin typeface="Times New Roman" pitchFamily="18" charset="0"/>
              </a:rPr>
              <a:t>(LHC)</a:t>
            </a:r>
            <a:endParaRPr kumimoji="1" lang="zh-CN" altLang="en-US" sz="2400" dirty="0">
              <a:latin typeface="Times New Roman" pitchFamily="18" charset="0"/>
            </a:endParaRPr>
          </a:p>
        </p:txBody>
      </p:sp>
    </p:spTree>
    <p:extLst>
      <p:ext uri="{BB962C8B-B14F-4D97-AF65-F5344CB8AC3E}">
        <p14:creationId xmlns:p14="http://schemas.microsoft.com/office/powerpoint/2010/main" val="15552307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96322"/>
                                        </p:tgtEl>
                                        <p:attrNameLst>
                                          <p:attrName>style.visibility</p:attrName>
                                        </p:attrNameLst>
                                      </p:cBhvr>
                                      <p:to>
                                        <p:strVal val="visible"/>
                                      </p:to>
                                    </p:set>
                                    <p:animEffect transition="in" filter="wipe(left)">
                                      <p:cBhvr>
                                        <p:cTn id="7" dur="500"/>
                                        <p:tgtEl>
                                          <p:spTgt spid="69632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96326"/>
                                        </p:tgtEl>
                                        <p:attrNameLst>
                                          <p:attrName>style.visibility</p:attrName>
                                        </p:attrNameLst>
                                      </p:cBhvr>
                                      <p:to>
                                        <p:strVal val="visible"/>
                                      </p:to>
                                    </p:set>
                                    <p:animEffect transition="in" filter="wipe(left)">
                                      <p:cBhvr>
                                        <p:cTn id="10" dur="500"/>
                                        <p:tgtEl>
                                          <p:spTgt spid="69632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696323"/>
                                        </p:tgtEl>
                                        <p:attrNameLst>
                                          <p:attrName>style.visibility</p:attrName>
                                        </p:attrNameLst>
                                      </p:cBhvr>
                                      <p:to>
                                        <p:strVal val="visible"/>
                                      </p:to>
                                    </p:set>
                                    <p:animEffect transition="in" filter="wipe(left)">
                                      <p:cBhvr>
                                        <p:cTn id="15" dur="500"/>
                                        <p:tgtEl>
                                          <p:spTgt spid="696323"/>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96327"/>
                                        </p:tgtEl>
                                        <p:attrNameLst>
                                          <p:attrName>style.visibility</p:attrName>
                                        </p:attrNameLst>
                                      </p:cBhvr>
                                      <p:to>
                                        <p:strVal val="visible"/>
                                      </p:to>
                                    </p:set>
                                    <p:animEffect transition="in" filter="wipe(left)">
                                      <p:cBhvr>
                                        <p:cTn id="18" dur="500"/>
                                        <p:tgtEl>
                                          <p:spTgt spid="69632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696324"/>
                                        </p:tgtEl>
                                        <p:attrNameLst>
                                          <p:attrName>style.visibility</p:attrName>
                                        </p:attrNameLst>
                                      </p:cBhvr>
                                      <p:to>
                                        <p:strVal val="visible"/>
                                      </p:to>
                                    </p:set>
                                    <p:animEffect transition="in" filter="wipe(left)">
                                      <p:cBhvr>
                                        <p:cTn id="23" dur="500"/>
                                        <p:tgtEl>
                                          <p:spTgt spid="696324"/>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696325"/>
                                        </p:tgtEl>
                                        <p:attrNameLst>
                                          <p:attrName>style.visibility</p:attrName>
                                        </p:attrNameLst>
                                      </p:cBhvr>
                                      <p:to>
                                        <p:strVal val="visible"/>
                                      </p:to>
                                    </p:set>
                                    <p:animEffect transition="in" filter="wipe(left)">
                                      <p:cBhvr>
                                        <p:cTn id="26" dur="500"/>
                                        <p:tgtEl>
                                          <p:spTgt spid="69632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373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37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25" grpId="0" autoUpdateAnimBg="0"/>
      <p:bldP spid="696326" grpId="0" autoUpdateAnimBg="0"/>
      <p:bldP spid="696327" grpId="0" autoUpdateAnimBg="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gia12141_19_19"/>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9479"/>
          <a:stretch/>
        </p:blipFill>
        <p:spPr bwMode="auto">
          <a:xfrm>
            <a:off x="4926211" y="1"/>
            <a:ext cx="7265789" cy="4179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5118232" y="4293096"/>
            <a:ext cx="7073768" cy="1477328"/>
          </a:xfrm>
          <a:prstGeom prst="rect">
            <a:avLst/>
          </a:prstGeom>
          <a:noFill/>
        </p:spPr>
        <p:txBody>
          <a:bodyPr wrap="square" rtlCol="0">
            <a:spAutoFit/>
          </a:bodyPr>
          <a:lstStyle/>
          <a:p>
            <a:pPr algn="just">
              <a:lnSpc>
                <a:spcPct val="125000"/>
              </a:lnSpc>
            </a:pPr>
            <a:r>
              <a:rPr lang="zh-CN" altLang="en-US" sz="2400" b="1" dirty="0" smtClean="0"/>
              <a:t>图</a:t>
            </a:r>
            <a:r>
              <a:rPr lang="en-US" altLang="zh-CN" sz="2400" b="1" dirty="0" smtClean="0"/>
              <a:t>19.18 </a:t>
            </a:r>
            <a:r>
              <a:rPr lang="zh-CN" altLang="en-US" sz="2400" b="1" dirty="0" smtClean="0"/>
              <a:t>美国马萨诸塞州总医院的东北质子治疗中心内一位将接受外科手术的病人，质子由回旋加速器加速。</a:t>
            </a:r>
            <a:endParaRPr lang="zh-CN" altLang="en-US" sz="2400" b="1" dirty="0"/>
          </a:p>
        </p:txBody>
      </p:sp>
      <p:sp>
        <p:nvSpPr>
          <p:cNvPr id="4" name="文本框 3"/>
          <p:cNvSpPr txBox="1"/>
          <p:nvPr/>
        </p:nvSpPr>
        <p:spPr>
          <a:xfrm>
            <a:off x="1" y="116632"/>
            <a:ext cx="3791423" cy="523220"/>
          </a:xfrm>
          <a:prstGeom prst="rect">
            <a:avLst/>
          </a:prstGeom>
          <a:noFill/>
        </p:spPr>
        <p:txBody>
          <a:bodyPr wrap="none" rtlCol="0">
            <a:spAutoFit/>
          </a:bodyPr>
          <a:lstStyle/>
          <a:p>
            <a:r>
              <a:rPr lang="zh-CN" altLang="en-US" sz="2800" b="1" dirty="0" smtClean="0">
                <a:latin typeface="黑体" pitchFamily="49" charset="-122"/>
                <a:ea typeface="黑体" pitchFamily="49" charset="-122"/>
              </a:rPr>
              <a:t>回旋加速器的医学用</a:t>
            </a:r>
            <a:r>
              <a:rPr lang="zh-CN" altLang="en-US" sz="2800" b="1" dirty="0" smtClean="0"/>
              <a:t>途</a:t>
            </a:r>
            <a:endParaRPr lang="zh-CN" altLang="en-US" sz="2800" b="1" dirty="0"/>
          </a:p>
        </p:txBody>
      </p:sp>
      <p:sp>
        <p:nvSpPr>
          <p:cNvPr id="5" name="文本框 4"/>
          <p:cNvSpPr txBox="1"/>
          <p:nvPr/>
        </p:nvSpPr>
        <p:spPr>
          <a:xfrm>
            <a:off x="65141" y="771297"/>
            <a:ext cx="4878801" cy="1938992"/>
          </a:xfrm>
          <a:prstGeom prst="rect">
            <a:avLst/>
          </a:prstGeom>
          <a:noFill/>
        </p:spPr>
        <p:txBody>
          <a:bodyPr wrap="square" rtlCol="0">
            <a:spAutoFit/>
          </a:bodyPr>
          <a:lstStyle/>
          <a:p>
            <a:pPr>
              <a:lnSpc>
                <a:spcPct val="125000"/>
              </a:lnSpc>
            </a:pPr>
            <a:r>
              <a:rPr lang="zh-CN" altLang="en-US" sz="2400" b="1" dirty="0" smtClean="0">
                <a:latin typeface="黑体" pitchFamily="49" charset="-122"/>
                <a:ea typeface="黑体" pitchFamily="49" charset="-122"/>
              </a:rPr>
              <a:t>用途一</a:t>
            </a:r>
            <a:r>
              <a:rPr lang="zh-CN" altLang="en-US" sz="2400" dirty="0" smtClean="0">
                <a:latin typeface="黑体" pitchFamily="49" charset="-122"/>
                <a:ea typeface="黑体" pitchFamily="49" charset="-122"/>
              </a:rPr>
              <a:t>：</a:t>
            </a:r>
            <a:r>
              <a:rPr lang="zh-CN" altLang="en-US" sz="2400" b="1" dirty="0" smtClean="0"/>
              <a:t>可产生一些核医学中使用的放射性同位素。优点：容易操作且体积小。可生产寿命短的放射性同位素。</a:t>
            </a:r>
            <a:endParaRPr lang="zh-CN" altLang="en-US" sz="2400" b="1" dirty="0"/>
          </a:p>
        </p:txBody>
      </p:sp>
      <p:sp>
        <p:nvSpPr>
          <p:cNvPr id="6" name="文本框 5"/>
          <p:cNvSpPr txBox="1"/>
          <p:nvPr/>
        </p:nvSpPr>
        <p:spPr>
          <a:xfrm>
            <a:off x="47410" y="3266978"/>
            <a:ext cx="4878801" cy="1477328"/>
          </a:xfrm>
          <a:prstGeom prst="rect">
            <a:avLst/>
          </a:prstGeom>
          <a:noFill/>
        </p:spPr>
        <p:txBody>
          <a:bodyPr wrap="square" rtlCol="0">
            <a:spAutoFit/>
          </a:bodyPr>
          <a:lstStyle/>
          <a:p>
            <a:pPr>
              <a:lnSpc>
                <a:spcPct val="125000"/>
              </a:lnSpc>
            </a:pPr>
            <a:r>
              <a:rPr lang="zh-CN" altLang="en-US" sz="2400" b="1" dirty="0" smtClean="0">
                <a:latin typeface="黑体" pitchFamily="49" charset="-122"/>
                <a:ea typeface="黑体" pitchFamily="49" charset="-122"/>
              </a:rPr>
              <a:t>用途二：</a:t>
            </a:r>
            <a:r>
              <a:rPr lang="zh-CN" altLang="en-US" sz="2400" b="1" dirty="0" smtClean="0"/>
              <a:t>用于质子束放射外科治疗，其中回旋加速器的质子束用作外科手术工具。</a:t>
            </a:r>
            <a:endParaRPr lang="zh-CN" altLang="en-US" sz="2400" b="1" dirty="0"/>
          </a:p>
        </p:txBody>
      </p:sp>
    </p:spTree>
    <p:extLst>
      <p:ext uri="{BB962C8B-B14F-4D97-AF65-F5344CB8AC3E}">
        <p14:creationId xmlns:p14="http://schemas.microsoft.com/office/powerpoint/2010/main" val="31313772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3339" y="438697"/>
            <a:ext cx="11874896" cy="1785104"/>
          </a:xfrm>
          <a:prstGeom prst="rect">
            <a:avLst/>
          </a:prstGeom>
          <a:noFill/>
        </p:spPr>
        <p:txBody>
          <a:bodyPr wrap="square" rtlCol="0">
            <a:spAutoFit/>
          </a:bodyPr>
          <a:lstStyle/>
          <a:p>
            <a:pPr>
              <a:lnSpc>
                <a:spcPct val="125000"/>
              </a:lnSpc>
            </a:pPr>
            <a:r>
              <a:rPr lang="zh-CN" altLang="en-US" sz="3200" b="1" dirty="0" smtClean="0">
                <a:solidFill>
                  <a:srgbClr val="000099"/>
                </a:solidFill>
              </a:rPr>
              <a:t>例</a:t>
            </a:r>
            <a:r>
              <a:rPr lang="en-US" altLang="zh-CN" sz="3200" b="1" dirty="0" smtClean="0">
                <a:solidFill>
                  <a:srgbClr val="000099"/>
                </a:solidFill>
              </a:rPr>
              <a:t>19.4</a:t>
            </a:r>
            <a:r>
              <a:rPr lang="zh-CN" altLang="en-US" sz="3200" b="1" dirty="0" smtClean="0">
                <a:solidFill>
                  <a:srgbClr val="000099"/>
                </a:solidFill>
              </a:rPr>
              <a:t>：质子回旋加速器中的最大动能</a:t>
            </a:r>
            <a:endParaRPr lang="en-US" altLang="zh-CN" sz="3200" b="1" dirty="0" smtClean="0">
              <a:solidFill>
                <a:srgbClr val="000099"/>
              </a:solidFill>
            </a:endParaRPr>
          </a:p>
          <a:p>
            <a:pPr>
              <a:lnSpc>
                <a:spcPct val="125000"/>
              </a:lnSpc>
            </a:pPr>
            <a:r>
              <a:rPr lang="zh-CN" altLang="en-US" sz="2800" dirty="0" smtClean="0"/>
              <a:t>      </a:t>
            </a:r>
            <a:r>
              <a:rPr lang="zh-CN" altLang="en-US" sz="2800" b="1" dirty="0" smtClean="0"/>
              <a:t>质子回旋加速器用磁铁在其两极间产生一个</a:t>
            </a:r>
            <a:r>
              <a:rPr lang="en-US" altLang="zh-CN" sz="2800" b="1" dirty="0" smtClean="0"/>
              <a:t>0.60 T </a:t>
            </a:r>
            <a:r>
              <a:rPr lang="zh-CN" altLang="en-US" sz="2800" b="1" dirty="0" smtClean="0"/>
              <a:t>的场。</a:t>
            </a:r>
            <a:r>
              <a:rPr lang="en-US" altLang="zh-CN" sz="2800" b="1" dirty="0" smtClean="0"/>
              <a:t>D</a:t>
            </a:r>
            <a:r>
              <a:rPr lang="zh-CN" altLang="en-US" sz="2800" b="1" dirty="0" smtClean="0"/>
              <a:t>形盒的半径为 </a:t>
            </a:r>
            <a:r>
              <a:rPr lang="en-US" altLang="zh-CN" sz="2800" b="1" dirty="0" smtClean="0"/>
              <a:t>24 cm</a:t>
            </a:r>
            <a:r>
              <a:rPr lang="zh-CN" altLang="en-US" sz="2800" b="1" dirty="0" smtClean="0"/>
              <a:t>。由该回旋加速器加速的质子的最大动能可以是多少？</a:t>
            </a:r>
            <a:endParaRPr lang="zh-CN" altLang="en-US" sz="2800" b="1" dirty="0"/>
          </a:p>
        </p:txBody>
      </p:sp>
      <p:sp>
        <p:nvSpPr>
          <p:cNvPr id="3" name="TextBox 2"/>
          <p:cNvSpPr txBox="1"/>
          <p:nvPr/>
        </p:nvSpPr>
        <p:spPr>
          <a:xfrm>
            <a:off x="736600" y="2327701"/>
            <a:ext cx="10651836" cy="1137106"/>
          </a:xfrm>
          <a:prstGeom prst="rect">
            <a:avLst/>
          </a:prstGeom>
          <a:noFill/>
        </p:spPr>
        <p:txBody>
          <a:bodyPr wrap="square" rtlCol="0">
            <a:spAutoFit/>
          </a:bodyPr>
          <a:lstStyle/>
          <a:p>
            <a:pPr>
              <a:lnSpc>
                <a:spcPct val="150000"/>
              </a:lnSpc>
            </a:pPr>
            <a:r>
              <a:rPr lang="zh-CN" altLang="en-US" sz="2400" b="1" dirty="0" smtClean="0"/>
              <a:t>分析：当质子的动能增加时，其在</a:t>
            </a:r>
            <a:r>
              <a:rPr lang="en-US" altLang="zh-CN" sz="2400" b="1" dirty="0" smtClean="0"/>
              <a:t>D</a:t>
            </a:r>
            <a:r>
              <a:rPr lang="zh-CN" altLang="en-US" sz="2400" b="1" dirty="0" smtClean="0"/>
              <a:t>形盒内的路径的半径也增加。因此，最大动能可通过最大半径来确定。</a:t>
            </a:r>
            <a:endParaRPr lang="zh-CN" altLang="en-US" sz="2400" b="1" dirty="0"/>
          </a:p>
        </p:txBody>
      </p:sp>
      <p:graphicFrame>
        <p:nvGraphicFramePr>
          <p:cNvPr id="4" name="对象 3"/>
          <p:cNvGraphicFramePr>
            <a:graphicFrameLocks noChangeAspect="1"/>
          </p:cNvGraphicFramePr>
          <p:nvPr>
            <p:extLst>
              <p:ext uri="{D42A27DB-BD31-4B8C-83A1-F6EECF244321}">
                <p14:modId xmlns:p14="http://schemas.microsoft.com/office/powerpoint/2010/main" val="2961429821"/>
              </p:ext>
            </p:extLst>
          </p:nvPr>
        </p:nvGraphicFramePr>
        <p:xfrm>
          <a:off x="2006600" y="3779931"/>
          <a:ext cx="1824037" cy="925513"/>
        </p:xfrm>
        <a:graphic>
          <a:graphicData uri="http://schemas.openxmlformats.org/presentationml/2006/ole">
            <mc:AlternateContent xmlns:mc="http://schemas.openxmlformats.org/markup-compatibility/2006">
              <mc:Choice xmlns:v="urn:schemas-microsoft-com:vml" Requires="v">
                <p:oleObj spid="_x0000_s29824" name="Equation" r:id="rId3" imgW="609336" imgH="393529" progId="Equation.DSMT4">
                  <p:embed/>
                </p:oleObj>
              </mc:Choice>
              <mc:Fallback>
                <p:oleObj name="Equation" r:id="rId3" imgW="609336" imgH="393529"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6600" y="3779931"/>
                        <a:ext cx="1824037" cy="925513"/>
                      </a:xfrm>
                      <a:prstGeom prst="rect">
                        <a:avLst/>
                      </a:prstGeom>
                      <a:noFill/>
                      <a:ln>
                        <a:noFill/>
                      </a:ln>
                      <a:effec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498464712"/>
              </p:ext>
            </p:extLst>
          </p:nvPr>
        </p:nvGraphicFramePr>
        <p:xfrm>
          <a:off x="2006600" y="4876244"/>
          <a:ext cx="6486525" cy="984250"/>
        </p:xfrm>
        <a:graphic>
          <a:graphicData uri="http://schemas.openxmlformats.org/presentationml/2006/ole">
            <mc:AlternateContent xmlns:mc="http://schemas.openxmlformats.org/markup-compatibility/2006">
              <mc:Choice xmlns:v="urn:schemas-microsoft-com:vml" Requires="v">
                <p:oleObj spid="_x0000_s29825" name="Equation" r:id="rId5" imgW="2324100" imgH="469900" progId="Equation.DSMT4">
                  <p:embed/>
                </p:oleObj>
              </mc:Choice>
              <mc:Fallback>
                <p:oleObj name="Equation" r:id="rId5" imgW="2324100" imgH="4699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6600" y="4876244"/>
                        <a:ext cx="6486525" cy="98425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1818716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66232" y="2147194"/>
            <a:ext cx="7082771" cy="1323439"/>
          </a:xfrm>
          <a:prstGeom prst="rect">
            <a:avLst/>
          </a:prstGeom>
          <a:noFill/>
        </p:spPr>
        <p:txBody>
          <a:bodyPr wrap="square" rtlCol="0">
            <a:spAutoFit/>
          </a:bodyPr>
          <a:lstStyle/>
          <a:p>
            <a:pPr>
              <a:lnSpc>
                <a:spcPct val="125000"/>
              </a:lnSpc>
            </a:pPr>
            <a:r>
              <a:rPr lang="zh-CN" altLang="en-US" sz="3200" b="1" dirty="0" smtClean="0"/>
              <a:t>作业：</a:t>
            </a:r>
            <a:endParaRPr lang="en-US" altLang="zh-CN" sz="3200" b="1" dirty="0" smtClean="0"/>
          </a:p>
          <a:p>
            <a:pPr>
              <a:lnSpc>
                <a:spcPct val="125000"/>
              </a:lnSpc>
            </a:pPr>
            <a:r>
              <a:rPr lang="en-US" altLang="zh-CN" sz="3200" b="1" dirty="0" smtClean="0"/>
              <a:t>134</a:t>
            </a:r>
            <a:r>
              <a:rPr lang="zh-CN" altLang="en-US" sz="3200" b="1" dirty="0" smtClean="0"/>
              <a:t>页计算题</a:t>
            </a:r>
            <a:r>
              <a:rPr lang="en-US" altLang="zh-CN" sz="3200" b="1" dirty="0" smtClean="0"/>
              <a:t>14</a:t>
            </a:r>
            <a:r>
              <a:rPr lang="zh-CN" altLang="en-US" sz="3200" b="1" dirty="0" smtClean="0"/>
              <a:t>，</a:t>
            </a:r>
            <a:r>
              <a:rPr lang="en-US" altLang="zh-CN" sz="3200" b="1" dirty="0" smtClean="0"/>
              <a:t>18</a:t>
            </a:r>
            <a:endParaRPr lang="zh-CN" altLang="en-US" sz="3200" b="1"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3376</TotalTime>
  <Words>1859</Words>
  <Application>Microsoft Office PowerPoint</Application>
  <PresentationFormat>宽屏</PresentationFormat>
  <Paragraphs>158</Paragraphs>
  <Slides>24</Slides>
  <Notes>8</Notes>
  <HiddenSlides>2</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24</vt:i4>
      </vt:variant>
    </vt:vector>
  </HeadingPairs>
  <TitlesOfParts>
    <vt:vector size="38" baseType="lpstr">
      <vt:lpstr>Microsoft Yahei</vt:lpstr>
      <vt:lpstr>黑体</vt:lpstr>
      <vt:lpstr>黑体</vt:lpstr>
      <vt:lpstr>楷体_GB2312</vt:lpstr>
      <vt:lpstr>宋体</vt:lpstr>
      <vt:lpstr>Arial</vt:lpstr>
      <vt:lpstr>Calibri</vt:lpstr>
      <vt:lpstr>Calibri Light</vt:lpstr>
      <vt:lpstr>Symbol</vt:lpstr>
      <vt:lpstr>Times New Roman</vt:lpstr>
      <vt:lpstr>Wingdings</vt:lpstr>
      <vt:lpstr>Office 主题</vt:lpstr>
      <vt:lpstr>Equation</vt:lpstr>
      <vt:lpstr>公式</vt:lpstr>
      <vt:lpstr>判断题</vt:lpstr>
      <vt:lpstr>PowerPoint 演示文稿</vt:lpstr>
      <vt:lpstr>PowerPoint 演示文稿</vt:lpstr>
      <vt:lpstr>PowerPoint 演示文稿</vt:lpstr>
      <vt:lpstr>PowerPoint 演示文稿</vt:lpstr>
      <vt:lpstr>PowerPoint 演示文稿</vt:lpstr>
      <vt:lpstr>思考题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单选题</vt:lpstr>
      <vt:lpstr>PowerPoint 演示文稿</vt:lpstr>
      <vt:lpstr>单选题</vt:lpstr>
      <vt:lpstr>PowerPoint 演示文稿</vt:lpstr>
      <vt:lpstr>PowerPoint 演示文稿</vt:lpstr>
      <vt:lpstr>PowerPoint 演示文稿</vt:lpstr>
      <vt:lpstr>PowerPoint 演示文稿</vt:lpstr>
      <vt:lpstr>PowerPoint 演示文稿</vt:lpstr>
    </vt:vector>
  </TitlesOfParts>
  <Company>Www.SangSan.Cn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桑三博客</dc:creator>
  <cp:lastModifiedBy>hsl</cp:lastModifiedBy>
  <cp:revision>195</cp:revision>
  <dcterms:created xsi:type="dcterms:W3CDTF">2017-10-22T09:48:47Z</dcterms:created>
  <dcterms:modified xsi:type="dcterms:W3CDTF">2021-05-23T13:38:15Z</dcterms:modified>
</cp:coreProperties>
</file>