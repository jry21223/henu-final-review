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8" r:id="rId2"/>
    <p:sldId id="259" r:id="rId3"/>
    <p:sldId id="260" r:id="rId4"/>
    <p:sldId id="261" r:id="rId5"/>
    <p:sldId id="262" r:id="rId6"/>
    <p:sldId id="284" r:id="rId7"/>
    <p:sldId id="278" r:id="rId8"/>
    <p:sldId id="285" r:id="rId9"/>
    <p:sldId id="282" r:id="rId10"/>
    <p:sldId id="286" r:id="rId11"/>
    <p:sldId id="264" r:id="rId12"/>
    <p:sldId id="276" r:id="rId13"/>
    <p:sldId id="277" r:id="rId14"/>
    <p:sldId id="267" r:id="rId15"/>
    <p:sldId id="268" r:id="rId16"/>
    <p:sldId id="269" r:id="rId17"/>
    <p:sldId id="272" r:id="rId18"/>
    <p:sldId id="273" r:id="rId19"/>
    <p:sldId id="279" r:id="rId20"/>
    <p:sldId id="287" r:id="rId21"/>
    <p:sldId id="280"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828" autoAdjust="0"/>
  </p:normalViewPr>
  <p:slideViewPr>
    <p:cSldViewPr snapToGrid="0">
      <p:cViewPr varScale="1">
        <p:scale>
          <a:sx n="81" d="100"/>
          <a:sy n="81" d="100"/>
        </p:scale>
        <p:origin x="90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7.wmf"/><Relationship Id="rId7" Type="http://schemas.openxmlformats.org/officeDocument/2006/relationships/image" Target="../media/image21.e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emf"/><Relationship Id="rId5" Type="http://schemas.openxmlformats.org/officeDocument/2006/relationships/image" Target="../media/image19.emf"/><Relationship Id="rId10" Type="http://schemas.openxmlformats.org/officeDocument/2006/relationships/image" Target="../media/image24.wmf"/><Relationship Id="rId4" Type="http://schemas.openxmlformats.org/officeDocument/2006/relationships/image" Target="../media/image18.emf"/><Relationship Id="rId9" Type="http://schemas.openxmlformats.org/officeDocument/2006/relationships/image" Target="../media/image23.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emf"/><Relationship Id="rId5" Type="http://schemas.openxmlformats.org/officeDocument/2006/relationships/image" Target="../media/image30.wmf"/><Relationship Id="rId4" Type="http://schemas.openxmlformats.org/officeDocument/2006/relationships/image" Target="../media/image29.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6.emf"/><Relationship Id="rId3" Type="http://schemas.openxmlformats.org/officeDocument/2006/relationships/image" Target="../media/image36.wmf"/><Relationship Id="rId7" Type="http://schemas.openxmlformats.org/officeDocument/2006/relationships/image" Target="../media/image40.wmf"/><Relationship Id="rId12" Type="http://schemas.openxmlformats.org/officeDocument/2006/relationships/image" Target="../media/image45.emf"/><Relationship Id="rId2" Type="http://schemas.openxmlformats.org/officeDocument/2006/relationships/image" Target="../media/image35.wmf"/><Relationship Id="rId1" Type="http://schemas.openxmlformats.org/officeDocument/2006/relationships/image" Target="../media/image34.emf"/><Relationship Id="rId6" Type="http://schemas.openxmlformats.org/officeDocument/2006/relationships/image" Target="../media/image39.wmf"/><Relationship Id="rId11" Type="http://schemas.openxmlformats.org/officeDocument/2006/relationships/image" Target="../media/image44.wmf"/><Relationship Id="rId5" Type="http://schemas.openxmlformats.org/officeDocument/2006/relationships/image" Target="../media/image38.wmf"/><Relationship Id="rId10" Type="http://schemas.openxmlformats.org/officeDocument/2006/relationships/image" Target="../media/image43.wmf"/><Relationship Id="rId4" Type="http://schemas.openxmlformats.org/officeDocument/2006/relationships/image" Target="../media/image37.wmf"/><Relationship Id="rId9" Type="http://schemas.openxmlformats.org/officeDocument/2006/relationships/image" Target="../media/image4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2021/6/27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电磁炉上金属锅中感应出涡电流</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2</a:t>
            </a:fld>
            <a:endParaRPr lang="zh-CN" altLang="en-US"/>
          </a:p>
        </p:txBody>
      </p:sp>
    </p:spTree>
    <p:extLst>
      <p:ext uri="{BB962C8B-B14F-4D97-AF65-F5344CB8AC3E}">
        <p14:creationId xmlns:p14="http://schemas.microsoft.com/office/powerpoint/2010/main" val="3559757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洛伦兹力不做功，动生电动势提供的能量最终来自克服安培力所做的功。动生电动势在量值上等于在单位时间内导线所切割的磁感应线数。</a:t>
            </a:r>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8</a:t>
            </a:fld>
            <a:endParaRPr lang="zh-CN" altLang="en-US"/>
          </a:p>
        </p:txBody>
      </p:sp>
    </p:spTree>
    <p:extLst>
      <p:ext uri="{BB962C8B-B14F-4D97-AF65-F5344CB8AC3E}">
        <p14:creationId xmlns:p14="http://schemas.microsoft.com/office/powerpoint/2010/main" val="3352202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smtClean="0"/>
              <a:t>边</a:t>
            </a:r>
            <a:r>
              <a:rPr lang="en-US" altLang="zh-CN" sz="1200" b="1" smtClean="0"/>
              <a:t>1</a:t>
            </a:r>
            <a:r>
              <a:rPr lang="zh-CN" altLang="en-US" sz="1200" b="1" smtClean="0"/>
              <a:t>和边</a:t>
            </a:r>
            <a:r>
              <a:rPr lang="en-US" altLang="zh-CN" sz="1200" b="1" smtClean="0"/>
              <a:t>3</a:t>
            </a:r>
            <a:r>
              <a:rPr lang="zh-CN" altLang="en-US" sz="1200" b="1" smtClean="0"/>
              <a:t>中，电子受到的是垂直于导线的推力，磁力不能推动电荷沿杆的长度方向运动，所以在边</a:t>
            </a:r>
            <a:r>
              <a:rPr lang="en-US" altLang="zh-CN" sz="1200" b="1" smtClean="0"/>
              <a:t>1</a:t>
            </a:r>
            <a:r>
              <a:rPr lang="zh-CN" altLang="en-US" sz="1200" b="1" smtClean="0"/>
              <a:t>和边</a:t>
            </a:r>
            <a:r>
              <a:rPr lang="en-US" altLang="zh-CN" sz="1200" b="1" smtClean="0"/>
              <a:t>3</a:t>
            </a:r>
            <a:r>
              <a:rPr lang="zh-CN" altLang="en-US" sz="1200" b="1" smtClean="0"/>
              <a:t>中没有动生电动势。</a:t>
            </a:r>
          </a:p>
          <a:p>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16</a:t>
            </a:fld>
            <a:endParaRPr lang="zh-CN" altLang="en-US"/>
          </a:p>
        </p:txBody>
      </p:sp>
    </p:spTree>
    <p:extLst>
      <p:ext uri="{BB962C8B-B14F-4D97-AF65-F5344CB8AC3E}">
        <p14:creationId xmlns:p14="http://schemas.microsoft.com/office/powerpoint/2010/main" val="156608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C</a:t>
            </a:r>
            <a:endParaRPr lang="zh-CN" altLang="en-US"/>
          </a:p>
        </p:txBody>
      </p:sp>
      <p:sp>
        <p:nvSpPr>
          <p:cNvPr id="4" name="灯片编号占位符 3"/>
          <p:cNvSpPr>
            <a:spLocks noGrp="1"/>
          </p:cNvSpPr>
          <p:nvPr>
            <p:ph type="sldNum" sz="quarter" idx="10"/>
          </p:nvPr>
        </p:nvSpPr>
        <p:spPr/>
        <p:txBody>
          <a:bodyPr/>
          <a:lstStyle/>
          <a:p>
            <a:fld id="{E0AC87C1-8720-44BC-97C4-3E56FDE22118}" type="slidenum">
              <a:rPr lang="zh-CN" altLang="en-US" smtClean="0"/>
              <a:t>19</a:t>
            </a:fld>
            <a:endParaRPr lang="zh-CN" altLang="en-US"/>
          </a:p>
        </p:txBody>
      </p:sp>
    </p:spTree>
    <p:extLst>
      <p:ext uri="{BB962C8B-B14F-4D97-AF65-F5344CB8AC3E}">
        <p14:creationId xmlns:p14="http://schemas.microsoft.com/office/powerpoint/2010/main" val="33309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2021/6/27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19.emf"/><Relationship Id="rId18" Type="http://schemas.openxmlformats.org/officeDocument/2006/relationships/oleObject" Target="../embeddings/oleObject10.bin"/><Relationship Id="rId3" Type="http://schemas.openxmlformats.org/officeDocument/2006/relationships/notesSlide" Target="../notesSlides/notesSlide2.xml"/><Relationship Id="rId21" Type="http://schemas.openxmlformats.org/officeDocument/2006/relationships/image" Target="../media/image23.emf"/><Relationship Id="rId7" Type="http://schemas.openxmlformats.org/officeDocument/2006/relationships/image" Target="../media/image16.wmf"/><Relationship Id="rId12" Type="http://schemas.openxmlformats.org/officeDocument/2006/relationships/oleObject" Target="../embeddings/oleObject7.bin"/><Relationship Id="rId17" Type="http://schemas.openxmlformats.org/officeDocument/2006/relationships/image" Target="../media/image21.emf"/><Relationship Id="rId2" Type="http://schemas.openxmlformats.org/officeDocument/2006/relationships/slideLayout" Target="../slideLayouts/slideLayout7.xml"/><Relationship Id="rId16" Type="http://schemas.openxmlformats.org/officeDocument/2006/relationships/oleObject" Target="../embeddings/oleObject9.bin"/><Relationship Id="rId20" Type="http://schemas.openxmlformats.org/officeDocument/2006/relationships/oleObject" Target="../embeddings/oleObject11.bin"/><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18.emf"/><Relationship Id="rId24" Type="http://schemas.openxmlformats.org/officeDocument/2006/relationships/image" Target="../media/image24.png"/><Relationship Id="rId5" Type="http://schemas.openxmlformats.org/officeDocument/2006/relationships/image" Target="../media/image15.wmf"/><Relationship Id="rId15" Type="http://schemas.openxmlformats.org/officeDocument/2006/relationships/image" Target="../media/image20.emf"/><Relationship Id="rId23" Type="http://schemas.openxmlformats.org/officeDocument/2006/relationships/image" Target="../media/image24.wmf"/><Relationship Id="rId10" Type="http://schemas.openxmlformats.org/officeDocument/2006/relationships/oleObject" Target="../embeddings/oleObject6.bin"/><Relationship Id="rId19" Type="http://schemas.openxmlformats.org/officeDocument/2006/relationships/image" Target="../media/image22.emf"/><Relationship Id="rId4" Type="http://schemas.openxmlformats.org/officeDocument/2006/relationships/oleObject" Target="../embeddings/oleObject3.bin"/><Relationship Id="rId9" Type="http://schemas.openxmlformats.org/officeDocument/2006/relationships/image" Target="../media/image17.wmf"/><Relationship Id="rId14" Type="http://schemas.openxmlformats.org/officeDocument/2006/relationships/oleObject" Target="../embeddings/oleObject8.bin"/><Relationship Id="rId22"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0.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7.wmf"/><Relationship Id="rId11" Type="http://schemas.openxmlformats.org/officeDocument/2006/relationships/image" Target="../media/image29.wmf"/><Relationship Id="rId5" Type="http://schemas.openxmlformats.org/officeDocument/2006/relationships/oleObject" Target="../embeddings/oleObject14.bin"/><Relationship Id="rId10" Type="http://schemas.openxmlformats.org/officeDocument/2006/relationships/oleObject" Target="../embeddings/oleObject17.bin"/><Relationship Id="rId4" Type="http://schemas.openxmlformats.org/officeDocument/2006/relationships/image" Target="../media/image26.emf"/><Relationship Id="rId9" Type="http://schemas.openxmlformats.org/officeDocument/2006/relationships/image" Target="../media/image28.wmf"/></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24.bin"/><Relationship Id="rId18" Type="http://schemas.openxmlformats.org/officeDocument/2006/relationships/image" Target="../media/image41.wmf"/><Relationship Id="rId26" Type="http://schemas.openxmlformats.org/officeDocument/2006/relationships/image" Target="../media/image45.e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38.wmf"/><Relationship Id="rId17" Type="http://schemas.openxmlformats.org/officeDocument/2006/relationships/oleObject" Target="../embeddings/oleObject26.bin"/><Relationship Id="rId25" Type="http://schemas.openxmlformats.org/officeDocument/2006/relationships/oleObject" Target="../embeddings/oleObject30.bin"/><Relationship Id="rId2" Type="http://schemas.openxmlformats.org/officeDocument/2006/relationships/slideLayout" Target="../slideLayouts/slideLayout7.xml"/><Relationship Id="rId16" Type="http://schemas.openxmlformats.org/officeDocument/2006/relationships/image" Target="../media/image40.wmf"/><Relationship Id="rId20" Type="http://schemas.openxmlformats.org/officeDocument/2006/relationships/image" Target="../media/image42.wmf"/><Relationship Id="rId1" Type="http://schemas.openxmlformats.org/officeDocument/2006/relationships/vmlDrawing" Target="../drawings/vmlDrawing5.vml"/><Relationship Id="rId6" Type="http://schemas.openxmlformats.org/officeDocument/2006/relationships/image" Target="../media/image35.wmf"/><Relationship Id="rId11" Type="http://schemas.openxmlformats.org/officeDocument/2006/relationships/oleObject" Target="../embeddings/oleObject23.bin"/><Relationship Id="rId24" Type="http://schemas.openxmlformats.org/officeDocument/2006/relationships/image" Target="../media/image44.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28" Type="http://schemas.openxmlformats.org/officeDocument/2006/relationships/image" Target="../media/image46.emf"/><Relationship Id="rId10" Type="http://schemas.openxmlformats.org/officeDocument/2006/relationships/image" Target="../media/image37.wmf"/><Relationship Id="rId19" Type="http://schemas.openxmlformats.org/officeDocument/2006/relationships/oleObject" Target="../embeddings/oleObject27.bin"/><Relationship Id="rId4" Type="http://schemas.openxmlformats.org/officeDocument/2006/relationships/image" Target="../media/image34.emf"/><Relationship Id="rId9" Type="http://schemas.openxmlformats.org/officeDocument/2006/relationships/oleObject" Target="../embeddings/oleObject22.bin"/><Relationship Id="rId14" Type="http://schemas.openxmlformats.org/officeDocument/2006/relationships/image" Target="../media/image39.wmf"/><Relationship Id="rId22" Type="http://schemas.openxmlformats.org/officeDocument/2006/relationships/image" Target="../media/image43.wmf"/><Relationship Id="rId27" Type="http://schemas.openxmlformats.org/officeDocument/2006/relationships/oleObject" Target="../embeddings/oleObject31.bin"/></Relationships>
</file>

<file path=ppt/slides/_rels/slide15.xml.rels><?xml version="1.0" encoding="UTF-8" standalone="yes"?>
<Relationships xmlns="http://schemas.openxmlformats.org/package/2006/relationships"><Relationship Id="rId8" Type="http://schemas.openxmlformats.org/officeDocument/2006/relationships/image" Target="../media/image49.emf"/><Relationship Id="rId13"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51.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8.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image" Target="../media/image53.jpeg"/><Relationship Id="rId10" Type="http://schemas.openxmlformats.org/officeDocument/2006/relationships/image" Target="../media/image50.emf"/><Relationship Id="rId4" Type="http://schemas.openxmlformats.org/officeDocument/2006/relationships/image" Target="../media/image47.wmf"/><Relationship Id="rId9" Type="http://schemas.openxmlformats.org/officeDocument/2006/relationships/oleObject" Target="../embeddings/oleObject35.bin"/><Relationship Id="rId14" Type="http://schemas.openxmlformats.org/officeDocument/2006/relationships/image" Target="../media/image52.emf"/></Relationships>
</file>

<file path=ppt/slides/_rels/slide16.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notesSlide" Target="../notesSlides/notesSlide3.xml"/><Relationship Id="rId7"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57.jpe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60.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61.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p:nvPr/>
        </p:nvSpPr>
        <p:spPr>
          <a:xfrm>
            <a:off x="1374813" y="260648"/>
            <a:ext cx="9534325" cy="6329938"/>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lvl="0" defTabSz="762000">
              <a:spcBef>
                <a:spcPts val="1900"/>
              </a:spcBef>
              <a:defRPr sz="1800"/>
            </a:pPr>
            <a:r>
              <a:rPr sz="2400" dirty="0">
                <a:solidFill>
                  <a:srgbClr val="0000CC"/>
                </a:solidFill>
                <a:latin typeface="SimHei"/>
                <a:ea typeface="SimHei"/>
                <a:cs typeface="SimHei"/>
                <a:sym typeface="SimHei"/>
              </a:rPr>
              <a:t>   </a:t>
            </a:r>
            <a:r>
              <a:rPr lang="en-US" sz="2400" dirty="0" smtClean="0">
                <a:solidFill>
                  <a:srgbClr val="0000CC"/>
                </a:solidFill>
                <a:latin typeface="SimHei"/>
                <a:ea typeface="SimHei"/>
                <a:cs typeface="SimHei"/>
                <a:sym typeface="SimHei"/>
              </a:rPr>
              <a:t>       </a:t>
            </a:r>
            <a:r>
              <a:rPr sz="3200" dirty="0" smtClean="0">
                <a:solidFill>
                  <a:srgbClr val="0000FF"/>
                </a:solidFill>
                <a:latin typeface="SimHei"/>
                <a:ea typeface="SimHei"/>
                <a:cs typeface="SimHei"/>
                <a:sym typeface="SimHei"/>
              </a:rPr>
              <a:t>第</a:t>
            </a:r>
            <a:r>
              <a:rPr lang="en-US" altLang="zh-CN" sz="3200" dirty="0" smtClean="0">
                <a:solidFill>
                  <a:srgbClr val="0000FF"/>
                </a:solidFill>
                <a:latin typeface="SimHei"/>
                <a:ea typeface="SimHei"/>
                <a:cs typeface="SimHei"/>
                <a:sym typeface="SimHei"/>
              </a:rPr>
              <a:t>20</a:t>
            </a:r>
            <a:r>
              <a:rPr sz="3200" dirty="0" smtClean="0">
                <a:solidFill>
                  <a:srgbClr val="0000FF"/>
                </a:solidFill>
                <a:latin typeface="SimHei"/>
                <a:ea typeface="SimHei"/>
                <a:cs typeface="SimHei"/>
                <a:sym typeface="SimHei"/>
              </a:rPr>
              <a:t>章 </a:t>
            </a:r>
            <a:r>
              <a:rPr lang="zh-CN" altLang="en-US" sz="3200" dirty="0" smtClean="0">
                <a:solidFill>
                  <a:srgbClr val="0000FF"/>
                </a:solidFill>
                <a:latin typeface="SimHei"/>
                <a:ea typeface="SimHei"/>
                <a:cs typeface="SimHei"/>
                <a:sym typeface="SimHei"/>
              </a:rPr>
              <a:t>电磁感应</a:t>
            </a:r>
            <a:endParaRPr lang="en-US" altLang="zh-CN" sz="3200" dirty="0" smtClean="0">
              <a:solidFill>
                <a:srgbClr val="0000FF"/>
              </a:solidFill>
              <a:latin typeface="SimHei"/>
              <a:ea typeface="SimHei"/>
              <a:cs typeface="SimHei"/>
              <a:sym typeface="SimHei"/>
            </a:endParaRPr>
          </a:p>
          <a:p>
            <a:pPr defTabSz="762000">
              <a:spcBef>
                <a:spcPts val="1900"/>
              </a:spcBef>
              <a:defRPr sz="1800"/>
            </a:pPr>
            <a:r>
              <a:rPr sz="2400" dirty="0" smtClean="0">
                <a:solidFill>
                  <a:srgbClr val="FF0000"/>
                </a:solidFill>
                <a:latin typeface="SimHei"/>
                <a:ea typeface="SimHei"/>
                <a:cs typeface="SimHei"/>
                <a:sym typeface="SimHei"/>
              </a:rPr>
              <a:t>§</a:t>
            </a:r>
            <a:r>
              <a:rPr lang="en-US" sz="2400" dirty="0">
                <a:solidFill>
                  <a:srgbClr val="FF0000"/>
                </a:solidFill>
                <a:latin typeface="SimHei"/>
                <a:ea typeface="SimHei"/>
                <a:cs typeface="SimHei"/>
                <a:sym typeface="SimHei"/>
              </a:rPr>
              <a:t>20</a:t>
            </a:r>
            <a:r>
              <a:rPr sz="2400" dirty="0" smtClean="0">
                <a:solidFill>
                  <a:srgbClr val="FF0000"/>
                </a:solidFill>
                <a:latin typeface="SimHei"/>
                <a:ea typeface="SimHei"/>
                <a:cs typeface="SimHei"/>
                <a:sym typeface="SimHei"/>
              </a:rPr>
              <a:t>.1</a:t>
            </a:r>
            <a:r>
              <a:rPr lang="en-US" sz="2400" dirty="0" smtClean="0">
                <a:solidFill>
                  <a:srgbClr val="FF0000"/>
                </a:solidFill>
                <a:latin typeface="SimHei"/>
                <a:ea typeface="SimHei"/>
                <a:cs typeface="SimHei"/>
                <a:sym typeface="SimHei"/>
              </a:rPr>
              <a:t> </a:t>
            </a:r>
            <a:r>
              <a:rPr lang="zh-CN" altLang="en-US" sz="2400" dirty="0" smtClean="0">
                <a:solidFill>
                  <a:srgbClr val="FF0000"/>
                </a:solidFill>
                <a:latin typeface="SimHei"/>
                <a:ea typeface="SimHei"/>
                <a:cs typeface="SimHei"/>
                <a:sym typeface="SimHei"/>
              </a:rPr>
              <a:t>动生电动势</a:t>
            </a:r>
            <a:endParaRPr lang="en-US" altLang="zh-CN" sz="2400" dirty="0">
              <a:solidFill>
                <a:srgbClr val="FF0000"/>
              </a:solidFill>
              <a:latin typeface="SimHei"/>
              <a:ea typeface="SimHei"/>
              <a:cs typeface="SimHei"/>
              <a:sym typeface="SimHei"/>
            </a:endParaRPr>
          </a:p>
          <a:p>
            <a:pPr defTabSz="762000">
              <a:spcBef>
                <a:spcPts val="1900"/>
              </a:spcBef>
              <a:defRPr sz="1800"/>
            </a:pPr>
            <a:r>
              <a:rPr lang="en-US" altLang="zh-CN" sz="2400" dirty="0">
                <a:solidFill>
                  <a:srgbClr val="FF0000"/>
                </a:solidFill>
                <a:latin typeface="SimHei"/>
                <a:ea typeface="SimHei"/>
                <a:cs typeface="SimHei"/>
                <a:sym typeface="SimHei"/>
              </a:rPr>
              <a:t>§</a:t>
            </a:r>
            <a:r>
              <a:rPr lang="en-US" altLang="zh-CN" sz="2400" dirty="0" smtClean="0">
                <a:solidFill>
                  <a:srgbClr val="FF0000"/>
                </a:solidFill>
                <a:latin typeface="SimHei"/>
                <a:ea typeface="SimHei"/>
                <a:cs typeface="SimHei"/>
                <a:sym typeface="SimHei"/>
              </a:rPr>
              <a:t>20.2 </a:t>
            </a:r>
            <a:r>
              <a:rPr lang="zh-CN" altLang="en-US" sz="2400" dirty="0" smtClean="0">
                <a:solidFill>
                  <a:srgbClr val="FF0000"/>
                </a:solidFill>
                <a:latin typeface="SimHei"/>
                <a:ea typeface="SimHei"/>
                <a:cs typeface="SimHei"/>
                <a:sym typeface="SimHei"/>
              </a:rPr>
              <a:t>发电机</a:t>
            </a:r>
            <a:endParaRPr lang="en-US" altLang="zh-CN" sz="2400" dirty="0" smtClean="0">
              <a:solidFill>
                <a:srgbClr val="FF0000"/>
              </a:solidFill>
              <a:latin typeface="SimHei"/>
              <a:ea typeface="SimHei"/>
              <a:cs typeface="SimHei"/>
              <a:sym typeface="SimHei"/>
            </a:endParaRPr>
          </a:p>
          <a:p>
            <a:pPr defTabSz="762000">
              <a:spcBef>
                <a:spcPts val="1900"/>
              </a:spcBef>
              <a:defRPr sz="1800"/>
            </a:pPr>
            <a:r>
              <a:rPr lang="en-US" altLang="zh-CN" sz="2400" dirty="0">
                <a:solidFill>
                  <a:srgbClr val="FF0000"/>
                </a:solidFill>
                <a:latin typeface="SimHei"/>
                <a:ea typeface="SimHei"/>
                <a:cs typeface="SimHei"/>
                <a:sym typeface="SimHei"/>
              </a:rPr>
              <a:t>§</a:t>
            </a:r>
            <a:r>
              <a:rPr lang="en-US" altLang="zh-CN" sz="2400" dirty="0" smtClean="0">
                <a:solidFill>
                  <a:srgbClr val="FF0000"/>
                </a:solidFill>
                <a:latin typeface="SimHei"/>
                <a:ea typeface="SimHei"/>
                <a:cs typeface="SimHei"/>
                <a:sym typeface="SimHei"/>
              </a:rPr>
              <a:t>20.3 </a:t>
            </a:r>
            <a:r>
              <a:rPr lang="zh-CN" altLang="en-US" sz="2400" dirty="0" smtClean="0">
                <a:solidFill>
                  <a:srgbClr val="FF0000"/>
                </a:solidFill>
                <a:latin typeface="SimHei"/>
                <a:ea typeface="SimHei"/>
                <a:cs typeface="SimHei"/>
                <a:sym typeface="SimHei"/>
              </a:rPr>
              <a:t>法拉第</a:t>
            </a:r>
            <a:r>
              <a:rPr lang="zh-CN" altLang="en-US" sz="2400" dirty="0">
                <a:solidFill>
                  <a:srgbClr val="FF0000"/>
                </a:solidFill>
                <a:latin typeface="SimHei"/>
                <a:ea typeface="SimHei"/>
                <a:cs typeface="SimHei"/>
              </a:rPr>
              <a:t>定律</a:t>
            </a:r>
          </a:p>
          <a:p>
            <a:pPr defTabSz="762000">
              <a:spcBef>
                <a:spcPts val="1900"/>
              </a:spcBef>
              <a:defRPr sz="1800"/>
            </a:pPr>
            <a:r>
              <a:rPr sz="2400" dirty="0" smtClean="0">
                <a:solidFill>
                  <a:srgbClr val="FF0000"/>
                </a:solidFill>
                <a:latin typeface="SimHei"/>
                <a:ea typeface="SimHei"/>
                <a:cs typeface="SimHei"/>
                <a:sym typeface="SimHei"/>
              </a:rPr>
              <a:t>§</a:t>
            </a:r>
            <a:r>
              <a:rPr lang="en-US" sz="2400" dirty="0" smtClean="0">
                <a:solidFill>
                  <a:srgbClr val="FF0000"/>
                </a:solidFill>
                <a:latin typeface="SimHei"/>
                <a:ea typeface="SimHei"/>
                <a:cs typeface="SimHei"/>
                <a:sym typeface="SimHei"/>
              </a:rPr>
              <a:t>20</a:t>
            </a:r>
            <a:r>
              <a:rPr sz="2400" dirty="0" smtClean="0">
                <a:solidFill>
                  <a:srgbClr val="FF0000"/>
                </a:solidFill>
                <a:latin typeface="SimHei"/>
                <a:ea typeface="SimHei"/>
                <a:cs typeface="SimHei"/>
                <a:sym typeface="SimHei"/>
              </a:rPr>
              <a:t>.</a:t>
            </a:r>
            <a:r>
              <a:rPr lang="en-US" sz="2400" dirty="0" smtClean="0">
                <a:solidFill>
                  <a:srgbClr val="FF0000"/>
                </a:solidFill>
                <a:latin typeface="SimHei"/>
                <a:ea typeface="SimHei"/>
                <a:cs typeface="SimHei"/>
                <a:sym typeface="SimHei"/>
              </a:rPr>
              <a:t>4</a:t>
            </a:r>
            <a:r>
              <a:rPr sz="2400" dirty="0" smtClean="0">
                <a:solidFill>
                  <a:srgbClr val="FF0000"/>
                </a:solidFill>
                <a:latin typeface="SimHei"/>
                <a:ea typeface="SimHei"/>
                <a:cs typeface="SimHei"/>
                <a:sym typeface="SimHei"/>
              </a:rPr>
              <a:t>  </a:t>
            </a:r>
            <a:r>
              <a:rPr lang="zh-CN" altLang="en-US" sz="2400" dirty="0" smtClean="0">
                <a:solidFill>
                  <a:srgbClr val="FF0000"/>
                </a:solidFill>
                <a:latin typeface="SimHei"/>
                <a:ea typeface="SimHei"/>
                <a:cs typeface="SimHei"/>
                <a:sym typeface="SimHei"/>
              </a:rPr>
              <a:t>楞次定律</a:t>
            </a:r>
            <a:endParaRPr sz="2400" dirty="0">
              <a:solidFill>
                <a:srgbClr val="FF0000"/>
              </a:solidFill>
              <a:latin typeface="SimHei"/>
              <a:ea typeface="SimHei"/>
              <a:cs typeface="SimHei"/>
              <a:sym typeface="SimHei"/>
            </a:endParaRPr>
          </a:p>
          <a:p>
            <a:pPr defTabSz="762000">
              <a:spcBef>
                <a:spcPts val="1400"/>
              </a:spcBef>
              <a:defRPr sz="1800"/>
            </a:pPr>
            <a:r>
              <a:rPr sz="2400" dirty="0" smtClean="0">
                <a:solidFill>
                  <a:srgbClr val="0000FF"/>
                </a:solidFill>
                <a:latin typeface="SimHei"/>
                <a:ea typeface="SimHei"/>
                <a:cs typeface="SimHei"/>
                <a:sym typeface="SimHei"/>
              </a:rPr>
              <a:t>§</a:t>
            </a:r>
            <a:r>
              <a:rPr lang="en-US" sz="2400" dirty="0" smtClean="0">
                <a:solidFill>
                  <a:srgbClr val="0000FF"/>
                </a:solidFill>
                <a:latin typeface="SimHei"/>
                <a:ea typeface="SimHei"/>
                <a:cs typeface="SimHei"/>
                <a:sym typeface="SimHei"/>
              </a:rPr>
              <a:t>20</a:t>
            </a:r>
            <a:r>
              <a:rPr sz="2400" dirty="0" smtClean="0">
                <a:solidFill>
                  <a:srgbClr val="0000FF"/>
                </a:solidFill>
                <a:latin typeface="SimHei"/>
                <a:ea typeface="SimHei"/>
                <a:cs typeface="SimHei"/>
                <a:sym typeface="SimHei"/>
              </a:rPr>
              <a:t>.</a:t>
            </a:r>
            <a:r>
              <a:rPr lang="en-US" sz="2400" dirty="0" smtClean="0">
                <a:solidFill>
                  <a:srgbClr val="0000FF"/>
                </a:solidFill>
                <a:latin typeface="SimHei"/>
                <a:ea typeface="SimHei"/>
                <a:cs typeface="SimHei"/>
                <a:sym typeface="SimHei"/>
              </a:rPr>
              <a:t>5  </a:t>
            </a:r>
            <a:r>
              <a:rPr lang="zh-CN" altLang="en-US" sz="2400" dirty="0" smtClean="0">
                <a:solidFill>
                  <a:srgbClr val="0000FF"/>
                </a:solidFill>
                <a:latin typeface="SimHei"/>
                <a:ea typeface="SimHei"/>
                <a:cs typeface="SimHei"/>
                <a:sym typeface="SimHei"/>
              </a:rPr>
              <a:t>电动机中的反电动势</a:t>
            </a:r>
            <a:endParaRPr lang="en-US" altLang="zh-CN" sz="2400" dirty="0" smtClean="0">
              <a:solidFill>
                <a:srgbClr val="0000FF"/>
              </a:solidFill>
              <a:latin typeface="SimHei"/>
              <a:ea typeface="SimHei"/>
              <a:cs typeface="SimHei"/>
              <a:sym typeface="SimHei"/>
            </a:endParaRPr>
          </a:p>
          <a:p>
            <a:pPr defTabSz="762000">
              <a:spcBef>
                <a:spcPts val="1400"/>
              </a:spcBef>
              <a:defRPr sz="1800"/>
            </a:pPr>
            <a:r>
              <a:rPr sz="2400" dirty="0" smtClean="0">
                <a:solidFill>
                  <a:srgbClr val="0000FF"/>
                </a:solidFill>
                <a:latin typeface="SimHei"/>
                <a:ea typeface="SimHei"/>
                <a:cs typeface="SimHei"/>
                <a:sym typeface="SimHei"/>
              </a:rPr>
              <a:t>§</a:t>
            </a:r>
            <a:r>
              <a:rPr lang="en-US" sz="2400" dirty="0" smtClean="0">
                <a:solidFill>
                  <a:srgbClr val="0000FF"/>
                </a:solidFill>
                <a:latin typeface="SimHei"/>
                <a:ea typeface="SimHei"/>
                <a:cs typeface="SimHei"/>
                <a:sym typeface="SimHei"/>
              </a:rPr>
              <a:t>20</a:t>
            </a:r>
            <a:r>
              <a:rPr sz="2400" dirty="0" smtClean="0">
                <a:solidFill>
                  <a:srgbClr val="0000FF"/>
                </a:solidFill>
                <a:latin typeface="SimHei"/>
                <a:ea typeface="SimHei"/>
                <a:cs typeface="SimHei"/>
                <a:sym typeface="SimHei"/>
              </a:rPr>
              <a:t>.</a:t>
            </a:r>
            <a:r>
              <a:rPr lang="en-US" sz="2400" dirty="0" smtClean="0">
                <a:solidFill>
                  <a:srgbClr val="0000FF"/>
                </a:solidFill>
                <a:latin typeface="SimHei"/>
                <a:ea typeface="SimHei"/>
                <a:cs typeface="SimHei"/>
                <a:sym typeface="SimHei"/>
              </a:rPr>
              <a:t>6  </a:t>
            </a:r>
            <a:r>
              <a:rPr lang="zh-CN" altLang="en-US" sz="2400" dirty="0" smtClean="0">
                <a:solidFill>
                  <a:srgbClr val="0000FF"/>
                </a:solidFill>
                <a:latin typeface="SimHei"/>
                <a:ea typeface="SimHei"/>
                <a:cs typeface="SimHei"/>
                <a:sym typeface="SimHei"/>
              </a:rPr>
              <a:t>变压器</a:t>
            </a:r>
            <a:endParaRPr lang="en-US" altLang="zh-CN" sz="2400" dirty="0" smtClean="0">
              <a:solidFill>
                <a:srgbClr val="0000FF"/>
              </a:solidFill>
              <a:latin typeface="SimHei"/>
              <a:ea typeface="SimHei"/>
              <a:cs typeface="SimHei"/>
              <a:sym typeface="SimHei"/>
            </a:endParaRPr>
          </a:p>
          <a:p>
            <a:pPr defTabSz="762000">
              <a:spcBef>
                <a:spcPts val="1400"/>
              </a:spcBef>
              <a:defRPr sz="1800"/>
            </a:pPr>
            <a:r>
              <a:rPr sz="2400" dirty="0" smtClean="0">
                <a:solidFill>
                  <a:srgbClr val="0000FF"/>
                </a:solidFill>
                <a:latin typeface="SimHei"/>
                <a:ea typeface="SimHei"/>
                <a:cs typeface="SimHei"/>
                <a:sym typeface="SimHei"/>
              </a:rPr>
              <a:t>§</a:t>
            </a:r>
            <a:r>
              <a:rPr lang="en-US" sz="2400" dirty="0" smtClean="0">
                <a:solidFill>
                  <a:srgbClr val="0000FF"/>
                </a:solidFill>
                <a:latin typeface="SimHei"/>
                <a:ea typeface="SimHei"/>
                <a:cs typeface="SimHei"/>
                <a:sym typeface="SimHei"/>
              </a:rPr>
              <a:t>20</a:t>
            </a:r>
            <a:r>
              <a:rPr sz="2400" dirty="0" smtClean="0">
                <a:solidFill>
                  <a:srgbClr val="0000FF"/>
                </a:solidFill>
                <a:latin typeface="SimHei"/>
                <a:ea typeface="SimHei"/>
                <a:cs typeface="SimHei"/>
                <a:sym typeface="SimHei"/>
              </a:rPr>
              <a:t>.</a:t>
            </a:r>
            <a:r>
              <a:rPr lang="en-US" sz="2400" dirty="0" smtClean="0">
                <a:solidFill>
                  <a:srgbClr val="0000FF"/>
                </a:solidFill>
                <a:latin typeface="SimHei"/>
                <a:ea typeface="SimHei"/>
                <a:cs typeface="SimHei"/>
                <a:sym typeface="SimHei"/>
              </a:rPr>
              <a:t>7  </a:t>
            </a:r>
            <a:r>
              <a:rPr lang="zh-CN" altLang="en-US" sz="2400" dirty="0" smtClean="0">
                <a:solidFill>
                  <a:srgbClr val="0000FF"/>
                </a:solidFill>
                <a:latin typeface="SimHei"/>
                <a:ea typeface="SimHei"/>
                <a:cs typeface="SimHei"/>
                <a:sym typeface="SimHei"/>
              </a:rPr>
              <a:t>涡电流</a:t>
            </a:r>
            <a:endParaRPr lang="en-US" altLang="zh-CN" sz="2400" dirty="0" smtClean="0">
              <a:solidFill>
                <a:srgbClr val="0000FF"/>
              </a:solidFill>
              <a:latin typeface="SimHei"/>
              <a:ea typeface="SimHei"/>
              <a:cs typeface="SimHei"/>
              <a:sym typeface="SimHei"/>
            </a:endParaRPr>
          </a:p>
          <a:p>
            <a:pPr defTabSz="762000">
              <a:spcBef>
                <a:spcPts val="1400"/>
              </a:spcBef>
              <a:defRPr sz="1800"/>
            </a:pPr>
            <a:r>
              <a:rPr lang="en-US" altLang="zh-CN" sz="2400" dirty="0">
                <a:solidFill>
                  <a:srgbClr val="0000FF"/>
                </a:solidFill>
                <a:latin typeface="SimHei"/>
                <a:ea typeface="SimHei"/>
                <a:cs typeface="SimHei"/>
                <a:sym typeface="SimHei"/>
              </a:rPr>
              <a:t>§</a:t>
            </a:r>
            <a:r>
              <a:rPr lang="en-US" altLang="zh-CN" sz="2400" dirty="0" smtClean="0">
                <a:solidFill>
                  <a:srgbClr val="0000FF"/>
                </a:solidFill>
                <a:latin typeface="SimHei"/>
                <a:ea typeface="SimHei"/>
                <a:cs typeface="SimHei"/>
                <a:sym typeface="SimHei"/>
              </a:rPr>
              <a:t>20.8  </a:t>
            </a:r>
            <a:r>
              <a:rPr lang="zh-CN" altLang="en-US" sz="2400" dirty="0" smtClean="0">
                <a:solidFill>
                  <a:srgbClr val="0000FF"/>
                </a:solidFill>
                <a:latin typeface="SimHei"/>
                <a:ea typeface="SimHei"/>
                <a:cs typeface="SimHei"/>
                <a:sym typeface="SimHei"/>
              </a:rPr>
              <a:t>感应电场</a:t>
            </a:r>
            <a:endParaRPr lang="en-US" altLang="zh-CN" sz="2400" dirty="0" smtClean="0">
              <a:solidFill>
                <a:srgbClr val="0000FF"/>
              </a:solidFill>
              <a:latin typeface="SimHei"/>
              <a:ea typeface="SimHei"/>
              <a:cs typeface="SimHei"/>
              <a:sym typeface="SimHei"/>
            </a:endParaRPr>
          </a:p>
          <a:p>
            <a:pPr defTabSz="762000">
              <a:spcBef>
                <a:spcPts val="1400"/>
              </a:spcBef>
              <a:defRPr sz="1800"/>
            </a:pPr>
            <a:r>
              <a:rPr lang="en-US" altLang="zh-CN" sz="2400" dirty="0">
                <a:solidFill>
                  <a:srgbClr val="0000FF"/>
                </a:solidFill>
                <a:latin typeface="SimHei"/>
                <a:ea typeface="SimHei"/>
                <a:cs typeface="SimHei"/>
                <a:sym typeface="SimHei"/>
              </a:rPr>
              <a:t>§</a:t>
            </a:r>
            <a:r>
              <a:rPr lang="en-US" altLang="zh-CN" sz="2400" dirty="0" smtClean="0">
                <a:solidFill>
                  <a:srgbClr val="0000FF"/>
                </a:solidFill>
                <a:latin typeface="SimHei"/>
                <a:ea typeface="SimHei"/>
                <a:cs typeface="SimHei"/>
                <a:sym typeface="SimHei"/>
              </a:rPr>
              <a:t>20.9  </a:t>
            </a:r>
            <a:r>
              <a:rPr lang="zh-CN" altLang="en-US" sz="2400" dirty="0" smtClean="0">
                <a:solidFill>
                  <a:srgbClr val="0000FF"/>
                </a:solidFill>
                <a:latin typeface="SimHei"/>
                <a:ea typeface="SimHei"/>
                <a:cs typeface="SimHei"/>
                <a:sym typeface="SimHei"/>
              </a:rPr>
              <a:t>电感</a:t>
            </a:r>
            <a:endParaRPr lang="en-US" altLang="zh-CN" sz="2400" dirty="0" smtClean="0">
              <a:solidFill>
                <a:srgbClr val="0000FF"/>
              </a:solidFill>
              <a:latin typeface="SimHei"/>
              <a:ea typeface="SimHei"/>
              <a:cs typeface="SimHei"/>
              <a:sym typeface="SimHei"/>
            </a:endParaRPr>
          </a:p>
          <a:p>
            <a:pPr defTabSz="762000">
              <a:spcBef>
                <a:spcPts val="1400"/>
              </a:spcBef>
              <a:defRPr sz="1800"/>
            </a:pPr>
            <a:r>
              <a:rPr lang="en-US" altLang="zh-CN" sz="2400" dirty="0">
                <a:solidFill>
                  <a:srgbClr val="0000FF"/>
                </a:solidFill>
                <a:latin typeface="SimHei"/>
                <a:ea typeface="SimHei"/>
                <a:cs typeface="SimHei"/>
                <a:sym typeface="SimHei"/>
              </a:rPr>
              <a:t>§</a:t>
            </a:r>
            <a:r>
              <a:rPr lang="en-US" altLang="zh-CN" sz="2400" dirty="0" smtClean="0">
                <a:solidFill>
                  <a:srgbClr val="0000FF"/>
                </a:solidFill>
                <a:latin typeface="SimHei"/>
                <a:ea typeface="SimHei"/>
                <a:cs typeface="SimHei"/>
                <a:sym typeface="SimHei"/>
              </a:rPr>
              <a:t>20.10 LR</a:t>
            </a:r>
            <a:r>
              <a:rPr lang="zh-CN" altLang="en-US" sz="2400" dirty="0" smtClean="0">
                <a:solidFill>
                  <a:srgbClr val="0000FF"/>
                </a:solidFill>
                <a:latin typeface="SimHei"/>
                <a:ea typeface="SimHei"/>
                <a:cs typeface="SimHei"/>
                <a:sym typeface="SimHei"/>
              </a:rPr>
              <a:t>电路</a:t>
            </a:r>
            <a:r>
              <a:rPr lang="en-US" altLang="zh-CN" sz="2400" dirty="0" smtClean="0">
                <a:solidFill>
                  <a:srgbClr val="0000FF"/>
                </a:solidFill>
                <a:latin typeface="SimHei"/>
                <a:ea typeface="SimHei"/>
                <a:cs typeface="SimHei"/>
                <a:sym typeface="SimHei"/>
              </a:rPr>
              <a:t>  </a:t>
            </a:r>
            <a:endParaRPr lang="en-US" sz="2400" dirty="0" smtClean="0">
              <a:solidFill>
                <a:srgbClr val="0000FF"/>
              </a:solidFill>
              <a:latin typeface="SimHei"/>
              <a:ea typeface="SimHei"/>
              <a:cs typeface="SimHei"/>
              <a:sym typeface="SimHei"/>
            </a:endParaRPr>
          </a:p>
        </p:txBody>
      </p:sp>
      <p:sp>
        <p:nvSpPr>
          <p:cNvPr id="2" name="TextBox 1"/>
          <p:cNvSpPr txBox="1"/>
          <p:nvPr/>
        </p:nvSpPr>
        <p:spPr>
          <a:xfrm>
            <a:off x="9552384" y="1463541"/>
            <a:ext cx="989376" cy="3416320"/>
          </a:xfrm>
          <a:prstGeom prst="rect">
            <a:avLst/>
          </a:prstGeom>
          <a:noFill/>
        </p:spPr>
        <p:txBody>
          <a:bodyPr wrap="square" rtlCol="0">
            <a:spAutoFit/>
          </a:bodyPr>
          <a:lstStyle/>
          <a:p>
            <a:r>
              <a:rPr lang="zh-CN" altLang="en-US" sz="3600" dirty="0" smtClean="0">
                <a:solidFill>
                  <a:srgbClr val="FF0000"/>
                </a:solidFill>
                <a:latin typeface="黑体" pitchFamily="49" charset="-122"/>
                <a:ea typeface="黑体" pitchFamily="49" charset="-122"/>
              </a:rPr>
              <a:t>电磁相互作用</a:t>
            </a:r>
            <a:endParaRPr lang="zh-CN" altLang="en-US" sz="3600" dirty="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val="221927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gia12141_co_20"/>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4689"/>
          <a:stretch/>
        </p:blipFill>
        <p:spPr bwMode="auto">
          <a:xfrm>
            <a:off x="22125" y="1"/>
            <a:ext cx="6743240" cy="6703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6745522" y="220784"/>
            <a:ext cx="4022255" cy="707886"/>
          </a:xfrm>
          <a:prstGeom prst="rect">
            <a:avLst/>
          </a:prstGeom>
          <a:noFill/>
        </p:spPr>
        <p:txBody>
          <a:bodyPr wrap="none" rtlCol="0">
            <a:spAutoFit/>
          </a:bodyPr>
          <a:lstStyle/>
          <a:p>
            <a:r>
              <a:rPr lang="zh-CN" altLang="en-US" sz="4000" b="1" dirty="0" smtClean="0"/>
              <a:t>第</a:t>
            </a:r>
            <a:r>
              <a:rPr lang="en-US" altLang="zh-CN" sz="4000" b="1" dirty="0" smtClean="0"/>
              <a:t>20</a:t>
            </a:r>
            <a:r>
              <a:rPr lang="zh-CN" altLang="en-US" sz="4000" b="1" dirty="0" smtClean="0"/>
              <a:t>章  电磁感应</a:t>
            </a:r>
            <a:endParaRPr lang="zh-CN" altLang="en-US" sz="4000" b="1" dirty="0"/>
          </a:p>
        </p:txBody>
      </p:sp>
      <p:sp>
        <p:nvSpPr>
          <p:cNvPr id="4" name="文本框 3"/>
          <p:cNvSpPr txBox="1"/>
          <p:nvPr/>
        </p:nvSpPr>
        <p:spPr>
          <a:xfrm>
            <a:off x="6765367" y="997844"/>
            <a:ext cx="5426635" cy="3862596"/>
          </a:xfrm>
          <a:prstGeom prst="rect">
            <a:avLst/>
          </a:prstGeom>
          <a:noFill/>
        </p:spPr>
        <p:txBody>
          <a:bodyPr wrap="square" rtlCol="0">
            <a:spAutoFit/>
          </a:bodyPr>
          <a:lstStyle/>
          <a:p>
            <a:pPr algn="just">
              <a:lnSpc>
                <a:spcPct val="125000"/>
              </a:lnSpc>
            </a:pPr>
            <a:r>
              <a:rPr lang="zh-CN" altLang="en-US" sz="2800" b="1" dirty="0" smtClean="0"/>
              <a:t>        电磁炉与具有电阻加热元件的电炉相比，有很多优势。在电磁炉中能量被消耗于金属灶具本身，而不是用于一个加热元件，因此效率约是传统电炉的两倍。</a:t>
            </a:r>
            <a:endParaRPr lang="en-US" altLang="zh-CN" sz="2800" b="1" dirty="0" smtClean="0"/>
          </a:p>
          <a:p>
            <a:pPr algn="just">
              <a:lnSpc>
                <a:spcPct val="125000"/>
              </a:lnSpc>
            </a:pPr>
            <a:r>
              <a:rPr lang="en-US" altLang="zh-CN" sz="2800" b="1" dirty="0" smtClean="0"/>
              <a:t>        </a:t>
            </a:r>
            <a:r>
              <a:rPr lang="zh-CN" altLang="en-US" sz="2800" b="1" dirty="0" smtClean="0"/>
              <a:t>电磁炉是如何在锅中产生电流而没有任何电路与之相连呢？</a:t>
            </a:r>
            <a:endParaRPr lang="zh-CN" altLang="en-US" sz="2800" b="1" dirty="0"/>
          </a:p>
        </p:txBody>
      </p:sp>
      <p:sp>
        <p:nvSpPr>
          <p:cNvPr id="5" name="文本框 4"/>
          <p:cNvSpPr txBox="1"/>
          <p:nvPr/>
        </p:nvSpPr>
        <p:spPr>
          <a:xfrm>
            <a:off x="7374577" y="5597362"/>
            <a:ext cx="3954483" cy="400110"/>
          </a:xfrm>
          <a:prstGeom prst="rect">
            <a:avLst/>
          </a:prstGeom>
          <a:noFill/>
        </p:spPr>
        <p:txBody>
          <a:bodyPr wrap="square" rtlCol="0">
            <a:spAutoFit/>
          </a:bodyPr>
          <a:lstStyle/>
          <a:p>
            <a:r>
              <a:rPr lang="zh-CN" altLang="en-US" sz="2000" b="1" dirty="0">
                <a:solidFill>
                  <a:srgbClr val="FF0000"/>
                </a:solidFill>
              </a:rPr>
              <a:t>电磁炉上金属锅中感应出</a:t>
            </a:r>
            <a:r>
              <a:rPr lang="zh-CN" altLang="en-US" sz="2000" b="1" dirty="0" smtClean="0">
                <a:solidFill>
                  <a:srgbClr val="FF0000"/>
                </a:solidFill>
              </a:rPr>
              <a:t>涡电流</a:t>
            </a:r>
            <a:endParaRPr lang="zh-CN" altLang="en-US" sz="2000" b="1" dirty="0">
              <a:solidFill>
                <a:srgbClr val="FF0000"/>
              </a:solidFill>
            </a:endParaRPr>
          </a:p>
        </p:txBody>
      </p:sp>
    </p:spTree>
    <p:extLst>
      <p:ext uri="{BB962C8B-B14F-4D97-AF65-F5344CB8AC3E}">
        <p14:creationId xmlns:p14="http://schemas.microsoft.com/office/powerpoint/2010/main" val="1031762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53386" y="875406"/>
            <a:ext cx="8394667" cy="519113"/>
          </a:xfrm>
          <a:prstGeom prst="rect">
            <a:avLst/>
          </a:prstGeom>
          <a:ln>
            <a:solidFill>
              <a:schemeClr val="bg1"/>
            </a:solidFill>
          </a:ln>
          <a:extLst/>
        </p:spPr>
        <p:style>
          <a:lnRef idx="2">
            <a:schemeClr val="dk1"/>
          </a:lnRef>
          <a:fillRef idx="1">
            <a:schemeClr val="lt1"/>
          </a:fillRef>
          <a:effectRef idx="0">
            <a:schemeClr val="dk1"/>
          </a:effectRef>
          <a:fontRef idx="minor">
            <a:schemeClr val="dk1"/>
          </a:fontRef>
        </p:style>
        <p:txBody>
          <a:bodyPr lIns="92075" tIns="46038" rIns="92075" bIns="46038" anchor="ct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eaLnBrk="0" fontAlgn="base" hangingPunct="0">
              <a:spcBef>
                <a:spcPct val="0"/>
              </a:spcBef>
              <a:spcAft>
                <a:spcPct val="0"/>
              </a:spcAft>
            </a:pPr>
            <a:r>
              <a:rPr lang="zh-CN" altLang="en-US" sz="2800" b="1" dirty="0" smtClean="0">
                <a:latin typeface="+mn-ea"/>
                <a:ea typeface="+mn-ea"/>
                <a:sym typeface="Symbol" pitchFamily="18" charset="2"/>
              </a:rPr>
              <a:t>一、</a:t>
            </a:r>
            <a:r>
              <a:rPr lang="zh-CN" altLang="en-US" sz="2800" b="1" dirty="0" smtClean="0">
                <a:latin typeface="+mn-ea"/>
                <a:ea typeface="+mn-ea"/>
              </a:rPr>
              <a:t>法拉</a:t>
            </a:r>
            <a:r>
              <a:rPr lang="zh-CN" altLang="en-US" sz="2800" b="1" dirty="0">
                <a:latin typeface="+mn-ea"/>
                <a:ea typeface="+mn-ea"/>
              </a:rPr>
              <a:t>第（电磁感应）定律</a:t>
            </a:r>
            <a:endParaRPr lang="zh-CN" altLang="en-US" sz="2800" b="1" dirty="0" smtClean="0">
              <a:latin typeface="+mn-ea"/>
              <a:ea typeface="+mn-ea"/>
            </a:endParaRPr>
          </a:p>
        </p:txBody>
      </p:sp>
      <p:sp>
        <p:nvSpPr>
          <p:cNvPr id="9220" name="Text Box 4"/>
          <p:cNvSpPr txBox="1">
            <a:spLocks noChangeArrowheads="1"/>
          </p:cNvSpPr>
          <p:nvPr/>
        </p:nvSpPr>
        <p:spPr bwMode="auto">
          <a:xfrm>
            <a:off x="7547491" y="4178498"/>
            <a:ext cx="3503084" cy="519113"/>
          </a:xfrm>
          <a:prstGeom prst="rect">
            <a:avLst/>
          </a:prstGeom>
          <a:solidFill>
            <a:schemeClr val="bg1"/>
          </a:solidFill>
          <a:ln>
            <a:noFill/>
          </a:ln>
          <a:effectLst/>
          <a:extLst/>
        </p:spPr>
        <p:txBody>
          <a:bodyP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0"/>
              </a:spcBef>
              <a:spcAft>
                <a:spcPct val="0"/>
              </a:spcAft>
            </a:pPr>
            <a:r>
              <a:rPr lang="zh-CN" altLang="en-US" sz="2800" b="1" dirty="0" smtClean="0">
                <a:solidFill>
                  <a:srgbClr val="3333FF"/>
                </a:solidFill>
                <a:latin typeface="黑体" pitchFamily="49" charset="-122"/>
                <a:ea typeface="黑体" pitchFamily="49" charset="-122"/>
              </a:rPr>
              <a:t>单位</a:t>
            </a:r>
            <a:r>
              <a:rPr lang="en-US" altLang="zh-CN" sz="2800" b="1" dirty="0" smtClean="0">
                <a:solidFill>
                  <a:srgbClr val="3333FF"/>
                </a:solidFill>
                <a:latin typeface="黑体" pitchFamily="49" charset="-122"/>
                <a:ea typeface="黑体" pitchFamily="49" charset="-122"/>
              </a:rPr>
              <a:t>:1V=1Wb/s</a:t>
            </a:r>
          </a:p>
        </p:txBody>
      </p:sp>
      <p:sp>
        <p:nvSpPr>
          <p:cNvPr id="9223" name="Text Box 13"/>
          <p:cNvSpPr txBox="1">
            <a:spLocks noChangeArrowheads="1"/>
          </p:cNvSpPr>
          <p:nvPr/>
        </p:nvSpPr>
        <p:spPr bwMode="auto">
          <a:xfrm>
            <a:off x="0" y="1412776"/>
            <a:ext cx="11906291" cy="2031325"/>
          </a:xfrm>
          <a:prstGeom prst="rect">
            <a:avLst/>
          </a:prstGeom>
          <a:ln>
            <a:solidFill>
              <a:schemeClr val="bg1"/>
            </a:solidFill>
          </a:ln>
          <a:extLst/>
        </p:spPr>
        <p:style>
          <a:lnRef idx="2">
            <a:schemeClr val="accent1"/>
          </a:lnRef>
          <a:fillRef idx="1">
            <a:schemeClr val="lt1"/>
          </a:fillRef>
          <a:effectRef idx="0">
            <a:schemeClr val="accent1"/>
          </a:effectRef>
          <a:fontRef idx="minor">
            <a:schemeClr val="dk1"/>
          </a:fontRef>
        </p:style>
        <p:txBody>
          <a:bodyPr wrap="square">
            <a:spAutoFit/>
          </a:bodyPr>
          <a:lstStyle>
            <a:lvl1pPr>
              <a:defRPr kumimoji="1" sz="3200">
                <a:solidFill>
                  <a:schemeClr val="tx1"/>
                </a:solidFill>
                <a:latin typeface="Times New Roman" pitchFamily="18" charset="0"/>
                <a:ea typeface="宋体" charset="-122"/>
              </a:defRPr>
            </a:lvl1pPr>
            <a:lvl2pPr marL="457200">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lvl="1" fontAlgn="base">
              <a:lnSpc>
                <a:spcPct val="150000"/>
              </a:lnSpc>
              <a:spcBef>
                <a:spcPct val="0"/>
              </a:spcBef>
              <a:spcAft>
                <a:spcPct val="0"/>
              </a:spcAft>
            </a:pPr>
            <a:r>
              <a:rPr lang="zh-CN" altLang="en-US" b="1" dirty="0" smtClean="0">
                <a:solidFill>
                  <a:srgbClr val="FF0000"/>
                </a:solidFill>
                <a:latin typeface="+mn-ea"/>
                <a:ea typeface="+mn-ea"/>
              </a:rPr>
              <a:t>当穿过闭合回路所包围面积的磁通量发生变化时，不论这种变化是什么原因引起的，回路中都有感应电动势产生，并且感应电动势正比于磁通量对时间变化率的负值。</a:t>
            </a:r>
          </a:p>
        </p:txBody>
      </p:sp>
      <p:grpSp>
        <p:nvGrpSpPr>
          <p:cNvPr id="2" name="Group 60"/>
          <p:cNvGrpSpPr>
            <a:grpSpLocks/>
          </p:cNvGrpSpPr>
          <p:nvPr/>
        </p:nvGrpSpPr>
        <p:grpSpPr bwMode="auto">
          <a:xfrm>
            <a:off x="3619483" y="5000638"/>
            <a:ext cx="2969684" cy="1303338"/>
            <a:chOff x="528" y="1968"/>
            <a:chExt cx="1403" cy="821"/>
          </a:xfrm>
        </p:grpSpPr>
        <p:sp>
          <p:nvSpPr>
            <p:cNvPr id="9241" name="Text Box 17"/>
            <p:cNvSpPr txBox="1">
              <a:spLocks noChangeArrowheads="1"/>
            </p:cNvSpPr>
            <p:nvPr/>
          </p:nvSpPr>
          <p:spPr bwMode="auto">
            <a:xfrm>
              <a:off x="528" y="2266"/>
              <a:ext cx="1403" cy="523"/>
            </a:xfrm>
            <a:prstGeom prst="rect">
              <a:avLst/>
            </a:prstGeom>
            <a:ln>
              <a:headEnd/>
              <a:tailEnd/>
            </a:ln>
            <a:extLst/>
          </p:spPr>
          <p:style>
            <a:lnRef idx="2">
              <a:schemeClr val="accent1"/>
            </a:lnRef>
            <a:fillRef idx="1">
              <a:schemeClr val="lt1"/>
            </a:fillRef>
            <a:effectRef idx="0">
              <a:schemeClr val="accent1"/>
            </a:effectRef>
            <a:fontRef idx="minor">
              <a:schemeClr val="dk1"/>
            </a:fontRef>
          </p:style>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0"/>
                </a:spcBef>
                <a:spcAft>
                  <a:spcPct val="0"/>
                </a:spcAft>
              </a:pPr>
              <a:r>
                <a:rPr lang="zh-CN" altLang="en-US" sz="2400" b="1" dirty="0" smtClean="0">
                  <a:solidFill>
                    <a:srgbClr val="000000"/>
                  </a:solidFill>
                  <a:latin typeface="黑体" pitchFamily="49" charset="-122"/>
                  <a:ea typeface="黑体" pitchFamily="49" charset="-122"/>
                </a:rPr>
                <a:t>负号表示感应电动势</a:t>
              </a:r>
            </a:p>
            <a:p>
              <a:pPr fontAlgn="base">
                <a:spcBef>
                  <a:spcPct val="0"/>
                </a:spcBef>
                <a:spcAft>
                  <a:spcPct val="0"/>
                </a:spcAft>
              </a:pPr>
              <a:r>
                <a:rPr lang="zh-CN" altLang="en-US" sz="2400" b="1" dirty="0" smtClean="0">
                  <a:solidFill>
                    <a:srgbClr val="000000"/>
                  </a:solidFill>
                  <a:latin typeface="黑体" pitchFamily="49" charset="-122"/>
                  <a:ea typeface="黑体" pitchFamily="49" charset="-122"/>
                </a:rPr>
                <a:t>总是反抗磁通的变化</a:t>
              </a:r>
            </a:p>
          </p:txBody>
        </p:sp>
        <p:sp>
          <p:nvSpPr>
            <p:cNvPr id="9242" name="Line 18"/>
            <p:cNvSpPr>
              <a:spLocks noChangeShapeType="1"/>
            </p:cNvSpPr>
            <p:nvPr/>
          </p:nvSpPr>
          <p:spPr bwMode="auto">
            <a:xfrm flipV="1">
              <a:off x="1248" y="1968"/>
              <a:ext cx="161" cy="336"/>
            </a:xfrm>
            <a:prstGeom prst="line">
              <a:avLst/>
            </a:prstGeom>
            <a:noFill/>
            <a:ln w="53975">
              <a:solidFill>
                <a:srgbClr val="FF00FF"/>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latin typeface="黑体" pitchFamily="49" charset="-122"/>
                <a:ea typeface="黑体" pitchFamily="49" charset="-122"/>
              </a:endParaRPr>
            </a:p>
          </p:txBody>
        </p:sp>
      </p:grpSp>
      <p:sp>
        <p:nvSpPr>
          <p:cNvPr id="9" name="文本框 8"/>
          <p:cNvSpPr txBox="1"/>
          <p:nvPr/>
        </p:nvSpPr>
        <p:spPr>
          <a:xfrm>
            <a:off x="3421040" y="204150"/>
            <a:ext cx="4126451" cy="646331"/>
          </a:xfrm>
          <a:prstGeom prst="rect">
            <a:avLst/>
          </a:prstGeom>
          <a:noFill/>
        </p:spPr>
        <p:txBody>
          <a:bodyPr wrap="none" rtlCol="0">
            <a:spAutoFit/>
          </a:bodyPr>
          <a:lstStyle/>
          <a:p>
            <a:r>
              <a:rPr lang="en-US" altLang="zh-CN" sz="3600" b="1" dirty="0" smtClean="0">
                <a:latin typeface="+mn-ea"/>
                <a:cs typeface="SimHei"/>
                <a:sym typeface="SimHei"/>
              </a:rPr>
              <a:t>§</a:t>
            </a:r>
            <a:r>
              <a:rPr lang="en-US" altLang="zh-CN" sz="3600" b="1" dirty="0" smtClean="0">
                <a:latin typeface="+mn-ea"/>
              </a:rPr>
              <a:t>20.1 </a:t>
            </a:r>
            <a:r>
              <a:rPr lang="zh-CN" altLang="en-US" sz="3600" b="1" dirty="0" smtClean="0">
                <a:latin typeface="+mn-ea"/>
              </a:rPr>
              <a:t>法拉第定律</a:t>
            </a:r>
            <a:endParaRPr lang="zh-CN" altLang="en-US" sz="3600" b="1" dirty="0">
              <a:latin typeface="+mn-ea"/>
            </a:endParaRPr>
          </a:p>
        </p:txBody>
      </p:sp>
      <p:graphicFrame>
        <p:nvGraphicFramePr>
          <p:cNvPr id="9219" name="Object 3"/>
          <p:cNvGraphicFramePr>
            <a:graphicFrameLocks noChangeAspect="1"/>
          </p:cNvGraphicFramePr>
          <p:nvPr>
            <p:extLst>
              <p:ext uri="{D42A27DB-BD31-4B8C-83A1-F6EECF244321}">
                <p14:modId xmlns:p14="http://schemas.microsoft.com/office/powerpoint/2010/main" val="4116432653"/>
              </p:ext>
            </p:extLst>
          </p:nvPr>
        </p:nvGraphicFramePr>
        <p:xfrm>
          <a:off x="4173538" y="3870325"/>
          <a:ext cx="2235200" cy="995363"/>
        </p:xfrm>
        <a:graphic>
          <a:graphicData uri="http://schemas.openxmlformats.org/presentationml/2006/ole">
            <mc:AlternateContent xmlns:mc="http://schemas.openxmlformats.org/markup-compatibility/2006">
              <mc:Choice xmlns:v="urn:schemas-microsoft-com:vml" Requires="v">
                <p:oleObj spid="_x0000_s12379" name="Equation" r:id="rId3" imgW="711000" imgH="393480" progId="Equation.DSMT4">
                  <p:embed/>
                </p:oleObj>
              </mc:Choice>
              <mc:Fallback>
                <p:oleObj name="Equation" r:id="rId3" imgW="711000" imgH="393480" progId="Equation.DSMT4">
                  <p:embed/>
                  <p:pic>
                    <p:nvPicPr>
                      <p:cNvPr id="0" name=""/>
                      <p:cNvPicPr>
                        <a:picLocks noChangeAspect="1" noChangeArrowheads="1"/>
                      </p:cNvPicPr>
                      <p:nvPr/>
                    </p:nvPicPr>
                    <p:blipFill>
                      <a:blip r:embed="rId4"/>
                      <a:srcRect/>
                      <a:stretch>
                        <a:fillRect/>
                      </a:stretch>
                    </p:blipFill>
                    <p:spPr bwMode="auto">
                      <a:xfrm>
                        <a:off x="4173538" y="3870325"/>
                        <a:ext cx="2235200" cy="995363"/>
                      </a:xfrm>
                      <a:prstGeom prst="rect">
                        <a:avLst/>
                      </a:prstGeom>
                      <a:gradFill rotWithShape="0">
                        <a:gsLst>
                          <a:gs pos="0">
                            <a:schemeClr val="accent1"/>
                          </a:gs>
                          <a:gs pos="50000">
                            <a:srgbClr val="FFFFFF"/>
                          </a:gs>
                          <a:gs pos="100000">
                            <a:schemeClr val="accent1"/>
                          </a:gs>
                        </a:gsLst>
                        <a:lin ang="5400000" scaled="1"/>
                      </a:gradFill>
                    </p:spPr>
                  </p:pic>
                </p:oleObj>
              </mc:Fallback>
            </mc:AlternateContent>
          </a:graphicData>
        </a:graphic>
      </p:graphicFrame>
      <p:sp>
        <p:nvSpPr>
          <p:cNvPr id="3" name="文本框 2"/>
          <p:cNvSpPr txBox="1"/>
          <p:nvPr/>
        </p:nvSpPr>
        <p:spPr>
          <a:xfrm>
            <a:off x="10189028" y="170794"/>
            <a:ext cx="1330037" cy="461665"/>
          </a:xfrm>
          <a:prstGeom prst="rect">
            <a:avLst/>
          </a:prstGeom>
          <a:noFill/>
        </p:spPr>
        <p:txBody>
          <a:bodyPr wrap="square" rtlCol="0">
            <a:spAutoFit/>
          </a:bodyPr>
          <a:lstStyle/>
          <a:p>
            <a:r>
              <a:rPr lang="en-US" altLang="zh-CN" sz="2400" dirty="0" smtClean="0"/>
              <a:t>P147</a:t>
            </a:r>
            <a:endParaRPr lang="zh-CN" altLang="en-US" sz="2400" dirty="0"/>
          </a:p>
        </p:txBody>
      </p:sp>
    </p:spTree>
    <p:extLst>
      <p:ext uri="{BB962C8B-B14F-4D97-AF65-F5344CB8AC3E}">
        <p14:creationId xmlns:p14="http://schemas.microsoft.com/office/powerpoint/2010/main" val="157571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1" name="Text Box 65"/>
          <p:cNvSpPr txBox="1">
            <a:spLocks noChangeArrowheads="1"/>
          </p:cNvSpPr>
          <p:nvPr/>
        </p:nvSpPr>
        <p:spPr bwMode="auto">
          <a:xfrm>
            <a:off x="912284" y="617538"/>
            <a:ext cx="10363200" cy="145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50000"/>
              </a:spcBef>
              <a:spcAft>
                <a:spcPct val="0"/>
              </a:spcAft>
            </a:pPr>
            <a:r>
              <a:rPr kumimoji="1" lang="en-US" altLang="zh-CN" sz="3200" dirty="0" smtClean="0">
                <a:solidFill>
                  <a:srgbClr val="000000"/>
                </a:solidFill>
                <a:latin typeface="黑体" pitchFamily="49" charset="-122"/>
                <a:ea typeface="黑体" pitchFamily="49" charset="-122"/>
              </a:rPr>
              <a:t>    </a:t>
            </a:r>
            <a:r>
              <a:rPr kumimoji="1" lang="zh-CN" altLang="en-US" sz="3200" b="1" dirty="0" smtClean="0">
                <a:solidFill>
                  <a:srgbClr val="000000"/>
                </a:solidFill>
                <a:latin typeface="+mn-ea"/>
              </a:rPr>
              <a:t>根据</a:t>
            </a:r>
            <a:r>
              <a:rPr kumimoji="1" lang="zh-CN" altLang="en-US" sz="3200" b="1" dirty="0" smtClean="0">
                <a:solidFill>
                  <a:srgbClr val="FF0000"/>
                </a:solidFill>
                <a:latin typeface="+mn-ea"/>
              </a:rPr>
              <a:t>磁通量</a:t>
            </a:r>
            <a:r>
              <a:rPr kumimoji="1" lang="zh-CN" altLang="en-US" sz="3200" b="1" dirty="0" smtClean="0">
                <a:solidFill>
                  <a:srgbClr val="000000"/>
                </a:solidFill>
                <a:latin typeface="+mn-ea"/>
              </a:rPr>
              <a:t>变化的不同原因，把感应电动势分为两种情况加以讨论。</a:t>
            </a:r>
            <a:endParaRPr kumimoji="1" lang="zh-CN" altLang="en-US" sz="3200" dirty="0" smtClean="0">
              <a:solidFill>
                <a:srgbClr val="000000"/>
              </a:solidFill>
              <a:latin typeface="+mn-ea"/>
            </a:endParaRPr>
          </a:p>
        </p:txBody>
      </p:sp>
      <p:sp>
        <p:nvSpPr>
          <p:cNvPr id="19522" name="Text Box 66"/>
          <p:cNvSpPr txBox="1">
            <a:spLocks noChangeArrowheads="1"/>
          </p:cNvSpPr>
          <p:nvPr/>
        </p:nvSpPr>
        <p:spPr bwMode="auto">
          <a:xfrm>
            <a:off x="1016001" y="2552801"/>
            <a:ext cx="10369551" cy="145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50000"/>
              </a:lnSpc>
              <a:spcBef>
                <a:spcPct val="50000"/>
              </a:spcBef>
              <a:spcAft>
                <a:spcPct val="0"/>
              </a:spcAft>
            </a:pPr>
            <a:r>
              <a:rPr kumimoji="1" lang="zh-CN" altLang="en-US" sz="3200" b="1" dirty="0" smtClean="0">
                <a:solidFill>
                  <a:srgbClr val="0000FF"/>
                </a:solidFill>
                <a:latin typeface="+mn-ea"/>
              </a:rPr>
              <a:t>动生电动势：</a:t>
            </a:r>
            <a:r>
              <a:rPr kumimoji="1" lang="zh-CN" altLang="en-US" sz="3200" b="1" dirty="0" smtClean="0">
                <a:solidFill>
                  <a:srgbClr val="000000"/>
                </a:solidFill>
                <a:latin typeface="+mn-ea"/>
              </a:rPr>
              <a:t>在恒定磁场中</a:t>
            </a:r>
            <a:r>
              <a:rPr kumimoji="1" lang="zh-CN" altLang="en-US" sz="3200" b="1" dirty="0" smtClean="0">
                <a:solidFill>
                  <a:srgbClr val="FF0000"/>
                </a:solidFill>
                <a:latin typeface="+mn-ea"/>
              </a:rPr>
              <a:t>运动</a:t>
            </a:r>
            <a:r>
              <a:rPr kumimoji="1" lang="zh-CN" altLang="en-US" sz="3200" b="1" dirty="0" smtClean="0">
                <a:solidFill>
                  <a:srgbClr val="000000"/>
                </a:solidFill>
                <a:latin typeface="+mn-ea"/>
              </a:rPr>
              <a:t>着的</a:t>
            </a:r>
            <a:r>
              <a:rPr kumimoji="1" lang="zh-CN" altLang="en-US" sz="3200" b="1" dirty="0" smtClean="0">
                <a:solidFill>
                  <a:srgbClr val="FF0000"/>
                </a:solidFill>
                <a:latin typeface="+mn-ea"/>
              </a:rPr>
              <a:t>导体</a:t>
            </a:r>
            <a:r>
              <a:rPr kumimoji="1" lang="zh-CN" altLang="en-US" sz="3200" b="1" dirty="0" smtClean="0">
                <a:solidFill>
                  <a:srgbClr val="000000"/>
                </a:solidFill>
                <a:latin typeface="+mn-ea"/>
              </a:rPr>
              <a:t>内产生的感应电动势</a:t>
            </a:r>
            <a:r>
              <a:rPr kumimoji="1" lang="zh-CN" altLang="en-US" sz="3200" b="1" dirty="0" smtClean="0">
                <a:solidFill>
                  <a:srgbClr val="000000"/>
                </a:solidFill>
                <a:latin typeface="黑体" pitchFamily="49" charset="-122"/>
                <a:ea typeface="黑体" pitchFamily="49" charset="-122"/>
              </a:rPr>
              <a:t>。</a:t>
            </a:r>
          </a:p>
        </p:txBody>
      </p:sp>
      <p:sp>
        <p:nvSpPr>
          <p:cNvPr id="19523" name="Text Box 67"/>
          <p:cNvSpPr txBox="1">
            <a:spLocks noChangeArrowheads="1"/>
          </p:cNvSpPr>
          <p:nvPr/>
        </p:nvSpPr>
        <p:spPr bwMode="auto">
          <a:xfrm>
            <a:off x="912284" y="4457700"/>
            <a:ext cx="10744199" cy="68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20000"/>
              </a:lnSpc>
              <a:spcBef>
                <a:spcPct val="50000"/>
              </a:spcBef>
              <a:spcAft>
                <a:spcPct val="0"/>
              </a:spcAft>
            </a:pPr>
            <a:r>
              <a:rPr kumimoji="1" lang="zh-CN" altLang="en-US" sz="3200" b="1" dirty="0" smtClean="0">
                <a:solidFill>
                  <a:srgbClr val="0000FF"/>
                </a:solidFill>
                <a:latin typeface="+mn-ea"/>
              </a:rPr>
              <a:t>感生电动势：</a:t>
            </a:r>
            <a:r>
              <a:rPr kumimoji="1" lang="zh-CN" altLang="en-US" sz="3200" b="1" dirty="0" smtClean="0">
                <a:solidFill>
                  <a:srgbClr val="000000"/>
                </a:solidFill>
                <a:latin typeface="+mn-ea"/>
              </a:rPr>
              <a:t>导体不动，因</a:t>
            </a:r>
            <a:r>
              <a:rPr kumimoji="1" lang="zh-CN" altLang="en-US" sz="3200" b="1" dirty="0" smtClean="0">
                <a:solidFill>
                  <a:srgbClr val="FF0000"/>
                </a:solidFill>
                <a:latin typeface="+mn-ea"/>
              </a:rPr>
              <a:t>磁场的变化</a:t>
            </a:r>
            <a:r>
              <a:rPr kumimoji="1" lang="zh-CN" altLang="en-US" sz="3200" b="1" dirty="0" smtClean="0">
                <a:solidFill>
                  <a:srgbClr val="000000"/>
                </a:solidFill>
                <a:latin typeface="+mn-ea"/>
              </a:rPr>
              <a:t>产生的感应电动势。</a:t>
            </a:r>
          </a:p>
        </p:txBody>
      </p:sp>
      <p:graphicFrame>
        <p:nvGraphicFramePr>
          <p:cNvPr id="2" name="对象 1"/>
          <p:cNvGraphicFramePr>
            <a:graphicFrameLocks noChangeAspect="1"/>
          </p:cNvGraphicFramePr>
          <p:nvPr>
            <p:extLst>
              <p:ext uri="{D42A27DB-BD31-4B8C-83A1-F6EECF244321}">
                <p14:modId xmlns:p14="http://schemas.microsoft.com/office/powerpoint/2010/main" val="3888774061"/>
              </p:ext>
            </p:extLst>
          </p:nvPr>
        </p:nvGraphicFramePr>
        <p:xfrm>
          <a:off x="4962525" y="1557338"/>
          <a:ext cx="4189413" cy="993775"/>
        </p:xfrm>
        <a:graphic>
          <a:graphicData uri="http://schemas.openxmlformats.org/presentationml/2006/ole">
            <mc:AlternateContent xmlns:mc="http://schemas.openxmlformats.org/markup-compatibility/2006">
              <mc:Choice xmlns:v="urn:schemas-microsoft-com:vml" Requires="v">
                <p:oleObj spid="_x0000_s19511" name="Equation" r:id="rId3" imgW="1333440" imgH="393480" progId="Equation.DSMT4">
                  <p:embed/>
                </p:oleObj>
              </mc:Choice>
              <mc:Fallback>
                <p:oleObj name="Equation" r:id="rId3" imgW="1333440" imgH="393480" progId="Equation.DSMT4">
                  <p:embed/>
                  <p:pic>
                    <p:nvPicPr>
                      <p:cNvPr id="0" name="Object 3"/>
                      <p:cNvPicPr>
                        <a:picLocks noChangeAspect="1" noChangeArrowheads="1"/>
                      </p:cNvPicPr>
                      <p:nvPr/>
                    </p:nvPicPr>
                    <p:blipFill>
                      <a:blip r:embed="rId4"/>
                      <a:srcRect/>
                      <a:stretch>
                        <a:fillRect/>
                      </a:stretch>
                    </p:blipFill>
                    <p:spPr bwMode="auto">
                      <a:xfrm>
                        <a:off x="4962525" y="1557338"/>
                        <a:ext cx="4189413" cy="993775"/>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626070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22" grpId="0"/>
      <p:bldP spid="195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343906" y="1642256"/>
            <a:ext cx="11841181" cy="3979155"/>
            <a:chOff x="257929" y="1642256"/>
            <a:chExt cx="8880886" cy="3979155"/>
          </a:xfrm>
        </p:grpSpPr>
        <p:pic>
          <p:nvPicPr>
            <p:cNvPr id="2" name="图片 1"/>
            <p:cNvPicPr>
              <a:picLocks noChangeAspect="1"/>
            </p:cNvPicPr>
            <p:nvPr/>
          </p:nvPicPr>
          <p:blipFill>
            <a:blip r:embed="rId2" cstate="print"/>
            <a:stretch>
              <a:fillRect/>
            </a:stretch>
          </p:blipFill>
          <p:spPr>
            <a:xfrm>
              <a:off x="257929" y="1642256"/>
              <a:ext cx="3271784" cy="3517491"/>
            </a:xfrm>
            <a:prstGeom prst="rect">
              <a:avLst/>
            </a:prstGeom>
          </p:spPr>
        </p:pic>
        <p:pic>
          <p:nvPicPr>
            <p:cNvPr id="3" name="图片 2"/>
            <p:cNvPicPr>
              <a:picLocks noChangeAspect="1"/>
            </p:cNvPicPr>
            <p:nvPr/>
          </p:nvPicPr>
          <p:blipFill>
            <a:blip r:embed="rId3" cstate="print"/>
            <a:stretch>
              <a:fillRect/>
            </a:stretch>
          </p:blipFill>
          <p:spPr>
            <a:xfrm>
              <a:off x="3431140" y="1780234"/>
              <a:ext cx="3190081" cy="3241534"/>
            </a:xfrm>
            <a:prstGeom prst="rect">
              <a:avLst/>
            </a:prstGeom>
          </p:spPr>
        </p:pic>
        <p:pic>
          <p:nvPicPr>
            <p:cNvPr id="4" name="图片 3"/>
            <p:cNvPicPr>
              <a:picLocks noChangeAspect="1"/>
            </p:cNvPicPr>
            <p:nvPr/>
          </p:nvPicPr>
          <p:blipFill rotWithShape="1">
            <a:blip r:embed="rId4" cstate="print"/>
            <a:srcRect t="5097" b="2346"/>
            <a:stretch/>
          </p:blipFill>
          <p:spPr>
            <a:xfrm>
              <a:off x="6834559" y="1642256"/>
              <a:ext cx="2304256" cy="3542895"/>
            </a:xfrm>
            <a:prstGeom prst="rect">
              <a:avLst/>
            </a:prstGeom>
          </p:spPr>
        </p:pic>
        <p:sp>
          <p:nvSpPr>
            <p:cNvPr id="5" name="文本框 4"/>
            <p:cNvSpPr txBox="1"/>
            <p:nvPr/>
          </p:nvSpPr>
          <p:spPr>
            <a:xfrm>
              <a:off x="2700826" y="5159746"/>
              <a:ext cx="2458847" cy="461665"/>
            </a:xfrm>
            <a:prstGeom prst="rect">
              <a:avLst/>
            </a:prstGeom>
            <a:noFill/>
          </p:spPr>
          <p:txBody>
            <a:bodyPr wrap="none" rtlCol="0">
              <a:spAutoFit/>
            </a:bodyPr>
            <a:lstStyle/>
            <a:p>
              <a:r>
                <a:rPr lang="zh-CN" altLang="en-US" sz="2400" b="1" dirty="0" smtClean="0"/>
                <a:t>金属杆在磁场中的运动</a:t>
              </a:r>
              <a:endParaRPr lang="zh-CN" altLang="en-US" sz="2400" b="1" dirty="0"/>
            </a:p>
          </p:txBody>
        </p:sp>
      </p:grpSp>
      <p:sp>
        <p:nvSpPr>
          <p:cNvPr id="6" name="文本框 5"/>
          <p:cNvSpPr txBox="1"/>
          <p:nvPr/>
        </p:nvSpPr>
        <p:spPr>
          <a:xfrm>
            <a:off x="190459" y="188641"/>
            <a:ext cx="3427541" cy="646331"/>
          </a:xfrm>
          <a:prstGeom prst="rect">
            <a:avLst/>
          </a:prstGeom>
          <a:noFill/>
        </p:spPr>
        <p:txBody>
          <a:bodyPr wrap="none" rtlCol="0">
            <a:spAutoFit/>
          </a:bodyPr>
          <a:lstStyle/>
          <a:p>
            <a:r>
              <a:rPr lang="zh-CN" altLang="en-US" sz="3600" b="1" dirty="0" smtClean="0">
                <a:latin typeface="+mn-ea"/>
              </a:rPr>
              <a:t>一、动生电动势</a:t>
            </a:r>
            <a:endParaRPr lang="zh-CN" altLang="en-US" sz="3600" b="1" dirty="0">
              <a:latin typeface="+mn-ea"/>
            </a:endParaRPr>
          </a:p>
        </p:txBody>
      </p:sp>
      <p:sp>
        <p:nvSpPr>
          <p:cNvPr id="7" name="文本框 6"/>
          <p:cNvSpPr txBox="1"/>
          <p:nvPr/>
        </p:nvSpPr>
        <p:spPr>
          <a:xfrm>
            <a:off x="375461" y="982056"/>
            <a:ext cx="6364243" cy="584775"/>
          </a:xfrm>
          <a:prstGeom prst="rect">
            <a:avLst/>
          </a:prstGeom>
          <a:noFill/>
        </p:spPr>
        <p:txBody>
          <a:bodyPr wrap="none" rtlCol="0">
            <a:spAutoFit/>
          </a:bodyPr>
          <a:lstStyle/>
          <a:p>
            <a:r>
              <a:rPr lang="zh-CN" altLang="en-US" sz="3200" b="1" dirty="0" smtClean="0"/>
              <a:t>导线在磁场中运动感应的电动势。</a:t>
            </a:r>
            <a:endParaRPr lang="zh-CN" altLang="en-US" sz="3200" b="1" dirty="0"/>
          </a:p>
        </p:txBody>
      </p:sp>
      <p:pic>
        <p:nvPicPr>
          <p:cNvPr id="8"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93837" y="6093296"/>
            <a:ext cx="26670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文本框 8"/>
          <p:cNvSpPr txBox="1"/>
          <p:nvPr/>
        </p:nvSpPr>
        <p:spPr>
          <a:xfrm>
            <a:off x="221050" y="6055851"/>
            <a:ext cx="5234125" cy="523220"/>
          </a:xfrm>
          <a:prstGeom prst="rect">
            <a:avLst/>
          </a:prstGeom>
          <a:noFill/>
        </p:spPr>
        <p:txBody>
          <a:bodyPr wrap="none" rtlCol="0">
            <a:spAutoFit/>
          </a:bodyPr>
          <a:lstStyle/>
          <a:p>
            <a:r>
              <a:rPr lang="zh-CN" altLang="en-US" sz="2800" b="1" dirty="0" smtClean="0"/>
              <a:t>每个传导电子所受的平均磁力为</a:t>
            </a:r>
            <a:endParaRPr lang="zh-CN" altLang="en-US" sz="2800" b="1" dirty="0"/>
          </a:p>
        </p:txBody>
      </p:sp>
      <p:sp>
        <p:nvSpPr>
          <p:cNvPr id="11" name="TextBox 10"/>
          <p:cNvSpPr txBox="1"/>
          <p:nvPr/>
        </p:nvSpPr>
        <p:spPr>
          <a:xfrm>
            <a:off x="9112746" y="5639889"/>
            <a:ext cx="2812554" cy="1015663"/>
          </a:xfrm>
          <a:prstGeom prst="rect">
            <a:avLst/>
          </a:prstGeom>
          <a:noFill/>
        </p:spPr>
        <p:txBody>
          <a:bodyPr wrap="square" rtlCol="0">
            <a:spAutoFit/>
          </a:bodyPr>
          <a:lstStyle/>
          <a:p>
            <a:r>
              <a:rPr lang="zh-CN" altLang="en-US" sz="2000" b="1" dirty="0" smtClean="0">
                <a:solidFill>
                  <a:srgbClr val="FF0000"/>
                </a:solidFill>
              </a:rPr>
              <a:t>这里电荷运动是由于杆自身的运动而不是由于静止杆中的电流的流动。</a:t>
            </a:r>
            <a:endParaRPr lang="zh-CN" altLang="en-US" sz="2000" b="1" dirty="0">
              <a:solidFill>
                <a:srgbClr val="FF0000"/>
              </a:solidFill>
            </a:endParaRPr>
          </a:p>
        </p:txBody>
      </p:sp>
    </p:spTree>
    <p:extLst>
      <p:ext uri="{BB962C8B-B14F-4D97-AF65-F5344CB8AC3E}">
        <p14:creationId xmlns:p14="http://schemas.microsoft.com/office/powerpoint/2010/main" val="2590630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print"/>
          <a:srcRect l="11360" t="5097" b="2346"/>
          <a:stretch/>
        </p:blipFill>
        <p:spPr>
          <a:xfrm>
            <a:off x="63073" y="28982"/>
            <a:ext cx="2723323" cy="3542895"/>
          </a:xfrm>
          <a:prstGeom prst="rect">
            <a:avLst/>
          </a:prstGeom>
        </p:spPr>
      </p:pic>
      <p:pic>
        <p:nvPicPr>
          <p:cNvPr id="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73363" y="798990"/>
            <a:ext cx="523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1114" y="1976430"/>
            <a:ext cx="30099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3449327" y="156685"/>
            <a:ext cx="5234125" cy="523220"/>
          </a:xfrm>
          <a:prstGeom prst="rect">
            <a:avLst/>
          </a:prstGeom>
          <a:noFill/>
        </p:spPr>
        <p:txBody>
          <a:bodyPr wrap="none" rtlCol="0">
            <a:spAutoFit/>
          </a:bodyPr>
          <a:lstStyle/>
          <a:p>
            <a:r>
              <a:rPr lang="zh-CN" altLang="en-US" sz="2800" b="1" dirty="0" smtClean="0"/>
              <a:t>电荷在金属杆两端积累到平衡时</a:t>
            </a:r>
            <a:endParaRPr lang="zh-CN" altLang="en-US" sz="2800" b="1" dirty="0"/>
          </a:p>
        </p:txBody>
      </p:sp>
      <p:grpSp>
        <p:nvGrpSpPr>
          <p:cNvPr id="9" name="组合 8"/>
          <p:cNvGrpSpPr/>
          <p:nvPr/>
        </p:nvGrpSpPr>
        <p:grpSpPr>
          <a:xfrm>
            <a:off x="2517178" y="1357298"/>
            <a:ext cx="7335663" cy="552450"/>
            <a:chOff x="2879198" y="2156470"/>
            <a:chExt cx="5501747" cy="552450"/>
          </a:xfrm>
        </p:grpSpPr>
        <p:sp>
          <p:nvSpPr>
            <p:cNvPr id="7" name="文本框 6"/>
            <p:cNvSpPr txBox="1"/>
            <p:nvPr/>
          </p:nvSpPr>
          <p:spPr>
            <a:xfrm>
              <a:off x="2879198" y="2171085"/>
              <a:ext cx="5501747" cy="523220"/>
            </a:xfrm>
            <a:prstGeom prst="rect">
              <a:avLst/>
            </a:prstGeom>
            <a:noFill/>
          </p:spPr>
          <p:txBody>
            <a:bodyPr wrap="none" rtlCol="0">
              <a:spAutoFit/>
            </a:bodyPr>
            <a:lstStyle/>
            <a:p>
              <a:r>
                <a:rPr lang="zh-CN" altLang="en-US" sz="2800" b="1" dirty="0" smtClean="0"/>
                <a:t>因           ，则</a:t>
              </a:r>
              <a:r>
                <a:rPr lang="en-US" altLang="zh-CN" sz="2800" b="1" i="1" dirty="0" smtClean="0">
                  <a:latin typeface="Times New Roman" panose="02020603050405020304" pitchFamily="18" charset="0"/>
                  <a:cs typeface="Times New Roman" panose="02020603050405020304" pitchFamily="18" charset="0"/>
                </a:rPr>
                <a:t>E</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err="1" smtClean="0">
                  <a:latin typeface="Times New Roman" panose="02020603050405020304" pitchFamily="18" charset="0"/>
                  <a:cs typeface="Times New Roman" panose="02020603050405020304" pitchFamily="18" charset="0"/>
                </a:rPr>
                <a:t>vB</a:t>
              </a:r>
              <a:r>
                <a:rPr lang="zh-CN" altLang="en-US" sz="2800" b="1" i="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金属杆两端之间的电势差</a:t>
              </a:r>
              <a:endParaRPr lang="zh-CN" altLang="en-US" sz="2800" b="1" dirty="0">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5" cstate="print"/>
            <a:stretch>
              <a:fillRect/>
            </a:stretch>
          </p:blipFill>
          <p:spPr>
            <a:xfrm>
              <a:off x="3348737" y="2156470"/>
              <a:ext cx="866775" cy="552450"/>
            </a:xfrm>
            <a:prstGeom prst="rect">
              <a:avLst/>
            </a:prstGeom>
          </p:spPr>
        </p:pic>
      </p:grpSp>
      <p:grpSp>
        <p:nvGrpSpPr>
          <p:cNvPr id="12" name="组合 11"/>
          <p:cNvGrpSpPr/>
          <p:nvPr/>
        </p:nvGrpSpPr>
        <p:grpSpPr>
          <a:xfrm>
            <a:off x="2666976" y="2643182"/>
            <a:ext cx="6394483" cy="523220"/>
            <a:chOff x="251520" y="332656"/>
            <a:chExt cx="4795862" cy="523220"/>
          </a:xfrm>
        </p:grpSpPr>
        <p:pic>
          <p:nvPicPr>
            <p:cNvPr id="13"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51982" y="403766"/>
              <a:ext cx="1295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5"/>
            <p:cNvSpPr txBox="1"/>
            <p:nvPr/>
          </p:nvSpPr>
          <p:spPr>
            <a:xfrm>
              <a:off x="251520" y="332656"/>
              <a:ext cx="2573060" cy="523220"/>
            </a:xfrm>
            <a:prstGeom prst="rect">
              <a:avLst/>
            </a:prstGeom>
            <a:noFill/>
          </p:spPr>
          <p:txBody>
            <a:bodyPr wrap="none" rtlCol="0">
              <a:spAutoFit/>
            </a:bodyPr>
            <a:lstStyle/>
            <a:p>
              <a:r>
                <a:rPr lang="zh-CN" altLang="en-US" sz="2800" b="1" dirty="0" smtClean="0"/>
                <a:t>金属杆的动生电动势</a:t>
              </a:r>
              <a:endParaRPr lang="zh-CN" altLang="en-US" sz="2800" b="1" dirty="0"/>
            </a:p>
          </p:txBody>
        </p:sp>
      </p:grpSp>
      <p:grpSp>
        <p:nvGrpSpPr>
          <p:cNvPr id="19" name="组合 18"/>
          <p:cNvGrpSpPr/>
          <p:nvPr/>
        </p:nvGrpSpPr>
        <p:grpSpPr>
          <a:xfrm>
            <a:off x="761963" y="3286125"/>
            <a:ext cx="6858048" cy="3490645"/>
            <a:chOff x="1831706" y="3286124"/>
            <a:chExt cx="5143536" cy="3490645"/>
          </a:xfrm>
        </p:grpSpPr>
        <p:pic>
          <p:nvPicPr>
            <p:cNvPr id="15" name="Picture 3" descr="gia12141_20_02"/>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8016" r="9536" b="6151"/>
            <a:stretch/>
          </p:blipFill>
          <p:spPr bwMode="auto">
            <a:xfrm>
              <a:off x="1831706" y="3286124"/>
              <a:ext cx="5143536" cy="2975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文本框 3"/>
            <p:cNvSpPr txBox="1"/>
            <p:nvPr/>
          </p:nvSpPr>
          <p:spPr>
            <a:xfrm>
              <a:off x="2749728" y="6315104"/>
              <a:ext cx="2458847" cy="461665"/>
            </a:xfrm>
            <a:prstGeom prst="rect">
              <a:avLst/>
            </a:prstGeom>
            <a:noFill/>
          </p:spPr>
          <p:txBody>
            <a:bodyPr wrap="none" rtlCol="0">
              <a:spAutoFit/>
            </a:bodyPr>
            <a:lstStyle/>
            <a:p>
              <a:r>
                <a:rPr lang="zh-CN" altLang="en-US" sz="2400" b="1" dirty="0" smtClean="0"/>
                <a:t>与电路相连接的金属杆</a:t>
              </a:r>
              <a:endParaRPr lang="zh-CN" altLang="en-US" sz="2400" b="1" dirty="0"/>
            </a:p>
          </p:txBody>
        </p:sp>
      </p:grpSp>
      <p:grpSp>
        <p:nvGrpSpPr>
          <p:cNvPr id="18" name="组合 17"/>
          <p:cNvGrpSpPr/>
          <p:nvPr/>
        </p:nvGrpSpPr>
        <p:grpSpPr>
          <a:xfrm>
            <a:off x="8191515" y="657209"/>
            <a:ext cx="2952771" cy="485775"/>
            <a:chOff x="6072198" y="657209"/>
            <a:chExt cx="2214578" cy="485775"/>
          </a:xfrm>
        </p:grpSpPr>
        <p:pic>
          <p:nvPicPr>
            <p:cNvPr id="4" name="Picture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91326" y="657209"/>
              <a:ext cx="169545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右箭头 16"/>
            <p:cNvSpPr/>
            <p:nvPr/>
          </p:nvSpPr>
          <p:spPr>
            <a:xfrm>
              <a:off x="6072198" y="785794"/>
              <a:ext cx="428628" cy="357190"/>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pSp>
      <p:sp>
        <p:nvSpPr>
          <p:cNvPr id="20" name="文本框 8"/>
          <p:cNvSpPr txBox="1"/>
          <p:nvPr/>
        </p:nvSpPr>
        <p:spPr>
          <a:xfrm>
            <a:off x="8118223" y="3262970"/>
            <a:ext cx="2709396" cy="523220"/>
          </a:xfrm>
          <a:prstGeom prst="rect">
            <a:avLst/>
          </a:prstGeom>
          <a:noFill/>
        </p:spPr>
        <p:txBody>
          <a:bodyPr wrap="none" rtlCol="0">
            <a:spAutoFit/>
          </a:bodyPr>
          <a:lstStyle/>
          <a:p>
            <a:r>
              <a:rPr lang="zh-CN" altLang="en-US" sz="2800" b="1" dirty="0" smtClean="0"/>
              <a:t>电能从何而来？</a:t>
            </a:r>
            <a:endParaRPr lang="zh-CN" altLang="en-US" sz="2800" b="1" dirty="0"/>
          </a:p>
        </p:txBody>
      </p:sp>
      <p:sp>
        <p:nvSpPr>
          <p:cNvPr id="21" name="文本框 10"/>
          <p:cNvSpPr txBox="1"/>
          <p:nvPr/>
        </p:nvSpPr>
        <p:spPr>
          <a:xfrm>
            <a:off x="7620011" y="3832216"/>
            <a:ext cx="4667283" cy="954107"/>
          </a:xfrm>
          <a:prstGeom prst="rect">
            <a:avLst/>
          </a:prstGeom>
          <a:noFill/>
        </p:spPr>
        <p:txBody>
          <a:bodyPr wrap="square" rtlCol="0">
            <a:spAutoFit/>
          </a:bodyPr>
          <a:lstStyle/>
          <a:p>
            <a:r>
              <a:rPr lang="zh-CN" altLang="en-US" sz="2800" b="1" dirty="0" smtClean="0"/>
              <a:t>运动的杆提供了电阻消耗的电能。</a:t>
            </a:r>
            <a:endParaRPr lang="zh-CN" altLang="en-US" sz="2800" b="1" dirty="0"/>
          </a:p>
        </p:txBody>
      </p:sp>
      <p:sp>
        <p:nvSpPr>
          <p:cNvPr id="22" name="文本框 9"/>
          <p:cNvSpPr txBox="1"/>
          <p:nvPr/>
        </p:nvSpPr>
        <p:spPr>
          <a:xfrm>
            <a:off x="7969281" y="4977482"/>
            <a:ext cx="2709396" cy="523220"/>
          </a:xfrm>
          <a:prstGeom prst="rect">
            <a:avLst/>
          </a:prstGeom>
          <a:noFill/>
        </p:spPr>
        <p:txBody>
          <a:bodyPr wrap="none" rtlCol="0">
            <a:spAutoFit/>
          </a:bodyPr>
          <a:lstStyle/>
          <a:p>
            <a:r>
              <a:rPr lang="zh-CN" altLang="en-US" sz="2800" b="1" dirty="0" smtClean="0">
                <a:solidFill>
                  <a:srgbClr val="FF0000"/>
                </a:solidFill>
              </a:rPr>
              <a:t>能量如何转换？</a:t>
            </a:r>
            <a:endParaRPr lang="zh-CN" altLang="en-US" sz="2800" b="1" dirty="0">
              <a:solidFill>
                <a:srgbClr val="FF0000"/>
              </a:solidFill>
            </a:endParaRPr>
          </a:p>
        </p:txBody>
      </p:sp>
      <p:sp>
        <p:nvSpPr>
          <p:cNvPr id="23" name="文本框 11"/>
          <p:cNvSpPr txBox="1"/>
          <p:nvPr/>
        </p:nvSpPr>
        <p:spPr>
          <a:xfrm>
            <a:off x="7810512" y="5546728"/>
            <a:ext cx="4381531" cy="1384995"/>
          </a:xfrm>
          <a:prstGeom prst="rect">
            <a:avLst/>
          </a:prstGeom>
          <a:noFill/>
        </p:spPr>
        <p:txBody>
          <a:bodyPr wrap="square" rtlCol="0">
            <a:spAutoFit/>
          </a:bodyPr>
          <a:lstStyle/>
          <a:p>
            <a:r>
              <a:rPr lang="zh-CN" altLang="en-US" sz="2800" b="1" dirty="0" smtClean="0"/>
              <a:t>拉杆的力所做的功是电能的来源。外力克服安培力所做的功。</a:t>
            </a:r>
            <a:endParaRPr lang="zh-CN" altLang="en-US" sz="2800" b="1" dirty="0"/>
          </a:p>
        </p:txBody>
      </p:sp>
    </p:spTree>
    <p:extLst>
      <p:ext uri="{BB962C8B-B14F-4D97-AF65-F5344CB8AC3E}">
        <p14:creationId xmlns:p14="http://schemas.microsoft.com/office/powerpoint/2010/main" val="4112815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150" y="835014"/>
            <a:ext cx="11558834" cy="500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86839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3796" name="Text Box 4"/>
          <p:cNvSpPr txBox="1">
            <a:spLocks noChangeArrowheads="1"/>
          </p:cNvSpPr>
          <p:nvPr/>
        </p:nvSpPr>
        <p:spPr bwMode="auto">
          <a:xfrm>
            <a:off x="431801" y="394603"/>
            <a:ext cx="6337300" cy="1815882"/>
          </a:xfrm>
          <a:prstGeom prst="rect">
            <a:avLst/>
          </a:prstGeom>
          <a:noFill/>
          <a:ln w="9525">
            <a:noFill/>
            <a:miter lim="800000"/>
            <a:headEnd/>
            <a:tailEnd/>
          </a:ln>
          <a:effectLst/>
        </p:spPr>
        <p:txBody>
          <a:bodyPr anchor="ctr">
            <a:spAutoFit/>
          </a:bodyPr>
          <a:lstStyle/>
          <a:p>
            <a:r>
              <a:rPr kumimoji="1" lang="zh-CN" altLang="en-US" sz="2800" b="1" dirty="0">
                <a:latin typeface="宋体" charset="-122"/>
              </a:rPr>
              <a:t>　　电子在洛仑兹力作用下</a:t>
            </a:r>
            <a:r>
              <a:rPr kumimoji="1" lang="en-US" altLang="zh-CN" sz="2800" b="1" dirty="0">
                <a:latin typeface="宋体" charset="-122"/>
              </a:rPr>
              <a:t>,</a:t>
            </a:r>
            <a:r>
              <a:rPr kumimoji="1" lang="zh-CN" altLang="en-US" sz="2800" b="1" dirty="0">
                <a:latin typeface="宋体" charset="-122"/>
              </a:rPr>
              <a:t>将沿导线从</a:t>
            </a:r>
            <a:r>
              <a:rPr kumimoji="1" lang="en-US" altLang="zh-CN" sz="2800" b="1" i="1" dirty="0">
                <a:latin typeface="Times New Roman" pitchFamily="18" charset="0"/>
              </a:rPr>
              <a:t>M</a:t>
            </a:r>
            <a:r>
              <a:rPr kumimoji="1" lang="zh-CN" altLang="en-US" sz="2800" b="1" dirty="0">
                <a:latin typeface="宋体" charset="-122"/>
              </a:rPr>
              <a:t>端向</a:t>
            </a:r>
            <a:r>
              <a:rPr kumimoji="1" lang="en-US" altLang="zh-CN" sz="2800" b="1" i="1" dirty="0">
                <a:latin typeface="Times New Roman" pitchFamily="18" charset="0"/>
              </a:rPr>
              <a:t>N</a:t>
            </a:r>
            <a:r>
              <a:rPr kumimoji="1" lang="zh-CN" altLang="en-US" sz="2800" b="1" dirty="0">
                <a:latin typeface="宋体" charset="-122"/>
              </a:rPr>
              <a:t>端运动</a:t>
            </a:r>
            <a:r>
              <a:rPr kumimoji="1" lang="en-US" altLang="zh-CN" sz="2800" b="1" dirty="0">
                <a:latin typeface="宋体" charset="-122"/>
              </a:rPr>
              <a:t>,</a:t>
            </a:r>
            <a:r>
              <a:rPr kumimoji="1" lang="zh-CN" altLang="en-US" sz="2800" b="1" dirty="0"/>
              <a:t>可以看作受到</a:t>
            </a:r>
            <a:r>
              <a:rPr kumimoji="1" lang="zh-CN" altLang="en-US" sz="2800" b="1" dirty="0">
                <a:latin typeface="宋体" charset="-122"/>
              </a:rPr>
              <a:t>一个</a:t>
            </a:r>
            <a:r>
              <a:rPr kumimoji="1" lang="zh-CN" altLang="en-US" sz="2800" b="1" dirty="0">
                <a:solidFill>
                  <a:srgbClr val="FF0000"/>
                </a:solidFill>
                <a:latin typeface="宋体" charset="-122"/>
              </a:rPr>
              <a:t>非静电性场强</a:t>
            </a:r>
            <a:r>
              <a:rPr kumimoji="1" lang="en-US" altLang="zh-CN" sz="2800" b="1" i="1" dirty="0" err="1">
                <a:solidFill>
                  <a:srgbClr val="FF0000"/>
                </a:solidFill>
                <a:latin typeface="Times New Roman" pitchFamily="18" charset="0"/>
              </a:rPr>
              <a:t>E</a:t>
            </a:r>
            <a:r>
              <a:rPr kumimoji="1" lang="en-US" altLang="zh-CN" sz="2800" b="1" baseline="-25000" dirty="0" err="1">
                <a:solidFill>
                  <a:srgbClr val="FF0000"/>
                </a:solidFill>
                <a:latin typeface="宋体" charset="-122"/>
              </a:rPr>
              <a:t>k</a:t>
            </a:r>
            <a:r>
              <a:rPr kumimoji="1" lang="en-US" altLang="zh-CN" sz="2800" b="1" i="1" baseline="-25000" dirty="0">
                <a:solidFill>
                  <a:srgbClr val="FF0000"/>
                </a:solidFill>
                <a:latin typeface="宋体" charset="-122"/>
              </a:rPr>
              <a:t> </a:t>
            </a:r>
            <a:r>
              <a:rPr kumimoji="1" lang="zh-CN" altLang="en-US" sz="2800" b="1" dirty="0">
                <a:latin typeface="宋体" charset="-122"/>
              </a:rPr>
              <a:t>对电子的作用。非静电力就是洛伦兹力</a:t>
            </a:r>
            <a:r>
              <a:rPr kumimoji="1" lang="en-US" altLang="zh-CN" sz="2800" b="1" i="1" dirty="0">
                <a:latin typeface="Times New Roman" pitchFamily="18" charset="0"/>
              </a:rPr>
              <a:t>F </a:t>
            </a:r>
            <a:r>
              <a:rPr kumimoji="1" lang="zh-CN" altLang="en-US" sz="2800" b="1" dirty="0">
                <a:latin typeface="宋体" charset="-122"/>
              </a:rPr>
              <a:t>。因此</a:t>
            </a:r>
          </a:p>
        </p:txBody>
      </p:sp>
      <p:graphicFrame>
        <p:nvGraphicFramePr>
          <p:cNvPr id="673797" name="Object 5"/>
          <p:cNvGraphicFramePr>
            <a:graphicFrameLocks noChangeAspect="1"/>
          </p:cNvGraphicFramePr>
          <p:nvPr/>
        </p:nvGraphicFramePr>
        <p:xfrm>
          <a:off x="1583267" y="2366964"/>
          <a:ext cx="3841751" cy="701675"/>
        </p:xfrm>
        <a:graphic>
          <a:graphicData uri="http://schemas.openxmlformats.org/presentationml/2006/ole">
            <mc:AlternateContent xmlns:mc="http://schemas.openxmlformats.org/markup-compatibility/2006">
              <mc:Choice xmlns:v="urn:schemas-microsoft-com:vml" Requires="v">
                <p:oleObj spid="_x0000_s20812" name="Equation" r:id="rId4" imgW="990360" imgH="241200" progId="Equation.DSMT4">
                  <p:embed/>
                </p:oleObj>
              </mc:Choice>
              <mc:Fallback>
                <p:oleObj name="Equation" r:id="rId4" imgW="990360" imgH="2412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3267" y="2366964"/>
                        <a:ext cx="3841751"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3798" name="Object 6"/>
          <p:cNvGraphicFramePr>
            <a:graphicFrameLocks noChangeAspect="1"/>
          </p:cNvGraphicFramePr>
          <p:nvPr/>
        </p:nvGraphicFramePr>
        <p:xfrm>
          <a:off x="2438400" y="3160714"/>
          <a:ext cx="2711451" cy="744537"/>
        </p:xfrm>
        <a:graphic>
          <a:graphicData uri="http://schemas.openxmlformats.org/presentationml/2006/ole">
            <mc:AlternateContent xmlns:mc="http://schemas.openxmlformats.org/markup-compatibility/2006">
              <mc:Choice xmlns:v="urn:schemas-microsoft-com:vml" Requires="v">
                <p:oleObj spid="_x0000_s20813" name="Equation" r:id="rId6" imgW="660240" imgH="241200" progId="Equation.DSMT4">
                  <p:embed/>
                </p:oleObj>
              </mc:Choice>
              <mc:Fallback>
                <p:oleObj name="Equation" r:id="rId6" imgW="660240" imgH="2412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3160714"/>
                        <a:ext cx="2711451" cy="744537"/>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00FF00"/>
                            </a:solidFill>
                          </a14:hiddenFill>
                        </a:ext>
                      </a:extLst>
                    </p:spPr>
                  </p:pic>
                </p:oleObj>
              </mc:Fallback>
            </mc:AlternateContent>
          </a:graphicData>
        </a:graphic>
      </p:graphicFrame>
      <p:sp>
        <p:nvSpPr>
          <p:cNvPr id="673799" name="Text Box 7"/>
          <p:cNvSpPr txBox="1">
            <a:spLocks noChangeArrowheads="1"/>
          </p:cNvSpPr>
          <p:nvPr/>
        </p:nvSpPr>
        <p:spPr bwMode="auto">
          <a:xfrm>
            <a:off x="431801" y="4076700"/>
            <a:ext cx="11501967" cy="946150"/>
          </a:xfrm>
          <a:prstGeom prst="rect">
            <a:avLst/>
          </a:prstGeom>
          <a:noFill/>
          <a:ln w="9525">
            <a:noFill/>
            <a:miter lim="800000"/>
            <a:headEnd/>
            <a:tailEnd/>
          </a:ln>
          <a:effectLst/>
        </p:spPr>
        <p:txBody>
          <a:bodyPr anchor="ctr">
            <a:spAutoFit/>
          </a:bodyPr>
          <a:lstStyle/>
          <a:p>
            <a:r>
              <a:rPr kumimoji="1" lang="zh-CN" altLang="en-US" sz="2800" b="1" dirty="0">
                <a:latin typeface="宋体" charset="-122"/>
              </a:rPr>
              <a:t>　　按照电动势的定义，感应电动势是这段导线内非静电力作功的结果，所以</a:t>
            </a:r>
          </a:p>
        </p:txBody>
      </p:sp>
      <p:graphicFrame>
        <p:nvGraphicFramePr>
          <p:cNvPr id="673801" name="Object 9"/>
          <p:cNvGraphicFramePr>
            <a:graphicFrameLocks noChangeAspect="1"/>
          </p:cNvGraphicFramePr>
          <p:nvPr>
            <p:extLst>
              <p:ext uri="{D42A27DB-BD31-4B8C-83A1-F6EECF244321}">
                <p14:modId xmlns:p14="http://schemas.microsoft.com/office/powerpoint/2010/main" val="3695637277"/>
              </p:ext>
            </p:extLst>
          </p:nvPr>
        </p:nvGraphicFramePr>
        <p:xfrm>
          <a:off x="4964793" y="4886326"/>
          <a:ext cx="5464175" cy="919162"/>
        </p:xfrm>
        <a:graphic>
          <a:graphicData uri="http://schemas.openxmlformats.org/presentationml/2006/ole">
            <mc:AlternateContent xmlns:mc="http://schemas.openxmlformats.org/markup-compatibility/2006">
              <mc:Choice xmlns:v="urn:schemas-microsoft-com:vml" Requires="v">
                <p:oleObj spid="_x0000_s20814" name="Equation" r:id="rId8" imgW="1473120" imgH="330120" progId="Equation.DSMT4">
                  <p:embed/>
                </p:oleObj>
              </mc:Choice>
              <mc:Fallback>
                <p:oleObj name="Equation" r:id="rId8" imgW="1473120" imgH="330120" progId="Equation.DSMT4">
                  <p:embed/>
                  <p:pic>
                    <p:nvPicPr>
                      <p:cNvPr id="0" name=""/>
                      <p:cNvPicPr>
                        <a:picLocks noChangeAspect="1" noChangeArrowheads="1"/>
                      </p:cNvPicPr>
                      <p:nvPr/>
                    </p:nvPicPr>
                    <p:blipFill>
                      <a:blip r:embed="rId9"/>
                      <a:srcRect/>
                      <a:stretch>
                        <a:fillRect/>
                      </a:stretch>
                    </p:blipFill>
                    <p:spPr bwMode="auto">
                      <a:xfrm>
                        <a:off x="4964793" y="4886326"/>
                        <a:ext cx="5464175" cy="919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3803" name="Text Box 11"/>
          <p:cNvSpPr txBox="1">
            <a:spLocks noChangeArrowheads="1"/>
          </p:cNvSpPr>
          <p:nvPr/>
        </p:nvSpPr>
        <p:spPr bwMode="auto">
          <a:xfrm>
            <a:off x="334434" y="5805488"/>
            <a:ext cx="11857567" cy="519112"/>
          </a:xfrm>
          <a:prstGeom prst="rect">
            <a:avLst/>
          </a:prstGeom>
          <a:noFill/>
          <a:ln w="9525">
            <a:noFill/>
            <a:miter lim="800000"/>
            <a:headEnd/>
            <a:tailEnd/>
          </a:ln>
          <a:effectLst/>
        </p:spPr>
        <p:txBody>
          <a:bodyPr anchor="ctr">
            <a:spAutoFit/>
          </a:bodyPr>
          <a:lstStyle/>
          <a:p>
            <a:r>
              <a:rPr kumimoji="1" lang="zh-CN" altLang="en-US" sz="2800" b="1" dirty="0">
                <a:latin typeface="宋体" charset="-122"/>
              </a:rPr>
              <a:t>可见，</a:t>
            </a:r>
            <a:r>
              <a:rPr kumimoji="1" lang="zh-CN" altLang="en-US" sz="2800" b="1" dirty="0">
                <a:solidFill>
                  <a:srgbClr val="000066"/>
                </a:solidFill>
                <a:latin typeface="宋体" charset="-122"/>
              </a:rPr>
              <a:t>动生电动势实质是运动电荷受洛伦兹力的结果。</a:t>
            </a:r>
          </a:p>
        </p:txBody>
      </p:sp>
      <p:grpSp>
        <p:nvGrpSpPr>
          <p:cNvPr id="2" name="Group 12"/>
          <p:cNvGrpSpPr>
            <a:grpSpLocks/>
          </p:cNvGrpSpPr>
          <p:nvPr/>
        </p:nvGrpSpPr>
        <p:grpSpPr bwMode="auto">
          <a:xfrm>
            <a:off x="6686551" y="115889"/>
            <a:ext cx="5171016" cy="3889375"/>
            <a:chOff x="3560" y="663"/>
            <a:chExt cx="2087" cy="2313"/>
          </a:xfrm>
        </p:grpSpPr>
        <p:sp>
          <p:nvSpPr>
            <p:cNvPr id="673805" name="Rectangle 13"/>
            <p:cNvSpPr>
              <a:spLocks noChangeArrowheads="1"/>
            </p:cNvSpPr>
            <p:nvPr/>
          </p:nvSpPr>
          <p:spPr bwMode="auto">
            <a:xfrm>
              <a:off x="3560" y="663"/>
              <a:ext cx="2087" cy="2313"/>
            </a:xfrm>
            <a:prstGeom prst="rect">
              <a:avLst/>
            </a:prstGeom>
            <a:solidFill>
              <a:schemeClr val="tx1"/>
            </a:solidFill>
            <a:ln w="25400">
              <a:solidFill>
                <a:schemeClr val="tx1"/>
              </a:solidFill>
              <a:miter lim="800000"/>
              <a:headEnd/>
              <a:tailEnd/>
            </a:ln>
            <a:effectLst/>
          </p:spPr>
          <p:txBody>
            <a:bodyPr wrap="none" anchor="ctr"/>
            <a:lstStyle/>
            <a:p>
              <a:endParaRPr lang="zh-CN" altLang="en-US"/>
            </a:p>
          </p:txBody>
        </p:sp>
        <p:grpSp>
          <p:nvGrpSpPr>
            <p:cNvPr id="3" name="Group 14"/>
            <p:cNvGrpSpPr>
              <a:grpSpLocks/>
            </p:cNvGrpSpPr>
            <p:nvPr/>
          </p:nvGrpSpPr>
          <p:grpSpPr bwMode="auto">
            <a:xfrm>
              <a:off x="3687" y="799"/>
              <a:ext cx="1815" cy="1815"/>
              <a:chOff x="3687" y="799"/>
              <a:chExt cx="1815" cy="1815"/>
            </a:xfrm>
          </p:grpSpPr>
          <p:grpSp>
            <p:nvGrpSpPr>
              <p:cNvPr id="4" name="Group 15"/>
              <p:cNvGrpSpPr>
                <a:grpSpLocks/>
              </p:cNvGrpSpPr>
              <p:nvPr/>
            </p:nvGrpSpPr>
            <p:grpSpPr bwMode="auto">
              <a:xfrm>
                <a:off x="3696" y="799"/>
                <a:ext cx="1806" cy="136"/>
                <a:chOff x="3696" y="799"/>
                <a:chExt cx="1806" cy="136"/>
              </a:xfrm>
            </p:grpSpPr>
            <p:grpSp>
              <p:nvGrpSpPr>
                <p:cNvPr id="5" name="Group 16"/>
                <p:cNvGrpSpPr>
                  <a:grpSpLocks/>
                </p:cNvGrpSpPr>
                <p:nvPr/>
              </p:nvGrpSpPr>
              <p:grpSpPr bwMode="auto">
                <a:xfrm>
                  <a:off x="3696" y="799"/>
                  <a:ext cx="91" cy="136"/>
                  <a:chOff x="1973" y="1979"/>
                  <a:chExt cx="136" cy="272"/>
                </a:xfrm>
              </p:grpSpPr>
              <p:sp>
                <p:nvSpPr>
                  <p:cNvPr id="673809" name="Line 17"/>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10" name="Line 18"/>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6" name="Group 19"/>
                <p:cNvGrpSpPr>
                  <a:grpSpLocks/>
                </p:cNvGrpSpPr>
                <p:nvPr/>
              </p:nvGrpSpPr>
              <p:grpSpPr bwMode="auto">
                <a:xfrm>
                  <a:off x="4104" y="799"/>
                  <a:ext cx="91" cy="136"/>
                  <a:chOff x="1973" y="1979"/>
                  <a:chExt cx="136" cy="272"/>
                </a:xfrm>
              </p:grpSpPr>
              <p:sp>
                <p:nvSpPr>
                  <p:cNvPr id="673812" name="Line 20"/>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13" name="Line 21"/>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7" name="Group 22"/>
                <p:cNvGrpSpPr>
                  <a:grpSpLocks/>
                </p:cNvGrpSpPr>
                <p:nvPr/>
              </p:nvGrpSpPr>
              <p:grpSpPr bwMode="auto">
                <a:xfrm>
                  <a:off x="5012" y="799"/>
                  <a:ext cx="91" cy="136"/>
                  <a:chOff x="1973" y="1979"/>
                  <a:chExt cx="136" cy="272"/>
                </a:xfrm>
              </p:grpSpPr>
              <p:sp>
                <p:nvSpPr>
                  <p:cNvPr id="673815" name="Line 23"/>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16" name="Line 24"/>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8" name="Group 25"/>
                <p:cNvGrpSpPr>
                  <a:grpSpLocks/>
                </p:cNvGrpSpPr>
                <p:nvPr/>
              </p:nvGrpSpPr>
              <p:grpSpPr bwMode="auto">
                <a:xfrm>
                  <a:off x="4558" y="799"/>
                  <a:ext cx="91" cy="136"/>
                  <a:chOff x="1973" y="1979"/>
                  <a:chExt cx="136" cy="272"/>
                </a:xfrm>
              </p:grpSpPr>
              <p:sp>
                <p:nvSpPr>
                  <p:cNvPr id="673818" name="Line 26"/>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19" name="Line 27"/>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9" name="Group 28"/>
                <p:cNvGrpSpPr>
                  <a:grpSpLocks/>
                </p:cNvGrpSpPr>
                <p:nvPr/>
              </p:nvGrpSpPr>
              <p:grpSpPr bwMode="auto">
                <a:xfrm>
                  <a:off x="5411" y="799"/>
                  <a:ext cx="91" cy="136"/>
                  <a:chOff x="1973" y="1979"/>
                  <a:chExt cx="136" cy="272"/>
                </a:xfrm>
              </p:grpSpPr>
              <p:sp>
                <p:nvSpPr>
                  <p:cNvPr id="673821" name="Line 29"/>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22" name="Line 30"/>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grpSp>
            <p:nvGrpSpPr>
              <p:cNvPr id="10" name="Group 31"/>
              <p:cNvGrpSpPr>
                <a:grpSpLocks/>
              </p:cNvGrpSpPr>
              <p:nvPr/>
            </p:nvGrpSpPr>
            <p:grpSpPr bwMode="auto">
              <a:xfrm>
                <a:off x="3696" y="1208"/>
                <a:ext cx="1806" cy="136"/>
                <a:chOff x="3696" y="799"/>
                <a:chExt cx="1806" cy="136"/>
              </a:xfrm>
            </p:grpSpPr>
            <p:grpSp>
              <p:nvGrpSpPr>
                <p:cNvPr id="11" name="Group 32"/>
                <p:cNvGrpSpPr>
                  <a:grpSpLocks/>
                </p:cNvGrpSpPr>
                <p:nvPr/>
              </p:nvGrpSpPr>
              <p:grpSpPr bwMode="auto">
                <a:xfrm>
                  <a:off x="3696" y="799"/>
                  <a:ext cx="91" cy="136"/>
                  <a:chOff x="1973" y="1979"/>
                  <a:chExt cx="136" cy="272"/>
                </a:xfrm>
              </p:grpSpPr>
              <p:sp>
                <p:nvSpPr>
                  <p:cNvPr id="673825" name="Line 33"/>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26" name="Line 34"/>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12" name="Group 35"/>
                <p:cNvGrpSpPr>
                  <a:grpSpLocks/>
                </p:cNvGrpSpPr>
                <p:nvPr/>
              </p:nvGrpSpPr>
              <p:grpSpPr bwMode="auto">
                <a:xfrm>
                  <a:off x="4104" y="799"/>
                  <a:ext cx="91" cy="136"/>
                  <a:chOff x="1973" y="1979"/>
                  <a:chExt cx="136" cy="272"/>
                </a:xfrm>
              </p:grpSpPr>
              <p:sp>
                <p:nvSpPr>
                  <p:cNvPr id="673828" name="Line 36"/>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29" name="Line 37"/>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13" name="Group 38"/>
                <p:cNvGrpSpPr>
                  <a:grpSpLocks/>
                </p:cNvGrpSpPr>
                <p:nvPr/>
              </p:nvGrpSpPr>
              <p:grpSpPr bwMode="auto">
                <a:xfrm>
                  <a:off x="5012" y="799"/>
                  <a:ext cx="91" cy="136"/>
                  <a:chOff x="1973" y="1979"/>
                  <a:chExt cx="136" cy="272"/>
                </a:xfrm>
              </p:grpSpPr>
              <p:sp>
                <p:nvSpPr>
                  <p:cNvPr id="673831" name="Line 39"/>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32" name="Line 40"/>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14" name="Group 41"/>
                <p:cNvGrpSpPr>
                  <a:grpSpLocks/>
                </p:cNvGrpSpPr>
                <p:nvPr/>
              </p:nvGrpSpPr>
              <p:grpSpPr bwMode="auto">
                <a:xfrm>
                  <a:off x="4558" y="799"/>
                  <a:ext cx="91" cy="136"/>
                  <a:chOff x="1973" y="1979"/>
                  <a:chExt cx="136" cy="272"/>
                </a:xfrm>
              </p:grpSpPr>
              <p:sp>
                <p:nvSpPr>
                  <p:cNvPr id="673834" name="Line 42"/>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35" name="Line 43"/>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15" name="Group 44"/>
                <p:cNvGrpSpPr>
                  <a:grpSpLocks/>
                </p:cNvGrpSpPr>
                <p:nvPr/>
              </p:nvGrpSpPr>
              <p:grpSpPr bwMode="auto">
                <a:xfrm>
                  <a:off x="5411" y="799"/>
                  <a:ext cx="91" cy="136"/>
                  <a:chOff x="1973" y="1979"/>
                  <a:chExt cx="136" cy="272"/>
                </a:xfrm>
              </p:grpSpPr>
              <p:sp>
                <p:nvSpPr>
                  <p:cNvPr id="673837" name="Line 45"/>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38" name="Line 46"/>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grpSp>
            <p:nvGrpSpPr>
              <p:cNvPr id="16" name="Group 47"/>
              <p:cNvGrpSpPr>
                <a:grpSpLocks/>
              </p:cNvGrpSpPr>
              <p:nvPr/>
            </p:nvGrpSpPr>
            <p:grpSpPr bwMode="auto">
              <a:xfrm>
                <a:off x="3696" y="1616"/>
                <a:ext cx="1806" cy="136"/>
                <a:chOff x="3696" y="799"/>
                <a:chExt cx="1806" cy="136"/>
              </a:xfrm>
            </p:grpSpPr>
            <p:grpSp>
              <p:nvGrpSpPr>
                <p:cNvPr id="17" name="Group 48"/>
                <p:cNvGrpSpPr>
                  <a:grpSpLocks/>
                </p:cNvGrpSpPr>
                <p:nvPr/>
              </p:nvGrpSpPr>
              <p:grpSpPr bwMode="auto">
                <a:xfrm>
                  <a:off x="3696" y="799"/>
                  <a:ext cx="91" cy="136"/>
                  <a:chOff x="1973" y="1979"/>
                  <a:chExt cx="136" cy="272"/>
                </a:xfrm>
              </p:grpSpPr>
              <p:sp>
                <p:nvSpPr>
                  <p:cNvPr id="673841" name="Line 49"/>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42" name="Line 50"/>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18" name="Group 51"/>
                <p:cNvGrpSpPr>
                  <a:grpSpLocks/>
                </p:cNvGrpSpPr>
                <p:nvPr/>
              </p:nvGrpSpPr>
              <p:grpSpPr bwMode="auto">
                <a:xfrm>
                  <a:off x="4104" y="799"/>
                  <a:ext cx="91" cy="136"/>
                  <a:chOff x="1973" y="1979"/>
                  <a:chExt cx="136" cy="272"/>
                </a:xfrm>
              </p:grpSpPr>
              <p:sp>
                <p:nvSpPr>
                  <p:cNvPr id="673844" name="Line 52"/>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45" name="Line 53"/>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19" name="Group 54"/>
                <p:cNvGrpSpPr>
                  <a:grpSpLocks/>
                </p:cNvGrpSpPr>
                <p:nvPr/>
              </p:nvGrpSpPr>
              <p:grpSpPr bwMode="auto">
                <a:xfrm>
                  <a:off x="5012" y="799"/>
                  <a:ext cx="91" cy="136"/>
                  <a:chOff x="1973" y="1979"/>
                  <a:chExt cx="136" cy="272"/>
                </a:xfrm>
              </p:grpSpPr>
              <p:sp>
                <p:nvSpPr>
                  <p:cNvPr id="673847" name="Line 55"/>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48" name="Line 56"/>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20" name="Group 57"/>
                <p:cNvGrpSpPr>
                  <a:grpSpLocks/>
                </p:cNvGrpSpPr>
                <p:nvPr/>
              </p:nvGrpSpPr>
              <p:grpSpPr bwMode="auto">
                <a:xfrm>
                  <a:off x="4558" y="799"/>
                  <a:ext cx="91" cy="136"/>
                  <a:chOff x="1973" y="1979"/>
                  <a:chExt cx="136" cy="272"/>
                </a:xfrm>
              </p:grpSpPr>
              <p:sp>
                <p:nvSpPr>
                  <p:cNvPr id="673850" name="Line 58"/>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51" name="Line 59"/>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21" name="Group 60"/>
                <p:cNvGrpSpPr>
                  <a:grpSpLocks/>
                </p:cNvGrpSpPr>
                <p:nvPr/>
              </p:nvGrpSpPr>
              <p:grpSpPr bwMode="auto">
                <a:xfrm>
                  <a:off x="5411" y="799"/>
                  <a:ext cx="91" cy="136"/>
                  <a:chOff x="1973" y="1979"/>
                  <a:chExt cx="136" cy="272"/>
                </a:xfrm>
              </p:grpSpPr>
              <p:sp>
                <p:nvSpPr>
                  <p:cNvPr id="673853" name="Line 61"/>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54" name="Line 62"/>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grpSp>
            <p:nvGrpSpPr>
              <p:cNvPr id="22" name="Group 63"/>
              <p:cNvGrpSpPr>
                <a:grpSpLocks/>
              </p:cNvGrpSpPr>
              <p:nvPr/>
            </p:nvGrpSpPr>
            <p:grpSpPr bwMode="auto">
              <a:xfrm>
                <a:off x="3687" y="2069"/>
                <a:ext cx="1806" cy="136"/>
                <a:chOff x="3696" y="799"/>
                <a:chExt cx="1806" cy="136"/>
              </a:xfrm>
            </p:grpSpPr>
            <p:grpSp>
              <p:nvGrpSpPr>
                <p:cNvPr id="23" name="Group 64"/>
                <p:cNvGrpSpPr>
                  <a:grpSpLocks/>
                </p:cNvGrpSpPr>
                <p:nvPr/>
              </p:nvGrpSpPr>
              <p:grpSpPr bwMode="auto">
                <a:xfrm>
                  <a:off x="3696" y="799"/>
                  <a:ext cx="91" cy="136"/>
                  <a:chOff x="1973" y="1979"/>
                  <a:chExt cx="136" cy="272"/>
                </a:xfrm>
              </p:grpSpPr>
              <p:sp>
                <p:nvSpPr>
                  <p:cNvPr id="673857" name="Line 65"/>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58" name="Line 66"/>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24" name="Group 67"/>
                <p:cNvGrpSpPr>
                  <a:grpSpLocks/>
                </p:cNvGrpSpPr>
                <p:nvPr/>
              </p:nvGrpSpPr>
              <p:grpSpPr bwMode="auto">
                <a:xfrm>
                  <a:off x="4104" y="799"/>
                  <a:ext cx="91" cy="136"/>
                  <a:chOff x="1973" y="1979"/>
                  <a:chExt cx="136" cy="272"/>
                </a:xfrm>
              </p:grpSpPr>
              <p:sp>
                <p:nvSpPr>
                  <p:cNvPr id="673860" name="Line 68"/>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61" name="Line 69"/>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25" name="Group 70"/>
                <p:cNvGrpSpPr>
                  <a:grpSpLocks/>
                </p:cNvGrpSpPr>
                <p:nvPr/>
              </p:nvGrpSpPr>
              <p:grpSpPr bwMode="auto">
                <a:xfrm>
                  <a:off x="5012" y="799"/>
                  <a:ext cx="91" cy="136"/>
                  <a:chOff x="1973" y="1979"/>
                  <a:chExt cx="136" cy="272"/>
                </a:xfrm>
              </p:grpSpPr>
              <p:sp>
                <p:nvSpPr>
                  <p:cNvPr id="673863" name="Line 71"/>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64" name="Line 72"/>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26" name="Group 73"/>
                <p:cNvGrpSpPr>
                  <a:grpSpLocks/>
                </p:cNvGrpSpPr>
                <p:nvPr/>
              </p:nvGrpSpPr>
              <p:grpSpPr bwMode="auto">
                <a:xfrm>
                  <a:off x="4558" y="799"/>
                  <a:ext cx="91" cy="136"/>
                  <a:chOff x="1973" y="1979"/>
                  <a:chExt cx="136" cy="272"/>
                </a:xfrm>
              </p:grpSpPr>
              <p:sp>
                <p:nvSpPr>
                  <p:cNvPr id="673866" name="Line 74"/>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67" name="Line 75"/>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27" name="Group 76"/>
                <p:cNvGrpSpPr>
                  <a:grpSpLocks/>
                </p:cNvGrpSpPr>
                <p:nvPr/>
              </p:nvGrpSpPr>
              <p:grpSpPr bwMode="auto">
                <a:xfrm>
                  <a:off x="5411" y="799"/>
                  <a:ext cx="91" cy="136"/>
                  <a:chOff x="1973" y="1979"/>
                  <a:chExt cx="136" cy="272"/>
                </a:xfrm>
              </p:grpSpPr>
              <p:sp>
                <p:nvSpPr>
                  <p:cNvPr id="673869" name="Line 77"/>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70" name="Line 78"/>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grpSp>
            <p:nvGrpSpPr>
              <p:cNvPr id="28" name="Group 79"/>
              <p:cNvGrpSpPr>
                <a:grpSpLocks/>
              </p:cNvGrpSpPr>
              <p:nvPr/>
            </p:nvGrpSpPr>
            <p:grpSpPr bwMode="auto">
              <a:xfrm>
                <a:off x="3696" y="2478"/>
                <a:ext cx="1806" cy="136"/>
                <a:chOff x="3696" y="799"/>
                <a:chExt cx="1806" cy="136"/>
              </a:xfrm>
            </p:grpSpPr>
            <p:grpSp>
              <p:nvGrpSpPr>
                <p:cNvPr id="29" name="Group 80"/>
                <p:cNvGrpSpPr>
                  <a:grpSpLocks/>
                </p:cNvGrpSpPr>
                <p:nvPr/>
              </p:nvGrpSpPr>
              <p:grpSpPr bwMode="auto">
                <a:xfrm>
                  <a:off x="3696" y="799"/>
                  <a:ext cx="91" cy="136"/>
                  <a:chOff x="1973" y="1979"/>
                  <a:chExt cx="136" cy="272"/>
                </a:xfrm>
              </p:grpSpPr>
              <p:sp>
                <p:nvSpPr>
                  <p:cNvPr id="673873" name="Line 81"/>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74" name="Line 82"/>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30" name="Group 83"/>
                <p:cNvGrpSpPr>
                  <a:grpSpLocks/>
                </p:cNvGrpSpPr>
                <p:nvPr/>
              </p:nvGrpSpPr>
              <p:grpSpPr bwMode="auto">
                <a:xfrm>
                  <a:off x="4104" y="799"/>
                  <a:ext cx="91" cy="136"/>
                  <a:chOff x="1973" y="1979"/>
                  <a:chExt cx="136" cy="272"/>
                </a:xfrm>
              </p:grpSpPr>
              <p:sp>
                <p:nvSpPr>
                  <p:cNvPr id="673876" name="Line 84"/>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77" name="Line 85"/>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31" name="Group 86"/>
                <p:cNvGrpSpPr>
                  <a:grpSpLocks/>
                </p:cNvGrpSpPr>
                <p:nvPr/>
              </p:nvGrpSpPr>
              <p:grpSpPr bwMode="auto">
                <a:xfrm>
                  <a:off x="5012" y="799"/>
                  <a:ext cx="91" cy="136"/>
                  <a:chOff x="1973" y="1979"/>
                  <a:chExt cx="136" cy="272"/>
                </a:xfrm>
              </p:grpSpPr>
              <p:sp>
                <p:nvSpPr>
                  <p:cNvPr id="673879" name="Line 87"/>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80" name="Line 88"/>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673792" name="Group 89"/>
                <p:cNvGrpSpPr>
                  <a:grpSpLocks/>
                </p:cNvGrpSpPr>
                <p:nvPr/>
              </p:nvGrpSpPr>
              <p:grpSpPr bwMode="auto">
                <a:xfrm>
                  <a:off x="4558" y="799"/>
                  <a:ext cx="91" cy="136"/>
                  <a:chOff x="1973" y="1979"/>
                  <a:chExt cx="136" cy="272"/>
                </a:xfrm>
              </p:grpSpPr>
              <p:sp>
                <p:nvSpPr>
                  <p:cNvPr id="673882" name="Line 90"/>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83" name="Line 91"/>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nvGrpSpPr>
                <p:cNvPr id="673793" name="Group 92"/>
                <p:cNvGrpSpPr>
                  <a:grpSpLocks/>
                </p:cNvGrpSpPr>
                <p:nvPr/>
              </p:nvGrpSpPr>
              <p:grpSpPr bwMode="auto">
                <a:xfrm>
                  <a:off x="5411" y="799"/>
                  <a:ext cx="91" cy="136"/>
                  <a:chOff x="1973" y="1979"/>
                  <a:chExt cx="136" cy="272"/>
                </a:xfrm>
              </p:grpSpPr>
              <p:sp>
                <p:nvSpPr>
                  <p:cNvPr id="673885" name="Line 93"/>
                  <p:cNvSpPr>
                    <a:spLocks noChangeShapeType="1"/>
                  </p:cNvSpPr>
                  <p:nvPr/>
                </p:nvSpPr>
                <p:spPr bwMode="auto">
                  <a:xfrm>
                    <a:off x="1973" y="1979"/>
                    <a:ext cx="136" cy="272"/>
                  </a:xfrm>
                  <a:prstGeom prst="line">
                    <a:avLst/>
                  </a:prstGeom>
                  <a:noFill/>
                  <a:ln w="25400">
                    <a:solidFill>
                      <a:srgbClr val="CC99FF"/>
                    </a:solidFill>
                    <a:round/>
                    <a:headEnd/>
                    <a:tailEnd/>
                  </a:ln>
                  <a:effectLst/>
                </p:spPr>
                <p:txBody>
                  <a:bodyPr/>
                  <a:lstStyle/>
                  <a:p>
                    <a:endParaRPr lang="zh-CN" altLang="en-US"/>
                  </a:p>
                </p:txBody>
              </p:sp>
              <p:sp>
                <p:nvSpPr>
                  <p:cNvPr id="673886" name="Line 94"/>
                  <p:cNvSpPr>
                    <a:spLocks noChangeShapeType="1"/>
                  </p:cNvSpPr>
                  <p:nvPr/>
                </p:nvSpPr>
                <p:spPr bwMode="auto">
                  <a:xfrm flipH="1">
                    <a:off x="1973" y="1979"/>
                    <a:ext cx="136" cy="272"/>
                  </a:xfrm>
                  <a:prstGeom prst="line">
                    <a:avLst/>
                  </a:prstGeom>
                  <a:noFill/>
                  <a:ln w="25400">
                    <a:solidFill>
                      <a:srgbClr val="CC99FF"/>
                    </a:solidFill>
                    <a:round/>
                    <a:headEnd/>
                    <a:tailEnd/>
                  </a:ln>
                  <a:effectLst/>
                </p:spPr>
                <p:txBody>
                  <a:bodyPr/>
                  <a:lstStyle/>
                  <a:p>
                    <a:endParaRPr lang="zh-CN" altLang="en-US"/>
                  </a:p>
                </p:txBody>
              </p:sp>
            </p:grpSp>
          </p:grpSp>
        </p:grpSp>
      </p:grpSp>
      <p:grpSp>
        <p:nvGrpSpPr>
          <p:cNvPr id="673794" name="Group 95"/>
          <p:cNvGrpSpPr>
            <a:grpSpLocks/>
          </p:cNvGrpSpPr>
          <p:nvPr/>
        </p:nvGrpSpPr>
        <p:grpSpPr bwMode="auto">
          <a:xfrm>
            <a:off x="7454900" y="763588"/>
            <a:ext cx="1322917" cy="2289175"/>
            <a:chOff x="3923" y="1071"/>
            <a:chExt cx="534" cy="1361"/>
          </a:xfrm>
        </p:grpSpPr>
        <p:sp>
          <p:nvSpPr>
            <p:cNvPr id="673888" name="Rectangle 96"/>
            <p:cNvSpPr>
              <a:spLocks noChangeArrowheads="1"/>
            </p:cNvSpPr>
            <p:nvPr/>
          </p:nvSpPr>
          <p:spPr bwMode="auto">
            <a:xfrm>
              <a:off x="3923" y="1071"/>
              <a:ext cx="136" cy="1361"/>
            </a:xfrm>
            <a:prstGeom prst="rect">
              <a:avLst/>
            </a:prstGeom>
            <a:gradFill rotWithShape="1">
              <a:gsLst>
                <a:gs pos="0">
                  <a:srgbClr val="FFFF00"/>
                </a:gs>
                <a:gs pos="100000">
                  <a:srgbClr val="FFFF00">
                    <a:gamma/>
                    <a:shade val="41176"/>
                    <a:invGamma/>
                  </a:srgbClr>
                </a:gs>
              </a:gsLst>
              <a:lin ang="0" scaled="1"/>
            </a:gradFill>
            <a:ln w="25400">
              <a:noFill/>
              <a:miter lim="800000"/>
              <a:headEnd/>
              <a:tailEnd/>
            </a:ln>
            <a:effectLst/>
          </p:spPr>
          <p:txBody>
            <a:bodyPr wrap="none" anchor="ctr"/>
            <a:lstStyle/>
            <a:p>
              <a:endParaRPr lang="zh-CN" altLang="en-US"/>
            </a:p>
          </p:txBody>
        </p:sp>
        <p:grpSp>
          <p:nvGrpSpPr>
            <p:cNvPr id="673795" name="Group 97"/>
            <p:cNvGrpSpPr>
              <a:grpSpLocks/>
            </p:cNvGrpSpPr>
            <p:nvPr/>
          </p:nvGrpSpPr>
          <p:grpSpPr bwMode="auto">
            <a:xfrm>
              <a:off x="4059" y="1389"/>
              <a:ext cx="398" cy="635"/>
              <a:chOff x="4059" y="1389"/>
              <a:chExt cx="398" cy="635"/>
            </a:xfrm>
          </p:grpSpPr>
          <p:graphicFrame>
            <p:nvGraphicFramePr>
              <p:cNvPr id="673890" name="Object 98"/>
              <p:cNvGraphicFramePr>
                <a:graphicFrameLocks noChangeAspect="1"/>
              </p:cNvGraphicFramePr>
              <p:nvPr/>
            </p:nvGraphicFramePr>
            <p:xfrm>
              <a:off x="4105" y="1389"/>
              <a:ext cx="90" cy="294"/>
            </p:xfrm>
            <a:graphic>
              <a:graphicData uri="http://schemas.openxmlformats.org/presentationml/2006/ole">
                <mc:AlternateContent xmlns:mc="http://schemas.openxmlformats.org/markup-compatibility/2006">
                  <mc:Choice xmlns:v="urn:schemas-microsoft-com:vml" Requires="v">
                    <p:oleObj spid="_x0000_s20815" name="公式" r:id="rId10" imgW="88560" imgH="177480" progId="Equations">
                      <p:embed/>
                    </p:oleObj>
                  </mc:Choice>
                  <mc:Fallback>
                    <p:oleObj name="公式" r:id="rId10" imgW="88560" imgH="177480" progId="Equations">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05" y="1389"/>
                            <a:ext cx="90" cy="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73800" name="Group 99"/>
              <p:cNvGrpSpPr>
                <a:grpSpLocks/>
              </p:cNvGrpSpPr>
              <p:nvPr/>
            </p:nvGrpSpPr>
            <p:grpSpPr bwMode="auto">
              <a:xfrm>
                <a:off x="4059" y="1752"/>
                <a:ext cx="398" cy="272"/>
                <a:chOff x="4059" y="1752"/>
                <a:chExt cx="398" cy="272"/>
              </a:xfrm>
            </p:grpSpPr>
            <p:sp>
              <p:nvSpPr>
                <p:cNvPr id="673892" name="Line 100"/>
                <p:cNvSpPr>
                  <a:spLocks noChangeShapeType="1"/>
                </p:cNvSpPr>
                <p:nvPr/>
              </p:nvSpPr>
              <p:spPr bwMode="auto">
                <a:xfrm>
                  <a:off x="4059" y="1752"/>
                  <a:ext cx="318" cy="0"/>
                </a:xfrm>
                <a:prstGeom prst="line">
                  <a:avLst/>
                </a:prstGeom>
                <a:noFill/>
                <a:ln w="47625">
                  <a:solidFill>
                    <a:srgbClr val="FF0000"/>
                  </a:solidFill>
                  <a:round/>
                  <a:headEnd/>
                  <a:tailEnd type="triangle" w="med" len="med"/>
                </a:ln>
                <a:effectLst/>
              </p:spPr>
              <p:txBody>
                <a:bodyPr/>
                <a:lstStyle/>
                <a:p>
                  <a:endParaRPr lang="zh-CN" altLang="en-US"/>
                </a:p>
              </p:txBody>
            </p:sp>
            <p:graphicFrame>
              <p:nvGraphicFramePr>
                <p:cNvPr id="673893" name="Object 101"/>
                <p:cNvGraphicFramePr>
                  <a:graphicFrameLocks noChangeAspect="1"/>
                </p:cNvGraphicFramePr>
                <p:nvPr/>
              </p:nvGraphicFramePr>
              <p:xfrm>
                <a:off x="4281" y="1808"/>
                <a:ext cx="176" cy="216"/>
              </p:xfrm>
              <a:graphic>
                <a:graphicData uri="http://schemas.openxmlformats.org/presentationml/2006/ole">
                  <mc:AlternateContent xmlns:mc="http://schemas.openxmlformats.org/markup-compatibility/2006">
                    <mc:Choice xmlns:v="urn:schemas-microsoft-com:vml" Requires="v">
                      <p:oleObj spid="_x0000_s20816" name="公式" r:id="rId12" imgW="114120" imgH="139680" progId="Equations">
                        <p:embed/>
                      </p:oleObj>
                    </mc:Choice>
                    <mc:Fallback>
                      <p:oleObj name="公式" r:id="rId12" imgW="114120" imgH="139680" progId="Equations">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1" y="1808"/>
                              <a:ext cx="176"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pSp>
        <p:nvGrpSpPr>
          <p:cNvPr id="673802" name="Group 102"/>
          <p:cNvGrpSpPr>
            <a:grpSpLocks/>
          </p:cNvGrpSpPr>
          <p:nvPr/>
        </p:nvGrpSpPr>
        <p:grpSpPr bwMode="auto">
          <a:xfrm>
            <a:off x="7344834" y="476251"/>
            <a:ext cx="3543300" cy="2849563"/>
            <a:chOff x="3871" y="890"/>
            <a:chExt cx="1430" cy="1695"/>
          </a:xfrm>
        </p:grpSpPr>
        <p:sp>
          <p:nvSpPr>
            <p:cNvPr id="673895" name="Rectangle 103"/>
            <p:cNvSpPr>
              <a:spLocks noChangeArrowheads="1"/>
            </p:cNvSpPr>
            <p:nvPr/>
          </p:nvSpPr>
          <p:spPr bwMode="auto">
            <a:xfrm>
              <a:off x="5148" y="1071"/>
              <a:ext cx="91" cy="1361"/>
            </a:xfrm>
            <a:prstGeom prst="rect">
              <a:avLst/>
            </a:prstGeom>
            <a:noFill/>
            <a:ln w="25400">
              <a:solidFill>
                <a:srgbClr val="FFFF00"/>
              </a:solidFill>
              <a:prstDash val="dash"/>
              <a:miter lim="800000"/>
              <a:headEnd/>
              <a:tailEnd/>
            </a:ln>
            <a:effectLst/>
          </p:spPr>
          <p:txBody>
            <a:bodyPr wrap="none" anchor="ctr"/>
            <a:lstStyle/>
            <a:p>
              <a:endParaRPr lang="zh-CN" altLang="en-US"/>
            </a:p>
          </p:txBody>
        </p:sp>
        <p:sp>
          <p:nvSpPr>
            <p:cNvPr id="673896" name="Line 104"/>
            <p:cNvSpPr>
              <a:spLocks noChangeShapeType="1"/>
            </p:cNvSpPr>
            <p:nvPr/>
          </p:nvSpPr>
          <p:spPr bwMode="auto">
            <a:xfrm>
              <a:off x="4014" y="1071"/>
              <a:ext cx="1134" cy="0"/>
            </a:xfrm>
            <a:prstGeom prst="line">
              <a:avLst/>
            </a:prstGeom>
            <a:noFill/>
            <a:ln w="31750">
              <a:solidFill>
                <a:srgbClr val="FFFF00"/>
              </a:solidFill>
              <a:prstDash val="dash"/>
              <a:round/>
              <a:headEnd/>
              <a:tailEnd/>
            </a:ln>
            <a:effectLst/>
          </p:spPr>
          <p:txBody>
            <a:bodyPr/>
            <a:lstStyle/>
            <a:p>
              <a:endParaRPr lang="zh-CN" altLang="en-US"/>
            </a:p>
          </p:txBody>
        </p:sp>
        <p:sp>
          <p:nvSpPr>
            <p:cNvPr id="673897" name="Line 105"/>
            <p:cNvSpPr>
              <a:spLocks noChangeShapeType="1"/>
            </p:cNvSpPr>
            <p:nvPr/>
          </p:nvSpPr>
          <p:spPr bwMode="auto">
            <a:xfrm>
              <a:off x="4014" y="2432"/>
              <a:ext cx="1134" cy="0"/>
            </a:xfrm>
            <a:prstGeom prst="line">
              <a:avLst/>
            </a:prstGeom>
            <a:noFill/>
            <a:ln w="31750">
              <a:solidFill>
                <a:srgbClr val="FFFF00"/>
              </a:solidFill>
              <a:prstDash val="dash"/>
              <a:round/>
              <a:headEnd/>
              <a:tailEnd/>
            </a:ln>
            <a:effectLst/>
          </p:spPr>
          <p:txBody>
            <a:bodyPr/>
            <a:lstStyle/>
            <a:p>
              <a:endParaRPr lang="zh-CN" altLang="en-US"/>
            </a:p>
          </p:txBody>
        </p:sp>
        <p:graphicFrame>
          <p:nvGraphicFramePr>
            <p:cNvPr id="673898" name="Object 106"/>
            <p:cNvGraphicFramePr>
              <a:graphicFrameLocks noChangeAspect="1"/>
            </p:cNvGraphicFramePr>
            <p:nvPr/>
          </p:nvGraphicFramePr>
          <p:xfrm>
            <a:off x="3871" y="2427"/>
            <a:ext cx="158" cy="158"/>
          </p:xfrm>
          <a:graphic>
            <a:graphicData uri="http://schemas.openxmlformats.org/presentationml/2006/ole">
              <mc:AlternateContent xmlns:mc="http://schemas.openxmlformats.org/markup-compatibility/2006">
                <mc:Choice xmlns:v="urn:schemas-microsoft-com:vml" Requires="v">
                  <p:oleObj spid="_x0000_s20817" name="公式" r:id="rId14" imgW="177480" imgH="177480" progId="Equations">
                    <p:embed/>
                  </p:oleObj>
                </mc:Choice>
                <mc:Fallback>
                  <p:oleObj name="公式" r:id="rId14" imgW="177480" imgH="177480" progId="Equations">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71" y="2427"/>
                          <a:ext cx="158" cy="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3899" name="Object 107"/>
            <p:cNvGraphicFramePr>
              <a:graphicFrameLocks noChangeAspect="1"/>
            </p:cNvGraphicFramePr>
            <p:nvPr/>
          </p:nvGraphicFramePr>
          <p:xfrm>
            <a:off x="5103" y="2427"/>
            <a:ext cx="181" cy="158"/>
          </p:xfrm>
          <a:graphic>
            <a:graphicData uri="http://schemas.openxmlformats.org/presentationml/2006/ole">
              <mc:AlternateContent xmlns:mc="http://schemas.openxmlformats.org/markup-compatibility/2006">
                <mc:Choice xmlns:v="urn:schemas-microsoft-com:vml" Requires="v">
                  <p:oleObj spid="_x0000_s20818" name="公式" r:id="rId16" imgW="203040" imgH="177480" progId="Equations">
                    <p:embed/>
                  </p:oleObj>
                </mc:Choice>
                <mc:Fallback>
                  <p:oleObj name="公式" r:id="rId16" imgW="203040" imgH="177480" progId="Equations">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03" y="2427"/>
                          <a:ext cx="181" cy="1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3900" name="Object 108"/>
            <p:cNvGraphicFramePr>
              <a:graphicFrameLocks noChangeAspect="1"/>
            </p:cNvGraphicFramePr>
            <p:nvPr/>
          </p:nvGraphicFramePr>
          <p:xfrm>
            <a:off x="5086" y="890"/>
            <a:ext cx="215" cy="147"/>
          </p:xfrm>
          <a:graphic>
            <a:graphicData uri="http://schemas.openxmlformats.org/presentationml/2006/ole">
              <mc:AlternateContent xmlns:mc="http://schemas.openxmlformats.org/markup-compatibility/2006">
                <mc:Choice xmlns:v="urn:schemas-microsoft-com:vml" Requires="v">
                  <p:oleObj spid="_x0000_s20819" name="公式" r:id="rId18" imgW="241200" imgH="164880" progId="Equations">
                    <p:embed/>
                  </p:oleObj>
                </mc:Choice>
                <mc:Fallback>
                  <p:oleObj name="公式" r:id="rId18" imgW="241200" imgH="164880" progId="Equations">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086" y="890"/>
                          <a:ext cx="215" cy="1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3901" name="Object 109"/>
            <p:cNvGraphicFramePr>
              <a:graphicFrameLocks noChangeAspect="1"/>
            </p:cNvGraphicFramePr>
            <p:nvPr/>
          </p:nvGraphicFramePr>
          <p:xfrm>
            <a:off x="3878" y="890"/>
            <a:ext cx="181" cy="147"/>
          </p:xfrm>
          <a:graphic>
            <a:graphicData uri="http://schemas.openxmlformats.org/presentationml/2006/ole">
              <mc:AlternateContent xmlns:mc="http://schemas.openxmlformats.org/markup-compatibility/2006">
                <mc:Choice xmlns:v="urn:schemas-microsoft-com:vml" Requires="v">
                  <p:oleObj spid="_x0000_s20820" name="公式" r:id="rId20" imgW="203040" imgH="164880" progId="Equations">
                    <p:embed/>
                  </p:oleObj>
                </mc:Choice>
                <mc:Fallback>
                  <p:oleObj name="公式" r:id="rId20" imgW="203040" imgH="164880" progId="Equations">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78" y="890"/>
                          <a:ext cx="181" cy="1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73804" name="Group 113"/>
          <p:cNvGrpSpPr>
            <a:grpSpLocks/>
          </p:cNvGrpSpPr>
          <p:nvPr/>
        </p:nvGrpSpPr>
        <p:grpSpPr bwMode="auto">
          <a:xfrm>
            <a:off x="7440084" y="908050"/>
            <a:ext cx="287867" cy="215900"/>
            <a:chOff x="3515" y="572"/>
            <a:chExt cx="136" cy="136"/>
          </a:xfrm>
        </p:grpSpPr>
        <p:sp>
          <p:nvSpPr>
            <p:cNvPr id="673903" name="Oval 111"/>
            <p:cNvSpPr>
              <a:spLocks noChangeArrowheads="1"/>
            </p:cNvSpPr>
            <p:nvPr/>
          </p:nvSpPr>
          <p:spPr bwMode="auto">
            <a:xfrm>
              <a:off x="3515" y="572"/>
              <a:ext cx="136" cy="136"/>
            </a:xfrm>
            <a:prstGeom prst="ellipse">
              <a:avLst/>
            </a:prstGeom>
            <a:gradFill rotWithShape="1">
              <a:gsLst>
                <a:gs pos="0">
                  <a:srgbClr val="3366FF">
                    <a:gamma/>
                    <a:tint val="0"/>
                    <a:invGamma/>
                  </a:srgbClr>
                </a:gs>
                <a:gs pos="100000">
                  <a:srgbClr val="3366FF"/>
                </a:gs>
              </a:gsLst>
              <a:path path="shape">
                <a:fillToRect l="50000" t="50000" r="50000" b="50000"/>
              </a:path>
            </a:gradFill>
            <a:ln w="25400">
              <a:noFill/>
              <a:round/>
              <a:headEnd/>
              <a:tailEnd/>
            </a:ln>
            <a:effectLst/>
          </p:spPr>
          <p:txBody>
            <a:bodyPr wrap="none" anchor="ctr"/>
            <a:lstStyle/>
            <a:p>
              <a:endParaRPr lang="zh-CN" altLang="en-US"/>
            </a:p>
          </p:txBody>
        </p:sp>
        <p:sp>
          <p:nvSpPr>
            <p:cNvPr id="673904" name="Line 112"/>
            <p:cNvSpPr>
              <a:spLocks noChangeShapeType="1"/>
            </p:cNvSpPr>
            <p:nvPr/>
          </p:nvSpPr>
          <p:spPr bwMode="auto">
            <a:xfrm>
              <a:off x="3560" y="645"/>
              <a:ext cx="46" cy="0"/>
            </a:xfrm>
            <a:prstGeom prst="line">
              <a:avLst/>
            </a:prstGeom>
            <a:noFill/>
            <a:ln w="25400">
              <a:solidFill>
                <a:srgbClr val="FF0000"/>
              </a:solidFill>
              <a:round/>
              <a:headEnd/>
              <a:tailEnd/>
            </a:ln>
            <a:effectLst/>
          </p:spPr>
          <p:txBody>
            <a:bodyPr/>
            <a:lstStyle/>
            <a:p>
              <a:endParaRPr lang="zh-CN" altLang="en-US"/>
            </a:p>
          </p:txBody>
        </p:sp>
      </p:grpSp>
      <p:grpSp>
        <p:nvGrpSpPr>
          <p:cNvPr id="673806" name="Group 114"/>
          <p:cNvGrpSpPr>
            <a:grpSpLocks/>
          </p:cNvGrpSpPr>
          <p:nvPr/>
        </p:nvGrpSpPr>
        <p:grpSpPr bwMode="auto">
          <a:xfrm>
            <a:off x="7440084" y="1268413"/>
            <a:ext cx="287867" cy="215900"/>
            <a:chOff x="3515" y="572"/>
            <a:chExt cx="136" cy="136"/>
          </a:xfrm>
        </p:grpSpPr>
        <p:sp>
          <p:nvSpPr>
            <p:cNvPr id="673907" name="Oval 115"/>
            <p:cNvSpPr>
              <a:spLocks noChangeArrowheads="1"/>
            </p:cNvSpPr>
            <p:nvPr/>
          </p:nvSpPr>
          <p:spPr bwMode="auto">
            <a:xfrm>
              <a:off x="3515" y="572"/>
              <a:ext cx="136" cy="136"/>
            </a:xfrm>
            <a:prstGeom prst="ellipse">
              <a:avLst/>
            </a:prstGeom>
            <a:gradFill rotWithShape="1">
              <a:gsLst>
                <a:gs pos="0">
                  <a:srgbClr val="3366FF">
                    <a:gamma/>
                    <a:tint val="0"/>
                    <a:invGamma/>
                  </a:srgbClr>
                </a:gs>
                <a:gs pos="100000">
                  <a:srgbClr val="3366FF"/>
                </a:gs>
              </a:gsLst>
              <a:path path="shape">
                <a:fillToRect l="50000" t="50000" r="50000" b="50000"/>
              </a:path>
            </a:gradFill>
            <a:ln w="25400">
              <a:noFill/>
              <a:round/>
              <a:headEnd/>
              <a:tailEnd/>
            </a:ln>
            <a:effectLst/>
          </p:spPr>
          <p:txBody>
            <a:bodyPr wrap="none" anchor="ctr"/>
            <a:lstStyle/>
            <a:p>
              <a:endParaRPr lang="zh-CN" altLang="en-US"/>
            </a:p>
          </p:txBody>
        </p:sp>
        <p:sp>
          <p:nvSpPr>
            <p:cNvPr id="673908" name="Line 116"/>
            <p:cNvSpPr>
              <a:spLocks noChangeShapeType="1"/>
            </p:cNvSpPr>
            <p:nvPr/>
          </p:nvSpPr>
          <p:spPr bwMode="auto">
            <a:xfrm>
              <a:off x="3560" y="645"/>
              <a:ext cx="46" cy="0"/>
            </a:xfrm>
            <a:prstGeom prst="line">
              <a:avLst/>
            </a:prstGeom>
            <a:noFill/>
            <a:ln w="25400">
              <a:solidFill>
                <a:srgbClr val="FF0000"/>
              </a:solidFill>
              <a:round/>
              <a:headEnd/>
              <a:tailEnd/>
            </a:ln>
            <a:effectLst/>
          </p:spPr>
          <p:txBody>
            <a:bodyPr/>
            <a:lstStyle/>
            <a:p>
              <a:endParaRPr lang="zh-CN" altLang="en-US"/>
            </a:p>
          </p:txBody>
        </p:sp>
      </p:grpSp>
      <p:graphicFrame>
        <p:nvGraphicFramePr>
          <p:cNvPr id="673910" name="Object 118"/>
          <p:cNvGraphicFramePr>
            <a:graphicFrameLocks noChangeAspect="1"/>
          </p:cNvGraphicFramePr>
          <p:nvPr/>
        </p:nvGraphicFramePr>
        <p:xfrm>
          <a:off x="2087034" y="4941888"/>
          <a:ext cx="3122084" cy="908050"/>
        </p:xfrm>
        <a:graphic>
          <a:graphicData uri="http://schemas.openxmlformats.org/presentationml/2006/ole">
            <mc:AlternateContent xmlns:mc="http://schemas.openxmlformats.org/markup-compatibility/2006">
              <mc:Choice xmlns:v="urn:schemas-microsoft-com:vml" Requires="v">
                <p:oleObj spid="_x0000_s20821" name="Equation" r:id="rId22" imgW="850680" imgH="330120" progId="Equation.DSMT4">
                  <p:embed/>
                </p:oleObj>
              </mc:Choice>
              <mc:Fallback>
                <p:oleObj name="Equation" r:id="rId22" imgW="850680" imgH="330120"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87034" y="4941888"/>
                        <a:ext cx="3122084"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673807" name="TextBox 673806"/>
              <p:cNvSpPr txBox="1"/>
              <p:nvPr/>
            </p:nvSpPr>
            <p:spPr>
              <a:xfrm>
                <a:off x="9049712" y="5805488"/>
                <a:ext cx="2919942" cy="923330"/>
              </a:xfrm>
              <a:prstGeom prst="rect">
                <a:avLst/>
              </a:prstGeom>
              <a:noFill/>
            </p:spPr>
            <p:txBody>
              <a:bodyPr wrap="square" rtlCol="0">
                <a:spAutoFit/>
              </a:bodyPr>
              <a:lstStyle/>
              <a:p>
                <a:r>
                  <a:rPr lang="zh-CN" altLang="en-US" b="1" smtClean="0"/>
                  <a:t>其中负号代表电动势的方向和我们所选取的积分路径的方向相反，</a:t>
                </a:r>
                <a:r>
                  <a:rPr lang="en-US" altLang="zh-CN" b="1" smtClean="0"/>
                  <a:t>N</a:t>
                </a:r>
                <a14:m>
                  <m:oMath xmlns:m="http://schemas.openxmlformats.org/officeDocument/2006/math">
                    <m:r>
                      <a:rPr lang="en-US" altLang="zh-CN" b="1" i="1" smtClean="0">
                        <a:latin typeface="Cambria Math"/>
                        <a:ea typeface="Cambria Math"/>
                      </a:rPr>
                      <m:t>→</m:t>
                    </m:r>
                    <m:r>
                      <a:rPr lang="en-US" altLang="zh-CN" b="1" i="1" smtClean="0">
                        <a:latin typeface="Cambria Math"/>
                        <a:ea typeface="Cambria Math"/>
                      </a:rPr>
                      <m:t>𝑴</m:t>
                    </m:r>
                    <m:r>
                      <a:rPr lang="en-US" altLang="zh-CN" b="1" i="1" smtClean="0">
                        <a:latin typeface="Cambria Math"/>
                        <a:ea typeface="Cambria Math"/>
                      </a:rPr>
                      <m:t>.</m:t>
                    </m:r>
                  </m:oMath>
                </a14:m>
                <a:endParaRPr lang="zh-CN" altLang="en-US" b="1"/>
              </a:p>
            </p:txBody>
          </p:sp>
        </mc:Choice>
        <mc:Fallback xmlns="">
          <p:sp>
            <p:nvSpPr>
              <p:cNvPr id="673807" name="TextBox 673806"/>
              <p:cNvSpPr txBox="1">
                <a:spLocks noRot="1" noChangeAspect="1" noMove="1" noResize="1" noEditPoints="1" noAdjustHandles="1" noChangeArrowheads="1" noChangeShapeType="1" noTextEdit="1"/>
              </p:cNvSpPr>
              <p:nvPr/>
            </p:nvSpPr>
            <p:spPr>
              <a:xfrm>
                <a:off x="9049712" y="5805488"/>
                <a:ext cx="2919942" cy="923330"/>
              </a:xfrm>
              <a:prstGeom prst="rect">
                <a:avLst/>
              </a:prstGeom>
              <a:blipFill rotWithShape="1">
                <a:blip r:embed="rId24"/>
                <a:stretch>
                  <a:fillRect l="-1879" t="-3289" b="-98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109754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plus(in)">
                                      <p:cBhvr>
                                        <p:cTn id="7" dur="500"/>
                                        <p:tgtEl>
                                          <p:spTgt spid="2"/>
                                        </p:tgtEl>
                                      </p:cBhvr>
                                    </p:animEffect>
                                  </p:childTnLst>
                                </p:cTn>
                              </p:par>
                              <p:par>
                                <p:cTn id="8" presetID="13" presetClass="entr" presetSubtype="16" fill="hold" nodeType="withEffect">
                                  <p:stCondLst>
                                    <p:cond delay="0"/>
                                  </p:stCondLst>
                                  <p:childTnLst>
                                    <p:set>
                                      <p:cBhvr>
                                        <p:cTn id="9" dur="1" fill="hold">
                                          <p:stCondLst>
                                            <p:cond delay="0"/>
                                          </p:stCondLst>
                                        </p:cTn>
                                        <p:tgtEl>
                                          <p:spTgt spid="673794"/>
                                        </p:tgtEl>
                                        <p:attrNameLst>
                                          <p:attrName>style.visibility</p:attrName>
                                        </p:attrNameLst>
                                      </p:cBhvr>
                                      <p:to>
                                        <p:strVal val="visible"/>
                                      </p:to>
                                    </p:set>
                                    <p:animEffect transition="in" filter="plus(in)">
                                      <p:cBhvr>
                                        <p:cTn id="10" dur="500"/>
                                        <p:tgtEl>
                                          <p:spTgt spid="673794"/>
                                        </p:tgtEl>
                                      </p:cBhvr>
                                    </p:animEffect>
                                  </p:childTnLst>
                                </p:cTn>
                              </p:par>
                              <p:par>
                                <p:cTn id="11" presetID="13" presetClass="entr" presetSubtype="16" fill="hold" nodeType="withEffect">
                                  <p:stCondLst>
                                    <p:cond delay="0"/>
                                  </p:stCondLst>
                                  <p:childTnLst>
                                    <p:set>
                                      <p:cBhvr>
                                        <p:cTn id="12" dur="1" fill="hold">
                                          <p:stCondLst>
                                            <p:cond delay="0"/>
                                          </p:stCondLst>
                                        </p:cTn>
                                        <p:tgtEl>
                                          <p:spTgt spid="673802"/>
                                        </p:tgtEl>
                                        <p:attrNameLst>
                                          <p:attrName>style.visibility</p:attrName>
                                        </p:attrNameLst>
                                      </p:cBhvr>
                                      <p:to>
                                        <p:strVal val="visible"/>
                                      </p:to>
                                    </p:set>
                                    <p:animEffect transition="in" filter="plus(in)">
                                      <p:cBhvr>
                                        <p:cTn id="13" dur="500"/>
                                        <p:tgtEl>
                                          <p:spTgt spid="673802"/>
                                        </p:tgtEl>
                                      </p:cBhvr>
                                    </p:animEffect>
                                  </p:childTnLst>
                                </p:cTn>
                              </p:par>
                              <p:par>
                                <p:cTn id="14" presetID="9" presetClass="entr" presetSubtype="0" fill="hold" nodeType="withEffect">
                                  <p:stCondLst>
                                    <p:cond delay="0"/>
                                  </p:stCondLst>
                                  <p:childTnLst>
                                    <p:set>
                                      <p:cBhvr>
                                        <p:cTn id="15" dur="1" fill="hold">
                                          <p:stCondLst>
                                            <p:cond delay="0"/>
                                          </p:stCondLst>
                                        </p:cTn>
                                        <p:tgtEl>
                                          <p:spTgt spid="673806"/>
                                        </p:tgtEl>
                                        <p:attrNameLst>
                                          <p:attrName>style.visibility</p:attrName>
                                        </p:attrNameLst>
                                      </p:cBhvr>
                                      <p:to>
                                        <p:strVal val="visible"/>
                                      </p:to>
                                    </p:set>
                                    <p:animEffect transition="in" filter="dissolve">
                                      <p:cBhvr>
                                        <p:cTn id="16" dur="500"/>
                                        <p:tgtEl>
                                          <p:spTgt spid="673806"/>
                                        </p:tgtEl>
                                      </p:cBhvr>
                                    </p:animEffect>
                                  </p:childTnLst>
                                </p:cTn>
                              </p:par>
                              <p:par>
                                <p:cTn id="17" presetID="9" presetClass="entr" presetSubtype="0" fill="hold" nodeType="withEffect">
                                  <p:stCondLst>
                                    <p:cond delay="0"/>
                                  </p:stCondLst>
                                  <p:childTnLst>
                                    <p:set>
                                      <p:cBhvr>
                                        <p:cTn id="18" dur="1" fill="hold">
                                          <p:stCondLst>
                                            <p:cond delay="0"/>
                                          </p:stCondLst>
                                        </p:cTn>
                                        <p:tgtEl>
                                          <p:spTgt spid="673804"/>
                                        </p:tgtEl>
                                        <p:attrNameLst>
                                          <p:attrName>style.visibility</p:attrName>
                                        </p:attrNameLst>
                                      </p:cBhvr>
                                      <p:to>
                                        <p:strVal val="visible"/>
                                      </p:to>
                                    </p:set>
                                    <p:animEffect transition="in" filter="dissolve">
                                      <p:cBhvr>
                                        <p:cTn id="19" dur="500"/>
                                        <p:tgtEl>
                                          <p:spTgt spid="673804"/>
                                        </p:tgtEl>
                                      </p:cBhvr>
                                    </p:animEffect>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nodeType="clickEffect">
                                  <p:stCondLst>
                                    <p:cond delay="0"/>
                                  </p:stCondLst>
                                  <p:childTnLst>
                                    <p:animMotion origin="layout" path="M 5E-6 9.24855E-7 L 0.24393 0.00116 " pathEditMode="relative" rAng="0" ptsTypes="AA">
                                      <p:cBhvr>
                                        <p:cTn id="23" dur="2000" fill="hold"/>
                                        <p:tgtEl>
                                          <p:spTgt spid="673794"/>
                                        </p:tgtEl>
                                        <p:attrNameLst>
                                          <p:attrName>ppt_x</p:attrName>
                                          <p:attrName>ppt_y</p:attrName>
                                        </p:attrNameLst>
                                      </p:cBhvr>
                                      <p:rCtr x="122" y="0"/>
                                    </p:animMotion>
                                  </p:childTnLst>
                                </p:cTn>
                              </p:par>
                              <p:par>
                                <p:cTn id="24" presetID="42" presetClass="path" presetSubtype="0" accel="50000" decel="50000" fill="hold" nodeType="withEffect">
                                  <p:stCondLst>
                                    <p:cond delay="0"/>
                                  </p:stCondLst>
                                  <p:childTnLst>
                                    <p:animMotion origin="layout" path="M 1.38889E-6 3.12139E-6 L 0.24809 0.24647 " pathEditMode="relative" rAng="0" ptsTypes="AA">
                                      <p:cBhvr>
                                        <p:cTn id="25" dur="2000" fill="hold"/>
                                        <p:tgtEl>
                                          <p:spTgt spid="673804"/>
                                        </p:tgtEl>
                                        <p:attrNameLst>
                                          <p:attrName>ppt_x</p:attrName>
                                          <p:attrName>ppt_y</p:attrName>
                                        </p:attrNameLst>
                                      </p:cBhvr>
                                      <p:rCtr x="124" y="123"/>
                                    </p:animMotion>
                                  </p:childTnLst>
                                </p:cTn>
                              </p:par>
                              <p:par>
                                <p:cTn id="26" presetID="42" presetClass="path" presetSubtype="0" accel="50000" decel="50000" fill="hold" nodeType="withEffect">
                                  <p:stCondLst>
                                    <p:cond delay="0"/>
                                  </p:stCondLst>
                                  <p:childTnLst>
                                    <p:animMotion origin="layout" path="M 1.38889E-6 -2.42775E-6 L 0.24809 0.23607 " pathEditMode="relative" rAng="0" ptsTypes="AA">
                                      <p:cBhvr>
                                        <p:cTn id="27" dur="2000" fill="hold"/>
                                        <p:tgtEl>
                                          <p:spTgt spid="673806"/>
                                        </p:tgtEl>
                                        <p:attrNameLst>
                                          <p:attrName>ppt_x</p:attrName>
                                          <p:attrName>ppt_y</p:attrName>
                                        </p:attrNameLst>
                                      </p:cBhvr>
                                      <p:rCtr x="124" y="11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8" y="107950"/>
            <a:ext cx="11487690" cy="633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88088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5" name="Rectangle 3"/>
          <p:cNvSpPr>
            <a:spLocks noChangeArrowheads="1"/>
          </p:cNvSpPr>
          <p:nvPr/>
        </p:nvSpPr>
        <p:spPr bwMode="auto">
          <a:xfrm>
            <a:off x="508001" y="457201"/>
            <a:ext cx="10869084" cy="1384995"/>
          </a:xfrm>
          <a:prstGeom prst="rect">
            <a:avLst/>
          </a:prstGeom>
          <a:noFill/>
          <a:ln w="9525">
            <a:noFill/>
            <a:miter lim="800000"/>
            <a:headEnd/>
            <a:tailEnd/>
          </a:ln>
          <a:effectLst/>
        </p:spPr>
        <p:txBody>
          <a:bodyPr>
            <a:spAutoFit/>
          </a:bodyPr>
          <a:lstStyle/>
          <a:p>
            <a:pPr>
              <a:spcBef>
                <a:spcPct val="50000"/>
              </a:spcBef>
            </a:pPr>
            <a:r>
              <a:rPr kumimoji="1" lang="en-US" altLang="zh-CN" sz="2800" b="1" dirty="0">
                <a:solidFill>
                  <a:srgbClr val="000066"/>
                </a:solidFill>
                <a:latin typeface="宋体" charset="-122"/>
              </a:rPr>
              <a:t>    </a:t>
            </a:r>
            <a:r>
              <a:rPr kumimoji="1" lang="zh-CN" altLang="en-US" sz="2800" b="1" dirty="0">
                <a:latin typeface="宋体" charset="-122"/>
              </a:rPr>
              <a:t>在一般情况下，磁场可以不均匀</a:t>
            </a:r>
            <a:r>
              <a:rPr kumimoji="1" lang="en-US" altLang="zh-CN" sz="2800" b="1" dirty="0">
                <a:latin typeface="宋体" charset="-122"/>
              </a:rPr>
              <a:t>,</a:t>
            </a:r>
            <a:r>
              <a:rPr kumimoji="1" lang="zh-CN" altLang="en-US" sz="2800" b="1" dirty="0">
                <a:latin typeface="宋体" charset="-122"/>
              </a:rPr>
              <a:t>导线在磁场中运动时各部分的速度也可以不同，      和   也</a:t>
            </a:r>
            <a:r>
              <a:rPr kumimoji="1" lang="zh-CN" altLang="en-US" sz="2800" b="1" dirty="0" smtClean="0">
                <a:latin typeface="宋体" charset="-122"/>
              </a:rPr>
              <a:t>可以有任意夹角，</a:t>
            </a:r>
            <a:r>
              <a:rPr kumimoji="1" lang="zh-CN" altLang="en-US" sz="2800" b="1" dirty="0">
                <a:latin typeface="宋体" charset="-122"/>
              </a:rPr>
              <a:t>这时运动导线  内的动生电动势为</a:t>
            </a:r>
          </a:p>
        </p:txBody>
      </p:sp>
      <p:graphicFrame>
        <p:nvGraphicFramePr>
          <p:cNvPr id="658437" name="Object 5"/>
          <p:cNvGraphicFramePr>
            <a:graphicFrameLocks noChangeAspect="1"/>
          </p:cNvGraphicFramePr>
          <p:nvPr>
            <p:extLst>
              <p:ext uri="{D42A27DB-BD31-4B8C-83A1-F6EECF244321}">
                <p14:modId xmlns:p14="http://schemas.microsoft.com/office/powerpoint/2010/main" val="3247033958"/>
              </p:ext>
            </p:extLst>
          </p:nvPr>
        </p:nvGraphicFramePr>
        <p:xfrm>
          <a:off x="3295221" y="865535"/>
          <a:ext cx="1308100" cy="568325"/>
        </p:xfrm>
        <a:graphic>
          <a:graphicData uri="http://schemas.openxmlformats.org/presentationml/2006/ole">
            <mc:AlternateContent xmlns:mc="http://schemas.openxmlformats.org/markup-compatibility/2006">
              <mc:Choice xmlns:v="urn:schemas-microsoft-com:vml" Requires="v">
                <p:oleObj spid="_x0000_s21690" name="公式" r:id="rId3" imgW="368280" imgH="228600" progId="Equations">
                  <p:embed/>
                </p:oleObj>
              </mc:Choice>
              <mc:Fallback>
                <p:oleObj name="公式" r:id="rId3" imgW="368280" imgH="228600"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5221" y="865535"/>
                        <a:ext cx="1308100"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8455" name="Text Box 23"/>
          <p:cNvSpPr txBox="1">
            <a:spLocks noChangeArrowheads="1"/>
          </p:cNvSpPr>
          <p:nvPr/>
        </p:nvSpPr>
        <p:spPr bwMode="auto">
          <a:xfrm>
            <a:off x="431371" y="2924945"/>
            <a:ext cx="8737600" cy="519113"/>
          </a:xfrm>
          <a:prstGeom prst="rect">
            <a:avLst/>
          </a:prstGeom>
          <a:noFill/>
          <a:ln w="25400">
            <a:noFill/>
            <a:miter lim="800000"/>
            <a:headEnd/>
            <a:tailEnd/>
          </a:ln>
          <a:effectLst/>
        </p:spPr>
        <p:txBody>
          <a:bodyPr>
            <a:spAutoFit/>
          </a:bodyPr>
          <a:lstStyle/>
          <a:p>
            <a:pPr eaLnBrk="0" hangingPunct="0">
              <a:spcBef>
                <a:spcPct val="50000"/>
              </a:spcBef>
            </a:pPr>
            <a:r>
              <a:rPr lang="zh-CN" altLang="en-US" sz="2800" b="1" dirty="0">
                <a:solidFill>
                  <a:srgbClr val="FF0000"/>
                </a:solidFill>
              </a:rPr>
              <a:t>导线内总的动生电动势为</a:t>
            </a:r>
          </a:p>
        </p:txBody>
      </p:sp>
      <p:graphicFrame>
        <p:nvGraphicFramePr>
          <p:cNvPr id="658456" name="Object 24"/>
          <p:cNvGraphicFramePr>
            <a:graphicFrameLocks noChangeAspect="1"/>
          </p:cNvGraphicFramePr>
          <p:nvPr>
            <p:extLst>
              <p:ext uri="{D42A27DB-BD31-4B8C-83A1-F6EECF244321}">
                <p14:modId xmlns:p14="http://schemas.microsoft.com/office/powerpoint/2010/main" val="2116639767"/>
              </p:ext>
            </p:extLst>
          </p:nvPr>
        </p:nvGraphicFramePr>
        <p:xfrm>
          <a:off x="4896902" y="915542"/>
          <a:ext cx="588433" cy="468312"/>
        </p:xfrm>
        <a:graphic>
          <a:graphicData uri="http://schemas.openxmlformats.org/presentationml/2006/ole">
            <mc:AlternateContent xmlns:mc="http://schemas.openxmlformats.org/markup-compatibility/2006">
              <mc:Choice xmlns:v="urn:schemas-microsoft-com:vml" Requires="v">
                <p:oleObj spid="_x0000_s21691" name="公式" r:id="rId5" imgW="203040" imgH="215640" progId="Equations">
                  <p:embed/>
                </p:oleObj>
              </mc:Choice>
              <mc:Fallback>
                <p:oleObj name="公式" r:id="rId5" imgW="203040" imgH="215640"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902" y="915542"/>
                        <a:ext cx="588433"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8457" name="Object 25"/>
          <p:cNvGraphicFramePr>
            <a:graphicFrameLocks noChangeAspect="1"/>
          </p:cNvGraphicFramePr>
          <p:nvPr>
            <p:extLst>
              <p:ext uri="{D42A27DB-BD31-4B8C-83A1-F6EECF244321}">
                <p14:modId xmlns:p14="http://schemas.microsoft.com/office/powerpoint/2010/main" val="3259119774"/>
              </p:ext>
            </p:extLst>
          </p:nvPr>
        </p:nvGraphicFramePr>
        <p:xfrm>
          <a:off x="10788652" y="915541"/>
          <a:ext cx="588433" cy="468313"/>
        </p:xfrm>
        <a:graphic>
          <a:graphicData uri="http://schemas.openxmlformats.org/presentationml/2006/ole">
            <mc:AlternateContent xmlns:mc="http://schemas.openxmlformats.org/markup-compatibility/2006">
              <mc:Choice xmlns:v="urn:schemas-microsoft-com:vml" Requires="v">
                <p:oleObj spid="_x0000_s21692" name="公式" r:id="rId7" imgW="203040" imgH="215640" progId="Equations">
                  <p:embed/>
                </p:oleObj>
              </mc:Choice>
              <mc:Fallback>
                <p:oleObj name="公式" r:id="rId7" imgW="203040" imgH="215640"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88652" y="915541"/>
                        <a:ext cx="588433"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8458" name="Object 26"/>
          <p:cNvGraphicFramePr>
            <a:graphicFrameLocks noChangeAspect="1"/>
          </p:cNvGraphicFramePr>
          <p:nvPr>
            <p:extLst>
              <p:ext uri="{D42A27DB-BD31-4B8C-83A1-F6EECF244321}">
                <p14:modId xmlns:p14="http://schemas.microsoft.com/office/powerpoint/2010/main" val="757669530"/>
              </p:ext>
            </p:extLst>
          </p:nvPr>
        </p:nvGraphicFramePr>
        <p:xfrm>
          <a:off x="3194050" y="1985963"/>
          <a:ext cx="4972050" cy="803275"/>
        </p:xfrm>
        <a:graphic>
          <a:graphicData uri="http://schemas.openxmlformats.org/presentationml/2006/ole">
            <mc:AlternateContent xmlns:mc="http://schemas.openxmlformats.org/markup-compatibility/2006">
              <mc:Choice xmlns:v="urn:schemas-microsoft-com:vml" Requires="v">
                <p:oleObj spid="_x0000_s21693" name="Equation" r:id="rId8" imgW="1002960" imgH="215640" progId="Equation.DSMT4">
                  <p:embed/>
                </p:oleObj>
              </mc:Choice>
              <mc:Fallback>
                <p:oleObj name="Equation" r:id="rId8" imgW="1002960" imgH="215640" progId="Equation.DSMT4">
                  <p:embed/>
                  <p:pic>
                    <p:nvPicPr>
                      <p:cNvPr id="0" name=""/>
                      <p:cNvPicPr>
                        <a:picLocks noChangeAspect="1" noChangeArrowheads="1"/>
                      </p:cNvPicPr>
                      <p:nvPr/>
                    </p:nvPicPr>
                    <p:blipFill>
                      <a:blip r:embed="rId9"/>
                      <a:srcRect/>
                      <a:stretch>
                        <a:fillRect/>
                      </a:stretch>
                    </p:blipFill>
                    <p:spPr bwMode="auto">
                      <a:xfrm>
                        <a:off x="3194050" y="1985963"/>
                        <a:ext cx="4972050" cy="803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组合 10"/>
          <p:cNvGrpSpPr/>
          <p:nvPr/>
        </p:nvGrpSpPr>
        <p:grpSpPr>
          <a:xfrm>
            <a:off x="2190723" y="3429001"/>
            <a:ext cx="6000792" cy="1223963"/>
            <a:chOff x="1643042" y="3490913"/>
            <a:chExt cx="4500594" cy="1223963"/>
          </a:xfrm>
        </p:grpSpPr>
        <p:sp>
          <p:nvSpPr>
            <p:cNvPr id="10" name="圆角矩形 9"/>
            <p:cNvSpPr/>
            <p:nvPr/>
          </p:nvSpPr>
          <p:spPr>
            <a:xfrm>
              <a:off x="1643042" y="3500438"/>
              <a:ext cx="4500594" cy="114300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graphicFrame>
          <p:nvGraphicFramePr>
            <p:cNvPr id="658459" name="Object 27"/>
            <p:cNvGraphicFramePr>
              <a:graphicFrameLocks noChangeAspect="1"/>
            </p:cNvGraphicFramePr>
            <p:nvPr/>
          </p:nvGraphicFramePr>
          <p:xfrm>
            <a:off x="1790700" y="3490913"/>
            <a:ext cx="4213225" cy="1223963"/>
          </p:xfrm>
          <a:graphic>
            <a:graphicData uri="http://schemas.openxmlformats.org/presentationml/2006/ole">
              <mc:AlternateContent xmlns:mc="http://schemas.openxmlformats.org/markup-compatibility/2006">
                <mc:Choice xmlns:v="urn:schemas-microsoft-com:vml" Requires="v">
                  <p:oleObj spid="_x0000_s21694" name="Equation" r:id="rId10" imgW="1054080" imgH="291960" progId="Equation.DSMT4">
                    <p:embed/>
                  </p:oleObj>
                </mc:Choice>
                <mc:Fallback>
                  <p:oleObj name="Equation" r:id="rId10" imgW="1054080" imgH="29196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0700" y="3490913"/>
                          <a:ext cx="4213225" cy="1223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 name="Text Box 5"/>
          <p:cNvSpPr txBox="1">
            <a:spLocks noChangeArrowheads="1"/>
          </p:cNvSpPr>
          <p:nvPr/>
        </p:nvSpPr>
        <p:spPr bwMode="auto">
          <a:xfrm>
            <a:off x="719403" y="4797152"/>
            <a:ext cx="10945283" cy="1114664"/>
          </a:xfrm>
          <a:prstGeom prst="rect">
            <a:avLst/>
          </a:prstGeom>
          <a:noFill/>
          <a:ln w="9525">
            <a:noFill/>
            <a:miter lim="800000"/>
            <a:headEnd/>
            <a:tailEnd/>
          </a:ln>
          <a:effectLst/>
        </p:spPr>
        <p:txBody>
          <a:bodyPr>
            <a:spAutoFit/>
          </a:bodyPr>
          <a:lstStyle/>
          <a:p>
            <a:pPr>
              <a:lnSpc>
                <a:spcPct val="125000"/>
              </a:lnSpc>
              <a:spcBef>
                <a:spcPct val="50000"/>
              </a:spcBef>
            </a:pPr>
            <a:r>
              <a:rPr kumimoji="1" lang="zh-CN" altLang="en-US" sz="2800" b="1" dirty="0">
                <a:latin typeface="宋体" charset="-122"/>
              </a:rPr>
              <a:t>因此，</a:t>
            </a:r>
            <a:r>
              <a:rPr kumimoji="1" lang="zh-CN" altLang="en-US" sz="2800" b="1" dirty="0">
                <a:solidFill>
                  <a:srgbClr val="FF0000"/>
                </a:solidFill>
                <a:latin typeface="宋体" charset="-122"/>
              </a:rPr>
              <a:t>在维持导线向右匀速运动过程中，外力必须克服安培力而作功，电源</a:t>
            </a:r>
            <a:r>
              <a:rPr kumimoji="1" lang="zh-CN" altLang="en-US" sz="2800" b="1" dirty="0">
                <a:solidFill>
                  <a:srgbClr val="FF0000"/>
                </a:solidFill>
                <a:latin typeface="Times New Roman" pitchFamily="18" charset="0"/>
                <a:cs typeface="Times New Roman" pitchFamily="18" charset="0"/>
              </a:rPr>
              <a:t>（即导线</a:t>
            </a:r>
            <a:r>
              <a:rPr kumimoji="1" lang="en-US" altLang="zh-CN" sz="2800" b="1" dirty="0">
                <a:solidFill>
                  <a:srgbClr val="FF0000"/>
                </a:solidFill>
                <a:latin typeface="Times New Roman" pitchFamily="18" charset="0"/>
                <a:cs typeface="Times New Roman" pitchFamily="18" charset="0"/>
              </a:rPr>
              <a:t>MN</a:t>
            </a:r>
            <a:r>
              <a:rPr kumimoji="1" lang="zh-CN" altLang="en-US" sz="2800" b="1" dirty="0">
                <a:solidFill>
                  <a:srgbClr val="FF0000"/>
                </a:solidFill>
                <a:latin typeface="Times New Roman" pitchFamily="18" charset="0"/>
                <a:cs typeface="Times New Roman" pitchFamily="18" charset="0"/>
              </a:rPr>
              <a:t>）向</a:t>
            </a:r>
            <a:r>
              <a:rPr kumimoji="1" lang="zh-CN" altLang="en-US" sz="2800" b="1" dirty="0">
                <a:solidFill>
                  <a:srgbClr val="FF0000"/>
                </a:solidFill>
                <a:latin typeface="宋体" charset="-122"/>
              </a:rPr>
              <a:t>回路中提供的电能来自于外界提供的机械能。</a:t>
            </a:r>
          </a:p>
        </p:txBody>
      </p:sp>
      <p:graphicFrame>
        <p:nvGraphicFramePr>
          <p:cNvPr id="2" name="对象 1"/>
          <p:cNvGraphicFramePr>
            <a:graphicFrameLocks noChangeAspect="1"/>
          </p:cNvGraphicFramePr>
          <p:nvPr>
            <p:extLst>
              <p:ext uri="{D42A27DB-BD31-4B8C-83A1-F6EECF244321}">
                <p14:modId xmlns:p14="http://schemas.microsoft.com/office/powerpoint/2010/main" val="2823288649"/>
              </p:ext>
            </p:extLst>
          </p:nvPr>
        </p:nvGraphicFramePr>
        <p:xfrm>
          <a:off x="9410700" y="3302227"/>
          <a:ext cx="952500" cy="544286"/>
        </p:xfrm>
        <a:graphic>
          <a:graphicData uri="http://schemas.openxmlformats.org/presentationml/2006/ole">
            <mc:AlternateContent xmlns:mc="http://schemas.openxmlformats.org/markup-compatibility/2006">
              <mc:Choice xmlns:v="urn:schemas-microsoft-com:vml" Requires="v">
                <p:oleObj spid="_x0000_s21695" name="Equation" r:id="rId12" imgW="355320" imgH="203040" progId="Equation.DSMT4">
                  <p:embed/>
                </p:oleObj>
              </mc:Choice>
              <mc:Fallback>
                <p:oleObj name="Equation" r:id="rId12" imgW="355320" imgH="203040" progId="Equation.DSMT4">
                  <p:embed/>
                  <p:pic>
                    <p:nvPicPr>
                      <p:cNvPr id="0" name=""/>
                      <p:cNvPicPr/>
                      <p:nvPr/>
                    </p:nvPicPr>
                    <p:blipFill>
                      <a:blip r:embed="rId13"/>
                      <a:stretch>
                        <a:fillRect/>
                      </a:stretch>
                    </p:blipFill>
                    <p:spPr>
                      <a:xfrm>
                        <a:off x="9410700" y="3302227"/>
                        <a:ext cx="952500" cy="544286"/>
                      </a:xfrm>
                      <a:prstGeom prst="rect">
                        <a:avLst/>
                      </a:prstGeom>
                    </p:spPr>
                  </p:pic>
                </p:oleObj>
              </mc:Fallback>
            </mc:AlternateContent>
          </a:graphicData>
        </a:graphic>
      </p:graphicFrame>
      <p:sp>
        <p:nvSpPr>
          <p:cNvPr id="3" name="TextBox 2"/>
          <p:cNvSpPr txBox="1"/>
          <p:nvPr/>
        </p:nvSpPr>
        <p:spPr>
          <a:xfrm>
            <a:off x="10439400" y="3340657"/>
            <a:ext cx="1422400" cy="646331"/>
          </a:xfrm>
          <a:prstGeom prst="rect">
            <a:avLst/>
          </a:prstGeom>
          <a:noFill/>
        </p:spPr>
        <p:txBody>
          <a:bodyPr wrap="square" rtlCol="0">
            <a:spAutoFit/>
          </a:bodyPr>
          <a:lstStyle/>
          <a:p>
            <a:r>
              <a:rPr lang="zh-CN" altLang="en-US" b="1" dirty="0" smtClean="0"/>
              <a:t>的方向为电动势的方向。</a:t>
            </a:r>
            <a:endParaRPr lang="zh-CN" altLang="en-US" b="1" dirty="0"/>
          </a:p>
        </p:txBody>
      </p:sp>
    </p:spTree>
    <p:extLst>
      <p:ext uri="{BB962C8B-B14F-4D97-AF65-F5344CB8AC3E}">
        <p14:creationId xmlns:p14="http://schemas.microsoft.com/office/powerpoint/2010/main" val="2675617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3340" y="260648"/>
            <a:ext cx="4878259" cy="523220"/>
          </a:xfrm>
          <a:prstGeom prst="rect">
            <a:avLst/>
          </a:prstGeom>
          <a:noFill/>
        </p:spPr>
        <p:txBody>
          <a:bodyPr wrap="none" rtlCol="0">
            <a:spAutoFit/>
          </a:bodyPr>
          <a:lstStyle/>
          <a:p>
            <a:r>
              <a:rPr lang="zh-CN" altLang="en-US" sz="2800" b="1" dirty="0" smtClean="0">
                <a:latin typeface="黑体" pitchFamily="49" charset="-122"/>
                <a:ea typeface="黑体" pitchFamily="49" charset="-122"/>
              </a:rPr>
              <a:t>例</a:t>
            </a:r>
            <a:r>
              <a:rPr lang="en-US" altLang="zh-CN" sz="2800" b="1" dirty="0" smtClean="0">
                <a:latin typeface="黑体" pitchFamily="49" charset="-122"/>
                <a:ea typeface="黑体" pitchFamily="49" charset="-122"/>
              </a:rPr>
              <a:t>20.1  </a:t>
            </a:r>
            <a:r>
              <a:rPr lang="zh-CN" altLang="en-US" sz="2800" b="1" dirty="0" smtClean="0">
                <a:latin typeface="黑体" pitchFamily="49" charset="-122"/>
                <a:ea typeface="黑体" pitchFamily="49" charset="-122"/>
              </a:rPr>
              <a:t>在磁场中运动的线框</a:t>
            </a:r>
            <a:endParaRPr lang="zh-CN" altLang="en-US" sz="2800" b="1" dirty="0">
              <a:latin typeface="黑体" pitchFamily="49" charset="-122"/>
              <a:ea typeface="黑体" pitchFamily="49" charset="-122"/>
            </a:endParaRPr>
          </a:p>
        </p:txBody>
      </p:sp>
      <p:sp>
        <p:nvSpPr>
          <p:cNvPr id="3" name="文本框 2"/>
          <p:cNvSpPr txBox="1"/>
          <p:nvPr/>
        </p:nvSpPr>
        <p:spPr>
          <a:xfrm>
            <a:off x="0" y="908721"/>
            <a:ext cx="11952651" cy="1708160"/>
          </a:xfrm>
          <a:prstGeom prst="rect">
            <a:avLst/>
          </a:prstGeom>
          <a:noFill/>
        </p:spPr>
        <p:txBody>
          <a:bodyPr wrap="square" rtlCol="0">
            <a:spAutoFit/>
          </a:bodyPr>
          <a:lstStyle/>
          <a:p>
            <a:pPr algn="just">
              <a:lnSpc>
                <a:spcPct val="125000"/>
              </a:lnSpc>
            </a:pPr>
            <a:r>
              <a:rPr lang="zh-CN" altLang="en-US" sz="2800"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一个由四根长度为</a:t>
            </a:r>
            <a:r>
              <a:rPr lang="en-US" altLang="zh-CN" sz="2800" b="1" i="1" dirty="0" smtClean="0">
                <a:latin typeface="Times New Roman" panose="02020603050405020304" pitchFamily="18" charset="0"/>
                <a:cs typeface="Times New Roman" panose="02020603050405020304" pitchFamily="18" charset="0"/>
              </a:rPr>
              <a:t>L</a:t>
            </a:r>
            <a:r>
              <a:rPr lang="zh-CN" altLang="en-US" sz="2800" b="1" dirty="0" smtClean="0">
                <a:latin typeface="Times New Roman" panose="02020603050405020304" pitchFamily="18" charset="0"/>
                <a:cs typeface="Times New Roman" panose="02020603050405020304" pitchFamily="18" charset="0"/>
              </a:rPr>
              <a:t>的杆制成的正方形金属线框以</a:t>
            </a:r>
            <a:r>
              <a:rPr lang="en-US" altLang="zh-CN" sz="2800" b="1" i="1" dirty="0" smtClean="0">
                <a:latin typeface="Times New Roman" panose="02020603050405020304" pitchFamily="18" charset="0"/>
                <a:cs typeface="Times New Roman" panose="02020603050405020304" pitchFamily="18" charset="0"/>
              </a:rPr>
              <a:t>v</a:t>
            </a:r>
            <a:r>
              <a:rPr lang="zh-CN" altLang="en-US" sz="2800" b="1" dirty="0" smtClean="0">
                <a:latin typeface="Times New Roman" panose="02020603050405020304" pitchFamily="18" charset="0"/>
                <a:cs typeface="Times New Roman" panose="02020603050405020304" pitchFamily="18" charset="0"/>
              </a:rPr>
              <a:t>匀速运动。中央区域的磁感应强度大小为</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latin typeface="Times New Roman" panose="02020603050405020304" pitchFamily="18" charset="0"/>
                <a:cs typeface="Times New Roman" panose="02020603050405020304" pitchFamily="18" charset="0"/>
              </a:rPr>
              <a:t>，其他地方，磁感应强度为零。线框的电阻为</a:t>
            </a:r>
            <a:r>
              <a:rPr lang="en-US" altLang="zh-CN" sz="2800" b="1" i="1" dirty="0" smtClean="0">
                <a:latin typeface="Times New Roman" panose="02020603050405020304" pitchFamily="18" charset="0"/>
                <a:cs typeface="Times New Roman" panose="02020603050405020304" pitchFamily="18" charset="0"/>
              </a:rPr>
              <a:t>R</a:t>
            </a:r>
            <a:r>
              <a:rPr lang="zh-CN" altLang="en-US" sz="2800" b="1" dirty="0" smtClean="0">
                <a:latin typeface="Times New Roman" panose="02020603050405020304" pitchFamily="18" charset="0"/>
                <a:cs typeface="Times New Roman" panose="02020603050405020304" pitchFamily="18" charset="0"/>
              </a:rPr>
              <a:t>，在</a:t>
            </a:r>
            <a:r>
              <a:rPr lang="en-US" altLang="zh-CN" sz="2800" b="1" dirty="0" smtClean="0">
                <a:latin typeface="Times New Roman" panose="02020603050405020304" pitchFamily="18" charset="0"/>
                <a:cs typeface="Times New Roman" panose="02020603050405020304" pitchFamily="18" charset="0"/>
              </a:rPr>
              <a:t>1~5</a:t>
            </a:r>
            <a:r>
              <a:rPr lang="zh-CN" altLang="en-US" sz="2800" b="1" dirty="0" smtClean="0">
                <a:latin typeface="Times New Roman" panose="02020603050405020304" pitchFamily="18" charset="0"/>
                <a:cs typeface="Times New Roman" panose="02020603050405020304" pitchFamily="18" charset="0"/>
              </a:rPr>
              <a:t>各位置，说明线框中的电流大小及方向。</a:t>
            </a:r>
            <a:endParaRPr lang="zh-CN" altLang="en-US" sz="2800" b="1" dirty="0">
              <a:latin typeface="Times New Roman" panose="02020603050405020304" pitchFamily="18" charset="0"/>
              <a:cs typeface="Times New Roman" panose="02020603050405020304" pitchFamily="18" charset="0"/>
            </a:endParaRPr>
          </a:p>
        </p:txBody>
      </p:sp>
      <p:pic>
        <p:nvPicPr>
          <p:cNvPr id="4" name="Picture 3" descr="gia12141_20_0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0161"/>
          <a:stretch/>
        </p:blipFill>
        <p:spPr bwMode="auto">
          <a:xfrm>
            <a:off x="80964" y="2616881"/>
            <a:ext cx="12063707" cy="1804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组合 10"/>
          <p:cNvGrpSpPr/>
          <p:nvPr/>
        </p:nvGrpSpPr>
        <p:grpSpPr>
          <a:xfrm>
            <a:off x="228600" y="4827497"/>
            <a:ext cx="11607800" cy="1796097"/>
            <a:chOff x="228600" y="4827497"/>
            <a:chExt cx="11607800" cy="1796097"/>
          </a:xfrm>
        </p:grpSpPr>
        <p:grpSp>
          <p:nvGrpSpPr>
            <p:cNvPr id="10" name="组合 9"/>
            <p:cNvGrpSpPr/>
            <p:nvPr/>
          </p:nvGrpSpPr>
          <p:grpSpPr>
            <a:xfrm>
              <a:off x="228600" y="4827497"/>
              <a:ext cx="11264900" cy="1169551"/>
              <a:chOff x="317500" y="4683293"/>
              <a:chExt cx="11264900" cy="1169551"/>
            </a:xfrm>
          </p:grpSpPr>
          <p:sp>
            <p:nvSpPr>
              <p:cNvPr id="8" name="TextBox 7"/>
              <p:cNvSpPr txBox="1"/>
              <p:nvPr/>
            </p:nvSpPr>
            <p:spPr>
              <a:xfrm>
                <a:off x="317500" y="4683293"/>
                <a:ext cx="11264900" cy="1169551"/>
              </a:xfrm>
              <a:prstGeom prst="rect">
                <a:avLst/>
              </a:prstGeom>
              <a:noFill/>
            </p:spPr>
            <p:txBody>
              <a:bodyPr wrap="square" rtlCol="0">
                <a:spAutoFit/>
              </a:bodyPr>
              <a:lstStyle/>
              <a:p>
                <a:pPr>
                  <a:lnSpc>
                    <a:spcPct val="125000"/>
                  </a:lnSpc>
                </a:pPr>
                <a:r>
                  <a:rPr lang="zh-CN" altLang="en-US" sz="2800" b="1" dirty="0" smtClean="0"/>
                  <a:t>当竖直边（</a:t>
                </a:r>
                <a:r>
                  <a:rPr lang="en-US" altLang="zh-CN" sz="2800" b="1" dirty="0" smtClean="0"/>
                  <a:t>a</a:t>
                </a:r>
                <a:r>
                  <a:rPr lang="zh-CN" altLang="en-US" sz="2800" b="1" dirty="0" smtClean="0"/>
                  <a:t>，</a:t>
                </a:r>
                <a:r>
                  <a:rPr lang="en-US" altLang="zh-CN" sz="2800" b="1" dirty="0" smtClean="0"/>
                  <a:t>c</a:t>
                </a:r>
                <a:r>
                  <a:rPr lang="zh-CN" altLang="en-US" sz="2800" b="1" dirty="0" smtClean="0"/>
                  <a:t>）移过磁场区域时，它们具有动生电动势。电动势起着向上（向顶端）输送电流的作用。电动势大小为：</a:t>
                </a:r>
                <a:endParaRPr lang="zh-CN" altLang="en-US" sz="2800" b="1" dirty="0"/>
              </a:p>
            </p:txBody>
          </p:sp>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4559" y="5412273"/>
                <a:ext cx="172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94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1459" y="5370501"/>
              <a:ext cx="1504941" cy="1253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583243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a12141_20_0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0161"/>
          <a:stretch/>
        </p:blipFill>
        <p:spPr bwMode="auto">
          <a:xfrm>
            <a:off x="0" y="559481"/>
            <a:ext cx="12063707" cy="1804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39103" y="2984500"/>
            <a:ext cx="11214100" cy="2246769"/>
          </a:xfrm>
          <a:prstGeom prst="rect">
            <a:avLst/>
          </a:prstGeom>
          <a:noFill/>
        </p:spPr>
        <p:txBody>
          <a:bodyPr wrap="square" rtlCol="0">
            <a:spAutoFit/>
          </a:bodyPr>
          <a:lstStyle/>
          <a:p>
            <a:pPr>
              <a:lnSpc>
                <a:spcPct val="125000"/>
              </a:lnSpc>
            </a:pPr>
            <a:r>
              <a:rPr lang="zh-CN" altLang="en-US" sz="2800" b="1" dirty="0" smtClean="0"/>
              <a:t>对于水平边（</a:t>
            </a:r>
            <a:r>
              <a:rPr lang="en-US" altLang="zh-CN" sz="2800" b="1" dirty="0" smtClean="0"/>
              <a:t>b</a:t>
            </a:r>
            <a:r>
              <a:rPr lang="zh-CN" altLang="en-US" sz="2800" b="1" dirty="0" smtClean="0"/>
              <a:t>，</a:t>
            </a:r>
            <a:r>
              <a:rPr lang="en-US" altLang="zh-CN" sz="2800" b="1" dirty="0" smtClean="0"/>
              <a:t>d</a:t>
            </a:r>
            <a:r>
              <a:rPr lang="zh-CN" altLang="en-US" sz="2800" b="1" dirty="0" smtClean="0"/>
              <a:t>），一个载流电子所受的洛伦兹力向下，使电荷横跨杆的直径运动，于是建立了横跨杆的电场。在平衡时，磁场力和电场力相互抵消。</a:t>
            </a:r>
            <a:r>
              <a:rPr lang="zh-CN" altLang="en-US" sz="2800" b="1" dirty="0" smtClean="0">
                <a:solidFill>
                  <a:srgbClr val="FF0000"/>
                </a:solidFill>
              </a:rPr>
              <a:t>磁力不能推动电荷沿杆的长度方向运动，所以在</a:t>
            </a:r>
            <a:r>
              <a:rPr lang="en-US" altLang="zh-CN" sz="2800" b="1" dirty="0" smtClean="0">
                <a:solidFill>
                  <a:srgbClr val="FF0000"/>
                </a:solidFill>
              </a:rPr>
              <a:t>b</a:t>
            </a:r>
            <a:r>
              <a:rPr lang="zh-CN" altLang="en-US" sz="2800" b="1" dirty="0" smtClean="0">
                <a:solidFill>
                  <a:srgbClr val="FF0000"/>
                </a:solidFill>
              </a:rPr>
              <a:t>边和</a:t>
            </a:r>
            <a:r>
              <a:rPr lang="en-US" altLang="zh-CN" sz="2800" b="1" dirty="0" smtClean="0">
                <a:solidFill>
                  <a:srgbClr val="FF0000"/>
                </a:solidFill>
              </a:rPr>
              <a:t>d</a:t>
            </a:r>
            <a:r>
              <a:rPr lang="zh-CN" altLang="en-US" sz="2800" b="1" dirty="0" smtClean="0">
                <a:solidFill>
                  <a:srgbClr val="FF0000"/>
                </a:solidFill>
              </a:rPr>
              <a:t>边没有动生电动势</a:t>
            </a:r>
            <a:r>
              <a:rPr lang="zh-CN" altLang="en-US" sz="2800" b="1" dirty="0" smtClean="0"/>
              <a:t>。不能产生沿着导线方向的电流。</a:t>
            </a:r>
            <a:endParaRPr lang="zh-CN" altLang="en-US" sz="2800" b="1" dirty="0"/>
          </a:p>
        </p:txBody>
      </p:sp>
    </p:spTree>
    <p:extLst>
      <p:ext uri="{BB962C8B-B14F-4D97-AF65-F5344CB8AC3E}">
        <p14:creationId xmlns:p14="http://schemas.microsoft.com/office/powerpoint/2010/main" val="2501652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20_04"/>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0161"/>
          <a:stretch/>
        </p:blipFill>
        <p:spPr bwMode="auto">
          <a:xfrm>
            <a:off x="0" y="318181"/>
            <a:ext cx="12063707" cy="1804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113653" y="4942001"/>
            <a:ext cx="3136900" cy="523220"/>
          </a:xfrm>
          <a:prstGeom prst="rect">
            <a:avLst/>
          </a:prstGeom>
          <a:noFill/>
        </p:spPr>
        <p:txBody>
          <a:bodyPr wrap="square" rtlCol="0">
            <a:spAutoFit/>
          </a:bodyPr>
          <a:lstStyle/>
          <a:p>
            <a:r>
              <a:rPr lang="zh-CN" altLang="en-US" sz="2800" b="1" smtClean="0">
                <a:solidFill>
                  <a:srgbClr val="FF0000"/>
                </a:solidFill>
              </a:rPr>
              <a:t>（</a:t>
            </a:r>
            <a:r>
              <a:rPr lang="en-US" altLang="zh-CN" sz="2800" b="1" smtClean="0">
                <a:solidFill>
                  <a:srgbClr val="FF0000"/>
                </a:solidFill>
              </a:rPr>
              <a:t>3</a:t>
            </a:r>
            <a:r>
              <a:rPr lang="zh-CN" altLang="en-US" sz="2800" b="1" smtClean="0">
                <a:solidFill>
                  <a:srgbClr val="FF0000"/>
                </a:solidFill>
              </a:rPr>
              <a:t>）位置</a:t>
            </a:r>
            <a:r>
              <a:rPr lang="en-US" altLang="zh-CN" sz="2800" b="1" smtClean="0">
                <a:solidFill>
                  <a:srgbClr val="FF0000"/>
                </a:solidFill>
              </a:rPr>
              <a:t>2</a:t>
            </a:r>
            <a:r>
              <a:rPr lang="zh-CN" altLang="en-US" sz="2800" b="1" smtClean="0">
                <a:solidFill>
                  <a:srgbClr val="FF0000"/>
                </a:solidFill>
              </a:rPr>
              <a:t>处？</a:t>
            </a:r>
            <a:endParaRPr lang="zh-CN" altLang="en-US" sz="2800" b="1">
              <a:solidFill>
                <a:srgbClr val="FF0000"/>
              </a:solidFill>
            </a:endParaRPr>
          </a:p>
        </p:txBody>
      </p:sp>
      <p:sp>
        <p:nvSpPr>
          <p:cNvPr id="4" name="TextBox 3"/>
          <p:cNvSpPr txBox="1"/>
          <p:nvPr/>
        </p:nvSpPr>
        <p:spPr>
          <a:xfrm>
            <a:off x="3838898" y="5071521"/>
            <a:ext cx="6438900" cy="523220"/>
          </a:xfrm>
          <a:prstGeom prst="rect">
            <a:avLst/>
          </a:prstGeom>
          <a:noFill/>
        </p:spPr>
        <p:txBody>
          <a:bodyPr wrap="square" rtlCol="0">
            <a:spAutoFit/>
          </a:bodyPr>
          <a:lstStyle/>
          <a:p>
            <a:r>
              <a:rPr lang="zh-CN" altLang="en-US" sz="2800" b="1" dirty="0" smtClean="0"/>
              <a:t>电流沿逆时针方向流动。</a:t>
            </a:r>
            <a:endParaRPr lang="zh-CN" altLang="en-US" sz="2800" b="1" dirty="0"/>
          </a:p>
        </p:txBody>
      </p:sp>
      <p:sp>
        <p:nvSpPr>
          <p:cNvPr id="5" name="TextBox 4"/>
          <p:cNvSpPr txBox="1"/>
          <p:nvPr/>
        </p:nvSpPr>
        <p:spPr>
          <a:xfrm>
            <a:off x="3838898" y="5997802"/>
            <a:ext cx="6438900" cy="523220"/>
          </a:xfrm>
          <a:prstGeom prst="rect">
            <a:avLst/>
          </a:prstGeom>
          <a:noFill/>
        </p:spPr>
        <p:txBody>
          <a:bodyPr wrap="square" rtlCol="0">
            <a:spAutoFit/>
          </a:bodyPr>
          <a:lstStyle/>
          <a:p>
            <a:r>
              <a:rPr lang="zh-CN" altLang="en-US" sz="2800" b="1" smtClean="0"/>
              <a:t>电流沿顺时针方向流动。</a:t>
            </a:r>
            <a:endParaRPr lang="zh-CN" altLang="en-US" sz="2800" b="1"/>
          </a:p>
        </p:txBody>
      </p:sp>
      <p:sp>
        <p:nvSpPr>
          <p:cNvPr id="6" name="TextBox 5"/>
          <p:cNvSpPr txBox="1"/>
          <p:nvPr/>
        </p:nvSpPr>
        <p:spPr>
          <a:xfrm>
            <a:off x="113653" y="5970701"/>
            <a:ext cx="3136900" cy="523220"/>
          </a:xfrm>
          <a:prstGeom prst="rect">
            <a:avLst/>
          </a:prstGeom>
          <a:noFill/>
        </p:spPr>
        <p:txBody>
          <a:bodyPr wrap="square" rtlCol="0">
            <a:spAutoFit/>
          </a:bodyPr>
          <a:lstStyle/>
          <a:p>
            <a:r>
              <a:rPr lang="zh-CN" altLang="en-US" sz="2800" b="1" smtClean="0">
                <a:solidFill>
                  <a:srgbClr val="FF0000"/>
                </a:solidFill>
              </a:rPr>
              <a:t>（</a:t>
            </a:r>
            <a:r>
              <a:rPr lang="en-US" altLang="zh-CN" sz="2800" b="1" smtClean="0">
                <a:solidFill>
                  <a:srgbClr val="FF0000"/>
                </a:solidFill>
              </a:rPr>
              <a:t>4</a:t>
            </a:r>
            <a:r>
              <a:rPr lang="zh-CN" altLang="en-US" sz="2800" b="1" smtClean="0">
                <a:solidFill>
                  <a:srgbClr val="FF0000"/>
                </a:solidFill>
              </a:rPr>
              <a:t>）位置</a:t>
            </a:r>
            <a:r>
              <a:rPr lang="en-US" altLang="zh-CN" sz="2800" b="1" smtClean="0">
                <a:solidFill>
                  <a:srgbClr val="FF0000"/>
                </a:solidFill>
              </a:rPr>
              <a:t>4</a:t>
            </a:r>
            <a:r>
              <a:rPr lang="zh-CN" altLang="en-US" sz="2800" b="1" smtClean="0">
                <a:solidFill>
                  <a:srgbClr val="FF0000"/>
                </a:solidFill>
              </a:rPr>
              <a:t>处？</a:t>
            </a:r>
            <a:endParaRPr lang="zh-CN" altLang="en-US" sz="2800" b="1">
              <a:solidFill>
                <a:srgbClr val="FF0000"/>
              </a:solidFill>
            </a:endParaRPr>
          </a:p>
        </p:txBody>
      </p:sp>
      <p:sp>
        <p:nvSpPr>
          <p:cNvPr id="7" name="TextBox 6"/>
          <p:cNvSpPr txBox="1"/>
          <p:nvPr/>
        </p:nvSpPr>
        <p:spPr>
          <a:xfrm>
            <a:off x="113653" y="2641228"/>
            <a:ext cx="3213099" cy="523220"/>
          </a:xfrm>
          <a:prstGeom prst="rect">
            <a:avLst/>
          </a:prstGeom>
          <a:noFill/>
        </p:spPr>
        <p:txBody>
          <a:bodyPr wrap="square" rtlCol="0">
            <a:spAutoFit/>
          </a:bodyPr>
          <a:lstStyle/>
          <a:p>
            <a:r>
              <a:rPr lang="zh-CN" altLang="en-US" sz="2800" b="1" smtClean="0">
                <a:solidFill>
                  <a:srgbClr val="FF0000"/>
                </a:solidFill>
              </a:rPr>
              <a:t>（</a:t>
            </a:r>
            <a:r>
              <a:rPr lang="en-US" altLang="zh-CN" sz="2800" b="1" smtClean="0">
                <a:solidFill>
                  <a:srgbClr val="FF0000"/>
                </a:solidFill>
              </a:rPr>
              <a:t>1</a:t>
            </a:r>
            <a:r>
              <a:rPr lang="zh-CN" altLang="en-US" sz="2800" b="1" smtClean="0">
                <a:solidFill>
                  <a:srgbClr val="FF0000"/>
                </a:solidFill>
              </a:rPr>
              <a:t>）在位置</a:t>
            </a:r>
            <a:r>
              <a:rPr lang="en-US" altLang="zh-CN" sz="2800" b="1" smtClean="0">
                <a:solidFill>
                  <a:srgbClr val="FF0000"/>
                </a:solidFill>
              </a:rPr>
              <a:t>1</a:t>
            </a:r>
            <a:r>
              <a:rPr lang="zh-CN" altLang="en-US" sz="2800" b="1" smtClean="0">
                <a:solidFill>
                  <a:srgbClr val="FF0000"/>
                </a:solidFill>
              </a:rPr>
              <a:t>和</a:t>
            </a:r>
            <a:r>
              <a:rPr lang="en-US" altLang="zh-CN" sz="2800" b="1" smtClean="0">
                <a:solidFill>
                  <a:srgbClr val="FF0000"/>
                </a:solidFill>
              </a:rPr>
              <a:t>5</a:t>
            </a:r>
            <a:r>
              <a:rPr lang="zh-CN" altLang="en-US" sz="2800" b="1" smtClean="0">
                <a:solidFill>
                  <a:srgbClr val="FF0000"/>
                </a:solidFill>
              </a:rPr>
              <a:t>？</a:t>
            </a:r>
            <a:endParaRPr lang="zh-CN" altLang="en-US" sz="2800" b="1">
              <a:solidFill>
                <a:srgbClr val="FF0000"/>
              </a:solidFill>
            </a:endParaRPr>
          </a:p>
        </p:txBody>
      </p:sp>
      <p:sp>
        <p:nvSpPr>
          <p:cNvPr id="8" name="TextBox 7"/>
          <p:cNvSpPr txBox="1"/>
          <p:nvPr/>
        </p:nvSpPr>
        <p:spPr>
          <a:xfrm>
            <a:off x="3797300" y="2425784"/>
            <a:ext cx="7473303" cy="954107"/>
          </a:xfrm>
          <a:prstGeom prst="rect">
            <a:avLst/>
          </a:prstGeom>
          <a:noFill/>
        </p:spPr>
        <p:txBody>
          <a:bodyPr wrap="square" rtlCol="0">
            <a:spAutoFit/>
          </a:bodyPr>
          <a:lstStyle/>
          <a:p>
            <a:r>
              <a:rPr lang="en-US" altLang="zh-CN" sz="2800" b="1" smtClean="0"/>
              <a:t>1</a:t>
            </a:r>
            <a:r>
              <a:rPr lang="zh-CN" altLang="en-US" sz="2800" b="1" smtClean="0"/>
              <a:t>和</a:t>
            </a:r>
            <a:r>
              <a:rPr lang="en-US" altLang="zh-CN" sz="2800" b="1" smtClean="0"/>
              <a:t>5</a:t>
            </a:r>
            <a:r>
              <a:rPr lang="zh-CN" altLang="en-US" sz="2800" b="1" smtClean="0"/>
              <a:t>，线框完全处于磁场区之外。任何一边都没有动生电动势，因此没有电流流过。</a:t>
            </a:r>
            <a:endParaRPr lang="zh-CN" altLang="en-US" sz="2800" b="1"/>
          </a:p>
        </p:txBody>
      </p:sp>
      <p:sp>
        <p:nvSpPr>
          <p:cNvPr id="9" name="TextBox 8"/>
          <p:cNvSpPr txBox="1"/>
          <p:nvPr/>
        </p:nvSpPr>
        <p:spPr>
          <a:xfrm>
            <a:off x="113653" y="3819626"/>
            <a:ext cx="2343797" cy="523220"/>
          </a:xfrm>
          <a:prstGeom prst="rect">
            <a:avLst/>
          </a:prstGeom>
          <a:noFill/>
        </p:spPr>
        <p:txBody>
          <a:bodyPr wrap="square" rtlCol="0">
            <a:spAutoFit/>
          </a:bodyPr>
          <a:lstStyle/>
          <a:p>
            <a:r>
              <a:rPr lang="zh-CN" altLang="en-US" sz="2800" b="1" smtClean="0">
                <a:solidFill>
                  <a:srgbClr val="FF0000"/>
                </a:solidFill>
              </a:rPr>
              <a:t>（</a:t>
            </a:r>
            <a:r>
              <a:rPr lang="en-US" altLang="zh-CN" sz="2800" b="1" smtClean="0">
                <a:solidFill>
                  <a:srgbClr val="FF0000"/>
                </a:solidFill>
              </a:rPr>
              <a:t>2</a:t>
            </a:r>
            <a:r>
              <a:rPr lang="zh-CN" altLang="en-US" sz="2800" b="1" smtClean="0">
                <a:solidFill>
                  <a:srgbClr val="FF0000"/>
                </a:solidFill>
              </a:rPr>
              <a:t>）在位置</a:t>
            </a:r>
            <a:r>
              <a:rPr lang="en-US" altLang="zh-CN" sz="2800" b="1" smtClean="0">
                <a:solidFill>
                  <a:srgbClr val="FF0000"/>
                </a:solidFill>
              </a:rPr>
              <a:t>3?</a:t>
            </a:r>
            <a:endParaRPr lang="zh-CN" altLang="en-US" sz="2800" b="1">
              <a:solidFill>
                <a:srgbClr val="FF0000"/>
              </a:solidFill>
            </a:endParaRPr>
          </a:p>
        </p:txBody>
      </p:sp>
      <p:sp>
        <p:nvSpPr>
          <p:cNvPr id="10" name="TextBox 9"/>
          <p:cNvSpPr txBox="1"/>
          <p:nvPr/>
        </p:nvSpPr>
        <p:spPr>
          <a:xfrm>
            <a:off x="3797300" y="3556311"/>
            <a:ext cx="5747397" cy="954107"/>
          </a:xfrm>
          <a:prstGeom prst="rect">
            <a:avLst/>
          </a:prstGeom>
          <a:noFill/>
        </p:spPr>
        <p:txBody>
          <a:bodyPr wrap="square" rtlCol="0">
            <a:spAutoFit/>
          </a:bodyPr>
          <a:lstStyle/>
          <a:p>
            <a:r>
              <a:rPr lang="zh-CN" altLang="en-US" sz="2800" b="1" dirty="0" smtClean="0"/>
              <a:t>在</a:t>
            </a:r>
            <a:r>
              <a:rPr lang="en-US" altLang="zh-CN" sz="2800" b="1" dirty="0" smtClean="0"/>
              <a:t>a</a:t>
            </a:r>
            <a:r>
              <a:rPr lang="zh-CN" altLang="en-US" sz="2800" b="1" dirty="0" smtClean="0"/>
              <a:t>边和</a:t>
            </a:r>
            <a:r>
              <a:rPr lang="en-US" altLang="zh-CN" sz="2800" b="1" dirty="0" smtClean="0"/>
              <a:t>c</a:t>
            </a:r>
            <a:r>
              <a:rPr lang="zh-CN" altLang="en-US" sz="2800" b="1" dirty="0" smtClean="0"/>
              <a:t>边均产如右图所示动生电动势。线框中的净电动势为零。</a:t>
            </a:r>
            <a:endParaRPr lang="zh-CN" altLang="en-US" sz="2800" b="1" dirty="0"/>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4697" y="3379891"/>
            <a:ext cx="2568144" cy="156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9759" y="5344154"/>
            <a:ext cx="1504941" cy="1253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4" name="直接箭头连接符 13"/>
          <p:cNvCxnSpPr/>
          <p:nvPr/>
        </p:nvCxnSpPr>
        <p:spPr>
          <a:xfrm flipV="1">
            <a:off x="9429759" y="5594741"/>
            <a:ext cx="0" cy="89918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296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6"/>
          <p:cNvGrpSpPr>
            <a:grpSpLocks/>
          </p:cNvGrpSpPr>
          <p:nvPr/>
        </p:nvGrpSpPr>
        <p:grpSpPr bwMode="auto">
          <a:xfrm>
            <a:off x="203200" y="142853"/>
            <a:ext cx="11785600" cy="1816100"/>
            <a:chOff x="96" y="288"/>
            <a:chExt cx="5568" cy="1144"/>
          </a:xfrm>
        </p:grpSpPr>
        <p:sp>
          <p:nvSpPr>
            <p:cNvPr id="23555" name="Text Box 3"/>
            <p:cNvSpPr txBox="1">
              <a:spLocks noChangeArrowheads="1"/>
            </p:cNvSpPr>
            <p:nvPr/>
          </p:nvSpPr>
          <p:spPr bwMode="auto">
            <a:xfrm>
              <a:off x="96" y="288"/>
              <a:ext cx="5568" cy="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600" b="1" dirty="0">
                  <a:solidFill>
                    <a:srgbClr val="3333FF"/>
                  </a:solidFill>
                  <a:latin typeface="宋体" panose="02010600030101010101" pitchFamily="2" charset="-122"/>
                </a:rPr>
                <a:t>    </a:t>
              </a:r>
              <a:r>
                <a:rPr lang="zh-CN" altLang="en-US" sz="2800" b="1" dirty="0" smtClean="0">
                  <a:solidFill>
                    <a:srgbClr val="3333FF"/>
                  </a:solidFill>
                  <a:latin typeface="宋体" panose="02010600030101010101" pitchFamily="2" charset="-122"/>
                </a:rPr>
                <a:t>例  直</a:t>
              </a:r>
              <a:r>
                <a:rPr lang="zh-CN" altLang="en-US" sz="2800" b="1" dirty="0">
                  <a:solidFill>
                    <a:srgbClr val="3333FF"/>
                  </a:solidFill>
                  <a:latin typeface="宋体" panose="02010600030101010101" pitchFamily="2" charset="-122"/>
                </a:rPr>
                <a:t>导线</a:t>
              </a:r>
              <a:r>
                <a:rPr lang="en-US" altLang="zh-CN" sz="2800" b="1" i="1" dirty="0">
                  <a:solidFill>
                    <a:srgbClr val="3333FF"/>
                  </a:solidFill>
                </a:rPr>
                <a:t>ab</a:t>
              </a:r>
              <a:r>
                <a:rPr lang="zh-CN" altLang="en-US" sz="2800" b="1" dirty="0">
                  <a:solidFill>
                    <a:srgbClr val="3333FF"/>
                  </a:solidFill>
                  <a:latin typeface="宋体" panose="02010600030101010101" pitchFamily="2" charset="-122"/>
                </a:rPr>
                <a:t>以速率  沿平行于长直载流导线的方向运动，</a:t>
              </a:r>
              <a:r>
                <a:rPr lang="en-US" altLang="zh-CN" sz="2800" b="1" i="1" dirty="0">
                  <a:solidFill>
                    <a:srgbClr val="3333FF"/>
                  </a:solidFill>
                </a:rPr>
                <a:t>ab</a:t>
              </a:r>
              <a:r>
                <a:rPr lang="zh-CN" altLang="en-US" sz="2800" b="1" dirty="0">
                  <a:solidFill>
                    <a:srgbClr val="3333FF"/>
                  </a:solidFill>
                  <a:latin typeface="宋体" panose="02010600030101010101" pitchFamily="2" charset="-122"/>
                </a:rPr>
                <a:t>与直导线共面，且与它垂直，如图所示。设直导线中的电流强度为</a:t>
              </a:r>
              <a:r>
                <a:rPr lang="en-US" altLang="zh-CN" sz="2800" b="1" i="1" dirty="0">
                  <a:solidFill>
                    <a:srgbClr val="3333FF"/>
                  </a:solidFill>
                  <a:latin typeface="宋体" panose="02010600030101010101" pitchFamily="2" charset="-122"/>
                </a:rPr>
                <a:t>I</a:t>
              </a:r>
              <a:r>
                <a:rPr lang="zh-CN" altLang="en-US" sz="2800" b="1" dirty="0">
                  <a:solidFill>
                    <a:srgbClr val="3333FF"/>
                  </a:solidFill>
                  <a:latin typeface="宋体" panose="02010600030101010101" pitchFamily="2" charset="-122"/>
                </a:rPr>
                <a:t>，导线</a:t>
              </a:r>
              <a:r>
                <a:rPr lang="en-US" altLang="zh-CN" sz="2800" b="1" i="1" dirty="0">
                  <a:solidFill>
                    <a:srgbClr val="3333FF"/>
                  </a:solidFill>
                </a:rPr>
                <a:t>ab</a:t>
              </a:r>
              <a:r>
                <a:rPr lang="zh-CN" altLang="en-US" sz="2800" b="1" dirty="0">
                  <a:solidFill>
                    <a:srgbClr val="3333FF"/>
                  </a:solidFill>
                  <a:latin typeface="宋体" panose="02010600030101010101" pitchFamily="2" charset="-122"/>
                </a:rPr>
                <a:t>长为</a:t>
              </a:r>
              <a:r>
                <a:rPr lang="en-US" altLang="zh-CN" sz="2800" b="1" i="1" dirty="0">
                  <a:solidFill>
                    <a:srgbClr val="3333FF"/>
                  </a:solidFill>
                  <a:latin typeface="宋体" panose="02010600030101010101" pitchFamily="2" charset="-122"/>
                </a:rPr>
                <a:t>L</a:t>
              </a:r>
              <a:r>
                <a:rPr lang="zh-CN" altLang="en-US" sz="2800" b="1" dirty="0">
                  <a:solidFill>
                    <a:srgbClr val="3333FF"/>
                  </a:solidFill>
                </a:rPr>
                <a:t>，</a:t>
              </a:r>
              <a:r>
                <a:rPr lang="en-US" altLang="zh-CN" sz="2800" b="1" i="1" dirty="0">
                  <a:solidFill>
                    <a:srgbClr val="3333FF"/>
                  </a:solidFill>
                </a:rPr>
                <a:t>a</a:t>
              </a:r>
              <a:r>
                <a:rPr lang="zh-CN" altLang="en-US" sz="2800" b="1" dirty="0">
                  <a:solidFill>
                    <a:srgbClr val="3333FF"/>
                  </a:solidFill>
                </a:rPr>
                <a:t>端到直导线的距离为</a:t>
              </a:r>
              <a:r>
                <a:rPr lang="en-US" altLang="zh-CN" sz="2800" b="1" i="1" dirty="0">
                  <a:solidFill>
                    <a:srgbClr val="3333FF"/>
                  </a:solidFill>
                </a:rPr>
                <a:t>d</a:t>
              </a:r>
              <a:r>
                <a:rPr lang="zh-CN" altLang="en-US" sz="2800" b="1" dirty="0">
                  <a:solidFill>
                    <a:srgbClr val="3333FF"/>
                  </a:solidFill>
                </a:rPr>
                <a:t>，求导线</a:t>
              </a:r>
              <a:r>
                <a:rPr lang="en-US" altLang="zh-CN" sz="2800" b="1" i="1" dirty="0">
                  <a:solidFill>
                    <a:srgbClr val="3333FF"/>
                  </a:solidFill>
                </a:rPr>
                <a:t>ab</a:t>
              </a:r>
              <a:r>
                <a:rPr lang="zh-CN" altLang="en-US" sz="2800" b="1" dirty="0">
                  <a:solidFill>
                    <a:srgbClr val="3333FF"/>
                  </a:solidFill>
                </a:rPr>
                <a:t>中的动生电动势，并判断哪端电势</a:t>
              </a:r>
              <a:r>
                <a:rPr lang="zh-CN" altLang="en-US" sz="2800" b="1" dirty="0">
                  <a:solidFill>
                    <a:srgbClr val="3333FF"/>
                  </a:solidFill>
                  <a:latin typeface="宋体" panose="02010600030101010101" pitchFamily="2" charset="-122"/>
                </a:rPr>
                <a:t>较高。        </a:t>
              </a:r>
            </a:p>
          </p:txBody>
        </p:sp>
        <p:graphicFrame>
          <p:nvGraphicFramePr>
            <p:cNvPr id="23556" name="Object 4"/>
            <p:cNvGraphicFramePr>
              <a:graphicFrameLocks noChangeAspect="1"/>
            </p:cNvGraphicFramePr>
            <p:nvPr>
              <p:extLst>
                <p:ext uri="{D42A27DB-BD31-4B8C-83A1-F6EECF244321}">
                  <p14:modId xmlns:p14="http://schemas.microsoft.com/office/powerpoint/2010/main" val="2305150919"/>
                </p:ext>
              </p:extLst>
            </p:nvPr>
          </p:nvGraphicFramePr>
          <p:xfrm>
            <a:off x="1961" y="328"/>
            <a:ext cx="191" cy="240"/>
          </p:xfrm>
          <a:graphic>
            <a:graphicData uri="http://schemas.openxmlformats.org/presentationml/2006/ole">
              <mc:AlternateContent xmlns:mc="http://schemas.openxmlformats.org/markup-compatibility/2006">
                <mc:Choice xmlns:v="urn:schemas-microsoft-com:vml" Requires="v">
                  <p:oleObj spid="_x0000_s22650" name="Equation" r:id="rId3" imgW="104812" imgH="133380" progId="Equations">
                    <p:embed/>
                  </p:oleObj>
                </mc:Choice>
                <mc:Fallback>
                  <p:oleObj name="Equation" r:id="rId3" imgW="104812" imgH="133380"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1" y="328"/>
                          <a:ext cx="191"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5"/>
          <p:cNvGrpSpPr>
            <a:grpSpLocks/>
          </p:cNvGrpSpPr>
          <p:nvPr/>
        </p:nvGrpSpPr>
        <p:grpSpPr bwMode="auto">
          <a:xfrm>
            <a:off x="8441267" y="1981200"/>
            <a:ext cx="3750733" cy="2133600"/>
            <a:chOff x="3840" y="1248"/>
            <a:chExt cx="1772" cy="1344"/>
          </a:xfrm>
        </p:grpSpPr>
        <p:sp>
          <p:nvSpPr>
            <p:cNvPr id="23558" name="Line 6"/>
            <p:cNvSpPr>
              <a:spLocks noChangeShapeType="1"/>
            </p:cNvSpPr>
            <p:nvPr/>
          </p:nvSpPr>
          <p:spPr bwMode="auto">
            <a:xfrm>
              <a:off x="4080" y="1536"/>
              <a:ext cx="0" cy="86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59" name="Line 7"/>
            <p:cNvSpPr>
              <a:spLocks noChangeShapeType="1"/>
            </p:cNvSpPr>
            <p:nvPr/>
          </p:nvSpPr>
          <p:spPr bwMode="auto">
            <a:xfrm>
              <a:off x="4080" y="1728"/>
              <a:ext cx="0" cy="38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0" name="Line 8"/>
            <p:cNvSpPr>
              <a:spLocks noChangeShapeType="1"/>
            </p:cNvSpPr>
            <p:nvPr/>
          </p:nvSpPr>
          <p:spPr bwMode="auto">
            <a:xfrm flipV="1">
              <a:off x="4080" y="1248"/>
              <a:ext cx="0" cy="288"/>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1" name="Line 9"/>
            <p:cNvSpPr>
              <a:spLocks noChangeShapeType="1"/>
            </p:cNvSpPr>
            <p:nvPr/>
          </p:nvSpPr>
          <p:spPr bwMode="auto">
            <a:xfrm>
              <a:off x="4080" y="2400"/>
              <a:ext cx="0" cy="19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2" name="Rectangle 10"/>
            <p:cNvSpPr>
              <a:spLocks noChangeArrowheads="1"/>
            </p:cNvSpPr>
            <p:nvPr/>
          </p:nvSpPr>
          <p:spPr bwMode="auto">
            <a:xfrm>
              <a:off x="4608" y="1632"/>
              <a:ext cx="768" cy="9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3" name="Rectangle 11"/>
            <p:cNvSpPr>
              <a:spLocks noChangeArrowheads="1"/>
            </p:cNvSpPr>
            <p:nvPr/>
          </p:nvSpPr>
          <p:spPr bwMode="auto">
            <a:xfrm>
              <a:off x="4848" y="1632"/>
              <a:ext cx="240" cy="96"/>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4" name="Line 12"/>
            <p:cNvSpPr>
              <a:spLocks noChangeShapeType="1"/>
            </p:cNvSpPr>
            <p:nvPr/>
          </p:nvSpPr>
          <p:spPr bwMode="auto">
            <a:xfrm>
              <a:off x="5088" y="18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5" name="Line 13"/>
            <p:cNvSpPr>
              <a:spLocks noChangeShapeType="1"/>
            </p:cNvSpPr>
            <p:nvPr/>
          </p:nvSpPr>
          <p:spPr bwMode="auto">
            <a:xfrm>
              <a:off x="4848" y="18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6" name="Line 14"/>
            <p:cNvSpPr>
              <a:spLocks noChangeShapeType="1"/>
            </p:cNvSpPr>
            <p:nvPr/>
          </p:nvSpPr>
          <p:spPr bwMode="auto">
            <a:xfrm>
              <a:off x="4080" y="1968"/>
              <a:ext cx="768"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7" name="Line 15"/>
            <p:cNvSpPr>
              <a:spLocks noChangeShapeType="1"/>
            </p:cNvSpPr>
            <p:nvPr/>
          </p:nvSpPr>
          <p:spPr bwMode="auto">
            <a:xfrm flipH="1">
              <a:off x="5088" y="1968"/>
              <a:ext cx="144"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8" name="Line 16"/>
            <p:cNvSpPr>
              <a:spLocks noChangeShapeType="1"/>
            </p:cNvSpPr>
            <p:nvPr/>
          </p:nvSpPr>
          <p:spPr bwMode="auto">
            <a:xfrm>
              <a:off x="4608" y="168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9" name="Line 17"/>
            <p:cNvSpPr>
              <a:spLocks noChangeShapeType="1"/>
            </p:cNvSpPr>
            <p:nvPr/>
          </p:nvSpPr>
          <p:spPr bwMode="auto">
            <a:xfrm>
              <a:off x="5376" y="17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0" name="Line 18"/>
            <p:cNvSpPr>
              <a:spLocks noChangeShapeType="1"/>
            </p:cNvSpPr>
            <p:nvPr/>
          </p:nvSpPr>
          <p:spPr bwMode="auto">
            <a:xfrm flipV="1">
              <a:off x="4944" y="1440"/>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1" name="Line 19"/>
            <p:cNvSpPr>
              <a:spLocks noChangeShapeType="1"/>
            </p:cNvSpPr>
            <p:nvPr/>
          </p:nvSpPr>
          <p:spPr bwMode="auto">
            <a:xfrm>
              <a:off x="4080" y="1776"/>
              <a:ext cx="528"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2" name="Line 20"/>
            <p:cNvSpPr>
              <a:spLocks noChangeShapeType="1"/>
            </p:cNvSpPr>
            <p:nvPr/>
          </p:nvSpPr>
          <p:spPr bwMode="auto">
            <a:xfrm>
              <a:off x="4608" y="1824"/>
              <a:ext cx="768"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23573" name="Object 21"/>
            <p:cNvGraphicFramePr>
              <a:graphicFrameLocks noChangeAspect="1"/>
            </p:cNvGraphicFramePr>
            <p:nvPr/>
          </p:nvGraphicFramePr>
          <p:xfrm>
            <a:off x="3840" y="1632"/>
            <a:ext cx="188" cy="244"/>
          </p:xfrm>
          <a:graphic>
            <a:graphicData uri="http://schemas.openxmlformats.org/presentationml/2006/ole">
              <mc:AlternateContent xmlns:mc="http://schemas.openxmlformats.org/markup-compatibility/2006">
                <mc:Choice xmlns:v="urn:schemas-microsoft-com:vml" Requires="v">
                  <p:oleObj spid="_x0000_s22651" name="Equation" r:id="rId5" imgW="126780" imgH="164814" progId="Equations">
                    <p:embed/>
                  </p:oleObj>
                </mc:Choice>
                <mc:Fallback>
                  <p:oleObj name="Equation" r:id="rId5" imgW="126780" imgH="164814"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0" y="1632"/>
                          <a:ext cx="188"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4" name="Object 22"/>
            <p:cNvGraphicFramePr>
              <a:graphicFrameLocks noChangeAspect="1"/>
            </p:cNvGraphicFramePr>
            <p:nvPr/>
          </p:nvGraphicFramePr>
          <p:xfrm>
            <a:off x="4416" y="1507"/>
            <a:ext cx="188" cy="206"/>
          </p:xfrm>
          <a:graphic>
            <a:graphicData uri="http://schemas.openxmlformats.org/presentationml/2006/ole">
              <mc:AlternateContent xmlns:mc="http://schemas.openxmlformats.org/markup-compatibility/2006">
                <mc:Choice xmlns:v="urn:schemas-microsoft-com:vml" Requires="v">
                  <p:oleObj spid="_x0000_s22652" name="Equation" r:id="rId7" imgW="126835" imgH="139518" progId="Equations">
                    <p:embed/>
                  </p:oleObj>
                </mc:Choice>
                <mc:Fallback>
                  <p:oleObj name="Equation" r:id="rId7" imgW="126835" imgH="139518" progId="Equations">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6" y="1507"/>
                          <a:ext cx="188"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5" name="Object 23"/>
            <p:cNvGraphicFramePr>
              <a:graphicFrameLocks noChangeAspect="1"/>
            </p:cNvGraphicFramePr>
            <p:nvPr/>
          </p:nvGraphicFramePr>
          <p:xfrm>
            <a:off x="5424" y="1479"/>
            <a:ext cx="188" cy="263"/>
          </p:xfrm>
          <a:graphic>
            <a:graphicData uri="http://schemas.openxmlformats.org/presentationml/2006/ole">
              <mc:AlternateContent xmlns:mc="http://schemas.openxmlformats.org/markup-compatibility/2006">
                <mc:Choice xmlns:v="urn:schemas-microsoft-com:vml" Requires="v">
                  <p:oleObj spid="_x0000_s22653" name="Equation" r:id="rId9" imgW="126725" imgH="177415" progId="Equations">
                    <p:embed/>
                  </p:oleObj>
                </mc:Choice>
                <mc:Fallback>
                  <p:oleObj name="Equation" r:id="rId9" imgW="126725" imgH="177415"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4" y="1479"/>
                          <a:ext cx="188" cy="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6" name="Object 24"/>
            <p:cNvGraphicFramePr>
              <a:graphicFrameLocks noChangeAspect="1"/>
            </p:cNvGraphicFramePr>
            <p:nvPr/>
          </p:nvGraphicFramePr>
          <p:xfrm>
            <a:off x="4944" y="1335"/>
            <a:ext cx="188" cy="263"/>
          </p:xfrm>
          <a:graphic>
            <a:graphicData uri="http://schemas.openxmlformats.org/presentationml/2006/ole">
              <mc:AlternateContent xmlns:mc="http://schemas.openxmlformats.org/markup-compatibility/2006">
                <mc:Choice xmlns:v="urn:schemas-microsoft-com:vml" Requires="v">
                  <p:oleObj spid="_x0000_s22654" name="Equation" r:id="rId11" imgW="126725" imgH="177415" progId="Equations">
                    <p:embed/>
                  </p:oleObj>
                </mc:Choice>
                <mc:Fallback>
                  <p:oleObj name="Equation" r:id="rId11" imgW="126725" imgH="177415" progId="Equations">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44" y="1335"/>
                          <a:ext cx="188" cy="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7" name="Object 25"/>
            <p:cNvGraphicFramePr>
              <a:graphicFrameLocks noChangeAspect="1"/>
            </p:cNvGraphicFramePr>
            <p:nvPr/>
          </p:nvGraphicFramePr>
          <p:xfrm>
            <a:off x="4896" y="1724"/>
            <a:ext cx="207" cy="244"/>
          </p:xfrm>
          <a:graphic>
            <a:graphicData uri="http://schemas.openxmlformats.org/presentationml/2006/ole">
              <mc:AlternateContent xmlns:mc="http://schemas.openxmlformats.org/markup-compatibility/2006">
                <mc:Choice xmlns:v="urn:schemas-microsoft-com:vml" Requires="v">
                  <p:oleObj spid="_x0000_s22655" name="Equation" r:id="rId13" imgW="139579" imgH="164957" progId="Equations">
                    <p:embed/>
                  </p:oleObj>
                </mc:Choice>
                <mc:Fallback>
                  <p:oleObj name="Equation" r:id="rId13" imgW="139579" imgH="164957" progId="Equations">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96" y="1724"/>
                          <a:ext cx="207"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8" name="Object 26"/>
            <p:cNvGraphicFramePr>
              <a:graphicFrameLocks noChangeAspect="1"/>
            </p:cNvGraphicFramePr>
            <p:nvPr/>
          </p:nvGraphicFramePr>
          <p:xfrm>
            <a:off x="4215" y="1671"/>
            <a:ext cx="206" cy="263"/>
          </p:xfrm>
          <a:graphic>
            <a:graphicData uri="http://schemas.openxmlformats.org/presentationml/2006/ole">
              <mc:AlternateContent xmlns:mc="http://schemas.openxmlformats.org/markup-compatibility/2006">
                <mc:Choice xmlns:v="urn:schemas-microsoft-com:vml" Requires="v">
                  <p:oleObj spid="_x0000_s22656" name="Equation" r:id="rId15" imgW="139579" imgH="177646" progId="Equations">
                    <p:embed/>
                  </p:oleObj>
                </mc:Choice>
                <mc:Fallback>
                  <p:oleObj name="Equation" r:id="rId15" imgW="139579" imgH="177646" progId="Equations">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15" y="1671"/>
                          <a:ext cx="206" cy="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9" name="Object 27"/>
            <p:cNvGraphicFramePr>
              <a:graphicFrameLocks noChangeAspect="1"/>
            </p:cNvGraphicFramePr>
            <p:nvPr/>
          </p:nvGraphicFramePr>
          <p:xfrm>
            <a:off x="4426" y="1900"/>
            <a:ext cx="169" cy="187"/>
          </p:xfrm>
          <a:graphic>
            <a:graphicData uri="http://schemas.openxmlformats.org/presentationml/2006/ole">
              <mc:AlternateContent xmlns:mc="http://schemas.openxmlformats.org/markup-compatibility/2006">
                <mc:Choice xmlns:v="urn:schemas-microsoft-com:vml" Requires="v">
                  <p:oleObj spid="_x0000_s22657" name="Equation" r:id="rId17" imgW="114102" imgH="126780" progId="Equations">
                    <p:embed/>
                  </p:oleObj>
                </mc:Choice>
                <mc:Fallback>
                  <p:oleObj name="Equation" r:id="rId17" imgW="114102" imgH="126780" progId="Equations">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26" y="1900"/>
                          <a:ext cx="169" cy="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80" name="Object 28"/>
            <p:cNvGraphicFramePr>
              <a:graphicFrameLocks noChangeAspect="1"/>
            </p:cNvGraphicFramePr>
            <p:nvPr/>
          </p:nvGraphicFramePr>
          <p:xfrm>
            <a:off x="4831" y="1959"/>
            <a:ext cx="319" cy="263"/>
          </p:xfrm>
          <a:graphic>
            <a:graphicData uri="http://schemas.openxmlformats.org/presentationml/2006/ole">
              <mc:AlternateContent xmlns:mc="http://schemas.openxmlformats.org/markup-compatibility/2006">
                <mc:Choice xmlns:v="urn:schemas-microsoft-com:vml" Requires="v">
                  <p:oleObj spid="_x0000_s22658" name="Equation" r:id="rId19" imgW="215619" imgH="177569" progId="Equations">
                    <p:embed/>
                  </p:oleObj>
                </mc:Choice>
                <mc:Fallback>
                  <p:oleObj name="Equation" r:id="rId19" imgW="215619" imgH="177569" progId="Equations">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31" y="1959"/>
                          <a:ext cx="319" cy="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581" name="Rectangle 29"/>
          <p:cNvSpPr>
            <a:spLocks noChangeArrowheads="1"/>
          </p:cNvSpPr>
          <p:nvPr/>
        </p:nvSpPr>
        <p:spPr bwMode="auto">
          <a:xfrm>
            <a:off x="914401" y="2362201"/>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FF0000"/>
                </a:solidFill>
                <a:ea typeface="楷体_GB2312" pitchFamily="49" charset="-122"/>
              </a:rPr>
              <a:t>解</a:t>
            </a:r>
          </a:p>
        </p:txBody>
      </p:sp>
      <p:grpSp>
        <p:nvGrpSpPr>
          <p:cNvPr id="4" name="Group 30"/>
          <p:cNvGrpSpPr>
            <a:grpSpLocks/>
          </p:cNvGrpSpPr>
          <p:nvPr/>
        </p:nvGrpSpPr>
        <p:grpSpPr bwMode="auto">
          <a:xfrm>
            <a:off x="1524000" y="2362204"/>
            <a:ext cx="7112000" cy="590551"/>
            <a:chOff x="768" y="1488"/>
            <a:chExt cx="3360" cy="372"/>
          </a:xfrm>
        </p:grpSpPr>
        <p:sp>
          <p:nvSpPr>
            <p:cNvPr id="23583" name="Rectangle 31"/>
            <p:cNvSpPr>
              <a:spLocks noChangeArrowheads="1"/>
            </p:cNvSpPr>
            <p:nvPr/>
          </p:nvSpPr>
          <p:spPr bwMode="auto">
            <a:xfrm>
              <a:off x="768" y="1488"/>
              <a:ext cx="33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800" b="1">
                  <a:solidFill>
                    <a:srgbClr val="3333FF"/>
                  </a:solidFill>
                  <a:latin typeface="楷体_GB2312" pitchFamily="49" charset="-122"/>
                  <a:ea typeface="楷体_GB2312" pitchFamily="49" charset="-122"/>
                </a:rPr>
                <a:t>（</a:t>
              </a:r>
              <a:r>
                <a:rPr lang="en-US" altLang="zh-CN" sz="2800" b="1">
                  <a:solidFill>
                    <a:srgbClr val="3333FF"/>
                  </a:solidFill>
                  <a:latin typeface="楷体_GB2312" pitchFamily="49" charset="-122"/>
                  <a:ea typeface="楷体_GB2312" pitchFamily="49" charset="-122"/>
                </a:rPr>
                <a:t>1</a:t>
              </a:r>
              <a:r>
                <a:rPr lang="zh-CN" altLang="en-US" sz="2800" b="1">
                  <a:solidFill>
                    <a:srgbClr val="3333FF"/>
                  </a:solidFill>
                  <a:latin typeface="楷体_GB2312" pitchFamily="49" charset="-122"/>
                  <a:ea typeface="楷体_GB2312" pitchFamily="49" charset="-122"/>
                </a:rPr>
                <a:t>）应用              </a:t>
              </a:r>
              <a:r>
                <a:rPr lang="zh-CN" altLang="en-US" sz="2800" b="1" smtClean="0">
                  <a:solidFill>
                    <a:srgbClr val="3333FF"/>
                  </a:solidFill>
                  <a:latin typeface="楷体_GB2312" pitchFamily="49" charset="-122"/>
                  <a:ea typeface="楷体_GB2312" pitchFamily="49" charset="-122"/>
                </a:rPr>
                <a:t>    求解</a:t>
              </a:r>
              <a:endParaRPr lang="zh-CN" altLang="en-US" sz="2800">
                <a:solidFill>
                  <a:srgbClr val="3333FF"/>
                </a:solidFill>
                <a:latin typeface="楷体_GB2312" pitchFamily="49" charset="-122"/>
                <a:ea typeface="楷体_GB2312" pitchFamily="49" charset="-122"/>
              </a:endParaRPr>
            </a:p>
          </p:txBody>
        </p:sp>
        <p:graphicFrame>
          <p:nvGraphicFramePr>
            <p:cNvPr id="23584" name="Object 32"/>
            <p:cNvGraphicFramePr>
              <a:graphicFrameLocks noChangeAspect="1"/>
            </p:cNvGraphicFramePr>
            <p:nvPr>
              <p:extLst>
                <p:ext uri="{D42A27DB-BD31-4B8C-83A1-F6EECF244321}">
                  <p14:modId xmlns:p14="http://schemas.microsoft.com/office/powerpoint/2010/main" val="294205674"/>
                </p:ext>
              </p:extLst>
            </p:nvPr>
          </p:nvGraphicFramePr>
          <p:xfrm>
            <a:off x="1584" y="1500"/>
            <a:ext cx="1491" cy="360"/>
          </p:xfrm>
          <a:graphic>
            <a:graphicData uri="http://schemas.openxmlformats.org/presentationml/2006/ole">
              <mc:AlternateContent xmlns:mc="http://schemas.openxmlformats.org/markup-compatibility/2006">
                <mc:Choice xmlns:v="urn:schemas-microsoft-com:vml" Requires="v">
                  <p:oleObj spid="_x0000_s22659" name="Equation" r:id="rId21" imgW="1054080" imgH="253800" progId="Equations">
                    <p:embed/>
                  </p:oleObj>
                </mc:Choice>
                <mc:Fallback>
                  <p:oleObj name="Equation" r:id="rId21" imgW="1054080" imgH="253800" progId="Equations">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84" y="1500"/>
                          <a:ext cx="1491" cy="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585" name="Rectangle 33"/>
          <p:cNvSpPr>
            <a:spLocks noChangeArrowheads="1"/>
          </p:cNvSpPr>
          <p:nvPr/>
        </p:nvSpPr>
        <p:spPr bwMode="auto">
          <a:xfrm>
            <a:off x="476211" y="2970214"/>
            <a:ext cx="805818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solidFill>
                  <a:srgbClr val="000066"/>
                </a:solidFill>
                <a:latin typeface="楷体_GB2312" pitchFamily="49" charset="-122"/>
                <a:ea typeface="楷体_GB2312" pitchFamily="49" charset="-122"/>
              </a:rPr>
              <a:t>    </a:t>
            </a:r>
            <a:r>
              <a:rPr lang="zh-CN" altLang="en-US" sz="2800" b="1" dirty="0">
                <a:solidFill>
                  <a:srgbClr val="000066"/>
                </a:solidFill>
                <a:latin typeface="楷体_GB2312" pitchFamily="49" charset="-122"/>
                <a:ea typeface="楷体_GB2312" pitchFamily="49" charset="-122"/>
              </a:rPr>
              <a:t>在导线</a:t>
            </a:r>
            <a:r>
              <a:rPr lang="en-US" altLang="zh-CN" sz="2800" b="1" i="1" dirty="0" err="1">
                <a:solidFill>
                  <a:srgbClr val="000066"/>
                </a:solidFill>
                <a:ea typeface="楷体_GB2312" pitchFamily="49" charset="-122"/>
              </a:rPr>
              <a:t>ab</a:t>
            </a:r>
            <a:r>
              <a:rPr lang="zh-CN" altLang="en-US" sz="2800" b="1" dirty="0">
                <a:solidFill>
                  <a:srgbClr val="000066"/>
                </a:solidFill>
                <a:latin typeface="楷体_GB2312" pitchFamily="49" charset="-122"/>
                <a:ea typeface="楷体_GB2312" pitchFamily="49" charset="-122"/>
              </a:rPr>
              <a:t>所在的区域</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长直载流导线在距其</a:t>
            </a:r>
            <a:r>
              <a:rPr lang="en-US" altLang="zh-CN" sz="2800" b="1" i="1" dirty="0">
                <a:solidFill>
                  <a:srgbClr val="000066"/>
                </a:solidFill>
                <a:ea typeface="楷体_GB2312" pitchFamily="49" charset="-122"/>
              </a:rPr>
              <a:t>r </a:t>
            </a:r>
            <a:r>
              <a:rPr lang="zh-CN" altLang="en-US" sz="2800" b="1" dirty="0">
                <a:solidFill>
                  <a:srgbClr val="000066"/>
                </a:solidFill>
                <a:latin typeface="楷体_GB2312" pitchFamily="49" charset="-122"/>
                <a:ea typeface="楷体_GB2312" pitchFamily="49" charset="-122"/>
              </a:rPr>
              <a:t>处取一线元</a:t>
            </a:r>
            <a:r>
              <a:rPr lang="en-US" altLang="zh-CN" sz="2800" b="1" dirty="0" err="1">
                <a:solidFill>
                  <a:srgbClr val="000066"/>
                </a:solidFill>
                <a:latin typeface="楷体_GB2312" pitchFamily="49" charset="-122"/>
                <a:ea typeface="楷体_GB2312" pitchFamily="49" charset="-122"/>
              </a:rPr>
              <a:t>d</a:t>
            </a:r>
            <a:r>
              <a:rPr lang="en-US" altLang="zh-CN" sz="2800" b="1" i="1" dirty="0" err="1">
                <a:solidFill>
                  <a:srgbClr val="000066"/>
                </a:solidFill>
                <a:ea typeface="楷体_GB2312" pitchFamily="49" charset="-122"/>
              </a:rPr>
              <a:t>r</a:t>
            </a:r>
            <a:r>
              <a:rPr lang="en-US" altLang="zh-CN" sz="2800" b="1" i="1" dirty="0">
                <a:solidFill>
                  <a:srgbClr val="000066"/>
                </a:solidFill>
                <a:ea typeface="楷体_GB2312" pitchFamily="49" charset="-122"/>
              </a:rPr>
              <a:t> </a:t>
            </a:r>
            <a:r>
              <a:rPr lang="en-US" altLang="zh-CN" sz="2800" b="1" dirty="0">
                <a:solidFill>
                  <a:srgbClr val="000066"/>
                </a:solidFill>
                <a:latin typeface="楷体_GB2312" pitchFamily="49" charset="-122"/>
                <a:ea typeface="楷体_GB2312" pitchFamily="49" charset="-122"/>
              </a:rPr>
              <a:t>,</a:t>
            </a:r>
            <a:r>
              <a:rPr lang="zh-CN" altLang="en-US" sz="2800" b="1" dirty="0">
                <a:solidFill>
                  <a:srgbClr val="000066"/>
                </a:solidFill>
                <a:latin typeface="楷体_GB2312" pitchFamily="49" charset="-122"/>
                <a:ea typeface="楷体_GB2312" pitchFamily="49" charset="-122"/>
              </a:rPr>
              <a:t>方向向右。</a:t>
            </a:r>
          </a:p>
        </p:txBody>
      </p:sp>
      <p:graphicFrame>
        <p:nvGraphicFramePr>
          <p:cNvPr id="23586" name="Object 34"/>
          <p:cNvGraphicFramePr>
            <a:graphicFrameLocks noChangeAspect="1"/>
          </p:cNvGraphicFramePr>
          <p:nvPr>
            <p:extLst>
              <p:ext uri="{D42A27DB-BD31-4B8C-83A1-F6EECF244321}">
                <p14:modId xmlns:p14="http://schemas.microsoft.com/office/powerpoint/2010/main" val="322609120"/>
              </p:ext>
            </p:extLst>
          </p:nvPr>
        </p:nvGraphicFramePr>
        <p:xfrm>
          <a:off x="2486025" y="3922713"/>
          <a:ext cx="6294438" cy="946150"/>
        </p:xfrm>
        <a:graphic>
          <a:graphicData uri="http://schemas.openxmlformats.org/presentationml/2006/ole">
            <mc:AlternateContent xmlns:mc="http://schemas.openxmlformats.org/markup-compatibility/2006">
              <mc:Choice xmlns:v="urn:schemas-microsoft-com:vml" Requires="v">
                <p:oleObj spid="_x0000_s22660" name="Equation" r:id="rId23" imgW="2133360" imgH="393480" progId="Equation.DSMT4">
                  <p:embed/>
                </p:oleObj>
              </mc:Choice>
              <mc:Fallback>
                <p:oleObj name="Equation" r:id="rId23" imgW="2133360" imgH="393480" progId="Equation.DSMT4">
                  <p:embed/>
                  <p:pic>
                    <p:nvPicPr>
                      <p:cNvPr id="0" name=""/>
                      <p:cNvPicPr>
                        <a:picLocks noChangeAspect="1" noChangeArrowheads="1"/>
                      </p:cNvPicPr>
                      <p:nvPr/>
                    </p:nvPicPr>
                    <p:blipFill>
                      <a:blip r:embed="rId24"/>
                      <a:srcRect/>
                      <a:stretch>
                        <a:fillRect/>
                      </a:stretch>
                    </p:blipFill>
                    <p:spPr bwMode="auto">
                      <a:xfrm>
                        <a:off x="2486025" y="3922713"/>
                        <a:ext cx="6294438" cy="94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87" name="Object 35"/>
          <p:cNvGraphicFramePr>
            <a:graphicFrameLocks noChangeAspect="1"/>
          </p:cNvGraphicFramePr>
          <p:nvPr/>
        </p:nvGraphicFramePr>
        <p:xfrm>
          <a:off x="812800" y="5029201"/>
          <a:ext cx="10160000" cy="657225"/>
        </p:xfrm>
        <a:graphic>
          <a:graphicData uri="http://schemas.openxmlformats.org/presentationml/2006/ole">
            <mc:AlternateContent xmlns:mc="http://schemas.openxmlformats.org/markup-compatibility/2006">
              <mc:Choice xmlns:v="urn:schemas-microsoft-com:vml" Requires="v">
                <p:oleObj spid="_x0000_s22661" name="Equation" r:id="rId25" imgW="6162543" imgH="600210" progId="Equations">
                  <p:embed/>
                </p:oleObj>
              </mc:Choice>
              <mc:Fallback>
                <p:oleObj name="Equation" r:id="rId25" imgW="6162543" imgH="600210" progId="Equations">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12800" y="5029201"/>
                        <a:ext cx="10160000"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3"/>
          <p:cNvGrpSpPr>
            <a:grpSpLocks/>
          </p:cNvGrpSpPr>
          <p:nvPr/>
        </p:nvGrpSpPr>
        <p:grpSpPr bwMode="auto">
          <a:xfrm>
            <a:off x="508001" y="5781676"/>
            <a:ext cx="9423400" cy="533400"/>
            <a:chOff x="100" y="3608"/>
            <a:chExt cx="4452" cy="336"/>
          </a:xfrm>
        </p:grpSpPr>
        <p:sp>
          <p:nvSpPr>
            <p:cNvPr id="23589" name="Rectangle 37"/>
            <p:cNvSpPr>
              <a:spLocks noChangeArrowheads="1"/>
            </p:cNvSpPr>
            <p:nvPr/>
          </p:nvSpPr>
          <p:spPr bwMode="auto">
            <a:xfrm>
              <a:off x="100" y="3614"/>
              <a:ext cx="44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zh-CN" altLang="en-US" sz="2800" b="1">
                  <a:solidFill>
                    <a:srgbClr val="000066"/>
                  </a:solidFill>
                  <a:latin typeface="楷体_GB2312" pitchFamily="49" charset="-122"/>
                  <a:ea typeface="楷体_GB2312" pitchFamily="49" charset="-122"/>
                </a:rPr>
                <a:t>由于    </a:t>
              </a:r>
              <a:r>
                <a:rPr lang="zh-CN" altLang="en-US" sz="2800" b="1" smtClean="0">
                  <a:solidFill>
                    <a:srgbClr val="000066"/>
                  </a:solidFill>
                  <a:latin typeface="楷体_GB2312" pitchFamily="49" charset="-122"/>
                  <a:ea typeface="楷体_GB2312" pitchFamily="49" charset="-122"/>
                </a:rPr>
                <a:t>   </a:t>
              </a:r>
              <a:r>
                <a:rPr lang="zh-CN" altLang="en-US" sz="400" b="1" smtClean="0">
                  <a:solidFill>
                    <a:srgbClr val="000066"/>
                  </a:solidFill>
                  <a:latin typeface="楷体_GB2312" pitchFamily="49" charset="-122"/>
                  <a:ea typeface="楷体_GB2312" pitchFamily="49" charset="-122"/>
                </a:rPr>
                <a:t> </a:t>
              </a:r>
              <a:r>
                <a:rPr lang="en-US" altLang="zh-CN" sz="2800" b="1">
                  <a:solidFill>
                    <a:srgbClr val="000066"/>
                  </a:solidFill>
                  <a:latin typeface="楷体_GB2312" pitchFamily="49" charset="-122"/>
                  <a:ea typeface="楷体_GB2312" pitchFamily="49" charset="-122"/>
                </a:rPr>
                <a:t>,</a:t>
              </a:r>
              <a:r>
                <a:rPr lang="zh-CN" altLang="en-US" sz="2800" b="1">
                  <a:solidFill>
                    <a:srgbClr val="000066"/>
                  </a:solidFill>
                  <a:latin typeface="楷体_GB2312" pitchFamily="49" charset="-122"/>
                  <a:ea typeface="楷体_GB2312" pitchFamily="49" charset="-122"/>
                </a:rPr>
                <a:t>表明电动势的方向由</a:t>
              </a:r>
              <a:r>
                <a:rPr lang="en-US" altLang="zh-CN" sz="2800" b="1" i="1">
                  <a:solidFill>
                    <a:srgbClr val="000066"/>
                  </a:solidFill>
                  <a:ea typeface="楷体_GB2312" pitchFamily="49" charset="-122"/>
                </a:rPr>
                <a:t>a </a:t>
              </a:r>
              <a:r>
                <a:rPr lang="zh-CN" altLang="en-US" sz="2800" b="1">
                  <a:solidFill>
                    <a:srgbClr val="000066"/>
                  </a:solidFill>
                  <a:latin typeface="楷体_GB2312" pitchFamily="49" charset="-122"/>
                  <a:ea typeface="楷体_GB2312" pitchFamily="49" charset="-122"/>
                </a:rPr>
                <a:t>指向</a:t>
              </a:r>
              <a:r>
                <a:rPr lang="en-US" altLang="zh-CN" sz="2800" b="1" i="1">
                  <a:solidFill>
                    <a:srgbClr val="000066"/>
                  </a:solidFill>
                  <a:ea typeface="楷体_GB2312" pitchFamily="49" charset="-122"/>
                </a:rPr>
                <a:t>b</a:t>
              </a:r>
              <a:r>
                <a:rPr lang="en-US" altLang="zh-CN" sz="2800" b="1">
                  <a:solidFill>
                    <a:srgbClr val="000066"/>
                  </a:solidFill>
                  <a:latin typeface="楷体_GB2312" pitchFamily="49" charset="-122"/>
                  <a:ea typeface="楷体_GB2312" pitchFamily="49" charset="-122"/>
                </a:rPr>
                <a:t>,</a:t>
              </a:r>
              <a:r>
                <a:rPr lang="en-US" altLang="zh-CN" sz="2800" b="1" i="1">
                  <a:solidFill>
                    <a:srgbClr val="000066"/>
                  </a:solidFill>
                  <a:ea typeface="楷体_GB2312" pitchFamily="49" charset="-122"/>
                </a:rPr>
                <a:t>b </a:t>
              </a:r>
              <a:r>
                <a:rPr lang="zh-CN" altLang="en-US" sz="2800" b="1">
                  <a:solidFill>
                    <a:srgbClr val="000066"/>
                  </a:solidFill>
                  <a:latin typeface="楷体_GB2312" pitchFamily="49" charset="-122"/>
                  <a:ea typeface="楷体_GB2312" pitchFamily="49" charset="-122"/>
                </a:rPr>
                <a:t>端电势较高。</a:t>
              </a:r>
            </a:p>
          </p:txBody>
        </p:sp>
        <p:graphicFrame>
          <p:nvGraphicFramePr>
            <p:cNvPr id="23590" name="Object 38"/>
            <p:cNvGraphicFramePr>
              <a:graphicFrameLocks noChangeAspect="1"/>
            </p:cNvGraphicFramePr>
            <p:nvPr>
              <p:extLst>
                <p:ext uri="{D42A27DB-BD31-4B8C-83A1-F6EECF244321}">
                  <p14:modId xmlns:p14="http://schemas.microsoft.com/office/powerpoint/2010/main" val="606161230"/>
                </p:ext>
              </p:extLst>
            </p:nvPr>
          </p:nvGraphicFramePr>
          <p:xfrm>
            <a:off x="580" y="3608"/>
            <a:ext cx="528" cy="336"/>
          </p:xfrm>
          <a:graphic>
            <a:graphicData uri="http://schemas.openxmlformats.org/presentationml/2006/ole">
              <mc:AlternateContent xmlns:mc="http://schemas.openxmlformats.org/markup-compatibility/2006">
                <mc:Choice xmlns:v="urn:schemas-microsoft-com:vml" Requires="v">
                  <p:oleObj spid="_x0000_s22662" name="Equation" r:id="rId27" imgW="447610" imgH="218970" progId="Equations">
                    <p:embed/>
                  </p:oleObj>
                </mc:Choice>
                <mc:Fallback>
                  <p:oleObj name="Equation" r:id="rId27" imgW="447610" imgH="218970" progId="Equations">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80" y="3608"/>
                          <a:ext cx="528"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4099327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3" name="Object 3"/>
          <p:cNvGraphicFramePr>
            <a:graphicFrameLocks noChangeAspect="1"/>
          </p:cNvGraphicFramePr>
          <p:nvPr>
            <p:extLst/>
          </p:nvPr>
        </p:nvGraphicFramePr>
        <p:xfrm>
          <a:off x="1523968" y="3214687"/>
          <a:ext cx="3302440" cy="587484"/>
        </p:xfrm>
        <a:graphic>
          <a:graphicData uri="http://schemas.openxmlformats.org/presentationml/2006/ole">
            <mc:AlternateContent xmlns:mc="http://schemas.openxmlformats.org/markup-compatibility/2006">
              <mc:Choice xmlns:v="urn:schemas-microsoft-com:vml" Requires="v">
                <p:oleObj spid="_x0000_s16914" name="Equation" r:id="rId3" imgW="1028520" imgH="241200" progId="Equations">
                  <p:embed/>
                </p:oleObj>
              </mc:Choice>
              <mc:Fallback>
                <p:oleObj name="Equation" r:id="rId3" imgW="1028520" imgH="241200"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3968" y="3214687"/>
                        <a:ext cx="3302440" cy="5874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4" name="Text Box 4"/>
          <p:cNvSpPr txBox="1">
            <a:spLocks noChangeArrowheads="1"/>
          </p:cNvSpPr>
          <p:nvPr/>
        </p:nvSpPr>
        <p:spPr bwMode="auto">
          <a:xfrm>
            <a:off x="719666" y="4076701"/>
            <a:ext cx="595206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金属棒上总电动势为</a:t>
            </a:r>
          </a:p>
        </p:txBody>
      </p:sp>
      <p:graphicFrame>
        <p:nvGraphicFramePr>
          <p:cNvPr id="25605" name="Object 5"/>
          <p:cNvGraphicFramePr>
            <a:graphicFrameLocks noChangeAspect="1"/>
          </p:cNvGraphicFramePr>
          <p:nvPr>
            <p:extLst/>
          </p:nvPr>
        </p:nvGraphicFramePr>
        <p:xfrm>
          <a:off x="666713" y="4714884"/>
          <a:ext cx="6936591" cy="855678"/>
        </p:xfrm>
        <a:graphic>
          <a:graphicData uri="http://schemas.openxmlformats.org/presentationml/2006/ole">
            <mc:AlternateContent xmlns:mc="http://schemas.openxmlformats.org/markup-compatibility/2006">
              <mc:Choice xmlns:v="urn:schemas-microsoft-com:vml" Requires="v">
                <p:oleObj spid="_x0000_s16915" name="Equation" r:id="rId5" imgW="2387520" imgH="393480" progId="Equations">
                  <p:embed/>
                </p:oleObj>
              </mc:Choice>
              <mc:Fallback>
                <p:oleObj name="Equation" r:id="rId5" imgW="2387520" imgH="393480"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713" y="4714884"/>
                        <a:ext cx="6936591" cy="855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85"/>
          <p:cNvGrpSpPr>
            <a:grpSpLocks/>
          </p:cNvGrpSpPr>
          <p:nvPr/>
        </p:nvGrpSpPr>
        <p:grpSpPr bwMode="auto">
          <a:xfrm>
            <a:off x="353484" y="107951"/>
            <a:ext cx="11582400" cy="1127125"/>
            <a:chOff x="288" y="277"/>
            <a:chExt cx="5472" cy="710"/>
          </a:xfrm>
        </p:grpSpPr>
        <p:sp>
          <p:nvSpPr>
            <p:cNvPr id="25607" name="Rectangle 7"/>
            <p:cNvSpPr>
              <a:spLocks noChangeArrowheads="1"/>
            </p:cNvSpPr>
            <p:nvPr/>
          </p:nvSpPr>
          <p:spPr bwMode="auto">
            <a:xfrm>
              <a:off x="288" y="277"/>
              <a:ext cx="5472"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50000"/>
                </a:spcBef>
                <a:spcAft>
                  <a:spcPct val="0"/>
                </a:spcAft>
              </a:pPr>
              <a:r>
                <a:rPr kumimoji="1" lang="zh-CN" altLang="en-US" sz="2800" b="1" dirty="0" smtClean="0">
                  <a:solidFill>
                    <a:srgbClr val="0000FF"/>
                  </a:solidFill>
                  <a:latin typeface="Times New Roman" pitchFamily="18" charset="0"/>
                  <a:ea typeface="黑体" pitchFamily="49" charset="-122"/>
                  <a:cs typeface="Times New Roman" pitchFamily="18" charset="0"/>
                </a:rPr>
                <a:t>例</a:t>
              </a:r>
              <a:r>
                <a:rPr kumimoji="1" lang="en-US" altLang="zh-CN" sz="2800" b="1" dirty="0" smtClean="0">
                  <a:solidFill>
                    <a:srgbClr val="000000"/>
                  </a:solidFill>
                  <a:latin typeface="Times New Roman" pitchFamily="18" charset="0"/>
                  <a:ea typeface="黑体" pitchFamily="49" charset="-122"/>
                  <a:cs typeface="Times New Roman" pitchFamily="18" charset="0"/>
                </a:rPr>
                <a:t> </a:t>
              </a:r>
              <a:r>
                <a:rPr kumimoji="1" lang="zh-CN" altLang="en-US" sz="2800" b="1" dirty="0" smtClean="0">
                  <a:solidFill>
                    <a:srgbClr val="000000"/>
                  </a:solidFill>
                  <a:latin typeface="Times New Roman" pitchFamily="18" charset="0"/>
                  <a:ea typeface="黑体" pitchFamily="49" charset="-122"/>
                  <a:cs typeface="Times New Roman" pitchFamily="18" charset="0"/>
                </a:rPr>
                <a:t>长为</a:t>
              </a:r>
              <a:r>
                <a:rPr kumimoji="1" lang="en-US" altLang="zh-CN" sz="2800" b="1" i="1" dirty="0" smtClean="0">
                  <a:solidFill>
                    <a:srgbClr val="000000"/>
                  </a:solidFill>
                  <a:latin typeface="Times New Roman" pitchFamily="18" charset="0"/>
                  <a:ea typeface="黑体" pitchFamily="49" charset="-122"/>
                  <a:cs typeface="Times New Roman" pitchFamily="18" charset="0"/>
                </a:rPr>
                <a:t>L</a:t>
              </a:r>
              <a:r>
                <a:rPr kumimoji="1" lang="zh-CN" altLang="en-US" sz="2800" b="1" dirty="0" smtClean="0">
                  <a:solidFill>
                    <a:srgbClr val="000000"/>
                  </a:solidFill>
                  <a:latin typeface="Times New Roman" pitchFamily="18" charset="0"/>
                  <a:ea typeface="黑体" pitchFamily="49" charset="-122"/>
                  <a:cs typeface="Times New Roman" pitchFamily="18" charset="0"/>
                </a:rPr>
                <a:t>的铜棒，在磁感强度为    的均匀磁场中以角速度</a:t>
              </a:r>
              <a:r>
                <a:rPr kumimoji="1" lang="zh-CN" altLang="en-US" sz="2800" b="1" i="1" dirty="0" smtClean="0">
                  <a:solidFill>
                    <a:srgbClr val="000000"/>
                  </a:solidFill>
                  <a:latin typeface="Times New Roman" pitchFamily="18" charset="0"/>
                  <a:ea typeface="黑体" pitchFamily="49" charset="-122"/>
                  <a:cs typeface="Times New Roman" pitchFamily="18" charset="0"/>
                  <a:sym typeface="Symbol" pitchFamily="18" charset="2"/>
                </a:rPr>
                <a:t> </a:t>
              </a:r>
              <a:r>
                <a:rPr kumimoji="1" lang="zh-CN" altLang="en-US" sz="2800" b="1" dirty="0" smtClean="0">
                  <a:solidFill>
                    <a:srgbClr val="000000"/>
                  </a:solidFill>
                  <a:latin typeface="Times New Roman" pitchFamily="18" charset="0"/>
                  <a:ea typeface="黑体" pitchFamily="49" charset="-122"/>
                  <a:cs typeface="Times New Roman" pitchFamily="18" charset="0"/>
                </a:rPr>
                <a:t>在与磁场方向垂直的平面内绕棒的一端</a:t>
              </a:r>
              <a:r>
                <a:rPr kumimoji="1" lang="en-US" altLang="zh-CN" sz="2800" b="1" i="1" dirty="0" smtClean="0">
                  <a:solidFill>
                    <a:srgbClr val="000000"/>
                  </a:solidFill>
                  <a:latin typeface="Times New Roman" pitchFamily="18" charset="0"/>
                  <a:ea typeface="黑体" pitchFamily="49" charset="-122"/>
                  <a:cs typeface="Times New Roman" pitchFamily="18" charset="0"/>
                </a:rPr>
                <a:t>O</a:t>
              </a:r>
              <a:r>
                <a:rPr kumimoji="1" lang="zh-CN" altLang="en-US" sz="2800" b="1" dirty="0" smtClean="0">
                  <a:solidFill>
                    <a:srgbClr val="000000"/>
                  </a:solidFill>
                  <a:latin typeface="Times New Roman" pitchFamily="18" charset="0"/>
                  <a:ea typeface="黑体" pitchFamily="49" charset="-122"/>
                  <a:cs typeface="Times New Roman" pitchFamily="18" charset="0"/>
                </a:rPr>
                <a:t>匀速转动，求棒中的动生电动势。</a:t>
              </a:r>
            </a:p>
          </p:txBody>
        </p:sp>
        <p:graphicFrame>
          <p:nvGraphicFramePr>
            <p:cNvPr id="25609" name="Object 9"/>
            <p:cNvGraphicFramePr>
              <a:graphicFrameLocks noChangeAspect="1"/>
            </p:cNvGraphicFramePr>
            <p:nvPr>
              <p:extLst>
                <p:ext uri="{D42A27DB-BD31-4B8C-83A1-F6EECF244321}">
                  <p14:modId xmlns:p14="http://schemas.microsoft.com/office/powerpoint/2010/main" val="836943050"/>
                </p:ext>
              </p:extLst>
            </p:nvPr>
          </p:nvGraphicFramePr>
          <p:xfrm>
            <a:off x="2632" y="277"/>
            <a:ext cx="245" cy="309"/>
          </p:xfrm>
          <a:graphic>
            <a:graphicData uri="http://schemas.openxmlformats.org/presentationml/2006/ole">
              <mc:AlternateContent xmlns:mc="http://schemas.openxmlformats.org/markup-compatibility/2006">
                <mc:Choice xmlns:v="urn:schemas-microsoft-com:vml" Requires="v">
                  <p:oleObj spid="_x0000_s16916" name="Equation" r:id="rId7" imgW="241200" imgH="330840" progId="Equation.DSMT4">
                    <p:embed/>
                  </p:oleObj>
                </mc:Choice>
                <mc:Fallback>
                  <p:oleObj name="Equation" r:id="rId7" imgW="241200" imgH="3308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2" y="277"/>
                          <a:ext cx="245" cy="3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5613" name="Object 13"/>
          <p:cNvGraphicFramePr>
            <a:graphicFrameLocks noChangeAspect="1"/>
          </p:cNvGraphicFramePr>
          <p:nvPr>
            <p:extLst/>
          </p:nvPr>
        </p:nvGraphicFramePr>
        <p:xfrm>
          <a:off x="910167" y="2549526"/>
          <a:ext cx="1631951" cy="519113"/>
        </p:xfrm>
        <a:graphic>
          <a:graphicData uri="http://schemas.openxmlformats.org/presentationml/2006/ole">
            <mc:AlternateContent xmlns:mc="http://schemas.openxmlformats.org/markup-compatibility/2006">
              <mc:Choice xmlns:v="urn:schemas-microsoft-com:vml" Requires="v">
                <p:oleObj spid="_x0000_s16917" name="公式" r:id="rId9" imgW="685440" imgH="279720" progId="Equations">
                  <p:embed/>
                </p:oleObj>
              </mc:Choice>
              <mc:Fallback>
                <p:oleObj name="公式" r:id="rId9" imgW="685440" imgH="279720"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0167" y="2549526"/>
                        <a:ext cx="1631951"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 86"/>
          <p:cNvGrpSpPr>
            <a:grpSpLocks/>
          </p:cNvGrpSpPr>
          <p:nvPr/>
        </p:nvGrpSpPr>
        <p:grpSpPr bwMode="auto">
          <a:xfrm>
            <a:off x="719667" y="1865313"/>
            <a:ext cx="7679267" cy="555625"/>
            <a:chOff x="431" y="1275"/>
            <a:chExt cx="3628" cy="350"/>
          </a:xfrm>
        </p:grpSpPr>
        <p:sp>
          <p:nvSpPr>
            <p:cNvPr id="25611" name="Text Box 11"/>
            <p:cNvSpPr txBox="1">
              <a:spLocks noChangeArrowheads="1"/>
            </p:cNvSpPr>
            <p:nvPr/>
          </p:nvSpPr>
          <p:spPr bwMode="auto">
            <a:xfrm>
              <a:off x="431" y="1298"/>
              <a:ext cx="36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dirty="0" smtClean="0">
                  <a:solidFill>
                    <a:srgbClr val="000000"/>
                  </a:solidFill>
                  <a:latin typeface="Times New Roman" pitchFamily="18" charset="0"/>
                  <a:ea typeface="黑体" pitchFamily="49" charset="-122"/>
                  <a:cs typeface="Times New Roman" pitchFamily="18" charset="0"/>
                </a:rPr>
                <a:t>    </a:t>
              </a:r>
              <a:r>
                <a:rPr kumimoji="1" lang="zh-CN" altLang="en-US" sz="2800" b="1" dirty="0" smtClean="0">
                  <a:solidFill>
                    <a:srgbClr val="000000"/>
                  </a:solidFill>
                  <a:latin typeface="Times New Roman" pitchFamily="18" charset="0"/>
                  <a:ea typeface="黑体" pitchFamily="49" charset="-122"/>
                  <a:cs typeface="Times New Roman" pitchFamily="18" charset="0"/>
                </a:rPr>
                <a:t>取线元      ，方向沿</a:t>
              </a:r>
              <a:r>
                <a:rPr kumimoji="1" lang="en-US" altLang="zh-CN" sz="2800" b="1" i="1" dirty="0" smtClean="0">
                  <a:solidFill>
                    <a:srgbClr val="000000"/>
                  </a:solidFill>
                  <a:latin typeface="Times New Roman" pitchFamily="18" charset="0"/>
                  <a:ea typeface="黑体" pitchFamily="49" charset="-122"/>
                  <a:cs typeface="Times New Roman" pitchFamily="18" charset="0"/>
                </a:rPr>
                <a:t>O</a:t>
              </a:r>
              <a:r>
                <a:rPr kumimoji="1" lang="zh-CN" altLang="en-US" sz="2800" b="1" dirty="0" smtClean="0">
                  <a:solidFill>
                    <a:srgbClr val="000000"/>
                  </a:solidFill>
                  <a:latin typeface="Times New Roman" pitchFamily="18" charset="0"/>
                  <a:ea typeface="黑体" pitchFamily="49" charset="-122"/>
                  <a:cs typeface="Times New Roman" pitchFamily="18" charset="0"/>
                </a:rPr>
                <a:t>指向</a:t>
              </a:r>
              <a:r>
                <a:rPr kumimoji="1" lang="en-US" altLang="zh-CN" sz="2800" b="1" i="1" dirty="0" smtClean="0">
                  <a:solidFill>
                    <a:srgbClr val="000000"/>
                  </a:solidFill>
                  <a:latin typeface="Times New Roman" pitchFamily="18" charset="0"/>
                  <a:ea typeface="黑体" pitchFamily="49" charset="-122"/>
                  <a:cs typeface="Times New Roman" pitchFamily="18" charset="0"/>
                </a:rPr>
                <a:t>A</a:t>
              </a:r>
              <a:endParaRPr kumimoji="1" lang="en-US" altLang="zh-CN" sz="2800" b="1" dirty="0" smtClean="0">
                <a:solidFill>
                  <a:srgbClr val="000000"/>
                </a:solidFill>
                <a:latin typeface="Times New Roman" pitchFamily="18" charset="0"/>
                <a:ea typeface="黑体" pitchFamily="49" charset="-122"/>
                <a:cs typeface="Times New Roman" pitchFamily="18" charset="0"/>
              </a:endParaRPr>
            </a:p>
          </p:txBody>
        </p:sp>
        <p:graphicFrame>
          <p:nvGraphicFramePr>
            <p:cNvPr id="25614" name="Object 14"/>
            <p:cNvGraphicFramePr>
              <a:graphicFrameLocks noChangeAspect="1"/>
            </p:cNvGraphicFramePr>
            <p:nvPr>
              <p:extLst>
                <p:ext uri="{D42A27DB-BD31-4B8C-83A1-F6EECF244321}">
                  <p14:modId xmlns:p14="http://schemas.microsoft.com/office/powerpoint/2010/main" val="2406078794"/>
                </p:ext>
              </p:extLst>
            </p:nvPr>
          </p:nvGraphicFramePr>
          <p:xfrm>
            <a:off x="1149" y="1275"/>
            <a:ext cx="350" cy="350"/>
          </p:xfrm>
          <a:graphic>
            <a:graphicData uri="http://schemas.openxmlformats.org/presentationml/2006/ole">
              <mc:AlternateContent xmlns:mc="http://schemas.openxmlformats.org/markup-compatibility/2006">
                <mc:Choice xmlns:v="urn:schemas-microsoft-com:vml" Requires="v">
                  <p:oleObj spid="_x0000_s16918" name="Equation" r:id="rId11" imgW="342720" imgH="343440" progId="Equations">
                    <p:embed/>
                  </p:oleObj>
                </mc:Choice>
                <mc:Fallback>
                  <p:oleObj name="Equation" r:id="rId11" imgW="342720" imgH="343440" progId="Equations">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9" y="1275"/>
                          <a:ext cx="350" cy="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5615" name="Rectangle 15"/>
          <p:cNvSpPr>
            <a:spLocks noChangeArrowheads="1"/>
          </p:cNvSpPr>
          <p:nvPr/>
        </p:nvSpPr>
        <p:spPr bwMode="auto">
          <a:xfrm>
            <a:off x="353484" y="1830388"/>
            <a:ext cx="1631949"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smtClean="0">
                <a:solidFill>
                  <a:srgbClr val="0000FF"/>
                </a:solidFill>
                <a:latin typeface="Times New Roman" pitchFamily="18" charset="0"/>
                <a:ea typeface="黑体" pitchFamily="49" charset="-122"/>
                <a:cs typeface="Times New Roman" pitchFamily="18" charset="0"/>
              </a:rPr>
              <a:t>解：</a:t>
            </a:r>
          </a:p>
        </p:txBody>
      </p:sp>
      <p:sp>
        <p:nvSpPr>
          <p:cNvPr id="25681" name="Text Box 81"/>
          <p:cNvSpPr txBox="1">
            <a:spLocks noChangeArrowheads="1"/>
          </p:cNvSpPr>
          <p:nvPr/>
        </p:nvSpPr>
        <p:spPr bwMode="auto">
          <a:xfrm>
            <a:off x="719667" y="5734051"/>
            <a:ext cx="80645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方向为</a:t>
            </a:r>
            <a:r>
              <a:rPr kumimoji="1" lang="en-US" altLang="zh-CN" sz="2800" b="1" i="1" smtClean="0">
                <a:solidFill>
                  <a:srgbClr val="000000"/>
                </a:solidFill>
                <a:latin typeface="Times New Roman" pitchFamily="18" charset="0"/>
                <a:ea typeface="黑体" pitchFamily="49" charset="-122"/>
                <a:cs typeface="Times New Roman" pitchFamily="18" charset="0"/>
              </a:rPr>
              <a:t>A</a:t>
            </a:r>
            <a:r>
              <a:rPr kumimoji="1" lang="en-US" altLang="zh-CN" sz="2800" b="1" smtClean="0">
                <a:solidFill>
                  <a:srgbClr val="000000"/>
                </a:solidFill>
                <a:latin typeface="Times New Roman" pitchFamily="18" charset="0"/>
                <a:ea typeface="黑体" pitchFamily="49" charset="-122"/>
                <a:cs typeface="Times New Roman" pitchFamily="18" charset="0"/>
                <a:sym typeface="Symbol" pitchFamily="18" charset="2"/>
              </a:rPr>
              <a:t></a:t>
            </a:r>
            <a:r>
              <a:rPr kumimoji="1" lang="en-US" altLang="zh-CN" sz="2800" b="1" i="1">
                <a:solidFill>
                  <a:srgbClr val="000000"/>
                </a:solidFill>
                <a:latin typeface="Times New Roman" pitchFamily="18" charset="0"/>
                <a:ea typeface="黑体" pitchFamily="49" charset="-122"/>
                <a:cs typeface="Times New Roman" pitchFamily="18" charset="0"/>
              </a:rPr>
              <a:t> O </a:t>
            </a:r>
            <a:r>
              <a:rPr kumimoji="1" lang="zh-CN" altLang="en-US" sz="2800" b="1" smtClean="0">
                <a:solidFill>
                  <a:srgbClr val="000000"/>
                </a:solidFill>
                <a:latin typeface="Times New Roman" pitchFamily="18" charset="0"/>
                <a:ea typeface="黑体" pitchFamily="49" charset="-122"/>
                <a:cs typeface="Times New Roman" pitchFamily="18" charset="0"/>
              </a:rPr>
              <a:t>，即</a:t>
            </a:r>
            <a:r>
              <a:rPr kumimoji="1" lang="en-US" altLang="zh-CN" sz="2800" b="1" i="1" smtClean="0">
                <a:solidFill>
                  <a:srgbClr val="000000"/>
                </a:solidFill>
                <a:latin typeface="Times New Roman" pitchFamily="18" charset="0"/>
                <a:ea typeface="黑体" pitchFamily="49" charset="-122"/>
                <a:cs typeface="Times New Roman" pitchFamily="18" charset="0"/>
              </a:rPr>
              <a:t>O</a:t>
            </a:r>
            <a:r>
              <a:rPr kumimoji="1" lang="zh-CN" altLang="en-US" sz="2800" b="1" smtClean="0">
                <a:solidFill>
                  <a:srgbClr val="000000"/>
                </a:solidFill>
                <a:latin typeface="Times New Roman" pitchFamily="18" charset="0"/>
                <a:ea typeface="黑体" pitchFamily="49" charset="-122"/>
                <a:cs typeface="Times New Roman" pitchFamily="18" charset="0"/>
              </a:rPr>
              <a:t>点电势较高。</a:t>
            </a:r>
          </a:p>
        </p:txBody>
      </p:sp>
      <p:graphicFrame>
        <p:nvGraphicFramePr>
          <p:cNvPr id="25684" name="Object 84"/>
          <p:cNvGraphicFramePr>
            <a:graphicFrameLocks noChangeAspect="1"/>
          </p:cNvGraphicFramePr>
          <p:nvPr>
            <p:extLst/>
          </p:nvPr>
        </p:nvGraphicFramePr>
        <p:xfrm>
          <a:off x="4751917" y="3213101"/>
          <a:ext cx="2207683" cy="504825"/>
        </p:xfrm>
        <a:graphic>
          <a:graphicData uri="http://schemas.openxmlformats.org/presentationml/2006/ole">
            <mc:AlternateContent xmlns:mc="http://schemas.openxmlformats.org/markup-compatibility/2006">
              <mc:Choice xmlns:v="urn:schemas-microsoft-com:vml" Requires="v">
                <p:oleObj spid="_x0000_s16919" name="Equation" r:id="rId13" imgW="964440" imgH="279720" progId="Equations">
                  <p:embed/>
                </p:oleObj>
              </mc:Choice>
              <mc:Fallback>
                <p:oleObj name="Equation" r:id="rId13" imgW="964440" imgH="279720" progId="Equations">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1917" y="3213101"/>
                        <a:ext cx="220768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695" name="Picture 95" descr="图13-2-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32700" y="1341439"/>
            <a:ext cx="3820584" cy="3451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7557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6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81"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196"/>
          <a:stretch/>
        </p:blipFill>
        <p:spPr bwMode="auto">
          <a:xfrm>
            <a:off x="43227" y="785795"/>
            <a:ext cx="6920971" cy="3429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503713" y="71415"/>
            <a:ext cx="3199915" cy="646331"/>
          </a:xfrm>
          <a:prstGeom prst="rect">
            <a:avLst/>
          </a:prstGeom>
          <a:noFill/>
        </p:spPr>
        <p:txBody>
          <a:bodyPr wrap="none" rtlCol="0">
            <a:spAutoFit/>
          </a:bodyPr>
          <a:lstStyle/>
          <a:p>
            <a:r>
              <a:rPr lang="en-US" altLang="zh-CN" sz="3600" b="1" dirty="0" smtClean="0">
                <a:latin typeface="+mn-ea"/>
                <a:cs typeface="SimHei"/>
                <a:sym typeface="SimHei"/>
              </a:rPr>
              <a:t>§</a:t>
            </a:r>
            <a:r>
              <a:rPr lang="en-US" altLang="zh-CN" sz="3600" b="1" dirty="0" smtClean="0">
                <a:latin typeface="+mn-ea"/>
              </a:rPr>
              <a:t>20.2 </a:t>
            </a:r>
            <a:r>
              <a:rPr lang="zh-CN" altLang="en-US" sz="3600" b="1" dirty="0" smtClean="0">
                <a:latin typeface="+mn-ea"/>
              </a:rPr>
              <a:t>发电机</a:t>
            </a:r>
            <a:endParaRPr lang="zh-CN" altLang="en-US" sz="3600" b="1" dirty="0">
              <a:latin typeface="+mn-ea"/>
            </a:endParaRPr>
          </a:p>
        </p:txBody>
      </p:sp>
      <p:pic>
        <p:nvPicPr>
          <p:cNvPr id="4"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09984" y="4809794"/>
            <a:ext cx="30480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descr="gia12141_20_07"/>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8102" r="25576" b="50773"/>
          <a:stretch/>
        </p:blipFill>
        <p:spPr bwMode="auto">
          <a:xfrm>
            <a:off x="7152118" y="1142984"/>
            <a:ext cx="4842701" cy="3001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p:cNvSpPr txBox="1"/>
          <p:nvPr/>
        </p:nvSpPr>
        <p:spPr>
          <a:xfrm>
            <a:off x="0" y="4286256"/>
            <a:ext cx="7936788" cy="523220"/>
          </a:xfrm>
          <a:prstGeom prst="rect">
            <a:avLst/>
          </a:prstGeom>
          <a:noFill/>
        </p:spPr>
        <p:txBody>
          <a:bodyPr wrap="none" rtlCol="0">
            <a:spAutoFit/>
          </a:bodyPr>
          <a:lstStyle/>
          <a:p>
            <a:r>
              <a:rPr lang="zh-CN" altLang="en-US" sz="2800" b="1" dirty="0" smtClean="0"/>
              <a:t>（</a:t>
            </a:r>
            <a:r>
              <a:rPr lang="en-US" altLang="zh-CN" sz="2800" b="1" dirty="0" smtClean="0"/>
              <a:t>a</a:t>
            </a:r>
            <a:r>
              <a:rPr lang="zh-CN" altLang="en-US" sz="2800" b="1" dirty="0" smtClean="0"/>
              <a:t>）在一般情况下，电子受到的平均磁力大小为</a:t>
            </a:r>
            <a:endParaRPr lang="zh-CN" altLang="en-US" sz="2800" b="1" dirty="0"/>
          </a:p>
        </p:txBody>
      </p:sp>
      <p:sp>
        <p:nvSpPr>
          <p:cNvPr id="7" name="文本框 6"/>
          <p:cNvSpPr txBox="1"/>
          <p:nvPr/>
        </p:nvSpPr>
        <p:spPr>
          <a:xfrm>
            <a:off x="46368" y="5379228"/>
            <a:ext cx="7260321" cy="523220"/>
          </a:xfrm>
          <a:prstGeom prst="rect">
            <a:avLst/>
          </a:prstGeom>
          <a:noFill/>
        </p:spPr>
        <p:txBody>
          <a:bodyPr wrap="none" rtlCol="0">
            <a:spAutoFit/>
          </a:bodyPr>
          <a:lstStyle/>
          <a:p>
            <a:r>
              <a:rPr lang="el-GR" altLang="zh-CN" sz="2800" b="1" i="1" dirty="0" smtClean="0">
                <a:latin typeface="Times New Roman" panose="02020603050405020304" pitchFamily="18" charset="0"/>
                <a:cs typeface="Times New Roman" panose="02020603050405020304" pitchFamily="18" charset="0"/>
              </a:rPr>
              <a:t>θ</a:t>
            </a:r>
            <a:r>
              <a:rPr lang="zh-CN" altLang="en-US" sz="2800" b="1" dirty="0" smtClean="0"/>
              <a:t>是导线的速度</a:t>
            </a:r>
            <a:r>
              <a:rPr lang="en-US" altLang="zh-CN" sz="2800" b="1" i="1" dirty="0" smtClean="0">
                <a:latin typeface="Times New Roman" panose="02020603050405020304" pitchFamily="18" charset="0"/>
                <a:cs typeface="Times New Roman" panose="02020603050405020304" pitchFamily="18" charset="0"/>
              </a:rPr>
              <a:t>v</a:t>
            </a:r>
            <a:r>
              <a:rPr lang="zh-CN" altLang="en-US" sz="2800" b="1" dirty="0" smtClean="0">
                <a:latin typeface="Times New Roman" panose="02020603050405020304" pitchFamily="18" charset="0"/>
                <a:cs typeface="Times New Roman" panose="02020603050405020304" pitchFamily="18" charset="0"/>
              </a:rPr>
              <a:t>与磁感应强度</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latin typeface="Times New Roman" panose="02020603050405020304" pitchFamily="18" charset="0"/>
                <a:cs typeface="Times New Roman" panose="02020603050405020304" pitchFamily="18" charset="0"/>
              </a:rPr>
              <a:t>之间</a:t>
            </a:r>
            <a:r>
              <a:rPr lang="zh-CN" altLang="en-US" sz="2800" b="1" dirty="0" smtClean="0"/>
              <a:t>的夹角。</a:t>
            </a:r>
            <a:endParaRPr lang="zh-CN" altLang="en-US" sz="2800" b="1" dirty="0"/>
          </a:p>
        </p:txBody>
      </p:sp>
      <p:grpSp>
        <p:nvGrpSpPr>
          <p:cNvPr id="11" name="组合 10"/>
          <p:cNvGrpSpPr/>
          <p:nvPr/>
        </p:nvGrpSpPr>
        <p:grpSpPr>
          <a:xfrm>
            <a:off x="60789" y="5902449"/>
            <a:ext cx="7424271" cy="557695"/>
            <a:chOff x="68486" y="5909880"/>
            <a:chExt cx="5568203" cy="557695"/>
          </a:xfrm>
        </p:grpSpPr>
        <p:sp>
          <p:nvSpPr>
            <p:cNvPr id="8" name="文本框 7"/>
            <p:cNvSpPr txBox="1"/>
            <p:nvPr/>
          </p:nvSpPr>
          <p:spPr>
            <a:xfrm>
              <a:off x="68486" y="5922063"/>
              <a:ext cx="1761540" cy="523220"/>
            </a:xfrm>
            <a:prstGeom prst="rect">
              <a:avLst/>
            </a:prstGeom>
            <a:noFill/>
          </p:spPr>
          <p:txBody>
            <a:bodyPr wrap="none" rtlCol="0">
              <a:spAutoFit/>
            </a:bodyPr>
            <a:lstStyle/>
            <a:p>
              <a:r>
                <a:rPr lang="zh-CN" altLang="en-US" sz="2800" b="1" dirty="0" smtClean="0"/>
                <a:t>感应电动势为</a:t>
              </a:r>
              <a:endParaRPr lang="zh-CN" altLang="en-US" sz="2800" b="1" dirty="0"/>
            </a:p>
          </p:txBody>
        </p:sp>
        <p:graphicFrame>
          <p:nvGraphicFramePr>
            <p:cNvPr id="10" name="对象 9"/>
            <p:cNvGraphicFramePr>
              <a:graphicFrameLocks noChangeAspect="1"/>
            </p:cNvGraphicFramePr>
            <p:nvPr>
              <p:extLst>
                <p:ext uri="{D42A27DB-BD31-4B8C-83A1-F6EECF244321}">
                  <p14:modId xmlns:p14="http://schemas.microsoft.com/office/powerpoint/2010/main" val="2940851384"/>
                </p:ext>
              </p:extLst>
            </p:nvPr>
          </p:nvGraphicFramePr>
          <p:xfrm>
            <a:off x="2600350" y="5909880"/>
            <a:ext cx="3036339" cy="557695"/>
          </p:xfrm>
          <a:graphic>
            <a:graphicData uri="http://schemas.openxmlformats.org/presentationml/2006/ole">
              <mc:AlternateContent xmlns:mc="http://schemas.openxmlformats.org/markup-compatibility/2006">
                <mc:Choice xmlns:v="urn:schemas-microsoft-com:vml" Requires="v">
                  <p:oleObj spid="_x0000_s17498" name="Equation" r:id="rId7" imgW="1244600" imgH="228600" progId="Equation.DSMT4">
                    <p:embed/>
                  </p:oleObj>
                </mc:Choice>
                <mc:Fallback>
                  <p:oleObj name="Equation" r:id="rId7" imgW="12446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0350" y="5909880"/>
                          <a:ext cx="3036339" cy="5576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 name="TextBox 8"/>
          <p:cNvSpPr txBox="1"/>
          <p:nvPr/>
        </p:nvSpPr>
        <p:spPr>
          <a:xfrm>
            <a:off x="8458199" y="4455851"/>
            <a:ext cx="3822701" cy="707886"/>
          </a:xfrm>
          <a:prstGeom prst="rect">
            <a:avLst/>
          </a:prstGeom>
          <a:noFill/>
        </p:spPr>
        <p:txBody>
          <a:bodyPr wrap="square" rtlCol="0">
            <a:spAutoFit/>
          </a:bodyPr>
          <a:lstStyle/>
          <a:p>
            <a:r>
              <a:rPr lang="zh-CN" altLang="en-US" sz="2000" b="1" smtClean="0"/>
              <a:t>发电机需要外界做功将机械能转化为电能。</a:t>
            </a:r>
            <a:endParaRPr lang="zh-CN" altLang="en-US" sz="2000" b="1"/>
          </a:p>
        </p:txBody>
      </p:sp>
      <p:sp>
        <p:nvSpPr>
          <p:cNvPr id="12" name="矩形 11"/>
          <p:cNvSpPr/>
          <p:nvPr/>
        </p:nvSpPr>
        <p:spPr>
          <a:xfrm>
            <a:off x="8133969" y="5314467"/>
            <a:ext cx="4058031" cy="1200329"/>
          </a:xfrm>
          <a:prstGeom prst="rect">
            <a:avLst/>
          </a:prstGeom>
        </p:spPr>
        <p:txBody>
          <a:bodyPr wrap="square">
            <a:spAutoFit/>
          </a:bodyPr>
          <a:lstStyle/>
          <a:p>
            <a:pPr>
              <a:defRPr/>
            </a:pPr>
            <a:r>
              <a:rPr lang="zh-CN" altLang="en-US" b="1"/>
              <a:t>边</a:t>
            </a:r>
            <a:r>
              <a:rPr lang="en-US" altLang="zh-CN" b="1"/>
              <a:t>1</a:t>
            </a:r>
            <a:r>
              <a:rPr lang="zh-CN" altLang="en-US" b="1"/>
              <a:t>和边</a:t>
            </a:r>
            <a:r>
              <a:rPr lang="en-US" altLang="zh-CN" b="1"/>
              <a:t>3</a:t>
            </a:r>
            <a:r>
              <a:rPr lang="zh-CN" altLang="en-US" b="1"/>
              <a:t>中，电子受到的是垂直于导线的推力，磁力不能推动电荷沿杆的长度方向运动，所以在边</a:t>
            </a:r>
            <a:r>
              <a:rPr lang="en-US" altLang="zh-CN" b="1"/>
              <a:t>1</a:t>
            </a:r>
            <a:r>
              <a:rPr lang="zh-CN" altLang="en-US" b="1"/>
              <a:t>和边</a:t>
            </a:r>
            <a:r>
              <a:rPr lang="en-US" altLang="zh-CN" b="1"/>
              <a:t>3</a:t>
            </a:r>
            <a:r>
              <a:rPr lang="zh-CN" altLang="en-US" b="1"/>
              <a:t>中没有动生电动势。</a:t>
            </a:r>
          </a:p>
        </p:txBody>
      </p:sp>
    </p:spTree>
    <p:extLst>
      <p:ext uri="{BB962C8B-B14F-4D97-AF65-F5344CB8AC3E}">
        <p14:creationId xmlns:p14="http://schemas.microsoft.com/office/powerpoint/2010/main" val="248833546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263712" y="3269717"/>
            <a:ext cx="11463357" cy="584775"/>
          </a:xfrm>
          <a:prstGeom prst="rect">
            <a:avLst/>
          </a:prstGeom>
        </p:spPr>
        <p:txBody>
          <a:bodyPr wrap="square">
            <a:spAutoFit/>
          </a:bodyPr>
          <a:lstStyle/>
          <a:p>
            <a:r>
              <a:rPr lang="zh-CN" altLang="en-US" sz="2800" b="1" dirty="0" smtClean="0"/>
              <a:t>线圈中总电动势电动势为 </a:t>
            </a:r>
            <a:r>
              <a:rPr lang="el-GR" altLang="zh-CN" sz="3200" b="1" i="1" dirty="0" smtClean="0">
                <a:latin typeface="Times New Roman" panose="02020603050405020304" pitchFamily="18" charset="0"/>
                <a:cs typeface="Times New Roman" panose="02020603050405020304" pitchFamily="18" charset="0"/>
              </a:rPr>
              <a:t>ε</a:t>
            </a:r>
            <a:r>
              <a:rPr lang="en-US" altLang="zh-CN"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t</a:t>
            </a:r>
            <a:r>
              <a:rPr lang="en-US" altLang="zh-CN" sz="2800" b="1" dirty="0" smtClean="0">
                <a:latin typeface="Times New Roman" panose="02020603050405020304" pitchFamily="18" charset="0"/>
                <a:cs typeface="Times New Roman" panose="02020603050405020304" pitchFamily="18" charset="0"/>
              </a:rPr>
              <a:t>)=2</a:t>
            </a:r>
            <a:r>
              <a:rPr lang="en-US" altLang="zh-CN" sz="2800" b="1" i="1" dirty="0" smtClean="0">
                <a:latin typeface="Times New Roman" panose="02020603050405020304" pitchFamily="18" charset="0"/>
                <a:cs typeface="Times New Roman" panose="02020603050405020304" pitchFamily="18" charset="0"/>
              </a:rPr>
              <a:t>BLv</a:t>
            </a:r>
            <a:r>
              <a:rPr lang="en-US" altLang="zh-CN" sz="2800" b="1" dirty="0" smtClean="0">
                <a:latin typeface="Times New Roman" panose="02020603050405020304" pitchFamily="18" charset="0"/>
                <a:cs typeface="Times New Roman" panose="02020603050405020304" pitchFamily="18" charset="0"/>
              </a:rPr>
              <a:t>sin</a:t>
            </a:r>
            <a:r>
              <a:rPr lang="el-GR" altLang="zh-CN" sz="2800" b="1" i="1" dirty="0" smtClean="0">
                <a:latin typeface="Times New Roman" panose="02020603050405020304" pitchFamily="18" charset="0"/>
                <a:cs typeface="Times New Roman" panose="02020603050405020304" pitchFamily="18" charset="0"/>
              </a:rPr>
              <a:t>θ</a:t>
            </a:r>
            <a:r>
              <a:rPr lang="en-US" altLang="zh-CN" sz="2800" b="1" i="1" dirty="0" smtClean="0">
                <a:latin typeface="Times New Roman" panose="02020603050405020304" pitchFamily="18" charset="0"/>
                <a:cs typeface="Times New Roman" panose="02020603050405020304" pitchFamily="18" charset="0"/>
              </a:rPr>
              <a:t>=2BL</a:t>
            </a:r>
            <a:r>
              <a:rPr lang="el-GR" altLang="zh-CN" sz="2800" b="1" i="1" dirty="0" smtClean="0">
                <a:latin typeface="Times New Roman" panose="02020603050405020304" pitchFamily="18" charset="0"/>
                <a:cs typeface="Times New Roman" panose="02020603050405020304" pitchFamily="18" charset="0"/>
              </a:rPr>
              <a:t>ω</a:t>
            </a:r>
            <a:r>
              <a:rPr lang="en-US" altLang="zh-CN" sz="2800" b="1" i="1" dirty="0" err="1" smtClean="0">
                <a:latin typeface="Times New Roman" panose="02020603050405020304" pitchFamily="18" charset="0"/>
                <a:cs typeface="Times New Roman" panose="02020603050405020304" pitchFamily="18" charset="0"/>
              </a:rPr>
              <a:t>r</a:t>
            </a:r>
            <a:r>
              <a:rPr lang="en-US" altLang="zh-CN" sz="2800" b="1" dirty="0" err="1" smtClean="0">
                <a:latin typeface="Times New Roman" panose="02020603050405020304" pitchFamily="18" charset="0"/>
                <a:cs typeface="Times New Roman" panose="02020603050405020304" pitchFamily="18" charset="0"/>
              </a:rPr>
              <a:t>sin</a:t>
            </a:r>
            <a:r>
              <a:rPr lang="el-GR" altLang="zh-CN" sz="2800" b="1" i="1" dirty="0">
                <a:latin typeface="Times New Roman" panose="02020603050405020304" pitchFamily="18" charset="0"/>
                <a:cs typeface="Times New Roman" panose="02020603050405020304" pitchFamily="18" charset="0"/>
              </a:rPr>
              <a:t> </a:t>
            </a:r>
            <a:r>
              <a:rPr lang="el-GR" altLang="zh-CN" sz="2800" b="1" i="1" dirty="0" smtClean="0">
                <a:latin typeface="Times New Roman" panose="02020603050405020304" pitchFamily="18" charset="0"/>
                <a:cs typeface="Times New Roman" panose="02020603050405020304" pitchFamily="18" charset="0"/>
              </a:rPr>
              <a:t>ω</a:t>
            </a:r>
            <a:r>
              <a:rPr lang="en-US" altLang="zh-CN" sz="2800" b="1" i="1" dirty="0" smtClean="0">
                <a:latin typeface="Times New Roman" panose="02020603050405020304" pitchFamily="18" charset="0"/>
                <a:cs typeface="Times New Roman" panose="02020603050405020304" pitchFamily="18" charset="0"/>
              </a:rPr>
              <a:t>t</a:t>
            </a:r>
            <a:endParaRPr lang="zh-CN" altLang="en-US" sz="2800" b="1" i="1" dirty="0">
              <a:latin typeface="Times New Roman" panose="02020603050405020304" pitchFamily="18" charset="0"/>
              <a:cs typeface="Times New Roman" panose="02020603050405020304" pitchFamily="18" charset="0"/>
            </a:endParaRPr>
          </a:p>
        </p:txBody>
      </p:sp>
      <p:pic>
        <p:nvPicPr>
          <p:cNvPr id="3" name="Picture 3" descr="gia12141_20_08"/>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625" r="10625" b="5923"/>
          <a:stretch/>
        </p:blipFill>
        <p:spPr bwMode="auto">
          <a:xfrm>
            <a:off x="289337" y="56773"/>
            <a:ext cx="5370017" cy="315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2529" y="3996153"/>
            <a:ext cx="11885723" cy="523220"/>
          </a:xfrm>
          <a:prstGeom prst="rect">
            <a:avLst/>
          </a:prstGeom>
        </p:spPr>
        <p:txBody>
          <a:bodyPr wrap="square">
            <a:spAutoFit/>
          </a:bodyPr>
          <a:lstStyle/>
          <a:p>
            <a:r>
              <a:rPr lang="zh-CN" altLang="en-US" sz="2800" b="1" dirty="0" smtClean="0"/>
              <a:t>线圈的面积</a:t>
            </a:r>
            <a:r>
              <a:rPr lang="en-US" altLang="zh-CN" sz="2800" b="1" i="1" dirty="0" smtClean="0">
                <a:latin typeface="Times New Roman" panose="02020603050405020304" pitchFamily="18" charset="0"/>
                <a:cs typeface="Times New Roman" panose="02020603050405020304" pitchFamily="18" charset="0"/>
              </a:rPr>
              <a:t>A=</a:t>
            </a:r>
            <a:r>
              <a:rPr lang="en-US" altLang="zh-CN" sz="2800" b="1" dirty="0" smtClean="0">
                <a:latin typeface="Times New Roman" panose="02020603050405020304" pitchFamily="18" charset="0"/>
                <a:cs typeface="Times New Roman" panose="02020603050405020304" pitchFamily="18" charset="0"/>
              </a:rPr>
              <a:t>2</a:t>
            </a:r>
            <a:r>
              <a:rPr lang="en-US" altLang="zh-CN" sz="2800" b="1" i="1" dirty="0" smtClean="0">
                <a:latin typeface="Times New Roman" panose="02020603050405020304" pitchFamily="18" charset="0"/>
                <a:cs typeface="Times New Roman" panose="02020603050405020304" pitchFamily="18" charset="0"/>
              </a:rPr>
              <a:t>rL</a:t>
            </a:r>
            <a:r>
              <a:rPr lang="zh-CN" altLang="en-US" sz="2800" b="1" i="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则该矩形线圈的</a:t>
            </a:r>
            <a:r>
              <a:rPr lang="zh-CN" altLang="en-US" sz="2800" b="1" dirty="0" smtClean="0"/>
              <a:t>总电动势为</a:t>
            </a:r>
            <a:endParaRPr lang="zh-CN" altLang="en-US" sz="2800" b="1" i="1" dirty="0">
              <a:latin typeface="Times New Roman" panose="02020603050405020304" pitchFamily="18" charset="0"/>
              <a:cs typeface="Times New Roman" panose="02020603050405020304" pitchFamily="18" charset="0"/>
            </a:endParaRPr>
          </a:p>
        </p:txBody>
      </p:sp>
      <p:sp>
        <p:nvSpPr>
          <p:cNvPr id="5" name="矩形 4"/>
          <p:cNvSpPr/>
          <p:nvPr/>
        </p:nvSpPr>
        <p:spPr>
          <a:xfrm>
            <a:off x="2903059" y="4496519"/>
            <a:ext cx="4833374" cy="584775"/>
          </a:xfrm>
          <a:prstGeom prst="rect">
            <a:avLst/>
          </a:prstGeom>
        </p:spPr>
        <p:txBody>
          <a:bodyPr wrap="none">
            <a:spAutoFit/>
          </a:bodyPr>
          <a:lstStyle/>
          <a:p>
            <a:r>
              <a:rPr lang="el-GR" altLang="zh-CN" sz="3200" b="1" i="1" dirty="0">
                <a:latin typeface="Times New Roman" panose="02020603050405020304" pitchFamily="18" charset="0"/>
                <a:cs typeface="Times New Roman" panose="02020603050405020304" pitchFamily="18" charset="0"/>
              </a:rPr>
              <a:t>ε</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t</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2BL</a:t>
            </a:r>
            <a:r>
              <a:rPr lang="el-GR" altLang="zh-CN" sz="2800" b="1" i="1" dirty="0">
                <a:latin typeface="Times New Roman" panose="02020603050405020304" pitchFamily="18" charset="0"/>
                <a:cs typeface="Times New Roman" panose="02020603050405020304" pitchFamily="18" charset="0"/>
              </a:rPr>
              <a:t>ω</a:t>
            </a:r>
            <a:r>
              <a:rPr lang="en-US" altLang="zh-CN" sz="2800" b="1" i="1" dirty="0" err="1">
                <a:latin typeface="Times New Roman" panose="02020603050405020304" pitchFamily="18" charset="0"/>
                <a:cs typeface="Times New Roman" panose="02020603050405020304" pitchFamily="18" charset="0"/>
              </a:rPr>
              <a:t>r</a:t>
            </a:r>
            <a:r>
              <a:rPr lang="en-US" altLang="zh-CN" sz="2800" b="1" dirty="0" err="1">
                <a:latin typeface="Times New Roman" panose="02020603050405020304" pitchFamily="18" charset="0"/>
                <a:cs typeface="Times New Roman" panose="02020603050405020304" pitchFamily="18" charset="0"/>
              </a:rPr>
              <a:t>sin</a:t>
            </a:r>
            <a:r>
              <a:rPr lang="el-GR" altLang="zh-CN" sz="2800" b="1" i="1" dirty="0">
                <a:latin typeface="Times New Roman" panose="02020603050405020304" pitchFamily="18" charset="0"/>
                <a:cs typeface="Times New Roman" panose="02020603050405020304" pitchFamily="18" charset="0"/>
              </a:rPr>
              <a:t> ω</a:t>
            </a:r>
            <a:r>
              <a:rPr lang="en-US" altLang="zh-CN" sz="2800" b="1" i="1" dirty="0">
                <a:latin typeface="Times New Roman" panose="02020603050405020304" pitchFamily="18" charset="0"/>
                <a:cs typeface="Times New Roman" panose="02020603050405020304" pitchFamily="18" charset="0"/>
              </a:rPr>
              <a:t>t </a:t>
            </a:r>
            <a:r>
              <a:rPr lang="en-US" altLang="zh-CN" sz="2800" b="1" dirty="0">
                <a:latin typeface="Times New Roman" panose="02020603050405020304" pitchFamily="18" charset="0"/>
                <a:cs typeface="Times New Roman" panose="02020603050405020304" pitchFamily="18" charset="0"/>
              </a:rPr>
              <a:t>=</a:t>
            </a:r>
            <a:r>
              <a:rPr lang="el-GR" altLang="zh-CN" sz="2800" b="1" i="1" dirty="0">
                <a:latin typeface="Times New Roman" panose="02020603050405020304" pitchFamily="18" charset="0"/>
                <a:cs typeface="Times New Roman" panose="02020603050405020304" pitchFamily="18" charset="0"/>
              </a:rPr>
              <a:t>ω</a:t>
            </a:r>
            <a:r>
              <a:rPr lang="en-US" altLang="zh-CN" sz="2800" b="1" dirty="0">
                <a:latin typeface="Times New Roman" panose="02020603050405020304" pitchFamily="18" charset="0"/>
                <a:cs typeface="Times New Roman" panose="02020603050405020304" pitchFamily="18" charset="0"/>
              </a:rPr>
              <a:t> </a:t>
            </a:r>
            <a:r>
              <a:rPr lang="en-US" altLang="zh-CN" sz="2800" b="1" i="1" dirty="0" err="1">
                <a:latin typeface="Times New Roman" panose="02020603050405020304" pitchFamily="18" charset="0"/>
                <a:cs typeface="Times New Roman" panose="02020603050405020304" pitchFamily="18" charset="0"/>
              </a:rPr>
              <a:t>BA</a:t>
            </a:r>
            <a:r>
              <a:rPr lang="en-US" altLang="zh-CN" sz="2800" b="1" dirty="0" err="1">
                <a:latin typeface="Times New Roman" panose="02020603050405020304" pitchFamily="18" charset="0"/>
                <a:cs typeface="Times New Roman" panose="02020603050405020304" pitchFamily="18" charset="0"/>
              </a:rPr>
              <a:t>sin</a:t>
            </a:r>
            <a:r>
              <a:rPr lang="el-GR" altLang="zh-CN" sz="2800" b="1" i="1" dirty="0">
                <a:latin typeface="Times New Roman" panose="02020603050405020304" pitchFamily="18" charset="0"/>
                <a:cs typeface="Times New Roman" panose="02020603050405020304" pitchFamily="18" charset="0"/>
              </a:rPr>
              <a:t> ω</a:t>
            </a:r>
            <a:r>
              <a:rPr lang="en-US" altLang="zh-CN" sz="2800" b="1" i="1" dirty="0">
                <a:latin typeface="Times New Roman" panose="02020603050405020304" pitchFamily="18" charset="0"/>
                <a:cs typeface="Times New Roman" panose="02020603050405020304" pitchFamily="18" charset="0"/>
              </a:rPr>
              <a:t>t</a:t>
            </a:r>
            <a:endParaRPr lang="zh-CN" altLang="en-US" sz="2800" b="1" i="1" dirty="0">
              <a:latin typeface="Times New Roman" panose="02020603050405020304" pitchFamily="18" charset="0"/>
              <a:cs typeface="Times New Roman" panose="02020603050405020304" pitchFamily="18" charset="0"/>
            </a:endParaRPr>
          </a:p>
        </p:txBody>
      </p:sp>
      <p:sp>
        <p:nvSpPr>
          <p:cNvPr id="6" name="矩形 5"/>
          <p:cNvSpPr/>
          <p:nvPr/>
        </p:nvSpPr>
        <p:spPr>
          <a:xfrm>
            <a:off x="-87076" y="5096645"/>
            <a:ext cx="9201558" cy="523220"/>
          </a:xfrm>
          <a:prstGeom prst="rect">
            <a:avLst/>
          </a:prstGeom>
        </p:spPr>
        <p:txBody>
          <a:bodyPr wrap="none">
            <a:spAutoFit/>
          </a:bodyPr>
          <a:lstStyle/>
          <a:p>
            <a:r>
              <a:rPr lang="zh-CN" altLang="en-US" sz="2800" b="1" dirty="0" smtClean="0"/>
              <a:t>线圈可推广到任意形状，任意匝数，则</a:t>
            </a:r>
            <a:r>
              <a:rPr lang="zh-CN" altLang="en-US" sz="2800" b="1" dirty="0" smtClean="0">
                <a:latin typeface="Times New Roman" panose="02020603050405020304" pitchFamily="18" charset="0"/>
                <a:cs typeface="Times New Roman" panose="02020603050405020304" pitchFamily="18" charset="0"/>
              </a:rPr>
              <a:t>线圈的</a:t>
            </a:r>
            <a:r>
              <a:rPr lang="zh-CN" altLang="en-US" sz="2800" b="1" dirty="0" smtClean="0"/>
              <a:t>总电动势为</a:t>
            </a:r>
            <a:endParaRPr lang="zh-CN" altLang="en-US" sz="2800" b="1" i="1" dirty="0">
              <a:latin typeface="Times New Roman" panose="02020603050405020304" pitchFamily="18" charset="0"/>
              <a:cs typeface="Times New Roman" panose="02020603050405020304" pitchFamily="18" charset="0"/>
            </a:endParaRPr>
          </a:p>
        </p:txBody>
      </p:sp>
      <p:sp>
        <p:nvSpPr>
          <p:cNvPr id="7" name="矩形 6"/>
          <p:cNvSpPr/>
          <p:nvPr/>
        </p:nvSpPr>
        <p:spPr>
          <a:xfrm>
            <a:off x="1118922" y="5635218"/>
            <a:ext cx="2783134" cy="584775"/>
          </a:xfrm>
          <a:prstGeom prst="rect">
            <a:avLst/>
          </a:prstGeom>
        </p:spPr>
        <p:txBody>
          <a:bodyPr wrap="none">
            <a:spAutoFit/>
          </a:bodyPr>
          <a:lstStyle/>
          <a:p>
            <a:r>
              <a:rPr lang="el-GR" altLang="zh-CN" sz="3200" b="1" i="1" dirty="0">
                <a:solidFill>
                  <a:srgbClr val="FF0000"/>
                </a:solidFill>
                <a:latin typeface="Times New Roman" panose="02020603050405020304" pitchFamily="18" charset="0"/>
                <a:cs typeface="Times New Roman" panose="02020603050405020304" pitchFamily="18" charset="0"/>
              </a:rPr>
              <a:t>ε</a:t>
            </a:r>
            <a:r>
              <a:rPr lang="en-US" altLang="zh-CN" sz="2800" b="1" dirty="0">
                <a:solidFill>
                  <a:srgbClr val="FF0000"/>
                </a:solidFill>
                <a:latin typeface="Times New Roman" panose="02020603050405020304" pitchFamily="18" charset="0"/>
                <a:cs typeface="Times New Roman" panose="02020603050405020304" pitchFamily="18" charset="0"/>
              </a:rPr>
              <a:t>(</a:t>
            </a:r>
            <a:r>
              <a:rPr lang="en-US" altLang="zh-CN" sz="2800" b="1" i="1" dirty="0">
                <a:solidFill>
                  <a:srgbClr val="FF0000"/>
                </a:solidFill>
                <a:latin typeface="Times New Roman" panose="02020603050405020304" pitchFamily="18" charset="0"/>
                <a:cs typeface="Times New Roman" panose="02020603050405020304" pitchFamily="18" charset="0"/>
              </a:rPr>
              <a:t>t</a:t>
            </a:r>
            <a:r>
              <a:rPr lang="en-US" altLang="zh-CN" sz="2800" b="1" dirty="0" smtClean="0">
                <a:solidFill>
                  <a:srgbClr val="FF0000"/>
                </a:solidFill>
                <a:latin typeface="Times New Roman" panose="02020603050405020304" pitchFamily="18" charset="0"/>
                <a:cs typeface="Times New Roman" panose="02020603050405020304" pitchFamily="18" charset="0"/>
              </a:rPr>
              <a:t>)=</a:t>
            </a:r>
            <a:r>
              <a:rPr lang="el-GR" altLang="zh-CN" sz="2800" b="1" i="1" dirty="0" smtClean="0">
                <a:solidFill>
                  <a:srgbClr val="FF0000"/>
                </a:solidFill>
                <a:latin typeface="Times New Roman" panose="02020603050405020304" pitchFamily="18" charset="0"/>
                <a:cs typeface="Times New Roman" panose="02020603050405020304" pitchFamily="18" charset="0"/>
              </a:rPr>
              <a:t>ω</a:t>
            </a:r>
            <a:r>
              <a:rPr lang="en-US" altLang="zh-CN" sz="2800" b="1" i="1" dirty="0" err="1" smtClean="0">
                <a:solidFill>
                  <a:srgbClr val="FF0000"/>
                </a:solidFill>
                <a:latin typeface="Times New Roman" panose="02020603050405020304" pitchFamily="18" charset="0"/>
                <a:cs typeface="Times New Roman" panose="02020603050405020304" pitchFamily="18" charset="0"/>
              </a:rPr>
              <a:t>NBA</a:t>
            </a:r>
            <a:r>
              <a:rPr lang="en-US" altLang="zh-CN" sz="2800" b="1" dirty="0" err="1" smtClean="0">
                <a:solidFill>
                  <a:srgbClr val="FF0000"/>
                </a:solidFill>
                <a:latin typeface="Times New Roman" panose="02020603050405020304" pitchFamily="18" charset="0"/>
                <a:cs typeface="Times New Roman" panose="02020603050405020304" pitchFamily="18" charset="0"/>
              </a:rPr>
              <a:t>sin</a:t>
            </a:r>
            <a:r>
              <a:rPr lang="el-GR" altLang="zh-CN" sz="2800" b="1" i="1" dirty="0" smtClean="0">
                <a:solidFill>
                  <a:srgbClr val="FF0000"/>
                </a:solidFill>
                <a:latin typeface="Times New Roman" panose="02020603050405020304" pitchFamily="18" charset="0"/>
                <a:cs typeface="Times New Roman" panose="02020603050405020304" pitchFamily="18" charset="0"/>
              </a:rPr>
              <a:t> </a:t>
            </a:r>
            <a:r>
              <a:rPr lang="el-GR" altLang="zh-CN" sz="2800" b="1" i="1" dirty="0">
                <a:solidFill>
                  <a:srgbClr val="FF0000"/>
                </a:solidFill>
                <a:latin typeface="Times New Roman" panose="02020603050405020304" pitchFamily="18" charset="0"/>
                <a:cs typeface="Times New Roman" panose="02020603050405020304" pitchFamily="18" charset="0"/>
              </a:rPr>
              <a:t>ω</a:t>
            </a:r>
            <a:r>
              <a:rPr lang="en-US" altLang="zh-CN" sz="2800" b="1" i="1" dirty="0">
                <a:solidFill>
                  <a:srgbClr val="FF0000"/>
                </a:solidFill>
                <a:latin typeface="Times New Roman" panose="02020603050405020304" pitchFamily="18" charset="0"/>
                <a:cs typeface="Times New Roman" panose="02020603050405020304" pitchFamily="18" charset="0"/>
              </a:rPr>
              <a:t>t</a:t>
            </a:r>
            <a:endParaRPr lang="zh-CN" altLang="en-US" sz="2800" b="1" i="1" dirty="0">
              <a:solidFill>
                <a:srgbClr val="FF0000"/>
              </a:solidFill>
              <a:latin typeface="Times New Roman" panose="02020603050405020304" pitchFamily="18" charset="0"/>
              <a:cs typeface="Times New Roman" panose="02020603050405020304" pitchFamily="18" charset="0"/>
            </a:endParaRPr>
          </a:p>
        </p:txBody>
      </p:sp>
      <p:sp>
        <p:nvSpPr>
          <p:cNvPr id="8" name="矩形 7"/>
          <p:cNvSpPr/>
          <p:nvPr/>
        </p:nvSpPr>
        <p:spPr>
          <a:xfrm>
            <a:off x="5578478" y="5635217"/>
            <a:ext cx="4152099" cy="523220"/>
          </a:xfrm>
          <a:prstGeom prst="rect">
            <a:avLst/>
          </a:prstGeom>
        </p:spPr>
        <p:txBody>
          <a:bodyPr wrap="none">
            <a:spAutoFit/>
          </a:bodyPr>
          <a:lstStyle/>
          <a:p>
            <a:r>
              <a:rPr lang="zh-CN" altLang="en-US" sz="2800" b="1" dirty="0" smtClean="0">
                <a:solidFill>
                  <a:srgbClr val="FF0000"/>
                </a:solidFill>
                <a:latin typeface="Times New Roman" panose="02020603050405020304" pitchFamily="18" charset="0"/>
                <a:cs typeface="Times New Roman" panose="02020603050405020304" pitchFamily="18" charset="0"/>
              </a:rPr>
              <a:t>交流发电机产生的电动势</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9" name="右箭头 8"/>
          <p:cNvSpPr/>
          <p:nvPr/>
        </p:nvSpPr>
        <p:spPr>
          <a:xfrm>
            <a:off x="4906403" y="5792561"/>
            <a:ext cx="672075" cy="26161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pic>
        <p:nvPicPr>
          <p:cNvPr id="13" name="Picture 3" descr="gia12141_20_09"/>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35" b="5301"/>
          <a:stretch/>
        </p:blipFill>
        <p:spPr bwMode="auto">
          <a:xfrm>
            <a:off x="6184303" y="56773"/>
            <a:ext cx="5971299" cy="2994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文本框 14"/>
          <p:cNvSpPr txBox="1"/>
          <p:nvPr/>
        </p:nvSpPr>
        <p:spPr>
          <a:xfrm>
            <a:off x="1802790" y="6290156"/>
            <a:ext cx="6316153" cy="523220"/>
          </a:xfrm>
          <a:prstGeom prst="rect">
            <a:avLst/>
          </a:prstGeom>
          <a:noFill/>
        </p:spPr>
        <p:txBody>
          <a:bodyPr wrap="none" rtlCol="0">
            <a:spAutoFit/>
          </a:bodyPr>
          <a:lstStyle/>
          <a:p>
            <a:r>
              <a:rPr lang="zh-CN" altLang="en-US" sz="2800" b="1" dirty="0" smtClean="0"/>
              <a:t>发电机产生的电动势是时间的正弦函数</a:t>
            </a:r>
            <a:endParaRPr lang="zh-CN" altLang="en-US" sz="2800" b="1" dirty="0"/>
          </a:p>
        </p:txBody>
      </p:sp>
    </p:spTree>
    <p:extLst>
      <p:ext uri="{BB962C8B-B14F-4D97-AF65-F5344CB8AC3E}">
        <p14:creationId xmlns:p14="http://schemas.microsoft.com/office/powerpoint/2010/main" val="11198842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335360" y="3763092"/>
            <a:ext cx="11706723" cy="1708160"/>
          </a:xfrm>
          <a:prstGeom prst="rect">
            <a:avLst/>
          </a:prstGeom>
        </p:spPr>
        <p:txBody>
          <a:bodyPr wrap="square">
            <a:spAutoFit/>
          </a:bodyPr>
          <a:lstStyle/>
          <a:p>
            <a:pPr algn="just">
              <a:lnSpc>
                <a:spcPct val="125000"/>
              </a:lnSpc>
            </a:pPr>
            <a:r>
              <a:rPr lang="zh-CN" altLang="en-US" sz="2800"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在美国和加拿大生活用电的峰值（或</a:t>
            </a:r>
            <a:r>
              <a:rPr lang="zh-CN" altLang="en-US" sz="2800" b="1" dirty="0">
                <a:latin typeface="Times New Roman" panose="02020603050405020304" pitchFamily="18" charset="0"/>
                <a:cs typeface="Times New Roman" panose="02020603050405020304" pitchFamily="18" charset="0"/>
              </a:rPr>
              <a:t>振幅</a:t>
            </a:r>
            <a:r>
              <a:rPr lang="zh-CN" altLang="en-US" sz="2800" b="1" dirty="0" smtClean="0">
                <a:latin typeface="Times New Roman" panose="02020603050405020304" pitchFamily="18" charset="0"/>
                <a:cs typeface="Times New Roman" panose="02020603050405020304" pitchFamily="18" charset="0"/>
              </a:rPr>
              <a:t>）约为</a:t>
            </a:r>
            <a:r>
              <a:rPr lang="en-US" altLang="zh-CN" sz="2800" b="1" dirty="0" smtClean="0">
                <a:latin typeface="Times New Roman" panose="02020603050405020304" pitchFamily="18" charset="0"/>
                <a:cs typeface="Times New Roman" panose="02020603050405020304" pitchFamily="18" charset="0"/>
              </a:rPr>
              <a:t>170V</a:t>
            </a:r>
            <a:r>
              <a:rPr lang="zh-CN" altLang="en-US" sz="2800" b="1" dirty="0" smtClean="0">
                <a:latin typeface="Times New Roman" panose="02020603050405020304" pitchFamily="18" charset="0"/>
                <a:cs typeface="Times New Roman" panose="02020603050405020304" pitchFamily="18" charset="0"/>
              </a:rPr>
              <a:t>，频率为</a:t>
            </a:r>
            <a:r>
              <a:rPr lang="en-US" altLang="zh-CN" sz="2800" b="1" i="1" dirty="0" smtClean="0">
                <a:latin typeface="Times New Roman" panose="02020603050405020304" pitchFamily="18" charset="0"/>
                <a:cs typeface="Times New Roman" panose="02020603050405020304" pitchFamily="18" charset="0"/>
              </a:rPr>
              <a:t>f</a:t>
            </a:r>
            <a:r>
              <a:rPr lang="en-US" altLang="zh-CN" sz="2800" b="1" dirty="0" smtClean="0">
                <a:latin typeface="Times New Roman" panose="02020603050405020304" pitchFamily="18" charset="0"/>
                <a:cs typeface="Times New Roman" panose="02020603050405020304" pitchFamily="18" charset="0"/>
              </a:rPr>
              <a:t>=</a:t>
            </a:r>
            <a:r>
              <a:rPr lang="el-GR" altLang="zh-CN" sz="2800" b="1" i="1" dirty="0" smtClean="0">
                <a:latin typeface="Times New Roman" panose="02020603050405020304" pitchFamily="18" charset="0"/>
                <a:cs typeface="Times New Roman" panose="02020603050405020304" pitchFamily="18" charset="0"/>
              </a:rPr>
              <a:t>ω</a:t>
            </a:r>
            <a:r>
              <a:rPr lang="en-US" altLang="zh-CN" sz="2800" b="1" dirty="0" smtClean="0">
                <a:latin typeface="Times New Roman" panose="02020603050405020304" pitchFamily="18" charset="0"/>
                <a:cs typeface="Times New Roman" panose="02020603050405020304" pitchFamily="18" charset="0"/>
              </a:rPr>
              <a:t>/(2</a:t>
            </a:r>
            <a:r>
              <a:rPr lang="el-GR" altLang="zh-CN" sz="2800" b="1" dirty="0" smtClean="0">
                <a:latin typeface="Times New Roman" panose="02020603050405020304" pitchFamily="18" charset="0"/>
                <a:cs typeface="Times New Roman" panose="02020603050405020304" pitchFamily="18" charset="0"/>
              </a:rPr>
              <a:t>π</a:t>
            </a:r>
            <a:r>
              <a:rPr lang="en-US" altLang="zh-CN" sz="2800" b="1" dirty="0" smtClean="0">
                <a:latin typeface="Times New Roman" panose="02020603050405020304" pitchFamily="18" charset="0"/>
                <a:cs typeface="Times New Roman" panose="02020603050405020304" pitchFamily="18" charset="0"/>
              </a:rPr>
              <a:t>)=60 Hz</a:t>
            </a:r>
            <a:r>
              <a:rPr lang="zh-CN" altLang="en-US" sz="2800" b="1" dirty="0" smtClean="0">
                <a:latin typeface="Times New Roman" panose="02020603050405020304" pitchFamily="18" charset="0"/>
                <a:cs typeface="Times New Roman" panose="02020603050405020304" pitchFamily="18" charset="0"/>
              </a:rPr>
              <a:t>。许多其他地方则为</a:t>
            </a:r>
            <a:r>
              <a:rPr lang="en-US" altLang="zh-CN" sz="2800" b="1" dirty="0" smtClean="0">
                <a:latin typeface="Times New Roman" panose="02020603050405020304" pitchFamily="18" charset="0"/>
                <a:cs typeface="Times New Roman" panose="02020603050405020304" pitchFamily="18" charset="0"/>
              </a:rPr>
              <a:t>310~340V</a:t>
            </a: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50Hz</a:t>
            </a:r>
            <a:r>
              <a:rPr lang="zh-CN" altLang="en-US" sz="2800" b="1" dirty="0" smtClean="0">
                <a:latin typeface="Times New Roman" panose="02020603050405020304" pitchFamily="18" charset="0"/>
                <a:cs typeface="Times New Roman" panose="02020603050405020304" pitchFamily="18" charset="0"/>
              </a:rPr>
              <a:t>。如中国为</a:t>
            </a:r>
            <a:r>
              <a:rPr lang="en-US" altLang="zh-CN" sz="2800" b="1" dirty="0" smtClean="0">
                <a:latin typeface="Times New Roman" panose="02020603050405020304" pitchFamily="18" charset="0"/>
                <a:cs typeface="Times New Roman" panose="02020603050405020304" pitchFamily="18" charset="0"/>
              </a:rPr>
              <a:t>311V</a:t>
            </a:r>
            <a:r>
              <a:rPr lang="zh-CN" altLang="en-US" sz="2800" b="1" dirty="0" smtClean="0">
                <a:latin typeface="Times New Roman" panose="02020603050405020304" pitchFamily="18" charset="0"/>
                <a:cs typeface="Times New Roman" panose="02020603050405020304" pitchFamily="18" charset="0"/>
              </a:rPr>
              <a:t>（有效值为</a:t>
            </a:r>
            <a:r>
              <a:rPr lang="en-US" altLang="zh-CN" sz="2800" b="1" dirty="0" smtClean="0">
                <a:latin typeface="Times New Roman" panose="02020603050405020304" pitchFamily="18" charset="0"/>
                <a:cs typeface="Times New Roman" panose="02020603050405020304" pitchFamily="18" charset="0"/>
              </a:rPr>
              <a:t>220V</a:t>
            </a: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50Hz</a:t>
            </a:r>
            <a:r>
              <a:rPr lang="zh-CN" altLang="en-US" sz="2800" b="1" dirty="0" smtClean="0">
                <a:latin typeface="Times New Roman" panose="02020603050405020304" pitchFamily="18" charset="0"/>
                <a:cs typeface="Times New Roman" panose="02020603050405020304" pitchFamily="18" charset="0"/>
              </a:rPr>
              <a:t>。</a:t>
            </a:r>
            <a:endParaRPr lang="zh-CN" altLang="en-US" sz="2800" b="1" baseline="-25000" dirty="0">
              <a:latin typeface="Times New Roman" panose="02020603050405020304" pitchFamily="18" charset="0"/>
              <a:cs typeface="Times New Roman" panose="02020603050405020304" pitchFamily="18" charset="0"/>
            </a:endParaRPr>
          </a:p>
        </p:txBody>
      </p:sp>
      <p:sp>
        <p:nvSpPr>
          <p:cNvPr id="4" name="矩形 3"/>
          <p:cNvSpPr/>
          <p:nvPr/>
        </p:nvSpPr>
        <p:spPr>
          <a:xfrm>
            <a:off x="86188" y="332657"/>
            <a:ext cx="6810903" cy="584775"/>
          </a:xfrm>
          <a:prstGeom prst="rect">
            <a:avLst/>
          </a:prstGeom>
        </p:spPr>
        <p:txBody>
          <a:bodyPr wrap="none">
            <a:spAutoFit/>
          </a:bodyPr>
          <a:lstStyle/>
          <a:p>
            <a:r>
              <a:rPr lang="zh-CN" altLang="en-US" sz="2800" b="1" dirty="0" smtClean="0">
                <a:latin typeface="Times New Roman" panose="02020603050405020304" pitchFamily="18" charset="0"/>
                <a:cs typeface="Times New Roman" panose="02020603050405020304" pitchFamily="18" charset="0"/>
              </a:rPr>
              <a:t>最大电动势，即电动势的振幅 </a:t>
            </a:r>
            <a:r>
              <a:rPr lang="el-GR" altLang="zh-CN" sz="3200" b="1" i="1" dirty="0" smtClean="0">
                <a:solidFill>
                  <a:srgbClr val="FF0000"/>
                </a:solidFill>
                <a:latin typeface="Times New Roman" panose="02020603050405020304" pitchFamily="18" charset="0"/>
                <a:cs typeface="Times New Roman" panose="02020603050405020304" pitchFamily="18" charset="0"/>
              </a:rPr>
              <a:t>ε</a:t>
            </a:r>
            <a:r>
              <a:rPr lang="en-US" altLang="zh-CN" sz="3200" b="1" baseline="-25000" dirty="0" smtClean="0">
                <a:solidFill>
                  <a:srgbClr val="FF0000"/>
                </a:solidFill>
                <a:latin typeface="Times New Roman" panose="02020603050405020304" pitchFamily="18" charset="0"/>
                <a:cs typeface="Times New Roman" panose="02020603050405020304" pitchFamily="18" charset="0"/>
              </a:rPr>
              <a:t>m</a:t>
            </a:r>
            <a:r>
              <a:rPr lang="en-US" altLang="zh-CN" sz="2800" b="1" i="1" dirty="0">
                <a:solidFill>
                  <a:srgbClr val="FF0000"/>
                </a:solidFill>
                <a:latin typeface="Times New Roman" panose="02020603050405020304" pitchFamily="18" charset="0"/>
                <a:cs typeface="Times New Roman" panose="02020603050405020304" pitchFamily="18" charset="0"/>
              </a:rPr>
              <a:t> =</a:t>
            </a:r>
            <a:r>
              <a:rPr lang="el-GR" altLang="zh-CN" sz="2800" b="1" i="1" dirty="0">
                <a:solidFill>
                  <a:srgbClr val="FF0000"/>
                </a:solidFill>
                <a:latin typeface="Times New Roman" panose="02020603050405020304" pitchFamily="18" charset="0"/>
                <a:cs typeface="Times New Roman" panose="02020603050405020304" pitchFamily="18" charset="0"/>
              </a:rPr>
              <a:t> ω</a:t>
            </a:r>
            <a:r>
              <a:rPr lang="en-US" altLang="zh-CN" sz="2800" b="1" i="1" dirty="0" smtClean="0">
                <a:solidFill>
                  <a:srgbClr val="FF0000"/>
                </a:solidFill>
                <a:latin typeface="Times New Roman" panose="02020603050405020304" pitchFamily="18" charset="0"/>
                <a:cs typeface="Times New Roman" panose="02020603050405020304" pitchFamily="18" charset="0"/>
              </a:rPr>
              <a:t>NBA</a:t>
            </a:r>
            <a:r>
              <a:rPr lang="el-GR" altLang="zh-CN" sz="2800" b="1" i="1" dirty="0" smtClean="0">
                <a:solidFill>
                  <a:srgbClr val="FF0000"/>
                </a:solidFill>
                <a:latin typeface="Times New Roman" panose="02020603050405020304" pitchFamily="18" charset="0"/>
                <a:cs typeface="Times New Roman" panose="02020603050405020304" pitchFamily="18" charset="0"/>
              </a:rPr>
              <a:t> </a:t>
            </a:r>
            <a:endParaRPr lang="zh-CN" altLang="en-US" sz="2800" b="1" baseline="-250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06995" y="1120388"/>
            <a:ext cx="11223791" cy="1169551"/>
          </a:xfrm>
          <a:prstGeom prst="rect">
            <a:avLst/>
          </a:prstGeom>
          <a:noFill/>
        </p:spPr>
        <p:txBody>
          <a:bodyPr wrap="square" rtlCol="0">
            <a:spAutoFit/>
          </a:bodyPr>
          <a:lstStyle/>
          <a:p>
            <a:pPr>
              <a:lnSpc>
                <a:spcPct val="125000"/>
              </a:lnSpc>
            </a:pPr>
            <a:r>
              <a:rPr lang="zh-CN" altLang="en-US" sz="2800" dirty="0" smtClean="0"/>
              <a:t>       </a:t>
            </a:r>
            <a:r>
              <a:rPr lang="zh-CN" altLang="en-US" sz="2800" b="1" dirty="0" smtClean="0"/>
              <a:t>正弦交流电的峰值与振幅相对应，而有效值大小则由相同时间内产生相同焦耳热的直流电的大小来等效。峰值与有效值之间的关系为：</a:t>
            </a:r>
            <a:endParaRPr lang="zh-CN" altLang="en-US" sz="2800" b="1" dirty="0"/>
          </a:p>
        </p:txBody>
      </p:sp>
      <p:graphicFrame>
        <p:nvGraphicFramePr>
          <p:cNvPr id="7" name="对象 6"/>
          <p:cNvGraphicFramePr>
            <a:graphicFrameLocks noChangeAspect="1"/>
          </p:cNvGraphicFramePr>
          <p:nvPr>
            <p:extLst>
              <p:ext uri="{D42A27DB-BD31-4B8C-83A1-F6EECF244321}">
                <p14:modId xmlns:p14="http://schemas.microsoft.com/office/powerpoint/2010/main" val="1942731767"/>
              </p:ext>
            </p:extLst>
          </p:nvPr>
        </p:nvGraphicFramePr>
        <p:xfrm>
          <a:off x="3791744" y="2712592"/>
          <a:ext cx="3149600" cy="860425"/>
        </p:xfrm>
        <a:graphic>
          <a:graphicData uri="http://schemas.openxmlformats.org/presentationml/2006/ole">
            <mc:AlternateContent xmlns:mc="http://schemas.openxmlformats.org/markup-compatibility/2006">
              <mc:Choice xmlns:v="urn:schemas-microsoft-com:vml" Requires="v">
                <p:oleObj spid="_x0000_s18521" name="Equation" r:id="rId3" imgW="698197" imgH="253890" progId="Equation.DSMT4">
                  <p:embed/>
                </p:oleObj>
              </mc:Choice>
              <mc:Fallback>
                <p:oleObj name="Equation" r:id="rId3" imgW="698197"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1744" y="2712592"/>
                        <a:ext cx="3149600"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50352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82600" y="457200"/>
            <a:ext cx="3784600" cy="584775"/>
          </a:xfrm>
          <a:prstGeom prst="rect">
            <a:avLst/>
          </a:prstGeom>
          <a:noFill/>
        </p:spPr>
        <p:txBody>
          <a:bodyPr wrap="square" rtlCol="0">
            <a:spAutoFit/>
          </a:bodyPr>
          <a:lstStyle/>
          <a:p>
            <a:r>
              <a:rPr lang="zh-CN" altLang="en-US" sz="3200" b="1" dirty="0" smtClean="0">
                <a:solidFill>
                  <a:srgbClr val="000099"/>
                </a:solidFill>
              </a:rPr>
              <a:t>单项选择题：</a:t>
            </a:r>
            <a:endParaRPr lang="zh-CN" altLang="en-US" sz="3200" b="1" dirty="0">
              <a:solidFill>
                <a:srgbClr val="000099"/>
              </a:solidFill>
            </a:endParaRPr>
          </a:p>
        </p:txBody>
      </p:sp>
      <p:sp>
        <p:nvSpPr>
          <p:cNvPr id="3" name="TextBox 2"/>
          <p:cNvSpPr txBox="1"/>
          <p:nvPr/>
        </p:nvSpPr>
        <p:spPr>
          <a:xfrm>
            <a:off x="1498600" y="1358900"/>
            <a:ext cx="9055100" cy="3970318"/>
          </a:xfrm>
          <a:prstGeom prst="rect">
            <a:avLst/>
          </a:prstGeom>
          <a:noFill/>
        </p:spPr>
        <p:txBody>
          <a:bodyPr wrap="square" rtlCol="0">
            <a:spAutoFit/>
          </a:bodyPr>
          <a:lstStyle/>
          <a:p>
            <a:pPr>
              <a:lnSpc>
                <a:spcPct val="150000"/>
              </a:lnSpc>
            </a:pPr>
            <a:r>
              <a:rPr lang="zh-CN" altLang="en-US" sz="2800" b="1" dirty="0" smtClean="0"/>
              <a:t>下列过程中只有一个不能在导体环中感应出电流。指出哪一个不产生感应电流？</a:t>
            </a:r>
            <a:endParaRPr lang="en-US" altLang="zh-CN" sz="2800" b="1" dirty="0" smtClean="0"/>
          </a:p>
          <a:p>
            <a:pPr>
              <a:lnSpc>
                <a:spcPct val="150000"/>
              </a:lnSpc>
            </a:pPr>
            <a:r>
              <a:rPr lang="en-US" altLang="zh-CN" sz="2800" b="1" dirty="0" smtClean="0"/>
              <a:t>A.  </a:t>
            </a:r>
            <a:r>
              <a:rPr lang="zh-CN" altLang="en-US" sz="2800" b="1" dirty="0" smtClean="0"/>
              <a:t>转动环，以使磁感应线穿过它。</a:t>
            </a:r>
            <a:endParaRPr lang="en-US" altLang="zh-CN" sz="2800" b="1" dirty="0" smtClean="0"/>
          </a:p>
          <a:p>
            <a:pPr>
              <a:lnSpc>
                <a:spcPct val="150000"/>
              </a:lnSpc>
            </a:pPr>
            <a:r>
              <a:rPr lang="en-US" altLang="zh-CN" sz="2800" b="1" dirty="0" smtClean="0"/>
              <a:t>B. </a:t>
            </a:r>
            <a:r>
              <a:rPr lang="zh-CN" altLang="zh-CN" sz="2800" b="1" dirty="0"/>
              <a:t>使环面垂直于变化的磁场</a:t>
            </a:r>
            <a:r>
              <a:rPr lang="zh-CN" altLang="zh-CN" sz="2800" b="1" dirty="0" smtClean="0"/>
              <a:t>。</a:t>
            </a:r>
            <a:endParaRPr lang="en-US" altLang="zh-CN" sz="2800" b="1" dirty="0" smtClean="0"/>
          </a:p>
          <a:p>
            <a:pPr>
              <a:lnSpc>
                <a:spcPct val="150000"/>
              </a:lnSpc>
            </a:pPr>
            <a:r>
              <a:rPr lang="en-US" altLang="zh-CN" sz="2800" b="1" dirty="0" smtClean="0"/>
              <a:t>C.  </a:t>
            </a:r>
            <a:r>
              <a:rPr lang="zh-CN" altLang="en-US" sz="2800" b="1" dirty="0" smtClean="0"/>
              <a:t>平行于均匀的磁感应线移动环。</a:t>
            </a:r>
            <a:endParaRPr lang="en-US" altLang="zh-CN" sz="2800" b="1" dirty="0" smtClean="0"/>
          </a:p>
          <a:p>
            <a:pPr>
              <a:lnSpc>
                <a:spcPct val="150000"/>
              </a:lnSpc>
            </a:pPr>
            <a:r>
              <a:rPr lang="en-US" altLang="zh-CN" sz="2800" b="1" dirty="0" smtClean="0"/>
              <a:t>D. </a:t>
            </a:r>
            <a:r>
              <a:rPr lang="zh-CN" altLang="en-US" sz="2800" b="1" dirty="0" smtClean="0"/>
              <a:t>在环垂直于匀强磁场时扩大它的面积。</a:t>
            </a:r>
            <a:endParaRPr lang="zh-CN" altLang="en-US" sz="2800" b="1" dirty="0"/>
          </a:p>
        </p:txBody>
      </p:sp>
      <p:sp>
        <p:nvSpPr>
          <p:cNvPr id="4" name="矩形 3"/>
          <p:cNvSpPr/>
          <p:nvPr/>
        </p:nvSpPr>
        <p:spPr>
          <a:xfrm>
            <a:off x="9164402" y="5516602"/>
            <a:ext cx="1638590" cy="584775"/>
          </a:xfrm>
          <a:prstGeom prst="rect">
            <a:avLst/>
          </a:prstGeom>
        </p:spPr>
        <p:txBody>
          <a:bodyPr wrap="none">
            <a:spAutoFit/>
          </a:bodyPr>
          <a:lstStyle/>
          <a:p>
            <a:r>
              <a:rPr lang="zh-CN" altLang="en-US" sz="3200" b="1">
                <a:solidFill>
                  <a:srgbClr val="FF0000"/>
                </a:solidFill>
              </a:rPr>
              <a:t>答案：</a:t>
            </a:r>
            <a:r>
              <a:rPr lang="en-US" altLang="zh-CN" sz="3200" b="1">
                <a:solidFill>
                  <a:srgbClr val="FF0000"/>
                </a:solidFill>
              </a:rPr>
              <a:t>C</a:t>
            </a:r>
            <a:endParaRPr lang="zh-CN" altLang="en-US" sz="3200" b="1">
              <a:solidFill>
                <a:srgbClr val="FF0000"/>
              </a:solidFill>
            </a:endParaRPr>
          </a:p>
        </p:txBody>
      </p:sp>
    </p:spTree>
    <p:extLst>
      <p:ext uri="{BB962C8B-B14F-4D97-AF65-F5344CB8AC3E}">
        <p14:creationId xmlns:p14="http://schemas.microsoft.com/office/powerpoint/2010/main" val="10532354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pPr>
              <a:lnSpc>
                <a:spcPct val="150000"/>
              </a:lnSpc>
            </a:pPr>
            <a:r>
              <a:rPr lang="zh-CN" altLang="en-US" sz="2800" b="1" dirty="0"/>
              <a:t>下列过程中只有一个不能在导体环中感应出电流。指出哪一个不产生感应电流？</a:t>
            </a:r>
            <a:endParaRPr lang="en-US" altLang="zh-CN" sz="2800" b="1" dirty="0"/>
          </a:p>
        </p:txBody>
      </p:sp>
      <p:sp>
        <p:nvSpPr>
          <p:cNvPr id="4" name="文本框 3"/>
          <p:cNvSpPr txBox="1"/>
          <p:nvPr>
            <p:custDataLst>
              <p:tags r:id="rId3"/>
            </p:custDataLst>
          </p:nvPr>
        </p:nvSpPr>
        <p:spPr>
          <a:xfrm>
            <a:off x="2438400" y="2786063"/>
            <a:ext cx="8534400" cy="642938"/>
          </a:xfrm>
          <a:prstGeom prst="rect">
            <a:avLst/>
          </a:prstGeom>
          <a:noFill/>
        </p:spPr>
        <p:txBody>
          <a:bodyPr vert="horz" rtlCol="0" anchor="ctr" anchorCtr="0">
            <a:noAutofit/>
          </a:bodyPr>
          <a:lstStyle/>
          <a:p>
            <a:pPr>
              <a:lnSpc>
                <a:spcPct val="150000"/>
              </a:lnSpc>
            </a:pPr>
            <a:r>
              <a:rPr lang="zh-CN" altLang="en-US" sz="2400" b="1" dirty="0"/>
              <a:t>转动环，以使磁感应线穿过它。</a:t>
            </a:r>
            <a:endParaRPr lang="en-US" altLang="zh-CN" sz="2400" b="1" dirty="0"/>
          </a:p>
        </p:txBody>
      </p:sp>
      <p:sp>
        <p:nvSpPr>
          <p:cNvPr id="5" name="文本框 4"/>
          <p:cNvSpPr txBox="1"/>
          <p:nvPr>
            <p:custDataLst>
              <p:tags r:id="rId4"/>
            </p:custDataLst>
          </p:nvPr>
        </p:nvSpPr>
        <p:spPr>
          <a:xfrm>
            <a:off x="2438400" y="3643313"/>
            <a:ext cx="8534400" cy="642938"/>
          </a:xfrm>
          <a:prstGeom prst="rect">
            <a:avLst/>
          </a:prstGeom>
          <a:noFill/>
        </p:spPr>
        <p:txBody>
          <a:bodyPr vert="horz" rtlCol="0" anchor="ctr" anchorCtr="0">
            <a:noAutofit/>
          </a:bodyPr>
          <a:lstStyle/>
          <a:p>
            <a:pPr>
              <a:lnSpc>
                <a:spcPct val="150000"/>
              </a:lnSpc>
            </a:pPr>
            <a:r>
              <a:rPr lang="zh-CN" altLang="zh-CN" sz="2400" b="1" dirty="0"/>
              <a:t>使环面垂直于变化的磁场。</a:t>
            </a:r>
            <a:endParaRPr lang="en-US" altLang="zh-CN" sz="2400" b="1" dirty="0"/>
          </a:p>
        </p:txBody>
      </p:sp>
      <p:sp>
        <p:nvSpPr>
          <p:cNvPr id="6" name="文本框 5"/>
          <p:cNvSpPr txBox="1"/>
          <p:nvPr>
            <p:custDataLst>
              <p:tags r:id="rId5"/>
            </p:custDataLst>
          </p:nvPr>
        </p:nvSpPr>
        <p:spPr>
          <a:xfrm>
            <a:off x="2438400" y="4500563"/>
            <a:ext cx="8534400" cy="642938"/>
          </a:xfrm>
          <a:prstGeom prst="rect">
            <a:avLst/>
          </a:prstGeom>
          <a:noFill/>
        </p:spPr>
        <p:txBody>
          <a:bodyPr vert="horz" rtlCol="0" anchor="ctr" anchorCtr="0">
            <a:noAutofit/>
          </a:bodyPr>
          <a:lstStyle/>
          <a:p>
            <a:pPr>
              <a:lnSpc>
                <a:spcPct val="150000"/>
              </a:lnSpc>
            </a:pPr>
            <a:r>
              <a:rPr lang="zh-CN" altLang="en-US" sz="2400" b="1" dirty="0"/>
              <a:t>平行于均匀的磁感应线移动环。</a:t>
            </a:r>
            <a:endParaRPr lang="en-US" altLang="zh-CN" sz="2400" b="1" dirty="0"/>
          </a:p>
        </p:txBody>
      </p:sp>
      <p:sp>
        <p:nvSpPr>
          <p:cNvPr id="7" name="文本框 6"/>
          <p:cNvSpPr txBox="1"/>
          <p:nvPr>
            <p:custDataLst>
              <p:tags r:id="rId6"/>
            </p:custDataLst>
          </p:nvPr>
        </p:nvSpPr>
        <p:spPr>
          <a:xfrm>
            <a:off x="2438400" y="5357813"/>
            <a:ext cx="8534400" cy="642938"/>
          </a:xfrm>
          <a:prstGeom prst="rect">
            <a:avLst/>
          </a:prstGeom>
          <a:noFill/>
        </p:spPr>
        <p:txBody>
          <a:bodyPr vert="horz" rtlCol="0" anchor="ctr" anchorCtr="0">
            <a:noAutofit/>
          </a:bodyPr>
          <a:lstStyle/>
          <a:p>
            <a:pPr>
              <a:lnSpc>
                <a:spcPct val="150000"/>
              </a:lnSpc>
            </a:pPr>
            <a:r>
              <a:rPr lang="zh-CN" altLang="en-US" sz="2400" b="1" dirty="0"/>
              <a:t>在环垂直于匀强磁场时扩大它的面积。</a:t>
            </a:r>
          </a:p>
        </p:txBody>
      </p:sp>
      <p:sp>
        <p:nvSpPr>
          <p:cNvPr id="8" name="椭圆 7"/>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977181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4700" y="1638300"/>
            <a:ext cx="8623300" cy="1311193"/>
          </a:xfrm>
          <a:prstGeom prst="rect">
            <a:avLst/>
          </a:prstGeom>
          <a:noFill/>
        </p:spPr>
        <p:txBody>
          <a:bodyPr wrap="square" rtlCol="0">
            <a:spAutoFit/>
          </a:bodyPr>
          <a:lstStyle/>
          <a:p>
            <a:pPr>
              <a:lnSpc>
                <a:spcPct val="150000"/>
              </a:lnSpc>
            </a:pPr>
            <a:r>
              <a:rPr lang="zh-CN" altLang="en-US" sz="2800" b="1" smtClean="0"/>
              <a:t>作业：</a:t>
            </a:r>
            <a:r>
              <a:rPr lang="en-US" altLang="zh-CN" sz="2800" b="1" smtClean="0"/>
              <a:t>P165</a:t>
            </a:r>
          </a:p>
          <a:p>
            <a:pPr>
              <a:lnSpc>
                <a:spcPct val="150000"/>
              </a:lnSpc>
            </a:pPr>
            <a:r>
              <a:rPr lang="zh-CN" altLang="en-US" sz="2800" b="1" smtClean="0"/>
              <a:t>计算题</a:t>
            </a:r>
            <a:r>
              <a:rPr lang="en-US" altLang="zh-CN" sz="2800" b="1" smtClean="0"/>
              <a:t>1</a:t>
            </a:r>
            <a:r>
              <a:rPr lang="zh-CN" altLang="en-US" sz="2800" b="1" smtClean="0"/>
              <a:t>，计算题</a:t>
            </a:r>
            <a:r>
              <a:rPr lang="en-US" altLang="zh-CN" sz="2800" b="1" smtClean="0"/>
              <a:t>2</a:t>
            </a:r>
            <a:r>
              <a:rPr lang="zh-CN" altLang="en-US" sz="2800" b="1" smtClean="0"/>
              <a:t>，计算题</a:t>
            </a:r>
            <a:r>
              <a:rPr lang="en-US" altLang="zh-CN" sz="2800" b="1" smtClean="0"/>
              <a:t>5</a:t>
            </a:r>
            <a:endParaRPr lang="zh-CN" altLang="en-US" sz="2800" b="1"/>
          </a:p>
        </p:txBody>
      </p:sp>
    </p:spTree>
    <p:extLst>
      <p:ext uri="{BB962C8B-B14F-4D97-AF65-F5344CB8AC3E}">
        <p14:creationId xmlns:p14="http://schemas.microsoft.com/office/powerpoint/2010/main" val="3094270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2359</TotalTime>
  <Words>1487</Words>
  <Application>Microsoft Office PowerPoint</Application>
  <PresentationFormat>宽屏</PresentationFormat>
  <Paragraphs>114</Paragraphs>
  <Slides>21</Slides>
  <Notes>4</Notes>
  <HiddenSlides>6</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21</vt:i4>
      </vt:variant>
    </vt:vector>
  </HeadingPairs>
  <TitlesOfParts>
    <vt:vector size="35" baseType="lpstr">
      <vt:lpstr>Microsoft Yahei</vt:lpstr>
      <vt:lpstr>SimHei</vt:lpstr>
      <vt:lpstr>SimHei</vt:lpstr>
      <vt:lpstr>楷体_GB2312</vt:lpstr>
      <vt:lpstr>宋体</vt:lpstr>
      <vt:lpstr>Arial</vt:lpstr>
      <vt:lpstr>Calibri</vt:lpstr>
      <vt:lpstr>Calibri Light</vt:lpstr>
      <vt:lpstr>Cambria Math</vt:lpstr>
      <vt:lpstr>Symbol</vt:lpstr>
      <vt:lpstr>Times New Roman</vt:lpstr>
      <vt:lpstr>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206</cp:revision>
  <dcterms:created xsi:type="dcterms:W3CDTF">2017-10-22T09:48:47Z</dcterms:created>
  <dcterms:modified xsi:type="dcterms:W3CDTF">2021-06-27T03:20:42Z</dcterms:modified>
</cp:coreProperties>
</file>